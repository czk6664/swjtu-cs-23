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38" r:id="rId2"/>
    <p:sldId id="441" r:id="rId3"/>
    <p:sldId id="440" r:id="rId4"/>
    <p:sldId id="572" r:id="rId5"/>
    <p:sldId id="573" r:id="rId6"/>
    <p:sldId id="443" r:id="rId7"/>
    <p:sldId id="444" r:id="rId8"/>
    <p:sldId id="447" r:id="rId9"/>
    <p:sldId id="448" r:id="rId10"/>
    <p:sldId id="449" r:id="rId11"/>
    <p:sldId id="583" r:id="rId12"/>
    <p:sldId id="462" r:id="rId13"/>
    <p:sldId id="584" r:id="rId14"/>
    <p:sldId id="460" r:id="rId15"/>
    <p:sldId id="258" r:id="rId16"/>
    <p:sldId id="456" r:id="rId17"/>
    <p:sldId id="455" r:id="rId18"/>
    <p:sldId id="465" r:id="rId19"/>
    <p:sldId id="468" r:id="rId20"/>
    <p:sldId id="457" r:id="rId21"/>
    <p:sldId id="466" r:id="rId22"/>
    <p:sldId id="469" r:id="rId23"/>
    <p:sldId id="470" r:id="rId24"/>
    <p:sldId id="471" r:id="rId25"/>
    <p:sldId id="585" r:id="rId26"/>
    <p:sldId id="259" r:id="rId27"/>
    <p:sldId id="505" r:id="rId28"/>
    <p:sldId id="475" r:id="rId29"/>
    <p:sldId id="473" r:id="rId30"/>
    <p:sldId id="576" r:id="rId31"/>
    <p:sldId id="474" r:id="rId32"/>
    <p:sldId id="476" r:id="rId33"/>
    <p:sldId id="477" r:id="rId34"/>
    <p:sldId id="478" r:id="rId35"/>
    <p:sldId id="479" r:id="rId36"/>
    <p:sldId id="480" r:id="rId37"/>
    <p:sldId id="481" r:id="rId38"/>
    <p:sldId id="482" r:id="rId39"/>
    <p:sldId id="483" r:id="rId40"/>
    <p:sldId id="567" r:id="rId41"/>
    <p:sldId id="586" r:id="rId42"/>
    <p:sldId id="587" r:id="rId43"/>
    <p:sldId id="588" r:id="rId44"/>
    <p:sldId id="589" r:id="rId45"/>
    <p:sldId id="590" r:id="rId46"/>
    <p:sldId id="591" r:id="rId47"/>
    <p:sldId id="592" r:id="rId48"/>
    <p:sldId id="574" r:id="rId49"/>
    <p:sldId id="575" r:id="rId50"/>
    <p:sldId id="577" r:id="rId51"/>
    <p:sldId id="578" r:id="rId52"/>
    <p:sldId id="579" r:id="rId53"/>
    <p:sldId id="580" r:id="rId54"/>
    <p:sldId id="484" r:id="rId55"/>
    <p:sldId id="485" r:id="rId56"/>
    <p:sldId id="486" r:id="rId57"/>
    <p:sldId id="488" r:id="rId58"/>
    <p:sldId id="537" r:id="rId59"/>
    <p:sldId id="493" r:id="rId60"/>
    <p:sldId id="497" r:id="rId61"/>
    <p:sldId id="496" r:id="rId62"/>
    <p:sldId id="538" r:id="rId63"/>
    <p:sldId id="490" r:id="rId64"/>
    <p:sldId id="499" r:id="rId65"/>
    <p:sldId id="491" r:id="rId66"/>
    <p:sldId id="289" r:id="rId67"/>
    <p:sldId id="508" r:id="rId68"/>
    <p:sldId id="507" r:id="rId69"/>
    <p:sldId id="410" r:id="rId70"/>
    <p:sldId id="509" r:id="rId71"/>
    <p:sldId id="411" r:id="rId72"/>
    <p:sldId id="581" r:id="rId73"/>
    <p:sldId id="582" r:id="rId74"/>
    <p:sldId id="510" r:id="rId75"/>
    <p:sldId id="546" r:id="rId76"/>
    <p:sldId id="512" r:id="rId77"/>
    <p:sldId id="412" r:id="rId78"/>
    <p:sldId id="593" r:id="rId79"/>
    <p:sldId id="536" r:id="rId80"/>
    <p:sldId id="524" r:id="rId81"/>
    <p:sldId id="525" r:id="rId82"/>
    <p:sldId id="625" r:id="rId83"/>
    <p:sldId id="626" r:id="rId84"/>
    <p:sldId id="627" r:id="rId85"/>
    <p:sldId id="518" r:id="rId86"/>
    <p:sldId id="628" r:id="rId87"/>
    <p:sldId id="520" r:id="rId88"/>
    <p:sldId id="352" r:id="rId89"/>
    <p:sldId id="629" r:id="rId90"/>
    <p:sldId id="310" r:id="rId91"/>
    <p:sldId id="630" r:id="rId92"/>
    <p:sldId id="523" r:id="rId93"/>
    <p:sldId id="606" r:id="rId94"/>
    <p:sldId id="604" r:id="rId95"/>
    <p:sldId id="603" r:id="rId96"/>
    <p:sldId id="304" r:id="rId97"/>
    <p:sldId id="305" r:id="rId98"/>
    <p:sldId id="607" r:id="rId99"/>
    <p:sldId id="609" r:id="rId100"/>
    <p:sldId id="610" r:id="rId101"/>
    <p:sldId id="611" r:id="rId102"/>
    <p:sldId id="612" r:id="rId103"/>
    <p:sldId id="613" r:id="rId104"/>
    <p:sldId id="614" r:id="rId105"/>
    <p:sldId id="615" r:id="rId106"/>
    <p:sldId id="616" r:id="rId107"/>
    <p:sldId id="617" r:id="rId108"/>
    <p:sldId id="309" r:id="rId109"/>
    <p:sldId id="624" r:id="rId110"/>
    <p:sldId id="623" r:id="rId111"/>
    <p:sldId id="622" r:id="rId112"/>
    <p:sldId id="621" r:id="rId113"/>
    <p:sldId id="620" r:id="rId114"/>
    <p:sldId id="631" r:id="rId115"/>
    <p:sldId id="312" r:id="rId116"/>
    <p:sldId id="596" r:id="rId117"/>
    <p:sldId id="597" r:id="rId118"/>
    <p:sldId id="598" r:id="rId119"/>
    <p:sldId id="632" r:id="rId120"/>
    <p:sldId id="633" r:id="rId121"/>
    <p:sldId id="634" r:id="rId122"/>
    <p:sldId id="599" r:id="rId123"/>
    <p:sldId id="635" r:id="rId124"/>
    <p:sldId id="636" r:id="rId125"/>
    <p:sldId id="637" r:id="rId126"/>
    <p:sldId id="638" r:id="rId127"/>
    <p:sldId id="639" r:id="rId128"/>
    <p:sldId id="640" r:id="rId129"/>
    <p:sldId id="641" r:id="rId130"/>
    <p:sldId id="642" r:id="rId131"/>
    <p:sldId id="643" r:id="rId132"/>
    <p:sldId id="644" r:id="rId133"/>
    <p:sldId id="645" r:id="rId134"/>
    <p:sldId id="646" r:id="rId135"/>
    <p:sldId id="647" r:id="rId136"/>
    <p:sldId id="318" r:id="rId137"/>
    <p:sldId id="346" r:id="rId138"/>
    <p:sldId id="600" r:id="rId139"/>
    <p:sldId id="601" r:id="rId140"/>
    <p:sldId id="323" r:id="rId141"/>
    <p:sldId id="648" r:id="rId142"/>
    <p:sldId id="649" r:id="rId143"/>
    <p:sldId id="650" r:id="rId144"/>
    <p:sldId id="651" r:id="rId145"/>
    <p:sldId id="653" r:id="rId146"/>
    <p:sldId id="652" r:id="rId147"/>
    <p:sldId id="602" r:id="rId148"/>
    <p:sldId id="424" r:id="rId149"/>
    <p:sldId id="541" r:id="rId150"/>
    <p:sldId id="425" r:id="rId151"/>
    <p:sldId id="426" r:id="rId152"/>
    <p:sldId id="427" r:id="rId153"/>
    <p:sldId id="419" r:id="rId154"/>
    <p:sldId id="420" r:id="rId155"/>
    <p:sldId id="545" r:id="rId156"/>
    <p:sldId id="562" r:id="rId157"/>
    <p:sldId id="332" r:id="rId158"/>
    <p:sldId id="563" r:id="rId159"/>
    <p:sldId id="564" r:id="rId160"/>
    <p:sldId id="565" r:id="rId161"/>
    <p:sldId id="551" r:id="rId162"/>
    <p:sldId id="552" r:id="rId163"/>
    <p:sldId id="553" r:id="rId164"/>
    <p:sldId id="566" r:id="rId165"/>
    <p:sldId id="557" r:id="rId166"/>
    <p:sldId id="568" r:id="rId167"/>
    <p:sldId id="569" r:id="rId168"/>
    <p:sldId id="549" r:id="rId169"/>
    <p:sldId id="550" r:id="rId170"/>
    <p:sldId id="428" r:id="rId171"/>
    <p:sldId id="570" r:id="rId172"/>
    <p:sldId id="514" r:id="rId173"/>
    <p:sldId id="515" r:id="rId174"/>
  </p:sldIdLst>
  <p:sldSz cx="9144000" cy="6858000" type="screen4x3"/>
  <p:notesSz cx="7099300" cy="10234613"/>
  <p:defaultTextStyle>
    <a:defPPr>
      <a:defRPr lang="zh-CN"/>
    </a:defPPr>
    <a:lvl1pPr algn="l" rtl="0" fontAlgn="base">
      <a:lnSpc>
        <a:spcPct val="130000"/>
      </a:lnSpc>
      <a:spcBef>
        <a:spcPct val="50000"/>
      </a:spcBef>
      <a:spcAft>
        <a:spcPct val="0"/>
      </a:spcAft>
      <a:defRPr sz="2400" b="1" kern="1200">
        <a:solidFill>
          <a:srgbClr val="000080"/>
        </a:solidFill>
        <a:latin typeface="楷体_GB2312" pitchFamily="49" charset="-122"/>
        <a:ea typeface="楷体_GB2312" pitchFamily="49" charset="-122"/>
        <a:cs typeface="+mn-cs"/>
      </a:defRPr>
    </a:lvl1pPr>
    <a:lvl2pPr marL="457200" algn="l" rtl="0" fontAlgn="base">
      <a:lnSpc>
        <a:spcPct val="130000"/>
      </a:lnSpc>
      <a:spcBef>
        <a:spcPct val="50000"/>
      </a:spcBef>
      <a:spcAft>
        <a:spcPct val="0"/>
      </a:spcAft>
      <a:defRPr sz="2400" b="1" kern="1200">
        <a:solidFill>
          <a:srgbClr val="000080"/>
        </a:solidFill>
        <a:latin typeface="楷体_GB2312" pitchFamily="49" charset="-122"/>
        <a:ea typeface="楷体_GB2312" pitchFamily="49" charset="-122"/>
        <a:cs typeface="+mn-cs"/>
      </a:defRPr>
    </a:lvl2pPr>
    <a:lvl3pPr marL="914400" algn="l" rtl="0" fontAlgn="base">
      <a:lnSpc>
        <a:spcPct val="130000"/>
      </a:lnSpc>
      <a:spcBef>
        <a:spcPct val="50000"/>
      </a:spcBef>
      <a:spcAft>
        <a:spcPct val="0"/>
      </a:spcAft>
      <a:defRPr sz="2400" b="1" kern="1200">
        <a:solidFill>
          <a:srgbClr val="000080"/>
        </a:solidFill>
        <a:latin typeface="楷体_GB2312" pitchFamily="49" charset="-122"/>
        <a:ea typeface="楷体_GB2312" pitchFamily="49" charset="-122"/>
        <a:cs typeface="+mn-cs"/>
      </a:defRPr>
    </a:lvl3pPr>
    <a:lvl4pPr marL="1371600" algn="l" rtl="0" fontAlgn="base">
      <a:lnSpc>
        <a:spcPct val="130000"/>
      </a:lnSpc>
      <a:spcBef>
        <a:spcPct val="50000"/>
      </a:spcBef>
      <a:spcAft>
        <a:spcPct val="0"/>
      </a:spcAft>
      <a:defRPr sz="2400" b="1" kern="1200">
        <a:solidFill>
          <a:srgbClr val="000080"/>
        </a:solidFill>
        <a:latin typeface="楷体_GB2312" pitchFamily="49" charset="-122"/>
        <a:ea typeface="楷体_GB2312" pitchFamily="49" charset="-122"/>
        <a:cs typeface="+mn-cs"/>
      </a:defRPr>
    </a:lvl4pPr>
    <a:lvl5pPr marL="1828800" algn="l" rtl="0" fontAlgn="base">
      <a:lnSpc>
        <a:spcPct val="130000"/>
      </a:lnSpc>
      <a:spcBef>
        <a:spcPct val="50000"/>
      </a:spcBef>
      <a:spcAft>
        <a:spcPct val="0"/>
      </a:spcAft>
      <a:defRPr sz="2400" b="1" kern="1200">
        <a:solidFill>
          <a:srgbClr val="000080"/>
        </a:solidFill>
        <a:latin typeface="楷体_GB2312" pitchFamily="49" charset="-122"/>
        <a:ea typeface="楷体_GB2312" pitchFamily="49" charset="-122"/>
        <a:cs typeface="+mn-cs"/>
      </a:defRPr>
    </a:lvl5pPr>
    <a:lvl6pPr marL="2286000" algn="l" defTabSz="914400" rtl="0" eaLnBrk="1" latinLnBrk="0" hangingPunct="1">
      <a:defRPr sz="2400" b="1" kern="1200">
        <a:solidFill>
          <a:srgbClr val="000080"/>
        </a:solidFill>
        <a:latin typeface="楷体_GB2312" pitchFamily="49" charset="-122"/>
        <a:ea typeface="楷体_GB2312" pitchFamily="49" charset="-122"/>
        <a:cs typeface="+mn-cs"/>
      </a:defRPr>
    </a:lvl6pPr>
    <a:lvl7pPr marL="2743200" algn="l" defTabSz="914400" rtl="0" eaLnBrk="1" latinLnBrk="0" hangingPunct="1">
      <a:defRPr sz="2400" b="1" kern="1200">
        <a:solidFill>
          <a:srgbClr val="000080"/>
        </a:solidFill>
        <a:latin typeface="楷体_GB2312" pitchFamily="49" charset="-122"/>
        <a:ea typeface="楷体_GB2312" pitchFamily="49" charset="-122"/>
        <a:cs typeface="+mn-cs"/>
      </a:defRPr>
    </a:lvl7pPr>
    <a:lvl8pPr marL="3200400" algn="l" defTabSz="914400" rtl="0" eaLnBrk="1" latinLnBrk="0" hangingPunct="1">
      <a:defRPr sz="2400" b="1" kern="1200">
        <a:solidFill>
          <a:srgbClr val="000080"/>
        </a:solidFill>
        <a:latin typeface="楷体_GB2312" pitchFamily="49" charset="-122"/>
        <a:ea typeface="楷体_GB2312" pitchFamily="49" charset="-122"/>
        <a:cs typeface="+mn-cs"/>
      </a:defRPr>
    </a:lvl8pPr>
    <a:lvl9pPr marL="3657600" algn="l" defTabSz="914400" rtl="0" eaLnBrk="1" latinLnBrk="0" hangingPunct="1">
      <a:defRPr sz="2400" b="1" kern="1200">
        <a:solidFill>
          <a:srgbClr val="000080"/>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33FF"/>
    <a:srgbClr val="008000"/>
    <a:srgbClr val="000080"/>
    <a:srgbClr val="FF00FF"/>
    <a:srgbClr val="000099"/>
    <a:srgbClr val="FFFFCC"/>
    <a:srgbClr val="0066CC"/>
    <a:srgbClr val="00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79" autoAdjust="0"/>
  </p:normalViewPr>
  <p:slideViewPr>
    <p:cSldViewPr snapToGrid="0" snapToObjects="1">
      <p:cViewPr varScale="1">
        <p:scale>
          <a:sx n="66" d="100"/>
          <a:sy n="66" d="100"/>
        </p:scale>
        <p:origin x="24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228"/>
    </p:cViewPr>
  </p:sorter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heme" Target="theme/theme1.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65868"/>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25"/>
          <p:cNvSpPr txBox="1">
            <a:spLocks noChangeArrowheads="1"/>
          </p:cNvSpPr>
          <p:nvPr userDrawn="1"/>
        </p:nvSpPr>
        <p:spPr bwMode="auto">
          <a:xfrm>
            <a:off x="0" y="0"/>
            <a:ext cx="9144000" cy="339725"/>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buClr>
                <a:schemeClr val="bg1"/>
              </a:buClr>
              <a:buFont typeface="Wingdings" pitchFamily="2" charset="2"/>
              <a:buNone/>
              <a:defRPr/>
            </a:pPr>
            <a:r>
              <a:rPr kumimoji="1" lang="zh-CN" altLang="en-US" sz="1800" i="1" dirty="0">
                <a:solidFill>
                  <a:srgbClr val="990099"/>
                </a:solidFill>
                <a:latin typeface="宋体" pitchFamily="2" charset="-122"/>
                <a:ea typeface="宋体" pitchFamily="2" charset="-122"/>
              </a:rPr>
              <a:t>　　　　　　　　　　　　　　　　　　　　　　　　　　　　　</a:t>
            </a:r>
            <a:r>
              <a:rPr lang="zh-CN" altLang="en-US" sz="1800" i="1" dirty="0">
                <a:solidFill>
                  <a:srgbClr val="990000"/>
                </a:solidFill>
                <a:latin typeface="黑体" pitchFamily="2" charset="-122"/>
                <a:ea typeface="黑体" pitchFamily="2" charset="-122"/>
              </a:rPr>
              <a:t>第</a:t>
            </a:r>
            <a:r>
              <a:rPr lang="en-US" altLang="zh-CN" sz="1800" i="1" dirty="0">
                <a:solidFill>
                  <a:srgbClr val="990000"/>
                </a:solidFill>
                <a:latin typeface="黑体" pitchFamily="2" charset="-122"/>
                <a:ea typeface="黑体" pitchFamily="2" charset="-122"/>
              </a:rPr>
              <a:t>6</a:t>
            </a:r>
            <a:r>
              <a:rPr lang="zh-CN" altLang="en-US" sz="1800" i="1" dirty="0">
                <a:solidFill>
                  <a:srgbClr val="990000"/>
                </a:solidFill>
                <a:latin typeface="黑体" pitchFamily="2" charset="-122"/>
                <a:ea typeface="黑体" pitchFamily="2" charset="-122"/>
              </a:rPr>
              <a:t>章 中央处理器</a:t>
            </a:r>
          </a:p>
        </p:txBody>
      </p:sp>
      <p:sp>
        <p:nvSpPr>
          <p:cNvPr id="6"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100000"/>
              </a:lnSpc>
              <a:spcBef>
                <a:spcPct val="0"/>
              </a:spcBef>
              <a:buClrTx/>
              <a:buFontTx/>
              <a:buNone/>
            </a:pPr>
            <a:r>
              <a:rPr kumimoji="0" lang="zh-CN" altLang="en-US" sz="1600" i="1" dirty="0">
                <a:solidFill>
                  <a:srgbClr val="333333"/>
                </a:solidFill>
                <a:latin typeface="黑体" pitchFamily="2" charset="-122"/>
                <a:ea typeface="黑体" pitchFamily="2" charset="-122"/>
              </a:rPr>
              <a:t>       </a:t>
            </a:r>
            <a:r>
              <a:rPr kumimoji="0" lang="zh-CN" altLang="en-US" sz="1600" b="0" i="1" dirty="0">
                <a:solidFill>
                  <a:srgbClr val="333333"/>
                </a:solidFill>
                <a:latin typeface="黑体" pitchFamily="2" charset="-122"/>
                <a:ea typeface="黑体" pitchFamily="2" charset="-122"/>
              </a:rPr>
              <a:t>西南交通大学计算机与人工智能学院</a:t>
            </a:r>
            <a:r>
              <a:rPr kumimoji="0" lang="zh-CN" altLang="en-US" sz="1800" b="0" i="1" dirty="0">
                <a:solidFill>
                  <a:srgbClr val="333333"/>
                </a:solidFill>
                <a:latin typeface="黑体" pitchFamily="2" charset="-122"/>
                <a:ea typeface="黑体" pitchFamily="2" charset="-122"/>
              </a:rPr>
              <a:t>“</a:t>
            </a:r>
            <a:r>
              <a:rPr kumimoji="0" lang="zh-CN" altLang="en-US" sz="1600" i="1" dirty="0">
                <a:solidFill>
                  <a:srgbClr val="333333"/>
                </a:solidFill>
                <a:latin typeface="黑体" pitchFamily="2" charset="-122"/>
                <a:ea typeface="黑体" pitchFamily="2" charset="-122"/>
              </a:rPr>
              <a:t>计算机组成原理</a:t>
            </a:r>
            <a:r>
              <a:rPr kumimoji="0" lang="en-US" altLang="zh-CN" sz="1800" b="0" i="1" dirty="0">
                <a:solidFill>
                  <a:srgbClr val="333333"/>
                </a:solidFill>
                <a:latin typeface="黑体" pitchFamily="2" charset="-122"/>
                <a:ea typeface="黑体" pitchFamily="2" charset="-122"/>
              </a:rPr>
              <a:t>”</a:t>
            </a:r>
            <a:r>
              <a:rPr kumimoji="0" lang="zh-CN" altLang="en-US" sz="1600" b="0" i="1" dirty="0">
                <a:solidFill>
                  <a:srgbClr val="333333"/>
                </a:solidFill>
                <a:latin typeface="黑体" pitchFamily="2" charset="-122"/>
                <a:ea typeface="黑体" pitchFamily="2" charset="-122"/>
              </a:rPr>
              <a:t>教案</a:t>
            </a:r>
          </a:p>
        </p:txBody>
      </p:sp>
      <p:sp>
        <p:nvSpPr>
          <p:cNvPr id="7" name="Rectangle 13"/>
          <p:cNvSpPr>
            <a:spLocks noChangeArrowheads="1"/>
          </p:cNvSpPr>
          <p:nvPr userDrawn="1"/>
        </p:nvSpPr>
        <p:spPr bwMode="auto">
          <a:xfrm>
            <a:off x="7977808" y="6502400"/>
            <a:ext cx="990600" cy="344488"/>
          </a:xfrm>
          <a:prstGeom prst="rect">
            <a:avLst/>
          </a:prstGeom>
          <a:noFill/>
          <a:ln w="9525">
            <a:noFill/>
            <a:miter lim="800000"/>
            <a:headEnd/>
            <a:tailEnd/>
          </a:ln>
        </p:spPr>
        <p:txBody>
          <a:bodyPr tIns="0" anchor="b"/>
          <a:lstStyle>
            <a:lvl1pPr>
              <a:defRPr/>
            </a:lvl1pPr>
          </a:lstStyle>
          <a:p>
            <a:pPr algn="ctr">
              <a:lnSpc>
                <a:spcPct val="100000"/>
              </a:lnSpc>
              <a:spcBef>
                <a:spcPct val="0"/>
              </a:spcBef>
              <a:buClrTx/>
              <a:buFontTx/>
              <a:buNone/>
              <a:defRPr/>
            </a:pPr>
            <a:fld id="{6E18FAC9-112F-4F97-BD56-9ADF18D9DD67}" type="slidenum">
              <a:rPr kumimoji="0" lang="zh-CN" altLang="en-US" sz="1600">
                <a:solidFill>
                  <a:srgbClr val="002060"/>
                </a:solidFill>
                <a:latin typeface="黑体" pitchFamily="2" charset="-122"/>
                <a:ea typeface="黑体" pitchFamily="2" charset="-122"/>
              </a:rPr>
              <a:pPr algn="ctr">
                <a:lnSpc>
                  <a:spcPct val="100000"/>
                </a:lnSpc>
                <a:spcBef>
                  <a:spcPct val="0"/>
                </a:spcBef>
                <a:buClrTx/>
                <a:buFontTx/>
                <a:buNone/>
                <a:defRPr/>
              </a:pPr>
              <a:t>‹#›</a:t>
            </a:fld>
            <a:endParaRPr kumimoji="0" lang="en-US" altLang="zh-CN" sz="1800" dirty="0">
              <a:solidFill>
                <a:srgbClr val="002060"/>
              </a:solidFill>
              <a:latin typeface="黑体" pitchFamily="2" charset="-122"/>
              <a:ea typeface="黑体" pitchFamily="2" charset="-122"/>
            </a:endParaRPr>
          </a:p>
        </p:txBody>
      </p:sp>
      <p:sp>
        <p:nvSpPr>
          <p:cNvPr id="8" name="íṥļíḋè"/>
          <p:cNvSpPr>
            <a:spLocks noChangeAspect="1"/>
          </p:cNvSpPr>
          <p:nvPr userDrawn="1"/>
        </p:nvSpPr>
        <p:spPr bwMode="auto">
          <a:xfrm>
            <a:off x="426945" y="6553269"/>
            <a:ext cx="284027" cy="324000"/>
          </a:xfrm>
          <a:custGeom>
            <a:avLst/>
            <a:gdLst>
              <a:gd name="T0" fmla="*/ 72 w 151"/>
              <a:gd name="T1" fmla="*/ 92 h 171"/>
              <a:gd name="T2" fmla="*/ 83 w 151"/>
              <a:gd name="T3" fmla="*/ 96 h 171"/>
              <a:gd name="T4" fmla="*/ 77 w 151"/>
              <a:gd name="T5" fmla="*/ 92 h 171"/>
              <a:gd name="T6" fmla="*/ 80 w 151"/>
              <a:gd name="T7" fmla="*/ 115 h 171"/>
              <a:gd name="T8" fmla="*/ 72 w 151"/>
              <a:gd name="T9" fmla="*/ 115 h 171"/>
              <a:gd name="T10" fmla="*/ 74 w 151"/>
              <a:gd name="T11" fmla="*/ 97 h 171"/>
              <a:gd name="T12" fmla="*/ 69 w 151"/>
              <a:gd name="T13" fmla="*/ 137 h 171"/>
              <a:gd name="T14" fmla="*/ 77 w 151"/>
              <a:gd name="T15" fmla="*/ 121 h 171"/>
              <a:gd name="T16" fmla="*/ 77 w 151"/>
              <a:gd name="T17" fmla="*/ 127 h 171"/>
              <a:gd name="T18" fmla="*/ 80 w 151"/>
              <a:gd name="T19" fmla="*/ 145 h 171"/>
              <a:gd name="T20" fmla="*/ 71 w 151"/>
              <a:gd name="T21" fmla="*/ 144 h 171"/>
              <a:gd name="T22" fmla="*/ 107 w 151"/>
              <a:gd name="T23" fmla="*/ 13 h 171"/>
              <a:gd name="T24" fmla="*/ 106 w 151"/>
              <a:gd name="T25" fmla="*/ 11 h 171"/>
              <a:gd name="T26" fmla="*/ 113 w 151"/>
              <a:gd name="T27" fmla="*/ 10 h 171"/>
              <a:gd name="T28" fmla="*/ 111 w 151"/>
              <a:gd name="T29" fmla="*/ 15 h 171"/>
              <a:gd name="T30" fmla="*/ 115 w 151"/>
              <a:gd name="T31" fmla="*/ 26 h 171"/>
              <a:gd name="T32" fmla="*/ 114 w 151"/>
              <a:gd name="T33" fmla="*/ 30 h 171"/>
              <a:gd name="T34" fmla="*/ 112 w 151"/>
              <a:gd name="T35" fmla="*/ 22 h 171"/>
              <a:gd name="T36" fmla="*/ 108 w 151"/>
              <a:gd name="T37" fmla="*/ 27 h 171"/>
              <a:gd name="T38" fmla="*/ 107 w 151"/>
              <a:gd name="T39" fmla="*/ 27 h 171"/>
              <a:gd name="T40" fmla="*/ 108 w 151"/>
              <a:gd name="T41" fmla="*/ 22 h 171"/>
              <a:gd name="T42" fmla="*/ 106 w 151"/>
              <a:gd name="T43" fmla="*/ 28 h 171"/>
              <a:gd name="T44" fmla="*/ 105 w 151"/>
              <a:gd name="T45" fmla="*/ 30 h 171"/>
              <a:gd name="T46" fmla="*/ 107 w 151"/>
              <a:gd name="T47" fmla="*/ 16 h 171"/>
              <a:gd name="T48" fmla="*/ 107 w 151"/>
              <a:gd name="T49" fmla="*/ 18 h 171"/>
              <a:gd name="T50" fmla="*/ 108 w 151"/>
              <a:gd name="T51" fmla="*/ 25 h 171"/>
              <a:gd name="T52" fmla="*/ 36 w 151"/>
              <a:gd name="T53" fmla="*/ 65 h 171"/>
              <a:gd name="T54" fmla="*/ 28 w 151"/>
              <a:gd name="T55" fmla="*/ 69 h 171"/>
              <a:gd name="T56" fmla="*/ 30 w 151"/>
              <a:gd name="T57" fmla="*/ 63 h 171"/>
              <a:gd name="T58" fmla="*/ 39 w 151"/>
              <a:gd name="T59" fmla="*/ 65 h 171"/>
              <a:gd name="T60" fmla="*/ 47 w 151"/>
              <a:gd name="T61" fmla="*/ 69 h 171"/>
              <a:gd name="T62" fmla="*/ 49 w 151"/>
              <a:gd name="T63" fmla="*/ 65 h 171"/>
              <a:gd name="T64" fmla="*/ 57 w 151"/>
              <a:gd name="T65" fmla="*/ 66 h 171"/>
              <a:gd name="T66" fmla="*/ 87 w 151"/>
              <a:gd name="T67" fmla="*/ 71 h 171"/>
              <a:gd name="T68" fmla="*/ 91 w 151"/>
              <a:gd name="T69" fmla="*/ 72 h 171"/>
              <a:gd name="T70" fmla="*/ 90 w 151"/>
              <a:gd name="T71" fmla="*/ 57 h 171"/>
              <a:gd name="T72" fmla="*/ 69 w 151"/>
              <a:gd name="T73" fmla="*/ 67 h 171"/>
              <a:gd name="T74" fmla="*/ 104 w 151"/>
              <a:gd name="T75" fmla="*/ 59 h 171"/>
              <a:gd name="T76" fmla="*/ 102 w 151"/>
              <a:gd name="T77" fmla="*/ 94 h 171"/>
              <a:gd name="T78" fmla="*/ 112 w 151"/>
              <a:gd name="T79" fmla="*/ 20 h 171"/>
              <a:gd name="T80" fmla="*/ 113 w 151"/>
              <a:gd name="T81" fmla="*/ 18 h 171"/>
              <a:gd name="T82" fmla="*/ 113 w 151"/>
              <a:gd name="T83" fmla="*/ 18 h 171"/>
              <a:gd name="T84" fmla="*/ 88 w 151"/>
              <a:gd name="T85" fmla="*/ 29 h 171"/>
              <a:gd name="T86" fmla="*/ 88 w 151"/>
              <a:gd name="T87" fmla="*/ 29 h 171"/>
              <a:gd name="T88" fmla="*/ 86 w 151"/>
              <a:gd name="T89" fmla="*/ 17 h 171"/>
              <a:gd name="T90" fmla="*/ 91 w 151"/>
              <a:gd name="T91" fmla="*/ 25 h 171"/>
              <a:gd name="T92" fmla="*/ 93 w 151"/>
              <a:gd name="T93" fmla="*/ 22 h 171"/>
              <a:gd name="T94" fmla="*/ 97 w 151"/>
              <a:gd name="T95" fmla="*/ 14 h 171"/>
              <a:gd name="T96" fmla="*/ 92 w 151"/>
              <a:gd name="T97" fmla="*/ 25 h 171"/>
              <a:gd name="T98" fmla="*/ 20 w 151"/>
              <a:gd name="T99" fmla="*/ 110 h 171"/>
              <a:gd name="T100" fmla="*/ 54 w 151"/>
              <a:gd name="T101" fmla="*/ 88 h 171"/>
              <a:gd name="T102" fmla="*/ 58 w 151"/>
              <a:gd name="T103" fmla="*/ 120 h 171"/>
              <a:gd name="T104" fmla="*/ 125 w 151"/>
              <a:gd name="T105" fmla="*/ 4 h 171"/>
              <a:gd name="T106" fmla="*/ 20 w 151"/>
              <a:gd name="T107" fmla="*/ 119 h 171"/>
              <a:gd name="T108" fmla="*/ 43 w 151"/>
              <a:gd name="T109" fmla="*/ 129 h 171"/>
              <a:gd name="T110" fmla="*/ 125 w 151"/>
              <a:gd name="T111" fmla="*/ 134 h 171"/>
              <a:gd name="T112" fmla="*/ 119 w 151"/>
              <a:gd name="T113" fmla="*/ 67 h 171"/>
              <a:gd name="T114" fmla="*/ 121 w 151"/>
              <a:gd name="T115" fmla="*/ 68 h 171"/>
              <a:gd name="T116" fmla="*/ 116 w 151"/>
              <a:gd name="T117" fmla="*/ 66 h 171"/>
              <a:gd name="T118" fmla="*/ 122 w 151"/>
              <a:gd name="T119" fmla="*/ 62 h 171"/>
              <a:gd name="T120" fmla="*/ 106 w 151"/>
              <a:gd name="T121" fmla="*/ 39 h 171"/>
              <a:gd name="T122" fmla="*/ 119 w 151"/>
              <a:gd name="T123" fmla="*/ 46 h 171"/>
              <a:gd name="T124" fmla="*/ 126 w 151"/>
              <a:gd name="T125" fmla="*/ 4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1" h="171">
                <a:moveTo>
                  <a:pt x="151" y="92"/>
                </a:moveTo>
                <a:cubicBezTo>
                  <a:pt x="151" y="22"/>
                  <a:pt x="151" y="22"/>
                  <a:pt x="151" y="22"/>
                </a:cubicBezTo>
                <a:cubicBezTo>
                  <a:pt x="144" y="19"/>
                  <a:pt x="130" y="8"/>
                  <a:pt x="129" y="0"/>
                </a:cubicBezTo>
                <a:cubicBezTo>
                  <a:pt x="76" y="0"/>
                  <a:pt x="76" y="0"/>
                  <a:pt x="76" y="0"/>
                </a:cubicBezTo>
                <a:cubicBezTo>
                  <a:pt x="22" y="0"/>
                  <a:pt x="22" y="0"/>
                  <a:pt x="22" y="0"/>
                </a:cubicBezTo>
                <a:cubicBezTo>
                  <a:pt x="21" y="8"/>
                  <a:pt x="6" y="19"/>
                  <a:pt x="0" y="22"/>
                </a:cubicBezTo>
                <a:cubicBezTo>
                  <a:pt x="0" y="92"/>
                  <a:pt x="0" y="92"/>
                  <a:pt x="0" y="92"/>
                </a:cubicBezTo>
                <a:cubicBezTo>
                  <a:pt x="0" y="96"/>
                  <a:pt x="0" y="100"/>
                  <a:pt x="1" y="105"/>
                </a:cubicBezTo>
                <a:cubicBezTo>
                  <a:pt x="9" y="137"/>
                  <a:pt x="39" y="165"/>
                  <a:pt x="76" y="171"/>
                </a:cubicBezTo>
                <a:cubicBezTo>
                  <a:pt x="76" y="171"/>
                  <a:pt x="76" y="171"/>
                  <a:pt x="76" y="171"/>
                </a:cubicBezTo>
                <a:cubicBezTo>
                  <a:pt x="114" y="164"/>
                  <a:pt x="142" y="139"/>
                  <a:pt x="150" y="109"/>
                </a:cubicBezTo>
                <a:cubicBezTo>
                  <a:pt x="151" y="103"/>
                  <a:pt x="151" y="98"/>
                  <a:pt x="151" y="92"/>
                </a:cubicBezTo>
                <a:close/>
                <a:moveTo>
                  <a:pt x="75" y="94"/>
                </a:moveTo>
                <a:cubicBezTo>
                  <a:pt x="75" y="92"/>
                  <a:pt x="75" y="92"/>
                  <a:pt x="75" y="92"/>
                </a:cubicBezTo>
                <a:cubicBezTo>
                  <a:pt x="75" y="92"/>
                  <a:pt x="74" y="92"/>
                  <a:pt x="74" y="92"/>
                </a:cubicBezTo>
                <a:cubicBezTo>
                  <a:pt x="73" y="93"/>
                  <a:pt x="73" y="93"/>
                  <a:pt x="73" y="93"/>
                </a:cubicBezTo>
                <a:cubicBezTo>
                  <a:pt x="73" y="93"/>
                  <a:pt x="72" y="94"/>
                  <a:pt x="72" y="94"/>
                </a:cubicBezTo>
                <a:cubicBezTo>
                  <a:pt x="72" y="94"/>
                  <a:pt x="72" y="95"/>
                  <a:pt x="71" y="95"/>
                </a:cubicBezTo>
                <a:cubicBezTo>
                  <a:pt x="71" y="95"/>
                  <a:pt x="71" y="95"/>
                  <a:pt x="71" y="95"/>
                </a:cubicBezTo>
                <a:cubicBezTo>
                  <a:pt x="71" y="95"/>
                  <a:pt x="71" y="96"/>
                  <a:pt x="71" y="96"/>
                </a:cubicBezTo>
                <a:cubicBezTo>
                  <a:pt x="70" y="96"/>
                  <a:pt x="70" y="96"/>
                  <a:pt x="70" y="97"/>
                </a:cubicBezTo>
                <a:cubicBezTo>
                  <a:pt x="70" y="97"/>
                  <a:pt x="70" y="97"/>
                  <a:pt x="70" y="97"/>
                </a:cubicBezTo>
                <a:cubicBezTo>
                  <a:pt x="70" y="98"/>
                  <a:pt x="70" y="98"/>
                  <a:pt x="70" y="98"/>
                </a:cubicBezTo>
                <a:cubicBezTo>
                  <a:pt x="70" y="98"/>
                  <a:pt x="70" y="98"/>
                  <a:pt x="70" y="98"/>
                </a:cubicBezTo>
                <a:cubicBezTo>
                  <a:pt x="70" y="98"/>
                  <a:pt x="69" y="98"/>
                  <a:pt x="69" y="98"/>
                </a:cubicBezTo>
                <a:cubicBezTo>
                  <a:pt x="69" y="98"/>
                  <a:pt x="69" y="98"/>
                  <a:pt x="69" y="98"/>
                </a:cubicBezTo>
                <a:cubicBezTo>
                  <a:pt x="69" y="98"/>
                  <a:pt x="69" y="98"/>
                  <a:pt x="69" y="98"/>
                </a:cubicBezTo>
                <a:cubicBezTo>
                  <a:pt x="69" y="98"/>
                  <a:pt x="69" y="98"/>
                  <a:pt x="69" y="98"/>
                </a:cubicBezTo>
                <a:cubicBezTo>
                  <a:pt x="69" y="98"/>
                  <a:pt x="69" y="98"/>
                  <a:pt x="68" y="97"/>
                </a:cubicBezTo>
                <a:cubicBezTo>
                  <a:pt x="68" y="97"/>
                  <a:pt x="68" y="97"/>
                  <a:pt x="68" y="97"/>
                </a:cubicBezTo>
                <a:cubicBezTo>
                  <a:pt x="68" y="97"/>
                  <a:pt x="68" y="97"/>
                  <a:pt x="69" y="97"/>
                </a:cubicBezTo>
                <a:cubicBezTo>
                  <a:pt x="69" y="96"/>
                  <a:pt x="69" y="96"/>
                  <a:pt x="69" y="96"/>
                </a:cubicBezTo>
                <a:cubicBezTo>
                  <a:pt x="69" y="96"/>
                  <a:pt x="69" y="96"/>
                  <a:pt x="69" y="96"/>
                </a:cubicBezTo>
                <a:cubicBezTo>
                  <a:pt x="70" y="94"/>
                  <a:pt x="70" y="94"/>
                  <a:pt x="70" y="94"/>
                </a:cubicBezTo>
                <a:cubicBezTo>
                  <a:pt x="70" y="94"/>
                  <a:pt x="70" y="94"/>
                  <a:pt x="70" y="94"/>
                </a:cubicBezTo>
                <a:cubicBezTo>
                  <a:pt x="70" y="94"/>
                  <a:pt x="70" y="93"/>
                  <a:pt x="71" y="93"/>
                </a:cubicBezTo>
                <a:cubicBezTo>
                  <a:pt x="71" y="93"/>
                  <a:pt x="71" y="93"/>
                  <a:pt x="72" y="92"/>
                </a:cubicBezTo>
                <a:cubicBezTo>
                  <a:pt x="72" y="92"/>
                  <a:pt x="72" y="92"/>
                  <a:pt x="72" y="92"/>
                </a:cubicBezTo>
                <a:cubicBezTo>
                  <a:pt x="72" y="92"/>
                  <a:pt x="72" y="92"/>
                  <a:pt x="73" y="91"/>
                </a:cubicBezTo>
                <a:cubicBezTo>
                  <a:pt x="73" y="91"/>
                  <a:pt x="73" y="91"/>
                  <a:pt x="74" y="91"/>
                </a:cubicBezTo>
                <a:cubicBezTo>
                  <a:pt x="74" y="91"/>
                  <a:pt x="74" y="91"/>
                  <a:pt x="74" y="91"/>
                </a:cubicBezTo>
                <a:cubicBezTo>
                  <a:pt x="75" y="90"/>
                  <a:pt x="75" y="90"/>
                  <a:pt x="75" y="90"/>
                </a:cubicBezTo>
                <a:cubicBezTo>
                  <a:pt x="75" y="90"/>
                  <a:pt x="75" y="90"/>
                  <a:pt x="75" y="90"/>
                </a:cubicBezTo>
                <a:cubicBezTo>
                  <a:pt x="75" y="90"/>
                  <a:pt x="75" y="90"/>
                  <a:pt x="75" y="89"/>
                </a:cubicBezTo>
                <a:cubicBezTo>
                  <a:pt x="75" y="89"/>
                  <a:pt x="75" y="89"/>
                  <a:pt x="75" y="89"/>
                </a:cubicBezTo>
                <a:cubicBezTo>
                  <a:pt x="75" y="89"/>
                  <a:pt x="75" y="89"/>
                  <a:pt x="75" y="89"/>
                </a:cubicBezTo>
                <a:cubicBezTo>
                  <a:pt x="75" y="88"/>
                  <a:pt x="75" y="88"/>
                  <a:pt x="75" y="88"/>
                </a:cubicBezTo>
                <a:cubicBezTo>
                  <a:pt x="75" y="88"/>
                  <a:pt x="75" y="88"/>
                  <a:pt x="75" y="88"/>
                </a:cubicBezTo>
                <a:cubicBezTo>
                  <a:pt x="75" y="88"/>
                  <a:pt x="75" y="88"/>
                  <a:pt x="75" y="88"/>
                </a:cubicBezTo>
                <a:cubicBezTo>
                  <a:pt x="75" y="88"/>
                  <a:pt x="75" y="88"/>
                  <a:pt x="75" y="87"/>
                </a:cubicBezTo>
                <a:cubicBezTo>
                  <a:pt x="75" y="87"/>
                  <a:pt x="75" y="87"/>
                  <a:pt x="75" y="87"/>
                </a:cubicBezTo>
                <a:cubicBezTo>
                  <a:pt x="75"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7" y="87"/>
                  <a:pt x="77" y="87"/>
                  <a:pt x="77" y="87"/>
                </a:cubicBezTo>
                <a:cubicBezTo>
                  <a:pt x="77" y="87"/>
                  <a:pt x="77" y="87"/>
                  <a:pt x="77" y="87"/>
                </a:cubicBezTo>
                <a:cubicBezTo>
                  <a:pt x="77" y="87"/>
                  <a:pt x="77" y="87"/>
                  <a:pt x="77" y="88"/>
                </a:cubicBezTo>
                <a:cubicBezTo>
                  <a:pt x="77" y="89"/>
                  <a:pt x="77" y="89"/>
                  <a:pt x="77" y="89"/>
                </a:cubicBezTo>
                <a:cubicBezTo>
                  <a:pt x="77" y="89"/>
                  <a:pt x="77" y="89"/>
                  <a:pt x="77" y="89"/>
                </a:cubicBezTo>
                <a:cubicBezTo>
                  <a:pt x="77" y="90"/>
                  <a:pt x="77" y="90"/>
                  <a:pt x="77" y="90"/>
                </a:cubicBezTo>
                <a:cubicBezTo>
                  <a:pt x="77" y="90"/>
                  <a:pt x="77" y="90"/>
                  <a:pt x="77" y="91"/>
                </a:cubicBezTo>
                <a:cubicBezTo>
                  <a:pt x="77" y="91"/>
                  <a:pt x="77" y="91"/>
                  <a:pt x="77" y="91"/>
                </a:cubicBezTo>
                <a:cubicBezTo>
                  <a:pt x="78" y="91"/>
                  <a:pt x="78" y="91"/>
                  <a:pt x="78" y="91"/>
                </a:cubicBezTo>
                <a:cubicBezTo>
                  <a:pt x="78" y="91"/>
                  <a:pt x="78" y="91"/>
                  <a:pt x="78" y="91"/>
                </a:cubicBezTo>
                <a:cubicBezTo>
                  <a:pt x="78" y="91"/>
                  <a:pt x="79" y="91"/>
                  <a:pt x="79" y="91"/>
                </a:cubicBezTo>
                <a:cubicBezTo>
                  <a:pt x="79" y="91"/>
                  <a:pt x="80" y="91"/>
                  <a:pt x="80" y="92"/>
                </a:cubicBezTo>
                <a:cubicBezTo>
                  <a:pt x="80" y="92"/>
                  <a:pt x="81" y="92"/>
                  <a:pt x="81" y="92"/>
                </a:cubicBezTo>
                <a:cubicBezTo>
                  <a:pt x="81" y="92"/>
                  <a:pt x="81" y="93"/>
                  <a:pt x="81" y="93"/>
                </a:cubicBezTo>
                <a:cubicBezTo>
                  <a:pt x="82" y="93"/>
                  <a:pt x="82" y="93"/>
                  <a:pt x="82" y="93"/>
                </a:cubicBezTo>
                <a:cubicBezTo>
                  <a:pt x="82" y="94"/>
                  <a:pt x="82" y="94"/>
                  <a:pt x="82" y="94"/>
                </a:cubicBezTo>
                <a:cubicBezTo>
                  <a:pt x="82" y="94"/>
                  <a:pt x="82" y="94"/>
                  <a:pt x="82" y="94"/>
                </a:cubicBezTo>
                <a:cubicBezTo>
                  <a:pt x="83" y="95"/>
                  <a:pt x="83" y="95"/>
                  <a:pt x="83" y="95"/>
                </a:cubicBezTo>
                <a:cubicBezTo>
                  <a:pt x="83" y="95"/>
                  <a:pt x="83" y="95"/>
                  <a:pt x="83" y="96"/>
                </a:cubicBezTo>
                <a:cubicBezTo>
                  <a:pt x="83" y="96"/>
                  <a:pt x="83" y="96"/>
                  <a:pt x="83" y="96"/>
                </a:cubicBezTo>
                <a:cubicBezTo>
                  <a:pt x="83" y="96"/>
                  <a:pt x="83" y="96"/>
                  <a:pt x="83" y="96"/>
                </a:cubicBezTo>
                <a:cubicBezTo>
                  <a:pt x="83" y="96"/>
                  <a:pt x="83" y="96"/>
                  <a:pt x="83" y="96"/>
                </a:cubicBezTo>
                <a:cubicBezTo>
                  <a:pt x="84" y="96"/>
                  <a:pt x="84" y="96"/>
                  <a:pt x="84" y="97"/>
                </a:cubicBezTo>
                <a:cubicBezTo>
                  <a:pt x="84" y="97"/>
                  <a:pt x="84" y="97"/>
                  <a:pt x="84" y="97"/>
                </a:cubicBezTo>
                <a:cubicBezTo>
                  <a:pt x="84" y="97"/>
                  <a:pt x="84" y="97"/>
                  <a:pt x="84" y="97"/>
                </a:cubicBezTo>
                <a:cubicBezTo>
                  <a:pt x="84" y="97"/>
                  <a:pt x="84" y="97"/>
                  <a:pt x="84" y="97"/>
                </a:cubicBezTo>
                <a:cubicBezTo>
                  <a:pt x="84" y="97"/>
                  <a:pt x="84" y="97"/>
                  <a:pt x="84" y="97"/>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2" y="96"/>
                  <a:pt x="82" y="96"/>
                  <a:pt x="82" y="96"/>
                </a:cubicBezTo>
                <a:cubicBezTo>
                  <a:pt x="82" y="96"/>
                  <a:pt x="82" y="96"/>
                  <a:pt x="81" y="96"/>
                </a:cubicBezTo>
                <a:cubicBezTo>
                  <a:pt x="81" y="95"/>
                  <a:pt x="81" y="95"/>
                  <a:pt x="81" y="95"/>
                </a:cubicBezTo>
                <a:cubicBezTo>
                  <a:pt x="81" y="95"/>
                  <a:pt x="81" y="95"/>
                  <a:pt x="81" y="95"/>
                </a:cubicBezTo>
                <a:cubicBezTo>
                  <a:pt x="81" y="95"/>
                  <a:pt x="81" y="94"/>
                  <a:pt x="81" y="94"/>
                </a:cubicBezTo>
                <a:cubicBezTo>
                  <a:pt x="80" y="94"/>
                  <a:pt x="80" y="94"/>
                  <a:pt x="80" y="94"/>
                </a:cubicBezTo>
                <a:cubicBezTo>
                  <a:pt x="80" y="94"/>
                  <a:pt x="80" y="93"/>
                  <a:pt x="79" y="93"/>
                </a:cubicBezTo>
                <a:cubicBezTo>
                  <a:pt x="79" y="93"/>
                  <a:pt x="79" y="93"/>
                  <a:pt x="79" y="93"/>
                </a:cubicBezTo>
                <a:cubicBezTo>
                  <a:pt x="79" y="93"/>
                  <a:pt x="79" y="93"/>
                  <a:pt x="79" y="93"/>
                </a:cubicBezTo>
                <a:cubicBezTo>
                  <a:pt x="79" y="92"/>
                  <a:pt x="78" y="92"/>
                  <a:pt x="78" y="92"/>
                </a:cubicBezTo>
                <a:cubicBezTo>
                  <a:pt x="78" y="92"/>
                  <a:pt x="78" y="92"/>
                  <a:pt x="78" y="92"/>
                </a:cubicBezTo>
                <a:cubicBezTo>
                  <a:pt x="78" y="92"/>
                  <a:pt x="77" y="92"/>
                  <a:pt x="77" y="92"/>
                </a:cubicBezTo>
                <a:cubicBezTo>
                  <a:pt x="77" y="94"/>
                  <a:pt x="77" y="94"/>
                  <a:pt x="77" y="94"/>
                </a:cubicBezTo>
                <a:cubicBezTo>
                  <a:pt x="77" y="94"/>
                  <a:pt x="77" y="94"/>
                  <a:pt x="77" y="94"/>
                </a:cubicBezTo>
                <a:cubicBezTo>
                  <a:pt x="78" y="94"/>
                  <a:pt x="78" y="94"/>
                  <a:pt x="78" y="95"/>
                </a:cubicBezTo>
                <a:cubicBezTo>
                  <a:pt x="78" y="95"/>
                  <a:pt x="78" y="95"/>
                  <a:pt x="78" y="95"/>
                </a:cubicBezTo>
                <a:cubicBezTo>
                  <a:pt x="79" y="95"/>
                  <a:pt x="79" y="95"/>
                  <a:pt x="79" y="96"/>
                </a:cubicBezTo>
                <a:cubicBezTo>
                  <a:pt x="79" y="96"/>
                  <a:pt x="79" y="96"/>
                  <a:pt x="79" y="97"/>
                </a:cubicBezTo>
                <a:cubicBezTo>
                  <a:pt x="80" y="97"/>
                  <a:pt x="80" y="97"/>
                  <a:pt x="80" y="98"/>
                </a:cubicBezTo>
                <a:cubicBezTo>
                  <a:pt x="80" y="98"/>
                  <a:pt x="80" y="99"/>
                  <a:pt x="80" y="99"/>
                </a:cubicBezTo>
                <a:cubicBezTo>
                  <a:pt x="79" y="99"/>
                  <a:pt x="79" y="100"/>
                  <a:pt x="79" y="100"/>
                </a:cubicBezTo>
                <a:cubicBezTo>
                  <a:pt x="79" y="100"/>
                  <a:pt x="79" y="101"/>
                  <a:pt x="79" y="101"/>
                </a:cubicBezTo>
                <a:cubicBezTo>
                  <a:pt x="78" y="101"/>
                  <a:pt x="78" y="101"/>
                  <a:pt x="78" y="102"/>
                </a:cubicBezTo>
                <a:cubicBezTo>
                  <a:pt x="78" y="102"/>
                  <a:pt x="78" y="103"/>
                  <a:pt x="78" y="103"/>
                </a:cubicBezTo>
                <a:cubicBezTo>
                  <a:pt x="79" y="103"/>
                  <a:pt x="79" y="104"/>
                  <a:pt x="79" y="104"/>
                </a:cubicBezTo>
                <a:cubicBezTo>
                  <a:pt x="79" y="104"/>
                  <a:pt x="79" y="104"/>
                  <a:pt x="79" y="104"/>
                </a:cubicBezTo>
                <a:cubicBezTo>
                  <a:pt x="79" y="104"/>
                  <a:pt x="79" y="104"/>
                  <a:pt x="79" y="105"/>
                </a:cubicBezTo>
                <a:cubicBezTo>
                  <a:pt x="79" y="105"/>
                  <a:pt x="80" y="106"/>
                  <a:pt x="80" y="106"/>
                </a:cubicBezTo>
                <a:cubicBezTo>
                  <a:pt x="80" y="106"/>
                  <a:pt x="80" y="106"/>
                  <a:pt x="80" y="106"/>
                </a:cubicBezTo>
                <a:cubicBezTo>
                  <a:pt x="80" y="106"/>
                  <a:pt x="80" y="107"/>
                  <a:pt x="80" y="107"/>
                </a:cubicBezTo>
                <a:cubicBezTo>
                  <a:pt x="80" y="108"/>
                  <a:pt x="80" y="108"/>
                  <a:pt x="80" y="109"/>
                </a:cubicBezTo>
                <a:cubicBezTo>
                  <a:pt x="80" y="109"/>
                  <a:pt x="80" y="109"/>
                  <a:pt x="80" y="109"/>
                </a:cubicBezTo>
                <a:cubicBezTo>
                  <a:pt x="81" y="109"/>
                  <a:pt x="81" y="110"/>
                  <a:pt x="81" y="110"/>
                </a:cubicBezTo>
                <a:cubicBezTo>
                  <a:pt x="81" y="111"/>
                  <a:pt x="81" y="111"/>
                  <a:pt x="81" y="112"/>
                </a:cubicBezTo>
                <a:cubicBezTo>
                  <a:pt x="81" y="112"/>
                  <a:pt x="81" y="112"/>
                  <a:pt x="81" y="112"/>
                </a:cubicBezTo>
                <a:cubicBezTo>
                  <a:pt x="81" y="112"/>
                  <a:pt x="81" y="113"/>
                  <a:pt x="81" y="113"/>
                </a:cubicBezTo>
                <a:cubicBezTo>
                  <a:pt x="81" y="113"/>
                  <a:pt x="81" y="113"/>
                  <a:pt x="81" y="113"/>
                </a:cubicBezTo>
                <a:cubicBezTo>
                  <a:pt x="81" y="113"/>
                  <a:pt x="81" y="114"/>
                  <a:pt x="81" y="114"/>
                </a:cubicBezTo>
                <a:cubicBezTo>
                  <a:pt x="81" y="114"/>
                  <a:pt x="81" y="114"/>
                  <a:pt x="81" y="115"/>
                </a:cubicBezTo>
                <a:cubicBezTo>
                  <a:pt x="81" y="115"/>
                  <a:pt x="81" y="115"/>
                  <a:pt x="81" y="115"/>
                </a:cubicBezTo>
                <a:cubicBezTo>
                  <a:pt x="81" y="115"/>
                  <a:pt x="81" y="115"/>
                  <a:pt x="81" y="115"/>
                </a:cubicBezTo>
                <a:cubicBezTo>
                  <a:pt x="81" y="115"/>
                  <a:pt x="81" y="115"/>
                  <a:pt x="81" y="115"/>
                </a:cubicBezTo>
                <a:cubicBezTo>
                  <a:pt x="81" y="115"/>
                  <a:pt x="81" y="115"/>
                  <a:pt x="81" y="115"/>
                </a:cubicBezTo>
                <a:cubicBezTo>
                  <a:pt x="81" y="115"/>
                  <a:pt x="81"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4"/>
                  <a:pt x="80" y="114"/>
                  <a:pt x="79" y="114"/>
                </a:cubicBezTo>
                <a:cubicBezTo>
                  <a:pt x="79" y="114"/>
                  <a:pt x="79" y="114"/>
                  <a:pt x="79" y="113"/>
                </a:cubicBezTo>
                <a:cubicBezTo>
                  <a:pt x="79" y="113"/>
                  <a:pt x="79" y="113"/>
                  <a:pt x="79" y="113"/>
                </a:cubicBezTo>
                <a:cubicBezTo>
                  <a:pt x="79" y="113"/>
                  <a:pt x="79" y="113"/>
                  <a:pt x="79" y="112"/>
                </a:cubicBezTo>
                <a:cubicBezTo>
                  <a:pt x="79" y="112"/>
                  <a:pt x="79" y="112"/>
                  <a:pt x="79" y="112"/>
                </a:cubicBezTo>
                <a:cubicBezTo>
                  <a:pt x="79" y="112"/>
                  <a:pt x="79" y="111"/>
                  <a:pt x="79" y="110"/>
                </a:cubicBezTo>
                <a:cubicBezTo>
                  <a:pt x="79" y="110"/>
                  <a:pt x="79" y="109"/>
                  <a:pt x="79" y="109"/>
                </a:cubicBezTo>
                <a:cubicBezTo>
                  <a:pt x="79" y="108"/>
                  <a:pt x="79" y="108"/>
                  <a:pt x="79" y="108"/>
                </a:cubicBezTo>
                <a:cubicBezTo>
                  <a:pt x="78" y="107"/>
                  <a:pt x="78" y="107"/>
                  <a:pt x="78" y="107"/>
                </a:cubicBezTo>
                <a:cubicBezTo>
                  <a:pt x="78" y="107"/>
                  <a:pt x="78" y="106"/>
                  <a:pt x="78" y="106"/>
                </a:cubicBezTo>
                <a:cubicBezTo>
                  <a:pt x="78" y="106"/>
                  <a:pt x="78" y="106"/>
                  <a:pt x="78" y="106"/>
                </a:cubicBezTo>
                <a:cubicBezTo>
                  <a:pt x="78" y="106"/>
                  <a:pt x="78" y="105"/>
                  <a:pt x="78" y="105"/>
                </a:cubicBezTo>
                <a:cubicBezTo>
                  <a:pt x="78" y="105"/>
                  <a:pt x="78" y="105"/>
                  <a:pt x="77" y="104"/>
                </a:cubicBezTo>
                <a:cubicBezTo>
                  <a:pt x="77" y="104"/>
                  <a:pt x="77" y="104"/>
                  <a:pt x="77" y="103"/>
                </a:cubicBezTo>
                <a:cubicBezTo>
                  <a:pt x="77" y="103"/>
                  <a:pt x="77" y="103"/>
                  <a:pt x="77" y="103"/>
                </a:cubicBezTo>
                <a:cubicBezTo>
                  <a:pt x="77" y="103"/>
                  <a:pt x="77" y="103"/>
                  <a:pt x="77" y="103"/>
                </a:cubicBezTo>
                <a:cubicBezTo>
                  <a:pt x="76" y="102"/>
                  <a:pt x="76" y="102"/>
                  <a:pt x="76" y="102"/>
                </a:cubicBezTo>
                <a:cubicBezTo>
                  <a:pt x="76" y="103"/>
                  <a:pt x="75" y="103"/>
                  <a:pt x="75" y="103"/>
                </a:cubicBezTo>
                <a:cubicBezTo>
                  <a:pt x="75" y="104"/>
                  <a:pt x="75" y="104"/>
                  <a:pt x="75" y="104"/>
                </a:cubicBezTo>
                <a:cubicBezTo>
                  <a:pt x="74" y="104"/>
                  <a:pt x="74" y="104"/>
                  <a:pt x="74" y="105"/>
                </a:cubicBezTo>
                <a:cubicBezTo>
                  <a:pt x="74" y="105"/>
                  <a:pt x="74" y="105"/>
                  <a:pt x="74" y="106"/>
                </a:cubicBezTo>
                <a:cubicBezTo>
                  <a:pt x="74" y="106"/>
                  <a:pt x="74" y="106"/>
                  <a:pt x="73" y="107"/>
                </a:cubicBezTo>
                <a:cubicBezTo>
                  <a:pt x="73" y="107"/>
                  <a:pt x="73" y="107"/>
                  <a:pt x="73" y="108"/>
                </a:cubicBezTo>
                <a:cubicBezTo>
                  <a:pt x="73" y="108"/>
                  <a:pt x="73" y="108"/>
                  <a:pt x="73" y="108"/>
                </a:cubicBezTo>
                <a:cubicBezTo>
                  <a:pt x="73" y="108"/>
                  <a:pt x="73" y="108"/>
                  <a:pt x="73" y="109"/>
                </a:cubicBezTo>
                <a:cubicBezTo>
                  <a:pt x="73" y="109"/>
                  <a:pt x="73" y="110"/>
                  <a:pt x="73" y="110"/>
                </a:cubicBezTo>
                <a:cubicBezTo>
                  <a:pt x="73" y="110"/>
                  <a:pt x="73" y="110"/>
                  <a:pt x="73" y="110"/>
                </a:cubicBezTo>
                <a:cubicBezTo>
                  <a:pt x="73" y="111"/>
                  <a:pt x="73" y="111"/>
                  <a:pt x="73" y="111"/>
                </a:cubicBezTo>
                <a:cubicBezTo>
                  <a:pt x="73" y="111"/>
                  <a:pt x="73" y="111"/>
                  <a:pt x="73" y="111"/>
                </a:cubicBezTo>
                <a:cubicBezTo>
                  <a:pt x="73" y="112"/>
                  <a:pt x="73" y="112"/>
                  <a:pt x="73" y="112"/>
                </a:cubicBezTo>
                <a:cubicBezTo>
                  <a:pt x="73" y="112"/>
                  <a:pt x="73" y="112"/>
                  <a:pt x="73" y="112"/>
                </a:cubicBezTo>
                <a:cubicBezTo>
                  <a:pt x="73" y="113"/>
                  <a:pt x="73" y="113"/>
                  <a:pt x="73" y="113"/>
                </a:cubicBezTo>
                <a:cubicBezTo>
                  <a:pt x="73" y="113"/>
                  <a:pt x="73" y="113"/>
                  <a:pt x="73" y="113"/>
                </a:cubicBezTo>
                <a:cubicBezTo>
                  <a:pt x="73" y="114"/>
                  <a:pt x="73" y="114"/>
                  <a:pt x="73" y="114"/>
                </a:cubicBezTo>
                <a:cubicBezTo>
                  <a:pt x="73" y="114"/>
                  <a:pt x="73" y="114"/>
                  <a:pt x="73" y="114"/>
                </a:cubicBezTo>
                <a:cubicBezTo>
                  <a:pt x="73" y="114"/>
                  <a:pt x="73" y="115"/>
                  <a:pt x="73" y="115"/>
                </a:cubicBezTo>
                <a:cubicBezTo>
                  <a:pt x="73" y="115"/>
                  <a:pt x="73" y="115"/>
                  <a:pt x="73" y="115"/>
                </a:cubicBezTo>
                <a:cubicBezTo>
                  <a:pt x="72" y="115"/>
                  <a:pt x="72" y="115"/>
                  <a:pt x="72" y="115"/>
                </a:cubicBezTo>
                <a:cubicBezTo>
                  <a:pt x="72" y="115"/>
                  <a:pt x="72" y="115"/>
                  <a:pt x="72" y="115"/>
                </a:cubicBezTo>
                <a:cubicBezTo>
                  <a:pt x="72" y="115"/>
                  <a:pt x="72" y="115"/>
                  <a:pt x="72" y="115"/>
                </a:cubicBezTo>
                <a:cubicBezTo>
                  <a:pt x="71" y="115"/>
                  <a:pt x="71" y="115"/>
                  <a:pt x="71" y="115"/>
                </a:cubicBezTo>
                <a:cubicBezTo>
                  <a:pt x="71" y="115"/>
                  <a:pt x="71" y="115"/>
                  <a:pt x="71" y="115"/>
                </a:cubicBezTo>
                <a:cubicBezTo>
                  <a:pt x="71" y="115"/>
                  <a:pt x="71" y="115"/>
                  <a:pt x="71" y="114"/>
                </a:cubicBezTo>
                <a:cubicBezTo>
                  <a:pt x="71" y="114"/>
                  <a:pt x="71" y="114"/>
                  <a:pt x="71" y="114"/>
                </a:cubicBezTo>
                <a:cubicBezTo>
                  <a:pt x="71" y="114"/>
                  <a:pt x="71" y="113"/>
                  <a:pt x="71" y="113"/>
                </a:cubicBezTo>
                <a:cubicBezTo>
                  <a:pt x="71" y="112"/>
                  <a:pt x="71" y="111"/>
                  <a:pt x="71" y="110"/>
                </a:cubicBezTo>
                <a:cubicBezTo>
                  <a:pt x="71" y="110"/>
                  <a:pt x="71" y="109"/>
                  <a:pt x="71" y="109"/>
                </a:cubicBezTo>
                <a:cubicBezTo>
                  <a:pt x="71" y="108"/>
                  <a:pt x="72" y="107"/>
                  <a:pt x="72" y="107"/>
                </a:cubicBezTo>
                <a:cubicBezTo>
                  <a:pt x="72" y="106"/>
                  <a:pt x="72" y="106"/>
                  <a:pt x="72" y="105"/>
                </a:cubicBezTo>
                <a:cubicBezTo>
                  <a:pt x="72" y="105"/>
                  <a:pt x="73" y="104"/>
                  <a:pt x="73" y="104"/>
                </a:cubicBezTo>
                <a:cubicBezTo>
                  <a:pt x="73" y="104"/>
                  <a:pt x="73" y="104"/>
                  <a:pt x="73" y="104"/>
                </a:cubicBezTo>
                <a:cubicBezTo>
                  <a:pt x="73" y="104"/>
                  <a:pt x="73" y="103"/>
                  <a:pt x="73" y="103"/>
                </a:cubicBezTo>
                <a:cubicBezTo>
                  <a:pt x="74" y="102"/>
                  <a:pt x="74" y="102"/>
                  <a:pt x="74" y="102"/>
                </a:cubicBezTo>
                <a:cubicBezTo>
                  <a:pt x="74" y="102"/>
                  <a:pt x="74" y="102"/>
                  <a:pt x="74" y="101"/>
                </a:cubicBezTo>
                <a:cubicBezTo>
                  <a:pt x="74" y="101"/>
                  <a:pt x="74" y="101"/>
                  <a:pt x="73" y="101"/>
                </a:cubicBezTo>
                <a:cubicBezTo>
                  <a:pt x="73" y="101"/>
                  <a:pt x="73" y="101"/>
                  <a:pt x="73" y="101"/>
                </a:cubicBezTo>
                <a:cubicBezTo>
                  <a:pt x="73" y="101"/>
                  <a:pt x="73" y="100"/>
                  <a:pt x="73" y="100"/>
                </a:cubicBezTo>
                <a:cubicBezTo>
                  <a:pt x="72" y="100"/>
                  <a:pt x="72" y="100"/>
                  <a:pt x="72" y="99"/>
                </a:cubicBezTo>
                <a:cubicBezTo>
                  <a:pt x="72" y="99"/>
                  <a:pt x="72" y="99"/>
                  <a:pt x="72" y="98"/>
                </a:cubicBezTo>
                <a:cubicBezTo>
                  <a:pt x="72" y="98"/>
                  <a:pt x="72" y="98"/>
                  <a:pt x="72" y="98"/>
                </a:cubicBezTo>
                <a:cubicBezTo>
                  <a:pt x="72" y="98"/>
                  <a:pt x="72" y="97"/>
                  <a:pt x="72" y="97"/>
                </a:cubicBezTo>
                <a:cubicBezTo>
                  <a:pt x="72" y="97"/>
                  <a:pt x="73" y="96"/>
                  <a:pt x="73" y="96"/>
                </a:cubicBezTo>
                <a:cubicBezTo>
                  <a:pt x="73" y="96"/>
                  <a:pt x="73" y="95"/>
                  <a:pt x="74" y="95"/>
                </a:cubicBezTo>
                <a:cubicBezTo>
                  <a:pt x="74" y="95"/>
                  <a:pt x="75" y="94"/>
                  <a:pt x="75" y="94"/>
                </a:cubicBezTo>
                <a:close/>
                <a:moveTo>
                  <a:pt x="76" y="101"/>
                </a:moveTo>
                <a:cubicBezTo>
                  <a:pt x="75" y="100"/>
                  <a:pt x="75" y="100"/>
                  <a:pt x="75" y="100"/>
                </a:cubicBezTo>
                <a:cubicBezTo>
                  <a:pt x="75" y="100"/>
                  <a:pt x="75" y="100"/>
                  <a:pt x="75" y="100"/>
                </a:cubicBezTo>
                <a:cubicBezTo>
                  <a:pt x="75" y="100"/>
                  <a:pt x="75" y="100"/>
                  <a:pt x="74" y="100"/>
                </a:cubicBezTo>
                <a:cubicBezTo>
                  <a:pt x="74" y="100"/>
                  <a:pt x="74" y="100"/>
                  <a:pt x="74" y="100"/>
                </a:cubicBezTo>
                <a:cubicBezTo>
                  <a:pt x="74" y="100"/>
                  <a:pt x="74" y="100"/>
                  <a:pt x="74" y="99"/>
                </a:cubicBezTo>
                <a:cubicBezTo>
                  <a:pt x="74" y="99"/>
                  <a:pt x="74" y="99"/>
                  <a:pt x="74" y="99"/>
                </a:cubicBezTo>
                <a:cubicBezTo>
                  <a:pt x="74" y="99"/>
                  <a:pt x="74" y="99"/>
                  <a:pt x="74" y="99"/>
                </a:cubicBezTo>
                <a:cubicBezTo>
                  <a:pt x="74" y="98"/>
                  <a:pt x="74" y="98"/>
                  <a:pt x="74" y="98"/>
                </a:cubicBezTo>
                <a:cubicBezTo>
                  <a:pt x="74" y="98"/>
                  <a:pt x="74" y="98"/>
                  <a:pt x="74" y="97"/>
                </a:cubicBezTo>
                <a:cubicBezTo>
                  <a:pt x="74" y="97"/>
                  <a:pt x="74" y="97"/>
                  <a:pt x="74" y="97"/>
                </a:cubicBezTo>
                <a:cubicBezTo>
                  <a:pt x="74" y="97"/>
                  <a:pt x="74" y="97"/>
                  <a:pt x="74" y="97"/>
                </a:cubicBezTo>
                <a:cubicBezTo>
                  <a:pt x="74" y="97"/>
                  <a:pt x="74" y="97"/>
                  <a:pt x="74" y="96"/>
                </a:cubicBezTo>
                <a:cubicBezTo>
                  <a:pt x="75" y="96"/>
                  <a:pt x="75" y="96"/>
                  <a:pt x="75" y="96"/>
                </a:cubicBezTo>
                <a:cubicBezTo>
                  <a:pt x="75" y="96"/>
                  <a:pt x="75" y="96"/>
                  <a:pt x="75" y="96"/>
                </a:cubicBezTo>
                <a:cubicBezTo>
                  <a:pt x="75" y="96"/>
                  <a:pt x="75" y="96"/>
                  <a:pt x="76" y="96"/>
                </a:cubicBezTo>
                <a:cubicBezTo>
                  <a:pt x="76" y="95"/>
                  <a:pt x="76" y="95"/>
                  <a:pt x="76" y="95"/>
                </a:cubicBezTo>
                <a:cubicBezTo>
                  <a:pt x="76" y="95"/>
                  <a:pt x="76" y="95"/>
                  <a:pt x="76" y="95"/>
                </a:cubicBezTo>
                <a:cubicBezTo>
                  <a:pt x="76" y="95"/>
                  <a:pt x="76" y="95"/>
                  <a:pt x="76" y="96"/>
                </a:cubicBezTo>
                <a:cubicBezTo>
                  <a:pt x="77" y="96"/>
                  <a:pt x="77" y="96"/>
                  <a:pt x="77" y="96"/>
                </a:cubicBezTo>
                <a:cubicBezTo>
                  <a:pt x="77" y="96"/>
                  <a:pt x="77" y="96"/>
                  <a:pt x="77" y="96"/>
                </a:cubicBezTo>
                <a:cubicBezTo>
                  <a:pt x="78" y="96"/>
                  <a:pt x="78" y="97"/>
                  <a:pt x="78" y="97"/>
                </a:cubicBezTo>
                <a:cubicBezTo>
                  <a:pt x="78" y="97"/>
                  <a:pt x="78" y="97"/>
                  <a:pt x="78" y="97"/>
                </a:cubicBezTo>
                <a:cubicBezTo>
                  <a:pt x="78" y="97"/>
                  <a:pt x="78" y="97"/>
                  <a:pt x="78" y="97"/>
                </a:cubicBezTo>
                <a:cubicBezTo>
                  <a:pt x="78" y="97"/>
                  <a:pt x="78" y="98"/>
                  <a:pt x="78" y="98"/>
                </a:cubicBezTo>
                <a:cubicBezTo>
                  <a:pt x="78" y="98"/>
                  <a:pt x="78" y="98"/>
                  <a:pt x="78" y="98"/>
                </a:cubicBezTo>
                <a:cubicBezTo>
                  <a:pt x="78" y="98"/>
                  <a:pt x="78" y="99"/>
                  <a:pt x="78" y="99"/>
                </a:cubicBezTo>
                <a:cubicBezTo>
                  <a:pt x="78" y="99"/>
                  <a:pt x="78" y="99"/>
                  <a:pt x="78" y="99"/>
                </a:cubicBezTo>
                <a:cubicBezTo>
                  <a:pt x="78" y="100"/>
                  <a:pt x="77" y="100"/>
                  <a:pt x="77" y="100"/>
                </a:cubicBezTo>
                <a:cubicBezTo>
                  <a:pt x="77" y="100"/>
                  <a:pt x="77" y="100"/>
                  <a:pt x="77" y="100"/>
                </a:cubicBezTo>
                <a:cubicBezTo>
                  <a:pt x="77" y="100"/>
                  <a:pt x="77" y="100"/>
                  <a:pt x="77" y="101"/>
                </a:cubicBezTo>
                <a:cubicBezTo>
                  <a:pt x="77" y="101"/>
                  <a:pt x="77" y="101"/>
                  <a:pt x="77" y="101"/>
                </a:cubicBezTo>
                <a:cubicBezTo>
                  <a:pt x="76" y="101"/>
                  <a:pt x="76" y="101"/>
                  <a:pt x="76" y="101"/>
                </a:cubicBezTo>
                <a:close/>
                <a:moveTo>
                  <a:pt x="75" y="127"/>
                </a:moveTo>
                <a:cubicBezTo>
                  <a:pt x="75" y="127"/>
                  <a:pt x="74" y="128"/>
                  <a:pt x="74" y="128"/>
                </a:cubicBezTo>
                <a:cubicBezTo>
                  <a:pt x="74" y="128"/>
                  <a:pt x="74" y="128"/>
                  <a:pt x="74" y="128"/>
                </a:cubicBezTo>
                <a:cubicBezTo>
                  <a:pt x="74" y="128"/>
                  <a:pt x="73" y="128"/>
                  <a:pt x="73" y="128"/>
                </a:cubicBezTo>
                <a:cubicBezTo>
                  <a:pt x="73" y="129"/>
                  <a:pt x="72" y="129"/>
                  <a:pt x="72" y="129"/>
                </a:cubicBezTo>
                <a:cubicBezTo>
                  <a:pt x="72" y="130"/>
                  <a:pt x="72" y="130"/>
                  <a:pt x="71" y="130"/>
                </a:cubicBezTo>
                <a:cubicBezTo>
                  <a:pt x="71" y="131"/>
                  <a:pt x="71" y="131"/>
                  <a:pt x="71" y="132"/>
                </a:cubicBezTo>
                <a:cubicBezTo>
                  <a:pt x="71" y="132"/>
                  <a:pt x="71" y="132"/>
                  <a:pt x="71" y="132"/>
                </a:cubicBezTo>
                <a:cubicBezTo>
                  <a:pt x="71" y="132"/>
                  <a:pt x="71" y="132"/>
                  <a:pt x="71" y="132"/>
                </a:cubicBezTo>
                <a:cubicBezTo>
                  <a:pt x="71" y="133"/>
                  <a:pt x="71" y="133"/>
                  <a:pt x="70" y="133"/>
                </a:cubicBezTo>
                <a:cubicBezTo>
                  <a:pt x="70" y="134"/>
                  <a:pt x="70" y="134"/>
                  <a:pt x="70" y="135"/>
                </a:cubicBezTo>
                <a:cubicBezTo>
                  <a:pt x="70" y="135"/>
                  <a:pt x="70" y="135"/>
                  <a:pt x="70" y="135"/>
                </a:cubicBezTo>
                <a:cubicBezTo>
                  <a:pt x="70" y="135"/>
                  <a:pt x="70" y="135"/>
                  <a:pt x="70" y="136"/>
                </a:cubicBezTo>
                <a:cubicBezTo>
                  <a:pt x="70" y="136"/>
                  <a:pt x="70" y="136"/>
                  <a:pt x="70" y="136"/>
                </a:cubicBezTo>
                <a:cubicBezTo>
                  <a:pt x="70" y="136"/>
                  <a:pt x="70" y="136"/>
                  <a:pt x="70" y="136"/>
                </a:cubicBezTo>
                <a:cubicBezTo>
                  <a:pt x="70" y="137"/>
                  <a:pt x="70" y="137"/>
                  <a:pt x="70" y="137"/>
                </a:cubicBezTo>
                <a:cubicBezTo>
                  <a:pt x="70" y="137"/>
                  <a:pt x="70" y="137"/>
                  <a:pt x="69" y="137"/>
                </a:cubicBezTo>
                <a:cubicBezTo>
                  <a:pt x="69" y="137"/>
                  <a:pt x="69" y="137"/>
                  <a:pt x="69" y="137"/>
                </a:cubicBezTo>
                <a:cubicBezTo>
                  <a:pt x="69" y="137"/>
                  <a:pt x="69" y="137"/>
                  <a:pt x="69" y="137"/>
                </a:cubicBezTo>
                <a:cubicBezTo>
                  <a:pt x="69" y="137"/>
                  <a:pt x="69" y="137"/>
                  <a:pt x="69" y="137"/>
                </a:cubicBezTo>
                <a:cubicBezTo>
                  <a:pt x="69" y="137"/>
                  <a:pt x="69" y="136"/>
                  <a:pt x="69" y="136"/>
                </a:cubicBezTo>
                <a:cubicBezTo>
                  <a:pt x="69" y="136"/>
                  <a:pt x="69" y="136"/>
                  <a:pt x="69" y="136"/>
                </a:cubicBezTo>
                <a:cubicBezTo>
                  <a:pt x="69" y="136"/>
                  <a:pt x="69" y="136"/>
                  <a:pt x="69" y="135"/>
                </a:cubicBezTo>
                <a:cubicBezTo>
                  <a:pt x="69" y="135"/>
                  <a:pt x="69" y="135"/>
                  <a:pt x="69" y="135"/>
                </a:cubicBezTo>
                <a:cubicBezTo>
                  <a:pt x="69" y="135"/>
                  <a:pt x="69" y="135"/>
                  <a:pt x="69" y="135"/>
                </a:cubicBezTo>
                <a:cubicBezTo>
                  <a:pt x="69" y="135"/>
                  <a:pt x="69" y="135"/>
                  <a:pt x="69" y="135"/>
                </a:cubicBezTo>
                <a:cubicBezTo>
                  <a:pt x="69" y="134"/>
                  <a:pt x="69" y="134"/>
                  <a:pt x="69" y="134"/>
                </a:cubicBezTo>
                <a:cubicBezTo>
                  <a:pt x="69" y="134"/>
                  <a:pt x="69" y="134"/>
                  <a:pt x="69" y="134"/>
                </a:cubicBezTo>
                <a:cubicBezTo>
                  <a:pt x="69" y="134"/>
                  <a:pt x="69" y="133"/>
                  <a:pt x="69" y="133"/>
                </a:cubicBezTo>
                <a:cubicBezTo>
                  <a:pt x="69" y="132"/>
                  <a:pt x="69" y="132"/>
                  <a:pt x="69" y="131"/>
                </a:cubicBezTo>
                <a:cubicBezTo>
                  <a:pt x="70" y="131"/>
                  <a:pt x="70" y="130"/>
                  <a:pt x="70" y="130"/>
                </a:cubicBezTo>
                <a:cubicBezTo>
                  <a:pt x="70" y="129"/>
                  <a:pt x="70" y="129"/>
                  <a:pt x="71" y="128"/>
                </a:cubicBezTo>
                <a:cubicBezTo>
                  <a:pt x="71" y="128"/>
                  <a:pt x="71" y="128"/>
                  <a:pt x="72" y="127"/>
                </a:cubicBezTo>
                <a:cubicBezTo>
                  <a:pt x="72" y="127"/>
                  <a:pt x="72" y="127"/>
                  <a:pt x="72" y="127"/>
                </a:cubicBezTo>
                <a:cubicBezTo>
                  <a:pt x="72" y="127"/>
                  <a:pt x="72" y="127"/>
                  <a:pt x="73" y="127"/>
                </a:cubicBezTo>
                <a:cubicBezTo>
                  <a:pt x="73" y="127"/>
                  <a:pt x="73" y="127"/>
                  <a:pt x="73" y="127"/>
                </a:cubicBezTo>
                <a:cubicBezTo>
                  <a:pt x="73" y="126"/>
                  <a:pt x="73" y="126"/>
                  <a:pt x="74" y="126"/>
                </a:cubicBezTo>
                <a:cubicBezTo>
                  <a:pt x="74" y="126"/>
                  <a:pt x="75" y="126"/>
                  <a:pt x="75" y="126"/>
                </a:cubicBezTo>
                <a:cubicBezTo>
                  <a:pt x="75" y="125"/>
                  <a:pt x="75" y="125"/>
                  <a:pt x="75" y="125"/>
                </a:cubicBezTo>
                <a:cubicBezTo>
                  <a:pt x="75" y="125"/>
                  <a:pt x="75" y="125"/>
                  <a:pt x="75" y="125"/>
                </a:cubicBezTo>
                <a:cubicBezTo>
                  <a:pt x="75" y="124"/>
                  <a:pt x="75" y="124"/>
                  <a:pt x="75" y="124"/>
                </a:cubicBezTo>
                <a:cubicBezTo>
                  <a:pt x="75" y="123"/>
                  <a:pt x="75" y="123"/>
                  <a:pt x="75" y="123"/>
                </a:cubicBezTo>
                <a:cubicBezTo>
                  <a:pt x="75" y="123"/>
                  <a:pt x="75" y="123"/>
                  <a:pt x="75" y="123"/>
                </a:cubicBezTo>
                <a:cubicBezTo>
                  <a:pt x="75" y="122"/>
                  <a:pt x="75" y="122"/>
                  <a:pt x="75" y="121"/>
                </a:cubicBezTo>
                <a:cubicBezTo>
                  <a:pt x="75" y="121"/>
                  <a:pt x="75" y="121"/>
                  <a:pt x="75" y="120"/>
                </a:cubicBezTo>
                <a:cubicBezTo>
                  <a:pt x="75" y="120"/>
                  <a:pt x="75" y="120"/>
                  <a:pt x="75"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7" y="120"/>
                  <a:pt x="77" y="120"/>
                </a:cubicBezTo>
                <a:cubicBezTo>
                  <a:pt x="77" y="120"/>
                  <a:pt x="77" y="120"/>
                  <a:pt x="77" y="120"/>
                </a:cubicBezTo>
                <a:cubicBezTo>
                  <a:pt x="77" y="120"/>
                  <a:pt x="77" y="120"/>
                  <a:pt x="77" y="121"/>
                </a:cubicBezTo>
                <a:cubicBezTo>
                  <a:pt x="77" y="121"/>
                  <a:pt x="77" y="121"/>
                  <a:pt x="77" y="121"/>
                </a:cubicBezTo>
                <a:cubicBezTo>
                  <a:pt x="77" y="121"/>
                  <a:pt x="77" y="121"/>
                  <a:pt x="77" y="121"/>
                </a:cubicBezTo>
                <a:cubicBezTo>
                  <a:pt x="77" y="125"/>
                  <a:pt x="77" y="125"/>
                  <a:pt x="77" y="125"/>
                </a:cubicBezTo>
                <a:cubicBezTo>
                  <a:pt x="77" y="125"/>
                  <a:pt x="77" y="125"/>
                  <a:pt x="77" y="125"/>
                </a:cubicBezTo>
                <a:cubicBezTo>
                  <a:pt x="77" y="126"/>
                  <a:pt x="77" y="126"/>
                  <a:pt x="77" y="126"/>
                </a:cubicBezTo>
                <a:cubicBezTo>
                  <a:pt x="78" y="126"/>
                  <a:pt x="78" y="126"/>
                  <a:pt x="79" y="126"/>
                </a:cubicBezTo>
                <a:cubicBezTo>
                  <a:pt x="80" y="127"/>
                  <a:pt x="80" y="127"/>
                  <a:pt x="81" y="127"/>
                </a:cubicBezTo>
                <a:cubicBezTo>
                  <a:pt x="81" y="127"/>
                  <a:pt x="81" y="127"/>
                  <a:pt x="81" y="127"/>
                </a:cubicBezTo>
                <a:cubicBezTo>
                  <a:pt x="81" y="128"/>
                  <a:pt x="82" y="128"/>
                  <a:pt x="82" y="129"/>
                </a:cubicBezTo>
                <a:cubicBezTo>
                  <a:pt x="82" y="130"/>
                  <a:pt x="83" y="130"/>
                  <a:pt x="83" y="131"/>
                </a:cubicBezTo>
                <a:cubicBezTo>
                  <a:pt x="83" y="132"/>
                  <a:pt x="83" y="133"/>
                  <a:pt x="83" y="133"/>
                </a:cubicBezTo>
                <a:cubicBezTo>
                  <a:pt x="84" y="134"/>
                  <a:pt x="84" y="134"/>
                  <a:pt x="84" y="135"/>
                </a:cubicBezTo>
                <a:cubicBezTo>
                  <a:pt x="84" y="135"/>
                  <a:pt x="84" y="135"/>
                  <a:pt x="84" y="135"/>
                </a:cubicBezTo>
                <a:cubicBezTo>
                  <a:pt x="84" y="136"/>
                  <a:pt x="84" y="136"/>
                  <a:pt x="84" y="136"/>
                </a:cubicBezTo>
                <a:cubicBezTo>
                  <a:pt x="84" y="136"/>
                  <a:pt x="84" y="136"/>
                  <a:pt x="84" y="136"/>
                </a:cubicBezTo>
                <a:cubicBezTo>
                  <a:pt x="84" y="136"/>
                  <a:pt x="84" y="136"/>
                  <a:pt x="84" y="137"/>
                </a:cubicBezTo>
                <a:cubicBezTo>
                  <a:pt x="84" y="137"/>
                  <a:pt x="84" y="137"/>
                  <a:pt x="84" y="137"/>
                </a:cubicBezTo>
                <a:cubicBezTo>
                  <a:pt x="84" y="137"/>
                  <a:pt x="84" y="137"/>
                  <a:pt x="84" y="137"/>
                </a:cubicBezTo>
                <a:cubicBezTo>
                  <a:pt x="83" y="137"/>
                  <a:pt x="83" y="137"/>
                  <a:pt x="83" y="137"/>
                </a:cubicBezTo>
                <a:cubicBezTo>
                  <a:pt x="83" y="137"/>
                  <a:pt x="83" y="137"/>
                  <a:pt x="83" y="137"/>
                </a:cubicBezTo>
                <a:cubicBezTo>
                  <a:pt x="83" y="137"/>
                  <a:pt x="83" y="138"/>
                  <a:pt x="83" y="138"/>
                </a:cubicBezTo>
                <a:cubicBezTo>
                  <a:pt x="83" y="138"/>
                  <a:pt x="83" y="138"/>
                  <a:pt x="83" y="138"/>
                </a:cubicBezTo>
                <a:cubicBezTo>
                  <a:pt x="83" y="138"/>
                  <a:pt x="83" y="137"/>
                  <a:pt x="83" y="137"/>
                </a:cubicBezTo>
                <a:cubicBezTo>
                  <a:pt x="83" y="137"/>
                  <a:pt x="83" y="137"/>
                  <a:pt x="83" y="137"/>
                </a:cubicBezTo>
                <a:cubicBezTo>
                  <a:pt x="82" y="137"/>
                  <a:pt x="82" y="137"/>
                  <a:pt x="82" y="137"/>
                </a:cubicBezTo>
                <a:cubicBezTo>
                  <a:pt x="82" y="137"/>
                  <a:pt x="82" y="136"/>
                  <a:pt x="82" y="136"/>
                </a:cubicBezTo>
                <a:cubicBezTo>
                  <a:pt x="82" y="136"/>
                  <a:pt x="82" y="136"/>
                  <a:pt x="82" y="136"/>
                </a:cubicBezTo>
                <a:cubicBezTo>
                  <a:pt x="82" y="135"/>
                  <a:pt x="82" y="135"/>
                  <a:pt x="82" y="135"/>
                </a:cubicBezTo>
                <a:cubicBezTo>
                  <a:pt x="82" y="134"/>
                  <a:pt x="82" y="134"/>
                  <a:pt x="82" y="133"/>
                </a:cubicBezTo>
                <a:cubicBezTo>
                  <a:pt x="82" y="133"/>
                  <a:pt x="82" y="133"/>
                  <a:pt x="82" y="133"/>
                </a:cubicBezTo>
                <a:cubicBezTo>
                  <a:pt x="82" y="132"/>
                  <a:pt x="82" y="132"/>
                  <a:pt x="81" y="131"/>
                </a:cubicBezTo>
                <a:cubicBezTo>
                  <a:pt x="81" y="131"/>
                  <a:pt x="81" y="130"/>
                  <a:pt x="81" y="130"/>
                </a:cubicBezTo>
                <a:cubicBezTo>
                  <a:pt x="81" y="129"/>
                  <a:pt x="80" y="129"/>
                  <a:pt x="80" y="129"/>
                </a:cubicBezTo>
                <a:cubicBezTo>
                  <a:pt x="80" y="128"/>
                  <a:pt x="80" y="128"/>
                  <a:pt x="79" y="128"/>
                </a:cubicBezTo>
                <a:cubicBezTo>
                  <a:pt x="79" y="128"/>
                  <a:pt x="79" y="128"/>
                  <a:pt x="79" y="128"/>
                </a:cubicBezTo>
                <a:cubicBezTo>
                  <a:pt x="79" y="128"/>
                  <a:pt x="79" y="128"/>
                  <a:pt x="78" y="128"/>
                </a:cubicBezTo>
                <a:cubicBezTo>
                  <a:pt x="78" y="127"/>
                  <a:pt x="78" y="127"/>
                  <a:pt x="78" y="127"/>
                </a:cubicBezTo>
                <a:cubicBezTo>
                  <a:pt x="78" y="127"/>
                  <a:pt x="78" y="127"/>
                  <a:pt x="78" y="127"/>
                </a:cubicBezTo>
                <a:cubicBezTo>
                  <a:pt x="77" y="127"/>
                  <a:pt x="77" y="127"/>
                  <a:pt x="77" y="127"/>
                </a:cubicBezTo>
                <a:cubicBezTo>
                  <a:pt x="77" y="127"/>
                  <a:pt x="77" y="128"/>
                  <a:pt x="77" y="128"/>
                </a:cubicBezTo>
                <a:cubicBezTo>
                  <a:pt x="77" y="129"/>
                  <a:pt x="77" y="129"/>
                  <a:pt x="77" y="129"/>
                </a:cubicBezTo>
                <a:cubicBezTo>
                  <a:pt x="77" y="130"/>
                  <a:pt x="77" y="130"/>
                  <a:pt x="77" y="131"/>
                </a:cubicBezTo>
                <a:cubicBezTo>
                  <a:pt x="77" y="131"/>
                  <a:pt x="77" y="131"/>
                  <a:pt x="77" y="131"/>
                </a:cubicBezTo>
                <a:cubicBezTo>
                  <a:pt x="77" y="132"/>
                  <a:pt x="77" y="132"/>
                  <a:pt x="77" y="133"/>
                </a:cubicBezTo>
                <a:cubicBezTo>
                  <a:pt x="77" y="133"/>
                  <a:pt x="77" y="133"/>
                  <a:pt x="77" y="134"/>
                </a:cubicBezTo>
                <a:cubicBezTo>
                  <a:pt x="77" y="134"/>
                  <a:pt x="77" y="134"/>
                  <a:pt x="77" y="134"/>
                </a:cubicBezTo>
                <a:cubicBezTo>
                  <a:pt x="77" y="134"/>
                  <a:pt x="77" y="134"/>
                  <a:pt x="77" y="135"/>
                </a:cubicBezTo>
                <a:cubicBezTo>
                  <a:pt x="77" y="135"/>
                  <a:pt x="78" y="136"/>
                  <a:pt x="78" y="136"/>
                </a:cubicBezTo>
                <a:cubicBezTo>
                  <a:pt x="78" y="136"/>
                  <a:pt x="78" y="136"/>
                  <a:pt x="78" y="136"/>
                </a:cubicBezTo>
                <a:cubicBezTo>
                  <a:pt x="78" y="137"/>
                  <a:pt x="78" y="137"/>
                  <a:pt x="78" y="138"/>
                </a:cubicBezTo>
                <a:cubicBezTo>
                  <a:pt x="78" y="138"/>
                  <a:pt x="79" y="139"/>
                  <a:pt x="79" y="139"/>
                </a:cubicBezTo>
                <a:cubicBezTo>
                  <a:pt x="79" y="140"/>
                  <a:pt x="79" y="140"/>
                  <a:pt x="79" y="141"/>
                </a:cubicBezTo>
                <a:cubicBezTo>
                  <a:pt x="80" y="141"/>
                  <a:pt x="80" y="142"/>
                  <a:pt x="80" y="142"/>
                </a:cubicBezTo>
                <a:cubicBezTo>
                  <a:pt x="80" y="142"/>
                  <a:pt x="80" y="142"/>
                  <a:pt x="80" y="142"/>
                </a:cubicBezTo>
                <a:cubicBezTo>
                  <a:pt x="80" y="142"/>
                  <a:pt x="80" y="143"/>
                  <a:pt x="81" y="143"/>
                </a:cubicBezTo>
                <a:cubicBezTo>
                  <a:pt x="81" y="143"/>
                  <a:pt x="81" y="143"/>
                  <a:pt x="81" y="143"/>
                </a:cubicBezTo>
                <a:cubicBezTo>
                  <a:pt x="81" y="143"/>
                  <a:pt x="81" y="143"/>
                  <a:pt x="81" y="143"/>
                </a:cubicBezTo>
                <a:cubicBezTo>
                  <a:pt x="81" y="144"/>
                  <a:pt x="81" y="144"/>
                  <a:pt x="81" y="144"/>
                </a:cubicBezTo>
                <a:cubicBezTo>
                  <a:pt x="81" y="144"/>
                  <a:pt x="82" y="144"/>
                  <a:pt x="82" y="145"/>
                </a:cubicBezTo>
                <a:cubicBezTo>
                  <a:pt x="82" y="145"/>
                  <a:pt x="82" y="145"/>
                  <a:pt x="82" y="145"/>
                </a:cubicBezTo>
                <a:cubicBezTo>
                  <a:pt x="82" y="146"/>
                  <a:pt x="82" y="146"/>
                  <a:pt x="83" y="146"/>
                </a:cubicBezTo>
                <a:cubicBezTo>
                  <a:pt x="83" y="146"/>
                  <a:pt x="83" y="146"/>
                  <a:pt x="83" y="146"/>
                </a:cubicBezTo>
                <a:cubicBezTo>
                  <a:pt x="83" y="146"/>
                  <a:pt x="83" y="146"/>
                  <a:pt x="83" y="146"/>
                </a:cubicBezTo>
                <a:cubicBezTo>
                  <a:pt x="83" y="146"/>
                  <a:pt x="83" y="146"/>
                  <a:pt x="83" y="146"/>
                </a:cubicBezTo>
                <a:cubicBezTo>
                  <a:pt x="83" y="146"/>
                  <a:pt x="83" y="146"/>
                  <a:pt x="83" y="147"/>
                </a:cubicBezTo>
                <a:cubicBezTo>
                  <a:pt x="83" y="147"/>
                  <a:pt x="83" y="147"/>
                  <a:pt x="83" y="147"/>
                </a:cubicBezTo>
                <a:cubicBezTo>
                  <a:pt x="83" y="147"/>
                  <a:pt x="83" y="147"/>
                  <a:pt x="83" y="147"/>
                </a:cubicBezTo>
                <a:cubicBezTo>
                  <a:pt x="83" y="147"/>
                  <a:pt x="83" y="147"/>
                  <a:pt x="83" y="147"/>
                </a:cubicBezTo>
                <a:cubicBezTo>
                  <a:pt x="83" y="147"/>
                  <a:pt x="82" y="147"/>
                  <a:pt x="82" y="147"/>
                </a:cubicBezTo>
                <a:cubicBezTo>
                  <a:pt x="82" y="147"/>
                  <a:pt x="82" y="147"/>
                  <a:pt x="82" y="147"/>
                </a:cubicBezTo>
                <a:cubicBezTo>
                  <a:pt x="82" y="147"/>
                  <a:pt x="82" y="147"/>
                  <a:pt x="82" y="147"/>
                </a:cubicBezTo>
                <a:cubicBezTo>
                  <a:pt x="82" y="147"/>
                  <a:pt x="82" y="147"/>
                  <a:pt x="82" y="147"/>
                </a:cubicBezTo>
                <a:cubicBezTo>
                  <a:pt x="82" y="147"/>
                  <a:pt x="82" y="147"/>
                  <a:pt x="82" y="147"/>
                </a:cubicBezTo>
                <a:cubicBezTo>
                  <a:pt x="82" y="147"/>
                  <a:pt x="81" y="147"/>
                  <a:pt x="81" y="146"/>
                </a:cubicBezTo>
                <a:cubicBezTo>
                  <a:pt x="81" y="146"/>
                  <a:pt x="81" y="146"/>
                  <a:pt x="81" y="146"/>
                </a:cubicBezTo>
                <a:cubicBezTo>
                  <a:pt x="81" y="146"/>
                  <a:pt x="80" y="145"/>
                  <a:pt x="80" y="145"/>
                </a:cubicBezTo>
                <a:cubicBezTo>
                  <a:pt x="80" y="145"/>
                  <a:pt x="80" y="145"/>
                  <a:pt x="80" y="145"/>
                </a:cubicBezTo>
                <a:cubicBezTo>
                  <a:pt x="79" y="144"/>
                  <a:pt x="79" y="143"/>
                  <a:pt x="79" y="143"/>
                </a:cubicBezTo>
                <a:cubicBezTo>
                  <a:pt x="78" y="142"/>
                  <a:pt x="78" y="141"/>
                  <a:pt x="78" y="140"/>
                </a:cubicBezTo>
                <a:cubicBezTo>
                  <a:pt x="77" y="140"/>
                  <a:pt x="77" y="139"/>
                  <a:pt x="77" y="139"/>
                </a:cubicBezTo>
                <a:cubicBezTo>
                  <a:pt x="77" y="138"/>
                  <a:pt x="76" y="138"/>
                  <a:pt x="76" y="137"/>
                </a:cubicBezTo>
                <a:cubicBezTo>
                  <a:pt x="76" y="136"/>
                  <a:pt x="76" y="136"/>
                  <a:pt x="76" y="136"/>
                </a:cubicBezTo>
                <a:cubicBezTo>
                  <a:pt x="76" y="137"/>
                  <a:pt x="76" y="137"/>
                  <a:pt x="76" y="138"/>
                </a:cubicBezTo>
                <a:cubicBezTo>
                  <a:pt x="76" y="138"/>
                  <a:pt x="75" y="139"/>
                  <a:pt x="75" y="139"/>
                </a:cubicBezTo>
                <a:cubicBezTo>
                  <a:pt x="75" y="139"/>
                  <a:pt x="75" y="139"/>
                  <a:pt x="75" y="139"/>
                </a:cubicBezTo>
                <a:cubicBezTo>
                  <a:pt x="75" y="139"/>
                  <a:pt x="75" y="139"/>
                  <a:pt x="75" y="140"/>
                </a:cubicBezTo>
                <a:cubicBezTo>
                  <a:pt x="75" y="140"/>
                  <a:pt x="75" y="141"/>
                  <a:pt x="74" y="141"/>
                </a:cubicBezTo>
                <a:cubicBezTo>
                  <a:pt x="74" y="141"/>
                  <a:pt x="74" y="142"/>
                  <a:pt x="74" y="142"/>
                </a:cubicBezTo>
                <a:cubicBezTo>
                  <a:pt x="74" y="142"/>
                  <a:pt x="73" y="143"/>
                  <a:pt x="73" y="143"/>
                </a:cubicBezTo>
                <a:cubicBezTo>
                  <a:pt x="73" y="143"/>
                  <a:pt x="73" y="143"/>
                  <a:pt x="73" y="143"/>
                </a:cubicBezTo>
                <a:cubicBezTo>
                  <a:pt x="73" y="143"/>
                  <a:pt x="73" y="144"/>
                  <a:pt x="73" y="144"/>
                </a:cubicBezTo>
                <a:cubicBezTo>
                  <a:pt x="73" y="144"/>
                  <a:pt x="72" y="144"/>
                  <a:pt x="72" y="145"/>
                </a:cubicBezTo>
                <a:cubicBezTo>
                  <a:pt x="72" y="145"/>
                  <a:pt x="72" y="145"/>
                  <a:pt x="72" y="145"/>
                </a:cubicBezTo>
                <a:cubicBezTo>
                  <a:pt x="72" y="145"/>
                  <a:pt x="72" y="145"/>
                  <a:pt x="72" y="145"/>
                </a:cubicBezTo>
                <a:cubicBezTo>
                  <a:pt x="71" y="146"/>
                  <a:pt x="71" y="146"/>
                  <a:pt x="71" y="146"/>
                </a:cubicBezTo>
                <a:cubicBezTo>
                  <a:pt x="71" y="146"/>
                  <a:pt x="71" y="146"/>
                  <a:pt x="71"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69" y="147"/>
                </a:cubicBezTo>
                <a:cubicBezTo>
                  <a:pt x="69" y="147"/>
                  <a:pt x="69" y="147"/>
                  <a:pt x="69" y="147"/>
                </a:cubicBezTo>
                <a:cubicBezTo>
                  <a:pt x="69" y="147"/>
                  <a:pt x="69" y="147"/>
                  <a:pt x="69" y="147"/>
                </a:cubicBezTo>
                <a:cubicBezTo>
                  <a:pt x="69" y="147"/>
                  <a:pt x="69" y="147"/>
                  <a:pt x="69" y="147"/>
                </a:cubicBezTo>
                <a:cubicBezTo>
                  <a:pt x="69" y="147"/>
                  <a:pt x="69" y="147"/>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70" y="145"/>
                </a:cubicBezTo>
                <a:cubicBezTo>
                  <a:pt x="70" y="145"/>
                  <a:pt x="70" y="145"/>
                  <a:pt x="70" y="145"/>
                </a:cubicBezTo>
                <a:cubicBezTo>
                  <a:pt x="70" y="145"/>
                  <a:pt x="70" y="145"/>
                  <a:pt x="70" y="145"/>
                </a:cubicBezTo>
                <a:cubicBezTo>
                  <a:pt x="70" y="145"/>
                  <a:pt x="70" y="144"/>
                  <a:pt x="71" y="144"/>
                </a:cubicBezTo>
                <a:cubicBezTo>
                  <a:pt x="71" y="144"/>
                  <a:pt x="71" y="144"/>
                  <a:pt x="71" y="143"/>
                </a:cubicBezTo>
                <a:cubicBezTo>
                  <a:pt x="71" y="143"/>
                  <a:pt x="71" y="143"/>
                  <a:pt x="71" y="143"/>
                </a:cubicBezTo>
                <a:cubicBezTo>
                  <a:pt x="72" y="143"/>
                  <a:pt x="72" y="142"/>
                  <a:pt x="72" y="142"/>
                </a:cubicBezTo>
                <a:cubicBezTo>
                  <a:pt x="72" y="142"/>
                  <a:pt x="72" y="141"/>
                  <a:pt x="73" y="141"/>
                </a:cubicBezTo>
                <a:cubicBezTo>
                  <a:pt x="73" y="141"/>
                  <a:pt x="73" y="140"/>
                  <a:pt x="73" y="140"/>
                </a:cubicBezTo>
                <a:cubicBezTo>
                  <a:pt x="73" y="140"/>
                  <a:pt x="73" y="140"/>
                  <a:pt x="73" y="140"/>
                </a:cubicBezTo>
                <a:cubicBezTo>
                  <a:pt x="73" y="139"/>
                  <a:pt x="74" y="139"/>
                  <a:pt x="74" y="139"/>
                </a:cubicBezTo>
                <a:cubicBezTo>
                  <a:pt x="74" y="139"/>
                  <a:pt x="74" y="139"/>
                  <a:pt x="74" y="139"/>
                </a:cubicBezTo>
                <a:cubicBezTo>
                  <a:pt x="74" y="138"/>
                  <a:pt x="74" y="138"/>
                  <a:pt x="74" y="137"/>
                </a:cubicBezTo>
                <a:cubicBezTo>
                  <a:pt x="74" y="137"/>
                  <a:pt x="75" y="137"/>
                  <a:pt x="75" y="136"/>
                </a:cubicBezTo>
                <a:cubicBezTo>
                  <a:pt x="75" y="136"/>
                  <a:pt x="75" y="135"/>
                  <a:pt x="75" y="135"/>
                </a:cubicBezTo>
                <a:cubicBezTo>
                  <a:pt x="75" y="135"/>
                  <a:pt x="75" y="134"/>
                  <a:pt x="75" y="134"/>
                </a:cubicBezTo>
                <a:cubicBezTo>
                  <a:pt x="75" y="134"/>
                  <a:pt x="75" y="134"/>
                  <a:pt x="75" y="134"/>
                </a:cubicBezTo>
                <a:cubicBezTo>
                  <a:pt x="75" y="133"/>
                  <a:pt x="75" y="133"/>
                  <a:pt x="75" y="132"/>
                </a:cubicBezTo>
                <a:cubicBezTo>
                  <a:pt x="75" y="132"/>
                  <a:pt x="75" y="131"/>
                  <a:pt x="75" y="131"/>
                </a:cubicBezTo>
                <a:cubicBezTo>
                  <a:pt x="75" y="131"/>
                  <a:pt x="75" y="131"/>
                  <a:pt x="75" y="131"/>
                </a:cubicBezTo>
                <a:cubicBezTo>
                  <a:pt x="75" y="130"/>
                  <a:pt x="75" y="130"/>
                  <a:pt x="75" y="129"/>
                </a:cubicBezTo>
                <a:cubicBezTo>
                  <a:pt x="75" y="129"/>
                  <a:pt x="75" y="128"/>
                  <a:pt x="75" y="128"/>
                </a:cubicBezTo>
                <a:cubicBezTo>
                  <a:pt x="75" y="127"/>
                  <a:pt x="75" y="127"/>
                  <a:pt x="75" y="127"/>
                </a:cubicBezTo>
                <a:close/>
                <a:moveTo>
                  <a:pt x="107" y="13"/>
                </a:move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6" y="12"/>
                  <a:pt x="106" y="12"/>
                </a:cubicBezTo>
                <a:cubicBezTo>
                  <a:pt x="106" y="12"/>
                  <a:pt x="106" y="12"/>
                  <a:pt x="106" y="12"/>
                </a:cubicBezTo>
                <a:cubicBezTo>
                  <a:pt x="106" y="12"/>
                  <a:pt x="106" y="12"/>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1"/>
                  <a:pt x="107" y="11"/>
                  <a:pt x="107" y="11"/>
                </a:cubicBezTo>
                <a:cubicBezTo>
                  <a:pt x="107" y="11"/>
                  <a:pt x="107" y="11"/>
                  <a:pt x="107" y="11"/>
                </a:cubicBezTo>
                <a:cubicBezTo>
                  <a:pt x="107" y="11"/>
                  <a:pt x="107" y="11"/>
                  <a:pt x="107" y="11"/>
                </a:cubicBezTo>
                <a:cubicBezTo>
                  <a:pt x="107" y="11"/>
                  <a:pt x="107" y="11"/>
                  <a:pt x="107" y="11"/>
                </a:cubicBezTo>
                <a:cubicBezTo>
                  <a:pt x="108" y="11"/>
                  <a:pt x="108" y="11"/>
                  <a:pt x="108" y="11"/>
                </a:cubicBezTo>
                <a:cubicBezTo>
                  <a:pt x="108" y="11"/>
                  <a:pt x="108" y="12"/>
                  <a:pt x="108" y="12"/>
                </a:cubicBezTo>
                <a:cubicBezTo>
                  <a:pt x="108" y="12"/>
                  <a:pt x="108" y="12"/>
                  <a:pt x="108" y="12"/>
                </a:cubicBezTo>
                <a:cubicBezTo>
                  <a:pt x="108" y="12"/>
                  <a:pt x="108" y="12"/>
                  <a:pt x="108" y="12"/>
                </a:cubicBezTo>
                <a:cubicBezTo>
                  <a:pt x="108" y="12"/>
                  <a:pt x="109" y="12"/>
                  <a:pt x="109" y="12"/>
                </a:cubicBezTo>
                <a:cubicBezTo>
                  <a:pt x="109" y="12"/>
                  <a:pt x="109" y="12"/>
                  <a:pt x="109" y="12"/>
                </a:cubicBezTo>
                <a:cubicBezTo>
                  <a:pt x="110" y="12"/>
                  <a:pt x="110" y="12"/>
                  <a:pt x="110" y="12"/>
                </a:cubicBezTo>
                <a:cubicBezTo>
                  <a:pt x="110" y="12"/>
                  <a:pt x="110" y="12"/>
                  <a:pt x="110" y="12"/>
                </a:cubicBezTo>
                <a:cubicBezTo>
                  <a:pt x="110" y="12"/>
                  <a:pt x="111" y="12"/>
                  <a:pt x="111" y="12"/>
                </a:cubicBezTo>
                <a:cubicBezTo>
                  <a:pt x="111" y="12"/>
                  <a:pt x="112" y="12"/>
                  <a:pt x="112" y="12"/>
                </a:cubicBezTo>
                <a:cubicBezTo>
                  <a:pt x="112" y="12"/>
                  <a:pt x="112" y="12"/>
                  <a:pt x="112" y="12"/>
                </a:cubicBezTo>
                <a:cubicBezTo>
                  <a:pt x="112" y="12"/>
                  <a:pt x="112" y="12"/>
                  <a:pt x="112" y="12"/>
                </a:cubicBezTo>
                <a:cubicBezTo>
                  <a:pt x="112" y="12"/>
                  <a:pt x="112" y="11"/>
                  <a:pt x="112" y="11"/>
                </a:cubicBezTo>
                <a:cubicBezTo>
                  <a:pt x="112" y="11"/>
                  <a:pt x="112" y="11"/>
                  <a:pt x="112" y="11"/>
                </a:cubicBezTo>
                <a:cubicBezTo>
                  <a:pt x="112" y="11"/>
                  <a:pt x="112" y="11"/>
                  <a:pt x="112" y="11"/>
                </a:cubicBezTo>
                <a:cubicBezTo>
                  <a:pt x="113" y="11"/>
                  <a:pt x="113" y="11"/>
                  <a:pt x="113" y="11"/>
                </a:cubicBezTo>
                <a:cubicBezTo>
                  <a:pt x="113" y="11"/>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4" y="10"/>
                </a:cubicBezTo>
                <a:cubicBezTo>
                  <a:pt x="114" y="10"/>
                  <a:pt x="114" y="10"/>
                  <a:pt x="114" y="11"/>
                </a:cubicBezTo>
                <a:cubicBezTo>
                  <a:pt x="114" y="11"/>
                  <a:pt x="114" y="11"/>
                  <a:pt x="114" y="11"/>
                </a:cubicBezTo>
                <a:cubicBezTo>
                  <a:pt x="114" y="11"/>
                  <a:pt x="114" y="11"/>
                  <a:pt x="114" y="12"/>
                </a:cubicBezTo>
                <a:cubicBezTo>
                  <a:pt x="114" y="12"/>
                  <a:pt x="113" y="12"/>
                  <a:pt x="113" y="12"/>
                </a:cubicBezTo>
                <a:cubicBezTo>
                  <a:pt x="113" y="12"/>
                  <a:pt x="113" y="12"/>
                  <a:pt x="113" y="13"/>
                </a:cubicBezTo>
                <a:cubicBezTo>
                  <a:pt x="113" y="13"/>
                  <a:pt x="113" y="13"/>
                  <a:pt x="113" y="13"/>
                </a:cubicBezTo>
                <a:cubicBezTo>
                  <a:pt x="113" y="13"/>
                  <a:pt x="113" y="13"/>
                  <a:pt x="112" y="13"/>
                </a:cubicBezTo>
                <a:cubicBezTo>
                  <a:pt x="112" y="13"/>
                  <a:pt x="112" y="13"/>
                  <a:pt x="112" y="13"/>
                </a:cubicBezTo>
                <a:cubicBezTo>
                  <a:pt x="112" y="13"/>
                  <a:pt x="112" y="13"/>
                  <a:pt x="112" y="13"/>
                </a:cubicBezTo>
                <a:cubicBezTo>
                  <a:pt x="111" y="13"/>
                  <a:pt x="111" y="13"/>
                  <a:pt x="111" y="13"/>
                </a:cubicBezTo>
                <a:cubicBezTo>
                  <a:pt x="111" y="14"/>
                  <a:pt x="111" y="14"/>
                  <a:pt x="111" y="14"/>
                </a:cubicBezTo>
                <a:cubicBezTo>
                  <a:pt x="111" y="14"/>
                  <a:pt x="111" y="14"/>
                  <a:pt x="111" y="14"/>
                </a:cubicBezTo>
                <a:cubicBezTo>
                  <a:pt x="111" y="14"/>
                  <a:pt x="112" y="14"/>
                  <a:pt x="112" y="14"/>
                </a:cubicBezTo>
                <a:cubicBezTo>
                  <a:pt x="113" y="14"/>
                  <a:pt x="114" y="14"/>
                  <a:pt x="114" y="14"/>
                </a:cubicBezTo>
                <a:cubicBezTo>
                  <a:pt x="114" y="14"/>
                  <a:pt x="114" y="14"/>
                  <a:pt x="114" y="14"/>
                </a:cubicBezTo>
                <a:cubicBezTo>
                  <a:pt x="115" y="14"/>
                  <a:pt x="115" y="14"/>
                  <a:pt x="116" y="14"/>
                </a:cubicBezTo>
                <a:cubicBezTo>
                  <a:pt x="116" y="14"/>
                  <a:pt x="116" y="14"/>
                  <a:pt x="116" y="14"/>
                </a:cubicBezTo>
                <a:cubicBezTo>
                  <a:pt x="116" y="14"/>
                  <a:pt x="116" y="14"/>
                  <a:pt x="116" y="14"/>
                </a:cubicBezTo>
                <a:cubicBezTo>
                  <a:pt x="116" y="14"/>
                  <a:pt x="116" y="15"/>
                  <a:pt x="116" y="15"/>
                </a:cubicBezTo>
                <a:cubicBezTo>
                  <a:pt x="116" y="15"/>
                  <a:pt x="116" y="15"/>
                  <a:pt x="116" y="15"/>
                </a:cubicBezTo>
                <a:cubicBezTo>
                  <a:pt x="117" y="15"/>
                  <a:pt x="117" y="15"/>
                  <a:pt x="117" y="15"/>
                </a:cubicBezTo>
                <a:cubicBezTo>
                  <a:pt x="117" y="15"/>
                  <a:pt x="117" y="15"/>
                  <a:pt x="117" y="15"/>
                </a:cubicBezTo>
                <a:cubicBezTo>
                  <a:pt x="117" y="15"/>
                  <a:pt x="117"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5" y="15"/>
                  <a:pt x="115" y="15"/>
                </a:cubicBezTo>
                <a:cubicBezTo>
                  <a:pt x="115" y="15"/>
                  <a:pt x="115" y="15"/>
                  <a:pt x="115" y="15"/>
                </a:cubicBezTo>
                <a:cubicBezTo>
                  <a:pt x="115" y="15"/>
                  <a:pt x="114" y="15"/>
                  <a:pt x="113" y="15"/>
                </a:cubicBezTo>
                <a:cubicBezTo>
                  <a:pt x="113" y="15"/>
                  <a:pt x="112" y="15"/>
                  <a:pt x="112" y="15"/>
                </a:cubicBezTo>
                <a:cubicBezTo>
                  <a:pt x="111" y="15"/>
                  <a:pt x="111" y="15"/>
                  <a:pt x="111" y="15"/>
                </a:cubicBezTo>
                <a:cubicBezTo>
                  <a:pt x="111" y="16"/>
                  <a:pt x="111" y="16"/>
                  <a:pt x="111" y="16"/>
                </a:cubicBezTo>
                <a:cubicBezTo>
                  <a:pt x="111" y="16"/>
                  <a:pt x="111" y="16"/>
                  <a:pt x="111" y="16"/>
                </a:cubicBezTo>
                <a:cubicBezTo>
                  <a:pt x="111" y="16"/>
                  <a:pt x="111" y="16"/>
                  <a:pt x="111" y="16"/>
                </a:cubicBezTo>
                <a:cubicBezTo>
                  <a:pt x="111" y="16"/>
                  <a:pt x="111" y="16"/>
                  <a:pt x="111" y="16"/>
                </a:cubicBezTo>
                <a:cubicBezTo>
                  <a:pt x="107" y="13"/>
                  <a:pt x="107" y="13"/>
                  <a:pt x="107" y="13"/>
                </a:cubicBezTo>
                <a:close/>
                <a:moveTo>
                  <a:pt x="111" y="16"/>
                </a:moveTo>
                <a:cubicBezTo>
                  <a:pt x="111" y="16"/>
                  <a:pt x="111" y="16"/>
                  <a:pt x="111" y="16"/>
                </a:cubicBezTo>
                <a:cubicBezTo>
                  <a:pt x="111" y="16"/>
                  <a:pt x="111" y="16"/>
                  <a:pt x="111" y="16"/>
                </a:cubicBezTo>
                <a:cubicBezTo>
                  <a:pt x="111" y="16"/>
                  <a:pt x="111" y="16"/>
                  <a:pt x="111" y="16"/>
                </a:cubicBezTo>
                <a:cubicBezTo>
                  <a:pt x="112" y="16"/>
                  <a:pt x="112" y="16"/>
                  <a:pt x="112" y="16"/>
                </a:cubicBezTo>
                <a:cubicBezTo>
                  <a:pt x="113" y="16"/>
                  <a:pt x="113" y="16"/>
                  <a:pt x="113" y="17"/>
                </a:cubicBezTo>
                <a:cubicBezTo>
                  <a:pt x="113" y="17"/>
                  <a:pt x="114" y="17"/>
                  <a:pt x="114" y="17"/>
                </a:cubicBezTo>
                <a:cubicBezTo>
                  <a:pt x="114" y="17"/>
                  <a:pt x="114" y="17"/>
                  <a:pt x="114" y="17"/>
                </a:cubicBezTo>
                <a:cubicBezTo>
                  <a:pt x="114" y="17"/>
                  <a:pt x="114" y="17"/>
                  <a:pt x="114" y="17"/>
                </a:cubicBezTo>
                <a:cubicBezTo>
                  <a:pt x="114" y="17"/>
                  <a:pt x="114" y="17"/>
                  <a:pt x="114" y="17"/>
                </a:cubicBezTo>
                <a:cubicBezTo>
                  <a:pt x="114" y="17"/>
                  <a:pt x="114" y="17"/>
                  <a:pt x="114" y="17"/>
                </a:cubicBezTo>
                <a:cubicBezTo>
                  <a:pt x="114" y="18"/>
                  <a:pt x="115" y="18"/>
                  <a:pt x="115" y="18"/>
                </a:cubicBezTo>
                <a:cubicBezTo>
                  <a:pt x="115" y="18"/>
                  <a:pt x="115" y="18"/>
                  <a:pt x="115" y="18"/>
                </a:cubicBezTo>
                <a:cubicBezTo>
                  <a:pt x="115" y="18"/>
                  <a:pt x="115" y="18"/>
                  <a:pt x="115" y="18"/>
                </a:cubicBezTo>
                <a:cubicBezTo>
                  <a:pt x="115" y="18"/>
                  <a:pt x="115" y="19"/>
                  <a:pt x="115" y="19"/>
                </a:cubicBezTo>
                <a:cubicBezTo>
                  <a:pt x="115" y="19"/>
                  <a:pt x="115" y="19"/>
                  <a:pt x="115" y="19"/>
                </a:cubicBezTo>
                <a:cubicBezTo>
                  <a:pt x="115" y="19"/>
                  <a:pt x="115" y="19"/>
                  <a:pt x="115" y="19"/>
                </a:cubicBezTo>
                <a:cubicBezTo>
                  <a:pt x="115" y="19"/>
                  <a:pt x="115" y="20"/>
                  <a:pt x="114" y="20"/>
                </a:cubicBezTo>
                <a:cubicBezTo>
                  <a:pt x="114" y="20"/>
                  <a:pt x="114" y="20"/>
                  <a:pt x="114" y="20"/>
                </a:cubicBezTo>
                <a:cubicBezTo>
                  <a:pt x="114" y="20"/>
                  <a:pt x="114" y="20"/>
                  <a:pt x="114" y="20"/>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5" y="22"/>
                </a:cubicBezTo>
                <a:cubicBezTo>
                  <a:pt x="115" y="22"/>
                  <a:pt x="115" y="22"/>
                  <a:pt x="115" y="22"/>
                </a:cubicBezTo>
                <a:cubicBezTo>
                  <a:pt x="115" y="22"/>
                  <a:pt x="115" y="22"/>
                  <a:pt x="115" y="22"/>
                </a:cubicBezTo>
                <a:cubicBezTo>
                  <a:pt x="115" y="23"/>
                  <a:pt x="115" y="23"/>
                  <a:pt x="115" y="23"/>
                </a:cubicBezTo>
                <a:cubicBezTo>
                  <a:pt x="115" y="23"/>
                  <a:pt x="115" y="24"/>
                  <a:pt x="115" y="24"/>
                </a:cubicBezTo>
                <a:cubicBezTo>
                  <a:pt x="115" y="24"/>
                  <a:pt x="115" y="24"/>
                  <a:pt x="115" y="25"/>
                </a:cubicBezTo>
                <a:cubicBezTo>
                  <a:pt x="115" y="25"/>
                  <a:pt x="115" y="25"/>
                  <a:pt x="115" y="25"/>
                </a:cubicBezTo>
                <a:cubicBezTo>
                  <a:pt x="115" y="25"/>
                  <a:pt x="115" y="25"/>
                  <a:pt x="115" y="26"/>
                </a:cubicBezTo>
                <a:cubicBezTo>
                  <a:pt x="115" y="26"/>
                  <a:pt x="115" y="26"/>
                  <a:pt x="115" y="26"/>
                </a:cubicBezTo>
                <a:cubicBezTo>
                  <a:pt x="115" y="28"/>
                  <a:pt x="115" y="28"/>
                  <a:pt x="115" y="28"/>
                </a:cubicBezTo>
                <a:cubicBezTo>
                  <a:pt x="115" y="28"/>
                  <a:pt x="115" y="28"/>
                  <a:pt x="115" y="28"/>
                </a:cubicBezTo>
                <a:cubicBezTo>
                  <a:pt x="115" y="28"/>
                  <a:pt x="115" y="29"/>
                  <a:pt x="115" y="29"/>
                </a:cubicBezTo>
                <a:cubicBezTo>
                  <a:pt x="115" y="29"/>
                  <a:pt x="115" y="29"/>
                  <a:pt x="115" y="29"/>
                </a:cubicBezTo>
                <a:cubicBezTo>
                  <a:pt x="115" y="30"/>
                  <a:pt x="115" y="30"/>
                  <a:pt x="115" y="30"/>
                </a:cubicBezTo>
                <a:cubicBezTo>
                  <a:pt x="115" y="30"/>
                  <a:pt x="115" y="30"/>
                  <a:pt x="115" y="30"/>
                </a:cubicBezTo>
                <a:cubicBezTo>
                  <a:pt x="115" y="30"/>
                  <a:pt x="115" y="30"/>
                  <a:pt x="115" y="30"/>
                </a:cubicBezTo>
                <a:cubicBezTo>
                  <a:pt x="115" y="30"/>
                  <a:pt x="115" y="30"/>
                  <a:pt x="115" y="31"/>
                </a:cubicBezTo>
                <a:cubicBezTo>
                  <a:pt x="115" y="31"/>
                  <a:pt x="115" y="31"/>
                  <a:pt x="115" y="31"/>
                </a:cubicBezTo>
                <a:cubicBezTo>
                  <a:pt x="115" y="31"/>
                  <a:pt x="115" y="31"/>
                  <a:pt x="115" y="31"/>
                </a:cubicBezTo>
                <a:cubicBezTo>
                  <a:pt x="115" y="31"/>
                  <a:pt x="115" y="31"/>
                  <a:pt x="114" y="31"/>
                </a:cubicBezTo>
                <a:cubicBezTo>
                  <a:pt x="114" y="31"/>
                  <a:pt x="114" y="31"/>
                  <a:pt x="114" y="31"/>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29"/>
                  <a:pt x="114" y="29"/>
                  <a:pt x="114" y="29"/>
                </a:cubicBezTo>
                <a:cubicBezTo>
                  <a:pt x="114" y="29"/>
                  <a:pt x="114" y="29"/>
                  <a:pt x="114" y="29"/>
                </a:cubicBezTo>
                <a:cubicBezTo>
                  <a:pt x="114" y="29"/>
                  <a:pt x="114" y="28"/>
                  <a:pt x="114" y="28"/>
                </a:cubicBezTo>
                <a:cubicBezTo>
                  <a:pt x="114" y="26"/>
                  <a:pt x="114" y="26"/>
                  <a:pt x="114" y="26"/>
                </a:cubicBezTo>
                <a:cubicBezTo>
                  <a:pt x="114" y="26"/>
                  <a:pt x="114" y="26"/>
                  <a:pt x="114" y="26"/>
                </a:cubicBezTo>
                <a:cubicBezTo>
                  <a:pt x="114" y="26"/>
                  <a:pt x="114" y="26"/>
                  <a:pt x="114" y="26"/>
                </a:cubicBezTo>
                <a:cubicBezTo>
                  <a:pt x="114" y="26"/>
                  <a:pt x="114" y="25"/>
                  <a:pt x="114" y="25"/>
                </a:cubicBezTo>
                <a:cubicBezTo>
                  <a:pt x="114" y="24"/>
                  <a:pt x="114" y="24"/>
                  <a:pt x="114" y="24"/>
                </a:cubicBezTo>
                <a:cubicBezTo>
                  <a:pt x="114" y="23"/>
                  <a:pt x="114" y="23"/>
                  <a:pt x="114" y="23"/>
                </a:cubicBezTo>
                <a:cubicBezTo>
                  <a:pt x="114" y="23"/>
                  <a:pt x="114" y="23"/>
                  <a:pt x="114" y="23"/>
                </a:cubicBezTo>
                <a:cubicBezTo>
                  <a:pt x="114" y="23"/>
                  <a:pt x="113" y="22"/>
                  <a:pt x="113" y="22"/>
                </a:cubicBezTo>
                <a:cubicBezTo>
                  <a:pt x="113" y="22"/>
                  <a:pt x="113" y="22"/>
                  <a:pt x="113" y="22"/>
                </a:cubicBezTo>
                <a:cubicBezTo>
                  <a:pt x="113" y="22"/>
                  <a:pt x="113" y="22"/>
                  <a:pt x="113" y="21"/>
                </a:cubicBezTo>
                <a:cubicBezTo>
                  <a:pt x="113" y="21"/>
                  <a:pt x="113" y="21"/>
                  <a:pt x="113" y="21"/>
                </a:cubicBezTo>
                <a:cubicBezTo>
                  <a:pt x="113" y="22"/>
                  <a:pt x="113" y="22"/>
                  <a:pt x="112" y="22"/>
                </a:cubicBezTo>
                <a:cubicBezTo>
                  <a:pt x="112" y="22"/>
                  <a:pt x="112" y="22"/>
                  <a:pt x="112" y="22"/>
                </a:cubicBezTo>
                <a:cubicBezTo>
                  <a:pt x="112" y="22"/>
                  <a:pt x="112" y="22"/>
                  <a:pt x="112" y="22"/>
                </a:cubicBezTo>
                <a:cubicBezTo>
                  <a:pt x="111" y="22"/>
                  <a:pt x="111" y="22"/>
                  <a:pt x="111" y="22"/>
                </a:cubicBezTo>
                <a:cubicBezTo>
                  <a:pt x="111" y="22"/>
                  <a:pt x="111" y="22"/>
                  <a:pt x="111" y="22"/>
                </a:cubicBezTo>
                <a:cubicBezTo>
                  <a:pt x="111" y="22"/>
                  <a:pt x="111" y="22"/>
                  <a:pt x="111" y="22"/>
                </a:cubicBezTo>
                <a:cubicBezTo>
                  <a:pt x="111" y="22"/>
                  <a:pt x="111" y="23"/>
                  <a:pt x="111" y="23"/>
                </a:cubicBezTo>
                <a:cubicBezTo>
                  <a:pt x="111" y="23"/>
                  <a:pt x="111" y="23"/>
                  <a:pt x="111" y="23"/>
                </a:cubicBezTo>
                <a:cubicBezTo>
                  <a:pt x="111" y="23"/>
                  <a:pt x="111" y="23"/>
                  <a:pt x="111" y="23"/>
                </a:cubicBezTo>
                <a:cubicBezTo>
                  <a:pt x="111" y="23"/>
                  <a:pt x="111" y="23"/>
                  <a:pt x="111" y="23"/>
                </a:cubicBezTo>
                <a:cubicBezTo>
                  <a:pt x="111" y="23"/>
                  <a:pt x="111" y="23"/>
                  <a:pt x="111"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3" y="22"/>
                  <a:pt x="113" y="22"/>
                  <a:pt x="113" y="22"/>
                </a:cubicBezTo>
                <a:cubicBezTo>
                  <a:pt x="113" y="22"/>
                  <a:pt x="113" y="22"/>
                  <a:pt x="113" y="22"/>
                </a:cubicBezTo>
                <a:cubicBezTo>
                  <a:pt x="113" y="22"/>
                  <a:pt x="113" y="23"/>
                  <a:pt x="113" y="23"/>
                </a:cubicBezTo>
                <a:cubicBezTo>
                  <a:pt x="113" y="23"/>
                  <a:pt x="113" y="23"/>
                  <a:pt x="113" y="23"/>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5"/>
                  <a:pt x="113" y="25"/>
                  <a:pt x="113" y="25"/>
                </a:cubicBezTo>
                <a:cubicBezTo>
                  <a:pt x="113" y="26"/>
                  <a:pt x="113" y="26"/>
                  <a:pt x="113" y="26"/>
                </a:cubicBezTo>
                <a:cubicBezTo>
                  <a:pt x="113" y="26"/>
                  <a:pt x="113" y="26"/>
                  <a:pt x="113" y="26"/>
                </a:cubicBezTo>
                <a:cubicBezTo>
                  <a:pt x="113" y="27"/>
                  <a:pt x="113" y="27"/>
                  <a:pt x="112" y="27"/>
                </a:cubicBezTo>
                <a:cubicBezTo>
                  <a:pt x="112" y="27"/>
                  <a:pt x="112" y="27"/>
                  <a:pt x="112" y="27"/>
                </a:cubicBezTo>
                <a:cubicBezTo>
                  <a:pt x="112" y="27"/>
                  <a:pt x="112" y="27"/>
                  <a:pt x="112" y="27"/>
                </a:cubicBezTo>
                <a:cubicBezTo>
                  <a:pt x="111" y="28"/>
                  <a:pt x="111" y="28"/>
                  <a:pt x="111" y="28"/>
                </a:cubicBezTo>
                <a:cubicBezTo>
                  <a:pt x="110" y="28"/>
                  <a:pt x="110" y="28"/>
                  <a:pt x="110" y="28"/>
                </a:cubicBezTo>
                <a:cubicBezTo>
                  <a:pt x="109" y="28"/>
                  <a:pt x="109" y="28"/>
                  <a:pt x="109" y="28"/>
                </a:cubicBezTo>
                <a:cubicBezTo>
                  <a:pt x="108" y="28"/>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6"/>
                </a:cubicBezTo>
                <a:cubicBezTo>
                  <a:pt x="107" y="26"/>
                  <a:pt x="107" y="26"/>
                  <a:pt x="107" y="26"/>
                </a:cubicBezTo>
                <a:cubicBezTo>
                  <a:pt x="107" y="26"/>
                  <a:pt x="107" y="26"/>
                  <a:pt x="107" y="25"/>
                </a:cubicBezTo>
                <a:cubicBezTo>
                  <a:pt x="107" y="25"/>
                  <a:pt x="107" y="25"/>
                  <a:pt x="107" y="25"/>
                </a:cubicBezTo>
                <a:cubicBezTo>
                  <a:pt x="107" y="25"/>
                  <a:pt x="107" y="25"/>
                  <a:pt x="107" y="25"/>
                </a:cubicBezTo>
                <a:cubicBezTo>
                  <a:pt x="107" y="25"/>
                  <a:pt x="107" y="25"/>
                  <a:pt x="107" y="24"/>
                </a:cubicBezTo>
                <a:cubicBezTo>
                  <a:pt x="107" y="24"/>
                  <a:pt x="107" y="24"/>
                  <a:pt x="107" y="24"/>
                </a:cubicBezTo>
                <a:cubicBezTo>
                  <a:pt x="107" y="24"/>
                  <a:pt x="107" y="24"/>
                  <a:pt x="107" y="24"/>
                </a:cubicBezTo>
                <a:cubicBezTo>
                  <a:pt x="107" y="24"/>
                  <a:pt x="107" y="23"/>
                  <a:pt x="107" y="23"/>
                </a:cubicBezTo>
                <a:cubicBezTo>
                  <a:pt x="107" y="23"/>
                  <a:pt x="107" y="23"/>
                  <a:pt x="107" y="23"/>
                </a:cubicBezTo>
                <a:cubicBezTo>
                  <a:pt x="107" y="23"/>
                  <a:pt x="107" y="23"/>
                  <a:pt x="107" y="23"/>
                </a:cubicBezTo>
                <a:cubicBezTo>
                  <a:pt x="107" y="23"/>
                  <a:pt x="107" y="23"/>
                  <a:pt x="107" y="22"/>
                </a:cubicBezTo>
                <a:cubicBezTo>
                  <a:pt x="107" y="22"/>
                  <a:pt x="107" y="22"/>
                  <a:pt x="107" y="22"/>
                </a:cubicBezTo>
                <a:cubicBezTo>
                  <a:pt x="107" y="22"/>
                  <a:pt x="107" y="22"/>
                  <a:pt x="107" y="22"/>
                </a:cubicBezTo>
                <a:cubicBezTo>
                  <a:pt x="107" y="22"/>
                  <a:pt x="108" y="22"/>
                  <a:pt x="108" y="22"/>
                </a:cubicBezTo>
                <a:cubicBezTo>
                  <a:pt x="108" y="22"/>
                  <a:pt x="108" y="22"/>
                  <a:pt x="108" y="22"/>
                </a:cubicBezTo>
                <a:cubicBezTo>
                  <a:pt x="108" y="22"/>
                  <a:pt x="108" y="22"/>
                  <a:pt x="108" y="22"/>
                </a:cubicBezTo>
                <a:cubicBezTo>
                  <a:pt x="108" y="22"/>
                  <a:pt x="108" y="22"/>
                  <a:pt x="108" y="22"/>
                </a:cubicBezTo>
                <a:cubicBezTo>
                  <a:pt x="108" y="22"/>
                  <a:pt x="108" y="22"/>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4"/>
                  <a:pt x="108" y="24"/>
                  <a:pt x="108" y="24"/>
                </a:cubicBezTo>
                <a:cubicBezTo>
                  <a:pt x="108" y="24"/>
                  <a:pt x="109" y="23"/>
                  <a:pt x="109" y="23"/>
                </a:cubicBezTo>
                <a:cubicBezTo>
                  <a:pt x="109" y="23"/>
                  <a:pt x="109" y="23"/>
                  <a:pt x="109" y="23"/>
                </a:cubicBezTo>
                <a:cubicBezTo>
                  <a:pt x="109" y="22"/>
                  <a:pt x="109" y="22"/>
                  <a:pt x="109" y="22"/>
                </a:cubicBezTo>
                <a:cubicBezTo>
                  <a:pt x="109" y="22"/>
                  <a:pt x="108" y="22"/>
                  <a:pt x="108" y="22"/>
                </a:cubicBezTo>
                <a:cubicBezTo>
                  <a:pt x="108" y="22"/>
                  <a:pt x="107" y="22"/>
                  <a:pt x="107" y="22"/>
                </a:cubicBezTo>
                <a:cubicBezTo>
                  <a:pt x="107" y="21"/>
                  <a:pt x="107" y="21"/>
                  <a:pt x="107" y="21"/>
                </a:cubicBezTo>
                <a:cubicBezTo>
                  <a:pt x="107" y="21"/>
                  <a:pt x="107" y="22"/>
                  <a:pt x="107" y="22"/>
                </a:cubicBezTo>
                <a:cubicBezTo>
                  <a:pt x="107" y="22"/>
                  <a:pt x="107" y="22"/>
                  <a:pt x="107" y="22"/>
                </a:cubicBezTo>
                <a:cubicBezTo>
                  <a:pt x="106" y="22"/>
                  <a:pt x="106" y="22"/>
                  <a:pt x="106" y="22"/>
                </a:cubicBezTo>
                <a:cubicBezTo>
                  <a:pt x="106" y="22"/>
                  <a:pt x="106" y="22"/>
                  <a:pt x="106" y="22"/>
                </a:cubicBezTo>
                <a:cubicBezTo>
                  <a:pt x="106" y="22"/>
                  <a:pt x="106" y="22"/>
                  <a:pt x="106" y="23"/>
                </a:cubicBezTo>
                <a:cubicBezTo>
                  <a:pt x="106" y="23"/>
                  <a:pt x="106" y="23"/>
                  <a:pt x="106" y="23"/>
                </a:cubicBezTo>
                <a:cubicBezTo>
                  <a:pt x="106" y="23"/>
                  <a:pt x="106" y="23"/>
                  <a:pt x="106" y="23"/>
                </a:cubicBezTo>
                <a:cubicBezTo>
                  <a:pt x="106" y="23"/>
                  <a:pt x="106" y="23"/>
                  <a:pt x="106" y="24"/>
                </a:cubicBezTo>
                <a:cubicBezTo>
                  <a:pt x="106" y="24"/>
                  <a:pt x="106" y="24"/>
                  <a:pt x="106" y="25"/>
                </a:cubicBezTo>
                <a:cubicBezTo>
                  <a:pt x="106" y="25"/>
                  <a:pt x="106" y="25"/>
                  <a:pt x="106" y="25"/>
                </a:cubicBezTo>
                <a:cubicBezTo>
                  <a:pt x="106" y="26"/>
                  <a:pt x="106" y="26"/>
                  <a:pt x="106" y="26"/>
                </a:cubicBezTo>
                <a:cubicBezTo>
                  <a:pt x="106" y="26"/>
                  <a:pt x="106" y="26"/>
                  <a:pt x="106" y="26"/>
                </a:cubicBezTo>
                <a:cubicBezTo>
                  <a:pt x="106" y="26"/>
                  <a:pt x="106" y="26"/>
                  <a:pt x="106" y="26"/>
                </a:cubicBezTo>
                <a:cubicBezTo>
                  <a:pt x="106" y="27"/>
                  <a:pt x="106" y="27"/>
                  <a:pt x="106" y="28"/>
                </a:cubicBezTo>
                <a:cubicBezTo>
                  <a:pt x="106" y="28"/>
                  <a:pt x="106" y="28"/>
                  <a:pt x="106" y="28"/>
                </a:cubicBezTo>
                <a:cubicBezTo>
                  <a:pt x="106" y="28"/>
                  <a:pt x="106" y="28"/>
                  <a:pt x="106" y="28"/>
                </a:cubicBezTo>
                <a:cubicBezTo>
                  <a:pt x="106" y="28"/>
                  <a:pt x="106" y="28"/>
                  <a:pt x="106" y="28"/>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5" y="30"/>
                </a:cubicBezTo>
                <a:cubicBezTo>
                  <a:pt x="105" y="30"/>
                  <a:pt x="105" y="31"/>
                  <a:pt x="105" y="31"/>
                </a:cubicBezTo>
                <a:cubicBezTo>
                  <a:pt x="105" y="31"/>
                  <a:pt x="105" y="31"/>
                  <a:pt x="105" y="31"/>
                </a:cubicBezTo>
                <a:cubicBezTo>
                  <a:pt x="105" y="31"/>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29"/>
                  <a:pt x="105" y="29"/>
                </a:cubicBezTo>
                <a:cubicBezTo>
                  <a:pt x="105" y="29"/>
                  <a:pt x="105" y="29"/>
                  <a:pt x="105" y="29"/>
                </a:cubicBezTo>
                <a:cubicBezTo>
                  <a:pt x="105" y="29"/>
                  <a:pt x="105" y="29"/>
                  <a:pt x="105" y="29"/>
                </a:cubicBezTo>
                <a:cubicBezTo>
                  <a:pt x="105" y="28"/>
                  <a:pt x="105" y="28"/>
                  <a:pt x="105" y="28"/>
                </a:cubicBezTo>
                <a:cubicBezTo>
                  <a:pt x="105" y="28"/>
                  <a:pt x="105" y="28"/>
                  <a:pt x="105" y="28"/>
                </a:cubicBezTo>
                <a:cubicBezTo>
                  <a:pt x="105" y="28"/>
                  <a:pt x="105" y="28"/>
                  <a:pt x="105" y="28"/>
                </a:cubicBezTo>
                <a:cubicBezTo>
                  <a:pt x="105" y="27"/>
                  <a:pt x="105" y="27"/>
                  <a:pt x="105" y="27"/>
                </a:cubicBezTo>
                <a:cubicBezTo>
                  <a:pt x="105" y="27"/>
                  <a:pt x="105" y="26"/>
                  <a:pt x="105" y="26"/>
                </a:cubicBezTo>
                <a:cubicBezTo>
                  <a:pt x="105" y="26"/>
                  <a:pt x="105" y="25"/>
                  <a:pt x="105" y="25"/>
                </a:cubicBezTo>
                <a:cubicBezTo>
                  <a:pt x="105" y="25"/>
                  <a:pt x="105" y="25"/>
                  <a:pt x="105" y="25"/>
                </a:cubicBezTo>
                <a:cubicBezTo>
                  <a:pt x="105" y="25"/>
                  <a:pt x="105" y="25"/>
                  <a:pt x="105" y="24"/>
                </a:cubicBezTo>
                <a:cubicBezTo>
                  <a:pt x="105" y="24"/>
                  <a:pt x="105" y="24"/>
                  <a:pt x="105" y="23"/>
                </a:cubicBezTo>
                <a:cubicBezTo>
                  <a:pt x="105" y="23"/>
                  <a:pt x="105" y="23"/>
                  <a:pt x="105" y="23"/>
                </a:cubicBezTo>
                <a:cubicBezTo>
                  <a:pt x="105" y="23"/>
                  <a:pt x="105" y="23"/>
                  <a:pt x="105" y="22"/>
                </a:cubicBezTo>
                <a:cubicBezTo>
                  <a:pt x="105" y="22"/>
                  <a:pt x="105" y="22"/>
                  <a:pt x="105" y="22"/>
                </a:cubicBezTo>
                <a:cubicBezTo>
                  <a:pt x="105" y="22"/>
                  <a:pt x="105" y="22"/>
                  <a:pt x="105" y="22"/>
                </a:cubicBezTo>
                <a:cubicBezTo>
                  <a:pt x="105" y="22"/>
                  <a:pt x="105" y="21"/>
                  <a:pt x="105" y="21"/>
                </a:cubicBezTo>
                <a:cubicBezTo>
                  <a:pt x="105" y="21"/>
                  <a:pt x="106" y="21"/>
                  <a:pt x="106" y="20"/>
                </a:cubicBezTo>
                <a:cubicBezTo>
                  <a:pt x="106" y="20"/>
                  <a:pt x="106" y="20"/>
                  <a:pt x="106" y="20"/>
                </a:cubicBezTo>
                <a:cubicBezTo>
                  <a:pt x="106" y="20"/>
                  <a:pt x="106" y="20"/>
                  <a:pt x="106" y="20"/>
                </a:cubicBezTo>
                <a:cubicBezTo>
                  <a:pt x="106" y="20"/>
                  <a:pt x="106" y="20"/>
                  <a:pt x="106" y="19"/>
                </a:cubicBezTo>
                <a:cubicBezTo>
                  <a:pt x="106" y="19"/>
                  <a:pt x="106" y="19"/>
                  <a:pt x="106" y="19"/>
                </a:cubicBezTo>
                <a:cubicBezTo>
                  <a:pt x="106" y="19"/>
                  <a:pt x="106" y="19"/>
                  <a:pt x="106" y="19"/>
                </a:cubicBezTo>
                <a:cubicBezTo>
                  <a:pt x="106" y="18"/>
                  <a:pt x="106" y="18"/>
                  <a:pt x="106" y="18"/>
                </a:cubicBezTo>
                <a:cubicBezTo>
                  <a:pt x="106" y="18"/>
                  <a:pt x="106" y="18"/>
                  <a:pt x="106" y="18"/>
                </a:cubicBezTo>
                <a:cubicBezTo>
                  <a:pt x="106" y="18"/>
                  <a:pt x="106" y="18"/>
                  <a:pt x="106" y="17"/>
                </a:cubicBezTo>
                <a:cubicBezTo>
                  <a:pt x="106" y="17"/>
                  <a:pt x="106" y="17"/>
                  <a:pt x="106" y="17"/>
                </a:cubicBezTo>
                <a:cubicBezTo>
                  <a:pt x="106" y="17"/>
                  <a:pt x="106" y="17"/>
                  <a:pt x="107" y="17"/>
                </a:cubicBezTo>
                <a:cubicBezTo>
                  <a:pt x="107" y="17"/>
                  <a:pt x="107" y="17"/>
                  <a:pt x="107" y="17"/>
                </a:cubicBezTo>
                <a:cubicBezTo>
                  <a:pt x="107" y="17"/>
                  <a:pt x="107" y="17"/>
                  <a:pt x="107" y="17"/>
                </a:cubicBezTo>
                <a:cubicBezTo>
                  <a:pt x="108" y="17"/>
                  <a:pt x="108" y="16"/>
                  <a:pt x="108" y="16"/>
                </a:cubicBezTo>
                <a:cubicBezTo>
                  <a:pt x="109" y="16"/>
                  <a:pt x="109" y="16"/>
                  <a:pt x="109" y="16"/>
                </a:cubicBezTo>
                <a:cubicBezTo>
                  <a:pt x="110" y="15"/>
                  <a:pt x="110" y="15"/>
                  <a:pt x="110" y="15"/>
                </a:cubicBezTo>
                <a:cubicBezTo>
                  <a:pt x="108" y="15"/>
                  <a:pt x="108" y="16"/>
                  <a:pt x="107" y="16"/>
                </a:cubicBezTo>
                <a:cubicBezTo>
                  <a:pt x="106" y="16"/>
                  <a:pt x="106" y="16"/>
                  <a:pt x="106" y="16"/>
                </a:cubicBezTo>
                <a:cubicBezTo>
                  <a:pt x="105" y="16"/>
                  <a:pt x="105" y="16"/>
                  <a:pt x="105" y="16"/>
                </a:cubicBezTo>
                <a:cubicBezTo>
                  <a:pt x="105" y="16"/>
                  <a:pt x="105" y="16"/>
                  <a:pt x="105" y="16"/>
                </a:cubicBezTo>
                <a:cubicBezTo>
                  <a:pt x="105" y="16"/>
                  <a:pt x="105" y="16"/>
                  <a:pt x="105" y="16"/>
                </a:cubicBezTo>
                <a:cubicBezTo>
                  <a:pt x="104" y="16"/>
                  <a:pt x="104" y="16"/>
                  <a:pt x="104" y="16"/>
                </a:cubicBezTo>
                <a:cubicBezTo>
                  <a:pt x="104" y="15"/>
                  <a:pt x="104" y="15"/>
                  <a:pt x="104" y="15"/>
                </a:cubicBezTo>
                <a:cubicBezTo>
                  <a:pt x="104" y="15"/>
                  <a:pt x="104" y="15"/>
                  <a:pt x="104" y="15"/>
                </a:cubicBezTo>
                <a:cubicBezTo>
                  <a:pt x="104" y="15"/>
                  <a:pt x="104" y="15"/>
                  <a:pt x="104" y="15"/>
                </a:cubicBezTo>
                <a:cubicBezTo>
                  <a:pt x="104" y="15"/>
                  <a:pt x="104" y="15"/>
                  <a:pt x="104" y="15"/>
                </a:cubicBezTo>
                <a:cubicBezTo>
                  <a:pt x="104" y="15"/>
                  <a:pt x="104" y="15"/>
                  <a:pt x="104" y="14"/>
                </a:cubicBezTo>
                <a:cubicBezTo>
                  <a:pt x="104" y="14"/>
                  <a:pt x="104" y="14"/>
                  <a:pt x="104" y="14"/>
                </a:cubicBezTo>
                <a:cubicBezTo>
                  <a:pt x="104" y="14"/>
                  <a:pt x="104" y="14"/>
                  <a:pt x="104" y="14"/>
                </a:cubicBezTo>
                <a:cubicBezTo>
                  <a:pt x="104" y="14"/>
                  <a:pt x="105" y="14"/>
                  <a:pt x="105" y="14"/>
                </a:cubicBezTo>
                <a:cubicBezTo>
                  <a:pt x="105" y="14"/>
                  <a:pt x="105" y="14"/>
                  <a:pt x="105" y="14"/>
                </a:cubicBezTo>
                <a:cubicBezTo>
                  <a:pt x="107" y="14"/>
                  <a:pt x="107" y="14"/>
                  <a:pt x="107" y="14"/>
                </a:cubicBezTo>
                <a:cubicBezTo>
                  <a:pt x="107" y="14"/>
                  <a:pt x="107" y="14"/>
                  <a:pt x="107" y="14"/>
                </a:cubicBezTo>
                <a:cubicBezTo>
                  <a:pt x="108" y="14"/>
                  <a:pt x="108" y="14"/>
                  <a:pt x="108" y="14"/>
                </a:cubicBezTo>
                <a:cubicBezTo>
                  <a:pt x="110" y="14"/>
                  <a:pt x="110" y="14"/>
                  <a:pt x="110" y="14"/>
                </a:cubicBezTo>
                <a:cubicBezTo>
                  <a:pt x="110" y="14"/>
                  <a:pt x="110" y="14"/>
                  <a:pt x="110" y="14"/>
                </a:cubicBezTo>
                <a:cubicBezTo>
                  <a:pt x="110" y="14"/>
                  <a:pt x="110" y="14"/>
                  <a:pt x="110" y="14"/>
                </a:cubicBezTo>
                <a:cubicBezTo>
                  <a:pt x="110" y="14"/>
                  <a:pt x="110" y="14"/>
                  <a:pt x="110" y="14"/>
                </a:cubicBezTo>
                <a:cubicBezTo>
                  <a:pt x="110" y="13"/>
                  <a:pt x="110" y="13"/>
                  <a:pt x="110" y="13"/>
                </a:cubicBezTo>
                <a:cubicBezTo>
                  <a:pt x="109" y="13"/>
                  <a:pt x="108" y="13"/>
                  <a:pt x="108" y="13"/>
                </a:cubicBezTo>
                <a:cubicBezTo>
                  <a:pt x="108" y="13"/>
                  <a:pt x="107" y="13"/>
                  <a:pt x="107" y="13"/>
                </a:cubicBezTo>
                <a:cubicBezTo>
                  <a:pt x="107" y="13"/>
                  <a:pt x="107" y="13"/>
                  <a:pt x="107" y="13"/>
                </a:cubicBezTo>
                <a:cubicBezTo>
                  <a:pt x="111" y="16"/>
                  <a:pt x="111" y="16"/>
                  <a:pt x="111" y="16"/>
                </a:cubicBezTo>
                <a:close/>
                <a:moveTo>
                  <a:pt x="107" y="19"/>
                </a:move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8" y="18"/>
                </a:cubicBezTo>
                <a:cubicBezTo>
                  <a:pt x="108" y="18"/>
                  <a:pt x="109" y="17"/>
                  <a:pt x="109" y="17"/>
                </a:cubicBezTo>
                <a:cubicBezTo>
                  <a:pt x="109" y="18"/>
                  <a:pt x="109" y="18"/>
                  <a:pt x="109" y="18"/>
                </a:cubicBezTo>
                <a:cubicBezTo>
                  <a:pt x="109" y="18"/>
                  <a:pt x="109" y="18"/>
                  <a:pt x="109" y="18"/>
                </a:cubicBezTo>
                <a:cubicBezTo>
                  <a:pt x="109" y="18"/>
                  <a:pt x="109" y="18"/>
                  <a:pt x="109" y="18"/>
                </a:cubicBezTo>
                <a:cubicBezTo>
                  <a:pt x="108" y="18"/>
                  <a:pt x="108" y="18"/>
                  <a:pt x="108" y="19"/>
                </a:cubicBezTo>
                <a:cubicBezTo>
                  <a:pt x="108" y="19"/>
                  <a:pt x="108" y="19"/>
                  <a:pt x="108" y="19"/>
                </a:cubicBezTo>
                <a:cubicBezTo>
                  <a:pt x="108" y="19"/>
                  <a:pt x="108" y="19"/>
                  <a:pt x="107" y="19"/>
                </a:cubicBezTo>
                <a:cubicBezTo>
                  <a:pt x="107" y="19"/>
                  <a:pt x="107" y="19"/>
                  <a:pt x="107" y="19"/>
                </a:cubicBezTo>
                <a:cubicBezTo>
                  <a:pt x="107" y="19"/>
                  <a:pt x="107" y="19"/>
                  <a:pt x="107" y="19"/>
                </a:cubicBezTo>
                <a:close/>
                <a:moveTo>
                  <a:pt x="109" y="19"/>
                </a:moveTo>
                <a:cubicBezTo>
                  <a:pt x="109" y="21"/>
                  <a:pt x="109" y="21"/>
                  <a:pt x="109" y="21"/>
                </a:cubicBezTo>
                <a:cubicBezTo>
                  <a:pt x="109" y="21"/>
                  <a:pt x="109" y="21"/>
                  <a:pt x="109" y="21"/>
                </a:cubicBezTo>
                <a:cubicBezTo>
                  <a:pt x="108" y="21"/>
                  <a:pt x="108" y="21"/>
                  <a:pt x="108" y="21"/>
                </a:cubicBezTo>
                <a:cubicBezTo>
                  <a:pt x="108" y="21"/>
                  <a:pt x="108" y="21"/>
                  <a:pt x="108" y="21"/>
                </a:cubicBezTo>
                <a:cubicBezTo>
                  <a:pt x="108" y="20"/>
                  <a:pt x="108" y="20"/>
                  <a:pt x="108" y="20"/>
                </a:cubicBezTo>
                <a:cubicBezTo>
                  <a:pt x="108" y="20"/>
                  <a:pt x="107" y="20"/>
                  <a:pt x="107" y="20"/>
                </a:cubicBezTo>
                <a:cubicBezTo>
                  <a:pt x="107" y="20"/>
                  <a:pt x="107" y="20"/>
                  <a:pt x="107" y="20"/>
                </a:cubicBezTo>
                <a:cubicBezTo>
                  <a:pt x="107" y="20"/>
                  <a:pt x="107" y="20"/>
                  <a:pt x="107" y="20"/>
                </a:cubicBezTo>
                <a:cubicBezTo>
                  <a:pt x="108" y="20"/>
                  <a:pt x="108" y="20"/>
                  <a:pt x="108" y="20"/>
                </a:cubicBezTo>
                <a:cubicBezTo>
                  <a:pt x="108" y="20"/>
                  <a:pt x="108" y="20"/>
                  <a:pt x="108" y="20"/>
                </a:cubicBezTo>
                <a:cubicBezTo>
                  <a:pt x="108" y="20"/>
                  <a:pt x="108" y="20"/>
                  <a:pt x="108" y="20"/>
                </a:cubicBezTo>
                <a:cubicBezTo>
                  <a:pt x="109" y="19"/>
                  <a:pt x="109" y="19"/>
                  <a:pt x="109" y="19"/>
                </a:cubicBezTo>
                <a:close/>
                <a:moveTo>
                  <a:pt x="112" y="25"/>
                </a:moveTo>
                <a:cubicBezTo>
                  <a:pt x="112" y="25"/>
                  <a:pt x="112" y="25"/>
                  <a:pt x="112" y="25"/>
                </a:cubicBezTo>
                <a:cubicBezTo>
                  <a:pt x="112" y="25"/>
                  <a:pt x="112" y="25"/>
                  <a:pt x="112" y="25"/>
                </a:cubicBezTo>
                <a:cubicBezTo>
                  <a:pt x="112" y="25"/>
                  <a:pt x="112" y="26"/>
                  <a:pt x="112" y="26"/>
                </a:cubicBezTo>
                <a:cubicBezTo>
                  <a:pt x="112" y="26"/>
                  <a:pt x="112" y="26"/>
                  <a:pt x="111" y="26"/>
                </a:cubicBezTo>
                <a:cubicBezTo>
                  <a:pt x="111" y="26"/>
                  <a:pt x="111" y="26"/>
                  <a:pt x="111" y="26"/>
                </a:cubicBezTo>
                <a:cubicBezTo>
                  <a:pt x="111" y="26"/>
                  <a:pt x="111" y="26"/>
                  <a:pt x="111" y="26"/>
                </a:cubicBezTo>
                <a:cubicBezTo>
                  <a:pt x="111" y="27"/>
                  <a:pt x="110" y="27"/>
                  <a:pt x="110" y="27"/>
                </a:cubicBezTo>
                <a:cubicBezTo>
                  <a:pt x="109" y="27"/>
                  <a:pt x="109" y="27"/>
                  <a:pt x="109" y="26"/>
                </a:cubicBezTo>
                <a:cubicBezTo>
                  <a:pt x="109" y="26"/>
                  <a:pt x="109" y="26"/>
                  <a:pt x="108" y="26"/>
                </a:cubicBezTo>
                <a:cubicBezTo>
                  <a:pt x="108" y="26"/>
                  <a:pt x="108" y="26"/>
                  <a:pt x="108" y="26"/>
                </a:cubicBezTo>
                <a:cubicBezTo>
                  <a:pt x="108" y="26"/>
                  <a:pt x="108" y="26"/>
                  <a:pt x="108" y="26"/>
                </a:cubicBezTo>
                <a:cubicBezTo>
                  <a:pt x="108" y="25"/>
                  <a:pt x="108" y="25"/>
                  <a:pt x="108" y="25"/>
                </a:cubicBezTo>
                <a:cubicBezTo>
                  <a:pt x="108" y="25"/>
                  <a:pt x="108" y="25"/>
                  <a:pt x="108" y="25"/>
                </a:cubicBezTo>
                <a:cubicBezTo>
                  <a:pt x="108" y="25"/>
                  <a:pt x="108" y="25"/>
                  <a:pt x="108" y="25"/>
                </a:cubicBezTo>
                <a:cubicBezTo>
                  <a:pt x="108" y="25"/>
                  <a:pt x="108" y="25"/>
                  <a:pt x="108" y="25"/>
                </a:cubicBezTo>
                <a:cubicBezTo>
                  <a:pt x="109" y="25"/>
                  <a:pt x="109" y="25"/>
                  <a:pt x="110" y="25"/>
                </a:cubicBezTo>
                <a:cubicBezTo>
                  <a:pt x="110" y="25"/>
                  <a:pt x="110" y="24"/>
                  <a:pt x="111" y="24"/>
                </a:cubicBezTo>
                <a:cubicBezTo>
                  <a:pt x="111" y="24"/>
                  <a:pt x="111" y="24"/>
                  <a:pt x="111" y="24"/>
                </a:cubicBezTo>
                <a:cubicBezTo>
                  <a:pt x="111" y="24"/>
                  <a:pt x="111" y="24"/>
                  <a:pt x="111" y="25"/>
                </a:cubicBezTo>
                <a:cubicBezTo>
                  <a:pt x="111" y="25"/>
                  <a:pt x="112" y="25"/>
                  <a:pt x="112" y="25"/>
                </a:cubicBezTo>
                <a:close/>
                <a:moveTo>
                  <a:pt x="32" y="72"/>
                </a:moveTo>
                <a:cubicBezTo>
                  <a:pt x="31" y="73"/>
                  <a:pt x="31" y="73"/>
                  <a:pt x="31" y="73"/>
                </a:cubicBezTo>
                <a:cubicBezTo>
                  <a:pt x="31" y="73"/>
                  <a:pt x="30" y="73"/>
                  <a:pt x="30" y="73"/>
                </a:cubicBezTo>
                <a:cubicBezTo>
                  <a:pt x="30" y="73"/>
                  <a:pt x="29" y="73"/>
                  <a:pt x="29" y="73"/>
                </a:cubicBezTo>
                <a:cubicBezTo>
                  <a:pt x="29" y="73"/>
                  <a:pt x="29" y="73"/>
                  <a:pt x="29" y="73"/>
                </a:cubicBezTo>
                <a:cubicBezTo>
                  <a:pt x="29" y="72"/>
                  <a:pt x="29" y="72"/>
                  <a:pt x="29" y="72"/>
                </a:cubicBezTo>
                <a:cubicBezTo>
                  <a:pt x="29" y="72"/>
                  <a:pt x="29" y="72"/>
                  <a:pt x="29" y="72"/>
                </a:cubicBezTo>
                <a:cubicBezTo>
                  <a:pt x="29" y="72"/>
                  <a:pt x="29" y="72"/>
                  <a:pt x="29" y="72"/>
                </a:cubicBezTo>
                <a:cubicBezTo>
                  <a:pt x="29" y="72"/>
                  <a:pt x="29" y="72"/>
                  <a:pt x="29" y="72"/>
                </a:cubicBezTo>
                <a:cubicBezTo>
                  <a:pt x="30" y="71"/>
                  <a:pt x="31" y="71"/>
                  <a:pt x="31" y="71"/>
                </a:cubicBezTo>
                <a:cubicBezTo>
                  <a:pt x="31" y="71"/>
                  <a:pt x="31" y="71"/>
                  <a:pt x="31" y="71"/>
                </a:cubicBezTo>
                <a:cubicBezTo>
                  <a:pt x="31" y="71"/>
                  <a:pt x="32" y="71"/>
                  <a:pt x="32" y="71"/>
                </a:cubicBezTo>
                <a:cubicBezTo>
                  <a:pt x="32" y="71"/>
                  <a:pt x="32" y="71"/>
                  <a:pt x="32" y="71"/>
                </a:cubicBezTo>
                <a:cubicBezTo>
                  <a:pt x="32" y="71"/>
                  <a:pt x="32" y="71"/>
                  <a:pt x="32" y="71"/>
                </a:cubicBezTo>
                <a:cubicBezTo>
                  <a:pt x="32" y="71"/>
                  <a:pt x="32" y="71"/>
                  <a:pt x="32" y="71"/>
                </a:cubicBezTo>
                <a:cubicBezTo>
                  <a:pt x="32" y="71"/>
                  <a:pt x="33" y="71"/>
                  <a:pt x="33" y="71"/>
                </a:cubicBezTo>
                <a:cubicBezTo>
                  <a:pt x="33" y="71"/>
                  <a:pt x="33" y="71"/>
                  <a:pt x="33" y="71"/>
                </a:cubicBezTo>
                <a:cubicBezTo>
                  <a:pt x="33" y="71"/>
                  <a:pt x="33" y="71"/>
                  <a:pt x="33" y="71"/>
                </a:cubicBezTo>
                <a:cubicBezTo>
                  <a:pt x="33" y="71"/>
                  <a:pt x="34" y="71"/>
                  <a:pt x="34" y="71"/>
                </a:cubicBezTo>
                <a:cubicBezTo>
                  <a:pt x="34" y="70"/>
                  <a:pt x="34" y="70"/>
                  <a:pt x="34" y="70"/>
                </a:cubicBezTo>
                <a:cubicBezTo>
                  <a:pt x="34" y="70"/>
                  <a:pt x="34" y="69"/>
                  <a:pt x="34" y="69"/>
                </a:cubicBezTo>
                <a:cubicBezTo>
                  <a:pt x="34" y="69"/>
                  <a:pt x="34" y="68"/>
                  <a:pt x="35" y="68"/>
                </a:cubicBezTo>
                <a:cubicBezTo>
                  <a:pt x="35" y="68"/>
                  <a:pt x="35" y="68"/>
                  <a:pt x="35" y="67"/>
                </a:cubicBezTo>
                <a:cubicBezTo>
                  <a:pt x="35" y="67"/>
                  <a:pt x="35" y="67"/>
                  <a:pt x="35" y="66"/>
                </a:cubicBezTo>
                <a:cubicBezTo>
                  <a:pt x="35" y="66"/>
                  <a:pt x="36" y="66"/>
                  <a:pt x="36" y="66"/>
                </a:cubicBezTo>
                <a:cubicBezTo>
                  <a:pt x="36" y="66"/>
                  <a:pt x="36" y="65"/>
                  <a:pt x="36" y="65"/>
                </a:cubicBezTo>
                <a:cubicBezTo>
                  <a:pt x="36" y="65"/>
                  <a:pt x="36" y="65"/>
                  <a:pt x="36" y="65"/>
                </a:cubicBezTo>
                <a:cubicBezTo>
                  <a:pt x="36" y="65"/>
                  <a:pt x="36" y="65"/>
                  <a:pt x="36" y="65"/>
                </a:cubicBezTo>
                <a:cubicBezTo>
                  <a:pt x="36" y="65"/>
                  <a:pt x="36" y="65"/>
                  <a:pt x="36" y="64"/>
                </a:cubicBezTo>
                <a:cubicBezTo>
                  <a:pt x="36" y="64"/>
                  <a:pt x="36" y="65"/>
                  <a:pt x="36" y="65"/>
                </a:cubicBezTo>
                <a:cubicBezTo>
                  <a:pt x="35" y="65"/>
                  <a:pt x="35" y="65"/>
                  <a:pt x="35" y="65"/>
                </a:cubicBezTo>
                <a:cubicBezTo>
                  <a:pt x="35" y="65"/>
                  <a:pt x="35" y="65"/>
                  <a:pt x="35" y="65"/>
                </a:cubicBezTo>
                <a:cubicBezTo>
                  <a:pt x="36" y="65"/>
                  <a:pt x="35" y="65"/>
                  <a:pt x="35" y="65"/>
                </a:cubicBezTo>
                <a:cubicBezTo>
                  <a:pt x="35" y="65"/>
                  <a:pt x="35" y="65"/>
                  <a:pt x="35" y="65"/>
                </a:cubicBezTo>
                <a:cubicBezTo>
                  <a:pt x="34" y="65"/>
                  <a:pt x="34" y="66"/>
                  <a:pt x="34" y="66"/>
                </a:cubicBezTo>
                <a:cubicBezTo>
                  <a:pt x="34" y="66"/>
                  <a:pt x="33" y="66"/>
                  <a:pt x="33" y="66"/>
                </a:cubicBezTo>
                <a:cubicBezTo>
                  <a:pt x="33" y="66"/>
                  <a:pt x="33" y="67"/>
                  <a:pt x="33" y="67"/>
                </a:cubicBezTo>
                <a:cubicBezTo>
                  <a:pt x="33" y="67"/>
                  <a:pt x="33" y="67"/>
                  <a:pt x="33" y="67"/>
                </a:cubicBezTo>
                <a:cubicBezTo>
                  <a:pt x="33" y="67"/>
                  <a:pt x="33" y="67"/>
                  <a:pt x="33" y="67"/>
                </a:cubicBezTo>
                <a:cubicBezTo>
                  <a:pt x="33" y="67"/>
                  <a:pt x="33" y="67"/>
                  <a:pt x="33" y="67"/>
                </a:cubicBezTo>
                <a:cubicBezTo>
                  <a:pt x="33" y="68"/>
                  <a:pt x="33" y="68"/>
                  <a:pt x="33" y="68"/>
                </a:cubicBezTo>
                <a:cubicBezTo>
                  <a:pt x="33" y="68"/>
                  <a:pt x="32" y="68"/>
                  <a:pt x="32" y="68"/>
                </a:cubicBezTo>
                <a:cubicBezTo>
                  <a:pt x="32" y="68"/>
                  <a:pt x="32" y="68"/>
                  <a:pt x="32" y="68"/>
                </a:cubicBezTo>
                <a:cubicBezTo>
                  <a:pt x="32" y="68"/>
                  <a:pt x="32" y="68"/>
                  <a:pt x="32" y="67"/>
                </a:cubicBezTo>
                <a:cubicBezTo>
                  <a:pt x="32" y="67"/>
                  <a:pt x="32" y="67"/>
                  <a:pt x="32" y="67"/>
                </a:cubicBezTo>
                <a:cubicBezTo>
                  <a:pt x="32" y="67"/>
                  <a:pt x="32" y="67"/>
                  <a:pt x="32" y="67"/>
                </a:cubicBezTo>
                <a:cubicBezTo>
                  <a:pt x="31" y="67"/>
                  <a:pt x="31" y="67"/>
                  <a:pt x="31" y="67"/>
                </a:cubicBezTo>
                <a:cubicBezTo>
                  <a:pt x="31" y="67"/>
                  <a:pt x="31" y="67"/>
                  <a:pt x="31" y="67"/>
                </a:cubicBezTo>
                <a:cubicBezTo>
                  <a:pt x="31" y="67"/>
                  <a:pt x="31" y="67"/>
                  <a:pt x="31" y="68"/>
                </a:cubicBezTo>
                <a:cubicBezTo>
                  <a:pt x="30" y="68"/>
                  <a:pt x="30" y="68"/>
                  <a:pt x="30" y="68"/>
                </a:cubicBezTo>
                <a:cubicBezTo>
                  <a:pt x="30" y="68"/>
                  <a:pt x="30" y="68"/>
                  <a:pt x="30" y="68"/>
                </a:cubicBezTo>
                <a:cubicBezTo>
                  <a:pt x="30" y="68"/>
                  <a:pt x="30" y="68"/>
                  <a:pt x="30" y="68"/>
                </a:cubicBezTo>
                <a:cubicBezTo>
                  <a:pt x="30" y="68"/>
                  <a:pt x="30" y="69"/>
                  <a:pt x="30" y="69"/>
                </a:cubicBezTo>
                <a:cubicBezTo>
                  <a:pt x="30" y="69"/>
                  <a:pt x="30" y="69"/>
                  <a:pt x="30" y="69"/>
                </a:cubicBezTo>
                <a:cubicBezTo>
                  <a:pt x="29" y="69"/>
                  <a:pt x="29" y="69"/>
                  <a:pt x="29" y="69"/>
                </a:cubicBezTo>
                <a:cubicBezTo>
                  <a:pt x="29" y="69"/>
                  <a:pt x="29" y="70"/>
                  <a:pt x="29" y="70"/>
                </a:cubicBezTo>
                <a:cubicBezTo>
                  <a:pt x="29" y="70"/>
                  <a:pt x="29" y="70"/>
                  <a:pt x="29" y="70"/>
                </a:cubicBezTo>
                <a:cubicBezTo>
                  <a:pt x="29" y="70"/>
                  <a:pt x="29" y="70"/>
                  <a:pt x="29" y="70"/>
                </a:cubicBezTo>
                <a:cubicBezTo>
                  <a:pt x="29" y="70"/>
                  <a:pt x="29" y="70"/>
                  <a:pt x="29" y="71"/>
                </a:cubicBezTo>
                <a:cubicBezTo>
                  <a:pt x="28" y="71"/>
                  <a:pt x="28" y="70"/>
                  <a:pt x="28" y="70"/>
                </a:cubicBezTo>
                <a:cubicBezTo>
                  <a:pt x="28" y="70"/>
                  <a:pt x="28" y="70"/>
                  <a:pt x="28" y="70"/>
                </a:cubicBezTo>
                <a:cubicBezTo>
                  <a:pt x="28" y="70"/>
                  <a:pt x="28" y="70"/>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7" y="69"/>
                  <a:pt x="27" y="70"/>
                  <a:pt x="27" y="70"/>
                </a:cubicBezTo>
                <a:cubicBezTo>
                  <a:pt x="27" y="70"/>
                  <a:pt x="26" y="71"/>
                  <a:pt x="26" y="71"/>
                </a:cubicBezTo>
                <a:cubicBezTo>
                  <a:pt x="26" y="72"/>
                  <a:pt x="26" y="72"/>
                  <a:pt x="26" y="72"/>
                </a:cubicBezTo>
                <a:cubicBezTo>
                  <a:pt x="26" y="72"/>
                  <a:pt x="25" y="73"/>
                  <a:pt x="25" y="73"/>
                </a:cubicBezTo>
                <a:cubicBezTo>
                  <a:pt x="25" y="73"/>
                  <a:pt x="25" y="73"/>
                  <a:pt x="25" y="73"/>
                </a:cubicBezTo>
                <a:cubicBezTo>
                  <a:pt x="25" y="73"/>
                  <a:pt x="24" y="73"/>
                  <a:pt x="24" y="73"/>
                </a:cubicBezTo>
                <a:cubicBezTo>
                  <a:pt x="24" y="73"/>
                  <a:pt x="24" y="73"/>
                  <a:pt x="24" y="73"/>
                </a:cubicBezTo>
                <a:cubicBezTo>
                  <a:pt x="24" y="73"/>
                  <a:pt x="24" y="72"/>
                  <a:pt x="24" y="72"/>
                </a:cubicBezTo>
                <a:cubicBezTo>
                  <a:pt x="24" y="72"/>
                  <a:pt x="24" y="72"/>
                  <a:pt x="24" y="72"/>
                </a:cubicBezTo>
                <a:cubicBezTo>
                  <a:pt x="24" y="72"/>
                  <a:pt x="24" y="72"/>
                  <a:pt x="24" y="72"/>
                </a:cubicBezTo>
                <a:cubicBezTo>
                  <a:pt x="24" y="72"/>
                  <a:pt x="23" y="72"/>
                  <a:pt x="23" y="72"/>
                </a:cubicBezTo>
                <a:cubicBezTo>
                  <a:pt x="23" y="72"/>
                  <a:pt x="23" y="72"/>
                  <a:pt x="23" y="71"/>
                </a:cubicBezTo>
                <a:cubicBezTo>
                  <a:pt x="23" y="72"/>
                  <a:pt x="24" y="71"/>
                  <a:pt x="24" y="71"/>
                </a:cubicBezTo>
                <a:cubicBezTo>
                  <a:pt x="24" y="70"/>
                  <a:pt x="24" y="70"/>
                  <a:pt x="24" y="70"/>
                </a:cubicBezTo>
                <a:cubicBezTo>
                  <a:pt x="24" y="70"/>
                  <a:pt x="24" y="70"/>
                  <a:pt x="24" y="70"/>
                </a:cubicBezTo>
                <a:cubicBezTo>
                  <a:pt x="24" y="70"/>
                  <a:pt x="24" y="70"/>
                  <a:pt x="24" y="70"/>
                </a:cubicBezTo>
                <a:cubicBezTo>
                  <a:pt x="24" y="70"/>
                  <a:pt x="25" y="70"/>
                  <a:pt x="25" y="70"/>
                </a:cubicBezTo>
                <a:cubicBezTo>
                  <a:pt x="25" y="70"/>
                  <a:pt x="25" y="70"/>
                  <a:pt x="25" y="70"/>
                </a:cubicBezTo>
                <a:cubicBezTo>
                  <a:pt x="25" y="70"/>
                  <a:pt x="25" y="70"/>
                  <a:pt x="25" y="70"/>
                </a:cubicBezTo>
                <a:cubicBezTo>
                  <a:pt x="25" y="70"/>
                  <a:pt x="26" y="70"/>
                  <a:pt x="26" y="70"/>
                </a:cubicBezTo>
                <a:cubicBezTo>
                  <a:pt x="26" y="70"/>
                  <a:pt x="26" y="69"/>
                  <a:pt x="26" y="69"/>
                </a:cubicBezTo>
                <a:cubicBezTo>
                  <a:pt x="27" y="69"/>
                  <a:pt x="27" y="68"/>
                  <a:pt x="27" y="68"/>
                </a:cubicBezTo>
                <a:cubicBezTo>
                  <a:pt x="27" y="68"/>
                  <a:pt x="27" y="68"/>
                  <a:pt x="28" y="68"/>
                </a:cubicBezTo>
                <a:cubicBezTo>
                  <a:pt x="28" y="68"/>
                  <a:pt x="28" y="68"/>
                  <a:pt x="28" y="68"/>
                </a:cubicBezTo>
                <a:cubicBezTo>
                  <a:pt x="28" y="68"/>
                  <a:pt x="28" y="67"/>
                  <a:pt x="29" y="67"/>
                </a:cubicBezTo>
                <a:cubicBezTo>
                  <a:pt x="29" y="67"/>
                  <a:pt x="29" y="67"/>
                  <a:pt x="29" y="67"/>
                </a:cubicBezTo>
                <a:cubicBezTo>
                  <a:pt x="29" y="66"/>
                  <a:pt x="29" y="66"/>
                  <a:pt x="29" y="66"/>
                </a:cubicBezTo>
                <a:cubicBezTo>
                  <a:pt x="29" y="66"/>
                  <a:pt x="29" y="66"/>
                  <a:pt x="29" y="66"/>
                </a:cubicBezTo>
                <a:cubicBezTo>
                  <a:pt x="29" y="65"/>
                  <a:pt x="29" y="65"/>
                  <a:pt x="29" y="65"/>
                </a:cubicBezTo>
                <a:cubicBezTo>
                  <a:pt x="29" y="65"/>
                  <a:pt x="29" y="65"/>
                  <a:pt x="29" y="64"/>
                </a:cubicBezTo>
                <a:cubicBezTo>
                  <a:pt x="29" y="64"/>
                  <a:pt x="29" y="64"/>
                  <a:pt x="29" y="64"/>
                </a:cubicBezTo>
                <a:cubicBezTo>
                  <a:pt x="29" y="64"/>
                  <a:pt x="29" y="64"/>
                  <a:pt x="29" y="64"/>
                </a:cubicBezTo>
                <a:cubicBezTo>
                  <a:pt x="29" y="64"/>
                  <a:pt x="29" y="64"/>
                  <a:pt x="29" y="64"/>
                </a:cubicBezTo>
                <a:cubicBezTo>
                  <a:pt x="29" y="64"/>
                  <a:pt x="29" y="64"/>
                  <a:pt x="29" y="64"/>
                </a:cubicBezTo>
                <a:cubicBezTo>
                  <a:pt x="29" y="64"/>
                  <a:pt x="29" y="64"/>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29" y="62"/>
                  <a:pt x="29" y="61"/>
                </a:cubicBezTo>
                <a:cubicBezTo>
                  <a:pt x="29" y="61"/>
                  <a:pt x="29" y="61"/>
                  <a:pt x="29" y="61"/>
                </a:cubicBezTo>
                <a:cubicBezTo>
                  <a:pt x="29" y="61"/>
                  <a:pt x="30" y="61"/>
                  <a:pt x="30" y="61"/>
                </a:cubicBezTo>
                <a:cubicBezTo>
                  <a:pt x="31" y="61"/>
                  <a:pt x="31" y="61"/>
                  <a:pt x="31" y="61"/>
                </a:cubicBezTo>
                <a:cubicBezTo>
                  <a:pt x="31" y="61"/>
                  <a:pt x="32" y="61"/>
                  <a:pt x="32" y="61"/>
                </a:cubicBezTo>
                <a:cubicBezTo>
                  <a:pt x="32" y="61"/>
                  <a:pt x="33" y="60"/>
                  <a:pt x="33" y="60"/>
                </a:cubicBezTo>
                <a:cubicBezTo>
                  <a:pt x="33" y="60"/>
                  <a:pt x="34" y="60"/>
                  <a:pt x="34" y="60"/>
                </a:cubicBezTo>
                <a:cubicBezTo>
                  <a:pt x="34" y="60"/>
                  <a:pt x="34" y="60"/>
                  <a:pt x="34" y="60"/>
                </a:cubicBezTo>
                <a:cubicBezTo>
                  <a:pt x="34" y="60"/>
                  <a:pt x="34" y="59"/>
                  <a:pt x="35" y="59"/>
                </a:cubicBezTo>
                <a:cubicBezTo>
                  <a:pt x="35" y="59"/>
                  <a:pt x="35" y="59"/>
                  <a:pt x="36" y="59"/>
                </a:cubicBezTo>
                <a:cubicBezTo>
                  <a:pt x="36" y="59"/>
                  <a:pt x="36" y="59"/>
                  <a:pt x="36" y="59"/>
                </a:cubicBezTo>
                <a:cubicBezTo>
                  <a:pt x="36" y="58"/>
                  <a:pt x="36" y="58"/>
                  <a:pt x="36" y="58"/>
                </a:cubicBezTo>
                <a:cubicBezTo>
                  <a:pt x="37" y="58"/>
                  <a:pt x="37" y="58"/>
                  <a:pt x="37" y="58"/>
                </a:cubicBezTo>
                <a:cubicBezTo>
                  <a:pt x="37" y="58"/>
                  <a:pt x="37" y="58"/>
                  <a:pt x="37" y="58"/>
                </a:cubicBezTo>
                <a:cubicBezTo>
                  <a:pt x="37" y="59"/>
                  <a:pt x="37" y="59"/>
                  <a:pt x="37" y="59"/>
                </a:cubicBezTo>
                <a:cubicBezTo>
                  <a:pt x="37" y="59"/>
                  <a:pt x="37" y="59"/>
                  <a:pt x="37" y="59"/>
                </a:cubicBezTo>
                <a:cubicBezTo>
                  <a:pt x="38" y="59"/>
                  <a:pt x="37" y="60"/>
                  <a:pt x="37" y="60"/>
                </a:cubicBezTo>
                <a:cubicBezTo>
                  <a:pt x="37" y="60"/>
                  <a:pt x="37" y="60"/>
                  <a:pt x="36" y="60"/>
                </a:cubicBezTo>
                <a:cubicBezTo>
                  <a:pt x="36" y="60"/>
                  <a:pt x="36" y="60"/>
                  <a:pt x="36" y="61"/>
                </a:cubicBezTo>
                <a:cubicBezTo>
                  <a:pt x="35" y="61"/>
                  <a:pt x="34" y="61"/>
                  <a:pt x="34" y="62"/>
                </a:cubicBezTo>
                <a:cubicBezTo>
                  <a:pt x="34" y="62"/>
                  <a:pt x="34" y="62"/>
                  <a:pt x="34" y="62"/>
                </a:cubicBezTo>
                <a:cubicBezTo>
                  <a:pt x="34" y="62"/>
                  <a:pt x="34" y="62"/>
                  <a:pt x="34" y="62"/>
                </a:cubicBezTo>
                <a:cubicBezTo>
                  <a:pt x="34" y="62"/>
                  <a:pt x="34" y="62"/>
                  <a:pt x="34" y="63"/>
                </a:cubicBezTo>
                <a:cubicBezTo>
                  <a:pt x="34" y="63"/>
                  <a:pt x="34" y="63"/>
                  <a:pt x="34" y="64"/>
                </a:cubicBezTo>
                <a:cubicBezTo>
                  <a:pt x="34" y="64"/>
                  <a:pt x="34" y="64"/>
                  <a:pt x="34" y="64"/>
                </a:cubicBezTo>
                <a:cubicBezTo>
                  <a:pt x="35" y="64"/>
                  <a:pt x="35" y="64"/>
                  <a:pt x="35" y="64"/>
                </a:cubicBezTo>
                <a:cubicBezTo>
                  <a:pt x="35" y="64"/>
                  <a:pt x="36" y="64"/>
                  <a:pt x="36" y="63"/>
                </a:cubicBezTo>
                <a:cubicBezTo>
                  <a:pt x="36" y="63"/>
                  <a:pt x="37" y="63"/>
                  <a:pt x="37" y="63"/>
                </a:cubicBezTo>
                <a:cubicBezTo>
                  <a:pt x="37" y="63"/>
                  <a:pt x="37" y="63"/>
                  <a:pt x="37" y="63"/>
                </a:cubicBezTo>
                <a:cubicBezTo>
                  <a:pt x="38" y="63"/>
                  <a:pt x="38" y="63"/>
                  <a:pt x="38" y="63"/>
                </a:cubicBezTo>
                <a:cubicBezTo>
                  <a:pt x="38" y="63"/>
                  <a:pt x="38" y="63"/>
                  <a:pt x="38" y="63"/>
                </a:cubicBezTo>
                <a:cubicBezTo>
                  <a:pt x="38" y="63"/>
                  <a:pt x="39" y="63"/>
                  <a:pt x="39" y="63"/>
                </a:cubicBezTo>
                <a:cubicBezTo>
                  <a:pt x="39" y="63"/>
                  <a:pt x="39" y="63"/>
                  <a:pt x="39" y="63"/>
                </a:cubicBezTo>
                <a:cubicBezTo>
                  <a:pt x="39" y="64"/>
                  <a:pt x="39" y="64"/>
                  <a:pt x="39" y="64"/>
                </a:cubicBezTo>
                <a:cubicBezTo>
                  <a:pt x="39" y="64"/>
                  <a:pt x="39" y="64"/>
                  <a:pt x="39" y="65"/>
                </a:cubicBezTo>
                <a:cubicBezTo>
                  <a:pt x="38" y="65"/>
                  <a:pt x="38" y="65"/>
                  <a:pt x="38" y="65"/>
                </a:cubicBezTo>
                <a:cubicBezTo>
                  <a:pt x="38" y="65"/>
                  <a:pt x="38" y="66"/>
                  <a:pt x="38" y="66"/>
                </a:cubicBezTo>
                <a:cubicBezTo>
                  <a:pt x="38" y="66"/>
                  <a:pt x="38" y="66"/>
                  <a:pt x="38" y="66"/>
                </a:cubicBezTo>
                <a:cubicBezTo>
                  <a:pt x="37" y="67"/>
                  <a:pt x="37" y="67"/>
                  <a:pt x="37" y="67"/>
                </a:cubicBezTo>
                <a:cubicBezTo>
                  <a:pt x="37" y="67"/>
                  <a:pt x="37" y="68"/>
                  <a:pt x="37" y="68"/>
                </a:cubicBezTo>
                <a:cubicBezTo>
                  <a:pt x="37" y="68"/>
                  <a:pt x="36" y="69"/>
                  <a:pt x="36" y="69"/>
                </a:cubicBezTo>
                <a:cubicBezTo>
                  <a:pt x="36" y="70"/>
                  <a:pt x="36" y="70"/>
                  <a:pt x="36" y="70"/>
                </a:cubicBezTo>
                <a:cubicBezTo>
                  <a:pt x="36" y="70"/>
                  <a:pt x="36" y="71"/>
                  <a:pt x="36" y="71"/>
                </a:cubicBezTo>
                <a:cubicBezTo>
                  <a:pt x="35" y="71"/>
                  <a:pt x="35" y="72"/>
                  <a:pt x="35" y="72"/>
                </a:cubicBezTo>
                <a:cubicBezTo>
                  <a:pt x="35" y="72"/>
                  <a:pt x="35" y="72"/>
                  <a:pt x="35" y="72"/>
                </a:cubicBezTo>
                <a:cubicBezTo>
                  <a:pt x="35" y="73"/>
                  <a:pt x="35" y="73"/>
                  <a:pt x="35" y="73"/>
                </a:cubicBezTo>
                <a:cubicBezTo>
                  <a:pt x="35" y="73"/>
                  <a:pt x="34" y="73"/>
                  <a:pt x="34" y="73"/>
                </a:cubicBezTo>
                <a:cubicBezTo>
                  <a:pt x="34" y="73"/>
                  <a:pt x="34" y="73"/>
                  <a:pt x="34" y="73"/>
                </a:cubicBezTo>
                <a:cubicBezTo>
                  <a:pt x="33" y="73"/>
                  <a:pt x="33" y="73"/>
                  <a:pt x="33" y="73"/>
                </a:cubicBezTo>
                <a:cubicBezTo>
                  <a:pt x="33" y="72"/>
                  <a:pt x="33" y="72"/>
                  <a:pt x="33" y="72"/>
                </a:cubicBezTo>
                <a:cubicBezTo>
                  <a:pt x="33" y="72"/>
                  <a:pt x="33" y="72"/>
                  <a:pt x="33" y="72"/>
                </a:cubicBezTo>
                <a:cubicBezTo>
                  <a:pt x="33" y="71"/>
                  <a:pt x="32" y="71"/>
                  <a:pt x="32" y="71"/>
                </a:cubicBezTo>
                <a:cubicBezTo>
                  <a:pt x="32" y="71"/>
                  <a:pt x="32" y="72"/>
                  <a:pt x="32" y="72"/>
                </a:cubicBezTo>
                <a:cubicBezTo>
                  <a:pt x="32" y="72"/>
                  <a:pt x="32" y="72"/>
                  <a:pt x="32" y="72"/>
                </a:cubicBezTo>
                <a:close/>
                <a:moveTo>
                  <a:pt x="30" y="64"/>
                </a:moveTo>
                <a:cubicBezTo>
                  <a:pt x="30" y="64"/>
                  <a:pt x="30" y="64"/>
                  <a:pt x="30" y="63"/>
                </a:cubicBezTo>
                <a:cubicBezTo>
                  <a:pt x="31" y="63"/>
                  <a:pt x="31" y="63"/>
                  <a:pt x="31" y="63"/>
                </a:cubicBezTo>
                <a:cubicBezTo>
                  <a:pt x="32" y="63"/>
                  <a:pt x="32" y="63"/>
                  <a:pt x="32" y="63"/>
                </a:cubicBezTo>
                <a:cubicBezTo>
                  <a:pt x="32" y="63"/>
                  <a:pt x="32" y="63"/>
                  <a:pt x="33" y="63"/>
                </a:cubicBezTo>
                <a:cubicBezTo>
                  <a:pt x="33" y="63"/>
                  <a:pt x="33" y="63"/>
                  <a:pt x="33" y="63"/>
                </a:cubicBezTo>
                <a:cubicBezTo>
                  <a:pt x="33" y="63"/>
                  <a:pt x="33" y="63"/>
                  <a:pt x="33" y="64"/>
                </a:cubicBezTo>
                <a:cubicBezTo>
                  <a:pt x="33" y="64"/>
                  <a:pt x="33" y="65"/>
                  <a:pt x="33" y="65"/>
                </a:cubicBezTo>
                <a:cubicBezTo>
                  <a:pt x="33" y="65"/>
                  <a:pt x="33" y="65"/>
                  <a:pt x="33" y="65"/>
                </a:cubicBezTo>
                <a:cubicBezTo>
                  <a:pt x="33" y="65"/>
                  <a:pt x="32" y="65"/>
                  <a:pt x="32" y="65"/>
                </a:cubicBezTo>
                <a:cubicBezTo>
                  <a:pt x="31" y="65"/>
                  <a:pt x="31" y="66"/>
                  <a:pt x="31" y="66"/>
                </a:cubicBezTo>
                <a:cubicBezTo>
                  <a:pt x="31" y="66"/>
                  <a:pt x="31" y="66"/>
                  <a:pt x="31" y="66"/>
                </a:cubicBezTo>
                <a:cubicBezTo>
                  <a:pt x="31" y="66"/>
                  <a:pt x="30" y="65"/>
                  <a:pt x="30" y="65"/>
                </a:cubicBezTo>
                <a:cubicBezTo>
                  <a:pt x="30" y="65"/>
                  <a:pt x="30" y="64"/>
                  <a:pt x="30" y="64"/>
                </a:cubicBezTo>
                <a:cubicBezTo>
                  <a:pt x="30" y="64"/>
                  <a:pt x="30" y="64"/>
                  <a:pt x="30" y="64"/>
                </a:cubicBezTo>
                <a:cubicBezTo>
                  <a:pt x="30" y="64"/>
                  <a:pt x="30" y="64"/>
                  <a:pt x="30" y="64"/>
                </a:cubicBezTo>
                <a:close/>
                <a:moveTo>
                  <a:pt x="47" y="72"/>
                </a:moveTo>
                <a:cubicBezTo>
                  <a:pt x="47" y="72"/>
                  <a:pt x="47" y="71"/>
                  <a:pt x="47" y="70"/>
                </a:cubicBezTo>
                <a:cubicBezTo>
                  <a:pt x="47" y="70"/>
                  <a:pt x="47" y="69"/>
                  <a:pt x="47" y="69"/>
                </a:cubicBezTo>
                <a:cubicBezTo>
                  <a:pt x="47" y="69"/>
                  <a:pt x="47" y="69"/>
                  <a:pt x="47" y="69"/>
                </a:cubicBezTo>
                <a:cubicBezTo>
                  <a:pt x="47" y="69"/>
                  <a:pt x="47" y="69"/>
                  <a:pt x="48" y="69"/>
                </a:cubicBezTo>
                <a:cubicBezTo>
                  <a:pt x="48" y="69"/>
                  <a:pt x="48" y="69"/>
                  <a:pt x="48" y="69"/>
                </a:cubicBezTo>
                <a:cubicBezTo>
                  <a:pt x="48" y="69"/>
                  <a:pt x="48" y="69"/>
                  <a:pt x="48" y="70"/>
                </a:cubicBezTo>
                <a:cubicBezTo>
                  <a:pt x="49" y="70"/>
                  <a:pt x="49" y="70"/>
                  <a:pt x="49" y="70"/>
                </a:cubicBezTo>
                <a:cubicBezTo>
                  <a:pt x="49" y="70"/>
                  <a:pt x="49" y="71"/>
                  <a:pt x="49" y="71"/>
                </a:cubicBezTo>
                <a:cubicBezTo>
                  <a:pt x="49" y="72"/>
                  <a:pt x="49" y="72"/>
                  <a:pt x="49" y="72"/>
                </a:cubicBezTo>
                <a:cubicBezTo>
                  <a:pt x="49" y="73"/>
                  <a:pt x="49" y="73"/>
                  <a:pt x="49" y="73"/>
                </a:cubicBezTo>
                <a:cubicBezTo>
                  <a:pt x="49" y="73"/>
                  <a:pt x="48" y="73"/>
                  <a:pt x="48" y="73"/>
                </a:cubicBezTo>
                <a:cubicBezTo>
                  <a:pt x="48" y="73"/>
                  <a:pt x="48" y="73"/>
                  <a:pt x="48" y="73"/>
                </a:cubicBezTo>
                <a:cubicBezTo>
                  <a:pt x="48" y="73"/>
                  <a:pt x="47" y="72"/>
                  <a:pt x="47" y="72"/>
                </a:cubicBezTo>
                <a:close/>
                <a:moveTo>
                  <a:pt x="55" y="69"/>
                </a:moveTo>
                <a:cubicBezTo>
                  <a:pt x="55" y="69"/>
                  <a:pt x="55" y="69"/>
                  <a:pt x="55" y="68"/>
                </a:cubicBezTo>
                <a:cubicBezTo>
                  <a:pt x="55" y="68"/>
                  <a:pt x="55" y="67"/>
                  <a:pt x="55" y="67"/>
                </a:cubicBezTo>
                <a:cubicBezTo>
                  <a:pt x="55" y="67"/>
                  <a:pt x="55" y="66"/>
                  <a:pt x="55" y="66"/>
                </a:cubicBezTo>
                <a:cubicBezTo>
                  <a:pt x="55" y="66"/>
                  <a:pt x="56" y="65"/>
                  <a:pt x="56" y="65"/>
                </a:cubicBezTo>
                <a:cubicBezTo>
                  <a:pt x="55" y="65"/>
                  <a:pt x="55" y="65"/>
                  <a:pt x="55" y="65"/>
                </a:cubicBezTo>
                <a:cubicBezTo>
                  <a:pt x="55" y="65"/>
                  <a:pt x="55" y="65"/>
                  <a:pt x="55" y="65"/>
                </a:cubicBezTo>
                <a:cubicBezTo>
                  <a:pt x="55" y="65"/>
                  <a:pt x="55" y="65"/>
                  <a:pt x="55" y="65"/>
                </a:cubicBezTo>
                <a:cubicBezTo>
                  <a:pt x="54" y="65"/>
                  <a:pt x="54" y="65"/>
                  <a:pt x="54" y="65"/>
                </a:cubicBezTo>
                <a:cubicBezTo>
                  <a:pt x="54" y="65"/>
                  <a:pt x="54" y="66"/>
                  <a:pt x="53" y="66"/>
                </a:cubicBezTo>
                <a:cubicBezTo>
                  <a:pt x="53" y="66"/>
                  <a:pt x="53" y="67"/>
                  <a:pt x="53" y="67"/>
                </a:cubicBezTo>
                <a:cubicBezTo>
                  <a:pt x="53" y="67"/>
                  <a:pt x="53" y="67"/>
                  <a:pt x="53" y="67"/>
                </a:cubicBezTo>
                <a:cubicBezTo>
                  <a:pt x="53" y="67"/>
                  <a:pt x="52" y="67"/>
                  <a:pt x="52" y="68"/>
                </a:cubicBezTo>
                <a:cubicBezTo>
                  <a:pt x="51" y="68"/>
                  <a:pt x="51" y="68"/>
                  <a:pt x="51" y="69"/>
                </a:cubicBezTo>
                <a:cubicBezTo>
                  <a:pt x="50" y="69"/>
                  <a:pt x="49" y="69"/>
                  <a:pt x="49" y="69"/>
                </a:cubicBezTo>
                <a:cubicBezTo>
                  <a:pt x="49" y="69"/>
                  <a:pt x="49" y="68"/>
                  <a:pt x="48" y="68"/>
                </a:cubicBezTo>
                <a:cubicBezTo>
                  <a:pt x="48" y="68"/>
                  <a:pt x="48" y="68"/>
                  <a:pt x="48" y="68"/>
                </a:cubicBezTo>
                <a:cubicBezTo>
                  <a:pt x="48" y="68"/>
                  <a:pt x="48" y="67"/>
                  <a:pt x="48" y="67"/>
                </a:cubicBezTo>
                <a:cubicBezTo>
                  <a:pt x="49" y="67"/>
                  <a:pt x="49" y="67"/>
                  <a:pt x="49" y="67"/>
                </a:cubicBezTo>
                <a:cubicBezTo>
                  <a:pt x="49" y="67"/>
                  <a:pt x="49" y="67"/>
                  <a:pt x="50" y="67"/>
                </a:cubicBezTo>
                <a:cubicBezTo>
                  <a:pt x="50" y="67"/>
                  <a:pt x="50" y="67"/>
                  <a:pt x="51" y="67"/>
                </a:cubicBezTo>
                <a:cubicBezTo>
                  <a:pt x="51" y="67"/>
                  <a:pt x="51" y="66"/>
                  <a:pt x="51" y="66"/>
                </a:cubicBezTo>
                <a:cubicBezTo>
                  <a:pt x="51" y="66"/>
                  <a:pt x="51" y="66"/>
                  <a:pt x="51" y="66"/>
                </a:cubicBezTo>
                <a:cubicBezTo>
                  <a:pt x="51" y="66"/>
                  <a:pt x="51" y="66"/>
                  <a:pt x="51" y="65"/>
                </a:cubicBezTo>
                <a:cubicBezTo>
                  <a:pt x="50" y="65"/>
                  <a:pt x="50" y="66"/>
                  <a:pt x="50" y="66"/>
                </a:cubicBezTo>
                <a:cubicBezTo>
                  <a:pt x="50" y="66"/>
                  <a:pt x="50" y="66"/>
                  <a:pt x="50" y="66"/>
                </a:cubicBezTo>
                <a:cubicBezTo>
                  <a:pt x="49" y="66"/>
                  <a:pt x="49" y="66"/>
                  <a:pt x="49" y="65"/>
                </a:cubicBezTo>
                <a:cubicBezTo>
                  <a:pt x="49" y="65"/>
                  <a:pt x="48" y="65"/>
                  <a:pt x="48" y="65"/>
                </a:cubicBezTo>
                <a:cubicBezTo>
                  <a:pt x="48" y="65"/>
                  <a:pt x="48" y="65"/>
                  <a:pt x="48" y="65"/>
                </a:cubicBezTo>
                <a:cubicBezTo>
                  <a:pt x="48" y="65"/>
                  <a:pt x="48" y="65"/>
                  <a:pt x="48" y="65"/>
                </a:cubicBezTo>
                <a:cubicBezTo>
                  <a:pt x="48" y="65"/>
                  <a:pt x="48" y="65"/>
                  <a:pt x="48" y="64"/>
                </a:cubicBezTo>
                <a:cubicBezTo>
                  <a:pt x="49" y="64"/>
                  <a:pt x="48" y="64"/>
                  <a:pt x="49" y="64"/>
                </a:cubicBezTo>
                <a:cubicBezTo>
                  <a:pt x="49" y="64"/>
                  <a:pt x="50" y="64"/>
                  <a:pt x="50" y="64"/>
                </a:cubicBezTo>
                <a:cubicBezTo>
                  <a:pt x="50" y="64"/>
                  <a:pt x="50" y="64"/>
                  <a:pt x="50" y="64"/>
                </a:cubicBezTo>
                <a:cubicBezTo>
                  <a:pt x="50" y="64"/>
                  <a:pt x="50" y="64"/>
                  <a:pt x="51" y="64"/>
                </a:cubicBezTo>
                <a:cubicBezTo>
                  <a:pt x="51" y="64"/>
                  <a:pt x="52" y="64"/>
                  <a:pt x="52" y="63"/>
                </a:cubicBezTo>
                <a:cubicBezTo>
                  <a:pt x="52" y="63"/>
                  <a:pt x="52" y="63"/>
                  <a:pt x="52" y="62"/>
                </a:cubicBezTo>
                <a:cubicBezTo>
                  <a:pt x="53" y="62"/>
                  <a:pt x="53" y="62"/>
                  <a:pt x="53" y="61"/>
                </a:cubicBezTo>
                <a:cubicBezTo>
                  <a:pt x="53" y="61"/>
                  <a:pt x="53" y="61"/>
                  <a:pt x="53" y="61"/>
                </a:cubicBezTo>
                <a:cubicBezTo>
                  <a:pt x="53" y="61"/>
                  <a:pt x="53" y="60"/>
                  <a:pt x="53" y="60"/>
                </a:cubicBezTo>
                <a:cubicBezTo>
                  <a:pt x="53" y="60"/>
                  <a:pt x="53" y="60"/>
                  <a:pt x="53" y="60"/>
                </a:cubicBezTo>
                <a:cubicBezTo>
                  <a:pt x="53" y="59"/>
                  <a:pt x="53" y="59"/>
                  <a:pt x="54" y="59"/>
                </a:cubicBezTo>
                <a:cubicBezTo>
                  <a:pt x="54" y="59"/>
                  <a:pt x="54" y="59"/>
                  <a:pt x="54" y="59"/>
                </a:cubicBezTo>
                <a:cubicBezTo>
                  <a:pt x="54" y="59"/>
                  <a:pt x="54" y="59"/>
                  <a:pt x="54" y="59"/>
                </a:cubicBezTo>
                <a:cubicBezTo>
                  <a:pt x="55" y="60"/>
                  <a:pt x="55" y="60"/>
                  <a:pt x="55" y="60"/>
                </a:cubicBezTo>
                <a:cubicBezTo>
                  <a:pt x="55" y="60"/>
                  <a:pt x="55" y="61"/>
                  <a:pt x="55" y="62"/>
                </a:cubicBezTo>
                <a:cubicBezTo>
                  <a:pt x="54" y="62"/>
                  <a:pt x="55" y="62"/>
                  <a:pt x="55" y="62"/>
                </a:cubicBezTo>
                <a:cubicBezTo>
                  <a:pt x="55" y="61"/>
                  <a:pt x="55" y="61"/>
                  <a:pt x="55" y="61"/>
                </a:cubicBezTo>
                <a:cubicBezTo>
                  <a:pt x="55" y="62"/>
                  <a:pt x="56" y="61"/>
                  <a:pt x="56" y="61"/>
                </a:cubicBezTo>
                <a:cubicBezTo>
                  <a:pt x="56" y="61"/>
                  <a:pt x="56" y="61"/>
                  <a:pt x="56" y="61"/>
                </a:cubicBezTo>
                <a:cubicBezTo>
                  <a:pt x="56" y="61"/>
                  <a:pt x="57" y="60"/>
                  <a:pt x="57" y="61"/>
                </a:cubicBezTo>
                <a:cubicBezTo>
                  <a:pt x="57" y="61"/>
                  <a:pt x="57" y="61"/>
                  <a:pt x="57" y="61"/>
                </a:cubicBezTo>
                <a:cubicBezTo>
                  <a:pt x="57" y="62"/>
                  <a:pt x="57" y="62"/>
                  <a:pt x="56" y="62"/>
                </a:cubicBezTo>
                <a:cubicBezTo>
                  <a:pt x="55" y="63"/>
                  <a:pt x="54" y="63"/>
                  <a:pt x="54" y="63"/>
                </a:cubicBezTo>
                <a:cubicBezTo>
                  <a:pt x="53" y="63"/>
                  <a:pt x="53" y="64"/>
                  <a:pt x="53" y="64"/>
                </a:cubicBezTo>
                <a:cubicBezTo>
                  <a:pt x="52" y="65"/>
                  <a:pt x="52" y="65"/>
                  <a:pt x="52" y="65"/>
                </a:cubicBezTo>
                <a:cubicBezTo>
                  <a:pt x="52" y="65"/>
                  <a:pt x="52" y="66"/>
                  <a:pt x="52" y="66"/>
                </a:cubicBezTo>
                <a:cubicBezTo>
                  <a:pt x="53" y="66"/>
                  <a:pt x="53" y="65"/>
                  <a:pt x="54" y="65"/>
                </a:cubicBezTo>
                <a:cubicBezTo>
                  <a:pt x="54" y="65"/>
                  <a:pt x="54" y="64"/>
                  <a:pt x="55" y="64"/>
                </a:cubicBezTo>
                <a:cubicBezTo>
                  <a:pt x="55" y="64"/>
                  <a:pt x="55" y="64"/>
                  <a:pt x="55" y="64"/>
                </a:cubicBezTo>
                <a:cubicBezTo>
                  <a:pt x="56" y="64"/>
                  <a:pt x="56" y="64"/>
                  <a:pt x="56" y="63"/>
                </a:cubicBezTo>
                <a:cubicBezTo>
                  <a:pt x="56" y="63"/>
                  <a:pt x="56" y="63"/>
                  <a:pt x="56" y="63"/>
                </a:cubicBezTo>
                <a:cubicBezTo>
                  <a:pt x="56" y="63"/>
                  <a:pt x="57" y="63"/>
                  <a:pt x="57" y="64"/>
                </a:cubicBezTo>
                <a:cubicBezTo>
                  <a:pt x="57" y="64"/>
                  <a:pt x="57" y="64"/>
                  <a:pt x="57" y="64"/>
                </a:cubicBezTo>
                <a:cubicBezTo>
                  <a:pt x="57" y="65"/>
                  <a:pt x="57" y="65"/>
                  <a:pt x="57" y="66"/>
                </a:cubicBezTo>
                <a:cubicBezTo>
                  <a:pt x="57" y="66"/>
                  <a:pt x="57" y="67"/>
                  <a:pt x="56" y="67"/>
                </a:cubicBezTo>
                <a:cubicBezTo>
                  <a:pt x="56" y="69"/>
                  <a:pt x="56" y="71"/>
                  <a:pt x="55" y="72"/>
                </a:cubicBezTo>
                <a:cubicBezTo>
                  <a:pt x="55" y="72"/>
                  <a:pt x="55" y="72"/>
                  <a:pt x="55" y="72"/>
                </a:cubicBezTo>
                <a:cubicBezTo>
                  <a:pt x="55" y="72"/>
                  <a:pt x="54" y="72"/>
                  <a:pt x="54" y="72"/>
                </a:cubicBezTo>
                <a:cubicBezTo>
                  <a:pt x="54" y="72"/>
                  <a:pt x="54" y="71"/>
                  <a:pt x="54" y="71"/>
                </a:cubicBezTo>
                <a:cubicBezTo>
                  <a:pt x="53" y="71"/>
                  <a:pt x="53" y="71"/>
                  <a:pt x="53" y="71"/>
                </a:cubicBezTo>
                <a:cubicBezTo>
                  <a:pt x="53" y="71"/>
                  <a:pt x="53" y="71"/>
                  <a:pt x="53" y="71"/>
                </a:cubicBezTo>
                <a:cubicBezTo>
                  <a:pt x="53" y="71"/>
                  <a:pt x="53" y="71"/>
                  <a:pt x="52" y="71"/>
                </a:cubicBezTo>
                <a:cubicBezTo>
                  <a:pt x="52" y="71"/>
                  <a:pt x="52" y="71"/>
                  <a:pt x="52" y="72"/>
                </a:cubicBezTo>
                <a:cubicBezTo>
                  <a:pt x="52" y="72"/>
                  <a:pt x="52" y="72"/>
                  <a:pt x="52" y="72"/>
                </a:cubicBezTo>
                <a:cubicBezTo>
                  <a:pt x="52" y="73"/>
                  <a:pt x="52" y="73"/>
                  <a:pt x="52" y="73"/>
                </a:cubicBezTo>
                <a:cubicBezTo>
                  <a:pt x="51" y="73"/>
                  <a:pt x="51" y="73"/>
                  <a:pt x="51" y="73"/>
                </a:cubicBezTo>
                <a:cubicBezTo>
                  <a:pt x="51" y="73"/>
                  <a:pt x="51" y="73"/>
                  <a:pt x="51" y="73"/>
                </a:cubicBezTo>
                <a:cubicBezTo>
                  <a:pt x="51" y="72"/>
                  <a:pt x="51" y="72"/>
                  <a:pt x="51" y="71"/>
                </a:cubicBezTo>
                <a:cubicBezTo>
                  <a:pt x="51" y="71"/>
                  <a:pt x="50" y="71"/>
                  <a:pt x="50" y="71"/>
                </a:cubicBezTo>
                <a:cubicBezTo>
                  <a:pt x="50" y="71"/>
                  <a:pt x="50" y="71"/>
                  <a:pt x="50" y="71"/>
                </a:cubicBezTo>
                <a:cubicBezTo>
                  <a:pt x="50" y="70"/>
                  <a:pt x="50" y="71"/>
                  <a:pt x="51" y="71"/>
                </a:cubicBezTo>
                <a:cubicBezTo>
                  <a:pt x="51" y="70"/>
                  <a:pt x="51" y="70"/>
                  <a:pt x="51" y="70"/>
                </a:cubicBezTo>
                <a:cubicBezTo>
                  <a:pt x="51" y="70"/>
                  <a:pt x="51" y="70"/>
                  <a:pt x="50" y="70"/>
                </a:cubicBezTo>
                <a:cubicBezTo>
                  <a:pt x="50" y="70"/>
                  <a:pt x="50" y="69"/>
                  <a:pt x="50" y="69"/>
                </a:cubicBezTo>
                <a:cubicBezTo>
                  <a:pt x="51" y="69"/>
                  <a:pt x="51" y="69"/>
                  <a:pt x="51" y="69"/>
                </a:cubicBezTo>
                <a:cubicBezTo>
                  <a:pt x="52" y="69"/>
                  <a:pt x="53" y="69"/>
                  <a:pt x="53" y="69"/>
                </a:cubicBezTo>
                <a:cubicBezTo>
                  <a:pt x="53" y="69"/>
                  <a:pt x="53" y="69"/>
                  <a:pt x="53" y="69"/>
                </a:cubicBezTo>
                <a:cubicBezTo>
                  <a:pt x="53" y="69"/>
                  <a:pt x="53" y="69"/>
                  <a:pt x="53" y="70"/>
                </a:cubicBezTo>
                <a:cubicBezTo>
                  <a:pt x="53" y="70"/>
                  <a:pt x="53" y="70"/>
                  <a:pt x="53" y="70"/>
                </a:cubicBezTo>
                <a:cubicBezTo>
                  <a:pt x="54" y="71"/>
                  <a:pt x="54" y="70"/>
                  <a:pt x="55" y="70"/>
                </a:cubicBezTo>
                <a:cubicBezTo>
                  <a:pt x="55" y="70"/>
                  <a:pt x="55" y="70"/>
                  <a:pt x="55" y="69"/>
                </a:cubicBezTo>
                <a:close/>
                <a:moveTo>
                  <a:pt x="84" y="65"/>
                </a:moveTo>
                <a:cubicBezTo>
                  <a:pt x="84" y="65"/>
                  <a:pt x="84" y="66"/>
                  <a:pt x="84" y="66"/>
                </a:cubicBezTo>
                <a:cubicBezTo>
                  <a:pt x="84" y="66"/>
                  <a:pt x="84" y="66"/>
                  <a:pt x="84" y="66"/>
                </a:cubicBezTo>
                <a:cubicBezTo>
                  <a:pt x="85" y="66"/>
                  <a:pt x="85" y="65"/>
                  <a:pt x="85" y="65"/>
                </a:cubicBezTo>
                <a:cubicBezTo>
                  <a:pt x="86" y="64"/>
                  <a:pt x="87" y="63"/>
                  <a:pt x="87" y="63"/>
                </a:cubicBezTo>
                <a:cubicBezTo>
                  <a:pt x="88" y="63"/>
                  <a:pt x="89" y="62"/>
                  <a:pt x="89" y="63"/>
                </a:cubicBezTo>
                <a:cubicBezTo>
                  <a:pt x="90" y="63"/>
                  <a:pt x="89" y="64"/>
                  <a:pt x="88" y="66"/>
                </a:cubicBezTo>
                <a:cubicBezTo>
                  <a:pt x="88" y="66"/>
                  <a:pt x="88" y="67"/>
                  <a:pt x="88" y="67"/>
                </a:cubicBezTo>
                <a:cubicBezTo>
                  <a:pt x="88" y="68"/>
                  <a:pt x="88" y="68"/>
                  <a:pt x="88" y="69"/>
                </a:cubicBezTo>
                <a:cubicBezTo>
                  <a:pt x="88" y="70"/>
                  <a:pt x="88" y="71"/>
                  <a:pt x="87" y="71"/>
                </a:cubicBezTo>
                <a:cubicBezTo>
                  <a:pt x="87" y="71"/>
                  <a:pt x="87" y="71"/>
                  <a:pt x="87" y="71"/>
                </a:cubicBezTo>
                <a:cubicBezTo>
                  <a:pt x="87" y="70"/>
                  <a:pt x="87" y="70"/>
                  <a:pt x="86" y="70"/>
                </a:cubicBezTo>
                <a:cubicBezTo>
                  <a:pt x="86" y="70"/>
                  <a:pt x="86" y="70"/>
                  <a:pt x="85" y="70"/>
                </a:cubicBezTo>
                <a:cubicBezTo>
                  <a:pt x="85" y="70"/>
                  <a:pt x="85" y="70"/>
                  <a:pt x="85" y="70"/>
                </a:cubicBezTo>
                <a:cubicBezTo>
                  <a:pt x="86" y="70"/>
                  <a:pt x="86" y="69"/>
                  <a:pt x="86" y="68"/>
                </a:cubicBezTo>
                <a:cubicBezTo>
                  <a:pt x="86" y="68"/>
                  <a:pt x="85" y="68"/>
                  <a:pt x="85" y="68"/>
                </a:cubicBezTo>
                <a:cubicBezTo>
                  <a:pt x="85" y="68"/>
                  <a:pt x="85" y="68"/>
                  <a:pt x="85" y="68"/>
                </a:cubicBezTo>
                <a:cubicBezTo>
                  <a:pt x="85" y="68"/>
                  <a:pt x="85" y="68"/>
                  <a:pt x="85" y="68"/>
                </a:cubicBezTo>
                <a:cubicBezTo>
                  <a:pt x="85" y="68"/>
                  <a:pt x="86" y="66"/>
                  <a:pt x="86" y="66"/>
                </a:cubicBezTo>
                <a:cubicBezTo>
                  <a:pt x="85" y="66"/>
                  <a:pt x="85" y="66"/>
                  <a:pt x="86" y="66"/>
                </a:cubicBezTo>
                <a:cubicBezTo>
                  <a:pt x="86" y="66"/>
                  <a:pt x="86" y="65"/>
                  <a:pt x="86" y="65"/>
                </a:cubicBezTo>
                <a:cubicBezTo>
                  <a:pt x="86" y="65"/>
                  <a:pt x="86" y="65"/>
                  <a:pt x="86" y="65"/>
                </a:cubicBezTo>
                <a:cubicBezTo>
                  <a:pt x="85" y="66"/>
                  <a:pt x="85" y="67"/>
                  <a:pt x="84" y="68"/>
                </a:cubicBezTo>
                <a:cubicBezTo>
                  <a:pt x="84" y="68"/>
                  <a:pt x="85" y="69"/>
                  <a:pt x="84" y="69"/>
                </a:cubicBezTo>
                <a:cubicBezTo>
                  <a:pt x="84" y="70"/>
                  <a:pt x="84" y="70"/>
                  <a:pt x="84" y="70"/>
                </a:cubicBezTo>
                <a:cubicBezTo>
                  <a:pt x="84" y="69"/>
                  <a:pt x="83" y="69"/>
                  <a:pt x="83" y="69"/>
                </a:cubicBezTo>
                <a:cubicBezTo>
                  <a:pt x="83" y="68"/>
                  <a:pt x="83" y="67"/>
                  <a:pt x="84" y="66"/>
                </a:cubicBezTo>
                <a:cubicBezTo>
                  <a:pt x="84" y="66"/>
                  <a:pt x="84" y="65"/>
                  <a:pt x="84" y="65"/>
                </a:cubicBezTo>
                <a:close/>
                <a:moveTo>
                  <a:pt x="88" y="63"/>
                </a:moveTo>
                <a:cubicBezTo>
                  <a:pt x="88" y="63"/>
                  <a:pt x="88" y="63"/>
                  <a:pt x="88" y="63"/>
                </a:cubicBezTo>
                <a:cubicBezTo>
                  <a:pt x="88" y="63"/>
                  <a:pt x="88" y="64"/>
                  <a:pt x="88" y="64"/>
                </a:cubicBezTo>
                <a:cubicBezTo>
                  <a:pt x="88" y="65"/>
                  <a:pt x="88" y="66"/>
                  <a:pt x="87" y="67"/>
                </a:cubicBezTo>
                <a:cubicBezTo>
                  <a:pt x="87" y="66"/>
                  <a:pt x="87" y="66"/>
                  <a:pt x="87" y="66"/>
                </a:cubicBezTo>
                <a:cubicBezTo>
                  <a:pt x="87" y="66"/>
                  <a:pt x="87" y="65"/>
                  <a:pt x="86" y="65"/>
                </a:cubicBezTo>
                <a:cubicBezTo>
                  <a:pt x="86" y="64"/>
                  <a:pt x="86" y="64"/>
                  <a:pt x="86" y="64"/>
                </a:cubicBezTo>
                <a:cubicBezTo>
                  <a:pt x="87" y="64"/>
                  <a:pt x="87" y="64"/>
                  <a:pt x="87" y="63"/>
                </a:cubicBezTo>
                <a:cubicBezTo>
                  <a:pt x="88" y="63"/>
                  <a:pt x="88" y="63"/>
                  <a:pt x="88" y="63"/>
                </a:cubicBezTo>
                <a:close/>
                <a:moveTo>
                  <a:pt x="87" y="67"/>
                </a:moveTo>
                <a:cubicBezTo>
                  <a:pt x="87" y="67"/>
                  <a:pt x="87" y="69"/>
                  <a:pt x="87" y="69"/>
                </a:cubicBezTo>
                <a:cubicBezTo>
                  <a:pt x="87" y="69"/>
                  <a:pt x="87" y="70"/>
                  <a:pt x="87" y="70"/>
                </a:cubicBezTo>
                <a:cubicBezTo>
                  <a:pt x="87" y="70"/>
                  <a:pt x="87" y="70"/>
                  <a:pt x="86" y="70"/>
                </a:cubicBezTo>
                <a:cubicBezTo>
                  <a:pt x="86" y="69"/>
                  <a:pt x="87" y="68"/>
                  <a:pt x="87" y="68"/>
                </a:cubicBezTo>
                <a:cubicBezTo>
                  <a:pt x="87" y="68"/>
                  <a:pt x="87" y="67"/>
                  <a:pt x="87" y="67"/>
                </a:cubicBezTo>
                <a:close/>
                <a:moveTo>
                  <a:pt x="80" y="70"/>
                </a:moveTo>
                <a:cubicBezTo>
                  <a:pt x="80" y="70"/>
                  <a:pt x="81" y="70"/>
                  <a:pt x="82" y="71"/>
                </a:cubicBezTo>
                <a:cubicBezTo>
                  <a:pt x="82" y="71"/>
                  <a:pt x="83" y="71"/>
                  <a:pt x="83" y="71"/>
                </a:cubicBezTo>
                <a:cubicBezTo>
                  <a:pt x="85" y="72"/>
                  <a:pt x="86" y="72"/>
                  <a:pt x="88" y="72"/>
                </a:cubicBezTo>
                <a:cubicBezTo>
                  <a:pt x="88" y="73"/>
                  <a:pt x="90" y="72"/>
                  <a:pt x="91" y="72"/>
                </a:cubicBezTo>
                <a:cubicBezTo>
                  <a:pt x="91" y="72"/>
                  <a:pt x="91" y="72"/>
                  <a:pt x="91" y="72"/>
                </a:cubicBezTo>
                <a:cubicBezTo>
                  <a:pt x="91" y="72"/>
                  <a:pt x="91" y="72"/>
                  <a:pt x="91" y="73"/>
                </a:cubicBezTo>
                <a:cubicBezTo>
                  <a:pt x="90" y="73"/>
                  <a:pt x="90" y="73"/>
                  <a:pt x="90" y="73"/>
                </a:cubicBezTo>
                <a:cubicBezTo>
                  <a:pt x="89" y="73"/>
                  <a:pt x="89" y="73"/>
                  <a:pt x="89" y="73"/>
                </a:cubicBezTo>
                <a:cubicBezTo>
                  <a:pt x="89" y="73"/>
                  <a:pt x="88" y="74"/>
                  <a:pt x="88" y="74"/>
                </a:cubicBezTo>
                <a:cubicBezTo>
                  <a:pt x="86" y="74"/>
                  <a:pt x="86" y="74"/>
                  <a:pt x="85" y="73"/>
                </a:cubicBezTo>
                <a:cubicBezTo>
                  <a:pt x="84" y="72"/>
                  <a:pt x="83" y="72"/>
                  <a:pt x="82" y="71"/>
                </a:cubicBezTo>
                <a:cubicBezTo>
                  <a:pt x="81" y="71"/>
                  <a:pt x="80" y="71"/>
                  <a:pt x="80" y="70"/>
                </a:cubicBezTo>
                <a:close/>
                <a:moveTo>
                  <a:pt x="82" y="69"/>
                </a:moveTo>
                <a:cubicBezTo>
                  <a:pt x="82" y="69"/>
                  <a:pt x="82" y="69"/>
                  <a:pt x="82" y="69"/>
                </a:cubicBezTo>
                <a:cubicBezTo>
                  <a:pt x="82" y="69"/>
                  <a:pt x="83" y="70"/>
                  <a:pt x="83" y="70"/>
                </a:cubicBezTo>
                <a:cubicBezTo>
                  <a:pt x="83" y="70"/>
                  <a:pt x="83" y="70"/>
                  <a:pt x="83" y="71"/>
                </a:cubicBezTo>
                <a:cubicBezTo>
                  <a:pt x="82" y="71"/>
                  <a:pt x="82" y="71"/>
                  <a:pt x="82" y="71"/>
                </a:cubicBezTo>
                <a:cubicBezTo>
                  <a:pt x="82" y="70"/>
                  <a:pt x="82" y="70"/>
                  <a:pt x="82" y="70"/>
                </a:cubicBezTo>
                <a:cubicBezTo>
                  <a:pt x="82" y="70"/>
                  <a:pt x="82" y="69"/>
                  <a:pt x="82" y="69"/>
                </a:cubicBezTo>
                <a:close/>
                <a:moveTo>
                  <a:pt x="81" y="66"/>
                </a:moveTo>
                <a:cubicBezTo>
                  <a:pt x="82" y="66"/>
                  <a:pt x="83" y="67"/>
                  <a:pt x="83" y="68"/>
                </a:cubicBezTo>
                <a:cubicBezTo>
                  <a:pt x="82" y="68"/>
                  <a:pt x="82" y="68"/>
                  <a:pt x="82" y="68"/>
                </a:cubicBezTo>
                <a:cubicBezTo>
                  <a:pt x="82" y="68"/>
                  <a:pt x="82" y="68"/>
                  <a:pt x="81" y="68"/>
                </a:cubicBezTo>
                <a:cubicBezTo>
                  <a:pt x="81" y="68"/>
                  <a:pt x="81" y="67"/>
                  <a:pt x="81" y="67"/>
                </a:cubicBezTo>
                <a:cubicBezTo>
                  <a:pt x="81" y="67"/>
                  <a:pt x="81" y="66"/>
                  <a:pt x="81" y="66"/>
                </a:cubicBezTo>
                <a:close/>
                <a:moveTo>
                  <a:pt x="86" y="63"/>
                </a:moveTo>
                <a:cubicBezTo>
                  <a:pt x="86" y="63"/>
                  <a:pt x="86" y="63"/>
                  <a:pt x="86" y="63"/>
                </a:cubicBezTo>
                <a:cubicBezTo>
                  <a:pt x="87" y="62"/>
                  <a:pt x="87" y="62"/>
                  <a:pt x="87" y="61"/>
                </a:cubicBezTo>
                <a:cubicBezTo>
                  <a:pt x="87" y="61"/>
                  <a:pt x="87" y="61"/>
                  <a:pt x="87" y="61"/>
                </a:cubicBezTo>
                <a:cubicBezTo>
                  <a:pt x="87" y="61"/>
                  <a:pt x="87" y="61"/>
                  <a:pt x="87" y="60"/>
                </a:cubicBezTo>
                <a:cubicBezTo>
                  <a:pt x="88" y="60"/>
                  <a:pt x="88" y="60"/>
                  <a:pt x="88" y="59"/>
                </a:cubicBezTo>
                <a:cubicBezTo>
                  <a:pt x="88" y="59"/>
                  <a:pt x="88" y="59"/>
                  <a:pt x="88" y="59"/>
                </a:cubicBezTo>
                <a:cubicBezTo>
                  <a:pt x="88" y="59"/>
                  <a:pt x="88" y="59"/>
                  <a:pt x="87" y="60"/>
                </a:cubicBezTo>
                <a:cubicBezTo>
                  <a:pt x="87" y="60"/>
                  <a:pt x="86" y="61"/>
                  <a:pt x="86" y="61"/>
                </a:cubicBezTo>
                <a:cubicBezTo>
                  <a:pt x="85" y="61"/>
                  <a:pt x="85" y="62"/>
                  <a:pt x="85" y="62"/>
                </a:cubicBezTo>
                <a:cubicBezTo>
                  <a:pt x="84" y="62"/>
                  <a:pt x="82" y="62"/>
                  <a:pt x="82" y="62"/>
                </a:cubicBezTo>
                <a:cubicBezTo>
                  <a:pt x="83" y="62"/>
                  <a:pt x="84" y="61"/>
                  <a:pt x="85" y="60"/>
                </a:cubicBezTo>
                <a:cubicBezTo>
                  <a:pt x="85" y="60"/>
                  <a:pt x="86" y="59"/>
                  <a:pt x="87" y="58"/>
                </a:cubicBezTo>
                <a:cubicBezTo>
                  <a:pt x="87" y="58"/>
                  <a:pt x="88" y="58"/>
                  <a:pt x="88" y="58"/>
                </a:cubicBezTo>
                <a:cubicBezTo>
                  <a:pt x="88" y="58"/>
                  <a:pt x="88" y="58"/>
                  <a:pt x="89" y="58"/>
                </a:cubicBezTo>
                <a:cubicBezTo>
                  <a:pt x="89" y="58"/>
                  <a:pt x="89" y="57"/>
                  <a:pt x="89" y="57"/>
                </a:cubicBezTo>
                <a:cubicBezTo>
                  <a:pt x="89" y="57"/>
                  <a:pt x="89" y="57"/>
                  <a:pt x="90" y="57"/>
                </a:cubicBezTo>
                <a:cubicBezTo>
                  <a:pt x="90" y="57"/>
                  <a:pt x="90" y="57"/>
                  <a:pt x="90" y="57"/>
                </a:cubicBezTo>
                <a:cubicBezTo>
                  <a:pt x="90" y="58"/>
                  <a:pt x="90" y="58"/>
                  <a:pt x="90" y="58"/>
                </a:cubicBezTo>
                <a:cubicBezTo>
                  <a:pt x="90" y="58"/>
                  <a:pt x="90" y="59"/>
                  <a:pt x="90" y="59"/>
                </a:cubicBezTo>
                <a:cubicBezTo>
                  <a:pt x="89" y="59"/>
                  <a:pt x="89" y="59"/>
                  <a:pt x="89" y="59"/>
                </a:cubicBezTo>
                <a:cubicBezTo>
                  <a:pt x="89" y="60"/>
                  <a:pt x="89" y="60"/>
                  <a:pt x="88" y="61"/>
                </a:cubicBezTo>
                <a:cubicBezTo>
                  <a:pt x="88" y="61"/>
                  <a:pt x="88" y="61"/>
                  <a:pt x="88" y="61"/>
                </a:cubicBezTo>
                <a:cubicBezTo>
                  <a:pt x="88" y="61"/>
                  <a:pt x="89" y="61"/>
                  <a:pt x="89" y="61"/>
                </a:cubicBezTo>
                <a:cubicBezTo>
                  <a:pt x="89" y="61"/>
                  <a:pt x="89" y="61"/>
                  <a:pt x="89" y="62"/>
                </a:cubicBezTo>
                <a:cubicBezTo>
                  <a:pt x="88" y="62"/>
                  <a:pt x="87" y="63"/>
                  <a:pt x="86" y="63"/>
                </a:cubicBezTo>
                <a:close/>
                <a:moveTo>
                  <a:pt x="70" y="65"/>
                </a:moveTo>
                <a:cubicBezTo>
                  <a:pt x="70" y="65"/>
                  <a:pt x="70" y="65"/>
                  <a:pt x="70" y="65"/>
                </a:cubicBezTo>
                <a:cubicBezTo>
                  <a:pt x="70" y="66"/>
                  <a:pt x="70" y="66"/>
                  <a:pt x="71" y="66"/>
                </a:cubicBezTo>
                <a:cubicBezTo>
                  <a:pt x="71" y="66"/>
                  <a:pt x="71" y="66"/>
                  <a:pt x="71" y="67"/>
                </a:cubicBezTo>
                <a:cubicBezTo>
                  <a:pt x="71" y="67"/>
                  <a:pt x="71" y="67"/>
                  <a:pt x="71" y="68"/>
                </a:cubicBezTo>
                <a:cubicBezTo>
                  <a:pt x="71" y="68"/>
                  <a:pt x="70" y="68"/>
                  <a:pt x="70" y="68"/>
                </a:cubicBezTo>
                <a:cubicBezTo>
                  <a:pt x="71" y="69"/>
                  <a:pt x="71" y="69"/>
                  <a:pt x="71" y="69"/>
                </a:cubicBezTo>
                <a:cubicBezTo>
                  <a:pt x="71" y="70"/>
                  <a:pt x="72" y="71"/>
                  <a:pt x="73" y="71"/>
                </a:cubicBezTo>
                <a:cubicBezTo>
                  <a:pt x="73" y="71"/>
                  <a:pt x="73" y="72"/>
                  <a:pt x="73" y="72"/>
                </a:cubicBezTo>
                <a:cubicBezTo>
                  <a:pt x="74" y="72"/>
                  <a:pt x="75" y="72"/>
                  <a:pt x="75" y="73"/>
                </a:cubicBezTo>
                <a:cubicBezTo>
                  <a:pt x="75" y="73"/>
                  <a:pt x="75" y="73"/>
                  <a:pt x="75" y="73"/>
                </a:cubicBezTo>
                <a:cubicBezTo>
                  <a:pt x="75" y="73"/>
                  <a:pt x="74" y="73"/>
                  <a:pt x="74" y="73"/>
                </a:cubicBezTo>
                <a:cubicBezTo>
                  <a:pt x="74" y="73"/>
                  <a:pt x="73" y="73"/>
                  <a:pt x="73" y="73"/>
                </a:cubicBezTo>
                <a:cubicBezTo>
                  <a:pt x="73" y="74"/>
                  <a:pt x="72" y="73"/>
                  <a:pt x="72" y="73"/>
                </a:cubicBezTo>
                <a:cubicBezTo>
                  <a:pt x="71" y="72"/>
                  <a:pt x="71" y="72"/>
                  <a:pt x="70" y="71"/>
                </a:cubicBezTo>
                <a:cubicBezTo>
                  <a:pt x="70" y="71"/>
                  <a:pt x="70" y="70"/>
                  <a:pt x="69" y="69"/>
                </a:cubicBezTo>
                <a:cubicBezTo>
                  <a:pt x="69" y="69"/>
                  <a:pt x="69" y="69"/>
                  <a:pt x="69" y="69"/>
                </a:cubicBezTo>
                <a:cubicBezTo>
                  <a:pt x="68" y="71"/>
                  <a:pt x="67" y="71"/>
                  <a:pt x="66" y="72"/>
                </a:cubicBezTo>
                <a:cubicBezTo>
                  <a:pt x="65" y="73"/>
                  <a:pt x="64" y="73"/>
                  <a:pt x="63" y="73"/>
                </a:cubicBezTo>
                <a:cubicBezTo>
                  <a:pt x="63" y="73"/>
                  <a:pt x="63" y="73"/>
                  <a:pt x="63" y="73"/>
                </a:cubicBezTo>
                <a:cubicBezTo>
                  <a:pt x="63" y="73"/>
                  <a:pt x="63" y="73"/>
                  <a:pt x="63" y="73"/>
                </a:cubicBezTo>
                <a:cubicBezTo>
                  <a:pt x="63" y="73"/>
                  <a:pt x="64" y="73"/>
                  <a:pt x="64" y="73"/>
                </a:cubicBezTo>
                <a:cubicBezTo>
                  <a:pt x="64" y="73"/>
                  <a:pt x="65" y="72"/>
                  <a:pt x="65" y="72"/>
                </a:cubicBezTo>
                <a:cubicBezTo>
                  <a:pt x="66" y="72"/>
                  <a:pt x="66" y="71"/>
                  <a:pt x="66" y="71"/>
                </a:cubicBezTo>
                <a:cubicBezTo>
                  <a:pt x="67" y="70"/>
                  <a:pt x="67" y="70"/>
                  <a:pt x="67" y="70"/>
                </a:cubicBezTo>
                <a:cubicBezTo>
                  <a:pt x="68" y="69"/>
                  <a:pt x="68" y="68"/>
                  <a:pt x="68" y="68"/>
                </a:cubicBezTo>
                <a:cubicBezTo>
                  <a:pt x="68" y="67"/>
                  <a:pt x="67" y="66"/>
                  <a:pt x="67" y="66"/>
                </a:cubicBezTo>
                <a:cubicBezTo>
                  <a:pt x="68" y="66"/>
                  <a:pt x="69" y="67"/>
                  <a:pt x="69" y="67"/>
                </a:cubicBezTo>
                <a:cubicBezTo>
                  <a:pt x="69" y="67"/>
                  <a:pt x="69" y="67"/>
                  <a:pt x="69" y="67"/>
                </a:cubicBezTo>
                <a:cubicBezTo>
                  <a:pt x="69" y="67"/>
                  <a:pt x="69" y="67"/>
                  <a:pt x="69" y="67"/>
                </a:cubicBezTo>
                <a:cubicBezTo>
                  <a:pt x="69" y="67"/>
                  <a:pt x="70" y="66"/>
                  <a:pt x="70" y="65"/>
                </a:cubicBezTo>
                <a:close/>
                <a:moveTo>
                  <a:pt x="71" y="64"/>
                </a:moveTo>
                <a:cubicBezTo>
                  <a:pt x="71" y="64"/>
                  <a:pt x="71" y="63"/>
                  <a:pt x="71" y="63"/>
                </a:cubicBezTo>
                <a:cubicBezTo>
                  <a:pt x="71" y="63"/>
                  <a:pt x="71" y="63"/>
                  <a:pt x="71" y="63"/>
                </a:cubicBezTo>
                <a:cubicBezTo>
                  <a:pt x="71" y="63"/>
                  <a:pt x="71" y="63"/>
                  <a:pt x="71" y="63"/>
                </a:cubicBezTo>
                <a:cubicBezTo>
                  <a:pt x="70" y="63"/>
                  <a:pt x="70" y="64"/>
                  <a:pt x="69" y="64"/>
                </a:cubicBezTo>
                <a:cubicBezTo>
                  <a:pt x="69" y="65"/>
                  <a:pt x="68" y="65"/>
                  <a:pt x="67" y="65"/>
                </a:cubicBezTo>
                <a:cubicBezTo>
                  <a:pt x="67" y="65"/>
                  <a:pt x="66" y="66"/>
                  <a:pt x="66" y="65"/>
                </a:cubicBezTo>
                <a:cubicBezTo>
                  <a:pt x="66" y="65"/>
                  <a:pt x="66" y="65"/>
                  <a:pt x="66" y="65"/>
                </a:cubicBezTo>
                <a:cubicBezTo>
                  <a:pt x="66" y="64"/>
                  <a:pt x="67" y="64"/>
                  <a:pt x="67" y="64"/>
                </a:cubicBezTo>
                <a:cubicBezTo>
                  <a:pt x="67" y="64"/>
                  <a:pt x="68" y="63"/>
                  <a:pt x="68" y="63"/>
                </a:cubicBezTo>
                <a:cubicBezTo>
                  <a:pt x="68" y="63"/>
                  <a:pt x="68" y="63"/>
                  <a:pt x="68" y="63"/>
                </a:cubicBezTo>
                <a:cubicBezTo>
                  <a:pt x="68" y="63"/>
                  <a:pt x="68" y="63"/>
                  <a:pt x="68" y="63"/>
                </a:cubicBezTo>
                <a:cubicBezTo>
                  <a:pt x="69" y="63"/>
                  <a:pt x="69" y="63"/>
                  <a:pt x="69" y="63"/>
                </a:cubicBezTo>
                <a:cubicBezTo>
                  <a:pt x="70" y="63"/>
                  <a:pt x="71" y="62"/>
                  <a:pt x="72" y="62"/>
                </a:cubicBezTo>
                <a:cubicBezTo>
                  <a:pt x="72" y="62"/>
                  <a:pt x="72" y="63"/>
                  <a:pt x="72" y="63"/>
                </a:cubicBezTo>
                <a:cubicBezTo>
                  <a:pt x="72" y="63"/>
                  <a:pt x="72" y="63"/>
                  <a:pt x="73" y="63"/>
                </a:cubicBezTo>
                <a:cubicBezTo>
                  <a:pt x="73" y="63"/>
                  <a:pt x="72" y="64"/>
                  <a:pt x="72" y="64"/>
                </a:cubicBezTo>
                <a:cubicBezTo>
                  <a:pt x="72" y="64"/>
                  <a:pt x="71" y="64"/>
                  <a:pt x="71" y="64"/>
                </a:cubicBezTo>
                <a:close/>
                <a:moveTo>
                  <a:pt x="69" y="58"/>
                </a:moveTo>
                <a:cubicBezTo>
                  <a:pt x="69" y="58"/>
                  <a:pt x="71" y="58"/>
                  <a:pt x="71" y="59"/>
                </a:cubicBezTo>
                <a:cubicBezTo>
                  <a:pt x="71" y="59"/>
                  <a:pt x="71" y="59"/>
                  <a:pt x="71" y="60"/>
                </a:cubicBezTo>
                <a:cubicBezTo>
                  <a:pt x="71" y="60"/>
                  <a:pt x="72" y="60"/>
                  <a:pt x="73" y="59"/>
                </a:cubicBezTo>
                <a:cubicBezTo>
                  <a:pt x="73" y="59"/>
                  <a:pt x="73" y="59"/>
                  <a:pt x="73" y="59"/>
                </a:cubicBezTo>
                <a:cubicBezTo>
                  <a:pt x="73" y="59"/>
                  <a:pt x="74" y="59"/>
                  <a:pt x="74" y="59"/>
                </a:cubicBezTo>
                <a:cubicBezTo>
                  <a:pt x="74" y="59"/>
                  <a:pt x="74" y="59"/>
                  <a:pt x="74" y="60"/>
                </a:cubicBezTo>
                <a:cubicBezTo>
                  <a:pt x="74" y="60"/>
                  <a:pt x="74" y="60"/>
                  <a:pt x="74" y="60"/>
                </a:cubicBezTo>
                <a:cubicBezTo>
                  <a:pt x="73" y="60"/>
                  <a:pt x="72" y="61"/>
                  <a:pt x="70" y="61"/>
                </a:cubicBezTo>
                <a:cubicBezTo>
                  <a:pt x="70" y="61"/>
                  <a:pt x="70" y="61"/>
                  <a:pt x="70" y="61"/>
                </a:cubicBezTo>
                <a:cubicBezTo>
                  <a:pt x="71" y="61"/>
                  <a:pt x="71" y="61"/>
                  <a:pt x="71" y="61"/>
                </a:cubicBezTo>
                <a:cubicBezTo>
                  <a:pt x="71" y="61"/>
                  <a:pt x="71" y="61"/>
                  <a:pt x="71" y="61"/>
                </a:cubicBezTo>
                <a:cubicBezTo>
                  <a:pt x="71" y="61"/>
                  <a:pt x="71" y="61"/>
                  <a:pt x="71" y="61"/>
                </a:cubicBezTo>
                <a:cubicBezTo>
                  <a:pt x="71" y="61"/>
                  <a:pt x="70" y="61"/>
                  <a:pt x="70" y="61"/>
                </a:cubicBezTo>
                <a:cubicBezTo>
                  <a:pt x="69" y="61"/>
                  <a:pt x="68" y="62"/>
                  <a:pt x="67" y="62"/>
                </a:cubicBezTo>
                <a:cubicBezTo>
                  <a:pt x="67" y="61"/>
                  <a:pt x="67" y="61"/>
                  <a:pt x="67" y="61"/>
                </a:cubicBezTo>
                <a:cubicBezTo>
                  <a:pt x="68" y="61"/>
                  <a:pt x="69" y="60"/>
                  <a:pt x="69" y="59"/>
                </a:cubicBezTo>
                <a:cubicBezTo>
                  <a:pt x="69" y="59"/>
                  <a:pt x="69" y="58"/>
                  <a:pt x="69" y="58"/>
                </a:cubicBezTo>
                <a:close/>
                <a:moveTo>
                  <a:pt x="104" y="59"/>
                </a:moveTo>
                <a:cubicBezTo>
                  <a:pt x="105" y="59"/>
                  <a:pt x="105" y="59"/>
                  <a:pt x="105" y="60"/>
                </a:cubicBezTo>
                <a:cubicBezTo>
                  <a:pt x="105" y="60"/>
                  <a:pt x="105" y="60"/>
                  <a:pt x="105" y="60"/>
                </a:cubicBezTo>
                <a:cubicBezTo>
                  <a:pt x="105" y="61"/>
                  <a:pt x="105" y="61"/>
                  <a:pt x="105" y="61"/>
                </a:cubicBezTo>
                <a:cubicBezTo>
                  <a:pt x="105" y="61"/>
                  <a:pt x="104" y="62"/>
                  <a:pt x="104" y="62"/>
                </a:cubicBezTo>
                <a:cubicBezTo>
                  <a:pt x="104" y="63"/>
                  <a:pt x="104" y="63"/>
                  <a:pt x="104" y="63"/>
                </a:cubicBezTo>
                <a:cubicBezTo>
                  <a:pt x="104" y="63"/>
                  <a:pt x="104" y="63"/>
                  <a:pt x="105" y="63"/>
                </a:cubicBezTo>
                <a:cubicBezTo>
                  <a:pt x="105" y="63"/>
                  <a:pt x="105" y="63"/>
                  <a:pt x="105" y="63"/>
                </a:cubicBezTo>
                <a:cubicBezTo>
                  <a:pt x="105" y="63"/>
                  <a:pt x="106" y="63"/>
                  <a:pt x="106" y="63"/>
                </a:cubicBezTo>
                <a:cubicBezTo>
                  <a:pt x="106" y="63"/>
                  <a:pt x="106" y="63"/>
                  <a:pt x="106" y="63"/>
                </a:cubicBezTo>
                <a:cubicBezTo>
                  <a:pt x="106" y="64"/>
                  <a:pt x="106" y="64"/>
                  <a:pt x="106" y="64"/>
                </a:cubicBezTo>
                <a:cubicBezTo>
                  <a:pt x="106" y="64"/>
                  <a:pt x="105" y="64"/>
                  <a:pt x="105" y="65"/>
                </a:cubicBezTo>
                <a:cubicBezTo>
                  <a:pt x="104" y="65"/>
                  <a:pt x="104" y="65"/>
                  <a:pt x="103" y="65"/>
                </a:cubicBezTo>
                <a:cubicBezTo>
                  <a:pt x="103" y="65"/>
                  <a:pt x="102" y="67"/>
                  <a:pt x="102" y="68"/>
                </a:cubicBezTo>
                <a:cubicBezTo>
                  <a:pt x="103" y="68"/>
                  <a:pt x="103" y="69"/>
                  <a:pt x="105" y="70"/>
                </a:cubicBezTo>
                <a:cubicBezTo>
                  <a:pt x="105" y="70"/>
                  <a:pt x="106" y="70"/>
                  <a:pt x="107" y="70"/>
                </a:cubicBezTo>
                <a:cubicBezTo>
                  <a:pt x="107" y="70"/>
                  <a:pt x="107" y="70"/>
                  <a:pt x="107" y="70"/>
                </a:cubicBezTo>
                <a:cubicBezTo>
                  <a:pt x="107" y="70"/>
                  <a:pt x="107" y="70"/>
                  <a:pt x="107" y="70"/>
                </a:cubicBezTo>
                <a:cubicBezTo>
                  <a:pt x="107" y="71"/>
                  <a:pt x="106" y="71"/>
                  <a:pt x="106" y="71"/>
                </a:cubicBezTo>
                <a:cubicBezTo>
                  <a:pt x="106" y="71"/>
                  <a:pt x="106" y="71"/>
                  <a:pt x="106" y="72"/>
                </a:cubicBezTo>
                <a:cubicBezTo>
                  <a:pt x="105" y="72"/>
                  <a:pt x="105" y="72"/>
                  <a:pt x="104" y="72"/>
                </a:cubicBezTo>
                <a:cubicBezTo>
                  <a:pt x="104" y="71"/>
                  <a:pt x="103" y="71"/>
                  <a:pt x="103" y="71"/>
                </a:cubicBezTo>
                <a:cubicBezTo>
                  <a:pt x="103" y="71"/>
                  <a:pt x="103" y="70"/>
                  <a:pt x="102" y="69"/>
                </a:cubicBezTo>
                <a:cubicBezTo>
                  <a:pt x="102" y="69"/>
                  <a:pt x="102" y="69"/>
                  <a:pt x="102" y="69"/>
                </a:cubicBezTo>
                <a:cubicBezTo>
                  <a:pt x="102" y="68"/>
                  <a:pt x="101" y="68"/>
                  <a:pt x="101" y="68"/>
                </a:cubicBezTo>
                <a:cubicBezTo>
                  <a:pt x="101" y="69"/>
                  <a:pt x="100" y="69"/>
                  <a:pt x="100" y="70"/>
                </a:cubicBezTo>
                <a:cubicBezTo>
                  <a:pt x="99" y="71"/>
                  <a:pt x="98" y="71"/>
                  <a:pt x="96" y="72"/>
                </a:cubicBezTo>
                <a:cubicBezTo>
                  <a:pt x="96" y="73"/>
                  <a:pt x="95" y="73"/>
                  <a:pt x="93" y="73"/>
                </a:cubicBezTo>
                <a:cubicBezTo>
                  <a:pt x="93" y="73"/>
                  <a:pt x="93" y="73"/>
                  <a:pt x="93" y="73"/>
                </a:cubicBezTo>
                <a:cubicBezTo>
                  <a:pt x="94" y="73"/>
                  <a:pt x="95" y="72"/>
                  <a:pt x="95" y="72"/>
                </a:cubicBezTo>
                <a:cubicBezTo>
                  <a:pt x="97" y="71"/>
                  <a:pt x="98" y="69"/>
                  <a:pt x="99" y="68"/>
                </a:cubicBezTo>
                <a:cubicBezTo>
                  <a:pt x="100" y="67"/>
                  <a:pt x="100" y="66"/>
                  <a:pt x="100" y="65"/>
                </a:cubicBezTo>
                <a:cubicBezTo>
                  <a:pt x="100" y="65"/>
                  <a:pt x="99" y="64"/>
                  <a:pt x="99" y="64"/>
                </a:cubicBezTo>
                <a:cubicBezTo>
                  <a:pt x="99" y="64"/>
                  <a:pt x="99" y="64"/>
                  <a:pt x="99" y="64"/>
                </a:cubicBezTo>
                <a:cubicBezTo>
                  <a:pt x="100" y="64"/>
                  <a:pt x="101" y="64"/>
                  <a:pt x="102" y="64"/>
                </a:cubicBezTo>
                <a:cubicBezTo>
                  <a:pt x="102" y="63"/>
                  <a:pt x="102" y="63"/>
                  <a:pt x="103" y="62"/>
                </a:cubicBezTo>
                <a:cubicBezTo>
                  <a:pt x="103" y="62"/>
                  <a:pt x="103" y="61"/>
                  <a:pt x="103" y="61"/>
                </a:cubicBezTo>
                <a:cubicBezTo>
                  <a:pt x="103" y="60"/>
                  <a:pt x="104" y="60"/>
                  <a:pt x="104" y="59"/>
                </a:cubicBezTo>
                <a:close/>
                <a:moveTo>
                  <a:pt x="102" y="94"/>
                </a:moveTo>
                <a:cubicBezTo>
                  <a:pt x="102" y="89"/>
                  <a:pt x="102" y="89"/>
                  <a:pt x="102" y="89"/>
                </a:cubicBezTo>
                <a:cubicBezTo>
                  <a:pt x="127" y="89"/>
                  <a:pt x="127" y="89"/>
                  <a:pt x="127" y="89"/>
                </a:cubicBezTo>
                <a:cubicBezTo>
                  <a:pt x="127" y="94"/>
                  <a:pt x="127" y="94"/>
                  <a:pt x="127" y="94"/>
                </a:cubicBezTo>
                <a:cubicBezTo>
                  <a:pt x="102" y="94"/>
                  <a:pt x="102" y="94"/>
                  <a:pt x="102" y="94"/>
                </a:cubicBezTo>
                <a:close/>
                <a:moveTo>
                  <a:pt x="112" y="102"/>
                </a:moveTo>
                <a:cubicBezTo>
                  <a:pt x="112" y="98"/>
                  <a:pt x="112" y="98"/>
                  <a:pt x="112" y="98"/>
                </a:cubicBezTo>
                <a:cubicBezTo>
                  <a:pt x="118" y="98"/>
                  <a:pt x="118" y="98"/>
                  <a:pt x="118" y="98"/>
                </a:cubicBezTo>
                <a:cubicBezTo>
                  <a:pt x="118" y="102"/>
                  <a:pt x="118" y="102"/>
                  <a:pt x="118" y="102"/>
                </a:cubicBezTo>
                <a:cubicBezTo>
                  <a:pt x="112" y="102"/>
                  <a:pt x="112" y="102"/>
                  <a:pt x="112" y="102"/>
                </a:cubicBezTo>
                <a:close/>
                <a:moveTo>
                  <a:pt x="113" y="20"/>
                </a:moveTo>
                <a:cubicBezTo>
                  <a:pt x="113" y="20"/>
                  <a:pt x="113" y="20"/>
                  <a:pt x="113" y="20"/>
                </a:cubicBezTo>
                <a:cubicBezTo>
                  <a:pt x="112" y="20"/>
                  <a:pt x="112" y="20"/>
                  <a:pt x="112" y="20"/>
                </a:cubicBezTo>
                <a:cubicBezTo>
                  <a:pt x="112" y="20"/>
                  <a:pt x="112" y="20"/>
                  <a:pt x="112" y="21"/>
                </a:cubicBezTo>
                <a:cubicBezTo>
                  <a:pt x="112" y="21"/>
                  <a:pt x="112" y="21"/>
                  <a:pt x="112" y="21"/>
                </a:cubicBezTo>
                <a:cubicBezTo>
                  <a:pt x="112" y="21"/>
                  <a:pt x="111" y="21"/>
                  <a:pt x="111" y="21"/>
                </a:cubicBezTo>
                <a:cubicBezTo>
                  <a:pt x="111" y="21"/>
                  <a:pt x="111" y="21"/>
                  <a:pt x="111" y="21"/>
                </a:cubicBezTo>
                <a:cubicBezTo>
                  <a:pt x="111" y="21"/>
                  <a:pt x="111" y="21"/>
                  <a:pt x="111" y="21"/>
                </a:cubicBezTo>
                <a:cubicBezTo>
                  <a:pt x="111" y="19"/>
                  <a:pt x="111" y="19"/>
                  <a:pt x="111" y="19"/>
                </a:cubicBezTo>
                <a:cubicBezTo>
                  <a:pt x="111" y="19"/>
                  <a:pt x="111" y="19"/>
                  <a:pt x="111"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lose/>
                <a:moveTo>
                  <a:pt x="113" y="18"/>
                </a:move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2" y="19"/>
                  <a:pt x="112" y="19"/>
                </a:cubicBezTo>
                <a:cubicBezTo>
                  <a:pt x="112" y="18"/>
                  <a:pt x="112" y="18"/>
                  <a:pt x="111" y="18"/>
                </a:cubicBezTo>
                <a:cubicBezTo>
                  <a:pt x="111" y="18"/>
                  <a:pt x="111" y="18"/>
                  <a:pt x="111" y="18"/>
                </a:cubicBezTo>
                <a:cubicBezTo>
                  <a:pt x="111" y="18"/>
                  <a:pt x="111" y="18"/>
                  <a:pt x="111" y="18"/>
                </a:cubicBezTo>
                <a:cubicBezTo>
                  <a:pt x="111" y="18"/>
                  <a:pt x="111" y="18"/>
                  <a:pt x="111" y="18"/>
                </a:cubicBezTo>
                <a:cubicBezTo>
                  <a:pt x="111" y="18"/>
                  <a:pt x="111" y="18"/>
                  <a:pt x="111" y="18"/>
                </a:cubicBezTo>
                <a:cubicBezTo>
                  <a:pt x="111" y="17"/>
                  <a:pt x="111" y="17"/>
                  <a:pt x="111" y="17"/>
                </a:cubicBezTo>
                <a:cubicBezTo>
                  <a:pt x="111" y="17"/>
                  <a:pt x="112" y="17"/>
                  <a:pt x="112"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lose/>
                <a:moveTo>
                  <a:pt x="92" y="11"/>
                </a:moveTo>
                <a:cubicBezTo>
                  <a:pt x="92" y="11"/>
                  <a:pt x="92" y="11"/>
                  <a:pt x="92" y="11"/>
                </a:cubicBezTo>
                <a:cubicBezTo>
                  <a:pt x="92" y="11"/>
                  <a:pt x="92" y="11"/>
                  <a:pt x="92" y="11"/>
                </a:cubicBezTo>
                <a:cubicBezTo>
                  <a:pt x="92" y="11"/>
                  <a:pt x="92" y="11"/>
                  <a:pt x="92" y="11"/>
                </a:cubicBezTo>
                <a:close/>
                <a:moveTo>
                  <a:pt x="88" y="29"/>
                </a:move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7" y="29"/>
                  <a:pt x="87" y="29"/>
                  <a:pt x="87" y="29"/>
                </a:cubicBezTo>
                <a:cubicBezTo>
                  <a:pt x="87" y="28"/>
                  <a:pt x="87" y="28"/>
                  <a:pt x="87" y="28"/>
                </a:cubicBezTo>
                <a:cubicBezTo>
                  <a:pt x="87" y="28"/>
                  <a:pt x="87" y="28"/>
                  <a:pt x="87" y="28"/>
                </a:cubicBezTo>
                <a:cubicBezTo>
                  <a:pt x="87" y="28"/>
                  <a:pt x="87" y="27"/>
                  <a:pt x="87" y="27"/>
                </a:cubicBezTo>
                <a:cubicBezTo>
                  <a:pt x="87" y="27"/>
                  <a:pt x="87" y="26"/>
                  <a:pt x="87" y="26"/>
                </a:cubicBezTo>
                <a:cubicBezTo>
                  <a:pt x="87" y="26"/>
                  <a:pt x="87" y="26"/>
                  <a:pt x="87" y="26"/>
                </a:cubicBezTo>
                <a:cubicBezTo>
                  <a:pt x="87" y="26"/>
                  <a:pt x="87" y="25"/>
                  <a:pt x="86" y="25"/>
                </a:cubicBezTo>
                <a:cubicBezTo>
                  <a:pt x="86" y="25"/>
                  <a:pt x="86" y="24"/>
                  <a:pt x="86" y="24"/>
                </a:cubicBezTo>
                <a:cubicBezTo>
                  <a:pt x="86" y="23"/>
                  <a:pt x="86" y="23"/>
                  <a:pt x="86" y="22"/>
                </a:cubicBezTo>
                <a:cubicBezTo>
                  <a:pt x="86" y="22"/>
                  <a:pt x="86" y="21"/>
                  <a:pt x="86" y="21"/>
                </a:cubicBezTo>
                <a:cubicBezTo>
                  <a:pt x="86" y="18"/>
                  <a:pt x="86" y="18"/>
                  <a:pt x="86" y="18"/>
                </a:cubicBezTo>
                <a:cubicBezTo>
                  <a:pt x="86" y="17"/>
                  <a:pt x="86" y="17"/>
                  <a:pt x="86" y="17"/>
                </a:cubicBezTo>
                <a:cubicBezTo>
                  <a:pt x="86" y="16"/>
                  <a:pt x="86" y="16"/>
                  <a:pt x="86" y="16"/>
                </a:cubicBezTo>
                <a:cubicBezTo>
                  <a:pt x="86" y="16"/>
                  <a:pt x="86" y="16"/>
                  <a:pt x="86" y="16"/>
                </a:cubicBezTo>
                <a:cubicBezTo>
                  <a:pt x="86" y="15"/>
                  <a:pt x="86" y="15"/>
                  <a:pt x="86" y="15"/>
                </a:cubicBezTo>
                <a:cubicBezTo>
                  <a:pt x="86" y="14"/>
                  <a:pt x="86" y="14"/>
                  <a:pt x="86" y="14"/>
                </a:cubicBezTo>
                <a:cubicBezTo>
                  <a:pt x="86" y="14"/>
                  <a:pt x="86" y="14"/>
                  <a:pt x="86" y="14"/>
                </a:cubicBezTo>
                <a:cubicBezTo>
                  <a:pt x="86" y="14"/>
                  <a:pt x="86" y="14"/>
                  <a:pt x="86" y="14"/>
                </a:cubicBezTo>
                <a:cubicBezTo>
                  <a:pt x="86" y="14"/>
                  <a:pt x="86" y="14"/>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8" y="13"/>
                </a:cubicBezTo>
                <a:cubicBezTo>
                  <a:pt x="88" y="13"/>
                  <a:pt x="88" y="13"/>
                  <a:pt x="88" y="13"/>
                </a:cubicBezTo>
                <a:cubicBezTo>
                  <a:pt x="88" y="13"/>
                  <a:pt x="88" y="13"/>
                  <a:pt x="88" y="13"/>
                </a:cubicBezTo>
                <a:cubicBezTo>
                  <a:pt x="88" y="13"/>
                  <a:pt x="88" y="13"/>
                  <a:pt x="88" y="13"/>
                </a:cubicBezTo>
                <a:cubicBezTo>
                  <a:pt x="88" y="13"/>
                  <a:pt x="88" y="13"/>
                  <a:pt x="88" y="13"/>
                </a:cubicBezTo>
                <a:cubicBezTo>
                  <a:pt x="88" y="13"/>
                  <a:pt x="88" y="14"/>
                  <a:pt x="88" y="14"/>
                </a:cubicBezTo>
                <a:cubicBezTo>
                  <a:pt x="88" y="14"/>
                  <a:pt x="88" y="14"/>
                  <a:pt x="88" y="14"/>
                </a:cubicBezTo>
                <a:cubicBezTo>
                  <a:pt x="88" y="14"/>
                  <a:pt x="88" y="14"/>
                  <a:pt x="88" y="14"/>
                </a:cubicBezTo>
                <a:cubicBezTo>
                  <a:pt x="88" y="14"/>
                  <a:pt x="88" y="14"/>
                  <a:pt x="88" y="14"/>
                </a:cubicBezTo>
                <a:cubicBezTo>
                  <a:pt x="88" y="14"/>
                  <a:pt x="88" y="15"/>
                  <a:pt x="88" y="16"/>
                </a:cubicBezTo>
                <a:cubicBezTo>
                  <a:pt x="88" y="16"/>
                  <a:pt x="88" y="17"/>
                  <a:pt x="88" y="18"/>
                </a:cubicBezTo>
                <a:cubicBezTo>
                  <a:pt x="88" y="18"/>
                  <a:pt x="88" y="18"/>
                  <a:pt x="88" y="18"/>
                </a:cubicBezTo>
                <a:cubicBezTo>
                  <a:pt x="88" y="20"/>
                  <a:pt x="88" y="20"/>
                  <a:pt x="88" y="20"/>
                </a:cubicBezTo>
                <a:cubicBezTo>
                  <a:pt x="88" y="21"/>
                  <a:pt x="88" y="21"/>
                  <a:pt x="88" y="22"/>
                </a:cubicBezTo>
                <a:cubicBezTo>
                  <a:pt x="88" y="23"/>
                  <a:pt x="88" y="23"/>
                  <a:pt x="88" y="24"/>
                </a:cubicBezTo>
                <a:cubicBezTo>
                  <a:pt x="88" y="24"/>
                  <a:pt x="88" y="24"/>
                  <a:pt x="88" y="25"/>
                </a:cubicBezTo>
                <a:cubicBezTo>
                  <a:pt x="88" y="25"/>
                  <a:pt x="88" y="26"/>
                  <a:pt x="88" y="26"/>
                </a:cubicBezTo>
                <a:cubicBezTo>
                  <a:pt x="88" y="26"/>
                  <a:pt x="88" y="26"/>
                  <a:pt x="88" y="26"/>
                </a:cubicBezTo>
                <a:cubicBezTo>
                  <a:pt x="88" y="26"/>
                  <a:pt x="88" y="27"/>
                  <a:pt x="88" y="27"/>
                </a:cubicBezTo>
                <a:cubicBezTo>
                  <a:pt x="88" y="27"/>
                  <a:pt x="88" y="27"/>
                  <a:pt x="88" y="27"/>
                </a:cubicBezTo>
                <a:cubicBezTo>
                  <a:pt x="88" y="27"/>
                  <a:pt x="88" y="27"/>
                  <a:pt x="88" y="27"/>
                </a:cubicBezTo>
                <a:cubicBezTo>
                  <a:pt x="89" y="28"/>
                  <a:pt x="89" y="28"/>
                  <a:pt x="89" y="28"/>
                </a:cubicBezTo>
                <a:cubicBezTo>
                  <a:pt x="89" y="27"/>
                  <a:pt x="90" y="27"/>
                  <a:pt x="90" y="26"/>
                </a:cubicBezTo>
                <a:cubicBezTo>
                  <a:pt x="90" y="26"/>
                  <a:pt x="90" y="25"/>
                  <a:pt x="91" y="25"/>
                </a:cubicBezTo>
                <a:cubicBezTo>
                  <a:pt x="91" y="25"/>
                  <a:pt x="91" y="25"/>
                  <a:pt x="91" y="25"/>
                </a:cubicBezTo>
                <a:cubicBezTo>
                  <a:pt x="91" y="25"/>
                  <a:pt x="91" y="25"/>
                  <a:pt x="91" y="25"/>
                </a:cubicBezTo>
                <a:cubicBezTo>
                  <a:pt x="91" y="25"/>
                  <a:pt x="91" y="25"/>
                  <a:pt x="91" y="25"/>
                </a:cubicBezTo>
                <a:cubicBezTo>
                  <a:pt x="91" y="24"/>
                  <a:pt x="91" y="24"/>
                  <a:pt x="91" y="24"/>
                </a:cubicBezTo>
                <a:cubicBezTo>
                  <a:pt x="91" y="24"/>
                  <a:pt x="91" y="24"/>
                  <a:pt x="91" y="24"/>
                </a:cubicBezTo>
                <a:cubicBezTo>
                  <a:pt x="91" y="24"/>
                  <a:pt x="91" y="24"/>
                  <a:pt x="91" y="24"/>
                </a:cubicBezTo>
                <a:cubicBezTo>
                  <a:pt x="91" y="23"/>
                  <a:pt x="91" y="23"/>
                  <a:pt x="91" y="23"/>
                </a:cubicBezTo>
                <a:cubicBezTo>
                  <a:pt x="91" y="23"/>
                  <a:pt x="91" y="23"/>
                  <a:pt x="91" y="23"/>
                </a:cubicBezTo>
                <a:cubicBezTo>
                  <a:pt x="91" y="23"/>
                  <a:pt x="91" y="23"/>
                  <a:pt x="91" y="23"/>
                </a:cubicBezTo>
                <a:cubicBezTo>
                  <a:pt x="91" y="22"/>
                  <a:pt x="91" y="22"/>
                  <a:pt x="91" y="22"/>
                </a:cubicBezTo>
                <a:cubicBezTo>
                  <a:pt x="91" y="19"/>
                  <a:pt x="91" y="19"/>
                  <a:pt x="91" y="19"/>
                </a:cubicBezTo>
                <a:cubicBezTo>
                  <a:pt x="91" y="19"/>
                  <a:pt x="91" y="19"/>
                  <a:pt x="91" y="19"/>
                </a:cubicBezTo>
                <a:cubicBezTo>
                  <a:pt x="91" y="15"/>
                  <a:pt x="91" y="15"/>
                  <a:pt x="91" y="15"/>
                </a:cubicBezTo>
                <a:cubicBezTo>
                  <a:pt x="91" y="14"/>
                  <a:pt x="91" y="14"/>
                  <a:pt x="91" y="13"/>
                </a:cubicBezTo>
                <a:cubicBezTo>
                  <a:pt x="91" y="13"/>
                  <a:pt x="91" y="13"/>
                  <a:pt x="91" y="12"/>
                </a:cubicBezTo>
                <a:cubicBezTo>
                  <a:pt x="91" y="12"/>
                  <a:pt x="91"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3" y="11"/>
                  <a:pt x="93" y="11"/>
                </a:cubicBezTo>
                <a:cubicBezTo>
                  <a:pt x="93" y="11"/>
                  <a:pt x="93" y="11"/>
                  <a:pt x="93" y="11"/>
                </a:cubicBezTo>
                <a:cubicBezTo>
                  <a:pt x="93" y="11"/>
                  <a:pt x="93" y="12"/>
                  <a:pt x="93" y="12"/>
                </a:cubicBezTo>
                <a:cubicBezTo>
                  <a:pt x="93" y="12"/>
                  <a:pt x="93" y="12"/>
                  <a:pt x="93" y="12"/>
                </a:cubicBezTo>
                <a:cubicBezTo>
                  <a:pt x="93" y="12"/>
                  <a:pt x="93" y="13"/>
                  <a:pt x="93" y="13"/>
                </a:cubicBezTo>
                <a:cubicBezTo>
                  <a:pt x="93" y="13"/>
                  <a:pt x="93" y="13"/>
                  <a:pt x="93" y="14"/>
                </a:cubicBezTo>
                <a:cubicBezTo>
                  <a:pt x="93" y="14"/>
                  <a:pt x="93" y="14"/>
                  <a:pt x="93" y="14"/>
                </a:cubicBezTo>
                <a:cubicBezTo>
                  <a:pt x="93" y="18"/>
                  <a:pt x="93" y="18"/>
                  <a:pt x="93" y="18"/>
                </a:cubicBezTo>
                <a:cubicBezTo>
                  <a:pt x="93" y="20"/>
                  <a:pt x="93" y="20"/>
                  <a:pt x="93" y="20"/>
                </a:cubicBezTo>
                <a:cubicBezTo>
                  <a:pt x="93" y="20"/>
                  <a:pt x="93" y="20"/>
                  <a:pt x="93" y="20"/>
                </a:cubicBezTo>
                <a:cubicBezTo>
                  <a:pt x="93" y="21"/>
                  <a:pt x="93" y="21"/>
                  <a:pt x="93" y="21"/>
                </a:cubicBezTo>
                <a:cubicBezTo>
                  <a:pt x="93" y="22"/>
                  <a:pt x="93" y="22"/>
                  <a:pt x="93" y="22"/>
                </a:cubicBezTo>
                <a:cubicBezTo>
                  <a:pt x="93" y="23"/>
                  <a:pt x="93" y="23"/>
                  <a:pt x="93" y="23"/>
                </a:cubicBezTo>
                <a:cubicBezTo>
                  <a:pt x="93" y="23"/>
                  <a:pt x="93" y="23"/>
                  <a:pt x="93" y="23"/>
                </a:cubicBezTo>
                <a:cubicBezTo>
                  <a:pt x="93" y="23"/>
                  <a:pt x="93" y="23"/>
                  <a:pt x="93" y="23"/>
                </a:cubicBezTo>
                <a:cubicBezTo>
                  <a:pt x="93" y="23"/>
                  <a:pt x="93" y="24"/>
                  <a:pt x="93" y="24"/>
                </a:cubicBezTo>
                <a:cubicBezTo>
                  <a:pt x="93" y="24"/>
                  <a:pt x="93" y="24"/>
                  <a:pt x="93" y="24"/>
                </a:cubicBezTo>
                <a:cubicBezTo>
                  <a:pt x="93" y="24"/>
                  <a:pt x="93" y="24"/>
                  <a:pt x="93" y="24"/>
                </a:cubicBezTo>
                <a:cubicBezTo>
                  <a:pt x="93" y="25"/>
                  <a:pt x="94" y="25"/>
                  <a:pt x="94" y="25"/>
                </a:cubicBezTo>
                <a:cubicBezTo>
                  <a:pt x="94" y="25"/>
                  <a:pt x="94" y="26"/>
                  <a:pt x="94" y="26"/>
                </a:cubicBezTo>
                <a:cubicBezTo>
                  <a:pt x="94" y="26"/>
                  <a:pt x="94" y="26"/>
                  <a:pt x="95" y="27"/>
                </a:cubicBezTo>
                <a:cubicBezTo>
                  <a:pt x="95" y="27"/>
                  <a:pt x="95" y="27"/>
                  <a:pt x="95" y="28"/>
                </a:cubicBezTo>
                <a:cubicBezTo>
                  <a:pt x="96" y="28"/>
                  <a:pt x="96" y="28"/>
                  <a:pt x="96" y="28"/>
                </a:cubicBezTo>
                <a:cubicBezTo>
                  <a:pt x="96" y="28"/>
                  <a:pt x="96" y="28"/>
                  <a:pt x="96" y="28"/>
                </a:cubicBezTo>
                <a:cubicBezTo>
                  <a:pt x="96" y="28"/>
                  <a:pt x="96" y="28"/>
                  <a:pt x="96" y="27"/>
                </a:cubicBezTo>
                <a:cubicBezTo>
                  <a:pt x="96" y="27"/>
                  <a:pt x="96" y="27"/>
                  <a:pt x="96" y="27"/>
                </a:cubicBezTo>
                <a:cubicBezTo>
                  <a:pt x="96" y="27"/>
                  <a:pt x="96" y="27"/>
                  <a:pt x="96" y="26"/>
                </a:cubicBezTo>
                <a:cubicBezTo>
                  <a:pt x="96" y="26"/>
                  <a:pt x="96" y="26"/>
                  <a:pt x="96" y="26"/>
                </a:cubicBezTo>
                <a:cubicBezTo>
                  <a:pt x="96" y="26"/>
                  <a:pt x="96" y="26"/>
                  <a:pt x="96" y="25"/>
                </a:cubicBezTo>
                <a:cubicBezTo>
                  <a:pt x="96" y="25"/>
                  <a:pt x="96" y="24"/>
                  <a:pt x="96" y="24"/>
                </a:cubicBezTo>
                <a:cubicBezTo>
                  <a:pt x="96" y="24"/>
                  <a:pt x="96" y="24"/>
                  <a:pt x="96" y="24"/>
                </a:cubicBezTo>
                <a:cubicBezTo>
                  <a:pt x="96" y="18"/>
                  <a:pt x="96" y="18"/>
                  <a:pt x="96" y="18"/>
                </a:cubicBezTo>
                <a:cubicBezTo>
                  <a:pt x="96" y="17"/>
                  <a:pt x="96" y="17"/>
                  <a:pt x="96" y="17"/>
                </a:cubicBezTo>
                <a:cubicBezTo>
                  <a:pt x="96" y="17"/>
                  <a:pt x="96" y="16"/>
                  <a:pt x="96" y="16"/>
                </a:cubicBezTo>
                <a:cubicBezTo>
                  <a:pt x="96" y="14"/>
                  <a:pt x="96" y="14"/>
                  <a:pt x="96" y="14"/>
                </a:cubicBezTo>
                <a:cubicBezTo>
                  <a:pt x="96" y="14"/>
                  <a:pt x="96" y="14"/>
                  <a:pt x="96" y="14"/>
                </a:cubicBezTo>
                <a:cubicBezTo>
                  <a:pt x="96" y="14"/>
                  <a:pt x="96" y="14"/>
                  <a:pt x="96" y="14"/>
                </a:cubicBezTo>
                <a:cubicBezTo>
                  <a:pt x="96" y="14"/>
                  <a:pt x="96" y="13"/>
                  <a:pt x="96" y="13"/>
                </a:cubicBezTo>
                <a:cubicBezTo>
                  <a:pt x="96" y="13"/>
                  <a:pt x="96" y="13"/>
                  <a:pt x="96" y="13"/>
                </a:cubicBezTo>
                <a:cubicBezTo>
                  <a:pt x="96" y="13"/>
                  <a:pt x="96" y="13"/>
                  <a:pt x="96" y="12"/>
                </a:cubicBezTo>
                <a:cubicBezTo>
                  <a:pt x="96" y="12"/>
                  <a:pt x="96" y="12"/>
                  <a:pt x="96" y="12"/>
                </a:cubicBezTo>
                <a:cubicBezTo>
                  <a:pt x="96"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3"/>
                  <a:pt x="97" y="13"/>
                  <a:pt x="97" y="13"/>
                </a:cubicBezTo>
                <a:cubicBezTo>
                  <a:pt x="97" y="13"/>
                  <a:pt x="97" y="13"/>
                  <a:pt x="97" y="13"/>
                </a:cubicBezTo>
                <a:cubicBezTo>
                  <a:pt x="97" y="14"/>
                  <a:pt x="97" y="14"/>
                  <a:pt x="97" y="14"/>
                </a:cubicBezTo>
                <a:cubicBezTo>
                  <a:pt x="97" y="14"/>
                  <a:pt x="97" y="14"/>
                  <a:pt x="97" y="14"/>
                </a:cubicBezTo>
                <a:cubicBezTo>
                  <a:pt x="97" y="15"/>
                  <a:pt x="97" y="15"/>
                  <a:pt x="97" y="15"/>
                </a:cubicBezTo>
                <a:cubicBezTo>
                  <a:pt x="97" y="17"/>
                  <a:pt x="97" y="17"/>
                  <a:pt x="97" y="17"/>
                </a:cubicBezTo>
                <a:cubicBezTo>
                  <a:pt x="97" y="17"/>
                  <a:pt x="97" y="17"/>
                  <a:pt x="97" y="17"/>
                </a:cubicBezTo>
                <a:cubicBezTo>
                  <a:pt x="97" y="17"/>
                  <a:pt x="97" y="17"/>
                  <a:pt x="97" y="18"/>
                </a:cubicBezTo>
                <a:cubicBezTo>
                  <a:pt x="97" y="19"/>
                  <a:pt x="97" y="19"/>
                  <a:pt x="97" y="20"/>
                </a:cubicBezTo>
                <a:cubicBezTo>
                  <a:pt x="97" y="20"/>
                  <a:pt x="97" y="20"/>
                  <a:pt x="97" y="20"/>
                </a:cubicBezTo>
                <a:cubicBezTo>
                  <a:pt x="97" y="20"/>
                  <a:pt x="97" y="20"/>
                  <a:pt x="97" y="20"/>
                </a:cubicBezTo>
                <a:cubicBezTo>
                  <a:pt x="97" y="20"/>
                  <a:pt x="97" y="20"/>
                  <a:pt x="97" y="20"/>
                </a:cubicBezTo>
                <a:cubicBezTo>
                  <a:pt x="97" y="22"/>
                  <a:pt x="97" y="23"/>
                  <a:pt x="97" y="24"/>
                </a:cubicBezTo>
                <a:cubicBezTo>
                  <a:pt x="97" y="24"/>
                  <a:pt x="97" y="24"/>
                  <a:pt x="97" y="24"/>
                </a:cubicBezTo>
                <a:cubicBezTo>
                  <a:pt x="97" y="24"/>
                  <a:pt x="97" y="24"/>
                  <a:pt x="97" y="25"/>
                </a:cubicBezTo>
                <a:cubicBezTo>
                  <a:pt x="97" y="25"/>
                  <a:pt x="97" y="26"/>
                  <a:pt x="97" y="26"/>
                </a:cubicBezTo>
                <a:cubicBezTo>
                  <a:pt x="97" y="27"/>
                  <a:pt x="97" y="27"/>
                  <a:pt x="97" y="28"/>
                </a:cubicBezTo>
                <a:cubicBezTo>
                  <a:pt x="97" y="28"/>
                  <a:pt x="96" y="29"/>
                  <a:pt x="96" y="29"/>
                </a:cubicBezTo>
                <a:cubicBezTo>
                  <a:pt x="96" y="29"/>
                  <a:pt x="95" y="30"/>
                  <a:pt x="94" y="30"/>
                </a:cubicBezTo>
                <a:cubicBezTo>
                  <a:pt x="94" y="30"/>
                  <a:pt x="93" y="30"/>
                  <a:pt x="92" y="30"/>
                </a:cubicBezTo>
                <a:cubicBezTo>
                  <a:pt x="91" y="30"/>
                  <a:pt x="91" y="30"/>
                  <a:pt x="90" y="30"/>
                </a:cubicBezTo>
                <a:cubicBezTo>
                  <a:pt x="90" y="30"/>
                  <a:pt x="90" y="30"/>
                  <a:pt x="90" y="30"/>
                </a:cubicBezTo>
                <a:cubicBezTo>
                  <a:pt x="90" y="30"/>
                  <a:pt x="89" y="30"/>
                  <a:pt x="89" y="30"/>
                </a:cubicBezTo>
                <a:cubicBezTo>
                  <a:pt x="89" y="30"/>
                  <a:pt x="89" y="30"/>
                  <a:pt x="89" y="30"/>
                </a:cubicBezTo>
                <a:cubicBezTo>
                  <a:pt x="89" y="30"/>
                  <a:pt x="89" y="30"/>
                  <a:pt x="88" y="30"/>
                </a:cubicBezTo>
                <a:cubicBezTo>
                  <a:pt x="88" y="30"/>
                  <a:pt x="88" y="30"/>
                  <a:pt x="88" y="30"/>
                </a:cubicBezTo>
                <a:cubicBezTo>
                  <a:pt x="88" y="29"/>
                  <a:pt x="88" y="29"/>
                  <a:pt x="88" y="29"/>
                </a:cubicBezTo>
                <a:close/>
                <a:moveTo>
                  <a:pt x="94" y="28"/>
                </a:moveTo>
                <a:cubicBezTo>
                  <a:pt x="94" y="29"/>
                  <a:pt x="94" y="29"/>
                  <a:pt x="93" y="29"/>
                </a:cubicBezTo>
                <a:cubicBezTo>
                  <a:pt x="93" y="29"/>
                  <a:pt x="92" y="29"/>
                  <a:pt x="92" y="29"/>
                </a:cubicBezTo>
                <a:cubicBezTo>
                  <a:pt x="91" y="29"/>
                  <a:pt x="91" y="29"/>
                  <a:pt x="91" y="29"/>
                </a:cubicBezTo>
                <a:cubicBezTo>
                  <a:pt x="90" y="29"/>
                  <a:pt x="90" y="29"/>
                  <a:pt x="90" y="29"/>
                </a:cubicBezTo>
                <a:cubicBezTo>
                  <a:pt x="90" y="29"/>
                  <a:pt x="90" y="29"/>
                  <a:pt x="90" y="29"/>
                </a:cubicBezTo>
                <a:cubicBezTo>
                  <a:pt x="90" y="29"/>
                  <a:pt x="90" y="29"/>
                  <a:pt x="90" y="29"/>
                </a:cubicBezTo>
                <a:cubicBezTo>
                  <a:pt x="90" y="29"/>
                  <a:pt x="90" y="29"/>
                  <a:pt x="90" y="29"/>
                </a:cubicBezTo>
                <a:cubicBezTo>
                  <a:pt x="90" y="28"/>
                  <a:pt x="90" y="27"/>
                  <a:pt x="91" y="27"/>
                </a:cubicBezTo>
                <a:cubicBezTo>
                  <a:pt x="91" y="27"/>
                  <a:pt x="91" y="26"/>
                  <a:pt x="91" y="26"/>
                </a:cubicBezTo>
                <a:cubicBezTo>
                  <a:pt x="92" y="26"/>
                  <a:pt x="92" y="26"/>
                  <a:pt x="92" y="25"/>
                </a:cubicBezTo>
                <a:cubicBezTo>
                  <a:pt x="92" y="25"/>
                  <a:pt x="92" y="25"/>
                  <a:pt x="92" y="25"/>
                </a:cubicBezTo>
                <a:cubicBezTo>
                  <a:pt x="92" y="25"/>
                  <a:pt x="92" y="25"/>
                  <a:pt x="92" y="25"/>
                </a:cubicBezTo>
                <a:cubicBezTo>
                  <a:pt x="92" y="25"/>
                  <a:pt x="92" y="25"/>
                  <a:pt x="92" y="25"/>
                </a:cubicBezTo>
                <a:cubicBezTo>
                  <a:pt x="92" y="25"/>
                  <a:pt x="92" y="25"/>
                  <a:pt x="92" y="25"/>
                </a:cubicBezTo>
                <a:cubicBezTo>
                  <a:pt x="93" y="26"/>
                  <a:pt x="93" y="26"/>
                  <a:pt x="93" y="26"/>
                </a:cubicBezTo>
                <a:cubicBezTo>
                  <a:pt x="93" y="27"/>
                  <a:pt x="93" y="27"/>
                  <a:pt x="94" y="27"/>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lose/>
                <a:moveTo>
                  <a:pt x="17" y="113"/>
                </a:moveTo>
                <a:cubicBezTo>
                  <a:pt x="15" y="112"/>
                  <a:pt x="17" y="108"/>
                  <a:pt x="20" y="108"/>
                </a:cubicBezTo>
                <a:cubicBezTo>
                  <a:pt x="21" y="108"/>
                  <a:pt x="21" y="108"/>
                  <a:pt x="22" y="108"/>
                </a:cubicBezTo>
                <a:cubicBezTo>
                  <a:pt x="22" y="107"/>
                  <a:pt x="22" y="106"/>
                  <a:pt x="21" y="106"/>
                </a:cubicBezTo>
                <a:cubicBezTo>
                  <a:pt x="15" y="105"/>
                  <a:pt x="16" y="90"/>
                  <a:pt x="23" y="89"/>
                </a:cubicBezTo>
                <a:cubicBezTo>
                  <a:pt x="25" y="89"/>
                  <a:pt x="26" y="89"/>
                  <a:pt x="27" y="90"/>
                </a:cubicBezTo>
                <a:cubicBezTo>
                  <a:pt x="28" y="91"/>
                  <a:pt x="27" y="92"/>
                  <a:pt x="26" y="91"/>
                </a:cubicBezTo>
                <a:cubicBezTo>
                  <a:pt x="25" y="90"/>
                  <a:pt x="25" y="90"/>
                  <a:pt x="24" y="90"/>
                </a:cubicBezTo>
                <a:cubicBezTo>
                  <a:pt x="23" y="91"/>
                  <a:pt x="22" y="91"/>
                  <a:pt x="21" y="92"/>
                </a:cubicBezTo>
                <a:cubicBezTo>
                  <a:pt x="21" y="92"/>
                  <a:pt x="20" y="94"/>
                  <a:pt x="20" y="94"/>
                </a:cubicBezTo>
                <a:cubicBezTo>
                  <a:pt x="20" y="95"/>
                  <a:pt x="20" y="95"/>
                  <a:pt x="21" y="96"/>
                </a:cubicBezTo>
                <a:cubicBezTo>
                  <a:pt x="23" y="97"/>
                  <a:pt x="27" y="96"/>
                  <a:pt x="26" y="98"/>
                </a:cubicBezTo>
                <a:cubicBezTo>
                  <a:pt x="26" y="99"/>
                  <a:pt x="24" y="99"/>
                  <a:pt x="23" y="98"/>
                </a:cubicBezTo>
                <a:cubicBezTo>
                  <a:pt x="21" y="97"/>
                  <a:pt x="20" y="98"/>
                  <a:pt x="19" y="100"/>
                </a:cubicBezTo>
                <a:cubicBezTo>
                  <a:pt x="19" y="102"/>
                  <a:pt x="20" y="102"/>
                  <a:pt x="20" y="102"/>
                </a:cubicBezTo>
                <a:cubicBezTo>
                  <a:pt x="21" y="102"/>
                  <a:pt x="21" y="102"/>
                  <a:pt x="22" y="102"/>
                </a:cubicBezTo>
                <a:cubicBezTo>
                  <a:pt x="22" y="101"/>
                  <a:pt x="23" y="101"/>
                  <a:pt x="24" y="101"/>
                </a:cubicBezTo>
                <a:cubicBezTo>
                  <a:pt x="24" y="101"/>
                  <a:pt x="25" y="101"/>
                  <a:pt x="24" y="102"/>
                </a:cubicBezTo>
                <a:cubicBezTo>
                  <a:pt x="24" y="103"/>
                  <a:pt x="24" y="104"/>
                  <a:pt x="27" y="105"/>
                </a:cubicBezTo>
                <a:cubicBezTo>
                  <a:pt x="27" y="105"/>
                  <a:pt x="27" y="105"/>
                  <a:pt x="27" y="106"/>
                </a:cubicBezTo>
                <a:cubicBezTo>
                  <a:pt x="27" y="107"/>
                  <a:pt x="26" y="107"/>
                  <a:pt x="25" y="107"/>
                </a:cubicBezTo>
                <a:cubicBezTo>
                  <a:pt x="26" y="110"/>
                  <a:pt x="22" y="111"/>
                  <a:pt x="20" y="110"/>
                </a:cubicBezTo>
                <a:cubicBezTo>
                  <a:pt x="18" y="110"/>
                  <a:pt x="18" y="112"/>
                  <a:pt x="17" y="113"/>
                </a:cubicBezTo>
                <a:close/>
                <a:moveTo>
                  <a:pt x="45" y="108"/>
                </a:moveTo>
                <a:cubicBezTo>
                  <a:pt x="46" y="107"/>
                  <a:pt x="50" y="109"/>
                  <a:pt x="51" y="110"/>
                </a:cubicBezTo>
                <a:cubicBezTo>
                  <a:pt x="51" y="110"/>
                  <a:pt x="51" y="110"/>
                  <a:pt x="51" y="110"/>
                </a:cubicBezTo>
                <a:cubicBezTo>
                  <a:pt x="50" y="112"/>
                  <a:pt x="47" y="109"/>
                  <a:pt x="46" y="109"/>
                </a:cubicBezTo>
                <a:cubicBezTo>
                  <a:pt x="45" y="110"/>
                  <a:pt x="44" y="109"/>
                  <a:pt x="45" y="108"/>
                </a:cubicBezTo>
                <a:close/>
                <a:moveTo>
                  <a:pt x="25" y="127"/>
                </a:moveTo>
                <a:cubicBezTo>
                  <a:pt x="24" y="128"/>
                  <a:pt x="24" y="128"/>
                  <a:pt x="24" y="128"/>
                </a:cubicBezTo>
                <a:cubicBezTo>
                  <a:pt x="20" y="129"/>
                  <a:pt x="18" y="126"/>
                  <a:pt x="17" y="125"/>
                </a:cubicBezTo>
                <a:cubicBezTo>
                  <a:pt x="16" y="123"/>
                  <a:pt x="18" y="123"/>
                  <a:pt x="17" y="122"/>
                </a:cubicBezTo>
                <a:cubicBezTo>
                  <a:pt x="15" y="120"/>
                  <a:pt x="12" y="116"/>
                  <a:pt x="16" y="114"/>
                </a:cubicBezTo>
                <a:cubicBezTo>
                  <a:pt x="16" y="114"/>
                  <a:pt x="17" y="115"/>
                  <a:pt x="17" y="116"/>
                </a:cubicBezTo>
                <a:cubicBezTo>
                  <a:pt x="17" y="116"/>
                  <a:pt x="16" y="118"/>
                  <a:pt x="17" y="119"/>
                </a:cubicBezTo>
                <a:cubicBezTo>
                  <a:pt x="18" y="119"/>
                  <a:pt x="19" y="120"/>
                  <a:pt x="20" y="121"/>
                </a:cubicBezTo>
                <a:cubicBezTo>
                  <a:pt x="22" y="122"/>
                  <a:pt x="21" y="123"/>
                  <a:pt x="21" y="124"/>
                </a:cubicBezTo>
                <a:cubicBezTo>
                  <a:pt x="22" y="126"/>
                  <a:pt x="23" y="126"/>
                  <a:pt x="25" y="126"/>
                </a:cubicBezTo>
                <a:cubicBezTo>
                  <a:pt x="26" y="126"/>
                  <a:pt x="26" y="127"/>
                  <a:pt x="25" y="127"/>
                </a:cubicBezTo>
                <a:close/>
                <a:moveTo>
                  <a:pt x="41" y="96"/>
                </a:moveTo>
                <a:cubicBezTo>
                  <a:pt x="41" y="95"/>
                  <a:pt x="42" y="95"/>
                  <a:pt x="41" y="94"/>
                </a:cubicBezTo>
                <a:cubicBezTo>
                  <a:pt x="38" y="88"/>
                  <a:pt x="42" y="89"/>
                  <a:pt x="42" y="86"/>
                </a:cubicBezTo>
                <a:cubicBezTo>
                  <a:pt x="42" y="85"/>
                  <a:pt x="42" y="85"/>
                  <a:pt x="41" y="85"/>
                </a:cubicBezTo>
                <a:cubicBezTo>
                  <a:pt x="40" y="84"/>
                  <a:pt x="39" y="85"/>
                  <a:pt x="38" y="85"/>
                </a:cubicBezTo>
                <a:cubicBezTo>
                  <a:pt x="37" y="85"/>
                  <a:pt x="37" y="83"/>
                  <a:pt x="36" y="83"/>
                </a:cubicBezTo>
                <a:cubicBezTo>
                  <a:pt x="35" y="83"/>
                  <a:pt x="34" y="84"/>
                  <a:pt x="33" y="83"/>
                </a:cubicBezTo>
                <a:cubicBezTo>
                  <a:pt x="31" y="82"/>
                  <a:pt x="32" y="83"/>
                  <a:pt x="29" y="83"/>
                </a:cubicBezTo>
                <a:cubicBezTo>
                  <a:pt x="27" y="83"/>
                  <a:pt x="26" y="84"/>
                  <a:pt x="25" y="87"/>
                </a:cubicBezTo>
                <a:cubicBezTo>
                  <a:pt x="25" y="88"/>
                  <a:pt x="24" y="88"/>
                  <a:pt x="24" y="88"/>
                </a:cubicBezTo>
                <a:cubicBezTo>
                  <a:pt x="24" y="87"/>
                  <a:pt x="23" y="85"/>
                  <a:pt x="25" y="83"/>
                </a:cubicBezTo>
                <a:cubicBezTo>
                  <a:pt x="26" y="82"/>
                  <a:pt x="28" y="82"/>
                  <a:pt x="29" y="81"/>
                </a:cubicBezTo>
                <a:cubicBezTo>
                  <a:pt x="31" y="80"/>
                  <a:pt x="33" y="80"/>
                  <a:pt x="35" y="81"/>
                </a:cubicBezTo>
                <a:cubicBezTo>
                  <a:pt x="37" y="81"/>
                  <a:pt x="38" y="82"/>
                  <a:pt x="39" y="84"/>
                </a:cubicBezTo>
                <a:cubicBezTo>
                  <a:pt x="39" y="85"/>
                  <a:pt x="41" y="83"/>
                  <a:pt x="42" y="84"/>
                </a:cubicBezTo>
                <a:cubicBezTo>
                  <a:pt x="43" y="84"/>
                  <a:pt x="44" y="84"/>
                  <a:pt x="44" y="86"/>
                </a:cubicBezTo>
                <a:cubicBezTo>
                  <a:pt x="45" y="87"/>
                  <a:pt x="44" y="89"/>
                  <a:pt x="43" y="90"/>
                </a:cubicBezTo>
                <a:cubicBezTo>
                  <a:pt x="43" y="91"/>
                  <a:pt x="43" y="91"/>
                  <a:pt x="43" y="91"/>
                </a:cubicBezTo>
                <a:cubicBezTo>
                  <a:pt x="44" y="93"/>
                  <a:pt x="46" y="90"/>
                  <a:pt x="48" y="88"/>
                </a:cubicBezTo>
                <a:cubicBezTo>
                  <a:pt x="49" y="86"/>
                  <a:pt x="50" y="86"/>
                  <a:pt x="51" y="86"/>
                </a:cubicBezTo>
                <a:cubicBezTo>
                  <a:pt x="52" y="86"/>
                  <a:pt x="53" y="87"/>
                  <a:pt x="54" y="88"/>
                </a:cubicBezTo>
                <a:cubicBezTo>
                  <a:pt x="55" y="89"/>
                  <a:pt x="55" y="90"/>
                  <a:pt x="54" y="90"/>
                </a:cubicBezTo>
                <a:cubicBezTo>
                  <a:pt x="52" y="90"/>
                  <a:pt x="51" y="90"/>
                  <a:pt x="49" y="88"/>
                </a:cubicBezTo>
                <a:cubicBezTo>
                  <a:pt x="48" y="88"/>
                  <a:pt x="48" y="90"/>
                  <a:pt x="47" y="91"/>
                </a:cubicBezTo>
                <a:cubicBezTo>
                  <a:pt x="47" y="94"/>
                  <a:pt x="43" y="94"/>
                  <a:pt x="42" y="98"/>
                </a:cubicBezTo>
                <a:cubicBezTo>
                  <a:pt x="42" y="98"/>
                  <a:pt x="42" y="98"/>
                  <a:pt x="41" y="99"/>
                </a:cubicBezTo>
                <a:cubicBezTo>
                  <a:pt x="41" y="100"/>
                  <a:pt x="40" y="100"/>
                  <a:pt x="41" y="99"/>
                </a:cubicBezTo>
                <a:cubicBezTo>
                  <a:pt x="41" y="97"/>
                  <a:pt x="41" y="98"/>
                  <a:pt x="41" y="97"/>
                </a:cubicBezTo>
                <a:cubicBezTo>
                  <a:pt x="41" y="97"/>
                  <a:pt x="41" y="96"/>
                  <a:pt x="41" y="96"/>
                </a:cubicBezTo>
                <a:close/>
                <a:moveTo>
                  <a:pt x="39" y="111"/>
                </a:moveTo>
                <a:cubicBezTo>
                  <a:pt x="38" y="111"/>
                  <a:pt x="36" y="110"/>
                  <a:pt x="35" y="109"/>
                </a:cubicBezTo>
                <a:cubicBezTo>
                  <a:pt x="35" y="108"/>
                  <a:pt x="34" y="107"/>
                  <a:pt x="34" y="106"/>
                </a:cubicBezTo>
                <a:cubicBezTo>
                  <a:pt x="29" y="105"/>
                  <a:pt x="27" y="102"/>
                  <a:pt x="27" y="101"/>
                </a:cubicBezTo>
                <a:cubicBezTo>
                  <a:pt x="27" y="101"/>
                  <a:pt x="28" y="101"/>
                  <a:pt x="29" y="102"/>
                </a:cubicBezTo>
                <a:cubicBezTo>
                  <a:pt x="30" y="104"/>
                  <a:pt x="34" y="104"/>
                  <a:pt x="34" y="104"/>
                </a:cubicBezTo>
                <a:cubicBezTo>
                  <a:pt x="33" y="103"/>
                  <a:pt x="33" y="101"/>
                  <a:pt x="34" y="100"/>
                </a:cubicBezTo>
                <a:cubicBezTo>
                  <a:pt x="34" y="99"/>
                  <a:pt x="34" y="99"/>
                  <a:pt x="33" y="99"/>
                </a:cubicBezTo>
                <a:cubicBezTo>
                  <a:pt x="31" y="97"/>
                  <a:pt x="29" y="98"/>
                  <a:pt x="28" y="97"/>
                </a:cubicBezTo>
                <a:cubicBezTo>
                  <a:pt x="27" y="96"/>
                  <a:pt x="28" y="94"/>
                  <a:pt x="30" y="95"/>
                </a:cubicBezTo>
                <a:cubicBezTo>
                  <a:pt x="30" y="95"/>
                  <a:pt x="31" y="96"/>
                  <a:pt x="32" y="96"/>
                </a:cubicBezTo>
                <a:cubicBezTo>
                  <a:pt x="33" y="97"/>
                  <a:pt x="33" y="96"/>
                  <a:pt x="33" y="95"/>
                </a:cubicBezTo>
                <a:cubicBezTo>
                  <a:pt x="33" y="93"/>
                  <a:pt x="34" y="89"/>
                  <a:pt x="34" y="88"/>
                </a:cubicBezTo>
                <a:cubicBezTo>
                  <a:pt x="34" y="87"/>
                  <a:pt x="34" y="87"/>
                  <a:pt x="35" y="87"/>
                </a:cubicBezTo>
                <a:cubicBezTo>
                  <a:pt x="36" y="87"/>
                  <a:pt x="37" y="88"/>
                  <a:pt x="38" y="89"/>
                </a:cubicBezTo>
                <a:cubicBezTo>
                  <a:pt x="38" y="89"/>
                  <a:pt x="38" y="90"/>
                  <a:pt x="38" y="90"/>
                </a:cubicBezTo>
                <a:cubicBezTo>
                  <a:pt x="36" y="93"/>
                  <a:pt x="35" y="94"/>
                  <a:pt x="36" y="96"/>
                </a:cubicBezTo>
                <a:cubicBezTo>
                  <a:pt x="36" y="96"/>
                  <a:pt x="36" y="98"/>
                  <a:pt x="36" y="99"/>
                </a:cubicBezTo>
                <a:cubicBezTo>
                  <a:pt x="37" y="99"/>
                  <a:pt x="38" y="99"/>
                  <a:pt x="39" y="98"/>
                </a:cubicBezTo>
                <a:cubicBezTo>
                  <a:pt x="39" y="97"/>
                  <a:pt x="40" y="98"/>
                  <a:pt x="39" y="99"/>
                </a:cubicBezTo>
                <a:cubicBezTo>
                  <a:pt x="39" y="100"/>
                  <a:pt x="37" y="101"/>
                  <a:pt x="37" y="101"/>
                </a:cubicBezTo>
                <a:cubicBezTo>
                  <a:pt x="36" y="103"/>
                  <a:pt x="37" y="109"/>
                  <a:pt x="38" y="107"/>
                </a:cubicBezTo>
                <a:cubicBezTo>
                  <a:pt x="40" y="105"/>
                  <a:pt x="41" y="103"/>
                  <a:pt x="45" y="104"/>
                </a:cubicBezTo>
                <a:cubicBezTo>
                  <a:pt x="45" y="104"/>
                  <a:pt x="45" y="104"/>
                  <a:pt x="45" y="104"/>
                </a:cubicBezTo>
                <a:cubicBezTo>
                  <a:pt x="43" y="104"/>
                  <a:pt x="39" y="106"/>
                  <a:pt x="40" y="108"/>
                </a:cubicBezTo>
                <a:cubicBezTo>
                  <a:pt x="40" y="109"/>
                  <a:pt x="41" y="109"/>
                  <a:pt x="41" y="110"/>
                </a:cubicBezTo>
                <a:cubicBezTo>
                  <a:pt x="40" y="111"/>
                  <a:pt x="40" y="112"/>
                  <a:pt x="39" y="111"/>
                </a:cubicBezTo>
                <a:close/>
                <a:moveTo>
                  <a:pt x="55" y="122"/>
                </a:moveTo>
                <a:cubicBezTo>
                  <a:pt x="54" y="121"/>
                  <a:pt x="54" y="121"/>
                  <a:pt x="55" y="120"/>
                </a:cubicBezTo>
                <a:cubicBezTo>
                  <a:pt x="55" y="119"/>
                  <a:pt x="57" y="120"/>
                  <a:pt x="58" y="120"/>
                </a:cubicBezTo>
                <a:cubicBezTo>
                  <a:pt x="61" y="120"/>
                  <a:pt x="60" y="117"/>
                  <a:pt x="61" y="117"/>
                </a:cubicBezTo>
                <a:cubicBezTo>
                  <a:pt x="63" y="114"/>
                  <a:pt x="61" y="125"/>
                  <a:pt x="55" y="122"/>
                </a:cubicBezTo>
                <a:close/>
                <a:moveTo>
                  <a:pt x="58" y="115"/>
                </a:moveTo>
                <a:cubicBezTo>
                  <a:pt x="59" y="113"/>
                  <a:pt x="61" y="110"/>
                  <a:pt x="59" y="108"/>
                </a:cubicBezTo>
                <a:cubicBezTo>
                  <a:pt x="58" y="108"/>
                  <a:pt x="58" y="106"/>
                  <a:pt x="59" y="106"/>
                </a:cubicBezTo>
                <a:cubicBezTo>
                  <a:pt x="61" y="106"/>
                  <a:pt x="64" y="107"/>
                  <a:pt x="64" y="109"/>
                </a:cubicBezTo>
                <a:cubicBezTo>
                  <a:pt x="64" y="113"/>
                  <a:pt x="60" y="114"/>
                  <a:pt x="60" y="115"/>
                </a:cubicBezTo>
                <a:cubicBezTo>
                  <a:pt x="60" y="116"/>
                  <a:pt x="59" y="116"/>
                  <a:pt x="58" y="116"/>
                </a:cubicBezTo>
                <a:cubicBezTo>
                  <a:pt x="57" y="115"/>
                  <a:pt x="57" y="115"/>
                  <a:pt x="58" y="115"/>
                </a:cubicBezTo>
                <a:close/>
                <a:moveTo>
                  <a:pt x="52" y="111"/>
                </a:moveTo>
                <a:cubicBezTo>
                  <a:pt x="54" y="106"/>
                  <a:pt x="48" y="101"/>
                  <a:pt x="47" y="101"/>
                </a:cubicBezTo>
                <a:cubicBezTo>
                  <a:pt x="46" y="101"/>
                  <a:pt x="47" y="100"/>
                  <a:pt x="47" y="100"/>
                </a:cubicBezTo>
                <a:cubicBezTo>
                  <a:pt x="53" y="103"/>
                  <a:pt x="51" y="101"/>
                  <a:pt x="51" y="97"/>
                </a:cubicBezTo>
                <a:cubicBezTo>
                  <a:pt x="51" y="95"/>
                  <a:pt x="51" y="92"/>
                  <a:pt x="52" y="92"/>
                </a:cubicBezTo>
                <a:cubicBezTo>
                  <a:pt x="52" y="92"/>
                  <a:pt x="51" y="97"/>
                  <a:pt x="53" y="98"/>
                </a:cubicBezTo>
                <a:cubicBezTo>
                  <a:pt x="53" y="99"/>
                  <a:pt x="54" y="96"/>
                  <a:pt x="54" y="96"/>
                </a:cubicBezTo>
                <a:cubicBezTo>
                  <a:pt x="55" y="95"/>
                  <a:pt x="55" y="96"/>
                  <a:pt x="55" y="97"/>
                </a:cubicBezTo>
                <a:cubicBezTo>
                  <a:pt x="54" y="101"/>
                  <a:pt x="56" y="109"/>
                  <a:pt x="54" y="113"/>
                </a:cubicBezTo>
                <a:cubicBezTo>
                  <a:pt x="53" y="114"/>
                  <a:pt x="51" y="114"/>
                  <a:pt x="52" y="111"/>
                </a:cubicBezTo>
                <a:close/>
                <a:moveTo>
                  <a:pt x="56" y="107"/>
                </a:moveTo>
                <a:cubicBezTo>
                  <a:pt x="55" y="107"/>
                  <a:pt x="55" y="106"/>
                  <a:pt x="55" y="106"/>
                </a:cubicBezTo>
                <a:cubicBezTo>
                  <a:pt x="56" y="105"/>
                  <a:pt x="58" y="104"/>
                  <a:pt x="58" y="104"/>
                </a:cubicBezTo>
                <a:cubicBezTo>
                  <a:pt x="59" y="103"/>
                  <a:pt x="58" y="103"/>
                  <a:pt x="58" y="102"/>
                </a:cubicBezTo>
                <a:cubicBezTo>
                  <a:pt x="58" y="102"/>
                  <a:pt x="57" y="102"/>
                  <a:pt x="57" y="101"/>
                </a:cubicBezTo>
                <a:cubicBezTo>
                  <a:pt x="57" y="100"/>
                  <a:pt x="59" y="100"/>
                  <a:pt x="59" y="99"/>
                </a:cubicBezTo>
                <a:cubicBezTo>
                  <a:pt x="59" y="96"/>
                  <a:pt x="58" y="97"/>
                  <a:pt x="58" y="95"/>
                </a:cubicBezTo>
                <a:cubicBezTo>
                  <a:pt x="58" y="93"/>
                  <a:pt x="56" y="92"/>
                  <a:pt x="56" y="92"/>
                </a:cubicBezTo>
                <a:cubicBezTo>
                  <a:pt x="55" y="91"/>
                  <a:pt x="56" y="90"/>
                  <a:pt x="57" y="91"/>
                </a:cubicBezTo>
                <a:cubicBezTo>
                  <a:pt x="62" y="92"/>
                  <a:pt x="63" y="96"/>
                  <a:pt x="60" y="99"/>
                </a:cubicBezTo>
                <a:cubicBezTo>
                  <a:pt x="62" y="102"/>
                  <a:pt x="59" y="106"/>
                  <a:pt x="56" y="107"/>
                </a:cubicBezTo>
                <a:close/>
                <a:moveTo>
                  <a:pt x="76" y="8"/>
                </a:moveTo>
                <a:cubicBezTo>
                  <a:pt x="76" y="54"/>
                  <a:pt x="76" y="54"/>
                  <a:pt x="76" y="54"/>
                </a:cubicBezTo>
                <a:cubicBezTo>
                  <a:pt x="76" y="54"/>
                  <a:pt x="76" y="54"/>
                  <a:pt x="76" y="54"/>
                </a:cubicBezTo>
                <a:cubicBezTo>
                  <a:pt x="4" y="54"/>
                  <a:pt x="4" y="54"/>
                  <a:pt x="4" y="54"/>
                </a:cubicBezTo>
                <a:cubicBezTo>
                  <a:pt x="4" y="24"/>
                  <a:pt x="4" y="24"/>
                  <a:pt x="4" y="24"/>
                </a:cubicBezTo>
                <a:cubicBezTo>
                  <a:pt x="11" y="20"/>
                  <a:pt x="22" y="12"/>
                  <a:pt x="26" y="4"/>
                </a:cubicBezTo>
                <a:cubicBezTo>
                  <a:pt x="76" y="4"/>
                  <a:pt x="76" y="4"/>
                  <a:pt x="76" y="4"/>
                </a:cubicBezTo>
                <a:cubicBezTo>
                  <a:pt x="125" y="4"/>
                  <a:pt x="125" y="4"/>
                  <a:pt x="125" y="4"/>
                </a:cubicBezTo>
                <a:cubicBezTo>
                  <a:pt x="130" y="12"/>
                  <a:pt x="140" y="21"/>
                  <a:pt x="147" y="24"/>
                </a:cubicBezTo>
                <a:cubicBezTo>
                  <a:pt x="147" y="39"/>
                  <a:pt x="147" y="39"/>
                  <a:pt x="147" y="39"/>
                </a:cubicBezTo>
                <a:cubicBezTo>
                  <a:pt x="131" y="39"/>
                  <a:pt x="131" y="39"/>
                  <a:pt x="131" y="39"/>
                </a:cubicBezTo>
                <a:cubicBezTo>
                  <a:pt x="131" y="46"/>
                  <a:pt x="131" y="46"/>
                  <a:pt x="131" y="46"/>
                </a:cubicBezTo>
                <a:cubicBezTo>
                  <a:pt x="147" y="46"/>
                  <a:pt x="147" y="46"/>
                  <a:pt x="147" y="46"/>
                </a:cubicBezTo>
                <a:cubicBezTo>
                  <a:pt x="147" y="54"/>
                  <a:pt x="147" y="54"/>
                  <a:pt x="147" y="54"/>
                </a:cubicBezTo>
                <a:cubicBezTo>
                  <a:pt x="86" y="54"/>
                  <a:pt x="86" y="54"/>
                  <a:pt x="86" y="54"/>
                </a:cubicBezTo>
                <a:cubicBezTo>
                  <a:pt x="86" y="46"/>
                  <a:pt x="86" y="46"/>
                  <a:pt x="86" y="46"/>
                </a:cubicBezTo>
                <a:cubicBezTo>
                  <a:pt x="102" y="46"/>
                  <a:pt x="102" y="46"/>
                  <a:pt x="102" y="46"/>
                </a:cubicBezTo>
                <a:cubicBezTo>
                  <a:pt x="102" y="39"/>
                  <a:pt x="102" y="39"/>
                  <a:pt x="102" y="39"/>
                </a:cubicBezTo>
                <a:cubicBezTo>
                  <a:pt x="86" y="39"/>
                  <a:pt x="86" y="39"/>
                  <a:pt x="86" y="39"/>
                </a:cubicBezTo>
                <a:cubicBezTo>
                  <a:pt x="86" y="33"/>
                  <a:pt x="86" y="33"/>
                  <a:pt x="86" y="33"/>
                </a:cubicBezTo>
                <a:cubicBezTo>
                  <a:pt x="143" y="33"/>
                  <a:pt x="143" y="33"/>
                  <a:pt x="143" y="33"/>
                </a:cubicBezTo>
                <a:cubicBezTo>
                  <a:pt x="136" y="30"/>
                  <a:pt x="122" y="20"/>
                  <a:pt x="118" y="8"/>
                </a:cubicBezTo>
                <a:cubicBezTo>
                  <a:pt x="76" y="8"/>
                  <a:pt x="76" y="8"/>
                  <a:pt x="76" y="8"/>
                </a:cubicBezTo>
                <a:close/>
                <a:moveTo>
                  <a:pt x="49" y="141"/>
                </a:moveTo>
                <a:cubicBezTo>
                  <a:pt x="48" y="142"/>
                  <a:pt x="50" y="143"/>
                  <a:pt x="51" y="143"/>
                </a:cubicBezTo>
                <a:cubicBezTo>
                  <a:pt x="54" y="142"/>
                  <a:pt x="60" y="144"/>
                  <a:pt x="59" y="142"/>
                </a:cubicBezTo>
                <a:cubicBezTo>
                  <a:pt x="54" y="141"/>
                  <a:pt x="52" y="133"/>
                  <a:pt x="54" y="130"/>
                </a:cubicBezTo>
                <a:cubicBezTo>
                  <a:pt x="55" y="127"/>
                  <a:pt x="61" y="127"/>
                  <a:pt x="62" y="123"/>
                </a:cubicBezTo>
                <a:cubicBezTo>
                  <a:pt x="62" y="123"/>
                  <a:pt x="62" y="122"/>
                  <a:pt x="61" y="123"/>
                </a:cubicBezTo>
                <a:cubicBezTo>
                  <a:pt x="59" y="123"/>
                  <a:pt x="57" y="125"/>
                  <a:pt x="56" y="125"/>
                </a:cubicBezTo>
                <a:cubicBezTo>
                  <a:pt x="53" y="125"/>
                  <a:pt x="54" y="122"/>
                  <a:pt x="55" y="118"/>
                </a:cubicBezTo>
                <a:cubicBezTo>
                  <a:pt x="55" y="117"/>
                  <a:pt x="56" y="114"/>
                  <a:pt x="56" y="114"/>
                </a:cubicBezTo>
                <a:cubicBezTo>
                  <a:pt x="55" y="112"/>
                  <a:pt x="54" y="112"/>
                  <a:pt x="54" y="114"/>
                </a:cubicBezTo>
                <a:cubicBezTo>
                  <a:pt x="54" y="115"/>
                  <a:pt x="52" y="120"/>
                  <a:pt x="50" y="119"/>
                </a:cubicBezTo>
                <a:cubicBezTo>
                  <a:pt x="47" y="118"/>
                  <a:pt x="47" y="118"/>
                  <a:pt x="47" y="117"/>
                </a:cubicBezTo>
                <a:cubicBezTo>
                  <a:pt x="45" y="114"/>
                  <a:pt x="44" y="114"/>
                  <a:pt x="44" y="114"/>
                </a:cubicBezTo>
                <a:cubicBezTo>
                  <a:pt x="42" y="114"/>
                  <a:pt x="44" y="116"/>
                  <a:pt x="44" y="117"/>
                </a:cubicBezTo>
                <a:cubicBezTo>
                  <a:pt x="44" y="118"/>
                  <a:pt x="42" y="119"/>
                  <a:pt x="41" y="118"/>
                </a:cubicBezTo>
                <a:cubicBezTo>
                  <a:pt x="40" y="117"/>
                  <a:pt x="39" y="116"/>
                  <a:pt x="39" y="113"/>
                </a:cubicBezTo>
                <a:cubicBezTo>
                  <a:pt x="37" y="111"/>
                  <a:pt x="37" y="111"/>
                  <a:pt x="35" y="112"/>
                </a:cubicBezTo>
                <a:cubicBezTo>
                  <a:pt x="33" y="109"/>
                  <a:pt x="29" y="114"/>
                  <a:pt x="30" y="114"/>
                </a:cubicBezTo>
                <a:cubicBezTo>
                  <a:pt x="29" y="114"/>
                  <a:pt x="27" y="112"/>
                  <a:pt x="27" y="113"/>
                </a:cubicBezTo>
                <a:cubicBezTo>
                  <a:pt x="26" y="113"/>
                  <a:pt x="25" y="113"/>
                  <a:pt x="24" y="111"/>
                </a:cubicBezTo>
                <a:cubicBezTo>
                  <a:pt x="24" y="111"/>
                  <a:pt x="24" y="111"/>
                  <a:pt x="24" y="111"/>
                </a:cubicBezTo>
                <a:cubicBezTo>
                  <a:pt x="23" y="112"/>
                  <a:pt x="24" y="113"/>
                  <a:pt x="24" y="113"/>
                </a:cubicBezTo>
                <a:cubicBezTo>
                  <a:pt x="21" y="114"/>
                  <a:pt x="18" y="115"/>
                  <a:pt x="20" y="119"/>
                </a:cubicBezTo>
                <a:cubicBezTo>
                  <a:pt x="24" y="121"/>
                  <a:pt x="24" y="117"/>
                  <a:pt x="24" y="116"/>
                </a:cubicBezTo>
                <a:cubicBezTo>
                  <a:pt x="27" y="111"/>
                  <a:pt x="28" y="118"/>
                  <a:pt x="31" y="116"/>
                </a:cubicBezTo>
                <a:cubicBezTo>
                  <a:pt x="31" y="116"/>
                  <a:pt x="31" y="116"/>
                  <a:pt x="31" y="115"/>
                </a:cubicBezTo>
                <a:cubicBezTo>
                  <a:pt x="30" y="114"/>
                  <a:pt x="33" y="112"/>
                  <a:pt x="34" y="113"/>
                </a:cubicBezTo>
                <a:cubicBezTo>
                  <a:pt x="36" y="114"/>
                  <a:pt x="36" y="118"/>
                  <a:pt x="36" y="120"/>
                </a:cubicBezTo>
                <a:cubicBezTo>
                  <a:pt x="36" y="121"/>
                  <a:pt x="32" y="120"/>
                  <a:pt x="31" y="118"/>
                </a:cubicBezTo>
                <a:cubicBezTo>
                  <a:pt x="30" y="117"/>
                  <a:pt x="31" y="118"/>
                  <a:pt x="31" y="120"/>
                </a:cubicBezTo>
                <a:cubicBezTo>
                  <a:pt x="32" y="120"/>
                  <a:pt x="31" y="120"/>
                  <a:pt x="27" y="119"/>
                </a:cubicBezTo>
                <a:cubicBezTo>
                  <a:pt x="26" y="119"/>
                  <a:pt x="26" y="120"/>
                  <a:pt x="26" y="120"/>
                </a:cubicBezTo>
                <a:cubicBezTo>
                  <a:pt x="28" y="122"/>
                  <a:pt x="33" y="121"/>
                  <a:pt x="33" y="121"/>
                </a:cubicBezTo>
                <a:cubicBezTo>
                  <a:pt x="34" y="121"/>
                  <a:pt x="34" y="122"/>
                  <a:pt x="36" y="123"/>
                </a:cubicBezTo>
                <a:cubicBezTo>
                  <a:pt x="36" y="124"/>
                  <a:pt x="36" y="124"/>
                  <a:pt x="36" y="125"/>
                </a:cubicBezTo>
                <a:cubicBezTo>
                  <a:pt x="35" y="126"/>
                  <a:pt x="34" y="126"/>
                  <a:pt x="34" y="125"/>
                </a:cubicBezTo>
                <a:cubicBezTo>
                  <a:pt x="33" y="124"/>
                  <a:pt x="33" y="124"/>
                  <a:pt x="31" y="124"/>
                </a:cubicBezTo>
                <a:cubicBezTo>
                  <a:pt x="30" y="124"/>
                  <a:pt x="28" y="124"/>
                  <a:pt x="27" y="125"/>
                </a:cubicBezTo>
                <a:cubicBezTo>
                  <a:pt x="25" y="126"/>
                  <a:pt x="26" y="129"/>
                  <a:pt x="27" y="128"/>
                </a:cubicBezTo>
                <a:cubicBezTo>
                  <a:pt x="29" y="126"/>
                  <a:pt x="30" y="128"/>
                  <a:pt x="34" y="128"/>
                </a:cubicBezTo>
                <a:cubicBezTo>
                  <a:pt x="35" y="128"/>
                  <a:pt x="36" y="132"/>
                  <a:pt x="35" y="137"/>
                </a:cubicBezTo>
                <a:cubicBezTo>
                  <a:pt x="35" y="138"/>
                  <a:pt x="35" y="138"/>
                  <a:pt x="35" y="138"/>
                </a:cubicBezTo>
                <a:cubicBezTo>
                  <a:pt x="34" y="138"/>
                  <a:pt x="33" y="139"/>
                  <a:pt x="32" y="139"/>
                </a:cubicBezTo>
                <a:cubicBezTo>
                  <a:pt x="30" y="140"/>
                  <a:pt x="29" y="142"/>
                  <a:pt x="27" y="141"/>
                </a:cubicBezTo>
                <a:cubicBezTo>
                  <a:pt x="17" y="131"/>
                  <a:pt x="8" y="117"/>
                  <a:pt x="5" y="103"/>
                </a:cubicBezTo>
                <a:cubicBezTo>
                  <a:pt x="4" y="100"/>
                  <a:pt x="4" y="97"/>
                  <a:pt x="4" y="93"/>
                </a:cubicBezTo>
                <a:cubicBezTo>
                  <a:pt x="4" y="76"/>
                  <a:pt x="4" y="76"/>
                  <a:pt x="4" y="76"/>
                </a:cubicBezTo>
                <a:cubicBezTo>
                  <a:pt x="66" y="76"/>
                  <a:pt x="66" y="76"/>
                  <a:pt x="66" y="76"/>
                </a:cubicBezTo>
                <a:cubicBezTo>
                  <a:pt x="66" y="164"/>
                  <a:pt x="66" y="164"/>
                  <a:pt x="66" y="164"/>
                </a:cubicBezTo>
                <a:cubicBezTo>
                  <a:pt x="55" y="162"/>
                  <a:pt x="42" y="155"/>
                  <a:pt x="31" y="144"/>
                </a:cubicBezTo>
                <a:cubicBezTo>
                  <a:pt x="30" y="144"/>
                  <a:pt x="29" y="143"/>
                  <a:pt x="29" y="143"/>
                </a:cubicBezTo>
                <a:cubicBezTo>
                  <a:pt x="32" y="140"/>
                  <a:pt x="31" y="143"/>
                  <a:pt x="34" y="142"/>
                </a:cubicBezTo>
                <a:cubicBezTo>
                  <a:pt x="35" y="142"/>
                  <a:pt x="35" y="142"/>
                  <a:pt x="36" y="143"/>
                </a:cubicBezTo>
                <a:cubicBezTo>
                  <a:pt x="36" y="143"/>
                  <a:pt x="38" y="144"/>
                  <a:pt x="38" y="143"/>
                </a:cubicBezTo>
                <a:cubicBezTo>
                  <a:pt x="38" y="142"/>
                  <a:pt x="39" y="142"/>
                  <a:pt x="39" y="142"/>
                </a:cubicBezTo>
                <a:cubicBezTo>
                  <a:pt x="43" y="144"/>
                  <a:pt x="43" y="140"/>
                  <a:pt x="46" y="141"/>
                </a:cubicBezTo>
                <a:cubicBezTo>
                  <a:pt x="48" y="141"/>
                  <a:pt x="50" y="141"/>
                  <a:pt x="48" y="140"/>
                </a:cubicBezTo>
                <a:cubicBezTo>
                  <a:pt x="46" y="139"/>
                  <a:pt x="45" y="138"/>
                  <a:pt x="44" y="138"/>
                </a:cubicBezTo>
                <a:cubicBezTo>
                  <a:pt x="42" y="138"/>
                  <a:pt x="41" y="139"/>
                  <a:pt x="40" y="136"/>
                </a:cubicBezTo>
                <a:cubicBezTo>
                  <a:pt x="40" y="135"/>
                  <a:pt x="40" y="132"/>
                  <a:pt x="40" y="131"/>
                </a:cubicBezTo>
                <a:cubicBezTo>
                  <a:pt x="40" y="128"/>
                  <a:pt x="41" y="129"/>
                  <a:pt x="43" y="129"/>
                </a:cubicBezTo>
                <a:cubicBezTo>
                  <a:pt x="46" y="129"/>
                  <a:pt x="46" y="129"/>
                  <a:pt x="49" y="128"/>
                </a:cubicBezTo>
                <a:cubicBezTo>
                  <a:pt x="49" y="128"/>
                  <a:pt x="49" y="128"/>
                  <a:pt x="50" y="128"/>
                </a:cubicBezTo>
                <a:cubicBezTo>
                  <a:pt x="50" y="130"/>
                  <a:pt x="50" y="139"/>
                  <a:pt x="49" y="141"/>
                </a:cubicBezTo>
                <a:close/>
                <a:moveTo>
                  <a:pt x="46" y="127"/>
                </a:moveTo>
                <a:cubicBezTo>
                  <a:pt x="43" y="127"/>
                  <a:pt x="44" y="124"/>
                  <a:pt x="44" y="124"/>
                </a:cubicBezTo>
                <a:cubicBezTo>
                  <a:pt x="43" y="123"/>
                  <a:pt x="42" y="125"/>
                  <a:pt x="41" y="124"/>
                </a:cubicBezTo>
                <a:cubicBezTo>
                  <a:pt x="39" y="124"/>
                  <a:pt x="40" y="123"/>
                  <a:pt x="40" y="122"/>
                </a:cubicBezTo>
                <a:cubicBezTo>
                  <a:pt x="39" y="120"/>
                  <a:pt x="39" y="120"/>
                  <a:pt x="41" y="121"/>
                </a:cubicBezTo>
                <a:cubicBezTo>
                  <a:pt x="42" y="121"/>
                  <a:pt x="43" y="120"/>
                  <a:pt x="44" y="119"/>
                </a:cubicBezTo>
                <a:cubicBezTo>
                  <a:pt x="45" y="118"/>
                  <a:pt x="47" y="119"/>
                  <a:pt x="48" y="121"/>
                </a:cubicBezTo>
                <a:cubicBezTo>
                  <a:pt x="49" y="123"/>
                  <a:pt x="48" y="123"/>
                  <a:pt x="47" y="123"/>
                </a:cubicBezTo>
                <a:cubicBezTo>
                  <a:pt x="47" y="123"/>
                  <a:pt x="47" y="124"/>
                  <a:pt x="48" y="124"/>
                </a:cubicBezTo>
                <a:cubicBezTo>
                  <a:pt x="48" y="124"/>
                  <a:pt x="49" y="124"/>
                  <a:pt x="50" y="125"/>
                </a:cubicBezTo>
                <a:cubicBezTo>
                  <a:pt x="50" y="126"/>
                  <a:pt x="49" y="126"/>
                  <a:pt x="49" y="126"/>
                </a:cubicBezTo>
                <a:cubicBezTo>
                  <a:pt x="48" y="127"/>
                  <a:pt x="47" y="127"/>
                  <a:pt x="46" y="127"/>
                </a:cubicBezTo>
                <a:close/>
                <a:moveTo>
                  <a:pt x="118" y="143"/>
                </a:moveTo>
                <a:cubicBezTo>
                  <a:pt x="117" y="143"/>
                  <a:pt x="117" y="143"/>
                  <a:pt x="117" y="143"/>
                </a:cubicBezTo>
                <a:cubicBezTo>
                  <a:pt x="113" y="109"/>
                  <a:pt x="113" y="109"/>
                  <a:pt x="113" y="109"/>
                </a:cubicBezTo>
                <a:cubicBezTo>
                  <a:pt x="101" y="138"/>
                  <a:pt x="101" y="138"/>
                  <a:pt x="101" y="138"/>
                </a:cubicBezTo>
                <a:cubicBezTo>
                  <a:pt x="100" y="138"/>
                  <a:pt x="100" y="138"/>
                  <a:pt x="100" y="138"/>
                </a:cubicBezTo>
                <a:cubicBezTo>
                  <a:pt x="111" y="105"/>
                  <a:pt x="111" y="105"/>
                  <a:pt x="111" y="105"/>
                </a:cubicBezTo>
                <a:cubicBezTo>
                  <a:pt x="108" y="105"/>
                  <a:pt x="108" y="105"/>
                  <a:pt x="108" y="105"/>
                </a:cubicBezTo>
                <a:cubicBezTo>
                  <a:pt x="108" y="98"/>
                  <a:pt x="108" y="98"/>
                  <a:pt x="108" y="98"/>
                </a:cubicBezTo>
                <a:cubicBezTo>
                  <a:pt x="100" y="98"/>
                  <a:pt x="100" y="98"/>
                  <a:pt x="100" y="98"/>
                </a:cubicBezTo>
                <a:cubicBezTo>
                  <a:pt x="98" y="96"/>
                  <a:pt x="98" y="96"/>
                  <a:pt x="98" y="96"/>
                </a:cubicBezTo>
                <a:cubicBezTo>
                  <a:pt x="98" y="89"/>
                  <a:pt x="98" y="89"/>
                  <a:pt x="98" y="89"/>
                </a:cubicBezTo>
                <a:cubicBezTo>
                  <a:pt x="92" y="89"/>
                  <a:pt x="92" y="89"/>
                  <a:pt x="92" y="89"/>
                </a:cubicBezTo>
                <a:cubicBezTo>
                  <a:pt x="92" y="85"/>
                  <a:pt x="92" y="85"/>
                  <a:pt x="92" y="85"/>
                </a:cubicBezTo>
                <a:cubicBezTo>
                  <a:pt x="138" y="85"/>
                  <a:pt x="138" y="85"/>
                  <a:pt x="138" y="85"/>
                </a:cubicBezTo>
                <a:cubicBezTo>
                  <a:pt x="138" y="89"/>
                  <a:pt x="138" y="89"/>
                  <a:pt x="138" y="89"/>
                </a:cubicBezTo>
                <a:cubicBezTo>
                  <a:pt x="132" y="89"/>
                  <a:pt x="132" y="89"/>
                  <a:pt x="132" y="89"/>
                </a:cubicBezTo>
                <a:cubicBezTo>
                  <a:pt x="132" y="96"/>
                  <a:pt x="132" y="96"/>
                  <a:pt x="132" y="96"/>
                </a:cubicBezTo>
                <a:cubicBezTo>
                  <a:pt x="130" y="98"/>
                  <a:pt x="130" y="98"/>
                  <a:pt x="130" y="98"/>
                </a:cubicBezTo>
                <a:cubicBezTo>
                  <a:pt x="122" y="98"/>
                  <a:pt x="122" y="98"/>
                  <a:pt x="122" y="98"/>
                </a:cubicBezTo>
                <a:cubicBezTo>
                  <a:pt x="122" y="105"/>
                  <a:pt x="122" y="105"/>
                  <a:pt x="122" y="105"/>
                </a:cubicBezTo>
                <a:cubicBezTo>
                  <a:pt x="119" y="105"/>
                  <a:pt x="119" y="105"/>
                  <a:pt x="119" y="105"/>
                </a:cubicBezTo>
                <a:cubicBezTo>
                  <a:pt x="126" y="134"/>
                  <a:pt x="126" y="134"/>
                  <a:pt x="126" y="134"/>
                </a:cubicBezTo>
                <a:cubicBezTo>
                  <a:pt x="125" y="134"/>
                  <a:pt x="125" y="134"/>
                  <a:pt x="125" y="134"/>
                </a:cubicBezTo>
                <a:cubicBezTo>
                  <a:pt x="117" y="109"/>
                  <a:pt x="117" y="109"/>
                  <a:pt x="117" y="109"/>
                </a:cubicBezTo>
                <a:cubicBezTo>
                  <a:pt x="118" y="143"/>
                  <a:pt x="118" y="143"/>
                  <a:pt x="118" y="143"/>
                </a:cubicBezTo>
                <a:close/>
                <a:moveTo>
                  <a:pt x="86" y="164"/>
                </a:moveTo>
                <a:cubicBezTo>
                  <a:pt x="86" y="76"/>
                  <a:pt x="86" y="76"/>
                  <a:pt x="86" y="76"/>
                </a:cubicBezTo>
                <a:cubicBezTo>
                  <a:pt x="147" y="76"/>
                  <a:pt x="147" y="76"/>
                  <a:pt x="147" y="76"/>
                </a:cubicBezTo>
                <a:cubicBezTo>
                  <a:pt x="147" y="97"/>
                  <a:pt x="147" y="97"/>
                  <a:pt x="147" y="97"/>
                </a:cubicBezTo>
                <a:cubicBezTo>
                  <a:pt x="147" y="102"/>
                  <a:pt x="147" y="104"/>
                  <a:pt x="146" y="109"/>
                </a:cubicBezTo>
                <a:cubicBezTo>
                  <a:pt x="139" y="135"/>
                  <a:pt x="112" y="158"/>
                  <a:pt x="86" y="164"/>
                </a:cubicBezTo>
                <a:close/>
                <a:moveTo>
                  <a:pt x="11" y="53"/>
                </a:moveTo>
                <a:cubicBezTo>
                  <a:pt x="10" y="52"/>
                  <a:pt x="9" y="50"/>
                  <a:pt x="9" y="49"/>
                </a:cubicBezTo>
                <a:cubicBezTo>
                  <a:pt x="9" y="48"/>
                  <a:pt x="9" y="47"/>
                  <a:pt x="9" y="47"/>
                </a:cubicBezTo>
                <a:cubicBezTo>
                  <a:pt x="17" y="43"/>
                  <a:pt x="31" y="34"/>
                  <a:pt x="39" y="30"/>
                </a:cubicBezTo>
                <a:cubicBezTo>
                  <a:pt x="39" y="30"/>
                  <a:pt x="40" y="29"/>
                  <a:pt x="40" y="28"/>
                </a:cubicBezTo>
                <a:cubicBezTo>
                  <a:pt x="42" y="27"/>
                  <a:pt x="52" y="21"/>
                  <a:pt x="52" y="20"/>
                </a:cubicBezTo>
                <a:cubicBezTo>
                  <a:pt x="46" y="11"/>
                  <a:pt x="46" y="11"/>
                  <a:pt x="46" y="11"/>
                </a:cubicBezTo>
                <a:cubicBezTo>
                  <a:pt x="46" y="10"/>
                  <a:pt x="46" y="10"/>
                  <a:pt x="46" y="10"/>
                </a:cubicBezTo>
                <a:cubicBezTo>
                  <a:pt x="52" y="7"/>
                  <a:pt x="52" y="7"/>
                  <a:pt x="52" y="7"/>
                </a:cubicBezTo>
                <a:cubicBezTo>
                  <a:pt x="53" y="7"/>
                  <a:pt x="53" y="7"/>
                  <a:pt x="53" y="7"/>
                </a:cubicBezTo>
                <a:cubicBezTo>
                  <a:pt x="58" y="15"/>
                  <a:pt x="58" y="15"/>
                  <a:pt x="58" y="15"/>
                </a:cubicBezTo>
                <a:cubicBezTo>
                  <a:pt x="62" y="15"/>
                  <a:pt x="62" y="15"/>
                  <a:pt x="62" y="15"/>
                </a:cubicBezTo>
                <a:cubicBezTo>
                  <a:pt x="66" y="21"/>
                  <a:pt x="66" y="21"/>
                  <a:pt x="66" y="21"/>
                </a:cubicBezTo>
                <a:cubicBezTo>
                  <a:pt x="65" y="21"/>
                  <a:pt x="64" y="22"/>
                  <a:pt x="64" y="23"/>
                </a:cubicBezTo>
                <a:cubicBezTo>
                  <a:pt x="66" y="27"/>
                  <a:pt x="69" y="33"/>
                  <a:pt x="70" y="38"/>
                </a:cubicBezTo>
                <a:cubicBezTo>
                  <a:pt x="70" y="40"/>
                  <a:pt x="69" y="48"/>
                  <a:pt x="66" y="50"/>
                </a:cubicBezTo>
                <a:cubicBezTo>
                  <a:pt x="66" y="50"/>
                  <a:pt x="65" y="50"/>
                  <a:pt x="65" y="49"/>
                </a:cubicBezTo>
                <a:cubicBezTo>
                  <a:pt x="65" y="42"/>
                  <a:pt x="63" y="35"/>
                  <a:pt x="57" y="27"/>
                </a:cubicBezTo>
                <a:cubicBezTo>
                  <a:pt x="56" y="27"/>
                  <a:pt x="35" y="39"/>
                  <a:pt x="34" y="40"/>
                </a:cubicBezTo>
                <a:cubicBezTo>
                  <a:pt x="27" y="44"/>
                  <a:pt x="20" y="47"/>
                  <a:pt x="15" y="51"/>
                </a:cubicBezTo>
                <a:cubicBezTo>
                  <a:pt x="13" y="52"/>
                  <a:pt x="12" y="52"/>
                  <a:pt x="11" y="53"/>
                </a:cubicBezTo>
                <a:close/>
                <a:moveTo>
                  <a:pt x="114" y="61"/>
                </a:moveTo>
                <a:cubicBezTo>
                  <a:pt x="114" y="61"/>
                  <a:pt x="115" y="61"/>
                  <a:pt x="115" y="61"/>
                </a:cubicBezTo>
                <a:cubicBezTo>
                  <a:pt x="115" y="62"/>
                  <a:pt x="116" y="62"/>
                  <a:pt x="116" y="62"/>
                </a:cubicBezTo>
                <a:cubicBezTo>
                  <a:pt x="116" y="63"/>
                  <a:pt x="116" y="63"/>
                  <a:pt x="116" y="63"/>
                </a:cubicBezTo>
                <a:cubicBezTo>
                  <a:pt x="116" y="64"/>
                  <a:pt x="116" y="64"/>
                  <a:pt x="116" y="64"/>
                </a:cubicBezTo>
                <a:cubicBezTo>
                  <a:pt x="115" y="64"/>
                  <a:pt x="115" y="64"/>
                  <a:pt x="115" y="64"/>
                </a:cubicBezTo>
                <a:cubicBezTo>
                  <a:pt x="115" y="63"/>
                  <a:pt x="114" y="62"/>
                  <a:pt x="114" y="61"/>
                </a:cubicBezTo>
                <a:close/>
                <a:moveTo>
                  <a:pt x="117" y="67"/>
                </a:moveTo>
                <a:cubicBezTo>
                  <a:pt x="118" y="67"/>
                  <a:pt x="118" y="67"/>
                  <a:pt x="119" y="67"/>
                </a:cubicBezTo>
                <a:cubicBezTo>
                  <a:pt x="119" y="67"/>
                  <a:pt x="119" y="67"/>
                  <a:pt x="120" y="66"/>
                </a:cubicBezTo>
                <a:cubicBezTo>
                  <a:pt x="120" y="66"/>
                  <a:pt x="120" y="67"/>
                  <a:pt x="120" y="67"/>
                </a:cubicBezTo>
                <a:cubicBezTo>
                  <a:pt x="120" y="67"/>
                  <a:pt x="121" y="67"/>
                  <a:pt x="120" y="67"/>
                </a:cubicBezTo>
                <a:cubicBezTo>
                  <a:pt x="120" y="67"/>
                  <a:pt x="120" y="67"/>
                  <a:pt x="120" y="67"/>
                </a:cubicBezTo>
                <a:cubicBezTo>
                  <a:pt x="120" y="68"/>
                  <a:pt x="120"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8" y="68"/>
                  <a:pt x="117" y="68"/>
                  <a:pt x="117" y="67"/>
                </a:cubicBezTo>
                <a:close/>
                <a:moveTo>
                  <a:pt x="120" y="69"/>
                </a:moveTo>
                <a:cubicBezTo>
                  <a:pt x="120" y="69"/>
                  <a:pt x="120" y="69"/>
                  <a:pt x="120" y="69"/>
                </a:cubicBezTo>
                <a:cubicBezTo>
                  <a:pt x="120" y="69"/>
                  <a:pt x="120" y="69"/>
                  <a:pt x="121" y="69"/>
                </a:cubicBezTo>
                <a:cubicBezTo>
                  <a:pt x="121" y="69"/>
                  <a:pt x="121" y="69"/>
                  <a:pt x="121" y="69"/>
                </a:cubicBezTo>
                <a:cubicBezTo>
                  <a:pt x="120" y="69"/>
                  <a:pt x="120" y="69"/>
                  <a:pt x="120" y="69"/>
                </a:cubicBezTo>
                <a:cubicBezTo>
                  <a:pt x="120" y="69"/>
                  <a:pt x="120" y="69"/>
                  <a:pt x="120" y="69"/>
                </a:cubicBezTo>
                <a:cubicBezTo>
                  <a:pt x="120" y="69"/>
                  <a:pt x="120" y="70"/>
                  <a:pt x="120" y="70"/>
                </a:cubicBezTo>
                <a:cubicBezTo>
                  <a:pt x="120" y="71"/>
                  <a:pt x="120" y="72"/>
                  <a:pt x="120" y="73"/>
                </a:cubicBezTo>
                <a:cubicBezTo>
                  <a:pt x="120" y="73"/>
                  <a:pt x="120" y="74"/>
                  <a:pt x="120" y="75"/>
                </a:cubicBezTo>
                <a:cubicBezTo>
                  <a:pt x="120" y="75"/>
                  <a:pt x="120" y="75"/>
                  <a:pt x="120" y="75"/>
                </a:cubicBezTo>
                <a:cubicBezTo>
                  <a:pt x="120" y="75"/>
                  <a:pt x="119" y="75"/>
                  <a:pt x="119" y="75"/>
                </a:cubicBezTo>
                <a:cubicBezTo>
                  <a:pt x="119" y="75"/>
                  <a:pt x="119" y="75"/>
                  <a:pt x="118" y="74"/>
                </a:cubicBezTo>
                <a:cubicBezTo>
                  <a:pt x="117" y="74"/>
                  <a:pt x="116" y="73"/>
                  <a:pt x="116" y="73"/>
                </a:cubicBezTo>
                <a:cubicBezTo>
                  <a:pt x="115" y="73"/>
                  <a:pt x="115" y="73"/>
                  <a:pt x="115" y="72"/>
                </a:cubicBezTo>
                <a:cubicBezTo>
                  <a:pt x="115" y="72"/>
                  <a:pt x="116" y="73"/>
                  <a:pt x="116" y="73"/>
                </a:cubicBezTo>
                <a:cubicBezTo>
                  <a:pt x="117" y="73"/>
                  <a:pt x="117" y="73"/>
                  <a:pt x="118" y="73"/>
                </a:cubicBezTo>
                <a:cubicBezTo>
                  <a:pt x="118" y="73"/>
                  <a:pt x="119" y="73"/>
                  <a:pt x="119" y="73"/>
                </a:cubicBezTo>
                <a:cubicBezTo>
                  <a:pt x="119" y="73"/>
                  <a:pt x="119" y="72"/>
                  <a:pt x="119" y="72"/>
                </a:cubicBezTo>
                <a:cubicBezTo>
                  <a:pt x="119" y="71"/>
                  <a:pt x="119" y="70"/>
                  <a:pt x="119" y="69"/>
                </a:cubicBezTo>
                <a:cubicBezTo>
                  <a:pt x="119" y="69"/>
                  <a:pt x="119" y="69"/>
                  <a:pt x="119" y="69"/>
                </a:cubicBezTo>
                <a:cubicBezTo>
                  <a:pt x="119" y="69"/>
                  <a:pt x="119" y="70"/>
                  <a:pt x="118" y="70"/>
                </a:cubicBezTo>
                <a:cubicBezTo>
                  <a:pt x="118" y="70"/>
                  <a:pt x="117" y="71"/>
                  <a:pt x="116" y="71"/>
                </a:cubicBezTo>
                <a:cubicBezTo>
                  <a:pt x="115" y="70"/>
                  <a:pt x="115" y="70"/>
                  <a:pt x="115" y="70"/>
                </a:cubicBezTo>
                <a:cubicBezTo>
                  <a:pt x="116" y="70"/>
                  <a:pt x="116" y="70"/>
                  <a:pt x="116" y="70"/>
                </a:cubicBezTo>
                <a:cubicBezTo>
                  <a:pt x="116" y="70"/>
                  <a:pt x="117" y="69"/>
                  <a:pt x="117" y="69"/>
                </a:cubicBezTo>
                <a:cubicBezTo>
                  <a:pt x="118" y="69"/>
                  <a:pt x="118" y="69"/>
                  <a:pt x="119" y="69"/>
                </a:cubicBezTo>
                <a:cubicBezTo>
                  <a:pt x="119" y="68"/>
                  <a:pt x="120" y="68"/>
                  <a:pt x="121" y="68"/>
                </a:cubicBezTo>
                <a:cubicBezTo>
                  <a:pt x="121" y="68"/>
                  <a:pt x="121" y="68"/>
                  <a:pt x="122" y="68"/>
                </a:cubicBezTo>
                <a:cubicBezTo>
                  <a:pt x="122" y="68"/>
                  <a:pt x="122" y="68"/>
                  <a:pt x="123" y="68"/>
                </a:cubicBezTo>
                <a:cubicBezTo>
                  <a:pt x="123" y="68"/>
                  <a:pt x="123" y="68"/>
                  <a:pt x="123" y="68"/>
                </a:cubicBezTo>
                <a:cubicBezTo>
                  <a:pt x="123" y="68"/>
                  <a:pt x="123" y="69"/>
                  <a:pt x="123" y="69"/>
                </a:cubicBezTo>
                <a:cubicBezTo>
                  <a:pt x="122" y="69"/>
                  <a:pt x="121" y="69"/>
                  <a:pt x="120" y="69"/>
                </a:cubicBezTo>
                <a:close/>
                <a:moveTo>
                  <a:pt x="120" y="56"/>
                </a:moveTo>
                <a:cubicBezTo>
                  <a:pt x="121" y="56"/>
                  <a:pt x="122" y="56"/>
                  <a:pt x="122" y="57"/>
                </a:cubicBezTo>
                <a:cubicBezTo>
                  <a:pt x="122" y="57"/>
                  <a:pt x="122" y="58"/>
                  <a:pt x="121" y="58"/>
                </a:cubicBezTo>
                <a:cubicBezTo>
                  <a:pt x="121" y="58"/>
                  <a:pt x="120" y="58"/>
                  <a:pt x="120" y="59"/>
                </a:cubicBezTo>
                <a:cubicBezTo>
                  <a:pt x="120" y="59"/>
                  <a:pt x="119" y="59"/>
                  <a:pt x="119" y="59"/>
                </a:cubicBezTo>
                <a:cubicBezTo>
                  <a:pt x="119" y="59"/>
                  <a:pt x="119" y="59"/>
                  <a:pt x="119" y="59"/>
                </a:cubicBezTo>
                <a:cubicBezTo>
                  <a:pt x="120" y="59"/>
                  <a:pt x="120" y="59"/>
                  <a:pt x="120" y="59"/>
                </a:cubicBezTo>
                <a:cubicBezTo>
                  <a:pt x="122" y="58"/>
                  <a:pt x="122" y="58"/>
                  <a:pt x="124" y="58"/>
                </a:cubicBezTo>
                <a:cubicBezTo>
                  <a:pt x="124" y="58"/>
                  <a:pt x="125" y="57"/>
                  <a:pt x="125" y="58"/>
                </a:cubicBezTo>
                <a:cubicBezTo>
                  <a:pt x="126" y="58"/>
                  <a:pt x="126" y="58"/>
                  <a:pt x="126" y="58"/>
                </a:cubicBezTo>
                <a:cubicBezTo>
                  <a:pt x="126" y="59"/>
                  <a:pt x="125" y="59"/>
                  <a:pt x="124" y="60"/>
                </a:cubicBezTo>
                <a:cubicBezTo>
                  <a:pt x="124" y="60"/>
                  <a:pt x="123" y="61"/>
                  <a:pt x="122" y="62"/>
                </a:cubicBezTo>
                <a:cubicBezTo>
                  <a:pt x="122" y="62"/>
                  <a:pt x="122" y="62"/>
                  <a:pt x="122" y="63"/>
                </a:cubicBezTo>
                <a:cubicBezTo>
                  <a:pt x="122" y="63"/>
                  <a:pt x="122" y="63"/>
                  <a:pt x="122" y="64"/>
                </a:cubicBezTo>
                <a:cubicBezTo>
                  <a:pt x="122" y="64"/>
                  <a:pt x="122" y="64"/>
                  <a:pt x="122" y="64"/>
                </a:cubicBezTo>
                <a:cubicBezTo>
                  <a:pt x="122" y="63"/>
                  <a:pt x="124" y="63"/>
                  <a:pt x="124" y="63"/>
                </a:cubicBezTo>
                <a:cubicBezTo>
                  <a:pt x="125" y="63"/>
                  <a:pt x="125" y="63"/>
                  <a:pt x="125" y="63"/>
                </a:cubicBezTo>
                <a:cubicBezTo>
                  <a:pt x="126" y="64"/>
                  <a:pt x="125" y="64"/>
                  <a:pt x="124" y="65"/>
                </a:cubicBezTo>
                <a:cubicBezTo>
                  <a:pt x="124" y="65"/>
                  <a:pt x="123" y="65"/>
                  <a:pt x="122" y="65"/>
                </a:cubicBezTo>
                <a:cubicBezTo>
                  <a:pt x="122" y="65"/>
                  <a:pt x="122" y="66"/>
                  <a:pt x="121" y="66"/>
                </a:cubicBezTo>
                <a:cubicBezTo>
                  <a:pt x="120" y="66"/>
                  <a:pt x="120" y="66"/>
                  <a:pt x="119" y="66"/>
                </a:cubicBezTo>
                <a:cubicBezTo>
                  <a:pt x="119" y="66"/>
                  <a:pt x="119" y="66"/>
                  <a:pt x="119" y="66"/>
                </a:cubicBezTo>
                <a:cubicBezTo>
                  <a:pt x="119" y="66"/>
                  <a:pt x="119" y="66"/>
                  <a:pt x="120" y="66"/>
                </a:cubicBezTo>
                <a:cubicBezTo>
                  <a:pt x="121" y="65"/>
                  <a:pt x="122" y="65"/>
                  <a:pt x="123" y="64"/>
                </a:cubicBezTo>
                <a:cubicBezTo>
                  <a:pt x="123" y="64"/>
                  <a:pt x="124" y="64"/>
                  <a:pt x="124" y="64"/>
                </a:cubicBezTo>
                <a:cubicBezTo>
                  <a:pt x="124" y="64"/>
                  <a:pt x="124" y="64"/>
                  <a:pt x="124" y="64"/>
                </a:cubicBezTo>
                <a:cubicBezTo>
                  <a:pt x="124" y="64"/>
                  <a:pt x="124" y="64"/>
                  <a:pt x="123" y="64"/>
                </a:cubicBezTo>
                <a:cubicBezTo>
                  <a:pt x="123" y="64"/>
                  <a:pt x="122" y="64"/>
                  <a:pt x="122" y="64"/>
                </a:cubicBezTo>
                <a:cubicBezTo>
                  <a:pt x="121" y="64"/>
                  <a:pt x="121" y="64"/>
                  <a:pt x="121" y="64"/>
                </a:cubicBezTo>
                <a:cubicBezTo>
                  <a:pt x="121" y="65"/>
                  <a:pt x="121" y="65"/>
                  <a:pt x="120" y="65"/>
                </a:cubicBezTo>
                <a:cubicBezTo>
                  <a:pt x="120" y="65"/>
                  <a:pt x="120" y="65"/>
                  <a:pt x="119" y="65"/>
                </a:cubicBezTo>
                <a:cubicBezTo>
                  <a:pt x="119" y="65"/>
                  <a:pt x="119" y="65"/>
                  <a:pt x="119" y="65"/>
                </a:cubicBezTo>
                <a:cubicBezTo>
                  <a:pt x="118" y="65"/>
                  <a:pt x="117" y="66"/>
                  <a:pt x="116" y="66"/>
                </a:cubicBezTo>
                <a:cubicBezTo>
                  <a:pt x="115" y="67"/>
                  <a:pt x="115" y="69"/>
                  <a:pt x="113" y="69"/>
                </a:cubicBezTo>
                <a:cubicBezTo>
                  <a:pt x="113" y="69"/>
                  <a:pt x="113" y="69"/>
                  <a:pt x="113" y="69"/>
                </a:cubicBezTo>
                <a:cubicBezTo>
                  <a:pt x="113" y="69"/>
                  <a:pt x="113" y="68"/>
                  <a:pt x="113" y="68"/>
                </a:cubicBezTo>
                <a:cubicBezTo>
                  <a:pt x="114" y="67"/>
                  <a:pt x="114" y="67"/>
                  <a:pt x="115" y="66"/>
                </a:cubicBezTo>
                <a:cubicBezTo>
                  <a:pt x="115" y="66"/>
                  <a:pt x="115" y="65"/>
                  <a:pt x="115" y="65"/>
                </a:cubicBezTo>
                <a:cubicBezTo>
                  <a:pt x="115" y="66"/>
                  <a:pt x="115" y="66"/>
                  <a:pt x="115" y="66"/>
                </a:cubicBezTo>
                <a:cubicBezTo>
                  <a:pt x="114" y="67"/>
                  <a:pt x="114" y="67"/>
                  <a:pt x="114" y="68"/>
                </a:cubicBezTo>
                <a:cubicBezTo>
                  <a:pt x="114" y="68"/>
                  <a:pt x="114" y="68"/>
                  <a:pt x="114" y="68"/>
                </a:cubicBezTo>
                <a:cubicBezTo>
                  <a:pt x="114" y="68"/>
                  <a:pt x="114" y="68"/>
                  <a:pt x="115" y="67"/>
                </a:cubicBezTo>
                <a:cubicBezTo>
                  <a:pt x="115" y="67"/>
                  <a:pt x="115" y="67"/>
                  <a:pt x="116" y="66"/>
                </a:cubicBezTo>
                <a:cubicBezTo>
                  <a:pt x="116" y="66"/>
                  <a:pt x="117" y="65"/>
                  <a:pt x="117" y="65"/>
                </a:cubicBezTo>
                <a:cubicBezTo>
                  <a:pt x="118" y="65"/>
                  <a:pt x="118" y="65"/>
                  <a:pt x="119" y="65"/>
                </a:cubicBezTo>
                <a:cubicBezTo>
                  <a:pt x="119" y="64"/>
                  <a:pt x="119" y="64"/>
                  <a:pt x="119" y="64"/>
                </a:cubicBezTo>
                <a:cubicBezTo>
                  <a:pt x="119" y="64"/>
                  <a:pt x="119" y="64"/>
                  <a:pt x="119" y="64"/>
                </a:cubicBezTo>
                <a:cubicBezTo>
                  <a:pt x="119" y="63"/>
                  <a:pt x="118" y="63"/>
                  <a:pt x="118" y="63"/>
                </a:cubicBezTo>
                <a:cubicBezTo>
                  <a:pt x="118" y="63"/>
                  <a:pt x="118" y="63"/>
                  <a:pt x="118" y="63"/>
                </a:cubicBezTo>
                <a:cubicBezTo>
                  <a:pt x="118" y="63"/>
                  <a:pt x="117" y="64"/>
                  <a:pt x="116" y="64"/>
                </a:cubicBezTo>
                <a:cubicBezTo>
                  <a:pt x="116" y="64"/>
                  <a:pt x="116" y="64"/>
                  <a:pt x="116" y="64"/>
                </a:cubicBezTo>
                <a:cubicBezTo>
                  <a:pt x="117" y="64"/>
                  <a:pt x="117" y="63"/>
                  <a:pt x="117" y="62"/>
                </a:cubicBezTo>
                <a:cubicBezTo>
                  <a:pt x="117" y="62"/>
                  <a:pt x="117" y="62"/>
                  <a:pt x="117" y="62"/>
                </a:cubicBezTo>
                <a:cubicBezTo>
                  <a:pt x="117" y="62"/>
                  <a:pt x="116" y="63"/>
                  <a:pt x="116" y="62"/>
                </a:cubicBezTo>
                <a:cubicBezTo>
                  <a:pt x="117" y="62"/>
                  <a:pt x="116" y="61"/>
                  <a:pt x="116" y="61"/>
                </a:cubicBezTo>
                <a:cubicBezTo>
                  <a:pt x="116" y="61"/>
                  <a:pt x="116" y="60"/>
                  <a:pt x="116" y="60"/>
                </a:cubicBezTo>
                <a:cubicBezTo>
                  <a:pt x="116" y="59"/>
                  <a:pt x="116" y="59"/>
                  <a:pt x="116" y="59"/>
                </a:cubicBezTo>
                <a:cubicBezTo>
                  <a:pt x="116" y="59"/>
                  <a:pt x="116" y="59"/>
                  <a:pt x="116" y="59"/>
                </a:cubicBezTo>
                <a:cubicBezTo>
                  <a:pt x="116" y="59"/>
                  <a:pt x="116" y="59"/>
                  <a:pt x="116" y="59"/>
                </a:cubicBezTo>
                <a:cubicBezTo>
                  <a:pt x="116" y="59"/>
                  <a:pt x="117" y="60"/>
                  <a:pt x="117" y="60"/>
                </a:cubicBezTo>
                <a:cubicBezTo>
                  <a:pt x="117" y="61"/>
                  <a:pt x="117" y="61"/>
                  <a:pt x="118" y="62"/>
                </a:cubicBezTo>
                <a:cubicBezTo>
                  <a:pt x="118" y="62"/>
                  <a:pt x="118" y="62"/>
                  <a:pt x="118" y="62"/>
                </a:cubicBezTo>
                <a:cubicBezTo>
                  <a:pt x="118" y="61"/>
                  <a:pt x="118" y="61"/>
                  <a:pt x="119" y="60"/>
                </a:cubicBezTo>
                <a:cubicBezTo>
                  <a:pt x="118" y="60"/>
                  <a:pt x="118" y="60"/>
                  <a:pt x="118" y="59"/>
                </a:cubicBezTo>
                <a:cubicBezTo>
                  <a:pt x="118" y="59"/>
                  <a:pt x="118" y="59"/>
                  <a:pt x="119" y="59"/>
                </a:cubicBezTo>
                <a:cubicBezTo>
                  <a:pt x="119" y="58"/>
                  <a:pt x="120" y="57"/>
                  <a:pt x="121" y="56"/>
                </a:cubicBezTo>
                <a:cubicBezTo>
                  <a:pt x="120" y="56"/>
                  <a:pt x="120" y="56"/>
                  <a:pt x="120" y="56"/>
                </a:cubicBezTo>
                <a:close/>
                <a:moveTo>
                  <a:pt x="124" y="58"/>
                </a:moveTo>
                <a:cubicBezTo>
                  <a:pt x="124" y="59"/>
                  <a:pt x="124" y="59"/>
                  <a:pt x="124" y="59"/>
                </a:cubicBezTo>
                <a:cubicBezTo>
                  <a:pt x="123" y="60"/>
                  <a:pt x="123" y="60"/>
                  <a:pt x="122" y="61"/>
                </a:cubicBezTo>
                <a:cubicBezTo>
                  <a:pt x="122" y="61"/>
                  <a:pt x="122" y="61"/>
                  <a:pt x="122" y="62"/>
                </a:cubicBezTo>
                <a:cubicBezTo>
                  <a:pt x="122" y="62"/>
                  <a:pt x="122" y="62"/>
                  <a:pt x="122" y="62"/>
                </a:cubicBezTo>
                <a:cubicBezTo>
                  <a:pt x="122" y="62"/>
                  <a:pt x="122" y="62"/>
                  <a:pt x="122" y="62"/>
                </a:cubicBezTo>
                <a:cubicBezTo>
                  <a:pt x="122" y="60"/>
                  <a:pt x="121" y="60"/>
                  <a:pt x="121" y="59"/>
                </a:cubicBezTo>
                <a:cubicBezTo>
                  <a:pt x="121" y="59"/>
                  <a:pt x="121" y="59"/>
                  <a:pt x="121" y="59"/>
                </a:cubicBezTo>
                <a:cubicBezTo>
                  <a:pt x="121" y="59"/>
                  <a:pt x="122" y="59"/>
                  <a:pt x="122" y="59"/>
                </a:cubicBezTo>
                <a:cubicBezTo>
                  <a:pt x="123" y="59"/>
                  <a:pt x="123" y="58"/>
                  <a:pt x="124" y="58"/>
                </a:cubicBezTo>
                <a:close/>
                <a:moveTo>
                  <a:pt x="122" y="62"/>
                </a:moveTo>
                <a:cubicBezTo>
                  <a:pt x="122" y="62"/>
                  <a:pt x="122" y="62"/>
                  <a:pt x="122" y="62"/>
                </a:cubicBezTo>
                <a:cubicBezTo>
                  <a:pt x="121" y="63"/>
                  <a:pt x="120" y="63"/>
                  <a:pt x="120" y="64"/>
                </a:cubicBezTo>
                <a:cubicBezTo>
                  <a:pt x="120" y="64"/>
                  <a:pt x="120" y="63"/>
                  <a:pt x="120" y="63"/>
                </a:cubicBezTo>
                <a:cubicBezTo>
                  <a:pt x="120" y="63"/>
                  <a:pt x="120" y="63"/>
                  <a:pt x="120" y="63"/>
                </a:cubicBezTo>
                <a:cubicBezTo>
                  <a:pt x="120" y="63"/>
                  <a:pt x="120" y="63"/>
                  <a:pt x="120" y="63"/>
                </a:cubicBezTo>
                <a:cubicBezTo>
                  <a:pt x="120" y="62"/>
                  <a:pt x="122" y="62"/>
                  <a:pt x="122" y="62"/>
                </a:cubicBezTo>
                <a:close/>
                <a:moveTo>
                  <a:pt x="119" y="62"/>
                </a:moveTo>
                <a:cubicBezTo>
                  <a:pt x="119" y="62"/>
                  <a:pt x="119" y="62"/>
                  <a:pt x="119" y="62"/>
                </a:cubicBezTo>
                <a:cubicBezTo>
                  <a:pt x="119" y="62"/>
                  <a:pt x="119" y="62"/>
                  <a:pt x="119" y="62"/>
                </a:cubicBezTo>
                <a:cubicBezTo>
                  <a:pt x="119" y="62"/>
                  <a:pt x="119" y="62"/>
                  <a:pt x="119" y="62"/>
                </a:cubicBezTo>
                <a:cubicBezTo>
                  <a:pt x="119" y="62"/>
                  <a:pt x="119" y="62"/>
                  <a:pt x="119" y="62"/>
                </a:cubicBezTo>
                <a:cubicBezTo>
                  <a:pt x="119" y="62"/>
                  <a:pt x="120" y="61"/>
                  <a:pt x="120" y="61"/>
                </a:cubicBezTo>
                <a:cubicBezTo>
                  <a:pt x="120" y="61"/>
                  <a:pt x="120" y="61"/>
                  <a:pt x="120" y="61"/>
                </a:cubicBezTo>
                <a:cubicBezTo>
                  <a:pt x="120" y="60"/>
                  <a:pt x="120" y="60"/>
                  <a:pt x="120" y="60"/>
                </a:cubicBezTo>
                <a:cubicBezTo>
                  <a:pt x="120" y="60"/>
                  <a:pt x="120" y="60"/>
                  <a:pt x="120" y="60"/>
                </a:cubicBezTo>
                <a:cubicBezTo>
                  <a:pt x="120" y="60"/>
                  <a:pt x="121" y="60"/>
                  <a:pt x="121" y="60"/>
                </a:cubicBezTo>
                <a:cubicBezTo>
                  <a:pt x="121" y="60"/>
                  <a:pt x="121" y="61"/>
                  <a:pt x="121" y="61"/>
                </a:cubicBezTo>
                <a:cubicBezTo>
                  <a:pt x="121" y="62"/>
                  <a:pt x="120" y="62"/>
                  <a:pt x="120" y="62"/>
                </a:cubicBezTo>
                <a:cubicBezTo>
                  <a:pt x="119" y="62"/>
                  <a:pt x="119" y="62"/>
                  <a:pt x="119" y="62"/>
                </a:cubicBezTo>
                <a:cubicBezTo>
                  <a:pt x="119" y="62"/>
                  <a:pt x="119" y="62"/>
                  <a:pt x="119" y="62"/>
                </a:cubicBezTo>
                <a:cubicBezTo>
                  <a:pt x="119" y="62"/>
                  <a:pt x="119" y="62"/>
                  <a:pt x="119" y="62"/>
                </a:cubicBezTo>
                <a:close/>
                <a:moveTo>
                  <a:pt x="108" y="46"/>
                </a:moveTo>
                <a:cubicBezTo>
                  <a:pt x="105" y="46"/>
                  <a:pt x="105" y="46"/>
                  <a:pt x="105" y="46"/>
                </a:cubicBezTo>
                <a:cubicBezTo>
                  <a:pt x="105" y="46"/>
                  <a:pt x="105" y="46"/>
                  <a:pt x="105" y="46"/>
                </a:cubicBezTo>
                <a:cubicBezTo>
                  <a:pt x="105" y="46"/>
                  <a:pt x="105" y="46"/>
                  <a:pt x="105" y="45"/>
                </a:cubicBezTo>
                <a:cubicBezTo>
                  <a:pt x="105" y="41"/>
                  <a:pt x="105" y="41"/>
                  <a:pt x="105" y="41"/>
                </a:cubicBezTo>
                <a:cubicBezTo>
                  <a:pt x="105" y="40"/>
                  <a:pt x="105" y="40"/>
                  <a:pt x="105" y="40"/>
                </a:cubicBezTo>
                <a:cubicBezTo>
                  <a:pt x="105" y="40"/>
                  <a:pt x="105" y="40"/>
                  <a:pt x="105" y="40"/>
                </a:cubicBezTo>
                <a:cubicBezTo>
                  <a:pt x="104" y="40"/>
                  <a:pt x="104" y="40"/>
                  <a:pt x="104" y="40"/>
                </a:cubicBezTo>
                <a:cubicBezTo>
                  <a:pt x="104" y="39"/>
                  <a:pt x="104" y="39"/>
                  <a:pt x="104" y="39"/>
                </a:cubicBezTo>
                <a:cubicBezTo>
                  <a:pt x="105" y="39"/>
                  <a:pt x="105" y="39"/>
                  <a:pt x="106" y="39"/>
                </a:cubicBezTo>
                <a:cubicBezTo>
                  <a:pt x="106" y="39"/>
                  <a:pt x="106" y="39"/>
                  <a:pt x="106" y="39"/>
                </a:cubicBezTo>
                <a:cubicBezTo>
                  <a:pt x="107" y="39"/>
                  <a:pt x="107" y="39"/>
                  <a:pt x="107" y="39"/>
                </a:cubicBezTo>
                <a:cubicBezTo>
                  <a:pt x="107" y="45"/>
                  <a:pt x="107" y="45"/>
                  <a:pt x="107" y="45"/>
                </a:cubicBezTo>
                <a:cubicBezTo>
                  <a:pt x="107" y="45"/>
                  <a:pt x="107" y="46"/>
                  <a:pt x="108" y="46"/>
                </a:cubicBezTo>
                <a:cubicBezTo>
                  <a:pt x="108" y="46"/>
                  <a:pt x="108" y="46"/>
                  <a:pt x="108" y="46"/>
                </a:cubicBezTo>
                <a:cubicBezTo>
                  <a:pt x="108" y="46"/>
                  <a:pt x="108" y="46"/>
                  <a:pt x="108" y="46"/>
                </a:cubicBezTo>
                <a:close/>
                <a:moveTo>
                  <a:pt x="115" y="44"/>
                </a:moveTo>
                <a:cubicBezTo>
                  <a:pt x="115" y="45"/>
                  <a:pt x="115" y="45"/>
                  <a:pt x="114" y="46"/>
                </a:cubicBezTo>
                <a:cubicBezTo>
                  <a:pt x="114" y="46"/>
                  <a:pt x="113" y="46"/>
                  <a:pt x="112" y="46"/>
                </a:cubicBezTo>
                <a:cubicBezTo>
                  <a:pt x="112" y="46"/>
                  <a:pt x="111" y="46"/>
                  <a:pt x="111" y="46"/>
                </a:cubicBezTo>
                <a:cubicBezTo>
                  <a:pt x="110" y="46"/>
                  <a:pt x="110" y="45"/>
                  <a:pt x="110" y="45"/>
                </a:cubicBezTo>
                <a:cubicBezTo>
                  <a:pt x="110" y="44"/>
                  <a:pt x="110" y="43"/>
                  <a:pt x="111" y="43"/>
                </a:cubicBezTo>
                <a:cubicBezTo>
                  <a:pt x="110" y="42"/>
                  <a:pt x="110" y="41"/>
                  <a:pt x="110" y="41"/>
                </a:cubicBezTo>
                <a:cubicBezTo>
                  <a:pt x="110" y="40"/>
                  <a:pt x="110" y="40"/>
                  <a:pt x="111" y="39"/>
                </a:cubicBezTo>
                <a:cubicBezTo>
                  <a:pt x="111" y="39"/>
                  <a:pt x="112" y="39"/>
                  <a:pt x="112" y="39"/>
                </a:cubicBezTo>
                <a:cubicBezTo>
                  <a:pt x="113" y="39"/>
                  <a:pt x="114" y="39"/>
                  <a:pt x="114" y="39"/>
                </a:cubicBezTo>
                <a:cubicBezTo>
                  <a:pt x="115" y="39"/>
                  <a:pt x="115" y="40"/>
                  <a:pt x="115" y="40"/>
                </a:cubicBezTo>
                <a:cubicBezTo>
                  <a:pt x="115" y="41"/>
                  <a:pt x="114" y="42"/>
                  <a:pt x="114" y="42"/>
                </a:cubicBezTo>
                <a:cubicBezTo>
                  <a:pt x="115" y="43"/>
                  <a:pt x="115" y="44"/>
                  <a:pt x="115" y="44"/>
                </a:cubicBezTo>
                <a:close/>
                <a:moveTo>
                  <a:pt x="113" y="40"/>
                </a:moveTo>
                <a:cubicBezTo>
                  <a:pt x="113" y="41"/>
                  <a:pt x="113" y="41"/>
                  <a:pt x="113" y="42"/>
                </a:cubicBezTo>
                <a:cubicBezTo>
                  <a:pt x="113" y="41"/>
                  <a:pt x="112" y="41"/>
                  <a:pt x="112" y="41"/>
                </a:cubicBezTo>
                <a:cubicBezTo>
                  <a:pt x="112" y="40"/>
                  <a:pt x="112" y="40"/>
                  <a:pt x="112" y="40"/>
                </a:cubicBezTo>
                <a:cubicBezTo>
                  <a:pt x="112" y="40"/>
                  <a:pt x="112" y="39"/>
                  <a:pt x="112" y="39"/>
                </a:cubicBezTo>
                <a:cubicBezTo>
                  <a:pt x="112" y="39"/>
                  <a:pt x="112" y="39"/>
                  <a:pt x="112" y="39"/>
                </a:cubicBezTo>
                <a:cubicBezTo>
                  <a:pt x="113" y="39"/>
                  <a:pt x="113" y="39"/>
                  <a:pt x="113" y="40"/>
                </a:cubicBezTo>
                <a:close/>
                <a:moveTo>
                  <a:pt x="113" y="45"/>
                </a:moveTo>
                <a:cubicBezTo>
                  <a:pt x="113" y="45"/>
                  <a:pt x="113" y="46"/>
                  <a:pt x="113" y="46"/>
                </a:cubicBezTo>
                <a:cubicBezTo>
                  <a:pt x="113" y="46"/>
                  <a:pt x="113" y="46"/>
                  <a:pt x="112" y="46"/>
                </a:cubicBezTo>
                <a:cubicBezTo>
                  <a:pt x="112" y="46"/>
                  <a:pt x="112" y="46"/>
                  <a:pt x="112" y="46"/>
                </a:cubicBezTo>
                <a:cubicBezTo>
                  <a:pt x="111" y="45"/>
                  <a:pt x="111" y="45"/>
                  <a:pt x="111" y="45"/>
                </a:cubicBezTo>
                <a:cubicBezTo>
                  <a:pt x="111" y="44"/>
                  <a:pt x="112" y="43"/>
                  <a:pt x="112" y="43"/>
                </a:cubicBezTo>
                <a:cubicBezTo>
                  <a:pt x="112" y="43"/>
                  <a:pt x="113" y="44"/>
                  <a:pt x="113" y="44"/>
                </a:cubicBezTo>
                <a:cubicBezTo>
                  <a:pt x="113" y="44"/>
                  <a:pt x="113" y="44"/>
                  <a:pt x="113" y="44"/>
                </a:cubicBezTo>
                <a:cubicBezTo>
                  <a:pt x="113" y="45"/>
                  <a:pt x="113" y="45"/>
                  <a:pt x="113" y="45"/>
                </a:cubicBezTo>
                <a:close/>
                <a:moveTo>
                  <a:pt x="122" y="42"/>
                </a:moveTo>
                <a:cubicBezTo>
                  <a:pt x="122" y="44"/>
                  <a:pt x="122" y="45"/>
                  <a:pt x="121" y="45"/>
                </a:cubicBezTo>
                <a:cubicBezTo>
                  <a:pt x="121" y="46"/>
                  <a:pt x="120" y="46"/>
                  <a:pt x="119" y="46"/>
                </a:cubicBezTo>
                <a:cubicBezTo>
                  <a:pt x="118" y="46"/>
                  <a:pt x="118" y="46"/>
                  <a:pt x="117" y="46"/>
                </a:cubicBezTo>
                <a:cubicBezTo>
                  <a:pt x="117" y="46"/>
                  <a:pt x="117" y="45"/>
                  <a:pt x="117" y="45"/>
                </a:cubicBezTo>
                <a:cubicBezTo>
                  <a:pt x="117" y="45"/>
                  <a:pt x="117" y="44"/>
                  <a:pt x="117" y="44"/>
                </a:cubicBezTo>
                <a:cubicBezTo>
                  <a:pt x="117" y="44"/>
                  <a:pt x="118" y="44"/>
                  <a:pt x="118" y="44"/>
                </a:cubicBezTo>
                <a:cubicBezTo>
                  <a:pt x="118" y="44"/>
                  <a:pt x="118" y="44"/>
                  <a:pt x="119" y="44"/>
                </a:cubicBezTo>
                <a:cubicBezTo>
                  <a:pt x="119" y="44"/>
                  <a:pt x="119" y="45"/>
                  <a:pt x="119" y="45"/>
                </a:cubicBezTo>
                <a:cubicBezTo>
                  <a:pt x="119" y="45"/>
                  <a:pt x="119" y="45"/>
                  <a:pt x="119" y="45"/>
                </a:cubicBezTo>
                <a:cubicBezTo>
                  <a:pt x="119" y="46"/>
                  <a:pt x="118" y="46"/>
                  <a:pt x="118" y="46"/>
                </a:cubicBezTo>
                <a:cubicBezTo>
                  <a:pt x="118" y="46"/>
                  <a:pt x="118" y="46"/>
                  <a:pt x="119" y="46"/>
                </a:cubicBezTo>
                <a:cubicBezTo>
                  <a:pt x="119" y="46"/>
                  <a:pt x="119" y="46"/>
                  <a:pt x="119" y="46"/>
                </a:cubicBezTo>
                <a:cubicBezTo>
                  <a:pt x="120" y="46"/>
                  <a:pt x="120" y="44"/>
                  <a:pt x="120" y="43"/>
                </a:cubicBezTo>
                <a:cubicBezTo>
                  <a:pt x="120" y="43"/>
                  <a:pt x="119" y="43"/>
                  <a:pt x="119" y="43"/>
                </a:cubicBezTo>
                <a:cubicBezTo>
                  <a:pt x="118" y="43"/>
                  <a:pt x="118" y="43"/>
                  <a:pt x="117" y="43"/>
                </a:cubicBezTo>
                <a:cubicBezTo>
                  <a:pt x="117" y="42"/>
                  <a:pt x="117" y="42"/>
                  <a:pt x="117" y="41"/>
                </a:cubicBezTo>
                <a:cubicBezTo>
                  <a:pt x="117" y="40"/>
                  <a:pt x="117" y="40"/>
                  <a:pt x="117" y="39"/>
                </a:cubicBezTo>
                <a:cubicBezTo>
                  <a:pt x="118" y="39"/>
                  <a:pt x="119" y="39"/>
                  <a:pt x="119" y="39"/>
                </a:cubicBezTo>
                <a:cubicBezTo>
                  <a:pt x="120" y="39"/>
                  <a:pt x="121" y="39"/>
                  <a:pt x="121" y="40"/>
                </a:cubicBezTo>
                <a:cubicBezTo>
                  <a:pt x="122" y="40"/>
                  <a:pt x="122" y="41"/>
                  <a:pt x="122" y="42"/>
                </a:cubicBezTo>
                <a:close/>
                <a:moveTo>
                  <a:pt x="120" y="43"/>
                </a:moveTo>
                <a:cubicBezTo>
                  <a:pt x="120" y="43"/>
                  <a:pt x="120" y="43"/>
                  <a:pt x="119" y="43"/>
                </a:cubicBezTo>
                <a:cubicBezTo>
                  <a:pt x="119" y="43"/>
                  <a:pt x="119" y="43"/>
                  <a:pt x="119" y="41"/>
                </a:cubicBezTo>
                <a:cubicBezTo>
                  <a:pt x="119" y="41"/>
                  <a:pt x="119" y="40"/>
                  <a:pt x="119" y="40"/>
                </a:cubicBezTo>
                <a:cubicBezTo>
                  <a:pt x="119" y="39"/>
                  <a:pt x="119" y="39"/>
                  <a:pt x="119" y="39"/>
                </a:cubicBezTo>
                <a:cubicBezTo>
                  <a:pt x="120" y="39"/>
                  <a:pt x="120" y="40"/>
                  <a:pt x="120" y="41"/>
                </a:cubicBezTo>
                <a:cubicBezTo>
                  <a:pt x="120" y="42"/>
                  <a:pt x="120" y="42"/>
                  <a:pt x="120" y="43"/>
                </a:cubicBezTo>
                <a:close/>
                <a:moveTo>
                  <a:pt x="129" y="44"/>
                </a:moveTo>
                <a:cubicBezTo>
                  <a:pt x="129" y="45"/>
                  <a:pt x="128" y="45"/>
                  <a:pt x="128" y="46"/>
                </a:cubicBezTo>
                <a:cubicBezTo>
                  <a:pt x="128" y="46"/>
                  <a:pt x="127" y="46"/>
                  <a:pt x="126" y="46"/>
                </a:cubicBezTo>
                <a:cubicBezTo>
                  <a:pt x="125" y="46"/>
                  <a:pt x="125" y="46"/>
                  <a:pt x="124" y="45"/>
                </a:cubicBezTo>
                <a:cubicBezTo>
                  <a:pt x="124" y="45"/>
                  <a:pt x="124" y="44"/>
                  <a:pt x="124" y="43"/>
                </a:cubicBezTo>
                <a:cubicBezTo>
                  <a:pt x="124" y="41"/>
                  <a:pt x="124" y="41"/>
                  <a:pt x="124" y="40"/>
                </a:cubicBezTo>
                <a:cubicBezTo>
                  <a:pt x="125" y="39"/>
                  <a:pt x="126" y="39"/>
                  <a:pt x="127" y="39"/>
                </a:cubicBezTo>
                <a:cubicBezTo>
                  <a:pt x="127" y="39"/>
                  <a:pt x="128" y="39"/>
                  <a:pt x="128" y="39"/>
                </a:cubicBezTo>
                <a:cubicBezTo>
                  <a:pt x="128" y="39"/>
                  <a:pt x="129" y="40"/>
                  <a:pt x="129" y="40"/>
                </a:cubicBezTo>
                <a:cubicBezTo>
                  <a:pt x="129" y="40"/>
                  <a:pt x="128" y="41"/>
                  <a:pt x="128" y="41"/>
                </a:cubicBezTo>
                <a:cubicBezTo>
                  <a:pt x="128" y="41"/>
                  <a:pt x="128" y="41"/>
                  <a:pt x="128" y="41"/>
                </a:cubicBezTo>
                <a:cubicBezTo>
                  <a:pt x="127" y="41"/>
                  <a:pt x="127" y="41"/>
                  <a:pt x="127" y="41"/>
                </a:cubicBezTo>
                <a:cubicBezTo>
                  <a:pt x="127" y="41"/>
                  <a:pt x="126" y="40"/>
                  <a:pt x="126" y="40"/>
                </a:cubicBezTo>
                <a:cubicBezTo>
                  <a:pt x="126" y="40"/>
                  <a:pt x="127" y="40"/>
                  <a:pt x="127" y="40"/>
                </a:cubicBezTo>
                <a:cubicBezTo>
                  <a:pt x="127" y="39"/>
                  <a:pt x="127" y="39"/>
                  <a:pt x="127" y="39"/>
                </a:cubicBezTo>
                <a:cubicBezTo>
                  <a:pt x="127" y="39"/>
                  <a:pt x="127" y="39"/>
                  <a:pt x="127" y="39"/>
                </a:cubicBezTo>
                <a:cubicBezTo>
                  <a:pt x="126" y="39"/>
                  <a:pt x="125" y="40"/>
                  <a:pt x="125" y="42"/>
                </a:cubicBezTo>
                <a:cubicBezTo>
                  <a:pt x="126" y="42"/>
                  <a:pt x="126" y="42"/>
                  <a:pt x="127" y="42"/>
                </a:cubicBezTo>
                <a:cubicBezTo>
                  <a:pt x="127" y="42"/>
                  <a:pt x="128" y="42"/>
                  <a:pt x="128" y="42"/>
                </a:cubicBezTo>
                <a:cubicBezTo>
                  <a:pt x="128" y="43"/>
                  <a:pt x="129" y="43"/>
                  <a:pt x="129" y="44"/>
                </a:cubicBezTo>
                <a:close/>
                <a:moveTo>
                  <a:pt x="127" y="44"/>
                </a:moveTo>
                <a:cubicBezTo>
                  <a:pt x="127" y="44"/>
                  <a:pt x="127" y="45"/>
                  <a:pt x="127" y="45"/>
                </a:cubicBezTo>
                <a:cubicBezTo>
                  <a:pt x="127" y="46"/>
                  <a:pt x="127" y="46"/>
                  <a:pt x="126" y="46"/>
                </a:cubicBezTo>
                <a:cubicBezTo>
                  <a:pt x="126" y="46"/>
                  <a:pt x="125" y="45"/>
                  <a:pt x="125" y="44"/>
                </a:cubicBezTo>
                <a:cubicBezTo>
                  <a:pt x="125" y="44"/>
                  <a:pt x="125" y="43"/>
                  <a:pt x="125" y="43"/>
                </a:cubicBezTo>
                <a:cubicBezTo>
                  <a:pt x="125" y="43"/>
                  <a:pt x="125" y="42"/>
                  <a:pt x="125" y="42"/>
                </a:cubicBezTo>
                <a:cubicBezTo>
                  <a:pt x="126" y="42"/>
                  <a:pt x="126" y="42"/>
                  <a:pt x="126" y="42"/>
                </a:cubicBezTo>
                <a:cubicBezTo>
                  <a:pt x="127" y="42"/>
                  <a:pt x="127" y="43"/>
                  <a:pt x="127" y="44"/>
                </a:cubicBezTo>
                <a:close/>
              </a:path>
            </a:pathLst>
          </a:custGeom>
          <a:solidFill>
            <a:srgbClr val="002060"/>
          </a:solidFill>
          <a:ln>
            <a:noFill/>
          </a:ln>
        </p:spPr>
        <p:txBody>
          <a:bodyPr anchor="ctr"/>
          <a:lstStyle/>
          <a:p>
            <a:endParaRPr lang="zh-CN" altLang="en-US"/>
          </a:p>
        </p:txBody>
      </p:sp>
    </p:spTree>
    <p:extLst>
      <p:ext uri="{BB962C8B-B14F-4D97-AF65-F5344CB8AC3E}">
        <p14:creationId xmlns:p14="http://schemas.microsoft.com/office/powerpoint/2010/main" val="75711724"/>
      </p:ext>
    </p:extLst>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100000"/>
              </a:lnSpc>
              <a:spcBef>
                <a:spcPct val="0"/>
              </a:spcBef>
              <a:buClrTx/>
              <a:buFontTx/>
              <a:buNone/>
            </a:pPr>
            <a:r>
              <a:rPr kumimoji="0" lang="zh-CN" altLang="en-US" sz="1600" i="1" dirty="0">
                <a:solidFill>
                  <a:srgbClr val="333333"/>
                </a:solidFill>
                <a:latin typeface="黑体" pitchFamily="2" charset="-122"/>
                <a:ea typeface="黑体" pitchFamily="2" charset="-122"/>
              </a:rPr>
              <a:t>       </a:t>
            </a:r>
            <a:r>
              <a:rPr kumimoji="0" lang="zh-CN" altLang="en-US" sz="1600" b="0" i="1" dirty="0">
                <a:solidFill>
                  <a:srgbClr val="333333"/>
                </a:solidFill>
                <a:latin typeface="黑体" pitchFamily="2" charset="-122"/>
                <a:ea typeface="黑体" pitchFamily="2" charset="-122"/>
              </a:rPr>
              <a:t>西南交通大学计算机与人工智能学院</a:t>
            </a:r>
            <a:r>
              <a:rPr kumimoji="0" lang="zh-CN" altLang="en-US" sz="1800" b="0" i="1" dirty="0">
                <a:solidFill>
                  <a:srgbClr val="333333"/>
                </a:solidFill>
                <a:latin typeface="黑体" pitchFamily="2" charset="-122"/>
                <a:ea typeface="黑体" pitchFamily="2" charset="-122"/>
              </a:rPr>
              <a:t>“</a:t>
            </a:r>
            <a:r>
              <a:rPr kumimoji="0" lang="zh-CN" altLang="en-US" sz="1600" i="1" dirty="0">
                <a:solidFill>
                  <a:srgbClr val="333333"/>
                </a:solidFill>
                <a:latin typeface="黑体" pitchFamily="2" charset="-122"/>
                <a:ea typeface="黑体" pitchFamily="2" charset="-122"/>
              </a:rPr>
              <a:t>计算机组成原理</a:t>
            </a:r>
            <a:r>
              <a:rPr kumimoji="0" lang="en-US" altLang="zh-CN" sz="1800" b="0" i="1" dirty="0">
                <a:solidFill>
                  <a:srgbClr val="333333"/>
                </a:solidFill>
                <a:latin typeface="黑体" pitchFamily="2" charset="-122"/>
                <a:ea typeface="黑体" pitchFamily="2" charset="-122"/>
              </a:rPr>
              <a:t>”</a:t>
            </a:r>
            <a:r>
              <a:rPr kumimoji="0" lang="zh-CN" altLang="en-US" sz="1600" b="0" i="1" dirty="0">
                <a:solidFill>
                  <a:srgbClr val="333333"/>
                </a:solidFill>
                <a:latin typeface="黑体" pitchFamily="2" charset="-122"/>
                <a:ea typeface="黑体" pitchFamily="2" charset="-122"/>
              </a:rPr>
              <a:t>教案</a:t>
            </a:r>
          </a:p>
        </p:txBody>
      </p:sp>
      <p:sp>
        <p:nvSpPr>
          <p:cNvPr id="7" name="Rectangle 13"/>
          <p:cNvSpPr>
            <a:spLocks noChangeArrowheads="1"/>
          </p:cNvSpPr>
          <p:nvPr userDrawn="1"/>
        </p:nvSpPr>
        <p:spPr bwMode="auto">
          <a:xfrm>
            <a:off x="7977808" y="6502400"/>
            <a:ext cx="990600" cy="344488"/>
          </a:xfrm>
          <a:prstGeom prst="rect">
            <a:avLst/>
          </a:prstGeom>
          <a:noFill/>
          <a:ln w="9525">
            <a:noFill/>
            <a:miter lim="800000"/>
            <a:headEnd/>
            <a:tailEnd/>
          </a:ln>
        </p:spPr>
        <p:txBody>
          <a:bodyPr tIns="0" anchor="b"/>
          <a:lstStyle>
            <a:lvl1pPr>
              <a:defRPr/>
            </a:lvl1pPr>
          </a:lstStyle>
          <a:p>
            <a:pPr algn="ctr">
              <a:lnSpc>
                <a:spcPct val="100000"/>
              </a:lnSpc>
              <a:spcBef>
                <a:spcPct val="0"/>
              </a:spcBef>
              <a:buClrTx/>
              <a:buFontTx/>
              <a:buNone/>
              <a:defRPr/>
            </a:pPr>
            <a:fld id="{6E18FAC9-112F-4F97-BD56-9ADF18D9DD67}" type="slidenum">
              <a:rPr kumimoji="0" lang="zh-CN" altLang="en-US" sz="1600">
                <a:solidFill>
                  <a:srgbClr val="002060"/>
                </a:solidFill>
                <a:latin typeface="黑体" pitchFamily="2" charset="-122"/>
                <a:ea typeface="黑体" pitchFamily="2" charset="-122"/>
              </a:rPr>
              <a:pPr algn="ctr">
                <a:lnSpc>
                  <a:spcPct val="100000"/>
                </a:lnSpc>
                <a:spcBef>
                  <a:spcPct val="0"/>
                </a:spcBef>
                <a:buClrTx/>
                <a:buFontTx/>
                <a:buNone/>
                <a:defRPr/>
              </a:pPr>
              <a:t>‹#›</a:t>
            </a:fld>
            <a:endParaRPr kumimoji="0" lang="en-US" altLang="zh-CN" sz="1800" dirty="0">
              <a:solidFill>
                <a:srgbClr val="002060"/>
              </a:solidFill>
              <a:latin typeface="黑体" pitchFamily="2" charset="-122"/>
              <a:ea typeface="黑体" pitchFamily="2" charset="-122"/>
            </a:endParaRPr>
          </a:p>
        </p:txBody>
      </p:sp>
      <p:sp>
        <p:nvSpPr>
          <p:cNvPr id="8" name="íṥļíḋè"/>
          <p:cNvSpPr>
            <a:spLocks noChangeAspect="1"/>
          </p:cNvSpPr>
          <p:nvPr userDrawn="1"/>
        </p:nvSpPr>
        <p:spPr bwMode="auto">
          <a:xfrm>
            <a:off x="426945" y="6553269"/>
            <a:ext cx="284027" cy="324000"/>
          </a:xfrm>
          <a:custGeom>
            <a:avLst/>
            <a:gdLst>
              <a:gd name="T0" fmla="*/ 72 w 151"/>
              <a:gd name="T1" fmla="*/ 92 h 171"/>
              <a:gd name="T2" fmla="*/ 83 w 151"/>
              <a:gd name="T3" fmla="*/ 96 h 171"/>
              <a:gd name="T4" fmla="*/ 77 w 151"/>
              <a:gd name="T5" fmla="*/ 92 h 171"/>
              <a:gd name="T6" fmla="*/ 80 w 151"/>
              <a:gd name="T7" fmla="*/ 115 h 171"/>
              <a:gd name="T8" fmla="*/ 72 w 151"/>
              <a:gd name="T9" fmla="*/ 115 h 171"/>
              <a:gd name="T10" fmla="*/ 74 w 151"/>
              <a:gd name="T11" fmla="*/ 97 h 171"/>
              <a:gd name="T12" fmla="*/ 69 w 151"/>
              <a:gd name="T13" fmla="*/ 137 h 171"/>
              <a:gd name="T14" fmla="*/ 77 w 151"/>
              <a:gd name="T15" fmla="*/ 121 h 171"/>
              <a:gd name="T16" fmla="*/ 77 w 151"/>
              <a:gd name="T17" fmla="*/ 127 h 171"/>
              <a:gd name="T18" fmla="*/ 80 w 151"/>
              <a:gd name="T19" fmla="*/ 145 h 171"/>
              <a:gd name="T20" fmla="*/ 71 w 151"/>
              <a:gd name="T21" fmla="*/ 144 h 171"/>
              <a:gd name="T22" fmla="*/ 107 w 151"/>
              <a:gd name="T23" fmla="*/ 13 h 171"/>
              <a:gd name="T24" fmla="*/ 106 w 151"/>
              <a:gd name="T25" fmla="*/ 11 h 171"/>
              <a:gd name="T26" fmla="*/ 113 w 151"/>
              <a:gd name="T27" fmla="*/ 10 h 171"/>
              <a:gd name="T28" fmla="*/ 111 w 151"/>
              <a:gd name="T29" fmla="*/ 15 h 171"/>
              <a:gd name="T30" fmla="*/ 115 w 151"/>
              <a:gd name="T31" fmla="*/ 26 h 171"/>
              <a:gd name="T32" fmla="*/ 114 w 151"/>
              <a:gd name="T33" fmla="*/ 30 h 171"/>
              <a:gd name="T34" fmla="*/ 112 w 151"/>
              <a:gd name="T35" fmla="*/ 22 h 171"/>
              <a:gd name="T36" fmla="*/ 108 w 151"/>
              <a:gd name="T37" fmla="*/ 27 h 171"/>
              <a:gd name="T38" fmla="*/ 107 w 151"/>
              <a:gd name="T39" fmla="*/ 27 h 171"/>
              <a:gd name="T40" fmla="*/ 108 w 151"/>
              <a:gd name="T41" fmla="*/ 22 h 171"/>
              <a:gd name="T42" fmla="*/ 106 w 151"/>
              <a:gd name="T43" fmla="*/ 28 h 171"/>
              <a:gd name="T44" fmla="*/ 105 w 151"/>
              <a:gd name="T45" fmla="*/ 30 h 171"/>
              <a:gd name="T46" fmla="*/ 107 w 151"/>
              <a:gd name="T47" fmla="*/ 16 h 171"/>
              <a:gd name="T48" fmla="*/ 107 w 151"/>
              <a:gd name="T49" fmla="*/ 18 h 171"/>
              <a:gd name="T50" fmla="*/ 108 w 151"/>
              <a:gd name="T51" fmla="*/ 25 h 171"/>
              <a:gd name="T52" fmla="*/ 36 w 151"/>
              <a:gd name="T53" fmla="*/ 65 h 171"/>
              <a:gd name="T54" fmla="*/ 28 w 151"/>
              <a:gd name="T55" fmla="*/ 69 h 171"/>
              <a:gd name="T56" fmla="*/ 30 w 151"/>
              <a:gd name="T57" fmla="*/ 63 h 171"/>
              <a:gd name="T58" fmla="*/ 39 w 151"/>
              <a:gd name="T59" fmla="*/ 65 h 171"/>
              <a:gd name="T60" fmla="*/ 47 w 151"/>
              <a:gd name="T61" fmla="*/ 69 h 171"/>
              <a:gd name="T62" fmla="*/ 49 w 151"/>
              <a:gd name="T63" fmla="*/ 65 h 171"/>
              <a:gd name="T64" fmla="*/ 57 w 151"/>
              <a:gd name="T65" fmla="*/ 66 h 171"/>
              <a:gd name="T66" fmla="*/ 87 w 151"/>
              <a:gd name="T67" fmla="*/ 71 h 171"/>
              <a:gd name="T68" fmla="*/ 91 w 151"/>
              <a:gd name="T69" fmla="*/ 72 h 171"/>
              <a:gd name="T70" fmla="*/ 90 w 151"/>
              <a:gd name="T71" fmla="*/ 57 h 171"/>
              <a:gd name="T72" fmla="*/ 69 w 151"/>
              <a:gd name="T73" fmla="*/ 67 h 171"/>
              <a:gd name="T74" fmla="*/ 104 w 151"/>
              <a:gd name="T75" fmla="*/ 59 h 171"/>
              <a:gd name="T76" fmla="*/ 102 w 151"/>
              <a:gd name="T77" fmla="*/ 94 h 171"/>
              <a:gd name="T78" fmla="*/ 112 w 151"/>
              <a:gd name="T79" fmla="*/ 20 h 171"/>
              <a:gd name="T80" fmla="*/ 113 w 151"/>
              <a:gd name="T81" fmla="*/ 18 h 171"/>
              <a:gd name="T82" fmla="*/ 113 w 151"/>
              <a:gd name="T83" fmla="*/ 18 h 171"/>
              <a:gd name="T84" fmla="*/ 88 w 151"/>
              <a:gd name="T85" fmla="*/ 29 h 171"/>
              <a:gd name="T86" fmla="*/ 88 w 151"/>
              <a:gd name="T87" fmla="*/ 29 h 171"/>
              <a:gd name="T88" fmla="*/ 86 w 151"/>
              <a:gd name="T89" fmla="*/ 17 h 171"/>
              <a:gd name="T90" fmla="*/ 91 w 151"/>
              <a:gd name="T91" fmla="*/ 25 h 171"/>
              <a:gd name="T92" fmla="*/ 93 w 151"/>
              <a:gd name="T93" fmla="*/ 22 h 171"/>
              <a:gd name="T94" fmla="*/ 97 w 151"/>
              <a:gd name="T95" fmla="*/ 14 h 171"/>
              <a:gd name="T96" fmla="*/ 92 w 151"/>
              <a:gd name="T97" fmla="*/ 25 h 171"/>
              <a:gd name="T98" fmla="*/ 20 w 151"/>
              <a:gd name="T99" fmla="*/ 110 h 171"/>
              <a:gd name="T100" fmla="*/ 54 w 151"/>
              <a:gd name="T101" fmla="*/ 88 h 171"/>
              <a:gd name="T102" fmla="*/ 58 w 151"/>
              <a:gd name="T103" fmla="*/ 120 h 171"/>
              <a:gd name="T104" fmla="*/ 125 w 151"/>
              <a:gd name="T105" fmla="*/ 4 h 171"/>
              <a:gd name="T106" fmla="*/ 20 w 151"/>
              <a:gd name="T107" fmla="*/ 119 h 171"/>
              <a:gd name="T108" fmla="*/ 43 w 151"/>
              <a:gd name="T109" fmla="*/ 129 h 171"/>
              <a:gd name="T110" fmla="*/ 125 w 151"/>
              <a:gd name="T111" fmla="*/ 134 h 171"/>
              <a:gd name="T112" fmla="*/ 119 w 151"/>
              <a:gd name="T113" fmla="*/ 67 h 171"/>
              <a:gd name="T114" fmla="*/ 121 w 151"/>
              <a:gd name="T115" fmla="*/ 68 h 171"/>
              <a:gd name="T116" fmla="*/ 116 w 151"/>
              <a:gd name="T117" fmla="*/ 66 h 171"/>
              <a:gd name="T118" fmla="*/ 122 w 151"/>
              <a:gd name="T119" fmla="*/ 62 h 171"/>
              <a:gd name="T120" fmla="*/ 106 w 151"/>
              <a:gd name="T121" fmla="*/ 39 h 171"/>
              <a:gd name="T122" fmla="*/ 119 w 151"/>
              <a:gd name="T123" fmla="*/ 46 h 171"/>
              <a:gd name="T124" fmla="*/ 126 w 151"/>
              <a:gd name="T125" fmla="*/ 4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1" h="171">
                <a:moveTo>
                  <a:pt x="151" y="92"/>
                </a:moveTo>
                <a:cubicBezTo>
                  <a:pt x="151" y="22"/>
                  <a:pt x="151" y="22"/>
                  <a:pt x="151" y="22"/>
                </a:cubicBezTo>
                <a:cubicBezTo>
                  <a:pt x="144" y="19"/>
                  <a:pt x="130" y="8"/>
                  <a:pt x="129" y="0"/>
                </a:cubicBezTo>
                <a:cubicBezTo>
                  <a:pt x="76" y="0"/>
                  <a:pt x="76" y="0"/>
                  <a:pt x="76" y="0"/>
                </a:cubicBezTo>
                <a:cubicBezTo>
                  <a:pt x="22" y="0"/>
                  <a:pt x="22" y="0"/>
                  <a:pt x="22" y="0"/>
                </a:cubicBezTo>
                <a:cubicBezTo>
                  <a:pt x="21" y="8"/>
                  <a:pt x="6" y="19"/>
                  <a:pt x="0" y="22"/>
                </a:cubicBezTo>
                <a:cubicBezTo>
                  <a:pt x="0" y="92"/>
                  <a:pt x="0" y="92"/>
                  <a:pt x="0" y="92"/>
                </a:cubicBezTo>
                <a:cubicBezTo>
                  <a:pt x="0" y="96"/>
                  <a:pt x="0" y="100"/>
                  <a:pt x="1" y="105"/>
                </a:cubicBezTo>
                <a:cubicBezTo>
                  <a:pt x="9" y="137"/>
                  <a:pt x="39" y="165"/>
                  <a:pt x="76" y="171"/>
                </a:cubicBezTo>
                <a:cubicBezTo>
                  <a:pt x="76" y="171"/>
                  <a:pt x="76" y="171"/>
                  <a:pt x="76" y="171"/>
                </a:cubicBezTo>
                <a:cubicBezTo>
                  <a:pt x="114" y="164"/>
                  <a:pt x="142" y="139"/>
                  <a:pt x="150" y="109"/>
                </a:cubicBezTo>
                <a:cubicBezTo>
                  <a:pt x="151" y="103"/>
                  <a:pt x="151" y="98"/>
                  <a:pt x="151" y="92"/>
                </a:cubicBezTo>
                <a:close/>
                <a:moveTo>
                  <a:pt x="75" y="94"/>
                </a:moveTo>
                <a:cubicBezTo>
                  <a:pt x="75" y="92"/>
                  <a:pt x="75" y="92"/>
                  <a:pt x="75" y="92"/>
                </a:cubicBezTo>
                <a:cubicBezTo>
                  <a:pt x="75" y="92"/>
                  <a:pt x="74" y="92"/>
                  <a:pt x="74" y="92"/>
                </a:cubicBezTo>
                <a:cubicBezTo>
                  <a:pt x="73" y="93"/>
                  <a:pt x="73" y="93"/>
                  <a:pt x="73" y="93"/>
                </a:cubicBezTo>
                <a:cubicBezTo>
                  <a:pt x="73" y="93"/>
                  <a:pt x="72" y="94"/>
                  <a:pt x="72" y="94"/>
                </a:cubicBezTo>
                <a:cubicBezTo>
                  <a:pt x="72" y="94"/>
                  <a:pt x="72" y="95"/>
                  <a:pt x="71" y="95"/>
                </a:cubicBezTo>
                <a:cubicBezTo>
                  <a:pt x="71" y="95"/>
                  <a:pt x="71" y="95"/>
                  <a:pt x="71" y="95"/>
                </a:cubicBezTo>
                <a:cubicBezTo>
                  <a:pt x="71" y="95"/>
                  <a:pt x="71" y="96"/>
                  <a:pt x="71" y="96"/>
                </a:cubicBezTo>
                <a:cubicBezTo>
                  <a:pt x="70" y="96"/>
                  <a:pt x="70" y="96"/>
                  <a:pt x="70" y="97"/>
                </a:cubicBezTo>
                <a:cubicBezTo>
                  <a:pt x="70" y="97"/>
                  <a:pt x="70" y="97"/>
                  <a:pt x="70" y="97"/>
                </a:cubicBezTo>
                <a:cubicBezTo>
                  <a:pt x="70" y="98"/>
                  <a:pt x="70" y="98"/>
                  <a:pt x="70" y="98"/>
                </a:cubicBezTo>
                <a:cubicBezTo>
                  <a:pt x="70" y="98"/>
                  <a:pt x="70" y="98"/>
                  <a:pt x="70" y="98"/>
                </a:cubicBezTo>
                <a:cubicBezTo>
                  <a:pt x="70" y="98"/>
                  <a:pt x="69" y="98"/>
                  <a:pt x="69" y="98"/>
                </a:cubicBezTo>
                <a:cubicBezTo>
                  <a:pt x="69" y="98"/>
                  <a:pt x="69" y="98"/>
                  <a:pt x="69" y="98"/>
                </a:cubicBezTo>
                <a:cubicBezTo>
                  <a:pt x="69" y="98"/>
                  <a:pt x="69" y="98"/>
                  <a:pt x="69" y="98"/>
                </a:cubicBezTo>
                <a:cubicBezTo>
                  <a:pt x="69" y="98"/>
                  <a:pt x="69" y="98"/>
                  <a:pt x="69" y="98"/>
                </a:cubicBezTo>
                <a:cubicBezTo>
                  <a:pt x="69" y="98"/>
                  <a:pt x="69" y="98"/>
                  <a:pt x="68" y="97"/>
                </a:cubicBezTo>
                <a:cubicBezTo>
                  <a:pt x="68" y="97"/>
                  <a:pt x="68" y="97"/>
                  <a:pt x="68" y="97"/>
                </a:cubicBezTo>
                <a:cubicBezTo>
                  <a:pt x="68" y="97"/>
                  <a:pt x="68" y="97"/>
                  <a:pt x="69" y="97"/>
                </a:cubicBezTo>
                <a:cubicBezTo>
                  <a:pt x="69" y="96"/>
                  <a:pt x="69" y="96"/>
                  <a:pt x="69" y="96"/>
                </a:cubicBezTo>
                <a:cubicBezTo>
                  <a:pt x="69" y="96"/>
                  <a:pt x="69" y="96"/>
                  <a:pt x="69" y="96"/>
                </a:cubicBezTo>
                <a:cubicBezTo>
                  <a:pt x="70" y="94"/>
                  <a:pt x="70" y="94"/>
                  <a:pt x="70" y="94"/>
                </a:cubicBezTo>
                <a:cubicBezTo>
                  <a:pt x="70" y="94"/>
                  <a:pt x="70" y="94"/>
                  <a:pt x="70" y="94"/>
                </a:cubicBezTo>
                <a:cubicBezTo>
                  <a:pt x="70" y="94"/>
                  <a:pt x="70" y="93"/>
                  <a:pt x="71" y="93"/>
                </a:cubicBezTo>
                <a:cubicBezTo>
                  <a:pt x="71" y="93"/>
                  <a:pt x="71" y="93"/>
                  <a:pt x="72" y="92"/>
                </a:cubicBezTo>
                <a:cubicBezTo>
                  <a:pt x="72" y="92"/>
                  <a:pt x="72" y="92"/>
                  <a:pt x="72" y="92"/>
                </a:cubicBezTo>
                <a:cubicBezTo>
                  <a:pt x="72" y="92"/>
                  <a:pt x="72" y="92"/>
                  <a:pt x="73" y="91"/>
                </a:cubicBezTo>
                <a:cubicBezTo>
                  <a:pt x="73" y="91"/>
                  <a:pt x="73" y="91"/>
                  <a:pt x="74" y="91"/>
                </a:cubicBezTo>
                <a:cubicBezTo>
                  <a:pt x="74" y="91"/>
                  <a:pt x="74" y="91"/>
                  <a:pt x="74" y="91"/>
                </a:cubicBezTo>
                <a:cubicBezTo>
                  <a:pt x="75" y="90"/>
                  <a:pt x="75" y="90"/>
                  <a:pt x="75" y="90"/>
                </a:cubicBezTo>
                <a:cubicBezTo>
                  <a:pt x="75" y="90"/>
                  <a:pt x="75" y="90"/>
                  <a:pt x="75" y="90"/>
                </a:cubicBezTo>
                <a:cubicBezTo>
                  <a:pt x="75" y="90"/>
                  <a:pt x="75" y="90"/>
                  <a:pt x="75" y="89"/>
                </a:cubicBezTo>
                <a:cubicBezTo>
                  <a:pt x="75" y="89"/>
                  <a:pt x="75" y="89"/>
                  <a:pt x="75" y="89"/>
                </a:cubicBezTo>
                <a:cubicBezTo>
                  <a:pt x="75" y="89"/>
                  <a:pt x="75" y="89"/>
                  <a:pt x="75" y="89"/>
                </a:cubicBezTo>
                <a:cubicBezTo>
                  <a:pt x="75" y="88"/>
                  <a:pt x="75" y="88"/>
                  <a:pt x="75" y="88"/>
                </a:cubicBezTo>
                <a:cubicBezTo>
                  <a:pt x="75" y="88"/>
                  <a:pt x="75" y="88"/>
                  <a:pt x="75" y="88"/>
                </a:cubicBezTo>
                <a:cubicBezTo>
                  <a:pt x="75" y="88"/>
                  <a:pt x="75" y="88"/>
                  <a:pt x="75" y="88"/>
                </a:cubicBezTo>
                <a:cubicBezTo>
                  <a:pt x="75" y="88"/>
                  <a:pt x="75" y="88"/>
                  <a:pt x="75" y="87"/>
                </a:cubicBezTo>
                <a:cubicBezTo>
                  <a:pt x="75" y="87"/>
                  <a:pt x="75" y="87"/>
                  <a:pt x="75" y="87"/>
                </a:cubicBezTo>
                <a:cubicBezTo>
                  <a:pt x="75"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7" y="87"/>
                  <a:pt x="77" y="87"/>
                  <a:pt x="77" y="87"/>
                </a:cubicBezTo>
                <a:cubicBezTo>
                  <a:pt x="77" y="87"/>
                  <a:pt x="77" y="87"/>
                  <a:pt x="77" y="87"/>
                </a:cubicBezTo>
                <a:cubicBezTo>
                  <a:pt x="77" y="87"/>
                  <a:pt x="77" y="87"/>
                  <a:pt x="77" y="88"/>
                </a:cubicBezTo>
                <a:cubicBezTo>
                  <a:pt x="77" y="89"/>
                  <a:pt x="77" y="89"/>
                  <a:pt x="77" y="89"/>
                </a:cubicBezTo>
                <a:cubicBezTo>
                  <a:pt x="77" y="89"/>
                  <a:pt x="77" y="89"/>
                  <a:pt x="77" y="89"/>
                </a:cubicBezTo>
                <a:cubicBezTo>
                  <a:pt x="77" y="90"/>
                  <a:pt x="77" y="90"/>
                  <a:pt x="77" y="90"/>
                </a:cubicBezTo>
                <a:cubicBezTo>
                  <a:pt x="77" y="90"/>
                  <a:pt x="77" y="90"/>
                  <a:pt x="77" y="91"/>
                </a:cubicBezTo>
                <a:cubicBezTo>
                  <a:pt x="77" y="91"/>
                  <a:pt x="77" y="91"/>
                  <a:pt x="77" y="91"/>
                </a:cubicBezTo>
                <a:cubicBezTo>
                  <a:pt x="78" y="91"/>
                  <a:pt x="78" y="91"/>
                  <a:pt x="78" y="91"/>
                </a:cubicBezTo>
                <a:cubicBezTo>
                  <a:pt x="78" y="91"/>
                  <a:pt x="78" y="91"/>
                  <a:pt x="78" y="91"/>
                </a:cubicBezTo>
                <a:cubicBezTo>
                  <a:pt x="78" y="91"/>
                  <a:pt x="79" y="91"/>
                  <a:pt x="79" y="91"/>
                </a:cubicBezTo>
                <a:cubicBezTo>
                  <a:pt x="79" y="91"/>
                  <a:pt x="80" y="91"/>
                  <a:pt x="80" y="92"/>
                </a:cubicBezTo>
                <a:cubicBezTo>
                  <a:pt x="80" y="92"/>
                  <a:pt x="81" y="92"/>
                  <a:pt x="81" y="92"/>
                </a:cubicBezTo>
                <a:cubicBezTo>
                  <a:pt x="81" y="92"/>
                  <a:pt x="81" y="93"/>
                  <a:pt x="81" y="93"/>
                </a:cubicBezTo>
                <a:cubicBezTo>
                  <a:pt x="82" y="93"/>
                  <a:pt x="82" y="93"/>
                  <a:pt x="82" y="93"/>
                </a:cubicBezTo>
                <a:cubicBezTo>
                  <a:pt x="82" y="94"/>
                  <a:pt x="82" y="94"/>
                  <a:pt x="82" y="94"/>
                </a:cubicBezTo>
                <a:cubicBezTo>
                  <a:pt x="82" y="94"/>
                  <a:pt x="82" y="94"/>
                  <a:pt x="82" y="94"/>
                </a:cubicBezTo>
                <a:cubicBezTo>
                  <a:pt x="83" y="95"/>
                  <a:pt x="83" y="95"/>
                  <a:pt x="83" y="95"/>
                </a:cubicBezTo>
                <a:cubicBezTo>
                  <a:pt x="83" y="95"/>
                  <a:pt x="83" y="95"/>
                  <a:pt x="83" y="96"/>
                </a:cubicBezTo>
                <a:cubicBezTo>
                  <a:pt x="83" y="96"/>
                  <a:pt x="83" y="96"/>
                  <a:pt x="83" y="96"/>
                </a:cubicBezTo>
                <a:cubicBezTo>
                  <a:pt x="83" y="96"/>
                  <a:pt x="83" y="96"/>
                  <a:pt x="83" y="96"/>
                </a:cubicBezTo>
                <a:cubicBezTo>
                  <a:pt x="83" y="96"/>
                  <a:pt x="83" y="96"/>
                  <a:pt x="83" y="96"/>
                </a:cubicBezTo>
                <a:cubicBezTo>
                  <a:pt x="84" y="96"/>
                  <a:pt x="84" y="96"/>
                  <a:pt x="84" y="97"/>
                </a:cubicBezTo>
                <a:cubicBezTo>
                  <a:pt x="84" y="97"/>
                  <a:pt x="84" y="97"/>
                  <a:pt x="84" y="97"/>
                </a:cubicBezTo>
                <a:cubicBezTo>
                  <a:pt x="84" y="97"/>
                  <a:pt x="84" y="97"/>
                  <a:pt x="84" y="97"/>
                </a:cubicBezTo>
                <a:cubicBezTo>
                  <a:pt x="84" y="97"/>
                  <a:pt x="84" y="97"/>
                  <a:pt x="84" y="97"/>
                </a:cubicBezTo>
                <a:cubicBezTo>
                  <a:pt x="84" y="97"/>
                  <a:pt x="84" y="97"/>
                  <a:pt x="84" y="97"/>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2" y="96"/>
                  <a:pt x="82" y="96"/>
                  <a:pt x="82" y="96"/>
                </a:cubicBezTo>
                <a:cubicBezTo>
                  <a:pt x="82" y="96"/>
                  <a:pt x="82" y="96"/>
                  <a:pt x="81" y="96"/>
                </a:cubicBezTo>
                <a:cubicBezTo>
                  <a:pt x="81" y="95"/>
                  <a:pt x="81" y="95"/>
                  <a:pt x="81" y="95"/>
                </a:cubicBezTo>
                <a:cubicBezTo>
                  <a:pt x="81" y="95"/>
                  <a:pt x="81" y="95"/>
                  <a:pt x="81" y="95"/>
                </a:cubicBezTo>
                <a:cubicBezTo>
                  <a:pt x="81" y="95"/>
                  <a:pt x="81" y="94"/>
                  <a:pt x="81" y="94"/>
                </a:cubicBezTo>
                <a:cubicBezTo>
                  <a:pt x="80" y="94"/>
                  <a:pt x="80" y="94"/>
                  <a:pt x="80" y="94"/>
                </a:cubicBezTo>
                <a:cubicBezTo>
                  <a:pt x="80" y="94"/>
                  <a:pt x="80" y="93"/>
                  <a:pt x="79" y="93"/>
                </a:cubicBezTo>
                <a:cubicBezTo>
                  <a:pt x="79" y="93"/>
                  <a:pt x="79" y="93"/>
                  <a:pt x="79" y="93"/>
                </a:cubicBezTo>
                <a:cubicBezTo>
                  <a:pt x="79" y="93"/>
                  <a:pt x="79" y="93"/>
                  <a:pt x="79" y="93"/>
                </a:cubicBezTo>
                <a:cubicBezTo>
                  <a:pt x="79" y="92"/>
                  <a:pt x="78" y="92"/>
                  <a:pt x="78" y="92"/>
                </a:cubicBezTo>
                <a:cubicBezTo>
                  <a:pt x="78" y="92"/>
                  <a:pt x="78" y="92"/>
                  <a:pt x="78" y="92"/>
                </a:cubicBezTo>
                <a:cubicBezTo>
                  <a:pt x="78" y="92"/>
                  <a:pt x="77" y="92"/>
                  <a:pt x="77" y="92"/>
                </a:cubicBezTo>
                <a:cubicBezTo>
                  <a:pt x="77" y="94"/>
                  <a:pt x="77" y="94"/>
                  <a:pt x="77" y="94"/>
                </a:cubicBezTo>
                <a:cubicBezTo>
                  <a:pt x="77" y="94"/>
                  <a:pt x="77" y="94"/>
                  <a:pt x="77" y="94"/>
                </a:cubicBezTo>
                <a:cubicBezTo>
                  <a:pt x="78" y="94"/>
                  <a:pt x="78" y="94"/>
                  <a:pt x="78" y="95"/>
                </a:cubicBezTo>
                <a:cubicBezTo>
                  <a:pt x="78" y="95"/>
                  <a:pt x="78" y="95"/>
                  <a:pt x="78" y="95"/>
                </a:cubicBezTo>
                <a:cubicBezTo>
                  <a:pt x="79" y="95"/>
                  <a:pt x="79" y="95"/>
                  <a:pt x="79" y="96"/>
                </a:cubicBezTo>
                <a:cubicBezTo>
                  <a:pt x="79" y="96"/>
                  <a:pt x="79" y="96"/>
                  <a:pt x="79" y="97"/>
                </a:cubicBezTo>
                <a:cubicBezTo>
                  <a:pt x="80" y="97"/>
                  <a:pt x="80" y="97"/>
                  <a:pt x="80" y="98"/>
                </a:cubicBezTo>
                <a:cubicBezTo>
                  <a:pt x="80" y="98"/>
                  <a:pt x="80" y="99"/>
                  <a:pt x="80" y="99"/>
                </a:cubicBezTo>
                <a:cubicBezTo>
                  <a:pt x="79" y="99"/>
                  <a:pt x="79" y="100"/>
                  <a:pt x="79" y="100"/>
                </a:cubicBezTo>
                <a:cubicBezTo>
                  <a:pt x="79" y="100"/>
                  <a:pt x="79" y="101"/>
                  <a:pt x="79" y="101"/>
                </a:cubicBezTo>
                <a:cubicBezTo>
                  <a:pt x="78" y="101"/>
                  <a:pt x="78" y="101"/>
                  <a:pt x="78" y="102"/>
                </a:cubicBezTo>
                <a:cubicBezTo>
                  <a:pt x="78" y="102"/>
                  <a:pt x="78" y="103"/>
                  <a:pt x="78" y="103"/>
                </a:cubicBezTo>
                <a:cubicBezTo>
                  <a:pt x="79" y="103"/>
                  <a:pt x="79" y="104"/>
                  <a:pt x="79" y="104"/>
                </a:cubicBezTo>
                <a:cubicBezTo>
                  <a:pt x="79" y="104"/>
                  <a:pt x="79" y="104"/>
                  <a:pt x="79" y="104"/>
                </a:cubicBezTo>
                <a:cubicBezTo>
                  <a:pt x="79" y="104"/>
                  <a:pt x="79" y="104"/>
                  <a:pt x="79" y="105"/>
                </a:cubicBezTo>
                <a:cubicBezTo>
                  <a:pt x="79" y="105"/>
                  <a:pt x="80" y="106"/>
                  <a:pt x="80" y="106"/>
                </a:cubicBezTo>
                <a:cubicBezTo>
                  <a:pt x="80" y="106"/>
                  <a:pt x="80" y="106"/>
                  <a:pt x="80" y="106"/>
                </a:cubicBezTo>
                <a:cubicBezTo>
                  <a:pt x="80" y="106"/>
                  <a:pt x="80" y="107"/>
                  <a:pt x="80" y="107"/>
                </a:cubicBezTo>
                <a:cubicBezTo>
                  <a:pt x="80" y="108"/>
                  <a:pt x="80" y="108"/>
                  <a:pt x="80" y="109"/>
                </a:cubicBezTo>
                <a:cubicBezTo>
                  <a:pt x="80" y="109"/>
                  <a:pt x="80" y="109"/>
                  <a:pt x="80" y="109"/>
                </a:cubicBezTo>
                <a:cubicBezTo>
                  <a:pt x="81" y="109"/>
                  <a:pt x="81" y="110"/>
                  <a:pt x="81" y="110"/>
                </a:cubicBezTo>
                <a:cubicBezTo>
                  <a:pt x="81" y="111"/>
                  <a:pt x="81" y="111"/>
                  <a:pt x="81" y="112"/>
                </a:cubicBezTo>
                <a:cubicBezTo>
                  <a:pt x="81" y="112"/>
                  <a:pt x="81" y="112"/>
                  <a:pt x="81" y="112"/>
                </a:cubicBezTo>
                <a:cubicBezTo>
                  <a:pt x="81" y="112"/>
                  <a:pt x="81" y="113"/>
                  <a:pt x="81" y="113"/>
                </a:cubicBezTo>
                <a:cubicBezTo>
                  <a:pt x="81" y="113"/>
                  <a:pt x="81" y="113"/>
                  <a:pt x="81" y="113"/>
                </a:cubicBezTo>
                <a:cubicBezTo>
                  <a:pt x="81" y="113"/>
                  <a:pt x="81" y="114"/>
                  <a:pt x="81" y="114"/>
                </a:cubicBezTo>
                <a:cubicBezTo>
                  <a:pt x="81" y="114"/>
                  <a:pt x="81" y="114"/>
                  <a:pt x="81" y="115"/>
                </a:cubicBezTo>
                <a:cubicBezTo>
                  <a:pt x="81" y="115"/>
                  <a:pt x="81" y="115"/>
                  <a:pt x="81" y="115"/>
                </a:cubicBezTo>
                <a:cubicBezTo>
                  <a:pt x="81" y="115"/>
                  <a:pt x="81" y="115"/>
                  <a:pt x="81" y="115"/>
                </a:cubicBezTo>
                <a:cubicBezTo>
                  <a:pt x="81" y="115"/>
                  <a:pt x="81" y="115"/>
                  <a:pt x="81" y="115"/>
                </a:cubicBezTo>
                <a:cubicBezTo>
                  <a:pt x="81" y="115"/>
                  <a:pt x="81" y="115"/>
                  <a:pt x="81" y="115"/>
                </a:cubicBezTo>
                <a:cubicBezTo>
                  <a:pt x="81" y="115"/>
                  <a:pt x="81"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4"/>
                  <a:pt x="80" y="114"/>
                  <a:pt x="79" y="114"/>
                </a:cubicBezTo>
                <a:cubicBezTo>
                  <a:pt x="79" y="114"/>
                  <a:pt x="79" y="114"/>
                  <a:pt x="79" y="113"/>
                </a:cubicBezTo>
                <a:cubicBezTo>
                  <a:pt x="79" y="113"/>
                  <a:pt x="79" y="113"/>
                  <a:pt x="79" y="113"/>
                </a:cubicBezTo>
                <a:cubicBezTo>
                  <a:pt x="79" y="113"/>
                  <a:pt x="79" y="113"/>
                  <a:pt x="79" y="112"/>
                </a:cubicBezTo>
                <a:cubicBezTo>
                  <a:pt x="79" y="112"/>
                  <a:pt x="79" y="112"/>
                  <a:pt x="79" y="112"/>
                </a:cubicBezTo>
                <a:cubicBezTo>
                  <a:pt x="79" y="112"/>
                  <a:pt x="79" y="111"/>
                  <a:pt x="79" y="110"/>
                </a:cubicBezTo>
                <a:cubicBezTo>
                  <a:pt x="79" y="110"/>
                  <a:pt x="79" y="109"/>
                  <a:pt x="79" y="109"/>
                </a:cubicBezTo>
                <a:cubicBezTo>
                  <a:pt x="79" y="108"/>
                  <a:pt x="79" y="108"/>
                  <a:pt x="79" y="108"/>
                </a:cubicBezTo>
                <a:cubicBezTo>
                  <a:pt x="78" y="107"/>
                  <a:pt x="78" y="107"/>
                  <a:pt x="78" y="107"/>
                </a:cubicBezTo>
                <a:cubicBezTo>
                  <a:pt x="78" y="107"/>
                  <a:pt x="78" y="106"/>
                  <a:pt x="78" y="106"/>
                </a:cubicBezTo>
                <a:cubicBezTo>
                  <a:pt x="78" y="106"/>
                  <a:pt x="78" y="106"/>
                  <a:pt x="78" y="106"/>
                </a:cubicBezTo>
                <a:cubicBezTo>
                  <a:pt x="78" y="106"/>
                  <a:pt x="78" y="105"/>
                  <a:pt x="78" y="105"/>
                </a:cubicBezTo>
                <a:cubicBezTo>
                  <a:pt x="78" y="105"/>
                  <a:pt x="78" y="105"/>
                  <a:pt x="77" y="104"/>
                </a:cubicBezTo>
                <a:cubicBezTo>
                  <a:pt x="77" y="104"/>
                  <a:pt x="77" y="104"/>
                  <a:pt x="77" y="103"/>
                </a:cubicBezTo>
                <a:cubicBezTo>
                  <a:pt x="77" y="103"/>
                  <a:pt x="77" y="103"/>
                  <a:pt x="77" y="103"/>
                </a:cubicBezTo>
                <a:cubicBezTo>
                  <a:pt x="77" y="103"/>
                  <a:pt x="77" y="103"/>
                  <a:pt x="77" y="103"/>
                </a:cubicBezTo>
                <a:cubicBezTo>
                  <a:pt x="76" y="102"/>
                  <a:pt x="76" y="102"/>
                  <a:pt x="76" y="102"/>
                </a:cubicBezTo>
                <a:cubicBezTo>
                  <a:pt x="76" y="103"/>
                  <a:pt x="75" y="103"/>
                  <a:pt x="75" y="103"/>
                </a:cubicBezTo>
                <a:cubicBezTo>
                  <a:pt x="75" y="104"/>
                  <a:pt x="75" y="104"/>
                  <a:pt x="75" y="104"/>
                </a:cubicBezTo>
                <a:cubicBezTo>
                  <a:pt x="74" y="104"/>
                  <a:pt x="74" y="104"/>
                  <a:pt x="74" y="105"/>
                </a:cubicBezTo>
                <a:cubicBezTo>
                  <a:pt x="74" y="105"/>
                  <a:pt x="74" y="105"/>
                  <a:pt x="74" y="106"/>
                </a:cubicBezTo>
                <a:cubicBezTo>
                  <a:pt x="74" y="106"/>
                  <a:pt x="74" y="106"/>
                  <a:pt x="73" y="107"/>
                </a:cubicBezTo>
                <a:cubicBezTo>
                  <a:pt x="73" y="107"/>
                  <a:pt x="73" y="107"/>
                  <a:pt x="73" y="108"/>
                </a:cubicBezTo>
                <a:cubicBezTo>
                  <a:pt x="73" y="108"/>
                  <a:pt x="73" y="108"/>
                  <a:pt x="73" y="108"/>
                </a:cubicBezTo>
                <a:cubicBezTo>
                  <a:pt x="73" y="108"/>
                  <a:pt x="73" y="108"/>
                  <a:pt x="73" y="109"/>
                </a:cubicBezTo>
                <a:cubicBezTo>
                  <a:pt x="73" y="109"/>
                  <a:pt x="73" y="110"/>
                  <a:pt x="73" y="110"/>
                </a:cubicBezTo>
                <a:cubicBezTo>
                  <a:pt x="73" y="110"/>
                  <a:pt x="73" y="110"/>
                  <a:pt x="73" y="110"/>
                </a:cubicBezTo>
                <a:cubicBezTo>
                  <a:pt x="73" y="111"/>
                  <a:pt x="73" y="111"/>
                  <a:pt x="73" y="111"/>
                </a:cubicBezTo>
                <a:cubicBezTo>
                  <a:pt x="73" y="111"/>
                  <a:pt x="73" y="111"/>
                  <a:pt x="73" y="111"/>
                </a:cubicBezTo>
                <a:cubicBezTo>
                  <a:pt x="73" y="112"/>
                  <a:pt x="73" y="112"/>
                  <a:pt x="73" y="112"/>
                </a:cubicBezTo>
                <a:cubicBezTo>
                  <a:pt x="73" y="112"/>
                  <a:pt x="73" y="112"/>
                  <a:pt x="73" y="112"/>
                </a:cubicBezTo>
                <a:cubicBezTo>
                  <a:pt x="73" y="113"/>
                  <a:pt x="73" y="113"/>
                  <a:pt x="73" y="113"/>
                </a:cubicBezTo>
                <a:cubicBezTo>
                  <a:pt x="73" y="113"/>
                  <a:pt x="73" y="113"/>
                  <a:pt x="73" y="113"/>
                </a:cubicBezTo>
                <a:cubicBezTo>
                  <a:pt x="73" y="114"/>
                  <a:pt x="73" y="114"/>
                  <a:pt x="73" y="114"/>
                </a:cubicBezTo>
                <a:cubicBezTo>
                  <a:pt x="73" y="114"/>
                  <a:pt x="73" y="114"/>
                  <a:pt x="73" y="114"/>
                </a:cubicBezTo>
                <a:cubicBezTo>
                  <a:pt x="73" y="114"/>
                  <a:pt x="73" y="115"/>
                  <a:pt x="73" y="115"/>
                </a:cubicBezTo>
                <a:cubicBezTo>
                  <a:pt x="73" y="115"/>
                  <a:pt x="73" y="115"/>
                  <a:pt x="73" y="115"/>
                </a:cubicBezTo>
                <a:cubicBezTo>
                  <a:pt x="72" y="115"/>
                  <a:pt x="72" y="115"/>
                  <a:pt x="72" y="115"/>
                </a:cubicBezTo>
                <a:cubicBezTo>
                  <a:pt x="72" y="115"/>
                  <a:pt x="72" y="115"/>
                  <a:pt x="72" y="115"/>
                </a:cubicBezTo>
                <a:cubicBezTo>
                  <a:pt x="72" y="115"/>
                  <a:pt x="72" y="115"/>
                  <a:pt x="72" y="115"/>
                </a:cubicBezTo>
                <a:cubicBezTo>
                  <a:pt x="71" y="115"/>
                  <a:pt x="71" y="115"/>
                  <a:pt x="71" y="115"/>
                </a:cubicBezTo>
                <a:cubicBezTo>
                  <a:pt x="71" y="115"/>
                  <a:pt x="71" y="115"/>
                  <a:pt x="71" y="115"/>
                </a:cubicBezTo>
                <a:cubicBezTo>
                  <a:pt x="71" y="115"/>
                  <a:pt x="71" y="115"/>
                  <a:pt x="71" y="114"/>
                </a:cubicBezTo>
                <a:cubicBezTo>
                  <a:pt x="71" y="114"/>
                  <a:pt x="71" y="114"/>
                  <a:pt x="71" y="114"/>
                </a:cubicBezTo>
                <a:cubicBezTo>
                  <a:pt x="71" y="114"/>
                  <a:pt x="71" y="113"/>
                  <a:pt x="71" y="113"/>
                </a:cubicBezTo>
                <a:cubicBezTo>
                  <a:pt x="71" y="112"/>
                  <a:pt x="71" y="111"/>
                  <a:pt x="71" y="110"/>
                </a:cubicBezTo>
                <a:cubicBezTo>
                  <a:pt x="71" y="110"/>
                  <a:pt x="71" y="109"/>
                  <a:pt x="71" y="109"/>
                </a:cubicBezTo>
                <a:cubicBezTo>
                  <a:pt x="71" y="108"/>
                  <a:pt x="72" y="107"/>
                  <a:pt x="72" y="107"/>
                </a:cubicBezTo>
                <a:cubicBezTo>
                  <a:pt x="72" y="106"/>
                  <a:pt x="72" y="106"/>
                  <a:pt x="72" y="105"/>
                </a:cubicBezTo>
                <a:cubicBezTo>
                  <a:pt x="72" y="105"/>
                  <a:pt x="73" y="104"/>
                  <a:pt x="73" y="104"/>
                </a:cubicBezTo>
                <a:cubicBezTo>
                  <a:pt x="73" y="104"/>
                  <a:pt x="73" y="104"/>
                  <a:pt x="73" y="104"/>
                </a:cubicBezTo>
                <a:cubicBezTo>
                  <a:pt x="73" y="104"/>
                  <a:pt x="73" y="103"/>
                  <a:pt x="73" y="103"/>
                </a:cubicBezTo>
                <a:cubicBezTo>
                  <a:pt x="74" y="102"/>
                  <a:pt x="74" y="102"/>
                  <a:pt x="74" y="102"/>
                </a:cubicBezTo>
                <a:cubicBezTo>
                  <a:pt x="74" y="102"/>
                  <a:pt x="74" y="102"/>
                  <a:pt x="74" y="101"/>
                </a:cubicBezTo>
                <a:cubicBezTo>
                  <a:pt x="74" y="101"/>
                  <a:pt x="74" y="101"/>
                  <a:pt x="73" y="101"/>
                </a:cubicBezTo>
                <a:cubicBezTo>
                  <a:pt x="73" y="101"/>
                  <a:pt x="73" y="101"/>
                  <a:pt x="73" y="101"/>
                </a:cubicBezTo>
                <a:cubicBezTo>
                  <a:pt x="73" y="101"/>
                  <a:pt x="73" y="100"/>
                  <a:pt x="73" y="100"/>
                </a:cubicBezTo>
                <a:cubicBezTo>
                  <a:pt x="72" y="100"/>
                  <a:pt x="72" y="100"/>
                  <a:pt x="72" y="99"/>
                </a:cubicBezTo>
                <a:cubicBezTo>
                  <a:pt x="72" y="99"/>
                  <a:pt x="72" y="99"/>
                  <a:pt x="72" y="98"/>
                </a:cubicBezTo>
                <a:cubicBezTo>
                  <a:pt x="72" y="98"/>
                  <a:pt x="72" y="98"/>
                  <a:pt x="72" y="98"/>
                </a:cubicBezTo>
                <a:cubicBezTo>
                  <a:pt x="72" y="98"/>
                  <a:pt x="72" y="97"/>
                  <a:pt x="72" y="97"/>
                </a:cubicBezTo>
                <a:cubicBezTo>
                  <a:pt x="72" y="97"/>
                  <a:pt x="73" y="96"/>
                  <a:pt x="73" y="96"/>
                </a:cubicBezTo>
                <a:cubicBezTo>
                  <a:pt x="73" y="96"/>
                  <a:pt x="73" y="95"/>
                  <a:pt x="74" y="95"/>
                </a:cubicBezTo>
                <a:cubicBezTo>
                  <a:pt x="74" y="95"/>
                  <a:pt x="75" y="94"/>
                  <a:pt x="75" y="94"/>
                </a:cubicBezTo>
                <a:close/>
                <a:moveTo>
                  <a:pt x="76" y="101"/>
                </a:moveTo>
                <a:cubicBezTo>
                  <a:pt x="75" y="100"/>
                  <a:pt x="75" y="100"/>
                  <a:pt x="75" y="100"/>
                </a:cubicBezTo>
                <a:cubicBezTo>
                  <a:pt x="75" y="100"/>
                  <a:pt x="75" y="100"/>
                  <a:pt x="75" y="100"/>
                </a:cubicBezTo>
                <a:cubicBezTo>
                  <a:pt x="75" y="100"/>
                  <a:pt x="75" y="100"/>
                  <a:pt x="74" y="100"/>
                </a:cubicBezTo>
                <a:cubicBezTo>
                  <a:pt x="74" y="100"/>
                  <a:pt x="74" y="100"/>
                  <a:pt x="74" y="100"/>
                </a:cubicBezTo>
                <a:cubicBezTo>
                  <a:pt x="74" y="100"/>
                  <a:pt x="74" y="100"/>
                  <a:pt x="74" y="99"/>
                </a:cubicBezTo>
                <a:cubicBezTo>
                  <a:pt x="74" y="99"/>
                  <a:pt x="74" y="99"/>
                  <a:pt x="74" y="99"/>
                </a:cubicBezTo>
                <a:cubicBezTo>
                  <a:pt x="74" y="99"/>
                  <a:pt x="74" y="99"/>
                  <a:pt x="74" y="99"/>
                </a:cubicBezTo>
                <a:cubicBezTo>
                  <a:pt x="74" y="98"/>
                  <a:pt x="74" y="98"/>
                  <a:pt x="74" y="98"/>
                </a:cubicBezTo>
                <a:cubicBezTo>
                  <a:pt x="74" y="98"/>
                  <a:pt x="74" y="98"/>
                  <a:pt x="74" y="97"/>
                </a:cubicBezTo>
                <a:cubicBezTo>
                  <a:pt x="74" y="97"/>
                  <a:pt x="74" y="97"/>
                  <a:pt x="74" y="97"/>
                </a:cubicBezTo>
                <a:cubicBezTo>
                  <a:pt x="74" y="97"/>
                  <a:pt x="74" y="97"/>
                  <a:pt x="74" y="97"/>
                </a:cubicBezTo>
                <a:cubicBezTo>
                  <a:pt x="74" y="97"/>
                  <a:pt x="74" y="97"/>
                  <a:pt x="74" y="96"/>
                </a:cubicBezTo>
                <a:cubicBezTo>
                  <a:pt x="75" y="96"/>
                  <a:pt x="75" y="96"/>
                  <a:pt x="75" y="96"/>
                </a:cubicBezTo>
                <a:cubicBezTo>
                  <a:pt x="75" y="96"/>
                  <a:pt x="75" y="96"/>
                  <a:pt x="75" y="96"/>
                </a:cubicBezTo>
                <a:cubicBezTo>
                  <a:pt x="75" y="96"/>
                  <a:pt x="75" y="96"/>
                  <a:pt x="76" y="96"/>
                </a:cubicBezTo>
                <a:cubicBezTo>
                  <a:pt x="76" y="95"/>
                  <a:pt x="76" y="95"/>
                  <a:pt x="76" y="95"/>
                </a:cubicBezTo>
                <a:cubicBezTo>
                  <a:pt x="76" y="95"/>
                  <a:pt x="76" y="95"/>
                  <a:pt x="76" y="95"/>
                </a:cubicBezTo>
                <a:cubicBezTo>
                  <a:pt x="76" y="95"/>
                  <a:pt x="76" y="95"/>
                  <a:pt x="76" y="96"/>
                </a:cubicBezTo>
                <a:cubicBezTo>
                  <a:pt x="77" y="96"/>
                  <a:pt x="77" y="96"/>
                  <a:pt x="77" y="96"/>
                </a:cubicBezTo>
                <a:cubicBezTo>
                  <a:pt x="77" y="96"/>
                  <a:pt x="77" y="96"/>
                  <a:pt x="77" y="96"/>
                </a:cubicBezTo>
                <a:cubicBezTo>
                  <a:pt x="78" y="96"/>
                  <a:pt x="78" y="97"/>
                  <a:pt x="78" y="97"/>
                </a:cubicBezTo>
                <a:cubicBezTo>
                  <a:pt x="78" y="97"/>
                  <a:pt x="78" y="97"/>
                  <a:pt x="78" y="97"/>
                </a:cubicBezTo>
                <a:cubicBezTo>
                  <a:pt x="78" y="97"/>
                  <a:pt x="78" y="97"/>
                  <a:pt x="78" y="97"/>
                </a:cubicBezTo>
                <a:cubicBezTo>
                  <a:pt x="78" y="97"/>
                  <a:pt x="78" y="98"/>
                  <a:pt x="78" y="98"/>
                </a:cubicBezTo>
                <a:cubicBezTo>
                  <a:pt x="78" y="98"/>
                  <a:pt x="78" y="98"/>
                  <a:pt x="78" y="98"/>
                </a:cubicBezTo>
                <a:cubicBezTo>
                  <a:pt x="78" y="98"/>
                  <a:pt x="78" y="99"/>
                  <a:pt x="78" y="99"/>
                </a:cubicBezTo>
                <a:cubicBezTo>
                  <a:pt x="78" y="99"/>
                  <a:pt x="78" y="99"/>
                  <a:pt x="78" y="99"/>
                </a:cubicBezTo>
                <a:cubicBezTo>
                  <a:pt x="78" y="100"/>
                  <a:pt x="77" y="100"/>
                  <a:pt x="77" y="100"/>
                </a:cubicBezTo>
                <a:cubicBezTo>
                  <a:pt x="77" y="100"/>
                  <a:pt x="77" y="100"/>
                  <a:pt x="77" y="100"/>
                </a:cubicBezTo>
                <a:cubicBezTo>
                  <a:pt x="77" y="100"/>
                  <a:pt x="77" y="100"/>
                  <a:pt x="77" y="101"/>
                </a:cubicBezTo>
                <a:cubicBezTo>
                  <a:pt x="77" y="101"/>
                  <a:pt x="77" y="101"/>
                  <a:pt x="77" y="101"/>
                </a:cubicBezTo>
                <a:cubicBezTo>
                  <a:pt x="76" y="101"/>
                  <a:pt x="76" y="101"/>
                  <a:pt x="76" y="101"/>
                </a:cubicBezTo>
                <a:close/>
                <a:moveTo>
                  <a:pt x="75" y="127"/>
                </a:moveTo>
                <a:cubicBezTo>
                  <a:pt x="75" y="127"/>
                  <a:pt x="74" y="128"/>
                  <a:pt x="74" y="128"/>
                </a:cubicBezTo>
                <a:cubicBezTo>
                  <a:pt x="74" y="128"/>
                  <a:pt x="74" y="128"/>
                  <a:pt x="74" y="128"/>
                </a:cubicBezTo>
                <a:cubicBezTo>
                  <a:pt x="74" y="128"/>
                  <a:pt x="73" y="128"/>
                  <a:pt x="73" y="128"/>
                </a:cubicBezTo>
                <a:cubicBezTo>
                  <a:pt x="73" y="129"/>
                  <a:pt x="72" y="129"/>
                  <a:pt x="72" y="129"/>
                </a:cubicBezTo>
                <a:cubicBezTo>
                  <a:pt x="72" y="130"/>
                  <a:pt x="72" y="130"/>
                  <a:pt x="71" y="130"/>
                </a:cubicBezTo>
                <a:cubicBezTo>
                  <a:pt x="71" y="131"/>
                  <a:pt x="71" y="131"/>
                  <a:pt x="71" y="132"/>
                </a:cubicBezTo>
                <a:cubicBezTo>
                  <a:pt x="71" y="132"/>
                  <a:pt x="71" y="132"/>
                  <a:pt x="71" y="132"/>
                </a:cubicBezTo>
                <a:cubicBezTo>
                  <a:pt x="71" y="132"/>
                  <a:pt x="71" y="132"/>
                  <a:pt x="71" y="132"/>
                </a:cubicBezTo>
                <a:cubicBezTo>
                  <a:pt x="71" y="133"/>
                  <a:pt x="71" y="133"/>
                  <a:pt x="70" y="133"/>
                </a:cubicBezTo>
                <a:cubicBezTo>
                  <a:pt x="70" y="134"/>
                  <a:pt x="70" y="134"/>
                  <a:pt x="70" y="135"/>
                </a:cubicBezTo>
                <a:cubicBezTo>
                  <a:pt x="70" y="135"/>
                  <a:pt x="70" y="135"/>
                  <a:pt x="70" y="135"/>
                </a:cubicBezTo>
                <a:cubicBezTo>
                  <a:pt x="70" y="135"/>
                  <a:pt x="70" y="135"/>
                  <a:pt x="70" y="136"/>
                </a:cubicBezTo>
                <a:cubicBezTo>
                  <a:pt x="70" y="136"/>
                  <a:pt x="70" y="136"/>
                  <a:pt x="70" y="136"/>
                </a:cubicBezTo>
                <a:cubicBezTo>
                  <a:pt x="70" y="136"/>
                  <a:pt x="70" y="136"/>
                  <a:pt x="70" y="136"/>
                </a:cubicBezTo>
                <a:cubicBezTo>
                  <a:pt x="70" y="137"/>
                  <a:pt x="70" y="137"/>
                  <a:pt x="70" y="137"/>
                </a:cubicBezTo>
                <a:cubicBezTo>
                  <a:pt x="70" y="137"/>
                  <a:pt x="70" y="137"/>
                  <a:pt x="69" y="137"/>
                </a:cubicBezTo>
                <a:cubicBezTo>
                  <a:pt x="69" y="137"/>
                  <a:pt x="69" y="137"/>
                  <a:pt x="69" y="137"/>
                </a:cubicBezTo>
                <a:cubicBezTo>
                  <a:pt x="69" y="137"/>
                  <a:pt x="69" y="137"/>
                  <a:pt x="69" y="137"/>
                </a:cubicBezTo>
                <a:cubicBezTo>
                  <a:pt x="69" y="137"/>
                  <a:pt x="69" y="137"/>
                  <a:pt x="69" y="137"/>
                </a:cubicBezTo>
                <a:cubicBezTo>
                  <a:pt x="69" y="137"/>
                  <a:pt x="69" y="136"/>
                  <a:pt x="69" y="136"/>
                </a:cubicBezTo>
                <a:cubicBezTo>
                  <a:pt x="69" y="136"/>
                  <a:pt x="69" y="136"/>
                  <a:pt x="69" y="136"/>
                </a:cubicBezTo>
                <a:cubicBezTo>
                  <a:pt x="69" y="136"/>
                  <a:pt x="69" y="136"/>
                  <a:pt x="69" y="135"/>
                </a:cubicBezTo>
                <a:cubicBezTo>
                  <a:pt x="69" y="135"/>
                  <a:pt x="69" y="135"/>
                  <a:pt x="69" y="135"/>
                </a:cubicBezTo>
                <a:cubicBezTo>
                  <a:pt x="69" y="135"/>
                  <a:pt x="69" y="135"/>
                  <a:pt x="69" y="135"/>
                </a:cubicBezTo>
                <a:cubicBezTo>
                  <a:pt x="69" y="135"/>
                  <a:pt x="69" y="135"/>
                  <a:pt x="69" y="135"/>
                </a:cubicBezTo>
                <a:cubicBezTo>
                  <a:pt x="69" y="134"/>
                  <a:pt x="69" y="134"/>
                  <a:pt x="69" y="134"/>
                </a:cubicBezTo>
                <a:cubicBezTo>
                  <a:pt x="69" y="134"/>
                  <a:pt x="69" y="134"/>
                  <a:pt x="69" y="134"/>
                </a:cubicBezTo>
                <a:cubicBezTo>
                  <a:pt x="69" y="134"/>
                  <a:pt x="69" y="133"/>
                  <a:pt x="69" y="133"/>
                </a:cubicBezTo>
                <a:cubicBezTo>
                  <a:pt x="69" y="132"/>
                  <a:pt x="69" y="132"/>
                  <a:pt x="69" y="131"/>
                </a:cubicBezTo>
                <a:cubicBezTo>
                  <a:pt x="70" y="131"/>
                  <a:pt x="70" y="130"/>
                  <a:pt x="70" y="130"/>
                </a:cubicBezTo>
                <a:cubicBezTo>
                  <a:pt x="70" y="129"/>
                  <a:pt x="70" y="129"/>
                  <a:pt x="71" y="128"/>
                </a:cubicBezTo>
                <a:cubicBezTo>
                  <a:pt x="71" y="128"/>
                  <a:pt x="71" y="128"/>
                  <a:pt x="72" y="127"/>
                </a:cubicBezTo>
                <a:cubicBezTo>
                  <a:pt x="72" y="127"/>
                  <a:pt x="72" y="127"/>
                  <a:pt x="72" y="127"/>
                </a:cubicBezTo>
                <a:cubicBezTo>
                  <a:pt x="72" y="127"/>
                  <a:pt x="72" y="127"/>
                  <a:pt x="73" y="127"/>
                </a:cubicBezTo>
                <a:cubicBezTo>
                  <a:pt x="73" y="127"/>
                  <a:pt x="73" y="127"/>
                  <a:pt x="73" y="127"/>
                </a:cubicBezTo>
                <a:cubicBezTo>
                  <a:pt x="73" y="126"/>
                  <a:pt x="73" y="126"/>
                  <a:pt x="74" y="126"/>
                </a:cubicBezTo>
                <a:cubicBezTo>
                  <a:pt x="74" y="126"/>
                  <a:pt x="75" y="126"/>
                  <a:pt x="75" y="126"/>
                </a:cubicBezTo>
                <a:cubicBezTo>
                  <a:pt x="75" y="125"/>
                  <a:pt x="75" y="125"/>
                  <a:pt x="75" y="125"/>
                </a:cubicBezTo>
                <a:cubicBezTo>
                  <a:pt x="75" y="125"/>
                  <a:pt x="75" y="125"/>
                  <a:pt x="75" y="125"/>
                </a:cubicBezTo>
                <a:cubicBezTo>
                  <a:pt x="75" y="124"/>
                  <a:pt x="75" y="124"/>
                  <a:pt x="75" y="124"/>
                </a:cubicBezTo>
                <a:cubicBezTo>
                  <a:pt x="75" y="123"/>
                  <a:pt x="75" y="123"/>
                  <a:pt x="75" y="123"/>
                </a:cubicBezTo>
                <a:cubicBezTo>
                  <a:pt x="75" y="123"/>
                  <a:pt x="75" y="123"/>
                  <a:pt x="75" y="123"/>
                </a:cubicBezTo>
                <a:cubicBezTo>
                  <a:pt x="75" y="122"/>
                  <a:pt x="75" y="122"/>
                  <a:pt x="75" y="121"/>
                </a:cubicBezTo>
                <a:cubicBezTo>
                  <a:pt x="75" y="121"/>
                  <a:pt x="75" y="121"/>
                  <a:pt x="75" y="120"/>
                </a:cubicBezTo>
                <a:cubicBezTo>
                  <a:pt x="75" y="120"/>
                  <a:pt x="75" y="120"/>
                  <a:pt x="75"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7" y="120"/>
                  <a:pt x="77" y="120"/>
                </a:cubicBezTo>
                <a:cubicBezTo>
                  <a:pt x="77" y="120"/>
                  <a:pt x="77" y="120"/>
                  <a:pt x="77" y="120"/>
                </a:cubicBezTo>
                <a:cubicBezTo>
                  <a:pt x="77" y="120"/>
                  <a:pt x="77" y="120"/>
                  <a:pt x="77" y="121"/>
                </a:cubicBezTo>
                <a:cubicBezTo>
                  <a:pt x="77" y="121"/>
                  <a:pt x="77" y="121"/>
                  <a:pt x="77" y="121"/>
                </a:cubicBezTo>
                <a:cubicBezTo>
                  <a:pt x="77" y="121"/>
                  <a:pt x="77" y="121"/>
                  <a:pt x="77" y="121"/>
                </a:cubicBezTo>
                <a:cubicBezTo>
                  <a:pt x="77" y="125"/>
                  <a:pt x="77" y="125"/>
                  <a:pt x="77" y="125"/>
                </a:cubicBezTo>
                <a:cubicBezTo>
                  <a:pt x="77" y="125"/>
                  <a:pt x="77" y="125"/>
                  <a:pt x="77" y="125"/>
                </a:cubicBezTo>
                <a:cubicBezTo>
                  <a:pt x="77" y="126"/>
                  <a:pt x="77" y="126"/>
                  <a:pt x="77" y="126"/>
                </a:cubicBezTo>
                <a:cubicBezTo>
                  <a:pt x="78" y="126"/>
                  <a:pt x="78" y="126"/>
                  <a:pt x="79" y="126"/>
                </a:cubicBezTo>
                <a:cubicBezTo>
                  <a:pt x="80" y="127"/>
                  <a:pt x="80" y="127"/>
                  <a:pt x="81" y="127"/>
                </a:cubicBezTo>
                <a:cubicBezTo>
                  <a:pt x="81" y="127"/>
                  <a:pt x="81" y="127"/>
                  <a:pt x="81" y="127"/>
                </a:cubicBezTo>
                <a:cubicBezTo>
                  <a:pt x="81" y="128"/>
                  <a:pt x="82" y="128"/>
                  <a:pt x="82" y="129"/>
                </a:cubicBezTo>
                <a:cubicBezTo>
                  <a:pt x="82" y="130"/>
                  <a:pt x="83" y="130"/>
                  <a:pt x="83" y="131"/>
                </a:cubicBezTo>
                <a:cubicBezTo>
                  <a:pt x="83" y="132"/>
                  <a:pt x="83" y="133"/>
                  <a:pt x="83" y="133"/>
                </a:cubicBezTo>
                <a:cubicBezTo>
                  <a:pt x="84" y="134"/>
                  <a:pt x="84" y="134"/>
                  <a:pt x="84" y="135"/>
                </a:cubicBezTo>
                <a:cubicBezTo>
                  <a:pt x="84" y="135"/>
                  <a:pt x="84" y="135"/>
                  <a:pt x="84" y="135"/>
                </a:cubicBezTo>
                <a:cubicBezTo>
                  <a:pt x="84" y="136"/>
                  <a:pt x="84" y="136"/>
                  <a:pt x="84" y="136"/>
                </a:cubicBezTo>
                <a:cubicBezTo>
                  <a:pt x="84" y="136"/>
                  <a:pt x="84" y="136"/>
                  <a:pt x="84" y="136"/>
                </a:cubicBezTo>
                <a:cubicBezTo>
                  <a:pt x="84" y="136"/>
                  <a:pt x="84" y="136"/>
                  <a:pt x="84" y="137"/>
                </a:cubicBezTo>
                <a:cubicBezTo>
                  <a:pt x="84" y="137"/>
                  <a:pt x="84" y="137"/>
                  <a:pt x="84" y="137"/>
                </a:cubicBezTo>
                <a:cubicBezTo>
                  <a:pt x="84" y="137"/>
                  <a:pt x="84" y="137"/>
                  <a:pt x="84" y="137"/>
                </a:cubicBezTo>
                <a:cubicBezTo>
                  <a:pt x="83" y="137"/>
                  <a:pt x="83" y="137"/>
                  <a:pt x="83" y="137"/>
                </a:cubicBezTo>
                <a:cubicBezTo>
                  <a:pt x="83" y="137"/>
                  <a:pt x="83" y="137"/>
                  <a:pt x="83" y="137"/>
                </a:cubicBezTo>
                <a:cubicBezTo>
                  <a:pt x="83" y="137"/>
                  <a:pt x="83" y="138"/>
                  <a:pt x="83" y="138"/>
                </a:cubicBezTo>
                <a:cubicBezTo>
                  <a:pt x="83" y="138"/>
                  <a:pt x="83" y="138"/>
                  <a:pt x="83" y="138"/>
                </a:cubicBezTo>
                <a:cubicBezTo>
                  <a:pt x="83" y="138"/>
                  <a:pt x="83" y="137"/>
                  <a:pt x="83" y="137"/>
                </a:cubicBezTo>
                <a:cubicBezTo>
                  <a:pt x="83" y="137"/>
                  <a:pt x="83" y="137"/>
                  <a:pt x="83" y="137"/>
                </a:cubicBezTo>
                <a:cubicBezTo>
                  <a:pt x="82" y="137"/>
                  <a:pt x="82" y="137"/>
                  <a:pt x="82" y="137"/>
                </a:cubicBezTo>
                <a:cubicBezTo>
                  <a:pt x="82" y="137"/>
                  <a:pt x="82" y="136"/>
                  <a:pt x="82" y="136"/>
                </a:cubicBezTo>
                <a:cubicBezTo>
                  <a:pt x="82" y="136"/>
                  <a:pt x="82" y="136"/>
                  <a:pt x="82" y="136"/>
                </a:cubicBezTo>
                <a:cubicBezTo>
                  <a:pt x="82" y="135"/>
                  <a:pt x="82" y="135"/>
                  <a:pt x="82" y="135"/>
                </a:cubicBezTo>
                <a:cubicBezTo>
                  <a:pt x="82" y="134"/>
                  <a:pt x="82" y="134"/>
                  <a:pt x="82" y="133"/>
                </a:cubicBezTo>
                <a:cubicBezTo>
                  <a:pt x="82" y="133"/>
                  <a:pt x="82" y="133"/>
                  <a:pt x="82" y="133"/>
                </a:cubicBezTo>
                <a:cubicBezTo>
                  <a:pt x="82" y="132"/>
                  <a:pt x="82" y="132"/>
                  <a:pt x="81" y="131"/>
                </a:cubicBezTo>
                <a:cubicBezTo>
                  <a:pt x="81" y="131"/>
                  <a:pt x="81" y="130"/>
                  <a:pt x="81" y="130"/>
                </a:cubicBezTo>
                <a:cubicBezTo>
                  <a:pt x="81" y="129"/>
                  <a:pt x="80" y="129"/>
                  <a:pt x="80" y="129"/>
                </a:cubicBezTo>
                <a:cubicBezTo>
                  <a:pt x="80" y="128"/>
                  <a:pt x="80" y="128"/>
                  <a:pt x="79" y="128"/>
                </a:cubicBezTo>
                <a:cubicBezTo>
                  <a:pt x="79" y="128"/>
                  <a:pt x="79" y="128"/>
                  <a:pt x="79" y="128"/>
                </a:cubicBezTo>
                <a:cubicBezTo>
                  <a:pt x="79" y="128"/>
                  <a:pt x="79" y="128"/>
                  <a:pt x="78" y="128"/>
                </a:cubicBezTo>
                <a:cubicBezTo>
                  <a:pt x="78" y="127"/>
                  <a:pt x="78" y="127"/>
                  <a:pt x="78" y="127"/>
                </a:cubicBezTo>
                <a:cubicBezTo>
                  <a:pt x="78" y="127"/>
                  <a:pt x="78" y="127"/>
                  <a:pt x="78" y="127"/>
                </a:cubicBezTo>
                <a:cubicBezTo>
                  <a:pt x="77" y="127"/>
                  <a:pt x="77" y="127"/>
                  <a:pt x="77" y="127"/>
                </a:cubicBezTo>
                <a:cubicBezTo>
                  <a:pt x="77" y="127"/>
                  <a:pt x="77" y="128"/>
                  <a:pt x="77" y="128"/>
                </a:cubicBezTo>
                <a:cubicBezTo>
                  <a:pt x="77" y="129"/>
                  <a:pt x="77" y="129"/>
                  <a:pt x="77" y="129"/>
                </a:cubicBezTo>
                <a:cubicBezTo>
                  <a:pt x="77" y="130"/>
                  <a:pt x="77" y="130"/>
                  <a:pt x="77" y="131"/>
                </a:cubicBezTo>
                <a:cubicBezTo>
                  <a:pt x="77" y="131"/>
                  <a:pt x="77" y="131"/>
                  <a:pt x="77" y="131"/>
                </a:cubicBezTo>
                <a:cubicBezTo>
                  <a:pt x="77" y="132"/>
                  <a:pt x="77" y="132"/>
                  <a:pt x="77" y="133"/>
                </a:cubicBezTo>
                <a:cubicBezTo>
                  <a:pt x="77" y="133"/>
                  <a:pt x="77" y="133"/>
                  <a:pt x="77" y="134"/>
                </a:cubicBezTo>
                <a:cubicBezTo>
                  <a:pt x="77" y="134"/>
                  <a:pt x="77" y="134"/>
                  <a:pt x="77" y="134"/>
                </a:cubicBezTo>
                <a:cubicBezTo>
                  <a:pt x="77" y="134"/>
                  <a:pt x="77" y="134"/>
                  <a:pt x="77" y="135"/>
                </a:cubicBezTo>
                <a:cubicBezTo>
                  <a:pt x="77" y="135"/>
                  <a:pt x="78" y="136"/>
                  <a:pt x="78" y="136"/>
                </a:cubicBezTo>
                <a:cubicBezTo>
                  <a:pt x="78" y="136"/>
                  <a:pt x="78" y="136"/>
                  <a:pt x="78" y="136"/>
                </a:cubicBezTo>
                <a:cubicBezTo>
                  <a:pt x="78" y="137"/>
                  <a:pt x="78" y="137"/>
                  <a:pt x="78" y="138"/>
                </a:cubicBezTo>
                <a:cubicBezTo>
                  <a:pt x="78" y="138"/>
                  <a:pt x="79" y="139"/>
                  <a:pt x="79" y="139"/>
                </a:cubicBezTo>
                <a:cubicBezTo>
                  <a:pt x="79" y="140"/>
                  <a:pt x="79" y="140"/>
                  <a:pt x="79" y="141"/>
                </a:cubicBezTo>
                <a:cubicBezTo>
                  <a:pt x="80" y="141"/>
                  <a:pt x="80" y="142"/>
                  <a:pt x="80" y="142"/>
                </a:cubicBezTo>
                <a:cubicBezTo>
                  <a:pt x="80" y="142"/>
                  <a:pt x="80" y="142"/>
                  <a:pt x="80" y="142"/>
                </a:cubicBezTo>
                <a:cubicBezTo>
                  <a:pt x="80" y="142"/>
                  <a:pt x="80" y="143"/>
                  <a:pt x="81" y="143"/>
                </a:cubicBezTo>
                <a:cubicBezTo>
                  <a:pt x="81" y="143"/>
                  <a:pt x="81" y="143"/>
                  <a:pt x="81" y="143"/>
                </a:cubicBezTo>
                <a:cubicBezTo>
                  <a:pt x="81" y="143"/>
                  <a:pt x="81" y="143"/>
                  <a:pt x="81" y="143"/>
                </a:cubicBezTo>
                <a:cubicBezTo>
                  <a:pt x="81" y="144"/>
                  <a:pt x="81" y="144"/>
                  <a:pt x="81" y="144"/>
                </a:cubicBezTo>
                <a:cubicBezTo>
                  <a:pt x="81" y="144"/>
                  <a:pt x="82" y="144"/>
                  <a:pt x="82" y="145"/>
                </a:cubicBezTo>
                <a:cubicBezTo>
                  <a:pt x="82" y="145"/>
                  <a:pt x="82" y="145"/>
                  <a:pt x="82" y="145"/>
                </a:cubicBezTo>
                <a:cubicBezTo>
                  <a:pt x="82" y="146"/>
                  <a:pt x="82" y="146"/>
                  <a:pt x="83" y="146"/>
                </a:cubicBezTo>
                <a:cubicBezTo>
                  <a:pt x="83" y="146"/>
                  <a:pt x="83" y="146"/>
                  <a:pt x="83" y="146"/>
                </a:cubicBezTo>
                <a:cubicBezTo>
                  <a:pt x="83" y="146"/>
                  <a:pt x="83" y="146"/>
                  <a:pt x="83" y="146"/>
                </a:cubicBezTo>
                <a:cubicBezTo>
                  <a:pt x="83" y="146"/>
                  <a:pt x="83" y="146"/>
                  <a:pt x="83" y="146"/>
                </a:cubicBezTo>
                <a:cubicBezTo>
                  <a:pt x="83" y="146"/>
                  <a:pt x="83" y="146"/>
                  <a:pt x="83" y="147"/>
                </a:cubicBezTo>
                <a:cubicBezTo>
                  <a:pt x="83" y="147"/>
                  <a:pt x="83" y="147"/>
                  <a:pt x="83" y="147"/>
                </a:cubicBezTo>
                <a:cubicBezTo>
                  <a:pt x="83" y="147"/>
                  <a:pt x="83" y="147"/>
                  <a:pt x="83" y="147"/>
                </a:cubicBezTo>
                <a:cubicBezTo>
                  <a:pt x="83" y="147"/>
                  <a:pt x="83" y="147"/>
                  <a:pt x="83" y="147"/>
                </a:cubicBezTo>
                <a:cubicBezTo>
                  <a:pt x="83" y="147"/>
                  <a:pt x="82" y="147"/>
                  <a:pt x="82" y="147"/>
                </a:cubicBezTo>
                <a:cubicBezTo>
                  <a:pt x="82" y="147"/>
                  <a:pt x="82" y="147"/>
                  <a:pt x="82" y="147"/>
                </a:cubicBezTo>
                <a:cubicBezTo>
                  <a:pt x="82" y="147"/>
                  <a:pt x="82" y="147"/>
                  <a:pt x="82" y="147"/>
                </a:cubicBezTo>
                <a:cubicBezTo>
                  <a:pt x="82" y="147"/>
                  <a:pt x="82" y="147"/>
                  <a:pt x="82" y="147"/>
                </a:cubicBezTo>
                <a:cubicBezTo>
                  <a:pt x="82" y="147"/>
                  <a:pt x="82" y="147"/>
                  <a:pt x="82" y="147"/>
                </a:cubicBezTo>
                <a:cubicBezTo>
                  <a:pt x="82" y="147"/>
                  <a:pt x="81" y="147"/>
                  <a:pt x="81" y="146"/>
                </a:cubicBezTo>
                <a:cubicBezTo>
                  <a:pt x="81" y="146"/>
                  <a:pt x="81" y="146"/>
                  <a:pt x="81" y="146"/>
                </a:cubicBezTo>
                <a:cubicBezTo>
                  <a:pt x="81" y="146"/>
                  <a:pt x="80" y="145"/>
                  <a:pt x="80" y="145"/>
                </a:cubicBezTo>
                <a:cubicBezTo>
                  <a:pt x="80" y="145"/>
                  <a:pt x="80" y="145"/>
                  <a:pt x="80" y="145"/>
                </a:cubicBezTo>
                <a:cubicBezTo>
                  <a:pt x="79" y="144"/>
                  <a:pt x="79" y="143"/>
                  <a:pt x="79" y="143"/>
                </a:cubicBezTo>
                <a:cubicBezTo>
                  <a:pt x="78" y="142"/>
                  <a:pt x="78" y="141"/>
                  <a:pt x="78" y="140"/>
                </a:cubicBezTo>
                <a:cubicBezTo>
                  <a:pt x="77" y="140"/>
                  <a:pt x="77" y="139"/>
                  <a:pt x="77" y="139"/>
                </a:cubicBezTo>
                <a:cubicBezTo>
                  <a:pt x="77" y="138"/>
                  <a:pt x="76" y="138"/>
                  <a:pt x="76" y="137"/>
                </a:cubicBezTo>
                <a:cubicBezTo>
                  <a:pt x="76" y="136"/>
                  <a:pt x="76" y="136"/>
                  <a:pt x="76" y="136"/>
                </a:cubicBezTo>
                <a:cubicBezTo>
                  <a:pt x="76" y="137"/>
                  <a:pt x="76" y="137"/>
                  <a:pt x="76" y="138"/>
                </a:cubicBezTo>
                <a:cubicBezTo>
                  <a:pt x="76" y="138"/>
                  <a:pt x="75" y="139"/>
                  <a:pt x="75" y="139"/>
                </a:cubicBezTo>
                <a:cubicBezTo>
                  <a:pt x="75" y="139"/>
                  <a:pt x="75" y="139"/>
                  <a:pt x="75" y="139"/>
                </a:cubicBezTo>
                <a:cubicBezTo>
                  <a:pt x="75" y="139"/>
                  <a:pt x="75" y="139"/>
                  <a:pt x="75" y="140"/>
                </a:cubicBezTo>
                <a:cubicBezTo>
                  <a:pt x="75" y="140"/>
                  <a:pt x="75" y="141"/>
                  <a:pt x="74" y="141"/>
                </a:cubicBezTo>
                <a:cubicBezTo>
                  <a:pt x="74" y="141"/>
                  <a:pt x="74" y="142"/>
                  <a:pt x="74" y="142"/>
                </a:cubicBezTo>
                <a:cubicBezTo>
                  <a:pt x="74" y="142"/>
                  <a:pt x="73" y="143"/>
                  <a:pt x="73" y="143"/>
                </a:cubicBezTo>
                <a:cubicBezTo>
                  <a:pt x="73" y="143"/>
                  <a:pt x="73" y="143"/>
                  <a:pt x="73" y="143"/>
                </a:cubicBezTo>
                <a:cubicBezTo>
                  <a:pt x="73" y="143"/>
                  <a:pt x="73" y="144"/>
                  <a:pt x="73" y="144"/>
                </a:cubicBezTo>
                <a:cubicBezTo>
                  <a:pt x="73" y="144"/>
                  <a:pt x="72" y="144"/>
                  <a:pt x="72" y="145"/>
                </a:cubicBezTo>
                <a:cubicBezTo>
                  <a:pt x="72" y="145"/>
                  <a:pt x="72" y="145"/>
                  <a:pt x="72" y="145"/>
                </a:cubicBezTo>
                <a:cubicBezTo>
                  <a:pt x="72" y="145"/>
                  <a:pt x="72" y="145"/>
                  <a:pt x="72" y="145"/>
                </a:cubicBezTo>
                <a:cubicBezTo>
                  <a:pt x="71" y="146"/>
                  <a:pt x="71" y="146"/>
                  <a:pt x="71" y="146"/>
                </a:cubicBezTo>
                <a:cubicBezTo>
                  <a:pt x="71" y="146"/>
                  <a:pt x="71" y="146"/>
                  <a:pt x="71"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69" y="147"/>
                </a:cubicBezTo>
                <a:cubicBezTo>
                  <a:pt x="69" y="147"/>
                  <a:pt x="69" y="147"/>
                  <a:pt x="69" y="147"/>
                </a:cubicBezTo>
                <a:cubicBezTo>
                  <a:pt x="69" y="147"/>
                  <a:pt x="69" y="147"/>
                  <a:pt x="69" y="147"/>
                </a:cubicBezTo>
                <a:cubicBezTo>
                  <a:pt x="69" y="147"/>
                  <a:pt x="69" y="147"/>
                  <a:pt x="69" y="147"/>
                </a:cubicBezTo>
                <a:cubicBezTo>
                  <a:pt x="69" y="147"/>
                  <a:pt x="69" y="147"/>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70" y="145"/>
                </a:cubicBezTo>
                <a:cubicBezTo>
                  <a:pt x="70" y="145"/>
                  <a:pt x="70" y="145"/>
                  <a:pt x="70" y="145"/>
                </a:cubicBezTo>
                <a:cubicBezTo>
                  <a:pt x="70" y="145"/>
                  <a:pt x="70" y="145"/>
                  <a:pt x="70" y="145"/>
                </a:cubicBezTo>
                <a:cubicBezTo>
                  <a:pt x="70" y="145"/>
                  <a:pt x="70" y="144"/>
                  <a:pt x="71" y="144"/>
                </a:cubicBezTo>
                <a:cubicBezTo>
                  <a:pt x="71" y="144"/>
                  <a:pt x="71" y="144"/>
                  <a:pt x="71" y="143"/>
                </a:cubicBezTo>
                <a:cubicBezTo>
                  <a:pt x="71" y="143"/>
                  <a:pt x="71" y="143"/>
                  <a:pt x="71" y="143"/>
                </a:cubicBezTo>
                <a:cubicBezTo>
                  <a:pt x="72" y="143"/>
                  <a:pt x="72" y="142"/>
                  <a:pt x="72" y="142"/>
                </a:cubicBezTo>
                <a:cubicBezTo>
                  <a:pt x="72" y="142"/>
                  <a:pt x="72" y="141"/>
                  <a:pt x="73" y="141"/>
                </a:cubicBezTo>
                <a:cubicBezTo>
                  <a:pt x="73" y="141"/>
                  <a:pt x="73" y="140"/>
                  <a:pt x="73" y="140"/>
                </a:cubicBezTo>
                <a:cubicBezTo>
                  <a:pt x="73" y="140"/>
                  <a:pt x="73" y="140"/>
                  <a:pt x="73" y="140"/>
                </a:cubicBezTo>
                <a:cubicBezTo>
                  <a:pt x="73" y="139"/>
                  <a:pt x="74" y="139"/>
                  <a:pt x="74" y="139"/>
                </a:cubicBezTo>
                <a:cubicBezTo>
                  <a:pt x="74" y="139"/>
                  <a:pt x="74" y="139"/>
                  <a:pt x="74" y="139"/>
                </a:cubicBezTo>
                <a:cubicBezTo>
                  <a:pt x="74" y="138"/>
                  <a:pt x="74" y="138"/>
                  <a:pt x="74" y="137"/>
                </a:cubicBezTo>
                <a:cubicBezTo>
                  <a:pt x="74" y="137"/>
                  <a:pt x="75" y="137"/>
                  <a:pt x="75" y="136"/>
                </a:cubicBezTo>
                <a:cubicBezTo>
                  <a:pt x="75" y="136"/>
                  <a:pt x="75" y="135"/>
                  <a:pt x="75" y="135"/>
                </a:cubicBezTo>
                <a:cubicBezTo>
                  <a:pt x="75" y="135"/>
                  <a:pt x="75" y="134"/>
                  <a:pt x="75" y="134"/>
                </a:cubicBezTo>
                <a:cubicBezTo>
                  <a:pt x="75" y="134"/>
                  <a:pt x="75" y="134"/>
                  <a:pt x="75" y="134"/>
                </a:cubicBezTo>
                <a:cubicBezTo>
                  <a:pt x="75" y="133"/>
                  <a:pt x="75" y="133"/>
                  <a:pt x="75" y="132"/>
                </a:cubicBezTo>
                <a:cubicBezTo>
                  <a:pt x="75" y="132"/>
                  <a:pt x="75" y="131"/>
                  <a:pt x="75" y="131"/>
                </a:cubicBezTo>
                <a:cubicBezTo>
                  <a:pt x="75" y="131"/>
                  <a:pt x="75" y="131"/>
                  <a:pt x="75" y="131"/>
                </a:cubicBezTo>
                <a:cubicBezTo>
                  <a:pt x="75" y="130"/>
                  <a:pt x="75" y="130"/>
                  <a:pt x="75" y="129"/>
                </a:cubicBezTo>
                <a:cubicBezTo>
                  <a:pt x="75" y="129"/>
                  <a:pt x="75" y="128"/>
                  <a:pt x="75" y="128"/>
                </a:cubicBezTo>
                <a:cubicBezTo>
                  <a:pt x="75" y="127"/>
                  <a:pt x="75" y="127"/>
                  <a:pt x="75" y="127"/>
                </a:cubicBezTo>
                <a:close/>
                <a:moveTo>
                  <a:pt x="107" y="13"/>
                </a:move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6" y="12"/>
                  <a:pt x="106" y="12"/>
                </a:cubicBezTo>
                <a:cubicBezTo>
                  <a:pt x="106" y="12"/>
                  <a:pt x="106" y="12"/>
                  <a:pt x="106" y="12"/>
                </a:cubicBezTo>
                <a:cubicBezTo>
                  <a:pt x="106" y="12"/>
                  <a:pt x="106" y="12"/>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1"/>
                  <a:pt x="107" y="11"/>
                  <a:pt x="107" y="11"/>
                </a:cubicBezTo>
                <a:cubicBezTo>
                  <a:pt x="107" y="11"/>
                  <a:pt x="107" y="11"/>
                  <a:pt x="107" y="11"/>
                </a:cubicBezTo>
                <a:cubicBezTo>
                  <a:pt x="107" y="11"/>
                  <a:pt x="107" y="11"/>
                  <a:pt x="107" y="11"/>
                </a:cubicBezTo>
                <a:cubicBezTo>
                  <a:pt x="107" y="11"/>
                  <a:pt x="107" y="11"/>
                  <a:pt x="107" y="11"/>
                </a:cubicBezTo>
                <a:cubicBezTo>
                  <a:pt x="108" y="11"/>
                  <a:pt x="108" y="11"/>
                  <a:pt x="108" y="11"/>
                </a:cubicBezTo>
                <a:cubicBezTo>
                  <a:pt x="108" y="11"/>
                  <a:pt x="108" y="12"/>
                  <a:pt x="108" y="12"/>
                </a:cubicBezTo>
                <a:cubicBezTo>
                  <a:pt x="108" y="12"/>
                  <a:pt x="108" y="12"/>
                  <a:pt x="108" y="12"/>
                </a:cubicBezTo>
                <a:cubicBezTo>
                  <a:pt x="108" y="12"/>
                  <a:pt x="108" y="12"/>
                  <a:pt x="108" y="12"/>
                </a:cubicBezTo>
                <a:cubicBezTo>
                  <a:pt x="108" y="12"/>
                  <a:pt x="109" y="12"/>
                  <a:pt x="109" y="12"/>
                </a:cubicBezTo>
                <a:cubicBezTo>
                  <a:pt x="109" y="12"/>
                  <a:pt x="109" y="12"/>
                  <a:pt x="109" y="12"/>
                </a:cubicBezTo>
                <a:cubicBezTo>
                  <a:pt x="110" y="12"/>
                  <a:pt x="110" y="12"/>
                  <a:pt x="110" y="12"/>
                </a:cubicBezTo>
                <a:cubicBezTo>
                  <a:pt x="110" y="12"/>
                  <a:pt x="110" y="12"/>
                  <a:pt x="110" y="12"/>
                </a:cubicBezTo>
                <a:cubicBezTo>
                  <a:pt x="110" y="12"/>
                  <a:pt x="111" y="12"/>
                  <a:pt x="111" y="12"/>
                </a:cubicBezTo>
                <a:cubicBezTo>
                  <a:pt x="111" y="12"/>
                  <a:pt x="112" y="12"/>
                  <a:pt x="112" y="12"/>
                </a:cubicBezTo>
                <a:cubicBezTo>
                  <a:pt x="112" y="12"/>
                  <a:pt x="112" y="12"/>
                  <a:pt x="112" y="12"/>
                </a:cubicBezTo>
                <a:cubicBezTo>
                  <a:pt x="112" y="12"/>
                  <a:pt x="112" y="12"/>
                  <a:pt x="112" y="12"/>
                </a:cubicBezTo>
                <a:cubicBezTo>
                  <a:pt x="112" y="12"/>
                  <a:pt x="112" y="11"/>
                  <a:pt x="112" y="11"/>
                </a:cubicBezTo>
                <a:cubicBezTo>
                  <a:pt x="112" y="11"/>
                  <a:pt x="112" y="11"/>
                  <a:pt x="112" y="11"/>
                </a:cubicBezTo>
                <a:cubicBezTo>
                  <a:pt x="112" y="11"/>
                  <a:pt x="112" y="11"/>
                  <a:pt x="112" y="11"/>
                </a:cubicBezTo>
                <a:cubicBezTo>
                  <a:pt x="113" y="11"/>
                  <a:pt x="113" y="11"/>
                  <a:pt x="113" y="11"/>
                </a:cubicBezTo>
                <a:cubicBezTo>
                  <a:pt x="113" y="11"/>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4" y="10"/>
                </a:cubicBezTo>
                <a:cubicBezTo>
                  <a:pt x="114" y="10"/>
                  <a:pt x="114" y="10"/>
                  <a:pt x="114" y="11"/>
                </a:cubicBezTo>
                <a:cubicBezTo>
                  <a:pt x="114" y="11"/>
                  <a:pt x="114" y="11"/>
                  <a:pt x="114" y="11"/>
                </a:cubicBezTo>
                <a:cubicBezTo>
                  <a:pt x="114" y="11"/>
                  <a:pt x="114" y="11"/>
                  <a:pt x="114" y="12"/>
                </a:cubicBezTo>
                <a:cubicBezTo>
                  <a:pt x="114" y="12"/>
                  <a:pt x="113" y="12"/>
                  <a:pt x="113" y="12"/>
                </a:cubicBezTo>
                <a:cubicBezTo>
                  <a:pt x="113" y="12"/>
                  <a:pt x="113" y="12"/>
                  <a:pt x="113" y="13"/>
                </a:cubicBezTo>
                <a:cubicBezTo>
                  <a:pt x="113" y="13"/>
                  <a:pt x="113" y="13"/>
                  <a:pt x="113" y="13"/>
                </a:cubicBezTo>
                <a:cubicBezTo>
                  <a:pt x="113" y="13"/>
                  <a:pt x="113" y="13"/>
                  <a:pt x="112" y="13"/>
                </a:cubicBezTo>
                <a:cubicBezTo>
                  <a:pt x="112" y="13"/>
                  <a:pt x="112" y="13"/>
                  <a:pt x="112" y="13"/>
                </a:cubicBezTo>
                <a:cubicBezTo>
                  <a:pt x="112" y="13"/>
                  <a:pt x="112" y="13"/>
                  <a:pt x="112" y="13"/>
                </a:cubicBezTo>
                <a:cubicBezTo>
                  <a:pt x="111" y="13"/>
                  <a:pt x="111" y="13"/>
                  <a:pt x="111" y="13"/>
                </a:cubicBezTo>
                <a:cubicBezTo>
                  <a:pt x="111" y="14"/>
                  <a:pt x="111" y="14"/>
                  <a:pt x="111" y="14"/>
                </a:cubicBezTo>
                <a:cubicBezTo>
                  <a:pt x="111" y="14"/>
                  <a:pt x="111" y="14"/>
                  <a:pt x="111" y="14"/>
                </a:cubicBezTo>
                <a:cubicBezTo>
                  <a:pt x="111" y="14"/>
                  <a:pt x="112" y="14"/>
                  <a:pt x="112" y="14"/>
                </a:cubicBezTo>
                <a:cubicBezTo>
                  <a:pt x="113" y="14"/>
                  <a:pt x="114" y="14"/>
                  <a:pt x="114" y="14"/>
                </a:cubicBezTo>
                <a:cubicBezTo>
                  <a:pt x="114" y="14"/>
                  <a:pt x="114" y="14"/>
                  <a:pt x="114" y="14"/>
                </a:cubicBezTo>
                <a:cubicBezTo>
                  <a:pt x="115" y="14"/>
                  <a:pt x="115" y="14"/>
                  <a:pt x="116" y="14"/>
                </a:cubicBezTo>
                <a:cubicBezTo>
                  <a:pt x="116" y="14"/>
                  <a:pt x="116" y="14"/>
                  <a:pt x="116" y="14"/>
                </a:cubicBezTo>
                <a:cubicBezTo>
                  <a:pt x="116" y="14"/>
                  <a:pt x="116" y="14"/>
                  <a:pt x="116" y="14"/>
                </a:cubicBezTo>
                <a:cubicBezTo>
                  <a:pt x="116" y="14"/>
                  <a:pt x="116" y="15"/>
                  <a:pt x="116" y="15"/>
                </a:cubicBezTo>
                <a:cubicBezTo>
                  <a:pt x="116" y="15"/>
                  <a:pt x="116" y="15"/>
                  <a:pt x="116" y="15"/>
                </a:cubicBezTo>
                <a:cubicBezTo>
                  <a:pt x="117" y="15"/>
                  <a:pt x="117" y="15"/>
                  <a:pt x="117" y="15"/>
                </a:cubicBezTo>
                <a:cubicBezTo>
                  <a:pt x="117" y="15"/>
                  <a:pt x="117" y="15"/>
                  <a:pt x="117" y="15"/>
                </a:cubicBezTo>
                <a:cubicBezTo>
                  <a:pt x="117" y="15"/>
                  <a:pt x="117"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5" y="15"/>
                  <a:pt x="115" y="15"/>
                </a:cubicBezTo>
                <a:cubicBezTo>
                  <a:pt x="115" y="15"/>
                  <a:pt x="115" y="15"/>
                  <a:pt x="115" y="15"/>
                </a:cubicBezTo>
                <a:cubicBezTo>
                  <a:pt x="115" y="15"/>
                  <a:pt x="114" y="15"/>
                  <a:pt x="113" y="15"/>
                </a:cubicBezTo>
                <a:cubicBezTo>
                  <a:pt x="113" y="15"/>
                  <a:pt x="112" y="15"/>
                  <a:pt x="112" y="15"/>
                </a:cubicBezTo>
                <a:cubicBezTo>
                  <a:pt x="111" y="15"/>
                  <a:pt x="111" y="15"/>
                  <a:pt x="111" y="15"/>
                </a:cubicBezTo>
                <a:cubicBezTo>
                  <a:pt x="111" y="16"/>
                  <a:pt x="111" y="16"/>
                  <a:pt x="111" y="16"/>
                </a:cubicBezTo>
                <a:cubicBezTo>
                  <a:pt x="111" y="16"/>
                  <a:pt x="111" y="16"/>
                  <a:pt x="111" y="16"/>
                </a:cubicBezTo>
                <a:cubicBezTo>
                  <a:pt x="111" y="16"/>
                  <a:pt x="111" y="16"/>
                  <a:pt x="111" y="16"/>
                </a:cubicBezTo>
                <a:cubicBezTo>
                  <a:pt x="111" y="16"/>
                  <a:pt x="111" y="16"/>
                  <a:pt x="111" y="16"/>
                </a:cubicBezTo>
                <a:cubicBezTo>
                  <a:pt x="107" y="13"/>
                  <a:pt x="107" y="13"/>
                  <a:pt x="107" y="13"/>
                </a:cubicBezTo>
                <a:close/>
                <a:moveTo>
                  <a:pt x="111" y="16"/>
                </a:moveTo>
                <a:cubicBezTo>
                  <a:pt x="111" y="16"/>
                  <a:pt x="111" y="16"/>
                  <a:pt x="111" y="16"/>
                </a:cubicBezTo>
                <a:cubicBezTo>
                  <a:pt x="111" y="16"/>
                  <a:pt x="111" y="16"/>
                  <a:pt x="111" y="16"/>
                </a:cubicBezTo>
                <a:cubicBezTo>
                  <a:pt x="111" y="16"/>
                  <a:pt x="111" y="16"/>
                  <a:pt x="111" y="16"/>
                </a:cubicBezTo>
                <a:cubicBezTo>
                  <a:pt x="112" y="16"/>
                  <a:pt x="112" y="16"/>
                  <a:pt x="112" y="16"/>
                </a:cubicBezTo>
                <a:cubicBezTo>
                  <a:pt x="113" y="16"/>
                  <a:pt x="113" y="16"/>
                  <a:pt x="113" y="17"/>
                </a:cubicBezTo>
                <a:cubicBezTo>
                  <a:pt x="113" y="17"/>
                  <a:pt x="114" y="17"/>
                  <a:pt x="114" y="17"/>
                </a:cubicBezTo>
                <a:cubicBezTo>
                  <a:pt x="114" y="17"/>
                  <a:pt x="114" y="17"/>
                  <a:pt x="114" y="17"/>
                </a:cubicBezTo>
                <a:cubicBezTo>
                  <a:pt x="114" y="17"/>
                  <a:pt x="114" y="17"/>
                  <a:pt x="114" y="17"/>
                </a:cubicBezTo>
                <a:cubicBezTo>
                  <a:pt x="114" y="17"/>
                  <a:pt x="114" y="17"/>
                  <a:pt x="114" y="17"/>
                </a:cubicBezTo>
                <a:cubicBezTo>
                  <a:pt x="114" y="17"/>
                  <a:pt x="114" y="17"/>
                  <a:pt x="114" y="17"/>
                </a:cubicBezTo>
                <a:cubicBezTo>
                  <a:pt x="114" y="18"/>
                  <a:pt x="115" y="18"/>
                  <a:pt x="115" y="18"/>
                </a:cubicBezTo>
                <a:cubicBezTo>
                  <a:pt x="115" y="18"/>
                  <a:pt x="115" y="18"/>
                  <a:pt x="115" y="18"/>
                </a:cubicBezTo>
                <a:cubicBezTo>
                  <a:pt x="115" y="18"/>
                  <a:pt x="115" y="18"/>
                  <a:pt x="115" y="18"/>
                </a:cubicBezTo>
                <a:cubicBezTo>
                  <a:pt x="115" y="18"/>
                  <a:pt x="115" y="19"/>
                  <a:pt x="115" y="19"/>
                </a:cubicBezTo>
                <a:cubicBezTo>
                  <a:pt x="115" y="19"/>
                  <a:pt x="115" y="19"/>
                  <a:pt x="115" y="19"/>
                </a:cubicBezTo>
                <a:cubicBezTo>
                  <a:pt x="115" y="19"/>
                  <a:pt x="115" y="19"/>
                  <a:pt x="115" y="19"/>
                </a:cubicBezTo>
                <a:cubicBezTo>
                  <a:pt x="115" y="19"/>
                  <a:pt x="115" y="20"/>
                  <a:pt x="114" y="20"/>
                </a:cubicBezTo>
                <a:cubicBezTo>
                  <a:pt x="114" y="20"/>
                  <a:pt x="114" y="20"/>
                  <a:pt x="114" y="20"/>
                </a:cubicBezTo>
                <a:cubicBezTo>
                  <a:pt x="114" y="20"/>
                  <a:pt x="114" y="20"/>
                  <a:pt x="114" y="20"/>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5" y="22"/>
                </a:cubicBezTo>
                <a:cubicBezTo>
                  <a:pt x="115" y="22"/>
                  <a:pt x="115" y="22"/>
                  <a:pt x="115" y="22"/>
                </a:cubicBezTo>
                <a:cubicBezTo>
                  <a:pt x="115" y="22"/>
                  <a:pt x="115" y="22"/>
                  <a:pt x="115" y="22"/>
                </a:cubicBezTo>
                <a:cubicBezTo>
                  <a:pt x="115" y="23"/>
                  <a:pt x="115" y="23"/>
                  <a:pt x="115" y="23"/>
                </a:cubicBezTo>
                <a:cubicBezTo>
                  <a:pt x="115" y="23"/>
                  <a:pt x="115" y="24"/>
                  <a:pt x="115" y="24"/>
                </a:cubicBezTo>
                <a:cubicBezTo>
                  <a:pt x="115" y="24"/>
                  <a:pt x="115" y="24"/>
                  <a:pt x="115" y="25"/>
                </a:cubicBezTo>
                <a:cubicBezTo>
                  <a:pt x="115" y="25"/>
                  <a:pt x="115" y="25"/>
                  <a:pt x="115" y="25"/>
                </a:cubicBezTo>
                <a:cubicBezTo>
                  <a:pt x="115" y="25"/>
                  <a:pt x="115" y="25"/>
                  <a:pt x="115" y="26"/>
                </a:cubicBezTo>
                <a:cubicBezTo>
                  <a:pt x="115" y="26"/>
                  <a:pt x="115" y="26"/>
                  <a:pt x="115" y="26"/>
                </a:cubicBezTo>
                <a:cubicBezTo>
                  <a:pt x="115" y="28"/>
                  <a:pt x="115" y="28"/>
                  <a:pt x="115" y="28"/>
                </a:cubicBezTo>
                <a:cubicBezTo>
                  <a:pt x="115" y="28"/>
                  <a:pt x="115" y="28"/>
                  <a:pt x="115" y="28"/>
                </a:cubicBezTo>
                <a:cubicBezTo>
                  <a:pt x="115" y="28"/>
                  <a:pt x="115" y="29"/>
                  <a:pt x="115" y="29"/>
                </a:cubicBezTo>
                <a:cubicBezTo>
                  <a:pt x="115" y="29"/>
                  <a:pt x="115" y="29"/>
                  <a:pt x="115" y="29"/>
                </a:cubicBezTo>
                <a:cubicBezTo>
                  <a:pt x="115" y="30"/>
                  <a:pt x="115" y="30"/>
                  <a:pt x="115" y="30"/>
                </a:cubicBezTo>
                <a:cubicBezTo>
                  <a:pt x="115" y="30"/>
                  <a:pt x="115" y="30"/>
                  <a:pt x="115" y="30"/>
                </a:cubicBezTo>
                <a:cubicBezTo>
                  <a:pt x="115" y="30"/>
                  <a:pt x="115" y="30"/>
                  <a:pt x="115" y="30"/>
                </a:cubicBezTo>
                <a:cubicBezTo>
                  <a:pt x="115" y="30"/>
                  <a:pt x="115" y="30"/>
                  <a:pt x="115" y="31"/>
                </a:cubicBezTo>
                <a:cubicBezTo>
                  <a:pt x="115" y="31"/>
                  <a:pt x="115" y="31"/>
                  <a:pt x="115" y="31"/>
                </a:cubicBezTo>
                <a:cubicBezTo>
                  <a:pt x="115" y="31"/>
                  <a:pt x="115" y="31"/>
                  <a:pt x="115" y="31"/>
                </a:cubicBezTo>
                <a:cubicBezTo>
                  <a:pt x="115" y="31"/>
                  <a:pt x="115" y="31"/>
                  <a:pt x="114" y="31"/>
                </a:cubicBezTo>
                <a:cubicBezTo>
                  <a:pt x="114" y="31"/>
                  <a:pt x="114" y="31"/>
                  <a:pt x="114" y="31"/>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29"/>
                  <a:pt x="114" y="29"/>
                  <a:pt x="114" y="29"/>
                </a:cubicBezTo>
                <a:cubicBezTo>
                  <a:pt x="114" y="29"/>
                  <a:pt x="114" y="29"/>
                  <a:pt x="114" y="29"/>
                </a:cubicBezTo>
                <a:cubicBezTo>
                  <a:pt x="114" y="29"/>
                  <a:pt x="114" y="28"/>
                  <a:pt x="114" y="28"/>
                </a:cubicBezTo>
                <a:cubicBezTo>
                  <a:pt x="114" y="26"/>
                  <a:pt x="114" y="26"/>
                  <a:pt x="114" y="26"/>
                </a:cubicBezTo>
                <a:cubicBezTo>
                  <a:pt x="114" y="26"/>
                  <a:pt x="114" y="26"/>
                  <a:pt x="114" y="26"/>
                </a:cubicBezTo>
                <a:cubicBezTo>
                  <a:pt x="114" y="26"/>
                  <a:pt x="114" y="26"/>
                  <a:pt x="114" y="26"/>
                </a:cubicBezTo>
                <a:cubicBezTo>
                  <a:pt x="114" y="26"/>
                  <a:pt x="114" y="25"/>
                  <a:pt x="114" y="25"/>
                </a:cubicBezTo>
                <a:cubicBezTo>
                  <a:pt x="114" y="24"/>
                  <a:pt x="114" y="24"/>
                  <a:pt x="114" y="24"/>
                </a:cubicBezTo>
                <a:cubicBezTo>
                  <a:pt x="114" y="23"/>
                  <a:pt x="114" y="23"/>
                  <a:pt x="114" y="23"/>
                </a:cubicBezTo>
                <a:cubicBezTo>
                  <a:pt x="114" y="23"/>
                  <a:pt x="114" y="23"/>
                  <a:pt x="114" y="23"/>
                </a:cubicBezTo>
                <a:cubicBezTo>
                  <a:pt x="114" y="23"/>
                  <a:pt x="113" y="22"/>
                  <a:pt x="113" y="22"/>
                </a:cubicBezTo>
                <a:cubicBezTo>
                  <a:pt x="113" y="22"/>
                  <a:pt x="113" y="22"/>
                  <a:pt x="113" y="22"/>
                </a:cubicBezTo>
                <a:cubicBezTo>
                  <a:pt x="113" y="22"/>
                  <a:pt x="113" y="22"/>
                  <a:pt x="113" y="21"/>
                </a:cubicBezTo>
                <a:cubicBezTo>
                  <a:pt x="113" y="21"/>
                  <a:pt x="113" y="21"/>
                  <a:pt x="113" y="21"/>
                </a:cubicBezTo>
                <a:cubicBezTo>
                  <a:pt x="113" y="22"/>
                  <a:pt x="113" y="22"/>
                  <a:pt x="112" y="22"/>
                </a:cubicBezTo>
                <a:cubicBezTo>
                  <a:pt x="112" y="22"/>
                  <a:pt x="112" y="22"/>
                  <a:pt x="112" y="22"/>
                </a:cubicBezTo>
                <a:cubicBezTo>
                  <a:pt x="112" y="22"/>
                  <a:pt x="112" y="22"/>
                  <a:pt x="112" y="22"/>
                </a:cubicBezTo>
                <a:cubicBezTo>
                  <a:pt x="111" y="22"/>
                  <a:pt x="111" y="22"/>
                  <a:pt x="111" y="22"/>
                </a:cubicBezTo>
                <a:cubicBezTo>
                  <a:pt x="111" y="22"/>
                  <a:pt x="111" y="22"/>
                  <a:pt x="111" y="22"/>
                </a:cubicBezTo>
                <a:cubicBezTo>
                  <a:pt x="111" y="22"/>
                  <a:pt x="111" y="22"/>
                  <a:pt x="111" y="22"/>
                </a:cubicBezTo>
                <a:cubicBezTo>
                  <a:pt x="111" y="22"/>
                  <a:pt x="111" y="23"/>
                  <a:pt x="111" y="23"/>
                </a:cubicBezTo>
                <a:cubicBezTo>
                  <a:pt x="111" y="23"/>
                  <a:pt x="111" y="23"/>
                  <a:pt x="111" y="23"/>
                </a:cubicBezTo>
                <a:cubicBezTo>
                  <a:pt x="111" y="23"/>
                  <a:pt x="111" y="23"/>
                  <a:pt x="111" y="23"/>
                </a:cubicBezTo>
                <a:cubicBezTo>
                  <a:pt x="111" y="23"/>
                  <a:pt x="111" y="23"/>
                  <a:pt x="111" y="23"/>
                </a:cubicBezTo>
                <a:cubicBezTo>
                  <a:pt x="111" y="23"/>
                  <a:pt x="111" y="23"/>
                  <a:pt x="111"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3" y="22"/>
                  <a:pt x="113" y="22"/>
                  <a:pt x="113" y="22"/>
                </a:cubicBezTo>
                <a:cubicBezTo>
                  <a:pt x="113" y="22"/>
                  <a:pt x="113" y="22"/>
                  <a:pt x="113" y="22"/>
                </a:cubicBezTo>
                <a:cubicBezTo>
                  <a:pt x="113" y="22"/>
                  <a:pt x="113" y="23"/>
                  <a:pt x="113" y="23"/>
                </a:cubicBezTo>
                <a:cubicBezTo>
                  <a:pt x="113" y="23"/>
                  <a:pt x="113" y="23"/>
                  <a:pt x="113" y="23"/>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5"/>
                  <a:pt x="113" y="25"/>
                  <a:pt x="113" y="25"/>
                </a:cubicBezTo>
                <a:cubicBezTo>
                  <a:pt x="113" y="26"/>
                  <a:pt x="113" y="26"/>
                  <a:pt x="113" y="26"/>
                </a:cubicBezTo>
                <a:cubicBezTo>
                  <a:pt x="113" y="26"/>
                  <a:pt x="113" y="26"/>
                  <a:pt x="113" y="26"/>
                </a:cubicBezTo>
                <a:cubicBezTo>
                  <a:pt x="113" y="27"/>
                  <a:pt x="113" y="27"/>
                  <a:pt x="112" y="27"/>
                </a:cubicBezTo>
                <a:cubicBezTo>
                  <a:pt x="112" y="27"/>
                  <a:pt x="112" y="27"/>
                  <a:pt x="112" y="27"/>
                </a:cubicBezTo>
                <a:cubicBezTo>
                  <a:pt x="112" y="27"/>
                  <a:pt x="112" y="27"/>
                  <a:pt x="112" y="27"/>
                </a:cubicBezTo>
                <a:cubicBezTo>
                  <a:pt x="111" y="28"/>
                  <a:pt x="111" y="28"/>
                  <a:pt x="111" y="28"/>
                </a:cubicBezTo>
                <a:cubicBezTo>
                  <a:pt x="110" y="28"/>
                  <a:pt x="110" y="28"/>
                  <a:pt x="110" y="28"/>
                </a:cubicBezTo>
                <a:cubicBezTo>
                  <a:pt x="109" y="28"/>
                  <a:pt x="109" y="28"/>
                  <a:pt x="109" y="28"/>
                </a:cubicBezTo>
                <a:cubicBezTo>
                  <a:pt x="108" y="28"/>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6"/>
                </a:cubicBezTo>
                <a:cubicBezTo>
                  <a:pt x="107" y="26"/>
                  <a:pt x="107" y="26"/>
                  <a:pt x="107" y="26"/>
                </a:cubicBezTo>
                <a:cubicBezTo>
                  <a:pt x="107" y="26"/>
                  <a:pt x="107" y="26"/>
                  <a:pt x="107" y="25"/>
                </a:cubicBezTo>
                <a:cubicBezTo>
                  <a:pt x="107" y="25"/>
                  <a:pt x="107" y="25"/>
                  <a:pt x="107" y="25"/>
                </a:cubicBezTo>
                <a:cubicBezTo>
                  <a:pt x="107" y="25"/>
                  <a:pt x="107" y="25"/>
                  <a:pt x="107" y="25"/>
                </a:cubicBezTo>
                <a:cubicBezTo>
                  <a:pt x="107" y="25"/>
                  <a:pt x="107" y="25"/>
                  <a:pt x="107" y="24"/>
                </a:cubicBezTo>
                <a:cubicBezTo>
                  <a:pt x="107" y="24"/>
                  <a:pt x="107" y="24"/>
                  <a:pt x="107" y="24"/>
                </a:cubicBezTo>
                <a:cubicBezTo>
                  <a:pt x="107" y="24"/>
                  <a:pt x="107" y="24"/>
                  <a:pt x="107" y="24"/>
                </a:cubicBezTo>
                <a:cubicBezTo>
                  <a:pt x="107" y="24"/>
                  <a:pt x="107" y="23"/>
                  <a:pt x="107" y="23"/>
                </a:cubicBezTo>
                <a:cubicBezTo>
                  <a:pt x="107" y="23"/>
                  <a:pt x="107" y="23"/>
                  <a:pt x="107" y="23"/>
                </a:cubicBezTo>
                <a:cubicBezTo>
                  <a:pt x="107" y="23"/>
                  <a:pt x="107" y="23"/>
                  <a:pt x="107" y="23"/>
                </a:cubicBezTo>
                <a:cubicBezTo>
                  <a:pt x="107" y="23"/>
                  <a:pt x="107" y="23"/>
                  <a:pt x="107" y="22"/>
                </a:cubicBezTo>
                <a:cubicBezTo>
                  <a:pt x="107" y="22"/>
                  <a:pt x="107" y="22"/>
                  <a:pt x="107" y="22"/>
                </a:cubicBezTo>
                <a:cubicBezTo>
                  <a:pt x="107" y="22"/>
                  <a:pt x="107" y="22"/>
                  <a:pt x="107" y="22"/>
                </a:cubicBezTo>
                <a:cubicBezTo>
                  <a:pt x="107" y="22"/>
                  <a:pt x="108" y="22"/>
                  <a:pt x="108" y="22"/>
                </a:cubicBezTo>
                <a:cubicBezTo>
                  <a:pt x="108" y="22"/>
                  <a:pt x="108" y="22"/>
                  <a:pt x="108" y="22"/>
                </a:cubicBezTo>
                <a:cubicBezTo>
                  <a:pt x="108" y="22"/>
                  <a:pt x="108" y="22"/>
                  <a:pt x="108" y="22"/>
                </a:cubicBezTo>
                <a:cubicBezTo>
                  <a:pt x="108" y="22"/>
                  <a:pt x="108" y="22"/>
                  <a:pt x="108" y="22"/>
                </a:cubicBezTo>
                <a:cubicBezTo>
                  <a:pt x="108" y="22"/>
                  <a:pt x="108" y="22"/>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4"/>
                  <a:pt x="108" y="24"/>
                  <a:pt x="108" y="24"/>
                </a:cubicBezTo>
                <a:cubicBezTo>
                  <a:pt x="108" y="24"/>
                  <a:pt x="109" y="23"/>
                  <a:pt x="109" y="23"/>
                </a:cubicBezTo>
                <a:cubicBezTo>
                  <a:pt x="109" y="23"/>
                  <a:pt x="109" y="23"/>
                  <a:pt x="109" y="23"/>
                </a:cubicBezTo>
                <a:cubicBezTo>
                  <a:pt x="109" y="22"/>
                  <a:pt x="109" y="22"/>
                  <a:pt x="109" y="22"/>
                </a:cubicBezTo>
                <a:cubicBezTo>
                  <a:pt x="109" y="22"/>
                  <a:pt x="108" y="22"/>
                  <a:pt x="108" y="22"/>
                </a:cubicBezTo>
                <a:cubicBezTo>
                  <a:pt x="108" y="22"/>
                  <a:pt x="107" y="22"/>
                  <a:pt x="107" y="22"/>
                </a:cubicBezTo>
                <a:cubicBezTo>
                  <a:pt x="107" y="21"/>
                  <a:pt x="107" y="21"/>
                  <a:pt x="107" y="21"/>
                </a:cubicBezTo>
                <a:cubicBezTo>
                  <a:pt x="107" y="21"/>
                  <a:pt x="107" y="22"/>
                  <a:pt x="107" y="22"/>
                </a:cubicBezTo>
                <a:cubicBezTo>
                  <a:pt x="107" y="22"/>
                  <a:pt x="107" y="22"/>
                  <a:pt x="107" y="22"/>
                </a:cubicBezTo>
                <a:cubicBezTo>
                  <a:pt x="106" y="22"/>
                  <a:pt x="106" y="22"/>
                  <a:pt x="106" y="22"/>
                </a:cubicBezTo>
                <a:cubicBezTo>
                  <a:pt x="106" y="22"/>
                  <a:pt x="106" y="22"/>
                  <a:pt x="106" y="22"/>
                </a:cubicBezTo>
                <a:cubicBezTo>
                  <a:pt x="106" y="22"/>
                  <a:pt x="106" y="22"/>
                  <a:pt x="106" y="23"/>
                </a:cubicBezTo>
                <a:cubicBezTo>
                  <a:pt x="106" y="23"/>
                  <a:pt x="106" y="23"/>
                  <a:pt x="106" y="23"/>
                </a:cubicBezTo>
                <a:cubicBezTo>
                  <a:pt x="106" y="23"/>
                  <a:pt x="106" y="23"/>
                  <a:pt x="106" y="23"/>
                </a:cubicBezTo>
                <a:cubicBezTo>
                  <a:pt x="106" y="23"/>
                  <a:pt x="106" y="23"/>
                  <a:pt x="106" y="24"/>
                </a:cubicBezTo>
                <a:cubicBezTo>
                  <a:pt x="106" y="24"/>
                  <a:pt x="106" y="24"/>
                  <a:pt x="106" y="25"/>
                </a:cubicBezTo>
                <a:cubicBezTo>
                  <a:pt x="106" y="25"/>
                  <a:pt x="106" y="25"/>
                  <a:pt x="106" y="25"/>
                </a:cubicBezTo>
                <a:cubicBezTo>
                  <a:pt x="106" y="26"/>
                  <a:pt x="106" y="26"/>
                  <a:pt x="106" y="26"/>
                </a:cubicBezTo>
                <a:cubicBezTo>
                  <a:pt x="106" y="26"/>
                  <a:pt x="106" y="26"/>
                  <a:pt x="106" y="26"/>
                </a:cubicBezTo>
                <a:cubicBezTo>
                  <a:pt x="106" y="26"/>
                  <a:pt x="106" y="26"/>
                  <a:pt x="106" y="26"/>
                </a:cubicBezTo>
                <a:cubicBezTo>
                  <a:pt x="106" y="27"/>
                  <a:pt x="106" y="27"/>
                  <a:pt x="106" y="28"/>
                </a:cubicBezTo>
                <a:cubicBezTo>
                  <a:pt x="106" y="28"/>
                  <a:pt x="106" y="28"/>
                  <a:pt x="106" y="28"/>
                </a:cubicBezTo>
                <a:cubicBezTo>
                  <a:pt x="106" y="28"/>
                  <a:pt x="106" y="28"/>
                  <a:pt x="106" y="28"/>
                </a:cubicBezTo>
                <a:cubicBezTo>
                  <a:pt x="106" y="28"/>
                  <a:pt x="106" y="28"/>
                  <a:pt x="106" y="28"/>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5" y="30"/>
                </a:cubicBezTo>
                <a:cubicBezTo>
                  <a:pt x="105" y="30"/>
                  <a:pt x="105" y="31"/>
                  <a:pt x="105" y="31"/>
                </a:cubicBezTo>
                <a:cubicBezTo>
                  <a:pt x="105" y="31"/>
                  <a:pt x="105" y="31"/>
                  <a:pt x="105" y="31"/>
                </a:cubicBezTo>
                <a:cubicBezTo>
                  <a:pt x="105" y="31"/>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29"/>
                  <a:pt x="105" y="29"/>
                </a:cubicBezTo>
                <a:cubicBezTo>
                  <a:pt x="105" y="29"/>
                  <a:pt x="105" y="29"/>
                  <a:pt x="105" y="29"/>
                </a:cubicBezTo>
                <a:cubicBezTo>
                  <a:pt x="105" y="29"/>
                  <a:pt x="105" y="29"/>
                  <a:pt x="105" y="29"/>
                </a:cubicBezTo>
                <a:cubicBezTo>
                  <a:pt x="105" y="28"/>
                  <a:pt x="105" y="28"/>
                  <a:pt x="105" y="28"/>
                </a:cubicBezTo>
                <a:cubicBezTo>
                  <a:pt x="105" y="28"/>
                  <a:pt x="105" y="28"/>
                  <a:pt x="105" y="28"/>
                </a:cubicBezTo>
                <a:cubicBezTo>
                  <a:pt x="105" y="28"/>
                  <a:pt x="105" y="28"/>
                  <a:pt x="105" y="28"/>
                </a:cubicBezTo>
                <a:cubicBezTo>
                  <a:pt x="105" y="27"/>
                  <a:pt x="105" y="27"/>
                  <a:pt x="105" y="27"/>
                </a:cubicBezTo>
                <a:cubicBezTo>
                  <a:pt x="105" y="27"/>
                  <a:pt x="105" y="26"/>
                  <a:pt x="105" y="26"/>
                </a:cubicBezTo>
                <a:cubicBezTo>
                  <a:pt x="105" y="26"/>
                  <a:pt x="105" y="25"/>
                  <a:pt x="105" y="25"/>
                </a:cubicBezTo>
                <a:cubicBezTo>
                  <a:pt x="105" y="25"/>
                  <a:pt x="105" y="25"/>
                  <a:pt x="105" y="25"/>
                </a:cubicBezTo>
                <a:cubicBezTo>
                  <a:pt x="105" y="25"/>
                  <a:pt x="105" y="25"/>
                  <a:pt x="105" y="24"/>
                </a:cubicBezTo>
                <a:cubicBezTo>
                  <a:pt x="105" y="24"/>
                  <a:pt x="105" y="24"/>
                  <a:pt x="105" y="23"/>
                </a:cubicBezTo>
                <a:cubicBezTo>
                  <a:pt x="105" y="23"/>
                  <a:pt x="105" y="23"/>
                  <a:pt x="105" y="23"/>
                </a:cubicBezTo>
                <a:cubicBezTo>
                  <a:pt x="105" y="23"/>
                  <a:pt x="105" y="23"/>
                  <a:pt x="105" y="22"/>
                </a:cubicBezTo>
                <a:cubicBezTo>
                  <a:pt x="105" y="22"/>
                  <a:pt x="105" y="22"/>
                  <a:pt x="105" y="22"/>
                </a:cubicBezTo>
                <a:cubicBezTo>
                  <a:pt x="105" y="22"/>
                  <a:pt x="105" y="22"/>
                  <a:pt x="105" y="22"/>
                </a:cubicBezTo>
                <a:cubicBezTo>
                  <a:pt x="105" y="22"/>
                  <a:pt x="105" y="21"/>
                  <a:pt x="105" y="21"/>
                </a:cubicBezTo>
                <a:cubicBezTo>
                  <a:pt x="105" y="21"/>
                  <a:pt x="106" y="21"/>
                  <a:pt x="106" y="20"/>
                </a:cubicBezTo>
                <a:cubicBezTo>
                  <a:pt x="106" y="20"/>
                  <a:pt x="106" y="20"/>
                  <a:pt x="106" y="20"/>
                </a:cubicBezTo>
                <a:cubicBezTo>
                  <a:pt x="106" y="20"/>
                  <a:pt x="106" y="20"/>
                  <a:pt x="106" y="20"/>
                </a:cubicBezTo>
                <a:cubicBezTo>
                  <a:pt x="106" y="20"/>
                  <a:pt x="106" y="20"/>
                  <a:pt x="106" y="19"/>
                </a:cubicBezTo>
                <a:cubicBezTo>
                  <a:pt x="106" y="19"/>
                  <a:pt x="106" y="19"/>
                  <a:pt x="106" y="19"/>
                </a:cubicBezTo>
                <a:cubicBezTo>
                  <a:pt x="106" y="19"/>
                  <a:pt x="106" y="19"/>
                  <a:pt x="106" y="19"/>
                </a:cubicBezTo>
                <a:cubicBezTo>
                  <a:pt x="106" y="18"/>
                  <a:pt x="106" y="18"/>
                  <a:pt x="106" y="18"/>
                </a:cubicBezTo>
                <a:cubicBezTo>
                  <a:pt x="106" y="18"/>
                  <a:pt x="106" y="18"/>
                  <a:pt x="106" y="18"/>
                </a:cubicBezTo>
                <a:cubicBezTo>
                  <a:pt x="106" y="18"/>
                  <a:pt x="106" y="18"/>
                  <a:pt x="106" y="17"/>
                </a:cubicBezTo>
                <a:cubicBezTo>
                  <a:pt x="106" y="17"/>
                  <a:pt x="106" y="17"/>
                  <a:pt x="106" y="17"/>
                </a:cubicBezTo>
                <a:cubicBezTo>
                  <a:pt x="106" y="17"/>
                  <a:pt x="106" y="17"/>
                  <a:pt x="107" y="17"/>
                </a:cubicBezTo>
                <a:cubicBezTo>
                  <a:pt x="107" y="17"/>
                  <a:pt x="107" y="17"/>
                  <a:pt x="107" y="17"/>
                </a:cubicBezTo>
                <a:cubicBezTo>
                  <a:pt x="107" y="17"/>
                  <a:pt x="107" y="17"/>
                  <a:pt x="107" y="17"/>
                </a:cubicBezTo>
                <a:cubicBezTo>
                  <a:pt x="108" y="17"/>
                  <a:pt x="108" y="16"/>
                  <a:pt x="108" y="16"/>
                </a:cubicBezTo>
                <a:cubicBezTo>
                  <a:pt x="109" y="16"/>
                  <a:pt x="109" y="16"/>
                  <a:pt x="109" y="16"/>
                </a:cubicBezTo>
                <a:cubicBezTo>
                  <a:pt x="110" y="15"/>
                  <a:pt x="110" y="15"/>
                  <a:pt x="110" y="15"/>
                </a:cubicBezTo>
                <a:cubicBezTo>
                  <a:pt x="108" y="15"/>
                  <a:pt x="108" y="16"/>
                  <a:pt x="107" y="16"/>
                </a:cubicBezTo>
                <a:cubicBezTo>
                  <a:pt x="106" y="16"/>
                  <a:pt x="106" y="16"/>
                  <a:pt x="106" y="16"/>
                </a:cubicBezTo>
                <a:cubicBezTo>
                  <a:pt x="105" y="16"/>
                  <a:pt x="105" y="16"/>
                  <a:pt x="105" y="16"/>
                </a:cubicBezTo>
                <a:cubicBezTo>
                  <a:pt x="105" y="16"/>
                  <a:pt x="105" y="16"/>
                  <a:pt x="105" y="16"/>
                </a:cubicBezTo>
                <a:cubicBezTo>
                  <a:pt x="105" y="16"/>
                  <a:pt x="105" y="16"/>
                  <a:pt x="105" y="16"/>
                </a:cubicBezTo>
                <a:cubicBezTo>
                  <a:pt x="104" y="16"/>
                  <a:pt x="104" y="16"/>
                  <a:pt x="104" y="16"/>
                </a:cubicBezTo>
                <a:cubicBezTo>
                  <a:pt x="104" y="15"/>
                  <a:pt x="104" y="15"/>
                  <a:pt x="104" y="15"/>
                </a:cubicBezTo>
                <a:cubicBezTo>
                  <a:pt x="104" y="15"/>
                  <a:pt x="104" y="15"/>
                  <a:pt x="104" y="15"/>
                </a:cubicBezTo>
                <a:cubicBezTo>
                  <a:pt x="104" y="15"/>
                  <a:pt x="104" y="15"/>
                  <a:pt x="104" y="15"/>
                </a:cubicBezTo>
                <a:cubicBezTo>
                  <a:pt x="104" y="15"/>
                  <a:pt x="104" y="15"/>
                  <a:pt x="104" y="15"/>
                </a:cubicBezTo>
                <a:cubicBezTo>
                  <a:pt x="104" y="15"/>
                  <a:pt x="104" y="15"/>
                  <a:pt x="104" y="14"/>
                </a:cubicBezTo>
                <a:cubicBezTo>
                  <a:pt x="104" y="14"/>
                  <a:pt x="104" y="14"/>
                  <a:pt x="104" y="14"/>
                </a:cubicBezTo>
                <a:cubicBezTo>
                  <a:pt x="104" y="14"/>
                  <a:pt x="104" y="14"/>
                  <a:pt x="104" y="14"/>
                </a:cubicBezTo>
                <a:cubicBezTo>
                  <a:pt x="104" y="14"/>
                  <a:pt x="105" y="14"/>
                  <a:pt x="105" y="14"/>
                </a:cubicBezTo>
                <a:cubicBezTo>
                  <a:pt x="105" y="14"/>
                  <a:pt x="105" y="14"/>
                  <a:pt x="105" y="14"/>
                </a:cubicBezTo>
                <a:cubicBezTo>
                  <a:pt x="107" y="14"/>
                  <a:pt x="107" y="14"/>
                  <a:pt x="107" y="14"/>
                </a:cubicBezTo>
                <a:cubicBezTo>
                  <a:pt x="107" y="14"/>
                  <a:pt x="107" y="14"/>
                  <a:pt x="107" y="14"/>
                </a:cubicBezTo>
                <a:cubicBezTo>
                  <a:pt x="108" y="14"/>
                  <a:pt x="108" y="14"/>
                  <a:pt x="108" y="14"/>
                </a:cubicBezTo>
                <a:cubicBezTo>
                  <a:pt x="110" y="14"/>
                  <a:pt x="110" y="14"/>
                  <a:pt x="110" y="14"/>
                </a:cubicBezTo>
                <a:cubicBezTo>
                  <a:pt x="110" y="14"/>
                  <a:pt x="110" y="14"/>
                  <a:pt x="110" y="14"/>
                </a:cubicBezTo>
                <a:cubicBezTo>
                  <a:pt x="110" y="14"/>
                  <a:pt x="110" y="14"/>
                  <a:pt x="110" y="14"/>
                </a:cubicBezTo>
                <a:cubicBezTo>
                  <a:pt x="110" y="14"/>
                  <a:pt x="110" y="14"/>
                  <a:pt x="110" y="14"/>
                </a:cubicBezTo>
                <a:cubicBezTo>
                  <a:pt x="110" y="13"/>
                  <a:pt x="110" y="13"/>
                  <a:pt x="110" y="13"/>
                </a:cubicBezTo>
                <a:cubicBezTo>
                  <a:pt x="109" y="13"/>
                  <a:pt x="108" y="13"/>
                  <a:pt x="108" y="13"/>
                </a:cubicBezTo>
                <a:cubicBezTo>
                  <a:pt x="108" y="13"/>
                  <a:pt x="107" y="13"/>
                  <a:pt x="107" y="13"/>
                </a:cubicBezTo>
                <a:cubicBezTo>
                  <a:pt x="107" y="13"/>
                  <a:pt x="107" y="13"/>
                  <a:pt x="107" y="13"/>
                </a:cubicBezTo>
                <a:cubicBezTo>
                  <a:pt x="111" y="16"/>
                  <a:pt x="111" y="16"/>
                  <a:pt x="111" y="16"/>
                </a:cubicBezTo>
                <a:close/>
                <a:moveTo>
                  <a:pt x="107" y="19"/>
                </a:move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8" y="18"/>
                </a:cubicBezTo>
                <a:cubicBezTo>
                  <a:pt x="108" y="18"/>
                  <a:pt x="109" y="17"/>
                  <a:pt x="109" y="17"/>
                </a:cubicBezTo>
                <a:cubicBezTo>
                  <a:pt x="109" y="18"/>
                  <a:pt x="109" y="18"/>
                  <a:pt x="109" y="18"/>
                </a:cubicBezTo>
                <a:cubicBezTo>
                  <a:pt x="109" y="18"/>
                  <a:pt x="109" y="18"/>
                  <a:pt x="109" y="18"/>
                </a:cubicBezTo>
                <a:cubicBezTo>
                  <a:pt x="109" y="18"/>
                  <a:pt x="109" y="18"/>
                  <a:pt x="109" y="18"/>
                </a:cubicBezTo>
                <a:cubicBezTo>
                  <a:pt x="108" y="18"/>
                  <a:pt x="108" y="18"/>
                  <a:pt x="108" y="19"/>
                </a:cubicBezTo>
                <a:cubicBezTo>
                  <a:pt x="108" y="19"/>
                  <a:pt x="108" y="19"/>
                  <a:pt x="108" y="19"/>
                </a:cubicBezTo>
                <a:cubicBezTo>
                  <a:pt x="108" y="19"/>
                  <a:pt x="108" y="19"/>
                  <a:pt x="107" y="19"/>
                </a:cubicBezTo>
                <a:cubicBezTo>
                  <a:pt x="107" y="19"/>
                  <a:pt x="107" y="19"/>
                  <a:pt x="107" y="19"/>
                </a:cubicBezTo>
                <a:cubicBezTo>
                  <a:pt x="107" y="19"/>
                  <a:pt x="107" y="19"/>
                  <a:pt x="107" y="19"/>
                </a:cubicBezTo>
                <a:close/>
                <a:moveTo>
                  <a:pt x="109" y="19"/>
                </a:moveTo>
                <a:cubicBezTo>
                  <a:pt x="109" y="21"/>
                  <a:pt x="109" y="21"/>
                  <a:pt x="109" y="21"/>
                </a:cubicBezTo>
                <a:cubicBezTo>
                  <a:pt x="109" y="21"/>
                  <a:pt x="109" y="21"/>
                  <a:pt x="109" y="21"/>
                </a:cubicBezTo>
                <a:cubicBezTo>
                  <a:pt x="108" y="21"/>
                  <a:pt x="108" y="21"/>
                  <a:pt x="108" y="21"/>
                </a:cubicBezTo>
                <a:cubicBezTo>
                  <a:pt x="108" y="21"/>
                  <a:pt x="108" y="21"/>
                  <a:pt x="108" y="21"/>
                </a:cubicBezTo>
                <a:cubicBezTo>
                  <a:pt x="108" y="20"/>
                  <a:pt x="108" y="20"/>
                  <a:pt x="108" y="20"/>
                </a:cubicBezTo>
                <a:cubicBezTo>
                  <a:pt x="108" y="20"/>
                  <a:pt x="107" y="20"/>
                  <a:pt x="107" y="20"/>
                </a:cubicBezTo>
                <a:cubicBezTo>
                  <a:pt x="107" y="20"/>
                  <a:pt x="107" y="20"/>
                  <a:pt x="107" y="20"/>
                </a:cubicBezTo>
                <a:cubicBezTo>
                  <a:pt x="107" y="20"/>
                  <a:pt x="107" y="20"/>
                  <a:pt x="107" y="20"/>
                </a:cubicBezTo>
                <a:cubicBezTo>
                  <a:pt x="108" y="20"/>
                  <a:pt x="108" y="20"/>
                  <a:pt x="108" y="20"/>
                </a:cubicBezTo>
                <a:cubicBezTo>
                  <a:pt x="108" y="20"/>
                  <a:pt x="108" y="20"/>
                  <a:pt x="108" y="20"/>
                </a:cubicBezTo>
                <a:cubicBezTo>
                  <a:pt x="108" y="20"/>
                  <a:pt x="108" y="20"/>
                  <a:pt x="108" y="20"/>
                </a:cubicBezTo>
                <a:cubicBezTo>
                  <a:pt x="109" y="19"/>
                  <a:pt x="109" y="19"/>
                  <a:pt x="109" y="19"/>
                </a:cubicBezTo>
                <a:close/>
                <a:moveTo>
                  <a:pt x="112" y="25"/>
                </a:moveTo>
                <a:cubicBezTo>
                  <a:pt x="112" y="25"/>
                  <a:pt x="112" y="25"/>
                  <a:pt x="112" y="25"/>
                </a:cubicBezTo>
                <a:cubicBezTo>
                  <a:pt x="112" y="25"/>
                  <a:pt x="112" y="25"/>
                  <a:pt x="112" y="25"/>
                </a:cubicBezTo>
                <a:cubicBezTo>
                  <a:pt x="112" y="25"/>
                  <a:pt x="112" y="26"/>
                  <a:pt x="112" y="26"/>
                </a:cubicBezTo>
                <a:cubicBezTo>
                  <a:pt x="112" y="26"/>
                  <a:pt x="112" y="26"/>
                  <a:pt x="111" y="26"/>
                </a:cubicBezTo>
                <a:cubicBezTo>
                  <a:pt x="111" y="26"/>
                  <a:pt x="111" y="26"/>
                  <a:pt x="111" y="26"/>
                </a:cubicBezTo>
                <a:cubicBezTo>
                  <a:pt x="111" y="26"/>
                  <a:pt x="111" y="26"/>
                  <a:pt x="111" y="26"/>
                </a:cubicBezTo>
                <a:cubicBezTo>
                  <a:pt x="111" y="27"/>
                  <a:pt x="110" y="27"/>
                  <a:pt x="110" y="27"/>
                </a:cubicBezTo>
                <a:cubicBezTo>
                  <a:pt x="109" y="27"/>
                  <a:pt x="109" y="27"/>
                  <a:pt x="109" y="26"/>
                </a:cubicBezTo>
                <a:cubicBezTo>
                  <a:pt x="109" y="26"/>
                  <a:pt x="109" y="26"/>
                  <a:pt x="108" y="26"/>
                </a:cubicBezTo>
                <a:cubicBezTo>
                  <a:pt x="108" y="26"/>
                  <a:pt x="108" y="26"/>
                  <a:pt x="108" y="26"/>
                </a:cubicBezTo>
                <a:cubicBezTo>
                  <a:pt x="108" y="26"/>
                  <a:pt x="108" y="26"/>
                  <a:pt x="108" y="26"/>
                </a:cubicBezTo>
                <a:cubicBezTo>
                  <a:pt x="108" y="25"/>
                  <a:pt x="108" y="25"/>
                  <a:pt x="108" y="25"/>
                </a:cubicBezTo>
                <a:cubicBezTo>
                  <a:pt x="108" y="25"/>
                  <a:pt x="108" y="25"/>
                  <a:pt x="108" y="25"/>
                </a:cubicBezTo>
                <a:cubicBezTo>
                  <a:pt x="108" y="25"/>
                  <a:pt x="108" y="25"/>
                  <a:pt x="108" y="25"/>
                </a:cubicBezTo>
                <a:cubicBezTo>
                  <a:pt x="108" y="25"/>
                  <a:pt x="108" y="25"/>
                  <a:pt x="108" y="25"/>
                </a:cubicBezTo>
                <a:cubicBezTo>
                  <a:pt x="109" y="25"/>
                  <a:pt x="109" y="25"/>
                  <a:pt x="110" y="25"/>
                </a:cubicBezTo>
                <a:cubicBezTo>
                  <a:pt x="110" y="25"/>
                  <a:pt x="110" y="24"/>
                  <a:pt x="111" y="24"/>
                </a:cubicBezTo>
                <a:cubicBezTo>
                  <a:pt x="111" y="24"/>
                  <a:pt x="111" y="24"/>
                  <a:pt x="111" y="24"/>
                </a:cubicBezTo>
                <a:cubicBezTo>
                  <a:pt x="111" y="24"/>
                  <a:pt x="111" y="24"/>
                  <a:pt x="111" y="25"/>
                </a:cubicBezTo>
                <a:cubicBezTo>
                  <a:pt x="111" y="25"/>
                  <a:pt x="112" y="25"/>
                  <a:pt x="112" y="25"/>
                </a:cubicBezTo>
                <a:close/>
                <a:moveTo>
                  <a:pt x="32" y="72"/>
                </a:moveTo>
                <a:cubicBezTo>
                  <a:pt x="31" y="73"/>
                  <a:pt x="31" y="73"/>
                  <a:pt x="31" y="73"/>
                </a:cubicBezTo>
                <a:cubicBezTo>
                  <a:pt x="31" y="73"/>
                  <a:pt x="30" y="73"/>
                  <a:pt x="30" y="73"/>
                </a:cubicBezTo>
                <a:cubicBezTo>
                  <a:pt x="30" y="73"/>
                  <a:pt x="29" y="73"/>
                  <a:pt x="29" y="73"/>
                </a:cubicBezTo>
                <a:cubicBezTo>
                  <a:pt x="29" y="73"/>
                  <a:pt x="29" y="73"/>
                  <a:pt x="29" y="73"/>
                </a:cubicBezTo>
                <a:cubicBezTo>
                  <a:pt x="29" y="72"/>
                  <a:pt x="29" y="72"/>
                  <a:pt x="29" y="72"/>
                </a:cubicBezTo>
                <a:cubicBezTo>
                  <a:pt x="29" y="72"/>
                  <a:pt x="29" y="72"/>
                  <a:pt x="29" y="72"/>
                </a:cubicBezTo>
                <a:cubicBezTo>
                  <a:pt x="29" y="72"/>
                  <a:pt x="29" y="72"/>
                  <a:pt x="29" y="72"/>
                </a:cubicBezTo>
                <a:cubicBezTo>
                  <a:pt x="29" y="72"/>
                  <a:pt x="29" y="72"/>
                  <a:pt x="29" y="72"/>
                </a:cubicBezTo>
                <a:cubicBezTo>
                  <a:pt x="30" y="71"/>
                  <a:pt x="31" y="71"/>
                  <a:pt x="31" y="71"/>
                </a:cubicBezTo>
                <a:cubicBezTo>
                  <a:pt x="31" y="71"/>
                  <a:pt x="31" y="71"/>
                  <a:pt x="31" y="71"/>
                </a:cubicBezTo>
                <a:cubicBezTo>
                  <a:pt x="31" y="71"/>
                  <a:pt x="32" y="71"/>
                  <a:pt x="32" y="71"/>
                </a:cubicBezTo>
                <a:cubicBezTo>
                  <a:pt x="32" y="71"/>
                  <a:pt x="32" y="71"/>
                  <a:pt x="32" y="71"/>
                </a:cubicBezTo>
                <a:cubicBezTo>
                  <a:pt x="32" y="71"/>
                  <a:pt x="32" y="71"/>
                  <a:pt x="32" y="71"/>
                </a:cubicBezTo>
                <a:cubicBezTo>
                  <a:pt x="32" y="71"/>
                  <a:pt x="32" y="71"/>
                  <a:pt x="32" y="71"/>
                </a:cubicBezTo>
                <a:cubicBezTo>
                  <a:pt x="32" y="71"/>
                  <a:pt x="33" y="71"/>
                  <a:pt x="33" y="71"/>
                </a:cubicBezTo>
                <a:cubicBezTo>
                  <a:pt x="33" y="71"/>
                  <a:pt x="33" y="71"/>
                  <a:pt x="33" y="71"/>
                </a:cubicBezTo>
                <a:cubicBezTo>
                  <a:pt x="33" y="71"/>
                  <a:pt x="33" y="71"/>
                  <a:pt x="33" y="71"/>
                </a:cubicBezTo>
                <a:cubicBezTo>
                  <a:pt x="33" y="71"/>
                  <a:pt x="34" y="71"/>
                  <a:pt x="34" y="71"/>
                </a:cubicBezTo>
                <a:cubicBezTo>
                  <a:pt x="34" y="70"/>
                  <a:pt x="34" y="70"/>
                  <a:pt x="34" y="70"/>
                </a:cubicBezTo>
                <a:cubicBezTo>
                  <a:pt x="34" y="70"/>
                  <a:pt x="34" y="69"/>
                  <a:pt x="34" y="69"/>
                </a:cubicBezTo>
                <a:cubicBezTo>
                  <a:pt x="34" y="69"/>
                  <a:pt x="34" y="68"/>
                  <a:pt x="35" y="68"/>
                </a:cubicBezTo>
                <a:cubicBezTo>
                  <a:pt x="35" y="68"/>
                  <a:pt x="35" y="68"/>
                  <a:pt x="35" y="67"/>
                </a:cubicBezTo>
                <a:cubicBezTo>
                  <a:pt x="35" y="67"/>
                  <a:pt x="35" y="67"/>
                  <a:pt x="35" y="66"/>
                </a:cubicBezTo>
                <a:cubicBezTo>
                  <a:pt x="35" y="66"/>
                  <a:pt x="36" y="66"/>
                  <a:pt x="36" y="66"/>
                </a:cubicBezTo>
                <a:cubicBezTo>
                  <a:pt x="36" y="66"/>
                  <a:pt x="36" y="65"/>
                  <a:pt x="36" y="65"/>
                </a:cubicBezTo>
                <a:cubicBezTo>
                  <a:pt x="36" y="65"/>
                  <a:pt x="36" y="65"/>
                  <a:pt x="36" y="65"/>
                </a:cubicBezTo>
                <a:cubicBezTo>
                  <a:pt x="36" y="65"/>
                  <a:pt x="36" y="65"/>
                  <a:pt x="36" y="65"/>
                </a:cubicBezTo>
                <a:cubicBezTo>
                  <a:pt x="36" y="65"/>
                  <a:pt x="36" y="65"/>
                  <a:pt x="36" y="64"/>
                </a:cubicBezTo>
                <a:cubicBezTo>
                  <a:pt x="36" y="64"/>
                  <a:pt x="36" y="65"/>
                  <a:pt x="36" y="65"/>
                </a:cubicBezTo>
                <a:cubicBezTo>
                  <a:pt x="35" y="65"/>
                  <a:pt x="35" y="65"/>
                  <a:pt x="35" y="65"/>
                </a:cubicBezTo>
                <a:cubicBezTo>
                  <a:pt x="35" y="65"/>
                  <a:pt x="35" y="65"/>
                  <a:pt x="35" y="65"/>
                </a:cubicBezTo>
                <a:cubicBezTo>
                  <a:pt x="36" y="65"/>
                  <a:pt x="35" y="65"/>
                  <a:pt x="35" y="65"/>
                </a:cubicBezTo>
                <a:cubicBezTo>
                  <a:pt x="35" y="65"/>
                  <a:pt x="35" y="65"/>
                  <a:pt x="35" y="65"/>
                </a:cubicBezTo>
                <a:cubicBezTo>
                  <a:pt x="34" y="65"/>
                  <a:pt x="34" y="66"/>
                  <a:pt x="34" y="66"/>
                </a:cubicBezTo>
                <a:cubicBezTo>
                  <a:pt x="34" y="66"/>
                  <a:pt x="33" y="66"/>
                  <a:pt x="33" y="66"/>
                </a:cubicBezTo>
                <a:cubicBezTo>
                  <a:pt x="33" y="66"/>
                  <a:pt x="33" y="67"/>
                  <a:pt x="33" y="67"/>
                </a:cubicBezTo>
                <a:cubicBezTo>
                  <a:pt x="33" y="67"/>
                  <a:pt x="33" y="67"/>
                  <a:pt x="33" y="67"/>
                </a:cubicBezTo>
                <a:cubicBezTo>
                  <a:pt x="33" y="67"/>
                  <a:pt x="33" y="67"/>
                  <a:pt x="33" y="67"/>
                </a:cubicBezTo>
                <a:cubicBezTo>
                  <a:pt x="33" y="67"/>
                  <a:pt x="33" y="67"/>
                  <a:pt x="33" y="67"/>
                </a:cubicBezTo>
                <a:cubicBezTo>
                  <a:pt x="33" y="68"/>
                  <a:pt x="33" y="68"/>
                  <a:pt x="33" y="68"/>
                </a:cubicBezTo>
                <a:cubicBezTo>
                  <a:pt x="33" y="68"/>
                  <a:pt x="32" y="68"/>
                  <a:pt x="32" y="68"/>
                </a:cubicBezTo>
                <a:cubicBezTo>
                  <a:pt x="32" y="68"/>
                  <a:pt x="32" y="68"/>
                  <a:pt x="32" y="68"/>
                </a:cubicBezTo>
                <a:cubicBezTo>
                  <a:pt x="32" y="68"/>
                  <a:pt x="32" y="68"/>
                  <a:pt x="32" y="67"/>
                </a:cubicBezTo>
                <a:cubicBezTo>
                  <a:pt x="32" y="67"/>
                  <a:pt x="32" y="67"/>
                  <a:pt x="32" y="67"/>
                </a:cubicBezTo>
                <a:cubicBezTo>
                  <a:pt x="32" y="67"/>
                  <a:pt x="32" y="67"/>
                  <a:pt x="32" y="67"/>
                </a:cubicBezTo>
                <a:cubicBezTo>
                  <a:pt x="31" y="67"/>
                  <a:pt x="31" y="67"/>
                  <a:pt x="31" y="67"/>
                </a:cubicBezTo>
                <a:cubicBezTo>
                  <a:pt x="31" y="67"/>
                  <a:pt x="31" y="67"/>
                  <a:pt x="31" y="67"/>
                </a:cubicBezTo>
                <a:cubicBezTo>
                  <a:pt x="31" y="67"/>
                  <a:pt x="31" y="67"/>
                  <a:pt x="31" y="68"/>
                </a:cubicBezTo>
                <a:cubicBezTo>
                  <a:pt x="30" y="68"/>
                  <a:pt x="30" y="68"/>
                  <a:pt x="30" y="68"/>
                </a:cubicBezTo>
                <a:cubicBezTo>
                  <a:pt x="30" y="68"/>
                  <a:pt x="30" y="68"/>
                  <a:pt x="30" y="68"/>
                </a:cubicBezTo>
                <a:cubicBezTo>
                  <a:pt x="30" y="68"/>
                  <a:pt x="30" y="68"/>
                  <a:pt x="30" y="68"/>
                </a:cubicBezTo>
                <a:cubicBezTo>
                  <a:pt x="30" y="68"/>
                  <a:pt x="30" y="69"/>
                  <a:pt x="30" y="69"/>
                </a:cubicBezTo>
                <a:cubicBezTo>
                  <a:pt x="30" y="69"/>
                  <a:pt x="30" y="69"/>
                  <a:pt x="30" y="69"/>
                </a:cubicBezTo>
                <a:cubicBezTo>
                  <a:pt x="29" y="69"/>
                  <a:pt x="29" y="69"/>
                  <a:pt x="29" y="69"/>
                </a:cubicBezTo>
                <a:cubicBezTo>
                  <a:pt x="29" y="69"/>
                  <a:pt x="29" y="70"/>
                  <a:pt x="29" y="70"/>
                </a:cubicBezTo>
                <a:cubicBezTo>
                  <a:pt x="29" y="70"/>
                  <a:pt x="29" y="70"/>
                  <a:pt x="29" y="70"/>
                </a:cubicBezTo>
                <a:cubicBezTo>
                  <a:pt x="29" y="70"/>
                  <a:pt x="29" y="70"/>
                  <a:pt x="29" y="70"/>
                </a:cubicBezTo>
                <a:cubicBezTo>
                  <a:pt x="29" y="70"/>
                  <a:pt x="29" y="70"/>
                  <a:pt x="29" y="71"/>
                </a:cubicBezTo>
                <a:cubicBezTo>
                  <a:pt x="28" y="71"/>
                  <a:pt x="28" y="70"/>
                  <a:pt x="28" y="70"/>
                </a:cubicBezTo>
                <a:cubicBezTo>
                  <a:pt x="28" y="70"/>
                  <a:pt x="28" y="70"/>
                  <a:pt x="28" y="70"/>
                </a:cubicBezTo>
                <a:cubicBezTo>
                  <a:pt x="28" y="70"/>
                  <a:pt x="28" y="70"/>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7" y="69"/>
                  <a:pt x="27" y="70"/>
                  <a:pt x="27" y="70"/>
                </a:cubicBezTo>
                <a:cubicBezTo>
                  <a:pt x="27" y="70"/>
                  <a:pt x="26" y="71"/>
                  <a:pt x="26" y="71"/>
                </a:cubicBezTo>
                <a:cubicBezTo>
                  <a:pt x="26" y="72"/>
                  <a:pt x="26" y="72"/>
                  <a:pt x="26" y="72"/>
                </a:cubicBezTo>
                <a:cubicBezTo>
                  <a:pt x="26" y="72"/>
                  <a:pt x="25" y="73"/>
                  <a:pt x="25" y="73"/>
                </a:cubicBezTo>
                <a:cubicBezTo>
                  <a:pt x="25" y="73"/>
                  <a:pt x="25" y="73"/>
                  <a:pt x="25" y="73"/>
                </a:cubicBezTo>
                <a:cubicBezTo>
                  <a:pt x="25" y="73"/>
                  <a:pt x="24" y="73"/>
                  <a:pt x="24" y="73"/>
                </a:cubicBezTo>
                <a:cubicBezTo>
                  <a:pt x="24" y="73"/>
                  <a:pt x="24" y="73"/>
                  <a:pt x="24" y="73"/>
                </a:cubicBezTo>
                <a:cubicBezTo>
                  <a:pt x="24" y="73"/>
                  <a:pt x="24" y="72"/>
                  <a:pt x="24" y="72"/>
                </a:cubicBezTo>
                <a:cubicBezTo>
                  <a:pt x="24" y="72"/>
                  <a:pt x="24" y="72"/>
                  <a:pt x="24" y="72"/>
                </a:cubicBezTo>
                <a:cubicBezTo>
                  <a:pt x="24" y="72"/>
                  <a:pt x="24" y="72"/>
                  <a:pt x="24" y="72"/>
                </a:cubicBezTo>
                <a:cubicBezTo>
                  <a:pt x="24" y="72"/>
                  <a:pt x="23" y="72"/>
                  <a:pt x="23" y="72"/>
                </a:cubicBezTo>
                <a:cubicBezTo>
                  <a:pt x="23" y="72"/>
                  <a:pt x="23" y="72"/>
                  <a:pt x="23" y="71"/>
                </a:cubicBezTo>
                <a:cubicBezTo>
                  <a:pt x="23" y="72"/>
                  <a:pt x="24" y="71"/>
                  <a:pt x="24" y="71"/>
                </a:cubicBezTo>
                <a:cubicBezTo>
                  <a:pt x="24" y="70"/>
                  <a:pt x="24" y="70"/>
                  <a:pt x="24" y="70"/>
                </a:cubicBezTo>
                <a:cubicBezTo>
                  <a:pt x="24" y="70"/>
                  <a:pt x="24" y="70"/>
                  <a:pt x="24" y="70"/>
                </a:cubicBezTo>
                <a:cubicBezTo>
                  <a:pt x="24" y="70"/>
                  <a:pt x="24" y="70"/>
                  <a:pt x="24" y="70"/>
                </a:cubicBezTo>
                <a:cubicBezTo>
                  <a:pt x="24" y="70"/>
                  <a:pt x="25" y="70"/>
                  <a:pt x="25" y="70"/>
                </a:cubicBezTo>
                <a:cubicBezTo>
                  <a:pt x="25" y="70"/>
                  <a:pt x="25" y="70"/>
                  <a:pt x="25" y="70"/>
                </a:cubicBezTo>
                <a:cubicBezTo>
                  <a:pt x="25" y="70"/>
                  <a:pt x="25" y="70"/>
                  <a:pt x="25" y="70"/>
                </a:cubicBezTo>
                <a:cubicBezTo>
                  <a:pt x="25" y="70"/>
                  <a:pt x="26" y="70"/>
                  <a:pt x="26" y="70"/>
                </a:cubicBezTo>
                <a:cubicBezTo>
                  <a:pt x="26" y="70"/>
                  <a:pt x="26" y="69"/>
                  <a:pt x="26" y="69"/>
                </a:cubicBezTo>
                <a:cubicBezTo>
                  <a:pt x="27" y="69"/>
                  <a:pt x="27" y="68"/>
                  <a:pt x="27" y="68"/>
                </a:cubicBezTo>
                <a:cubicBezTo>
                  <a:pt x="27" y="68"/>
                  <a:pt x="27" y="68"/>
                  <a:pt x="28" y="68"/>
                </a:cubicBezTo>
                <a:cubicBezTo>
                  <a:pt x="28" y="68"/>
                  <a:pt x="28" y="68"/>
                  <a:pt x="28" y="68"/>
                </a:cubicBezTo>
                <a:cubicBezTo>
                  <a:pt x="28" y="68"/>
                  <a:pt x="28" y="67"/>
                  <a:pt x="29" y="67"/>
                </a:cubicBezTo>
                <a:cubicBezTo>
                  <a:pt x="29" y="67"/>
                  <a:pt x="29" y="67"/>
                  <a:pt x="29" y="67"/>
                </a:cubicBezTo>
                <a:cubicBezTo>
                  <a:pt x="29" y="66"/>
                  <a:pt x="29" y="66"/>
                  <a:pt x="29" y="66"/>
                </a:cubicBezTo>
                <a:cubicBezTo>
                  <a:pt x="29" y="66"/>
                  <a:pt x="29" y="66"/>
                  <a:pt x="29" y="66"/>
                </a:cubicBezTo>
                <a:cubicBezTo>
                  <a:pt x="29" y="65"/>
                  <a:pt x="29" y="65"/>
                  <a:pt x="29" y="65"/>
                </a:cubicBezTo>
                <a:cubicBezTo>
                  <a:pt x="29" y="65"/>
                  <a:pt x="29" y="65"/>
                  <a:pt x="29" y="64"/>
                </a:cubicBezTo>
                <a:cubicBezTo>
                  <a:pt x="29" y="64"/>
                  <a:pt x="29" y="64"/>
                  <a:pt x="29" y="64"/>
                </a:cubicBezTo>
                <a:cubicBezTo>
                  <a:pt x="29" y="64"/>
                  <a:pt x="29" y="64"/>
                  <a:pt x="29" y="64"/>
                </a:cubicBezTo>
                <a:cubicBezTo>
                  <a:pt x="29" y="64"/>
                  <a:pt x="29" y="64"/>
                  <a:pt x="29" y="64"/>
                </a:cubicBezTo>
                <a:cubicBezTo>
                  <a:pt x="29" y="64"/>
                  <a:pt x="29" y="64"/>
                  <a:pt x="29" y="64"/>
                </a:cubicBezTo>
                <a:cubicBezTo>
                  <a:pt x="29" y="64"/>
                  <a:pt x="29" y="64"/>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29" y="62"/>
                  <a:pt x="29" y="61"/>
                </a:cubicBezTo>
                <a:cubicBezTo>
                  <a:pt x="29" y="61"/>
                  <a:pt x="29" y="61"/>
                  <a:pt x="29" y="61"/>
                </a:cubicBezTo>
                <a:cubicBezTo>
                  <a:pt x="29" y="61"/>
                  <a:pt x="30" y="61"/>
                  <a:pt x="30" y="61"/>
                </a:cubicBezTo>
                <a:cubicBezTo>
                  <a:pt x="31" y="61"/>
                  <a:pt x="31" y="61"/>
                  <a:pt x="31" y="61"/>
                </a:cubicBezTo>
                <a:cubicBezTo>
                  <a:pt x="31" y="61"/>
                  <a:pt x="32" y="61"/>
                  <a:pt x="32" y="61"/>
                </a:cubicBezTo>
                <a:cubicBezTo>
                  <a:pt x="32" y="61"/>
                  <a:pt x="33" y="60"/>
                  <a:pt x="33" y="60"/>
                </a:cubicBezTo>
                <a:cubicBezTo>
                  <a:pt x="33" y="60"/>
                  <a:pt x="34" y="60"/>
                  <a:pt x="34" y="60"/>
                </a:cubicBezTo>
                <a:cubicBezTo>
                  <a:pt x="34" y="60"/>
                  <a:pt x="34" y="60"/>
                  <a:pt x="34" y="60"/>
                </a:cubicBezTo>
                <a:cubicBezTo>
                  <a:pt x="34" y="60"/>
                  <a:pt x="34" y="59"/>
                  <a:pt x="35" y="59"/>
                </a:cubicBezTo>
                <a:cubicBezTo>
                  <a:pt x="35" y="59"/>
                  <a:pt x="35" y="59"/>
                  <a:pt x="36" y="59"/>
                </a:cubicBezTo>
                <a:cubicBezTo>
                  <a:pt x="36" y="59"/>
                  <a:pt x="36" y="59"/>
                  <a:pt x="36" y="59"/>
                </a:cubicBezTo>
                <a:cubicBezTo>
                  <a:pt x="36" y="58"/>
                  <a:pt x="36" y="58"/>
                  <a:pt x="36" y="58"/>
                </a:cubicBezTo>
                <a:cubicBezTo>
                  <a:pt x="37" y="58"/>
                  <a:pt x="37" y="58"/>
                  <a:pt x="37" y="58"/>
                </a:cubicBezTo>
                <a:cubicBezTo>
                  <a:pt x="37" y="58"/>
                  <a:pt x="37" y="58"/>
                  <a:pt x="37" y="58"/>
                </a:cubicBezTo>
                <a:cubicBezTo>
                  <a:pt x="37" y="59"/>
                  <a:pt x="37" y="59"/>
                  <a:pt x="37" y="59"/>
                </a:cubicBezTo>
                <a:cubicBezTo>
                  <a:pt x="37" y="59"/>
                  <a:pt x="37" y="59"/>
                  <a:pt x="37" y="59"/>
                </a:cubicBezTo>
                <a:cubicBezTo>
                  <a:pt x="38" y="59"/>
                  <a:pt x="37" y="60"/>
                  <a:pt x="37" y="60"/>
                </a:cubicBezTo>
                <a:cubicBezTo>
                  <a:pt x="37" y="60"/>
                  <a:pt x="37" y="60"/>
                  <a:pt x="36" y="60"/>
                </a:cubicBezTo>
                <a:cubicBezTo>
                  <a:pt x="36" y="60"/>
                  <a:pt x="36" y="60"/>
                  <a:pt x="36" y="61"/>
                </a:cubicBezTo>
                <a:cubicBezTo>
                  <a:pt x="35" y="61"/>
                  <a:pt x="34" y="61"/>
                  <a:pt x="34" y="62"/>
                </a:cubicBezTo>
                <a:cubicBezTo>
                  <a:pt x="34" y="62"/>
                  <a:pt x="34" y="62"/>
                  <a:pt x="34" y="62"/>
                </a:cubicBezTo>
                <a:cubicBezTo>
                  <a:pt x="34" y="62"/>
                  <a:pt x="34" y="62"/>
                  <a:pt x="34" y="62"/>
                </a:cubicBezTo>
                <a:cubicBezTo>
                  <a:pt x="34" y="62"/>
                  <a:pt x="34" y="62"/>
                  <a:pt x="34" y="63"/>
                </a:cubicBezTo>
                <a:cubicBezTo>
                  <a:pt x="34" y="63"/>
                  <a:pt x="34" y="63"/>
                  <a:pt x="34" y="64"/>
                </a:cubicBezTo>
                <a:cubicBezTo>
                  <a:pt x="34" y="64"/>
                  <a:pt x="34" y="64"/>
                  <a:pt x="34" y="64"/>
                </a:cubicBezTo>
                <a:cubicBezTo>
                  <a:pt x="35" y="64"/>
                  <a:pt x="35" y="64"/>
                  <a:pt x="35" y="64"/>
                </a:cubicBezTo>
                <a:cubicBezTo>
                  <a:pt x="35" y="64"/>
                  <a:pt x="36" y="64"/>
                  <a:pt x="36" y="63"/>
                </a:cubicBezTo>
                <a:cubicBezTo>
                  <a:pt x="36" y="63"/>
                  <a:pt x="37" y="63"/>
                  <a:pt x="37" y="63"/>
                </a:cubicBezTo>
                <a:cubicBezTo>
                  <a:pt x="37" y="63"/>
                  <a:pt x="37" y="63"/>
                  <a:pt x="37" y="63"/>
                </a:cubicBezTo>
                <a:cubicBezTo>
                  <a:pt x="38" y="63"/>
                  <a:pt x="38" y="63"/>
                  <a:pt x="38" y="63"/>
                </a:cubicBezTo>
                <a:cubicBezTo>
                  <a:pt x="38" y="63"/>
                  <a:pt x="38" y="63"/>
                  <a:pt x="38" y="63"/>
                </a:cubicBezTo>
                <a:cubicBezTo>
                  <a:pt x="38" y="63"/>
                  <a:pt x="39" y="63"/>
                  <a:pt x="39" y="63"/>
                </a:cubicBezTo>
                <a:cubicBezTo>
                  <a:pt x="39" y="63"/>
                  <a:pt x="39" y="63"/>
                  <a:pt x="39" y="63"/>
                </a:cubicBezTo>
                <a:cubicBezTo>
                  <a:pt x="39" y="64"/>
                  <a:pt x="39" y="64"/>
                  <a:pt x="39" y="64"/>
                </a:cubicBezTo>
                <a:cubicBezTo>
                  <a:pt x="39" y="64"/>
                  <a:pt x="39" y="64"/>
                  <a:pt x="39" y="65"/>
                </a:cubicBezTo>
                <a:cubicBezTo>
                  <a:pt x="38" y="65"/>
                  <a:pt x="38" y="65"/>
                  <a:pt x="38" y="65"/>
                </a:cubicBezTo>
                <a:cubicBezTo>
                  <a:pt x="38" y="65"/>
                  <a:pt x="38" y="66"/>
                  <a:pt x="38" y="66"/>
                </a:cubicBezTo>
                <a:cubicBezTo>
                  <a:pt x="38" y="66"/>
                  <a:pt x="38" y="66"/>
                  <a:pt x="38" y="66"/>
                </a:cubicBezTo>
                <a:cubicBezTo>
                  <a:pt x="37" y="67"/>
                  <a:pt x="37" y="67"/>
                  <a:pt x="37" y="67"/>
                </a:cubicBezTo>
                <a:cubicBezTo>
                  <a:pt x="37" y="67"/>
                  <a:pt x="37" y="68"/>
                  <a:pt x="37" y="68"/>
                </a:cubicBezTo>
                <a:cubicBezTo>
                  <a:pt x="37" y="68"/>
                  <a:pt x="36" y="69"/>
                  <a:pt x="36" y="69"/>
                </a:cubicBezTo>
                <a:cubicBezTo>
                  <a:pt x="36" y="70"/>
                  <a:pt x="36" y="70"/>
                  <a:pt x="36" y="70"/>
                </a:cubicBezTo>
                <a:cubicBezTo>
                  <a:pt x="36" y="70"/>
                  <a:pt x="36" y="71"/>
                  <a:pt x="36" y="71"/>
                </a:cubicBezTo>
                <a:cubicBezTo>
                  <a:pt x="35" y="71"/>
                  <a:pt x="35" y="72"/>
                  <a:pt x="35" y="72"/>
                </a:cubicBezTo>
                <a:cubicBezTo>
                  <a:pt x="35" y="72"/>
                  <a:pt x="35" y="72"/>
                  <a:pt x="35" y="72"/>
                </a:cubicBezTo>
                <a:cubicBezTo>
                  <a:pt x="35" y="73"/>
                  <a:pt x="35" y="73"/>
                  <a:pt x="35" y="73"/>
                </a:cubicBezTo>
                <a:cubicBezTo>
                  <a:pt x="35" y="73"/>
                  <a:pt x="34" y="73"/>
                  <a:pt x="34" y="73"/>
                </a:cubicBezTo>
                <a:cubicBezTo>
                  <a:pt x="34" y="73"/>
                  <a:pt x="34" y="73"/>
                  <a:pt x="34" y="73"/>
                </a:cubicBezTo>
                <a:cubicBezTo>
                  <a:pt x="33" y="73"/>
                  <a:pt x="33" y="73"/>
                  <a:pt x="33" y="73"/>
                </a:cubicBezTo>
                <a:cubicBezTo>
                  <a:pt x="33" y="72"/>
                  <a:pt x="33" y="72"/>
                  <a:pt x="33" y="72"/>
                </a:cubicBezTo>
                <a:cubicBezTo>
                  <a:pt x="33" y="72"/>
                  <a:pt x="33" y="72"/>
                  <a:pt x="33" y="72"/>
                </a:cubicBezTo>
                <a:cubicBezTo>
                  <a:pt x="33" y="71"/>
                  <a:pt x="32" y="71"/>
                  <a:pt x="32" y="71"/>
                </a:cubicBezTo>
                <a:cubicBezTo>
                  <a:pt x="32" y="71"/>
                  <a:pt x="32" y="72"/>
                  <a:pt x="32" y="72"/>
                </a:cubicBezTo>
                <a:cubicBezTo>
                  <a:pt x="32" y="72"/>
                  <a:pt x="32" y="72"/>
                  <a:pt x="32" y="72"/>
                </a:cubicBezTo>
                <a:close/>
                <a:moveTo>
                  <a:pt x="30" y="64"/>
                </a:moveTo>
                <a:cubicBezTo>
                  <a:pt x="30" y="64"/>
                  <a:pt x="30" y="64"/>
                  <a:pt x="30" y="63"/>
                </a:cubicBezTo>
                <a:cubicBezTo>
                  <a:pt x="31" y="63"/>
                  <a:pt x="31" y="63"/>
                  <a:pt x="31" y="63"/>
                </a:cubicBezTo>
                <a:cubicBezTo>
                  <a:pt x="32" y="63"/>
                  <a:pt x="32" y="63"/>
                  <a:pt x="32" y="63"/>
                </a:cubicBezTo>
                <a:cubicBezTo>
                  <a:pt x="32" y="63"/>
                  <a:pt x="32" y="63"/>
                  <a:pt x="33" y="63"/>
                </a:cubicBezTo>
                <a:cubicBezTo>
                  <a:pt x="33" y="63"/>
                  <a:pt x="33" y="63"/>
                  <a:pt x="33" y="63"/>
                </a:cubicBezTo>
                <a:cubicBezTo>
                  <a:pt x="33" y="63"/>
                  <a:pt x="33" y="63"/>
                  <a:pt x="33" y="64"/>
                </a:cubicBezTo>
                <a:cubicBezTo>
                  <a:pt x="33" y="64"/>
                  <a:pt x="33" y="65"/>
                  <a:pt x="33" y="65"/>
                </a:cubicBezTo>
                <a:cubicBezTo>
                  <a:pt x="33" y="65"/>
                  <a:pt x="33" y="65"/>
                  <a:pt x="33" y="65"/>
                </a:cubicBezTo>
                <a:cubicBezTo>
                  <a:pt x="33" y="65"/>
                  <a:pt x="32" y="65"/>
                  <a:pt x="32" y="65"/>
                </a:cubicBezTo>
                <a:cubicBezTo>
                  <a:pt x="31" y="65"/>
                  <a:pt x="31" y="66"/>
                  <a:pt x="31" y="66"/>
                </a:cubicBezTo>
                <a:cubicBezTo>
                  <a:pt x="31" y="66"/>
                  <a:pt x="31" y="66"/>
                  <a:pt x="31" y="66"/>
                </a:cubicBezTo>
                <a:cubicBezTo>
                  <a:pt x="31" y="66"/>
                  <a:pt x="30" y="65"/>
                  <a:pt x="30" y="65"/>
                </a:cubicBezTo>
                <a:cubicBezTo>
                  <a:pt x="30" y="65"/>
                  <a:pt x="30" y="64"/>
                  <a:pt x="30" y="64"/>
                </a:cubicBezTo>
                <a:cubicBezTo>
                  <a:pt x="30" y="64"/>
                  <a:pt x="30" y="64"/>
                  <a:pt x="30" y="64"/>
                </a:cubicBezTo>
                <a:cubicBezTo>
                  <a:pt x="30" y="64"/>
                  <a:pt x="30" y="64"/>
                  <a:pt x="30" y="64"/>
                </a:cubicBezTo>
                <a:close/>
                <a:moveTo>
                  <a:pt x="47" y="72"/>
                </a:moveTo>
                <a:cubicBezTo>
                  <a:pt x="47" y="72"/>
                  <a:pt x="47" y="71"/>
                  <a:pt x="47" y="70"/>
                </a:cubicBezTo>
                <a:cubicBezTo>
                  <a:pt x="47" y="70"/>
                  <a:pt x="47" y="69"/>
                  <a:pt x="47" y="69"/>
                </a:cubicBezTo>
                <a:cubicBezTo>
                  <a:pt x="47" y="69"/>
                  <a:pt x="47" y="69"/>
                  <a:pt x="47" y="69"/>
                </a:cubicBezTo>
                <a:cubicBezTo>
                  <a:pt x="47" y="69"/>
                  <a:pt x="47" y="69"/>
                  <a:pt x="48" y="69"/>
                </a:cubicBezTo>
                <a:cubicBezTo>
                  <a:pt x="48" y="69"/>
                  <a:pt x="48" y="69"/>
                  <a:pt x="48" y="69"/>
                </a:cubicBezTo>
                <a:cubicBezTo>
                  <a:pt x="48" y="69"/>
                  <a:pt x="48" y="69"/>
                  <a:pt x="48" y="70"/>
                </a:cubicBezTo>
                <a:cubicBezTo>
                  <a:pt x="49" y="70"/>
                  <a:pt x="49" y="70"/>
                  <a:pt x="49" y="70"/>
                </a:cubicBezTo>
                <a:cubicBezTo>
                  <a:pt x="49" y="70"/>
                  <a:pt x="49" y="71"/>
                  <a:pt x="49" y="71"/>
                </a:cubicBezTo>
                <a:cubicBezTo>
                  <a:pt x="49" y="72"/>
                  <a:pt x="49" y="72"/>
                  <a:pt x="49" y="72"/>
                </a:cubicBezTo>
                <a:cubicBezTo>
                  <a:pt x="49" y="73"/>
                  <a:pt x="49" y="73"/>
                  <a:pt x="49" y="73"/>
                </a:cubicBezTo>
                <a:cubicBezTo>
                  <a:pt x="49" y="73"/>
                  <a:pt x="48" y="73"/>
                  <a:pt x="48" y="73"/>
                </a:cubicBezTo>
                <a:cubicBezTo>
                  <a:pt x="48" y="73"/>
                  <a:pt x="48" y="73"/>
                  <a:pt x="48" y="73"/>
                </a:cubicBezTo>
                <a:cubicBezTo>
                  <a:pt x="48" y="73"/>
                  <a:pt x="47" y="72"/>
                  <a:pt x="47" y="72"/>
                </a:cubicBezTo>
                <a:close/>
                <a:moveTo>
                  <a:pt x="55" y="69"/>
                </a:moveTo>
                <a:cubicBezTo>
                  <a:pt x="55" y="69"/>
                  <a:pt x="55" y="69"/>
                  <a:pt x="55" y="68"/>
                </a:cubicBezTo>
                <a:cubicBezTo>
                  <a:pt x="55" y="68"/>
                  <a:pt x="55" y="67"/>
                  <a:pt x="55" y="67"/>
                </a:cubicBezTo>
                <a:cubicBezTo>
                  <a:pt x="55" y="67"/>
                  <a:pt x="55" y="66"/>
                  <a:pt x="55" y="66"/>
                </a:cubicBezTo>
                <a:cubicBezTo>
                  <a:pt x="55" y="66"/>
                  <a:pt x="56" y="65"/>
                  <a:pt x="56" y="65"/>
                </a:cubicBezTo>
                <a:cubicBezTo>
                  <a:pt x="55" y="65"/>
                  <a:pt x="55" y="65"/>
                  <a:pt x="55" y="65"/>
                </a:cubicBezTo>
                <a:cubicBezTo>
                  <a:pt x="55" y="65"/>
                  <a:pt x="55" y="65"/>
                  <a:pt x="55" y="65"/>
                </a:cubicBezTo>
                <a:cubicBezTo>
                  <a:pt x="55" y="65"/>
                  <a:pt x="55" y="65"/>
                  <a:pt x="55" y="65"/>
                </a:cubicBezTo>
                <a:cubicBezTo>
                  <a:pt x="54" y="65"/>
                  <a:pt x="54" y="65"/>
                  <a:pt x="54" y="65"/>
                </a:cubicBezTo>
                <a:cubicBezTo>
                  <a:pt x="54" y="65"/>
                  <a:pt x="54" y="66"/>
                  <a:pt x="53" y="66"/>
                </a:cubicBezTo>
                <a:cubicBezTo>
                  <a:pt x="53" y="66"/>
                  <a:pt x="53" y="67"/>
                  <a:pt x="53" y="67"/>
                </a:cubicBezTo>
                <a:cubicBezTo>
                  <a:pt x="53" y="67"/>
                  <a:pt x="53" y="67"/>
                  <a:pt x="53" y="67"/>
                </a:cubicBezTo>
                <a:cubicBezTo>
                  <a:pt x="53" y="67"/>
                  <a:pt x="52" y="67"/>
                  <a:pt x="52" y="68"/>
                </a:cubicBezTo>
                <a:cubicBezTo>
                  <a:pt x="51" y="68"/>
                  <a:pt x="51" y="68"/>
                  <a:pt x="51" y="69"/>
                </a:cubicBezTo>
                <a:cubicBezTo>
                  <a:pt x="50" y="69"/>
                  <a:pt x="49" y="69"/>
                  <a:pt x="49" y="69"/>
                </a:cubicBezTo>
                <a:cubicBezTo>
                  <a:pt x="49" y="69"/>
                  <a:pt x="49" y="68"/>
                  <a:pt x="48" y="68"/>
                </a:cubicBezTo>
                <a:cubicBezTo>
                  <a:pt x="48" y="68"/>
                  <a:pt x="48" y="68"/>
                  <a:pt x="48" y="68"/>
                </a:cubicBezTo>
                <a:cubicBezTo>
                  <a:pt x="48" y="68"/>
                  <a:pt x="48" y="67"/>
                  <a:pt x="48" y="67"/>
                </a:cubicBezTo>
                <a:cubicBezTo>
                  <a:pt x="49" y="67"/>
                  <a:pt x="49" y="67"/>
                  <a:pt x="49" y="67"/>
                </a:cubicBezTo>
                <a:cubicBezTo>
                  <a:pt x="49" y="67"/>
                  <a:pt x="49" y="67"/>
                  <a:pt x="50" y="67"/>
                </a:cubicBezTo>
                <a:cubicBezTo>
                  <a:pt x="50" y="67"/>
                  <a:pt x="50" y="67"/>
                  <a:pt x="51" y="67"/>
                </a:cubicBezTo>
                <a:cubicBezTo>
                  <a:pt x="51" y="67"/>
                  <a:pt x="51" y="66"/>
                  <a:pt x="51" y="66"/>
                </a:cubicBezTo>
                <a:cubicBezTo>
                  <a:pt x="51" y="66"/>
                  <a:pt x="51" y="66"/>
                  <a:pt x="51" y="66"/>
                </a:cubicBezTo>
                <a:cubicBezTo>
                  <a:pt x="51" y="66"/>
                  <a:pt x="51" y="66"/>
                  <a:pt x="51" y="65"/>
                </a:cubicBezTo>
                <a:cubicBezTo>
                  <a:pt x="50" y="65"/>
                  <a:pt x="50" y="66"/>
                  <a:pt x="50" y="66"/>
                </a:cubicBezTo>
                <a:cubicBezTo>
                  <a:pt x="50" y="66"/>
                  <a:pt x="50" y="66"/>
                  <a:pt x="50" y="66"/>
                </a:cubicBezTo>
                <a:cubicBezTo>
                  <a:pt x="49" y="66"/>
                  <a:pt x="49" y="66"/>
                  <a:pt x="49" y="65"/>
                </a:cubicBezTo>
                <a:cubicBezTo>
                  <a:pt x="49" y="65"/>
                  <a:pt x="48" y="65"/>
                  <a:pt x="48" y="65"/>
                </a:cubicBezTo>
                <a:cubicBezTo>
                  <a:pt x="48" y="65"/>
                  <a:pt x="48" y="65"/>
                  <a:pt x="48" y="65"/>
                </a:cubicBezTo>
                <a:cubicBezTo>
                  <a:pt x="48" y="65"/>
                  <a:pt x="48" y="65"/>
                  <a:pt x="48" y="65"/>
                </a:cubicBezTo>
                <a:cubicBezTo>
                  <a:pt x="48" y="65"/>
                  <a:pt x="48" y="65"/>
                  <a:pt x="48" y="64"/>
                </a:cubicBezTo>
                <a:cubicBezTo>
                  <a:pt x="49" y="64"/>
                  <a:pt x="48" y="64"/>
                  <a:pt x="49" y="64"/>
                </a:cubicBezTo>
                <a:cubicBezTo>
                  <a:pt x="49" y="64"/>
                  <a:pt x="50" y="64"/>
                  <a:pt x="50" y="64"/>
                </a:cubicBezTo>
                <a:cubicBezTo>
                  <a:pt x="50" y="64"/>
                  <a:pt x="50" y="64"/>
                  <a:pt x="50" y="64"/>
                </a:cubicBezTo>
                <a:cubicBezTo>
                  <a:pt x="50" y="64"/>
                  <a:pt x="50" y="64"/>
                  <a:pt x="51" y="64"/>
                </a:cubicBezTo>
                <a:cubicBezTo>
                  <a:pt x="51" y="64"/>
                  <a:pt x="52" y="64"/>
                  <a:pt x="52" y="63"/>
                </a:cubicBezTo>
                <a:cubicBezTo>
                  <a:pt x="52" y="63"/>
                  <a:pt x="52" y="63"/>
                  <a:pt x="52" y="62"/>
                </a:cubicBezTo>
                <a:cubicBezTo>
                  <a:pt x="53" y="62"/>
                  <a:pt x="53" y="62"/>
                  <a:pt x="53" y="61"/>
                </a:cubicBezTo>
                <a:cubicBezTo>
                  <a:pt x="53" y="61"/>
                  <a:pt x="53" y="61"/>
                  <a:pt x="53" y="61"/>
                </a:cubicBezTo>
                <a:cubicBezTo>
                  <a:pt x="53" y="61"/>
                  <a:pt x="53" y="60"/>
                  <a:pt x="53" y="60"/>
                </a:cubicBezTo>
                <a:cubicBezTo>
                  <a:pt x="53" y="60"/>
                  <a:pt x="53" y="60"/>
                  <a:pt x="53" y="60"/>
                </a:cubicBezTo>
                <a:cubicBezTo>
                  <a:pt x="53" y="59"/>
                  <a:pt x="53" y="59"/>
                  <a:pt x="54" y="59"/>
                </a:cubicBezTo>
                <a:cubicBezTo>
                  <a:pt x="54" y="59"/>
                  <a:pt x="54" y="59"/>
                  <a:pt x="54" y="59"/>
                </a:cubicBezTo>
                <a:cubicBezTo>
                  <a:pt x="54" y="59"/>
                  <a:pt x="54" y="59"/>
                  <a:pt x="54" y="59"/>
                </a:cubicBezTo>
                <a:cubicBezTo>
                  <a:pt x="55" y="60"/>
                  <a:pt x="55" y="60"/>
                  <a:pt x="55" y="60"/>
                </a:cubicBezTo>
                <a:cubicBezTo>
                  <a:pt x="55" y="60"/>
                  <a:pt x="55" y="61"/>
                  <a:pt x="55" y="62"/>
                </a:cubicBezTo>
                <a:cubicBezTo>
                  <a:pt x="54" y="62"/>
                  <a:pt x="55" y="62"/>
                  <a:pt x="55" y="62"/>
                </a:cubicBezTo>
                <a:cubicBezTo>
                  <a:pt x="55" y="61"/>
                  <a:pt x="55" y="61"/>
                  <a:pt x="55" y="61"/>
                </a:cubicBezTo>
                <a:cubicBezTo>
                  <a:pt x="55" y="62"/>
                  <a:pt x="56" y="61"/>
                  <a:pt x="56" y="61"/>
                </a:cubicBezTo>
                <a:cubicBezTo>
                  <a:pt x="56" y="61"/>
                  <a:pt x="56" y="61"/>
                  <a:pt x="56" y="61"/>
                </a:cubicBezTo>
                <a:cubicBezTo>
                  <a:pt x="56" y="61"/>
                  <a:pt x="57" y="60"/>
                  <a:pt x="57" y="61"/>
                </a:cubicBezTo>
                <a:cubicBezTo>
                  <a:pt x="57" y="61"/>
                  <a:pt x="57" y="61"/>
                  <a:pt x="57" y="61"/>
                </a:cubicBezTo>
                <a:cubicBezTo>
                  <a:pt x="57" y="62"/>
                  <a:pt x="57" y="62"/>
                  <a:pt x="56" y="62"/>
                </a:cubicBezTo>
                <a:cubicBezTo>
                  <a:pt x="55" y="63"/>
                  <a:pt x="54" y="63"/>
                  <a:pt x="54" y="63"/>
                </a:cubicBezTo>
                <a:cubicBezTo>
                  <a:pt x="53" y="63"/>
                  <a:pt x="53" y="64"/>
                  <a:pt x="53" y="64"/>
                </a:cubicBezTo>
                <a:cubicBezTo>
                  <a:pt x="52" y="65"/>
                  <a:pt x="52" y="65"/>
                  <a:pt x="52" y="65"/>
                </a:cubicBezTo>
                <a:cubicBezTo>
                  <a:pt x="52" y="65"/>
                  <a:pt x="52" y="66"/>
                  <a:pt x="52" y="66"/>
                </a:cubicBezTo>
                <a:cubicBezTo>
                  <a:pt x="53" y="66"/>
                  <a:pt x="53" y="65"/>
                  <a:pt x="54" y="65"/>
                </a:cubicBezTo>
                <a:cubicBezTo>
                  <a:pt x="54" y="65"/>
                  <a:pt x="54" y="64"/>
                  <a:pt x="55" y="64"/>
                </a:cubicBezTo>
                <a:cubicBezTo>
                  <a:pt x="55" y="64"/>
                  <a:pt x="55" y="64"/>
                  <a:pt x="55" y="64"/>
                </a:cubicBezTo>
                <a:cubicBezTo>
                  <a:pt x="56" y="64"/>
                  <a:pt x="56" y="64"/>
                  <a:pt x="56" y="63"/>
                </a:cubicBezTo>
                <a:cubicBezTo>
                  <a:pt x="56" y="63"/>
                  <a:pt x="56" y="63"/>
                  <a:pt x="56" y="63"/>
                </a:cubicBezTo>
                <a:cubicBezTo>
                  <a:pt x="56" y="63"/>
                  <a:pt x="57" y="63"/>
                  <a:pt x="57" y="64"/>
                </a:cubicBezTo>
                <a:cubicBezTo>
                  <a:pt x="57" y="64"/>
                  <a:pt x="57" y="64"/>
                  <a:pt x="57" y="64"/>
                </a:cubicBezTo>
                <a:cubicBezTo>
                  <a:pt x="57" y="65"/>
                  <a:pt x="57" y="65"/>
                  <a:pt x="57" y="66"/>
                </a:cubicBezTo>
                <a:cubicBezTo>
                  <a:pt x="57" y="66"/>
                  <a:pt x="57" y="67"/>
                  <a:pt x="56" y="67"/>
                </a:cubicBezTo>
                <a:cubicBezTo>
                  <a:pt x="56" y="69"/>
                  <a:pt x="56" y="71"/>
                  <a:pt x="55" y="72"/>
                </a:cubicBezTo>
                <a:cubicBezTo>
                  <a:pt x="55" y="72"/>
                  <a:pt x="55" y="72"/>
                  <a:pt x="55" y="72"/>
                </a:cubicBezTo>
                <a:cubicBezTo>
                  <a:pt x="55" y="72"/>
                  <a:pt x="54" y="72"/>
                  <a:pt x="54" y="72"/>
                </a:cubicBezTo>
                <a:cubicBezTo>
                  <a:pt x="54" y="72"/>
                  <a:pt x="54" y="71"/>
                  <a:pt x="54" y="71"/>
                </a:cubicBezTo>
                <a:cubicBezTo>
                  <a:pt x="53" y="71"/>
                  <a:pt x="53" y="71"/>
                  <a:pt x="53" y="71"/>
                </a:cubicBezTo>
                <a:cubicBezTo>
                  <a:pt x="53" y="71"/>
                  <a:pt x="53" y="71"/>
                  <a:pt x="53" y="71"/>
                </a:cubicBezTo>
                <a:cubicBezTo>
                  <a:pt x="53" y="71"/>
                  <a:pt x="53" y="71"/>
                  <a:pt x="52" y="71"/>
                </a:cubicBezTo>
                <a:cubicBezTo>
                  <a:pt x="52" y="71"/>
                  <a:pt x="52" y="71"/>
                  <a:pt x="52" y="72"/>
                </a:cubicBezTo>
                <a:cubicBezTo>
                  <a:pt x="52" y="72"/>
                  <a:pt x="52" y="72"/>
                  <a:pt x="52" y="72"/>
                </a:cubicBezTo>
                <a:cubicBezTo>
                  <a:pt x="52" y="73"/>
                  <a:pt x="52" y="73"/>
                  <a:pt x="52" y="73"/>
                </a:cubicBezTo>
                <a:cubicBezTo>
                  <a:pt x="51" y="73"/>
                  <a:pt x="51" y="73"/>
                  <a:pt x="51" y="73"/>
                </a:cubicBezTo>
                <a:cubicBezTo>
                  <a:pt x="51" y="73"/>
                  <a:pt x="51" y="73"/>
                  <a:pt x="51" y="73"/>
                </a:cubicBezTo>
                <a:cubicBezTo>
                  <a:pt x="51" y="72"/>
                  <a:pt x="51" y="72"/>
                  <a:pt x="51" y="71"/>
                </a:cubicBezTo>
                <a:cubicBezTo>
                  <a:pt x="51" y="71"/>
                  <a:pt x="50" y="71"/>
                  <a:pt x="50" y="71"/>
                </a:cubicBezTo>
                <a:cubicBezTo>
                  <a:pt x="50" y="71"/>
                  <a:pt x="50" y="71"/>
                  <a:pt x="50" y="71"/>
                </a:cubicBezTo>
                <a:cubicBezTo>
                  <a:pt x="50" y="70"/>
                  <a:pt x="50" y="71"/>
                  <a:pt x="51" y="71"/>
                </a:cubicBezTo>
                <a:cubicBezTo>
                  <a:pt x="51" y="70"/>
                  <a:pt x="51" y="70"/>
                  <a:pt x="51" y="70"/>
                </a:cubicBezTo>
                <a:cubicBezTo>
                  <a:pt x="51" y="70"/>
                  <a:pt x="51" y="70"/>
                  <a:pt x="50" y="70"/>
                </a:cubicBezTo>
                <a:cubicBezTo>
                  <a:pt x="50" y="70"/>
                  <a:pt x="50" y="69"/>
                  <a:pt x="50" y="69"/>
                </a:cubicBezTo>
                <a:cubicBezTo>
                  <a:pt x="51" y="69"/>
                  <a:pt x="51" y="69"/>
                  <a:pt x="51" y="69"/>
                </a:cubicBezTo>
                <a:cubicBezTo>
                  <a:pt x="52" y="69"/>
                  <a:pt x="53" y="69"/>
                  <a:pt x="53" y="69"/>
                </a:cubicBezTo>
                <a:cubicBezTo>
                  <a:pt x="53" y="69"/>
                  <a:pt x="53" y="69"/>
                  <a:pt x="53" y="69"/>
                </a:cubicBezTo>
                <a:cubicBezTo>
                  <a:pt x="53" y="69"/>
                  <a:pt x="53" y="69"/>
                  <a:pt x="53" y="70"/>
                </a:cubicBezTo>
                <a:cubicBezTo>
                  <a:pt x="53" y="70"/>
                  <a:pt x="53" y="70"/>
                  <a:pt x="53" y="70"/>
                </a:cubicBezTo>
                <a:cubicBezTo>
                  <a:pt x="54" y="71"/>
                  <a:pt x="54" y="70"/>
                  <a:pt x="55" y="70"/>
                </a:cubicBezTo>
                <a:cubicBezTo>
                  <a:pt x="55" y="70"/>
                  <a:pt x="55" y="70"/>
                  <a:pt x="55" y="69"/>
                </a:cubicBezTo>
                <a:close/>
                <a:moveTo>
                  <a:pt x="84" y="65"/>
                </a:moveTo>
                <a:cubicBezTo>
                  <a:pt x="84" y="65"/>
                  <a:pt x="84" y="66"/>
                  <a:pt x="84" y="66"/>
                </a:cubicBezTo>
                <a:cubicBezTo>
                  <a:pt x="84" y="66"/>
                  <a:pt x="84" y="66"/>
                  <a:pt x="84" y="66"/>
                </a:cubicBezTo>
                <a:cubicBezTo>
                  <a:pt x="85" y="66"/>
                  <a:pt x="85" y="65"/>
                  <a:pt x="85" y="65"/>
                </a:cubicBezTo>
                <a:cubicBezTo>
                  <a:pt x="86" y="64"/>
                  <a:pt x="87" y="63"/>
                  <a:pt x="87" y="63"/>
                </a:cubicBezTo>
                <a:cubicBezTo>
                  <a:pt x="88" y="63"/>
                  <a:pt x="89" y="62"/>
                  <a:pt x="89" y="63"/>
                </a:cubicBezTo>
                <a:cubicBezTo>
                  <a:pt x="90" y="63"/>
                  <a:pt x="89" y="64"/>
                  <a:pt x="88" y="66"/>
                </a:cubicBezTo>
                <a:cubicBezTo>
                  <a:pt x="88" y="66"/>
                  <a:pt x="88" y="67"/>
                  <a:pt x="88" y="67"/>
                </a:cubicBezTo>
                <a:cubicBezTo>
                  <a:pt x="88" y="68"/>
                  <a:pt x="88" y="68"/>
                  <a:pt x="88" y="69"/>
                </a:cubicBezTo>
                <a:cubicBezTo>
                  <a:pt x="88" y="70"/>
                  <a:pt x="88" y="71"/>
                  <a:pt x="87" y="71"/>
                </a:cubicBezTo>
                <a:cubicBezTo>
                  <a:pt x="87" y="71"/>
                  <a:pt x="87" y="71"/>
                  <a:pt x="87" y="71"/>
                </a:cubicBezTo>
                <a:cubicBezTo>
                  <a:pt x="87" y="70"/>
                  <a:pt x="87" y="70"/>
                  <a:pt x="86" y="70"/>
                </a:cubicBezTo>
                <a:cubicBezTo>
                  <a:pt x="86" y="70"/>
                  <a:pt x="86" y="70"/>
                  <a:pt x="85" y="70"/>
                </a:cubicBezTo>
                <a:cubicBezTo>
                  <a:pt x="85" y="70"/>
                  <a:pt x="85" y="70"/>
                  <a:pt x="85" y="70"/>
                </a:cubicBezTo>
                <a:cubicBezTo>
                  <a:pt x="86" y="70"/>
                  <a:pt x="86" y="69"/>
                  <a:pt x="86" y="68"/>
                </a:cubicBezTo>
                <a:cubicBezTo>
                  <a:pt x="86" y="68"/>
                  <a:pt x="85" y="68"/>
                  <a:pt x="85" y="68"/>
                </a:cubicBezTo>
                <a:cubicBezTo>
                  <a:pt x="85" y="68"/>
                  <a:pt x="85" y="68"/>
                  <a:pt x="85" y="68"/>
                </a:cubicBezTo>
                <a:cubicBezTo>
                  <a:pt x="85" y="68"/>
                  <a:pt x="85" y="68"/>
                  <a:pt x="85" y="68"/>
                </a:cubicBezTo>
                <a:cubicBezTo>
                  <a:pt x="85" y="68"/>
                  <a:pt x="86" y="66"/>
                  <a:pt x="86" y="66"/>
                </a:cubicBezTo>
                <a:cubicBezTo>
                  <a:pt x="85" y="66"/>
                  <a:pt x="85" y="66"/>
                  <a:pt x="86" y="66"/>
                </a:cubicBezTo>
                <a:cubicBezTo>
                  <a:pt x="86" y="66"/>
                  <a:pt x="86" y="65"/>
                  <a:pt x="86" y="65"/>
                </a:cubicBezTo>
                <a:cubicBezTo>
                  <a:pt x="86" y="65"/>
                  <a:pt x="86" y="65"/>
                  <a:pt x="86" y="65"/>
                </a:cubicBezTo>
                <a:cubicBezTo>
                  <a:pt x="85" y="66"/>
                  <a:pt x="85" y="67"/>
                  <a:pt x="84" y="68"/>
                </a:cubicBezTo>
                <a:cubicBezTo>
                  <a:pt x="84" y="68"/>
                  <a:pt x="85" y="69"/>
                  <a:pt x="84" y="69"/>
                </a:cubicBezTo>
                <a:cubicBezTo>
                  <a:pt x="84" y="70"/>
                  <a:pt x="84" y="70"/>
                  <a:pt x="84" y="70"/>
                </a:cubicBezTo>
                <a:cubicBezTo>
                  <a:pt x="84" y="69"/>
                  <a:pt x="83" y="69"/>
                  <a:pt x="83" y="69"/>
                </a:cubicBezTo>
                <a:cubicBezTo>
                  <a:pt x="83" y="68"/>
                  <a:pt x="83" y="67"/>
                  <a:pt x="84" y="66"/>
                </a:cubicBezTo>
                <a:cubicBezTo>
                  <a:pt x="84" y="66"/>
                  <a:pt x="84" y="65"/>
                  <a:pt x="84" y="65"/>
                </a:cubicBezTo>
                <a:close/>
                <a:moveTo>
                  <a:pt x="88" y="63"/>
                </a:moveTo>
                <a:cubicBezTo>
                  <a:pt x="88" y="63"/>
                  <a:pt x="88" y="63"/>
                  <a:pt x="88" y="63"/>
                </a:cubicBezTo>
                <a:cubicBezTo>
                  <a:pt x="88" y="63"/>
                  <a:pt x="88" y="64"/>
                  <a:pt x="88" y="64"/>
                </a:cubicBezTo>
                <a:cubicBezTo>
                  <a:pt x="88" y="65"/>
                  <a:pt x="88" y="66"/>
                  <a:pt x="87" y="67"/>
                </a:cubicBezTo>
                <a:cubicBezTo>
                  <a:pt x="87" y="66"/>
                  <a:pt x="87" y="66"/>
                  <a:pt x="87" y="66"/>
                </a:cubicBezTo>
                <a:cubicBezTo>
                  <a:pt x="87" y="66"/>
                  <a:pt x="87" y="65"/>
                  <a:pt x="86" y="65"/>
                </a:cubicBezTo>
                <a:cubicBezTo>
                  <a:pt x="86" y="64"/>
                  <a:pt x="86" y="64"/>
                  <a:pt x="86" y="64"/>
                </a:cubicBezTo>
                <a:cubicBezTo>
                  <a:pt x="87" y="64"/>
                  <a:pt x="87" y="64"/>
                  <a:pt x="87" y="63"/>
                </a:cubicBezTo>
                <a:cubicBezTo>
                  <a:pt x="88" y="63"/>
                  <a:pt x="88" y="63"/>
                  <a:pt x="88" y="63"/>
                </a:cubicBezTo>
                <a:close/>
                <a:moveTo>
                  <a:pt x="87" y="67"/>
                </a:moveTo>
                <a:cubicBezTo>
                  <a:pt x="87" y="67"/>
                  <a:pt x="87" y="69"/>
                  <a:pt x="87" y="69"/>
                </a:cubicBezTo>
                <a:cubicBezTo>
                  <a:pt x="87" y="69"/>
                  <a:pt x="87" y="70"/>
                  <a:pt x="87" y="70"/>
                </a:cubicBezTo>
                <a:cubicBezTo>
                  <a:pt x="87" y="70"/>
                  <a:pt x="87" y="70"/>
                  <a:pt x="86" y="70"/>
                </a:cubicBezTo>
                <a:cubicBezTo>
                  <a:pt x="86" y="69"/>
                  <a:pt x="87" y="68"/>
                  <a:pt x="87" y="68"/>
                </a:cubicBezTo>
                <a:cubicBezTo>
                  <a:pt x="87" y="68"/>
                  <a:pt x="87" y="67"/>
                  <a:pt x="87" y="67"/>
                </a:cubicBezTo>
                <a:close/>
                <a:moveTo>
                  <a:pt x="80" y="70"/>
                </a:moveTo>
                <a:cubicBezTo>
                  <a:pt x="80" y="70"/>
                  <a:pt x="81" y="70"/>
                  <a:pt x="82" y="71"/>
                </a:cubicBezTo>
                <a:cubicBezTo>
                  <a:pt x="82" y="71"/>
                  <a:pt x="83" y="71"/>
                  <a:pt x="83" y="71"/>
                </a:cubicBezTo>
                <a:cubicBezTo>
                  <a:pt x="85" y="72"/>
                  <a:pt x="86" y="72"/>
                  <a:pt x="88" y="72"/>
                </a:cubicBezTo>
                <a:cubicBezTo>
                  <a:pt x="88" y="73"/>
                  <a:pt x="90" y="72"/>
                  <a:pt x="91" y="72"/>
                </a:cubicBezTo>
                <a:cubicBezTo>
                  <a:pt x="91" y="72"/>
                  <a:pt x="91" y="72"/>
                  <a:pt x="91" y="72"/>
                </a:cubicBezTo>
                <a:cubicBezTo>
                  <a:pt x="91" y="72"/>
                  <a:pt x="91" y="72"/>
                  <a:pt x="91" y="73"/>
                </a:cubicBezTo>
                <a:cubicBezTo>
                  <a:pt x="90" y="73"/>
                  <a:pt x="90" y="73"/>
                  <a:pt x="90" y="73"/>
                </a:cubicBezTo>
                <a:cubicBezTo>
                  <a:pt x="89" y="73"/>
                  <a:pt x="89" y="73"/>
                  <a:pt x="89" y="73"/>
                </a:cubicBezTo>
                <a:cubicBezTo>
                  <a:pt x="89" y="73"/>
                  <a:pt x="88" y="74"/>
                  <a:pt x="88" y="74"/>
                </a:cubicBezTo>
                <a:cubicBezTo>
                  <a:pt x="86" y="74"/>
                  <a:pt x="86" y="74"/>
                  <a:pt x="85" y="73"/>
                </a:cubicBezTo>
                <a:cubicBezTo>
                  <a:pt x="84" y="72"/>
                  <a:pt x="83" y="72"/>
                  <a:pt x="82" y="71"/>
                </a:cubicBezTo>
                <a:cubicBezTo>
                  <a:pt x="81" y="71"/>
                  <a:pt x="80" y="71"/>
                  <a:pt x="80" y="70"/>
                </a:cubicBezTo>
                <a:close/>
                <a:moveTo>
                  <a:pt x="82" y="69"/>
                </a:moveTo>
                <a:cubicBezTo>
                  <a:pt x="82" y="69"/>
                  <a:pt x="82" y="69"/>
                  <a:pt x="82" y="69"/>
                </a:cubicBezTo>
                <a:cubicBezTo>
                  <a:pt x="82" y="69"/>
                  <a:pt x="83" y="70"/>
                  <a:pt x="83" y="70"/>
                </a:cubicBezTo>
                <a:cubicBezTo>
                  <a:pt x="83" y="70"/>
                  <a:pt x="83" y="70"/>
                  <a:pt x="83" y="71"/>
                </a:cubicBezTo>
                <a:cubicBezTo>
                  <a:pt x="82" y="71"/>
                  <a:pt x="82" y="71"/>
                  <a:pt x="82" y="71"/>
                </a:cubicBezTo>
                <a:cubicBezTo>
                  <a:pt x="82" y="70"/>
                  <a:pt x="82" y="70"/>
                  <a:pt x="82" y="70"/>
                </a:cubicBezTo>
                <a:cubicBezTo>
                  <a:pt x="82" y="70"/>
                  <a:pt x="82" y="69"/>
                  <a:pt x="82" y="69"/>
                </a:cubicBezTo>
                <a:close/>
                <a:moveTo>
                  <a:pt x="81" y="66"/>
                </a:moveTo>
                <a:cubicBezTo>
                  <a:pt x="82" y="66"/>
                  <a:pt x="83" y="67"/>
                  <a:pt x="83" y="68"/>
                </a:cubicBezTo>
                <a:cubicBezTo>
                  <a:pt x="82" y="68"/>
                  <a:pt x="82" y="68"/>
                  <a:pt x="82" y="68"/>
                </a:cubicBezTo>
                <a:cubicBezTo>
                  <a:pt x="82" y="68"/>
                  <a:pt x="82" y="68"/>
                  <a:pt x="81" y="68"/>
                </a:cubicBezTo>
                <a:cubicBezTo>
                  <a:pt x="81" y="68"/>
                  <a:pt x="81" y="67"/>
                  <a:pt x="81" y="67"/>
                </a:cubicBezTo>
                <a:cubicBezTo>
                  <a:pt x="81" y="67"/>
                  <a:pt x="81" y="66"/>
                  <a:pt x="81" y="66"/>
                </a:cubicBezTo>
                <a:close/>
                <a:moveTo>
                  <a:pt x="86" y="63"/>
                </a:moveTo>
                <a:cubicBezTo>
                  <a:pt x="86" y="63"/>
                  <a:pt x="86" y="63"/>
                  <a:pt x="86" y="63"/>
                </a:cubicBezTo>
                <a:cubicBezTo>
                  <a:pt x="87" y="62"/>
                  <a:pt x="87" y="62"/>
                  <a:pt x="87" y="61"/>
                </a:cubicBezTo>
                <a:cubicBezTo>
                  <a:pt x="87" y="61"/>
                  <a:pt x="87" y="61"/>
                  <a:pt x="87" y="61"/>
                </a:cubicBezTo>
                <a:cubicBezTo>
                  <a:pt x="87" y="61"/>
                  <a:pt x="87" y="61"/>
                  <a:pt x="87" y="60"/>
                </a:cubicBezTo>
                <a:cubicBezTo>
                  <a:pt x="88" y="60"/>
                  <a:pt x="88" y="60"/>
                  <a:pt x="88" y="59"/>
                </a:cubicBezTo>
                <a:cubicBezTo>
                  <a:pt x="88" y="59"/>
                  <a:pt x="88" y="59"/>
                  <a:pt x="88" y="59"/>
                </a:cubicBezTo>
                <a:cubicBezTo>
                  <a:pt x="88" y="59"/>
                  <a:pt x="88" y="59"/>
                  <a:pt x="87" y="60"/>
                </a:cubicBezTo>
                <a:cubicBezTo>
                  <a:pt x="87" y="60"/>
                  <a:pt x="86" y="61"/>
                  <a:pt x="86" y="61"/>
                </a:cubicBezTo>
                <a:cubicBezTo>
                  <a:pt x="85" y="61"/>
                  <a:pt x="85" y="62"/>
                  <a:pt x="85" y="62"/>
                </a:cubicBezTo>
                <a:cubicBezTo>
                  <a:pt x="84" y="62"/>
                  <a:pt x="82" y="62"/>
                  <a:pt x="82" y="62"/>
                </a:cubicBezTo>
                <a:cubicBezTo>
                  <a:pt x="83" y="62"/>
                  <a:pt x="84" y="61"/>
                  <a:pt x="85" y="60"/>
                </a:cubicBezTo>
                <a:cubicBezTo>
                  <a:pt x="85" y="60"/>
                  <a:pt x="86" y="59"/>
                  <a:pt x="87" y="58"/>
                </a:cubicBezTo>
                <a:cubicBezTo>
                  <a:pt x="87" y="58"/>
                  <a:pt x="88" y="58"/>
                  <a:pt x="88" y="58"/>
                </a:cubicBezTo>
                <a:cubicBezTo>
                  <a:pt x="88" y="58"/>
                  <a:pt x="88" y="58"/>
                  <a:pt x="89" y="58"/>
                </a:cubicBezTo>
                <a:cubicBezTo>
                  <a:pt x="89" y="58"/>
                  <a:pt x="89" y="57"/>
                  <a:pt x="89" y="57"/>
                </a:cubicBezTo>
                <a:cubicBezTo>
                  <a:pt x="89" y="57"/>
                  <a:pt x="89" y="57"/>
                  <a:pt x="90" y="57"/>
                </a:cubicBezTo>
                <a:cubicBezTo>
                  <a:pt x="90" y="57"/>
                  <a:pt x="90" y="57"/>
                  <a:pt x="90" y="57"/>
                </a:cubicBezTo>
                <a:cubicBezTo>
                  <a:pt x="90" y="58"/>
                  <a:pt x="90" y="58"/>
                  <a:pt x="90" y="58"/>
                </a:cubicBezTo>
                <a:cubicBezTo>
                  <a:pt x="90" y="58"/>
                  <a:pt x="90" y="59"/>
                  <a:pt x="90" y="59"/>
                </a:cubicBezTo>
                <a:cubicBezTo>
                  <a:pt x="89" y="59"/>
                  <a:pt x="89" y="59"/>
                  <a:pt x="89" y="59"/>
                </a:cubicBezTo>
                <a:cubicBezTo>
                  <a:pt x="89" y="60"/>
                  <a:pt x="89" y="60"/>
                  <a:pt x="88" y="61"/>
                </a:cubicBezTo>
                <a:cubicBezTo>
                  <a:pt x="88" y="61"/>
                  <a:pt x="88" y="61"/>
                  <a:pt x="88" y="61"/>
                </a:cubicBezTo>
                <a:cubicBezTo>
                  <a:pt x="88" y="61"/>
                  <a:pt x="89" y="61"/>
                  <a:pt x="89" y="61"/>
                </a:cubicBezTo>
                <a:cubicBezTo>
                  <a:pt x="89" y="61"/>
                  <a:pt x="89" y="61"/>
                  <a:pt x="89" y="62"/>
                </a:cubicBezTo>
                <a:cubicBezTo>
                  <a:pt x="88" y="62"/>
                  <a:pt x="87" y="63"/>
                  <a:pt x="86" y="63"/>
                </a:cubicBezTo>
                <a:close/>
                <a:moveTo>
                  <a:pt x="70" y="65"/>
                </a:moveTo>
                <a:cubicBezTo>
                  <a:pt x="70" y="65"/>
                  <a:pt x="70" y="65"/>
                  <a:pt x="70" y="65"/>
                </a:cubicBezTo>
                <a:cubicBezTo>
                  <a:pt x="70" y="66"/>
                  <a:pt x="70" y="66"/>
                  <a:pt x="71" y="66"/>
                </a:cubicBezTo>
                <a:cubicBezTo>
                  <a:pt x="71" y="66"/>
                  <a:pt x="71" y="66"/>
                  <a:pt x="71" y="67"/>
                </a:cubicBezTo>
                <a:cubicBezTo>
                  <a:pt x="71" y="67"/>
                  <a:pt x="71" y="67"/>
                  <a:pt x="71" y="68"/>
                </a:cubicBezTo>
                <a:cubicBezTo>
                  <a:pt x="71" y="68"/>
                  <a:pt x="70" y="68"/>
                  <a:pt x="70" y="68"/>
                </a:cubicBezTo>
                <a:cubicBezTo>
                  <a:pt x="71" y="69"/>
                  <a:pt x="71" y="69"/>
                  <a:pt x="71" y="69"/>
                </a:cubicBezTo>
                <a:cubicBezTo>
                  <a:pt x="71" y="70"/>
                  <a:pt x="72" y="71"/>
                  <a:pt x="73" y="71"/>
                </a:cubicBezTo>
                <a:cubicBezTo>
                  <a:pt x="73" y="71"/>
                  <a:pt x="73" y="72"/>
                  <a:pt x="73" y="72"/>
                </a:cubicBezTo>
                <a:cubicBezTo>
                  <a:pt x="74" y="72"/>
                  <a:pt x="75" y="72"/>
                  <a:pt x="75" y="73"/>
                </a:cubicBezTo>
                <a:cubicBezTo>
                  <a:pt x="75" y="73"/>
                  <a:pt x="75" y="73"/>
                  <a:pt x="75" y="73"/>
                </a:cubicBezTo>
                <a:cubicBezTo>
                  <a:pt x="75" y="73"/>
                  <a:pt x="74" y="73"/>
                  <a:pt x="74" y="73"/>
                </a:cubicBezTo>
                <a:cubicBezTo>
                  <a:pt x="74" y="73"/>
                  <a:pt x="73" y="73"/>
                  <a:pt x="73" y="73"/>
                </a:cubicBezTo>
                <a:cubicBezTo>
                  <a:pt x="73" y="74"/>
                  <a:pt x="72" y="73"/>
                  <a:pt x="72" y="73"/>
                </a:cubicBezTo>
                <a:cubicBezTo>
                  <a:pt x="71" y="72"/>
                  <a:pt x="71" y="72"/>
                  <a:pt x="70" y="71"/>
                </a:cubicBezTo>
                <a:cubicBezTo>
                  <a:pt x="70" y="71"/>
                  <a:pt x="70" y="70"/>
                  <a:pt x="69" y="69"/>
                </a:cubicBezTo>
                <a:cubicBezTo>
                  <a:pt x="69" y="69"/>
                  <a:pt x="69" y="69"/>
                  <a:pt x="69" y="69"/>
                </a:cubicBezTo>
                <a:cubicBezTo>
                  <a:pt x="68" y="71"/>
                  <a:pt x="67" y="71"/>
                  <a:pt x="66" y="72"/>
                </a:cubicBezTo>
                <a:cubicBezTo>
                  <a:pt x="65" y="73"/>
                  <a:pt x="64" y="73"/>
                  <a:pt x="63" y="73"/>
                </a:cubicBezTo>
                <a:cubicBezTo>
                  <a:pt x="63" y="73"/>
                  <a:pt x="63" y="73"/>
                  <a:pt x="63" y="73"/>
                </a:cubicBezTo>
                <a:cubicBezTo>
                  <a:pt x="63" y="73"/>
                  <a:pt x="63" y="73"/>
                  <a:pt x="63" y="73"/>
                </a:cubicBezTo>
                <a:cubicBezTo>
                  <a:pt x="63" y="73"/>
                  <a:pt x="64" y="73"/>
                  <a:pt x="64" y="73"/>
                </a:cubicBezTo>
                <a:cubicBezTo>
                  <a:pt x="64" y="73"/>
                  <a:pt x="65" y="72"/>
                  <a:pt x="65" y="72"/>
                </a:cubicBezTo>
                <a:cubicBezTo>
                  <a:pt x="66" y="72"/>
                  <a:pt x="66" y="71"/>
                  <a:pt x="66" y="71"/>
                </a:cubicBezTo>
                <a:cubicBezTo>
                  <a:pt x="67" y="70"/>
                  <a:pt x="67" y="70"/>
                  <a:pt x="67" y="70"/>
                </a:cubicBezTo>
                <a:cubicBezTo>
                  <a:pt x="68" y="69"/>
                  <a:pt x="68" y="68"/>
                  <a:pt x="68" y="68"/>
                </a:cubicBezTo>
                <a:cubicBezTo>
                  <a:pt x="68" y="67"/>
                  <a:pt x="67" y="66"/>
                  <a:pt x="67" y="66"/>
                </a:cubicBezTo>
                <a:cubicBezTo>
                  <a:pt x="68" y="66"/>
                  <a:pt x="69" y="67"/>
                  <a:pt x="69" y="67"/>
                </a:cubicBezTo>
                <a:cubicBezTo>
                  <a:pt x="69" y="67"/>
                  <a:pt x="69" y="67"/>
                  <a:pt x="69" y="67"/>
                </a:cubicBezTo>
                <a:cubicBezTo>
                  <a:pt x="69" y="67"/>
                  <a:pt x="69" y="67"/>
                  <a:pt x="69" y="67"/>
                </a:cubicBezTo>
                <a:cubicBezTo>
                  <a:pt x="69" y="67"/>
                  <a:pt x="70" y="66"/>
                  <a:pt x="70" y="65"/>
                </a:cubicBezTo>
                <a:close/>
                <a:moveTo>
                  <a:pt x="71" y="64"/>
                </a:moveTo>
                <a:cubicBezTo>
                  <a:pt x="71" y="64"/>
                  <a:pt x="71" y="63"/>
                  <a:pt x="71" y="63"/>
                </a:cubicBezTo>
                <a:cubicBezTo>
                  <a:pt x="71" y="63"/>
                  <a:pt x="71" y="63"/>
                  <a:pt x="71" y="63"/>
                </a:cubicBezTo>
                <a:cubicBezTo>
                  <a:pt x="71" y="63"/>
                  <a:pt x="71" y="63"/>
                  <a:pt x="71" y="63"/>
                </a:cubicBezTo>
                <a:cubicBezTo>
                  <a:pt x="70" y="63"/>
                  <a:pt x="70" y="64"/>
                  <a:pt x="69" y="64"/>
                </a:cubicBezTo>
                <a:cubicBezTo>
                  <a:pt x="69" y="65"/>
                  <a:pt x="68" y="65"/>
                  <a:pt x="67" y="65"/>
                </a:cubicBezTo>
                <a:cubicBezTo>
                  <a:pt x="67" y="65"/>
                  <a:pt x="66" y="66"/>
                  <a:pt x="66" y="65"/>
                </a:cubicBezTo>
                <a:cubicBezTo>
                  <a:pt x="66" y="65"/>
                  <a:pt x="66" y="65"/>
                  <a:pt x="66" y="65"/>
                </a:cubicBezTo>
                <a:cubicBezTo>
                  <a:pt x="66" y="64"/>
                  <a:pt x="67" y="64"/>
                  <a:pt x="67" y="64"/>
                </a:cubicBezTo>
                <a:cubicBezTo>
                  <a:pt x="67" y="64"/>
                  <a:pt x="68" y="63"/>
                  <a:pt x="68" y="63"/>
                </a:cubicBezTo>
                <a:cubicBezTo>
                  <a:pt x="68" y="63"/>
                  <a:pt x="68" y="63"/>
                  <a:pt x="68" y="63"/>
                </a:cubicBezTo>
                <a:cubicBezTo>
                  <a:pt x="68" y="63"/>
                  <a:pt x="68" y="63"/>
                  <a:pt x="68" y="63"/>
                </a:cubicBezTo>
                <a:cubicBezTo>
                  <a:pt x="69" y="63"/>
                  <a:pt x="69" y="63"/>
                  <a:pt x="69" y="63"/>
                </a:cubicBezTo>
                <a:cubicBezTo>
                  <a:pt x="70" y="63"/>
                  <a:pt x="71" y="62"/>
                  <a:pt x="72" y="62"/>
                </a:cubicBezTo>
                <a:cubicBezTo>
                  <a:pt x="72" y="62"/>
                  <a:pt x="72" y="63"/>
                  <a:pt x="72" y="63"/>
                </a:cubicBezTo>
                <a:cubicBezTo>
                  <a:pt x="72" y="63"/>
                  <a:pt x="72" y="63"/>
                  <a:pt x="73" y="63"/>
                </a:cubicBezTo>
                <a:cubicBezTo>
                  <a:pt x="73" y="63"/>
                  <a:pt x="72" y="64"/>
                  <a:pt x="72" y="64"/>
                </a:cubicBezTo>
                <a:cubicBezTo>
                  <a:pt x="72" y="64"/>
                  <a:pt x="71" y="64"/>
                  <a:pt x="71" y="64"/>
                </a:cubicBezTo>
                <a:close/>
                <a:moveTo>
                  <a:pt x="69" y="58"/>
                </a:moveTo>
                <a:cubicBezTo>
                  <a:pt x="69" y="58"/>
                  <a:pt x="71" y="58"/>
                  <a:pt x="71" y="59"/>
                </a:cubicBezTo>
                <a:cubicBezTo>
                  <a:pt x="71" y="59"/>
                  <a:pt x="71" y="59"/>
                  <a:pt x="71" y="60"/>
                </a:cubicBezTo>
                <a:cubicBezTo>
                  <a:pt x="71" y="60"/>
                  <a:pt x="72" y="60"/>
                  <a:pt x="73" y="59"/>
                </a:cubicBezTo>
                <a:cubicBezTo>
                  <a:pt x="73" y="59"/>
                  <a:pt x="73" y="59"/>
                  <a:pt x="73" y="59"/>
                </a:cubicBezTo>
                <a:cubicBezTo>
                  <a:pt x="73" y="59"/>
                  <a:pt x="74" y="59"/>
                  <a:pt x="74" y="59"/>
                </a:cubicBezTo>
                <a:cubicBezTo>
                  <a:pt x="74" y="59"/>
                  <a:pt x="74" y="59"/>
                  <a:pt x="74" y="60"/>
                </a:cubicBezTo>
                <a:cubicBezTo>
                  <a:pt x="74" y="60"/>
                  <a:pt x="74" y="60"/>
                  <a:pt x="74" y="60"/>
                </a:cubicBezTo>
                <a:cubicBezTo>
                  <a:pt x="73" y="60"/>
                  <a:pt x="72" y="61"/>
                  <a:pt x="70" y="61"/>
                </a:cubicBezTo>
                <a:cubicBezTo>
                  <a:pt x="70" y="61"/>
                  <a:pt x="70" y="61"/>
                  <a:pt x="70" y="61"/>
                </a:cubicBezTo>
                <a:cubicBezTo>
                  <a:pt x="71" y="61"/>
                  <a:pt x="71" y="61"/>
                  <a:pt x="71" y="61"/>
                </a:cubicBezTo>
                <a:cubicBezTo>
                  <a:pt x="71" y="61"/>
                  <a:pt x="71" y="61"/>
                  <a:pt x="71" y="61"/>
                </a:cubicBezTo>
                <a:cubicBezTo>
                  <a:pt x="71" y="61"/>
                  <a:pt x="71" y="61"/>
                  <a:pt x="71" y="61"/>
                </a:cubicBezTo>
                <a:cubicBezTo>
                  <a:pt x="71" y="61"/>
                  <a:pt x="70" y="61"/>
                  <a:pt x="70" y="61"/>
                </a:cubicBezTo>
                <a:cubicBezTo>
                  <a:pt x="69" y="61"/>
                  <a:pt x="68" y="62"/>
                  <a:pt x="67" y="62"/>
                </a:cubicBezTo>
                <a:cubicBezTo>
                  <a:pt x="67" y="61"/>
                  <a:pt x="67" y="61"/>
                  <a:pt x="67" y="61"/>
                </a:cubicBezTo>
                <a:cubicBezTo>
                  <a:pt x="68" y="61"/>
                  <a:pt x="69" y="60"/>
                  <a:pt x="69" y="59"/>
                </a:cubicBezTo>
                <a:cubicBezTo>
                  <a:pt x="69" y="59"/>
                  <a:pt x="69" y="58"/>
                  <a:pt x="69" y="58"/>
                </a:cubicBezTo>
                <a:close/>
                <a:moveTo>
                  <a:pt x="104" y="59"/>
                </a:moveTo>
                <a:cubicBezTo>
                  <a:pt x="105" y="59"/>
                  <a:pt x="105" y="59"/>
                  <a:pt x="105" y="60"/>
                </a:cubicBezTo>
                <a:cubicBezTo>
                  <a:pt x="105" y="60"/>
                  <a:pt x="105" y="60"/>
                  <a:pt x="105" y="60"/>
                </a:cubicBezTo>
                <a:cubicBezTo>
                  <a:pt x="105" y="61"/>
                  <a:pt x="105" y="61"/>
                  <a:pt x="105" y="61"/>
                </a:cubicBezTo>
                <a:cubicBezTo>
                  <a:pt x="105" y="61"/>
                  <a:pt x="104" y="62"/>
                  <a:pt x="104" y="62"/>
                </a:cubicBezTo>
                <a:cubicBezTo>
                  <a:pt x="104" y="63"/>
                  <a:pt x="104" y="63"/>
                  <a:pt x="104" y="63"/>
                </a:cubicBezTo>
                <a:cubicBezTo>
                  <a:pt x="104" y="63"/>
                  <a:pt x="104" y="63"/>
                  <a:pt x="105" y="63"/>
                </a:cubicBezTo>
                <a:cubicBezTo>
                  <a:pt x="105" y="63"/>
                  <a:pt x="105" y="63"/>
                  <a:pt x="105" y="63"/>
                </a:cubicBezTo>
                <a:cubicBezTo>
                  <a:pt x="105" y="63"/>
                  <a:pt x="106" y="63"/>
                  <a:pt x="106" y="63"/>
                </a:cubicBezTo>
                <a:cubicBezTo>
                  <a:pt x="106" y="63"/>
                  <a:pt x="106" y="63"/>
                  <a:pt x="106" y="63"/>
                </a:cubicBezTo>
                <a:cubicBezTo>
                  <a:pt x="106" y="64"/>
                  <a:pt x="106" y="64"/>
                  <a:pt x="106" y="64"/>
                </a:cubicBezTo>
                <a:cubicBezTo>
                  <a:pt x="106" y="64"/>
                  <a:pt x="105" y="64"/>
                  <a:pt x="105" y="65"/>
                </a:cubicBezTo>
                <a:cubicBezTo>
                  <a:pt x="104" y="65"/>
                  <a:pt x="104" y="65"/>
                  <a:pt x="103" y="65"/>
                </a:cubicBezTo>
                <a:cubicBezTo>
                  <a:pt x="103" y="65"/>
                  <a:pt x="102" y="67"/>
                  <a:pt x="102" y="68"/>
                </a:cubicBezTo>
                <a:cubicBezTo>
                  <a:pt x="103" y="68"/>
                  <a:pt x="103" y="69"/>
                  <a:pt x="105" y="70"/>
                </a:cubicBezTo>
                <a:cubicBezTo>
                  <a:pt x="105" y="70"/>
                  <a:pt x="106" y="70"/>
                  <a:pt x="107" y="70"/>
                </a:cubicBezTo>
                <a:cubicBezTo>
                  <a:pt x="107" y="70"/>
                  <a:pt x="107" y="70"/>
                  <a:pt x="107" y="70"/>
                </a:cubicBezTo>
                <a:cubicBezTo>
                  <a:pt x="107" y="70"/>
                  <a:pt x="107" y="70"/>
                  <a:pt x="107" y="70"/>
                </a:cubicBezTo>
                <a:cubicBezTo>
                  <a:pt x="107" y="71"/>
                  <a:pt x="106" y="71"/>
                  <a:pt x="106" y="71"/>
                </a:cubicBezTo>
                <a:cubicBezTo>
                  <a:pt x="106" y="71"/>
                  <a:pt x="106" y="71"/>
                  <a:pt x="106" y="72"/>
                </a:cubicBezTo>
                <a:cubicBezTo>
                  <a:pt x="105" y="72"/>
                  <a:pt x="105" y="72"/>
                  <a:pt x="104" y="72"/>
                </a:cubicBezTo>
                <a:cubicBezTo>
                  <a:pt x="104" y="71"/>
                  <a:pt x="103" y="71"/>
                  <a:pt x="103" y="71"/>
                </a:cubicBezTo>
                <a:cubicBezTo>
                  <a:pt x="103" y="71"/>
                  <a:pt x="103" y="70"/>
                  <a:pt x="102" y="69"/>
                </a:cubicBezTo>
                <a:cubicBezTo>
                  <a:pt x="102" y="69"/>
                  <a:pt x="102" y="69"/>
                  <a:pt x="102" y="69"/>
                </a:cubicBezTo>
                <a:cubicBezTo>
                  <a:pt x="102" y="68"/>
                  <a:pt x="101" y="68"/>
                  <a:pt x="101" y="68"/>
                </a:cubicBezTo>
                <a:cubicBezTo>
                  <a:pt x="101" y="69"/>
                  <a:pt x="100" y="69"/>
                  <a:pt x="100" y="70"/>
                </a:cubicBezTo>
                <a:cubicBezTo>
                  <a:pt x="99" y="71"/>
                  <a:pt x="98" y="71"/>
                  <a:pt x="96" y="72"/>
                </a:cubicBezTo>
                <a:cubicBezTo>
                  <a:pt x="96" y="73"/>
                  <a:pt x="95" y="73"/>
                  <a:pt x="93" y="73"/>
                </a:cubicBezTo>
                <a:cubicBezTo>
                  <a:pt x="93" y="73"/>
                  <a:pt x="93" y="73"/>
                  <a:pt x="93" y="73"/>
                </a:cubicBezTo>
                <a:cubicBezTo>
                  <a:pt x="94" y="73"/>
                  <a:pt x="95" y="72"/>
                  <a:pt x="95" y="72"/>
                </a:cubicBezTo>
                <a:cubicBezTo>
                  <a:pt x="97" y="71"/>
                  <a:pt x="98" y="69"/>
                  <a:pt x="99" y="68"/>
                </a:cubicBezTo>
                <a:cubicBezTo>
                  <a:pt x="100" y="67"/>
                  <a:pt x="100" y="66"/>
                  <a:pt x="100" y="65"/>
                </a:cubicBezTo>
                <a:cubicBezTo>
                  <a:pt x="100" y="65"/>
                  <a:pt x="99" y="64"/>
                  <a:pt x="99" y="64"/>
                </a:cubicBezTo>
                <a:cubicBezTo>
                  <a:pt x="99" y="64"/>
                  <a:pt x="99" y="64"/>
                  <a:pt x="99" y="64"/>
                </a:cubicBezTo>
                <a:cubicBezTo>
                  <a:pt x="100" y="64"/>
                  <a:pt x="101" y="64"/>
                  <a:pt x="102" y="64"/>
                </a:cubicBezTo>
                <a:cubicBezTo>
                  <a:pt x="102" y="63"/>
                  <a:pt x="102" y="63"/>
                  <a:pt x="103" y="62"/>
                </a:cubicBezTo>
                <a:cubicBezTo>
                  <a:pt x="103" y="62"/>
                  <a:pt x="103" y="61"/>
                  <a:pt x="103" y="61"/>
                </a:cubicBezTo>
                <a:cubicBezTo>
                  <a:pt x="103" y="60"/>
                  <a:pt x="104" y="60"/>
                  <a:pt x="104" y="59"/>
                </a:cubicBezTo>
                <a:close/>
                <a:moveTo>
                  <a:pt x="102" y="94"/>
                </a:moveTo>
                <a:cubicBezTo>
                  <a:pt x="102" y="89"/>
                  <a:pt x="102" y="89"/>
                  <a:pt x="102" y="89"/>
                </a:cubicBezTo>
                <a:cubicBezTo>
                  <a:pt x="127" y="89"/>
                  <a:pt x="127" y="89"/>
                  <a:pt x="127" y="89"/>
                </a:cubicBezTo>
                <a:cubicBezTo>
                  <a:pt x="127" y="94"/>
                  <a:pt x="127" y="94"/>
                  <a:pt x="127" y="94"/>
                </a:cubicBezTo>
                <a:cubicBezTo>
                  <a:pt x="102" y="94"/>
                  <a:pt x="102" y="94"/>
                  <a:pt x="102" y="94"/>
                </a:cubicBezTo>
                <a:close/>
                <a:moveTo>
                  <a:pt x="112" y="102"/>
                </a:moveTo>
                <a:cubicBezTo>
                  <a:pt x="112" y="98"/>
                  <a:pt x="112" y="98"/>
                  <a:pt x="112" y="98"/>
                </a:cubicBezTo>
                <a:cubicBezTo>
                  <a:pt x="118" y="98"/>
                  <a:pt x="118" y="98"/>
                  <a:pt x="118" y="98"/>
                </a:cubicBezTo>
                <a:cubicBezTo>
                  <a:pt x="118" y="102"/>
                  <a:pt x="118" y="102"/>
                  <a:pt x="118" y="102"/>
                </a:cubicBezTo>
                <a:cubicBezTo>
                  <a:pt x="112" y="102"/>
                  <a:pt x="112" y="102"/>
                  <a:pt x="112" y="102"/>
                </a:cubicBezTo>
                <a:close/>
                <a:moveTo>
                  <a:pt x="113" y="20"/>
                </a:moveTo>
                <a:cubicBezTo>
                  <a:pt x="113" y="20"/>
                  <a:pt x="113" y="20"/>
                  <a:pt x="113" y="20"/>
                </a:cubicBezTo>
                <a:cubicBezTo>
                  <a:pt x="112" y="20"/>
                  <a:pt x="112" y="20"/>
                  <a:pt x="112" y="20"/>
                </a:cubicBezTo>
                <a:cubicBezTo>
                  <a:pt x="112" y="20"/>
                  <a:pt x="112" y="20"/>
                  <a:pt x="112" y="21"/>
                </a:cubicBezTo>
                <a:cubicBezTo>
                  <a:pt x="112" y="21"/>
                  <a:pt x="112" y="21"/>
                  <a:pt x="112" y="21"/>
                </a:cubicBezTo>
                <a:cubicBezTo>
                  <a:pt x="112" y="21"/>
                  <a:pt x="111" y="21"/>
                  <a:pt x="111" y="21"/>
                </a:cubicBezTo>
                <a:cubicBezTo>
                  <a:pt x="111" y="21"/>
                  <a:pt x="111" y="21"/>
                  <a:pt x="111" y="21"/>
                </a:cubicBezTo>
                <a:cubicBezTo>
                  <a:pt x="111" y="21"/>
                  <a:pt x="111" y="21"/>
                  <a:pt x="111" y="21"/>
                </a:cubicBezTo>
                <a:cubicBezTo>
                  <a:pt x="111" y="19"/>
                  <a:pt x="111" y="19"/>
                  <a:pt x="111" y="19"/>
                </a:cubicBezTo>
                <a:cubicBezTo>
                  <a:pt x="111" y="19"/>
                  <a:pt x="111" y="19"/>
                  <a:pt x="111"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lose/>
                <a:moveTo>
                  <a:pt x="113" y="18"/>
                </a:move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2" y="19"/>
                  <a:pt x="112" y="19"/>
                </a:cubicBezTo>
                <a:cubicBezTo>
                  <a:pt x="112" y="18"/>
                  <a:pt x="112" y="18"/>
                  <a:pt x="111" y="18"/>
                </a:cubicBezTo>
                <a:cubicBezTo>
                  <a:pt x="111" y="18"/>
                  <a:pt x="111" y="18"/>
                  <a:pt x="111" y="18"/>
                </a:cubicBezTo>
                <a:cubicBezTo>
                  <a:pt x="111" y="18"/>
                  <a:pt x="111" y="18"/>
                  <a:pt x="111" y="18"/>
                </a:cubicBezTo>
                <a:cubicBezTo>
                  <a:pt x="111" y="18"/>
                  <a:pt x="111" y="18"/>
                  <a:pt x="111" y="18"/>
                </a:cubicBezTo>
                <a:cubicBezTo>
                  <a:pt x="111" y="18"/>
                  <a:pt x="111" y="18"/>
                  <a:pt x="111" y="18"/>
                </a:cubicBezTo>
                <a:cubicBezTo>
                  <a:pt x="111" y="17"/>
                  <a:pt x="111" y="17"/>
                  <a:pt x="111" y="17"/>
                </a:cubicBezTo>
                <a:cubicBezTo>
                  <a:pt x="111" y="17"/>
                  <a:pt x="112" y="17"/>
                  <a:pt x="112"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lose/>
                <a:moveTo>
                  <a:pt x="92" y="11"/>
                </a:moveTo>
                <a:cubicBezTo>
                  <a:pt x="92" y="11"/>
                  <a:pt x="92" y="11"/>
                  <a:pt x="92" y="11"/>
                </a:cubicBezTo>
                <a:cubicBezTo>
                  <a:pt x="92" y="11"/>
                  <a:pt x="92" y="11"/>
                  <a:pt x="92" y="11"/>
                </a:cubicBezTo>
                <a:cubicBezTo>
                  <a:pt x="92" y="11"/>
                  <a:pt x="92" y="11"/>
                  <a:pt x="92" y="11"/>
                </a:cubicBezTo>
                <a:close/>
                <a:moveTo>
                  <a:pt x="88" y="29"/>
                </a:move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7" y="29"/>
                  <a:pt x="87" y="29"/>
                  <a:pt x="87" y="29"/>
                </a:cubicBezTo>
                <a:cubicBezTo>
                  <a:pt x="87" y="28"/>
                  <a:pt x="87" y="28"/>
                  <a:pt x="87" y="28"/>
                </a:cubicBezTo>
                <a:cubicBezTo>
                  <a:pt x="87" y="28"/>
                  <a:pt x="87" y="28"/>
                  <a:pt x="87" y="28"/>
                </a:cubicBezTo>
                <a:cubicBezTo>
                  <a:pt x="87" y="28"/>
                  <a:pt x="87" y="27"/>
                  <a:pt x="87" y="27"/>
                </a:cubicBezTo>
                <a:cubicBezTo>
                  <a:pt x="87" y="27"/>
                  <a:pt x="87" y="26"/>
                  <a:pt x="87" y="26"/>
                </a:cubicBezTo>
                <a:cubicBezTo>
                  <a:pt x="87" y="26"/>
                  <a:pt x="87" y="26"/>
                  <a:pt x="87" y="26"/>
                </a:cubicBezTo>
                <a:cubicBezTo>
                  <a:pt x="87" y="26"/>
                  <a:pt x="87" y="25"/>
                  <a:pt x="86" y="25"/>
                </a:cubicBezTo>
                <a:cubicBezTo>
                  <a:pt x="86" y="25"/>
                  <a:pt x="86" y="24"/>
                  <a:pt x="86" y="24"/>
                </a:cubicBezTo>
                <a:cubicBezTo>
                  <a:pt x="86" y="23"/>
                  <a:pt x="86" y="23"/>
                  <a:pt x="86" y="22"/>
                </a:cubicBezTo>
                <a:cubicBezTo>
                  <a:pt x="86" y="22"/>
                  <a:pt x="86" y="21"/>
                  <a:pt x="86" y="21"/>
                </a:cubicBezTo>
                <a:cubicBezTo>
                  <a:pt x="86" y="18"/>
                  <a:pt x="86" y="18"/>
                  <a:pt x="86" y="18"/>
                </a:cubicBezTo>
                <a:cubicBezTo>
                  <a:pt x="86" y="17"/>
                  <a:pt x="86" y="17"/>
                  <a:pt x="86" y="17"/>
                </a:cubicBezTo>
                <a:cubicBezTo>
                  <a:pt x="86" y="16"/>
                  <a:pt x="86" y="16"/>
                  <a:pt x="86" y="16"/>
                </a:cubicBezTo>
                <a:cubicBezTo>
                  <a:pt x="86" y="16"/>
                  <a:pt x="86" y="16"/>
                  <a:pt x="86" y="16"/>
                </a:cubicBezTo>
                <a:cubicBezTo>
                  <a:pt x="86" y="15"/>
                  <a:pt x="86" y="15"/>
                  <a:pt x="86" y="15"/>
                </a:cubicBezTo>
                <a:cubicBezTo>
                  <a:pt x="86" y="14"/>
                  <a:pt x="86" y="14"/>
                  <a:pt x="86" y="14"/>
                </a:cubicBezTo>
                <a:cubicBezTo>
                  <a:pt x="86" y="14"/>
                  <a:pt x="86" y="14"/>
                  <a:pt x="86" y="14"/>
                </a:cubicBezTo>
                <a:cubicBezTo>
                  <a:pt x="86" y="14"/>
                  <a:pt x="86" y="14"/>
                  <a:pt x="86" y="14"/>
                </a:cubicBezTo>
                <a:cubicBezTo>
                  <a:pt x="86" y="14"/>
                  <a:pt x="86" y="14"/>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8" y="13"/>
                </a:cubicBezTo>
                <a:cubicBezTo>
                  <a:pt x="88" y="13"/>
                  <a:pt x="88" y="13"/>
                  <a:pt x="88" y="13"/>
                </a:cubicBezTo>
                <a:cubicBezTo>
                  <a:pt x="88" y="13"/>
                  <a:pt x="88" y="13"/>
                  <a:pt x="88" y="13"/>
                </a:cubicBezTo>
                <a:cubicBezTo>
                  <a:pt x="88" y="13"/>
                  <a:pt x="88" y="13"/>
                  <a:pt x="88" y="13"/>
                </a:cubicBezTo>
                <a:cubicBezTo>
                  <a:pt x="88" y="13"/>
                  <a:pt x="88" y="13"/>
                  <a:pt x="88" y="13"/>
                </a:cubicBezTo>
                <a:cubicBezTo>
                  <a:pt x="88" y="13"/>
                  <a:pt x="88" y="14"/>
                  <a:pt x="88" y="14"/>
                </a:cubicBezTo>
                <a:cubicBezTo>
                  <a:pt x="88" y="14"/>
                  <a:pt x="88" y="14"/>
                  <a:pt x="88" y="14"/>
                </a:cubicBezTo>
                <a:cubicBezTo>
                  <a:pt x="88" y="14"/>
                  <a:pt x="88" y="14"/>
                  <a:pt x="88" y="14"/>
                </a:cubicBezTo>
                <a:cubicBezTo>
                  <a:pt x="88" y="14"/>
                  <a:pt x="88" y="14"/>
                  <a:pt x="88" y="14"/>
                </a:cubicBezTo>
                <a:cubicBezTo>
                  <a:pt x="88" y="14"/>
                  <a:pt x="88" y="15"/>
                  <a:pt x="88" y="16"/>
                </a:cubicBezTo>
                <a:cubicBezTo>
                  <a:pt x="88" y="16"/>
                  <a:pt x="88" y="17"/>
                  <a:pt x="88" y="18"/>
                </a:cubicBezTo>
                <a:cubicBezTo>
                  <a:pt x="88" y="18"/>
                  <a:pt x="88" y="18"/>
                  <a:pt x="88" y="18"/>
                </a:cubicBezTo>
                <a:cubicBezTo>
                  <a:pt x="88" y="20"/>
                  <a:pt x="88" y="20"/>
                  <a:pt x="88" y="20"/>
                </a:cubicBezTo>
                <a:cubicBezTo>
                  <a:pt x="88" y="21"/>
                  <a:pt x="88" y="21"/>
                  <a:pt x="88" y="22"/>
                </a:cubicBezTo>
                <a:cubicBezTo>
                  <a:pt x="88" y="23"/>
                  <a:pt x="88" y="23"/>
                  <a:pt x="88" y="24"/>
                </a:cubicBezTo>
                <a:cubicBezTo>
                  <a:pt x="88" y="24"/>
                  <a:pt x="88" y="24"/>
                  <a:pt x="88" y="25"/>
                </a:cubicBezTo>
                <a:cubicBezTo>
                  <a:pt x="88" y="25"/>
                  <a:pt x="88" y="26"/>
                  <a:pt x="88" y="26"/>
                </a:cubicBezTo>
                <a:cubicBezTo>
                  <a:pt x="88" y="26"/>
                  <a:pt x="88" y="26"/>
                  <a:pt x="88" y="26"/>
                </a:cubicBezTo>
                <a:cubicBezTo>
                  <a:pt x="88" y="26"/>
                  <a:pt x="88" y="27"/>
                  <a:pt x="88" y="27"/>
                </a:cubicBezTo>
                <a:cubicBezTo>
                  <a:pt x="88" y="27"/>
                  <a:pt x="88" y="27"/>
                  <a:pt x="88" y="27"/>
                </a:cubicBezTo>
                <a:cubicBezTo>
                  <a:pt x="88" y="27"/>
                  <a:pt x="88" y="27"/>
                  <a:pt x="88" y="27"/>
                </a:cubicBezTo>
                <a:cubicBezTo>
                  <a:pt x="89" y="28"/>
                  <a:pt x="89" y="28"/>
                  <a:pt x="89" y="28"/>
                </a:cubicBezTo>
                <a:cubicBezTo>
                  <a:pt x="89" y="27"/>
                  <a:pt x="90" y="27"/>
                  <a:pt x="90" y="26"/>
                </a:cubicBezTo>
                <a:cubicBezTo>
                  <a:pt x="90" y="26"/>
                  <a:pt x="90" y="25"/>
                  <a:pt x="91" y="25"/>
                </a:cubicBezTo>
                <a:cubicBezTo>
                  <a:pt x="91" y="25"/>
                  <a:pt x="91" y="25"/>
                  <a:pt x="91" y="25"/>
                </a:cubicBezTo>
                <a:cubicBezTo>
                  <a:pt x="91" y="25"/>
                  <a:pt x="91" y="25"/>
                  <a:pt x="91" y="25"/>
                </a:cubicBezTo>
                <a:cubicBezTo>
                  <a:pt x="91" y="25"/>
                  <a:pt x="91" y="25"/>
                  <a:pt x="91" y="25"/>
                </a:cubicBezTo>
                <a:cubicBezTo>
                  <a:pt x="91" y="24"/>
                  <a:pt x="91" y="24"/>
                  <a:pt x="91" y="24"/>
                </a:cubicBezTo>
                <a:cubicBezTo>
                  <a:pt x="91" y="24"/>
                  <a:pt x="91" y="24"/>
                  <a:pt x="91" y="24"/>
                </a:cubicBezTo>
                <a:cubicBezTo>
                  <a:pt x="91" y="24"/>
                  <a:pt x="91" y="24"/>
                  <a:pt x="91" y="24"/>
                </a:cubicBezTo>
                <a:cubicBezTo>
                  <a:pt x="91" y="23"/>
                  <a:pt x="91" y="23"/>
                  <a:pt x="91" y="23"/>
                </a:cubicBezTo>
                <a:cubicBezTo>
                  <a:pt x="91" y="23"/>
                  <a:pt x="91" y="23"/>
                  <a:pt x="91" y="23"/>
                </a:cubicBezTo>
                <a:cubicBezTo>
                  <a:pt x="91" y="23"/>
                  <a:pt x="91" y="23"/>
                  <a:pt x="91" y="23"/>
                </a:cubicBezTo>
                <a:cubicBezTo>
                  <a:pt x="91" y="22"/>
                  <a:pt x="91" y="22"/>
                  <a:pt x="91" y="22"/>
                </a:cubicBezTo>
                <a:cubicBezTo>
                  <a:pt x="91" y="19"/>
                  <a:pt x="91" y="19"/>
                  <a:pt x="91" y="19"/>
                </a:cubicBezTo>
                <a:cubicBezTo>
                  <a:pt x="91" y="19"/>
                  <a:pt x="91" y="19"/>
                  <a:pt x="91" y="19"/>
                </a:cubicBezTo>
                <a:cubicBezTo>
                  <a:pt x="91" y="15"/>
                  <a:pt x="91" y="15"/>
                  <a:pt x="91" y="15"/>
                </a:cubicBezTo>
                <a:cubicBezTo>
                  <a:pt x="91" y="14"/>
                  <a:pt x="91" y="14"/>
                  <a:pt x="91" y="13"/>
                </a:cubicBezTo>
                <a:cubicBezTo>
                  <a:pt x="91" y="13"/>
                  <a:pt x="91" y="13"/>
                  <a:pt x="91" y="12"/>
                </a:cubicBezTo>
                <a:cubicBezTo>
                  <a:pt x="91" y="12"/>
                  <a:pt x="91"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3" y="11"/>
                  <a:pt x="93" y="11"/>
                </a:cubicBezTo>
                <a:cubicBezTo>
                  <a:pt x="93" y="11"/>
                  <a:pt x="93" y="11"/>
                  <a:pt x="93" y="11"/>
                </a:cubicBezTo>
                <a:cubicBezTo>
                  <a:pt x="93" y="11"/>
                  <a:pt x="93" y="12"/>
                  <a:pt x="93" y="12"/>
                </a:cubicBezTo>
                <a:cubicBezTo>
                  <a:pt x="93" y="12"/>
                  <a:pt x="93" y="12"/>
                  <a:pt x="93" y="12"/>
                </a:cubicBezTo>
                <a:cubicBezTo>
                  <a:pt x="93" y="12"/>
                  <a:pt x="93" y="13"/>
                  <a:pt x="93" y="13"/>
                </a:cubicBezTo>
                <a:cubicBezTo>
                  <a:pt x="93" y="13"/>
                  <a:pt x="93" y="13"/>
                  <a:pt x="93" y="14"/>
                </a:cubicBezTo>
                <a:cubicBezTo>
                  <a:pt x="93" y="14"/>
                  <a:pt x="93" y="14"/>
                  <a:pt x="93" y="14"/>
                </a:cubicBezTo>
                <a:cubicBezTo>
                  <a:pt x="93" y="18"/>
                  <a:pt x="93" y="18"/>
                  <a:pt x="93" y="18"/>
                </a:cubicBezTo>
                <a:cubicBezTo>
                  <a:pt x="93" y="20"/>
                  <a:pt x="93" y="20"/>
                  <a:pt x="93" y="20"/>
                </a:cubicBezTo>
                <a:cubicBezTo>
                  <a:pt x="93" y="20"/>
                  <a:pt x="93" y="20"/>
                  <a:pt x="93" y="20"/>
                </a:cubicBezTo>
                <a:cubicBezTo>
                  <a:pt x="93" y="21"/>
                  <a:pt x="93" y="21"/>
                  <a:pt x="93" y="21"/>
                </a:cubicBezTo>
                <a:cubicBezTo>
                  <a:pt x="93" y="22"/>
                  <a:pt x="93" y="22"/>
                  <a:pt x="93" y="22"/>
                </a:cubicBezTo>
                <a:cubicBezTo>
                  <a:pt x="93" y="23"/>
                  <a:pt x="93" y="23"/>
                  <a:pt x="93" y="23"/>
                </a:cubicBezTo>
                <a:cubicBezTo>
                  <a:pt x="93" y="23"/>
                  <a:pt x="93" y="23"/>
                  <a:pt x="93" y="23"/>
                </a:cubicBezTo>
                <a:cubicBezTo>
                  <a:pt x="93" y="23"/>
                  <a:pt x="93" y="23"/>
                  <a:pt x="93" y="23"/>
                </a:cubicBezTo>
                <a:cubicBezTo>
                  <a:pt x="93" y="23"/>
                  <a:pt x="93" y="24"/>
                  <a:pt x="93" y="24"/>
                </a:cubicBezTo>
                <a:cubicBezTo>
                  <a:pt x="93" y="24"/>
                  <a:pt x="93" y="24"/>
                  <a:pt x="93" y="24"/>
                </a:cubicBezTo>
                <a:cubicBezTo>
                  <a:pt x="93" y="24"/>
                  <a:pt x="93" y="24"/>
                  <a:pt x="93" y="24"/>
                </a:cubicBezTo>
                <a:cubicBezTo>
                  <a:pt x="93" y="25"/>
                  <a:pt x="94" y="25"/>
                  <a:pt x="94" y="25"/>
                </a:cubicBezTo>
                <a:cubicBezTo>
                  <a:pt x="94" y="25"/>
                  <a:pt x="94" y="26"/>
                  <a:pt x="94" y="26"/>
                </a:cubicBezTo>
                <a:cubicBezTo>
                  <a:pt x="94" y="26"/>
                  <a:pt x="94" y="26"/>
                  <a:pt x="95" y="27"/>
                </a:cubicBezTo>
                <a:cubicBezTo>
                  <a:pt x="95" y="27"/>
                  <a:pt x="95" y="27"/>
                  <a:pt x="95" y="28"/>
                </a:cubicBezTo>
                <a:cubicBezTo>
                  <a:pt x="96" y="28"/>
                  <a:pt x="96" y="28"/>
                  <a:pt x="96" y="28"/>
                </a:cubicBezTo>
                <a:cubicBezTo>
                  <a:pt x="96" y="28"/>
                  <a:pt x="96" y="28"/>
                  <a:pt x="96" y="28"/>
                </a:cubicBezTo>
                <a:cubicBezTo>
                  <a:pt x="96" y="28"/>
                  <a:pt x="96" y="28"/>
                  <a:pt x="96" y="27"/>
                </a:cubicBezTo>
                <a:cubicBezTo>
                  <a:pt x="96" y="27"/>
                  <a:pt x="96" y="27"/>
                  <a:pt x="96" y="27"/>
                </a:cubicBezTo>
                <a:cubicBezTo>
                  <a:pt x="96" y="27"/>
                  <a:pt x="96" y="27"/>
                  <a:pt x="96" y="26"/>
                </a:cubicBezTo>
                <a:cubicBezTo>
                  <a:pt x="96" y="26"/>
                  <a:pt x="96" y="26"/>
                  <a:pt x="96" y="26"/>
                </a:cubicBezTo>
                <a:cubicBezTo>
                  <a:pt x="96" y="26"/>
                  <a:pt x="96" y="26"/>
                  <a:pt x="96" y="25"/>
                </a:cubicBezTo>
                <a:cubicBezTo>
                  <a:pt x="96" y="25"/>
                  <a:pt x="96" y="24"/>
                  <a:pt x="96" y="24"/>
                </a:cubicBezTo>
                <a:cubicBezTo>
                  <a:pt x="96" y="24"/>
                  <a:pt x="96" y="24"/>
                  <a:pt x="96" y="24"/>
                </a:cubicBezTo>
                <a:cubicBezTo>
                  <a:pt x="96" y="18"/>
                  <a:pt x="96" y="18"/>
                  <a:pt x="96" y="18"/>
                </a:cubicBezTo>
                <a:cubicBezTo>
                  <a:pt x="96" y="17"/>
                  <a:pt x="96" y="17"/>
                  <a:pt x="96" y="17"/>
                </a:cubicBezTo>
                <a:cubicBezTo>
                  <a:pt x="96" y="17"/>
                  <a:pt x="96" y="16"/>
                  <a:pt x="96" y="16"/>
                </a:cubicBezTo>
                <a:cubicBezTo>
                  <a:pt x="96" y="14"/>
                  <a:pt x="96" y="14"/>
                  <a:pt x="96" y="14"/>
                </a:cubicBezTo>
                <a:cubicBezTo>
                  <a:pt x="96" y="14"/>
                  <a:pt x="96" y="14"/>
                  <a:pt x="96" y="14"/>
                </a:cubicBezTo>
                <a:cubicBezTo>
                  <a:pt x="96" y="14"/>
                  <a:pt x="96" y="14"/>
                  <a:pt x="96" y="14"/>
                </a:cubicBezTo>
                <a:cubicBezTo>
                  <a:pt x="96" y="14"/>
                  <a:pt x="96" y="13"/>
                  <a:pt x="96" y="13"/>
                </a:cubicBezTo>
                <a:cubicBezTo>
                  <a:pt x="96" y="13"/>
                  <a:pt x="96" y="13"/>
                  <a:pt x="96" y="13"/>
                </a:cubicBezTo>
                <a:cubicBezTo>
                  <a:pt x="96" y="13"/>
                  <a:pt x="96" y="13"/>
                  <a:pt x="96" y="12"/>
                </a:cubicBezTo>
                <a:cubicBezTo>
                  <a:pt x="96" y="12"/>
                  <a:pt x="96" y="12"/>
                  <a:pt x="96" y="12"/>
                </a:cubicBezTo>
                <a:cubicBezTo>
                  <a:pt x="96"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3"/>
                  <a:pt x="97" y="13"/>
                  <a:pt x="97" y="13"/>
                </a:cubicBezTo>
                <a:cubicBezTo>
                  <a:pt x="97" y="13"/>
                  <a:pt x="97" y="13"/>
                  <a:pt x="97" y="13"/>
                </a:cubicBezTo>
                <a:cubicBezTo>
                  <a:pt x="97" y="14"/>
                  <a:pt x="97" y="14"/>
                  <a:pt x="97" y="14"/>
                </a:cubicBezTo>
                <a:cubicBezTo>
                  <a:pt x="97" y="14"/>
                  <a:pt x="97" y="14"/>
                  <a:pt x="97" y="14"/>
                </a:cubicBezTo>
                <a:cubicBezTo>
                  <a:pt x="97" y="15"/>
                  <a:pt x="97" y="15"/>
                  <a:pt x="97" y="15"/>
                </a:cubicBezTo>
                <a:cubicBezTo>
                  <a:pt x="97" y="17"/>
                  <a:pt x="97" y="17"/>
                  <a:pt x="97" y="17"/>
                </a:cubicBezTo>
                <a:cubicBezTo>
                  <a:pt x="97" y="17"/>
                  <a:pt x="97" y="17"/>
                  <a:pt x="97" y="17"/>
                </a:cubicBezTo>
                <a:cubicBezTo>
                  <a:pt x="97" y="17"/>
                  <a:pt x="97" y="17"/>
                  <a:pt x="97" y="18"/>
                </a:cubicBezTo>
                <a:cubicBezTo>
                  <a:pt x="97" y="19"/>
                  <a:pt x="97" y="19"/>
                  <a:pt x="97" y="20"/>
                </a:cubicBezTo>
                <a:cubicBezTo>
                  <a:pt x="97" y="20"/>
                  <a:pt x="97" y="20"/>
                  <a:pt x="97" y="20"/>
                </a:cubicBezTo>
                <a:cubicBezTo>
                  <a:pt x="97" y="20"/>
                  <a:pt x="97" y="20"/>
                  <a:pt x="97" y="20"/>
                </a:cubicBezTo>
                <a:cubicBezTo>
                  <a:pt x="97" y="20"/>
                  <a:pt x="97" y="20"/>
                  <a:pt x="97" y="20"/>
                </a:cubicBezTo>
                <a:cubicBezTo>
                  <a:pt x="97" y="22"/>
                  <a:pt x="97" y="23"/>
                  <a:pt x="97" y="24"/>
                </a:cubicBezTo>
                <a:cubicBezTo>
                  <a:pt x="97" y="24"/>
                  <a:pt x="97" y="24"/>
                  <a:pt x="97" y="24"/>
                </a:cubicBezTo>
                <a:cubicBezTo>
                  <a:pt x="97" y="24"/>
                  <a:pt x="97" y="24"/>
                  <a:pt x="97" y="25"/>
                </a:cubicBezTo>
                <a:cubicBezTo>
                  <a:pt x="97" y="25"/>
                  <a:pt x="97" y="26"/>
                  <a:pt x="97" y="26"/>
                </a:cubicBezTo>
                <a:cubicBezTo>
                  <a:pt x="97" y="27"/>
                  <a:pt x="97" y="27"/>
                  <a:pt x="97" y="28"/>
                </a:cubicBezTo>
                <a:cubicBezTo>
                  <a:pt x="97" y="28"/>
                  <a:pt x="96" y="29"/>
                  <a:pt x="96" y="29"/>
                </a:cubicBezTo>
                <a:cubicBezTo>
                  <a:pt x="96" y="29"/>
                  <a:pt x="95" y="30"/>
                  <a:pt x="94" y="30"/>
                </a:cubicBezTo>
                <a:cubicBezTo>
                  <a:pt x="94" y="30"/>
                  <a:pt x="93" y="30"/>
                  <a:pt x="92" y="30"/>
                </a:cubicBezTo>
                <a:cubicBezTo>
                  <a:pt x="91" y="30"/>
                  <a:pt x="91" y="30"/>
                  <a:pt x="90" y="30"/>
                </a:cubicBezTo>
                <a:cubicBezTo>
                  <a:pt x="90" y="30"/>
                  <a:pt x="90" y="30"/>
                  <a:pt x="90" y="30"/>
                </a:cubicBezTo>
                <a:cubicBezTo>
                  <a:pt x="90" y="30"/>
                  <a:pt x="89" y="30"/>
                  <a:pt x="89" y="30"/>
                </a:cubicBezTo>
                <a:cubicBezTo>
                  <a:pt x="89" y="30"/>
                  <a:pt x="89" y="30"/>
                  <a:pt x="89" y="30"/>
                </a:cubicBezTo>
                <a:cubicBezTo>
                  <a:pt x="89" y="30"/>
                  <a:pt x="89" y="30"/>
                  <a:pt x="88" y="30"/>
                </a:cubicBezTo>
                <a:cubicBezTo>
                  <a:pt x="88" y="30"/>
                  <a:pt x="88" y="30"/>
                  <a:pt x="88" y="30"/>
                </a:cubicBezTo>
                <a:cubicBezTo>
                  <a:pt x="88" y="29"/>
                  <a:pt x="88" y="29"/>
                  <a:pt x="88" y="29"/>
                </a:cubicBezTo>
                <a:close/>
                <a:moveTo>
                  <a:pt x="94" y="28"/>
                </a:moveTo>
                <a:cubicBezTo>
                  <a:pt x="94" y="29"/>
                  <a:pt x="94" y="29"/>
                  <a:pt x="93" y="29"/>
                </a:cubicBezTo>
                <a:cubicBezTo>
                  <a:pt x="93" y="29"/>
                  <a:pt x="92" y="29"/>
                  <a:pt x="92" y="29"/>
                </a:cubicBezTo>
                <a:cubicBezTo>
                  <a:pt x="91" y="29"/>
                  <a:pt x="91" y="29"/>
                  <a:pt x="91" y="29"/>
                </a:cubicBezTo>
                <a:cubicBezTo>
                  <a:pt x="90" y="29"/>
                  <a:pt x="90" y="29"/>
                  <a:pt x="90" y="29"/>
                </a:cubicBezTo>
                <a:cubicBezTo>
                  <a:pt x="90" y="29"/>
                  <a:pt x="90" y="29"/>
                  <a:pt x="90" y="29"/>
                </a:cubicBezTo>
                <a:cubicBezTo>
                  <a:pt x="90" y="29"/>
                  <a:pt x="90" y="29"/>
                  <a:pt x="90" y="29"/>
                </a:cubicBezTo>
                <a:cubicBezTo>
                  <a:pt x="90" y="29"/>
                  <a:pt x="90" y="29"/>
                  <a:pt x="90" y="29"/>
                </a:cubicBezTo>
                <a:cubicBezTo>
                  <a:pt x="90" y="28"/>
                  <a:pt x="90" y="27"/>
                  <a:pt x="91" y="27"/>
                </a:cubicBezTo>
                <a:cubicBezTo>
                  <a:pt x="91" y="27"/>
                  <a:pt x="91" y="26"/>
                  <a:pt x="91" y="26"/>
                </a:cubicBezTo>
                <a:cubicBezTo>
                  <a:pt x="92" y="26"/>
                  <a:pt x="92" y="26"/>
                  <a:pt x="92" y="25"/>
                </a:cubicBezTo>
                <a:cubicBezTo>
                  <a:pt x="92" y="25"/>
                  <a:pt x="92" y="25"/>
                  <a:pt x="92" y="25"/>
                </a:cubicBezTo>
                <a:cubicBezTo>
                  <a:pt x="92" y="25"/>
                  <a:pt x="92" y="25"/>
                  <a:pt x="92" y="25"/>
                </a:cubicBezTo>
                <a:cubicBezTo>
                  <a:pt x="92" y="25"/>
                  <a:pt x="92" y="25"/>
                  <a:pt x="92" y="25"/>
                </a:cubicBezTo>
                <a:cubicBezTo>
                  <a:pt x="92" y="25"/>
                  <a:pt x="92" y="25"/>
                  <a:pt x="92" y="25"/>
                </a:cubicBezTo>
                <a:cubicBezTo>
                  <a:pt x="93" y="26"/>
                  <a:pt x="93" y="26"/>
                  <a:pt x="93" y="26"/>
                </a:cubicBezTo>
                <a:cubicBezTo>
                  <a:pt x="93" y="27"/>
                  <a:pt x="93" y="27"/>
                  <a:pt x="94" y="27"/>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lose/>
                <a:moveTo>
                  <a:pt x="17" y="113"/>
                </a:moveTo>
                <a:cubicBezTo>
                  <a:pt x="15" y="112"/>
                  <a:pt x="17" y="108"/>
                  <a:pt x="20" y="108"/>
                </a:cubicBezTo>
                <a:cubicBezTo>
                  <a:pt x="21" y="108"/>
                  <a:pt x="21" y="108"/>
                  <a:pt x="22" y="108"/>
                </a:cubicBezTo>
                <a:cubicBezTo>
                  <a:pt x="22" y="107"/>
                  <a:pt x="22" y="106"/>
                  <a:pt x="21" y="106"/>
                </a:cubicBezTo>
                <a:cubicBezTo>
                  <a:pt x="15" y="105"/>
                  <a:pt x="16" y="90"/>
                  <a:pt x="23" y="89"/>
                </a:cubicBezTo>
                <a:cubicBezTo>
                  <a:pt x="25" y="89"/>
                  <a:pt x="26" y="89"/>
                  <a:pt x="27" y="90"/>
                </a:cubicBezTo>
                <a:cubicBezTo>
                  <a:pt x="28" y="91"/>
                  <a:pt x="27" y="92"/>
                  <a:pt x="26" y="91"/>
                </a:cubicBezTo>
                <a:cubicBezTo>
                  <a:pt x="25" y="90"/>
                  <a:pt x="25" y="90"/>
                  <a:pt x="24" y="90"/>
                </a:cubicBezTo>
                <a:cubicBezTo>
                  <a:pt x="23" y="91"/>
                  <a:pt x="22" y="91"/>
                  <a:pt x="21" y="92"/>
                </a:cubicBezTo>
                <a:cubicBezTo>
                  <a:pt x="21" y="92"/>
                  <a:pt x="20" y="94"/>
                  <a:pt x="20" y="94"/>
                </a:cubicBezTo>
                <a:cubicBezTo>
                  <a:pt x="20" y="95"/>
                  <a:pt x="20" y="95"/>
                  <a:pt x="21" y="96"/>
                </a:cubicBezTo>
                <a:cubicBezTo>
                  <a:pt x="23" y="97"/>
                  <a:pt x="27" y="96"/>
                  <a:pt x="26" y="98"/>
                </a:cubicBezTo>
                <a:cubicBezTo>
                  <a:pt x="26" y="99"/>
                  <a:pt x="24" y="99"/>
                  <a:pt x="23" y="98"/>
                </a:cubicBezTo>
                <a:cubicBezTo>
                  <a:pt x="21" y="97"/>
                  <a:pt x="20" y="98"/>
                  <a:pt x="19" y="100"/>
                </a:cubicBezTo>
                <a:cubicBezTo>
                  <a:pt x="19" y="102"/>
                  <a:pt x="20" y="102"/>
                  <a:pt x="20" y="102"/>
                </a:cubicBezTo>
                <a:cubicBezTo>
                  <a:pt x="21" y="102"/>
                  <a:pt x="21" y="102"/>
                  <a:pt x="22" y="102"/>
                </a:cubicBezTo>
                <a:cubicBezTo>
                  <a:pt x="22" y="101"/>
                  <a:pt x="23" y="101"/>
                  <a:pt x="24" y="101"/>
                </a:cubicBezTo>
                <a:cubicBezTo>
                  <a:pt x="24" y="101"/>
                  <a:pt x="25" y="101"/>
                  <a:pt x="24" y="102"/>
                </a:cubicBezTo>
                <a:cubicBezTo>
                  <a:pt x="24" y="103"/>
                  <a:pt x="24" y="104"/>
                  <a:pt x="27" y="105"/>
                </a:cubicBezTo>
                <a:cubicBezTo>
                  <a:pt x="27" y="105"/>
                  <a:pt x="27" y="105"/>
                  <a:pt x="27" y="106"/>
                </a:cubicBezTo>
                <a:cubicBezTo>
                  <a:pt x="27" y="107"/>
                  <a:pt x="26" y="107"/>
                  <a:pt x="25" y="107"/>
                </a:cubicBezTo>
                <a:cubicBezTo>
                  <a:pt x="26" y="110"/>
                  <a:pt x="22" y="111"/>
                  <a:pt x="20" y="110"/>
                </a:cubicBezTo>
                <a:cubicBezTo>
                  <a:pt x="18" y="110"/>
                  <a:pt x="18" y="112"/>
                  <a:pt x="17" y="113"/>
                </a:cubicBezTo>
                <a:close/>
                <a:moveTo>
                  <a:pt x="45" y="108"/>
                </a:moveTo>
                <a:cubicBezTo>
                  <a:pt x="46" y="107"/>
                  <a:pt x="50" y="109"/>
                  <a:pt x="51" y="110"/>
                </a:cubicBezTo>
                <a:cubicBezTo>
                  <a:pt x="51" y="110"/>
                  <a:pt x="51" y="110"/>
                  <a:pt x="51" y="110"/>
                </a:cubicBezTo>
                <a:cubicBezTo>
                  <a:pt x="50" y="112"/>
                  <a:pt x="47" y="109"/>
                  <a:pt x="46" y="109"/>
                </a:cubicBezTo>
                <a:cubicBezTo>
                  <a:pt x="45" y="110"/>
                  <a:pt x="44" y="109"/>
                  <a:pt x="45" y="108"/>
                </a:cubicBezTo>
                <a:close/>
                <a:moveTo>
                  <a:pt x="25" y="127"/>
                </a:moveTo>
                <a:cubicBezTo>
                  <a:pt x="24" y="128"/>
                  <a:pt x="24" y="128"/>
                  <a:pt x="24" y="128"/>
                </a:cubicBezTo>
                <a:cubicBezTo>
                  <a:pt x="20" y="129"/>
                  <a:pt x="18" y="126"/>
                  <a:pt x="17" y="125"/>
                </a:cubicBezTo>
                <a:cubicBezTo>
                  <a:pt x="16" y="123"/>
                  <a:pt x="18" y="123"/>
                  <a:pt x="17" y="122"/>
                </a:cubicBezTo>
                <a:cubicBezTo>
                  <a:pt x="15" y="120"/>
                  <a:pt x="12" y="116"/>
                  <a:pt x="16" y="114"/>
                </a:cubicBezTo>
                <a:cubicBezTo>
                  <a:pt x="16" y="114"/>
                  <a:pt x="17" y="115"/>
                  <a:pt x="17" y="116"/>
                </a:cubicBezTo>
                <a:cubicBezTo>
                  <a:pt x="17" y="116"/>
                  <a:pt x="16" y="118"/>
                  <a:pt x="17" y="119"/>
                </a:cubicBezTo>
                <a:cubicBezTo>
                  <a:pt x="18" y="119"/>
                  <a:pt x="19" y="120"/>
                  <a:pt x="20" y="121"/>
                </a:cubicBezTo>
                <a:cubicBezTo>
                  <a:pt x="22" y="122"/>
                  <a:pt x="21" y="123"/>
                  <a:pt x="21" y="124"/>
                </a:cubicBezTo>
                <a:cubicBezTo>
                  <a:pt x="22" y="126"/>
                  <a:pt x="23" y="126"/>
                  <a:pt x="25" y="126"/>
                </a:cubicBezTo>
                <a:cubicBezTo>
                  <a:pt x="26" y="126"/>
                  <a:pt x="26" y="127"/>
                  <a:pt x="25" y="127"/>
                </a:cubicBezTo>
                <a:close/>
                <a:moveTo>
                  <a:pt x="41" y="96"/>
                </a:moveTo>
                <a:cubicBezTo>
                  <a:pt x="41" y="95"/>
                  <a:pt x="42" y="95"/>
                  <a:pt x="41" y="94"/>
                </a:cubicBezTo>
                <a:cubicBezTo>
                  <a:pt x="38" y="88"/>
                  <a:pt x="42" y="89"/>
                  <a:pt x="42" y="86"/>
                </a:cubicBezTo>
                <a:cubicBezTo>
                  <a:pt x="42" y="85"/>
                  <a:pt x="42" y="85"/>
                  <a:pt x="41" y="85"/>
                </a:cubicBezTo>
                <a:cubicBezTo>
                  <a:pt x="40" y="84"/>
                  <a:pt x="39" y="85"/>
                  <a:pt x="38" y="85"/>
                </a:cubicBezTo>
                <a:cubicBezTo>
                  <a:pt x="37" y="85"/>
                  <a:pt x="37" y="83"/>
                  <a:pt x="36" y="83"/>
                </a:cubicBezTo>
                <a:cubicBezTo>
                  <a:pt x="35" y="83"/>
                  <a:pt x="34" y="84"/>
                  <a:pt x="33" y="83"/>
                </a:cubicBezTo>
                <a:cubicBezTo>
                  <a:pt x="31" y="82"/>
                  <a:pt x="32" y="83"/>
                  <a:pt x="29" y="83"/>
                </a:cubicBezTo>
                <a:cubicBezTo>
                  <a:pt x="27" y="83"/>
                  <a:pt x="26" y="84"/>
                  <a:pt x="25" y="87"/>
                </a:cubicBezTo>
                <a:cubicBezTo>
                  <a:pt x="25" y="88"/>
                  <a:pt x="24" y="88"/>
                  <a:pt x="24" y="88"/>
                </a:cubicBezTo>
                <a:cubicBezTo>
                  <a:pt x="24" y="87"/>
                  <a:pt x="23" y="85"/>
                  <a:pt x="25" y="83"/>
                </a:cubicBezTo>
                <a:cubicBezTo>
                  <a:pt x="26" y="82"/>
                  <a:pt x="28" y="82"/>
                  <a:pt x="29" y="81"/>
                </a:cubicBezTo>
                <a:cubicBezTo>
                  <a:pt x="31" y="80"/>
                  <a:pt x="33" y="80"/>
                  <a:pt x="35" y="81"/>
                </a:cubicBezTo>
                <a:cubicBezTo>
                  <a:pt x="37" y="81"/>
                  <a:pt x="38" y="82"/>
                  <a:pt x="39" y="84"/>
                </a:cubicBezTo>
                <a:cubicBezTo>
                  <a:pt x="39" y="85"/>
                  <a:pt x="41" y="83"/>
                  <a:pt x="42" y="84"/>
                </a:cubicBezTo>
                <a:cubicBezTo>
                  <a:pt x="43" y="84"/>
                  <a:pt x="44" y="84"/>
                  <a:pt x="44" y="86"/>
                </a:cubicBezTo>
                <a:cubicBezTo>
                  <a:pt x="45" y="87"/>
                  <a:pt x="44" y="89"/>
                  <a:pt x="43" y="90"/>
                </a:cubicBezTo>
                <a:cubicBezTo>
                  <a:pt x="43" y="91"/>
                  <a:pt x="43" y="91"/>
                  <a:pt x="43" y="91"/>
                </a:cubicBezTo>
                <a:cubicBezTo>
                  <a:pt x="44" y="93"/>
                  <a:pt x="46" y="90"/>
                  <a:pt x="48" y="88"/>
                </a:cubicBezTo>
                <a:cubicBezTo>
                  <a:pt x="49" y="86"/>
                  <a:pt x="50" y="86"/>
                  <a:pt x="51" y="86"/>
                </a:cubicBezTo>
                <a:cubicBezTo>
                  <a:pt x="52" y="86"/>
                  <a:pt x="53" y="87"/>
                  <a:pt x="54" y="88"/>
                </a:cubicBezTo>
                <a:cubicBezTo>
                  <a:pt x="55" y="89"/>
                  <a:pt x="55" y="90"/>
                  <a:pt x="54" y="90"/>
                </a:cubicBezTo>
                <a:cubicBezTo>
                  <a:pt x="52" y="90"/>
                  <a:pt x="51" y="90"/>
                  <a:pt x="49" y="88"/>
                </a:cubicBezTo>
                <a:cubicBezTo>
                  <a:pt x="48" y="88"/>
                  <a:pt x="48" y="90"/>
                  <a:pt x="47" y="91"/>
                </a:cubicBezTo>
                <a:cubicBezTo>
                  <a:pt x="47" y="94"/>
                  <a:pt x="43" y="94"/>
                  <a:pt x="42" y="98"/>
                </a:cubicBezTo>
                <a:cubicBezTo>
                  <a:pt x="42" y="98"/>
                  <a:pt x="42" y="98"/>
                  <a:pt x="41" y="99"/>
                </a:cubicBezTo>
                <a:cubicBezTo>
                  <a:pt x="41" y="100"/>
                  <a:pt x="40" y="100"/>
                  <a:pt x="41" y="99"/>
                </a:cubicBezTo>
                <a:cubicBezTo>
                  <a:pt x="41" y="97"/>
                  <a:pt x="41" y="98"/>
                  <a:pt x="41" y="97"/>
                </a:cubicBezTo>
                <a:cubicBezTo>
                  <a:pt x="41" y="97"/>
                  <a:pt x="41" y="96"/>
                  <a:pt x="41" y="96"/>
                </a:cubicBezTo>
                <a:close/>
                <a:moveTo>
                  <a:pt x="39" y="111"/>
                </a:moveTo>
                <a:cubicBezTo>
                  <a:pt x="38" y="111"/>
                  <a:pt x="36" y="110"/>
                  <a:pt x="35" y="109"/>
                </a:cubicBezTo>
                <a:cubicBezTo>
                  <a:pt x="35" y="108"/>
                  <a:pt x="34" y="107"/>
                  <a:pt x="34" y="106"/>
                </a:cubicBezTo>
                <a:cubicBezTo>
                  <a:pt x="29" y="105"/>
                  <a:pt x="27" y="102"/>
                  <a:pt x="27" y="101"/>
                </a:cubicBezTo>
                <a:cubicBezTo>
                  <a:pt x="27" y="101"/>
                  <a:pt x="28" y="101"/>
                  <a:pt x="29" y="102"/>
                </a:cubicBezTo>
                <a:cubicBezTo>
                  <a:pt x="30" y="104"/>
                  <a:pt x="34" y="104"/>
                  <a:pt x="34" y="104"/>
                </a:cubicBezTo>
                <a:cubicBezTo>
                  <a:pt x="33" y="103"/>
                  <a:pt x="33" y="101"/>
                  <a:pt x="34" y="100"/>
                </a:cubicBezTo>
                <a:cubicBezTo>
                  <a:pt x="34" y="99"/>
                  <a:pt x="34" y="99"/>
                  <a:pt x="33" y="99"/>
                </a:cubicBezTo>
                <a:cubicBezTo>
                  <a:pt x="31" y="97"/>
                  <a:pt x="29" y="98"/>
                  <a:pt x="28" y="97"/>
                </a:cubicBezTo>
                <a:cubicBezTo>
                  <a:pt x="27" y="96"/>
                  <a:pt x="28" y="94"/>
                  <a:pt x="30" y="95"/>
                </a:cubicBezTo>
                <a:cubicBezTo>
                  <a:pt x="30" y="95"/>
                  <a:pt x="31" y="96"/>
                  <a:pt x="32" y="96"/>
                </a:cubicBezTo>
                <a:cubicBezTo>
                  <a:pt x="33" y="97"/>
                  <a:pt x="33" y="96"/>
                  <a:pt x="33" y="95"/>
                </a:cubicBezTo>
                <a:cubicBezTo>
                  <a:pt x="33" y="93"/>
                  <a:pt x="34" y="89"/>
                  <a:pt x="34" y="88"/>
                </a:cubicBezTo>
                <a:cubicBezTo>
                  <a:pt x="34" y="87"/>
                  <a:pt x="34" y="87"/>
                  <a:pt x="35" y="87"/>
                </a:cubicBezTo>
                <a:cubicBezTo>
                  <a:pt x="36" y="87"/>
                  <a:pt x="37" y="88"/>
                  <a:pt x="38" y="89"/>
                </a:cubicBezTo>
                <a:cubicBezTo>
                  <a:pt x="38" y="89"/>
                  <a:pt x="38" y="90"/>
                  <a:pt x="38" y="90"/>
                </a:cubicBezTo>
                <a:cubicBezTo>
                  <a:pt x="36" y="93"/>
                  <a:pt x="35" y="94"/>
                  <a:pt x="36" y="96"/>
                </a:cubicBezTo>
                <a:cubicBezTo>
                  <a:pt x="36" y="96"/>
                  <a:pt x="36" y="98"/>
                  <a:pt x="36" y="99"/>
                </a:cubicBezTo>
                <a:cubicBezTo>
                  <a:pt x="37" y="99"/>
                  <a:pt x="38" y="99"/>
                  <a:pt x="39" y="98"/>
                </a:cubicBezTo>
                <a:cubicBezTo>
                  <a:pt x="39" y="97"/>
                  <a:pt x="40" y="98"/>
                  <a:pt x="39" y="99"/>
                </a:cubicBezTo>
                <a:cubicBezTo>
                  <a:pt x="39" y="100"/>
                  <a:pt x="37" y="101"/>
                  <a:pt x="37" y="101"/>
                </a:cubicBezTo>
                <a:cubicBezTo>
                  <a:pt x="36" y="103"/>
                  <a:pt x="37" y="109"/>
                  <a:pt x="38" y="107"/>
                </a:cubicBezTo>
                <a:cubicBezTo>
                  <a:pt x="40" y="105"/>
                  <a:pt x="41" y="103"/>
                  <a:pt x="45" y="104"/>
                </a:cubicBezTo>
                <a:cubicBezTo>
                  <a:pt x="45" y="104"/>
                  <a:pt x="45" y="104"/>
                  <a:pt x="45" y="104"/>
                </a:cubicBezTo>
                <a:cubicBezTo>
                  <a:pt x="43" y="104"/>
                  <a:pt x="39" y="106"/>
                  <a:pt x="40" y="108"/>
                </a:cubicBezTo>
                <a:cubicBezTo>
                  <a:pt x="40" y="109"/>
                  <a:pt x="41" y="109"/>
                  <a:pt x="41" y="110"/>
                </a:cubicBezTo>
                <a:cubicBezTo>
                  <a:pt x="40" y="111"/>
                  <a:pt x="40" y="112"/>
                  <a:pt x="39" y="111"/>
                </a:cubicBezTo>
                <a:close/>
                <a:moveTo>
                  <a:pt x="55" y="122"/>
                </a:moveTo>
                <a:cubicBezTo>
                  <a:pt x="54" y="121"/>
                  <a:pt x="54" y="121"/>
                  <a:pt x="55" y="120"/>
                </a:cubicBezTo>
                <a:cubicBezTo>
                  <a:pt x="55" y="119"/>
                  <a:pt x="57" y="120"/>
                  <a:pt x="58" y="120"/>
                </a:cubicBezTo>
                <a:cubicBezTo>
                  <a:pt x="61" y="120"/>
                  <a:pt x="60" y="117"/>
                  <a:pt x="61" y="117"/>
                </a:cubicBezTo>
                <a:cubicBezTo>
                  <a:pt x="63" y="114"/>
                  <a:pt x="61" y="125"/>
                  <a:pt x="55" y="122"/>
                </a:cubicBezTo>
                <a:close/>
                <a:moveTo>
                  <a:pt x="58" y="115"/>
                </a:moveTo>
                <a:cubicBezTo>
                  <a:pt x="59" y="113"/>
                  <a:pt x="61" y="110"/>
                  <a:pt x="59" y="108"/>
                </a:cubicBezTo>
                <a:cubicBezTo>
                  <a:pt x="58" y="108"/>
                  <a:pt x="58" y="106"/>
                  <a:pt x="59" y="106"/>
                </a:cubicBezTo>
                <a:cubicBezTo>
                  <a:pt x="61" y="106"/>
                  <a:pt x="64" y="107"/>
                  <a:pt x="64" y="109"/>
                </a:cubicBezTo>
                <a:cubicBezTo>
                  <a:pt x="64" y="113"/>
                  <a:pt x="60" y="114"/>
                  <a:pt x="60" y="115"/>
                </a:cubicBezTo>
                <a:cubicBezTo>
                  <a:pt x="60" y="116"/>
                  <a:pt x="59" y="116"/>
                  <a:pt x="58" y="116"/>
                </a:cubicBezTo>
                <a:cubicBezTo>
                  <a:pt x="57" y="115"/>
                  <a:pt x="57" y="115"/>
                  <a:pt x="58" y="115"/>
                </a:cubicBezTo>
                <a:close/>
                <a:moveTo>
                  <a:pt x="52" y="111"/>
                </a:moveTo>
                <a:cubicBezTo>
                  <a:pt x="54" y="106"/>
                  <a:pt x="48" y="101"/>
                  <a:pt x="47" y="101"/>
                </a:cubicBezTo>
                <a:cubicBezTo>
                  <a:pt x="46" y="101"/>
                  <a:pt x="47" y="100"/>
                  <a:pt x="47" y="100"/>
                </a:cubicBezTo>
                <a:cubicBezTo>
                  <a:pt x="53" y="103"/>
                  <a:pt x="51" y="101"/>
                  <a:pt x="51" y="97"/>
                </a:cubicBezTo>
                <a:cubicBezTo>
                  <a:pt x="51" y="95"/>
                  <a:pt x="51" y="92"/>
                  <a:pt x="52" y="92"/>
                </a:cubicBezTo>
                <a:cubicBezTo>
                  <a:pt x="52" y="92"/>
                  <a:pt x="51" y="97"/>
                  <a:pt x="53" y="98"/>
                </a:cubicBezTo>
                <a:cubicBezTo>
                  <a:pt x="53" y="99"/>
                  <a:pt x="54" y="96"/>
                  <a:pt x="54" y="96"/>
                </a:cubicBezTo>
                <a:cubicBezTo>
                  <a:pt x="55" y="95"/>
                  <a:pt x="55" y="96"/>
                  <a:pt x="55" y="97"/>
                </a:cubicBezTo>
                <a:cubicBezTo>
                  <a:pt x="54" y="101"/>
                  <a:pt x="56" y="109"/>
                  <a:pt x="54" y="113"/>
                </a:cubicBezTo>
                <a:cubicBezTo>
                  <a:pt x="53" y="114"/>
                  <a:pt x="51" y="114"/>
                  <a:pt x="52" y="111"/>
                </a:cubicBezTo>
                <a:close/>
                <a:moveTo>
                  <a:pt x="56" y="107"/>
                </a:moveTo>
                <a:cubicBezTo>
                  <a:pt x="55" y="107"/>
                  <a:pt x="55" y="106"/>
                  <a:pt x="55" y="106"/>
                </a:cubicBezTo>
                <a:cubicBezTo>
                  <a:pt x="56" y="105"/>
                  <a:pt x="58" y="104"/>
                  <a:pt x="58" y="104"/>
                </a:cubicBezTo>
                <a:cubicBezTo>
                  <a:pt x="59" y="103"/>
                  <a:pt x="58" y="103"/>
                  <a:pt x="58" y="102"/>
                </a:cubicBezTo>
                <a:cubicBezTo>
                  <a:pt x="58" y="102"/>
                  <a:pt x="57" y="102"/>
                  <a:pt x="57" y="101"/>
                </a:cubicBezTo>
                <a:cubicBezTo>
                  <a:pt x="57" y="100"/>
                  <a:pt x="59" y="100"/>
                  <a:pt x="59" y="99"/>
                </a:cubicBezTo>
                <a:cubicBezTo>
                  <a:pt x="59" y="96"/>
                  <a:pt x="58" y="97"/>
                  <a:pt x="58" y="95"/>
                </a:cubicBezTo>
                <a:cubicBezTo>
                  <a:pt x="58" y="93"/>
                  <a:pt x="56" y="92"/>
                  <a:pt x="56" y="92"/>
                </a:cubicBezTo>
                <a:cubicBezTo>
                  <a:pt x="55" y="91"/>
                  <a:pt x="56" y="90"/>
                  <a:pt x="57" y="91"/>
                </a:cubicBezTo>
                <a:cubicBezTo>
                  <a:pt x="62" y="92"/>
                  <a:pt x="63" y="96"/>
                  <a:pt x="60" y="99"/>
                </a:cubicBezTo>
                <a:cubicBezTo>
                  <a:pt x="62" y="102"/>
                  <a:pt x="59" y="106"/>
                  <a:pt x="56" y="107"/>
                </a:cubicBezTo>
                <a:close/>
                <a:moveTo>
                  <a:pt x="76" y="8"/>
                </a:moveTo>
                <a:cubicBezTo>
                  <a:pt x="76" y="54"/>
                  <a:pt x="76" y="54"/>
                  <a:pt x="76" y="54"/>
                </a:cubicBezTo>
                <a:cubicBezTo>
                  <a:pt x="76" y="54"/>
                  <a:pt x="76" y="54"/>
                  <a:pt x="76" y="54"/>
                </a:cubicBezTo>
                <a:cubicBezTo>
                  <a:pt x="4" y="54"/>
                  <a:pt x="4" y="54"/>
                  <a:pt x="4" y="54"/>
                </a:cubicBezTo>
                <a:cubicBezTo>
                  <a:pt x="4" y="24"/>
                  <a:pt x="4" y="24"/>
                  <a:pt x="4" y="24"/>
                </a:cubicBezTo>
                <a:cubicBezTo>
                  <a:pt x="11" y="20"/>
                  <a:pt x="22" y="12"/>
                  <a:pt x="26" y="4"/>
                </a:cubicBezTo>
                <a:cubicBezTo>
                  <a:pt x="76" y="4"/>
                  <a:pt x="76" y="4"/>
                  <a:pt x="76" y="4"/>
                </a:cubicBezTo>
                <a:cubicBezTo>
                  <a:pt x="125" y="4"/>
                  <a:pt x="125" y="4"/>
                  <a:pt x="125" y="4"/>
                </a:cubicBezTo>
                <a:cubicBezTo>
                  <a:pt x="130" y="12"/>
                  <a:pt x="140" y="21"/>
                  <a:pt x="147" y="24"/>
                </a:cubicBezTo>
                <a:cubicBezTo>
                  <a:pt x="147" y="39"/>
                  <a:pt x="147" y="39"/>
                  <a:pt x="147" y="39"/>
                </a:cubicBezTo>
                <a:cubicBezTo>
                  <a:pt x="131" y="39"/>
                  <a:pt x="131" y="39"/>
                  <a:pt x="131" y="39"/>
                </a:cubicBezTo>
                <a:cubicBezTo>
                  <a:pt x="131" y="46"/>
                  <a:pt x="131" y="46"/>
                  <a:pt x="131" y="46"/>
                </a:cubicBezTo>
                <a:cubicBezTo>
                  <a:pt x="147" y="46"/>
                  <a:pt x="147" y="46"/>
                  <a:pt x="147" y="46"/>
                </a:cubicBezTo>
                <a:cubicBezTo>
                  <a:pt x="147" y="54"/>
                  <a:pt x="147" y="54"/>
                  <a:pt x="147" y="54"/>
                </a:cubicBezTo>
                <a:cubicBezTo>
                  <a:pt x="86" y="54"/>
                  <a:pt x="86" y="54"/>
                  <a:pt x="86" y="54"/>
                </a:cubicBezTo>
                <a:cubicBezTo>
                  <a:pt x="86" y="46"/>
                  <a:pt x="86" y="46"/>
                  <a:pt x="86" y="46"/>
                </a:cubicBezTo>
                <a:cubicBezTo>
                  <a:pt x="102" y="46"/>
                  <a:pt x="102" y="46"/>
                  <a:pt x="102" y="46"/>
                </a:cubicBezTo>
                <a:cubicBezTo>
                  <a:pt x="102" y="39"/>
                  <a:pt x="102" y="39"/>
                  <a:pt x="102" y="39"/>
                </a:cubicBezTo>
                <a:cubicBezTo>
                  <a:pt x="86" y="39"/>
                  <a:pt x="86" y="39"/>
                  <a:pt x="86" y="39"/>
                </a:cubicBezTo>
                <a:cubicBezTo>
                  <a:pt x="86" y="33"/>
                  <a:pt x="86" y="33"/>
                  <a:pt x="86" y="33"/>
                </a:cubicBezTo>
                <a:cubicBezTo>
                  <a:pt x="143" y="33"/>
                  <a:pt x="143" y="33"/>
                  <a:pt x="143" y="33"/>
                </a:cubicBezTo>
                <a:cubicBezTo>
                  <a:pt x="136" y="30"/>
                  <a:pt x="122" y="20"/>
                  <a:pt x="118" y="8"/>
                </a:cubicBezTo>
                <a:cubicBezTo>
                  <a:pt x="76" y="8"/>
                  <a:pt x="76" y="8"/>
                  <a:pt x="76" y="8"/>
                </a:cubicBezTo>
                <a:close/>
                <a:moveTo>
                  <a:pt x="49" y="141"/>
                </a:moveTo>
                <a:cubicBezTo>
                  <a:pt x="48" y="142"/>
                  <a:pt x="50" y="143"/>
                  <a:pt x="51" y="143"/>
                </a:cubicBezTo>
                <a:cubicBezTo>
                  <a:pt x="54" y="142"/>
                  <a:pt x="60" y="144"/>
                  <a:pt x="59" y="142"/>
                </a:cubicBezTo>
                <a:cubicBezTo>
                  <a:pt x="54" y="141"/>
                  <a:pt x="52" y="133"/>
                  <a:pt x="54" y="130"/>
                </a:cubicBezTo>
                <a:cubicBezTo>
                  <a:pt x="55" y="127"/>
                  <a:pt x="61" y="127"/>
                  <a:pt x="62" y="123"/>
                </a:cubicBezTo>
                <a:cubicBezTo>
                  <a:pt x="62" y="123"/>
                  <a:pt x="62" y="122"/>
                  <a:pt x="61" y="123"/>
                </a:cubicBezTo>
                <a:cubicBezTo>
                  <a:pt x="59" y="123"/>
                  <a:pt x="57" y="125"/>
                  <a:pt x="56" y="125"/>
                </a:cubicBezTo>
                <a:cubicBezTo>
                  <a:pt x="53" y="125"/>
                  <a:pt x="54" y="122"/>
                  <a:pt x="55" y="118"/>
                </a:cubicBezTo>
                <a:cubicBezTo>
                  <a:pt x="55" y="117"/>
                  <a:pt x="56" y="114"/>
                  <a:pt x="56" y="114"/>
                </a:cubicBezTo>
                <a:cubicBezTo>
                  <a:pt x="55" y="112"/>
                  <a:pt x="54" y="112"/>
                  <a:pt x="54" y="114"/>
                </a:cubicBezTo>
                <a:cubicBezTo>
                  <a:pt x="54" y="115"/>
                  <a:pt x="52" y="120"/>
                  <a:pt x="50" y="119"/>
                </a:cubicBezTo>
                <a:cubicBezTo>
                  <a:pt x="47" y="118"/>
                  <a:pt x="47" y="118"/>
                  <a:pt x="47" y="117"/>
                </a:cubicBezTo>
                <a:cubicBezTo>
                  <a:pt x="45" y="114"/>
                  <a:pt x="44" y="114"/>
                  <a:pt x="44" y="114"/>
                </a:cubicBezTo>
                <a:cubicBezTo>
                  <a:pt x="42" y="114"/>
                  <a:pt x="44" y="116"/>
                  <a:pt x="44" y="117"/>
                </a:cubicBezTo>
                <a:cubicBezTo>
                  <a:pt x="44" y="118"/>
                  <a:pt x="42" y="119"/>
                  <a:pt x="41" y="118"/>
                </a:cubicBezTo>
                <a:cubicBezTo>
                  <a:pt x="40" y="117"/>
                  <a:pt x="39" y="116"/>
                  <a:pt x="39" y="113"/>
                </a:cubicBezTo>
                <a:cubicBezTo>
                  <a:pt x="37" y="111"/>
                  <a:pt x="37" y="111"/>
                  <a:pt x="35" y="112"/>
                </a:cubicBezTo>
                <a:cubicBezTo>
                  <a:pt x="33" y="109"/>
                  <a:pt x="29" y="114"/>
                  <a:pt x="30" y="114"/>
                </a:cubicBezTo>
                <a:cubicBezTo>
                  <a:pt x="29" y="114"/>
                  <a:pt x="27" y="112"/>
                  <a:pt x="27" y="113"/>
                </a:cubicBezTo>
                <a:cubicBezTo>
                  <a:pt x="26" y="113"/>
                  <a:pt x="25" y="113"/>
                  <a:pt x="24" y="111"/>
                </a:cubicBezTo>
                <a:cubicBezTo>
                  <a:pt x="24" y="111"/>
                  <a:pt x="24" y="111"/>
                  <a:pt x="24" y="111"/>
                </a:cubicBezTo>
                <a:cubicBezTo>
                  <a:pt x="23" y="112"/>
                  <a:pt x="24" y="113"/>
                  <a:pt x="24" y="113"/>
                </a:cubicBezTo>
                <a:cubicBezTo>
                  <a:pt x="21" y="114"/>
                  <a:pt x="18" y="115"/>
                  <a:pt x="20" y="119"/>
                </a:cubicBezTo>
                <a:cubicBezTo>
                  <a:pt x="24" y="121"/>
                  <a:pt x="24" y="117"/>
                  <a:pt x="24" y="116"/>
                </a:cubicBezTo>
                <a:cubicBezTo>
                  <a:pt x="27" y="111"/>
                  <a:pt x="28" y="118"/>
                  <a:pt x="31" y="116"/>
                </a:cubicBezTo>
                <a:cubicBezTo>
                  <a:pt x="31" y="116"/>
                  <a:pt x="31" y="116"/>
                  <a:pt x="31" y="115"/>
                </a:cubicBezTo>
                <a:cubicBezTo>
                  <a:pt x="30" y="114"/>
                  <a:pt x="33" y="112"/>
                  <a:pt x="34" y="113"/>
                </a:cubicBezTo>
                <a:cubicBezTo>
                  <a:pt x="36" y="114"/>
                  <a:pt x="36" y="118"/>
                  <a:pt x="36" y="120"/>
                </a:cubicBezTo>
                <a:cubicBezTo>
                  <a:pt x="36" y="121"/>
                  <a:pt x="32" y="120"/>
                  <a:pt x="31" y="118"/>
                </a:cubicBezTo>
                <a:cubicBezTo>
                  <a:pt x="30" y="117"/>
                  <a:pt x="31" y="118"/>
                  <a:pt x="31" y="120"/>
                </a:cubicBezTo>
                <a:cubicBezTo>
                  <a:pt x="32" y="120"/>
                  <a:pt x="31" y="120"/>
                  <a:pt x="27" y="119"/>
                </a:cubicBezTo>
                <a:cubicBezTo>
                  <a:pt x="26" y="119"/>
                  <a:pt x="26" y="120"/>
                  <a:pt x="26" y="120"/>
                </a:cubicBezTo>
                <a:cubicBezTo>
                  <a:pt x="28" y="122"/>
                  <a:pt x="33" y="121"/>
                  <a:pt x="33" y="121"/>
                </a:cubicBezTo>
                <a:cubicBezTo>
                  <a:pt x="34" y="121"/>
                  <a:pt x="34" y="122"/>
                  <a:pt x="36" y="123"/>
                </a:cubicBezTo>
                <a:cubicBezTo>
                  <a:pt x="36" y="124"/>
                  <a:pt x="36" y="124"/>
                  <a:pt x="36" y="125"/>
                </a:cubicBezTo>
                <a:cubicBezTo>
                  <a:pt x="35" y="126"/>
                  <a:pt x="34" y="126"/>
                  <a:pt x="34" y="125"/>
                </a:cubicBezTo>
                <a:cubicBezTo>
                  <a:pt x="33" y="124"/>
                  <a:pt x="33" y="124"/>
                  <a:pt x="31" y="124"/>
                </a:cubicBezTo>
                <a:cubicBezTo>
                  <a:pt x="30" y="124"/>
                  <a:pt x="28" y="124"/>
                  <a:pt x="27" y="125"/>
                </a:cubicBezTo>
                <a:cubicBezTo>
                  <a:pt x="25" y="126"/>
                  <a:pt x="26" y="129"/>
                  <a:pt x="27" y="128"/>
                </a:cubicBezTo>
                <a:cubicBezTo>
                  <a:pt x="29" y="126"/>
                  <a:pt x="30" y="128"/>
                  <a:pt x="34" y="128"/>
                </a:cubicBezTo>
                <a:cubicBezTo>
                  <a:pt x="35" y="128"/>
                  <a:pt x="36" y="132"/>
                  <a:pt x="35" y="137"/>
                </a:cubicBezTo>
                <a:cubicBezTo>
                  <a:pt x="35" y="138"/>
                  <a:pt x="35" y="138"/>
                  <a:pt x="35" y="138"/>
                </a:cubicBezTo>
                <a:cubicBezTo>
                  <a:pt x="34" y="138"/>
                  <a:pt x="33" y="139"/>
                  <a:pt x="32" y="139"/>
                </a:cubicBezTo>
                <a:cubicBezTo>
                  <a:pt x="30" y="140"/>
                  <a:pt x="29" y="142"/>
                  <a:pt x="27" y="141"/>
                </a:cubicBezTo>
                <a:cubicBezTo>
                  <a:pt x="17" y="131"/>
                  <a:pt x="8" y="117"/>
                  <a:pt x="5" y="103"/>
                </a:cubicBezTo>
                <a:cubicBezTo>
                  <a:pt x="4" y="100"/>
                  <a:pt x="4" y="97"/>
                  <a:pt x="4" y="93"/>
                </a:cubicBezTo>
                <a:cubicBezTo>
                  <a:pt x="4" y="76"/>
                  <a:pt x="4" y="76"/>
                  <a:pt x="4" y="76"/>
                </a:cubicBezTo>
                <a:cubicBezTo>
                  <a:pt x="66" y="76"/>
                  <a:pt x="66" y="76"/>
                  <a:pt x="66" y="76"/>
                </a:cubicBezTo>
                <a:cubicBezTo>
                  <a:pt x="66" y="164"/>
                  <a:pt x="66" y="164"/>
                  <a:pt x="66" y="164"/>
                </a:cubicBezTo>
                <a:cubicBezTo>
                  <a:pt x="55" y="162"/>
                  <a:pt x="42" y="155"/>
                  <a:pt x="31" y="144"/>
                </a:cubicBezTo>
                <a:cubicBezTo>
                  <a:pt x="30" y="144"/>
                  <a:pt x="29" y="143"/>
                  <a:pt x="29" y="143"/>
                </a:cubicBezTo>
                <a:cubicBezTo>
                  <a:pt x="32" y="140"/>
                  <a:pt x="31" y="143"/>
                  <a:pt x="34" y="142"/>
                </a:cubicBezTo>
                <a:cubicBezTo>
                  <a:pt x="35" y="142"/>
                  <a:pt x="35" y="142"/>
                  <a:pt x="36" y="143"/>
                </a:cubicBezTo>
                <a:cubicBezTo>
                  <a:pt x="36" y="143"/>
                  <a:pt x="38" y="144"/>
                  <a:pt x="38" y="143"/>
                </a:cubicBezTo>
                <a:cubicBezTo>
                  <a:pt x="38" y="142"/>
                  <a:pt x="39" y="142"/>
                  <a:pt x="39" y="142"/>
                </a:cubicBezTo>
                <a:cubicBezTo>
                  <a:pt x="43" y="144"/>
                  <a:pt x="43" y="140"/>
                  <a:pt x="46" y="141"/>
                </a:cubicBezTo>
                <a:cubicBezTo>
                  <a:pt x="48" y="141"/>
                  <a:pt x="50" y="141"/>
                  <a:pt x="48" y="140"/>
                </a:cubicBezTo>
                <a:cubicBezTo>
                  <a:pt x="46" y="139"/>
                  <a:pt x="45" y="138"/>
                  <a:pt x="44" y="138"/>
                </a:cubicBezTo>
                <a:cubicBezTo>
                  <a:pt x="42" y="138"/>
                  <a:pt x="41" y="139"/>
                  <a:pt x="40" y="136"/>
                </a:cubicBezTo>
                <a:cubicBezTo>
                  <a:pt x="40" y="135"/>
                  <a:pt x="40" y="132"/>
                  <a:pt x="40" y="131"/>
                </a:cubicBezTo>
                <a:cubicBezTo>
                  <a:pt x="40" y="128"/>
                  <a:pt x="41" y="129"/>
                  <a:pt x="43" y="129"/>
                </a:cubicBezTo>
                <a:cubicBezTo>
                  <a:pt x="46" y="129"/>
                  <a:pt x="46" y="129"/>
                  <a:pt x="49" y="128"/>
                </a:cubicBezTo>
                <a:cubicBezTo>
                  <a:pt x="49" y="128"/>
                  <a:pt x="49" y="128"/>
                  <a:pt x="50" y="128"/>
                </a:cubicBezTo>
                <a:cubicBezTo>
                  <a:pt x="50" y="130"/>
                  <a:pt x="50" y="139"/>
                  <a:pt x="49" y="141"/>
                </a:cubicBezTo>
                <a:close/>
                <a:moveTo>
                  <a:pt x="46" y="127"/>
                </a:moveTo>
                <a:cubicBezTo>
                  <a:pt x="43" y="127"/>
                  <a:pt x="44" y="124"/>
                  <a:pt x="44" y="124"/>
                </a:cubicBezTo>
                <a:cubicBezTo>
                  <a:pt x="43" y="123"/>
                  <a:pt x="42" y="125"/>
                  <a:pt x="41" y="124"/>
                </a:cubicBezTo>
                <a:cubicBezTo>
                  <a:pt x="39" y="124"/>
                  <a:pt x="40" y="123"/>
                  <a:pt x="40" y="122"/>
                </a:cubicBezTo>
                <a:cubicBezTo>
                  <a:pt x="39" y="120"/>
                  <a:pt x="39" y="120"/>
                  <a:pt x="41" y="121"/>
                </a:cubicBezTo>
                <a:cubicBezTo>
                  <a:pt x="42" y="121"/>
                  <a:pt x="43" y="120"/>
                  <a:pt x="44" y="119"/>
                </a:cubicBezTo>
                <a:cubicBezTo>
                  <a:pt x="45" y="118"/>
                  <a:pt x="47" y="119"/>
                  <a:pt x="48" y="121"/>
                </a:cubicBezTo>
                <a:cubicBezTo>
                  <a:pt x="49" y="123"/>
                  <a:pt x="48" y="123"/>
                  <a:pt x="47" y="123"/>
                </a:cubicBezTo>
                <a:cubicBezTo>
                  <a:pt x="47" y="123"/>
                  <a:pt x="47" y="124"/>
                  <a:pt x="48" y="124"/>
                </a:cubicBezTo>
                <a:cubicBezTo>
                  <a:pt x="48" y="124"/>
                  <a:pt x="49" y="124"/>
                  <a:pt x="50" y="125"/>
                </a:cubicBezTo>
                <a:cubicBezTo>
                  <a:pt x="50" y="126"/>
                  <a:pt x="49" y="126"/>
                  <a:pt x="49" y="126"/>
                </a:cubicBezTo>
                <a:cubicBezTo>
                  <a:pt x="48" y="127"/>
                  <a:pt x="47" y="127"/>
                  <a:pt x="46" y="127"/>
                </a:cubicBezTo>
                <a:close/>
                <a:moveTo>
                  <a:pt x="118" y="143"/>
                </a:moveTo>
                <a:cubicBezTo>
                  <a:pt x="117" y="143"/>
                  <a:pt x="117" y="143"/>
                  <a:pt x="117" y="143"/>
                </a:cubicBezTo>
                <a:cubicBezTo>
                  <a:pt x="113" y="109"/>
                  <a:pt x="113" y="109"/>
                  <a:pt x="113" y="109"/>
                </a:cubicBezTo>
                <a:cubicBezTo>
                  <a:pt x="101" y="138"/>
                  <a:pt x="101" y="138"/>
                  <a:pt x="101" y="138"/>
                </a:cubicBezTo>
                <a:cubicBezTo>
                  <a:pt x="100" y="138"/>
                  <a:pt x="100" y="138"/>
                  <a:pt x="100" y="138"/>
                </a:cubicBezTo>
                <a:cubicBezTo>
                  <a:pt x="111" y="105"/>
                  <a:pt x="111" y="105"/>
                  <a:pt x="111" y="105"/>
                </a:cubicBezTo>
                <a:cubicBezTo>
                  <a:pt x="108" y="105"/>
                  <a:pt x="108" y="105"/>
                  <a:pt x="108" y="105"/>
                </a:cubicBezTo>
                <a:cubicBezTo>
                  <a:pt x="108" y="98"/>
                  <a:pt x="108" y="98"/>
                  <a:pt x="108" y="98"/>
                </a:cubicBezTo>
                <a:cubicBezTo>
                  <a:pt x="100" y="98"/>
                  <a:pt x="100" y="98"/>
                  <a:pt x="100" y="98"/>
                </a:cubicBezTo>
                <a:cubicBezTo>
                  <a:pt x="98" y="96"/>
                  <a:pt x="98" y="96"/>
                  <a:pt x="98" y="96"/>
                </a:cubicBezTo>
                <a:cubicBezTo>
                  <a:pt x="98" y="89"/>
                  <a:pt x="98" y="89"/>
                  <a:pt x="98" y="89"/>
                </a:cubicBezTo>
                <a:cubicBezTo>
                  <a:pt x="92" y="89"/>
                  <a:pt x="92" y="89"/>
                  <a:pt x="92" y="89"/>
                </a:cubicBezTo>
                <a:cubicBezTo>
                  <a:pt x="92" y="85"/>
                  <a:pt x="92" y="85"/>
                  <a:pt x="92" y="85"/>
                </a:cubicBezTo>
                <a:cubicBezTo>
                  <a:pt x="138" y="85"/>
                  <a:pt x="138" y="85"/>
                  <a:pt x="138" y="85"/>
                </a:cubicBezTo>
                <a:cubicBezTo>
                  <a:pt x="138" y="89"/>
                  <a:pt x="138" y="89"/>
                  <a:pt x="138" y="89"/>
                </a:cubicBezTo>
                <a:cubicBezTo>
                  <a:pt x="132" y="89"/>
                  <a:pt x="132" y="89"/>
                  <a:pt x="132" y="89"/>
                </a:cubicBezTo>
                <a:cubicBezTo>
                  <a:pt x="132" y="96"/>
                  <a:pt x="132" y="96"/>
                  <a:pt x="132" y="96"/>
                </a:cubicBezTo>
                <a:cubicBezTo>
                  <a:pt x="130" y="98"/>
                  <a:pt x="130" y="98"/>
                  <a:pt x="130" y="98"/>
                </a:cubicBezTo>
                <a:cubicBezTo>
                  <a:pt x="122" y="98"/>
                  <a:pt x="122" y="98"/>
                  <a:pt x="122" y="98"/>
                </a:cubicBezTo>
                <a:cubicBezTo>
                  <a:pt x="122" y="105"/>
                  <a:pt x="122" y="105"/>
                  <a:pt x="122" y="105"/>
                </a:cubicBezTo>
                <a:cubicBezTo>
                  <a:pt x="119" y="105"/>
                  <a:pt x="119" y="105"/>
                  <a:pt x="119" y="105"/>
                </a:cubicBezTo>
                <a:cubicBezTo>
                  <a:pt x="126" y="134"/>
                  <a:pt x="126" y="134"/>
                  <a:pt x="126" y="134"/>
                </a:cubicBezTo>
                <a:cubicBezTo>
                  <a:pt x="125" y="134"/>
                  <a:pt x="125" y="134"/>
                  <a:pt x="125" y="134"/>
                </a:cubicBezTo>
                <a:cubicBezTo>
                  <a:pt x="117" y="109"/>
                  <a:pt x="117" y="109"/>
                  <a:pt x="117" y="109"/>
                </a:cubicBezTo>
                <a:cubicBezTo>
                  <a:pt x="118" y="143"/>
                  <a:pt x="118" y="143"/>
                  <a:pt x="118" y="143"/>
                </a:cubicBezTo>
                <a:close/>
                <a:moveTo>
                  <a:pt x="86" y="164"/>
                </a:moveTo>
                <a:cubicBezTo>
                  <a:pt x="86" y="76"/>
                  <a:pt x="86" y="76"/>
                  <a:pt x="86" y="76"/>
                </a:cubicBezTo>
                <a:cubicBezTo>
                  <a:pt x="147" y="76"/>
                  <a:pt x="147" y="76"/>
                  <a:pt x="147" y="76"/>
                </a:cubicBezTo>
                <a:cubicBezTo>
                  <a:pt x="147" y="97"/>
                  <a:pt x="147" y="97"/>
                  <a:pt x="147" y="97"/>
                </a:cubicBezTo>
                <a:cubicBezTo>
                  <a:pt x="147" y="102"/>
                  <a:pt x="147" y="104"/>
                  <a:pt x="146" y="109"/>
                </a:cubicBezTo>
                <a:cubicBezTo>
                  <a:pt x="139" y="135"/>
                  <a:pt x="112" y="158"/>
                  <a:pt x="86" y="164"/>
                </a:cubicBezTo>
                <a:close/>
                <a:moveTo>
                  <a:pt x="11" y="53"/>
                </a:moveTo>
                <a:cubicBezTo>
                  <a:pt x="10" y="52"/>
                  <a:pt x="9" y="50"/>
                  <a:pt x="9" y="49"/>
                </a:cubicBezTo>
                <a:cubicBezTo>
                  <a:pt x="9" y="48"/>
                  <a:pt x="9" y="47"/>
                  <a:pt x="9" y="47"/>
                </a:cubicBezTo>
                <a:cubicBezTo>
                  <a:pt x="17" y="43"/>
                  <a:pt x="31" y="34"/>
                  <a:pt x="39" y="30"/>
                </a:cubicBezTo>
                <a:cubicBezTo>
                  <a:pt x="39" y="30"/>
                  <a:pt x="40" y="29"/>
                  <a:pt x="40" y="28"/>
                </a:cubicBezTo>
                <a:cubicBezTo>
                  <a:pt x="42" y="27"/>
                  <a:pt x="52" y="21"/>
                  <a:pt x="52" y="20"/>
                </a:cubicBezTo>
                <a:cubicBezTo>
                  <a:pt x="46" y="11"/>
                  <a:pt x="46" y="11"/>
                  <a:pt x="46" y="11"/>
                </a:cubicBezTo>
                <a:cubicBezTo>
                  <a:pt x="46" y="10"/>
                  <a:pt x="46" y="10"/>
                  <a:pt x="46" y="10"/>
                </a:cubicBezTo>
                <a:cubicBezTo>
                  <a:pt x="52" y="7"/>
                  <a:pt x="52" y="7"/>
                  <a:pt x="52" y="7"/>
                </a:cubicBezTo>
                <a:cubicBezTo>
                  <a:pt x="53" y="7"/>
                  <a:pt x="53" y="7"/>
                  <a:pt x="53" y="7"/>
                </a:cubicBezTo>
                <a:cubicBezTo>
                  <a:pt x="58" y="15"/>
                  <a:pt x="58" y="15"/>
                  <a:pt x="58" y="15"/>
                </a:cubicBezTo>
                <a:cubicBezTo>
                  <a:pt x="62" y="15"/>
                  <a:pt x="62" y="15"/>
                  <a:pt x="62" y="15"/>
                </a:cubicBezTo>
                <a:cubicBezTo>
                  <a:pt x="66" y="21"/>
                  <a:pt x="66" y="21"/>
                  <a:pt x="66" y="21"/>
                </a:cubicBezTo>
                <a:cubicBezTo>
                  <a:pt x="65" y="21"/>
                  <a:pt x="64" y="22"/>
                  <a:pt x="64" y="23"/>
                </a:cubicBezTo>
                <a:cubicBezTo>
                  <a:pt x="66" y="27"/>
                  <a:pt x="69" y="33"/>
                  <a:pt x="70" y="38"/>
                </a:cubicBezTo>
                <a:cubicBezTo>
                  <a:pt x="70" y="40"/>
                  <a:pt x="69" y="48"/>
                  <a:pt x="66" y="50"/>
                </a:cubicBezTo>
                <a:cubicBezTo>
                  <a:pt x="66" y="50"/>
                  <a:pt x="65" y="50"/>
                  <a:pt x="65" y="49"/>
                </a:cubicBezTo>
                <a:cubicBezTo>
                  <a:pt x="65" y="42"/>
                  <a:pt x="63" y="35"/>
                  <a:pt x="57" y="27"/>
                </a:cubicBezTo>
                <a:cubicBezTo>
                  <a:pt x="56" y="27"/>
                  <a:pt x="35" y="39"/>
                  <a:pt x="34" y="40"/>
                </a:cubicBezTo>
                <a:cubicBezTo>
                  <a:pt x="27" y="44"/>
                  <a:pt x="20" y="47"/>
                  <a:pt x="15" y="51"/>
                </a:cubicBezTo>
                <a:cubicBezTo>
                  <a:pt x="13" y="52"/>
                  <a:pt x="12" y="52"/>
                  <a:pt x="11" y="53"/>
                </a:cubicBezTo>
                <a:close/>
                <a:moveTo>
                  <a:pt x="114" y="61"/>
                </a:moveTo>
                <a:cubicBezTo>
                  <a:pt x="114" y="61"/>
                  <a:pt x="115" y="61"/>
                  <a:pt x="115" y="61"/>
                </a:cubicBezTo>
                <a:cubicBezTo>
                  <a:pt x="115" y="62"/>
                  <a:pt x="116" y="62"/>
                  <a:pt x="116" y="62"/>
                </a:cubicBezTo>
                <a:cubicBezTo>
                  <a:pt x="116" y="63"/>
                  <a:pt x="116" y="63"/>
                  <a:pt x="116" y="63"/>
                </a:cubicBezTo>
                <a:cubicBezTo>
                  <a:pt x="116" y="64"/>
                  <a:pt x="116" y="64"/>
                  <a:pt x="116" y="64"/>
                </a:cubicBezTo>
                <a:cubicBezTo>
                  <a:pt x="115" y="64"/>
                  <a:pt x="115" y="64"/>
                  <a:pt x="115" y="64"/>
                </a:cubicBezTo>
                <a:cubicBezTo>
                  <a:pt x="115" y="63"/>
                  <a:pt x="114" y="62"/>
                  <a:pt x="114" y="61"/>
                </a:cubicBezTo>
                <a:close/>
                <a:moveTo>
                  <a:pt x="117" y="67"/>
                </a:moveTo>
                <a:cubicBezTo>
                  <a:pt x="118" y="67"/>
                  <a:pt x="118" y="67"/>
                  <a:pt x="119" y="67"/>
                </a:cubicBezTo>
                <a:cubicBezTo>
                  <a:pt x="119" y="67"/>
                  <a:pt x="119" y="67"/>
                  <a:pt x="120" y="66"/>
                </a:cubicBezTo>
                <a:cubicBezTo>
                  <a:pt x="120" y="66"/>
                  <a:pt x="120" y="67"/>
                  <a:pt x="120" y="67"/>
                </a:cubicBezTo>
                <a:cubicBezTo>
                  <a:pt x="120" y="67"/>
                  <a:pt x="121" y="67"/>
                  <a:pt x="120" y="67"/>
                </a:cubicBezTo>
                <a:cubicBezTo>
                  <a:pt x="120" y="67"/>
                  <a:pt x="120" y="67"/>
                  <a:pt x="120" y="67"/>
                </a:cubicBezTo>
                <a:cubicBezTo>
                  <a:pt x="120" y="68"/>
                  <a:pt x="120"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8" y="68"/>
                  <a:pt x="117" y="68"/>
                  <a:pt x="117" y="67"/>
                </a:cubicBezTo>
                <a:close/>
                <a:moveTo>
                  <a:pt x="120" y="69"/>
                </a:moveTo>
                <a:cubicBezTo>
                  <a:pt x="120" y="69"/>
                  <a:pt x="120" y="69"/>
                  <a:pt x="120" y="69"/>
                </a:cubicBezTo>
                <a:cubicBezTo>
                  <a:pt x="120" y="69"/>
                  <a:pt x="120" y="69"/>
                  <a:pt x="121" y="69"/>
                </a:cubicBezTo>
                <a:cubicBezTo>
                  <a:pt x="121" y="69"/>
                  <a:pt x="121" y="69"/>
                  <a:pt x="121" y="69"/>
                </a:cubicBezTo>
                <a:cubicBezTo>
                  <a:pt x="120" y="69"/>
                  <a:pt x="120" y="69"/>
                  <a:pt x="120" y="69"/>
                </a:cubicBezTo>
                <a:cubicBezTo>
                  <a:pt x="120" y="69"/>
                  <a:pt x="120" y="69"/>
                  <a:pt x="120" y="69"/>
                </a:cubicBezTo>
                <a:cubicBezTo>
                  <a:pt x="120" y="69"/>
                  <a:pt x="120" y="70"/>
                  <a:pt x="120" y="70"/>
                </a:cubicBezTo>
                <a:cubicBezTo>
                  <a:pt x="120" y="71"/>
                  <a:pt x="120" y="72"/>
                  <a:pt x="120" y="73"/>
                </a:cubicBezTo>
                <a:cubicBezTo>
                  <a:pt x="120" y="73"/>
                  <a:pt x="120" y="74"/>
                  <a:pt x="120" y="75"/>
                </a:cubicBezTo>
                <a:cubicBezTo>
                  <a:pt x="120" y="75"/>
                  <a:pt x="120" y="75"/>
                  <a:pt x="120" y="75"/>
                </a:cubicBezTo>
                <a:cubicBezTo>
                  <a:pt x="120" y="75"/>
                  <a:pt x="119" y="75"/>
                  <a:pt x="119" y="75"/>
                </a:cubicBezTo>
                <a:cubicBezTo>
                  <a:pt x="119" y="75"/>
                  <a:pt x="119" y="75"/>
                  <a:pt x="118" y="74"/>
                </a:cubicBezTo>
                <a:cubicBezTo>
                  <a:pt x="117" y="74"/>
                  <a:pt x="116" y="73"/>
                  <a:pt x="116" y="73"/>
                </a:cubicBezTo>
                <a:cubicBezTo>
                  <a:pt x="115" y="73"/>
                  <a:pt x="115" y="73"/>
                  <a:pt x="115" y="72"/>
                </a:cubicBezTo>
                <a:cubicBezTo>
                  <a:pt x="115" y="72"/>
                  <a:pt x="116" y="73"/>
                  <a:pt x="116" y="73"/>
                </a:cubicBezTo>
                <a:cubicBezTo>
                  <a:pt x="117" y="73"/>
                  <a:pt x="117" y="73"/>
                  <a:pt x="118" y="73"/>
                </a:cubicBezTo>
                <a:cubicBezTo>
                  <a:pt x="118" y="73"/>
                  <a:pt x="119" y="73"/>
                  <a:pt x="119" y="73"/>
                </a:cubicBezTo>
                <a:cubicBezTo>
                  <a:pt x="119" y="73"/>
                  <a:pt x="119" y="72"/>
                  <a:pt x="119" y="72"/>
                </a:cubicBezTo>
                <a:cubicBezTo>
                  <a:pt x="119" y="71"/>
                  <a:pt x="119" y="70"/>
                  <a:pt x="119" y="69"/>
                </a:cubicBezTo>
                <a:cubicBezTo>
                  <a:pt x="119" y="69"/>
                  <a:pt x="119" y="69"/>
                  <a:pt x="119" y="69"/>
                </a:cubicBezTo>
                <a:cubicBezTo>
                  <a:pt x="119" y="69"/>
                  <a:pt x="119" y="70"/>
                  <a:pt x="118" y="70"/>
                </a:cubicBezTo>
                <a:cubicBezTo>
                  <a:pt x="118" y="70"/>
                  <a:pt x="117" y="71"/>
                  <a:pt x="116" y="71"/>
                </a:cubicBezTo>
                <a:cubicBezTo>
                  <a:pt x="115" y="70"/>
                  <a:pt x="115" y="70"/>
                  <a:pt x="115" y="70"/>
                </a:cubicBezTo>
                <a:cubicBezTo>
                  <a:pt x="116" y="70"/>
                  <a:pt x="116" y="70"/>
                  <a:pt x="116" y="70"/>
                </a:cubicBezTo>
                <a:cubicBezTo>
                  <a:pt x="116" y="70"/>
                  <a:pt x="117" y="69"/>
                  <a:pt x="117" y="69"/>
                </a:cubicBezTo>
                <a:cubicBezTo>
                  <a:pt x="118" y="69"/>
                  <a:pt x="118" y="69"/>
                  <a:pt x="119" y="69"/>
                </a:cubicBezTo>
                <a:cubicBezTo>
                  <a:pt x="119" y="68"/>
                  <a:pt x="120" y="68"/>
                  <a:pt x="121" y="68"/>
                </a:cubicBezTo>
                <a:cubicBezTo>
                  <a:pt x="121" y="68"/>
                  <a:pt x="121" y="68"/>
                  <a:pt x="122" y="68"/>
                </a:cubicBezTo>
                <a:cubicBezTo>
                  <a:pt x="122" y="68"/>
                  <a:pt x="122" y="68"/>
                  <a:pt x="123" y="68"/>
                </a:cubicBezTo>
                <a:cubicBezTo>
                  <a:pt x="123" y="68"/>
                  <a:pt x="123" y="68"/>
                  <a:pt x="123" y="68"/>
                </a:cubicBezTo>
                <a:cubicBezTo>
                  <a:pt x="123" y="68"/>
                  <a:pt x="123" y="69"/>
                  <a:pt x="123" y="69"/>
                </a:cubicBezTo>
                <a:cubicBezTo>
                  <a:pt x="122" y="69"/>
                  <a:pt x="121" y="69"/>
                  <a:pt x="120" y="69"/>
                </a:cubicBezTo>
                <a:close/>
                <a:moveTo>
                  <a:pt x="120" y="56"/>
                </a:moveTo>
                <a:cubicBezTo>
                  <a:pt x="121" y="56"/>
                  <a:pt x="122" y="56"/>
                  <a:pt x="122" y="57"/>
                </a:cubicBezTo>
                <a:cubicBezTo>
                  <a:pt x="122" y="57"/>
                  <a:pt x="122" y="58"/>
                  <a:pt x="121" y="58"/>
                </a:cubicBezTo>
                <a:cubicBezTo>
                  <a:pt x="121" y="58"/>
                  <a:pt x="120" y="58"/>
                  <a:pt x="120" y="59"/>
                </a:cubicBezTo>
                <a:cubicBezTo>
                  <a:pt x="120" y="59"/>
                  <a:pt x="119" y="59"/>
                  <a:pt x="119" y="59"/>
                </a:cubicBezTo>
                <a:cubicBezTo>
                  <a:pt x="119" y="59"/>
                  <a:pt x="119" y="59"/>
                  <a:pt x="119" y="59"/>
                </a:cubicBezTo>
                <a:cubicBezTo>
                  <a:pt x="120" y="59"/>
                  <a:pt x="120" y="59"/>
                  <a:pt x="120" y="59"/>
                </a:cubicBezTo>
                <a:cubicBezTo>
                  <a:pt x="122" y="58"/>
                  <a:pt x="122" y="58"/>
                  <a:pt x="124" y="58"/>
                </a:cubicBezTo>
                <a:cubicBezTo>
                  <a:pt x="124" y="58"/>
                  <a:pt x="125" y="57"/>
                  <a:pt x="125" y="58"/>
                </a:cubicBezTo>
                <a:cubicBezTo>
                  <a:pt x="126" y="58"/>
                  <a:pt x="126" y="58"/>
                  <a:pt x="126" y="58"/>
                </a:cubicBezTo>
                <a:cubicBezTo>
                  <a:pt x="126" y="59"/>
                  <a:pt x="125" y="59"/>
                  <a:pt x="124" y="60"/>
                </a:cubicBezTo>
                <a:cubicBezTo>
                  <a:pt x="124" y="60"/>
                  <a:pt x="123" y="61"/>
                  <a:pt x="122" y="62"/>
                </a:cubicBezTo>
                <a:cubicBezTo>
                  <a:pt x="122" y="62"/>
                  <a:pt x="122" y="62"/>
                  <a:pt x="122" y="63"/>
                </a:cubicBezTo>
                <a:cubicBezTo>
                  <a:pt x="122" y="63"/>
                  <a:pt x="122" y="63"/>
                  <a:pt x="122" y="64"/>
                </a:cubicBezTo>
                <a:cubicBezTo>
                  <a:pt x="122" y="64"/>
                  <a:pt x="122" y="64"/>
                  <a:pt x="122" y="64"/>
                </a:cubicBezTo>
                <a:cubicBezTo>
                  <a:pt x="122" y="63"/>
                  <a:pt x="124" y="63"/>
                  <a:pt x="124" y="63"/>
                </a:cubicBezTo>
                <a:cubicBezTo>
                  <a:pt x="125" y="63"/>
                  <a:pt x="125" y="63"/>
                  <a:pt x="125" y="63"/>
                </a:cubicBezTo>
                <a:cubicBezTo>
                  <a:pt x="126" y="64"/>
                  <a:pt x="125" y="64"/>
                  <a:pt x="124" y="65"/>
                </a:cubicBezTo>
                <a:cubicBezTo>
                  <a:pt x="124" y="65"/>
                  <a:pt x="123" y="65"/>
                  <a:pt x="122" y="65"/>
                </a:cubicBezTo>
                <a:cubicBezTo>
                  <a:pt x="122" y="65"/>
                  <a:pt x="122" y="66"/>
                  <a:pt x="121" y="66"/>
                </a:cubicBezTo>
                <a:cubicBezTo>
                  <a:pt x="120" y="66"/>
                  <a:pt x="120" y="66"/>
                  <a:pt x="119" y="66"/>
                </a:cubicBezTo>
                <a:cubicBezTo>
                  <a:pt x="119" y="66"/>
                  <a:pt x="119" y="66"/>
                  <a:pt x="119" y="66"/>
                </a:cubicBezTo>
                <a:cubicBezTo>
                  <a:pt x="119" y="66"/>
                  <a:pt x="119" y="66"/>
                  <a:pt x="120" y="66"/>
                </a:cubicBezTo>
                <a:cubicBezTo>
                  <a:pt x="121" y="65"/>
                  <a:pt x="122" y="65"/>
                  <a:pt x="123" y="64"/>
                </a:cubicBezTo>
                <a:cubicBezTo>
                  <a:pt x="123" y="64"/>
                  <a:pt x="124" y="64"/>
                  <a:pt x="124" y="64"/>
                </a:cubicBezTo>
                <a:cubicBezTo>
                  <a:pt x="124" y="64"/>
                  <a:pt x="124" y="64"/>
                  <a:pt x="124" y="64"/>
                </a:cubicBezTo>
                <a:cubicBezTo>
                  <a:pt x="124" y="64"/>
                  <a:pt x="124" y="64"/>
                  <a:pt x="123" y="64"/>
                </a:cubicBezTo>
                <a:cubicBezTo>
                  <a:pt x="123" y="64"/>
                  <a:pt x="122" y="64"/>
                  <a:pt x="122" y="64"/>
                </a:cubicBezTo>
                <a:cubicBezTo>
                  <a:pt x="121" y="64"/>
                  <a:pt x="121" y="64"/>
                  <a:pt x="121" y="64"/>
                </a:cubicBezTo>
                <a:cubicBezTo>
                  <a:pt x="121" y="65"/>
                  <a:pt x="121" y="65"/>
                  <a:pt x="120" y="65"/>
                </a:cubicBezTo>
                <a:cubicBezTo>
                  <a:pt x="120" y="65"/>
                  <a:pt x="120" y="65"/>
                  <a:pt x="119" y="65"/>
                </a:cubicBezTo>
                <a:cubicBezTo>
                  <a:pt x="119" y="65"/>
                  <a:pt x="119" y="65"/>
                  <a:pt x="119" y="65"/>
                </a:cubicBezTo>
                <a:cubicBezTo>
                  <a:pt x="118" y="65"/>
                  <a:pt x="117" y="66"/>
                  <a:pt x="116" y="66"/>
                </a:cubicBezTo>
                <a:cubicBezTo>
                  <a:pt x="115" y="67"/>
                  <a:pt x="115" y="69"/>
                  <a:pt x="113" y="69"/>
                </a:cubicBezTo>
                <a:cubicBezTo>
                  <a:pt x="113" y="69"/>
                  <a:pt x="113" y="69"/>
                  <a:pt x="113" y="69"/>
                </a:cubicBezTo>
                <a:cubicBezTo>
                  <a:pt x="113" y="69"/>
                  <a:pt x="113" y="68"/>
                  <a:pt x="113" y="68"/>
                </a:cubicBezTo>
                <a:cubicBezTo>
                  <a:pt x="114" y="67"/>
                  <a:pt x="114" y="67"/>
                  <a:pt x="115" y="66"/>
                </a:cubicBezTo>
                <a:cubicBezTo>
                  <a:pt x="115" y="66"/>
                  <a:pt x="115" y="65"/>
                  <a:pt x="115" y="65"/>
                </a:cubicBezTo>
                <a:cubicBezTo>
                  <a:pt x="115" y="66"/>
                  <a:pt x="115" y="66"/>
                  <a:pt x="115" y="66"/>
                </a:cubicBezTo>
                <a:cubicBezTo>
                  <a:pt x="114" y="67"/>
                  <a:pt x="114" y="67"/>
                  <a:pt x="114" y="68"/>
                </a:cubicBezTo>
                <a:cubicBezTo>
                  <a:pt x="114" y="68"/>
                  <a:pt x="114" y="68"/>
                  <a:pt x="114" y="68"/>
                </a:cubicBezTo>
                <a:cubicBezTo>
                  <a:pt x="114" y="68"/>
                  <a:pt x="114" y="68"/>
                  <a:pt x="115" y="67"/>
                </a:cubicBezTo>
                <a:cubicBezTo>
                  <a:pt x="115" y="67"/>
                  <a:pt x="115" y="67"/>
                  <a:pt x="116" y="66"/>
                </a:cubicBezTo>
                <a:cubicBezTo>
                  <a:pt x="116" y="66"/>
                  <a:pt x="117" y="65"/>
                  <a:pt x="117" y="65"/>
                </a:cubicBezTo>
                <a:cubicBezTo>
                  <a:pt x="118" y="65"/>
                  <a:pt x="118" y="65"/>
                  <a:pt x="119" y="65"/>
                </a:cubicBezTo>
                <a:cubicBezTo>
                  <a:pt x="119" y="64"/>
                  <a:pt x="119" y="64"/>
                  <a:pt x="119" y="64"/>
                </a:cubicBezTo>
                <a:cubicBezTo>
                  <a:pt x="119" y="64"/>
                  <a:pt x="119" y="64"/>
                  <a:pt x="119" y="64"/>
                </a:cubicBezTo>
                <a:cubicBezTo>
                  <a:pt x="119" y="63"/>
                  <a:pt x="118" y="63"/>
                  <a:pt x="118" y="63"/>
                </a:cubicBezTo>
                <a:cubicBezTo>
                  <a:pt x="118" y="63"/>
                  <a:pt x="118" y="63"/>
                  <a:pt x="118" y="63"/>
                </a:cubicBezTo>
                <a:cubicBezTo>
                  <a:pt x="118" y="63"/>
                  <a:pt x="117" y="64"/>
                  <a:pt x="116" y="64"/>
                </a:cubicBezTo>
                <a:cubicBezTo>
                  <a:pt x="116" y="64"/>
                  <a:pt x="116" y="64"/>
                  <a:pt x="116" y="64"/>
                </a:cubicBezTo>
                <a:cubicBezTo>
                  <a:pt x="117" y="64"/>
                  <a:pt x="117" y="63"/>
                  <a:pt x="117" y="62"/>
                </a:cubicBezTo>
                <a:cubicBezTo>
                  <a:pt x="117" y="62"/>
                  <a:pt x="117" y="62"/>
                  <a:pt x="117" y="62"/>
                </a:cubicBezTo>
                <a:cubicBezTo>
                  <a:pt x="117" y="62"/>
                  <a:pt x="116" y="63"/>
                  <a:pt x="116" y="62"/>
                </a:cubicBezTo>
                <a:cubicBezTo>
                  <a:pt x="117" y="62"/>
                  <a:pt x="116" y="61"/>
                  <a:pt x="116" y="61"/>
                </a:cubicBezTo>
                <a:cubicBezTo>
                  <a:pt x="116" y="61"/>
                  <a:pt x="116" y="60"/>
                  <a:pt x="116" y="60"/>
                </a:cubicBezTo>
                <a:cubicBezTo>
                  <a:pt x="116" y="59"/>
                  <a:pt x="116" y="59"/>
                  <a:pt x="116" y="59"/>
                </a:cubicBezTo>
                <a:cubicBezTo>
                  <a:pt x="116" y="59"/>
                  <a:pt x="116" y="59"/>
                  <a:pt x="116" y="59"/>
                </a:cubicBezTo>
                <a:cubicBezTo>
                  <a:pt x="116" y="59"/>
                  <a:pt x="116" y="59"/>
                  <a:pt x="116" y="59"/>
                </a:cubicBezTo>
                <a:cubicBezTo>
                  <a:pt x="116" y="59"/>
                  <a:pt x="117" y="60"/>
                  <a:pt x="117" y="60"/>
                </a:cubicBezTo>
                <a:cubicBezTo>
                  <a:pt x="117" y="61"/>
                  <a:pt x="117" y="61"/>
                  <a:pt x="118" y="62"/>
                </a:cubicBezTo>
                <a:cubicBezTo>
                  <a:pt x="118" y="62"/>
                  <a:pt x="118" y="62"/>
                  <a:pt x="118" y="62"/>
                </a:cubicBezTo>
                <a:cubicBezTo>
                  <a:pt x="118" y="61"/>
                  <a:pt x="118" y="61"/>
                  <a:pt x="119" y="60"/>
                </a:cubicBezTo>
                <a:cubicBezTo>
                  <a:pt x="118" y="60"/>
                  <a:pt x="118" y="60"/>
                  <a:pt x="118" y="59"/>
                </a:cubicBezTo>
                <a:cubicBezTo>
                  <a:pt x="118" y="59"/>
                  <a:pt x="118" y="59"/>
                  <a:pt x="119" y="59"/>
                </a:cubicBezTo>
                <a:cubicBezTo>
                  <a:pt x="119" y="58"/>
                  <a:pt x="120" y="57"/>
                  <a:pt x="121" y="56"/>
                </a:cubicBezTo>
                <a:cubicBezTo>
                  <a:pt x="120" y="56"/>
                  <a:pt x="120" y="56"/>
                  <a:pt x="120" y="56"/>
                </a:cubicBezTo>
                <a:close/>
                <a:moveTo>
                  <a:pt x="124" y="58"/>
                </a:moveTo>
                <a:cubicBezTo>
                  <a:pt x="124" y="59"/>
                  <a:pt x="124" y="59"/>
                  <a:pt x="124" y="59"/>
                </a:cubicBezTo>
                <a:cubicBezTo>
                  <a:pt x="123" y="60"/>
                  <a:pt x="123" y="60"/>
                  <a:pt x="122" y="61"/>
                </a:cubicBezTo>
                <a:cubicBezTo>
                  <a:pt x="122" y="61"/>
                  <a:pt x="122" y="61"/>
                  <a:pt x="122" y="62"/>
                </a:cubicBezTo>
                <a:cubicBezTo>
                  <a:pt x="122" y="62"/>
                  <a:pt x="122" y="62"/>
                  <a:pt x="122" y="62"/>
                </a:cubicBezTo>
                <a:cubicBezTo>
                  <a:pt x="122" y="62"/>
                  <a:pt x="122" y="62"/>
                  <a:pt x="122" y="62"/>
                </a:cubicBezTo>
                <a:cubicBezTo>
                  <a:pt x="122" y="60"/>
                  <a:pt x="121" y="60"/>
                  <a:pt x="121" y="59"/>
                </a:cubicBezTo>
                <a:cubicBezTo>
                  <a:pt x="121" y="59"/>
                  <a:pt x="121" y="59"/>
                  <a:pt x="121" y="59"/>
                </a:cubicBezTo>
                <a:cubicBezTo>
                  <a:pt x="121" y="59"/>
                  <a:pt x="122" y="59"/>
                  <a:pt x="122" y="59"/>
                </a:cubicBezTo>
                <a:cubicBezTo>
                  <a:pt x="123" y="59"/>
                  <a:pt x="123" y="58"/>
                  <a:pt x="124" y="58"/>
                </a:cubicBezTo>
                <a:close/>
                <a:moveTo>
                  <a:pt x="122" y="62"/>
                </a:moveTo>
                <a:cubicBezTo>
                  <a:pt x="122" y="62"/>
                  <a:pt x="122" y="62"/>
                  <a:pt x="122" y="62"/>
                </a:cubicBezTo>
                <a:cubicBezTo>
                  <a:pt x="121" y="63"/>
                  <a:pt x="120" y="63"/>
                  <a:pt x="120" y="64"/>
                </a:cubicBezTo>
                <a:cubicBezTo>
                  <a:pt x="120" y="64"/>
                  <a:pt x="120" y="63"/>
                  <a:pt x="120" y="63"/>
                </a:cubicBezTo>
                <a:cubicBezTo>
                  <a:pt x="120" y="63"/>
                  <a:pt x="120" y="63"/>
                  <a:pt x="120" y="63"/>
                </a:cubicBezTo>
                <a:cubicBezTo>
                  <a:pt x="120" y="63"/>
                  <a:pt x="120" y="63"/>
                  <a:pt x="120" y="63"/>
                </a:cubicBezTo>
                <a:cubicBezTo>
                  <a:pt x="120" y="62"/>
                  <a:pt x="122" y="62"/>
                  <a:pt x="122" y="62"/>
                </a:cubicBezTo>
                <a:close/>
                <a:moveTo>
                  <a:pt x="119" y="62"/>
                </a:moveTo>
                <a:cubicBezTo>
                  <a:pt x="119" y="62"/>
                  <a:pt x="119" y="62"/>
                  <a:pt x="119" y="62"/>
                </a:cubicBezTo>
                <a:cubicBezTo>
                  <a:pt x="119" y="62"/>
                  <a:pt x="119" y="62"/>
                  <a:pt x="119" y="62"/>
                </a:cubicBezTo>
                <a:cubicBezTo>
                  <a:pt x="119" y="62"/>
                  <a:pt x="119" y="62"/>
                  <a:pt x="119" y="62"/>
                </a:cubicBezTo>
                <a:cubicBezTo>
                  <a:pt x="119" y="62"/>
                  <a:pt x="119" y="62"/>
                  <a:pt x="119" y="62"/>
                </a:cubicBezTo>
                <a:cubicBezTo>
                  <a:pt x="119" y="62"/>
                  <a:pt x="120" y="61"/>
                  <a:pt x="120" y="61"/>
                </a:cubicBezTo>
                <a:cubicBezTo>
                  <a:pt x="120" y="61"/>
                  <a:pt x="120" y="61"/>
                  <a:pt x="120" y="61"/>
                </a:cubicBezTo>
                <a:cubicBezTo>
                  <a:pt x="120" y="60"/>
                  <a:pt x="120" y="60"/>
                  <a:pt x="120" y="60"/>
                </a:cubicBezTo>
                <a:cubicBezTo>
                  <a:pt x="120" y="60"/>
                  <a:pt x="120" y="60"/>
                  <a:pt x="120" y="60"/>
                </a:cubicBezTo>
                <a:cubicBezTo>
                  <a:pt x="120" y="60"/>
                  <a:pt x="121" y="60"/>
                  <a:pt x="121" y="60"/>
                </a:cubicBezTo>
                <a:cubicBezTo>
                  <a:pt x="121" y="60"/>
                  <a:pt x="121" y="61"/>
                  <a:pt x="121" y="61"/>
                </a:cubicBezTo>
                <a:cubicBezTo>
                  <a:pt x="121" y="62"/>
                  <a:pt x="120" y="62"/>
                  <a:pt x="120" y="62"/>
                </a:cubicBezTo>
                <a:cubicBezTo>
                  <a:pt x="119" y="62"/>
                  <a:pt x="119" y="62"/>
                  <a:pt x="119" y="62"/>
                </a:cubicBezTo>
                <a:cubicBezTo>
                  <a:pt x="119" y="62"/>
                  <a:pt x="119" y="62"/>
                  <a:pt x="119" y="62"/>
                </a:cubicBezTo>
                <a:cubicBezTo>
                  <a:pt x="119" y="62"/>
                  <a:pt x="119" y="62"/>
                  <a:pt x="119" y="62"/>
                </a:cubicBezTo>
                <a:close/>
                <a:moveTo>
                  <a:pt x="108" y="46"/>
                </a:moveTo>
                <a:cubicBezTo>
                  <a:pt x="105" y="46"/>
                  <a:pt x="105" y="46"/>
                  <a:pt x="105" y="46"/>
                </a:cubicBezTo>
                <a:cubicBezTo>
                  <a:pt x="105" y="46"/>
                  <a:pt x="105" y="46"/>
                  <a:pt x="105" y="46"/>
                </a:cubicBezTo>
                <a:cubicBezTo>
                  <a:pt x="105" y="46"/>
                  <a:pt x="105" y="46"/>
                  <a:pt x="105" y="45"/>
                </a:cubicBezTo>
                <a:cubicBezTo>
                  <a:pt x="105" y="41"/>
                  <a:pt x="105" y="41"/>
                  <a:pt x="105" y="41"/>
                </a:cubicBezTo>
                <a:cubicBezTo>
                  <a:pt x="105" y="40"/>
                  <a:pt x="105" y="40"/>
                  <a:pt x="105" y="40"/>
                </a:cubicBezTo>
                <a:cubicBezTo>
                  <a:pt x="105" y="40"/>
                  <a:pt x="105" y="40"/>
                  <a:pt x="105" y="40"/>
                </a:cubicBezTo>
                <a:cubicBezTo>
                  <a:pt x="104" y="40"/>
                  <a:pt x="104" y="40"/>
                  <a:pt x="104" y="40"/>
                </a:cubicBezTo>
                <a:cubicBezTo>
                  <a:pt x="104" y="39"/>
                  <a:pt x="104" y="39"/>
                  <a:pt x="104" y="39"/>
                </a:cubicBezTo>
                <a:cubicBezTo>
                  <a:pt x="105" y="39"/>
                  <a:pt x="105" y="39"/>
                  <a:pt x="106" y="39"/>
                </a:cubicBezTo>
                <a:cubicBezTo>
                  <a:pt x="106" y="39"/>
                  <a:pt x="106" y="39"/>
                  <a:pt x="106" y="39"/>
                </a:cubicBezTo>
                <a:cubicBezTo>
                  <a:pt x="107" y="39"/>
                  <a:pt x="107" y="39"/>
                  <a:pt x="107" y="39"/>
                </a:cubicBezTo>
                <a:cubicBezTo>
                  <a:pt x="107" y="45"/>
                  <a:pt x="107" y="45"/>
                  <a:pt x="107" y="45"/>
                </a:cubicBezTo>
                <a:cubicBezTo>
                  <a:pt x="107" y="45"/>
                  <a:pt x="107" y="46"/>
                  <a:pt x="108" y="46"/>
                </a:cubicBezTo>
                <a:cubicBezTo>
                  <a:pt x="108" y="46"/>
                  <a:pt x="108" y="46"/>
                  <a:pt x="108" y="46"/>
                </a:cubicBezTo>
                <a:cubicBezTo>
                  <a:pt x="108" y="46"/>
                  <a:pt x="108" y="46"/>
                  <a:pt x="108" y="46"/>
                </a:cubicBezTo>
                <a:close/>
                <a:moveTo>
                  <a:pt x="115" y="44"/>
                </a:moveTo>
                <a:cubicBezTo>
                  <a:pt x="115" y="45"/>
                  <a:pt x="115" y="45"/>
                  <a:pt x="114" y="46"/>
                </a:cubicBezTo>
                <a:cubicBezTo>
                  <a:pt x="114" y="46"/>
                  <a:pt x="113" y="46"/>
                  <a:pt x="112" y="46"/>
                </a:cubicBezTo>
                <a:cubicBezTo>
                  <a:pt x="112" y="46"/>
                  <a:pt x="111" y="46"/>
                  <a:pt x="111" y="46"/>
                </a:cubicBezTo>
                <a:cubicBezTo>
                  <a:pt x="110" y="46"/>
                  <a:pt x="110" y="45"/>
                  <a:pt x="110" y="45"/>
                </a:cubicBezTo>
                <a:cubicBezTo>
                  <a:pt x="110" y="44"/>
                  <a:pt x="110" y="43"/>
                  <a:pt x="111" y="43"/>
                </a:cubicBezTo>
                <a:cubicBezTo>
                  <a:pt x="110" y="42"/>
                  <a:pt x="110" y="41"/>
                  <a:pt x="110" y="41"/>
                </a:cubicBezTo>
                <a:cubicBezTo>
                  <a:pt x="110" y="40"/>
                  <a:pt x="110" y="40"/>
                  <a:pt x="111" y="39"/>
                </a:cubicBezTo>
                <a:cubicBezTo>
                  <a:pt x="111" y="39"/>
                  <a:pt x="112" y="39"/>
                  <a:pt x="112" y="39"/>
                </a:cubicBezTo>
                <a:cubicBezTo>
                  <a:pt x="113" y="39"/>
                  <a:pt x="114" y="39"/>
                  <a:pt x="114" y="39"/>
                </a:cubicBezTo>
                <a:cubicBezTo>
                  <a:pt x="115" y="39"/>
                  <a:pt x="115" y="40"/>
                  <a:pt x="115" y="40"/>
                </a:cubicBezTo>
                <a:cubicBezTo>
                  <a:pt x="115" y="41"/>
                  <a:pt x="114" y="42"/>
                  <a:pt x="114" y="42"/>
                </a:cubicBezTo>
                <a:cubicBezTo>
                  <a:pt x="115" y="43"/>
                  <a:pt x="115" y="44"/>
                  <a:pt x="115" y="44"/>
                </a:cubicBezTo>
                <a:close/>
                <a:moveTo>
                  <a:pt x="113" y="40"/>
                </a:moveTo>
                <a:cubicBezTo>
                  <a:pt x="113" y="41"/>
                  <a:pt x="113" y="41"/>
                  <a:pt x="113" y="42"/>
                </a:cubicBezTo>
                <a:cubicBezTo>
                  <a:pt x="113" y="41"/>
                  <a:pt x="112" y="41"/>
                  <a:pt x="112" y="41"/>
                </a:cubicBezTo>
                <a:cubicBezTo>
                  <a:pt x="112" y="40"/>
                  <a:pt x="112" y="40"/>
                  <a:pt x="112" y="40"/>
                </a:cubicBezTo>
                <a:cubicBezTo>
                  <a:pt x="112" y="40"/>
                  <a:pt x="112" y="39"/>
                  <a:pt x="112" y="39"/>
                </a:cubicBezTo>
                <a:cubicBezTo>
                  <a:pt x="112" y="39"/>
                  <a:pt x="112" y="39"/>
                  <a:pt x="112" y="39"/>
                </a:cubicBezTo>
                <a:cubicBezTo>
                  <a:pt x="113" y="39"/>
                  <a:pt x="113" y="39"/>
                  <a:pt x="113" y="40"/>
                </a:cubicBezTo>
                <a:close/>
                <a:moveTo>
                  <a:pt x="113" y="45"/>
                </a:moveTo>
                <a:cubicBezTo>
                  <a:pt x="113" y="45"/>
                  <a:pt x="113" y="46"/>
                  <a:pt x="113" y="46"/>
                </a:cubicBezTo>
                <a:cubicBezTo>
                  <a:pt x="113" y="46"/>
                  <a:pt x="113" y="46"/>
                  <a:pt x="112" y="46"/>
                </a:cubicBezTo>
                <a:cubicBezTo>
                  <a:pt x="112" y="46"/>
                  <a:pt x="112" y="46"/>
                  <a:pt x="112" y="46"/>
                </a:cubicBezTo>
                <a:cubicBezTo>
                  <a:pt x="111" y="45"/>
                  <a:pt x="111" y="45"/>
                  <a:pt x="111" y="45"/>
                </a:cubicBezTo>
                <a:cubicBezTo>
                  <a:pt x="111" y="44"/>
                  <a:pt x="112" y="43"/>
                  <a:pt x="112" y="43"/>
                </a:cubicBezTo>
                <a:cubicBezTo>
                  <a:pt x="112" y="43"/>
                  <a:pt x="113" y="44"/>
                  <a:pt x="113" y="44"/>
                </a:cubicBezTo>
                <a:cubicBezTo>
                  <a:pt x="113" y="44"/>
                  <a:pt x="113" y="44"/>
                  <a:pt x="113" y="44"/>
                </a:cubicBezTo>
                <a:cubicBezTo>
                  <a:pt x="113" y="45"/>
                  <a:pt x="113" y="45"/>
                  <a:pt x="113" y="45"/>
                </a:cubicBezTo>
                <a:close/>
                <a:moveTo>
                  <a:pt x="122" y="42"/>
                </a:moveTo>
                <a:cubicBezTo>
                  <a:pt x="122" y="44"/>
                  <a:pt x="122" y="45"/>
                  <a:pt x="121" y="45"/>
                </a:cubicBezTo>
                <a:cubicBezTo>
                  <a:pt x="121" y="46"/>
                  <a:pt x="120" y="46"/>
                  <a:pt x="119" y="46"/>
                </a:cubicBezTo>
                <a:cubicBezTo>
                  <a:pt x="118" y="46"/>
                  <a:pt x="118" y="46"/>
                  <a:pt x="117" y="46"/>
                </a:cubicBezTo>
                <a:cubicBezTo>
                  <a:pt x="117" y="46"/>
                  <a:pt x="117" y="45"/>
                  <a:pt x="117" y="45"/>
                </a:cubicBezTo>
                <a:cubicBezTo>
                  <a:pt x="117" y="45"/>
                  <a:pt x="117" y="44"/>
                  <a:pt x="117" y="44"/>
                </a:cubicBezTo>
                <a:cubicBezTo>
                  <a:pt x="117" y="44"/>
                  <a:pt x="118" y="44"/>
                  <a:pt x="118" y="44"/>
                </a:cubicBezTo>
                <a:cubicBezTo>
                  <a:pt x="118" y="44"/>
                  <a:pt x="118" y="44"/>
                  <a:pt x="119" y="44"/>
                </a:cubicBezTo>
                <a:cubicBezTo>
                  <a:pt x="119" y="44"/>
                  <a:pt x="119" y="45"/>
                  <a:pt x="119" y="45"/>
                </a:cubicBezTo>
                <a:cubicBezTo>
                  <a:pt x="119" y="45"/>
                  <a:pt x="119" y="45"/>
                  <a:pt x="119" y="45"/>
                </a:cubicBezTo>
                <a:cubicBezTo>
                  <a:pt x="119" y="46"/>
                  <a:pt x="118" y="46"/>
                  <a:pt x="118" y="46"/>
                </a:cubicBezTo>
                <a:cubicBezTo>
                  <a:pt x="118" y="46"/>
                  <a:pt x="118" y="46"/>
                  <a:pt x="119" y="46"/>
                </a:cubicBezTo>
                <a:cubicBezTo>
                  <a:pt x="119" y="46"/>
                  <a:pt x="119" y="46"/>
                  <a:pt x="119" y="46"/>
                </a:cubicBezTo>
                <a:cubicBezTo>
                  <a:pt x="120" y="46"/>
                  <a:pt x="120" y="44"/>
                  <a:pt x="120" y="43"/>
                </a:cubicBezTo>
                <a:cubicBezTo>
                  <a:pt x="120" y="43"/>
                  <a:pt x="119" y="43"/>
                  <a:pt x="119" y="43"/>
                </a:cubicBezTo>
                <a:cubicBezTo>
                  <a:pt x="118" y="43"/>
                  <a:pt x="118" y="43"/>
                  <a:pt x="117" y="43"/>
                </a:cubicBezTo>
                <a:cubicBezTo>
                  <a:pt x="117" y="42"/>
                  <a:pt x="117" y="42"/>
                  <a:pt x="117" y="41"/>
                </a:cubicBezTo>
                <a:cubicBezTo>
                  <a:pt x="117" y="40"/>
                  <a:pt x="117" y="40"/>
                  <a:pt x="117" y="39"/>
                </a:cubicBezTo>
                <a:cubicBezTo>
                  <a:pt x="118" y="39"/>
                  <a:pt x="119" y="39"/>
                  <a:pt x="119" y="39"/>
                </a:cubicBezTo>
                <a:cubicBezTo>
                  <a:pt x="120" y="39"/>
                  <a:pt x="121" y="39"/>
                  <a:pt x="121" y="40"/>
                </a:cubicBezTo>
                <a:cubicBezTo>
                  <a:pt x="122" y="40"/>
                  <a:pt x="122" y="41"/>
                  <a:pt x="122" y="42"/>
                </a:cubicBezTo>
                <a:close/>
                <a:moveTo>
                  <a:pt x="120" y="43"/>
                </a:moveTo>
                <a:cubicBezTo>
                  <a:pt x="120" y="43"/>
                  <a:pt x="120" y="43"/>
                  <a:pt x="119" y="43"/>
                </a:cubicBezTo>
                <a:cubicBezTo>
                  <a:pt x="119" y="43"/>
                  <a:pt x="119" y="43"/>
                  <a:pt x="119" y="41"/>
                </a:cubicBezTo>
                <a:cubicBezTo>
                  <a:pt x="119" y="41"/>
                  <a:pt x="119" y="40"/>
                  <a:pt x="119" y="40"/>
                </a:cubicBezTo>
                <a:cubicBezTo>
                  <a:pt x="119" y="39"/>
                  <a:pt x="119" y="39"/>
                  <a:pt x="119" y="39"/>
                </a:cubicBezTo>
                <a:cubicBezTo>
                  <a:pt x="120" y="39"/>
                  <a:pt x="120" y="40"/>
                  <a:pt x="120" y="41"/>
                </a:cubicBezTo>
                <a:cubicBezTo>
                  <a:pt x="120" y="42"/>
                  <a:pt x="120" y="42"/>
                  <a:pt x="120" y="43"/>
                </a:cubicBezTo>
                <a:close/>
                <a:moveTo>
                  <a:pt x="129" y="44"/>
                </a:moveTo>
                <a:cubicBezTo>
                  <a:pt x="129" y="45"/>
                  <a:pt x="128" y="45"/>
                  <a:pt x="128" y="46"/>
                </a:cubicBezTo>
                <a:cubicBezTo>
                  <a:pt x="128" y="46"/>
                  <a:pt x="127" y="46"/>
                  <a:pt x="126" y="46"/>
                </a:cubicBezTo>
                <a:cubicBezTo>
                  <a:pt x="125" y="46"/>
                  <a:pt x="125" y="46"/>
                  <a:pt x="124" y="45"/>
                </a:cubicBezTo>
                <a:cubicBezTo>
                  <a:pt x="124" y="45"/>
                  <a:pt x="124" y="44"/>
                  <a:pt x="124" y="43"/>
                </a:cubicBezTo>
                <a:cubicBezTo>
                  <a:pt x="124" y="41"/>
                  <a:pt x="124" y="41"/>
                  <a:pt x="124" y="40"/>
                </a:cubicBezTo>
                <a:cubicBezTo>
                  <a:pt x="125" y="39"/>
                  <a:pt x="126" y="39"/>
                  <a:pt x="127" y="39"/>
                </a:cubicBezTo>
                <a:cubicBezTo>
                  <a:pt x="127" y="39"/>
                  <a:pt x="128" y="39"/>
                  <a:pt x="128" y="39"/>
                </a:cubicBezTo>
                <a:cubicBezTo>
                  <a:pt x="128" y="39"/>
                  <a:pt x="129" y="40"/>
                  <a:pt x="129" y="40"/>
                </a:cubicBezTo>
                <a:cubicBezTo>
                  <a:pt x="129" y="40"/>
                  <a:pt x="128" y="41"/>
                  <a:pt x="128" y="41"/>
                </a:cubicBezTo>
                <a:cubicBezTo>
                  <a:pt x="128" y="41"/>
                  <a:pt x="128" y="41"/>
                  <a:pt x="128" y="41"/>
                </a:cubicBezTo>
                <a:cubicBezTo>
                  <a:pt x="127" y="41"/>
                  <a:pt x="127" y="41"/>
                  <a:pt x="127" y="41"/>
                </a:cubicBezTo>
                <a:cubicBezTo>
                  <a:pt x="127" y="41"/>
                  <a:pt x="126" y="40"/>
                  <a:pt x="126" y="40"/>
                </a:cubicBezTo>
                <a:cubicBezTo>
                  <a:pt x="126" y="40"/>
                  <a:pt x="127" y="40"/>
                  <a:pt x="127" y="40"/>
                </a:cubicBezTo>
                <a:cubicBezTo>
                  <a:pt x="127" y="39"/>
                  <a:pt x="127" y="39"/>
                  <a:pt x="127" y="39"/>
                </a:cubicBezTo>
                <a:cubicBezTo>
                  <a:pt x="127" y="39"/>
                  <a:pt x="127" y="39"/>
                  <a:pt x="127" y="39"/>
                </a:cubicBezTo>
                <a:cubicBezTo>
                  <a:pt x="126" y="39"/>
                  <a:pt x="125" y="40"/>
                  <a:pt x="125" y="42"/>
                </a:cubicBezTo>
                <a:cubicBezTo>
                  <a:pt x="126" y="42"/>
                  <a:pt x="126" y="42"/>
                  <a:pt x="127" y="42"/>
                </a:cubicBezTo>
                <a:cubicBezTo>
                  <a:pt x="127" y="42"/>
                  <a:pt x="128" y="42"/>
                  <a:pt x="128" y="42"/>
                </a:cubicBezTo>
                <a:cubicBezTo>
                  <a:pt x="128" y="43"/>
                  <a:pt x="129" y="43"/>
                  <a:pt x="129" y="44"/>
                </a:cubicBezTo>
                <a:close/>
                <a:moveTo>
                  <a:pt x="127" y="44"/>
                </a:moveTo>
                <a:cubicBezTo>
                  <a:pt x="127" y="44"/>
                  <a:pt x="127" y="45"/>
                  <a:pt x="127" y="45"/>
                </a:cubicBezTo>
                <a:cubicBezTo>
                  <a:pt x="127" y="46"/>
                  <a:pt x="127" y="46"/>
                  <a:pt x="126" y="46"/>
                </a:cubicBezTo>
                <a:cubicBezTo>
                  <a:pt x="126" y="46"/>
                  <a:pt x="125" y="45"/>
                  <a:pt x="125" y="44"/>
                </a:cubicBezTo>
                <a:cubicBezTo>
                  <a:pt x="125" y="44"/>
                  <a:pt x="125" y="43"/>
                  <a:pt x="125" y="43"/>
                </a:cubicBezTo>
                <a:cubicBezTo>
                  <a:pt x="125" y="43"/>
                  <a:pt x="125" y="42"/>
                  <a:pt x="125" y="42"/>
                </a:cubicBezTo>
                <a:cubicBezTo>
                  <a:pt x="126" y="42"/>
                  <a:pt x="126" y="42"/>
                  <a:pt x="126" y="42"/>
                </a:cubicBezTo>
                <a:cubicBezTo>
                  <a:pt x="127" y="42"/>
                  <a:pt x="127" y="43"/>
                  <a:pt x="127" y="44"/>
                </a:cubicBezTo>
                <a:close/>
              </a:path>
            </a:pathLst>
          </a:custGeom>
          <a:solidFill>
            <a:srgbClr val="002060"/>
          </a:solidFill>
          <a:ln>
            <a:noFill/>
          </a:ln>
        </p:spPr>
        <p:txBody>
          <a:bodyPr anchor="ctr"/>
          <a:lstStyle/>
          <a:p>
            <a:endParaRPr lang="zh-CN" altLang="en-US"/>
          </a:p>
        </p:txBody>
      </p:sp>
    </p:spTree>
    <p:extLst>
      <p:ext uri="{BB962C8B-B14F-4D97-AF65-F5344CB8AC3E}">
        <p14:creationId xmlns:p14="http://schemas.microsoft.com/office/powerpoint/2010/main" val="1237690732"/>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accent3">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06" r:id="rId1"/>
    <p:sldLayoutId id="2147484004" r:id="rId2"/>
    <p:sldLayoutId id="2147484007" r:id="rId3"/>
  </p:sldLayoutIdLst>
  <p:transition>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slide" Target="slide172.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2.wmf"/><Relationship Id="rId4" Type="http://schemas.openxmlformats.org/officeDocument/2006/relationships/oleObject" Target="../embeddings/oleObject2.bin"/></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hyperlink" Target="http://www.lib.swjtu.edu.cn/asset/detail/0/101119035264" TargetMode="External"/><Relationship Id="rId2" Type="http://schemas.openxmlformats.org/officeDocument/2006/relationships/hyperlink" Target="https://sxxnjd.chineseall.cn/v3/book/read/qOyOg/PDF/188" TargetMode="External"/><Relationship Id="rId1" Type="http://schemas.openxmlformats.org/officeDocument/2006/relationships/slideLayout" Target="../slideLayouts/slideLayout2.xml"/><Relationship Id="rId4" Type="http://schemas.openxmlformats.org/officeDocument/2006/relationships/hyperlink" Target="https://pan.baidu.com/s/1oKL3yX9gT53Sim3vQBSgVg" TargetMode="Externa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838200"/>
            <a:ext cx="7794625"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7" name="Rectangle 7"/>
          <p:cNvSpPr>
            <a:spLocks noChangeArrowheads="1"/>
          </p:cNvSpPr>
          <p:nvPr/>
        </p:nvSpPr>
        <p:spPr bwMode="auto">
          <a:xfrm>
            <a:off x="2943225" y="4603750"/>
            <a:ext cx="3398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defTabSz="762000" eaLnBrk="0" hangingPunct="0">
              <a:lnSpc>
                <a:spcPct val="125000"/>
              </a:lnSpc>
              <a:spcBef>
                <a:spcPct val="20000"/>
              </a:spcBef>
            </a:pPr>
            <a:r>
              <a:rPr kumimoji="1" lang="zh-CN" altLang="en-US" dirty="0">
                <a:latin typeface="黑体" pitchFamily="2" charset="-122"/>
                <a:ea typeface="黑体" pitchFamily="2" charset="-122"/>
              </a:rPr>
              <a:t>20</a:t>
            </a:r>
            <a:r>
              <a:rPr kumimoji="1" lang="en-US" altLang="zh-CN" dirty="0">
                <a:latin typeface="黑体" pitchFamily="2" charset="-122"/>
                <a:ea typeface="黑体" pitchFamily="2" charset="-122"/>
              </a:rPr>
              <a:t>24</a:t>
            </a:r>
            <a:r>
              <a:rPr kumimoji="1" lang="zh-CN" altLang="en-US" dirty="0">
                <a:latin typeface="黑体" pitchFamily="2" charset="-122"/>
                <a:ea typeface="黑体" pitchFamily="2" charset="-122"/>
              </a:rPr>
              <a:t>年</a:t>
            </a:r>
            <a:r>
              <a:rPr kumimoji="1" lang="en-US" altLang="zh-CN" dirty="0">
                <a:latin typeface="黑体" pitchFamily="2" charset="-122"/>
                <a:ea typeface="黑体" pitchFamily="2" charset="-122"/>
              </a:rPr>
              <a:t>5</a:t>
            </a:r>
            <a:r>
              <a:rPr kumimoji="1" lang="zh-CN" altLang="en-US" dirty="0">
                <a:latin typeface="黑体" pitchFamily="2" charset="-122"/>
                <a:ea typeface="黑体" pitchFamily="2" charset="-122"/>
              </a:rPr>
              <a:t>月</a:t>
            </a:r>
          </a:p>
        </p:txBody>
      </p:sp>
      <p:sp>
        <p:nvSpPr>
          <p:cNvPr id="644100" name="Rectangle 4"/>
          <p:cNvSpPr>
            <a:spLocks noChangeArrowheads="1"/>
          </p:cNvSpPr>
          <p:nvPr/>
        </p:nvSpPr>
        <p:spPr bwMode="auto">
          <a:xfrm>
            <a:off x="2619375" y="911225"/>
            <a:ext cx="3841750" cy="641350"/>
          </a:xfrm>
          <a:prstGeom prst="rect">
            <a:avLst/>
          </a:prstGeom>
          <a:noFill/>
          <a:ln w="9525">
            <a:noFill/>
            <a:miter lim="800000"/>
            <a:headEnd/>
            <a:tailEnd/>
          </a:ln>
          <a:effectLst/>
        </p:spPr>
        <p:txBody>
          <a:bodyPr>
            <a:spAutoFit/>
          </a:bodyPr>
          <a:lstStyle/>
          <a:p>
            <a:pPr algn="dist">
              <a:lnSpc>
                <a:spcPct val="100000"/>
              </a:lnSpc>
              <a:spcBef>
                <a:spcPct val="0"/>
              </a:spcBef>
              <a:defRPr/>
            </a:pPr>
            <a:r>
              <a:rPr kumimoji="1" lang="zh-CN" altLang="en-US" sz="3600">
                <a:solidFill>
                  <a:srgbClr val="990000"/>
                </a:solidFill>
                <a:effectLst>
                  <a:outerShdw blurRad="38100" dist="38100" dir="2700000" algn="tl">
                    <a:srgbClr val="C0C0C0"/>
                  </a:outerShdw>
                </a:effectLst>
                <a:latin typeface="Arial" charset="0"/>
                <a:ea typeface="黑体" pitchFamily="2" charset="-122"/>
              </a:rPr>
              <a:t>计算机组成原理</a:t>
            </a:r>
            <a:r>
              <a:rPr kumimoji="1" lang="en-US" altLang="zh-CN" sz="1100" dirty="0">
                <a:solidFill>
                  <a:schemeClr val="tx2"/>
                </a:solidFill>
                <a:latin typeface="Arial" charset="0"/>
                <a:ea typeface="宋体" pitchFamily="2" charset="-122"/>
              </a:rPr>
              <a:t> </a:t>
            </a:r>
            <a:endParaRPr kumimoji="1" lang="en-US" altLang="zh-CN" b="0" dirty="0">
              <a:solidFill>
                <a:schemeClr val="tx1"/>
              </a:solidFill>
              <a:latin typeface="Arial" charset="0"/>
              <a:ea typeface="宋体" pitchFamily="2" charset="-122"/>
            </a:endParaRPr>
          </a:p>
        </p:txBody>
      </p:sp>
      <p:sp>
        <p:nvSpPr>
          <p:cNvPr id="6" name="Rectangle 6"/>
          <p:cNvSpPr>
            <a:spLocks noChangeArrowheads="1"/>
          </p:cNvSpPr>
          <p:nvPr/>
        </p:nvSpPr>
        <p:spPr bwMode="auto">
          <a:xfrm>
            <a:off x="2895600" y="2441575"/>
            <a:ext cx="3398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dist" defTabSz="762000" eaLnBrk="0" hangingPunct="0">
              <a:lnSpc>
                <a:spcPct val="125000"/>
              </a:lnSpc>
              <a:buClrTx/>
              <a:buFontTx/>
              <a:buNone/>
            </a:pPr>
            <a:r>
              <a:rPr lang="zh-CN" altLang="en-US" sz="2400" dirty="0">
                <a:solidFill>
                  <a:srgbClr val="000080"/>
                </a:solidFill>
                <a:latin typeface="黑体" pitchFamily="2" charset="-122"/>
                <a:ea typeface="黑体" pitchFamily="2" charset="-122"/>
              </a:rPr>
              <a:t>西 南 交 通 大 学</a:t>
            </a:r>
          </a:p>
          <a:p>
            <a:pPr algn="dist" defTabSz="762000" eaLnBrk="0" hangingPunct="0">
              <a:lnSpc>
                <a:spcPct val="125000"/>
              </a:lnSpc>
              <a:buClrTx/>
              <a:buFontTx/>
              <a:buNone/>
            </a:pPr>
            <a:r>
              <a:rPr lang="zh-CN" altLang="en-US" sz="2400" dirty="0">
                <a:solidFill>
                  <a:srgbClr val="000080"/>
                </a:solidFill>
                <a:latin typeface="黑体" pitchFamily="2" charset="-122"/>
                <a:ea typeface="黑体" pitchFamily="2" charset="-122"/>
              </a:rPr>
              <a:t>计算机与人工智能学院</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838200"/>
            <a:ext cx="7794625"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100" name="Rectangle 4"/>
          <p:cNvSpPr>
            <a:spLocks noChangeArrowheads="1"/>
          </p:cNvSpPr>
          <p:nvPr/>
        </p:nvSpPr>
        <p:spPr bwMode="auto">
          <a:xfrm>
            <a:off x="0" y="990600"/>
            <a:ext cx="9144000" cy="579438"/>
          </a:xfrm>
          <a:prstGeom prst="rect">
            <a:avLst/>
          </a:prstGeom>
          <a:noFill/>
          <a:ln w="9525">
            <a:noFill/>
            <a:miter lim="800000"/>
            <a:headEnd/>
            <a:tailEnd/>
          </a:ln>
          <a:effectLst/>
        </p:spPr>
        <p:txBody>
          <a:bodyPr>
            <a:spAutoFit/>
          </a:bodyPr>
          <a:lstStyle/>
          <a:p>
            <a:pPr algn="ctr">
              <a:lnSpc>
                <a:spcPct val="100000"/>
              </a:lnSpc>
              <a:spcBef>
                <a:spcPct val="0"/>
              </a:spcBef>
              <a:defRPr/>
            </a:pPr>
            <a:r>
              <a:rPr lang="zh-CN" altLang="en-US" sz="3200">
                <a:solidFill>
                  <a:srgbClr val="990000"/>
                </a:solidFill>
                <a:effectLst>
                  <a:outerShdw blurRad="38100" dist="38100" dir="2700000" algn="tl">
                    <a:srgbClr val="C0C0C0"/>
                  </a:outerShdw>
                </a:effectLst>
                <a:latin typeface="黑体" pitchFamily="2" charset="-122"/>
                <a:ea typeface="黑体" pitchFamily="2" charset="-122"/>
              </a:rPr>
              <a:t>第</a:t>
            </a:r>
            <a:r>
              <a:rPr lang="en-US" altLang="zh-CN" sz="3200" dirty="0">
                <a:solidFill>
                  <a:srgbClr val="990000"/>
                </a:solidFill>
                <a:effectLst>
                  <a:outerShdw blurRad="38100" dist="38100" dir="2700000" algn="tl">
                    <a:srgbClr val="C0C0C0"/>
                  </a:outerShdw>
                </a:effectLst>
                <a:latin typeface="黑体" pitchFamily="2" charset="-122"/>
                <a:ea typeface="黑体" pitchFamily="2" charset="-122"/>
              </a:rPr>
              <a:t>6</a:t>
            </a:r>
            <a:r>
              <a:rPr lang="zh-CN" altLang="en-US" sz="3200">
                <a:solidFill>
                  <a:srgbClr val="990000"/>
                </a:solidFill>
                <a:effectLst>
                  <a:outerShdw blurRad="38100" dist="38100" dir="2700000" algn="tl">
                    <a:srgbClr val="C0C0C0"/>
                  </a:outerShdw>
                </a:effectLst>
                <a:latin typeface="黑体" pitchFamily="2" charset="-122"/>
                <a:ea typeface="黑体" pitchFamily="2" charset="-122"/>
              </a:rPr>
              <a:t>章   中央处理器 </a:t>
            </a:r>
          </a:p>
        </p:txBody>
      </p:sp>
      <p:sp>
        <p:nvSpPr>
          <p:cNvPr id="4101" name="Rectangle 12"/>
          <p:cNvSpPr>
            <a:spLocks noChangeArrowheads="1"/>
          </p:cNvSpPr>
          <p:nvPr/>
        </p:nvSpPr>
        <p:spPr bwMode="auto">
          <a:xfrm>
            <a:off x="1727200" y="2057400"/>
            <a:ext cx="5616575" cy="3619500"/>
          </a:xfrm>
          <a:prstGeom prst="rect">
            <a:avLst/>
          </a:prstGeom>
          <a:gradFill rotWithShape="0">
            <a:gsLst>
              <a:gs pos="0">
                <a:srgbClr val="ADD6FF"/>
              </a:gs>
              <a:gs pos="100000">
                <a:srgbClr val="F5E3F3"/>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tIns="0" bIns="0">
            <a:spAutoFit/>
          </a:bodyPr>
          <a:lstStyle/>
          <a:p>
            <a:pPr>
              <a:lnSpc>
                <a:spcPct val="140000"/>
              </a:lnSpc>
              <a:spcBef>
                <a:spcPct val="0"/>
              </a:spcBef>
            </a:pPr>
            <a:r>
              <a:rPr lang="en-US" altLang="zh-CN" dirty="0">
                <a:latin typeface="黑体" pitchFamily="2" charset="-122"/>
                <a:ea typeface="黑体" pitchFamily="2" charset="-122"/>
              </a:rPr>
              <a:t>6.1 CPU</a:t>
            </a:r>
            <a:r>
              <a:rPr lang="zh-CN" altLang="en-US">
                <a:latin typeface="黑体" pitchFamily="2" charset="-122"/>
                <a:ea typeface="黑体" pitchFamily="2" charset="-122"/>
              </a:rPr>
              <a:t>的功能</a:t>
            </a:r>
          </a:p>
          <a:p>
            <a:pPr>
              <a:lnSpc>
                <a:spcPct val="140000"/>
              </a:lnSpc>
              <a:spcBef>
                <a:spcPct val="0"/>
              </a:spcBef>
            </a:pPr>
            <a:r>
              <a:rPr lang="en-US" altLang="zh-CN" dirty="0">
                <a:latin typeface="黑体" pitchFamily="2" charset="-122"/>
                <a:ea typeface="黑体" pitchFamily="2" charset="-122"/>
              </a:rPr>
              <a:t>6.2 CPU</a:t>
            </a:r>
            <a:r>
              <a:rPr lang="zh-CN" altLang="en-US">
                <a:latin typeface="黑体" pitchFamily="2" charset="-122"/>
                <a:ea typeface="黑体" pitchFamily="2" charset="-122"/>
              </a:rPr>
              <a:t>的组成</a:t>
            </a:r>
          </a:p>
          <a:p>
            <a:pPr>
              <a:lnSpc>
                <a:spcPct val="140000"/>
              </a:lnSpc>
              <a:spcBef>
                <a:spcPct val="0"/>
              </a:spcBef>
            </a:pPr>
            <a:r>
              <a:rPr lang="en-US" altLang="zh-CN" dirty="0">
                <a:latin typeface="黑体" pitchFamily="2" charset="-122"/>
                <a:ea typeface="黑体" pitchFamily="2" charset="-122"/>
              </a:rPr>
              <a:t>6.3 </a:t>
            </a:r>
            <a:r>
              <a:rPr lang="zh-CN" altLang="en-US">
                <a:latin typeface="黑体" pitchFamily="2" charset="-122"/>
                <a:ea typeface="黑体" pitchFamily="2" charset="-122"/>
              </a:rPr>
              <a:t>时序控制方式与时序系统</a:t>
            </a:r>
          </a:p>
          <a:p>
            <a:pPr>
              <a:lnSpc>
                <a:spcPct val="140000"/>
              </a:lnSpc>
              <a:spcBef>
                <a:spcPct val="0"/>
              </a:spcBef>
            </a:pPr>
            <a:r>
              <a:rPr lang="en-US" altLang="zh-CN" dirty="0">
                <a:latin typeface="黑体" pitchFamily="2" charset="-122"/>
                <a:ea typeface="黑体" pitchFamily="2" charset="-122"/>
              </a:rPr>
              <a:t>6.4 </a:t>
            </a:r>
            <a:r>
              <a:rPr lang="zh-CN" altLang="en-US">
                <a:latin typeface="黑体" pitchFamily="2" charset="-122"/>
                <a:ea typeface="黑体" pitchFamily="2" charset="-122"/>
              </a:rPr>
              <a:t>指令的微操作序列</a:t>
            </a:r>
          </a:p>
          <a:p>
            <a:pPr>
              <a:lnSpc>
                <a:spcPct val="140000"/>
              </a:lnSpc>
              <a:spcBef>
                <a:spcPct val="0"/>
              </a:spcBef>
            </a:pPr>
            <a:r>
              <a:rPr lang="en-US" altLang="zh-CN" dirty="0">
                <a:latin typeface="黑体" pitchFamily="2" charset="-122"/>
                <a:ea typeface="黑体" pitchFamily="2" charset="-122"/>
              </a:rPr>
              <a:t>6.5 </a:t>
            </a:r>
            <a:r>
              <a:rPr lang="zh-CN" altLang="en-US">
                <a:latin typeface="黑体" pitchFamily="2" charset="-122"/>
                <a:ea typeface="黑体" pitchFamily="2" charset="-122"/>
              </a:rPr>
              <a:t>微程序控制原理</a:t>
            </a:r>
          </a:p>
          <a:p>
            <a:pPr>
              <a:lnSpc>
                <a:spcPct val="140000"/>
              </a:lnSpc>
              <a:spcBef>
                <a:spcPct val="0"/>
              </a:spcBef>
            </a:pPr>
            <a:r>
              <a:rPr lang="en-US" altLang="zh-CN" dirty="0">
                <a:latin typeface="黑体" pitchFamily="2" charset="-122"/>
                <a:ea typeface="黑体" pitchFamily="2" charset="-122"/>
              </a:rPr>
              <a:t>6.6 </a:t>
            </a:r>
            <a:r>
              <a:rPr lang="zh-CN" altLang="en-US">
                <a:latin typeface="黑体" pitchFamily="2" charset="-122"/>
                <a:ea typeface="黑体" pitchFamily="2" charset="-122"/>
              </a:rPr>
              <a:t>流水线技术</a:t>
            </a:r>
          </a:p>
          <a:p>
            <a:pPr>
              <a:lnSpc>
                <a:spcPct val="140000"/>
              </a:lnSpc>
              <a:spcBef>
                <a:spcPct val="0"/>
              </a:spcBef>
            </a:pPr>
            <a:r>
              <a:rPr lang="en-US" altLang="zh-CN" dirty="0">
                <a:latin typeface="黑体" pitchFamily="2" charset="-122"/>
                <a:ea typeface="黑体" pitchFamily="2" charset="-122"/>
              </a:rPr>
              <a:t>6.7 </a:t>
            </a:r>
            <a:r>
              <a:rPr lang="zh-CN" altLang="zh-CN">
                <a:latin typeface="黑体" pitchFamily="2" charset="-122"/>
                <a:ea typeface="黑体" pitchFamily="2" charset="-122"/>
              </a:rPr>
              <a:t>微处理器中的新技术</a:t>
            </a:r>
            <a:endParaRPr lang="zh-CN" altLang="en-US">
              <a:latin typeface="黑体" pitchFamily="2" charset="-122"/>
              <a:ea typeface="黑体"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93738" y="404813"/>
            <a:ext cx="7848600" cy="838200"/>
          </a:xfrm>
          <a:prstGeom prst="rect">
            <a:avLst/>
          </a:prstGeom>
          <a:noFill/>
          <a:ln>
            <a:noFill/>
          </a:ln>
        </p:spPr>
        <p:txBody>
          <a:bodyPr/>
          <a:lstStyle/>
          <a:p>
            <a:pPr algn="ctr">
              <a:lnSpc>
                <a:spcPct val="100000"/>
              </a:lnSpc>
              <a:spcBef>
                <a:spcPct val="0"/>
              </a:spcBef>
            </a:pPr>
            <a:r>
              <a:rPr kumimoji="1" lang="zh-CN" altLang="en-US" sz="3200">
                <a:solidFill>
                  <a:srgbClr val="990000"/>
                </a:solidFill>
                <a:latin typeface="黑体" pitchFamily="2" charset="-122"/>
                <a:ea typeface="黑体" pitchFamily="2" charset="-122"/>
              </a:rPr>
              <a:t>第</a:t>
            </a:r>
            <a:r>
              <a:rPr kumimoji="1" lang="en-US" altLang="zh-CN" sz="3200" dirty="0">
                <a:solidFill>
                  <a:srgbClr val="990000"/>
                </a:solidFill>
                <a:latin typeface="黑体" pitchFamily="2" charset="-122"/>
                <a:ea typeface="黑体" pitchFamily="2" charset="-122"/>
              </a:rPr>
              <a:t>6</a:t>
            </a:r>
            <a:r>
              <a:rPr kumimoji="1" lang="zh-CN" altLang="en-US" sz="3200">
                <a:solidFill>
                  <a:srgbClr val="990000"/>
                </a:solidFill>
                <a:latin typeface="黑体" pitchFamily="2" charset="-122"/>
                <a:ea typeface="黑体" pitchFamily="2" charset="-122"/>
              </a:rPr>
              <a:t>章  中央处理器 </a:t>
            </a:r>
          </a:p>
        </p:txBody>
      </p:sp>
      <p:sp>
        <p:nvSpPr>
          <p:cNvPr id="5123" name="Text Box 13"/>
          <p:cNvSpPr txBox="1">
            <a:spLocks noChangeArrowheads="1"/>
          </p:cNvSpPr>
          <p:nvPr/>
        </p:nvSpPr>
        <p:spPr bwMode="auto">
          <a:xfrm>
            <a:off x="900113" y="1304925"/>
            <a:ext cx="7524750" cy="4500563"/>
          </a:xfrm>
          <a:prstGeom prst="rect">
            <a:avLst/>
          </a:prstGeom>
          <a:gradFill rotWithShape="0">
            <a:gsLst>
              <a:gs pos="0">
                <a:srgbClr val="ADD6FF"/>
              </a:gs>
              <a:gs pos="50000">
                <a:srgbClr val="F5E3F3"/>
              </a:gs>
              <a:gs pos="100000">
                <a:srgbClr val="ADD6FF"/>
              </a:gs>
            </a:gsLst>
            <a:lin ang="2700000" scaled="1"/>
          </a:gradFill>
          <a:ln w="19050">
            <a:solidFill>
              <a:srgbClr val="000099"/>
            </a:solidFill>
            <a:miter lim="800000"/>
            <a:headEnd/>
            <a:tailEnd/>
          </a:ln>
        </p:spPr>
        <p:txBody>
          <a:bodyPr/>
          <a:lstStyle>
            <a:lvl1pPr marL="1074738" indent="-1074738"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nSpc>
                <a:spcPct val="160000"/>
              </a:lnSpc>
            </a:pPr>
            <a:r>
              <a:rPr kumimoji="1" lang="zh-CN" altLang="en-US" dirty="0">
                <a:solidFill>
                  <a:srgbClr val="800000"/>
                </a:solidFill>
                <a:latin typeface="黑体" pitchFamily="2" charset="-122"/>
                <a:ea typeface="黑体" pitchFamily="2" charset="-122"/>
              </a:rPr>
              <a:t>本章要点：</a:t>
            </a:r>
          </a:p>
          <a:p>
            <a:pPr>
              <a:lnSpc>
                <a:spcPct val="100000"/>
              </a:lnSpc>
            </a:pPr>
            <a:r>
              <a:rPr kumimoji="1" lang="zh-CN" altLang="en-US" dirty="0">
                <a:latin typeface="黑体" pitchFamily="2" charset="-122"/>
                <a:ea typeface="黑体" pitchFamily="2" charset="-122"/>
              </a:rPr>
              <a:t>    1. </a:t>
            </a:r>
            <a:r>
              <a:rPr kumimoji="1" lang="en-US" altLang="zh-CN" dirty="0">
                <a:latin typeface="黑体" pitchFamily="2" charset="-122"/>
                <a:ea typeface="黑体" pitchFamily="2" charset="-122"/>
              </a:rPr>
              <a:t>CPU</a:t>
            </a:r>
            <a:r>
              <a:rPr kumimoji="1" lang="zh-CN" altLang="en-US" dirty="0">
                <a:latin typeface="黑体" pitchFamily="2" charset="-122"/>
                <a:ea typeface="黑体" pitchFamily="2" charset="-122"/>
              </a:rPr>
              <a:t>的功能和组成</a:t>
            </a:r>
          </a:p>
          <a:p>
            <a:pPr>
              <a:lnSpc>
                <a:spcPct val="100000"/>
              </a:lnSpc>
            </a:pPr>
            <a:r>
              <a:rPr kumimoji="1" lang="zh-CN" altLang="en-US" dirty="0">
                <a:latin typeface="黑体" pitchFamily="2" charset="-122"/>
                <a:ea typeface="黑体" pitchFamily="2" charset="-122"/>
              </a:rPr>
              <a:t>    2. 时序控制方式、时序系统及其作用</a:t>
            </a:r>
          </a:p>
          <a:p>
            <a:pPr>
              <a:lnSpc>
                <a:spcPct val="100000"/>
              </a:lnSpc>
            </a:pPr>
            <a:r>
              <a:rPr kumimoji="1" lang="zh-CN" altLang="en-US" dirty="0">
                <a:latin typeface="黑体" pitchFamily="2" charset="-122"/>
                <a:ea typeface="黑体" pitchFamily="2" charset="-122"/>
              </a:rPr>
              <a:t>    3. 指令执行过程的微操作序列分解</a:t>
            </a:r>
          </a:p>
          <a:p>
            <a:pPr>
              <a:lnSpc>
                <a:spcPct val="100000"/>
              </a:lnSpc>
            </a:pPr>
            <a:r>
              <a:rPr kumimoji="1" lang="zh-CN" altLang="en-US" dirty="0">
                <a:latin typeface="黑体" pitchFamily="2" charset="-122"/>
                <a:ea typeface="黑体" pitchFamily="2" charset="-122"/>
              </a:rPr>
              <a:t>    </a:t>
            </a:r>
            <a:r>
              <a:rPr kumimoji="1" lang="en-US" altLang="zh-CN" dirty="0">
                <a:latin typeface="黑体" pitchFamily="2" charset="-122"/>
                <a:ea typeface="黑体" pitchFamily="2" charset="-122"/>
              </a:rPr>
              <a:t>4. </a:t>
            </a:r>
            <a:r>
              <a:rPr kumimoji="1" lang="zh-CN" altLang="en-US" dirty="0">
                <a:latin typeface="黑体" pitchFamily="2" charset="-122"/>
                <a:ea typeface="黑体" pitchFamily="2" charset="-122"/>
              </a:rPr>
              <a:t>组合逻辑控制器的设计思路和方法</a:t>
            </a:r>
          </a:p>
          <a:p>
            <a:pPr>
              <a:lnSpc>
                <a:spcPct val="100000"/>
              </a:lnSpc>
            </a:pPr>
            <a:r>
              <a:rPr kumimoji="1" lang="en-US" altLang="zh-CN" dirty="0">
                <a:latin typeface="黑体" pitchFamily="2" charset="-122"/>
                <a:ea typeface="黑体" pitchFamily="2" charset="-122"/>
              </a:rPr>
              <a:t>    5. </a:t>
            </a:r>
            <a:r>
              <a:rPr kumimoji="1" lang="zh-CN" altLang="en-US" dirty="0">
                <a:latin typeface="黑体" pitchFamily="2" charset="-122"/>
                <a:ea typeface="黑体" pitchFamily="2" charset="-122"/>
              </a:rPr>
              <a:t>微程序控制原理、微指令的操作控制字段和顺序控制字段的常见的编码方法</a:t>
            </a:r>
          </a:p>
          <a:p>
            <a:pPr>
              <a:lnSpc>
                <a:spcPct val="100000"/>
              </a:lnSpc>
            </a:pPr>
            <a:r>
              <a:rPr kumimoji="1" lang="zh-CN" altLang="en-US" dirty="0">
                <a:latin typeface="黑体" pitchFamily="2" charset="-122"/>
                <a:ea typeface="黑体" pitchFamily="2" charset="-122"/>
              </a:rPr>
              <a:t>    </a:t>
            </a:r>
            <a:r>
              <a:rPr kumimoji="1" lang="en-US" altLang="zh-CN" dirty="0">
                <a:latin typeface="黑体" pitchFamily="2" charset="-122"/>
                <a:ea typeface="黑体" pitchFamily="2" charset="-122"/>
              </a:rPr>
              <a:t>6. </a:t>
            </a:r>
            <a:r>
              <a:rPr kumimoji="1" lang="zh-CN" altLang="en-US" dirty="0">
                <a:latin typeface="黑体" pitchFamily="2" charset="-122"/>
                <a:ea typeface="黑体" pitchFamily="2" charset="-122"/>
              </a:rPr>
              <a:t>流水线技术</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ChangeArrowheads="1"/>
          </p:cNvSpPr>
          <p:nvPr/>
        </p:nvSpPr>
        <p:spPr bwMode="auto">
          <a:xfrm>
            <a:off x="762000" y="1524000"/>
            <a:ext cx="8001000" cy="454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solidFill>
                  <a:srgbClr val="FF0000"/>
                </a:solidFill>
                <a:latin typeface="黑体" pitchFamily="2" charset="-122"/>
                <a:ea typeface="黑体" pitchFamily="2" charset="-122"/>
              </a:rPr>
              <a:t>CPU</a:t>
            </a:r>
            <a:r>
              <a:rPr lang="zh-CN" altLang="en-US" dirty="0">
                <a:solidFill>
                  <a:srgbClr val="FF0000"/>
                </a:solidFill>
                <a:latin typeface="黑体" pitchFamily="2" charset="-122"/>
                <a:ea typeface="黑体" pitchFamily="2" charset="-122"/>
              </a:rPr>
              <a:t>：</a:t>
            </a:r>
            <a:r>
              <a:rPr lang="zh-CN" altLang="en-US" dirty="0">
                <a:latin typeface="黑体" pitchFamily="2" charset="-122"/>
                <a:ea typeface="黑体" pitchFamily="2" charset="-122"/>
              </a:rPr>
              <a:t>中央处理器（运算器 </a:t>
            </a:r>
            <a:r>
              <a:rPr lang="en-US" altLang="zh-CN" dirty="0">
                <a:latin typeface="黑体" pitchFamily="2" charset="-122"/>
                <a:ea typeface="黑体" pitchFamily="2" charset="-122"/>
              </a:rPr>
              <a:t>+ </a:t>
            </a:r>
            <a:r>
              <a:rPr lang="zh-CN" altLang="en-US" dirty="0">
                <a:latin typeface="黑体" pitchFamily="2" charset="-122"/>
                <a:ea typeface="黑体" pitchFamily="2" charset="-122"/>
              </a:rPr>
              <a:t>控制器）</a:t>
            </a:r>
          </a:p>
          <a:p>
            <a:pPr>
              <a:lnSpc>
                <a:spcPct val="50000"/>
              </a:lnSpc>
              <a:spcBef>
                <a:spcPct val="0"/>
              </a:spcBef>
            </a:pPr>
            <a:endParaRPr lang="zh-CN" altLang="en-US" dirty="0">
              <a:latin typeface="黑体" pitchFamily="2" charset="-122"/>
              <a:ea typeface="黑体" pitchFamily="2" charset="-122"/>
            </a:endParaRPr>
          </a:p>
          <a:p>
            <a:pPr>
              <a:spcBef>
                <a:spcPct val="0"/>
              </a:spcBef>
            </a:pPr>
            <a:r>
              <a:rPr lang="zh-CN" altLang="en-US" dirty="0">
                <a:solidFill>
                  <a:srgbClr val="FF0000"/>
                </a:solidFill>
                <a:latin typeface="黑体" pitchFamily="2" charset="-122"/>
                <a:ea typeface="黑体" pitchFamily="2" charset="-122"/>
              </a:rPr>
              <a:t>现代</a:t>
            </a:r>
            <a:r>
              <a:rPr lang="en-US" altLang="zh-CN" dirty="0">
                <a:solidFill>
                  <a:srgbClr val="FF0000"/>
                </a:solidFill>
                <a:latin typeface="黑体" pitchFamily="2" charset="-122"/>
                <a:ea typeface="黑体" pitchFamily="2" charset="-122"/>
              </a:rPr>
              <a:t>CPU</a:t>
            </a:r>
            <a:r>
              <a:rPr lang="zh-CN" altLang="en-US" dirty="0">
                <a:solidFill>
                  <a:srgbClr val="FF0000"/>
                </a:solidFill>
                <a:latin typeface="黑体" pitchFamily="2" charset="-122"/>
                <a:ea typeface="黑体" pitchFamily="2" charset="-122"/>
              </a:rPr>
              <a:t>芯片</a:t>
            </a:r>
            <a:r>
              <a:rPr lang="zh-CN" altLang="en-US" dirty="0">
                <a:latin typeface="黑体" pitchFamily="2" charset="-122"/>
                <a:ea typeface="黑体" pitchFamily="2" charset="-122"/>
              </a:rPr>
              <a:t>内一般包含：</a:t>
            </a:r>
          </a:p>
          <a:p>
            <a:pPr>
              <a:spcBef>
                <a:spcPct val="0"/>
              </a:spcBef>
            </a:pPr>
            <a:r>
              <a:rPr lang="zh-CN" altLang="en-US" dirty="0">
                <a:latin typeface="黑体" pitchFamily="2" charset="-122"/>
                <a:ea typeface="黑体" pitchFamily="2" charset="-122"/>
              </a:rPr>
              <a:t>    </a:t>
            </a:r>
            <a:r>
              <a:rPr lang="en-US" altLang="zh-CN" dirty="0">
                <a:latin typeface="宋体" pitchFamily="2" charset="-122"/>
                <a:ea typeface="黑体" pitchFamily="2" charset="-122"/>
              </a:rPr>
              <a:t>·</a:t>
            </a:r>
            <a:r>
              <a:rPr lang="en-US" altLang="zh-CN" dirty="0">
                <a:latin typeface="黑体" pitchFamily="2" charset="-122"/>
                <a:ea typeface="黑体" pitchFamily="2" charset="-122"/>
              </a:rPr>
              <a:t> </a:t>
            </a:r>
            <a:r>
              <a:rPr lang="zh-CN" altLang="en-US" dirty="0">
                <a:latin typeface="黑体" pitchFamily="2" charset="-122"/>
                <a:ea typeface="黑体" pitchFamily="2" charset="-122"/>
              </a:rPr>
              <a:t>运算器</a:t>
            </a:r>
          </a:p>
          <a:p>
            <a:pPr>
              <a:spcBef>
                <a:spcPct val="0"/>
              </a:spcBef>
            </a:pPr>
            <a:r>
              <a:rPr lang="zh-CN" altLang="en-US" dirty="0">
                <a:latin typeface="黑体" pitchFamily="2" charset="-122"/>
                <a:ea typeface="黑体" pitchFamily="2" charset="-122"/>
              </a:rPr>
              <a:t>    </a:t>
            </a:r>
            <a:r>
              <a:rPr lang="en-US" altLang="zh-CN" dirty="0">
                <a:latin typeface="宋体" pitchFamily="2" charset="-122"/>
                <a:ea typeface="黑体" pitchFamily="2" charset="-122"/>
              </a:rPr>
              <a:t>·</a:t>
            </a:r>
            <a:r>
              <a:rPr lang="en-US" altLang="zh-CN" dirty="0">
                <a:latin typeface="黑体" pitchFamily="2" charset="-122"/>
                <a:ea typeface="黑体" pitchFamily="2" charset="-122"/>
              </a:rPr>
              <a:t> </a:t>
            </a:r>
            <a:r>
              <a:rPr lang="zh-CN" altLang="en-US" dirty="0">
                <a:latin typeface="黑体" pitchFamily="2" charset="-122"/>
                <a:ea typeface="黑体" pitchFamily="2" charset="-122"/>
              </a:rPr>
              <a:t>控制器</a:t>
            </a:r>
          </a:p>
          <a:p>
            <a:pPr>
              <a:spcBef>
                <a:spcPct val="0"/>
              </a:spcBef>
            </a:pPr>
            <a:r>
              <a:rPr lang="zh-CN" altLang="en-US" dirty="0">
                <a:latin typeface="黑体" pitchFamily="2" charset="-122"/>
                <a:ea typeface="黑体" pitchFamily="2" charset="-122"/>
              </a:rPr>
              <a:t>    </a:t>
            </a:r>
            <a:r>
              <a:rPr lang="en-US" altLang="zh-CN" dirty="0">
                <a:latin typeface="宋体" pitchFamily="2" charset="-122"/>
                <a:ea typeface="黑体" pitchFamily="2" charset="-122"/>
              </a:rPr>
              <a:t>·</a:t>
            </a:r>
            <a:r>
              <a:rPr lang="en-US" altLang="zh-CN" dirty="0">
                <a:latin typeface="黑体" pitchFamily="2" charset="-122"/>
                <a:ea typeface="黑体" pitchFamily="2" charset="-122"/>
              </a:rPr>
              <a:t> Cache</a:t>
            </a:r>
            <a:r>
              <a:rPr lang="zh-CN" altLang="en-US" dirty="0">
                <a:latin typeface="黑体" pitchFamily="2" charset="-122"/>
                <a:ea typeface="黑体" pitchFamily="2" charset="-122"/>
              </a:rPr>
              <a:t>（高速缓存）</a:t>
            </a:r>
            <a:endParaRPr lang="en-US" altLang="zh-CN" dirty="0">
              <a:latin typeface="黑体" pitchFamily="2" charset="-122"/>
              <a:ea typeface="黑体" pitchFamily="2" charset="-122"/>
            </a:endParaRPr>
          </a:p>
          <a:p>
            <a:pPr>
              <a:spcBef>
                <a:spcPct val="0"/>
              </a:spcBef>
            </a:pPr>
            <a:r>
              <a:rPr lang="en-US" altLang="zh-CN" dirty="0">
                <a:latin typeface="宋体" pitchFamily="2" charset="-122"/>
                <a:ea typeface="黑体" pitchFamily="2" charset="-122"/>
              </a:rPr>
              <a:t>    · </a:t>
            </a:r>
            <a:r>
              <a:rPr lang="en-US" altLang="zh-CN" dirty="0">
                <a:latin typeface="黑体" pitchFamily="2" charset="-122"/>
                <a:ea typeface="黑体" pitchFamily="2" charset="-122"/>
              </a:rPr>
              <a:t>CPU</a:t>
            </a:r>
            <a:r>
              <a:rPr lang="zh-CN" altLang="en-US" dirty="0">
                <a:latin typeface="黑体" pitchFamily="2" charset="-122"/>
                <a:ea typeface="黑体" pitchFamily="2" charset="-122"/>
              </a:rPr>
              <a:t>内部数据通路</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 </a:t>
            </a:r>
            <a:r>
              <a:rPr lang="zh-CN" altLang="en-US" dirty="0">
                <a:latin typeface="黑体" pitchFamily="2" charset="-122"/>
                <a:ea typeface="黑体" pitchFamily="2" charset="-122"/>
              </a:rPr>
              <a:t>中断控制逻辑</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 MMU</a:t>
            </a:r>
            <a:r>
              <a:rPr lang="zh-CN" altLang="en-US" dirty="0">
                <a:latin typeface="黑体" pitchFamily="2" charset="-122"/>
                <a:ea typeface="黑体" pitchFamily="2" charset="-122"/>
              </a:rPr>
              <a:t>（内存管理单元）</a:t>
            </a:r>
          </a:p>
          <a:p>
            <a:pPr>
              <a:spcBef>
                <a:spcPct val="0"/>
              </a:spcBef>
            </a:pPr>
            <a:r>
              <a:rPr lang="zh-CN" altLang="en-US" dirty="0">
                <a:latin typeface="黑体" pitchFamily="2" charset="-122"/>
                <a:ea typeface="黑体" pitchFamily="2" charset="-122"/>
              </a:rPr>
              <a:t>       </a:t>
            </a:r>
            <a:r>
              <a:rPr lang="en-US" altLang="zh-CN" dirty="0">
                <a:latin typeface="Arial" charset="0"/>
                <a:ea typeface="黑体" pitchFamily="2" charset="-122"/>
              </a:rPr>
              <a:t>……</a:t>
            </a:r>
            <a:endParaRPr lang="en-US" altLang="zh-CN" dirty="0">
              <a:latin typeface="黑体" pitchFamily="2" charset="-122"/>
              <a:ea typeface="黑体" pitchFamily="2" charset="-122"/>
            </a:endParaRPr>
          </a:p>
        </p:txBody>
      </p:sp>
      <p:sp>
        <p:nvSpPr>
          <p:cNvPr id="6147" name="Rectangle 3"/>
          <p:cNvSpPr>
            <a:spLocks noChangeArrowheads="1"/>
          </p:cNvSpPr>
          <p:nvPr/>
        </p:nvSpPr>
        <p:spPr bwMode="auto">
          <a:xfrm>
            <a:off x="684213" y="549275"/>
            <a:ext cx="78486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0000"/>
              </a:lnSpc>
              <a:spcBef>
                <a:spcPct val="0"/>
              </a:spcBef>
            </a:pPr>
            <a:r>
              <a:rPr kumimoji="1" lang="zh-CN" altLang="en-US" sz="3200">
                <a:solidFill>
                  <a:srgbClr val="990000"/>
                </a:solidFill>
                <a:latin typeface="黑体" pitchFamily="2" charset="-122"/>
                <a:ea typeface="黑体" pitchFamily="2" charset="-122"/>
              </a:rPr>
              <a:t>第</a:t>
            </a:r>
            <a:r>
              <a:rPr kumimoji="1" lang="en-US" altLang="zh-CN" sz="3200">
                <a:solidFill>
                  <a:srgbClr val="990000"/>
                </a:solidFill>
                <a:latin typeface="黑体" pitchFamily="2" charset="-122"/>
                <a:ea typeface="黑体" pitchFamily="2" charset="-122"/>
              </a:rPr>
              <a:t>6</a:t>
            </a:r>
            <a:r>
              <a:rPr kumimoji="1" lang="zh-CN" altLang="en-US" sz="3200">
                <a:solidFill>
                  <a:srgbClr val="990000"/>
                </a:solidFill>
                <a:latin typeface="黑体" pitchFamily="2" charset="-122"/>
                <a:ea typeface="黑体" pitchFamily="2" charset="-122"/>
              </a:rPr>
              <a:t>章  中央处理器 </a:t>
            </a:r>
          </a:p>
        </p:txBody>
      </p:sp>
      <p:pic>
        <p:nvPicPr>
          <p:cNvPr id="3" name="图片 2">
            <a:extLst>
              <a:ext uri="{FF2B5EF4-FFF2-40B4-BE49-F238E27FC236}">
                <a16:creationId xmlns:a16="http://schemas.microsoft.com/office/drawing/2014/main" id="{464196E0-13AC-18EA-5E7D-0C12B7069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4009" y="2149917"/>
            <a:ext cx="3854524" cy="3918981"/>
          </a:xfrm>
          <a:prstGeom prst="rect">
            <a:avLst/>
          </a:prstGeom>
        </p:spPr>
      </p:pic>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48260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6.1 CPU</a:t>
            </a:r>
            <a:r>
              <a:rPr lang="zh-CN" altLang="en-US" sz="2800">
                <a:solidFill>
                  <a:srgbClr val="990000"/>
                </a:solidFill>
                <a:latin typeface="黑体" pitchFamily="2" charset="-122"/>
                <a:ea typeface="黑体" pitchFamily="2" charset="-122"/>
              </a:rPr>
              <a:t>的功能</a:t>
            </a:r>
          </a:p>
        </p:txBody>
      </p:sp>
      <p:sp>
        <p:nvSpPr>
          <p:cNvPr id="7171" name="Rectangle 4"/>
          <p:cNvSpPr>
            <a:spLocks noChangeArrowheads="1"/>
          </p:cNvSpPr>
          <p:nvPr/>
        </p:nvSpPr>
        <p:spPr bwMode="auto">
          <a:xfrm>
            <a:off x="297712" y="1196975"/>
            <a:ext cx="86549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en-US" altLang="zh-CN" dirty="0">
                <a:solidFill>
                  <a:srgbClr val="990000"/>
                </a:solidFill>
                <a:latin typeface="黑体" pitchFamily="2" charset="-122"/>
                <a:ea typeface="黑体" pitchFamily="2" charset="-122"/>
              </a:rPr>
              <a:t>CPU</a:t>
            </a:r>
            <a:r>
              <a:rPr lang="zh-CN" altLang="en-US" dirty="0">
                <a:solidFill>
                  <a:srgbClr val="990000"/>
                </a:solidFill>
                <a:latin typeface="黑体" pitchFamily="2" charset="-122"/>
                <a:ea typeface="黑体" pitchFamily="2" charset="-122"/>
              </a:rPr>
              <a:t>的功能</a:t>
            </a:r>
            <a:r>
              <a:rPr lang="en-US" altLang="zh-CN" dirty="0">
                <a:solidFill>
                  <a:srgbClr val="990000"/>
                </a:solidFill>
                <a:latin typeface="黑体" pitchFamily="2" charset="-122"/>
                <a:ea typeface="黑体" pitchFamily="2" charset="-122"/>
              </a:rPr>
              <a:t>——</a:t>
            </a:r>
            <a:r>
              <a:rPr lang="zh-CN" altLang="en-US" dirty="0">
                <a:latin typeface="黑体" pitchFamily="2" charset="-122"/>
                <a:ea typeface="黑体" pitchFamily="2" charset="-122"/>
              </a:rPr>
              <a:t>对</a:t>
            </a:r>
            <a:r>
              <a:rPr lang="zh-CN" altLang="en-US" dirty="0">
                <a:solidFill>
                  <a:srgbClr val="FF0000"/>
                </a:solidFill>
                <a:latin typeface="黑体" pitchFamily="2" charset="-122"/>
                <a:ea typeface="黑体" pitchFamily="2" charset="-122"/>
              </a:rPr>
              <a:t>指令流</a:t>
            </a:r>
            <a:r>
              <a:rPr lang="zh-CN" altLang="en-US" dirty="0">
                <a:latin typeface="黑体" pitchFamily="2" charset="-122"/>
                <a:ea typeface="黑体" pitchFamily="2" charset="-122"/>
              </a:rPr>
              <a:t>和</a:t>
            </a:r>
            <a:r>
              <a:rPr lang="zh-CN" altLang="en-US" dirty="0">
                <a:solidFill>
                  <a:srgbClr val="FF0000"/>
                </a:solidFill>
                <a:latin typeface="黑体" pitchFamily="2" charset="-122"/>
                <a:ea typeface="黑体" pitchFamily="2" charset="-122"/>
              </a:rPr>
              <a:t>数据流</a:t>
            </a:r>
            <a:r>
              <a:rPr lang="zh-CN" altLang="en-US" dirty="0">
                <a:latin typeface="黑体" pitchFamily="2" charset="-122"/>
                <a:ea typeface="黑体" pitchFamily="2" charset="-122"/>
              </a:rPr>
              <a:t>在</a:t>
            </a:r>
            <a:r>
              <a:rPr lang="zh-CN" altLang="en-US" dirty="0">
                <a:solidFill>
                  <a:srgbClr val="FF0000"/>
                </a:solidFill>
                <a:latin typeface="黑体" pitchFamily="2" charset="-122"/>
                <a:ea typeface="黑体" pitchFamily="2" charset="-122"/>
              </a:rPr>
              <a:t>时间</a:t>
            </a:r>
            <a:r>
              <a:rPr lang="zh-CN" altLang="en-US" dirty="0">
                <a:latin typeface="黑体" pitchFamily="2" charset="-122"/>
                <a:ea typeface="黑体" pitchFamily="2" charset="-122"/>
              </a:rPr>
              <a:t>和</a:t>
            </a:r>
            <a:r>
              <a:rPr lang="zh-CN" altLang="en-US" dirty="0">
                <a:solidFill>
                  <a:srgbClr val="FF0000"/>
                </a:solidFill>
                <a:latin typeface="黑体" pitchFamily="2" charset="-122"/>
                <a:ea typeface="黑体" pitchFamily="2" charset="-122"/>
              </a:rPr>
              <a:t>空间</a:t>
            </a:r>
            <a:r>
              <a:rPr lang="zh-CN" altLang="en-US" dirty="0">
                <a:latin typeface="黑体" pitchFamily="2" charset="-122"/>
                <a:ea typeface="黑体" pitchFamily="2" charset="-122"/>
              </a:rPr>
              <a:t>上实施正确控制</a:t>
            </a:r>
            <a:endParaRPr lang="en-US" altLang="zh-CN" dirty="0">
              <a:latin typeface="黑体" pitchFamily="2" charset="-122"/>
              <a:ea typeface="黑体" pitchFamily="2" charset="-122"/>
            </a:endParaRPr>
          </a:p>
        </p:txBody>
      </p:sp>
      <p:sp>
        <p:nvSpPr>
          <p:cNvPr id="7172" name="Text Box 4"/>
          <p:cNvSpPr txBox="1">
            <a:spLocks noChangeArrowheads="1"/>
          </p:cNvSpPr>
          <p:nvPr/>
        </p:nvSpPr>
        <p:spPr bwMode="auto">
          <a:xfrm>
            <a:off x="1912676" y="2464180"/>
            <a:ext cx="7129724" cy="3579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rIns="36000">
            <a:spAutoFit/>
          </a:bodyPr>
          <a:lstStyle>
            <a:lvl1pPr marL="1520825" indent="-1520825"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20000"/>
              </a:lnSpc>
              <a:spcBef>
                <a:spcPct val="30000"/>
              </a:spcBef>
            </a:pPr>
            <a:r>
              <a:rPr lang="zh-CN" altLang="en-US" dirty="0">
                <a:solidFill>
                  <a:srgbClr val="FF0000"/>
                </a:solidFill>
                <a:latin typeface="黑体" pitchFamily="2" charset="-122"/>
                <a:ea typeface="黑体" pitchFamily="2" charset="-122"/>
              </a:rPr>
              <a:t>指令控制：</a:t>
            </a:r>
            <a:r>
              <a:rPr lang="zh-CN" altLang="en-US" dirty="0">
                <a:latin typeface="黑体" pitchFamily="2" charset="-122"/>
                <a:ea typeface="黑体" pitchFamily="2" charset="-122"/>
              </a:rPr>
              <a:t>程序中各指令执行顺序的控制；（产生下一条指令在内存中的地址）；</a:t>
            </a:r>
          </a:p>
          <a:p>
            <a:pPr eaLnBrk="1" hangingPunct="1">
              <a:lnSpc>
                <a:spcPct val="120000"/>
              </a:lnSpc>
              <a:spcBef>
                <a:spcPct val="30000"/>
              </a:spcBef>
            </a:pPr>
            <a:r>
              <a:rPr lang="zh-CN" altLang="en-US" dirty="0">
                <a:solidFill>
                  <a:srgbClr val="FF0000"/>
                </a:solidFill>
                <a:latin typeface="黑体" pitchFamily="2" charset="-122"/>
                <a:ea typeface="黑体" pitchFamily="2" charset="-122"/>
              </a:rPr>
              <a:t>操作控制：</a:t>
            </a:r>
            <a:r>
              <a:rPr lang="zh-CN" altLang="en-US" dirty="0">
                <a:latin typeface="黑体" pitchFamily="2" charset="-122"/>
                <a:ea typeface="黑体" pitchFamily="2" charset="-122"/>
              </a:rPr>
              <a:t>把指令分解成一系列的微操作控制信号，控制各部件完成指令所要求的动作；</a:t>
            </a:r>
          </a:p>
          <a:p>
            <a:pPr eaLnBrk="1" hangingPunct="1">
              <a:lnSpc>
                <a:spcPct val="120000"/>
              </a:lnSpc>
              <a:spcBef>
                <a:spcPct val="30000"/>
              </a:spcBef>
            </a:pPr>
            <a:r>
              <a:rPr lang="zh-CN" altLang="en-US" dirty="0">
                <a:solidFill>
                  <a:srgbClr val="FF0000"/>
                </a:solidFill>
                <a:latin typeface="黑体" pitchFamily="2" charset="-122"/>
                <a:ea typeface="黑体" pitchFamily="2" charset="-122"/>
              </a:rPr>
              <a:t>时序控制：</a:t>
            </a:r>
            <a:r>
              <a:rPr lang="zh-CN" altLang="en-US" dirty="0">
                <a:latin typeface="黑体" pitchFamily="2" charset="-122"/>
                <a:ea typeface="黑体" pitchFamily="2" charset="-122"/>
              </a:rPr>
              <a:t>控制微操作信号的产生时间、持续时间；</a:t>
            </a:r>
          </a:p>
          <a:p>
            <a:pPr eaLnBrk="1" hangingPunct="1">
              <a:lnSpc>
                <a:spcPct val="120000"/>
              </a:lnSpc>
              <a:spcBef>
                <a:spcPct val="30000"/>
              </a:spcBef>
            </a:pPr>
            <a:r>
              <a:rPr lang="zh-CN" altLang="en-US" dirty="0">
                <a:solidFill>
                  <a:srgbClr val="FF0000"/>
                </a:solidFill>
                <a:latin typeface="黑体" pitchFamily="2" charset="-122"/>
                <a:ea typeface="黑体" pitchFamily="2" charset="-122"/>
              </a:rPr>
              <a:t>中断处理：</a:t>
            </a:r>
            <a:r>
              <a:rPr lang="zh-CN" altLang="en-US" dirty="0">
                <a:latin typeface="黑体" pitchFamily="2" charset="-122"/>
                <a:ea typeface="黑体" pitchFamily="2" charset="-122"/>
              </a:rPr>
              <a:t>处理异常情况，与外设进行交互；</a:t>
            </a:r>
          </a:p>
          <a:p>
            <a:pPr eaLnBrk="1" hangingPunct="1">
              <a:lnSpc>
                <a:spcPct val="120000"/>
              </a:lnSpc>
              <a:spcBef>
                <a:spcPct val="30000"/>
              </a:spcBef>
            </a:pPr>
            <a:r>
              <a:rPr lang="zh-CN" altLang="en-US" dirty="0">
                <a:solidFill>
                  <a:srgbClr val="FF0000"/>
                </a:solidFill>
                <a:latin typeface="黑体" pitchFamily="2" charset="-122"/>
                <a:ea typeface="黑体" pitchFamily="2" charset="-122"/>
              </a:rPr>
              <a:t>其它：</a:t>
            </a:r>
            <a:r>
              <a:rPr lang="zh-CN" altLang="en-US" dirty="0">
                <a:latin typeface="黑体" pitchFamily="2" charset="-122"/>
                <a:ea typeface="黑体" pitchFamily="2" charset="-122"/>
              </a:rPr>
              <a:t>    如总线管理等。</a:t>
            </a:r>
          </a:p>
        </p:txBody>
      </p:sp>
      <p:sp>
        <p:nvSpPr>
          <p:cNvPr id="3" name="文本框 2">
            <a:extLst>
              <a:ext uri="{FF2B5EF4-FFF2-40B4-BE49-F238E27FC236}">
                <a16:creationId xmlns:a16="http://schemas.microsoft.com/office/drawing/2014/main" id="{AAF3EAFA-92AD-D09D-90CE-7D63BC0FB621}"/>
              </a:ext>
            </a:extLst>
          </p:cNvPr>
          <p:cNvSpPr txBox="1"/>
          <p:nvPr/>
        </p:nvSpPr>
        <p:spPr>
          <a:xfrm>
            <a:off x="381436" y="1742191"/>
            <a:ext cx="6859994" cy="504369"/>
          </a:xfrm>
          <a:prstGeom prst="rect">
            <a:avLst/>
          </a:prstGeom>
          <a:noFill/>
        </p:spPr>
        <p:txBody>
          <a:bodyPr wrap="square">
            <a:spAutoFit/>
          </a:bodyPr>
          <a:lstStyle/>
          <a:p>
            <a:r>
              <a:rPr lang="zh-CN" altLang="en-US" dirty="0">
                <a:latin typeface="黑体" pitchFamily="2" charset="-122"/>
                <a:ea typeface="黑体" pitchFamily="2" charset="-122"/>
              </a:rPr>
              <a:t>运算器      </a:t>
            </a:r>
            <a:r>
              <a:rPr lang="zh-CN" altLang="en-US" dirty="0">
                <a:solidFill>
                  <a:srgbClr val="FF0000"/>
                </a:solidFill>
                <a:latin typeface="黑体" pitchFamily="2" charset="-122"/>
                <a:ea typeface="黑体" pitchFamily="2" charset="-122"/>
              </a:rPr>
              <a:t>数据加工：</a:t>
            </a:r>
            <a:r>
              <a:rPr lang="zh-CN" altLang="en-US" dirty="0">
                <a:latin typeface="黑体" pitchFamily="2" charset="-122"/>
                <a:ea typeface="黑体" pitchFamily="2" charset="-122"/>
              </a:rPr>
              <a:t>算术运算、逻辑运算</a:t>
            </a:r>
          </a:p>
        </p:txBody>
      </p:sp>
      <p:sp>
        <p:nvSpPr>
          <p:cNvPr id="4" name="箭头: 右 3">
            <a:extLst>
              <a:ext uri="{FF2B5EF4-FFF2-40B4-BE49-F238E27FC236}">
                <a16:creationId xmlns:a16="http://schemas.microsoft.com/office/drawing/2014/main" id="{93437A1C-63BD-806A-68A7-22FE0CBE018F}"/>
              </a:ext>
            </a:extLst>
          </p:cNvPr>
          <p:cNvSpPr/>
          <p:nvPr/>
        </p:nvSpPr>
        <p:spPr bwMode="auto">
          <a:xfrm>
            <a:off x="2406269" y="2310809"/>
            <a:ext cx="567070" cy="917079"/>
          </a:xfrm>
          <a:prstGeom prst="rightArrow">
            <a:avLst/>
          </a:prstGeom>
          <a:noFill/>
          <a:ln w="9525" cap="flat" cmpd="sng" algn="ctr">
            <a:noFill/>
            <a:prstDash val="solid"/>
            <a:round/>
            <a:headEnd type="none" w="med" len="med"/>
            <a:tailEnd type="none" w="med" len="med"/>
          </a:ln>
          <a:effectLst/>
        </p:spPr>
        <p:txBody>
          <a:bodyPr vert="horz" wrap="square" lIns="91440" tIns="45720" rIns="3600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rgbClr val="FF0000"/>
              </a:solidFill>
              <a:effectLst/>
              <a:latin typeface="宋体" pitchFamily="2" charset="-122"/>
              <a:ea typeface="宋体" pitchFamily="2" charset="-122"/>
            </a:endParaRPr>
          </a:p>
        </p:txBody>
      </p:sp>
      <p:pic>
        <p:nvPicPr>
          <p:cNvPr id="7" name="图片 6">
            <a:extLst>
              <a:ext uri="{FF2B5EF4-FFF2-40B4-BE49-F238E27FC236}">
                <a16:creationId xmlns:a16="http://schemas.microsoft.com/office/drawing/2014/main" id="{F7452196-2D14-F075-8384-996C6DA2A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896" y="1805533"/>
            <a:ext cx="819150" cy="438150"/>
          </a:xfrm>
          <a:prstGeom prst="rect">
            <a:avLst/>
          </a:prstGeom>
        </p:spPr>
      </p:pic>
      <p:pic>
        <p:nvPicPr>
          <p:cNvPr id="11" name="图片 10">
            <a:extLst>
              <a:ext uri="{FF2B5EF4-FFF2-40B4-BE49-F238E27FC236}">
                <a16:creationId xmlns:a16="http://schemas.microsoft.com/office/drawing/2014/main" id="{A6CFAEF0-6380-09F3-E4B1-3378D3347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896" y="2520440"/>
            <a:ext cx="561387" cy="3474527"/>
          </a:xfrm>
          <a:prstGeom prst="rect">
            <a:avLst/>
          </a:prstGeom>
        </p:spPr>
      </p:pic>
      <p:sp>
        <p:nvSpPr>
          <p:cNvPr id="13" name="文本框 12">
            <a:extLst>
              <a:ext uri="{FF2B5EF4-FFF2-40B4-BE49-F238E27FC236}">
                <a16:creationId xmlns:a16="http://schemas.microsoft.com/office/drawing/2014/main" id="{963E9447-67E3-D90D-77CC-184160A05BD5}"/>
              </a:ext>
            </a:extLst>
          </p:cNvPr>
          <p:cNvSpPr txBox="1"/>
          <p:nvPr/>
        </p:nvSpPr>
        <p:spPr>
          <a:xfrm>
            <a:off x="381436" y="3992869"/>
            <a:ext cx="4572000" cy="521681"/>
          </a:xfrm>
          <a:prstGeom prst="rect">
            <a:avLst/>
          </a:prstGeom>
          <a:noFill/>
        </p:spPr>
        <p:txBody>
          <a:bodyPr wrap="square">
            <a:spAutoFit/>
          </a:bodyPr>
          <a:lstStyle/>
          <a:p>
            <a:r>
              <a:rPr lang="zh-CN" altLang="en-US" dirty="0">
                <a:latin typeface="黑体" pitchFamily="2" charset="-122"/>
                <a:ea typeface="黑体" pitchFamily="2" charset="-122"/>
              </a:rPr>
              <a:t>控制器</a:t>
            </a:r>
            <a:endParaRPr lang="zh-CN" altLang="en-US" dirty="0"/>
          </a:p>
        </p:txBody>
      </p:sp>
    </p:spTree>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spect="1" noChangeArrowheads="1"/>
          </p:cNvSpPr>
          <p:nvPr/>
        </p:nvSpPr>
        <p:spPr bwMode="auto">
          <a:xfrm>
            <a:off x="0" y="304800"/>
            <a:ext cx="9144000" cy="6172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pPr>
            <a:endParaRPr lang="zh-CN" altLang="en-US">
              <a:latin typeface="宋体" pitchFamily="2" charset="-122"/>
              <a:ea typeface="宋体" pitchFamily="2" charset="-122"/>
            </a:endParaRPr>
          </a:p>
        </p:txBody>
      </p:sp>
      <p:sp>
        <p:nvSpPr>
          <p:cNvPr id="8195" name="Text Box 7"/>
          <p:cNvSpPr txBox="1">
            <a:spLocks noChangeArrowheads="1"/>
          </p:cNvSpPr>
          <p:nvPr/>
        </p:nvSpPr>
        <p:spPr bwMode="auto">
          <a:xfrm>
            <a:off x="971550" y="1016000"/>
            <a:ext cx="752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a:latin typeface="黑体" pitchFamily="2" charset="-122"/>
                <a:ea typeface="黑体" pitchFamily="2" charset="-122"/>
              </a:rPr>
              <a:t>计算机执行程序的过程，即逐条执行指令的过程。</a:t>
            </a:r>
          </a:p>
        </p:txBody>
      </p:sp>
      <p:grpSp>
        <p:nvGrpSpPr>
          <p:cNvPr id="8196" name="Group 29"/>
          <p:cNvGrpSpPr>
            <a:grpSpLocks/>
          </p:cNvGrpSpPr>
          <p:nvPr/>
        </p:nvGrpSpPr>
        <p:grpSpPr bwMode="auto">
          <a:xfrm>
            <a:off x="1258888" y="1881188"/>
            <a:ext cx="4679950" cy="3168650"/>
            <a:chOff x="793" y="1185"/>
            <a:chExt cx="2948" cy="1996"/>
          </a:xfrm>
        </p:grpSpPr>
        <p:sp>
          <p:nvSpPr>
            <p:cNvPr id="8198" name="Text Box 9"/>
            <p:cNvSpPr txBox="1">
              <a:spLocks noChangeArrowheads="1"/>
            </p:cNvSpPr>
            <p:nvPr/>
          </p:nvSpPr>
          <p:spPr bwMode="auto">
            <a:xfrm>
              <a:off x="1067" y="1403"/>
              <a:ext cx="997" cy="327"/>
            </a:xfrm>
            <a:prstGeom prst="rect">
              <a:avLst/>
            </a:prstGeom>
            <a:solidFill>
              <a:srgbClr val="FFFFFF"/>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a:latin typeface="黑体" pitchFamily="2" charset="-122"/>
                  <a:ea typeface="黑体" pitchFamily="2" charset="-122"/>
                </a:rPr>
                <a:t>取指令</a:t>
              </a:r>
            </a:p>
          </p:txBody>
        </p:sp>
        <p:sp>
          <p:nvSpPr>
            <p:cNvPr id="8199" name="Text Box 10"/>
            <p:cNvSpPr txBox="1">
              <a:spLocks noChangeArrowheads="1"/>
            </p:cNvSpPr>
            <p:nvPr/>
          </p:nvSpPr>
          <p:spPr bwMode="auto">
            <a:xfrm>
              <a:off x="1067" y="2014"/>
              <a:ext cx="997" cy="327"/>
            </a:xfrm>
            <a:prstGeom prst="rect">
              <a:avLst/>
            </a:prstGeom>
            <a:solidFill>
              <a:srgbClr val="FFFFFF"/>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a:latin typeface="黑体" pitchFamily="2" charset="-122"/>
                  <a:ea typeface="黑体" pitchFamily="2" charset="-122"/>
                </a:rPr>
                <a:t>取操作数</a:t>
              </a:r>
            </a:p>
          </p:txBody>
        </p:sp>
        <p:sp>
          <p:nvSpPr>
            <p:cNvPr id="8200" name="Text Box 11"/>
            <p:cNvSpPr txBox="1">
              <a:spLocks noChangeArrowheads="1"/>
            </p:cNvSpPr>
            <p:nvPr/>
          </p:nvSpPr>
          <p:spPr bwMode="auto">
            <a:xfrm>
              <a:off x="1067" y="2636"/>
              <a:ext cx="997" cy="327"/>
            </a:xfrm>
            <a:prstGeom prst="rect">
              <a:avLst/>
            </a:prstGeom>
            <a:solidFill>
              <a:srgbClr val="FFFFFF"/>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a:latin typeface="黑体" pitchFamily="2" charset="-122"/>
                  <a:ea typeface="黑体" pitchFamily="2" charset="-122"/>
                </a:rPr>
                <a:t>执行指令</a:t>
              </a:r>
            </a:p>
          </p:txBody>
        </p:sp>
        <p:sp>
          <p:nvSpPr>
            <p:cNvPr id="8201" name="Line 12"/>
            <p:cNvSpPr>
              <a:spLocks noChangeShapeType="1"/>
            </p:cNvSpPr>
            <p:nvPr/>
          </p:nvSpPr>
          <p:spPr bwMode="auto">
            <a:xfrm>
              <a:off x="1556" y="1730"/>
              <a:ext cx="0" cy="284"/>
            </a:xfrm>
            <a:prstGeom prst="line">
              <a:avLst/>
            </a:prstGeom>
            <a:noFill/>
            <a:ln w="19050">
              <a:solidFill>
                <a:srgbClr val="0066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2" name="Line 13"/>
            <p:cNvSpPr>
              <a:spLocks noChangeShapeType="1"/>
            </p:cNvSpPr>
            <p:nvPr/>
          </p:nvSpPr>
          <p:spPr bwMode="auto">
            <a:xfrm>
              <a:off x="1545" y="2341"/>
              <a:ext cx="0" cy="283"/>
            </a:xfrm>
            <a:prstGeom prst="line">
              <a:avLst/>
            </a:prstGeom>
            <a:noFill/>
            <a:ln w="19050">
              <a:solidFill>
                <a:srgbClr val="0066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3" name="Freeform 14"/>
            <p:cNvSpPr>
              <a:spLocks/>
            </p:cNvSpPr>
            <p:nvPr/>
          </p:nvSpPr>
          <p:spPr bwMode="auto">
            <a:xfrm>
              <a:off x="935" y="1730"/>
              <a:ext cx="447" cy="894"/>
            </a:xfrm>
            <a:custGeom>
              <a:avLst/>
              <a:gdLst>
                <a:gd name="T0" fmla="*/ 1 w 660"/>
                <a:gd name="T1" fmla="*/ 0 h 1230"/>
                <a:gd name="T2" fmla="*/ 1 w 660"/>
                <a:gd name="T3" fmla="*/ 1 h 1230"/>
                <a:gd name="T4" fmla="*/ 0 w 660"/>
                <a:gd name="T5" fmla="*/ 1 h 1230"/>
                <a:gd name="T6" fmla="*/ 0 w 660"/>
                <a:gd name="T7" fmla="*/ 7 h 1230"/>
                <a:gd name="T8" fmla="*/ 1 w 660"/>
                <a:gd name="T9" fmla="*/ 7 h 1230"/>
                <a:gd name="T10" fmla="*/ 1 w 660"/>
                <a:gd name="T11" fmla="*/ 8 h 1230"/>
                <a:gd name="T12" fmla="*/ 0 60000 65536"/>
                <a:gd name="T13" fmla="*/ 0 60000 65536"/>
                <a:gd name="T14" fmla="*/ 0 60000 65536"/>
                <a:gd name="T15" fmla="*/ 0 60000 65536"/>
                <a:gd name="T16" fmla="*/ 0 60000 65536"/>
                <a:gd name="T17" fmla="*/ 0 60000 65536"/>
                <a:gd name="T18" fmla="*/ 0 w 660"/>
                <a:gd name="T19" fmla="*/ 0 h 1230"/>
                <a:gd name="T20" fmla="*/ 660 w 660"/>
                <a:gd name="T21" fmla="*/ 1230 h 1230"/>
              </a:gdLst>
              <a:ahLst/>
              <a:cxnLst>
                <a:cxn ang="T12">
                  <a:pos x="T0" y="T1"/>
                </a:cxn>
                <a:cxn ang="T13">
                  <a:pos x="T2" y="T3"/>
                </a:cxn>
                <a:cxn ang="T14">
                  <a:pos x="T4" y="T5"/>
                </a:cxn>
                <a:cxn ang="T15">
                  <a:pos x="T6" y="T7"/>
                </a:cxn>
                <a:cxn ang="T16">
                  <a:pos x="T8" y="T9"/>
                </a:cxn>
                <a:cxn ang="T17">
                  <a:pos x="T10" y="T11"/>
                </a:cxn>
              </a:cxnLst>
              <a:rect l="T18" t="T19" r="T20" b="T21"/>
              <a:pathLst>
                <a:path w="660" h="1230">
                  <a:moveTo>
                    <a:pt x="660" y="0"/>
                  </a:moveTo>
                  <a:lnTo>
                    <a:pt x="660" y="165"/>
                  </a:lnTo>
                  <a:lnTo>
                    <a:pt x="0" y="165"/>
                  </a:lnTo>
                  <a:lnTo>
                    <a:pt x="0" y="1005"/>
                  </a:lnTo>
                  <a:lnTo>
                    <a:pt x="660" y="1005"/>
                  </a:lnTo>
                  <a:lnTo>
                    <a:pt x="660" y="1230"/>
                  </a:lnTo>
                </a:path>
              </a:pathLst>
            </a:custGeom>
            <a:noFill/>
            <a:ln w="19050" cap="flat" cmpd="sng">
              <a:solidFill>
                <a:srgbClr val="000080"/>
              </a:solidFill>
              <a:prstDash val="solid"/>
              <a:round/>
              <a:headEnd type="none" w="med" len="me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4" name="Line 15"/>
            <p:cNvSpPr>
              <a:spLocks noChangeShapeType="1"/>
            </p:cNvSpPr>
            <p:nvPr/>
          </p:nvSpPr>
          <p:spPr bwMode="auto">
            <a:xfrm>
              <a:off x="1557" y="2963"/>
              <a:ext cx="0" cy="218"/>
            </a:xfrm>
            <a:prstGeom prst="line">
              <a:avLst/>
            </a:prstGeom>
            <a:noFill/>
            <a:ln w="19050">
              <a:solidFill>
                <a:srgbClr val="0066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5" name="Line 16"/>
            <p:cNvSpPr>
              <a:spLocks noChangeShapeType="1"/>
            </p:cNvSpPr>
            <p:nvPr/>
          </p:nvSpPr>
          <p:spPr bwMode="auto">
            <a:xfrm>
              <a:off x="1557" y="1185"/>
              <a:ext cx="0" cy="218"/>
            </a:xfrm>
            <a:prstGeom prst="line">
              <a:avLst/>
            </a:prstGeom>
            <a:noFill/>
            <a:ln w="19050">
              <a:solidFill>
                <a:srgbClr val="0000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6" name="Freeform 17"/>
            <p:cNvSpPr>
              <a:spLocks/>
            </p:cNvSpPr>
            <p:nvPr/>
          </p:nvSpPr>
          <p:spPr bwMode="auto">
            <a:xfrm>
              <a:off x="793" y="1195"/>
              <a:ext cx="752" cy="1976"/>
            </a:xfrm>
            <a:custGeom>
              <a:avLst/>
              <a:gdLst>
                <a:gd name="T0" fmla="*/ 1 w 1185"/>
                <a:gd name="T1" fmla="*/ 0 h 2670"/>
                <a:gd name="T2" fmla="*/ 0 w 1185"/>
                <a:gd name="T3" fmla="*/ 0 h 2670"/>
                <a:gd name="T4" fmla="*/ 0 w 1185"/>
                <a:gd name="T5" fmla="*/ 22 h 2670"/>
                <a:gd name="T6" fmla="*/ 1 w 1185"/>
                <a:gd name="T7" fmla="*/ 22 h 2670"/>
                <a:gd name="T8" fmla="*/ 0 60000 65536"/>
                <a:gd name="T9" fmla="*/ 0 60000 65536"/>
                <a:gd name="T10" fmla="*/ 0 60000 65536"/>
                <a:gd name="T11" fmla="*/ 0 60000 65536"/>
                <a:gd name="T12" fmla="*/ 0 w 1185"/>
                <a:gd name="T13" fmla="*/ 0 h 2670"/>
                <a:gd name="T14" fmla="*/ 1185 w 1185"/>
                <a:gd name="T15" fmla="*/ 2670 h 2670"/>
              </a:gdLst>
              <a:ahLst/>
              <a:cxnLst>
                <a:cxn ang="T8">
                  <a:pos x="T0" y="T1"/>
                </a:cxn>
                <a:cxn ang="T9">
                  <a:pos x="T2" y="T3"/>
                </a:cxn>
                <a:cxn ang="T10">
                  <a:pos x="T4" y="T5"/>
                </a:cxn>
                <a:cxn ang="T11">
                  <a:pos x="T6" y="T7"/>
                </a:cxn>
              </a:cxnLst>
              <a:rect l="T12" t="T13" r="T14" b="T15"/>
              <a:pathLst>
                <a:path w="1185" h="2670">
                  <a:moveTo>
                    <a:pt x="1185" y="0"/>
                  </a:moveTo>
                  <a:lnTo>
                    <a:pt x="0" y="0"/>
                  </a:lnTo>
                  <a:lnTo>
                    <a:pt x="0" y="2670"/>
                  </a:lnTo>
                  <a:lnTo>
                    <a:pt x="1185" y="2670"/>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7" name="Line 18"/>
            <p:cNvSpPr>
              <a:spLocks noChangeShapeType="1"/>
            </p:cNvSpPr>
            <p:nvPr/>
          </p:nvSpPr>
          <p:spPr bwMode="auto">
            <a:xfrm flipH="1" flipV="1">
              <a:off x="1647" y="1806"/>
              <a:ext cx="1017" cy="230"/>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8" name="Line 19"/>
            <p:cNvSpPr>
              <a:spLocks noChangeShapeType="1"/>
            </p:cNvSpPr>
            <p:nvPr/>
          </p:nvSpPr>
          <p:spPr bwMode="auto">
            <a:xfrm flipH="1">
              <a:off x="2104" y="2155"/>
              <a:ext cx="560" cy="56"/>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09" name="Line 20"/>
            <p:cNvSpPr>
              <a:spLocks noChangeShapeType="1"/>
            </p:cNvSpPr>
            <p:nvPr/>
          </p:nvSpPr>
          <p:spPr bwMode="auto">
            <a:xfrm flipH="1">
              <a:off x="1667" y="2265"/>
              <a:ext cx="1026" cy="261"/>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10" name="Text Box 21"/>
            <p:cNvSpPr txBox="1">
              <a:spLocks noChangeArrowheads="1"/>
            </p:cNvSpPr>
            <p:nvPr/>
          </p:nvSpPr>
          <p:spPr bwMode="auto">
            <a:xfrm>
              <a:off x="2673" y="1927"/>
              <a:ext cx="1068" cy="545"/>
            </a:xfrm>
            <a:prstGeom prst="rect">
              <a:avLst/>
            </a:prstGeom>
            <a:solidFill>
              <a:srgbClr val="FFFFFF"/>
            </a:solidFill>
            <a:ln w="28575">
              <a:solidFill>
                <a:srgbClr val="00800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a:solidFill>
                    <a:srgbClr val="006600"/>
                  </a:solidFill>
                  <a:latin typeface="黑体" pitchFamily="2" charset="-122"/>
                  <a:ea typeface="黑体" pitchFamily="2" charset="-122"/>
                </a:rPr>
                <a:t>可插入</a:t>
              </a:r>
            </a:p>
            <a:p>
              <a:pPr algn="ctr">
                <a:lnSpc>
                  <a:spcPct val="100000"/>
                </a:lnSpc>
                <a:spcBef>
                  <a:spcPct val="0"/>
                </a:spcBef>
              </a:pPr>
              <a:r>
                <a:rPr kumimoji="1" lang="en-US" altLang="zh-CN" dirty="0">
                  <a:solidFill>
                    <a:srgbClr val="006600"/>
                  </a:solidFill>
                  <a:latin typeface="黑体" pitchFamily="2" charset="-122"/>
                  <a:ea typeface="黑体" pitchFamily="2" charset="-122"/>
                </a:rPr>
                <a:t>DMA</a:t>
              </a:r>
              <a:r>
                <a:rPr kumimoji="1" lang="zh-CN" altLang="en-US">
                  <a:solidFill>
                    <a:srgbClr val="006600"/>
                  </a:solidFill>
                  <a:latin typeface="黑体" pitchFamily="2" charset="-122"/>
                  <a:ea typeface="黑体" pitchFamily="2" charset="-122"/>
                </a:rPr>
                <a:t>周期</a:t>
              </a:r>
            </a:p>
          </p:txBody>
        </p:sp>
        <p:sp>
          <p:nvSpPr>
            <p:cNvPr id="8211" name="Freeform 22"/>
            <p:cNvSpPr>
              <a:spLocks/>
            </p:cNvSpPr>
            <p:nvPr/>
          </p:nvSpPr>
          <p:spPr bwMode="auto">
            <a:xfrm>
              <a:off x="1718" y="2417"/>
              <a:ext cx="925" cy="612"/>
            </a:xfrm>
            <a:custGeom>
              <a:avLst/>
              <a:gdLst>
                <a:gd name="T0" fmla="*/ 2 w 1410"/>
                <a:gd name="T1" fmla="*/ 0 h 795"/>
                <a:gd name="T2" fmla="*/ 1 w 1410"/>
                <a:gd name="T3" fmla="*/ 12 h 795"/>
                <a:gd name="T4" fmla="*/ 0 w 1410"/>
                <a:gd name="T5" fmla="*/ 13 h 795"/>
                <a:gd name="T6" fmla="*/ 0 60000 65536"/>
                <a:gd name="T7" fmla="*/ 0 60000 65536"/>
                <a:gd name="T8" fmla="*/ 0 60000 65536"/>
                <a:gd name="T9" fmla="*/ 0 w 1410"/>
                <a:gd name="T10" fmla="*/ 0 h 795"/>
                <a:gd name="T11" fmla="*/ 1410 w 1410"/>
                <a:gd name="T12" fmla="*/ 795 h 795"/>
              </a:gdLst>
              <a:ahLst/>
              <a:cxnLst>
                <a:cxn ang="T6">
                  <a:pos x="T0" y="T1"/>
                </a:cxn>
                <a:cxn ang="T7">
                  <a:pos x="T2" y="T3"/>
                </a:cxn>
                <a:cxn ang="T8">
                  <a:pos x="T4" y="T5"/>
                </a:cxn>
              </a:cxnLst>
              <a:rect l="T9" t="T10" r="T11" b="T12"/>
              <a:pathLst>
                <a:path w="1410" h="795">
                  <a:moveTo>
                    <a:pt x="1410" y="0"/>
                  </a:moveTo>
                  <a:lnTo>
                    <a:pt x="720" y="750"/>
                  </a:lnTo>
                  <a:lnTo>
                    <a:pt x="0" y="795"/>
                  </a:lnTo>
                </a:path>
              </a:pathLst>
            </a:custGeom>
            <a:noFill/>
            <a:ln w="19050" cap="flat" cmpd="sng">
              <a:solidFill>
                <a:srgbClr val="006600"/>
              </a:solidFill>
              <a:prstDash val="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12" name="Text Box 23"/>
            <p:cNvSpPr txBox="1">
              <a:spLocks noChangeArrowheads="1"/>
            </p:cNvSpPr>
            <p:nvPr/>
          </p:nvSpPr>
          <p:spPr bwMode="auto">
            <a:xfrm>
              <a:off x="2673" y="2582"/>
              <a:ext cx="1068" cy="545"/>
            </a:xfrm>
            <a:prstGeom prst="rect">
              <a:avLst/>
            </a:prstGeom>
            <a:solidFill>
              <a:srgbClr val="FFFFFF"/>
            </a:solidFill>
            <a:ln w="28575">
              <a:solidFill>
                <a:srgbClr val="00800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a:solidFill>
                    <a:srgbClr val="006600"/>
                  </a:solidFill>
                  <a:latin typeface="黑体" pitchFamily="2" charset="-122"/>
                  <a:ea typeface="黑体" pitchFamily="2" charset="-122"/>
                </a:rPr>
                <a:t>可插入</a:t>
              </a:r>
            </a:p>
            <a:p>
              <a:pPr algn="ctr">
                <a:lnSpc>
                  <a:spcPct val="100000"/>
                </a:lnSpc>
                <a:spcBef>
                  <a:spcPct val="0"/>
                </a:spcBef>
              </a:pPr>
              <a:r>
                <a:rPr kumimoji="1" lang="zh-CN" altLang="en-US">
                  <a:solidFill>
                    <a:srgbClr val="006600"/>
                  </a:solidFill>
                  <a:latin typeface="黑体" pitchFamily="2" charset="-122"/>
                  <a:ea typeface="黑体" pitchFamily="2" charset="-122"/>
                </a:rPr>
                <a:t>中断周期</a:t>
              </a:r>
            </a:p>
          </p:txBody>
        </p:sp>
        <p:sp>
          <p:nvSpPr>
            <p:cNvPr id="8213" name="Line 24"/>
            <p:cNvSpPr>
              <a:spLocks noChangeShapeType="1"/>
            </p:cNvSpPr>
            <p:nvPr/>
          </p:nvSpPr>
          <p:spPr bwMode="auto">
            <a:xfrm flipH="1">
              <a:off x="1718" y="3083"/>
              <a:ext cx="946" cy="10"/>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8197" name="Text Box 28"/>
          <p:cNvSpPr txBox="1">
            <a:spLocks noChangeArrowheads="1"/>
          </p:cNvSpPr>
          <p:nvPr/>
        </p:nvSpPr>
        <p:spPr bwMode="auto">
          <a:xfrm>
            <a:off x="0" y="296863"/>
            <a:ext cx="3816350" cy="396875"/>
          </a:xfrm>
          <a:prstGeom prst="rect">
            <a:avLst/>
          </a:prstGeom>
          <a:solidFill>
            <a:srgbClr val="C8C8C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zh-CN" altLang="en-US" sz="2000">
                <a:solidFill>
                  <a:srgbClr val="FF0000"/>
                </a:solidFill>
                <a:latin typeface="黑体" pitchFamily="2" charset="-122"/>
                <a:ea typeface="黑体" pitchFamily="2" charset="-122"/>
              </a:rPr>
              <a:t> 回顾：计算机执行程序的过程 </a:t>
            </a:r>
          </a:p>
        </p:txBody>
      </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spect="1" noChangeArrowheads="1"/>
          </p:cNvSpPr>
          <p:nvPr/>
        </p:nvSpPr>
        <p:spPr bwMode="auto">
          <a:xfrm>
            <a:off x="0" y="304800"/>
            <a:ext cx="9144000" cy="6172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pPr>
            <a:endParaRPr lang="zh-CN" altLang="en-US">
              <a:latin typeface="宋体" pitchFamily="2" charset="-122"/>
              <a:ea typeface="宋体" pitchFamily="2" charset="-122"/>
            </a:endParaRPr>
          </a:p>
        </p:txBody>
      </p:sp>
      <p:grpSp>
        <p:nvGrpSpPr>
          <p:cNvPr id="9219" name="Group 41"/>
          <p:cNvGrpSpPr>
            <a:grpSpLocks/>
          </p:cNvGrpSpPr>
          <p:nvPr/>
        </p:nvGrpSpPr>
        <p:grpSpPr bwMode="auto">
          <a:xfrm>
            <a:off x="1143000" y="908050"/>
            <a:ext cx="6630988" cy="2570163"/>
            <a:chOff x="720" y="432"/>
            <a:chExt cx="4177" cy="1619"/>
          </a:xfrm>
        </p:grpSpPr>
        <p:sp>
          <p:nvSpPr>
            <p:cNvPr id="9223" name="Line 7"/>
            <p:cNvSpPr>
              <a:spLocks noChangeShapeType="1"/>
            </p:cNvSpPr>
            <p:nvPr/>
          </p:nvSpPr>
          <p:spPr bwMode="auto">
            <a:xfrm>
              <a:off x="720" y="432"/>
              <a:ext cx="4177" cy="0"/>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4" name="Rectangle 8"/>
            <p:cNvSpPr>
              <a:spLocks noChangeArrowheads="1"/>
            </p:cNvSpPr>
            <p:nvPr/>
          </p:nvSpPr>
          <p:spPr bwMode="auto">
            <a:xfrm>
              <a:off x="856" y="656"/>
              <a:ext cx="1364" cy="13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25" name="Rectangle 9"/>
            <p:cNvSpPr>
              <a:spLocks noChangeArrowheads="1"/>
            </p:cNvSpPr>
            <p:nvPr/>
          </p:nvSpPr>
          <p:spPr bwMode="auto">
            <a:xfrm>
              <a:off x="2681" y="666"/>
              <a:ext cx="673" cy="1356"/>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26" name="Rectangle 10"/>
            <p:cNvSpPr>
              <a:spLocks noChangeArrowheads="1"/>
            </p:cNvSpPr>
            <p:nvPr/>
          </p:nvSpPr>
          <p:spPr bwMode="auto">
            <a:xfrm>
              <a:off x="3849" y="676"/>
              <a:ext cx="690" cy="51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27" name="Rectangle 11"/>
            <p:cNvSpPr>
              <a:spLocks noChangeArrowheads="1"/>
            </p:cNvSpPr>
            <p:nvPr/>
          </p:nvSpPr>
          <p:spPr bwMode="auto">
            <a:xfrm>
              <a:off x="3857" y="1407"/>
              <a:ext cx="699" cy="5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28" name="Text Box 12"/>
            <p:cNvSpPr txBox="1">
              <a:spLocks noChangeArrowheads="1"/>
            </p:cNvSpPr>
            <p:nvPr/>
          </p:nvSpPr>
          <p:spPr bwMode="auto">
            <a:xfrm>
              <a:off x="1282" y="1836"/>
              <a:ext cx="4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9229" name="Rectangle 13"/>
            <p:cNvSpPr>
              <a:spLocks noChangeArrowheads="1"/>
            </p:cNvSpPr>
            <p:nvPr/>
          </p:nvSpPr>
          <p:spPr bwMode="auto">
            <a:xfrm>
              <a:off x="1683" y="76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0" name="Rectangle 14"/>
            <p:cNvSpPr>
              <a:spLocks noChangeArrowheads="1"/>
            </p:cNvSpPr>
            <p:nvPr/>
          </p:nvSpPr>
          <p:spPr bwMode="auto">
            <a:xfrm>
              <a:off x="1683" y="92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1" name="Rectangle 15"/>
            <p:cNvSpPr>
              <a:spLocks noChangeArrowheads="1"/>
            </p:cNvSpPr>
            <p:nvPr/>
          </p:nvSpPr>
          <p:spPr bwMode="auto">
            <a:xfrm>
              <a:off x="1683" y="1212"/>
              <a:ext cx="435" cy="127"/>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2" name="Rectangle 16"/>
            <p:cNvSpPr>
              <a:spLocks noChangeArrowheads="1"/>
            </p:cNvSpPr>
            <p:nvPr/>
          </p:nvSpPr>
          <p:spPr bwMode="auto">
            <a:xfrm>
              <a:off x="1683" y="1212"/>
              <a:ext cx="435" cy="644"/>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3" name="Rectangle 17"/>
            <p:cNvSpPr>
              <a:spLocks noChangeArrowheads="1"/>
            </p:cNvSpPr>
            <p:nvPr/>
          </p:nvSpPr>
          <p:spPr bwMode="auto">
            <a:xfrm>
              <a:off x="1683" y="133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4" name="Rectangle 18"/>
            <p:cNvSpPr>
              <a:spLocks noChangeArrowheads="1"/>
            </p:cNvSpPr>
            <p:nvPr/>
          </p:nvSpPr>
          <p:spPr bwMode="auto">
            <a:xfrm>
              <a:off x="1683" y="172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35" name="Text Box 19"/>
            <p:cNvSpPr txBox="1">
              <a:spLocks noChangeArrowheads="1"/>
            </p:cNvSpPr>
            <p:nvPr/>
          </p:nvSpPr>
          <p:spPr bwMode="auto">
            <a:xfrm>
              <a:off x="1343" y="754"/>
              <a:ext cx="3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9236" name="Text Box 20"/>
            <p:cNvSpPr txBox="1">
              <a:spLocks noChangeArrowheads="1"/>
            </p:cNvSpPr>
            <p:nvPr/>
          </p:nvSpPr>
          <p:spPr bwMode="auto">
            <a:xfrm>
              <a:off x="1359" y="90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endParaRPr kumimoji="1" lang="en-US" altLang="zh-CN" sz="2000" b="0" dirty="0">
                <a:latin typeface="黑体" pitchFamily="2" charset="-122"/>
                <a:ea typeface="黑体" pitchFamily="2" charset="-122"/>
              </a:endParaRPr>
            </a:p>
          </p:txBody>
        </p:sp>
        <p:sp>
          <p:nvSpPr>
            <p:cNvPr id="9237" name="Text Box 21"/>
            <p:cNvSpPr txBox="1">
              <a:spLocks noChangeArrowheads="1"/>
            </p:cNvSpPr>
            <p:nvPr/>
          </p:nvSpPr>
          <p:spPr bwMode="auto">
            <a:xfrm>
              <a:off x="1359" y="1183"/>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9238" name="Text Box 22"/>
            <p:cNvSpPr txBox="1">
              <a:spLocks noChangeArrowheads="1"/>
            </p:cNvSpPr>
            <p:nvPr/>
          </p:nvSpPr>
          <p:spPr bwMode="auto">
            <a:xfrm>
              <a:off x="1359" y="131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9239" name="Text Box 23"/>
            <p:cNvSpPr txBox="1">
              <a:spLocks noChangeArrowheads="1"/>
            </p:cNvSpPr>
            <p:nvPr/>
          </p:nvSpPr>
          <p:spPr bwMode="auto">
            <a:xfrm>
              <a:off x="1683" y="1515"/>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9240" name="Rectangle 24"/>
            <p:cNvSpPr>
              <a:spLocks noChangeArrowheads="1"/>
            </p:cNvSpPr>
            <p:nvPr/>
          </p:nvSpPr>
          <p:spPr bwMode="auto">
            <a:xfrm>
              <a:off x="2681" y="812"/>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41" name="Rectangle 25"/>
            <p:cNvSpPr>
              <a:spLocks noChangeArrowheads="1"/>
            </p:cNvSpPr>
            <p:nvPr/>
          </p:nvSpPr>
          <p:spPr bwMode="auto">
            <a:xfrm>
              <a:off x="2681" y="1076"/>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42" name="Text Box 26"/>
            <p:cNvSpPr txBox="1">
              <a:spLocks noChangeArrowheads="1"/>
            </p:cNvSpPr>
            <p:nvPr/>
          </p:nvSpPr>
          <p:spPr bwMode="auto">
            <a:xfrm>
              <a:off x="2774" y="1201"/>
              <a:ext cx="50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9243" name="Rectangle 27"/>
            <p:cNvSpPr>
              <a:spLocks noChangeArrowheads="1"/>
            </p:cNvSpPr>
            <p:nvPr/>
          </p:nvSpPr>
          <p:spPr bwMode="auto">
            <a:xfrm>
              <a:off x="2681" y="1417"/>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44" name="Text Box 28"/>
            <p:cNvSpPr txBox="1">
              <a:spLocks noChangeArrowheads="1"/>
            </p:cNvSpPr>
            <p:nvPr/>
          </p:nvSpPr>
          <p:spPr bwMode="auto">
            <a:xfrm>
              <a:off x="2774" y="1642"/>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9245" name="Text Box 29"/>
            <p:cNvSpPr txBox="1">
              <a:spLocks noChangeArrowheads="1"/>
            </p:cNvSpPr>
            <p:nvPr/>
          </p:nvSpPr>
          <p:spPr bwMode="auto">
            <a:xfrm>
              <a:off x="2715" y="1807"/>
              <a:ext cx="6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MM</a:t>
              </a:r>
            </a:p>
          </p:txBody>
        </p:sp>
        <p:sp>
          <p:nvSpPr>
            <p:cNvPr id="9246" name="Text Box 30"/>
            <p:cNvSpPr txBox="1">
              <a:spLocks noChangeArrowheads="1"/>
            </p:cNvSpPr>
            <p:nvPr/>
          </p:nvSpPr>
          <p:spPr bwMode="auto">
            <a:xfrm>
              <a:off x="3917" y="1768"/>
              <a:ext cx="62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设备</a:t>
              </a:r>
            </a:p>
          </p:txBody>
        </p:sp>
        <p:sp>
          <p:nvSpPr>
            <p:cNvPr id="9247" name="Rectangle 31"/>
            <p:cNvSpPr>
              <a:spLocks noChangeArrowheads="1"/>
            </p:cNvSpPr>
            <p:nvPr/>
          </p:nvSpPr>
          <p:spPr bwMode="auto">
            <a:xfrm>
              <a:off x="4002" y="73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9248" name="Text Box 32"/>
            <p:cNvSpPr txBox="1">
              <a:spLocks noChangeArrowheads="1"/>
            </p:cNvSpPr>
            <p:nvPr/>
          </p:nvSpPr>
          <p:spPr bwMode="auto">
            <a:xfrm>
              <a:off x="3891" y="988"/>
              <a:ext cx="6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接口</a:t>
              </a:r>
            </a:p>
          </p:txBody>
        </p:sp>
        <p:sp>
          <p:nvSpPr>
            <p:cNvPr id="9249" name="Line 33"/>
            <p:cNvSpPr>
              <a:spLocks noChangeShapeType="1"/>
            </p:cNvSpPr>
            <p:nvPr/>
          </p:nvSpPr>
          <p:spPr bwMode="auto">
            <a:xfrm>
              <a:off x="1573" y="43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0" name="Line 34"/>
            <p:cNvSpPr>
              <a:spLocks noChangeShapeType="1"/>
            </p:cNvSpPr>
            <p:nvPr/>
          </p:nvSpPr>
          <p:spPr bwMode="auto">
            <a:xfrm>
              <a:off x="3013" y="451"/>
              <a:ext cx="0" cy="225"/>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1" name="Line 35"/>
            <p:cNvSpPr>
              <a:spLocks noChangeShapeType="1"/>
            </p:cNvSpPr>
            <p:nvPr/>
          </p:nvSpPr>
          <p:spPr bwMode="auto">
            <a:xfrm>
              <a:off x="4198" y="44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2" name="Line 36"/>
            <p:cNvSpPr>
              <a:spLocks noChangeShapeType="1"/>
            </p:cNvSpPr>
            <p:nvPr/>
          </p:nvSpPr>
          <p:spPr bwMode="auto">
            <a:xfrm>
              <a:off x="4215" y="1193"/>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3" name="Freeform 37"/>
            <p:cNvSpPr>
              <a:spLocks/>
            </p:cNvSpPr>
            <p:nvPr/>
          </p:nvSpPr>
          <p:spPr bwMode="auto">
            <a:xfrm>
              <a:off x="946" y="920"/>
              <a:ext cx="423" cy="214"/>
            </a:xfrm>
            <a:custGeom>
              <a:avLst/>
              <a:gdLst>
                <a:gd name="T0" fmla="*/ 0 w 990"/>
                <a:gd name="T1" fmla="*/ 1 h 352"/>
                <a:gd name="T2" fmla="*/ 0 w 990"/>
                <a:gd name="T3" fmla="*/ 0 h 352"/>
                <a:gd name="T4" fmla="*/ 0 w 990"/>
                <a:gd name="T5" fmla="*/ 0 h 352"/>
                <a:gd name="T6" fmla="*/ 0 w 990"/>
                <a:gd name="T7" fmla="*/ 1 h 352"/>
                <a:gd name="T8" fmla="*/ 0 w 990"/>
                <a:gd name="T9" fmla="*/ 1 h 352"/>
                <a:gd name="T10" fmla="*/ 0 w 990"/>
                <a:gd name="T11" fmla="*/ 1 h 352"/>
                <a:gd name="T12" fmla="*/ 0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9254" name="Text Box 38"/>
            <p:cNvSpPr txBox="1">
              <a:spLocks noChangeArrowheads="1"/>
            </p:cNvSpPr>
            <p:nvPr/>
          </p:nvSpPr>
          <p:spPr bwMode="auto">
            <a:xfrm>
              <a:off x="978" y="955"/>
              <a:ext cx="36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9255" name="Arc 39"/>
            <p:cNvSpPr>
              <a:spLocks/>
            </p:cNvSpPr>
            <p:nvPr/>
          </p:nvSpPr>
          <p:spPr bwMode="auto">
            <a:xfrm>
              <a:off x="2086" y="891"/>
              <a:ext cx="651" cy="145"/>
            </a:xfrm>
            <a:custGeom>
              <a:avLst/>
              <a:gdLst>
                <a:gd name="T0" fmla="*/ 0 w 20919"/>
                <a:gd name="T1" fmla="*/ 0 h 21507"/>
                <a:gd name="T2" fmla="*/ 0 w 20919"/>
                <a:gd name="T3" fmla="*/ 0 h 21507"/>
                <a:gd name="T4" fmla="*/ 0 w 20919"/>
                <a:gd name="T5" fmla="*/ 0 h 21507"/>
                <a:gd name="T6" fmla="*/ 0 60000 65536"/>
                <a:gd name="T7" fmla="*/ 0 60000 65536"/>
                <a:gd name="T8" fmla="*/ 0 60000 65536"/>
                <a:gd name="T9" fmla="*/ 0 w 20919"/>
                <a:gd name="T10" fmla="*/ 0 h 21507"/>
                <a:gd name="T11" fmla="*/ 20919 w 20919"/>
                <a:gd name="T12" fmla="*/ 21507 h 21507"/>
              </a:gdLst>
              <a:ahLst/>
              <a:cxnLst>
                <a:cxn ang="T6">
                  <a:pos x="T0" y="T1"/>
                </a:cxn>
                <a:cxn ang="T7">
                  <a:pos x="T2" y="T3"/>
                </a:cxn>
                <a:cxn ang="T8">
                  <a:pos x="T4" y="T5"/>
                </a:cxn>
              </a:cxnLst>
              <a:rect l="T9" t="T10" r="T11" b="T12"/>
              <a:pathLst>
                <a:path w="20919" h="21507" fill="none" extrusionOk="0">
                  <a:moveTo>
                    <a:pt x="0" y="16124"/>
                  </a:moveTo>
                  <a:cubicBezTo>
                    <a:pt x="2271" y="7296"/>
                    <a:pt x="9840" y="845"/>
                    <a:pt x="18916" y="0"/>
                  </a:cubicBezTo>
                </a:path>
                <a:path w="20919" h="21507" stroke="0" extrusionOk="0">
                  <a:moveTo>
                    <a:pt x="0" y="16124"/>
                  </a:moveTo>
                  <a:cubicBezTo>
                    <a:pt x="2271" y="7296"/>
                    <a:pt x="9840" y="845"/>
                    <a:pt x="18916" y="0"/>
                  </a:cubicBezTo>
                  <a:lnTo>
                    <a:pt x="20919" y="21507"/>
                  </a:lnTo>
                  <a:lnTo>
                    <a:pt x="0" y="16124"/>
                  </a:lnTo>
                  <a:close/>
                </a:path>
              </a:pathLst>
            </a:custGeom>
            <a:noFill/>
            <a:ln w="1905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220" name="Text Box 41"/>
          <p:cNvSpPr txBox="1">
            <a:spLocks noChangeArrowheads="1"/>
          </p:cNvSpPr>
          <p:nvPr/>
        </p:nvSpPr>
        <p:spPr bwMode="auto">
          <a:xfrm>
            <a:off x="755650" y="3800475"/>
            <a:ext cx="6948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a:solidFill>
                  <a:srgbClr val="FF0000"/>
                </a:solidFill>
                <a:latin typeface="黑体" pitchFamily="2" charset="-122"/>
                <a:ea typeface="黑体" pitchFamily="2" charset="-122"/>
              </a:rPr>
              <a:t>以取指令过程为例，其具体操作包含以下内容： </a:t>
            </a:r>
          </a:p>
        </p:txBody>
      </p:sp>
      <p:sp>
        <p:nvSpPr>
          <p:cNvPr id="9221" name="Text Box 42"/>
          <p:cNvSpPr txBox="1">
            <a:spLocks noChangeArrowheads="1"/>
          </p:cNvSpPr>
          <p:nvPr/>
        </p:nvSpPr>
        <p:spPr bwMode="auto">
          <a:xfrm>
            <a:off x="755650" y="4329113"/>
            <a:ext cx="763270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    </a:t>
            </a:r>
            <a:r>
              <a:rPr lang="en-US" altLang="zh-CN" dirty="0">
                <a:latin typeface="黑体" pitchFamily="2" charset="-122"/>
                <a:ea typeface="黑体" pitchFamily="2" charset="-122"/>
              </a:rPr>
              <a:t>(1) </a:t>
            </a:r>
            <a:r>
              <a:rPr lang="zh-CN" altLang="en-US">
                <a:latin typeface="黑体" pitchFamily="2" charset="-122"/>
                <a:ea typeface="黑体" pitchFamily="2" charset="-122"/>
              </a:rPr>
              <a:t>控制器以</a:t>
            </a:r>
            <a:r>
              <a:rPr lang="en-US" altLang="zh-CN" dirty="0">
                <a:latin typeface="黑体" pitchFamily="2" charset="-122"/>
                <a:ea typeface="黑体" pitchFamily="2" charset="-122"/>
              </a:rPr>
              <a:t>PC</a:t>
            </a:r>
            <a:r>
              <a:rPr lang="zh-CN" altLang="en-US">
                <a:latin typeface="黑体" pitchFamily="2" charset="-122"/>
                <a:ea typeface="黑体" pitchFamily="2" charset="-122"/>
              </a:rPr>
              <a:t>中的二进制编码为内存地址，通过系统总线（的地址线）向</a:t>
            </a:r>
            <a:r>
              <a:rPr lang="en-US" altLang="zh-CN" dirty="0">
                <a:latin typeface="黑体" pitchFamily="2" charset="-122"/>
                <a:ea typeface="黑体" pitchFamily="2" charset="-122"/>
              </a:rPr>
              <a:t>MM</a:t>
            </a:r>
            <a:r>
              <a:rPr lang="zh-CN" altLang="en-US">
                <a:latin typeface="黑体" pitchFamily="2" charset="-122"/>
                <a:ea typeface="黑体" pitchFamily="2" charset="-122"/>
              </a:rPr>
              <a:t>发送地址信息，并且通过系统总线（的控制线）向</a:t>
            </a:r>
            <a:r>
              <a:rPr lang="en-US" altLang="zh-CN" dirty="0">
                <a:latin typeface="黑体" pitchFamily="2" charset="-122"/>
                <a:ea typeface="黑体" pitchFamily="2" charset="-122"/>
              </a:rPr>
              <a:t>MM</a:t>
            </a:r>
            <a:r>
              <a:rPr lang="zh-CN" altLang="en-US">
                <a:latin typeface="黑体" pitchFamily="2" charset="-122"/>
                <a:ea typeface="黑体" pitchFamily="2" charset="-122"/>
              </a:rPr>
              <a:t>发</a:t>
            </a:r>
            <a:r>
              <a:rPr lang="zh-CN" altLang="en-US">
                <a:latin typeface="宋体" pitchFamily="2" charset="-122"/>
                <a:ea typeface="黑体" pitchFamily="2" charset="-122"/>
              </a:rPr>
              <a:t>“</a:t>
            </a:r>
            <a:r>
              <a:rPr lang="zh-CN" altLang="en-US">
                <a:latin typeface="黑体" pitchFamily="2" charset="-122"/>
                <a:ea typeface="黑体" pitchFamily="2" charset="-122"/>
              </a:rPr>
              <a:t>读内存</a:t>
            </a:r>
            <a:r>
              <a:rPr lang="zh-CN" altLang="en-US">
                <a:latin typeface="宋体" pitchFamily="2" charset="-122"/>
                <a:ea typeface="黑体" pitchFamily="2" charset="-122"/>
              </a:rPr>
              <a:t>”</a:t>
            </a:r>
            <a:r>
              <a:rPr lang="zh-CN" altLang="en-US">
                <a:latin typeface="黑体" pitchFamily="2" charset="-122"/>
                <a:ea typeface="黑体" pitchFamily="2" charset="-122"/>
              </a:rPr>
              <a:t>命令；</a:t>
            </a:r>
          </a:p>
        </p:txBody>
      </p:sp>
      <p:sp>
        <p:nvSpPr>
          <p:cNvPr id="9222" name="Text Box 44"/>
          <p:cNvSpPr txBox="1">
            <a:spLocks noChangeArrowheads="1"/>
          </p:cNvSpPr>
          <p:nvPr/>
        </p:nvSpPr>
        <p:spPr bwMode="auto">
          <a:xfrm>
            <a:off x="0" y="296863"/>
            <a:ext cx="3816350" cy="396875"/>
          </a:xfrm>
          <a:prstGeom prst="rect">
            <a:avLst/>
          </a:prstGeom>
          <a:solidFill>
            <a:srgbClr val="C8C8C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zh-CN" altLang="en-US" sz="2000">
                <a:solidFill>
                  <a:srgbClr val="FF0000"/>
                </a:solidFill>
                <a:latin typeface="黑体" pitchFamily="2" charset="-122"/>
                <a:ea typeface="黑体" pitchFamily="2" charset="-122"/>
              </a:rPr>
              <a:t> 回顾：计算机执行程序的过程 </a:t>
            </a:r>
          </a:p>
        </p:txBody>
      </p:sp>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spect="1" noChangeArrowheads="1"/>
          </p:cNvSpPr>
          <p:nvPr/>
        </p:nvSpPr>
        <p:spPr bwMode="auto">
          <a:xfrm>
            <a:off x="0" y="304800"/>
            <a:ext cx="9144000" cy="6172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pPr>
            <a:endParaRPr lang="zh-CN" altLang="en-US">
              <a:latin typeface="宋体" pitchFamily="2" charset="-122"/>
              <a:ea typeface="宋体" pitchFamily="2" charset="-122"/>
            </a:endParaRPr>
          </a:p>
        </p:txBody>
      </p:sp>
      <p:sp>
        <p:nvSpPr>
          <p:cNvPr id="10243" name="Text Box 38"/>
          <p:cNvSpPr txBox="1">
            <a:spLocks noChangeArrowheads="1"/>
          </p:cNvSpPr>
          <p:nvPr/>
        </p:nvSpPr>
        <p:spPr bwMode="auto">
          <a:xfrm>
            <a:off x="755650" y="3800475"/>
            <a:ext cx="6948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a:solidFill>
                  <a:srgbClr val="FF0000"/>
                </a:solidFill>
                <a:latin typeface="黑体" pitchFamily="2" charset="-122"/>
                <a:ea typeface="黑体" pitchFamily="2" charset="-122"/>
              </a:rPr>
              <a:t>以取指令过程为例，其具体操作包含以下内容： </a:t>
            </a:r>
          </a:p>
        </p:txBody>
      </p:sp>
      <p:sp>
        <p:nvSpPr>
          <p:cNvPr id="10244" name="Text Box 39"/>
          <p:cNvSpPr txBox="1">
            <a:spLocks noChangeArrowheads="1"/>
          </p:cNvSpPr>
          <p:nvPr/>
        </p:nvSpPr>
        <p:spPr bwMode="auto">
          <a:xfrm>
            <a:off x="755650" y="4329113"/>
            <a:ext cx="76327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    </a:t>
            </a:r>
            <a:r>
              <a:rPr lang="en-US" altLang="zh-CN" dirty="0">
                <a:latin typeface="黑体" pitchFamily="2" charset="-122"/>
                <a:ea typeface="黑体" pitchFamily="2" charset="-122"/>
              </a:rPr>
              <a:t>(2) MM接到地址信息和</a:t>
            </a:r>
            <a:r>
              <a:rPr lang="en-US" altLang="zh-CN" dirty="0">
                <a:latin typeface="宋体" pitchFamily="2" charset="-122"/>
                <a:ea typeface="黑体" pitchFamily="2" charset="-122"/>
              </a:rPr>
              <a:t>“</a:t>
            </a:r>
            <a:r>
              <a:rPr lang="en-US" altLang="zh-CN" dirty="0">
                <a:latin typeface="黑体" pitchFamily="2" charset="-122"/>
                <a:ea typeface="黑体" pitchFamily="2" charset="-122"/>
              </a:rPr>
              <a:t>读内存</a:t>
            </a:r>
            <a:r>
              <a:rPr lang="en-US" altLang="zh-CN" dirty="0">
                <a:latin typeface="宋体" pitchFamily="2" charset="-122"/>
                <a:ea typeface="黑体" pitchFamily="2" charset="-122"/>
              </a:rPr>
              <a:t>”</a:t>
            </a:r>
            <a:r>
              <a:rPr lang="en-US" altLang="zh-CN" dirty="0">
                <a:latin typeface="黑体" pitchFamily="2" charset="-122"/>
                <a:ea typeface="黑体" pitchFamily="2" charset="-122"/>
              </a:rPr>
              <a:t>命令后，按第5章中所学的原理把内存相应单元中的二进制编码（即指令）读到内存的数据缓冲寄存器（MDR）中；同时，PC内容递增，为取下一条指令作准备；</a:t>
            </a:r>
            <a:endParaRPr lang="zh-CN" altLang="en-US">
              <a:latin typeface="黑体" pitchFamily="2" charset="-122"/>
              <a:ea typeface="黑体" pitchFamily="2" charset="-122"/>
            </a:endParaRPr>
          </a:p>
        </p:txBody>
      </p:sp>
      <p:grpSp>
        <p:nvGrpSpPr>
          <p:cNvPr id="10245" name="Group 41"/>
          <p:cNvGrpSpPr>
            <a:grpSpLocks/>
          </p:cNvGrpSpPr>
          <p:nvPr/>
        </p:nvGrpSpPr>
        <p:grpSpPr bwMode="auto">
          <a:xfrm>
            <a:off x="1143000" y="908050"/>
            <a:ext cx="6630988" cy="2570163"/>
            <a:chOff x="720" y="572"/>
            <a:chExt cx="4177" cy="1619"/>
          </a:xfrm>
        </p:grpSpPr>
        <p:grpSp>
          <p:nvGrpSpPr>
            <p:cNvPr id="10247" name="Group 41"/>
            <p:cNvGrpSpPr>
              <a:grpSpLocks/>
            </p:cNvGrpSpPr>
            <p:nvPr/>
          </p:nvGrpSpPr>
          <p:grpSpPr bwMode="auto">
            <a:xfrm>
              <a:off x="720" y="572"/>
              <a:ext cx="4177" cy="1619"/>
              <a:chOff x="720" y="432"/>
              <a:chExt cx="4177" cy="1619"/>
            </a:xfrm>
          </p:grpSpPr>
          <p:sp>
            <p:nvSpPr>
              <p:cNvPr id="10249" name="Line 7"/>
              <p:cNvSpPr>
                <a:spLocks noChangeShapeType="1"/>
              </p:cNvSpPr>
              <p:nvPr/>
            </p:nvSpPr>
            <p:spPr bwMode="auto">
              <a:xfrm>
                <a:off x="720" y="432"/>
                <a:ext cx="4177" cy="0"/>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0" name="Rectangle 8"/>
              <p:cNvSpPr>
                <a:spLocks noChangeArrowheads="1"/>
              </p:cNvSpPr>
              <p:nvPr/>
            </p:nvSpPr>
            <p:spPr bwMode="auto">
              <a:xfrm>
                <a:off x="856" y="656"/>
                <a:ext cx="1364" cy="13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1" name="Rectangle 9"/>
              <p:cNvSpPr>
                <a:spLocks noChangeArrowheads="1"/>
              </p:cNvSpPr>
              <p:nvPr/>
            </p:nvSpPr>
            <p:spPr bwMode="auto">
              <a:xfrm>
                <a:off x="2681" y="666"/>
                <a:ext cx="673" cy="1356"/>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2" name="Rectangle 10"/>
              <p:cNvSpPr>
                <a:spLocks noChangeArrowheads="1"/>
              </p:cNvSpPr>
              <p:nvPr/>
            </p:nvSpPr>
            <p:spPr bwMode="auto">
              <a:xfrm>
                <a:off x="3849" y="676"/>
                <a:ext cx="690" cy="51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3" name="Rectangle 11"/>
              <p:cNvSpPr>
                <a:spLocks noChangeArrowheads="1"/>
              </p:cNvSpPr>
              <p:nvPr/>
            </p:nvSpPr>
            <p:spPr bwMode="auto">
              <a:xfrm>
                <a:off x="3857" y="1407"/>
                <a:ext cx="699" cy="5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4" name="Text Box 12"/>
              <p:cNvSpPr txBox="1">
                <a:spLocks noChangeArrowheads="1"/>
              </p:cNvSpPr>
              <p:nvPr/>
            </p:nvSpPr>
            <p:spPr bwMode="auto">
              <a:xfrm>
                <a:off x="1282" y="1836"/>
                <a:ext cx="4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10255" name="Rectangle 13"/>
              <p:cNvSpPr>
                <a:spLocks noChangeArrowheads="1"/>
              </p:cNvSpPr>
              <p:nvPr/>
            </p:nvSpPr>
            <p:spPr bwMode="auto">
              <a:xfrm>
                <a:off x="1683" y="76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6" name="Rectangle 14"/>
              <p:cNvSpPr>
                <a:spLocks noChangeArrowheads="1"/>
              </p:cNvSpPr>
              <p:nvPr/>
            </p:nvSpPr>
            <p:spPr bwMode="auto">
              <a:xfrm>
                <a:off x="1683" y="92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7" name="Rectangle 15"/>
              <p:cNvSpPr>
                <a:spLocks noChangeArrowheads="1"/>
              </p:cNvSpPr>
              <p:nvPr/>
            </p:nvSpPr>
            <p:spPr bwMode="auto">
              <a:xfrm>
                <a:off x="1683" y="1212"/>
                <a:ext cx="435" cy="127"/>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8" name="Rectangle 16"/>
              <p:cNvSpPr>
                <a:spLocks noChangeArrowheads="1"/>
              </p:cNvSpPr>
              <p:nvPr/>
            </p:nvSpPr>
            <p:spPr bwMode="auto">
              <a:xfrm>
                <a:off x="1683" y="1212"/>
                <a:ext cx="435" cy="644"/>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59" name="Rectangle 17"/>
              <p:cNvSpPr>
                <a:spLocks noChangeArrowheads="1"/>
              </p:cNvSpPr>
              <p:nvPr/>
            </p:nvSpPr>
            <p:spPr bwMode="auto">
              <a:xfrm>
                <a:off x="1683" y="133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60" name="Rectangle 18"/>
              <p:cNvSpPr>
                <a:spLocks noChangeArrowheads="1"/>
              </p:cNvSpPr>
              <p:nvPr/>
            </p:nvSpPr>
            <p:spPr bwMode="auto">
              <a:xfrm>
                <a:off x="1683" y="172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61" name="Text Box 19"/>
              <p:cNvSpPr txBox="1">
                <a:spLocks noChangeArrowheads="1"/>
              </p:cNvSpPr>
              <p:nvPr/>
            </p:nvSpPr>
            <p:spPr bwMode="auto">
              <a:xfrm>
                <a:off x="1343" y="754"/>
                <a:ext cx="3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10262" name="Text Box 20"/>
              <p:cNvSpPr txBox="1">
                <a:spLocks noChangeArrowheads="1"/>
              </p:cNvSpPr>
              <p:nvPr/>
            </p:nvSpPr>
            <p:spPr bwMode="auto">
              <a:xfrm>
                <a:off x="1359" y="90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endParaRPr kumimoji="1" lang="en-US" altLang="zh-CN" sz="2000" b="0" dirty="0">
                  <a:latin typeface="黑体" pitchFamily="2" charset="-122"/>
                  <a:ea typeface="黑体" pitchFamily="2" charset="-122"/>
                </a:endParaRPr>
              </a:p>
            </p:txBody>
          </p:sp>
          <p:sp>
            <p:nvSpPr>
              <p:cNvPr id="10263" name="Text Box 21"/>
              <p:cNvSpPr txBox="1">
                <a:spLocks noChangeArrowheads="1"/>
              </p:cNvSpPr>
              <p:nvPr/>
            </p:nvSpPr>
            <p:spPr bwMode="auto">
              <a:xfrm>
                <a:off x="1359" y="1183"/>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10264" name="Text Box 22"/>
              <p:cNvSpPr txBox="1">
                <a:spLocks noChangeArrowheads="1"/>
              </p:cNvSpPr>
              <p:nvPr/>
            </p:nvSpPr>
            <p:spPr bwMode="auto">
              <a:xfrm>
                <a:off x="1359" y="131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10265" name="Text Box 23"/>
              <p:cNvSpPr txBox="1">
                <a:spLocks noChangeArrowheads="1"/>
              </p:cNvSpPr>
              <p:nvPr/>
            </p:nvSpPr>
            <p:spPr bwMode="auto">
              <a:xfrm>
                <a:off x="1683" y="1515"/>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0266" name="Rectangle 24"/>
              <p:cNvSpPr>
                <a:spLocks noChangeArrowheads="1"/>
              </p:cNvSpPr>
              <p:nvPr/>
            </p:nvSpPr>
            <p:spPr bwMode="auto">
              <a:xfrm>
                <a:off x="2681" y="812"/>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67" name="Rectangle 25"/>
              <p:cNvSpPr>
                <a:spLocks noChangeArrowheads="1"/>
              </p:cNvSpPr>
              <p:nvPr/>
            </p:nvSpPr>
            <p:spPr bwMode="auto">
              <a:xfrm>
                <a:off x="2681" y="1076"/>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68" name="Text Box 26"/>
              <p:cNvSpPr txBox="1">
                <a:spLocks noChangeArrowheads="1"/>
              </p:cNvSpPr>
              <p:nvPr/>
            </p:nvSpPr>
            <p:spPr bwMode="auto">
              <a:xfrm>
                <a:off x="2774" y="1201"/>
                <a:ext cx="50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0269" name="Rectangle 27"/>
              <p:cNvSpPr>
                <a:spLocks noChangeArrowheads="1"/>
              </p:cNvSpPr>
              <p:nvPr/>
            </p:nvSpPr>
            <p:spPr bwMode="auto">
              <a:xfrm>
                <a:off x="2681" y="1417"/>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70" name="Text Box 28"/>
              <p:cNvSpPr txBox="1">
                <a:spLocks noChangeArrowheads="1"/>
              </p:cNvSpPr>
              <p:nvPr/>
            </p:nvSpPr>
            <p:spPr bwMode="auto">
              <a:xfrm>
                <a:off x="2774" y="1642"/>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0271" name="Text Box 29"/>
              <p:cNvSpPr txBox="1">
                <a:spLocks noChangeArrowheads="1"/>
              </p:cNvSpPr>
              <p:nvPr/>
            </p:nvSpPr>
            <p:spPr bwMode="auto">
              <a:xfrm>
                <a:off x="2715" y="1807"/>
                <a:ext cx="6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MM</a:t>
                </a:r>
              </a:p>
            </p:txBody>
          </p:sp>
          <p:sp>
            <p:nvSpPr>
              <p:cNvPr id="10272" name="Text Box 30"/>
              <p:cNvSpPr txBox="1">
                <a:spLocks noChangeArrowheads="1"/>
              </p:cNvSpPr>
              <p:nvPr/>
            </p:nvSpPr>
            <p:spPr bwMode="auto">
              <a:xfrm>
                <a:off x="3917" y="1768"/>
                <a:ext cx="62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设备</a:t>
                </a:r>
              </a:p>
            </p:txBody>
          </p:sp>
          <p:sp>
            <p:nvSpPr>
              <p:cNvPr id="10273" name="Rectangle 31"/>
              <p:cNvSpPr>
                <a:spLocks noChangeArrowheads="1"/>
              </p:cNvSpPr>
              <p:nvPr/>
            </p:nvSpPr>
            <p:spPr bwMode="auto">
              <a:xfrm>
                <a:off x="4002" y="73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0274" name="Text Box 32"/>
              <p:cNvSpPr txBox="1">
                <a:spLocks noChangeArrowheads="1"/>
              </p:cNvSpPr>
              <p:nvPr/>
            </p:nvSpPr>
            <p:spPr bwMode="auto">
              <a:xfrm>
                <a:off x="3891" y="988"/>
                <a:ext cx="6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接口</a:t>
                </a:r>
              </a:p>
            </p:txBody>
          </p:sp>
          <p:sp>
            <p:nvSpPr>
              <p:cNvPr id="10275" name="Line 33"/>
              <p:cNvSpPr>
                <a:spLocks noChangeShapeType="1"/>
              </p:cNvSpPr>
              <p:nvPr/>
            </p:nvSpPr>
            <p:spPr bwMode="auto">
              <a:xfrm>
                <a:off x="1573" y="43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6" name="Line 34"/>
              <p:cNvSpPr>
                <a:spLocks noChangeShapeType="1"/>
              </p:cNvSpPr>
              <p:nvPr/>
            </p:nvSpPr>
            <p:spPr bwMode="auto">
              <a:xfrm>
                <a:off x="3013" y="451"/>
                <a:ext cx="0" cy="225"/>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7" name="Line 35"/>
              <p:cNvSpPr>
                <a:spLocks noChangeShapeType="1"/>
              </p:cNvSpPr>
              <p:nvPr/>
            </p:nvSpPr>
            <p:spPr bwMode="auto">
              <a:xfrm>
                <a:off x="4198" y="44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8" name="Line 36"/>
              <p:cNvSpPr>
                <a:spLocks noChangeShapeType="1"/>
              </p:cNvSpPr>
              <p:nvPr/>
            </p:nvSpPr>
            <p:spPr bwMode="auto">
              <a:xfrm>
                <a:off x="4215" y="1193"/>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9" name="Freeform 37"/>
              <p:cNvSpPr>
                <a:spLocks/>
              </p:cNvSpPr>
              <p:nvPr/>
            </p:nvSpPr>
            <p:spPr bwMode="auto">
              <a:xfrm>
                <a:off x="946" y="920"/>
                <a:ext cx="423" cy="214"/>
              </a:xfrm>
              <a:custGeom>
                <a:avLst/>
                <a:gdLst>
                  <a:gd name="T0" fmla="*/ 0 w 990"/>
                  <a:gd name="T1" fmla="*/ 1 h 352"/>
                  <a:gd name="T2" fmla="*/ 0 w 990"/>
                  <a:gd name="T3" fmla="*/ 0 h 352"/>
                  <a:gd name="T4" fmla="*/ 0 w 990"/>
                  <a:gd name="T5" fmla="*/ 0 h 352"/>
                  <a:gd name="T6" fmla="*/ 0 w 990"/>
                  <a:gd name="T7" fmla="*/ 1 h 352"/>
                  <a:gd name="T8" fmla="*/ 0 w 990"/>
                  <a:gd name="T9" fmla="*/ 1 h 352"/>
                  <a:gd name="T10" fmla="*/ 0 w 990"/>
                  <a:gd name="T11" fmla="*/ 1 h 352"/>
                  <a:gd name="T12" fmla="*/ 0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10280" name="Text Box 38"/>
              <p:cNvSpPr txBox="1">
                <a:spLocks noChangeArrowheads="1"/>
              </p:cNvSpPr>
              <p:nvPr/>
            </p:nvSpPr>
            <p:spPr bwMode="auto">
              <a:xfrm>
                <a:off x="978" y="955"/>
                <a:ext cx="36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10281" name="Arc 39"/>
              <p:cNvSpPr>
                <a:spLocks/>
              </p:cNvSpPr>
              <p:nvPr/>
            </p:nvSpPr>
            <p:spPr bwMode="auto">
              <a:xfrm>
                <a:off x="2086" y="891"/>
                <a:ext cx="651" cy="145"/>
              </a:xfrm>
              <a:custGeom>
                <a:avLst/>
                <a:gdLst>
                  <a:gd name="T0" fmla="*/ 0 w 20919"/>
                  <a:gd name="T1" fmla="*/ 0 h 21507"/>
                  <a:gd name="T2" fmla="*/ 0 w 20919"/>
                  <a:gd name="T3" fmla="*/ 0 h 21507"/>
                  <a:gd name="T4" fmla="*/ 0 w 20919"/>
                  <a:gd name="T5" fmla="*/ 0 h 21507"/>
                  <a:gd name="T6" fmla="*/ 0 60000 65536"/>
                  <a:gd name="T7" fmla="*/ 0 60000 65536"/>
                  <a:gd name="T8" fmla="*/ 0 60000 65536"/>
                  <a:gd name="T9" fmla="*/ 0 w 20919"/>
                  <a:gd name="T10" fmla="*/ 0 h 21507"/>
                  <a:gd name="T11" fmla="*/ 20919 w 20919"/>
                  <a:gd name="T12" fmla="*/ 21507 h 21507"/>
                </a:gdLst>
                <a:ahLst/>
                <a:cxnLst>
                  <a:cxn ang="T6">
                    <a:pos x="T0" y="T1"/>
                  </a:cxn>
                  <a:cxn ang="T7">
                    <a:pos x="T2" y="T3"/>
                  </a:cxn>
                  <a:cxn ang="T8">
                    <a:pos x="T4" y="T5"/>
                  </a:cxn>
                </a:cxnLst>
                <a:rect l="T9" t="T10" r="T11" b="T12"/>
                <a:pathLst>
                  <a:path w="20919" h="21507" fill="none" extrusionOk="0">
                    <a:moveTo>
                      <a:pt x="0" y="16124"/>
                    </a:moveTo>
                    <a:cubicBezTo>
                      <a:pt x="2271" y="7296"/>
                      <a:pt x="9840" y="845"/>
                      <a:pt x="18916" y="0"/>
                    </a:cubicBezTo>
                  </a:path>
                  <a:path w="20919" h="21507" stroke="0" extrusionOk="0">
                    <a:moveTo>
                      <a:pt x="0" y="16124"/>
                    </a:moveTo>
                    <a:cubicBezTo>
                      <a:pt x="2271" y="7296"/>
                      <a:pt x="9840" y="845"/>
                      <a:pt x="18916" y="0"/>
                    </a:cubicBezTo>
                    <a:lnTo>
                      <a:pt x="20919" y="21507"/>
                    </a:lnTo>
                    <a:lnTo>
                      <a:pt x="0" y="16124"/>
                    </a:lnTo>
                    <a:close/>
                  </a:path>
                </a:pathLst>
              </a:custGeom>
              <a:noFill/>
              <a:ln w="1905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248" name="Rectangle 153"/>
            <p:cNvSpPr>
              <a:spLocks noChangeArrowheads="1"/>
            </p:cNvSpPr>
            <p:nvPr/>
          </p:nvSpPr>
          <p:spPr bwMode="auto">
            <a:xfrm>
              <a:off x="2668" y="954"/>
              <a:ext cx="688" cy="140"/>
            </a:xfrm>
            <a:prstGeom prst="rect">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grpSp>
      <p:sp>
        <p:nvSpPr>
          <p:cNvPr id="10246" name="Text Box 42"/>
          <p:cNvSpPr txBox="1">
            <a:spLocks noChangeArrowheads="1"/>
          </p:cNvSpPr>
          <p:nvPr/>
        </p:nvSpPr>
        <p:spPr bwMode="auto">
          <a:xfrm>
            <a:off x="0" y="296863"/>
            <a:ext cx="3816350" cy="396875"/>
          </a:xfrm>
          <a:prstGeom prst="rect">
            <a:avLst/>
          </a:prstGeom>
          <a:solidFill>
            <a:srgbClr val="C8C8C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zh-CN" altLang="en-US" sz="2000">
                <a:solidFill>
                  <a:srgbClr val="FF0000"/>
                </a:solidFill>
                <a:latin typeface="黑体" pitchFamily="2" charset="-122"/>
                <a:ea typeface="黑体" pitchFamily="2" charset="-122"/>
              </a:rPr>
              <a:t> 回顾：计算机执行程序的过程 </a:t>
            </a: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ChangeAspect="1" noChangeArrowheads="1"/>
          </p:cNvSpPr>
          <p:nvPr/>
        </p:nvSpPr>
        <p:spPr bwMode="auto">
          <a:xfrm>
            <a:off x="0" y="304800"/>
            <a:ext cx="9144000" cy="6172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pPr>
            <a:endParaRPr lang="zh-CN" altLang="en-US">
              <a:latin typeface="宋体" pitchFamily="2" charset="-122"/>
              <a:ea typeface="宋体" pitchFamily="2" charset="-122"/>
            </a:endParaRPr>
          </a:p>
        </p:txBody>
      </p:sp>
      <p:sp>
        <p:nvSpPr>
          <p:cNvPr id="11267" name="Text Box 38"/>
          <p:cNvSpPr txBox="1">
            <a:spLocks noChangeArrowheads="1"/>
          </p:cNvSpPr>
          <p:nvPr/>
        </p:nvSpPr>
        <p:spPr bwMode="auto">
          <a:xfrm>
            <a:off x="755650" y="3800475"/>
            <a:ext cx="6948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a:solidFill>
                  <a:srgbClr val="FF0000"/>
                </a:solidFill>
                <a:latin typeface="黑体" pitchFamily="2" charset="-122"/>
                <a:ea typeface="黑体" pitchFamily="2" charset="-122"/>
              </a:rPr>
              <a:t>以取指令过程为例，其具体操作包含以下内容： </a:t>
            </a:r>
          </a:p>
        </p:txBody>
      </p:sp>
      <p:sp>
        <p:nvSpPr>
          <p:cNvPr id="11268" name="Text Box 39"/>
          <p:cNvSpPr txBox="1">
            <a:spLocks noChangeArrowheads="1"/>
          </p:cNvSpPr>
          <p:nvPr/>
        </p:nvSpPr>
        <p:spPr bwMode="auto">
          <a:xfrm>
            <a:off x="755650" y="4329113"/>
            <a:ext cx="763270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dirty="0">
                <a:latin typeface="黑体" pitchFamily="2" charset="-122"/>
                <a:ea typeface="黑体" pitchFamily="2" charset="-122"/>
              </a:rPr>
              <a:t>    </a:t>
            </a:r>
            <a:r>
              <a:rPr lang="en-US" altLang="zh-CN" dirty="0">
                <a:latin typeface="黑体" pitchFamily="2" charset="-122"/>
                <a:ea typeface="黑体" pitchFamily="2" charset="-122"/>
              </a:rPr>
              <a:t>(3) MM把MDR中的指令通过系统总线（的数据线）传到CPU的指令寄存器（IR）中，为下一步指令译码作准备。</a:t>
            </a:r>
            <a:endParaRPr lang="zh-CN" altLang="en-US" dirty="0">
              <a:latin typeface="黑体" pitchFamily="2" charset="-122"/>
              <a:ea typeface="黑体" pitchFamily="2" charset="-122"/>
            </a:endParaRPr>
          </a:p>
        </p:txBody>
      </p:sp>
      <p:grpSp>
        <p:nvGrpSpPr>
          <p:cNvPr id="11269" name="Group 46"/>
          <p:cNvGrpSpPr>
            <a:grpSpLocks/>
          </p:cNvGrpSpPr>
          <p:nvPr/>
        </p:nvGrpSpPr>
        <p:grpSpPr bwMode="auto">
          <a:xfrm>
            <a:off x="1143000" y="682625"/>
            <a:ext cx="6630988" cy="2795588"/>
            <a:chOff x="720" y="430"/>
            <a:chExt cx="4177" cy="1761"/>
          </a:xfrm>
        </p:grpSpPr>
        <p:sp>
          <p:nvSpPr>
            <p:cNvPr id="11271" name="Line 7"/>
            <p:cNvSpPr>
              <a:spLocks noChangeShapeType="1"/>
            </p:cNvSpPr>
            <p:nvPr/>
          </p:nvSpPr>
          <p:spPr bwMode="auto">
            <a:xfrm>
              <a:off x="720" y="572"/>
              <a:ext cx="4177" cy="0"/>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2" name="Rectangle 8"/>
            <p:cNvSpPr>
              <a:spLocks noChangeArrowheads="1"/>
            </p:cNvSpPr>
            <p:nvPr/>
          </p:nvSpPr>
          <p:spPr bwMode="auto">
            <a:xfrm>
              <a:off x="856" y="796"/>
              <a:ext cx="1364" cy="13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3" name="Rectangle 9"/>
            <p:cNvSpPr>
              <a:spLocks noChangeArrowheads="1"/>
            </p:cNvSpPr>
            <p:nvPr/>
          </p:nvSpPr>
          <p:spPr bwMode="auto">
            <a:xfrm>
              <a:off x="2681" y="806"/>
              <a:ext cx="673" cy="1356"/>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4" name="Rectangle 10"/>
            <p:cNvSpPr>
              <a:spLocks noChangeArrowheads="1"/>
            </p:cNvSpPr>
            <p:nvPr/>
          </p:nvSpPr>
          <p:spPr bwMode="auto">
            <a:xfrm>
              <a:off x="3849" y="816"/>
              <a:ext cx="690" cy="51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5" name="Rectangle 11"/>
            <p:cNvSpPr>
              <a:spLocks noChangeArrowheads="1"/>
            </p:cNvSpPr>
            <p:nvPr/>
          </p:nvSpPr>
          <p:spPr bwMode="auto">
            <a:xfrm>
              <a:off x="3857" y="1547"/>
              <a:ext cx="699" cy="5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6" name="Text Box 12"/>
            <p:cNvSpPr txBox="1">
              <a:spLocks noChangeArrowheads="1"/>
            </p:cNvSpPr>
            <p:nvPr/>
          </p:nvSpPr>
          <p:spPr bwMode="auto">
            <a:xfrm>
              <a:off x="1282" y="1976"/>
              <a:ext cx="4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11277" name="Rectangle 13"/>
            <p:cNvSpPr>
              <a:spLocks noChangeArrowheads="1"/>
            </p:cNvSpPr>
            <p:nvPr/>
          </p:nvSpPr>
          <p:spPr bwMode="auto">
            <a:xfrm>
              <a:off x="1683" y="90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8" name="Rectangle 14"/>
            <p:cNvSpPr>
              <a:spLocks noChangeArrowheads="1"/>
            </p:cNvSpPr>
            <p:nvPr/>
          </p:nvSpPr>
          <p:spPr bwMode="auto">
            <a:xfrm>
              <a:off x="1683" y="106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79" name="Rectangle 15"/>
            <p:cNvSpPr>
              <a:spLocks noChangeArrowheads="1"/>
            </p:cNvSpPr>
            <p:nvPr/>
          </p:nvSpPr>
          <p:spPr bwMode="auto">
            <a:xfrm>
              <a:off x="1683" y="1352"/>
              <a:ext cx="435" cy="127"/>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80" name="Rectangle 16"/>
            <p:cNvSpPr>
              <a:spLocks noChangeArrowheads="1"/>
            </p:cNvSpPr>
            <p:nvPr/>
          </p:nvSpPr>
          <p:spPr bwMode="auto">
            <a:xfrm>
              <a:off x="1683" y="1352"/>
              <a:ext cx="435" cy="644"/>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81" name="Rectangle 17"/>
            <p:cNvSpPr>
              <a:spLocks noChangeArrowheads="1"/>
            </p:cNvSpPr>
            <p:nvPr/>
          </p:nvSpPr>
          <p:spPr bwMode="auto">
            <a:xfrm>
              <a:off x="1683" y="147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82" name="Rectangle 18"/>
            <p:cNvSpPr>
              <a:spLocks noChangeArrowheads="1"/>
            </p:cNvSpPr>
            <p:nvPr/>
          </p:nvSpPr>
          <p:spPr bwMode="auto">
            <a:xfrm>
              <a:off x="1683" y="186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83" name="Text Box 19"/>
            <p:cNvSpPr txBox="1">
              <a:spLocks noChangeArrowheads="1"/>
            </p:cNvSpPr>
            <p:nvPr/>
          </p:nvSpPr>
          <p:spPr bwMode="auto">
            <a:xfrm>
              <a:off x="1343" y="894"/>
              <a:ext cx="3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11284" name="Text Box 20"/>
            <p:cNvSpPr txBox="1">
              <a:spLocks noChangeArrowheads="1"/>
            </p:cNvSpPr>
            <p:nvPr/>
          </p:nvSpPr>
          <p:spPr bwMode="auto">
            <a:xfrm>
              <a:off x="1359" y="104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endParaRPr kumimoji="1" lang="en-US" altLang="zh-CN" sz="2000" b="0" dirty="0">
                <a:latin typeface="黑体" pitchFamily="2" charset="-122"/>
                <a:ea typeface="黑体" pitchFamily="2" charset="-122"/>
              </a:endParaRPr>
            </a:p>
          </p:txBody>
        </p:sp>
        <p:sp>
          <p:nvSpPr>
            <p:cNvPr id="11285" name="Text Box 21"/>
            <p:cNvSpPr txBox="1">
              <a:spLocks noChangeArrowheads="1"/>
            </p:cNvSpPr>
            <p:nvPr/>
          </p:nvSpPr>
          <p:spPr bwMode="auto">
            <a:xfrm>
              <a:off x="1359" y="1323"/>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11286" name="Text Box 22"/>
            <p:cNvSpPr txBox="1">
              <a:spLocks noChangeArrowheads="1"/>
            </p:cNvSpPr>
            <p:nvPr/>
          </p:nvSpPr>
          <p:spPr bwMode="auto">
            <a:xfrm>
              <a:off x="1359" y="145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11287" name="Text Box 23"/>
            <p:cNvSpPr txBox="1">
              <a:spLocks noChangeArrowheads="1"/>
            </p:cNvSpPr>
            <p:nvPr/>
          </p:nvSpPr>
          <p:spPr bwMode="auto">
            <a:xfrm>
              <a:off x="1683" y="1655"/>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1288" name="Rectangle 24"/>
            <p:cNvSpPr>
              <a:spLocks noChangeArrowheads="1"/>
            </p:cNvSpPr>
            <p:nvPr/>
          </p:nvSpPr>
          <p:spPr bwMode="auto">
            <a:xfrm>
              <a:off x="2681" y="952"/>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89" name="Rectangle 25"/>
            <p:cNvSpPr>
              <a:spLocks noChangeArrowheads="1"/>
            </p:cNvSpPr>
            <p:nvPr/>
          </p:nvSpPr>
          <p:spPr bwMode="auto">
            <a:xfrm>
              <a:off x="2681" y="1216"/>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90" name="Text Box 26"/>
            <p:cNvSpPr txBox="1">
              <a:spLocks noChangeArrowheads="1"/>
            </p:cNvSpPr>
            <p:nvPr/>
          </p:nvSpPr>
          <p:spPr bwMode="auto">
            <a:xfrm>
              <a:off x="2774" y="1341"/>
              <a:ext cx="50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1291" name="Rectangle 27"/>
            <p:cNvSpPr>
              <a:spLocks noChangeArrowheads="1"/>
            </p:cNvSpPr>
            <p:nvPr/>
          </p:nvSpPr>
          <p:spPr bwMode="auto">
            <a:xfrm>
              <a:off x="2681" y="1557"/>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92" name="Text Box 28"/>
            <p:cNvSpPr txBox="1">
              <a:spLocks noChangeArrowheads="1"/>
            </p:cNvSpPr>
            <p:nvPr/>
          </p:nvSpPr>
          <p:spPr bwMode="auto">
            <a:xfrm>
              <a:off x="2774" y="1782"/>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1293" name="Text Box 29"/>
            <p:cNvSpPr txBox="1">
              <a:spLocks noChangeArrowheads="1"/>
            </p:cNvSpPr>
            <p:nvPr/>
          </p:nvSpPr>
          <p:spPr bwMode="auto">
            <a:xfrm>
              <a:off x="2715" y="1947"/>
              <a:ext cx="6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MM</a:t>
              </a:r>
            </a:p>
          </p:txBody>
        </p:sp>
        <p:sp>
          <p:nvSpPr>
            <p:cNvPr id="11294" name="Text Box 30"/>
            <p:cNvSpPr txBox="1">
              <a:spLocks noChangeArrowheads="1"/>
            </p:cNvSpPr>
            <p:nvPr/>
          </p:nvSpPr>
          <p:spPr bwMode="auto">
            <a:xfrm>
              <a:off x="3917" y="1908"/>
              <a:ext cx="62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设备</a:t>
              </a:r>
            </a:p>
          </p:txBody>
        </p:sp>
        <p:sp>
          <p:nvSpPr>
            <p:cNvPr id="11295" name="Rectangle 31"/>
            <p:cNvSpPr>
              <a:spLocks noChangeArrowheads="1"/>
            </p:cNvSpPr>
            <p:nvPr/>
          </p:nvSpPr>
          <p:spPr bwMode="auto">
            <a:xfrm>
              <a:off x="4002" y="87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1296" name="Text Box 32"/>
            <p:cNvSpPr txBox="1">
              <a:spLocks noChangeArrowheads="1"/>
            </p:cNvSpPr>
            <p:nvPr/>
          </p:nvSpPr>
          <p:spPr bwMode="auto">
            <a:xfrm>
              <a:off x="3891" y="1128"/>
              <a:ext cx="6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接口</a:t>
              </a:r>
            </a:p>
          </p:txBody>
        </p:sp>
        <p:sp>
          <p:nvSpPr>
            <p:cNvPr id="11297" name="Line 33"/>
            <p:cNvSpPr>
              <a:spLocks noChangeShapeType="1"/>
            </p:cNvSpPr>
            <p:nvPr/>
          </p:nvSpPr>
          <p:spPr bwMode="auto">
            <a:xfrm>
              <a:off x="1573" y="57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98" name="Line 34"/>
            <p:cNvSpPr>
              <a:spLocks noChangeShapeType="1"/>
            </p:cNvSpPr>
            <p:nvPr/>
          </p:nvSpPr>
          <p:spPr bwMode="auto">
            <a:xfrm>
              <a:off x="3013" y="591"/>
              <a:ext cx="0" cy="225"/>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99" name="Line 35"/>
            <p:cNvSpPr>
              <a:spLocks noChangeShapeType="1"/>
            </p:cNvSpPr>
            <p:nvPr/>
          </p:nvSpPr>
          <p:spPr bwMode="auto">
            <a:xfrm>
              <a:off x="4198" y="58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00" name="Line 36"/>
            <p:cNvSpPr>
              <a:spLocks noChangeShapeType="1"/>
            </p:cNvSpPr>
            <p:nvPr/>
          </p:nvSpPr>
          <p:spPr bwMode="auto">
            <a:xfrm>
              <a:off x="4215" y="1333"/>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01" name="Freeform 37"/>
            <p:cNvSpPr>
              <a:spLocks/>
            </p:cNvSpPr>
            <p:nvPr/>
          </p:nvSpPr>
          <p:spPr bwMode="auto">
            <a:xfrm>
              <a:off x="946" y="1060"/>
              <a:ext cx="423" cy="214"/>
            </a:xfrm>
            <a:custGeom>
              <a:avLst/>
              <a:gdLst>
                <a:gd name="T0" fmla="*/ 0 w 990"/>
                <a:gd name="T1" fmla="*/ 1 h 352"/>
                <a:gd name="T2" fmla="*/ 0 w 990"/>
                <a:gd name="T3" fmla="*/ 0 h 352"/>
                <a:gd name="T4" fmla="*/ 0 w 990"/>
                <a:gd name="T5" fmla="*/ 0 h 352"/>
                <a:gd name="T6" fmla="*/ 0 w 990"/>
                <a:gd name="T7" fmla="*/ 1 h 352"/>
                <a:gd name="T8" fmla="*/ 0 w 990"/>
                <a:gd name="T9" fmla="*/ 1 h 352"/>
                <a:gd name="T10" fmla="*/ 0 w 990"/>
                <a:gd name="T11" fmla="*/ 1 h 352"/>
                <a:gd name="T12" fmla="*/ 0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11302" name="Text Box 38"/>
            <p:cNvSpPr txBox="1">
              <a:spLocks noChangeArrowheads="1"/>
            </p:cNvSpPr>
            <p:nvPr/>
          </p:nvSpPr>
          <p:spPr bwMode="auto">
            <a:xfrm>
              <a:off x="978" y="1095"/>
              <a:ext cx="36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grpSp>
          <p:nvGrpSpPr>
            <p:cNvPr id="11303" name="Group 76"/>
            <p:cNvGrpSpPr>
              <a:grpSpLocks/>
            </p:cNvGrpSpPr>
            <p:nvPr/>
          </p:nvGrpSpPr>
          <p:grpSpPr bwMode="auto">
            <a:xfrm>
              <a:off x="1680" y="430"/>
              <a:ext cx="1296" cy="800"/>
              <a:chOff x="1952" y="864"/>
              <a:chExt cx="1207" cy="800"/>
            </a:xfrm>
          </p:grpSpPr>
          <p:sp>
            <p:nvSpPr>
              <p:cNvPr id="11305" name="Rectangle 77"/>
              <p:cNvSpPr>
                <a:spLocks noChangeArrowheads="1"/>
              </p:cNvSpPr>
              <p:nvPr/>
            </p:nvSpPr>
            <p:spPr bwMode="auto">
              <a:xfrm>
                <a:off x="1952" y="1340"/>
                <a:ext cx="405" cy="134"/>
              </a:xfrm>
              <a:prstGeom prst="rect">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sp>
            <p:nvSpPr>
              <p:cNvPr id="11306" name="Arc 78"/>
              <p:cNvSpPr>
                <a:spLocks/>
              </p:cNvSpPr>
              <p:nvPr/>
            </p:nvSpPr>
            <p:spPr bwMode="auto">
              <a:xfrm flipH="1" flipV="1">
                <a:off x="2229" y="864"/>
                <a:ext cx="930" cy="571"/>
              </a:xfrm>
              <a:custGeom>
                <a:avLst/>
                <a:gdLst>
                  <a:gd name="T0" fmla="*/ 0 w 42686"/>
                  <a:gd name="T1" fmla="*/ 0 h 21600"/>
                  <a:gd name="T2" fmla="*/ 0 w 42686"/>
                  <a:gd name="T3" fmla="*/ 0 h 21600"/>
                  <a:gd name="T4" fmla="*/ 0 w 42686"/>
                  <a:gd name="T5" fmla="*/ 0 h 21600"/>
                  <a:gd name="T6" fmla="*/ 0 60000 65536"/>
                  <a:gd name="T7" fmla="*/ 0 60000 65536"/>
                  <a:gd name="T8" fmla="*/ 0 60000 65536"/>
                  <a:gd name="T9" fmla="*/ 0 w 42686"/>
                  <a:gd name="T10" fmla="*/ 0 h 21600"/>
                  <a:gd name="T11" fmla="*/ 42686 w 42686"/>
                  <a:gd name="T12" fmla="*/ 21600 h 21600"/>
                </a:gdLst>
                <a:ahLst/>
                <a:cxnLst>
                  <a:cxn ang="T6">
                    <a:pos x="T0" y="T1"/>
                  </a:cxn>
                  <a:cxn ang="T7">
                    <a:pos x="T2" y="T3"/>
                  </a:cxn>
                  <a:cxn ang="T8">
                    <a:pos x="T4" y="T5"/>
                  </a:cxn>
                </a:cxnLst>
                <a:rect l="T9" t="T10" r="T11" b="T12"/>
                <a:pathLst>
                  <a:path w="42686" h="21600" fill="none" extrusionOk="0">
                    <a:moveTo>
                      <a:pt x="42686" y="3727"/>
                    </a:moveTo>
                    <a:cubicBezTo>
                      <a:pt x="40875" y="14061"/>
                      <a:pt x="31901" y="21599"/>
                      <a:pt x="21410" y="21600"/>
                    </a:cubicBezTo>
                    <a:cubicBezTo>
                      <a:pt x="10585" y="21600"/>
                      <a:pt x="1432" y="13587"/>
                      <a:pt x="-1" y="2858"/>
                    </a:cubicBezTo>
                  </a:path>
                  <a:path w="42686" h="21600" stroke="0" extrusionOk="0">
                    <a:moveTo>
                      <a:pt x="42686" y="3727"/>
                    </a:moveTo>
                    <a:cubicBezTo>
                      <a:pt x="40875" y="14061"/>
                      <a:pt x="31901" y="21599"/>
                      <a:pt x="21410" y="21600"/>
                    </a:cubicBezTo>
                    <a:cubicBezTo>
                      <a:pt x="10585" y="21600"/>
                      <a:pt x="1432" y="13587"/>
                      <a:pt x="-1" y="2858"/>
                    </a:cubicBezTo>
                    <a:lnTo>
                      <a:pt x="21410" y="0"/>
                    </a:lnTo>
                    <a:lnTo>
                      <a:pt x="42686" y="3727"/>
                    </a:lnTo>
                    <a:close/>
                  </a:path>
                </a:pathLst>
              </a:custGeom>
              <a:noFill/>
              <a:ln w="28575">
                <a:solidFill>
                  <a:srgbClr val="FF66FF"/>
                </a:solidFill>
                <a:prstDash val="sysDot"/>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7" name="Arc 79"/>
              <p:cNvSpPr>
                <a:spLocks/>
              </p:cNvSpPr>
              <p:nvPr/>
            </p:nvSpPr>
            <p:spPr bwMode="auto">
              <a:xfrm>
                <a:off x="2276" y="1579"/>
                <a:ext cx="606" cy="85"/>
              </a:xfrm>
              <a:custGeom>
                <a:avLst/>
                <a:gdLst>
                  <a:gd name="T0" fmla="*/ 0 w 15269"/>
                  <a:gd name="T1" fmla="*/ 0 h 21600"/>
                  <a:gd name="T2" fmla="*/ 0 w 15269"/>
                  <a:gd name="T3" fmla="*/ 0 h 21600"/>
                  <a:gd name="T4" fmla="*/ 0 w 15269"/>
                  <a:gd name="T5" fmla="*/ 0 h 21600"/>
                  <a:gd name="T6" fmla="*/ 0 60000 65536"/>
                  <a:gd name="T7" fmla="*/ 0 60000 65536"/>
                  <a:gd name="T8" fmla="*/ 0 60000 65536"/>
                  <a:gd name="T9" fmla="*/ 0 w 15269"/>
                  <a:gd name="T10" fmla="*/ 0 h 21600"/>
                  <a:gd name="T11" fmla="*/ 15269 w 15269"/>
                  <a:gd name="T12" fmla="*/ 21600 h 21600"/>
                </a:gdLst>
                <a:ahLst/>
                <a:cxnLst>
                  <a:cxn ang="T6">
                    <a:pos x="T0" y="T1"/>
                  </a:cxn>
                  <a:cxn ang="T7">
                    <a:pos x="T2" y="T3"/>
                  </a:cxn>
                  <a:cxn ang="T8">
                    <a:pos x="T4" y="T5"/>
                  </a:cxn>
                </a:cxnLst>
                <a:rect l="T9" t="T10" r="T11" b="T12"/>
                <a:pathLst>
                  <a:path w="15269" h="21600" fill="none" extrusionOk="0">
                    <a:moveTo>
                      <a:pt x="-1" y="0"/>
                    </a:moveTo>
                    <a:cubicBezTo>
                      <a:pt x="5726" y="0"/>
                      <a:pt x="11218" y="2273"/>
                      <a:pt x="15269" y="6321"/>
                    </a:cubicBezTo>
                  </a:path>
                  <a:path w="15269" h="21600" stroke="0" extrusionOk="0">
                    <a:moveTo>
                      <a:pt x="-1" y="0"/>
                    </a:moveTo>
                    <a:cubicBezTo>
                      <a:pt x="5726" y="0"/>
                      <a:pt x="11218" y="2273"/>
                      <a:pt x="15269" y="6321"/>
                    </a:cubicBezTo>
                    <a:lnTo>
                      <a:pt x="0" y="21600"/>
                    </a:lnTo>
                    <a:lnTo>
                      <a:pt x="-1" y="0"/>
                    </a:lnTo>
                    <a:close/>
                  </a:path>
                </a:pathLst>
              </a:custGeom>
              <a:noFill/>
              <a:ln w="28575">
                <a:solidFill>
                  <a:srgbClr val="FF33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304" name="Rectangle 38"/>
            <p:cNvSpPr>
              <a:spLocks noChangeArrowheads="1"/>
            </p:cNvSpPr>
            <p:nvPr/>
          </p:nvSpPr>
          <p:spPr bwMode="auto">
            <a:xfrm>
              <a:off x="2668" y="954"/>
              <a:ext cx="688" cy="140"/>
            </a:xfrm>
            <a:prstGeom prst="rect">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grpSp>
      <p:sp>
        <p:nvSpPr>
          <p:cNvPr id="11270" name="Text Box 47"/>
          <p:cNvSpPr txBox="1">
            <a:spLocks noChangeArrowheads="1"/>
          </p:cNvSpPr>
          <p:nvPr/>
        </p:nvSpPr>
        <p:spPr bwMode="auto">
          <a:xfrm>
            <a:off x="0" y="296863"/>
            <a:ext cx="3816350" cy="396875"/>
          </a:xfrm>
          <a:prstGeom prst="rect">
            <a:avLst/>
          </a:prstGeom>
          <a:solidFill>
            <a:srgbClr val="C8C8C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zh-CN" altLang="en-US" sz="2000">
                <a:solidFill>
                  <a:srgbClr val="FF0000"/>
                </a:solidFill>
                <a:latin typeface="黑体" pitchFamily="2" charset="-122"/>
                <a:ea typeface="黑体" pitchFamily="2" charset="-122"/>
              </a:rPr>
              <a:t> 回顾：计算机执行程序的过程 </a:t>
            </a:r>
          </a:p>
        </p:txBody>
      </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spect="1" noChangeArrowheads="1"/>
          </p:cNvSpPr>
          <p:nvPr/>
        </p:nvSpPr>
        <p:spPr bwMode="auto">
          <a:xfrm>
            <a:off x="0" y="304800"/>
            <a:ext cx="9144000" cy="6172200"/>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pPr>
            <a:endParaRPr lang="zh-CN" altLang="en-US">
              <a:latin typeface="宋体" pitchFamily="2" charset="-122"/>
              <a:ea typeface="宋体" pitchFamily="2" charset="-122"/>
            </a:endParaRPr>
          </a:p>
        </p:txBody>
      </p:sp>
      <p:sp>
        <p:nvSpPr>
          <p:cNvPr id="12291" name="Text Box 5"/>
          <p:cNvSpPr txBox="1">
            <a:spLocks noChangeArrowheads="1"/>
          </p:cNvSpPr>
          <p:nvPr/>
        </p:nvSpPr>
        <p:spPr bwMode="auto">
          <a:xfrm>
            <a:off x="755650" y="4076700"/>
            <a:ext cx="76327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dirty="0">
                <a:latin typeface="黑体" pitchFamily="2" charset="-122"/>
                <a:ea typeface="黑体" pitchFamily="2" charset="-122"/>
              </a:rPr>
              <a:t>    </a:t>
            </a:r>
            <a:r>
              <a:rPr lang="en-US" altLang="zh-CN" dirty="0">
                <a:solidFill>
                  <a:srgbClr val="FF0000"/>
                </a:solidFill>
                <a:latin typeface="黑体" pitchFamily="2" charset="-122"/>
                <a:ea typeface="黑体" pitchFamily="2" charset="-122"/>
              </a:rPr>
              <a:t>同样，</a:t>
            </a:r>
            <a:r>
              <a:rPr lang="en-US" altLang="zh-CN" dirty="0">
                <a:solidFill>
                  <a:srgbClr val="FF0000"/>
                </a:solidFill>
                <a:latin typeface="宋体" pitchFamily="2" charset="-122"/>
                <a:ea typeface="黑体" pitchFamily="2" charset="-122"/>
              </a:rPr>
              <a:t>“</a:t>
            </a:r>
            <a:r>
              <a:rPr lang="en-US" altLang="zh-CN" dirty="0">
                <a:solidFill>
                  <a:srgbClr val="FF0000"/>
                </a:solidFill>
                <a:latin typeface="黑体" pitchFamily="2" charset="-122"/>
                <a:ea typeface="黑体" pitchFamily="2" charset="-122"/>
              </a:rPr>
              <a:t>取操作数</a:t>
            </a:r>
            <a:r>
              <a:rPr lang="en-US" altLang="zh-CN" dirty="0">
                <a:solidFill>
                  <a:srgbClr val="FF0000"/>
                </a:solidFill>
                <a:latin typeface="宋体" pitchFamily="2" charset="-122"/>
                <a:ea typeface="黑体" pitchFamily="2" charset="-122"/>
              </a:rPr>
              <a:t>”</a:t>
            </a:r>
            <a:r>
              <a:rPr lang="en-US" altLang="zh-CN" dirty="0">
                <a:solidFill>
                  <a:srgbClr val="FF0000"/>
                </a:solidFill>
                <a:latin typeface="黑体" pitchFamily="2" charset="-122"/>
                <a:ea typeface="黑体" pitchFamily="2" charset="-122"/>
              </a:rPr>
              <a:t>和</a:t>
            </a:r>
            <a:r>
              <a:rPr lang="en-US" altLang="zh-CN" dirty="0">
                <a:solidFill>
                  <a:srgbClr val="FF0000"/>
                </a:solidFill>
                <a:latin typeface="宋体" pitchFamily="2" charset="-122"/>
                <a:ea typeface="黑体" pitchFamily="2" charset="-122"/>
              </a:rPr>
              <a:t>“</a:t>
            </a:r>
            <a:r>
              <a:rPr lang="en-US" altLang="zh-CN" dirty="0">
                <a:solidFill>
                  <a:srgbClr val="FF0000"/>
                </a:solidFill>
                <a:latin typeface="黑体" pitchFamily="2" charset="-122"/>
                <a:ea typeface="黑体" pitchFamily="2" charset="-122"/>
              </a:rPr>
              <a:t>执行</a:t>
            </a:r>
            <a:r>
              <a:rPr lang="en-US" altLang="zh-CN" dirty="0">
                <a:solidFill>
                  <a:srgbClr val="FF0000"/>
                </a:solidFill>
                <a:latin typeface="宋体" pitchFamily="2" charset="-122"/>
                <a:ea typeface="黑体" pitchFamily="2" charset="-122"/>
              </a:rPr>
              <a:t>”</a:t>
            </a:r>
            <a:r>
              <a:rPr lang="zh-CN" altLang="en-US" dirty="0">
                <a:solidFill>
                  <a:srgbClr val="FF0000"/>
                </a:solidFill>
                <a:latin typeface="黑体" pitchFamily="2" charset="-122"/>
                <a:ea typeface="黑体" pitchFamily="2" charset="-122"/>
              </a:rPr>
              <a:t>也要分解成若干步微操作来执行！</a:t>
            </a:r>
          </a:p>
        </p:txBody>
      </p:sp>
      <p:grpSp>
        <p:nvGrpSpPr>
          <p:cNvPr id="12292" name="Group 44"/>
          <p:cNvGrpSpPr>
            <a:grpSpLocks/>
          </p:cNvGrpSpPr>
          <p:nvPr/>
        </p:nvGrpSpPr>
        <p:grpSpPr bwMode="auto">
          <a:xfrm>
            <a:off x="1143000" y="908050"/>
            <a:ext cx="6630988" cy="2570163"/>
            <a:chOff x="720" y="572"/>
            <a:chExt cx="4177" cy="1619"/>
          </a:xfrm>
        </p:grpSpPr>
        <p:sp>
          <p:nvSpPr>
            <p:cNvPr id="12294" name="Line 7"/>
            <p:cNvSpPr>
              <a:spLocks noChangeShapeType="1"/>
            </p:cNvSpPr>
            <p:nvPr/>
          </p:nvSpPr>
          <p:spPr bwMode="auto">
            <a:xfrm>
              <a:off x="720" y="572"/>
              <a:ext cx="4177" cy="0"/>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5" name="Rectangle 8"/>
            <p:cNvSpPr>
              <a:spLocks noChangeArrowheads="1"/>
            </p:cNvSpPr>
            <p:nvPr/>
          </p:nvSpPr>
          <p:spPr bwMode="auto">
            <a:xfrm>
              <a:off x="856" y="796"/>
              <a:ext cx="1364" cy="13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296" name="Rectangle 9"/>
            <p:cNvSpPr>
              <a:spLocks noChangeArrowheads="1"/>
            </p:cNvSpPr>
            <p:nvPr/>
          </p:nvSpPr>
          <p:spPr bwMode="auto">
            <a:xfrm>
              <a:off x="2681" y="806"/>
              <a:ext cx="673" cy="1356"/>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297" name="Rectangle 10"/>
            <p:cNvSpPr>
              <a:spLocks noChangeArrowheads="1"/>
            </p:cNvSpPr>
            <p:nvPr/>
          </p:nvSpPr>
          <p:spPr bwMode="auto">
            <a:xfrm>
              <a:off x="3849" y="816"/>
              <a:ext cx="690" cy="51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298" name="Rectangle 11"/>
            <p:cNvSpPr>
              <a:spLocks noChangeArrowheads="1"/>
            </p:cNvSpPr>
            <p:nvPr/>
          </p:nvSpPr>
          <p:spPr bwMode="auto">
            <a:xfrm>
              <a:off x="3857" y="1547"/>
              <a:ext cx="699" cy="595"/>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299" name="Text Box 12"/>
            <p:cNvSpPr txBox="1">
              <a:spLocks noChangeArrowheads="1"/>
            </p:cNvSpPr>
            <p:nvPr/>
          </p:nvSpPr>
          <p:spPr bwMode="auto">
            <a:xfrm>
              <a:off x="1282" y="1976"/>
              <a:ext cx="4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12300" name="Rectangle 13"/>
            <p:cNvSpPr>
              <a:spLocks noChangeArrowheads="1"/>
            </p:cNvSpPr>
            <p:nvPr/>
          </p:nvSpPr>
          <p:spPr bwMode="auto">
            <a:xfrm>
              <a:off x="1683" y="90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1" name="Rectangle 14"/>
            <p:cNvSpPr>
              <a:spLocks noChangeArrowheads="1"/>
            </p:cNvSpPr>
            <p:nvPr/>
          </p:nvSpPr>
          <p:spPr bwMode="auto">
            <a:xfrm>
              <a:off x="1683" y="106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2" name="Rectangle 15"/>
            <p:cNvSpPr>
              <a:spLocks noChangeArrowheads="1"/>
            </p:cNvSpPr>
            <p:nvPr/>
          </p:nvSpPr>
          <p:spPr bwMode="auto">
            <a:xfrm>
              <a:off x="1683" y="1352"/>
              <a:ext cx="435" cy="127"/>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3" name="Rectangle 16"/>
            <p:cNvSpPr>
              <a:spLocks noChangeArrowheads="1"/>
            </p:cNvSpPr>
            <p:nvPr/>
          </p:nvSpPr>
          <p:spPr bwMode="auto">
            <a:xfrm>
              <a:off x="1683" y="1352"/>
              <a:ext cx="435" cy="644"/>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4" name="Rectangle 17"/>
            <p:cNvSpPr>
              <a:spLocks noChangeArrowheads="1"/>
            </p:cNvSpPr>
            <p:nvPr/>
          </p:nvSpPr>
          <p:spPr bwMode="auto">
            <a:xfrm>
              <a:off x="1683" y="147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5" name="Rectangle 18"/>
            <p:cNvSpPr>
              <a:spLocks noChangeArrowheads="1"/>
            </p:cNvSpPr>
            <p:nvPr/>
          </p:nvSpPr>
          <p:spPr bwMode="auto">
            <a:xfrm>
              <a:off x="1683" y="186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06" name="Text Box 19"/>
            <p:cNvSpPr txBox="1">
              <a:spLocks noChangeArrowheads="1"/>
            </p:cNvSpPr>
            <p:nvPr/>
          </p:nvSpPr>
          <p:spPr bwMode="auto">
            <a:xfrm>
              <a:off x="1343" y="894"/>
              <a:ext cx="3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12307" name="Text Box 20"/>
            <p:cNvSpPr txBox="1">
              <a:spLocks noChangeArrowheads="1"/>
            </p:cNvSpPr>
            <p:nvPr/>
          </p:nvSpPr>
          <p:spPr bwMode="auto">
            <a:xfrm>
              <a:off x="1359" y="104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endParaRPr kumimoji="1" lang="en-US" altLang="zh-CN" sz="2000" b="0" dirty="0">
                <a:latin typeface="黑体" pitchFamily="2" charset="-122"/>
                <a:ea typeface="黑体" pitchFamily="2" charset="-122"/>
              </a:endParaRPr>
            </a:p>
          </p:txBody>
        </p:sp>
        <p:sp>
          <p:nvSpPr>
            <p:cNvPr id="12308" name="Text Box 21"/>
            <p:cNvSpPr txBox="1">
              <a:spLocks noChangeArrowheads="1"/>
            </p:cNvSpPr>
            <p:nvPr/>
          </p:nvSpPr>
          <p:spPr bwMode="auto">
            <a:xfrm>
              <a:off x="1359" y="1323"/>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12309" name="Text Box 22"/>
            <p:cNvSpPr txBox="1">
              <a:spLocks noChangeArrowheads="1"/>
            </p:cNvSpPr>
            <p:nvPr/>
          </p:nvSpPr>
          <p:spPr bwMode="auto">
            <a:xfrm>
              <a:off x="1359" y="145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12310" name="Text Box 23"/>
            <p:cNvSpPr txBox="1">
              <a:spLocks noChangeArrowheads="1"/>
            </p:cNvSpPr>
            <p:nvPr/>
          </p:nvSpPr>
          <p:spPr bwMode="auto">
            <a:xfrm>
              <a:off x="1683" y="1655"/>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2311" name="Rectangle 24"/>
            <p:cNvSpPr>
              <a:spLocks noChangeArrowheads="1"/>
            </p:cNvSpPr>
            <p:nvPr/>
          </p:nvSpPr>
          <p:spPr bwMode="auto">
            <a:xfrm>
              <a:off x="2681" y="952"/>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12" name="Rectangle 25"/>
            <p:cNvSpPr>
              <a:spLocks noChangeArrowheads="1"/>
            </p:cNvSpPr>
            <p:nvPr/>
          </p:nvSpPr>
          <p:spPr bwMode="auto">
            <a:xfrm>
              <a:off x="2681" y="1216"/>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13" name="Text Box 26"/>
            <p:cNvSpPr txBox="1">
              <a:spLocks noChangeArrowheads="1"/>
            </p:cNvSpPr>
            <p:nvPr/>
          </p:nvSpPr>
          <p:spPr bwMode="auto">
            <a:xfrm>
              <a:off x="2774" y="1341"/>
              <a:ext cx="50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2314" name="Rectangle 27"/>
            <p:cNvSpPr>
              <a:spLocks noChangeArrowheads="1"/>
            </p:cNvSpPr>
            <p:nvPr/>
          </p:nvSpPr>
          <p:spPr bwMode="auto">
            <a:xfrm>
              <a:off x="2681" y="1557"/>
              <a:ext cx="673" cy="13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15" name="Text Box 28"/>
            <p:cNvSpPr txBox="1">
              <a:spLocks noChangeArrowheads="1"/>
            </p:cNvSpPr>
            <p:nvPr/>
          </p:nvSpPr>
          <p:spPr bwMode="auto">
            <a:xfrm>
              <a:off x="2774" y="1782"/>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2316" name="Text Box 29"/>
            <p:cNvSpPr txBox="1">
              <a:spLocks noChangeArrowheads="1"/>
            </p:cNvSpPr>
            <p:nvPr/>
          </p:nvSpPr>
          <p:spPr bwMode="auto">
            <a:xfrm>
              <a:off x="2715" y="1947"/>
              <a:ext cx="61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MM</a:t>
              </a:r>
            </a:p>
          </p:txBody>
        </p:sp>
        <p:sp>
          <p:nvSpPr>
            <p:cNvPr id="12317" name="Text Box 30"/>
            <p:cNvSpPr txBox="1">
              <a:spLocks noChangeArrowheads="1"/>
            </p:cNvSpPr>
            <p:nvPr/>
          </p:nvSpPr>
          <p:spPr bwMode="auto">
            <a:xfrm>
              <a:off x="3917" y="1908"/>
              <a:ext cx="62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设备</a:t>
              </a:r>
            </a:p>
          </p:txBody>
        </p:sp>
        <p:sp>
          <p:nvSpPr>
            <p:cNvPr id="12318" name="Rectangle 31"/>
            <p:cNvSpPr>
              <a:spLocks noChangeArrowheads="1"/>
            </p:cNvSpPr>
            <p:nvPr/>
          </p:nvSpPr>
          <p:spPr bwMode="auto">
            <a:xfrm>
              <a:off x="4002" y="87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2319" name="Text Box 32"/>
            <p:cNvSpPr txBox="1">
              <a:spLocks noChangeArrowheads="1"/>
            </p:cNvSpPr>
            <p:nvPr/>
          </p:nvSpPr>
          <p:spPr bwMode="auto">
            <a:xfrm>
              <a:off x="3891" y="1128"/>
              <a:ext cx="6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接口</a:t>
              </a:r>
            </a:p>
          </p:txBody>
        </p:sp>
        <p:sp>
          <p:nvSpPr>
            <p:cNvPr id="12320" name="Line 33"/>
            <p:cNvSpPr>
              <a:spLocks noChangeShapeType="1"/>
            </p:cNvSpPr>
            <p:nvPr/>
          </p:nvSpPr>
          <p:spPr bwMode="auto">
            <a:xfrm>
              <a:off x="1573" y="57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1" name="Line 34"/>
            <p:cNvSpPr>
              <a:spLocks noChangeShapeType="1"/>
            </p:cNvSpPr>
            <p:nvPr/>
          </p:nvSpPr>
          <p:spPr bwMode="auto">
            <a:xfrm>
              <a:off x="3013" y="591"/>
              <a:ext cx="0" cy="225"/>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2" name="Line 35"/>
            <p:cNvSpPr>
              <a:spLocks noChangeShapeType="1"/>
            </p:cNvSpPr>
            <p:nvPr/>
          </p:nvSpPr>
          <p:spPr bwMode="auto">
            <a:xfrm>
              <a:off x="4198" y="582"/>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3" name="Line 36"/>
            <p:cNvSpPr>
              <a:spLocks noChangeShapeType="1"/>
            </p:cNvSpPr>
            <p:nvPr/>
          </p:nvSpPr>
          <p:spPr bwMode="auto">
            <a:xfrm>
              <a:off x="4215" y="1333"/>
              <a:ext cx="0" cy="224"/>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4" name="Freeform 37"/>
            <p:cNvSpPr>
              <a:spLocks/>
            </p:cNvSpPr>
            <p:nvPr/>
          </p:nvSpPr>
          <p:spPr bwMode="auto">
            <a:xfrm>
              <a:off x="946" y="1060"/>
              <a:ext cx="423" cy="214"/>
            </a:xfrm>
            <a:custGeom>
              <a:avLst/>
              <a:gdLst>
                <a:gd name="T0" fmla="*/ 0 w 990"/>
                <a:gd name="T1" fmla="*/ 1 h 352"/>
                <a:gd name="T2" fmla="*/ 0 w 990"/>
                <a:gd name="T3" fmla="*/ 0 h 352"/>
                <a:gd name="T4" fmla="*/ 0 w 990"/>
                <a:gd name="T5" fmla="*/ 0 h 352"/>
                <a:gd name="T6" fmla="*/ 0 w 990"/>
                <a:gd name="T7" fmla="*/ 1 h 352"/>
                <a:gd name="T8" fmla="*/ 0 w 990"/>
                <a:gd name="T9" fmla="*/ 1 h 352"/>
                <a:gd name="T10" fmla="*/ 0 w 990"/>
                <a:gd name="T11" fmla="*/ 1 h 352"/>
                <a:gd name="T12" fmla="*/ 0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12325" name="Text Box 38"/>
            <p:cNvSpPr txBox="1">
              <a:spLocks noChangeArrowheads="1"/>
            </p:cNvSpPr>
            <p:nvPr/>
          </p:nvSpPr>
          <p:spPr bwMode="auto">
            <a:xfrm>
              <a:off x="978" y="1095"/>
              <a:ext cx="36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12326" name="Rectangle 77"/>
            <p:cNvSpPr>
              <a:spLocks noChangeArrowheads="1"/>
            </p:cNvSpPr>
            <p:nvPr/>
          </p:nvSpPr>
          <p:spPr bwMode="auto">
            <a:xfrm>
              <a:off x="1680" y="906"/>
              <a:ext cx="435" cy="134"/>
            </a:xfrm>
            <a:prstGeom prst="rect">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sp>
          <p:nvSpPr>
            <p:cNvPr id="12327" name="Arc 79"/>
            <p:cNvSpPr>
              <a:spLocks/>
            </p:cNvSpPr>
            <p:nvPr/>
          </p:nvSpPr>
          <p:spPr bwMode="auto">
            <a:xfrm>
              <a:off x="2028" y="1145"/>
              <a:ext cx="651" cy="85"/>
            </a:xfrm>
            <a:custGeom>
              <a:avLst/>
              <a:gdLst>
                <a:gd name="T0" fmla="*/ 0 w 15269"/>
                <a:gd name="T1" fmla="*/ 0 h 21600"/>
                <a:gd name="T2" fmla="*/ 0 w 15269"/>
                <a:gd name="T3" fmla="*/ 0 h 21600"/>
                <a:gd name="T4" fmla="*/ 0 w 15269"/>
                <a:gd name="T5" fmla="*/ 0 h 21600"/>
                <a:gd name="T6" fmla="*/ 0 60000 65536"/>
                <a:gd name="T7" fmla="*/ 0 60000 65536"/>
                <a:gd name="T8" fmla="*/ 0 60000 65536"/>
                <a:gd name="T9" fmla="*/ 0 w 15269"/>
                <a:gd name="T10" fmla="*/ 0 h 21600"/>
                <a:gd name="T11" fmla="*/ 15269 w 15269"/>
                <a:gd name="T12" fmla="*/ 21600 h 21600"/>
              </a:gdLst>
              <a:ahLst/>
              <a:cxnLst>
                <a:cxn ang="T6">
                  <a:pos x="T0" y="T1"/>
                </a:cxn>
                <a:cxn ang="T7">
                  <a:pos x="T2" y="T3"/>
                </a:cxn>
                <a:cxn ang="T8">
                  <a:pos x="T4" y="T5"/>
                </a:cxn>
              </a:cxnLst>
              <a:rect l="T9" t="T10" r="T11" b="T12"/>
              <a:pathLst>
                <a:path w="15269" h="21600" fill="none" extrusionOk="0">
                  <a:moveTo>
                    <a:pt x="-1" y="0"/>
                  </a:moveTo>
                  <a:cubicBezTo>
                    <a:pt x="5726" y="0"/>
                    <a:pt x="11218" y="2273"/>
                    <a:pt x="15269" y="6321"/>
                  </a:cubicBezTo>
                </a:path>
                <a:path w="15269" h="21600" stroke="0" extrusionOk="0">
                  <a:moveTo>
                    <a:pt x="-1" y="0"/>
                  </a:moveTo>
                  <a:cubicBezTo>
                    <a:pt x="5726" y="0"/>
                    <a:pt x="11218" y="2273"/>
                    <a:pt x="15269" y="6321"/>
                  </a:cubicBezTo>
                  <a:lnTo>
                    <a:pt x="0" y="21600"/>
                  </a:lnTo>
                  <a:lnTo>
                    <a:pt x="-1" y="0"/>
                  </a:lnTo>
                  <a:close/>
                </a:path>
              </a:pathLst>
            </a:custGeom>
            <a:noFill/>
            <a:ln w="28575">
              <a:solidFill>
                <a:srgbClr val="FF33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2293" name="Text Box 45"/>
          <p:cNvSpPr txBox="1">
            <a:spLocks noChangeArrowheads="1"/>
          </p:cNvSpPr>
          <p:nvPr/>
        </p:nvSpPr>
        <p:spPr bwMode="auto">
          <a:xfrm>
            <a:off x="0" y="296863"/>
            <a:ext cx="3816350" cy="396875"/>
          </a:xfrm>
          <a:prstGeom prst="rect">
            <a:avLst/>
          </a:prstGeom>
          <a:solidFill>
            <a:srgbClr val="C8C8C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zh-CN" altLang="en-US" sz="2000">
                <a:solidFill>
                  <a:srgbClr val="FF0000"/>
                </a:solidFill>
                <a:latin typeface="黑体" pitchFamily="2" charset="-122"/>
                <a:ea typeface="黑体" pitchFamily="2" charset="-122"/>
              </a:rPr>
              <a:t> 回顾：计算机执行程序的过程 </a:t>
            </a: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1FD3FA9-5842-5480-BDAC-A9F4C3632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119" y="700495"/>
            <a:ext cx="8223761" cy="4907825"/>
          </a:xfrm>
          <a:prstGeom prst="rect">
            <a:avLst/>
          </a:prstGeom>
        </p:spPr>
      </p:pic>
    </p:spTree>
    <p:extLst>
      <p:ext uri="{BB962C8B-B14F-4D97-AF65-F5344CB8AC3E}">
        <p14:creationId xmlns:p14="http://schemas.microsoft.com/office/powerpoint/2010/main" val="2518731979"/>
      </p:ext>
    </p:extLst>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0" y="48260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6.1 CPU</a:t>
            </a:r>
            <a:r>
              <a:rPr lang="zh-CN" altLang="en-US" sz="2800">
                <a:solidFill>
                  <a:srgbClr val="990000"/>
                </a:solidFill>
                <a:latin typeface="黑体" pitchFamily="2" charset="-122"/>
                <a:ea typeface="黑体" pitchFamily="2" charset="-122"/>
              </a:rPr>
              <a:t>的功能</a:t>
            </a:r>
          </a:p>
        </p:txBody>
      </p:sp>
      <p:sp>
        <p:nvSpPr>
          <p:cNvPr id="13315" name="Rectangle 4"/>
          <p:cNvSpPr>
            <a:spLocks noChangeArrowheads="1"/>
          </p:cNvSpPr>
          <p:nvPr/>
        </p:nvSpPr>
        <p:spPr bwMode="auto">
          <a:xfrm>
            <a:off x="647700" y="1196975"/>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CPU</a:t>
            </a:r>
            <a:r>
              <a:rPr lang="zh-CN" altLang="en-US">
                <a:solidFill>
                  <a:srgbClr val="990000"/>
                </a:solidFill>
                <a:latin typeface="黑体" pitchFamily="2" charset="-122"/>
                <a:ea typeface="黑体" pitchFamily="2" charset="-122"/>
              </a:rPr>
              <a:t>的功能</a:t>
            </a:r>
            <a:r>
              <a:rPr lang="en-US" altLang="zh-CN" dirty="0">
                <a:solidFill>
                  <a:srgbClr val="990000"/>
                </a:solidFill>
                <a:latin typeface="黑体" pitchFamily="2" charset="-122"/>
                <a:ea typeface="黑体" pitchFamily="2" charset="-122"/>
              </a:rPr>
              <a:t>:</a:t>
            </a:r>
          </a:p>
        </p:txBody>
      </p:sp>
      <p:sp>
        <p:nvSpPr>
          <p:cNvPr id="13316" name="Text Box 4"/>
          <p:cNvSpPr txBox="1">
            <a:spLocks noChangeArrowheads="1"/>
          </p:cNvSpPr>
          <p:nvPr/>
        </p:nvSpPr>
        <p:spPr bwMode="auto">
          <a:xfrm>
            <a:off x="1042988" y="1700213"/>
            <a:ext cx="7524750"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marL="1520825" indent="-1520825"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20000"/>
              </a:lnSpc>
              <a:spcBef>
                <a:spcPct val="30000"/>
              </a:spcBef>
            </a:pPr>
            <a:r>
              <a:rPr lang="zh-CN" altLang="en-US">
                <a:solidFill>
                  <a:srgbClr val="FF0000"/>
                </a:solidFill>
                <a:latin typeface="黑体" pitchFamily="2" charset="-122"/>
                <a:ea typeface="黑体" pitchFamily="2" charset="-122"/>
              </a:rPr>
              <a:t>指令控制：</a:t>
            </a:r>
            <a:r>
              <a:rPr lang="zh-CN" altLang="en-US">
                <a:latin typeface="黑体" pitchFamily="2" charset="-122"/>
                <a:ea typeface="黑体" pitchFamily="2" charset="-122"/>
              </a:rPr>
              <a:t>产生下一条指令在内存中的地址、取指令；</a:t>
            </a:r>
          </a:p>
          <a:p>
            <a:pPr eaLnBrk="1" hangingPunct="1">
              <a:lnSpc>
                <a:spcPct val="120000"/>
              </a:lnSpc>
              <a:spcBef>
                <a:spcPct val="30000"/>
              </a:spcBef>
            </a:pPr>
            <a:r>
              <a:rPr lang="zh-CN" altLang="en-US">
                <a:solidFill>
                  <a:srgbClr val="FF0000"/>
                </a:solidFill>
                <a:latin typeface="黑体" pitchFamily="2" charset="-122"/>
                <a:ea typeface="黑体" pitchFamily="2" charset="-122"/>
              </a:rPr>
              <a:t>操作控制：</a:t>
            </a:r>
            <a:r>
              <a:rPr lang="zh-CN" altLang="en-US">
                <a:latin typeface="黑体" pitchFamily="2" charset="-122"/>
                <a:ea typeface="黑体" pitchFamily="2" charset="-122"/>
              </a:rPr>
              <a:t>把指令分解成一系列的微操作控制信号，控制各部件完成指令所要求的动作；</a:t>
            </a:r>
          </a:p>
          <a:p>
            <a:pPr eaLnBrk="1" hangingPunct="1">
              <a:lnSpc>
                <a:spcPct val="120000"/>
              </a:lnSpc>
              <a:spcBef>
                <a:spcPct val="30000"/>
              </a:spcBef>
            </a:pPr>
            <a:r>
              <a:rPr lang="zh-CN" altLang="en-US">
                <a:solidFill>
                  <a:srgbClr val="FF0000"/>
                </a:solidFill>
                <a:latin typeface="黑体" pitchFamily="2" charset="-122"/>
                <a:ea typeface="黑体" pitchFamily="2" charset="-122"/>
              </a:rPr>
              <a:t>时序控制：</a:t>
            </a:r>
            <a:r>
              <a:rPr lang="zh-CN" altLang="en-US">
                <a:latin typeface="黑体" pitchFamily="2" charset="-122"/>
                <a:ea typeface="黑体" pitchFamily="2" charset="-122"/>
              </a:rPr>
              <a:t>对指令的各个微操作实施时间的定时，使它们能够按先后顺序来执行；</a:t>
            </a:r>
          </a:p>
          <a:p>
            <a:pPr eaLnBrk="1" hangingPunct="1">
              <a:lnSpc>
                <a:spcPct val="120000"/>
              </a:lnSpc>
              <a:spcBef>
                <a:spcPct val="30000"/>
              </a:spcBef>
            </a:pPr>
            <a:r>
              <a:rPr lang="zh-CN" altLang="en-US">
                <a:solidFill>
                  <a:srgbClr val="FF0000"/>
                </a:solidFill>
                <a:latin typeface="黑体" pitchFamily="2" charset="-122"/>
                <a:ea typeface="黑体" pitchFamily="2" charset="-122"/>
              </a:rPr>
              <a:t>数据加工：</a:t>
            </a:r>
            <a:r>
              <a:rPr lang="zh-CN" altLang="en-US">
                <a:latin typeface="黑体" pitchFamily="2" charset="-122"/>
                <a:ea typeface="黑体" pitchFamily="2" charset="-122"/>
              </a:rPr>
              <a:t>算术运算、逻辑运算；</a:t>
            </a:r>
          </a:p>
          <a:p>
            <a:pPr eaLnBrk="1" hangingPunct="1">
              <a:lnSpc>
                <a:spcPct val="120000"/>
              </a:lnSpc>
              <a:spcBef>
                <a:spcPct val="30000"/>
              </a:spcBef>
            </a:pPr>
            <a:r>
              <a:rPr lang="zh-CN" altLang="en-US">
                <a:solidFill>
                  <a:srgbClr val="FF0000"/>
                </a:solidFill>
                <a:latin typeface="黑体" pitchFamily="2" charset="-122"/>
                <a:ea typeface="黑体" pitchFamily="2" charset="-122"/>
              </a:rPr>
              <a:t>中断处理：</a:t>
            </a:r>
            <a:r>
              <a:rPr lang="zh-CN" altLang="en-US">
                <a:latin typeface="黑体" pitchFamily="2" charset="-122"/>
                <a:ea typeface="黑体" pitchFamily="2" charset="-122"/>
              </a:rPr>
              <a:t>处理异常情况和特殊请求。</a:t>
            </a:r>
          </a:p>
          <a:p>
            <a:pPr eaLnBrk="1" hangingPunct="1">
              <a:lnSpc>
                <a:spcPct val="120000"/>
              </a:lnSpc>
              <a:spcBef>
                <a:spcPct val="30000"/>
              </a:spcBef>
            </a:pPr>
            <a:r>
              <a:rPr lang="zh-CN" altLang="en-US">
                <a:solidFill>
                  <a:srgbClr val="FF0000"/>
                </a:solidFill>
                <a:latin typeface="黑体" pitchFamily="2" charset="-122"/>
                <a:ea typeface="黑体" pitchFamily="2" charset="-122"/>
              </a:rPr>
              <a:t>其它：</a:t>
            </a:r>
            <a:r>
              <a:rPr lang="zh-CN" altLang="en-US">
                <a:latin typeface="黑体" pitchFamily="2" charset="-122"/>
                <a:ea typeface="黑体" pitchFamily="2" charset="-122"/>
              </a:rPr>
              <a:t>    如总线管理等。</a:t>
            </a:r>
          </a:p>
        </p:txBody>
      </p:sp>
    </p:spTree>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48260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6.2 CPU</a:t>
            </a:r>
            <a:r>
              <a:rPr lang="zh-CN" altLang="en-US" sz="2800">
                <a:solidFill>
                  <a:srgbClr val="990000"/>
                </a:solidFill>
                <a:latin typeface="黑体" pitchFamily="2" charset="-122"/>
                <a:ea typeface="黑体" pitchFamily="2" charset="-122"/>
              </a:rPr>
              <a:t>的组成</a:t>
            </a:r>
          </a:p>
        </p:txBody>
      </p:sp>
      <p:grpSp>
        <p:nvGrpSpPr>
          <p:cNvPr id="14339" name="Group 35"/>
          <p:cNvGrpSpPr>
            <a:grpSpLocks/>
          </p:cNvGrpSpPr>
          <p:nvPr/>
        </p:nvGrpSpPr>
        <p:grpSpPr bwMode="auto">
          <a:xfrm>
            <a:off x="1716789" y="1172646"/>
            <a:ext cx="5111750" cy="2535237"/>
            <a:chOff x="1202" y="731"/>
            <a:chExt cx="3220" cy="1597"/>
          </a:xfrm>
        </p:grpSpPr>
        <p:sp>
          <p:nvSpPr>
            <p:cNvPr id="14341" name="Text Box 6"/>
            <p:cNvSpPr txBox="1">
              <a:spLocks noChangeArrowheads="1"/>
            </p:cNvSpPr>
            <p:nvPr/>
          </p:nvSpPr>
          <p:spPr bwMode="auto">
            <a:xfrm>
              <a:off x="1202" y="806"/>
              <a:ext cx="1996" cy="1364"/>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a:solidFill>
                    <a:srgbClr val="000099"/>
                  </a:solidFill>
                  <a:latin typeface="黑体" pitchFamily="2" charset="-122"/>
                  <a:ea typeface="黑体" pitchFamily="2" charset="-122"/>
                </a:rPr>
                <a:t>CPU</a:t>
              </a:r>
            </a:p>
          </p:txBody>
        </p:sp>
        <p:sp>
          <p:nvSpPr>
            <p:cNvPr id="14342" name="Text Box 8"/>
            <p:cNvSpPr txBox="1">
              <a:spLocks noChangeArrowheads="1"/>
            </p:cNvSpPr>
            <p:nvPr/>
          </p:nvSpPr>
          <p:spPr bwMode="auto">
            <a:xfrm>
              <a:off x="1390" y="1098"/>
              <a:ext cx="643" cy="38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4343" name="Text Box 9"/>
            <p:cNvSpPr txBox="1">
              <a:spLocks noChangeArrowheads="1"/>
            </p:cNvSpPr>
            <p:nvPr/>
          </p:nvSpPr>
          <p:spPr bwMode="auto">
            <a:xfrm>
              <a:off x="1416" y="1182"/>
              <a:ext cx="59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a:solidFill>
                    <a:srgbClr val="000099"/>
                  </a:solidFill>
                  <a:latin typeface="黑体" pitchFamily="2" charset="-122"/>
                  <a:ea typeface="黑体" pitchFamily="2" charset="-122"/>
                </a:rPr>
                <a:t>ALU</a:t>
              </a:r>
            </a:p>
          </p:txBody>
        </p:sp>
        <p:sp>
          <p:nvSpPr>
            <p:cNvPr id="14344" name="Text Box 11"/>
            <p:cNvSpPr txBox="1">
              <a:spLocks noChangeArrowheads="1"/>
            </p:cNvSpPr>
            <p:nvPr/>
          </p:nvSpPr>
          <p:spPr bwMode="auto">
            <a:xfrm>
              <a:off x="2338" y="1099"/>
              <a:ext cx="643" cy="38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4345" name="Text Box 12"/>
            <p:cNvSpPr txBox="1">
              <a:spLocks noChangeArrowheads="1"/>
            </p:cNvSpPr>
            <p:nvPr/>
          </p:nvSpPr>
          <p:spPr bwMode="auto">
            <a:xfrm>
              <a:off x="2363" y="1184"/>
              <a:ext cx="59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a:solidFill>
                    <a:srgbClr val="000099"/>
                  </a:solidFill>
                  <a:latin typeface="黑体" pitchFamily="2" charset="-122"/>
                  <a:ea typeface="黑体" pitchFamily="2" charset="-122"/>
                </a:rPr>
                <a:t>寄存器</a:t>
              </a:r>
            </a:p>
          </p:txBody>
        </p:sp>
        <p:sp>
          <p:nvSpPr>
            <p:cNvPr id="14346" name="Text Box 14"/>
            <p:cNvSpPr txBox="1">
              <a:spLocks noChangeArrowheads="1"/>
            </p:cNvSpPr>
            <p:nvPr/>
          </p:nvSpPr>
          <p:spPr bwMode="auto">
            <a:xfrm>
              <a:off x="2338" y="1644"/>
              <a:ext cx="643" cy="384"/>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4347" name="Text Box 15"/>
            <p:cNvSpPr txBox="1">
              <a:spLocks noChangeArrowheads="1"/>
            </p:cNvSpPr>
            <p:nvPr/>
          </p:nvSpPr>
          <p:spPr bwMode="auto">
            <a:xfrm>
              <a:off x="2363" y="1729"/>
              <a:ext cx="59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a:solidFill>
                    <a:srgbClr val="000099"/>
                  </a:solidFill>
                  <a:latin typeface="黑体" pitchFamily="2" charset="-122"/>
                  <a:ea typeface="黑体" pitchFamily="2" charset="-122"/>
                </a:rPr>
                <a:t>CU</a:t>
              </a:r>
            </a:p>
          </p:txBody>
        </p:sp>
        <p:sp>
          <p:nvSpPr>
            <p:cNvPr id="14348" name="Text Box 17"/>
            <p:cNvSpPr txBox="1">
              <a:spLocks noChangeArrowheads="1"/>
            </p:cNvSpPr>
            <p:nvPr/>
          </p:nvSpPr>
          <p:spPr bwMode="auto">
            <a:xfrm>
              <a:off x="1395" y="1642"/>
              <a:ext cx="643" cy="38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4349" name="Text Box 18"/>
            <p:cNvSpPr txBox="1">
              <a:spLocks noChangeArrowheads="1"/>
            </p:cNvSpPr>
            <p:nvPr/>
          </p:nvSpPr>
          <p:spPr bwMode="auto">
            <a:xfrm>
              <a:off x="1406" y="1678"/>
              <a:ext cx="622" cy="321"/>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a:solidFill>
                    <a:srgbClr val="000099"/>
                  </a:solidFill>
                  <a:latin typeface="黑体" pitchFamily="2" charset="-122"/>
                  <a:ea typeface="黑体" pitchFamily="2" charset="-122"/>
                </a:rPr>
                <a:t>系统</a:t>
              </a:r>
            </a:p>
          </p:txBody>
        </p:sp>
        <p:grpSp>
          <p:nvGrpSpPr>
            <p:cNvPr id="14350" name="Group 19"/>
            <p:cNvGrpSpPr>
              <a:grpSpLocks/>
            </p:cNvGrpSpPr>
            <p:nvPr/>
          </p:nvGrpSpPr>
          <p:grpSpPr bwMode="auto">
            <a:xfrm>
              <a:off x="3182" y="731"/>
              <a:ext cx="1240" cy="1533"/>
              <a:chOff x="4305" y="5178"/>
              <a:chExt cx="1712" cy="2397"/>
            </a:xfrm>
          </p:grpSpPr>
          <p:sp>
            <p:nvSpPr>
              <p:cNvPr id="14355" name="Line 20"/>
              <p:cNvSpPr>
                <a:spLocks noChangeShapeType="1"/>
              </p:cNvSpPr>
              <p:nvPr/>
            </p:nvSpPr>
            <p:spPr bwMode="auto">
              <a:xfrm flipH="1">
                <a:off x="5009" y="5190"/>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6" name="Line 21"/>
              <p:cNvSpPr>
                <a:spLocks noChangeShapeType="1"/>
              </p:cNvSpPr>
              <p:nvPr/>
            </p:nvSpPr>
            <p:spPr bwMode="auto">
              <a:xfrm flipH="1">
                <a:off x="5505" y="5190"/>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7" name="Line 22"/>
              <p:cNvSpPr>
                <a:spLocks noChangeShapeType="1"/>
              </p:cNvSpPr>
              <p:nvPr/>
            </p:nvSpPr>
            <p:spPr bwMode="auto">
              <a:xfrm flipH="1">
                <a:off x="6001" y="5178"/>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8" name="Line 23"/>
              <p:cNvSpPr>
                <a:spLocks noChangeShapeType="1"/>
              </p:cNvSpPr>
              <p:nvPr/>
            </p:nvSpPr>
            <p:spPr bwMode="auto">
              <a:xfrm>
                <a:off x="4335" y="5640"/>
                <a:ext cx="660" cy="0"/>
              </a:xfrm>
              <a:prstGeom prst="line">
                <a:avLst/>
              </a:prstGeom>
              <a:noFill/>
              <a:ln w="571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9" name="Line 24"/>
              <p:cNvSpPr>
                <a:spLocks noChangeShapeType="1"/>
              </p:cNvSpPr>
              <p:nvPr/>
            </p:nvSpPr>
            <p:spPr bwMode="auto">
              <a:xfrm>
                <a:off x="4305" y="6015"/>
                <a:ext cx="1230" cy="0"/>
              </a:xfrm>
              <a:prstGeom prst="line">
                <a:avLst/>
              </a:prstGeom>
              <a:noFill/>
              <a:ln w="571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60" name="Line 25"/>
              <p:cNvSpPr>
                <a:spLocks noChangeShapeType="1"/>
              </p:cNvSpPr>
              <p:nvPr/>
            </p:nvSpPr>
            <p:spPr bwMode="auto">
              <a:xfrm>
                <a:off x="4319" y="6360"/>
                <a:ext cx="1680" cy="0"/>
              </a:xfrm>
              <a:prstGeom prst="line">
                <a:avLst/>
              </a:prstGeom>
              <a:noFill/>
              <a:ln w="571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351" name="Group 32"/>
            <p:cNvGrpSpPr>
              <a:grpSpLocks/>
            </p:cNvGrpSpPr>
            <p:nvPr/>
          </p:nvGrpSpPr>
          <p:grpSpPr bwMode="auto">
            <a:xfrm>
              <a:off x="3366" y="1480"/>
              <a:ext cx="1032" cy="848"/>
              <a:chOff x="3366" y="1627"/>
              <a:chExt cx="1032" cy="941"/>
            </a:xfrm>
          </p:grpSpPr>
          <p:sp>
            <p:nvSpPr>
              <p:cNvPr id="14352" name="Text Box 27"/>
              <p:cNvSpPr txBox="1">
                <a:spLocks noChangeArrowheads="1"/>
              </p:cNvSpPr>
              <p:nvPr/>
            </p:nvSpPr>
            <p:spPr bwMode="auto">
              <a:xfrm>
                <a:off x="3366"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2200">
                    <a:solidFill>
                      <a:srgbClr val="000099"/>
                    </a:solidFill>
                    <a:latin typeface="黑体" pitchFamily="2" charset="-122"/>
                    <a:ea typeface="黑体" pitchFamily="2" charset="-122"/>
                  </a:rPr>
                  <a:t>控制总线</a:t>
                </a:r>
              </a:p>
            </p:txBody>
          </p:sp>
          <p:sp>
            <p:nvSpPr>
              <p:cNvPr id="14353" name="Text Box 28"/>
              <p:cNvSpPr txBox="1">
                <a:spLocks noChangeArrowheads="1"/>
              </p:cNvSpPr>
              <p:nvPr/>
            </p:nvSpPr>
            <p:spPr bwMode="auto">
              <a:xfrm>
                <a:off x="3737"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2200">
                    <a:solidFill>
                      <a:srgbClr val="000099"/>
                    </a:solidFill>
                    <a:latin typeface="黑体" pitchFamily="2" charset="-122"/>
                    <a:ea typeface="黑体" pitchFamily="2" charset="-122"/>
                  </a:rPr>
                  <a:t>数据总线</a:t>
                </a:r>
              </a:p>
            </p:txBody>
          </p:sp>
          <p:sp>
            <p:nvSpPr>
              <p:cNvPr id="14354" name="Text Box 29"/>
              <p:cNvSpPr txBox="1">
                <a:spLocks noChangeArrowheads="1"/>
              </p:cNvSpPr>
              <p:nvPr/>
            </p:nvSpPr>
            <p:spPr bwMode="auto">
              <a:xfrm>
                <a:off x="4101"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2200">
                    <a:solidFill>
                      <a:srgbClr val="000099"/>
                    </a:solidFill>
                    <a:latin typeface="黑体" pitchFamily="2" charset="-122"/>
                    <a:ea typeface="黑体" pitchFamily="2" charset="-122"/>
                  </a:rPr>
                  <a:t>地址总线</a:t>
                </a:r>
              </a:p>
            </p:txBody>
          </p:sp>
        </p:grpSp>
      </p:grpSp>
      <p:pic>
        <p:nvPicPr>
          <p:cNvPr id="3" name="图片 2">
            <a:extLst>
              <a:ext uri="{FF2B5EF4-FFF2-40B4-BE49-F238E27FC236}">
                <a16:creationId xmlns:a16="http://schemas.microsoft.com/office/drawing/2014/main" id="{DBA375FC-5D52-DC7D-67BD-9B9BE4D36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08" y="3795147"/>
            <a:ext cx="8314660" cy="2544082"/>
          </a:xfrm>
          <a:prstGeom prst="rect">
            <a:avLst/>
          </a:prstGeom>
        </p:spPr>
      </p:pic>
    </p:spTree>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6.2.1 </a:t>
            </a:r>
            <a:r>
              <a:rPr lang="zh-CN" altLang="en-US">
                <a:solidFill>
                  <a:srgbClr val="990000"/>
                </a:solidFill>
                <a:latin typeface="黑体" pitchFamily="2" charset="-122"/>
                <a:ea typeface="黑体" pitchFamily="2" charset="-122"/>
              </a:rPr>
              <a:t>运算部件</a:t>
            </a:r>
          </a:p>
        </p:txBody>
      </p:sp>
      <p:sp>
        <p:nvSpPr>
          <p:cNvPr id="16387" name="Rectangle 3"/>
          <p:cNvSpPr>
            <a:spLocks noChangeArrowheads="1"/>
          </p:cNvSpPr>
          <p:nvPr/>
        </p:nvSpPr>
        <p:spPr bwMode="auto">
          <a:xfrm>
            <a:off x="647700" y="1089025"/>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基本的运算部件</a:t>
            </a:r>
            <a:r>
              <a:rPr lang="zh-CN" altLang="en-US">
                <a:latin typeface="黑体" pitchFamily="2" charset="-122"/>
                <a:ea typeface="黑体" pitchFamily="2" charset="-122"/>
              </a:rPr>
              <a:t> </a:t>
            </a:r>
          </a:p>
        </p:txBody>
      </p:sp>
      <p:sp>
        <p:nvSpPr>
          <p:cNvPr id="16388" name="Rectangle 42"/>
          <p:cNvSpPr>
            <a:spLocks noChangeArrowheads="1"/>
          </p:cNvSpPr>
          <p:nvPr/>
        </p:nvSpPr>
        <p:spPr bwMode="auto">
          <a:xfrm>
            <a:off x="7283450" y="2168525"/>
            <a:ext cx="1887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zh-CN" altLang="en-US">
                <a:solidFill>
                  <a:srgbClr val="FF0000"/>
                </a:solidFill>
                <a:latin typeface="黑体" pitchFamily="2" charset="-122"/>
                <a:ea typeface="黑体" pitchFamily="2" charset="-122"/>
              </a:rPr>
              <a:t>输出移位级 </a:t>
            </a:r>
          </a:p>
        </p:txBody>
      </p:sp>
      <p:sp>
        <p:nvSpPr>
          <p:cNvPr id="16389" name="Rectangle 43"/>
          <p:cNvSpPr>
            <a:spLocks noChangeArrowheads="1"/>
          </p:cNvSpPr>
          <p:nvPr/>
        </p:nvSpPr>
        <p:spPr bwMode="auto">
          <a:xfrm>
            <a:off x="7283450" y="3032125"/>
            <a:ext cx="1887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zh-CN" altLang="en-US">
                <a:solidFill>
                  <a:srgbClr val="FF0000"/>
                </a:solidFill>
                <a:latin typeface="黑体" pitchFamily="2" charset="-122"/>
                <a:ea typeface="黑体" pitchFamily="2" charset="-122"/>
              </a:rPr>
              <a:t>算逻运算级 </a:t>
            </a:r>
          </a:p>
        </p:txBody>
      </p:sp>
      <p:grpSp>
        <p:nvGrpSpPr>
          <p:cNvPr id="16390" name="Group 89"/>
          <p:cNvGrpSpPr>
            <a:grpSpLocks/>
          </p:cNvGrpSpPr>
          <p:nvPr/>
        </p:nvGrpSpPr>
        <p:grpSpPr bwMode="auto">
          <a:xfrm>
            <a:off x="801688" y="1881188"/>
            <a:ext cx="7750175" cy="3492500"/>
            <a:chOff x="505" y="1185"/>
            <a:chExt cx="4882" cy="2200"/>
          </a:xfrm>
        </p:grpSpPr>
        <p:sp>
          <p:nvSpPr>
            <p:cNvPr id="16401" name="Text Box 5"/>
            <p:cNvSpPr txBox="1">
              <a:spLocks noChangeArrowheads="1"/>
            </p:cNvSpPr>
            <p:nvPr/>
          </p:nvSpPr>
          <p:spPr bwMode="auto">
            <a:xfrm>
              <a:off x="1380" y="2512"/>
              <a:ext cx="997" cy="351"/>
            </a:xfrm>
            <a:prstGeom prst="rect">
              <a:avLst/>
            </a:prstGeom>
            <a:solidFill>
              <a:srgbClr val="FFFFCC"/>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选择器／</a:t>
              </a:r>
            </a:p>
            <a:p>
              <a:pPr algn="ctr" eaLnBrk="1" hangingPunct="1">
                <a:lnSpc>
                  <a:spcPct val="100000"/>
                </a:lnSpc>
                <a:spcBef>
                  <a:spcPct val="0"/>
                </a:spcBef>
              </a:pPr>
              <a:r>
                <a:rPr lang="zh-CN" altLang="en-US" sz="1800">
                  <a:latin typeface="黑体" pitchFamily="2" charset="-122"/>
                  <a:ea typeface="黑体" pitchFamily="2" charset="-122"/>
                </a:rPr>
                <a:t>锁存器</a:t>
              </a:r>
            </a:p>
          </p:txBody>
        </p:sp>
        <p:sp>
          <p:nvSpPr>
            <p:cNvPr id="16402" name="Freeform 6"/>
            <p:cNvSpPr>
              <a:spLocks/>
            </p:cNvSpPr>
            <p:nvPr/>
          </p:nvSpPr>
          <p:spPr bwMode="auto">
            <a:xfrm>
              <a:off x="1814" y="1946"/>
              <a:ext cx="1239" cy="379"/>
            </a:xfrm>
            <a:custGeom>
              <a:avLst/>
              <a:gdLst>
                <a:gd name="T0" fmla="*/ 0 w 1978"/>
                <a:gd name="T1" fmla="*/ 12 h 486"/>
                <a:gd name="T2" fmla="*/ 1 w 1978"/>
                <a:gd name="T3" fmla="*/ 0 h 486"/>
                <a:gd name="T4" fmla="*/ 1 w 1978"/>
                <a:gd name="T5" fmla="*/ 0 h 486"/>
                <a:gd name="T6" fmla="*/ 2 w 1978"/>
                <a:gd name="T7" fmla="*/ 12 h 486"/>
                <a:gd name="T8" fmla="*/ 1 w 1978"/>
                <a:gd name="T9" fmla="*/ 12 h 486"/>
                <a:gd name="T10" fmla="*/ 1 w 1978"/>
                <a:gd name="T11" fmla="*/ 9 h 486"/>
                <a:gd name="T12" fmla="*/ 1 w 1978"/>
                <a:gd name="T13" fmla="*/ 12 h 486"/>
                <a:gd name="T14" fmla="*/ 0 w 1978"/>
                <a:gd name="T15" fmla="*/ 12 h 486"/>
                <a:gd name="T16" fmla="*/ 0 60000 65536"/>
                <a:gd name="T17" fmla="*/ 0 60000 65536"/>
                <a:gd name="T18" fmla="*/ 0 60000 65536"/>
                <a:gd name="T19" fmla="*/ 0 60000 65536"/>
                <a:gd name="T20" fmla="*/ 0 60000 65536"/>
                <a:gd name="T21" fmla="*/ 0 60000 65536"/>
                <a:gd name="T22" fmla="*/ 0 60000 65536"/>
                <a:gd name="T23" fmla="*/ 0 60000 65536"/>
                <a:gd name="T24" fmla="*/ 0 w 1978"/>
                <a:gd name="T25" fmla="*/ 0 h 486"/>
                <a:gd name="T26" fmla="*/ 1978 w 1978"/>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8" h="486">
                  <a:moveTo>
                    <a:pt x="0" y="477"/>
                  </a:moveTo>
                  <a:lnTo>
                    <a:pt x="512" y="0"/>
                  </a:lnTo>
                  <a:lnTo>
                    <a:pt x="1448" y="0"/>
                  </a:lnTo>
                  <a:lnTo>
                    <a:pt x="1978" y="486"/>
                  </a:lnTo>
                  <a:lnTo>
                    <a:pt x="1122" y="486"/>
                  </a:lnTo>
                  <a:lnTo>
                    <a:pt x="988" y="354"/>
                  </a:lnTo>
                  <a:lnTo>
                    <a:pt x="848" y="486"/>
                  </a:lnTo>
                  <a:lnTo>
                    <a:pt x="0" y="477"/>
                  </a:lnTo>
                  <a:close/>
                </a:path>
              </a:pathLst>
            </a:custGeom>
            <a:solidFill>
              <a:srgbClr val="FFFFCC"/>
            </a:solidFill>
            <a:ln w="28575" cap="flat" cmpd="sng">
              <a:solidFill>
                <a:srgbClr val="000080"/>
              </a:solidFill>
              <a:prstDash val="solid"/>
              <a:round/>
              <a:headEnd/>
              <a:tailEnd/>
            </a:ln>
          </p:spPr>
          <p:txBody>
            <a:bodyPr/>
            <a:lstStyle/>
            <a:p>
              <a:endParaRPr lang="zh-CN" altLang="en-US"/>
            </a:p>
          </p:txBody>
        </p:sp>
        <p:sp>
          <p:nvSpPr>
            <p:cNvPr id="16403" name="Text Box 7"/>
            <p:cNvSpPr txBox="1">
              <a:spLocks noChangeArrowheads="1"/>
            </p:cNvSpPr>
            <p:nvPr/>
          </p:nvSpPr>
          <p:spPr bwMode="auto">
            <a:xfrm>
              <a:off x="2129" y="1398"/>
              <a:ext cx="584" cy="351"/>
            </a:xfrm>
            <a:prstGeom prst="rect">
              <a:avLst/>
            </a:prstGeom>
            <a:solidFill>
              <a:srgbClr val="FFFFCC"/>
            </a:solidFill>
            <a:ln w="28575">
              <a:solidFill>
                <a:srgbClr val="000080"/>
              </a:solidFill>
              <a:miter lim="800000"/>
              <a:headEnd/>
              <a:tailEnd/>
            </a:ln>
          </p:spPr>
          <p:txBody>
            <a:bodyPr lIns="0" tIns="7200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移位器</a:t>
              </a:r>
            </a:p>
          </p:txBody>
        </p:sp>
        <p:sp>
          <p:nvSpPr>
            <p:cNvPr id="16404" name="Text Box 8"/>
            <p:cNvSpPr txBox="1">
              <a:spLocks noChangeArrowheads="1"/>
            </p:cNvSpPr>
            <p:nvPr/>
          </p:nvSpPr>
          <p:spPr bwMode="auto">
            <a:xfrm>
              <a:off x="2525" y="2512"/>
              <a:ext cx="997" cy="351"/>
            </a:xfrm>
            <a:prstGeom prst="rect">
              <a:avLst/>
            </a:prstGeom>
            <a:solidFill>
              <a:srgbClr val="FFFFCC"/>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选择器／</a:t>
              </a:r>
            </a:p>
            <a:p>
              <a:pPr algn="ctr" eaLnBrk="1" hangingPunct="1">
                <a:lnSpc>
                  <a:spcPct val="100000"/>
                </a:lnSpc>
                <a:spcBef>
                  <a:spcPct val="0"/>
                </a:spcBef>
              </a:pPr>
              <a:r>
                <a:rPr lang="zh-CN" altLang="en-US" sz="1800">
                  <a:latin typeface="黑体" pitchFamily="2" charset="-122"/>
                  <a:ea typeface="黑体" pitchFamily="2" charset="-122"/>
                </a:rPr>
                <a:t>锁存器</a:t>
              </a:r>
            </a:p>
          </p:txBody>
        </p:sp>
        <p:grpSp>
          <p:nvGrpSpPr>
            <p:cNvPr id="16405" name="Group 9"/>
            <p:cNvGrpSpPr>
              <a:grpSpLocks/>
            </p:cNvGrpSpPr>
            <p:nvPr/>
          </p:nvGrpSpPr>
          <p:grpSpPr bwMode="auto">
            <a:xfrm>
              <a:off x="1117" y="1452"/>
              <a:ext cx="2659" cy="1329"/>
              <a:chOff x="2853" y="3486"/>
              <a:chExt cx="4248" cy="1704"/>
            </a:xfrm>
          </p:grpSpPr>
          <p:sp>
            <p:nvSpPr>
              <p:cNvPr id="16430" name="Line 10"/>
              <p:cNvSpPr>
                <a:spLocks noChangeShapeType="1"/>
              </p:cNvSpPr>
              <p:nvPr/>
            </p:nvSpPr>
            <p:spPr bwMode="auto">
              <a:xfrm>
                <a:off x="4049" y="3762"/>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1" name="Line 11"/>
              <p:cNvSpPr>
                <a:spLocks noChangeShapeType="1"/>
              </p:cNvSpPr>
              <p:nvPr/>
            </p:nvSpPr>
            <p:spPr bwMode="auto">
              <a:xfrm>
                <a:off x="4049" y="3486"/>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2" name="Line 12"/>
              <p:cNvSpPr>
                <a:spLocks noChangeShapeType="1"/>
              </p:cNvSpPr>
              <p:nvPr/>
            </p:nvSpPr>
            <p:spPr bwMode="auto">
              <a:xfrm>
                <a:off x="2853" y="5190"/>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3" name="Line 13"/>
              <p:cNvSpPr>
                <a:spLocks noChangeShapeType="1"/>
              </p:cNvSpPr>
              <p:nvPr/>
            </p:nvSpPr>
            <p:spPr bwMode="auto">
              <a:xfrm>
                <a:off x="2853" y="4914"/>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4" name="Line 14"/>
              <p:cNvSpPr>
                <a:spLocks noChangeShapeType="1"/>
              </p:cNvSpPr>
              <p:nvPr/>
            </p:nvSpPr>
            <p:spPr bwMode="auto">
              <a:xfrm>
                <a:off x="6689" y="5190"/>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5" name="Line 15"/>
              <p:cNvSpPr>
                <a:spLocks noChangeShapeType="1"/>
              </p:cNvSpPr>
              <p:nvPr/>
            </p:nvSpPr>
            <p:spPr bwMode="auto">
              <a:xfrm>
                <a:off x="6689" y="4914"/>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6" name="Line 16"/>
              <p:cNvSpPr>
                <a:spLocks noChangeShapeType="1"/>
              </p:cNvSpPr>
              <p:nvPr/>
            </p:nvSpPr>
            <p:spPr bwMode="auto">
              <a:xfrm>
                <a:off x="5635" y="4320"/>
                <a:ext cx="68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7" name="Line 17"/>
              <p:cNvSpPr>
                <a:spLocks noChangeShapeType="1"/>
              </p:cNvSpPr>
              <p:nvPr/>
            </p:nvSpPr>
            <p:spPr bwMode="auto">
              <a:xfrm>
                <a:off x="3695" y="4218"/>
                <a:ext cx="68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8" name="Line 18"/>
              <p:cNvSpPr>
                <a:spLocks noChangeShapeType="1"/>
              </p:cNvSpPr>
              <p:nvPr/>
            </p:nvSpPr>
            <p:spPr bwMode="auto">
              <a:xfrm>
                <a:off x="3701" y="4470"/>
                <a:ext cx="41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06" name="Text Box 19"/>
            <p:cNvSpPr txBox="1">
              <a:spLocks noChangeArrowheads="1"/>
            </p:cNvSpPr>
            <p:nvPr/>
          </p:nvSpPr>
          <p:spPr bwMode="auto">
            <a:xfrm>
              <a:off x="1227" y="1449"/>
              <a:ext cx="59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16407" name="Text Box 20"/>
            <p:cNvSpPr txBox="1">
              <a:spLocks noChangeArrowheads="1"/>
            </p:cNvSpPr>
            <p:nvPr/>
          </p:nvSpPr>
          <p:spPr bwMode="auto">
            <a:xfrm>
              <a:off x="1863" y="1391"/>
              <a:ext cx="22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16408" name="Text Box 21"/>
            <p:cNvSpPr txBox="1">
              <a:spLocks noChangeArrowheads="1"/>
            </p:cNvSpPr>
            <p:nvPr/>
          </p:nvSpPr>
          <p:spPr bwMode="auto">
            <a:xfrm>
              <a:off x="1668" y="1960"/>
              <a:ext cx="22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16409" name="Text Box 22"/>
            <p:cNvSpPr txBox="1">
              <a:spLocks noChangeArrowheads="1"/>
            </p:cNvSpPr>
            <p:nvPr/>
          </p:nvSpPr>
          <p:spPr bwMode="auto">
            <a:xfrm>
              <a:off x="1097" y="2507"/>
              <a:ext cx="22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16410" name="Text Box 23"/>
            <p:cNvSpPr txBox="1">
              <a:spLocks noChangeArrowheads="1"/>
            </p:cNvSpPr>
            <p:nvPr/>
          </p:nvSpPr>
          <p:spPr bwMode="auto">
            <a:xfrm>
              <a:off x="3525" y="2517"/>
              <a:ext cx="22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16411" name="Text Box 24"/>
            <p:cNvSpPr txBox="1">
              <a:spLocks noChangeArrowheads="1"/>
            </p:cNvSpPr>
            <p:nvPr/>
          </p:nvSpPr>
          <p:spPr bwMode="auto">
            <a:xfrm>
              <a:off x="1033" y="1981"/>
              <a:ext cx="59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16412" name="Text Box 25"/>
            <p:cNvSpPr txBox="1">
              <a:spLocks noChangeArrowheads="1"/>
            </p:cNvSpPr>
            <p:nvPr/>
          </p:nvSpPr>
          <p:spPr bwMode="auto">
            <a:xfrm>
              <a:off x="505" y="2535"/>
              <a:ext cx="59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16413" name="Text Box 26"/>
            <p:cNvSpPr txBox="1">
              <a:spLocks noChangeArrowheads="1"/>
            </p:cNvSpPr>
            <p:nvPr/>
          </p:nvSpPr>
          <p:spPr bwMode="auto">
            <a:xfrm>
              <a:off x="3838" y="2526"/>
              <a:ext cx="59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zh-CN" altLang="en-US" sz="1800">
                  <a:latin typeface="黑体" pitchFamily="2" charset="-122"/>
                  <a:ea typeface="黑体" pitchFamily="2" charset="-122"/>
                </a:rPr>
                <a:t>选择命令</a:t>
              </a:r>
            </a:p>
          </p:txBody>
        </p:sp>
        <p:sp>
          <p:nvSpPr>
            <p:cNvPr id="16414" name="Text Box 27"/>
            <p:cNvSpPr txBox="1">
              <a:spLocks noChangeArrowheads="1"/>
            </p:cNvSpPr>
            <p:nvPr/>
          </p:nvSpPr>
          <p:spPr bwMode="auto">
            <a:xfrm>
              <a:off x="3360" y="1969"/>
              <a:ext cx="59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zh-CN" altLang="en-US" sz="1800">
                  <a:latin typeface="黑体" pitchFamily="2" charset="-122"/>
                  <a:ea typeface="黑体" pitchFamily="2" charset="-122"/>
                </a:rPr>
                <a:t>初始进位</a:t>
              </a:r>
            </a:p>
          </p:txBody>
        </p:sp>
        <p:sp>
          <p:nvSpPr>
            <p:cNvPr id="16415" name="Text Box 28"/>
            <p:cNvSpPr txBox="1">
              <a:spLocks noChangeArrowheads="1"/>
            </p:cNvSpPr>
            <p:nvPr/>
          </p:nvSpPr>
          <p:spPr bwMode="auto">
            <a:xfrm>
              <a:off x="2146" y="1969"/>
              <a:ext cx="59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黑体" pitchFamily="2" charset="-122"/>
                  <a:ea typeface="黑体" pitchFamily="2" charset="-122"/>
                </a:rPr>
                <a:t>ALU</a:t>
              </a:r>
            </a:p>
          </p:txBody>
        </p:sp>
        <p:sp>
          <p:nvSpPr>
            <p:cNvPr id="16416" name="Text Box 29"/>
            <p:cNvSpPr txBox="1">
              <a:spLocks noChangeArrowheads="1"/>
            </p:cNvSpPr>
            <p:nvPr/>
          </p:nvSpPr>
          <p:spPr bwMode="auto">
            <a:xfrm>
              <a:off x="1622" y="2882"/>
              <a:ext cx="49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16417" name="Text Box 30"/>
            <p:cNvSpPr txBox="1">
              <a:spLocks noChangeArrowheads="1"/>
            </p:cNvSpPr>
            <p:nvPr/>
          </p:nvSpPr>
          <p:spPr bwMode="auto">
            <a:xfrm>
              <a:off x="2752" y="2872"/>
              <a:ext cx="49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16418" name="Text Box 31"/>
            <p:cNvSpPr txBox="1">
              <a:spLocks noChangeArrowheads="1"/>
            </p:cNvSpPr>
            <p:nvPr/>
          </p:nvSpPr>
          <p:spPr bwMode="auto">
            <a:xfrm>
              <a:off x="1607" y="3095"/>
              <a:ext cx="53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操作数</a:t>
              </a:r>
            </a:p>
          </p:txBody>
        </p:sp>
        <p:sp>
          <p:nvSpPr>
            <p:cNvPr id="16419" name="Text Box 32"/>
            <p:cNvSpPr txBox="1">
              <a:spLocks noChangeArrowheads="1"/>
            </p:cNvSpPr>
            <p:nvPr/>
          </p:nvSpPr>
          <p:spPr bwMode="auto">
            <a:xfrm>
              <a:off x="2722" y="3095"/>
              <a:ext cx="53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操作数</a:t>
              </a:r>
            </a:p>
          </p:txBody>
        </p:sp>
        <p:grpSp>
          <p:nvGrpSpPr>
            <p:cNvPr id="16420" name="Group 33"/>
            <p:cNvGrpSpPr>
              <a:grpSpLocks/>
            </p:cNvGrpSpPr>
            <p:nvPr/>
          </p:nvGrpSpPr>
          <p:grpSpPr bwMode="auto">
            <a:xfrm>
              <a:off x="1494" y="1185"/>
              <a:ext cx="1865" cy="1868"/>
              <a:chOff x="3455" y="3144"/>
              <a:chExt cx="2980" cy="2394"/>
            </a:xfrm>
          </p:grpSpPr>
          <p:sp>
            <p:nvSpPr>
              <p:cNvPr id="16422" name="Line 34"/>
              <p:cNvSpPr>
                <a:spLocks noChangeShapeType="1"/>
              </p:cNvSpPr>
              <p:nvPr/>
            </p:nvSpPr>
            <p:spPr bwMode="auto">
              <a:xfrm flipV="1">
                <a:off x="4253" y="4605"/>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3" name="Line 35"/>
              <p:cNvSpPr>
                <a:spLocks noChangeShapeType="1"/>
              </p:cNvSpPr>
              <p:nvPr/>
            </p:nvSpPr>
            <p:spPr bwMode="auto">
              <a:xfrm flipV="1">
                <a:off x="5679" y="4593"/>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4" name="Line 36"/>
              <p:cNvSpPr>
                <a:spLocks noChangeShapeType="1"/>
              </p:cNvSpPr>
              <p:nvPr/>
            </p:nvSpPr>
            <p:spPr bwMode="auto">
              <a:xfrm flipV="1">
                <a:off x="4949" y="3870"/>
                <a:ext cx="0" cy="255"/>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5" name="Line 37"/>
              <p:cNvSpPr>
                <a:spLocks noChangeShapeType="1"/>
              </p:cNvSpPr>
              <p:nvPr/>
            </p:nvSpPr>
            <p:spPr bwMode="auto">
              <a:xfrm flipV="1">
                <a:off x="3455" y="5298"/>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6" name="Line 38"/>
              <p:cNvSpPr>
                <a:spLocks noChangeShapeType="1"/>
              </p:cNvSpPr>
              <p:nvPr/>
            </p:nvSpPr>
            <p:spPr bwMode="auto">
              <a:xfrm flipV="1">
                <a:off x="4631" y="5295"/>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7" name="Line 39"/>
              <p:cNvSpPr>
                <a:spLocks noChangeShapeType="1"/>
              </p:cNvSpPr>
              <p:nvPr/>
            </p:nvSpPr>
            <p:spPr bwMode="auto">
              <a:xfrm flipV="1">
                <a:off x="5259" y="5283"/>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8" name="Line 40"/>
              <p:cNvSpPr>
                <a:spLocks noChangeShapeType="1"/>
              </p:cNvSpPr>
              <p:nvPr/>
            </p:nvSpPr>
            <p:spPr bwMode="auto">
              <a:xfrm flipV="1">
                <a:off x="6435" y="5280"/>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9" name="Line 41"/>
              <p:cNvSpPr>
                <a:spLocks noChangeShapeType="1"/>
              </p:cNvSpPr>
              <p:nvPr/>
            </p:nvSpPr>
            <p:spPr bwMode="auto">
              <a:xfrm flipV="1">
                <a:off x="4937" y="3144"/>
                <a:ext cx="0" cy="255"/>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21" name="Rectangle 44"/>
            <p:cNvSpPr>
              <a:spLocks noChangeArrowheads="1"/>
            </p:cNvSpPr>
            <p:nvPr/>
          </p:nvSpPr>
          <p:spPr bwMode="auto">
            <a:xfrm>
              <a:off x="4588" y="2454"/>
              <a:ext cx="7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zh-CN" altLang="en-US">
                  <a:solidFill>
                    <a:srgbClr val="FF0000"/>
                  </a:solidFill>
                  <a:latin typeface="黑体" pitchFamily="2" charset="-122"/>
                  <a:ea typeface="黑体" pitchFamily="2" charset="-122"/>
                </a:rPr>
                <a:t>输入级 </a:t>
              </a:r>
            </a:p>
          </p:txBody>
        </p:sp>
      </p:grpSp>
      <p:grpSp>
        <p:nvGrpSpPr>
          <p:cNvPr id="16391" name="Group 90"/>
          <p:cNvGrpSpPr>
            <a:grpSpLocks/>
          </p:cNvGrpSpPr>
          <p:nvPr/>
        </p:nvGrpSpPr>
        <p:grpSpPr bwMode="auto">
          <a:xfrm>
            <a:off x="5543550" y="476250"/>
            <a:ext cx="2413000" cy="1547813"/>
            <a:chOff x="2154" y="290"/>
            <a:chExt cx="1294" cy="1046"/>
          </a:xfrm>
        </p:grpSpPr>
        <p:sp>
          <p:nvSpPr>
            <p:cNvPr id="16392" name="Text Box 91"/>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16393" name="Text Box 92" descr="75%"/>
            <p:cNvSpPr txBox="1">
              <a:spLocks noChangeArrowheads="1"/>
            </p:cNvSpPr>
            <p:nvPr/>
          </p:nvSpPr>
          <p:spPr bwMode="auto">
            <a:xfrm>
              <a:off x="2276" y="514"/>
              <a:ext cx="417" cy="293"/>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chemeClr val="bg1"/>
                </a:solidFill>
                <a:latin typeface="黑体" pitchFamily="2" charset="-122"/>
                <a:ea typeface="黑体" pitchFamily="2" charset="-122"/>
              </a:endParaRPr>
            </a:p>
          </p:txBody>
        </p:sp>
        <p:sp>
          <p:nvSpPr>
            <p:cNvPr id="16394" name="Text Box 93"/>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ALU</a:t>
              </a:r>
            </a:p>
          </p:txBody>
        </p:sp>
        <p:sp>
          <p:nvSpPr>
            <p:cNvPr id="16395" name="Text Box 94"/>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6396" name="Text Box 95"/>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16397" name="Text Box 96"/>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6398" name="Text Box 97"/>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16399" name="Text Box 98"/>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6400" name="Text Box 99"/>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6.2.1 </a:t>
            </a:r>
            <a:r>
              <a:rPr lang="zh-CN" altLang="en-US">
                <a:solidFill>
                  <a:srgbClr val="990000"/>
                </a:solidFill>
                <a:latin typeface="黑体" pitchFamily="2" charset="-122"/>
                <a:ea typeface="黑体" pitchFamily="2" charset="-122"/>
              </a:rPr>
              <a:t>运算部件</a:t>
            </a:r>
          </a:p>
        </p:txBody>
      </p:sp>
      <p:sp>
        <p:nvSpPr>
          <p:cNvPr id="17411" name="Rectangle 9"/>
          <p:cNvSpPr>
            <a:spLocks noChangeArrowheads="1"/>
          </p:cNvSpPr>
          <p:nvPr/>
        </p:nvSpPr>
        <p:spPr bwMode="auto">
          <a:xfrm>
            <a:off x="647700" y="1089025"/>
            <a:ext cx="340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不同档次的运算部件</a:t>
            </a:r>
            <a:r>
              <a:rPr lang="zh-CN" altLang="en-US">
                <a:latin typeface="黑体" pitchFamily="2" charset="-122"/>
                <a:ea typeface="黑体" pitchFamily="2" charset="-122"/>
              </a:rPr>
              <a:t> </a:t>
            </a:r>
          </a:p>
        </p:txBody>
      </p:sp>
      <p:sp>
        <p:nvSpPr>
          <p:cNvPr id="17412" name="Text Box 55"/>
          <p:cNvSpPr txBox="1">
            <a:spLocks noChangeArrowheads="1"/>
          </p:cNvSpPr>
          <p:nvPr/>
        </p:nvSpPr>
        <p:spPr bwMode="auto">
          <a:xfrm>
            <a:off x="827088" y="1665288"/>
            <a:ext cx="831691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(1)</a:t>
            </a:r>
            <a:r>
              <a:rPr lang="zh-CN" altLang="en-US">
                <a:latin typeface="黑体" pitchFamily="2" charset="-122"/>
                <a:ea typeface="黑体" pitchFamily="2" charset="-122"/>
              </a:rPr>
              <a:t>低档处理器（早期）</a:t>
            </a:r>
          </a:p>
          <a:p>
            <a:pPr eaLnBrk="1" hangingPunct="1">
              <a:spcBef>
                <a:spcPct val="0"/>
              </a:spcBef>
            </a:pPr>
            <a:r>
              <a:rPr lang="zh-CN" altLang="en-US">
                <a:latin typeface="黑体" pitchFamily="2" charset="-122"/>
                <a:ea typeface="黑体" pitchFamily="2" charset="-122"/>
              </a:rPr>
              <a:t>    设置一个</a:t>
            </a:r>
            <a:r>
              <a:rPr lang="en-US" altLang="zh-CN" dirty="0">
                <a:latin typeface="黑体" pitchFamily="2" charset="-122"/>
                <a:ea typeface="黑体" pitchFamily="2" charset="-122"/>
              </a:rPr>
              <a:t>ALU</a:t>
            </a:r>
            <a:r>
              <a:rPr lang="zh-CN" altLang="en-US">
                <a:latin typeface="黑体" pitchFamily="2" charset="-122"/>
                <a:ea typeface="黑体" pitchFamily="2" charset="-122"/>
              </a:rPr>
              <a:t>，硬件级只能实现基本的算逻运算功能。</a:t>
            </a:r>
          </a:p>
        </p:txBody>
      </p:sp>
      <p:sp>
        <p:nvSpPr>
          <p:cNvPr id="17413" name="Text Box 57"/>
          <p:cNvSpPr txBox="1">
            <a:spLocks noChangeArrowheads="1"/>
          </p:cNvSpPr>
          <p:nvPr/>
        </p:nvSpPr>
        <p:spPr bwMode="auto">
          <a:xfrm>
            <a:off x="827088" y="2924175"/>
            <a:ext cx="8137525"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(2)</a:t>
            </a:r>
            <a:r>
              <a:rPr lang="zh-CN" altLang="en-US">
                <a:latin typeface="黑体" pitchFamily="2" charset="-122"/>
                <a:ea typeface="黑体" pitchFamily="2" charset="-122"/>
              </a:rPr>
              <a:t>普通处理器</a:t>
            </a:r>
          </a:p>
          <a:p>
            <a:pPr eaLnBrk="1" hangingPunct="1">
              <a:spcBef>
                <a:spcPct val="0"/>
              </a:spcBef>
            </a:pPr>
            <a:r>
              <a:rPr lang="zh-CN" altLang="en-US">
                <a:latin typeface="黑体" pitchFamily="2" charset="-122"/>
                <a:ea typeface="黑体" pitchFamily="2" charset="-122"/>
              </a:rPr>
              <a:t>    设置一个</a:t>
            </a:r>
            <a:r>
              <a:rPr lang="en-US" altLang="zh-CN" dirty="0">
                <a:latin typeface="黑体" pitchFamily="2" charset="-122"/>
                <a:ea typeface="黑体" pitchFamily="2" charset="-122"/>
              </a:rPr>
              <a:t>ALU</a:t>
            </a:r>
            <a:r>
              <a:rPr lang="zh-CN" altLang="en-US">
                <a:latin typeface="黑体" pitchFamily="2" charset="-122"/>
                <a:ea typeface="黑体" pitchFamily="2" charset="-122"/>
              </a:rPr>
              <a:t>，硬件级可实现定点加减乘除法运算。</a:t>
            </a:r>
          </a:p>
          <a:p>
            <a:pPr eaLnBrk="1" hangingPunct="1">
              <a:spcBef>
                <a:spcPct val="0"/>
              </a:spcBef>
            </a:pPr>
            <a:r>
              <a:rPr lang="zh-CN" altLang="en-US">
                <a:latin typeface="黑体" pitchFamily="2" charset="-122"/>
                <a:ea typeface="黑体" pitchFamily="2" charset="-122"/>
              </a:rPr>
              <a:t>    浮点运算可通过软件（子程序）或浮点协处理器硬件来实现。</a:t>
            </a:r>
          </a:p>
        </p:txBody>
      </p:sp>
      <p:grpSp>
        <p:nvGrpSpPr>
          <p:cNvPr id="17414" name="Group 98"/>
          <p:cNvGrpSpPr>
            <a:grpSpLocks/>
          </p:cNvGrpSpPr>
          <p:nvPr/>
        </p:nvGrpSpPr>
        <p:grpSpPr bwMode="auto">
          <a:xfrm>
            <a:off x="5543550" y="476250"/>
            <a:ext cx="2413000" cy="1547813"/>
            <a:chOff x="2154" y="290"/>
            <a:chExt cx="1294" cy="1046"/>
          </a:xfrm>
        </p:grpSpPr>
        <p:sp>
          <p:nvSpPr>
            <p:cNvPr id="17415" name="Text Box 99"/>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17416" name="Text Box 100" descr="75%"/>
            <p:cNvSpPr txBox="1">
              <a:spLocks noChangeArrowheads="1"/>
            </p:cNvSpPr>
            <p:nvPr/>
          </p:nvSpPr>
          <p:spPr bwMode="auto">
            <a:xfrm>
              <a:off x="2276" y="514"/>
              <a:ext cx="417" cy="293"/>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chemeClr val="bg1"/>
                </a:solidFill>
                <a:latin typeface="黑体" pitchFamily="2" charset="-122"/>
                <a:ea typeface="黑体" pitchFamily="2" charset="-122"/>
              </a:endParaRPr>
            </a:p>
          </p:txBody>
        </p:sp>
        <p:sp>
          <p:nvSpPr>
            <p:cNvPr id="17417" name="Text Box 101"/>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ALU</a:t>
              </a:r>
            </a:p>
          </p:txBody>
        </p:sp>
        <p:sp>
          <p:nvSpPr>
            <p:cNvPr id="17418" name="Text Box 102"/>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7419" name="Text Box 103"/>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17420" name="Text Box 104"/>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7421" name="Text Box 105"/>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17422" name="Text Box 106"/>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7423" name="Text Box 107"/>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6.2.1 </a:t>
            </a:r>
            <a:r>
              <a:rPr lang="zh-CN" altLang="en-US">
                <a:solidFill>
                  <a:srgbClr val="990000"/>
                </a:solidFill>
                <a:latin typeface="黑体" pitchFamily="2" charset="-122"/>
                <a:ea typeface="黑体" pitchFamily="2" charset="-122"/>
              </a:rPr>
              <a:t>运算部件</a:t>
            </a:r>
          </a:p>
        </p:txBody>
      </p:sp>
      <p:sp>
        <p:nvSpPr>
          <p:cNvPr id="18435" name="Rectangle 3"/>
          <p:cNvSpPr>
            <a:spLocks noChangeArrowheads="1"/>
          </p:cNvSpPr>
          <p:nvPr/>
        </p:nvSpPr>
        <p:spPr bwMode="auto">
          <a:xfrm>
            <a:off x="647700" y="1089025"/>
            <a:ext cx="340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不同档次的运算部件</a:t>
            </a:r>
            <a:r>
              <a:rPr lang="zh-CN" altLang="en-US">
                <a:latin typeface="黑体" pitchFamily="2" charset="-122"/>
                <a:ea typeface="黑体" pitchFamily="2" charset="-122"/>
              </a:rPr>
              <a:t> </a:t>
            </a:r>
          </a:p>
        </p:txBody>
      </p:sp>
      <p:sp>
        <p:nvSpPr>
          <p:cNvPr id="18436" name="Text Box 4"/>
          <p:cNvSpPr txBox="1">
            <a:spLocks noChangeArrowheads="1"/>
          </p:cNvSpPr>
          <p:nvPr/>
        </p:nvSpPr>
        <p:spPr bwMode="auto">
          <a:xfrm>
            <a:off x="827088" y="1665288"/>
            <a:ext cx="831691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(3)</a:t>
            </a:r>
            <a:r>
              <a:rPr lang="zh-CN" altLang="en-US">
                <a:latin typeface="黑体" pitchFamily="2" charset="-122"/>
                <a:ea typeface="黑体" pitchFamily="2" charset="-122"/>
              </a:rPr>
              <a:t>较高档处理器</a:t>
            </a:r>
          </a:p>
          <a:p>
            <a:pPr eaLnBrk="1" hangingPunct="1">
              <a:spcBef>
                <a:spcPct val="0"/>
              </a:spcBef>
            </a:pPr>
            <a:r>
              <a:rPr lang="zh-CN" altLang="en-US">
                <a:latin typeface="黑体" pitchFamily="2" charset="-122"/>
                <a:ea typeface="黑体" pitchFamily="2" charset="-122"/>
              </a:rPr>
              <a:t>    单</a:t>
            </a:r>
            <a:r>
              <a:rPr lang="en-US" altLang="zh-CN" dirty="0">
                <a:latin typeface="黑体" pitchFamily="2" charset="-122"/>
                <a:ea typeface="黑体" pitchFamily="2" charset="-122"/>
              </a:rPr>
              <a:t>ALU</a:t>
            </a:r>
            <a:r>
              <a:rPr lang="zh-CN" altLang="en-US">
                <a:latin typeface="黑体" pitchFamily="2" charset="-122"/>
                <a:ea typeface="黑体" pitchFamily="2" charset="-122"/>
              </a:rPr>
              <a:t>，并将定点乘除和浮点部件作为基本配置。</a:t>
            </a:r>
          </a:p>
        </p:txBody>
      </p:sp>
      <p:sp>
        <p:nvSpPr>
          <p:cNvPr id="18437" name="Text Box 5"/>
          <p:cNvSpPr txBox="1">
            <a:spLocks noChangeArrowheads="1"/>
          </p:cNvSpPr>
          <p:nvPr/>
        </p:nvSpPr>
        <p:spPr bwMode="auto">
          <a:xfrm>
            <a:off x="827088" y="2924175"/>
            <a:ext cx="813752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高档处理器</a:t>
            </a:r>
          </a:p>
          <a:p>
            <a:pPr eaLnBrk="1" hangingPunct="1">
              <a:spcBef>
                <a:spcPct val="0"/>
              </a:spcBef>
            </a:pPr>
            <a:r>
              <a:rPr lang="zh-CN" altLang="en-US">
                <a:latin typeface="黑体" pitchFamily="2" charset="-122"/>
                <a:ea typeface="黑体" pitchFamily="2" charset="-122"/>
              </a:rPr>
              <a:t>    包含多种运算部件，例如定点标量运算器、浮点运算器、向量运算部件等。</a:t>
            </a:r>
          </a:p>
        </p:txBody>
      </p:sp>
      <p:grpSp>
        <p:nvGrpSpPr>
          <p:cNvPr id="18438" name="Group 36"/>
          <p:cNvGrpSpPr>
            <a:grpSpLocks/>
          </p:cNvGrpSpPr>
          <p:nvPr/>
        </p:nvGrpSpPr>
        <p:grpSpPr bwMode="auto">
          <a:xfrm>
            <a:off x="5543550" y="476250"/>
            <a:ext cx="2413000" cy="1547813"/>
            <a:chOff x="2154" y="290"/>
            <a:chExt cx="1294" cy="1046"/>
          </a:xfrm>
        </p:grpSpPr>
        <p:sp>
          <p:nvSpPr>
            <p:cNvPr id="18439" name="Text Box 37"/>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18440" name="Text Box 38" descr="75%"/>
            <p:cNvSpPr txBox="1">
              <a:spLocks noChangeArrowheads="1"/>
            </p:cNvSpPr>
            <p:nvPr/>
          </p:nvSpPr>
          <p:spPr bwMode="auto">
            <a:xfrm>
              <a:off x="2276" y="514"/>
              <a:ext cx="417" cy="293"/>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chemeClr val="bg1"/>
                </a:solidFill>
                <a:latin typeface="黑体" pitchFamily="2" charset="-122"/>
                <a:ea typeface="黑体" pitchFamily="2" charset="-122"/>
              </a:endParaRPr>
            </a:p>
          </p:txBody>
        </p:sp>
        <p:sp>
          <p:nvSpPr>
            <p:cNvPr id="18441" name="Text Box 39"/>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ALU</a:t>
              </a:r>
            </a:p>
          </p:txBody>
        </p:sp>
        <p:sp>
          <p:nvSpPr>
            <p:cNvPr id="18442" name="Text Box 40"/>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8443" name="Text Box 41"/>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18444" name="Text Box 42"/>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8445" name="Text Box 43"/>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18446" name="Text Box 44"/>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8447" name="Text Box 45"/>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19459"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通用寄存器</a:t>
            </a:r>
            <a:r>
              <a:rPr lang="zh-CN" altLang="en-US">
                <a:latin typeface="黑体" pitchFamily="2" charset="-122"/>
                <a:ea typeface="黑体" pitchFamily="2" charset="-122"/>
              </a:rPr>
              <a:t> </a:t>
            </a:r>
          </a:p>
        </p:txBody>
      </p:sp>
      <p:sp>
        <p:nvSpPr>
          <p:cNvPr id="19460" name="Text Box 6"/>
          <p:cNvSpPr txBox="1">
            <a:spLocks noChangeArrowheads="1"/>
          </p:cNvSpPr>
          <p:nvPr/>
        </p:nvSpPr>
        <p:spPr bwMode="auto">
          <a:xfrm>
            <a:off x="611188" y="1592263"/>
            <a:ext cx="8208962"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    存放原始数据和运算结果；</a:t>
            </a:r>
          </a:p>
          <a:p>
            <a:pPr eaLnBrk="1" hangingPunct="1">
              <a:spcBef>
                <a:spcPct val="0"/>
              </a:spcBef>
            </a:pPr>
            <a:r>
              <a:rPr lang="zh-CN" altLang="en-US">
                <a:latin typeface="黑体" pitchFamily="2" charset="-122"/>
                <a:ea typeface="黑体" pitchFamily="2" charset="-122"/>
              </a:rPr>
              <a:t>    用户可编程访问；</a:t>
            </a:r>
          </a:p>
          <a:p>
            <a:pPr eaLnBrk="1" hangingPunct="1">
              <a:spcBef>
                <a:spcPct val="0"/>
              </a:spcBef>
            </a:pPr>
            <a:r>
              <a:rPr lang="zh-CN" altLang="en-US">
                <a:latin typeface="黑体" pitchFamily="2" charset="-122"/>
                <a:ea typeface="黑体" pitchFamily="2" charset="-122"/>
              </a:rPr>
              <a:t>    数量少则几个，多则上百个。</a:t>
            </a:r>
          </a:p>
          <a:p>
            <a:pPr eaLnBrk="1" hangingPunct="1">
              <a:spcBef>
                <a:spcPct val="0"/>
              </a:spcBef>
            </a:pPr>
            <a:r>
              <a:rPr lang="zh-CN" altLang="en-US">
                <a:latin typeface="黑体" pitchFamily="2" charset="-122"/>
                <a:ea typeface="黑体" pitchFamily="2" charset="-122"/>
              </a:rPr>
              <a:t>    现代计算机常采用</a:t>
            </a:r>
            <a:r>
              <a:rPr lang="en-US" altLang="zh-CN" dirty="0">
                <a:latin typeface="黑体" pitchFamily="2" charset="-122"/>
                <a:ea typeface="黑体" pitchFamily="2" charset="-122"/>
              </a:rPr>
              <a:t>RAM</a:t>
            </a:r>
            <a:r>
              <a:rPr lang="zh-CN" altLang="en-US">
                <a:latin typeface="黑体" pitchFamily="2" charset="-122"/>
                <a:ea typeface="黑体" pitchFamily="2" charset="-122"/>
              </a:rPr>
              <a:t>或双口</a:t>
            </a:r>
            <a:r>
              <a:rPr lang="en-US" altLang="zh-CN" dirty="0">
                <a:latin typeface="黑体" pitchFamily="2" charset="-122"/>
                <a:ea typeface="黑体" pitchFamily="2" charset="-122"/>
              </a:rPr>
              <a:t>RAM</a:t>
            </a:r>
            <a:r>
              <a:rPr lang="zh-CN" altLang="en-US">
                <a:latin typeface="黑体" pitchFamily="2" charset="-122"/>
                <a:ea typeface="黑体" pitchFamily="2" charset="-122"/>
              </a:rPr>
              <a:t>来构成寄存器组。</a:t>
            </a:r>
          </a:p>
        </p:txBody>
      </p:sp>
      <p:sp>
        <p:nvSpPr>
          <p:cNvPr id="19461" name="Rectangle 8"/>
          <p:cNvSpPr>
            <a:spLocks noChangeArrowheads="1"/>
          </p:cNvSpPr>
          <p:nvPr/>
        </p:nvSpPr>
        <p:spPr bwMode="auto">
          <a:xfrm>
            <a:off x="2159000" y="3897313"/>
            <a:ext cx="2165350" cy="2214562"/>
          </a:xfrm>
          <a:prstGeom prst="rect">
            <a:avLst/>
          </a:prstGeom>
          <a:solidFill>
            <a:srgbClr val="FFFFFF"/>
          </a:solidFill>
          <a:ln w="2857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2" name="Text Box 12"/>
          <p:cNvSpPr txBox="1">
            <a:spLocks noChangeArrowheads="1"/>
          </p:cNvSpPr>
          <p:nvPr/>
        </p:nvSpPr>
        <p:spPr bwMode="auto">
          <a:xfrm>
            <a:off x="2835275" y="5770563"/>
            <a:ext cx="7191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19463" name="Rectangle 13"/>
          <p:cNvSpPr>
            <a:spLocks noChangeArrowheads="1"/>
          </p:cNvSpPr>
          <p:nvPr/>
        </p:nvSpPr>
        <p:spPr bwMode="auto">
          <a:xfrm>
            <a:off x="3471863" y="4068763"/>
            <a:ext cx="690562" cy="201612"/>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4" name="Rectangle 14"/>
          <p:cNvSpPr>
            <a:spLocks noChangeArrowheads="1"/>
          </p:cNvSpPr>
          <p:nvPr/>
        </p:nvSpPr>
        <p:spPr bwMode="auto">
          <a:xfrm>
            <a:off x="3471863" y="4330700"/>
            <a:ext cx="690562" cy="201613"/>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5" name="Rectangle 15"/>
          <p:cNvSpPr>
            <a:spLocks noChangeArrowheads="1"/>
          </p:cNvSpPr>
          <p:nvPr/>
        </p:nvSpPr>
        <p:spPr bwMode="auto">
          <a:xfrm>
            <a:off x="3471863" y="4779963"/>
            <a:ext cx="690562" cy="201612"/>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6" name="Rectangle 16"/>
          <p:cNvSpPr>
            <a:spLocks noChangeArrowheads="1"/>
          </p:cNvSpPr>
          <p:nvPr/>
        </p:nvSpPr>
        <p:spPr bwMode="auto">
          <a:xfrm>
            <a:off x="3471863" y="4779963"/>
            <a:ext cx="690562" cy="1022350"/>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7" name="Rectangle 17"/>
          <p:cNvSpPr>
            <a:spLocks noChangeArrowheads="1"/>
          </p:cNvSpPr>
          <p:nvPr/>
        </p:nvSpPr>
        <p:spPr bwMode="auto">
          <a:xfrm>
            <a:off x="3471863" y="4981575"/>
            <a:ext cx="690562" cy="201613"/>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8" name="Rectangle 18"/>
          <p:cNvSpPr>
            <a:spLocks noChangeArrowheads="1"/>
          </p:cNvSpPr>
          <p:nvPr/>
        </p:nvSpPr>
        <p:spPr bwMode="auto">
          <a:xfrm>
            <a:off x="3471863" y="5600700"/>
            <a:ext cx="690562" cy="201613"/>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19469" name="Text Box 19"/>
          <p:cNvSpPr txBox="1">
            <a:spLocks noChangeArrowheads="1"/>
          </p:cNvSpPr>
          <p:nvPr/>
        </p:nvSpPr>
        <p:spPr bwMode="auto">
          <a:xfrm>
            <a:off x="2932113" y="4052888"/>
            <a:ext cx="512762"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19470" name="Text Box 20"/>
          <p:cNvSpPr txBox="1">
            <a:spLocks noChangeArrowheads="1"/>
          </p:cNvSpPr>
          <p:nvPr/>
        </p:nvSpPr>
        <p:spPr bwMode="auto">
          <a:xfrm>
            <a:off x="2957513" y="4284663"/>
            <a:ext cx="5143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endParaRPr kumimoji="1" lang="en-US" altLang="zh-CN" sz="2000" b="0" dirty="0">
              <a:latin typeface="黑体" pitchFamily="2" charset="-122"/>
              <a:ea typeface="黑体" pitchFamily="2" charset="-122"/>
            </a:endParaRPr>
          </a:p>
        </p:txBody>
      </p:sp>
      <p:sp>
        <p:nvSpPr>
          <p:cNvPr id="19471" name="Text Box 21"/>
          <p:cNvSpPr txBox="1">
            <a:spLocks noChangeArrowheads="1"/>
          </p:cNvSpPr>
          <p:nvPr/>
        </p:nvSpPr>
        <p:spPr bwMode="auto">
          <a:xfrm>
            <a:off x="2957513" y="4733925"/>
            <a:ext cx="5143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solidFill>
                  <a:srgbClr val="FF0000"/>
                </a:solidFill>
                <a:latin typeface="黑体" pitchFamily="2" charset="-122"/>
                <a:ea typeface="黑体" pitchFamily="2" charset="-122"/>
              </a:rPr>
              <a:t>R0</a:t>
            </a:r>
            <a:endParaRPr kumimoji="1" lang="en-US" altLang="zh-CN" sz="2000" b="0" dirty="0">
              <a:solidFill>
                <a:srgbClr val="FF0000"/>
              </a:solidFill>
              <a:latin typeface="黑体" pitchFamily="2" charset="-122"/>
              <a:ea typeface="黑体" pitchFamily="2" charset="-122"/>
            </a:endParaRPr>
          </a:p>
        </p:txBody>
      </p:sp>
      <p:sp>
        <p:nvSpPr>
          <p:cNvPr id="19472" name="Text Box 22"/>
          <p:cNvSpPr txBox="1">
            <a:spLocks noChangeArrowheads="1"/>
          </p:cNvSpPr>
          <p:nvPr/>
        </p:nvSpPr>
        <p:spPr bwMode="auto">
          <a:xfrm>
            <a:off x="2957513" y="4935538"/>
            <a:ext cx="5143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solidFill>
                  <a:srgbClr val="FF0000"/>
                </a:solidFill>
                <a:latin typeface="黑体" pitchFamily="2" charset="-122"/>
                <a:ea typeface="黑体" pitchFamily="2" charset="-122"/>
              </a:rPr>
              <a:t>R1</a:t>
            </a:r>
            <a:endParaRPr kumimoji="1" lang="en-US" altLang="zh-CN" sz="2000" b="0" dirty="0">
              <a:solidFill>
                <a:srgbClr val="FF0000"/>
              </a:solidFill>
              <a:latin typeface="黑体" pitchFamily="2" charset="-122"/>
              <a:ea typeface="黑体" pitchFamily="2" charset="-122"/>
            </a:endParaRPr>
          </a:p>
        </p:txBody>
      </p:sp>
      <p:sp>
        <p:nvSpPr>
          <p:cNvPr id="19473" name="Text Box 23"/>
          <p:cNvSpPr txBox="1">
            <a:spLocks noChangeArrowheads="1"/>
          </p:cNvSpPr>
          <p:nvPr/>
        </p:nvSpPr>
        <p:spPr bwMode="auto">
          <a:xfrm>
            <a:off x="3471863" y="5260975"/>
            <a:ext cx="690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19474" name="Freeform 37"/>
          <p:cNvSpPr>
            <a:spLocks/>
          </p:cNvSpPr>
          <p:nvPr/>
        </p:nvSpPr>
        <p:spPr bwMode="auto">
          <a:xfrm>
            <a:off x="2301875" y="4316413"/>
            <a:ext cx="671513" cy="339725"/>
          </a:xfrm>
          <a:custGeom>
            <a:avLst/>
            <a:gdLst>
              <a:gd name="T0" fmla="*/ 0 w 990"/>
              <a:gd name="T1" fmla="*/ 2147483647 h 352"/>
              <a:gd name="T2" fmla="*/ 2147483647 w 990"/>
              <a:gd name="T3" fmla="*/ 0 h 352"/>
              <a:gd name="T4" fmla="*/ 2147483647 w 990"/>
              <a:gd name="T5" fmla="*/ 0 h 352"/>
              <a:gd name="T6" fmla="*/ 2147483647 w 990"/>
              <a:gd name="T7" fmla="*/ 2147483647 h 352"/>
              <a:gd name="T8" fmla="*/ 2147483647 w 990"/>
              <a:gd name="T9" fmla="*/ 2147483647 h 352"/>
              <a:gd name="T10" fmla="*/ 2147483647 w 990"/>
              <a:gd name="T11" fmla="*/ 2147483647 h 352"/>
              <a:gd name="T12" fmla="*/ 2147483647 w 990"/>
              <a:gd name="T13" fmla="*/ 2147483647 h 352"/>
              <a:gd name="T14" fmla="*/ 0 w 990"/>
              <a:gd name="T15" fmla="*/ 2147483647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19475" name="Text Box 38"/>
          <p:cNvSpPr txBox="1">
            <a:spLocks noChangeArrowheads="1"/>
          </p:cNvSpPr>
          <p:nvPr/>
        </p:nvSpPr>
        <p:spPr bwMode="auto">
          <a:xfrm>
            <a:off x="2352675" y="4278313"/>
            <a:ext cx="584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19476" name="Text Box 64"/>
          <p:cNvSpPr txBox="1">
            <a:spLocks noChangeArrowheads="1"/>
          </p:cNvSpPr>
          <p:nvPr/>
        </p:nvSpPr>
        <p:spPr bwMode="auto">
          <a:xfrm>
            <a:off x="4895850" y="4545013"/>
            <a:ext cx="2916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 例如：</a:t>
            </a:r>
            <a:r>
              <a:rPr lang="en-US" altLang="zh-CN" dirty="0">
                <a:latin typeface="黑体" pitchFamily="2" charset="-122"/>
                <a:ea typeface="黑体" pitchFamily="2" charset="-122"/>
              </a:rPr>
              <a:t>MOV </a:t>
            </a:r>
            <a:r>
              <a:rPr lang="en-US" altLang="zh-CN" dirty="0">
                <a:solidFill>
                  <a:srgbClr val="FF0000"/>
                </a:solidFill>
                <a:latin typeface="黑体" pitchFamily="2" charset="-122"/>
                <a:ea typeface="黑体" pitchFamily="2" charset="-122"/>
              </a:rPr>
              <a:t>R0</a:t>
            </a:r>
            <a:r>
              <a:rPr lang="en-US" altLang="zh-CN" dirty="0">
                <a:latin typeface="黑体" pitchFamily="2" charset="-122"/>
                <a:ea typeface="黑体" pitchFamily="2" charset="-122"/>
              </a:rPr>
              <a:t>, 25</a:t>
            </a:r>
            <a:endParaRPr lang="zh-CN" altLang="en-US">
              <a:latin typeface="黑体" pitchFamily="2" charset="-122"/>
              <a:ea typeface="黑体" pitchFamily="2" charset="-122"/>
            </a:endParaRPr>
          </a:p>
        </p:txBody>
      </p:sp>
      <p:sp>
        <p:nvSpPr>
          <p:cNvPr id="19477" name="Rectangle 65"/>
          <p:cNvSpPr>
            <a:spLocks noChangeArrowheads="1"/>
          </p:cNvSpPr>
          <p:nvPr/>
        </p:nvSpPr>
        <p:spPr bwMode="auto">
          <a:xfrm>
            <a:off x="3471863" y="4779963"/>
            <a:ext cx="690562" cy="102235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grpSp>
        <p:nvGrpSpPr>
          <p:cNvPr id="19478" name="Group 66"/>
          <p:cNvGrpSpPr>
            <a:grpSpLocks/>
          </p:cNvGrpSpPr>
          <p:nvPr/>
        </p:nvGrpSpPr>
        <p:grpSpPr bwMode="auto">
          <a:xfrm>
            <a:off x="5543550" y="476250"/>
            <a:ext cx="2413000" cy="1547813"/>
            <a:chOff x="2154" y="290"/>
            <a:chExt cx="1294" cy="1046"/>
          </a:xfrm>
        </p:grpSpPr>
        <p:sp>
          <p:nvSpPr>
            <p:cNvPr id="19479" name="Text Box 67"/>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19480" name="Text Box 68"/>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19481" name="Text Box 69"/>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19482" name="Text Box 70"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9483" name="Text Box 71"/>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19484" name="Text Box 72"/>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9485" name="Text Box 73"/>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19486" name="Text Box 74"/>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19487" name="Text Box 75"/>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0483"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0484" name="Text Box 15"/>
          <p:cNvSpPr txBox="1">
            <a:spLocks noChangeArrowheads="1"/>
          </p:cNvSpPr>
          <p:nvPr/>
        </p:nvSpPr>
        <p:spPr bwMode="auto">
          <a:xfrm>
            <a:off x="827088" y="1520825"/>
            <a:ext cx="8066087"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(1)</a:t>
            </a:r>
            <a:r>
              <a:rPr lang="zh-CN" altLang="en-US">
                <a:latin typeface="黑体" pitchFamily="2" charset="-122"/>
                <a:ea typeface="黑体" pitchFamily="2" charset="-122"/>
              </a:rPr>
              <a:t>程序计数器</a:t>
            </a:r>
            <a:r>
              <a:rPr lang="en-US" altLang="zh-CN" dirty="0">
                <a:latin typeface="黑体" pitchFamily="2" charset="-122"/>
                <a:ea typeface="黑体" pitchFamily="2" charset="-122"/>
              </a:rPr>
              <a:t>PC </a:t>
            </a:r>
            <a:r>
              <a:rPr lang="zh-CN" altLang="en-US">
                <a:latin typeface="黑体" pitchFamily="2" charset="-122"/>
                <a:ea typeface="黑体" pitchFamily="2" charset="-122"/>
              </a:rPr>
              <a:t>（指令指针</a:t>
            </a:r>
            <a:r>
              <a:rPr lang="en-US" altLang="zh-CN" dirty="0">
                <a:latin typeface="黑体" pitchFamily="2" charset="-122"/>
                <a:ea typeface="黑体" pitchFamily="2" charset="-122"/>
              </a:rPr>
              <a:t>IP</a:t>
            </a:r>
            <a:r>
              <a:rPr lang="zh-CN" altLang="en-US">
                <a:latin typeface="黑体" pitchFamily="2" charset="-122"/>
                <a:ea typeface="黑体" pitchFamily="2" charset="-122"/>
              </a:rPr>
              <a:t>） </a:t>
            </a:r>
          </a:p>
          <a:p>
            <a:pPr eaLnBrk="1" hangingPunct="1">
              <a:spcBef>
                <a:spcPct val="0"/>
              </a:spcBef>
            </a:pPr>
            <a:r>
              <a:rPr lang="zh-CN" altLang="en-US">
                <a:latin typeface="黑体" pitchFamily="2" charset="-122"/>
                <a:ea typeface="黑体" pitchFamily="2" charset="-122"/>
              </a:rPr>
              <a:t>    用于提供读取指令的地址。</a:t>
            </a:r>
          </a:p>
          <a:p>
            <a:pPr eaLnBrk="1" hangingPunct="1">
              <a:spcBef>
                <a:spcPct val="0"/>
              </a:spcBef>
            </a:pPr>
            <a:r>
              <a:rPr lang="zh-CN" altLang="en-US">
                <a:latin typeface="黑体" pitchFamily="2" charset="-122"/>
                <a:ea typeface="黑体" pitchFamily="2" charset="-122"/>
              </a:rPr>
              <a:t>    通过</a:t>
            </a:r>
            <a:r>
              <a:rPr lang="en-US" altLang="zh-CN" dirty="0">
                <a:latin typeface="黑体" pitchFamily="2" charset="-122"/>
                <a:ea typeface="黑体" pitchFamily="2" charset="-122"/>
              </a:rPr>
              <a:t>PC</a:t>
            </a:r>
            <a:r>
              <a:rPr lang="zh-CN" altLang="en-US">
                <a:latin typeface="黑体" pitchFamily="2" charset="-122"/>
                <a:ea typeface="黑体" pitchFamily="2" charset="-122"/>
              </a:rPr>
              <a:t>内容的不断更新，控制执行指令序列的流向，从而产生所谓的</a:t>
            </a:r>
            <a:r>
              <a:rPr lang="zh-CN" altLang="en-US">
                <a:solidFill>
                  <a:srgbClr val="FF0000"/>
                </a:solidFill>
                <a:latin typeface="黑体" pitchFamily="2" charset="-122"/>
                <a:ea typeface="黑体" pitchFamily="2" charset="-122"/>
              </a:rPr>
              <a:t>控制流</a:t>
            </a:r>
            <a:r>
              <a:rPr lang="zh-CN" altLang="en-US">
                <a:latin typeface="黑体" pitchFamily="2" charset="-122"/>
                <a:ea typeface="黑体" pitchFamily="2" charset="-122"/>
              </a:rPr>
              <a:t>。</a:t>
            </a:r>
          </a:p>
        </p:txBody>
      </p:sp>
      <p:sp>
        <p:nvSpPr>
          <p:cNvPr id="20485" name="Rectangle 8"/>
          <p:cNvSpPr>
            <a:spLocks noChangeArrowheads="1"/>
          </p:cNvSpPr>
          <p:nvPr/>
        </p:nvSpPr>
        <p:spPr bwMode="auto">
          <a:xfrm>
            <a:off x="3167063" y="3644900"/>
            <a:ext cx="2165350" cy="2214563"/>
          </a:xfrm>
          <a:prstGeom prst="rect">
            <a:avLst/>
          </a:prstGeom>
          <a:solidFill>
            <a:srgbClr val="FFFFFF"/>
          </a:solidFill>
          <a:ln w="2857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86" name="Text Box 12"/>
          <p:cNvSpPr txBox="1">
            <a:spLocks noChangeArrowheads="1"/>
          </p:cNvSpPr>
          <p:nvPr/>
        </p:nvSpPr>
        <p:spPr bwMode="auto">
          <a:xfrm>
            <a:off x="3843338" y="5518150"/>
            <a:ext cx="719137"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20487" name="Rectangle 13"/>
          <p:cNvSpPr>
            <a:spLocks noChangeArrowheads="1"/>
          </p:cNvSpPr>
          <p:nvPr/>
        </p:nvSpPr>
        <p:spPr bwMode="auto">
          <a:xfrm>
            <a:off x="4479925" y="3816350"/>
            <a:ext cx="690563" cy="201613"/>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88" name="Rectangle 14"/>
          <p:cNvSpPr>
            <a:spLocks noChangeArrowheads="1"/>
          </p:cNvSpPr>
          <p:nvPr/>
        </p:nvSpPr>
        <p:spPr bwMode="auto">
          <a:xfrm>
            <a:off x="4479925" y="4078288"/>
            <a:ext cx="690563" cy="201612"/>
          </a:xfrm>
          <a:prstGeom prst="rect">
            <a:avLst/>
          </a:prstGeom>
          <a:solidFill>
            <a:srgbClr val="CC3300">
              <a:alpha val="50195"/>
            </a:srgbClr>
          </a:solidFill>
          <a:ln w="28575" algn="ctr">
            <a:solidFill>
              <a:srgbClr val="FF0000"/>
            </a:solidFill>
            <a:miter lim="800000"/>
            <a:headEnd/>
            <a:tailEnd/>
          </a:ln>
        </p:spPr>
        <p:txBody>
          <a:bodyPr wrap="none" anchor="ctr"/>
          <a:lstStyle/>
          <a:p>
            <a:pPr>
              <a:lnSpc>
                <a:spcPct val="100000"/>
              </a:lnSpc>
              <a:spcBef>
                <a:spcPct val="0"/>
              </a:spcBef>
            </a:pPr>
            <a:endParaRPr lang="zh-CN" altLang="en-US">
              <a:latin typeface="宋体" pitchFamily="2" charset="-122"/>
              <a:ea typeface="宋体" pitchFamily="2" charset="-122"/>
            </a:endParaRPr>
          </a:p>
        </p:txBody>
      </p:sp>
      <p:sp>
        <p:nvSpPr>
          <p:cNvPr id="20489" name="Rectangle 15"/>
          <p:cNvSpPr>
            <a:spLocks noChangeArrowheads="1"/>
          </p:cNvSpPr>
          <p:nvPr/>
        </p:nvSpPr>
        <p:spPr bwMode="auto">
          <a:xfrm>
            <a:off x="4479925" y="4527550"/>
            <a:ext cx="690563" cy="201613"/>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90" name="Rectangle 16"/>
          <p:cNvSpPr>
            <a:spLocks noChangeArrowheads="1"/>
          </p:cNvSpPr>
          <p:nvPr/>
        </p:nvSpPr>
        <p:spPr bwMode="auto">
          <a:xfrm>
            <a:off x="4479925" y="4527550"/>
            <a:ext cx="690563" cy="1022350"/>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91" name="Rectangle 17"/>
          <p:cNvSpPr>
            <a:spLocks noChangeArrowheads="1"/>
          </p:cNvSpPr>
          <p:nvPr/>
        </p:nvSpPr>
        <p:spPr bwMode="auto">
          <a:xfrm>
            <a:off x="4479925" y="4729163"/>
            <a:ext cx="690563" cy="201612"/>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92" name="Rectangle 18"/>
          <p:cNvSpPr>
            <a:spLocks noChangeArrowheads="1"/>
          </p:cNvSpPr>
          <p:nvPr/>
        </p:nvSpPr>
        <p:spPr bwMode="auto">
          <a:xfrm>
            <a:off x="4479925" y="5348288"/>
            <a:ext cx="690563" cy="201612"/>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0493" name="Text Box 19"/>
          <p:cNvSpPr txBox="1">
            <a:spLocks noChangeArrowheads="1"/>
          </p:cNvSpPr>
          <p:nvPr/>
        </p:nvSpPr>
        <p:spPr bwMode="auto">
          <a:xfrm>
            <a:off x="3940175" y="3800475"/>
            <a:ext cx="51276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IR</a:t>
            </a:r>
          </a:p>
        </p:txBody>
      </p:sp>
      <p:sp>
        <p:nvSpPr>
          <p:cNvPr id="20494" name="Text Box 20"/>
          <p:cNvSpPr txBox="1">
            <a:spLocks noChangeArrowheads="1"/>
          </p:cNvSpPr>
          <p:nvPr/>
        </p:nvSpPr>
        <p:spPr bwMode="auto">
          <a:xfrm>
            <a:off x="3965575" y="4032250"/>
            <a:ext cx="5143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solidFill>
                  <a:srgbClr val="FF0000"/>
                </a:solidFill>
                <a:latin typeface="黑体" pitchFamily="2" charset="-122"/>
                <a:ea typeface="黑体" pitchFamily="2" charset="-122"/>
              </a:rPr>
              <a:t>PC</a:t>
            </a:r>
            <a:endParaRPr kumimoji="1" lang="en-US" altLang="zh-CN" sz="2000" b="0" dirty="0">
              <a:solidFill>
                <a:srgbClr val="FF0000"/>
              </a:solidFill>
              <a:latin typeface="黑体" pitchFamily="2" charset="-122"/>
              <a:ea typeface="黑体" pitchFamily="2" charset="-122"/>
            </a:endParaRPr>
          </a:p>
        </p:txBody>
      </p:sp>
      <p:sp>
        <p:nvSpPr>
          <p:cNvPr id="20495" name="Text Box 21"/>
          <p:cNvSpPr txBox="1">
            <a:spLocks noChangeArrowheads="1"/>
          </p:cNvSpPr>
          <p:nvPr/>
        </p:nvSpPr>
        <p:spPr bwMode="auto">
          <a:xfrm>
            <a:off x="3965575" y="4481513"/>
            <a:ext cx="5143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20496" name="Text Box 22"/>
          <p:cNvSpPr txBox="1">
            <a:spLocks noChangeArrowheads="1"/>
          </p:cNvSpPr>
          <p:nvPr/>
        </p:nvSpPr>
        <p:spPr bwMode="auto">
          <a:xfrm>
            <a:off x="3965575" y="4683125"/>
            <a:ext cx="5143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20497" name="Text Box 23"/>
          <p:cNvSpPr txBox="1">
            <a:spLocks noChangeArrowheads="1"/>
          </p:cNvSpPr>
          <p:nvPr/>
        </p:nvSpPr>
        <p:spPr bwMode="auto">
          <a:xfrm>
            <a:off x="4479925" y="5008563"/>
            <a:ext cx="6905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20498" name="Freeform 37"/>
          <p:cNvSpPr>
            <a:spLocks/>
          </p:cNvSpPr>
          <p:nvPr/>
        </p:nvSpPr>
        <p:spPr bwMode="auto">
          <a:xfrm>
            <a:off x="3309938" y="4064000"/>
            <a:ext cx="671512" cy="339725"/>
          </a:xfrm>
          <a:custGeom>
            <a:avLst/>
            <a:gdLst>
              <a:gd name="T0" fmla="*/ 0 w 990"/>
              <a:gd name="T1" fmla="*/ 2147483647 h 352"/>
              <a:gd name="T2" fmla="*/ 2147483647 w 990"/>
              <a:gd name="T3" fmla="*/ 0 h 352"/>
              <a:gd name="T4" fmla="*/ 2147483647 w 990"/>
              <a:gd name="T5" fmla="*/ 0 h 352"/>
              <a:gd name="T6" fmla="*/ 2147483647 w 990"/>
              <a:gd name="T7" fmla="*/ 2147483647 h 352"/>
              <a:gd name="T8" fmla="*/ 2147483647 w 990"/>
              <a:gd name="T9" fmla="*/ 2147483647 h 352"/>
              <a:gd name="T10" fmla="*/ 2147483647 w 990"/>
              <a:gd name="T11" fmla="*/ 2147483647 h 352"/>
              <a:gd name="T12" fmla="*/ 2147483647 w 990"/>
              <a:gd name="T13" fmla="*/ 2147483647 h 352"/>
              <a:gd name="T14" fmla="*/ 0 w 990"/>
              <a:gd name="T15" fmla="*/ 2147483647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20499" name="Text Box 38"/>
          <p:cNvSpPr txBox="1">
            <a:spLocks noChangeArrowheads="1"/>
          </p:cNvSpPr>
          <p:nvPr/>
        </p:nvSpPr>
        <p:spPr bwMode="auto">
          <a:xfrm>
            <a:off x="3360738" y="4119563"/>
            <a:ext cx="584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20500" name="Rectangle 77"/>
          <p:cNvSpPr>
            <a:spLocks noChangeArrowheads="1"/>
          </p:cNvSpPr>
          <p:nvPr/>
        </p:nvSpPr>
        <p:spPr bwMode="auto">
          <a:xfrm>
            <a:off x="4475163" y="3819525"/>
            <a:ext cx="6905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grpSp>
        <p:nvGrpSpPr>
          <p:cNvPr id="20501" name="Group 57"/>
          <p:cNvGrpSpPr>
            <a:grpSpLocks/>
          </p:cNvGrpSpPr>
          <p:nvPr/>
        </p:nvGrpSpPr>
        <p:grpSpPr bwMode="auto">
          <a:xfrm>
            <a:off x="5543550" y="476250"/>
            <a:ext cx="2413000" cy="1547813"/>
            <a:chOff x="2154" y="290"/>
            <a:chExt cx="1294" cy="1046"/>
          </a:xfrm>
        </p:grpSpPr>
        <p:sp>
          <p:nvSpPr>
            <p:cNvPr id="20502" name="Text Box 58"/>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0503" name="Text Box 59"/>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0504" name="Text Box 60"/>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0505" name="Text Box 61"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0506" name="Text Box 62"/>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0507" name="Text Box 63"/>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0508" name="Text Box 64"/>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0509" name="Text Box 65"/>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0510" name="Text Box 66"/>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1507"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1508" name="Text Box 14"/>
          <p:cNvSpPr txBox="1">
            <a:spLocks noChangeArrowheads="1"/>
          </p:cNvSpPr>
          <p:nvPr/>
        </p:nvSpPr>
        <p:spPr bwMode="auto">
          <a:xfrm>
            <a:off x="827088" y="1520825"/>
            <a:ext cx="8066087"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(2)</a:t>
            </a:r>
            <a:r>
              <a:rPr lang="zh-CN" altLang="en-US" dirty="0">
                <a:latin typeface="黑体" pitchFamily="2" charset="-122"/>
                <a:ea typeface="黑体" pitchFamily="2" charset="-122"/>
              </a:rPr>
              <a:t>指令寄存器</a:t>
            </a:r>
            <a:r>
              <a:rPr lang="en-US" altLang="zh-CN" dirty="0">
                <a:latin typeface="黑体" pitchFamily="2" charset="-122"/>
                <a:ea typeface="黑体" pitchFamily="2" charset="-122"/>
              </a:rPr>
              <a:t>IR </a:t>
            </a:r>
            <a:endParaRPr lang="zh-CN" altLang="en-US" dirty="0">
              <a:latin typeface="黑体" pitchFamily="2" charset="-122"/>
              <a:ea typeface="黑体" pitchFamily="2" charset="-122"/>
            </a:endParaRPr>
          </a:p>
          <a:p>
            <a:pPr eaLnBrk="1" hangingPunct="1">
              <a:spcBef>
                <a:spcPct val="0"/>
              </a:spcBef>
            </a:pPr>
            <a:r>
              <a:rPr lang="zh-CN" altLang="en-US" dirty="0">
                <a:latin typeface="黑体" pitchFamily="2" charset="-122"/>
                <a:ea typeface="黑体" pitchFamily="2" charset="-122"/>
              </a:rPr>
              <a:t>    用于存放现行指令。</a:t>
            </a:r>
          </a:p>
          <a:p>
            <a:pPr eaLnBrk="1" hangingPunct="1">
              <a:spcBef>
                <a:spcPct val="0"/>
              </a:spcBef>
            </a:pPr>
            <a:r>
              <a:rPr lang="zh-CN" altLang="en-US" dirty="0">
                <a:latin typeface="黑体" pitchFamily="2" charset="-122"/>
                <a:ea typeface="黑体" pitchFamily="2" charset="-122"/>
              </a:rPr>
              <a:t>    为提高读取指令的速度，大多数计算机都将指令寄存器扩充为</a:t>
            </a:r>
            <a:r>
              <a:rPr lang="zh-CN" altLang="en-US" dirty="0">
                <a:solidFill>
                  <a:srgbClr val="FF0000"/>
                </a:solidFill>
                <a:latin typeface="黑体" pitchFamily="2" charset="-122"/>
                <a:ea typeface="黑体" pitchFamily="2" charset="-122"/>
              </a:rPr>
              <a:t>指令队列</a:t>
            </a:r>
            <a:r>
              <a:rPr lang="zh-CN" altLang="en-US" dirty="0">
                <a:latin typeface="黑体" pitchFamily="2" charset="-122"/>
                <a:ea typeface="黑体" pitchFamily="2" charset="-122"/>
              </a:rPr>
              <a:t>（或称</a:t>
            </a:r>
            <a:r>
              <a:rPr lang="zh-CN" altLang="en-US" dirty="0">
                <a:solidFill>
                  <a:srgbClr val="FF0000"/>
                </a:solidFill>
                <a:latin typeface="黑体" pitchFamily="2" charset="-122"/>
                <a:ea typeface="黑体" pitchFamily="2" charset="-122"/>
              </a:rPr>
              <a:t>指令栈</a:t>
            </a:r>
            <a:r>
              <a:rPr lang="zh-CN" altLang="en-US" dirty="0">
                <a:latin typeface="黑体" pitchFamily="2" charset="-122"/>
                <a:ea typeface="黑体" pitchFamily="2" charset="-122"/>
              </a:rPr>
              <a:t>），允许预取若干条指令，甚至有的还引入了指令</a:t>
            </a:r>
            <a:r>
              <a:rPr lang="en-US" altLang="zh-CN" dirty="0">
                <a:latin typeface="黑体" pitchFamily="2" charset="-122"/>
                <a:ea typeface="黑体" pitchFamily="2" charset="-122"/>
              </a:rPr>
              <a:t>Cache.</a:t>
            </a:r>
            <a:endParaRPr lang="zh-CN" altLang="en-US" dirty="0">
              <a:latin typeface="黑体" pitchFamily="2" charset="-122"/>
              <a:ea typeface="黑体" pitchFamily="2" charset="-122"/>
            </a:endParaRPr>
          </a:p>
          <a:p>
            <a:pPr algn="just" eaLnBrk="1" hangingPunct="1">
              <a:spcBef>
                <a:spcPct val="0"/>
              </a:spcBef>
            </a:pPr>
            <a:endParaRPr lang="zh-CN" altLang="en-US" dirty="0">
              <a:latin typeface="黑体" pitchFamily="2" charset="-122"/>
              <a:ea typeface="黑体" pitchFamily="2" charset="-122"/>
            </a:endParaRPr>
          </a:p>
        </p:txBody>
      </p:sp>
      <p:grpSp>
        <p:nvGrpSpPr>
          <p:cNvPr id="21509" name="Group 31"/>
          <p:cNvGrpSpPr>
            <a:grpSpLocks/>
          </p:cNvGrpSpPr>
          <p:nvPr/>
        </p:nvGrpSpPr>
        <p:grpSpPr bwMode="auto">
          <a:xfrm>
            <a:off x="3167063" y="4094163"/>
            <a:ext cx="2165350" cy="2214562"/>
            <a:chOff x="1995" y="2386"/>
            <a:chExt cx="1364" cy="1395"/>
          </a:xfrm>
        </p:grpSpPr>
        <p:sp>
          <p:nvSpPr>
            <p:cNvPr id="21520" name="Rectangle 8"/>
            <p:cNvSpPr>
              <a:spLocks noChangeArrowheads="1"/>
            </p:cNvSpPr>
            <p:nvPr/>
          </p:nvSpPr>
          <p:spPr bwMode="auto">
            <a:xfrm>
              <a:off x="1995" y="2386"/>
              <a:ext cx="1364" cy="1395"/>
            </a:xfrm>
            <a:prstGeom prst="rect">
              <a:avLst/>
            </a:prstGeom>
            <a:solidFill>
              <a:srgbClr val="FFFFFF"/>
            </a:solidFill>
            <a:ln w="2857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1" name="Text Box 12"/>
            <p:cNvSpPr txBox="1">
              <a:spLocks noChangeArrowheads="1"/>
            </p:cNvSpPr>
            <p:nvPr/>
          </p:nvSpPr>
          <p:spPr bwMode="auto">
            <a:xfrm>
              <a:off x="2421" y="3566"/>
              <a:ext cx="45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ts val="300"/>
                </a:spcBef>
              </a:pPr>
              <a:r>
                <a:rPr kumimoji="1" lang="en-US" altLang="zh-CN" sz="2000" dirty="0">
                  <a:latin typeface="黑体" pitchFamily="2" charset="-122"/>
                  <a:ea typeface="黑体" pitchFamily="2" charset="-122"/>
                </a:rPr>
                <a:t>CPU</a:t>
              </a:r>
            </a:p>
          </p:txBody>
        </p:sp>
        <p:sp>
          <p:nvSpPr>
            <p:cNvPr id="21522" name="Rectangle 13"/>
            <p:cNvSpPr>
              <a:spLocks noChangeArrowheads="1"/>
            </p:cNvSpPr>
            <p:nvPr/>
          </p:nvSpPr>
          <p:spPr bwMode="auto">
            <a:xfrm>
              <a:off x="2822" y="2494"/>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3" name="Rectangle 14"/>
            <p:cNvSpPr>
              <a:spLocks noChangeArrowheads="1"/>
            </p:cNvSpPr>
            <p:nvPr/>
          </p:nvSpPr>
          <p:spPr bwMode="auto">
            <a:xfrm>
              <a:off x="2822" y="2659"/>
              <a:ext cx="435" cy="12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spcBef>
                  <a:spcPct val="0"/>
                </a:spcBef>
              </a:pPr>
              <a:endParaRPr lang="zh-CN" altLang="en-US">
                <a:latin typeface="宋体" pitchFamily="2" charset="-122"/>
                <a:ea typeface="宋体" pitchFamily="2" charset="-122"/>
              </a:endParaRPr>
            </a:p>
          </p:txBody>
        </p:sp>
        <p:sp>
          <p:nvSpPr>
            <p:cNvPr id="21524" name="Rectangle 15"/>
            <p:cNvSpPr>
              <a:spLocks noChangeArrowheads="1"/>
            </p:cNvSpPr>
            <p:nvPr/>
          </p:nvSpPr>
          <p:spPr bwMode="auto">
            <a:xfrm>
              <a:off x="2822" y="2942"/>
              <a:ext cx="435" cy="127"/>
            </a:xfrm>
            <a:prstGeom prst="rect">
              <a:avLst/>
            </a:prstGeom>
            <a:solidFill>
              <a:srgbClr val="FFFFFF"/>
            </a:solidFill>
            <a:ln w="9525">
              <a:solidFill>
                <a:srgbClr val="00000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5" name="Rectangle 16"/>
            <p:cNvSpPr>
              <a:spLocks noChangeArrowheads="1"/>
            </p:cNvSpPr>
            <p:nvPr/>
          </p:nvSpPr>
          <p:spPr bwMode="auto">
            <a:xfrm>
              <a:off x="2822" y="2942"/>
              <a:ext cx="435" cy="644"/>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6" name="Rectangle 17"/>
            <p:cNvSpPr>
              <a:spLocks noChangeArrowheads="1"/>
            </p:cNvSpPr>
            <p:nvPr/>
          </p:nvSpPr>
          <p:spPr bwMode="auto">
            <a:xfrm>
              <a:off x="2822" y="306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7" name="Rectangle 18"/>
            <p:cNvSpPr>
              <a:spLocks noChangeArrowheads="1"/>
            </p:cNvSpPr>
            <p:nvPr/>
          </p:nvSpPr>
          <p:spPr bwMode="auto">
            <a:xfrm>
              <a:off x="2822" y="3459"/>
              <a:ext cx="435" cy="127"/>
            </a:xfrm>
            <a:prstGeom prst="rect">
              <a:avLst/>
            </a:prstGeom>
            <a:solidFill>
              <a:srgbClr val="FFFFFF"/>
            </a:solidFill>
            <a:ln w="9525">
              <a:solidFill>
                <a:srgbClr val="000080"/>
              </a:solidFill>
              <a:miter lim="800000"/>
              <a:headEnd/>
              <a:tailEnd/>
            </a:ln>
          </p:spPr>
          <p:txBody>
            <a:bodyPr/>
            <a:lstStyle/>
            <a:p>
              <a:pPr>
                <a:lnSpc>
                  <a:spcPct val="100000"/>
                </a:lnSpc>
                <a:spcBef>
                  <a:spcPct val="0"/>
                </a:spcBef>
              </a:pPr>
              <a:endParaRPr lang="zh-CN" altLang="en-US">
                <a:latin typeface="黑体" pitchFamily="2" charset="-122"/>
                <a:ea typeface="黑体" pitchFamily="2" charset="-122"/>
              </a:endParaRPr>
            </a:p>
          </p:txBody>
        </p:sp>
        <p:sp>
          <p:nvSpPr>
            <p:cNvPr id="21528" name="Text Box 19"/>
            <p:cNvSpPr txBox="1">
              <a:spLocks noChangeArrowheads="1"/>
            </p:cNvSpPr>
            <p:nvPr/>
          </p:nvSpPr>
          <p:spPr bwMode="auto">
            <a:xfrm>
              <a:off x="2482" y="2484"/>
              <a:ext cx="32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solidFill>
                    <a:srgbClr val="FF0000"/>
                  </a:solidFill>
                  <a:latin typeface="黑体" pitchFamily="2" charset="-122"/>
                  <a:ea typeface="黑体" pitchFamily="2" charset="-122"/>
                </a:rPr>
                <a:t>IR</a:t>
              </a:r>
            </a:p>
          </p:txBody>
        </p:sp>
        <p:sp>
          <p:nvSpPr>
            <p:cNvPr id="21529" name="Text Box 20"/>
            <p:cNvSpPr txBox="1">
              <a:spLocks noChangeArrowheads="1"/>
            </p:cNvSpPr>
            <p:nvPr/>
          </p:nvSpPr>
          <p:spPr bwMode="auto">
            <a:xfrm>
              <a:off x="2498" y="263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PC</a:t>
              </a:r>
            </a:p>
          </p:txBody>
        </p:sp>
        <p:sp>
          <p:nvSpPr>
            <p:cNvPr id="21530" name="Text Box 21"/>
            <p:cNvSpPr txBox="1">
              <a:spLocks noChangeArrowheads="1"/>
            </p:cNvSpPr>
            <p:nvPr/>
          </p:nvSpPr>
          <p:spPr bwMode="auto">
            <a:xfrm>
              <a:off x="2498" y="2913"/>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R0</a:t>
              </a:r>
              <a:endParaRPr kumimoji="1" lang="en-US" altLang="zh-CN" sz="2000" b="0" dirty="0">
                <a:latin typeface="黑体" pitchFamily="2" charset="-122"/>
                <a:ea typeface="黑体" pitchFamily="2" charset="-122"/>
              </a:endParaRPr>
            </a:p>
          </p:txBody>
        </p:sp>
        <p:sp>
          <p:nvSpPr>
            <p:cNvPr id="21531" name="Text Box 22"/>
            <p:cNvSpPr txBox="1">
              <a:spLocks noChangeArrowheads="1"/>
            </p:cNvSpPr>
            <p:nvPr/>
          </p:nvSpPr>
          <p:spPr bwMode="auto">
            <a:xfrm>
              <a:off x="2498" y="3040"/>
              <a:ext cx="32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R1</a:t>
              </a:r>
              <a:endParaRPr kumimoji="1" lang="en-US" altLang="zh-CN" sz="2000" b="0" dirty="0">
                <a:latin typeface="黑体" pitchFamily="2" charset="-122"/>
                <a:ea typeface="黑体" pitchFamily="2" charset="-122"/>
              </a:endParaRPr>
            </a:p>
          </p:txBody>
        </p:sp>
        <p:sp>
          <p:nvSpPr>
            <p:cNvPr id="21532" name="Text Box 23"/>
            <p:cNvSpPr txBox="1">
              <a:spLocks noChangeArrowheads="1"/>
            </p:cNvSpPr>
            <p:nvPr/>
          </p:nvSpPr>
          <p:spPr bwMode="auto">
            <a:xfrm>
              <a:off x="2822" y="3245"/>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b="0" dirty="0">
                  <a:latin typeface="宋体" pitchFamily="2" charset="-122"/>
                  <a:ea typeface="黑体" pitchFamily="2" charset="-122"/>
                </a:rPr>
                <a:t>……</a:t>
              </a:r>
              <a:endParaRPr kumimoji="1" lang="en-US" altLang="zh-CN" sz="2000" b="0" dirty="0">
                <a:latin typeface="黑体" pitchFamily="2" charset="-122"/>
                <a:ea typeface="黑体" pitchFamily="2" charset="-122"/>
              </a:endParaRPr>
            </a:p>
          </p:txBody>
        </p:sp>
        <p:sp>
          <p:nvSpPr>
            <p:cNvPr id="21533" name="Freeform 37"/>
            <p:cNvSpPr>
              <a:spLocks/>
            </p:cNvSpPr>
            <p:nvPr/>
          </p:nvSpPr>
          <p:spPr bwMode="auto">
            <a:xfrm>
              <a:off x="2085" y="2650"/>
              <a:ext cx="423" cy="214"/>
            </a:xfrm>
            <a:custGeom>
              <a:avLst/>
              <a:gdLst>
                <a:gd name="T0" fmla="*/ 0 w 990"/>
                <a:gd name="T1" fmla="*/ 1 h 352"/>
                <a:gd name="T2" fmla="*/ 0 w 990"/>
                <a:gd name="T3" fmla="*/ 0 h 352"/>
                <a:gd name="T4" fmla="*/ 0 w 990"/>
                <a:gd name="T5" fmla="*/ 0 h 352"/>
                <a:gd name="T6" fmla="*/ 0 w 990"/>
                <a:gd name="T7" fmla="*/ 1 h 352"/>
                <a:gd name="T8" fmla="*/ 0 w 990"/>
                <a:gd name="T9" fmla="*/ 1 h 352"/>
                <a:gd name="T10" fmla="*/ 0 w 990"/>
                <a:gd name="T11" fmla="*/ 1 h 352"/>
                <a:gd name="T12" fmla="*/ 0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9525" cap="flat" cmpd="sng">
              <a:solidFill>
                <a:srgbClr val="000080"/>
              </a:solidFill>
              <a:prstDash val="solid"/>
              <a:round/>
              <a:headEnd/>
              <a:tailEnd/>
            </a:ln>
          </p:spPr>
          <p:txBody>
            <a:bodyPr/>
            <a:lstStyle/>
            <a:p>
              <a:endParaRPr lang="zh-CN" altLang="en-US"/>
            </a:p>
          </p:txBody>
        </p:sp>
        <p:sp>
          <p:nvSpPr>
            <p:cNvPr id="21534" name="Text Box 38"/>
            <p:cNvSpPr txBox="1">
              <a:spLocks noChangeArrowheads="1"/>
            </p:cNvSpPr>
            <p:nvPr/>
          </p:nvSpPr>
          <p:spPr bwMode="auto">
            <a:xfrm>
              <a:off x="2117" y="2685"/>
              <a:ext cx="36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en-US" altLang="zh-CN" sz="2000" dirty="0">
                  <a:latin typeface="黑体" pitchFamily="2" charset="-122"/>
                  <a:ea typeface="黑体" pitchFamily="2" charset="-122"/>
                </a:rPr>
                <a:t>ALU</a:t>
              </a:r>
              <a:endParaRPr kumimoji="1" lang="en-US" altLang="zh-CN" sz="2000" b="0" dirty="0">
                <a:latin typeface="黑体" pitchFamily="2" charset="-122"/>
                <a:ea typeface="黑体" pitchFamily="2" charset="-122"/>
              </a:endParaRPr>
            </a:p>
          </p:txBody>
        </p:sp>
        <p:sp>
          <p:nvSpPr>
            <p:cNvPr id="21535" name="Rectangle 77"/>
            <p:cNvSpPr>
              <a:spLocks noChangeArrowheads="1"/>
            </p:cNvSpPr>
            <p:nvPr/>
          </p:nvSpPr>
          <p:spPr bwMode="auto">
            <a:xfrm>
              <a:off x="2819" y="2496"/>
              <a:ext cx="435" cy="134"/>
            </a:xfrm>
            <a:prstGeom prst="rect">
              <a:avLst/>
            </a:prstGeom>
            <a:solidFill>
              <a:srgbClr val="CC3300">
                <a:alpha val="50195"/>
              </a:srgbClr>
            </a:solidFill>
            <a:ln w="28575" algn="ctr">
              <a:solidFill>
                <a:srgbClr val="FF0000"/>
              </a:solidFill>
              <a:miter lim="800000"/>
              <a:headEnd/>
              <a:tailEnd/>
            </a:ln>
          </p:spPr>
          <p:txBody>
            <a:bodyPr wrap="none" anchor="ctr"/>
            <a:lstStyle/>
            <a:p>
              <a:pPr>
                <a:lnSpc>
                  <a:spcPct val="100000"/>
                </a:lnSpc>
                <a:spcBef>
                  <a:spcPct val="0"/>
                </a:spcBef>
              </a:pPr>
              <a:endParaRPr lang="zh-CN" altLang="en-US">
                <a:latin typeface="宋体" pitchFamily="2" charset="-122"/>
                <a:ea typeface="宋体" pitchFamily="2" charset="-122"/>
              </a:endParaRPr>
            </a:p>
          </p:txBody>
        </p:sp>
      </p:grpSp>
      <p:grpSp>
        <p:nvGrpSpPr>
          <p:cNvPr id="21510" name="Group 68"/>
          <p:cNvGrpSpPr>
            <a:grpSpLocks/>
          </p:cNvGrpSpPr>
          <p:nvPr/>
        </p:nvGrpSpPr>
        <p:grpSpPr bwMode="auto">
          <a:xfrm>
            <a:off x="5543550" y="476250"/>
            <a:ext cx="2413000" cy="1547813"/>
            <a:chOff x="2154" y="290"/>
            <a:chExt cx="1294" cy="1046"/>
          </a:xfrm>
        </p:grpSpPr>
        <p:sp>
          <p:nvSpPr>
            <p:cNvPr id="21511" name="Text Box 69"/>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1512" name="Text Box 70"/>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1513" name="Text Box 71"/>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1514" name="Text Box 72"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1515" name="Text Box 73"/>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1516" name="Text Box 74"/>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1517" name="Text Box 75"/>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1518" name="Text Box 76"/>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1519" name="Text Box 77"/>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2531"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2532" name="Text Box 4"/>
          <p:cNvSpPr txBox="1">
            <a:spLocks noChangeArrowheads="1"/>
          </p:cNvSpPr>
          <p:nvPr/>
        </p:nvSpPr>
        <p:spPr bwMode="auto">
          <a:xfrm>
            <a:off x="827088" y="1520825"/>
            <a:ext cx="8316912"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(3)</a:t>
            </a:r>
            <a:r>
              <a:rPr lang="zh-CN" altLang="en-US">
                <a:latin typeface="黑体" pitchFamily="2" charset="-122"/>
                <a:ea typeface="黑体" pitchFamily="2" charset="-122"/>
              </a:rPr>
              <a:t>暂存器 </a:t>
            </a:r>
          </a:p>
          <a:p>
            <a:pPr eaLnBrk="1" hangingPunct="1">
              <a:spcBef>
                <a:spcPct val="0"/>
              </a:spcBef>
            </a:pPr>
            <a:r>
              <a:rPr lang="zh-CN" altLang="en-US">
                <a:latin typeface="黑体" pitchFamily="2" charset="-122"/>
                <a:ea typeface="黑体" pitchFamily="2" charset="-122"/>
              </a:rPr>
              <a:t>    用户不能直接访问的寄存器，用来暂存信息。</a:t>
            </a:r>
          </a:p>
        </p:txBody>
      </p:sp>
      <p:sp>
        <p:nvSpPr>
          <p:cNvPr id="22533" name="Text Box 33"/>
          <p:cNvSpPr txBox="1">
            <a:spLocks noChangeArrowheads="1"/>
          </p:cNvSpPr>
          <p:nvPr/>
        </p:nvSpPr>
        <p:spPr bwMode="auto">
          <a:xfrm>
            <a:off x="1403350" y="2673350"/>
            <a:ext cx="774065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例如：源寄存器</a:t>
            </a:r>
          </a:p>
          <a:p>
            <a:pPr eaLnBrk="1" hangingPunct="1">
              <a:spcBef>
                <a:spcPct val="0"/>
              </a:spcBef>
            </a:pPr>
            <a:r>
              <a:rPr lang="zh-CN" altLang="en-US">
                <a:latin typeface="黑体" pitchFamily="2" charset="-122"/>
                <a:ea typeface="黑体" pitchFamily="2" charset="-122"/>
              </a:rPr>
              <a:t>      暂存寄存器等。</a:t>
            </a:r>
          </a:p>
        </p:txBody>
      </p:sp>
      <p:grpSp>
        <p:nvGrpSpPr>
          <p:cNvPr id="22534" name="Group 96"/>
          <p:cNvGrpSpPr>
            <a:grpSpLocks/>
          </p:cNvGrpSpPr>
          <p:nvPr/>
        </p:nvGrpSpPr>
        <p:grpSpPr bwMode="auto">
          <a:xfrm>
            <a:off x="5543550" y="476250"/>
            <a:ext cx="2413000" cy="1547813"/>
            <a:chOff x="2154" y="290"/>
            <a:chExt cx="1294" cy="1046"/>
          </a:xfrm>
        </p:grpSpPr>
        <p:sp>
          <p:nvSpPr>
            <p:cNvPr id="22535" name="Text Box 97"/>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2536" name="Text Box 98"/>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2537" name="Text Box 99"/>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2538" name="Text Box 100"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2539" name="Text Box 101"/>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2540" name="Text Box 102"/>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2541" name="Text Box 103"/>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2542" name="Text Box 104"/>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2543" name="Text Box 105"/>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3555"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3556" name="Text Box 16"/>
          <p:cNvSpPr txBox="1">
            <a:spLocks noChangeArrowheads="1"/>
          </p:cNvSpPr>
          <p:nvPr/>
        </p:nvSpPr>
        <p:spPr bwMode="auto">
          <a:xfrm>
            <a:off x="827088" y="1484313"/>
            <a:ext cx="7885112"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状态寄存器</a:t>
            </a:r>
            <a:r>
              <a:rPr lang="en-US" altLang="zh-CN" dirty="0">
                <a:latin typeface="黑体" pitchFamily="2" charset="-122"/>
                <a:ea typeface="黑体" pitchFamily="2" charset="-122"/>
              </a:rPr>
              <a:t>PSW </a:t>
            </a:r>
          </a:p>
          <a:p>
            <a:pPr eaLnBrk="1" hangingPunct="1">
              <a:spcBef>
                <a:spcPct val="0"/>
              </a:spcBef>
            </a:pPr>
            <a:r>
              <a:rPr lang="zh-CN" altLang="en-US">
                <a:latin typeface="黑体" pitchFamily="2" charset="-122"/>
                <a:ea typeface="黑体" pitchFamily="2" charset="-122"/>
              </a:rPr>
              <a:t>    用于指示</a:t>
            </a:r>
            <a:r>
              <a:rPr lang="en-US" altLang="zh-CN" dirty="0">
                <a:latin typeface="黑体" pitchFamily="2" charset="-122"/>
                <a:ea typeface="黑体" pitchFamily="2" charset="-122"/>
              </a:rPr>
              <a:t>CPU</a:t>
            </a:r>
            <a:r>
              <a:rPr lang="zh-CN" altLang="en-US">
                <a:latin typeface="黑体" pitchFamily="2" charset="-122"/>
                <a:ea typeface="黑体" pitchFamily="2" charset="-122"/>
              </a:rPr>
              <a:t>的工作方式、算逻运算指令运行结果的特征等。</a:t>
            </a:r>
          </a:p>
          <a:p>
            <a:pPr eaLnBrk="1" hangingPunct="1">
              <a:spcBef>
                <a:spcPct val="0"/>
              </a:spcBef>
            </a:pPr>
            <a:endParaRPr lang="zh-CN" altLang="en-US">
              <a:latin typeface="黑体" pitchFamily="2" charset="-122"/>
              <a:ea typeface="黑体" pitchFamily="2" charset="-122"/>
            </a:endParaRPr>
          </a:p>
          <a:p>
            <a:pPr eaLnBrk="1" hangingPunct="1">
              <a:spcBef>
                <a:spcPct val="0"/>
              </a:spcBef>
            </a:pPr>
            <a:endParaRPr lang="zh-CN" altLang="en-US">
              <a:latin typeface="黑体" pitchFamily="2" charset="-122"/>
              <a:ea typeface="黑体" pitchFamily="2" charset="-122"/>
            </a:endParaRPr>
          </a:p>
          <a:p>
            <a:pPr eaLnBrk="1" hangingPunct="1">
              <a:spcBef>
                <a:spcPct val="0"/>
              </a:spcBef>
            </a:pPr>
            <a:endParaRPr lang="zh-CN" altLang="en-US">
              <a:latin typeface="黑体" pitchFamily="2" charset="-122"/>
              <a:ea typeface="黑体" pitchFamily="2" charset="-122"/>
            </a:endParaRPr>
          </a:p>
          <a:p>
            <a:pPr eaLnBrk="1" hangingPunct="1">
              <a:spcBef>
                <a:spcPct val="0"/>
              </a:spcBef>
            </a:pPr>
            <a:endParaRPr lang="zh-CN" altLang="en-US">
              <a:latin typeface="黑体" pitchFamily="2" charset="-122"/>
              <a:ea typeface="黑体" pitchFamily="2" charset="-122"/>
            </a:endParaRPr>
          </a:p>
          <a:p>
            <a:pPr eaLnBrk="1" hangingPunct="1">
              <a:spcBef>
                <a:spcPct val="0"/>
              </a:spcBef>
            </a:pPr>
            <a:endParaRPr lang="zh-CN" altLang="en-US">
              <a:latin typeface="黑体" pitchFamily="2" charset="-122"/>
              <a:ea typeface="黑体" pitchFamily="2" charset="-122"/>
            </a:endParaRPr>
          </a:p>
          <a:p>
            <a:pPr eaLnBrk="1" hangingPunct="1">
              <a:spcBef>
                <a:spcPct val="0"/>
              </a:spcBef>
            </a:pPr>
            <a:endParaRPr lang="zh-CN" altLang="en-US">
              <a:latin typeface="黑体" pitchFamily="2" charset="-122"/>
              <a:ea typeface="黑体" pitchFamily="2" charset="-122"/>
            </a:endParaRPr>
          </a:p>
          <a:p>
            <a:pPr eaLnBrk="1" hangingPunct="1">
              <a:spcBef>
                <a:spcPct val="0"/>
              </a:spcBef>
            </a:pPr>
            <a:r>
              <a:rPr lang="zh-CN" altLang="en-US">
                <a:latin typeface="黑体" pitchFamily="2" charset="-122"/>
                <a:ea typeface="黑体" pitchFamily="2" charset="-122"/>
              </a:rPr>
              <a:t>    不同档次的计算机，其</a:t>
            </a:r>
            <a:r>
              <a:rPr lang="en-US" altLang="zh-CN" dirty="0">
                <a:latin typeface="黑体" pitchFamily="2" charset="-122"/>
                <a:ea typeface="黑体" pitchFamily="2" charset="-122"/>
              </a:rPr>
              <a:t>PSW</a:t>
            </a:r>
            <a:r>
              <a:rPr lang="zh-CN" altLang="en-US">
                <a:latin typeface="黑体" pitchFamily="2" charset="-122"/>
                <a:ea typeface="黑体" pitchFamily="2" charset="-122"/>
              </a:rPr>
              <a:t>的内容可能相差很大。</a:t>
            </a:r>
          </a:p>
        </p:txBody>
      </p:sp>
      <p:grpSp>
        <p:nvGrpSpPr>
          <p:cNvPr id="23557" name="Group 78"/>
          <p:cNvGrpSpPr>
            <a:grpSpLocks/>
          </p:cNvGrpSpPr>
          <p:nvPr/>
        </p:nvGrpSpPr>
        <p:grpSpPr bwMode="auto">
          <a:xfrm>
            <a:off x="1150938" y="2960688"/>
            <a:ext cx="7596187" cy="2447925"/>
            <a:chOff x="725" y="1865"/>
            <a:chExt cx="4785" cy="1542"/>
          </a:xfrm>
        </p:grpSpPr>
        <p:sp>
          <p:nvSpPr>
            <p:cNvPr id="23589" name="Freeform 56"/>
            <p:cNvSpPr>
              <a:spLocks/>
            </p:cNvSpPr>
            <p:nvPr/>
          </p:nvSpPr>
          <p:spPr bwMode="auto">
            <a:xfrm>
              <a:off x="1791" y="2341"/>
              <a:ext cx="1406" cy="318"/>
            </a:xfrm>
            <a:custGeom>
              <a:avLst/>
              <a:gdLst>
                <a:gd name="T0" fmla="*/ 1406 w 1406"/>
                <a:gd name="T1" fmla="*/ 6954 h 68"/>
                <a:gd name="T2" fmla="*/ 1406 w 1406"/>
                <a:gd name="T3" fmla="*/ 0 h 68"/>
                <a:gd name="T4" fmla="*/ 0 w 1406"/>
                <a:gd name="T5" fmla="*/ 0 h 68"/>
                <a:gd name="T6" fmla="*/ 0 60000 65536"/>
                <a:gd name="T7" fmla="*/ 0 60000 65536"/>
                <a:gd name="T8" fmla="*/ 0 60000 65536"/>
                <a:gd name="T9" fmla="*/ 0 w 1406"/>
                <a:gd name="T10" fmla="*/ 0 h 68"/>
                <a:gd name="T11" fmla="*/ 1406 w 1406"/>
                <a:gd name="T12" fmla="*/ 68 h 68"/>
              </a:gdLst>
              <a:ahLst/>
              <a:cxnLst>
                <a:cxn ang="T6">
                  <a:pos x="T0" y="T1"/>
                </a:cxn>
                <a:cxn ang="T7">
                  <a:pos x="T2" y="T3"/>
                </a:cxn>
                <a:cxn ang="T8">
                  <a:pos x="T4" y="T5"/>
                </a:cxn>
              </a:cxnLst>
              <a:rect l="T9" t="T10" r="T11" b="T12"/>
              <a:pathLst>
                <a:path w="1406" h="68">
                  <a:moveTo>
                    <a:pt x="1406" y="68"/>
                  </a:moveTo>
                  <a:lnTo>
                    <a:pt x="1406" y="0"/>
                  </a:lnTo>
                  <a:lnTo>
                    <a:pt x="0" y="0"/>
                  </a:lnTo>
                </a:path>
              </a:pathLst>
            </a:custGeom>
            <a:noFill/>
            <a:ln w="28575" cap="flat" cmpd="sng">
              <a:solidFill>
                <a:srgbClr val="000099"/>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3568" name="Text Box 18"/>
            <p:cNvSpPr txBox="1">
              <a:spLocks noChangeArrowheads="1"/>
            </p:cNvSpPr>
            <p:nvPr/>
          </p:nvSpPr>
          <p:spPr bwMode="auto">
            <a:xfrm>
              <a:off x="2233" y="2795"/>
              <a:ext cx="1072" cy="246"/>
            </a:xfrm>
            <a:prstGeom prst="rect">
              <a:avLst/>
            </a:prstGeom>
            <a:solidFill>
              <a:srgbClr val="FFFFCC"/>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选择器／锁存器</a:t>
              </a:r>
            </a:p>
          </p:txBody>
        </p:sp>
        <p:sp>
          <p:nvSpPr>
            <p:cNvPr id="23569" name="Freeform 19"/>
            <p:cNvSpPr>
              <a:spLocks/>
            </p:cNvSpPr>
            <p:nvPr/>
          </p:nvSpPr>
          <p:spPr bwMode="auto">
            <a:xfrm>
              <a:off x="2699" y="2398"/>
              <a:ext cx="1333" cy="266"/>
            </a:xfrm>
            <a:custGeom>
              <a:avLst/>
              <a:gdLst>
                <a:gd name="T0" fmla="*/ 0 w 1978"/>
                <a:gd name="T1" fmla="*/ 1 h 486"/>
                <a:gd name="T2" fmla="*/ 1 w 1978"/>
                <a:gd name="T3" fmla="*/ 0 h 486"/>
                <a:gd name="T4" fmla="*/ 4 w 1978"/>
                <a:gd name="T5" fmla="*/ 0 h 486"/>
                <a:gd name="T6" fmla="*/ 5 w 1978"/>
                <a:gd name="T7" fmla="*/ 1 h 486"/>
                <a:gd name="T8" fmla="*/ 3 w 1978"/>
                <a:gd name="T9" fmla="*/ 1 h 486"/>
                <a:gd name="T10" fmla="*/ 3 w 1978"/>
                <a:gd name="T11" fmla="*/ 1 h 486"/>
                <a:gd name="T12" fmla="*/ 2 w 1978"/>
                <a:gd name="T13" fmla="*/ 1 h 486"/>
                <a:gd name="T14" fmla="*/ 0 w 1978"/>
                <a:gd name="T15" fmla="*/ 1 h 486"/>
                <a:gd name="T16" fmla="*/ 0 60000 65536"/>
                <a:gd name="T17" fmla="*/ 0 60000 65536"/>
                <a:gd name="T18" fmla="*/ 0 60000 65536"/>
                <a:gd name="T19" fmla="*/ 0 60000 65536"/>
                <a:gd name="T20" fmla="*/ 0 60000 65536"/>
                <a:gd name="T21" fmla="*/ 0 60000 65536"/>
                <a:gd name="T22" fmla="*/ 0 60000 65536"/>
                <a:gd name="T23" fmla="*/ 0 60000 65536"/>
                <a:gd name="T24" fmla="*/ 0 w 1978"/>
                <a:gd name="T25" fmla="*/ 0 h 486"/>
                <a:gd name="T26" fmla="*/ 1978 w 1978"/>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8" h="486">
                  <a:moveTo>
                    <a:pt x="0" y="477"/>
                  </a:moveTo>
                  <a:lnTo>
                    <a:pt x="512" y="0"/>
                  </a:lnTo>
                  <a:lnTo>
                    <a:pt x="1448" y="0"/>
                  </a:lnTo>
                  <a:lnTo>
                    <a:pt x="1978" y="486"/>
                  </a:lnTo>
                  <a:lnTo>
                    <a:pt x="1122" y="486"/>
                  </a:lnTo>
                  <a:lnTo>
                    <a:pt x="988" y="354"/>
                  </a:lnTo>
                  <a:lnTo>
                    <a:pt x="848" y="486"/>
                  </a:lnTo>
                  <a:lnTo>
                    <a:pt x="0" y="477"/>
                  </a:lnTo>
                  <a:close/>
                </a:path>
              </a:pathLst>
            </a:custGeom>
            <a:solidFill>
              <a:srgbClr val="FFFFCC"/>
            </a:solidFill>
            <a:ln w="28575" cap="flat" cmpd="sng">
              <a:solidFill>
                <a:srgbClr val="000080"/>
              </a:solidFill>
              <a:prstDash val="solid"/>
              <a:round/>
              <a:headEnd/>
              <a:tailEnd/>
            </a:ln>
          </p:spPr>
          <p:txBody>
            <a:bodyPr/>
            <a:lstStyle/>
            <a:p>
              <a:endParaRPr lang="zh-CN" altLang="en-US"/>
            </a:p>
          </p:txBody>
        </p:sp>
        <p:sp>
          <p:nvSpPr>
            <p:cNvPr id="23570" name="Text Box 20"/>
            <p:cNvSpPr txBox="1">
              <a:spLocks noChangeArrowheads="1"/>
            </p:cNvSpPr>
            <p:nvPr/>
          </p:nvSpPr>
          <p:spPr bwMode="auto">
            <a:xfrm>
              <a:off x="3038" y="2014"/>
              <a:ext cx="628" cy="246"/>
            </a:xfrm>
            <a:prstGeom prst="rect">
              <a:avLst/>
            </a:prstGeom>
            <a:solidFill>
              <a:srgbClr val="FFFFCC"/>
            </a:solidFill>
            <a:ln w="28575">
              <a:solidFill>
                <a:srgbClr val="000080"/>
              </a:solidFill>
              <a:miter lim="800000"/>
              <a:headEnd/>
              <a:tailEnd/>
            </a:ln>
          </p:spPr>
          <p:txBody>
            <a:bodyPr lIns="0" tIns="7200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移位器</a:t>
              </a:r>
            </a:p>
          </p:txBody>
        </p:sp>
        <p:sp>
          <p:nvSpPr>
            <p:cNvPr id="23571" name="Text Box 21"/>
            <p:cNvSpPr txBox="1">
              <a:spLocks noChangeArrowheads="1"/>
            </p:cNvSpPr>
            <p:nvPr/>
          </p:nvSpPr>
          <p:spPr bwMode="auto">
            <a:xfrm>
              <a:off x="3464" y="2795"/>
              <a:ext cx="1072" cy="246"/>
            </a:xfrm>
            <a:prstGeom prst="rect">
              <a:avLst/>
            </a:prstGeom>
            <a:solidFill>
              <a:srgbClr val="FFFFCC"/>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选择器／锁存器</a:t>
              </a:r>
            </a:p>
          </p:txBody>
        </p:sp>
        <p:grpSp>
          <p:nvGrpSpPr>
            <p:cNvPr id="23572" name="Group 22"/>
            <p:cNvGrpSpPr>
              <a:grpSpLocks/>
            </p:cNvGrpSpPr>
            <p:nvPr/>
          </p:nvGrpSpPr>
          <p:grpSpPr bwMode="auto">
            <a:xfrm>
              <a:off x="1950" y="2052"/>
              <a:ext cx="2859" cy="932"/>
              <a:chOff x="2853" y="3486"/>
              <a:chExt cx="4248" cy="1704"/>
            </a:xfrm>
          </p:grpSpPr>
          <p:sp>
            <p:nvSpPr>
              <p:cNvPr id="23599" name="Line 23"/>
              <p:cNvSpPr>
                <a:spLocks noChangeShapeType="1"/>
              </p:cNvSpPr>
              <p:nvPr/>
            </p:nvSpPr>
            <p:spPr bwMode="auto">
              <a:xfrm>
                <a:off x="4049" y="3762"/>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0" name="Line 24"/>
              <p:cNvSpPr>
                <a:spLocks noChangeShapeType="1"/>
              </p:cNvSpPr>
              <p:nvPr/>
            </p:nvSpPr>
            <p:spPr bwMode="auto">
              <a:xfrm>
                <a:off x="4049" y="3486"/>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1" name="Line 25"/>
              <p:cNvSpPr>
                <a:spLocks noChangeShapeType="1"/>
              </p:cNvSpPr>
              <p:nvPr/>
            </p:nvSpPr>
            <p:spPr bwMode="auto">
              <a:xfrm>
                <a:off x="2853" y="5190"/>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2" name="Line 26"/>
              <p:cNvSpPr>
                <a:spLocks noChangeShapeType="1"/>
              </p:cNvSpPr>
              <p:nvPr/>
            </p:nvSpPr>
            <p:spPr bwMode="auto">
              <a:xfrm>
                <a:off x="2853" y="4914"/>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3" name="Line 27"/>
              <p:cNvSpPr>
                <a:spLocks noChangeShapeType="1"/>
              </p:cNvSpPr>
              <p:nvPr/>
            </p:nvSpPr>
            <p:spPr bwMode="auto">
              <a:xfrm>
                <a:off x="6689" y="5190"/>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4" name="Line 28"/>
              <p:cNvSpPr>
                <a:spLocks noChangeShapeType="1"/>
              </p:cNvSpPr>
              <p:nvPr/>
            </p:nvSpPr>
            <p:spPr bwMode="auto">
              <a:xfrm>
                <a:off x="6689" y="4914"/>
                <a:ext cx="4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5" name="Line 29"/>
              <p:cNvSpPr>
                <a:spLocks noChangeShapeType="1"/>
              </p:cNvSpPr>
              <p:nvPr/>
            </p:nvSpPr>
            <p:spPr bwMode="auto">
              <a:xfrm>
                <a:off x="5635" y="4320"/>
                <a:ext cx="68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6" name="Line 30"/>
              <p:cNvSpPr>
                <a:spLocks noChangeShapeType="1"/>
              </p:cNvSpPr>
              <p:nvPr/>
            </p:nvSpPr>
            <p:spPr bwMode="auto">
              <a:xfrm>
                <a:off x="3695" y="4218"/>
                <a:ext cx="68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7" name="Line 31"/>
              <p:cNvSpPr>
                <a:spLocks noChangeShapeType="1"/>
              </p:cNvSpPr>
              <p:nvPr/>
            </p:nvSpPr>
            <p:spPr bwMode="auto">
              <a:xfrm>
                <a:off x="3701" y="4470"/>
                <a:ext cx="41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573" name="Text Box 32"/>
            <p:cNvSpPr txBox="1">
              <a:spLocks noChangeArrowheads="1"/>
            </p:cNvSpPr>
            <p:nvPr/>
          </p:nvSpPr>
          <p:spPr bwMode="auto">
            <a:xfrm>
              <a:off x="2068" y="2050"/>
              <a:ext cx="63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23574" name="Text Box 33"/>
            <p:cNvSpPr txBox="1">
              <a:spLocks noChangeArrowheads="1"/>
            </p:cNvSpPr>
            <p:nvPr/>
          </p:nvSpPr>
          <p:spPr bwMode="auto">
            <a:xfrm>
              <a:off x="2752" y="200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23575" name="Text Box 34"/>
            <p:cNvSpPr txBox="1">
              <a:spLocks noChangeArrowheads="1"/>
            </p:cNvSpPr>
            <p:nvPr/>
          </p:nvSpPr>
          <p:spPr bwMode="auto">
            <a:xfrm>
              <a:off x="2542" y="240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23576" name="Text Box 35"/>
            <p:cNvSpPr txBox="1">
              <a:spLocks noChangeArrowheads="1"/>
            </p:cNvSpPr>
            <p:nvPr/>
          </p:nvSpPr>
          <p:spPr bwMode="auto">
            <a:xfrm>
              <a:off x="1929" y="2792"/>
              <a:ext cx="24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23577" name="Text Box 36"/>
            <p:cNvSpPr txBox="1">
              <a:spLocks noChangeArrowheads="1"/>
            </p:cNvSpPr>
            <p:nvPr/>
          </p:nvSpPr>
          <p:spPr bwMode="auto">
            <a:xfrm>
              <a:off x="4539" y="2799"/>
              <a:ext cx="24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FF0000"/>
                  </a:solidFill>
                  <a:latin typeface="Times New Roman" pitchFamily="18" charset="0"/>
                  <a:ea typeface="黑体" pitchFamily="2" charset="-122"/>
                </a:rPr>
                <a:t>…</a:t>
              </a:r>
              <a:endParaRPr lang="en-US" altLang="zh-CN" sz="1800" dirty="0">
                <a:solidFill>
                  <a:srgbClr val="FF0000"/>
                </a:solidFill>
                <a:latin typeface="黑体" pitchFamily="2" charset="-122"/>
                <a:ea typeface="黑体" pitchFamily="2" charset="-122"/>
              </a:endParaRPr>
            </a:p>
          </p:txBody>
        </p:sp>
        <p:sp>
          <p:nvSpPr>
            <p:cNvPr id="23578" name="Text Box 37"/>
            <p:cNvSpPr txBox="1">
              <a:spLocks noChangeArrowheads="1"/>
            </p:cNvSpPr>
            <p:nvPr/>
          </p:nvSpPr>
          <p:spPr bwMode="auto">
            <a:xfrm>
              <a:off x="1860" y="2423"/>
              <a:ext cx="63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23579" name="Text Box 38"/>
            <p:cNvSpPr txBox="1">
              <a:spLocks noChangeArrowheads="1"/>
            </p:cNvSpPr>
            <p:nvPr/>
          </p:nvSpPr>
          <p:spPr bwMode="auto">
            <a:xfrm>
              <a:off x="1292" y="2811"/>
              <a:ext cx="6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选择命令</a:t>
              </a:r>
            </a:p>
          </p:txBody>
        </p:sp>
        <p:sp>
          <p:nvSpPr>
            <p:cNvPr id="23580" name="Text Box 39"/>
            <p:cNvSpPr txBox="1">
              <a:spLocks noChangeArrowheads="1"/>
            </p:cNvSpPr>
            <p:nvPr/>
          </p:nvSpPr>
          <p:spPr bwMode="auto">
            <a:xfrm>
              <a:off x="4876" y="2805"/>
              <a:ext cx="6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zh-CN" altLang="en-US" sz="1800">
                  <a:latin typeface="黑体" pitchFamily="2" charset="-122"/>
                  <a:ea typeface="黑体" pitchFamily="2" charset="-122"/>
                </a:rPr>
                <a:t>选择命令</a:t>
              </a:r>
            </a:p>
          </p:txBody>
        </p:sp>
        <p:sp>
          <p:nvSpPr>
            <p:cNvPr id="23581" name="Text Box 40"/>
            <p:cNvSpPr txBox="1">
              <a:spLocks noChangeArrowheads="1"/>
            </p:cNvSpPr>
            <p:nvPr/>
          </p:nvSpPr>
          <p:spPr bwMode="auto">
            <a:xfrm>
              <a:off x="4362" y="2415"/>
              <a:ext cx="6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zh-CN" altLang="en-US" sz="1800">
                  <a:latin typeface="黑体" pitchFamily="2" charset="-122"/>
                  <a:ea typeface="黑体" pitchFamily="2" charset="-122"/>
                </a:rPr>
                <a:t>初始进位</a:t>
              </a:r>
            </a:p>
          </p:txBody>
        </p:sp>
        <p:sp>
          <p:nvSpPr>
            <p:cNvPr id="23582" name="Text Box 41"/>
            <p:cNvSpPr txBox="1">
              <a:spLocks noChangeArrowheads="1"/>
            </p:cNvSpPr>
            <p:nvPr/>
          </p:nvSpPr>
          <p:spPr bwMode="auto">
            <a:xfrm>
              <a:off x="3056" y="2415"/>
              <a:ext cx="635"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黑体" pitchFamily="2" charset="-122"/>
                  <a:ea typeface="黑体" pitchFamily="2" charset="-122"/>
                </a:rPr>
                <a:t>ALU</a:t>
              </a:r>
            </a:p>
          </p:txBody>
        </p:sp>
        <p:sp>
          <p:nvSpPr>
            <p:cNvPr id="23583" name="Text Box 42"/>
            <p:cNvSpPr txBox="1">
              <a:spLocks noChangeArrowheads="1"/>
            </p:cNvSpPr>
            <p:nvPr/>
          </p:nvSpPr>
          <p:spPr bwMode="auto">
            <a:xfrm>
              <a:off x="2493" y="3054"/>
              <a:ext cx="53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23584" name="Text Box 43"/>
            <p:cNvSpPr txBox="1">
              <a:spLocks noChangeArrowheads="1"/>
            </p:cNvSpPr>
            <p:nvPr/>
          </p:nvSpPr>
          <p:spPr bwMode="auto">
            <a:xfrm>
              <a:off x="3708" y="3047"/>
              <a:ext cx="533"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23585" name="Text Box 44"/>
            <p:cNvSpPr txBox="1">
              <a:spLocks noChangeArrowheads="1"/>
            </p:cNvSpPr>
            <p:nvPr/>
          </p:nvSpPr>
          <p:spPr bwMode="auto">
            <a:xfrm>
              <a:off x="2477" y="3204"/>
              <a:ext cx="57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操作数</a:t>
              </a:r>
            </a:p>
          </p:txBody>
        </p:sp>
        <p:sp>
          <p:nvSpPr>
            <p:cNvPr id="23586" name="Text Box 45"/>
            <p:cNvSpPr txBox="1">
              <a:spLocks noChangeArrowheads="1"/>
            </p:cNvSpPr>
            <p:nvPr/>
          </p:nvSpPr>
          <p:spPr bwMode="auto">
            <a:xfrm>
              <a:off x="3676" y="3204"/>
              <a:ext cx="57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操作数</a:t>
              </a:r>
            </a:p>
          </p:txBody>
        </p:sp>
        <p:grpSp>
          <p:nvGrpSpPr>
            <p:cNvPr id="23587" name="Group 46"/>
            <p:cNvGrpSpPr>
              <a:grpSpLocks/>
            </p:cNvGrpSpPr>
            <p:nvPr/>
          </p:nvGrpSpPr>
          <p:grpSpPr bwMode="auto">
            <a:xfrm>
              <a:off x="2355" y="1865"/>
              <a:ext cx="2006" cy="1309"/>
              <a:chOff x="3455" y="3144"/>
              <a:chExt cx="2980" cy="2394"/>
            </a:xfrm>
          </p:grpSpPr>
          <p:sp>
            <p:nvSpPr>
              <p:cNvPr id="23591" name="Line 47"/>
              <p:cNvSpPr>
                <a:spLocks noChangeShapeType="1"/>
              </p:cNvSpPr>
              <p:nvPr/>
            </p:nvSpPr>
            <p:spPr bwMode="auto">
              <a:xfrm flipV="1">
                <a:off x="4253" y="4605"/>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2" name="Line 48"/>
              <p:cNvSpPr>
                <a:spLocks noChangeShapeType="1"/>
              </p:cNvSpPr>
              <p:nvPr/>
            </p:nvSpPr>
            <p:spPr bwMode="auto">
              <a:xfrm flipV="1">
                <a:off x="5679" y="4593"/>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3" name="Line 49"/>
              <p:cNvSpPr>
                <a:spLocks noChangeShapeType="1"/>
              </p:cNvSpPr>
              <p:nvPr/>
            </p:nvSpPr>
            <p:spPr bwMode="auto">
              <a:xfrm flipV="1">
                <a:off x="4949" y="3870"/>
                <a:ext cx="0" cy="255"/>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4" name="Line 50"/>
              <p:cNvSpPr>
                <a:spLocks noChangeShapeType="1"/>
              </p:cNvSpPr>
              <p:nvPr/>
            </p:nvSpPr>
            <p:spPr bwMode="auto">
              <a:xfrm flipV="1">
                <a:off x="3455" y="5298"/>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5" name="Line 51"/>
              <p:cNvSpPr>
                <a:spLocks noChangeShapeType="1"/>
              </p:cNvSpPr>
              <p:nvPr/>
            </p:nvSpPr>
            <p:spPr bwMode="auto">
              <a:xfrm flipV="1">
                <a:off x="4631" y="5295"/>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6" name="Line 52"/>
              <p:cNvSpPr>
                <a:spLocks noChangeShapeType="1"/>
              </p:cNvSpPr>
              <p:nvPr/>
            </p:nvSpPr>
            <p:spPr bwMode="auto">
              <a:xfrm flipV="1">
                <a:off x="5259" y="5283"/>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7" name="Line 53"/>
              <p:cNvSpPr>
                <a:spLocks noChangeShapeType="1"/>
              </p:cNvSpPr>
              <p:nvPr/>
            </p:nvSpPr>
            <p:spPr bwMode="auto">
              <a:xfrm flipV="1">
                <a:off x="6435" y="5280"/>
                <a:ext cx="0" cy="240"/>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8" name="Line 54"/>
              <p:cNvSpPr>
                <a:spLocks noChangeShapeType="1"/>
              </p:cNvSpPr>
              <p:nvPr/>
            </p:nvSpPr>
            <p:spPr bwMode="auto">
              <a:xfrm flipV="1">
                <a:off x="4937" y="3144"/>
                <a:ext cx="0" cy="255"/>
              </a:xfrm>
              <a:prstGeom prst="line">
                <a:avLst/>
              </a:prstGeom>
              <a:noFill/>
              <a:ln w="3810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588" name="Text Box 55" descr="75%"/>
            <p:cNvSpPr txBox="1">
              <a:spLocks noChangeArrowheads="1"/>
            </p:cNvSpPr>
            <p:nvPr/>
          </p:nvSpPr>
          <p:spPr bwMode="auto">
            <a:xfrm>
              <a:off x="1088" y="2250"/>
              <a:ext cx="703" cy="233"/>
            </a:xfrm>
            <a:prstGeom prst="rect">
              <a:avLst/>
            </a:prstGeom>
            <a:pattFill prst="pct75">
              <a:fgClr>
                <a:srgbClr val="FF0000"/>
              </a:fgClr>
              <a:bgClr>
                <a:srgbClr val="FFFFFF"/>
              </a:bgClr>
            </a:pattFill>
            <a:ln w="19050" algn="ctr">
              <a:solidFill>
                <a:srgbClr val="000099"/>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pPr>
              <a:r>
                <a:rPr lang="en-US" altLang="zh-CN" sz="1800" dirty="0">
                  <a:solidFill>
                    <a:schemeClr val="bg1"/>
                  </a:solidFill>
                  <a:latin typeface="黑体" pitchFamily="2" charset="-122"/>
                  <a:ea typeface="黑体" pitchFamily="2" charset="-122"/>
                </a:rPr>
                <a:t>PSW</a:t>
              </a:r>
            </a:p>
          </p:txBody>
        </p:sp>
        <p:sp>
          <p:nvSpPr>
            <p:cNvPr id="23590" name="Oval 57"/>
            <p:cNvSpPr>
              <a:spLocks noChangeArrowheads="1"/>
            </p:cNvSpPr>
            <p:nvPr/>
          </p:nvSpPr>
          <p:spPr bwMode="auto">
            <a:xfrm>
              <a:off x="725" y="2095"/>
              <a:ext cx="1225" cy="495"/>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grpSp>
      <p:grpSp>
        <p:nvGrpSpPr>
          <p:cNvPr id="23558" name="Group 68"/>
          <p:cNvGrpSpPr>
            <a:grpSpLocks/>
          </p:cNvGrpSpPr>
          <p:nvPr/>
        </p:nvGrpSpPr>
        <p:grpSpPr bwMode="auto">
          <a:xfrm>
            <a:off x="5543550" y="476250"/>
            <a:ext cx="2413000" cy="1547813"/>
            <a:chOff x="2154" y="290"/>
            <a:chExt cx="1294" cy="1046"/>
          </a:xfrm>
        </p:grpSpPr>
        <p:sp>
          <p:nvSpPr>
            <p:cNvPr id="23559" name="Text Box 69"/>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3560" name="Text Box 70"/>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3561" name="Text Box 71"/>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3562" name="Text Box 72"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3563" name="Text Box 73"/>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3564" name="Text Box 74"/>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3565" name="Text Box 75"/>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3566" name="Text Box 76"/>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3567" name="Text Box 77"/>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4579"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4580" name="Text Box 14"/>
          <p:cNvSpPr txBox="1">
            <a:spLocks noChangeArrowheads="1"/>
          </p:cNvSpPr>
          <p:nvPr/>
        </p:nvSpPr>
        <p:spPr bwMode="auto">
          <a:xfrm>
            <a:off x="827088" y="1484313"/>
            <a:ext cx="78851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状态寄存器</a:t>
            </a:r>
            <a:r>
              <a:rPr lang="en-US" altLang="zh-CN" dirty="0">
                <a:latin typeface="黑体" pitchFamily="2" charset="-122"/>
                <a:ea typeface="黑体" pitchFamily="2" charset="-122"/>
              </a:rPr>
              <a:t>PSW </a:t>
            </a:r>
            <a:endParaRPr lang="zh-CN" altLang="en-US">
              <a:latin typeface="黑体" pitchFamily="2" charset="-122"/>
              <a:ea typeface="黑体" pitchFamily="2" charset="-122"/>
            </a:endParaRPr>
          </a:p>
        </p:txBody>
      </p:sp>
      <p:sp>
        <p:nvSpPr>
          <p:cNvPr id="24581" name="Text Box 56"/>
          <p:cNvSpPr txBox="1">
            <a:spLocks noChangeArrowheads="1"/>
          </p:cNvSpPr>
          <p:nvPr/>
        </p:nvSpPr>
        <p:spPr bwMode="auto">
          <a:xfrm>
            <a:off x="1258888" y="2024063"/>
            <a:ext cx="1223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例如：</a:t>
            </a:r>
          </a:p>
        </p:txBody>
      </p:sp>
      <p:grpSp>
        <p:nvGrpSpPr>
          <p:cNvPr id="24582" name="Group 58"/>
          <p:cNvGrpSpPr>
            <a:grpSpLocks/>
          </p:cNvGrpSpPr>
          <p:nvPr/>
        </p:nvGrpSpPr>
        <p:grpSpPr bwMode="auto">
          <a:xfrm>
            <a:off x="1476375" y="2673350"/>
            <a:ext cx="7164388" cy="1692275"/>
            <a:chOff x="1630" y="10620"/>
            <a:chExt cx="6552" cy="1571"/>
          </a:xfrm>
        </p:grpSpPr>
        <p:grpSp>
          <p:nvGrpSpPr>
            <p:cNvPr id="24594" name="Group 59"/>
            <p:cNvGrpSpPr>
              <a:grpSpLocks/>
            </p:cNvGrpSpPr>
            <p:nvPr/>
          </p:nvGrpSpPr>
          <p:grpSpPr bwMode="auto">
            <a:xfrm>
              <a:off x="2449" y="10620"/>
              <a:ext cx="5733" cy="341"/>
              <a:chOff x="1819" y="2787"/>
              <a:chExt cx="5733" cy="372"/>
            </a:xfrm>
          </p:grpSpPr>
          <p:sp>
            <p:nvSpPr>
              <p:cNvPr id="24604" name="Rectangle 60"/>
              <p:cNvSpPr>
                <a:spLocks noChangeArrowheads="1"/>
              </p:cNvSpPr>
              <p:nvPr/>
            </p:nvSpPr>
            <p:spPr bwMode="auto">
              <a:xfrm>
                <a:off x="1819" y="2787"/>
                <a:ext cx="573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24605" name="Text Box 61"/>
              <p:cNvSpPr txBox="1">
                <a:spLocks noChangeArrowheads="1"/>
              </p:cNvSpPr>
              <p:nvPr/>
            </p:nvSpPr>
            <p:spPr bwMode="auto">
              <a:xfrm>
                <a:off x="1819"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工作方式</a:t>
                </a:r>
              </a:p>
            </p:txBody>
          </p:sp>
          <p:sp>
            <p:nvSpPr>
              <p:cNvPr id="24606" name="Text Box 62"/>
              <p:cNvSpPr txBox="1">
                <a:spLocks noChangeArrowheads="1"/>
              </p:cNvSpPr>
              <p:nvPr/>
            </p:nvSpPr>
            <p:spPr bwMode="auto">
              <a:xfrm>
                <a:off x="2932"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24607" name="Text Box 63"/>
              <p:cNvSpPr txBox="1">
                <a:spLocks noChangeArrowheads="1"/>
              </p:cNvSpPr>
              <p:nvPr/>
            </p:nvSpPr>
            <p:spPr bwMode="auto">
              <a:xfrm>
                <a:off x="4045" y="2787"/>
                <a:ext cx="1008"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优先级</a:t>
                </a:r>
              </a:p>
            </p:txBody>
          </p:sp>
          <p:grpSp>
            <p:nvGrpSpPr>
              <p:cNvPr id="24608" name="Group 64"/>
              <p:cNvGrpSpPr>
                <a:grpSpLocks/>
              </p:cNvGrpSpPr>
              <p:nvPr/>
            </p:nvGrpSpPr>
            <p:grpSpPr bwMode="auto">
              <a:xfrm>
                <a:off x="5053" y="2787"/>
                <a:ext cx="2499" cy="372"/>
                <a:chOff x="4066" y="3428"/>
                <a:chExt cx="2499" cy="372"/>
              </a:xfrm>
            </p:grpSpPr>
            <p:sp>
              <p:nvSpPr>
                <p:cNvPr id="24609" name="Text Box 65"/>
                <p:cNvSpPr txBox="1">
                  <a:spLocks noChangeArrowheads="1"/>
                </p:cNvSpPr>
                <p:nvPr/>
              </p:nvSpPr>
              <p:spPr bwMode="auto">
                <a:xfrm>
                  <a:off x="4066"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I</a:t>
                  </a:r>
                </a:p>
              </p:txBody>
            </p:sp>
            <p:sp>
              <p:nvSpPr>
                <p:cNvPr id="24610" name="Text Box 66"/>
                <p:cNvSpPr txBox="1">
                  <a:spLocks noChangeArrowheads="1"/>
                </p:cNvSpPr>
                <p:nvPr/>
              </p:nvSpPr>
              <p:spPr bwMode="auto">
                <a:xfrm>
                  <a:off x="4423"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T</a:t>
                  </a:r>
                </a:p>
              </p:txBody>
            </p:sp>
            <p:sp>
              <p:nvSpPr>
                <p:cNvPr id="24611" name="Text Box 67"/>
                <p:cNvSpPr txBox="1">
                  <a:spLocks noChangeArrowheads="1"/>
                </p:cNvSpPr>
                <p:nvPr/>
              </p:nvSpPr>
              <p:spPr bwMode="auto">
                <a:xfrm>
                  <a:off x="4780"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P</a:t>
                  </a:r>
                </a:p>
              </p:txBody>
            </p:sp>
            <p:sp>
              <p:nvSpPr>
                <p:cNvPr id="24612" name="Text Box 68"/>
                <p:cNvSpPr txBox="1">
                  <a:spLocks noChangeArrowheads="1"/>
                </p:cNvSpPr>
                <p:nvPr/>
              </p:nvSpPr>
              <p:spPr bwMode="auto">
                <a:xfrm>
                  <a:off x="5137"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N</a:t>
                  </a:r>
                </a:p>
              </p:txBody>
            </p:sp>
            <p:sp>
              <p:nvSpPr>
                <p:cNvPr id="24613" name="Text Box 69"/>
                <p:cNvSpPr txBox="1">
                  <a:spLocks noChangeArrowheads="1"/>
                </p:cNvSpPr>
                <p:nvPr/>
              </p:nvSpPr>
              <p:spPr bwMode="auto">
                <a:xfrm>
                  <a:off x="5494"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Z</a:t>
                  </a:r>
                </a:p>
              </p:txBody>
            </p:sp>
            <p:sp>
              <p:nvSpPr>
                <p:cNvPr id="24614" name="Text Box 70"/>
                <p:cNvSpPr txBox="1">
                  <a:spLocks noChangeArrowheads="1"/>
                </p:cNvSpPr>
                <p:nvPr/>
              </p:nvSpPr>
              <p:spPr bwMode="auto">
                <a:xfrm>
                  <a:off x="5851"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V</a:t>
                  </a:r>
                </a:p>
              </p:txBody>
            </p:sp>
            <p:sp>
              <p:nvSpPr>
                <p:cNvPr id="24615" name="Text Box 71"/>
                <p:cNvSpPr txBox="1">
                  <a:spLocks noChangeArrowheads="1"/>
                </p:cNvSpPr>
                <p:nvPr/>
              </p:nvSpPr>
              <p:spPr bwMode="auto">
                <a:xfrm>
                  <a:off x="6208"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C</a:t>
                  </a:r>
                </a:p>
              </p:txBody>
            </p:sp>
          </p:grpSp>
        </p:grpSp>
        <p:grpSp>
          <p:nvGrpSpPr>
            <p:cNvPr id="24595" name="Group 72"/>
            <p:cNvGrpSpPr>
              <a:grpSpLocks/>
            </p:cNvGrpSpPr>
            <p:nvPr/>
          </p:nvGrpSpPr>
          <p:grpSpPr bwMode="auto">
            <a:xfrm>
              <a:off x="5683" y="11106"/>
              <a:ext cx="2478" cy="1085"/>
              <a:chOff x="5053" y="3304"/>
              <a:chExt cx="2478" cy="1085"/>
            </a:xfrm>
          </p:grpSpPr>
          <p:sp>
            <p:nvSpPr>
              <p:cNvPr id="24597" name="Text Box 73"/>
              <p:cNvSpPr txBox="1">
                <a:spLocks noChangeArrowheads="1"/>
              </p:cNvSpPr>
              <p:nvPr/>
            </p:nvSpPr>
            <p:spPr bwMode="auto">
              <a:xfrm>
                <a:off x="7216"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有进位</a:t>
                </a:r>
              </a:p>
            </p:txBody>
          </p:sp>
          <p:sp>
            <p:nvSpPr>
              <p:cNvPr id="24598" name="Text Box 74"/>
              <p:cNvSpPr txBox="1">
                <a:spLocks noChangeArrowheads="1"/>
              </p:cNvSpPr>
              <p:nvPr/>
            </p:nvSpPr>
            <p:spPr bwMode="auto">
              <a:xfrm>
                <a:off x="6859"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结果溢出</a:t>
                </a:r>
              </a:p>
            </p:txBody>
          </p:sp>
          <p:sp>
            <p:nvSpPr>
              <p:cNvPr id="24599" name="Text Box 75"/>
              <p:cNvSpPr txBox="1">
                <a:spLocks noChangeArrowheads="1"/>
              </p:cNvSpPr>
              <p:nvPr/>
            </p:nvSpPr>
            <p:spPr bwMode="auto">
              <a:xfrm>
                <a:off x="6502"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结果为零</a:t>
                </a:r>
              </a:p>
            </p:txBody>
          </p:sp>
          <p:sp>
            <p:nvSpPr>
              <p:cNvPr id="24600" name="Text Box 76"/>
              <p:cNvSpPr txBox="1">
                <a:spLocks noChangeArrowheads="1"/>
              </p:cNvSpPr>
              <p:nvPr/>
            </p:nvSpPr>
            <p:spPr bwMode="auto">
              <a:xfrm>
                <a:off x="6124"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结果为负</a:t>
                </a:r>
              </a:p>
            </p:txBody>
          </p:sp>
          <p:sp>
            <p:nvSpPr>
              <p:cNvPr id="24601" name="Text Box 77"/>
              <p:cNvSpPr txBox="1">
                <a:spLocks noChangeArrowheads="1"/>
              </p:cNvSpPr>
              <p:nvPr/>
            </p:nvSpPr>
            <p:spPr bwMode="auto">
              <a:xfrm>
                <a:off x="5767"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奇偶位</a:t>
                </a:r>
              </a:p>
            </p:txBody>
          </p:sp>
          <p:sp>
            <p:nvSpPr>
              <p:cNvPr id="24602" name="Text Box 78"/>
              <p:cNvSpPr txBox="1">
                <a:spLocks noChangeArrowheads="1"/>
              </p:cNvSpPr>
              <p:nvPr/>
            </p:nvSpPr>
            <p:spPr bwMode="auto">
              <a:xfrm>
                <a:off x="5410"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跟踪</a:t>
                </a:r>
                <a:r>
                  <a:rPr lang="en-US" altLang="zh-CN" sz="1800" dirty="0">
                    <a:latin typeface="黑体" pitchFamily="2" charset="-122"/>
                    <a:ea typeface="黑体" pitchFamily="2" charset="-122"/>
                  </a:rPr>
                  <a:t>(</a:t>
                </a:r>
                <a:r>
                  <a:rPr lang="zh-CN" altLang="en-US" sz="1800">
                    <a:latin typeface="黑体" pitchFamily="2" charset="-122"/>
                    <a:ea typeface="黑体" pitchFamily="2" charset="-122"/>
                  </a:rPr>
                  <a:t>陷阱</a:t>
                </a:r>
                <a:r>
                  <a:rPr lang="en-US" altLang="zh-CN" sz="1800" dirty="0">
                    <a:latin typeface="黑体" pitchFamily="2" charset="-122"/>
                    <a:ea typeface="黑体" pitchFamily="2" charset="-122"/>
                  </a:rPr>
                  <a:t>)</a:t>
                </a:r>
              </a:p>
            </p:txBody>
          </p:sp>
          <p:sp>
            <p:nvSpPr>
              <p:cNvPr id="24603" name="Text Box 79"/>
              <p:cNvSpPr txBox="1">
                <a:spLocks noChangeArrowheads="1"/>
              </p:cNvSpPr>
              <p:nvPr/>
            </p:nvSpPr>
            <p:spPr bwMode="auto">
              <a:xfrm>
                <a:off x="5053"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允许中断</a:t>
                </a:r>
              </a:p>
            </p:txBody>
          </p:sp>
        </p:grpSp>
        <p:sp>
          <p:nvSpPr>
            <p:cNvPr id="24596" name="Text Box 80"/>
            <p:cNvSpPr txBox="1">
              <a:spLocks noChangeArrowheads="1"/>
            </p:cNvSpPr>
            <p:nvPr/>
          </p:nvSpPr>
          <p:spPr bwMode="auto">
            <a:xfrm>
              <a:off x="1630" y="10620"/>
              <a:ext cx="75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PSW</a:t>
              </a:r>
            </a:p>
          </p:txBody>
        </p:sp>
      </p:grpSp>
      <p:sp>
        <p:nvSpPr>
          <p:cNvPr id="24583" name="Text Box 81"/>
          <p:cNvSpPr txBox="1">
            <a:spLocks noChangeArrowheads="1"/>
          </p:cNvSpPr>
          <p:nvPr/>
        </p:nvSpPr>
        <p:spPr bwMode="auto">
          <a:xfrm>
            <a:off x="1223963" y="4318000"/>
            <a:ext cx="7920037"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 </a:t>
            </a:r>
            <a:r>
              <a:rPr lang="zh-CN" altLang="en-US">
                <a:solidFill>
                  <a:srgbClr val="FF0000"/>
                </a:solidFill>
                <a:latin typeface="黑体" pitchFamily="2" charset="-122"/>
                <a:ea typeface="黑体" pitchFamily="2" charset="-122"/>
              </a:rPr>
              <a:t>特征位：</a:t>
            </a:r>
            <a:r>
              <a:rPr lang="en-US" altLang="zh-CN" dirty="0">
                <a:latin typeface="黑体" pitchFamily="2" charset="-122"/>
                <a:ea typeface="黑体" pitchFamily="2" charset="-122"/>
              </a:rPr>
              <a:t>C</a:t>
            </a:r>
            <a:r>
              <a:rPr lang="zh-CN" altLang="en-US">
                <a:latin typeface="黑体" pitchFamily="2" charset="-122"/>
                <a:ea typeface="黑体" pitchFamily="2" charset="-122"/>
              </a:rPr>
              <a:t>、</a:t>
            </a:r>
            <a:r>
              <a:rPr lang="en-US" altLang="zh-CN" dirty="0">
                <a:latin typeface="黑体" pitchFamily="2" charset="-122"/>
                <a:ea typeface="黑体" pitchFamily="2" charset="-122"/>
              </a:rPr>
              <a:t>V</a:t>
            </a:r>
            <a:r>
              <a:rPr lang="zh-CN" altLang="en-US">
                <a:latin typeface="黑体" pitchFamily="2" charset="-122"/>
                <a:ea typeface="黑体" pitchFamily="2" charset="-122"/>
              </a:rPr>
              <a:t>、</a:t>
            </a:r>
            <a:r>
              <a:rPr lang="en-US" altLang="zh-CN" dirty="0">
                <a:latin typeface="黑体" pitchFamily="2" charset="-122"/>
                <a:ea typeface="黑体" pitchFamily="2" charset="-122"/>
              </a:rPr>
              <a:t>Z</a:t>
            </a:r>
            <a:r>
              <a:rPr lang="zh-CN" altLang="en-US">
                <a:latin typeface="黑体" pitchFamily="2" charset="-122"/>
                <a:ea typeface="黑体" pitchFamily="2" charset="-122"/>
              </a:rPr>
              <a:t>、</a:t>
            </a:r>
            <a:r>
              <a:rPr lang="en-US" altLang="zh-CN" dirty="0">
                <a:latin typeface="黑体" pitchFamily="2" charset="-122"/>
                <a:ea typeface="黑体" pitchFamily="2" charset="-122"/>
              </a:rPr>
              <a:t>N</a:t>
            </a:r>
            <a:r>
              <a:rPr lang="zh-CN" altLang="en-US">
                <a:latin typeface="黑体" pitchFamily="2" charset="-122"/>
                <a:ea typeface="黑体" pitchFamily="2" charset="-122"/>
              </a:rPr>
              <a:t>等表征算逻运算结果的特征；</a:t>
            </a:r>
          </a:p>
          <a:p>
            <a:pPr eaLnBrk="1" hangingPunct="1">
              <a:spcBef>
                <a:spcPct val="0"/>
              </a:spcBef>
            </a:pPr>
            <a:r>
              <a:rPr lang="zh-CN" altLang="en-US">
                <a:latin typeface="黑体" pitchFamily="2" charset="-122"/>
                <a:ea typeface="黑体" pitchFamily="2" charset="-122"/>
              </a:rPr>
              <a:t>         跟踪位</a:t>
            </a:r>
            <a:r>
              <a:rPr lang="en-US" altLang="zh-CN" dirty="0">
                <a:latin typeface="黑体" pitchFamily="2" charset="-122"/>
                <a:ea typeface="黑体" pitchFamily="2" charset="-122"/>
              </a:rPr>
              <a:t>T</a:t>
            </a:r>
            <a:r>
              <a:rPr lang="zh-CN" altLang="en-US">
                <a:latin typeface="黑体" pitchFamily="2" charset="-122"/>
                <a:ea typeface="黑体" pitchFamily="2" charset="-122"/>
              </a:rPr>
              <a:t>，由编程设定断点；</a:t>
            </a:r>
          </a:p>
          <a:p>
            <a:pPr eaLnBrk="1" hangingPunct="1">
              <a:spcBef>
                <a:spcPct val="0"/>
              </a:spcBef>
            </a:pPr>
            <a:r>
              <a:rPr lang="zh-CN" altLang="en-US">
                <a:latin typeface="黑体" pitchFamily="2" charset="-122"/>
                <a:ea typeface="黑体" pitchFamily="2" charset="-122"/>
              </a:rPr>
              <a:t>         允许中断</a:t>
            </a:r>
            <a:r>
              <a:rPr lang="en-US" altLang="zh-CN" dirty="0">
                <a:latin typeface="黑体" pitchFamily="2" charset="-122"/>
                <a:ea typeface="黑体" pitchFamily="2" charset="-122"/>
              </a:rPr>
              <a:t>I</a:t>
            </a:r>
            <a:r>
              <a:rPr lang="zh-CN" altLang="en-US">
                <a:latin typeface="黑体" pitchFamily="2" charset="-122"/>
                <a:ea typeface="黑体" pitchFamily="2" charset="-122"/>
              </a:rPr>
              <a:t>，为</a:t>
            </a:r>
            <a:r>
              <a:rPr lang="en-US" altLang="zh-CN" dirty="0">
                <a:latin typeface="黑体" pitchFamily="2" charset="-122"/>
                <a:ea typeface="黑体" pitchFamily="2" charset="-122"/>
              </a:rPr>
              <a:t>1</a:t>
            </a:r>
            <a:r>
              <a:rPr lang="zh-CN" altLang="en-US">
                <a:latin typeface="黑体" pitchFamily="2" charset="-122"/>
                <a:ea typeface="黑体" pitchFamily="2" charset="-122"/>
              </a:rPr>
              <a:t>时</a:t>
            </a:r>
            <a:r>
              <a:rPr lang="en-US" altLang="zh-CN" dirty="0">
                <a:latin typeface="黑体" pitchFamily="2" charset="-122"/>
                <a:ea typeface="黑体" pitchFamily="2" charset="-122"/>
              </a:rPr>
              <a:t>CPU</a:t>
            </a:r>
            <a:r>
              <a:rPr lang="zh-CN" altLang="en-US">
                <a:latin typeface="黑体" pitchFamily="2" charset="-122"/>
                <a:ea typeface="黑体" pitchFamily="2" charset="-122"/>
              </a:rPr>
              <a:t>允许响应外部中断请求。</a:t>
            </a:r>
          </a:p>
          <a:p>
            <a:pPr eaLnBrk="1" hangingPunct="1">
              <a:spcBef>
                <a:spcPct val="0"/>
              </a:spcBef>
            </a:pPr>
            <a:r>
              <a:rPr lang="zh-CN" altLang="en-US">
                <a:latin typeface="黑体" pitchFamily="2" charset="-122"/>
                <a:ea typeface="黑体" pitchFamily="2" charset="-122"/>
              </a:rPr>
              <a:t>         有的计算机还设置有半进位</a:t>
            </a:r>
            <a:r>
              <a:rPr lang="en-US" altLang="zh-CN" dirty="0">
                <a:latin typeface="黑体" pitchFamily="2" charset="-122"/>
                <a:ea typeface="黑体" pitchFamily="2" charset="-122"/>
              </a:rPr>
              <a:t>AF</a:t>
            </a:r>
            <a:r>
              <a:rPr lang="zh-CN" altLang="en-US">
                <a:latin typeface="黑体" pitchFamily="2" charset="-122"/>
                <a:ea typeface="黑体" pitchFamily="2" charset="-122"/>
              </a:rPr>
              <a:t>、单步位</a:t>
            </a:r>
            <a:r>
              <a:rPr lang="en-US" altLang="zh-CN" dirty="0">
                <a:latin typeface="黑体" pitchFamily="2" charset="-122"/>
                <a:ea typeface="黑体" pitchFamily="2" charset="-122"/>
              </a:rPr>
              <a:t>TF</a:t>
            </a:r>
            <a:r>
              <a:rPr lang="zh-CN" altLang="en-US">
                <a:latin typeface="黑体" pitchFamily="2" charset="-122"/>
                <a:ea typeface="黑体" pitchFamily="2" charset="-122"/>
              </a:rPr>
              <a:t>等。</a:t>
            </a:r>
          </a:p>
        </p:txBody>
      </p:sp>
      <p:grpSp>
        <p:nvGrpSpPr>
          <p:cNvPr id="24584" name="Group 102"/>
          <p:cNvGrpSpPr>
            <a:grpSpLocks/>
          </p:cNvGrpSpPr>
          <p:nvPr/>
        </p:nvGrpSpPr>
        <p:grpSpPr bwMode="auto">
          <a:xfrm>
            <a:off x="5543550" y="476250"/>
            <a:ext cx="2413000" cy="1547813"/>
            <a:chOff x="2154" y="290"/>
            <a:chExt cx="1294" cy="1046"/>
          </a:xfrm>
        </p:grpSpPr>
        <p:sp>
          <p:nvSpPr>
            <p:cNvPr id="24585" name="Text Box 103"/>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4586" name="Text Box 104"/>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4587" name="Text Box 105"/>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4588" name="Text Box 106"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4589" name="Text Box 107"/>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4590" name="Text Box 108"/>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4591" name="Text Box 109"/>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4592" name="Text Box 110"/>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4593" name="Text Box 111"/>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5603"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5604" name="Text Box 14"/>
          <p:cNvSpPr txBox="1">
            <a:spLocks noChangeArrowheads="1"/>
          </p:cNvSpPr>
          <p:nvPr/>
        </p:nvSpPr>
        <p:spPr bwMode="auto">
          <a:xfrm>
            <a:off x="827088" y="1484313"/>
            <a:ext cx="78851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状态寄存器</a:t>
            </a:r>
            <a:r>
              <a:rPr lang="en-US" altLang="zh-CN" dirty="0">
                <a:latin typeface="黑体" pitchFamily="2" charset="-122"/>
                <a:ea typeface="黑体" pitchFamily="2" charset="-122"/>
              </a:rPr>
              <a:t>PSW </a:t>
            </a:r>
            <a:endParaRPr lang="zh-CN" altLang="en-US">
              <a:latin typeface="黑体" pitchFamily="2" charset="-122"/>
              <a:ea typeface="黑体" pitchFamily="2" charset="-122"/>
            </a:endParaRPr>
          </a:p>
        </p:txBody>
      </p:sp>
      <p:sp>
        <p:nvSpPr>
          <p:cNvPr id="25605" name="Text Box 15"/>
          <p:cNvSpPr txBox="1">
            <a:spLocks noChangeArrowheads="1"/>
          </p:cNvSpPr>
          <p:nvPr/>
        </p:nvSpPr>
        <p:spPr bwMode="auto">
          <a:xfrm>
            <a:off x="1258888" y="2024063"/>
            <a:ext cx="1223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例如：</a:t>
            </a:r>
          </a:p>
        </p:txBody>
      </p:sp>
      <p:grpSp>
        <p:nvGrpSpPr>
          <p:cNvPr id="25606" name="Group 16"/>
          <p:cNvGrpSpPr>
            <a:grpSpLocks/>
          </p:cNvGrpSpPr>
          <p:nvPr/>
        </p:nvGrpSpPr>
        <p:grpSpPr bwMode="auto">
          <a:xfrm>
            <a:off x="1476375" y="2673350"/>
            <a:ext cx="7164388" cy="1692275"/>
            <a:chOff x="1630" y="10620"/>
            <a:chExt cx="6552" cy="1571"/>
          </a:xfrm>
        </p:grpSpPr>
        <p:grpSp>
          <p:nvGrpSpPr>
            <p:cNvPr id="25618" name="Group 17"/>
            <p:cNvGrpSpPr>
              <a:grpSpLocks/>
            </p:cNvGrpSpPr>
            <p:nvPr/>
          </p:nvGrpSpPr>
          <p:grpSpPr bwMode="auto">
            <a:xfrm>
              <a:off x="2449" y="10620"/>
              <a:ext cx="5733" cy="341"/>
              <a:chOff x="1819" y="2787"/>
              <a:chExt cx="5733" cy="372"/>
            </a:xfrm>
          </p:grpSpPr>
          <p:sp>
            <p:nvSpPr>
              <p:cNvPr id="25628" name="Rectangle 18"/>
              <p:cNvSpPr>
                <a:spLocks noChangeArrowheads="1"/>
              </p:cNvSpPr>
              <p:nvPr/>
            </p:nvSpPr>
            <p:spPr bwMode="auto">
              <a:xfrm>
                <a:off x="1819" y="2787"/>
                <a:ext cx="573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25629" name="Text Box 19"/>
              <p:cNvSpPr txBox="1">
                <a:spLocks noChangeArrowheads="1"/>
              </p:cNvSpPr>
              <p:nvPr/>
            </p:nvSpPr>
            <p:spPr bwMode="auto">
              <a:xfrm>
                <a:off x="1819"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工作方式</a:t>
                </a:r>
              </a:p>
            </p:txBody>
          </p:sp>
          <p:sp>
            <p:nvSpPr>
              <p:cNvPr id="25630" name="Text Box 20"/>
              <p:cNvSpPr txBox="1">
                <a:spLocks noChangeArrowheads="1"/>
              </p:cNvSpPr>
              <p:nvPr/>
            </p:nvSpPr>
            <p:spPr bwMode="auto">
              <a:xfrm>
                <a:off x="2932"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25631" name="Text Box 21"/>
              <p:cNvSpPr txBox="1">
                <a:spLocks noChangeArrowheads="1"/>
              </p:cNvSpPr>
              <p:nvPr/>
            </p:nvSpPr>
            <p:spPr bwMode="auto">
              <a:xfrm>
                <a:off x="4045" y="2787"/>
                <a:ext cx="1008"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FF0000"/>
                    </a:solidFill>
                    <a:latin typeface="黑体" pitchFamily="2" charset="-122"/>
                    <a:ea typeface="黑体" pitchFamily="2" charset="-122"/>
                  </a:rPr>
                  <a:t>优先级</a:t>
                </a:r>
              </a:p>
            </p:txBody>
          </p:sp>
          <p:grpSp>
            <p:nvGrpSpPr>
              <p:cNvPr id="25632" name="Group 22"/>
              <p:cNvGrpSpPr>
                <a:grpSpLocks/>
              </p:cNvGrpSpPr>
              <p:nvPr/>
            </p:nvGrpSpPr>
            <p:grpSpPr bwMode="auto">
              <a:xfrm>
                <a:off x="5053" y="2787"/>
                <a:ext cx="2499" cy="372"/>
                <a:chOff x="4066" y="3428"/>
                <a:chExt cx="2499" cy="372"/>
              </a:xfrm>
            </p:grpSpPr>
            <p:sp>
              <p:nvSpPr>
                <p:cNvPr id="25633" name="Text Box 23"/>
                <p:cNvSpPr txBox="1">
                  <a:spLocks noChangeArrowheads="1"/>
                </p:cNvSpPr>
                <p:nvPr/>
              </p:nvSpPr>
              <p:spPr bwMode="auto">
                <a:xfrm>
                  <a:off x="4066"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I</a:t>
                  </a:r>
                </a:p>
              </p:txBody>
            </p:sp>
            <p:sp>
              <p:nvSpPr>
                <p:cNvPr id="25634" name="Text Box 24"/>
                <p:cNvSpPr txBox="1">
                  <a:spLocks noChangeArrowheads="1"/>
                </p:cNvSpPr>
                <p:nvPr/>
              </p:nvSpPr>
              <p:spPr bwMode="auto">
                <a:xfrm>
                  <a:off x="4423"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T</a:t>
                  </a:r>
                </a:p>
              </p:txBody>
            </p:sp>
            <p:sp>
              <p:nvSpPr>
                <p:cNvPr id="25635" name="Text Box 25"/>
                <p:cNvSpPr txBox="1">
                  <a:spLocks noChangeArrowheads="1"/>
                </p:cNvSpPr>
                <p:nvPr/>
              </p:nvSpPr>
              <p:spPr bwMode="auto">
                <a:xfrm>
                  <a:off x="4780"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a:t>
                  </a:r>
                </a:p>
              </p:txBody>
            </p:sp>
            <p:sp>
              <p:nvSpPr>
                <p:cNvPr id="25636" name="Text Box 26"/>
                <p:cNvSpPr txBox="1">
                  <a:spLocks noChangeArrowheads="1"/>
                </p:cNvSpPr>
                <p:nvPr/>
              </p:nvSpPr>
              <p:spPr bwMode="auto">
                <a:xfrm>
                  <a:off x="5137"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N</a:t>
                  </a:r>
                </a:p>
              </p:txBody>
            </p:sp>
            <p:sp>
              <p:nvSpPr>
                <p:cNvPr id="25637" name="Text Box 27"/>
                <p:cNvSpPr txBox="1">
                  <a:spLocks noChangeArrowheads="1"/>
                </p:cNvSpPr>
                <p:nvPr/>
              </p:nvSpPr>
              <p:spPr bwMode="auto">
                <a:xfrm>
                  <a:off x="5494"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Z</a:t>
                  </a:r>
                </a:p>
              </p:txBody>
            </p:sp>
            <p:sp>
              <p:nvSpPr>
                <p:cNvPr id="25638" name="Text Box 28"/>
                <p:cNvSpPr txBox="1">
                  <a:spLocks noChangeArrowheads="1"/>
                </p:cNvSpPr>
                <p:nvPr/>
              </p:nvSpPr>
              <p:spPr bwMode="auto">
                <a:xfrm>
                  <a:off x="5851"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V</a:t>
                  </a:r>
                </a:p>
              </p:txBody>
            </p:sp>
            <p:sp>
              <p:nvSpPr>
                <p:cNvPr id="25639" name="Text Box 29"/>
                <p:cNvSpPr txBox="1">
                  <a:spLocks noChangeArrowheads="1"/>
                </p:cNvSpPr>
                <p:nvPr/>
              </p:nvSpPr>
              <p:spPr bwMode="auto">
                <a:xfrm>
                  <a:off x="6208"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C</a:t>
                  </a:r>
                </a:p>
              </p:txBody>
            </p:sp>
          </p:grpSp>
        </p:grpSp>
        <p:grpSp>
          <p:nvGrpSpPr>
            <p:cNvPr id="25619" name="Group 30"/>
            <p:cNvGrpSpPr>
              <a:grpSpLocks/>
            </p:cNvGrpSpPr>
            <p:nvPr/>
          </p:nvGrpSpPr>
          <p:grpSpPr bwMode="auto">
            <a:xfrm>
              <a:off x="5683" y="11106"/>
              <a:ext cx="2478" cy="1085"/>
              <a:chOff x="5053" y="3304"/>
              <a:chExt cx="2478" cy="1085"/>
            </a:xfrm>
          </p:grpSpPr>
          <p:sp>
            <p:nvSpPr>
              <p:cNvPr id="25621" name="Text Box 31"/>
              <p:cNvSpPr txBox="1">
                <a:spLocks noChangeArrowheads="1"/>
              </p:cNvSpPr>
              <p:nvPr/>
            </p:nvSpPr>
            <p:spPr bwMode="auto">
              <a:xfrm>
                <a:off x="7216"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有进位</a:t>
                </a:r>
              </a:p>
            </p:txBody>
          </p:sp>
          <p:sp>
            <p:nvSpPr>
              <p:cNvPr id="25622" name="Text Box 32"/>
              <p:cNvSpPr txBox="1">
                <a:spLocks noChangeArrowheads="1"/>
              </p:cNvSpPr>
              <p:nvPr/>
            </p:nvSpPr>
            <p:spPr bwMode="auto">
              <a:xfrm>
                <a:off x="6859"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结果溢出</a:t>
                </a:r>
              </a:p>
            </p:txBody>
          </p:sp>
          <p:sp>
            <p:nvSpPr>
              <p:cNvPr id="25623" name="Text Box 33"/>
              <p:cNvSpPr txBox="1">
                <a:spLocks noChangeArrowheads="1"/>
              </p:cNvSpPr>
              <p:nvPr/>
            </p:nvSpPr>
            <p:spPr bwMode="auto">
              <a:xfrm>
                <a:off x="6502"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结果为零</a:t>
                </a:r>
              </a:p>
            </p:txBody>
          </p:sp>
          <p:sp>
            <p:nvSpPr>
              <p:cNvPr id="25624" name="Text Box 34"/>
              <p:cNvSpPr txBox="1">
                <a:spLocks noChangeArrowheads="1"/>
              </p:cNvSpPr>
              <p:nvPr/>
            </p:nvSpPr>
            <p:spPr bwMode="auto">
              <a:xfrm>
                <a:off x="6124"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结果为负</a:t>
                </a:r>
              </a:p>
            </p:txBody>
          </p:sp>
          <p:sp>
            <p:nvSpPr>
              <p:cNvPr id="25625" name="Text Box 35"/>
              <p:cNvSpPr txBox="1">
                <a:spLocks noChangeArrowheads="1"/>
              </p:cNvSpPr>
              <p:nvPr/>
            </p:nvSpPr>
            <p:spPr bwMode="auto">
              <a:xfrm>
                <a:off x="5767"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奇偶位</a:t>
                </a:r>
              </a:p>
            </p:txBody>
          </p:sp>
          <p:sp>
            <p:nvSpPr>
              <p:cNvPr id="25626" name="Text Box 36"/>
              <p:cNvSpPr txBox="1">
                <a:spLocks noChangeArrowheads="1"/>
              </p:cNvSpPr>
              <p:nvPr/>
            </p:nvSpPr>
            <p:spPr bwMode="auto">
              <a:xfrm>
                <a:off x="5410"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跟踪</a:t>
                </a:r>
                <a:r>
                  <a:rPr lang="en-US" altLang="zh-CN" sz="1800" dirty="0">
                    <a:latin typeface="黑体" pitchFamily="2" charset="-122"/>
                    <a:ea typeface="黑体" pitchFamily="2" charset="-122"/>
                  </a:rPr>
                  <a:t>(</a:t>
                </a:r>
                <a:r>
                  <a:rPr lang="zh-CN" altLang="en-US" sz="1800">
                    <a:latin typeface="黑体" pitchFamily="2" charset="-122"/>
                    <a:ea typeface="黑体" pitchFamily="2" charset="-122"/>
                  </a:rPr>
                  <a:t>陷阱</a:t>
                </a:r>
                <a:r>
                  <a:rPr lang="en-US" altLang="zh-CN" sz="1800" dirty="0">
                    <a:latin typeface="黑体" pitchFamily="2" charset="-122"/>
                    <a:ea typeface="黑体" pitchFamily="2" charset="-122"/>
                  </a:rPr>
                  <a:t>)</a:t>
                </a:r>
              </a:p>
            </p:txBody>
          </p:sp>
          <p:sp>
            <p:nvSpPr>
              <p:cNvPr id="25627" name="Text Box 37"/>
              <p:cNvSpPr txBox="1">
                <a:spLocks noChangeArrowheads="1"/>
              </p:cNvSpPr>
              <p:nvPr/>
            </p:nvSpPr>
            <p:spPr bwMode="auto">
              <a:xfrm>
                <a:off x="5053"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允许中断</a:t>
                </a:r>
              </a:p>
            </p:txBody>
          </p:sp>
        </p:grpSp>
        <p:sp>
          <p:nvSpPr>
            <p:cNvPr id="25620" name="Text Box 38"/>
            <p:cNvSpPr txBox="1">
              <a:spLocks noChangeArrowheads="1"/>
            </p:cNvSpPr>
            <p:nvPr/>
          </p:nvSpPr>
          <p:spPr bwMode="auto">
            <a:xfrm>
              <a:off x="1630" y="10620"/>
              <a:ext cx="75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PSW</a:t>
              </a:r>
            </a:p>
          </p:txBody>
        </p:sp>
      </p:grpSp>
      <p:sp>
        <p:nvSpPr>
          <p:cNvPr id="25607" name="Text Box 39"/>
          <p:cNvSpPr txBox="1">
            <a:spLocks noChangeArrowheads="1"/>
          </p:cNvSpPr>
          <p:nvPr/>
        </p:nvSpPr>
        <p:spPr bwMode="auto">
          <a:xfrm>
            <a:off x="1223963" y="4318000"/>
            <a:ext cx="7920037"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优先级：</a:t>
            </a:r>
            <a:r>
              <a:rPr lang="zh-CN" altLang="en-US">
                <a:latin typeface="黑体" pitchFamily="2" charset="-122"/>
                <a:ea typeface="黑体" pitchFamily="2" charset="-122"/>
              </a:rPr>
              <a:t>当前运行程序的优先级。</a:t>
            </a:r>
          </a:p>
          <a:p>
            <a:pPr eaLnBrk="1" hangingPunct="1">
              <a:spcBef>
                <a:spcPct val="0"/>
              </a:spcBef>
            </a:pPr>
            <a:r>
              <a:rPr lang="zh-CN" altLang="en-US">
                <a:latin typeface="黑体" pitchFamily="2" charset="-122"/>
                <a:ea typeface="黑体" pitchFamily="2" charset="-122"/>
              </a:rPr>
              <a:t>    当有外部中断请求的优先级高于它时，</a:t>
            </a:r>
            <a:r>
              <a:rPr lang="en-US" altLang="zh-CN" dirty="0">
                <a:latin typeface="黑体" pitchFamily="2" charset="-122"/>
                <a:ea typeface="黑体" pitchFamily="2" charset="-122"/>
              </a:rPr>
              <a:t>CPU</a:t>
            </a:r>
            <a:r>
              <a:rPr lang="zh-CN" altLang="en-US">
                <a:latin typeface="黑体" pitchFamily="2" charset="-122"/>
                <a:ea typeface="黑体" pitchFamily="2" charset="-122"/>
              </a:rPr>
              <a:t>才会响应中断请求。</a:t>
            </a:r>
          </a:p>
        </p:txBody>
      </p:sp>
      <p:grpSp>
        <p:nvGrpSpPr>
          <p:cNvPr id="25608" name="Group 60"/>
          <p:cNvGrpSpPr>
            <a:grpSpLocks/>
          </p:cNvGrpSpPr>
          <p:nvPr/>
        </p:nvGrpSpPr>
        <p:grpSpPr bwMode="auto">
          <a:xfrm>
            <a:off x="5543550" y="476250"/>
            <a:ext cx="2413000" cy="1547813"/>
            <a:chOff x="2154" y="290"/>
            <a:chExt cx="1294" cy="1046"/>
          </a:xfrm>
        </p:grpSpPr>
        <p:sp>
          <p:nvSpPr>
            <p:cNvPr id="25609" name="Text Box 61"/>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5610" name="Text Box 62"/>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5611" name="Text Box 63"/>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5612" name="Text Box 64"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5613" name="Text Box 65"/>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5614" name="Text Box 66"/>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5615" name="Text Box 67"/>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5616" name="Text Box 68"/>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5617" name="Text Box 69"/>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6627" name="Rectangle 3"/>
          <p:cNvSpPr>
            <a:spLocks noChangeArrowheads="1"/>
          </p:cNvSpPr>
          <p:nvPr/>
        </p:nvSpPr>
        <p:spPr bwMode="auto">
          <a:xfrm>
            <a:off x="647700" y="1089025"/>
            <a:ext cx="217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专用寄存器</a:t>
            </a:r>
            <a:r>
              <a:rPr lang="zh-CN" altLang="en-US">
                <a:latin typeface="黑体" pitchFamily="2" charset="-122"/>
                <a:ea typeface="黑体" pitchFamily="2" charset="-122"/>
              </a:rPr>
              <a:t> </a:t>
            </a:r>
          </a:p>
        </p:txBody>
      </p:sp>
      <p:sp>
        <p:nvSpPr>
          <p:cNvPr id="26628" name="Text Box 14"/>
          <p:cNvSpPr txBox="1">
            <a:spLocks noChangeArrowheads="1"/>
          </p:cNvSpPr>
          <p:nvPr/>
        </p:nvSpPr>
        <p:spPr bwMode="auto">
          <a:xfrm>
            <a:off x="827088" y="1484313"/>
            <a:ext cx="78851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状态寄存器</a:t>
            </a:r>
            <a:r>
              <a:rPr lang="en-US" altLang="zh-CN" dirty="0">
                <a:latin typeface="黑体" pitchFamily="2" charset="-122"/>
                <a:ea typeface="黑体" pitchFamily="2" charset="-122"/>
              </a:rPr>
              <a:t>PSW </a:t>
            </a:r>
            <a:endParaRPr lang="zh-CN" altLang="en-US">
              <a:latin typeface="黑体" pitchFamily="2" charset="-122"/>
              <a:ea typeface="黑体" pitchFamily="2" charset="-122"/>
            </a:endParaRPr>
          </a:p>
        </p:txBody>
      </p:sp>
      <p:sp>
        <p:nvSpPr>
          <p:cNvPr id="26629" name="Text Box 15"/>
          <p:cNvSpPr txBox="1">
            <a:spLocks noChangeArrowheads="1"/>
          </p:cNvSpPr>
          <p:nvPr/>
        </p:nvSpPr>
        <p:spPr bwMode="auto">
          <a:xfrm>
            <a:off x="1258888" y="2024063"/>
            <a:ext cx="12239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例如：</a:t>
            </a:r>
          </a:p>
        </p:txBody>
      </p:sp>
      <p:grpSp>
        <p:nvGrpSpPr>
          <p:cNvPr id="26630" name="Group 16"/>
          <p:cNvGrpSpPr>
            <a:grpSpLocks/>
          </p:cNvGrpSpPr>
          <p:nvPr/>
        </p:nvGrpSpPr>
        <p:grpSpPr bwMode="auto">
          <a:xfrm>
            <a:off x="1476375" y="2673350"/>
            <a:ext cx="7164388" cy="1692275"/>
            <a:chOff x="1630" y="10620"/>
            <a:chExt cx="6552" cy="1571"/>
          </a:xfrm>
        </p:grpSpPr>
        <p:grpSp>
          <p:nvGrpSpPr>
            <p:cNvPr id="26642" name="Group 17"/>
            <p:cNvGrpSpPr>
              <a:grpSpLocks/>
            </p:cNvGrpSpPr>
            <p:nvPr/>
          </p:nvGrpSpPr>
          <p:grpSpPr bwMode="auto">
            <a:xfrm>
              <a:off x="2449" y="10620"/>
              <a:ext cx="5733" cy="341"/>
              <a:chOff x="1819" y="2787"/>
              <a:chExt cx="5733" cy="372"/>
            </a:xfrm>
          </p:grpSpPr>
          <p:sp>
            <p:nvSpPr>
              <p:cNvPr id="26652" name="Rectangle 18"/>
              <p:cNvSpPr>
                <a:spLocks noChangeArrowheads="1"/>
              </p:cNvSpPr>
              <p:nvPr/>
            </p:nvSpPr>
            <p:spPr bwMode="auto">
              <a:xfrm>
                <a:off x="1819" y="2787"/>
                <a:ext cx="573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26653" name="Text Box 19"/>
              <p:cNvSpPr txBox="1">
                <a:spLocks noChangeArrowheads="1"/>
              </p:cNvSpPr>
              <p:nvPr/>
            </p:nvSpPr>
            <p:spPr bwMode="auto">
              <a:xfrm>
                <a:off x="1819"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FF0000"/>
                    </a:solidFill>
                    <a:latin typeface="黑体" pitchFamily="2" charset="-122"/>
                    <a:ea typeface="黑体" pitchFamily="2" charset="-122"/>
                  </a:rPr>
                  <a:t>工作方式</a:t>
                </a:r>
              </a:p>
            </p:txBody>
          </p:sp>
          <p:sp>
            <p:nvSpPr>
              <p:cNvPr id="26654" name="Text Box 20"/>
              <p:cNvSpPr txBox="1">
                <a:spLocks noChangeArrowheads="1"/>
              </p:cNvSpPr>
              <p:nvPr/>
            </p:nvSpPr>
            <p:spPr bwMode="auto">
              <a:xfrm>
                <a:off x="2932" y="2787"/>
                <a:ext cx="1113"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26655" name="Text Box 21"/>
              <p:cNvSpPr txBox="1">
                <a:spLocks noChangeArrowheads="1"/>
              </p:cNvSpPr>
              <p:nvPr/>
            </p:nvSpPr>
            <p:spPr bwMode="auto">
              <a:xfrm>
                <a:off x="4045" y="2787"/>
                <a:ext cx="1008"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优先级</a:t>
                </a:r>
              </a:p>
            </p:txBody>
          </p:sp>
          <p:grpSp>
            <p:nvGrpSpPr>
              <p:cNvPr id="26656" name="Group 22"/>
              <p:cNvGrpSpPr>
                <a:grpSpLocks/>
              </p:cNvGrpSpPr>
              <p:nvPr/>
            </p:nvGrpSpPr>
            <p:grpSpPr bwMode="auto">
              <a:xfrm>
                <a:off x="5053" y="2787"/>
                <a:ext cx="2499" cy="372"/>
                <a:chOff x="4066" y="3428"/>
                <a:chExt cx="2499" cy="372"/>
              </a:xfrm>
            </p:grpSpPr>
            <p:sp>
              <p:nvSpPr>
                <p:cNvPr id="26657" name="Text Box 23"/>
                <p:cNvSpPr txBox="1">
                  <a:spLocks noChangeArrowheads="1"/>
                </p:cNvSpPr>
                <p:nvPr/>
              </p:nvSpPr>
              <p:spPr bwMode="auto">
                <a:xfrm>
                  <a:off x="4066"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I</a:t>
                  </a:r>
                </a:p>
              </p:txBody>
            </p:sp>
            <p:sp>
              <p:nvSpPr>
                <p:cNvPr id="26658" name="Text Box 24"/>
                <p:cNvSpPr txBox="1">
                  <a:spLocks noChangeArrowheads="1"/>
                </p:cNvSpPr>
                <p:nvPr/>
              </p:nvSpPr>
              <p:spPr bwMode="auto">
                <a:xfrm>
                  <a:off x="4423"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T</a:t>
                  </a:r>
                </a:p>
              </p:txBody>
            </p:sp>
            <p:sp>
              <p:nvSpPr>
                <p:cNvPr id="26659" name="Text Box 25"/>
                <p:cNvSpPr txBox="1">
                  <a:spLocks noChangeArrowheads="1"/>
                </p:cNvSpPr>
                <p:nvPr/>
              </p:nvSpPr>
              <p:spPr bwMode="auto">
                <a:xfrm>
                  <a:off x="4780"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a:t>
                  </a:r>
                </a:p>
              </p:txBody>
            </p:sp>
            <p:sp>
              <p:nvSpPr>
                <p:cNvPr id="26660" name="Text Box 26"/>
                <p:cNvSpPr txBox="1">
                  <a:spLocks noChangeArrowheads="1"/>
                </p:cNvSpPr>
                <p:nvPr/>
              </p:nvSpPr>
              <p:spPr bwMode="auto">
                <a:xfrm>
                  <a:off x="5137"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N</a:t>
                  </a:r>
                </a:p>
              </p:txBody>
            </p:sp>
            <p:sp>
              <p:nvSpPr>
                <p:cNvPr id="26661" name="Text Box 27"/>
                <p:cNvSpPr txBox="1">
                  <a:spLocks noChangeArrowheads="1"/>
                </p:cNvSpPr>
                <p:nvPr/>
              </p:nvSpPr>
              <p:spPr bwMode="auto">
                <a:xfrm>
                  <a:off x="5494"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Z</a:t>
                  </a:r>
                </a:p>
              </p:txBody>
            </p:sp>
            <p:sp>
              <p:nvSpPr>
                <p:cNvPr id="26662" name="Text Box 28"/>
                <p:cNvSpPr txBox="1">
                  <a:spLocks noChangeArrowheads="1"/>
                </p:cNvSpPr>
                <p:nvPr/>
              </p:nvSpPr>
              <p:spPr bwMode="auto">
                <a:xfrm>
                  <a:off x="5851"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V</a:t>
                  </a:r>
                </a:p>
              </p:txBody>
            </p:sp>
            <p:sp>
              <p:nvSpPr>
                <p:cNvPr id="26663" name="Text Box 29"/>
                <p:cNvSpPr txBox="1">
                  <a:spLocks noChangeArrowheads="1"/>
                </p:cNvSpPr>
                <p:nvPr/>
              </p:nvSpPr>
              <p:spPr bwMode="auto">
                <a:xfrm>
                  <a:off x="6208" y="3428"/>
                  <a:ext cx="357" cy="372"/>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C</a:t>
                  </a:r>
                </a:p>
              </p:txBody>
            </p:sp>
          </p:grpSp>
        </p:grpSp>
        <p:grpSp>
          <p:nvGrpSpPr>
            <p:cNvPr id="26643" name="Group 30"/>
            <p:cNvGrpSpPr>
              <a:grpSpLocks/>
            </p:cNvGrpSpPr>
            <p:nvPr/>
          </p:nvGrpSpPr>
          <p:grpSpPr bwMode="auto">
            <a:xfrm>
              <a:off x="5683" y="11106"/>
              <a:ext cx="2478" cy="1085"/>
              <a:chOff x="5053" y="3304"/>
              <a:chExt cx="2478" cy="1085"/>
            </a:xfrm>
          </p:grpSpPr>
          <p:sp>
            <p:nvSpPr>
              <p:cNvPr id="26645" name="Text Box 31"/>
              <p:cNvSpPr txBox="1">
                <a:spLocks noChangeArrowheads="1"/>
              </p:cNvSpPr>
              <p:nvPr/>
            </p:nvSpPr>
            <p:spPr bwMode="auto">
              <a:xfrm>
                <a:off x="7216"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有进位</a:t>
                </a:r>
              </a:p>
            </p:txBody>
          </p:sp>
          <p:sp>
            <p:nvSpPr>
              <p:cNvPr id="26646" name="Text Box 32"/>
              <p:cNvSpPr txBox="1">
                <a:spLocks noChangeArrowheads="1"/>
              </p:cNvSpPr>
              <p:nvPr/>
            </p:nvSpPr>
            <p:spPr bwMode="auto">
              <a:xfrm>
                <a:off x="6859"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结果溢出</a:t>
                </a:r>
              </a:p>
            </p:txBody>
          </p:sp>
          <p:sp>
            <p:nvSpPr>
              <p:cNvPr id="26647" name="Text Box 33"/>
              <p:cNvSpPr txBox="1">
                <a:spLocks noChangeArrowheads="1"/>
              </p:cNvSpPr>
              <p:nvPr/>
            </p:nvSpPr>
            <p:spPr bwMode="auto">
              <a:xfrm>
                <a:off x="6502"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结果为零</a:t>
                </a:r>
              </a:p>
            </p:txBody>
          </p:sp>
          <p:sp>
            <p:nvSpPr>
              <p:cNvPr id="26648" name="Text Box 34"/>
              <p:cNvSpPr txBox="1">
                <a:spLocks noChangeArrowheads="1"/>
              </p:cNvSpPr>
              <p:nvPr/>
            </p:nvSpPr>
            <p:spPr bwMode="auto">
              <a:xfrm>
                <a:off x="6124"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结果为负</a:t>
                </a:r>
              </a:p>
            </p:txBody>
          </p:sp>
          <p:sp>
            <p:nvSpPr>
              <p:cNvPr id="26649" name="Text Box 35"/>
              <p:cNvSpPr txBox="1">
                <a:spLocks noChangeArrowheads="1"/>
              </p:cNvSpPr>
              <p:nvPr/>
            </p:nvSpPr>
            <p:spPr bwMode="auto">
              <a:xfrm>
                <a:off x="5767"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奇偶位</a:t>
                </a:r>
              </a:p>
            </p:txBody>
          </p:sp>
          <p:sp>
            <p:nvSpPr>
              <p:cNvPr id="26650" name="Text Box 36"/>
              <p:cNvSpPr txBox="1">
                <a:spLocks noChangeArrowheads="1"/>
              </p:cNvSpPr>
              <p:nvPr/>
            </p:nvSpPr>
            <p:spPr bwMode="auto">
              <a:xfrm>
                <a:off x="5410"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跟踪</a:t>
                </a:r>
                <a:r>
                  <a:rPr lang="en-US" altLang="zh-CN" sz="1800" dirty="0">
                    <a:latin typeface="黑体" pitchFamily="2" charset="-122"/>
                    <a:ea typeface="黑体" pitchFamily="2" charset="-122"/>
                  </a:rPr>
                  <a:t>(</a:t>
                </a:r>
                <a:r>
                  <a:rPr lang="zh-CN" altLang="en-US" sz="1800">
                    <a:latin typeface="黑体" pitchFamily="2" charset="-122"/>
                    <a:ea typeface="黑体" pitchFamily="2" charset="-122"/>
                  </a:rPr>
                  <a:t>陷阱</a:t>
                </a:r>
                <a:r>
                  <a:rPr lang="en-US" altLang="zh-CN" sz="1800" dirty="0">
                    <a:latin typeface="黑体" pitchFamily="2" charset="-122"/>
                    <a:ea typeface="黑体" pitchFamily="2" charset="-122"/>
                  </a:rPr>
                  <a:t>)</a:t>
                </a:r>
              </a:p>
            </p:txBody>
          </p:sp>
          <p:sp>
            <p:nvSpPr>
              <p:cNvPr id="26651" name="Text Box 37"/>
              <p:cNvSpPr txBox="1">
                <a:spLocks noChangeArrowheads="1"/>
              </p:cNvSpPr>
              <p:nvPr/>
            </p:nvSpPr>
            <p:spPr bwMode="auto">
              <a:xfrm>
                <a:off x="5053" y="3304"/>
                <a:ext cx="315" cy="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允许中断</a:t>
                </a:r>
              </a:p>
            </p:txBody>
          </p:sp>
        </p:grpSp>
        <p:sp>
          <p:nvSpPr>
            <p:cNvPr id="26644" name="Text Box 38"/>
            <p:cNvSpPr txBox="1">
              <a:spLocks noChangeArrowheads="1"/>
            </p:cNvSpPr>
            <p:nvPr/>
          </p:nvSpPr>
          <p:spPr bwMode="auto">
            <a:xfrm>
              <a:off x="1630" y="10620"/>
              <a:ext cx="75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PSW</a:t>
              </a:r>
            </a:p>
          </p:txBody>
        </p:sp>
      </p:grpSp>
      <p:sp>
        <p:nvSpPr>
          <p:cNvPr id="26631" name="Text Box 39"/>
          <p:cNvSpPr txBox="1">
            <a:spLocks noChangeArrowheads="1"/>
          </p:cNvSpPr>
          <p:nvPr/>
        </p:nvSpPr>
        <p:spPr bwMode="auto">
          <a:xfrm>
            <a:off x="1223963" y="4318000"/>
            <a:ext cx="79200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工作方式：</a:t>
            </a:r>
            <a:r>
              <a:rPr lang="zh-CN" altLang="en-US">
                <a:latin typeface="黑体" pitchFamily="2" charset="-122"/>
                <a:ea typeface="黑体" pitchFamily="2" charset="-122"/>
              </a:rPr>
              <a:t>有些计算机将</a:t>
            </a:r>
            <a:r>
              <a:rPr lang="en-US" altLang="zh-CN" dirty="0">
                <a:latin typeface="黑体" pitchFamily="2" charset="-122"/>
                <a:ea typeface="黑体" pitchFamily="2" charset="-122"/>
              </a:rPr>
              <a:t>CPU</a:t>
            </a:r>
            <a:r>
              <a:rPr lang="zh-CN" altLang="en-US">
                <a:latin typeface="黑体" pitchFamily="2" charset="-122"/>
                <a:ea typeface="黑体" pitchFamily="2" charset="-122"/>
              </a:rPr>
              <a:t>状态分为用户态和管态。 </a:t>
            </a:r>
          </a:p>
        </p:txBody>
      </p:sp>
      <p:grpSp>
        <p:nvGrpSpPr>
          <p:cNvPr id="26632" name="Group 60"/>
          <p:cNvGrpSpPr>
            <a:grpSpLocks/>
          </p:cNvGrpSpPr>
          <p:nvPr/>
        </p:nvGrpSpPr>
        <p:grpSpPr bwMode="auto">
          <a:xfrm>
            <a:off x="5543550" y="476250"/>
            <a:ext cx="2413000" cy="1547813"/>
            <a:chOff x="2154" y="290"/>
            <a:chExt cx="1294" cy="1046"/>
          </a:xfrm>
        </p:grpSpPr>
        <p:sp>
          <p:nvSpPr>
            <p:cNvPr id="26633" name="Text Box 61"/>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6634" name="Text Box 62"/>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6635" name="Text Box 63"/>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6636" name="Text Box 64"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6637" name="Text Box 65"/>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6638" name="Text Box 66"/>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6639" name="Text Box 67"/>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26640" name="Text Box 68"/>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6641" name="Text Box 69"/>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a:solidFill>
                  <a:srgbClr val="990000"/>
                </a:solidFill>
                <a:latin typeface="黑体" pitchFamily="2" charset="-122"/>
                <a:ea typeface="黑体" pitchFamily="2" charset="-122"/>
              </a:rPr>
              <a:t>6.2.2 </a:t>
            </a:r>
            <a:r>
              <a:rPr lang="zh-CN" altLang="en-US">
                <a:solidFill>
                  <a:srgbClr val="990000"/>
                </a:solidFill>
                <a:latin typeface="黑体" pitchFamily="2" charset="-122"/>
                <a:ea typeface="黑体" pitchFamily="2" charset="-122"/>
              </a:rPr>
              <a:t>寄存器设置</a:t>
            </a:r>
          </a:p>
        </p:txBody>
      </p:sp>
      <p:sp>
        <p:nvSpPr>
          <p:cNvPr id="27651" name="Rectangle 3"/>
          <p:cNvSpPr>
            <a:spLocks noChangeArrowheads="1"/>
          </p:cNvSpPr>
          <p:nvPr/>
        </p:nvSpPr>
        <p:spPr bwMode="auto">
          <a:xfrm>
            <a:off x="647700" y="1089025"/>
            <a:ext cx="370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用作主存接口的寄存器</a:t>
            </a:r>
            <a:r>
              <a:rPr lang="zh-CN" altLang="en-US">
                <a:latin typeface="黑体" pitchFamily="2" charset="-122"/>
                <a:ea typeface="黑体" pitchFamily="2" charset="-122"/>
              </a:rPr>
              <a:t> </a:t>
            </a:r>
          </a:p>
        </p:txBody>
      </p:sp>
      <p:grpSp>
        <p:nvGrpSpPr>
          <p:cNvPr id="27652" name="Group 4"/>
          <p:cNvGrpSpPr>
            <a:grpSpLocks/>
          </p:cNvGrpSpPr>
          <p:nvPr/>
        </p:nvGrpSpPr>
        <p:grpSpPr bwMode="auto">
          <a:xfrm>
            <a:off x="5256213" y="476250"/>
            <a:ext cx="2413000" cy="1547813"/>
            <a:chOff x="2154" y="290"/>
            <a:chExt cx="1294" cy="1046"/>
          </a:xfrm>
        </p:grpSpPr>
        <p:sp>
          <p:nvSpPr>
            <p:cNvPr id="27667" name="Text Box 5"/>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a:solidFill>
                    <a:srgbClr val="000099"/>
                  </a:solidFill>
                  <a:latin typeface="黑体" pitchFamily="2" charset="-122"/>
                  <a:ea typeface="黑体" pitchFamily="2" charset="-122"/>
                </a:rPr>
                <a:t>CPU</a:t>
              </a:r>
            </a:p>
          </p:txBody>
        </p:sp>
        <p:sp>
          <p:nvSpPr>
            <p:cNvPr id="27668" name="Text Box 6"/>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7669" name="Text Box 7"/>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a:solidFill>
                    <a:srgbClr val="000099"/>
                  </a:solidFill>
                  <a:latin typeface="黑体" pitchFamily="2" charset="-122"/>
                  <a:ea typeface="黑体" pitchFamily="2" charset="-122"/>
                </a:rPr>
                <a:t>ALU</a:t>
              </a:r>
            </a:p>
          </p:txBody>
        </p:sp>
        <p:sp>
          <p:nvSpPr>
            <p:cNvPr id="27670" name="Text Box 8" descr="75%"/>
            <p:cNvSpPr txBox="1">
              <a:spLocks noChangeArrowheads="1"/>
            </p:cNvSpPr>
            <p:nvPr/>
          </p:nvSpPr>
          <p:spPr bwMode="auto">
            <a:xfrm>
              <a:off x="2890" y="514"/>
              <a:ext cx="417" cy="296"/>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27671" name="Text Box 9"/>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寄存器</a:t>
              </a:r>
            </a:p>
          </p:txBody>
        </p:sp>
        <p:sp>
          <p:nvSpPr>
            <p:cNvPr id="27672" name="Text Box 10"/>
            <p:cNvSpPr txBox="1">
              <a:spLocks noChangeArrowheads="1"/>
            </p:cNvSpPr>
            <p:nvPr/>
          </p:nvSpPr>
          <p:spPr bwMode="auto">
            <a:xfrm>
              <a:off x="2890" y="932"/>
              <a:ext cx="417" cy="29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7673" name="Text Box 11"/>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a:solidFill>
                    <a:srgbClr val="000099"/>
                  </a:solidFill>
                  <a:latin typeface="黑体" pitchFamily="2" charset="-122"/>
                  <a:ea typeface="黑体" pitchFamily="2" charset="-122"/>
                </a:rPr>
                <a:t>CU</a:t>
              </a:r>
            </a:p>
          </p:txBody>
        </p:sp>
        <p:sp>
          <p:nvSpPr>
            <p:cNvPr id="27674" name="Text Box 12"/>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7675" name="Text Box 13"/>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
        <p:nvSpPr>
          <p:cNvPr id="27653" name="Text Box 40"/>
          <p:cNvSpPr txBox="1">
            <a:spLocks noChangeArrowheads="1"/>
          </p:cNvSpPr>
          <p:nvPr/>
        </p:nvSpPr>
        <p:spPr bwMode="auto">
          <a:xfrm>
            <a:off x="863600" y="1557338"/>
            <a:ext cx="7526338" cy="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(1)</a:t>
            </a:r>
            <a:r>
              <a:rPr lang="zh-CN" altLang="en-US" dirty="0">
                <a:latin typeface="黑体" pitchFamily="2" charset="-122"/>
                <a:ea typeface="黑体" pitchFamily="2" charset="-122"/>
              </a:rPr>
              <a:t>地址寄存器</a:t>
            </a:r>
            <a:r>
              <a:rPr lang="en-US" altLang="zh-CN" dirty="0">
                <a:solidFill>
                  <a:srgbClr val="FF0000"/>
                </a:solidFill>
                <a:latin typeface="黑体" pitchFamily="2" charset="-122"/>
                <a:ea typeface="黑体" pitchFamily="2" charset="-122"/>
              </a:rPr>
              <a:t>AR</a:t>
            </a:r>
            <a:r>
              <a:rPr lang="zh-CN" altLang="en-US" dirty="0">
                <a:latin typeface="黑体" pitchFamily="2" charset="-122"/>
                <a:ea typeface="黑体" pitchFamily="2" charset="-122"/>
              </a:rPr>
              <a:t>（或</a:t>
            </a:r>
            <a:r>
              <a:rPr lang="en-US" altLang="zh-CN" dirty="0">
                <a:latin typeface="黑体" pitchFamily="2" charset="-122"/>
                <a:ea typeface="黑体" pitchFamily="2" charset="-122"/>
              </a:rPr>
              <a:t>MAR</a:t>
            </a:r>
            <a:r>
              <a:rPr lang="zh-CN" altLang="en-US" dirty="0">
                <a:latin typeface="黑体" pitchFamily="2" charset="-122"/>
                <a:ea typeface="黑体" pitchFamily="2" charset="-122"/>
              </a:rPr>
              <a:t>）</a:t>
            </a:r>
            <a:endParaRPr lang="en-US" altLang="zh-CN" dirty="0">
              <a:latin typeface="黑体" pitchFamily="2" charset="-122"/>
              <a:ea typeface="黑体" pitchFamily="2" charset="-122"/>
            </a:endParaRPr>
          </a:p>
          <a:p>
            <a:pPr eaLnBrk="1" hangingPunct="1">
              <a:spcBef>
                <a:spcPct val="0"/>
              </a:spcBef>
            </a:pPr>
            <a:r>
              <a:rPr lang="zh-CN" altLang="en-US" dirty="0">
                <a:latin typeface="黑体" pitchFamily="2" charset="-122"/>
                <a:ea typeface="黑体" pitchFamily="2" charset="-122"/>
              </a:rPr>
              <a:t>    存放需要访问的内存单元的</a:t>
            </a:r>
            <a:r>
              <a:rPr lang="zh-CN" altLang="en-US" dirty="0">
                <a:solidFill>
                  <a:srgbClr val="FF0000"/>
                </a:solidFill>
                <a:latin typeface="黑体" pitchFamily="2" charset="-122"/>
                <a:ea typeface="黑体" pitchFamily="2" charset="-122"/>
              </a:rPr>
              <a:t>地址</a:t>
            </a:r>
            <a:r>
              <a:rPr lang="zh-CN" altLang="en-US" dirty="0">
                <a:latin typeface="黑体" pitchFamily="2" charset="-122"/>
                <a:ea typeface="黑体" pitchFamily="2" charset="-122"/>
              </a:rPr>
              <a:t>。</a:t>
            </a:r>
          </a:p>
        </p:txBody>
      </p:sp>
      <p:grpSp>
        <p:nvGrpSpPr>
          <p:cNvPr id="27654" name="Group 62"/>
          <p:cNvGrpSpPr>
            <a:grpSpLocks/>
          </p:cNvGrpSpPr>
          <p:nvPr/>
        </p:nvGrpSpPr>
        <p:grpSpPr bwMode="auto">
          <a:xfrm>
            <a:off x="7667625" y="512763"/>
            <a:ext cx="1152525" cy="1763712"/>
            <a:chOff x="3839" y="2251"/>
            <a:chExt cx="1240" cy="1597"/>
          </a:xfrm>
        </p:grpSpPr>
        <p:grpSp>
          <p:nvGrpSpPr>
            <p:cNvPr id="27656" name="Group 51"/>
            <p:cNvGrpSpPr>
              <a:grpSpLocks/>
            </p:cNvGrpSpPr>
            <p:nvPr/>
          </p:nvGrpSpPr>
          <p:grpSpPr bwMode="auto">
            <a:xfrm>
              <a:off x="3839" y="2251"/>
              <a:ext cx="1240" cy="1533"/>
              <a:chOff x="4305" y="5178"/>
              <a:chExt cx="1712" cy="2397"/>
            </a:xfrm>
          </p:grpSpPr>
          <p:sp>
            <p:nvSpPr>
              <p:cNvPr id="27661" name="Line 52"/>
              <p:cNvSpPr>
                <a:spLocks noChangeShapeType="1"/>
              </p:cNvSpPr>
              <p:nvPr/>
            </p:nvSpPr>
            <p:spPr bwMode="auto">
              <a:xfrm flipH="1">
                <a:off x="5009" y="5190"/>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2" name="Line 53"/>
              <p:cNvSpPr>
                <a:spLocks noChangeShapeType="1"/>
              </p:cNvSpPr>
              <p:nvPr/>
            </p:nvSpPr>
            <p:spPr bwMode="auto">
              <a:xfrm flipH="1">
                <a:off x="5505" y="5190"/>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54"/>
              <p:cNvSpPr>
                <a:spLocks noChangeShapeType="1"/>
              </p:cNvSpPr>
              <p:nvPr/>
            </p:nvSpPr>
            <p:spPr bwMode="auto">
              <a:xfrm flipH="1">
                <a:off x="6001" y="5178"/>
                <a:ext cx="16" cy="238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Line 55"/>
              <p:cNvSpPr>
                <a:spLocks noChangeShapeType="1"/>
              </p:cNvSpPr>
              <p:nvPr/>
            </p:nvSpPr>
            <p:spPr bwMode="auto">
              <a:xfrm>
                <a:off x="4335" y="5640"/>
                <a:ext cx="660" cy="0"/>
              </a:xfrm>
              <a:prstGeom prst="line">
                <a:avLst/>
              </a:prstGeom>
              <a:noFill/>
              <a:ln w="571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5" name="Line 56"/>
              <p:cNvSpPr>
                <a:spLocks noChangeShapeType="1"/>
              </p:cNvSpPr>
              <p:nvPr/>
            </p:nvSpPr>
            <p:spPr bwMode="auto">
              <a:xfrm>
                <a:off x="4305" y="6015"/>
                <a:ext cx="1230" cy="0"/>
              </a:xfrm>
              <a:prstGeom prst="line">
                <a:avLst/>
              </a:prstGeom>
              <a:noFill/>
              <a:ln w="5715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6" name="Line 57"/>
              <p:cNvSpPr>
                <a:spLocks noChangeShapeType="1"/>
              </p:cNvSpPr>
              <p:nvPr/>
            </p:nvSpPr>
            <p:spPr bwMode="auto">
              <a:xfrm>
                <a:off x="4319" y="6360"/>
                <a:ext cx="1680" cy="0"/>
              </a:xfrm>
              <a:prstGeom prst="line">
                <a:avLst/>
              </a:prstGeom>
              <a:noFill/>
              <a:ln w="571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7657" name="Group 58"/>
            <p:cNvGrpSpPr>
              <a:grpSpLocks/>
            </p:cNvGrpSpPr>
            <p:nvPr/>
          </p:nvGrpSpPr>
          <p:grpSpPr bwMode="auto">
            <a:xfrm>
              <a:off x="4023" y="3000"/>
              <a:ext cx="1032" cy="848"/>
              <a:chOff x="3366" y="1627"/>
              <a:chExt cx="1032" cy="941"/>
            </a:xfrm>
          </p:grpSpPr>
          <p:sp>
            <p:nvSpPr>
              <p:cNvPr id="27658" name="Text Box 59"/>
              <p:cNvSpPr txBox="1">
                <a:spLocks noChangeArrowheads="1"/>
              </p:cNvSpPr>
              <p:nvPr/>
            </p:nvSpPr>
            <p:spPr bwMode="auto">
              <a:xfrm>
                <a:off x="3366"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控制总线</a:t>
                </a:r>
              </a:p>
            </p:txBody>
          </p:sp>
          <p:sp>
            <p:nvSpPr>
              <p:cNvPr id="27659" name="Text Box 60"/>
              <p:cNvSpPr txBox="1">
                <a:spLocks noChangeArrowheads="1"/>
              </p:cNvSpPr>
              <p:nvPr/>
            </p:nvSpPr>
            <p:spPr bwMode="auto">
              <a:xfrm>
                <a:off x="3737"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数据总线</a:t>
                </a:r>
              </a:p>
            </p:txBody>
          </p:sp>
          <p:sp>
            <p:nvSpPr>
              <p:cNvPr id="27660" name="Text Box 61"/>
              <p:cNvSpPr txBox="1">
                <a:spLocks noChangeArrowheads="1"/>
              </p:cNvSpPr>
              <p:nvPr/>
            </p:nvSpPr>
            <p:spPr bwMode="auto">
              <a:xfrm>
                <a:off x="4101" y="1627"/>
                <a:ext cx="297" cy="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地址总线</a:t>
                </a:r>
              </a:p>
            </p:txBody>
          </p:sp>
        </p:grpSp>
      </p:grpSp>
      <p:sp>
        <p:nvSpPr>
          <p:cNvPr id="27655" name="Text Box 63"/>
          <p:cNvSpPr txBox="1">
            <a:spLocks noChangeArrowheads="1"/>
          </p:cNvSpPr>
          <p:nvPr/>
        </p:nvSpPr>
        <p:spPr bwMode="auto">
          <a:xfrm>
            <a:off x="900113" y="2781300"/>
            <a:ext cx="7920037"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(2)</a:t>
            </a:r>
            <a:r>
              <a:rPr lang="zh-CN" altLang="en-US" dirty="0">
                <a:latin typeface="黑体" pitchFamily="2" charset="-122"/>
                <a:ea typeface="黑体" pitchFamily="2" charset="-122"/>
              </a:rPr>
              <a:t>数据寄存器</a:t>
            </a:r>
            <a:r>
              <a:rPr lang="en-US" altLang="zh-CN" dirty="0">
                <a:solidFill>
                  <a:srgbClr val="FF0000"/>
                </a:solidFill>
                <a:latin typeface="黑体" pitchFamily="2" charset="-122"/>
                <a:ea typeface="黑体" pitchFamily="2" charset="-122"/>
              </a:rPr>
              <a:t>DR</a:t>
            </a:r>
            <a:r>
              <a:rPr lang="zh-CN" altLang="en-US" dirty="0">
                <a:latin typeface="黑体" pitchFamily="2" charset="-122"/>
                <a:ea typeface="黑体" pitchFamily="2" charset="-122"/>
              </a:rPr>
              <a:t>（或</a:t>
            </a:r>
            <a:r>
              <a:rPr lang="en-US" altLang="zh-CN" dirty="0">
                <a:latin typeface="黑体" pitchFamily="2" charset="-122"/>
                <a:ea typeface="黑体" pitchFamily="2" charset="-122"/>
              </a:rPr>
              <a:t>MDR</a:t>
            </a:r>
            <a:r>
              <a:rPr lang="zh-CN" altLang="en-US" dirty="0">
                <a:latin typeface="黑体" pitchFamily="2" charset="-122"/>
                <a:ea typeface="黑体" pitchFamily="2" charset="-122"/>
              </a:rPr>
              <a:t>）</a:t>
            </a:r>
            <a:endParaRPr lang="en-US" altLang="zh-CN" dirty="0">
              <a:latin typeface="黑体" pitchFamily="2" charset="-122"/>
              <a:ea typeface="黑体" pitchFamily="2" charset="-122"/>
            </a:endParaRPr>
          </a:p>
          <a:p>
            <a:pPr eaLnBrk="1" hangingPunct="1">
              <a:spcBef>
                <a:spcPct val="0"/>
              </a:spcBef>
            </a:pPr>
            <a:r>
              <a:rPr lang="zh-CN" altLang="en-US" dirty="0">
                <a:latin typeface="黑体" pitchFamily="2" charset="-122"/>
                <a:ea typeface="黑体" pitchFamily="2" charset="-122"/>
              </a:rPr>
              <a:t>    存放准备写入到内存单元的</a:t>
            </a:r>
            <a:r>
              <a:rPr lang="zh-CN" altLang="en-US" dirty="0">
                <a:solidFill>
                  <a:srgbClr val="FF0000"/>
                </a:solidFill>
                <a:latin typeface="黑体" pitchFamily="2" charset="-122"/>
                <a:ea typeface="黑体" pitchFamily="2" charset="-122"/>
              </a:rPr>
              <a:t>数据</a:t>
            </a:r>
            <a:r>
              <a:rPr lang="zh-CN" altLang="en-US" dirty="0">
                <a:latin typeface="黑体" pitchFamily="2" charset="-122"/>
                <a:ea typeface="黑体" pitchFamily="2" charset="-122"/>
              </a:rPr>
              <a:t>，或存放从内存读出后进入</a:t>
            </a:r>
            <a:r>
              <a:rPr lang="en-US" altLang="zh-CN" dirty="0">
                <a:latin typeface="黑体" pitchFamily="2" charset="-122"/>
                <a:ea typeface="黑体" pitchFamily="2" charset="-122"/>
              </a:rPr>
              <a:t>CPU</a:t>
            </a:r>
            <a:r>
              <a:rPr lang="zh-CN" altLang="en-US" dirty="0">
                <a:latin typeface="黑体" pitchFamily="2" charset="-122"/>
                <a:ea typeface="黑体" pitchFamily="2" charset="-122"/>
              </a:rPr>
              <a:t>的数据。</a:t>
            </a:r>
          </a:p>
        </p:txBody>
      </p:sp>
    </p:spTree>
  </p:cSld>
  <p:clrMapOvr>
    <a:masterClrMapping/>
  </p:clrMapOvr>
  <p:transition>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dirty="0">
                <a:solidFill>
                  <a:srgbClr val="990000"/>
                </a:solidFill>
                <a:latin typeface="黑体" pitchFamily="2" charset="-122"/>
                <a:ea typeface="黑体" pitchFamily="2" charset="-122"/>
              </a:rPr>
              <a:t>CU</a:t>
            </a:r>
          </a:p>
        </p:txBody>
      </p:sp>
      <p:grpSp>
        <p:nvGrpSpPr>
          <p:cNvPr id="28675" name="Group 22"/>
          <p:cNvGrpSpPr>
            <a:grpSpLocks/>
          </p:cNvGrpSpPr>
          <p:nvPr/>
        </p:nvGrpSpPr>
        <p:grpSpPr bwMode="auto">
          <a:xfrm>
            <a:off x="5543550" y="476250"/>
            <a:ext cx="2413000" cy="1547813"/>
            <a:chOff x="2154" y="290"/>
            <a:chExt cx="1294" cy="1046"/>
          </a:xfrm>
        </p:grpSpPr>
        <p:sp>
          <p:nvSpPr>
            <p:cNvPr id="28696" name="Text Box 23"/>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8697" name="Text Box 24"/>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8698" name="Text Box 25"/>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8699" name="Text Box 26"/>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8700" name="Text Box 27"/>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28701" name="Text Box 28"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28702" name="Text Box 29"/>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CU</a:t>
              </a:r>
            </a:p>
          </p:txBody>
        </p:sp>
        <p:sp>
          <p:nvSpPr>
            <p:cNvPr id="28703" name="Text Box 30"/>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8704" name="Text Box 31"/>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
        <p:nvSpPr>
          <p:cNvPr id="28676" name="Text Box 33"/>
          <p:cNvSpPr txBox="1">
            <a:spLocks noChangeArrowheads="1"/>
          </p:cNvSpPr>
          <p:nvPr/>
        </p:nvSpPr>
        <p:spPr bwMode="auto">
          <a:xfrm>
            <a:off x="827088" y="2492375"/>
            <a:ext cx="45354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控制单元的外特性：</a:t>
            </a:r>
          </a:p>
        </p:txBody>
      </p:sp>
      <p:grpSp>
        <p:nvGrpSpPr>
          <p:cNvPr id="28677" name="Group 34"/>
          <p:cNvGrpSpPr>
            <a:grpSpLocks/>
          </p:cNvGrpSpPr>
          <p:nvPr/>
        </p:nvGrpSpPr>
        <p:grpSpPr bwMode="auto">
          <a:xfrm>
            <a:off x="935038" y="2924175"/>
            <a:ext cx="7270750" cy="2736850"/>
            <a:chOff x="385" y="1434"/>
            <a:chExt cx="4580" cy="1724"/>
          </a:xfrm>
        </p:grpSpPr>
        <p:sp>
          <p:nvSpPr>
            <p:cNvPr id="28679" name="Text Box 35" descr="75%"/>
            <p:cNvSpPr txBox="1">
              <a:spLocks noChangeArrowheads="1"/>
            </p:cNvSpPr>
            <p:nvPr/>
          </p:nvSpPr>
          <p:spPr bwMode="auto">
            <a:xfrm>
              <a:off x="1347" y="1616"/>
              <a:ext cx="1109" cy="862"/>
            </a:xfrm>
            <a:prstGeom prst="rect">
              <a:avLst/>
            </a:prstGeom>
            <a:pattFill prst="pct75">
              <a:fgClr>
                <a:srgbClr val="FF0000"/>
              </a:fgClr>
              <a:bgClr>
                <a:srgbClr val="FFFFFF"/>
              </a:bgClr>
            </a:pattFill>
            <a:ln w="38100" algn="ctr">
              <a:solidFill>
                <a:schemeClr val="accent2"/>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endParaRPr lang="zh-CN" altLang="en-US" sz="2000">
                <a:solidFill>
                  <a:schemeClr val="bg1"/>
                </a:solidFill>
                <a:latin typeface="黑体" pitchFamily="2" charset="-122"/>
                <a:ea typeface="黑体" pitchFamily="2" charset="-122"/>
              </a:endParaRPr>
            </a:p>
            <a:p>
              <a:pPr algn="ctr" eaLnBrk="1" hangingPunct="1">
                <a:lnSpc>
                  <a:spcPct val="100000"/>
                </a:lnSpc>
                <a:spcBef>
                  <a:spcPct val="0"/>
                </a:spcBef>
              </a:pPr>
              <a:r>
                <a:rPr lang="zh-CN" altLang="en-US" sz="2000">
                  <a:solidFill>
                    <a:schemeClr val="bg1"/>
                  </a:solidFill>
                  <a:latin typeface="黑体" pitchFamily="2" charset="-122"/>
                  <a:ea typeface="黑体" pitchFamily="2" charset="-122"/>
                </a:rPr>
                <a:t>控制单元</a:t>
              </a:r>
            </a:p>
            <a:p>
              <a:pPr algn="ctr" eaLnBrk="1" hangingPunct="1">
                <a:lnSpc>
                  <a:spcPct val="100000"/>
                </a:lnSpc>
                <a:spcBef>
                  <a:spcPct val="0"/>
                </a:spcBef>
              </a:pPr>
              <a:r>
                <a:rPr lang="en-US" altLang="zh-CN" sz="2000" dirty="0">
                  <a:solidFill>
                    <a:schemeClr val="bg1"/>
                  </a:solidFill>
                  <a:latin typeface="黑体" pitchFamily="2" charset="-122"/>
                  <a:ea typeface="黑体" pitchFamily="2" charset="-122"/>
                </a:rPr>
                <a:t>CU</a:t>
              </a:r>
            </a:p>
          </p:txBody>
        </p:sp>
        <p:sp>
          <p:nvSpPr>
            <p:cNvPr id="28680" name="Text Box 36"/>
            <p:cNvSpPr txBox="1">
              <a:spLocks noChangeArrowheads="1"/>
            </p:cNvSpPr>
            <p:nvPr/>
          </p:nvSpPr>
          <p:spPr bwMode="auto">
            <a:xfrm>
              <a:off x="1347" y="2886"/>
              <a:ext cx="1109" cy="272"/>
            </a:xfrm>
            <a:prstGeom prst="rect">
              <a:avLst/>
            </a:prstGeom>
            <a:noFill/>
            <a:ln w="38100"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a:latin typeface="黑体" pitchFamily="2" charset="-122"/>
                  <a:ea typeface="黑体" pitchFamily="2" charset="-122"/>
                </a:rPr>
                <a:t>指令寄存器</a:t>
              </a:r>
              <a:endParaRPr lang="en-US" altLang="zh-CN" sz="2000" dirty="0">
                <a:latin typeface="黑体" pitchFamily="2" charset="-122"/>
                <a:ea typeface="黑体" pitchFamily="2" charset="-122"/>
              </a:endParaRPr>
            </a:p>
          </p:txBody>
        </p:sp>
        <p:sp>
          <p:nvSpPr>
            <p:cNvPr id="28681" name="AutoShape 37"/>
            <p:cNvSpPr>
              <a:spLocks noChangeArrowheads="1"/>
            </p:cNvSpPr>
            <p:nvPr/>
          </p:nvSpPr>
          <p:spPr bwMode="auto">
            <a:xfrm flipV="1">
              <a:off x="1828" y="2499"/>
              <a:ext cx="148" cy="367"/>
            </a:xfrm>
            <a:prstGeom prst="downArrow">
              <a:avLst>
                <a:gd name="adj1" fmla="val 50000"/>
                <a:gd name="adj2" fmla="val 68916"/>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28682" name="Line 38"/>
            <p:cNvSpPr>
              <a:spLocks noChangeShapeType="1"/>
            </p:cNvSpPr>
            <p:nvPr/>
          </p:nvSpPr>
          <p:spPr bwMode="auto">
            <a:xfrm>
              <a:off x="977" y="1798"/>
              <a:ext cx="370" cy="0"/>
            </a:xfrm>
            <a:prstGeom prst="line">
              <a:avLst/>
            </a:prstGeom>
            <a:noFill/>
            <a:ln w="28575">
              <a:solidFill>
                <a:schemeClr val="accent2"/>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83" name="Line 39"/>
            <p:cNvSpPr>
              <a:spLocks noChangeShapeType="1"/>
            </p:cNvSpPr>
            <p:nvPr/>
          </p:nvSpPr>
          <p:spPr bwMode="auto">
            <a:xfrm>
              <a:off x="977" y="2115"/>
              <a:ext cx="370" cy="0"/>
            </a:xfrm>
            <a:prstGeom prst="line">
              <a:avLst/>
            </a:prstGeom>
            <a:noFill/>
            <a:ln w="28575">
              <a:solidFill>
                <a:schemeClr val="accent2"/>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84" name="Line 40"/>
            <p:cNvSpPr>
              <a:spLocks noChangeShapeType="1"/>
            </p:cNvSpPr>
            <p:nvPr/>
          </p:nvSpPr>
          <p:spPr bwMode="auto">
            <a:xfrm>
              <a:off x="977" y="2342"/>
              <a:ext cx="370" cy="0"/>
            </a:xfrm>
            <a:prstGeom prst="line">
              <a:avLst/>
            </a:prstGeom>
            <a:noFill/>
            <a:ln w="28575">
              <a:solidFill>
                <a:schemeClr val="accent2"/>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85" name="Text Box 41"/>
            <p:cNvSpPr txBox="1">
              <a:spLocks noChangeArrowheads="1"/>
            </p:cNvSpPr>
            <p:nvPr/>
          </p:nvSpPr>
          <p:spPr bwMode="auto">
            <a:xfrm>
              <a:off x="1107" y="1752"/>
              <a:ext cx="22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2000" dirty="0">
                  <a:latin typeface="Times New Roman" pitchFamily="18" charset="0"/>
                  <a:ea typeface="黑体" pitchFamily="2" charset="-122"/>
                </a:rPr>
                <a:t>…</a:t>
              </a:r>
              <a:endParaRPr lang="en-US" altLang="zh-CN" sz="2000" dirty="0">
                <a:latin typeface="黑体" pitchFamily="2" charset="-122"/>
                <a:ea typeface="黑体" pitchFamily="2" charset="-122"/>
              </a:endParaRPr>
            </a:p>
          </p:txBody>
        </p:sp>
        <p:sp>
          <p:nvSpPr>
            <p:cNvPr id="28686" name="Text Box 42"/>
            <p:cNvSpPr txBox="1">
              <a:spLocks noChangeArrowheads="1"/>
            </p:cNvSpPr>
            <p:nvPr/>
          </p:nvSpPr>
          <p:spPr bwMode="auto">
            <a:xfrm>
              <a:off x="386" y="1752"/>
              <a:ext cx="5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2000">
                  <a:latin typeface="黑体" pitchFamily="2" charset="-122"/>
                  <a:ea typeface="黑体" pitchFamily="2" charset="-122"/>
                </a:rPr>
                <a:t>状态</a:t>
              </a:r>
            </a:p>
          </p:txBody>
        </p:sp>
        <p:sp>
          <p:nvSpPr>
            <p:cNvPr id="28687" name="Text Box 43"/>
            <p:cNvSpPr txBox="1">
              <a:spLocks noChangeArrowheads="1"/>
            </p:cNvSpPr>
            <p:nvPr/>
          </p:nvSpPr>
          <p:spPr bwMode="auto">
            <a:xfrm>
              <a:off x="385" y="2190"/>
              <a:ext cx="5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2000">
                  <a:latin typeface="黑体" pitchFamily="2" charset="-122"/>
                  <a:ea typeface="黑体" pitchFamily="2" charset="-122"/>
                </a:rPr>
                <a:t>时钟</a:t>
              </a:r>
            </a:p>
          </p:txBody>
        </p:sp>
        <p:sp>
          <p:nvSpPr>
            <p:cNvPr id="28688" name="AutoShape 44"/>
            <p:cNvSpPr>
              <a:spLocks noChangeArrowheads="1"/>
            </p:cNvSpPr>
            <p:nvPr/>
          </p:nvSpPr>
          <p:spPr bwMode="auto">
            <a:xfrm rot="5400000" flipV="1">
              <a:off x="2532" y="1573"/>
              <a:ext cx="181" cy="358"/>
            </a:xfrm>
            <a:prstGeom prst="downArrow">
              <a:avLst>
                <a:gd name="adj1" fmla="val 50000"/>
                <a:gd name="adj2" fmla="val 45995"/>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28689" name="Line 45"/>
            <p:cNvSpPr>
              <a:spLocks noChangeShapeType="1"/>
            </p:cNvSpPr>
            <p:nvPr/>
          </p:nvSpPr>
          <p:spPr bwMode="auto">
            <a:xfrm>
              <a:off x="2472" y="2069"/>
              <a:ext cx="2177"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90" name="Text Box 46"/>
            <p:cNvSpPr txBox="1">
              <a:spLocks noChangeArrowheads="1"/>
            </p:cNvSpPr>
            <p:nvPr/>
          </p:nvSpPr>
          <p:spPr bwMode="auto">
            <a:xfrm>
              <a:off x="2744" y="1434"/>
              <a:ext cx="158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sz="2000" dirty="0">
                  <a:solidFill>
                    <a:srgbClr val="000066"/>
                  </a:solidFill>
                  <a:latin typeface="黑体" pitchFamily="2" charset="-122"/>
                  <a:ea typeface="黑体" pitchFamily="2" charset="-122"/>
                </a:rPr>
                <a:t>CPU</a:t>
              </a:r>
              <a:r>
                <a:rPr lang="zh-CN" altLang="en-US" sz="2000">
                  <a:solidFill>
                    <a:srgbClr val="000066"/>
                  </a:solidFill>
                  <a:latin typeface="黑体" pitchFamily="2" charset="-122"/>
                  <a:ea typeface="黑体" pitchFamily="2" charset="-122"/>
                </a:rPr>
                <a:t>内部的控制信号</a:t>
              </a:r>
            </a:p>
          </p:txBody>
        </p:sp>
        <p:sp>
          <p:nvSpPr>
            <p:cNvPr id="28691" name="Text Box 47"/>
            <p:cNvSpPr txBox="1">
              <a:spLocks noChangeArrowheads="1"/>
            </p:cNvSpPr>
            <p:nvPr/>
          </p:nvSpPr>
          <p:spPr bwMode="auto">
            <a:xfrm>
              <a:off x="2744" y="1787"/>
              <a:ext cx="181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sz="2000" dirty="0" err="1">
                  <a:solidFill>
                    <a:srgbClr val="000066"/>
                  </a:solidFill>
                  <a:latin typeface="黑体" pitchFamily="2" charset="-122"/>
                  <a:ea typeface="黑体" pitchFamily="2" charset="-122"/>
                </a:rPr>
                <a:t>到系统总线的控制信号</a:t>
              </a:r>
              <a:endParaRPr lang="zh-CN" altLang="en-US" sz="2000" dirty="0">
                <a:solidFill>
                  <a:srgbClr val="000066"/>
                </a:solidFill>
                <a:latin typeface="黑体" pitchFamily="2" charset="-122"/>
                <a:ea typeface="黑体" pitchFamily="2" charset="-122"/>
              </a:endParaRPr>
            </a:p>
          </p:txBody>
        </p:sp>
        <p:sp>
          <p:nvSpPr>
            <p:cNvPr id="28692" name="Line 48"/>
            <p:cNvSpPr>
              <a:spLocks noChangeShapeType="1"/>
            </p:cNvSpPr>
            <p:nvPr/>
          </p:nvSpPr>
          <p:spPr bwMode="auto">
            <a:xfrm flipH="1">
              <a:off x="2472" y="2387"/>
              <a:ext cx="2177"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93" name="Text Box 49"/>
            <p:cNvSpPr txBox="1">
              <a:spLocks noChangeArrowheads="1"/>
            </p:cNvSpPr>
            <p:nvPr/>
          </p:nvSpPr>
          <p:spPr bwMode="auto">
            <a:xfrm>
              <a:off x="2744" y="2114"/>
              <a:ext cx="190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sz="2000" dirty="0">
                  <a:solidFill>
                    <a:srgbClr val="000066"/>
                  </a:solidFill>
                  <a:latin typeface="黑体" pitchFamily="2" charset="-122"/>
                  <a:ea typeface="黑体" pitchFamily="2" charset="-122"/>
                </a:rPr>
                <a:t>来自系统总线的控制信号</a:t>
              </a:r>
            </a:p>
          </p:txBody>
        </p:sp>
        <p:sp>
          <p:nvSpPr>
            <p:cNvPr id="28694" name="Line 50"/>
            <p:cNvSpPr>
              <a:spLocks noChangeShapeType="1"/>
            </p:cNvSpPr>
            <p:nvPr/>
          </p:nvSpPr>
          <p:spPr bwMode="auto">
            <a:xfrm>
              <a:off x="4649" y="1616"/>
              <a:ext cx="0" cy="1224"/>
            </a:xfrm>
            <a:prstGeom prst="line">
              <a:avLst/>
            </a:prstGeom>
            <a:noFill/>
            <a:ln w="76200">
              <a:solidFill>
                <a:schemeClr val="accent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95" name="Text Box 51"/>
            <p:cNvSpPr txBox="1">
              <a:spLocks noChangeArrowheads="1"/>
            </p:cNvSpPr>
            <p:nvPr/>
          </p:nvSpPr>
          <p:spPr bwMode="auto">
            <a:xfrm>
              <a:off x="4770" y="1661"/>
              <a:ext cx="195"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zh-CN" altLang="en-US" sz="1800">
                  <a:latin typeface="黑体" pitchFamily="2" charset="-122"/>
                  <a:ea typeface="黑体" pitchFamily="2" charset="-122"/>
                </a:rPr>
                <a:t>系统总线</a:t>
              </a:r>
            </a:p>
          </p:txBody>
        </p:sp>
      </p:grpSp>
      <p:sp>
        <p:nvSpPr>
          <p:cNvPr id="28678" name="Text Box 52"/>
          <p:cNvSpPr txBox="1">
            <a:spLocks noChangeArrowheads="1"/>
          </p:cNvSpPr>
          <p:nvPr/>
        </p:nvSpPr>
        <p:spPr bwMode="auto">
          <a:xfrm>
            <a:off x="827088" y="1016000"/>
            <a:ext cx="3960812"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20000"/>
              </a:lnSpc>
              <a:spcBef>
                <a:spcPct val="0"/>
              </a:spcBef>
            </a:pPr>
            <a:r>
              <a:rPr lang="zh-CN" altLang="en-US">
                <a:latin typeface="黑体" pitchFamily="2" charset="-122"/>
                <a:ea typeface="黑体" pitchFamily="2" charset="-122"/>
              </a:rPr>
              <a:t>控制单元主要包括</a:t>
            </a:r>
            <a:r>
              <a:rPr lang="en-US" altLang="zh-CN" dirty="0">
                <a:latin typeface="黑体" pitchFamily="2" charset="-122"/>
                <a:ea typeface="黑体" pitchFamily="2" charset="-122"/>
              </a:rPr>
              <a:t>:</a:t>
            </a:r>
          </a:p>
          <a:p>
            <a:pPr eaLnBrk="1" hangingPunct="1">
              <a:lnSpc>
                <a:spcPct val="120000"/>
              </a:lnSpc>
              <a:spcBef>
                <a:spcPct val="0"/>
              </a:spcBef>
            </a:pPr>
            <a:r>
              <a:rPr lang="zh-CN" altLang="en-US">
                <a:latin typeface="黑体" pitchFamily="2" charset="-122"/>
                <a:ea typeface="黑体" pitchFamily="2" charset="-122"/>
              </a:rPr>
              <a:t>  ●时序部件</a:t>
            </a:r>
          </a:p>
          <a:p>
            <a:pPr eaLnBrk="1" hangingPunct="1">
              <a:lnSpc>
                <a:spcPct val="120000"/>
              </a:lnSpc>
              <a:spcBef>
                <a:spcPct val="0"/>
              </a:spcBef>
            </a:pPr>
            <a:r>
              <a:rPr lang="zh-CN" altLang="en-US">
                <a:latin typeface="黑体" pitchFamily="2" charset="-122"/>
                <a:ea typeface="黑体" pitchFamily="2" charset="-122"/>
              </a:rPr>
              <a:t>  ●微操作信号发生器 </a:t>
            </a:r>
          </a:p>
        </p:txBody>
      </p:sp>
    </p:spTree>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dirty="0">
                <a:solidFill>
                  <a:srgbClr val="990000"/>
                </a:solidFill>
                <a:latin typeface="黑体" pitchFamily="2" charset="-122"/>
                <a:ea typeface="黑体" pitchFamily="2" charset="-122"/>
              </a:rPr>
              <a:t>CU</a:t>
            </a:r>
          </a:p>
        </p:txBody>
      </p:sp>
      <p:sp>
        <p:nvSpPr>
          <p:cNvPr id="29699" name="Text Box 3"/>
          <p:cNvSpPr txBox="1">
            <a:spLocks noChangeArrowheads="1"/>
          </p:cNvSpPr>
          <p:nvPr/>
        </p:nvSpPr>
        <p:spPr bwMode="auto">
          <a:xfrm>
            <a:off x="863600" y="1665288"/>
            <a:ext cx="6551613"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时序部件一般包括：</a:t>
            </a:r>
          </a:p>
          <a:p>
            <a:pPr eaLnBrk="1" hangingPunct="1">
              <a:spcBef>
                <a:spcPct val="0"/>
              </a:spcBef>
            </a:pPr>
            <a:r>
              <a:rPr lang="zh-CN" altLang="en-US">
                <a:latin typeface="黑体" pitchFamily="2" charset="-122"/>
                <a:ea typeface="黑体" pitchFamily="2" charset="-122"/>
              </a:rPr>
              <a:t>    脉冲源 </a:t>
            </a:r>
            <a:r>
              <a:rPr lang="en-US" altLang="zh-CN" dirty="0">
                <a:latin typeface="黑体" pitchFamily="2" charset="-122"/>
                <a:ea typeface="黑体" pitchFamily="2" charset="-122"/>
              </a:rPr>
              <a:t>-- </a:t>
            </a:r>
            <a:r>
              <a:rPr lang="zh-CN" altLang="en-US">
                <a:latin typeface="黑体" pitchFamily="2" charset="-122"/>
                <a:ea typeface="黑体" pitchFamily="2" charset="-122"/>
              </a:rPr>
              <a:t>基准时钟（主频）</a:t>
            </a:r>
            <a:endParaRPr lang="en-US" altLang="zh-CN" dirty="0">
              <a:latin typeface="黑体" pitchFamily="2" charset="-122"/>
              <a:ea typeface="黑体" pitchFamily="2" charset="-122"/>
            </a:endParaRPr>
          </a:p>
          <a:p>
            <a:pPr eaLnBrk="1" hangingPunct="1">
              <a:spcBef>
                <a:spcPct val="0"/>
              </a:spcBef>
            </a:pPr>
            <a:r>
              <a:rPr lang="zh-CN" altLang="en-US">
                <a:latin typeface="黑体" pitchFamily="2" charset="-122"/>
                <a:ea typeface="黑体" pitchFamily="2" charset="-122"/>
              </a:rPr>
              <a:t>    启停控制逻辑</a:t>
            </a:r>
          </a:p>
          <a:p>
            <a:pPr eaLnBrk="1" hangingPunct="1">
              <a:spcBef>
                <a:spcPct val="0"/>
              </a:spcBef>
            </a:pPr>
            <a:r>
              <a:rPr lang="zh-CN" altLang="en-US">
                <a:latin typeface="黑体" pitchFamily="2" charset="-122"/>
                <a:ea typeface="黑体" pitchFamily="2" charset="-122"/>
              </a:rPr>
              <a:t>    时序信号发生器等。</a:t>
            </a:r>
          </a:p>
        </p:txBody>
      </p:sp>
      <p:sp>
        <p:nvSpPr>
          <p:cNvPr id="29700" name="Text Box 4"/>
          <p:cNvSpPr txBox="1">
            <a:spLocks noChangeArrowheads="1"/>
          </p:cNvSpPr>
          <p:nvPr/>
        </p:nvSpPr>
        <p:spPr bwMode="auto">
          <a:xfrm>
            <a:off x="828675" y="3825875"/>
            <a:ext cx="84597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用于产生工作周期、节拍、脉冲等时间信号标志</a:t>
            </a:r>
            <a:r>
              <a:rPr lang="en-US" altLang="zh-CN" dirty="0">
                <a:latin typeface="黑体" pitchFamily="2" charset="-122"/>
                <a:ea typeface="黑体" pitchFamily="2" charset="-122"/>
              </a:rPr>
              <a:t>(</a:t>
            </a:r>
            <a:r>
              <a:rPr lang="zh-CN" altLang="en-US">
                <a:latin typeface="黑体" pitchFamily="2" charset="-122"/>
                <a:ea typeface="黑体" pitchFamily="2" charset="-122"/>
              </a:rPr>
              <a:t>时序信号</a:t>
            </a:r>
            <a:r>
              <a:rPr lang="en-US" altLang="zh-CN" dirty="0">
                <a:latin typeface="黑体" pitchFamily="2" charset="-122"/>
                <a:ea typeface="黑体" pitchFamily="2" charset="-122"/>
              </a:rPr>
              <a:t>)</a:t>
            </a:r>
            <a:r>
              <a:rPr lang="zh-CN" altLang="en-US">
                <a:latin typeface="黑体" pitchFamily="2" charset="-122"/>
                <a:ea typeface="黑体" pitchFamily="2" charset="-122"/>
              </a:rPr>
              <a:t>。</a:t>
            </a:r>
          </a:p>
        </p:txBody>
      </p:sp>
      <p:sp>
        <p:nvSpPr>
          <p:cNvPr id="29701" name="Rectangle 15"/>
          <p:cNvSpPr>
            <a:spLocks noChangeArrowheads="1"/>
          </p:cNvSpPr>
          <p:nvPr/>
        </p:nvSpPr>
        <p:spPr bwMode="auto">
          <a:xfrm>
            <a:off x="647700" y="1089025"/>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时序部件</a:t>
            </a:r>
            <a:r>
              <a:rPr lang="zh-CN" altLang="en-US">
                <a:latin typeface="黑体" pitchFamily="2" charset="-122"/>
                <a:ea typeface="黑体" pitchFamily="2" charset="-122"/>
              </a:rPr>
              <a:t> </a:t>
            </a:r>
          </a:p>
        </p:txBody>
      </p:sp>
      <p:grpSp>
        <p:nvGrpSpPr>
          <p:cNvPr id="29702" name="Group 16"/>
          <p:cNvGrpSpPr>
            <a:grpSpLocks/>
          </p:cNvGrpSpPr>
          <p:nvPr/>
        </p:nvGrpSpPr>
        <p:grpSpPr bwMode="auto">
          <a:xfrm>
            <a:off x="5543550" y="476250"/>
            <a:ext cx="2413000" cy="1547813"/>
            <a:chOff x="2154" y="290"/>
            <a:chExt cx="1294" cy="1046"/>
          </a:xfrm>
        </p:grpSpPr>
        <p:sp>
          <p:nvSpPr>
            <p:cNvPr id="29703" name="Text Box 17"/>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29704" name="Text Box 18"/>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29705" name="Text Box 19"/>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29706" name="Text Box 20"/>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9707" name="Text Box 21"/>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29708" name="Text Box 22"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29709" name="Text Box 23"/>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CU</a:t>
              </a:r>
            </a:p>
          </p:txBody>
        </p:sp>
        <p:sp>
          <p:nvSpPr>
            <p:cNvPr id="29710" name="Text Box 24"/>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29711" name="Text Box 25"/>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85"/>
          <p:cNvGrpSpPr>
            <a:grpSpLocks/>
          </p:cNvGrpSpPr>
          <p:nvPr/>
        </p:nvGrpSpPr>
        <p:grpSpPr bwMode="auto">
          <a:xfrm>
            <a:off x="970757" y="2509926"/>
            <a:ext cx="6913562" cy="3959225"/>
            <a:chOff x="657" y="1412"/>
            <a:chExt cx="4355" cy="2494"/>
          </a:xfrm>
        </p:grpSpPr>
        <p:sp>
          <p:nvSpPr>
            <p:cNvPr id="30736" name="Text Box 58"/>
            <p:cNvSpPr txBox="1">
              <a:spLocks noChangeArrowheads="1"/>
            </p:cNvSpPr>
            <p:nvPr/>
          </p:nvSpPr>
          <p:spPr bwMode="auto">
            <a:xfrm>
              <a:off x="2631" y="2951"/>
              <a:ext cx="90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OP    </a:t>
              </a:r>
              <a:r>
                <a:rPr lang="zh-CN" altLang="en-US" sz="1800">
                  <a:latin typeface="黑体" pitchFamily="2" charset="-122"/>
                  <a:ea typeface="黑体" pitchFamily="2" charset="-122"/>
                </a:rPr>
                <a:t>寻址</a:t>
              </a:r>
            </a:p>
          </p:txBody>
        </p:sp>
        <p:sp>
          <p:nvSpPr>
            <p:cNvPr id="30737" name="Text Box 16" descr="75%"/>
            <p:cNvSpPr txBox="1">
              <a:spLocks noChangeArrowheads="1"/>
            </p:cNvSpPr>
            <p:nvPr/>
          </p:nvSpPr>
          <p:spPr bwMode="auto">
            <a:xfrm>
              <a:off x="1847" y="1890"/>
              <a:ext cx="1457" cy="540"/>
            </a:xfrm>
            <a:prstGeom prst="rect">
              <a:avLst/>
            </a:prstGeom>
            <a:pattFill prst="pct75">
              <a:fgClr>
                <a:srgbClr val="FF0000"/>
              </a:fgClr>
              <a:bgClr>
                <a:srgbClr val="FFFFFF"/>
              </a:bgClr>
            </a:pattFill>
            <a:ln w="28575">
              <a:solidFill>
                <a:srgbClr val="000080"/>
              </a:solidFill>
              <a:miter lim="800000"/>
              <a:headEnd/>
              <a:tailEnd/>
            </a:ln>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4000"/>
                </a:lnSpc>
                <a:spcBef>
                  <a:spcPct val="0"/>
                </a:spcBef>
              </a:pPr>
              <a:r>
                <a:rPr lang="zh-CN" altLang="en-US" sz="1800">
                  <a:solidFill>
                    <a:schemeClr val="bg1"/>
                  </a:solidFill>
                  <a:latin typeface="黑体" pitchFamily="2" charset="-122"/>
                  <a:ea typeface="黑体" pitchFamily="2" charset="-122"/>
                </a:rPr>
                <a:t>微操作</a:t>
              </a:r>
            </a:p>
            <a:p>
              <a:pPr algn="ctr" eaLnBrk="1" hangingPunct="1">
                <a:lnSpc>
                  <a:spcPct val="104000"/>
                </a:lnSpc>
                <a:spcBef>
                  <a:spcPct val="0"/>
                </a:spcBef>
              </a:pPr>
              <a:r>
                <a:rPr lang="zh-CN" altLang="en-US" sz="1800">
                  <a:solidFill>
                    <a:schemeClr val="bg1"/>
                  </a:solidFill>
                  <a:latin typeface="黑体" pitchFamily="2" charset="-122"/>
                  <a:ea typeface="黑体" pitchFamily="2" charset="-122"/>
                </a:rPr>
                <a:t>信号发生器</a:t>
              </a:r>
            </a:p>
          </p:txBody>
        </p:sp>
        <p:sp>
          <p:nvSpPr>
            <p:cNvPr id="30738" name="Text Box 17"/>
            <p:cNvSpPr txBox="1">
              <a:spLocks noChangeArrowheads="1"/>
            </p:cNvSpPr>
            <p:nvPr/>
          </p:nvSpPr>
          <p:spPr bwMode="auto">
            <a:xfrm>
              <a:off x="1847" y="2641"/>
              <a:ext cx="602"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时序</a:t>
              </a:r>
            </a:p>
          </p:txBody>
        </p:sp>
        <p:sp>
          <p:nvSpPr>
            <p:cNvPr id="30739" name="Text Box 18"/>
            <p:cNvSpPr txBox="1">
              <a:spLocks noChangeArrowheads="1"/>
            </p:cNvSpPr>
            <p:nvPr/>
          </p:nvSpPr>
          <p:spPr bwMode="auto">
            <a:xfrm>
              <a:off x="2687" y="2641"/>
              <a:ext cx="603"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译码</a:t>
              </a:r>
            </a:p>
          </p:txBody>
        </p:sp>
        <p:sp>
          <p:nvSpPr>
            <p:cNvPr id="30740" name="Text Box 19"/>
            <p:cNvSpPr txBox="1">
              <a:spLocks noChangeArrowheads="1"/>
            </p:cNvSpPr>
            <p:nvPr/>
          </p:nvSpPr>
          <p:spPr bwMode="auto">
            <a:xfrm>
              <a:off x="2687" y="3154"/>
              <a:ext cx="1513" cy="27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IR</a:t>
              </a:r>
            </a:p>
          </p:txBody>
        </p:sp>
        <p:sp>
          <p:nvSpPr>
            <p:cNvPr id="30741" name="Text Box 20"/>
            <p:cNvSpPr txBox="1">
              <a:spLocks noChangeArrowheads="1"/>
            </p:cNvSpPr>
            <p:nvPr/>
          </p:nvSpPr>
          <p:spPr bwMode="auto">
            <a:xfrm>
              <a:off x="713" y="2659"/>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PSW</a:t>
              </a:r>
            </a:p>
          </p:txBody>
        </p:sp>
        <p:sp>
          <p:nvSpPr>
            <p:cNvPr id="30742" name="Text Box 21"/>
            <p:cNvSpPr txBox="1">
              <a:spLocks noChangeArrowheads="1"/>
            </p:cNvSpPr>
            <p:nvPr/>
          </p:nvSpPr>
          <p:spPr bwMode="auto">
            <a:xfrm>
              <a:off x="3542" y="2641"/>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地址形成</a:t>
              </a:r>
            </a:p>
          </p:txBody>
        </p:sp>
        <p:sp>
          <p:nvSpPr>
            <p:cNvPr id="30743" name="Text Box 22"/>
            <p:cNvSpPr txBox="1">
              <a:spLocks noChangeArrowheads="1"/>
            </p:cNvSpPr>
            <p:nvPr/>
          </p:nvSpPr>
          <p:spPr bwMode="auto">
            <a:xfrm>
              <a:off x="3556" y="2137"/>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PC</a:t>
              </a:r>
            </a:p>
          </p:txBody>
        </p:sp>
        <p:sp>
          <p:nvSpPr>
            <p:cNvPr id="30744" name="Text Box 23"/>
            <p:cNvSpPr txBox="1">
              <a:spLocks noChangeArrowheads="1"/>
            </p:cNvSpPr>
            <p:nvPr/>
          </p:nvSpPr>
          <p:spPr bwMode="auto">
            <a:xfrm>
              <a:off x="727" y="3175"/>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18000" rIns="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中断控制逻辑</a:t>
              </a:r>
            </a:p>
          </p:txBody>
        </p:sp>
        <p:sp>
          <p:nvSpPr>
            <p:cNvPr id="30745" name="Line 25"/>
            <p:cNvSpPr>
              <a:spLocks noChangeShapeType="1"/>
            </p:cNvSpPr>
            <p:nvPr/>
          </p:nvSpPr>
          <p:spPr bwMode="auto">
            <a:xfrm flipV="1">
              <a:off x="2155" y="1629"/>
              <a:ext cx="0" cy="2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6" name="Line 26"/>
            <p:cNvSpPr>
              <a:spLocks noChangeShapeType="1"/>
            </p:cNvSpPr>
            <p:nvPr/>
          </p:nvSpPr>
          <p:spPr bwMode="auto">
            <a:xfrm flipV="1">
              <a:off x="2967" y="1629"/>
              <a:ext cx="0" cy="2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7" name="Text Box 27"/>
            <p:cNvSpPr txBox="1">
              <a:spLocks noChangeArrowheads="1"/>
            </p:cNvSpPr>
            <p:nvPr/>
          </p:nvSpPr>
          <p:spPr bwMode="auto">
            <a:xfrm>
              <a:off x="2222" y="1616"/>
              <a:ext cx="68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0748" name="Line 29"/>
            <p:cNvSpPr>
              <a:spLocks noChangeShapeType="1"/>
            </p:cNvSpPr>
            <p:nvPr/>
          </p:nvSpPr>
          <p:spPr bwMode="auto">
            <a:xfrm flipV="1">
              <a:off x="2799" y="2430"/>
              <a:ext cx="0"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9" name="Line 30"/>
            <p:cNvSpPr>
              <a:spLocks noChangeShapeType="1"/>
            </p:cNvSpPr>
            <p:nvPr/>
          </p:nvSpPr>
          <p:spPr bwMode="auto">
            <a:xfrm flipV="1">
              <a:off x="3192" y="2430"/>
              <a:ext cx="0"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0" name="Text Box 31"/>
            <p:cNvSpPr txBox="1">
              <a:spLocks noChangeArrowheads="1"/>
            </p:cNvSpPr>
            <p:nvPr/>
          </p:nvSpPr>
          <p:spPr bwMode="auto">
            <a:xfrm>
              <a:off x="2789" y="2387"/>
              <a:ext cx="40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0751" name="Freeform 32"/>
            <p:cNvSpPr>
              <a:spLocks/>
            </p:cNvSpPr>
            <p:nvPr/>
          </p:nvSpPr>
          <p:spPr bwMode="auto">
            <a:xfrm>
              <a:off x="1161" y="2365"/>
              <a:ext cx="672" cy="294"/>
            </a:xfrm>
            <a:custGeom>
              <a:avLst/>
              <a:gdLst>
                <a:gd name="T0" fmla="*/ 0 w 1008"/>
                <a:gd name="T1" fmla="*/ 1 h 558"/>
                <a:gd name="T2" fmla="*/ 0 w 1008"/>
                <a:gd name="T3" fmla="*/ 0 h 558"/>
                <a:gd name="T4" fmla="*/ 2 w 1008"/>
                <a:gd name="T5" fmla="*/ 0 h 558"/>
                <a:gd name="T6" fmla="*/ 0 60000 65536"/>
                <a:gd name="T7" fmla="*/ 0 60000 65536"/>
                <a:gd name="T8" fmla="*/ 0 60000 65536"/>
                <a:gd name="T9" fmla="*/ 0 w 1008"/>
                <a:gd name="T10" fmla="*/ 0 h 558"/>
                <a:gd name="T11" fmla="*/ 1008 w 1008"/>
                <a:gd name="T12" fmla="*/ 558 h 558"/>
              </a:gdLst>
              <a:ahLst/>
              <a:cxnLst>
                <a:cxn ang="T6">
                  <a:pos x="T0" y="T1"/>
                </a:cxn>
                <a:cxn ang="T7">
                  <a:pos x="T2" y="T3"/>
                </a:cxn>
                <a:cxn ang="T8">
                  <a:pos x="T4" y="T5"/>
                </a:cxn>
              </a:cxnLst>
              <a:rect l="T9" t="T10" r="T11" b="T12"/>
              <a:pathLst>
                <a:path w="1008" h="558">
                  <a:moveTo>
                    <a:pt x="0" y="558"/>
                  </a:moveTo>
                  <a:lnTo>
                    <a:pt x="0" y="0"/>
                  </a:lnTo>
                  <a:lnTo>
                    <a:pt x="1008"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2" name="Line 33"/>
            <p:cNvSpPr>
              <a:spLocks noChangeShapeType="1"/>
            </p:cNvSpPr>
            <p:nvPr/>
          </p:nvSpPr>
          <p:spPr bwMode="auto">
            <a:xfrm>
              <a:off x="1161" y="2172"/>
              <a:ext cx="672"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3" name="Line 34"/>
            <p:cNvSpPr>
              <a:spLocks noChangeShapeType="1"/>
            </p:cNvSpPr>
            <p:nvPr/>
          </p:nvSpPr>
          <p:spPr bwMode="auto">
            <a:xfrm>
              <a:off x="1161" y="1976"/>
              <a:ext cx="672"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4" name="Line 35"/>
            <p:cNvSpPr>
              <a:spLocks noChangeShapeType="1"/>
            </p:cNvSpPr>
            <p:nvPr/>
          </p:nvSpPr>
          <p:spPr bwMode="auto">
            <a:xfrm flipV="1">
              <a:off x="2141" y="2430"/>
              <a:ext cx="1"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5" name="Line 36"/>
            <p:cNvSpPr>
              <a:spLocks noChangeShapeType="1"/>
            </p:cNvSpPr>
            <p:nvPr/>
          </p:nvSpPr>
          <p:spPr bwMode="auto">
            <a:xfrm flipV="1">
              <a:off x="2926" y="2916"/>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6" name="Line 37"/>
            <p:cNvSpPr>
              <a:spLocks noChangeShapeType="1"/>
            </p:cNvSpPr>
            <p:nvPr/>
          </p:nvSpPr>
          <p:spPr bwMode="auto">
            <a:xfrm flipV="1">
              <a:off x="3150" y="2916"/>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7" name="Freeform 38"/>
            <p:cNvSpPr>
              <a:spLocks/>
            </p:cNvSpPr>
            <p:nvPr/>
          </p:nvSpPr>
          <p:spPr bwMode="auto">
            <a:xfrm>
              <a:off x="3598" y="2916"/>
              <a:ext cx="378" cy="238"/>
            </a:xfrm>
            <a:custGeom>
              <a:avLst/>
              <a:gdLst>
                <a:gd name="T0" fmla="*/ 0 w 567"/>
                <a:gd name="T1" fmla="*/ 1 h 403"/>
                <a:gd name="T2" fmla="*/ 0 w 567"/>
                <a:gd name="T3" fmla="*/ 1 h 403"/>
                <a:gd name="T4" fmla="*/ 1 w 567"/>
                <a:gd name="T5" fmla="*/ 1 h 403"/>
                <a:gd name="T6" fmla="*/ 1 w 567"/>
                <a:gd name="T7" fmla="*/ 0 h 403"/>
                <a:gd name="T8" fmla="*/ 0 60000 65536"/>
                <a:gd name="T9" fmla="*/ 0 60000 65536"/>
                <a:gd name="T10" fmla="*/ 0 60000 65536"/>
                <a:gd name="T11" fmla="*/ 0 60000 65536"/>
                <a:gd name="T12" fmla="*/ 0 w 567"/>
                <a:gd name="T13" fmla="*/ 0 h 403"/>
                <a:gd name="T14" fmla="*/ 567 w 567"/>
                <a:gd name="T15" fmla="*/ 403 h 403"/>
              </a:gdLst>
              <a:ahLst/>
              <a:cxnLst>
                <a:cxn ang="T8">
                  <a:pos x="T0" y="T1"/>
                </a:cxn>
                <a:cxn ang="T9">
                  <a:pos x="T2" y="T3"/>
                </a:cxn>
                <a:cxn ang="T10">
                  <a:pos x="T4" y="T5"/>
                </a:cxn>
                <a:cxn ang="T11">
                  <a:pos x="T6" y="T7"/>
                </a:cxn>
              </a:cxnLst>
              <a:rect l="T12" t="T13" r="T14" b="T15"/>
              <a:pathLst>
                <a:path w="567" h="403">
                  <a:moveTo>
                    <a:pt x="0" y="403"/>
                  </a:moveTo>
                  <a:lnTo>
                    <a:pt x="0" y="217"/>
                  </a:lnTo>
                  <a:lnTo>
                    <a:pt x="567" y="217"/>
                  </a:lnTo>
                  <a:lnTo>
                    <a:pt x="546"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8" name="Line 39"/>
            <p:cNvSpPr>
              <a:spLocks noChangeShapeType="1"/>
            </p:cNvSpPr>
            <p:nvPr/>
          </p:nvSpPr>
          <p:spPr bwMode="auto">
            <a:xfrm flipH="1" flipV="1">
              <a:off x="3976" y="2415"/>
              <a:ext cx="0" cy="22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9" name="Text Box 40"/>
            <p:cNvSpPr txBox="1">
              <a:spLocks noChangeArrowheads="1"/>
            </p:cNvSpPr>
            <p:nvPr/>
          </p:nvSpPr>
          <p:spPr bwMode="auto">
            <a:xfrm>
              <a:off x="2029" y="1412"/>
              <a:ext cx="114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FF0000"/>
                  </a:solidFill>
                  <a:latin typeface="黑体" pitchFamily="2" charset="-122"/>
                  <a:ea typeface="黑体" pitchFamily="2" charset="-122"/>
                </a:rPr>
                <a:t>微操作命令序列</a:t>
              </a:r>
            </a:p>
          </p:txBody>
        </p:sp>
        <p:sp>
          <p:nvSpPr>
            <p:cNvPr id="30760" name="Text Box 41"/>
            <p:cNvSpPr txBox="1">
              <a:spLocks noChangeArrowheads="1"/>
            </p:cNvSpPr>
            <p:nvPr/>
          </p:nvSpPr>
          <p:spPr bwMode="auto">
            <a:xfrm>
              <a:off x="657" y="1759"/>
              <a:ext cx="95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800" dirty="0">
                  <a:latin typeface="黑体" pitchFamily="2" charset="-122"/>
                  <a:ea typeface="黑体" pitchFamily="2" charset="-122"/>
                </a:rPr>
                <a:t>I/O</a:t>
              </a:r>
              <a:r>
                <a:rPr lang="zh-CN" altLang="en-US" sz="1800">
                  <a:latin typeface="黑体" pitchFamily="2" charset="-122"/>
                  <a:ea typeface="黑体" pitchFamily="2" charset="-122"/>
                </a:rPr>
                <a:t>状态</a:t>
              </a:r>
            </a:p>
          </p:txBody>
        </p:sp>
        <p:sp>
          <p:nvSpPr>
            <p:cNvPr id="30761" name="Text Box 42"/>
            <p:cNvSpPr txBox="1">
              <a:spLocks noChangeArrowheads="1"/>
            </p:cNvSpPr>
            <p:nvPr/>
          </p:nvSpPr>
          <p:spPr bwMode="auto">
            <a:xfrm>
              <a:off x="657" y="1976"/>
              <a:ext cx="95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控制台信息</a:t>
              </a:r>
            </a:p>
          </p:txBody>
        </p:sp>
        <p:sp>
          <p:nvSpPr>
            <p:cNvPr id="30762" name="Text Box 43"/>
            <p:cNvSpPr txBox="1">
              <a:spLocks noChangeArrowheads="1"/>
            </p:cNvSpPr>
            <p:nvPr/>
          </p:nvSpPr>
          <p:spPr bwMode="auto">
            <a:xfrm>
              <a:off x="657" y="2172"/>
              <a:ext cx="95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运行状态</a:t>
              </a:r>
            </a:p>
          </p:txBody>
        </p:sp>
        <p:sp>
          <p:nvSpPr>
            <p:cNvPr id="30763" name="Line 45"/>
            <p:cNvSpPr>
              <a:spLocks noChangeShapeType="1"/>
            </p:cNvSpPr>
            <p:nvPr/>
          </p:nvSpPr>
          <p:spPr bwMode="auto">
            <a:xfrm flipV="1">
              <a:off x="951" y="2929"/>
              <a:ext cx="0" cy="23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4" name="Line 46"/>
            <p:cNvSpPr>
              <a:spLocks noChangeShapeType="1"/>
            </p:cNvSpPr>
            <p:nvPr/>
          </p:nvSpPr>
          <p:spPr bwMode="auto">
            <a:xfrm flipV="1">
              <a:off x="1343" y="2929"/>
              <a:ext cx="0" cy="23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5" name="Text Box 47"/>
            <p:cNvSpPr txBox="1">
              <a:spLocks noChangeArrowheads="1"/>
            </p:cNvSpPr>
            <p:nvPr/>
          </p:nvSpPr>
          <p:spPr bwMode="auto">
            <a:xfrm>
              <a:off x="998" y="2931"/>
              <a:ext cx="294"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0766" name="Line 48"/>
            <p:cNvSpPr>
              <a:spLocks noChangeShapeType="1"/>
            </p:cNvSpPr>
            <p:nvPr/>
          </p:nvSpPr>
          <p:spPr bwMode="auto">
            <a:xfrm flipV="1">
              <a:off x="909" y="3451"/>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7" name="Line 49"/>
            <p:cNvSpPr>
              <a:spLocks noChangeShapeType="1"/>
            </p:cNvSpPr>
            <p:nvPr/>
          </p:nvSpPr>
          <p:spPr bwMode="auto">
            <a:xfrm flipV="1">
              <a:off x="1413" y="3451"/>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8" name="Line 50"/>
            <p:cNvSpPr>
              <a:spLocks noChangeShapeType="1"/>
            </p:cNvSpPr>
            <p:nvPr/>
          </p:nvSpPr>
          <p:spPr bwMode="auto">
            <a:xfrm flipH="1" flipV="1">
              <a:off x="3976" y="1846"/>
              <a:ext cx="0" cy="2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9" name="Text Box 51"/>
            <p:cNvSpPr txBox="1">
              <a:spLocks noChangeArrowheads="1"/>
            </p:cNvSpPr>
            <p:nvPr/>
          </p:nvSpPr>
          <p:spPr bwMode="auto">
            <a:xfrm>
              <a:off x="4088" y="1672"/>
              <a:ext cx="50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送</a:t>
              </a:r>
              <a:r>
                <a:rPr lang="en-US" altLang="zh-CN" sz="1800" dirty="0">
                  <a:latin typeface="黑体" pitchFamily="2" charset="-122"/>
                  <a:ea typeface="黑体" pitchFamily="2" charset="-122"/>
                </a:rPr>
                <a:t>MM</a:t>
              </a:r>
            </a:p>
          </p:txBody>
        </p:sp>
        <p:sp>
          <p:nvSpPr>
            <p:cNvPr id="30770" name="Line 52"/>
            <p:cNvSpPr>
              <a:spLocks noChangeShapeType="1"/>
            </p:cNvSpPr>
            <p:nvPr/>
          </p:nvSpPr>
          <p:spPr bwMode="auto">
            <a:xfrm flipH="1">
              <a:off x="4452" y="2259"/>
              <a:ext cx="210"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71" name="Text Box 53"/>
            <p:cNvSpPr txBox="1">
              <a:spLocks noChangeArrowheads="1"/>
            </p:cNvSpPr>
            <p:nvPr/>
          </p:nvSpPr>
          <p:spPr bwMode="auto">
            <a:xfrm>
              <a:off x="4550" y="1998"/>
              <a:ext cx="32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+1</a:t>
              </a:r>
            </a:p>
          </p:txBody>
        </p:sp>
        <p:sp>
          <p:nvSpPr>
            <p:cNvPr id="30772" name="Line 54"/>
            <p:cNvSpPr>
              <a:spLocks noChangeShapeType="1"/>
            </p:cNvSpPr>
            <p:nvPr/>
          </p:nvSpPr>
          <p:spPr bwMode="auto">
            <a:xfrm flipH="1">
              <a:off x="4438" y="2777"/>
              <a:ext cx="210" cy="0"/>
            </a:xfrm>
            <a:prstGeom prst="line">
              <a:avLst/>
            </a:prstGeom>
            <a:noFill/>
            <a:ln w="28575">
              <a:solidFill>
                <a:srgbClr val="00008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0773" name="Text Box 55"/>
            <p:cNvSpPr txBox="1">
              <a:spLocks noChangeArrowheads="1"/>
            </p:cNvSpPr>
            <p:nvPr/>
          </p:nvSpPr>
          <p:spPr bwMode="auto">
            <a:xfrm>
              <a:off x="4522" y="2864"/>
              <a:ext cx="49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送</a:t>
              </a:r>
              <a:r>
                <a:rPr lang="en-US" altLang="zh-CN" sz="1800" dirty="0">
                  <a:latin typeface="黑体" pitchFamily="2" charset="-122"/>
                  <a:ea typeface="黑体" pitchFamily="2" charset="-122"/>
                </a:rPr>
                <a:t>MM</a:t>
              </a:r>
            </a:p>
            <a:p>
              <a:pPr algn="ctr" eaLnBrk="1" hangingPunct="1">
                <a:lnSpc>
                  <a:spcPct val="96000"/>
                </a:lnSpc>
                <a:spcBef>
                  <a:spcPct val="0"/>
                </a:spcBef>
              </a:pPr>
              <a:r>
                <a:rPr lang="zh-CN" altLang="en-US" sz="1800">
                  <a:latin typeface="黑体" pitchFamily="2" charset="-122"/>
                  <a:ea typeface="黑体" pitchFamily="2" charset="-122"/>
                </a:rPr>
                <a:t>或</a:t>
              </a:r>
              <a:r>
                <a:rPr lang="en-US" altLang="zh-CN" sz="1800" dirty="0">
                  <a:latin typeface="黑体" pitchFamily="2" charset="-122"/>
                  <a:ea typeface="黑体" pitchFamily="2" charset="-122"/>
                </a:rPr>
                <a:t>ALU</a:t>
              </a:r>
            </a:p>
          </p:txBody>
        </p:sp>
        <p:sp>
          <p:nvSpPr>
            <p:cNvPr id="30774" name="Line 56"/>
            <p:cNvSpPr>
              <a:spLocks noChangeShapeType="1"/>
            </p:cNvSpPr>
            <p:nvPr/>
          </p:nvSpPr>
          <p:spPr bwMode="auto">
            <a:xfrm flipH="1" flipV="1">
              <a:off x="3402" y="3428"/>
              <a:ext cx="0" cy="2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75" name="Text Box 57"/>
            <p:cNvSpPr txBox="1">
              <a:spLocks noChangeArrowheads="1"/>
            </p:cNvSpPr>
            <p:nvPr/>
          </p:nvSpPr>
          <p:spPr bwMode="auto">
            <a:xfrm>
              <a:off x="3472" y="3624"/>
              <a:ext cx="60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来自</a:t>
              </a:r>
              <a:r>
                <a:rPr lang="en-US" altLang="zh-CN" sz="1800" dirty="0">
                  <a:latin typeface="黑体" pitchFamily="2" charset="-122"/>
                  <a:ea typeface="黑体" pitchFamily="2" charset="-122"/>
                </a:rPr>
                <a:t>MM</a:t>
              </a:r>
            </a:p>
          </p:txBody>
        </p:sp>
        <p:sp>
          <p:nvSpPr>
            <p:cNvPr id="30776" name="Text Box 59"/>
            <p:cNvSpPr txBox="1">
              <a:spLocks noChangeArrowheads="1"/>
            </p:cNvSpPr>
            <p:nvPr/>
          </p:nvSpPr>
          <p:spPr bwMode="auto">
            <a:xfrm>
              <a:off x="1496" y="3494"/>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中断</a:t>
              </a:r>
            </a:p>
            <a:p>
              <a:pPr algn="ctr" eaLnBrk="1" hangingPunct="1">
                <a:lnSpc>
                  <a:spcPct val="96000"/>
                </a:lnSpc>
                <a:spcBef>
                  <a:spcPct val="0"/>
                </a:spcBef>
              </a:pPr>
              <a:r>
                <a:rPr lang="zh-CN" altLang="en-US" sz="1800">
                  <a:latin typeface="黑体" pitchFamily="2" charset="-122"/>
                  <a:ea typeface="黑体" pitchFamily="2" charset="-122"/>
                </a:rPr>
                <a:t>请求</a:t>
              </a:r>
            </a:p>
          </p:txBody>
        </p:sp>
        <p:sp>
          <p:nvSpPr>
            <p:cNvPr id="30777" name="Text Box 60"/>
            <p:cNvSpPr txBox="1">
              <a:spLocks noChangeArrowheads="1"/>
            </p:cNvSpPr>
            <p:nvPr/>
          </p:nvSpPr>
          <p:spPr bwMode="auto">
            <a:xfrm>
              <a:off x="962" y="3494"/>
              <a:ext cx="399"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指令</a:t>
              </a:r>
            </a:p>
            <a:p>
              <a:pPr algn="ctr" eaLnBrk="1" hangingPunct="1">
                <a:lnSpc>
                  <a:spcPct val="96000"/>
                </a:lnSpc>
                <a:spcBef>
                  <a:spcPct val="0"/>
                </a:spcBef>
              </a:pPr>
              <a:r>
                <a:rPr lang="zh-CN" altLang="en-US" sz="1800">
                  <a:latin typeface="黑体" pitchFamily="2" charset="-122"/>
                  <a:ea typeface="黑体" pitchFamily="2" charset="-122"/>
                </a:rPr>
                <a:t>结束</a:t>
              </a:r>
            </a:p>
          </p:txBody>
        </p:sp>
      </p:grpSp>
      <p:sp>
        <p:nvSpPr>
          <p:cNvPr id="30723" name="Text Box 72"/>
          <p:cNvSpPr txBox="1">
            <a:spLocks noChangeArrowheads="1"/>
          </p:cNvSpPr>
          <p:nvPr/>
        </p:nvSpPr>
        <p:spPr bwMode="auto">
          <a:xfrm>
            <a:off x="935038" y="1557338"/>
            <a:ext cx="65516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微操作信号</a:t>
            </a:r>
            <a:r>
              <a:rPr lang="en-US" altLang="zh-CN" dirty="0">
                <a:solidFill>
                  <a:srgbClr val="FF0000"/>
                </a:solidFill>
                <a:latin typeface="黑体" pitchFamily="2" charset="-122"/>
                <a:ea typeface="黑体" pitchFamily="2" charset="-122"/>
              </a:rPr>
              <a:t>:</a:t>
            </a:r>
            <a:r>
              <a:rPr lang="zh-CN" altLang="en-US">
                <a:latin typeface="黑体" pitchFamily="2" charset="-122"/>
                <a:ea typeface="黑体" pitchFamily="2" charset="-122"/>
              </a:rPr>
              <a:t>最基本的控制命令。</a:t>
            </a:r>
          </a:p>
        </p:txBody>
      </p:sp>
      <p:sp>
        <p:nvSpPr>
          <p:cNvPr id="30724"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dirty="0">
                <a:solidFill>
                  <a:srgbClr val="990000"/>
                </a:solidFill>
                <a:latin typeface="黑体" pitchFamily="2" charset="-122"/>
                <a:ea typeface="黑体" pitchFamily="2" charset="-122"/>
              </a:rPr>
              <a:t>CU</a:t>
            </a:r>
          </a:p>
        </p:txBody>
      </p:sp>
      <p:sp>
        <p:nvSpPr>
          <p:cNvPr id="30725" name="Rectangle 84"/>
          <p:cNvSpPr>
            <a:spLocks noChangeArrowheads="1"/>
          </p:cNvSpPr>
          <p:nvPr/>
        </p:nvSpPr>
        <p:spPr bwMode="auto">
          <a:xfrm>
            <a:off x="647700" y="1089025"/>
            <a:ext cx="294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微操作信号发生器</a:t>
            </a:r>
          </a:p>
        </p:txBody>
      </p:sp>
      <p:grpSp>
        <p:nvGrpSpPr>
          <p:cNvPr id="30726" name="Group 86"/>
          <p:cNvGrpSpPr>
            <a:grpSpLocks/>
          </p:cNvGrpSpPr>
          <p:nvPr/>
        </p:nvGrpSpPr>
        <p:grpSpPr bwMode="auto">
          <a:xfrm>
            <a:off x="5543550" y="476250"/>
            <a:ext cx="2413000" cy="1547813"/>
            <a:chOff x="2154" y="290"/>
            <a:chExt cx="1294" cy="1046"/>
          </a:xfrm>
        </p:grpSpPr>
        <p:sp>
          <p:nvSpPr>
            <p:cNvPr id="30727" name="Text Box 87"/>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30728" name="Text Box 88"/>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0729" name="Text Box 89"/>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0730" name="Text Box 90"/>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0731" name="Text Box 91"/>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0732" name="Text Box 92"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30733" name="Text Box 93"/>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CU</a:t>
              </a:r>
            </a:p>
          </p:txBody>
        </p:sp>
        <p:sp>
          <p:nvSpPr>
            <p:cNvPr id="30734" name="Text Box 94"/>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0735" name="Text Box 95"/>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pic>
        <p:nvPicPr>
          <p:cNvPr id="2" name="图片 1">
            <a:extLst>
              <a:ext uri="{FF2B5EF4-FFF2-40B4-BE49-F238E27FC236}">
                <a16:creationId xmlns:a16="http://schemas.microsoft.com/office/drawing/2014/main" id="{5A050108-BD0F-0847-7E31-9900CAACDF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6550" y="359677"/>
            <a:ext cx="3689349" cy="2592169"/>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5"/>
          <p:cNvSpPr txBox="1">
            <a:spLocks noChangeArrowheads="1"/>
          </p:cNvSpPr>
          <p:nvPr/>
        </p:nvSpPr>
        <p:spPr bwMode="auto">
          <a:xfrm>
            <a:off x="684213" y="2349500"/>
            <a:ext cx="8459787"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产生微操作信号的基本依据：</a:t>
            </a:r>
          </a:p>
          <a:p>
            <a:pPr eaLnBrk="1" hangingPunct="1">
              <a:spcBef>
                <a:spcPct val="0"/>
              </a:spcBef>
            </a:pPr>
            <a:r>
              <a:rPr lang="en-US" altLang="zh-CN" dirty="0">
                <a:latin typeface="黑体" pitchFamily="2" charset="-122"/>
                <a:ea typeface="黑体" pitchFamily="2" charset="-122"/>
              </a:rPr>
              <a:t>  1)</a:t>
            </a:r>
            <a:r>
              <a:rPr lang="zh-CN" altLang="en-US">
                <a:latin typeface="黑体" pitchFamily="2" charset="-122"/>
                <a:ea typeface="黑体" pitchFamily="2" charset="-122"/>
              </a:rPr>
              <a:t>时序信号（如工作周期、节拍周期、节拍脉冲等）</a:t>
            </a:r>
          </a:p>
          <a:p>
            <a:pPr eaLnBrk="1" hangingPunct="1">
              <a:spcBef>
                <a:spcPct val="0"/>
              </a:spcBef>
            </a:pPr>
            <a:r>
              <a:rPr lang="en-US" altLang="zh-CN" dirty="0">
                <a:latin typeface="黑体" pitchFamily="2" charset="-122"/>
                <a:ea typeface="黑体" pitchFamily="2" charset="-122"/>
              </a:rPr>
              <a:t>  2)</a:t>
            </a:r>
            <a:r>
              <a:rPr lang="zh-CN" altLang="en-US">
                <a:latin typeface="黑体" pitchFamily="2" charset="-122"/>
                <a:ea typeface="黑体" pitchFamily="2" charset="-122"/>
              </a:rPr>
              <a:t>指令代码（如操作码、寻址方式、寄存器号等）</a:t>
            </a:r>
          </a:p>
          <a:p>
            <a:pPr eaLnBrk="1" hangingPunct="1">
              <a:spcBef>
                <a:spcPct val="0"/>
              </a:spcBef>
            </a:pPr>
            <a:r>
              <a:rPr lang="en-US" altLang="zh-CN" dirty="0">
                <a:latin typeface="黑体" pitchFamily="2" charset="-122"/>
                <a:ea typeface="黑体" pitchFamily="2" charset="-122"/>
              </a:rPr>
              <a:t>  3)</a:t>
            </a:r>
            <a:r>
              <a:rPr lang="zh-CN" altLang="en-US">
                <a:latin typeface="黑体" pitchFamily="2" charset="-122"/>
                <a:ea typeface="黑体" pitchFamily="2" charset="-122"/>
              </a:rPr>
              <a:t>状态    （如</a:t>
            </a:r>
            <a:r>
              <a:rPr lang="en-US" altLang="zh-CN" dirty="0">
                <a:latin typeface="黑体" pitchFamily="2" charset="-122"/>
                <a:ea typeface="黑体" pitchFamily="2" charset="-122"/>
              </a:rPr>
              <a:t>CPU</a:t>
            </a:r>
            <a:r>
              <a:rPr lang="zh-CN" altLang="en-US">
                <a:latin typeface="黑体" pitchFamily="2" charset="-122"/>
                <a:ea typeface="黑体" pitchFamily="2" charset="-122"/>
              </a:rPr>
              <a:t>内部的</a:t>
            </a:r>
            <a:r>
              <a:rPr lang="en-US" altLang="zh-CN" dirty="0">
                <a:latin typeface="黑体" pitchFamily="2" charset="-122"/>
                <a:ea typeface="黑体" pitchFamily="2" charset="-122"/>
              </a:rPr>
              <a:t>PSW</a:t>
            </a:r>
            <a:r>
              <a:rPr lang="zh-CN" altLang="en-US">
                <a:latin typeface="黑体" pitchFamily="2" charset="-122"/>
                <a:ea typeface="黑体" pitchFamily="2" charset="-122"/>
              </a:rPr>
              <a:t>、外设的状态等）</a:t>
            </a:r>
          </a:p>
          <a:p>
            <a:pPr eaLnBrk="1" hangingPunct="1">
              <a:spcBef>
                <a:spcPct val="0"/>
              </a:spcBef>
            </a:pPr>
            <a:r>
              <a:rPr lang="en-US" altLang="zh-CN" dirty="0">
                <a:latin typeface="黑体" pitchFamily="2" charset="-122"/>
                <a:ea typeface="黑体" pitchFamily="2" charset="-122"/>
              </a:rPr>
              <a:t>  4)</a:t>
            </a:r>
            <a:r>
              <a:rPr lang="zh-CN" altLang="en-US">
                <a:latin typeface="黑体" pitchFamily="2" charset="-122"/>
                <a:ea typeface="黑体" pitchFamily="2" charset="-122"/>
              </a:rPr>
              <a:t>外部请求（如控制台请求、外部中断请求、</a:t>
            </a:r>
            <a:r>
              <a:rPr lang="en-US" altLang="zh-CN" dirty="0">
                <a:latin typeface="黑体" pitchFamily="2" charset="-122"/>
                <a:ea typeface="黑体" pitchFamily="2" charset="-122"/>
              </a:rPr>
              <a:t>DMA</a:t>
            </a:r>
            <a:r>
              <a:rPr lang="zh-CN" altLang="en-US">
                <a:latin typeface="黑体" pitchFamily="2" charset="-122"/>
                <a:ea typeface="黑体" pitchFamily="2" charset="-122"/>
              </a:rPr>
              <a:t>请求等）</a:t>
            </a:r>
          </a:p>
        </p:txBody>
      </p:sp>
      <p:sp>
        <p:nvSpPr>
          <p:cNvPr id="31747" name="Text Box 36"/>
          <p:cNvSpPr txBox="1">
            <a:spLocks noChangeArrowheads="1"/>
          </p:cNvSpPr>
          <p:nvPr/>
        </p:nvSpPr>
        <p:spPr bwMode="auto">
          <a:xfrm>
            <a:off x="935038" y="1557338"/>
            <a:ext cx="65516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微操作信号</a:t>
            </a:r>
            <a:r>
              <a:rPr lang="en-US" altLang="zh-CN" dirty="0">
                <a:solidFill>
                  <a:srgbClr val="FF0000"/>
                </a:solidFill>
                <a:latin typeface="黑体" pitchFamily="2" charset="-122"/>
                <a:ea typeface="黑体" pitchFamily="2" charset="-122"/>
              </a:rPr>
              <a:t>:</a:t>
            </a:r>
            <a:r>
              <a:rPr lang="zh-CN" altLang="en-US">
                <a:latin typeface="黑体" pitchFamily="2" charset="-122"/>
                <a:ea typeface="黑体" pitchFamily="2" charset="-122"/>
              </a:rPr>
              <a:t>最基本的控制命令。</a:t>
            </a:r>
          </a:p>
        </p:txBody>
      </p:sp>
      <p:sp>
        <p:nvSpPr>
          <p:cNvPr id="31748"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dirty="0">
                <a:solidFill>
                  <a:srgbClr val="990000"/>
                </a:solidFill>
                <a:latin typeface="黑体" pitchFamily="2" charset="-122"/>
                <a:ea typeface="黑体" pitchFamily="2" charset="-122"/>
              </a:rPr>
              <a:t>CU</a:t>
            </a:r>
          </a:p>
        </p:txBody>
      </p:sp>
      <p:sp>
        <p:nvSpPr>
          <p:cNvPr id="31749" name="Rectangle 38"/>
          <p:cNvSpPr>
            <a:spLocks noChangeArrowheads="1"/>
          </p:cNvSpPr>
          <p:nvPr/>
        </p:nvSpPr>
        <p:spPr bwMode="auto">
          <a:xfrm>
            <a:off x="647700" y="1089025"/>
            <a:ext cx="294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微操作信号发生器</a:t>
            </a:r>
          </a:p>
        </p:txBody>
      </p:sp>
      <p:grpSp>
        <p:nvGrpSpPr>
          <p:cNvPr id="31750" name="Group 39"/>
          <p:cNvGrpSpPr>
            <a:grpSpLocks/>
          </p:cNvGrpSpPr>
          <p:nvPr/>
        </p:nvGrpSpPr>
        <p:grpSpPr bwMode="auto">
          <a:xfrm>
            <a:off x="5543550" y="476250"/>
            <a:ext cx="2413000" cy="1547813"/>
            <a:chOff x="2154" y="290"/>
            <a:chExt cx="1294" cy="1046"/>
          </a:xfrm>
        </p:grpSpPr>
        <p:sp>
          <p:nvSpPr>
            <p:cNvPr id="31751" name="Text Box 40"/>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31752" name="Text Box 41"/>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1753" name="Text Box 42"/>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1754" name="Text Box 43"/>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1755" name="Text Box 44"/>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1756" name="Text Box 45"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31757" name="Text Box 46"/>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CU</a:t>
              </a:r>
            </a:p>
          </p:txBody>
        </p:sp>
        <p:sp>
          <p:nvSpPr>
            <p:cNvPr id="31758" name="Text Box 47"/>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1759" name="Text Box 48"/>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5"/>
          <p:cNvSpPr txBox="1">
            <a:spLocks noChangeArrowheads="1"/>
          </p:cNvSpPr>
          <p:nvPr/>
        </p:nvSpPr>
        <p:spPr bwMode="auto">
          <a:xfrm>
            <a:off x="684213" y="2141682"/>
            <a:ext cx="8459787"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dirty="0">
                <a:latin typeface="黑体" pitchFamily="2" charset="-122"/>
                <a:ea typeface="黑体" pitchFamily="2" charset="-122"/>
              </a:rPr>
              <a:t>产生的微操作信号：</a:t>
            </a:r>
          </a:p>
        </p:txBody>
      </p:sp>
      <p:sp>
        <p:nvSpPr>
          <p:cNvPr id="31747" name="Text Box 36"/>
          <p:cNvSpPr txBox="1">
            <a:spLocks noChangeArrowheads="1"/>
          </p:cNvSpPr>
          <p:nvPr/>
        </p:nvSpPr>
        <p:spPr bwMode="auto">
          <a:xfrm>
            <a:off x="935038" y="1557338"/>
            <a:ext cx="65516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微操作信号</a:t>
            </a:r>
            <a:r>
              <a:rPr lang="en-US" altLang="zh-CN">
                <a:solidFill>
                  <a:srgbClr val="FF0000"/>
                </a:solidFill>
                <a:latin typeface="黑体" pitchFamily="2" charset="-122"/>
                <a:ea typeface="黑体" pitchFamily="2" charset="-122"/>
              </a:rPr>
              <a:t>:</a:t>
            </a:r>
            <a:r>
              <a:rPr lang="zh-CN" altLang="en-US">
                <a:latin typeface="黑体" pitchFamily="2" charset="-122"/>
                <a:ea typeface="黑体" pitchFamily="2" charset="-122"/>
              </a:rPr>
              <a:t>最基本的控制命令。</a:t>
            </a:r>
          </a:p>
        </p:txBody>
      </p:sp>
      <p:sp>
        <p:nvSpPr>
          <p:cNvPr id="31748"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a:solidFill>
                  <a:srgbClr val="990000"/>
                </a:solidFill>
                <a:latin typeface="黑体" pitchFamily="2" charset="-122"/>
                <a:ea typeface="黑体" pitchFamily="2" charset="-122"/>
              </a:rPr>
              <a:t>CU</a:t>
            </a:r>
          </a:p>
        </p:txBody>
      </p:sp>
      <p:sp>
        <p:nvSpPr>
          <p:cNvPr id="31749" name="Rectangle 38"/>
          <p:cNvSpPr>
            <a:spLocks noChangeArrowheads="1"/>
          </p:cNvSpPr>
          <p:nvPr/>
        </p:nvSpPr>
        <p:spPr bwMode="auto">
          <a:xfrm>
            <a:off x="647700" y="1089025"/>
            <a:ext cx="294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微操作信号发生器</a:t>
            </a:r>
          </a:p>
        </p:txBody>
      </p:sp>
      <p:grpSp>
        <p:nvGrpSpPr>
          <p:cNvPr id="31750" name="Group 39"/>
          <p:cNvGrpSpPr>
            <a:grpSpLocks/>
          </p:cNvGrpSpPr>
          <p:nvPr/>
        </p:nvGrpSpPr>
        <p:grpSpPr bwMode="auto">
          <a:xfrm>
            <a:off x="5543550" y="476250"/>
            <a:ext cx="2413000" cy="1547813"/>
            <a:chOff x="2154" y="290"/>
            <a:chExt cx="1294" cy="1046"/>
          </a:xfrm>
        </p:grpSpPr>
        <p:sp>
          <p:nvSpPr>
            <p:cNvPr id="31751" name="Text Box 40"/>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a:solidFill>
                    <a:srgbClr val="000099"/>
                  </a:solidFill>
                  <a:latin typeface="黑体" pitchFamily="2" charset="-122"/>
                  <a:ea typeface="黑体" pitchFamily="2" charset="-122"/>
                </a:rPr>
                <a:t>CPU</a:t>
              </a:r>
            </a:p>
          </p:txBody>
        </p:sp>
        <p:sp>
          <p:nvSpPr>
            <p:cNvPr id="31752" name="Text Box 41"/>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1753" name="Text Box 42"/>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a:solidFill>
                    <a:srgbClr val="000099"/>
                  </a:solidFill>
                  <a:latin typeface="黑体" pitchFamily="2" charset="-122"/>
                  <a:ea typeface="黑体" pitchFamily="2" charset="-122"/>
                </a:rPr>
                <a:t>ALU</a:t>
              </a:r>
            </a:p>
          </p:txBody>
        </p:sp>
        <p:sp>
          <p:nvSpPr>
            <p:cNvPr id="31754" name="Text Box 43"/>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1755" name="Text Box 44"/>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1756" name="Text Box 45"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31757" name="Text Box 46"/>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a:solidFill>
                    <a:schemeClr val="bg1"/>
                  </a:solidFill>
                  <a:latin typeface="黑体" pitchFamily="2" charset="-122"/>
                  <a:ea typeface="黑体" pitchFamily="2" charset="-122"/>
                </a:rPr>
                <a:t>CU</a:t>
              </a:r>
            </a:p>
          </p:txBody>
        </p:sp>
        <p:sp>
          <p:nvSpPr>
            <p:cNvPr id="31758" name="Text Box 47"/>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1759" name="Text Box 48"/>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
        <p:nvSpPr>
          <p:cNvPr id="16" name="Rectangle 3"/>
          <p:cNvSpPr>
            <a:spLocks noChangeArrowheads="1"/>
          </p:cNvSpPr>
          <p:nvPr/>
        </p:nvSpPr>
        <p:spPr bwMode="auto">
          <a:xfrm>
            <a:off x="792956" y="2665810"/>
            <a:ext cx="46783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a:latin typeface="Times New Roman" pitchFamily="18" charset="0"/>
              </a:rPr>
              <a:t>(1)  </a:t>
            </a:r>
            <a:r>
              <a:rPr kumimoji="1" lang="en-US" altLang="zh-CN" sz="2000" b="1" dirty="0">
                <a:solidFill>
                  <a:srgbClr val="C00000"/>
                </a:solidFill>
                <a:latin typeface="Times New Roman" pitchFamily="18" charset="0"/>
              </a:rPr>
              <a:t>CPU </a:t>
            </a:r>
            <a:r>
              <a:rPr kumimoji="1" lang="zh-CN" altLang="en-US" sz="2000" b="1" dirty="0">
                <a:solidFill>
                  <a:srgbClr val="C00000"/>
                </a:solidFill>
                <a:latin typeface="Times New Roman" pitchFamily="18" charset="0"/>
              </a:rPr>
              <a:t>内的各种控制信号</a:t>
            </a:r>
          </a:p>
        </p:txBody>
      </p:sp>
      <p:sp>
        <p:nvSpPr>
          <p:cNvPr id="17" name="Rectangle 4"/>
          <p:cNvSpPr>
            <a:spLocks noChangeArrowheads="1"/>
          </p:cNvSpPr>
          <p:nvPr/>
        </p:nvSpPr>
        <p:spPr bwMode="auto">
          <a:xfrm>
            <a:off x="792956" y="4106678"/>
            <a:ext cx="46783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a:latin typeface="Times New Roman" pitchFamily="18" charset="0"/>
              </a:rPr>
              <a:t>(2)  </a:t>
            </a:r>
            <a:r>
              <a:rPr kumimoji="1" lang="zh-CN" altLang="en-US" sz="2000" b="1" dirty="0">
                <a:solidFill>
                  <a:srgbClr val="C00000"/>
                </a:solidFill>
                <a:latin typeface="Times New Roman" pitchFamily="18" charset="0"/>
              </a:rPr>
              <a:t>送至控制总线的信号</a:t>
            </a:r>
          </a:p>
        </p:txBody>
      </p:sp>
      <p:grpSp>
        <p:nvGrpSpPr>
          <p:cNvPr id="18" name="Group 5"/>
          <p:cNvGrpSpPr>
            <a:grpSpLocks/>
          </p:cNvGrpSpPr>
          <p:nvPr/>
        </p:nvGrpSpPr>
        <p:grpSpPr bwMode="auto">
          <a:xfrm>
            <a:off x="1931194" y="3005827"/>
            <a:ext cx="2519362" cy="533400"/>
            <a:chOff x="1293" y="788"/>
            <a:chExt cx="1587" cy="336"/>
          </a:xfrm>
        </p:grpSpPr>
        <p:sp>
          <p:nvSpPr>
            <p:cNvPr id="19" name="Rectangle 6"/>
            <p:cNvSpPr>
              <a:spLocks noChangeArrowheads="1"/>
            </p:cNvSpPr>
            <p:nvPr/>
          </p:nvSpPr>
          <p:spPr bwMode="auto">
            <a:xfrm>
              <a:off x="1293" y="788"/>
              <a:ext cx="158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err="1">
                  <a:latin typeface="Times New Roman" pitchFamily="18" charset="0"/>
                </a:rPr>
                <a:t>R</a:t>
              </a:r>
              <a:r>
                <a:rPr kumimoji="1" lang="en-US" altLang="zh-CN" sz="2000" b="1" i="1" baseline="-25000" dirty="0" err="1">
                  <a:latin typeface="Times New Roman" pitchFamily="18" charset="0"/>
                </a:rPr>
                <a:t>i</a:t>
              </a:r>
              <a:r>
                <a:rPr kumimoji="1" lang="en-US" altLang="zh-CN" sz="2000" b="1" baseline="-25000" dirty="0">
                  <a:latin typeface="Times New Roman" pitchFamily="18" charset="0"/>
                </a:rPr>
                <a:t> </a:t>
              </a:r>
              <a:r>
                <a:rPr kumimoji="1" lang="en-US" altLang="zh-CN" sz="2000" b="1" dirty="0">
                  <a:latin typeface="Times New Roman" pitchFamily="18" charset="0"/>
                </a:rPr>
                <a:t>       </a:t>
              </a:r>
              <a:r>
                <a:rPr kumimoji="1" lang="en-US" altLang="zh-CN" sz="2000" b="1" dirty="0" err="1">
                  <a:latin typeface="Times New Roman" pitchFamily="18" charset="0"/>
                </a:rPr>
                <a:t>R</a:t>
              </a:r>
              <a:r>
                <a:rPr kumimoji="1" lang="en-US" altLang="zh-CN" sz="2000" b="1" i="1" baseline="-25000" dirty="0" err="1">
                  <a:latin typeface="Times New Roman" pitchFamily="18" charset="0"/>
                </a:rPr>
                <a:t>j</a:t>
              </a:r>
              <a:endParaRPr kumimoji="1" lang="en-US" altLang="zh-CN" sz="2000" b="1" i="1" baseline="-25000" dirty="0">
                <a:latin typeface="Times New Roman" pitchFamily="18" charset="0"/>
              </a:endParaRPr>
            </a:p>
          </p:txBody>
        </p:sp>
        <p:sp>
          <p:nvSpPr>
            <p:cNvPr id="20" name="Line 7"/>
            <p:cNvSpPr>
              <a:spLocks noChangeShapeType="1"/>
            </p:cNvSpPr>
            <p:nvPr/>
          </p:nvSpPr>
          <p:spPr bwMode="auto">
            <a:xfrm>
              <a:off x="1507" y="960"/>
              <a:ext cx="227"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21" name="Group 8"/>
          <p:cNvGrpSpPr>
            <a:grpSpLocks/>
          </p:cNvGrpSpPr>
          <p:nvPr/>
        </p:nvGrpSpPr>
        <p:grpSpPr bwMode="auto">
          <a:xfrm>
            <a:off x="1931194" y="3395193"/>
            <a:ext cx="2519362" cy="533400"/>
            <a:chOff x="1293" y="1066"/>
            <a:chExt cx="1587" cy="336"/>
          </a:xfrm>
        </p:grpSpPr>
        <p:sp>
          <p:nvSpPr>
            <p:cNvPr id="22" name="Rectangle 9"/>
            <p:cNvSpPr>
              <a:spLocks noChangeArrowheads="1"/>
            </p:cNvSpPr>
            <p:nvPr/>
          </p:nvSpPr>
          <p:spPr bwMode="auto">
            <a:xfrm>
              <a:off x="1293" y="1066"/>
              <a:ext cx="158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a:latin typeface="Times New Roman" pitchFamily="18" charset="0"/>
                </a:rPr>
                <a:t>(PC) + 1       PC</a:t>
              </a:r>
            </a:p>
          </p:txBody>
        </p:sp>
        <p:sp>
          <p:nvSpPr>
            <p:cNvPr id="23" name="Line 10"/>
            <p:cNvSpPr>
              <a:spLocks noChangeShapeType="1"/>
            </p:cNvSpPr>
            <p:nvPr/>
          </p:nvSpPr>
          <p:spPr bwMode="auto">
            <a:xfrm>
              <a:off x="1924" y="1240"/>
              <a:ext cx="227"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sp>
        <p:nvSpPr>
          <p:cNvPr id="24" name="Rectangle 11"/>
          <p:cNvSpPr>
            <a:spLocks noChangeArrowheads="1"/>
          </p:cNvSpPr>
          <p:nvPr/>
        </p:nvSpPr>
        <p:spPr bwMode="auto">
          <a:xfrm>
            <a:off x="1931194" y="5765172"/>
            <a:ext cx="1079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a:latin typeface="Times New Roman" pitchFamily="18" charset="0"/>
              </a:rPr>
              <a:t>INTA</a:t>
            </a:r>
          </a:p>
        </p:txBody>
      </p:sp>
      <p:sp>
        <p:nvSpPr>
          <p:cNvPr id="25" name="Rectangle 12"/>
          <p:cNvSpPr>
            <a:spLocks noChangeArrowheads="1"/>
          </p:cNvSpPr>
          <p:nvPr/>
        </p:nvSpPr>
        <p:spPr bwMode="auto">
          <a:xfrm>
            <a:off x="1931194" y="6080938"/>
            <a:ext cx="1079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a:latin typeface="Times New Roman" pitchFamily="18" charset="0"/>
              </a:rPr>
              <a:t>HLDA</a:t>
            </a:r>
          </a:p>
        </p:txBody>
      </p:sp>
      <p:sp>
        <p:nvSpPr>
          <p:cNvPr id="26" name="Rectangle 13"/>
          <p:cNvSpPr>
            <a:spLocks noChangeArrowheads="1"/>
          </p:cNvSpPr>
          <p:nvPr/>
        </p:nvSpPr>
        <p:spPr bwMode="auto">
          <a:xfrm>
            <a:off x="3840956" y="4414939"/>
            <a:ext cx="323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a:latin typeface="Times New Roman" pitchFamily="18" charset="0"/>
              </a:rPr>
              <a:t>访存控制信号</a:t>
            </a:r>
          </a:p>
        </p:txBody>
      </p:sp>
      <p:sp>
        <p:nvSpPr>
          <p:cNvPr id="27" name="Rectangle 14"/>
          <p:cNvSpPr>
            <a:spLocks noChangeArrowheads="1"/>
          </p:cNvSpPr>
          <p:nvPr/>
        </p:nvSpPr>
        <p:spPr bwMode="auto">
          <a:xfrm>
            <a:off x="3840956" y="4782083"/>
            <a:ext cx="4267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a:latin typeface="Times New Roman" pitchFamily="18" charset="0"/>
              </a:rPr>
              <a:t>访 </a:t>
            </a:r>
            <a:r>
              <a:rPr kumimoji="1" lang="en-US" altLang="zh-CN" sz="2000" b="1">
                <a:latin typeface="Times New Roman" pitchFamily="18" charset="0"/>
              </a:rPr>
              <a:t>IO/  </a:t>
            </a:r>
            <a:r>
              <a:rPr kumimoji="1" lang="zh-CN" altLang="en-US" sz="2000" b="1">
                <a:latin typeface="Times New Roman" pitchFamily="18" charset="0"/>
              </a:rPr>
              <a:t>存储器的控制信号</a:t>
            </a:r>
          </a:p>
        </p:txBody>
      </p:sp>
      <p:sp>
        <p:nvSpPr>
          <p:cNvPr id="28" name="Rectangle 15"/>
          <p:cNvSpPr>
            <a:spLocks noChangeArrowheads="1"/>
          </p:cNvSpPr>
          <p:nvPr/>
        </p:nvSpPr>
        <p:spPr bwMode="auto">
          <a:xfrm>
            <a:off x="3840956" y="5178379"/>
            <a:ext cx="323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a:latin typeface="Times New Roman" pitchFamily="18" charset="0"/>
              </a:rPr>
              <a:t>读命令</a:t>
            </a:r>
          </a:p>
        </p:txBody>
      </p:sp>
      <p:sp>
        <p:nvSpPr>
          <p:cNvPr id="29" name="Rectangle 16"/>
          <p:cNvSpPr>
            <a:spLocks noChangeArrowheads="1"/>
          </p:cNvSpPr>
          <p:nvPr/>
        </p:nvSpPr>
        <p:spPr bwMode="auto">
          <a:xfrm>
            <a:off x="3840956" y="5513340"/>
            <a:ext cx="323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a:latin typeface="Times New Roman" pitchFamily="18" charset="0"/>
              </a:rPr>
              <a:t>写命令</a:t>
            </a:r>
          </a:p>
        </p:txBody>
      </p:sp>
      <p:sp>
        <p:nvSpPr>
          <p:cNvPr id="30" name="Rectangle 17"/>
          <p:cNvSpPr>
            <a:spLocks noChangeArrowheads="1"/>
          </p:cNvSpPr>
          <p:nvPr/>
        </p:nvSpPr>
        <p:spPr bwMode="auto">
          <a:xfrm>
            <a:off x="3840956" y="5765172"/>
            <a:ext cx="323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a:latin typeface="Times New Roman" pitchFamily="18" charset="0"/>
              </a:rPr>
              <a:t>中断响应信号</a:t>
            </a:r>
          </a:p>
        </p:txBody>
      </p:sp>
      <p:sp>
        <p:nvSpPr>
          <p:cNvPr id="31" name="Rectangle 18"/>
          <p:cNvSpPr>
            <a:spLocks noChangeArrowheads="1"/>
          </p:cNvSpPr>
          <p:nvPr/>
        </p:nvSpPr>
        <p:spPr bwMode="auto">
          <a:xfrm>
            <a:off x="3840956" y="6112111"/>
            <a:ext cx="3238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r>
              <a:rPr kumimoji="1" lang="zh-CN" altLang="en-US" sz="2000" b="1" dirty="0">
                <a:latin typeface="Times New Roman" pitchFamily="18" charset="0"/>
              </a:rPr>
              <a:t>总线响应信号</a:t>
            </a:r>
          </a:p>
        </p:txBody>
      </p:sp>
      <p:grpSp>
        <p:nvGrpSpPr>
          <p:cNvPr id="32" name="Group 19"/>
          <p:cNvGrpSpPr>
            <a:grpSpLocks/>
          </p:cNvGrpSpPr>
          <p:nvPr/>
        </p:nvGrpSpPr>
        <p:grpSpPr bwMode="auto">
          <a:xfrm>
            <a:off x="1931194" y="4414939"/>
            <a:ext cx="1114425" cy="533400"/>
            <a:chOff x="986" y="2064"/>
            <a:chExt cx="702" cy="336"/>
          </a:xfrm>
        </p:grpSpPr>
        <p:sp>
          <p:nvSpPr>
            <p:cNvPr id="33" name="Rectangle 20"/>
            <p:cNvSpPr>
              <a:spLocks noChangeArrowheads="1"/>
            </p:cNvSpPr>
            <p:nvPr/>
          </p:nvSpPr>
          <p:spPr bwMode="auto">
            <a:xfrm>
              <a:off x="1008" y="2064"/>
              <a:ext cx="68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a:latin typeface="Times New Roman" pitchFamily="18" charset="0"/>
                </a:rPr>
                <a:t>MREQ</a:t>
              </a:r>
            </a:p>
          </p:txBody>
        </p:sp>
        <p:sp>
          <p:nvSpPr>
            <p:cNvPr id="34" name="Line 21"/>
            <p:cNvSpPr>
              <a:spLocks noChangeShapeType="1"/>
            </p:cNvSpPr>
            <p:nvPr/>
          </p:nvSpPr>
          <p:spPr bwMode="auto">
            <a:xfrm>
              <a:off x="986" y="2135"/>
              <a:ext cx="62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35" name="Group 22"/>
          <p:cNvGrpSpPr>
            <a:grpSpLocks/>
          </p:cNvGrpSpPr>
          <p:nvPr/>
        </p:nvGrpSpPr>
        <p:grpSpPr bwMode="auto">
          <a:xfrm>
            <a:off x="1931194" y="4812246"/>
            <a:ext cx="1079500" cy="533400"/>
            <a:chOff x="1008" y="2400"/>
            <a:chExt cx="680" cy="336"/>
          </a:xfrm>
        </p:grpSpPr>
        <p:sp>
          <p:nvSpPr>
            <p:cNvPr id="36" name="Rectangle 23"/>
            <p:cNvSpPr>
              <a:spLocks noChangeArrowheads="1"/>
            </p:cNvSpPr>
            <p:nvPr/>
          </p:nvSpPr>
          <p:spPr bwMode="auto">
            <a:xfrm>
              <a:off x="1008" y="2400"/>
              <a:ext cx="68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a:latin typeface="Times New Roman" pitchFamily="18" charset="0"/>
                </a:rPr>
                <a:t>IO/M</a:t>
              </a:r>
            </a:p>
          </p:txBody>
        </p:sp>
        <p:sp>
          <p:nvSpPr>
            <p:cNvPr id="37" name="Line 24"/>
            <p:cNvSpPr>
              <a:spLocks noChangeShapeType="1"/>
            </p:cNvSpPr>
            <p:nvPr/>
          </p:nvSpPr>
          <p:spPr bwMode="auto">
            <a:xfrm>
              <a:off x="1008" y="2471"/>
              <a:ext cx="22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38" name="Group 25"/>
          <p:cNvGrpSpPr>
            <a:grpSpLocks/>
          </p:cNvGrpSpPr>
          <p:nvPr/>
        </p:nvGrpSpPr>
        <p:grpSpPr bwMode="auto">
          <a:xfrm>
            <a:off x="1931194" y="5178379"/>
            <a:ext cx="1122362" cy="533400"/>
            <a:chOff x="981" y="2736"/>
            <a:chExt cx="707" cy="336"/>
          </a:xfrm>
        </p:grpSpPr>
        <p:sp>
          <p:nvSpPr>
            <p:cNvPr id="39" name="Rectangle 26"/>
            <p:cNvSpPr>
              <a:spLocks noChangeArrowheads="1"/>
            </p:cNvSpPr>
            <p:nvPr/>
          </p:nvSpPr>
          <p:spPr bwMode="auto">
            <a:xfrm>
              <a:off x="1008" y="2736"/>
              <a:ext cx="68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a:latin typeface="Times New Roman" pitchFamily="18" charset="0"/>
                </a:rPr>
                <a:t>RD</a:t>
              </a:r>
            </a:p>
          </p:txBody>
        </p:sp>
        <p:sp>
          <p:nvSpPr>
            <p:cNvPr id="40" name="Line 27"/>
            <p:cNvSpPr>
              <a:spLocks noChangeShapeType="1"/>
            </p:cNvSpPr>
            <p:nvPr/>
          </p:nvSpPr>
          <p:spPr bwMode="auto">
            <a:xfrm>
              <a:off x="981" y="2806"/>
              <a:ext cx="3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41" name="Group 28"/>
          <p:cNvGrpSpPr>
            <a:grpSpLocks/>
          </p:cNvGrpSpPr>
          <p:nvPr/>
        </p:nvGrpSpPr>
        <p:grpSpPr bwMode="auto">
          <a:xfrm>
            <a:off x="1931194" y="5513340"/>
            <a:ext cx="1079500" cy="533400"/>
            <a:chOff x="1293" y="3225"/>
            <a:chExt cx="680" cy="336"/>
          </a:xfrm>
        </p:grpSpPr>
        <p:sp>
          <p:nvSpPr>
            <p:cNvPr id="42" name="Rectangle 29"/>
            <p:cNvSpPr>
              <a:spLocks noChangeArrowheads="1"/>
            </p:cNvSpPr>
            <p:nvPr/>
          </p:nvSpPr>
          <p:spPr bwMode="auto">
            <a:xfrm>
              <a:off x="1293" y="3225"/>
              <a:ext cx="68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a:latin typeface="Times New Roman" pitchFamily="18" charset="0"/>
                </a:rPr>
                <a:t>WR</a:t>
              </a:r>
            </a:p>
          </p:txBody>
        </p:sp>
        <p:sp>
          <p:nvSpPr>
            <p:cNvPr id="43" name="Line 30"/>
            <p:cNvSpPr>
              <a:spLocks noChangeShapeType="1"/>
            </p:cNvSpPr>
            <p:nvPr/>
          </p:nvSpPr>
          <p:spPr bwMode="auto">
            <a:xfrm>
              <a:off x="1293" y="3295"/>
              <a:ext cx="3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44" name="Group 31"/>
          <p:cNvGrpSpPr>
            <a:grpSpLocks/>
          </p:cNvGrpSpPr>
          <p:nvPr/>
        </p:nvGrpSpPr>
        <p:grpSpPr bwMode="auto">
          <a:xfrm>
            <a:off x="1931194" y="3713125"/>
            <a:ext cx="4678362" cy="566737"/>
            <a:chOff x="1293" y="1371"/>
            <a:chExt cx="2947" cy="357"/>
          </a:xfrm>
        </p:grpSpPr>
        <p:sp>
          <p:nvSpPr>
            <p:cNvPr id="45" name="Rectangle 32"/>
            <p:cNvSpPr>
              <a:spLocks noChangeArrowheads="1"/>
            </p:cNvSpPr>
            <p:nvPr/>
          </p:nvSpPr>
          <p:spPr bwMode="auto">
            <a:xfrm>
              <a:off x="1293" y="1392"/>
              <a:ext cx="294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r>
                <a:rPr kumimoji="1" lang="en-US" altLang="zh-CN" sz="2000" b="1" dirty="0">
                  <a:latin typeface="Times New Roman" pitchFamily="18" charset="0"/>
                </a:rPr>
                <a:t>ALU    </a:t>
              </a:r>
              <a:r>
                <a:rPr kumimoji="1" lang="zh-CN" altLang="en-US" sz="2000" b="1" dirty="0">
                  <a:latin typeface="Times New Roman" pitchFamily="18" charset="0"/>
                </a:rPr>
                <a:t>＋、－、与、或</a:t>
              </a:r>
            </a:p>
          </p:txBody>
        </p:sp>
        <p:sp>
          <p:nvSpPr>
            <p:cNvPr id="46" name="Text Box 33"/>
            <p:cNvSpPr txBox="1">
              <a:spLocks noChangeArrowheads="1"/>
            </p:cNvSpPr>
            <p:nvPr/>
          </p:nvSpPr>
          <p:spPr bwMode="auto">
            <a:xfrm>
              <a:off x="3311" y="1371"/>
              <a:ext cx="43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a:t>
              </a:r>
            </a:p>
          </p:txBody>
        </p:sp>
      </p:grpSp>
    </p:spTree>
    <p:extLst>
      <p:ext uri="{BB962C8B-B14F-4D97-AF65-F5344CB8AC3E}">
        <p14:creationId xmlns:p14="http://schemas.microsoft.com/office/powerpoint/2010/main" val="3770758876"/>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blinds(horizontal)">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blinds(horizontal)">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linds(horizontal)">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blinds(horizontal)">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blinds(horizontal)">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blinds(horizontal)">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blinds(horizontal)">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blinds(horizontal)">
                                      <p:cBhvr>
                                        <p:cTn id="62" dur="5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blinds(horizontal)">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blinds(horizontal)">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blinds(horizontal)">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blinds(horizontal)">
                                      <p:cBhvr>
                                        <p:cTn id="82" dur="500"/>
                                        <p:tgtEl>
                                          <p:spTgt spid="2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blinds(horizontal)">
                                      <p:cBhvr>
                                        <p:cTn id="8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utoUpdateAnimBg="0"/>
      <p:bldP spid="24" grpId="0" autoUpdateAnimBg="0"/>
      <p:bldP spid="25" grpId="0" autoUpdateAnimBg="0"/>
      <p:bldP spid="26" grpId="0" autoUpdateAnimBg="0"/>
      <p:bldP spid="27" grpId="0" autoUpdateAnimBg="0"/>
      <p:bldP spid="28" grpId="0" autoUpdateAnimBg="0"/>
      <p:bldP spid="29" grpId="0" autoUpdateAnimBg="0"/>
      <p:bldP spid="30" grpId="0" autoUpdateAnimBg="0"/>
      <p:bldP spid="3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4"/>
          <p:cNvSpPr txBox="1">
            <a:spLocks noChangeArrowheads="1"/>
          </p:cNvSpPr>
          <p:nvPr/>
        </p:nvSpPr>
        <p:spPr bwMode="auto">
          <a:xfrm>
            <a:off x="684213" y="2312988"/>
            <a:ext cx="8459787"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根据微操作信号的形成方式，控制器可分为：</a:t>
            </a:r>
          </a:p>
          <a:p>
            <a:pPr eaLnBrk="1" hangingPunct="1">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 1)</a:t>
            </a:r>
            <a:r>
              <a:rPr lang="zh-CN" altLang="en-US">
                <a:latin typeface="黑体" pitchFamily="2" charset="-122"/>
                <a:ea typeface="黑体" pitchFamily="2" charset="-122"/>
              </a:rPr>
              <a:t>组合逻辑控制器   </a:t>
            </a:r>
          </a:p>
          <a:p>
            <a:pPr eaLnBrk="1" hangingPunct="1">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速度快，电路很不规整，逻辑网络复杂；</a:t>
            </a:r>
          </a:p>
          <a:p>
            <a:pPr eaLnBrk="1" hangingPunct="1">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 2)</a:t>
            </a:r>
            <a:r>
              <a:rPr lang="zh-CN" altLang="en-US">
                <a:latin typeface="黑体" pitchFamily="2" charset="-122"/>
                <a:ea typeface="黑体" pitchFamily="2" charset="-122"/>
              </a:rPr>
              <a:t>微程序控制器 </a:t>
            </a:r>
          </a:p>
          <a:p>
            <a:pPr eaLnBrk="1" hangingPunct="1">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a:t>
            </a:r>
            <a:r>
              <a:rPr lang="zh-CN" altLang="en-US">
                <a:latin typeface="黑体" pitchFamily="2" charset="-122"/>
                <a:ea typeface="黑体" pitchFamily="2" charset="-122"/>
              </a:rPr>
              <a:t>电路规整，易扩充，速度稍慢。 </a:t>
            </a:r>
          </a:p>
        </p:txBody>
      </p:sp>
      <p:sp>
        <p:nvSpPr>
          <p:cNvPr id="32771" name="Text Box 35"/>
          <p:cNvSpPr txBox="1">
            <a:spLocks noChangeArrowheads="1"/>
          </p:cNvSpPr>
          <p:nvPr/>
        </p:nvSpPr>
        <p:spPr bwMode="auto">
          <a:xfrm>
            <a:off x="935038" y="1557338"/>
            <a:ext cx="65516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solidFill>
                  <a:srgbClr val="FF0000"/>
                </a:solidFill>
                <a:latin typeface="黑体" pitchFamily="2" charset="-122"/>
                <a:ea typeface="黑体" pitchFamily="2" charset="-122"/>
              </a:rPr>
              <a:t>微操作信号</a:t>
            </a:r>
            <a:r>
              <a:rPr lang="en-US" altLang="zh-CN" dirty="0">
                <a:solidFill>
                  <a:srgbClr val="FF0000"/>
                </a:solidFill>
                <a:latin typeface="黑体" pitchFamily="2" charset="-122"/>
                <a:ea typeface="黑体" pitchFamily="2" charset="-122"/>
              </a:rPr>
              <a:t>:</a:t>
            </a:r>
            <a:r>
              <a:rPr lang="zh-CN" altLang="en-US">
                <a:latin typeface="黑体" pitchFamily="2" charset="-122"/>
                <a:ea typeface="黑体" pitchFamily="2" charset="-122"/>
              </a:rPr>
              <a:t>最基本的控制命令。</a:t>
            </a:r>
          </a:p>
        </p:txBody>
      </p:sp>
      <p:sp>
        <p:nvSpPr>
          <p:cNvPr id="32772" name="Rectangle 4"/>
          <p:cNvSpPr>
            <a:spLocks noChangeArrowheads="1"/>
          </p:cNvSpPr>
          <p:nvPr/>
        </p:nvSpPr>
        <p:spPr bwMode="auto">
          <a:xfrm>
            <a:off x="539750" y="512763"/>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6.2.3 </a:t>
            </a:r>
            <a:r>
              <a:rPr lang="zh-CN" altLang="en-US">
                <a:solidFill>
                  <a:srgbClr val="990000"/>
                </a:solidFill>
                <a:latin typeface="黑体" pitchFamily="2" charset="-122"/>
                <a:ea typeface="黑体" pitchFamily="2" charset="-122"/>
              </a:rPr>
              <a:t>控制单元</a:t>
            </a:r>
            <a:r>
              <a:rPr lang="en-US" altLang="zh-CN" dirty="0">
                <a:solidFill>
                  <a:srgbClr val="990000"/>
                </a:solidFill>
                <a:latin typeface="黑体" pitchFamily="2" charset="-122"/>
                <a:ea typeface="黑体" pitchFamily="2" charset="-122"/>
              </a:rPr>
              <a:t>CU</a:t>
            </a:r>
          </a:p>
        </p:txBody>
      </p:sp>
      <p:sp>
        <p:nvSpPr>
          <p:cNvPr id="32773" name="Rectangle 37"/>
          <p:cNvSpPr>
            <a:spLocks noChangeArrowheads="1"/>
          </p:cNvSpPr>
          <p:nvPr/>
        </p:nvSpPr>
        <p:spPr bwMode="auto">
          <a:xfrm>
            <a:off x="647700" y="1089025"/>
            <a:ext cx="294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eaLnBrk="0" hangingPunct="0">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微操作信号发生器</a:t>
            </a:r>
          </a:p>
        </p:txBody>
      </p:sp>
      <p:grpSp>
        <p:nvGrpSpPr>
          <p:cNvPr id="32774" name="Group 38"/>
          <p:cNvGrpSpPr>
            <a:grpSpLocks/>
          </p:cNvGrpSpPr>
          <p:nvPr/>
        </p:nvGrpSpPr>
        <p:grpSpPr bwMode="auto">
          <a:xfrm>
            <a:off x="5543550" y="476250"/>
            <a:ext cx="2413000" cy="1547813"/>
            <a:chOff x="2154" y="290"/>
            <a:chExt cx="1294" cy="1046"/>
          </a:xfrm>
        </p:grpSpPr>
        <p:sp>
          <p:nvSpPr>
            <p:cNvPr id="32775" name="Text Box 39"/>
            <p:cNvSpPr txBox="1">
              <a:spLocks noChangeArrowheads="1"/>
            </p:cNvSpPr>
            <p:nvPr/>
          </p:nvSpPr>
          <p:spPr bwMode="auto">
            <a:xfrm>
              <a:off x="2154" y="290"/>
              <a:ext cx="1294" cy="1046"/>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32776" name="Text Box 40"/>
            <p:cNvSpPr txBox="1">
              <a:spLocks noChangeArrowheads="1"/>
            </p:cNvSpPr>
            <p:nvPr/>
          </p:nvSpPr>
          <p:spPr bwMode="auto">
            <a:xfrm>
              <a:off x="2276" y="514"/>
              <a:ext cx="417" cy="29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2777" name="Text Box 41"/>
            <p:cNvSpPr txBox="1">
              <a:spLocks noChangeArrowheads="1"/>
            </p:cNvSpPr>
            <p:nvPr/>
          </p:nvSpPr>
          <p:spPr bwMode="auto">
            <a:xfrm>
              <a:off x="2293" y="578"/>
              <a:ext cx="3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2778" name="Text Box 42"/>
            <p:cNvSpPr txBox="1">
              <a:spLocks noChangeArrowheads="1"/>
            </p:cNvSpPr>
            <p:nvPr/>
          </p:nvSpPr>
          <p:spPr bwMode="auto">
            <a:xfrm>
              <a:off x="2890" y="514"/>
              <a:ext cx="417" cy="29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2779" name="Text Box 43"/>
            <p:cNvSpPr txBox="1">
              <a:spLocks noChangeArrowheads="1"/>
            </p:cNvSpPr>
            <p:nvPr/>
          </p:nvSpPr>
          <p:spPr bwMode="auto">
            <a:xfrm>
              <a:off x="2906" y="579"/>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2780" name="Text Box 44" descr="75%"/>
            <p:cNvSpPr txBox="1">
              <a:spLocks noChangeArrowheads="1"/>
            </p:cNvSpPr>
            <p:nvPr/>
          </p:nvSpPr>
          <p:spPr bwMode="auto">
            <a:xfrm>
              <a:off x="2890" y="932"/>
              <a:ext cx="417" cy="29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chemeClr val="bg1"/>
                </a:solidFill>
                <a:latin typeface="黑体" pitchFamily="2" charset="-122"/>
                <a:ea typeface="黑体" pitchFamily="2" charset="-122"/>
              </a:endParaRPr>
            </a:p>
          </p:txBody>
        </p:sp>
        <p:sp>
          <p:nvSpPr>
            <p:cNvPr id="32781" name="Text Box 45"/>
            <p:cNvSpPr txBox="1">
              <a:spLocks noChangeArrowheads="1"/>
            </p:cNvSpPr>
            <p:nvPr/>
          </p:nvSpPr>
          <p:spPr bwMode="auto">
            <a:xfrm>
              <a:off x="2906" y="998"/>
              <a:ext cx="383"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chemeClr val="bg1"/>
                  </a:solidFill>
                  <a:latin typeface="黑体" pitchFamily="2" charset="-122"/>
                  <a:ea typeface="黑体" pitchFamily="2" charset="-122"/>
                </a:rPr>
                <a:t>CU</a:t>
              </a:r>
            </a:p>
          </p:txBody>
        </p:sp>
        <p:sp>
          <p:nvSpPr>
            <p:cNvPr id="32782" name="Text Box 46"/>
            <p:cNvSpPr txBox="1">
              <a:spLocks noChangeArrowheads="1"/>
            </p:cNvSpPr>
            <p:nvPr/>
          </p:nvSpPr>
          <p:spPr bwMode="auto">
            <a:xfrm>
              <a:off x="2279" y="931"/>
              <a:ext cx="417" cy="29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2783" name="Text Box 47"/>
            <p:cNvSpPr txBox="1">
              <a:spLocks noChangeArrowheads="1"/>
            </p:cNvSpPr>
            <p:nvPr/>
          </p:nvSpPr>
          <p:spPr bwMode="auto">
            <a:xfrm>
              <a:off x="2286" y="958"/>
              <a:ext cx="403" cy="247"/>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59"/>
          <p:cNvGrpSpPr>
            <a:grpSpLocks/>
          </p:cNvGrpSpPr>
          <p:nvPr/>
        </p:nvGrpSpPr>
        <p:grpSpPr bwMode="auto">
          <a:xfrm>
            <a:off x="5543550" y="476250"/>
            <a:ext cx="2413000" cy="1547813"/>
            <a:chOff x="3492" y="300"/>
            <a:chExt cx="1520" cy="975"/>
          </a:xfrm>
        </p:grpSpPr>
        <p:sp>
          <p:nvSpPr>
            <p:cNvPr id="33840" name="Text Box 3"/>
            <p:cNvSpPr txBox="1">
              <a:spLocks noChangeArrowheads="1"/>
            </p:cNvSpPr>
            <p:nvPr/>
          </p:nvSpPr>
          <p:spPr bwMode="auto">
            <a:xfrm>
              <a:off x="3492" y="300"/>
              <a:ext cx="1520" cy="975"/>
            </a:xfrm>
            <a:prstGeom prst="rect">
              <a:avLst/>
            </a:prstGeom>
            <a:solidFill>
              <a:srgbClr val="FFFF99"/>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rgbClr val="000099"/>
                  </a:solidFill>
                  <a:latin typeface="黑体" pitchFamily="2" charset="-122"/>
                  <a:ea typeface="黑体" pitchFamily="2" charset="-122"/>
                </a:rPr>
                <a:t>CPU</a:t>
              </a:r>
            </a:p>
          </p:txBody>
        </p:sp>
        <p:sp>
          <p:nvSpPr>
            <p:cNvPr id="33841" name="Text Box 4"/>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3842" name="Text Box 5"/>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3843" name="Text Box 6"/>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3844" name="Text Box 7"/>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3845" name="Text Box 8"/>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3846" name="Text Box 9"/>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3847" name="Text Box 10" descr="75%"/>
            <p:cNvSpPr txBox="1">
              <a:spLocks noChangeArrowheads="1"/>
            </p:cNvSpPr>
            <p:nvPr/>
          </p:nvSpPr>
          <p:spPr bwMode="auto">
            <a:xfrm>
              <a:off x="3639" y="897"/>
              <a:ext cx="490" cy="2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3848" name="Text Box 11"/>
            <p:cNvSpPr txBox="1">
              <a:spLocks noChangeArrowheads="1"/>
            </p:cNvSpPr>
            <p:nvPr/>
          </p:nvSpPr>
          <p:spPr bwMode="auto">
            <a:xfrm>
              <a:off x="3696" y="923"/>
              <a:ext cx="3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chemeClr val="bg1"/>
                  </a:solidFill>
                  <a:latin typeface="黑体" pitchFamily="2" charset="-122"/>
                  <a:ea typeface="黑体" pitchFamily="2" charset="-122"/>
                </a:rPr>
                <a:t>中断</a:t>
              </a:r>
            </a:p>
            <a:p>
              <a:pPr algn="ctr" eaLnBrk="1" hangingPunct="1">
                <a:lnSpc>
                  <a:spcPct val="80000"/>
                </a:lnSpc>
                <a:spcBef>
                  <a:spcPct val="0"/>
                </a:spcBef>
              </a:pPr>
              <a:r>
                <a:rPr lang="zh-CN" altLang="en-US" sz="1800">
                  <a:solidFill>
                    <a:schemeClr val="bg1"/>
                  </a:solidFill>
                  <a:latin typeface="黑体" pitchFamily="2" charset="-122"/>
                  <a:ea typeface="黑体" pitchFamily="2" charset="-122"/>
                </a:rPr>
                <a:t>系统</a:t>
              </a:r>
            </a:p>
          </p:txBody>
        </p:sp>
      </p:grpSp>
      <p:sp>
        <p:nvSpPr>
          <p:cNvPr id="33795"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4</a:t>
            </a:r>
            <a:r>
              <a:rPr lang="en-US" altLang="en-US" dirty="0">
                <a:solidFill>
                  <a:srgbClr val="990000"/>
                </a:solidFill>
                <a:latin typeface="黑体" pitchFamily="2" charset="-122"/>
                <a:ea typeface="黑体" pitchFamily="2" charset="-122"/>
              </a:rPr>
              <a:t> </a:t>
            </a:r>
            <a:r>
              <a:rPr lang="en-US" altLang="en-US" dirty="0" err="1">
                <a:solidFill>
                  <a:srgbClr val="990000"/>
                </a:solidFill>
                <a:latin typeface="黑体" pitchFamily="2" charset="-122"/>
                <a:ea typeface="黑体" pitchFamily="2" charset="-122"/>
              </a:rPr>
              <a:t>中断控制逻辑</a:t>
            </a:r>
            <a:endParaRPr lang="zh-CN" altLang="en-US" dirty="0">
              <a:solidFill>
                <a:srgbClr val="990000"/>
              </a:solidFill>
              <a:latin typeface="黑体" pitchFamily="2" charset="-122"/>
              <a:ea typeface="黑体" pitchFamily="2" charset="-122"/>
            </a:endParaRPr>
          </a:p>
        </p:txBody>
      </p:sp>
      <p:sp>
        <p:nvSpPr>
          <p:cNvPr id="33796" name="Text Box 13"/>
          <p:cNvSpPr txBox="1">
            <a:spLocks noChangeArrowheads="1"/>
          </p:cNvSpPr>
          <p:nvPr/>
        </p:nvSpPr>
        <p:spPr bwMode="auto">
          <a:xfrm>
            <a:off x="719138" y="1016000"/>
            <a:ext cx="65516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用来控制中断处理的硬件逻辑。</a:t>
            </a:r>
          </a:p>
        </p:txBody>
      </p:sp>
      <p:grpSp>
        <p:nvGrpSpPr>
          <p:cNvPr id="33797" name="Group 58"/>
          <p:cNvGrpSpPr>
            <a:grpSpLocks/>
          </p:cNvGrpSpPr>
          <p:nvPr/>
        </p:nvGrpSpPr>
        <p:grpSpPr bwMode="auto">
          <a:xfrm>
            <a:off x="1042988" y="2024063"/>
            <a:ext cx="6913562" cy="3959225"/>
            <a:chOff x="657" y="1275"/>
            <a:chExt cx="4355" cy="2494"/>
          </a:xfrm>
        </p:grpSpPr>
        <p:sp>
          <p:nvSpPr>
            <p:cNvPr id="33798" name="Text Box 15"/>
            <p:cNvSpPr txBox="1">
              <a:spLocks noChangeArrowheads="1"/>
            </p:cNvSpPr>
            <p:nvPr/>
          </p:nvSpPr>
          <p:spPr bwMode="auto">
            <a:xfrm>
              <a:off x="2631" y="2814"/>
              <a:ext cx="90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OP    </a:t>
              </a:r>
              <a:r>
                <a:rPr lang="zh-CN" altLang="en-US" sz="1800">
                  <a:latin typeface="黑体" pitchFamily="2" charset="-122"/>
                  <a:ea typeface="黑体" pitchFamily="2" charset="-122"/>
                </a:rPr>
                <a:t>寻址</a:t>
              </a:r>
            </a:p>
          </p:txBody>
        </p:sp>
        <p:sp>
          <p:nvSpPr>
            <p:cNvPr id="33799" name="Text Box 16"/>
            <p:cNvSpPr txBox="1">
              <a:spLocks noChangeArrowheads="1"/>
            </p:cNvSpPr>
            <p:nvPr/>
          </p:nvSpPr>
          <p:spPr bwMode="auto">
            <a:xfrm>
              <a:off x="1847" y="1753"/>
              <a:ext cx="1457" cy="540"/>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4000"/>
                </a:lnSpc>
                <a:spcBef>
                  <a:spcPct val="0"/>
                </a:spcBef>
              </a:pPr>
              <a:r>
                <a:rPr lang="zh-CN" altLang="en-US" sz="1800">
                  <a:latin typeface="黑体" pitchFamily="2" charset="-122"/>
                  <a:ea typeface="黑体" pitchFamily="2" charset="-122"/>
                </a:rPr>
                <a:t>微操作</a:t>
              </a:r>
            </a:p>
            <a:p>
              <a:pPr algn="ctr" eaLnBrk="1" hangingPunct="1">
                <a:lnSpc>
                  <a:spcPct val="104000"/>
                </a:lnSpc>
                <a:spcBef>
                  <a:spcPct val="0"/>
                </a:spcBef>
              </a:pPr>
              <a:r>
                <a:rPr lang="zh-CN" altLang="en-US" sz="1800">
                  <a:latin typeface="黑体" pitchFamily="2" charset="-122"/>
                  <a:ea typeface="黑体" pitchFamily="2" charset="-122"/>
                </a:rPr>
                <a:t>信号发生器</a:t>
              </a:r>
            </a:p>
          </p:txBody>
        </p:sp>
        <p:sp>
          <p:nvSpPr>
            <p:cNvPr id="33800" name="Text Box 17"/>
            <p:cNvSpPr txBox="1">
              <a:spLocks noChangeArrowheads="1"/>
            </p:cNvSpPr>
            <p:nvPr/>
          </p:nvSpPr>
          <p:spPr bwMode="auto">
            <a:xfrm>
              <a:off x="1847" y="2504"/>
              <a:ext cx="602"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时序</a:t>
              </a:r>
            </a:p>
          </p:txBody>
        </p:sp>
        <p:sp>
          <p:nvSpPr>
            <p:cNvPr id="33801" name="Text Box 18"/>
            <p:cNvSpPr txBox="1">
              <a:spLocks noChangeArrowheads="1"/>
            </p:cNvSpPr>
            <p:nvPr/>
          </p:nvSpPr>
          <p:spPr bwMode="auto">
            <a:xfrm>
              <a:off x="2687" y="2504"/>
              <a:ext cx="603"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译码</a:t>
              </a:r>
            </a:p>
          </p:txBody>
        </p:sp>
        <p:sp>
          <p:nvSpPr>
            <p:cNvPr id="33802" name="Text Box 19"/>
            <p:cNvSpPr txBox="1">
              <a:spLocks noChangeArrowheads="1"/>
            </p:cNvSpPr>
            <p:nvPr/>
          </p:nvSpPr>
          <p:spPr bwMode="auto">
            <a:xfrm>
              <a:off x="2687" y="3017"/>
              <a:ext cx="1513" cy="274"/>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IR</a:t>
              </a:r>
            </a:p>
          </p:txBody>
        </p:sp>
        <p:sp>
          <p:nvSpPr>
            <p:cNvPr id="33803" name="Text Box 20"/>
            <p:cNvSpPr txBox="1">
              <a:spLocks noChangeArrowheads="1"/>
            </p:cNvSpPr>
            <p:nvPr/>
          </p:nvSpPr>
          <p:spPr bwMode="auto">
            <a:xfrm>
              <a:off x="713" y="2522"/>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PSW</a:t>
              </a:r>
            </a:p>
          </p:txBody>
        </p:sp>
        <p:sp>
          <p:nvSpPr>
            <p:cNvPr id="33804" name="Text Box 21"/>
            <p:cNvSpPr txBox="1">
              <a:spLocks noChangeArrowheads="1"/>
            </p:cNvSpPr>
            <p:nvPr/>
          </p:nvSpPr>
          <p:spPr bwMode="auto">
            <a:xfrm>
              <a:off x="3542" y="2504"/>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地址形成</a:t>
              </a:r>
            </a:p>
          </p:txBody>
        </p:sp>
        <p:sp>
          <p:nvSpPr>
            <p:cNvPr id="33805" name="Text Box 22"/>
            <p:cNvSpPr txBox="1">
              <a:spLocks noChangeArrowheads="1"/>
            </p:cNvSpPr>
            <p:nvPr/>
          </p:nvSpPr>
          <p:spPr bwMode="auto">
            <a:xfrm>
              <a:off x="3556" y="2000"/>
              <a:ext cx="896"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PC</a:t>
              </a:r>
            </a:p>
          </p:txBody>
        </p:sp>
        <p:sp>
          <p:nvSpPr>
            <p:cNvPr id="33806" name="Text Box 23" descr="75%"/>
            <p:cNvSpPr txBox="1">
              <a:spLocks noChangeArrowheads="1"/>
            </p:cNvSpPr>
            <p:nvPr/>
          </p:nvSpPr>
          <p:spPr bwMode="auto">
            <a:xfrm>
              <a:off x="727" y="3038"/>
              <a:ext cx="896" cy="275"/>
            </a:xfrm>
            <a:prstGeom prst="rect">
              <a:avLst/>
            </a:prstGeom>
            <a:pattFill prst="pct75">
              <a:fgClr>
                <a:srgbClr val="FF0000"/>
              </a:fgClr>
              <a:bgClr>
                <a:srgbClr val="FFFFFF"/>
              </a:bgClr>
            </a:pattFill>
            <a:ln w="28575">
              <a:solidFill>
                <a:srgbClr val="000080"/>
              </a:solidFill>
              <a:miter lim="800000"/>
              <a:headEnd/>
              <a:tailEnd/>
            </a:ln>
          </p:spPr>
          <p:txBody>
            <a:bodyPr lIns="0" tIns="18000" rIns="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chemeClr val="bg1"/>
                  </a:solidFill>
                  <a:latin typeface="黑体" pitchFamily="2" charset="-122"/>
                  <a:ea typeface="黑体" pitchFamily="2" charset="-122"/>
                </a:rPr>
                <a:t>中断控制逻辑</a:t>
              </a:r>
            </a:p>
          </p:txBody>
        </p:sp>
        <p:sp>
          <p:nvSpPr>
            <p:cNvPr id="33807" name="Line 24"/>
            <p:cNvSpPr>
              <a:spLocks noChangeShapeType="1"/>
            </p:cNvSpPr>
            <p:nvPr/>
          </p:nvSpPr>
          <p:spPr bwMode="auto">
            <a:xfrm flipV="1">
              <a:off x="2155" y="1492"/>
              <a:ext cx="0" cy="2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8" name="Line 25"/>
            <p:cNvSpPr>
              <a:spLocks noChangeShapeType="1"/>
            </p:cNvSpPr>
            <p:nvPr/>
          </p:nvSpPr>
          <p:spPr bwMode="auto">
            <a:xfrm flipV="1">
              <a:off x="2967" y="1492"/>
              <a:ext cx="0" cy="2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9" name="Text Box 26"/>
            <p:cNvSpPr txBox="1">
              <a:spLocks noChangeArrowheads="1"/>
            </p:cNvSpPr>
            <p:nvPr/>
          </p:nvSpPr>
          <p:spPr bwMode="auto">
            <a:xfrm>
              <a:off x="2222" y="1479"/>
              <a:ext cx="68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3810" name="Line 27"/>
            <p:cNvSpPr>
              <a:spLocks noChangeShapeType="1"/>
            </p:cNvSpPr>
            <p:nvPr/>
          </p:nvSpPr>
          <p:spPr bwMode="auto">
            <a:xfrm flipV="1">
              <a:off x="2799" y="2293"/>
              <a:ext cx="0"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1" name="Line 28"/>
            <p:cNvSpPr>
              <a:spLocks noChangeShapeType="1"/>
            </p:cNvSpPr>
            <p:nvPr/>
          </p:nvSpPr>
          <p:spPr bwMode="auto">
            <a:xfrm flipV="1">
              <a:off x="3192" y="2293"/>
              <a:ext cx="0"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2" name="Text Box 29"/>
            <p:cNvSpPr txBox="1">
              <a:spLocks noChangeArrowheads="1"/>
            </p:cNvSpPr>
            <p:nvPr/>
          </p:nvSpPr>
          <p:spPr bwMode="auto">
            <a:xfrm>
              <a:off x="2789" y="2250"/>
              <a:ext cx="40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3813" name="Freeform 30"/>
            <p:cNvSpPr>
              <a:spLocks/>
            </p:cNvSpPr>
            <p:nvPr/>
          </p:nvSpPr>
          <p:spPr bwMode="auto">
            <a:xfrm>
              <a:off x="1161" y="2228"/>
              <a:ext cx="672" cy="294"/>
            </a:xfrm>
            <a:custGeom>
              <a:avLst/>
              <a:gdLst>
                <a:gd name="T0" fmla="*/ 0 w 1008"/>
                <a:gd name="T1" fmla="*/ 1 h 558"/>
                <a:gd name="T2" fmla="*/ 0 w 1008"/>
                <a:gd name="T3" fmla="*/ 0 h 558"/>
                <a:gd name="T4" fmla="*/ 2 w 1008"/>
                <a:gd name="T5" fmla="*/ 0 h 558"/>
                <a:gd name="T6" fmla="*/ 0 60000 65536"/>
                <a:gd name="T7" fmla="*/ 0 60000 65536"/>
                <a:gd name="T8" fmla="*/ 0 60000 65536"/>
                <a:gd name="T9" fmla="*/ 0 w 1008"/>
                <a:gd name="T10" fmla="*/ 0 h 558"/>
                <a:gd name="T11" fmla="*/ 1008 w 1008"/>
                <a:gd name="T12" fmla="*/ 558 h 558"/>
              </a:gdLst>
              <a:ahLst/>
              <a:cxnLst>
                <a:cxn ang="T6">
                  <a:pos x="T0" y="T1"/>
                </a:cxn>
                <a:cxn ang="T7">
                  <a:pos x="T2" y="T3"/>
                </a:cxn>
                <a:cxn ang="T8">
                  <a:pos x="T4" y="T5"/>
                </a:cxn>
              </a:cxnLst>
              <a:rect l="T9" t="T10" r="T11" b="T12"/>
              <a:pathLst>
                <a:path w="1008" h="558">
                  <a:moveTo>
                    <a:pt x="0" y="558"/>
                  </a:moveTo>
                  <a:lnTo>
                    <a:pt x="0" y="0"/>
                  </a:lnTo>
                  <a:lnTo>
                    <a:pt x="1008"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4" name="Line 31"/>
            <p:cNvSpPr>
              <a:spLocks noChangeShapeType="1"/>
            </p:cNvSpPr>
            <p:nvPr/>
          </p:nvSpPr>
          <p:spPr bwMode="auto">
            <a:xfrm>
              <a:off x="1161" y="2035"/>
              <a:ext cx="672"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5" name="Line 32"/>
            <p:cNvSpPr>
              <a:spLocks noChangeShapeType="1"/>
            </p:cNvSpPr>
            <p:nvPr/>
          </p:nvSpPr>
          <p:spPr bwMode="auto">
            <a:xfrm>
              <a:off x="1161" y="1839"/>
              <a:ext cx="672"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6" name="Line 33"/>
            <p:cNvSpPr>
              <a:spLocks noChangeShapeType="1"/>
            </p:cNvSpPr>
            <p:nvPr/>
          </p:nvSpPr>
          <p:spPr bwMode="auto">
            <a:xfrm flipV="1">
              <a:off x="2141" y="2293"/>
              <a:ext cx="1" cy="211"/>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7" name="Line 34"/>
            <p:cNvSpPr>
              <a:spLocks noChangeShapeType="1"/>
            </p:cNvSpPr>
            <p:nvPr/>
          </p:nvSpPr>
          <p:spPr bwMode="auto">
            <a:xfrm flipV="1">
              <a:off x="2926" y="2779"/>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8" name="Line 35"/>
            <p:cNvSpPr>
              <a:spLocks noChangeShapeType="1"/>
            </p:cNvSpPr>
            <p:nvPr/>
          </p:nvSpPr>
          <p:spPr bwMode="auto">
            <a:xfrm flipV="1">
              <a:off x="3150" y="2779"/>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9" name="Freeform 36"/>
            <p:cNvSpPr>
              <a:spLocks/>
            </p:cNvSpPr>
            <p:nvPr/>
          </p:nvSpPr>
          <p:spPr bwMode="auto">
            <a:xfrm>
              <a:off x="3598" y="2779"/>
              <a:ext cx="378" cy="238"/>
            </a:xfrm>
            <a:custGeom>
              <a:avLst/>
              <a:gdLst>
                <a:gd name="T0" fmla="*/ 0 w 567"/>
                <a:gd name="T1" fmla="*/ 1 h 403"/>
                <a:gd name="T2" fmla="*/ 0 w 567"/>
                <a:gd name="T3" fmla="*/ 1 h 403"/>
                <a:gd name="T4" fmla="*/ 1 w 567"/>
                <a:gd name="T5" fmla="*/ 1 h 403"/>
                <a:gd name="T6" fmla="*/ 1 w 567"/>
                <a:gd name="T7" fmla="*/ 0 h 403"/>
                <a:gd name="T8" fmla="*/ 0 60000 65536"/>
                <a:gd name="T9" fmla="*/ 0 60000 65536"/>
                <a:gd name="T10" fmla="*/ 0 60000 65536"/>
                <a:gd name="T11" fmla="*/ 0 60000 65536"/>
                <a:gd name="T12" fmla="*/ 0 w 567"/>
                <a:gd name="T13" fmla="*/ 0 h 403"/>
                <a:gd name="T14" fmla="*/ 567 w 567"/>
                <a:gd name="T15" fmla="*/ 403 h 403"/>
              </a:gdLst>
              <a:ahLst/>
              <a:cxnLst>
                <a:cxn ang="T8">
                  <a:pos x="T0" y="T1"/>
                </a:cxn>
                <a:cxn ang="T9">
                  <a:pos x="T2" y="T3"/>
                </a:cxn>
                <a:cxn ang="T10">
                  <a:pos x="T4" y="T5"/>
                </a:cxn>
                <a:cxn ang="T11">
                  <a:pos x="T6" y="T7"/>
                </a:cxn>
              </a:cxnLst>
              <a:rect l="T12" t="T13" r="T14" b="T15"/>
              <a:pathLst>
                <a:path w="567" h="403">
                  <a:moveTo>
                    <a:pt x="0" y="403"/>
                  </a:moveTo>
                  <a:lnTo>
                    <a:pt x="0" y="217"/>
                  </a:lnTo>
                  <a:lnTo>
                    <a:pt x="567" y="217"/>
                  </a:lnTo>
                  <a:lnTo>
                    <a:pt x="546"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0" name="Line 37"/>
            <p:cNvSpPr>
              <a:spLocks noChangeShapeType="1"/>
            </p:cNvSpPr>
            <p:nvPr/>
          </p:nvSpPr>
          <p:spPr bwMode="auto">
            <a:xfrm flipH="1" flipV="1">
              <a:off x="3976" y="2278"/>
              <a:ext cx="0" cy="22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1" name="Text Box 38"/>
            <p:cNvSpPr txBox="1">
              <a:spLocks noChangeArrowheads="1"/>
            </p:cNvSpPr>
            <p:nvPr/>
          </p:nvSpPr>
          <p:spPr bwMode="auto">
            <a:xfrm>
              <a:off x="2029" y="1275"/>
              <a:ext cx="114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FF0000"/>
                  </a:solidFill>
                  <a:latin typeface="黑体" pitchFamily="2" charset="-122"/>
                  <a:ea typeface="黑体" pitchFamily="2" charset="-122"/>
                </a:rPr>
                <a:t>微操作命令序列</a:t>
              </a:r>
            </a:p>
          </p:txBody>
        </p:sp>
        <p:sp>
          <p:nvSpPr>
            <p:cNvPr id="33822" name="Text Box 39"/>
            <p:cNvSpPr txBox="1">
              <a:spLocks noChangeArrowheads="1"/>
            </p:cNvSpPr>
            <p:nvPr/>
          </p:nvSpPr>
          <p:spPr bwMode="auto">
            <a:xfrm>
              <a:off x="657" y="1622"/>
              <a:ext cx="95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800" dirty="0">
                  <a:latin typeface="黑体" pitchFamily="2" charset="-122"/>
                  <a:ea typeface="黑体" pitchFamily="2" charset="-122"/>
                </a:rPr>
                <a:t>I/O</a:t>
              </a:r>
              <a:r>
                <a:rPr lang="zh-CN" altLang="en-US" sz="1800">
                  <a:latin typeface="黑体" pitchFamily="2" charset="-122"/>
                  <a:ea typeface="黑体" pitchFamily="2" charset="-122"/>
                </a:rPr>
                <a:t>状态</a:t>
              </a:r>
            </a:p>
          </p:txBody>
        </p:sp>
        <p:sp>
          <p:nvSpPr>
            <p:cNvPr id="33823" name="Text Box 40"/>
            <p:cNvSpPr txBox="1">
              <a:spLocks noChangeArrowheads="1"/>
            </p:cNvSpPr>
            <p:nvPr/>
          </p:nvSpPr>
          <p:spPr bwMode="auto">
            <a:xfrm>
              <a:off x="657" y="1839"/>
              <a:ext cx="95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控制台信息</a:t>
              </a:r>
            </a:p>
          </p:txBody>
        </p:sp>
        <p:sp>
          <p:nvSpPr>
            <p:cNvPr id="33824" name="Text Box 41"/>
            <p:cNvSpPr txBox="1">
              <a:spLocks noChangeArrowheads="1"/>
            </p:cNvSpPr>
            <p:nvPr/>
          </p:nvSpPr>
          <p:spPr bwMode="auto">
            <a:xfrm>
              <a:off x="657" y="2035"/>
              <a:ext cx="95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运行状态</a:t>
              </a:r>
            </a:p>
          </p:txBody>
        </p:sp>
        <p:sp>
          <p:nvSpPr>
            <p:cNvPr id="33825" name="Line 42"/>
            <p:cNvSpPr>
              <a:spLocks noChangeShapeType="1"/>
            </p:cNvSpPr>
            <p:nvPr/>
          </p:nvSpPr>
          <p:spPr bwMode="auto">
            <a:xfrm flipV="1">
              <a:off x="951" y="2792"/>
              <a:ext cx="0" cy="23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6" name="Line 43"/>
            <p:cNvSpPr>
              <a:spLocks noChangeShapeType="1"/>
            </p:cNvSpPr>
            <p:nvPr/>
          </p:nvSpPr>
          <p:spPr bwMode="auto">
            <a:xfrm flipV="1">
              <a:off x="1343" y="2792"/>
              <a:ext cx="0" cy="23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7" name="Text Box 44"/>
            <p:cNvSpPr txBox="1">
              <a:spLocks noChangeArrowheads="1"/>
            </p:cNvSpPr>
            <p:nvPr/>
          </p:nvSpPr>
          <p:spPr bwMode="auto">
            <a:xfrm>
              <a:off x="998" y="2795"/>
              <a:ext cx="2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3828" name="Line 45"/>
            <p:cNvSpPr>
              <a:spLocks noChangeShapeType="1"/>
            </p:cNvSpPr>
            <p:nvPr/>
          </p:nvSpPr>
          <p:spPr bwMode="auto">
            <a:xfrm flipV="1">
              <a:off x="909" y="3314"/>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9" name="Line 46"/>
            <p:cNvSpPr>
              <a:spLocks noChangeShapeType="1"/>
            </p:cNvSpPr>
            <p:nvPr/>
          </p:nvSpPr>
          <p:spPr bwMode="auto">
            <a:xfrm flipV="1">
              <a:off x="1413" y="3314"/>
              <a:ext cx="0" cy="238"/>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0" name="Line 47"/>
            <p:cNvSpPr>
              <a:spLocks noChangeShapeType="1"/>
            </p:cNvSpPr>
            <p:nvPr/>
          </p:nvSpPr>
          <p:spPr bwMode="auto">
            <a:xfrm flipH="1" flipV="1">
              <a:off x="3976" y="1709"/>
              <a:ext cx="0" cy="2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1" name="Text Box 48"/>
            <p:cNvSpPr txBox="1">
              <a:spLocks noChangeArrowheads="1"/>
            </p:cNvSpPr>
            <p:nvPr/>
          </p:nvSpPr>
          <p:spPr bwMode="auto">
            <a:xfrm>
              <a:off x="4088" y="1535"/>
              <a:ext cx="50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送</a:t>
              </a:r>
              <a:r>
                <a:rPr lang="en-US" altLang="zh-CN" sz="1800" dirty="0">
                  <a:latin typeface="黑体" pitchFamily="2" charset="-122"/>
                  <a:ea typeface="黑体" pitchFamily="2" charset="-122"/>
                </a:rPr>
                <a:t>MM</a:t>
              </a:r>
            </a:p>
          </p:txBody>
        </p:sp>
        <p:sp>
          <p:nvSpPr>
            <p:cNvPr id="33832" name="Line 49"/>
            <p:cNvSpPr>
              <a:spLocks noChangeShapeType="1"/>
            </p:cNvSpPr>
            <p:nvPr/>
          </p:nvSpPr>
          <p:spPr bwMode="auto">
            <a:xfrm flipH="1">
              <a:off x="4452" y="2122"/>
              <a:ext cx="210"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3" name="Text Box 50"/>
            <p:cNvSpPr txBox="1">
              <a:spLocks noChangeArrowheads="1"/>
            </p:cNvSpPr>
            <p:nvPr/>
          </p:nvSpPr>
          <p:spPr bwMode="auto">
            <a:xfrm>
              <a:off x="4550" y="1861"/>
              <a:ext cx="32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+1</a:t>
              </a:r>
            </a:p>
          </p:txBody>
        </p:sp>
        <p:sp>
          <p:nvSpPr>
            <p:cNvPr id="33834" name="Line 51"/>
            <p:cNvSpPr>
              <a:spLocks noChangeShapeType="1"/>
            </p:cNvSpPr>
            <p:nvPr/>
          </p:nvSpPr>
          <p:spPr bwMode="auto">
            <a:xfrm flipH="1">
              <a:off x="4438" y="2640"/>
              <a:ext cx="210" cy="0"/>
            </a:xfrm>
            <a:prstGeom prst="line">
              <a:avLst/>
            </a:prstGeom>
            <a:noFill/>
            <a:ln w="28575">
              <a:solidFill>
                <a:srgbClr val="00008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3835" name="Text Box 52"/>
            <p:cNvSpPr txBox="1">
              <a:spLocks noChangeArrowheads="1"/>
            </p:cNvSpPr>
            <p:nvPr/>
          </p:nvSpPr>
          <p:spPr bwMode="auto">
            <a:xfrm>
              <a:off x="4522" y="2727"/>
              <a:ext cx="490"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送</a:t>
              </a:r>
              <a:r>
                <a:rPr lang="en-US" altLang="zh-CN" sz="1800" dirty="0">
                  <a:latin typeface="黑体" pitchFamily="2" charset="-122"/>
                  <a:ea typeface="黑体" pitchFamily="2" charset="-122"/>
                </a:rPr>
                <a:t>MM</a:t>
              </a:r>
            </a:p>
            <a:p>
              <a:pPr algn="ctr" eaLnBrk="1" hangingPunct="1">
                <a:lnSpc>
                  <a:spcPct val="96000"/>
                </a:lnSpc>
                <a:spcBef>
                  <a:spcPct val="0"/>
                </a:spcBef>
              </a:pPr>
              <a:r>
                <a:rPr lang="zh-CN" altLang="en-US" sz="1800">
                  <a:latin typeface="黑体" pitchFamily="2" charset="-122"/>
                  <a:ea typeface="黑体" pitchFamily="2" charset="-122"/>
                </a:rPr>
                <a:t>或</a:t>
              </a:r>
              <a:r>
                <a:rPr lang="en-US" altLang="zh-CN" sz="1800" dirty="0">
                  <a:latin typeface="黑体" pitchFamily="2" charset="-122"/>
                  <a:ea typeface="黑体" pitchFamily="2" charset="-122"/>
                </a:rPr>
                <a:t>ALU</a:t>
              </a:r>
            </a:p>
          </p:txBody>
        </p:sp>
        <p:sp>
          <p:nvSpPr>
            <p:cNvPr id="33836" name="Line 53"/>
            <p:cNvSpPr>
              <a:spLocks noChangeShapeType="1"/>
            </p:cNvSpPr>
            <p:nvPr/>
          </p:nvSpPr>
          <p:spPr bwMode="auto">
            <a:xfrm flipH="1" flipV="1">
              <a:off x="3402" y="3291"/>
              <a:ext cx="0" cy="2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7" name="Text Box 54"/>
            <p:cNvSpPr txBox="1">
              <a:spLocks noChangeArrowheads="1"/>
            </p:cNvSpPr>
            <p:nvPr/>
          </p:nvSpPr>
          <p:spPr bwMode="auto">
            <a:xfrm>
              <a:off x="3472" y="3487"/>
              <a:ext cx="60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来自</a:t>
              </a:r>
              <a:r>
                <a:rPr lang="en-US" altLang="zh-CN" sz="1800" dirty="0">
                  <a:latin typeface="黑体" pitchFamily="2" charset="-122"/>
                  <a:ea typeface="黑体" pitchFamily="2" charset="-122"/>
                </a:rPr>
                <a:t>MM</a:t>
              </a:r>
            </a:p>
          </p:txBody>
        </p:sp>
        <p:sp>
          <p:nvSpPr>
            <p:cNvPr id="33838" name="Text Box 55"/>
            <p:cNvSpPr txBox="1">
              <a:spLocks noChangeArrowheads="1"/>
            </p:cNvSpPr>
            <p:nvPr/>
          </p:nvSpPr>
          <p:spPr bwMode="auto">
            <a:xfrm>
              <a:off x="1496" y="3357"/>
              <a:ext cx="38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中断</a:t>
              </a:r>
            </a:p>
            <a:p>
              <a:pPr algn="ctr" eaLnBrk="1" hangingPunct="1">
                <a:lnSpc>
                  <a:spcPct val="96000"/>
                </a:lnSpc>
                <a:spcBef>
                  <a:spcPct val="0"/>
                </a:spcBef>
              </a:pPr>
              <a:r>
                <a:rPr lang="zh-CN" altLang="en-US" sz="1800">
                  <a:latin typeface="黑体" pitchFamily="2" charset="-122"/>
                  <a:ea typeface="黑体" pitchFamily="2" charset="-122"/>
                </a:rPr>
                <a:t>请求</a:t>
              </a:r>
            </a:p>
          </p:txBody>
        </p:sp>
        <p:sp>
          <p:nvSpPr>
            <p:cNvPr id="33839" name="Text Box 56"/>
            <p:cNvSpPr txBox="1">
              <a:spLocks noChangeArrowheads="1"/>
            </p:cNvSpPr>
            <p:nvPr/>
          </p:nvSpPr>
          <p:spPr bwMode="auto">
            <a:xfrm>
              <a:off x="962" y="3357"/>
              <a:ext cx="399"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800">
                  <a:latin typeface="黑体" pitchFamily="2" charset="-122"/>
                  <a:ea typeface="黑体" pitchFamily="2" charset="-122"/>
                </a:rPr>
                <a:t>指令</a:t>
              </a:r>
            </a:p>
            <a:p>
              <a:pPr algn="ctr" eaLnBrk="1" hangingPunct="1">
                <a:lnSpc>
                  <a:spcPct val="96000"/>
                </a:lnSpc>
                <a:spcBef>
                  <a:spcPct val="0"/>
                </a:spcBef>
              </a:pPr>
              <a:r>
                <a:rPr lang="zh-CN" altLang="en-US" sz="1800">
                  <a:latin typeface="黑体" pitchFamily="2" charset="-122"/>
                  <a:ea typeface="黑体" pitchFamily="2" charset="-122"/>
                </a:rPr>
                <a:t>结束</a:t>
              </a:r>
            </a:p>
          </p:txBody>
        </p:sp>
      </p:grpSp>
    </p:spTree>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5543550" y="476250"/>
            <a:ext cx="2413000" cy="1547813"/>
            <a:chOff x="3492" y="300"/>
            <a:chExt cx="1520" cy="975"/>
          </a:xfrm>
        </p:grpSpPr>
        <p:sp>
          <p:nvSpPr>
            <p:cNvPr id="34852" name="Text Box 3" descr="75%"/>
            <p:cNvSpPr txBox="1">
              <a:spLocks noChangeArrowheads="1"/>
            </p:cNvSpPr>
            <p:nvPr/>
          </p:nvSpPr>
          <p:spPr bwMode="auto">
            <a:xfrm>
              <a:off x="3492" y="300"/>
              <a:ext cx="1520" cy="9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chemeClr val="bg1"/>
                  </a:solidFill>
                  <a:latin typeface="黑体" pitchFamily="2" charset="-122"/>
                  <a:ea typeface="黑体" pitchFamily="2" charset="-122"/>
                </a:rPr>
                <a:t>CPU</a:t>
              </a:r>
            </a:p>
          </p:txBody>
        </p:sp>
        <p:sp>
          <p:nvSpPr>
            <p:cNvPr id="34853" name="Text Box 4"/>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4854" name="Text Box 5"/>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4855" name="Text Box 6"/>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4856" name="Text Box 7"/>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4857" name="Text Box 8"/>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4858" name="Text Box 9"/>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4859" name="Text Box 10"/>
            <p:cNvSpPr txBox="1">
              <a:spLocks noChangeArrowheads="1"/>
            </p:cNvSpPr>
            <p:nvPr/>
          </p:nvSpPr>
          <p:spPr bwMode="auto">
            <a:xfrm>
              <a:off x="3639" y="897"/>
              <a:ext cx="490"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4860" name="Text Box 11"/>
            <p:cNvSpPr txBox="1">
              <a:spLocks noChangeArrowheads="1"/>
            </p:cNvSpPr>
            <p:nvPr/>
          </p:nvSpPr>
          <p:spPr bwMode="auto">
            <a:xfrm>
              <a:off x="3647" y="923"/>
              <a:ext cx="473" cy="23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
        <p:nvSpPr>
          <p:cNvPr id="34819"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6</a:t>
            </a:r>
            <a:r>
              <a:rPr lang="en-US" altLang="en-US" dirty="0">
                <a:solidFill>
                  <a:srgbClr val="990000"/>
                </a:solidFill>
                <a:latin typeface="黑体" pitchFamily="2" charset="-122"/>
                <a:ea typeface="黑体" pitchFamily="2" charset="-122"/>
              </a:rPr>
              <a:t> </a:t>
            </a:r>
            <a:r>
              <a:rPr lang="en-US" altLang="en-US" dirty="0" err="1">
                <a:solidFill>
                  <a:srgbClr val="990000"/>
                </a:solidFill>
                <a:latin typeface="黑体" pitchFamily="2" charset="-122"/>
                <a:ea typeface="黑体" pitchFamily="2" charset="-122"/>
              </a:rPr>
              <a:t>CPU内部数据通路结构</a:t>
            </a:r>
            <a:endParaRPr lang="zh-CN" altLang="en-US" dirty="0">
              <a:solidFill>
                <a:srgbClr val="990000"/>
              </a:solidFill>
              <a:latin typeface="黑体" pitchFamily="2" charset="-122"/>
              <a:ea typeface="黑体" pitchFamily="2" charset="-122"/>
            </a:endParaRPr>
          </a:p>
        </p:txBody>
      </p:sp>
      <p:sp>
        <p:nvSpPr>
          <p:cNvPr id="34820" name="Text Box 57"/>
          <p:cNvSpPr txBox="1">
            <a:spLocks noChangeArrowheads="1"/>
          </p:cNvSpPr>
          <p:nvPr/>
        </p:nvSpPr>
        <p:spPr bwMode="auto">
          <a:xfrm>
            <a:off x="792163" y="1052513"/>
            <a:ext cx="4248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通常用总线的连接方式。</a:t>
            </a:r>
          </a:p>
        </p:txBody>
      </p:sp>
      <p:sp>
        <p:nvSpPr>
          <p:cNvPr id="34821" name="Text Box 58"/>
          <p:cNvSpPr txBox="1">
            <a:spLocks noChangeArrowheads="1"/>
          </p:cNvSpPr>
          <p:nvPr/>
        </p:nvSpPr>
        <p:spPr bwMode="auto">
          <a:xfrm>
            <a:off x="863600" y="1700213"/>
            <a:ext cx="4643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latin typeface="黑体" pitchFamily="2" charset="-122"/>
                <a:ea typeface="黑体" pitchFamily="2" charset="-122"/>
              </a:rPr>
              <a:t>1) </a:t>
            </a:r>
            <a:r>
              <a:rPr lang="zh-CN" altLang="en-US">
                <a:latin typeface="黑体" pitchFamily="2" charset="-122"/>
                <a:ea typeface="黑体" pitchFamily="2" charset="-122"/>
              </a:rPr>
              <a:t>单组内总线数据通路结构</a:t>
            </a:r>
          </a:p>
        </p:txBody>
      </p:sp>
      <p:grpSp>
        <p:nvGrpSpPr>
          <p:cNvPr id="34822" name="Group 89"/>
          <p:cNvGrpSpPr>
            <a:grpSpLocks/>
          </p:cNvGrpSpPr>
          <p:nvPr/>
        </p:nvGrpSpPr>
        <p:grpSpPr bwMode="auto">
          <a:xfrm>
            <a:off x="1727200" y="2744788"/>
            <a:ext cx="4211638" cy="3132137"/>
            <a:chOff x="1043" y="1480"/>
            <a:chExt cx="2926" cy="1973"/>
          </a:xfrm>
        </p:grpSpPr>
        <p:grpSp>
          <p:nvGrpSpPr>
            <p:cNvPr id="34824" name="Group 60"/>
            <p:cNvGrpSpPr>
              <a:grpSpLocks/>
            </p:cNvGrpSpPr>
            <p:nvPr/>
          </p:nvGrpSpPr>
          <p:grpSpPr bwMode="auto">
            <a:xfrm>
              <a:off x="1094" y="1866"/>
              <a:ext cx="1494" cy="1130"/>
              <a:chOff x="2764" y="10978"/>
              <a:chExt cx="1855" cy="1610"/>
            </a:xfrm>
          </p:grpSpPr>
          <p:sp>
            <p:nvSpPr>
              <p:cNvPr id="34848" name="Text Box 61"/>
              <p:cNvSpPr txBox="1">
                <a:spLocks noChangeArrowheads="1"/>
              </p:cNvSpPr>
              <p:nvPr/>
            </p:nvSpPr>
            <p:spPr bwMode="auto">
              <a:xfrm>
                <a:off x="2764" y="12202"/>
                <a:ext cx="763" cy="386"/>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选择器</a:t>
                </a:r>
              </a:p>
            </p:txBody>
          </p:sp>
          <p:sp>
            <p:nvSpPr>
              <p:cNvPr id="34849" name="Freeform 62"/>
              <p:cNvSpPr>
                <a:spLocks/>
              </p:cNvSpPr>
              <p:nvPr/>
            </p:nvSpPr>
            <p:spPr bwMode="auto">
              <a:xfrm>
                <a:off x="2859" y="11580"/>
                <a:ext cx="1657" cy="416"/>
              </a:xfrm>
              <a:custGeom>
                <a:avLst/>
                <a:gdLst>
                  <a:gd name="T0" fmla="*/ 0 w 1978"/>
                  <a:gd name="T1" fmla="*/ 46 h 486"/>
                  <a:gd name="T2" fmla="*/ 36 w 1978"/>
                  <a:gd name="T3" fmla="*/ 0 h 486"/>
                  <a:gd name="T4" fmla="*/ 101 w 1978"/>
                  <a:gd name="T5" fmla="*/ 0 h 486"/>
                  <a:gd name="T6" fmla="*/ 139 w 1978"/>
                  <a:gd name="T7" fmla="*/ 47 h 486"/>
                  <a:gd name="T8" fmla="*/ 78 w 1978"/>
                  <a:gd name="T9" fmla="*/ 47 h 486"/>
                  <a:gd name="T10" fmla="*/ 70 w 1978"/>
                  <a:gd name="T11" fmla="*/ 34 h 486"/>
                  <a:gd name="T12" fmla="*/ 59 w 1978"/>
                  <a:gd name="T13" fmla="*/ 47 h 486"/>
                  <a:gd name="T14" fmla="*/ 0 w 1978"/>
                  <a:gd name="T15" fmla="*/ 46 h 486"/>
                  <a:gd name="T16" fmla="*/ 0 60000 65536"/>
                  <a:gd name="T17" fmla="*/ 0 60000 65536"/>
                  <a:gd name="T18" fmla="*/ 0 60000 65536"/>
                  <a:gd name="T19" fmla="*/ 0 60000 65536"/>
                  <a:gd name="T20" fmla="*/ 0 60000 65536"/>
                  <a:gd name="T21" fmla="*/ 0 60000 65536"/>
                  <a:gd name="T22" fmla="*/ 0 60000 65536"/>
                  <a:gd name="T23" fmla="*/ 0 60000 65536"/>
                  <a:gd name="T24" fmla="*/ 0 w 1978"/>
                  <a:gd name="T25" fmla="*/ 0 h 486"/>
                  <a:gd name="T26" fmla="*/ 1978 w 1978"/>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8" h="486">
                    <a:moveTo>
                      <a:pt x="0" y="477"/>
                    </a:moveTo>
                    <a:lnTo>
                      <a:pt x="512" y="0"/>
                    </a:lnTo>
                    <a:lnTo>
                      <a:pt x="1448" y="0"/>
                    </a:lnTo>
                    <a:lnTo>
                      <a:pt x="1978" y="486"/>
                    </a:lnTo>
                    <a:lnTo>
                      <a:pt x="1122" y="486"/>
                    </a:lnTo>
                    <a:lnTo>
                      <a:pt x="988" y="354"/>
                    </a:lnTo>
                    <a:lnTo>
                      <a:pt x="848" y="486"/>
                    </a:lnTo>
                    <a:lnTo>
                      <a:pt x="0" y="477"/>
                    </a:lnTo>
                    <a:close/>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50" name="Text Box 63"/>
              <p:cNvSpPr txBox="1">
                <a:spLocks noChangeArrowheads="1"/>
              </p:cNvSpPr>
              <p:nvPr/>
            </p:nvSpPr>
            <p:spPr bwMode="auto">
              <a:xfrm>
                <a:off x="3279" y="10978"/>
                <a:ext cx="783" cy="386"/>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移位器</a:t>
                </a:r>
              </a:p>
            </p:txBody>
          </p:sp>
          <p:sp>
            <p:nvSpPr>
              <p:cNvPr id="34851" name="Text Box 64"/>
              <p:cNvSpPr txBox="1">
                <a:spLocks noChangeArrowheads="1"/>
              </p:cNvSpPr>
              <p:nvPr/>
            </p:nvSpPr>
            <p:spPr bwMode="auto">
              <a:xfrm>
                <a:off x="3856" y="12202"/>
                <a:ext cx="763" cy="386"/>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选择器</a:t>
                </a:r>
              </a:p>
            </p:txBody>
          </p:sp>
        </p:grpSp>
        <p:sp>
          <p:nvSpPr>
            <p:cNvPr id="34825" name="Text Box 66"/>
            <p:cNvSpPr txBox="1">
              <a:spLocks noChangeArrowheads="1"/>
            </p:cNvSpPr>
            <p:nvPr/>
          </p:nvSpPr>
          <p:spPr bwMode="auto">
            <a:xfrm>
              <a:off x="1558" y="2322"/>
              <a:ext cx="5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ALU</a:t>
              </a:r>
            </a:p>
          </p:txBody>
        </p:sp>
        <p:sp>
          <p:nvSpPr>
            <p:cNvPr id="34826" name="Text Box 67"/>
            <p:cNvSpPr txBox="1">
              <a:spLocks noChangeArrowheads="1"/>
            </p:cNvSpPr>
            <p:nvPr/>
          </p:nvSpPr>
          <p:spPr bwMode="auto">
            <a:xfrm>
              <a:off x="1176" y="2931"/>
              <a:ext cx="48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4827" name="Text Box 68"/>
            <p:cNvSpPr txBox="1">
              <a:spLocks noChangeArrowheads="1"/>
            </p:cNvSpPr>
            <p:nvPr/>
          </p:nvSpPr>
          <p:spPr bwMode="auto">
            <a:xfrm>
              <a:off x="2043" y="2931"/>
              <a:ext cx="48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4828" name="Text Box 69"/>
            <p:cNvSpPr txBox="1">
              <a:spLocks noChangeArrowheads="1"/>
            </p:cNvSpPr>
            <p:nvPr/>
          </p:nvSpPr>
          <p:spPr bwMode="auto">
            <a:xfrm>
              <a:off x="1043" y="3226"/>
              <a:ext cx="76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Ro </a:t>
              </a:r>
              <a:r>
                <a:rPr lang="en-US" altLang="zh-CN" sz="1800" dirty="0">
                  <a:latin typeface="Times New Roman" pitchFamily="18" charset="0"/>
                  <a:ea typeface="黑体" pitchFamily="2" charset="-122"/>
                </a:rPr>
                <a:t>…</a:t>
              </a:r>
              <a:r>
                <a:rPr lang="en-US" altLang="zh-CN" sz="1800" dirty="0">
                  <a:latin typeface="黑体" pitchFamily="2" charset="-122"/>
                  <a:ea typeface="黑体" pitchFamily="2" charset="-122"/>
                </a:rPr>
                <a:t> Rn</a:t>
              </a:r>
            </a:p>
          </p:txBody>
        </p:sp>
        <p:sp>
          <p:nvSpPr>
            <p:cNvPr id="34829" name="Text Box 70"/>
            <p:cNvSpPr txBox="1">
              <a:spLocks noChangeArrowheads="1"/>
            </p:cNvSpPr>
            <p:nvPr/>
          </p:nvSpPr>
          <p:spPr bwMode="auto">
            <a:xfrm>
              <a:off x="1923" y="3226"/>
              <a:ext cx="74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Ro </a:t>
              </a:r>
              <a:r>
                <a:rPr lang="en-US" altLang="zh-CN" sz="1800" dirty="0">
                  <a:latin typeface="Times New Roman" pitchFamily="18" charset="0"/>
                  <a:ea typeface="黑体" pitchFamily="2" charset="-122"/>
                </a:rPr>
                <a:t>…</a:t>
              </a:r>
              <a:r>
                <a:rPr lang="en-US" altLang="zh-CN" sz="1800" dirty="0">
                  <a:latin typeface="黑体" pitchFamily="2" charset="-122"/>
                  <a:ea typeface="黑体" pitchFamily="2" charset="-122"/>
                </a:rPr>
                <a:t> Rn</a:t>
              </a:r>
            </a:p>
            <a:p>
              <a:pPr eaLnBrk="1" hangingPunct="1">
                <a:spcBef>
                  <a:spcPct val="0"/>
                </a:spcBef>
              </a:pPr>
              <a:endParaRPr lang="en-US" altLang="zh-CN" sz="1800" dirty="0">
                <a:latin typeface="黑体" pitchFamily="2" charset="-122"/>
                <a:ea typeface="黑体" pitchFamily="2" charset="-122"/>
              </a:endParaRPr>
            </a:p>
          </p:txBody>
        </p:sp>
        <p:grpSp>
          <p:nvGrpSpPr>
            <p:cNvPr id="34830" name="Group 71"/>
            <p:cNvGrpSpPr>
              <a:grpSpLocks/>
            </p:cNvGrpSpPr>
            <p:nvPr/>
          </p:nvGrpSpPr>
          <p:grpSpPr bwMode="auto">
            <a:xfrm>
              <a:off x="1178" y="1691"/>
              <a:ext cx="1352" cy="1458"/>
              <a:chOff x="5956" y="2963"/>
              <a:chExt cx="1869" cy="2159"/>
            </a:xfrm>
          </p:grpSpPr>
          <p:sp>
            <p:nvSpPr>
              <p:cNvPr id="34840" name="Line 72"/>
              <p:cNvSpPr>
                <a:spLocks noChangeShapeType="1"/>
              </p:cNvSpPr>
              <p:nvPr/>
            </p:nvSpPr>
            <p:spPr bwMode="auto">
              <a:xfrm flipV="1">
                <a:off x="6289" y="4282"/>
                <a:ext cx="0" cy="217"/>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1" name="Line 73"/>
              <p:cNvSpPr>
                <a:spLocks noChangeShapeType="1"/>
              </p:cNvSpPr>
              <p:nvPr/>
            </p:nvSpPr>
            <p:spPr bwMode="auto">
              <a:xfrm flipV="1">
                <a:off x="7484" y="4272"/>
                <a:ext cx="0" cy="21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2" name="Line 74"/>
              <p:cNvSpPr>
                <a:spLocks noChangeShapeType="1"/>
              </p:cNvSpPr>
              <p:nvPr/>
            </p:nvSpPr>
            <p:spPr bwMode="auto">
              <a:xfrm flipV="1">
                <a:off x="6872" y="3619"/>
                <a:ext cx="0" cy="23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3" name="Line 75"/>
              <p:cNvSpPr>
                <a:spLocks noChangeShapeType="1"/>
              </p:cNvSpPr>
              <p:nvPr/>
            </p:nvSpPr>
            <p:spPr bwMode="auto">
              <a:xfrm flipV="1">
                <a:off x="5956" y="4885"/>
                <a:ext cx="0" cy="217"/>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4" name="Line 76"/>
              <p:cNvSpPr>
                <a:spLocks noChangeShapeType="1"/>
              </p:cNvSpPr>
              <p:nvPr/>
            </p:nvSpPr>
            <p:spPr bwMode="auto">
              <a:xfrm flipV="1">
                <a:off x="6606" y="4906"/>
                <a:ext cx="0" cy="21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5" name="Line 77"/>
              <p:cNvSpPr>
                <a:spLocks noChangeShapeType="1"/>
              </p:cNvSpPr>
              <p:nvPr/>
            </p:nvSpPr>
            <p:spPr bwMode="auto">
              <a:xfrm flipV="1">
                <a:off x="7174" y="4895"/>
                <a:ext cx="0" cy="21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6" name="Line 78"/>
              <p:cNvSpPr>
                <a:spLocks noChangeShapeType="1"/>
              </p:cNvSpPr>
              <p:nvPr/>
            </p:nvSpPr>
            <p:spPr bwMode="auto">
              <a:xfrm flipV="1">
                <a:off x="7825" y="4892"/>
                <a:ext cx="0" cy="217"/>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7" name="Line 79"/>
              <p:cNvSpPr>
                <a:spLocks noChangeShapeType="1"/>
              </p:cNvSpPr>
              <p:nvPr/>
            </p:nvSpPr>
            <p:spPr bwMode="auto">
              <a:xfrm flipV="1">
                <a:off x="6862" y="2963"/>
                <a:ext cx="0" cy="23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4831" name="Line 80"/>
            <p:cNvSpPr>
              <a:spLocks noChangeShapeType="1"/>
            </p:cNvSpPr>
            <p:nvPr/>
          </p:nvSpPr>
          <p:spPr bwMode="auto">
            <a:xfrm>
              <a:off x="1838" y="1691"/>
              <a:ext cx="1793"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Text Box 81"/>
            <p:cNvSpPr txBox="1">
              <a:spLocks noChangeArrowheads="1"/>
            </p:cNvSpPr>
            <p:nvPr/>
          </p:nvSpPr>
          <p:spPr bwMode="auto">
            <a:xfrm>
              <a:off x="2328" y="1867"/>
              <a:ext cx="626" cy="262"/>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Ro</a:t>
              </a:r>
            </a:p>
          </p:txBody>
        </p:sp>
        <p:sp>
          <p:nvSpPr>
            <p:cNvPr id="34833" name="Text Box 82"/>
            <p:cNvSpPr txBox="1">
              <a:spLocks noChangeArrowheads="1"/>
            </p:cNvSpPr>
            <p:nvPr/>
          </p:nvSpPr>
          <p:spPr bwMode="auto">
            <a:xfrm>
              <a:off x="3343" y="1866"/>
              <a:ext cx="626" cy="260"/>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Rn</a:t>
              </a:r>
            </a:p>
          </p:txBody>
        </p:sp>
        <p:sp>
          <p:nvSpPr>
            <p:cNvPr id="34834" name="Text Box 83"/>
            <p:cNvSpPr txBox="1">
              <a:spLocks noChangeArrowheads="1"/>
            </p:cNvSpPr>
            <p:nvPr/>
          </p:nvSpPr>
          <p:spPr bwMode="auto">
            <a:xfrm>
              <a:off x="2971" y="1866"/>
              <a:ext cx="35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p:txBody>
        </p:sp>
        <p:sp>
          <p:nvSpPr>
            <p:cNvPr id="34835" name="Line 84"/>
            <p:cNvSpPr>
              <a:spLocks noChangeShapeType="1"/>
            </p:cNvSpPr>
            <p:nvPr/>
          </p:nvSpPr>
          <p:spPr bwMode="auto">
            <a:xfrm>
              <a:off x="2650" y="1691"/>
              <a:ext cx="0" cy="1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6" name="Line 85"/>
            <p:cNvSpPr>
              <a:spLocks noChangeShapeType="1"/>
            </p:cNvSpPr>
            <p:nvPr/>
          </p:nvSpPr>
          <p:spPr bwMode="auto">
            <a:xfrm>
              <a:off x="3648" y="1691"/>
              <a:ext cx="0" cy="1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7" name="Line 86"/>
            <p:cNvSpPr>
              <a:spLocks noChangeShapeType="1"/>
            </p:cNvSpPr>
            <p:nvPr/>
          </p:nvSpPr>
          <p:spPr bwMode="auto">
            <a:xfrm>
              <a:off x="2650" y="2126"/>
              <a:ext cx="0" cy="1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8" name="Line 87"/>
            <p:cNvSpPr>
              <a:spLocks noChangeShapeType="1"/>
            </p:cNvSpPr>
            <p:nvPr/>
          </p:nvSpPr>
          <p:spPr bwMode="auto">
            <a:xfrm>
              <a:off x="3648" y="2126"/>
              <a:ext cx="0" cy="17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9" name="Text Box 88"/>
            <p:cNvSpPr txBox="1">
              <a:spLocks noChangeArrowheads="1"/>
            </p:cNvSpPr>
            <p:nvPr/>
          </p:nvSpPr>
          <p:spPr bwMode="auto">
            <a:xfrm>
              <a:off x="3151" y="1480"/>
              <a:ext cx="76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内总线</a:t>
              </a:r>
            </a:p>
          </p:txBody>
        </p:sp>
      </p:grpSp>
      <p:sp>
        <p:nvSpPr>
          <p:cNvPr id="34823" name="Text Box 91"/>
          <p:cNvSpPr txBox="1">
            <a:spLocks noChangeArrowheads="1"/>
          </p:cNvSpPr>
          <p:nvPr/>
        </p:nvSpPr>
        <p:spPr bwMode="auto">
          <a:xfrm>
            <a:off x="1258888" y="2241550"/>
            <a:ext cx="6408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例：分立寄存器结构</a:t>
            </a:r>
          </a:p>
        </p:txBody>
      </p:sp>
    </p:spTree>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6</a:t>
            </a:r>
            <a:r>
              <a:rPr lang="en-US" altLang="en-US" dirty="0">
                <a:solidFill>
                  <a:srgbClr val="990000"/>
                </a:solidFill>
                <a:latin typeface="黑体" pitchFamily="2" charset="-122"/>
                <a:ea typeface="黑体" pitchFamily="2" charset="-122"/>
              </a:rPr>
              <a:t> CPU内部数据通路结构</a:t>
            </a:r>
            <a:endParaRPr lang="zh-CN" altLang="en-US">
              <a:solidFill>
                <a:srgbClr val="990000"/>
              </a:solidFill>
              <a:latin typeface="黑体" pitchFamily="2" charset="-122"/>
              <a:ea typeface="黑体" pitchFamily="2" charset="-122"/>
            </a:endParaRPr>
          </a:p>
        </p:txBody>
      </p:sp>
      <p:sp>
        <p:nvSpPr>
          <p:cNvPr id="35843" name="Text Box 13"/>
          <p:cNvSpPr txBox="1">
            <a:spLocks noChangeArrowheads="1"/>
          </p:cNvSpPr>
          <p:nvPr/>
        </p:nvSpPr>
        <p:spPr bwMode="auto">
          <a:xfrm>
            <a:off x="792163" y="1052513"/>
            <a:ext cx="4248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通常用总线的连接方式。</a:t>
            </a:r>
          </a:p>
        </p:txBody>
      </p:sp>
      <p:sp>
        <p:nvSpPr>
          <p:cNvPr id="35844" name="Text Box 14"/>
          <p:cNvSpPr txBox="1">
            <a:spLocks noChangeArrowheads="1"/>
          </p:cNvSpPr>
          <p:nvPr/>
        </p:nvSpPr>
        <p:spPr bwMode="auto">
          <a:xfrm>
            <a:off x="863600" y="1700213"/>
            <a:ext cx="4643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latin typeface="黑体" pitchFamily="2" charset="-122"/>
                <a:ea typeface="黑体" pitchFamily="2" charset="-122"/>
              </a:rPr>
              <a:t>1) </a:t>
            </a:r>
            <a:r>
              <a:rPr lang="zh-CN" altLang="en-US">
                <a:latin typeface="黑体" pitchFamily="2" charset="-122"/>
                <a:ea typeface="黑体" pitchFamily="2" charset="-122"/>
              </a:rPr>
              <a:t>单组内总线数据通路结构</a:t>
            </a:r>
          </a:p>
        </p:txBody>
      </p:sp>
      <p:grpSp>
        <p:nvGrpSpPr>
          <p:cNvPr id="35845" name="Group 67"/>
          <p:cNvGrpSpPr>
            <a:grpSpLocks/>
          </p:cNvGrpSpPr>
          <p:nvPr/>
        </p:nvGrpSpPr>
        <p:grpSpPr bwMode="auto">
          <a:xfrm>
            <a:off x="1584325" y="3068638"/>
            <a:ext cx="5103813" cy="2349500"/>
            <a:chOff x="975" y="1593"/>
            <a:chExt cx="3215" cy="1480"/>
          </a:xfrm>
        </p:grpSpPr>
        <p:grpSp>
          <p:nvGrpSpPr>
            <p:cNvPr id="35857" name="Group 46"/>
            <p:cNvGrpSpPr>
              <a:grpSpLocks/>
            </p:cNvGrpSpPr>
            <p:nvPr/>
          </p:nvGrpSpPr>
          <p:grpSpPr bwMode="auto">
            <a:xfrm>
              <a:off x="1109" y="1758"/>
              <a:ext cx="1409" cy="1062"/>
              <a:chOff x="2764" y="10978"/>
              <a:chExt cx="1855" cy="1610"/>
            </a:xfrm>
          </p:grpSpPr>
          <p:sp>
            <p:nvSpPr>
              <p:cNvPr id="35874" name="Text Box 47"/>
              <p:cNvSpPr txBox="1">
                <a:spLocks noChangeArrowheads="1"/>
              </p:cNvSpPr>
              <p:nvPr/>
            </p:nvSpPr>
            <p:spPr bwMode="auto">
              <a:xfrm>
                <a:off x="2764" y="12202"/>
                <a:ext cx="763" cy="386"/>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2000">
                    <a:latin typeface="黑体" pitchFamily="2" charset="-122"/>
                    <a:ea typeface="黑体" pitchFamily="2" charset="-122"/>
                  </a:rPr>
                  <a:t>暂存器</a:t>
                </a:r>
              </a:p>
            </p:txBody>
          </p:sp>
          <p:sp>
            <p:nvSpPr>
              <p:cNvPr id="35875" name="Freeform 48"/>
              <p:cNvSpPr>
                <a:spLocks/>
              </p:cNvSpPr>
              <p:nvPr/>
            </p:nvSpPr>
            <p:spPr bwMode="auto">
              <a:xfrm>
                <a:off x="2859" y="11580"/>
                <a:ext cx="1657" cy="416"/>
              </a:xfrm>
              <a:custGeom>
                <a:avLst/>
                <a:gdLst>
                  <a:gd name="T0" fmla="*/ 0 w 1978"/>
                  <a:gd name="T1" fmla="*/ 46 h 486"/>
                  <a:gd name="T2" fmla="*/ 36 w 1978"/>
                  <a:gd name="T3" fmla="*/ 0 h 486"/>
                  <a:gd name="T4" fmla="*/ 101 w 1978"/>
                  <a:gd name="T5" fmla="*/ 0 h 486"/>
                  <a:gd name="T6" fmla="*/ 139 w 1978"/>
                  <a:gd name="T7" fmla="*/ 47 h 486"/>
                  <a:gd name="T8" fmla="*/ 78 w 1978"/>
                  <a:gd name="T9" fmla="*/ 47 h 486"/>
                  <a:gd name="T10" fmla="*/ 70 w 1978"/>
                  <a:gd name="T11" fmla="*/ 34 h 486"/>
                  <a:gd name="T12" fmla="*/ 59 w 1978"/>
                  <a:gd name="T13" fmla="*/ 47 h 486"/>
                  <a:gd name="T14" fmla="*/ 0 w 1978"/>
                  <a:gd name="T15" fmla="*/ 46 h 486"/>
                  <a:gd name="T16" fmla="*/ 0 60000 65536"/>
                  <a:gd name="T17" fmla="*/ 0 60000 65536"/>
                  <a:gd name="T18" fmla="*/ 0 60000 65536"/>
                  <a:gd name="T19" fmla="*/ 0 60000 65536"/>
                  <a:gd name="T20" fmla="*/ 0 60000 65536"/>
                  <a:gd name="T21" fmla="*/ 0 60000 65536"/>
                  <a:gd name="T22" fmla="*/ 0 60000 65536"/>
                  <a:gd name="T23" fmla="*/ 0 60000 65536"/>
                  <a:gd name="T24" fmla="*/ 0 w 1978"/>
                  <a:gd name="T25" fmla="*/ 0 h 486"/>
                  <a:gd name="T26" fmla="*/ 1978 w 1978"/>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8" h="486">
                    <a:moveTo>
                      <a:pt x="0" y="477"/>
                    </a:moveTo>
                    <a:lnTo>
                      <a:pt x="512" y="0"/>
                    </a:lnTo>
                    <a:lnTo>
                      <a:pt x="1448" y="0"/>
                    </a:lnTo>
                    <a:lnTo>
                      <a:pt x="1978" y="486"/>
                    </a:lnTo>
                    <a:lnTo>
                      <a:pt x="1122" y="486"/>
                    </a:lnTo>
                    <a:lnTo>
                      <a:pt x="988" y="354"/>
                    </a:lnTo>
                    <a:lnTo>
                      <a:pt x="848" y="486"/>
                    </a:lnTo>
                    <a:lnTo>
                      <a:pt x="0" y="477"/>
                    </a:lnTo>
                    <a:close/>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6" name="Text Box 49"/>
              <p:cNvSpPr txBox="1">
                <a:spLocks noChangeArrowheads="1"/>
              </p:cNvSpPr>
              <p:nvPr/>
            </p:nvSpPr>
            <p:spPr bwMode="auto">
              <a:xfrm>
                <a:off x="3279" y="10978"/>
                <a:ext cx="783" cy="386"/>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2000">
                    <a:latin typeface="黑体" pitchFamily="2" charset="-122"/>
                    <a:ea typeface="黑体" pitchFamily="2" charset="-122"/>
                  </a:rPr>
                  <a:t>移位器</a:t>
                </a:r>
              </a:p>
            </p:txBody>
          </p:sp>
          <p:sp>
            <p:nvSpPr>
              <p:cNvPr id="35877" name="Text Box 50"/>
              <p:cNvSpPr txBox="1">
                <a:spLocks noChangeArrowheads="1"/>
              </p:cNvSpPr>
              <p:nvPr/>
            </p:nvSpPr>
            <p:spPr bwMode="auto">
              <a:xfrm>
                <a:off x="3856" y="12202"/>
                <a:ext cx="763" cy="386"/>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2000">
                    <a:latin typeface="黑体" pitchFamily="2" charset="-122"/>
                    <a:ea typeface="黑体" pitchFamily="2" charset="-122"/>
                  </a:rPr>
                  <a:t>暂存器</a:t>
                </a:r>
              </a:p>
            </p:txBody>
          </p:sp>
        </p:grpSp>
        <p:sp>
          <p:nvSpPr>
            <p:cNvPr id="35858" name="Text Box 51"/>
            <p:cNvSpPr txBox="1">
              <a:spLocks noChangeArrowheads="1"/>
            </p:cNvSpPr>
            <p:nvPr/>
          </p:nvSpPr>
          <p:spPr bwMode="auto">
            <a:xfrm>
              <a:off x="1546" y="2137"/>
              <a:ext cx="53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2000" dirty="0">
                  <a:latin typeface="黑体" pitchFamily="2" charset="-122"/>
                  <a:ea typeface="黑体" pitchFamily="2" charset="-122"/>
                </a:rPr>
                <a:t>ALU</a:t>
              </a:r>
            </a:p>
          </p:txBody>
        </p:sp>
        <p:sp>
          <p:nvSpPr>
            <p:cNvPr id="35859" name="Line 52"/>
            <p:cNvSpPr>
              <a:spLocks noChangeShapeType="1"/>
            </p:cNvSpPr>
            <p:nvPr/>
          </p:nvSpPr>
          <p:spPr bwMode="auto">
            <a:xfrm flipV="1">
              <a:off x="1415" y="2430"/>
              <a:ext cx="0" cy="139"/>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0" name="Line 53"/>
            <p:cNvSpPr>
              <a:spLocks noChangeShapeType="1"/>
            </p:cNvSpPr>
            <p:nvPr/>
          </p:nvSpPr>
          <p:spPr bwMode="auto">
            <a:xfrm flipV="1">
              <a:off x="2231" y="2425"/>
              <a:ext cx="0" cy="13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1" name="Line 54"/>
            <p:cNvSpPr>
              <a:spLocks noChangeShapeType="1"/>
            </p:cNvSpPr>
            <p:nvPr/>
          </p:nvSpPr>
          <p:spPr bwMode="auto">
            <a:xfrm flipV="1">
              <a:off x="1813" y="2010"/>
              <a:ext cx="0" cy="14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2" name="Line 55"/>
            <p:cNvSpPr>
              <a:spLocks noChangeShapeType="1"/>
            </p:cNvSpPr>
            <p:nvPr/>
          </p:nvSpPr>
          <p:spPr bwMode="auto">
            <a:xfrm flipV="1">
              <a:off x="1404" y="2834"/>
              <a:ext cx="0" cy="239"/>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3" name="Line 56"/>
            <p:cNvSpPr>
              <a:spLocks noChangeShapeType="1"/>
            </p:cNvSpPr>
            <p:nvPr/>
          </p:nvSpPr>
          <p:spPr bwMode="auto">
            <a:xfrm flipV="1">
              <a:off x="2244" y="2818"/>
              <a:ext cx="0" cy="24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4" name="Line 57"/>
            <p:cNvSpPr>
              <a:spLocks noChangeShapeType="1"/>
            </p:cNvSpPr>
            <p:nvPr/>
          </p:nvSpPr>
          <p:spPr bwMode="auto">
            <a:xfrm flipV="1">
              <a:off x="1806" y="1593"/>
              <a:ext cx="0" cy="14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5" name="Line 58"/>
            <p:cNvSpPr>
              <a:spLocks noChangeShapeType="1"/>
            </p:cNvSpPr>
            <p:nvPr/>
          </p:nvSpPr>
          <p:spPr bwMode="auto">
            <a:xfrm flipV="1">
              <a:off x="975" y="3073"/>
              <a:ext cx="2880"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6" name="Freeform 59"/>
            <p:cNvSpPr>
              <a:spLocks/>
            </p:cNvSpPr>
            <p:nvPr/>
          </p:nvSpPr>
          <p:spPr bwMode="auto">
            <a:xfrm>
              <a:off x="1815" y="1593"/>
              <a:ext cx="874" cy="1480"/>
            </a:xfrm>
            <a:custGeom>
              <a:avLst/>
              <a:gdLst>
                <a:gd name="T0" fmla="*/ 0 w 1071"/>
                <a:gd name="T1" fmla="*/ 0 h 2077"/>
                <a:gd name="T2" fmla="*/ 51 w 1071"/>
                <a:gd name="T3" fmla="*/ 0 h 2077"/>
                <a:gd name="T4" fmla="*/ 51 w 1071"/>
                <a:gd name="T5" fmla="*/ 14 h 2077"/>
                <a:gd name="T6" fmla="*/ 0 60000 65536"/>
                <a:gd name="T7" fmla="*/ 0 60000 65536"/>
                <a:gd name="T8" fmla="*/ 0 60000 65536"/>
                <a:gd name="T9" fmla="*/ 0 w 1071"/>
                <a:gd name="T10" fmla="*/ 0 h 2077"/>
                <a:gd name="T11" fmla="*/ 1071 w 1071"/>
                <a:gd name="T12" fmla="*/ 2077 h 2077"/>
              </a:gdLst>
              <a:ahLst/>
              <a:cxnLst>
                <a:cxn ang="T6">
                  <a:pos x="T0" y="T1"/>
                </a:cxn>
                <a:cxn ang="T7">
                  <a:pos x="T2" y="T3"/>
                </a:cxn>
                <a:cxn ang="T8">
                  <a:pos x="T4" y="T5"/>
                </a:cxn>
              </a:cxnLst>
              <a:rect l="T9" t="T10" r="T11" b="T12"/>
              <a:pathLst>
                <a:path w="1071" h="2077">
                  <a:moveTo>
                    <a:pt x="0" y="0"/>
                  </a:moveTo>
                  <a:lnTo>
                    <a:pt x="1071" y="0"/>
                  </a:lnTo>
                  <a:lnTo>
                    <a:pt x="1071" y="2077"/>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67" name="Text Box 60"/>
            <p:cNvSpPr txBox="1">
              <a:spLocks noChangeArrowheads="1"/>
            </p:cNvSpPr>
            <p:nvPr/>
          </p:nvSpPr>
          <p:spPr bwMode="auto">
            <a:xfrm>
              <a:off x="3470" y="2772"/>
              <a:ext cx="7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2000">
                  <a:latin typeface="黑体" pitchFamily="2" charset="-122"/>
                  <a:ea typeface="黑体" pitchFamily="2" charset="-122"/>
                </a:rPr>
                <a:t>内总线</a:t>
              </a:r>
            </a:p>
          </p:txBody>
        </p:sp>
        <p:sp>
          <p:nvSpPr>
            <p:cNvPr id="35868" name="Rectangle 61"/>
            <p:cNvSpPr>
              <a:spLocks noChangeArrowheads="1"/>
            </p:cNvSpPr>
            <p:nvPr/>
          </p:nvSpPr>
          <p:spPr bwMode="auto">
            <a:xfrm>
              <a:off x="2929" y="2035"/>
              <a:ext cx="600" cy="773"/>
            </a:xfrm>
            <a:prstGeom prst="rect">
              <a:avLst/>
            </a:prstGeom>
            <a:solidFill>
              <a:srgbClr val="00FFFF"/>
            </a:solidFill>
            <a:ln w="28575">
              <a:solidFill>
                <a:srgbClr val="000080"/>
              </a:solidFill>
              <a:miter lim="800000"/>
              <a:headEnd/>
              <a:tailEnd/>
            </a:ln>
          </p:spPr>
          <p:txBody>
            <a:bodyPr/>
            <a:lstStyle/>
            <a:p>
              <a:endParaRPr lang="zh-CN" altLang="en-US">
                <a:latin typeface="黑体" pitchFamily="2" charset="-122"/>
                <a:ea typeface="黑体" pitchFamily="2" charset="-122"/>
              </a:endParaRPr>
            </a:p>
          </p:txBody>
        </p:sp>
        <p:sp>
          <p:nvSpPr>
            <p:cNvPr id="35869" name="Line 62"/>
            <p:cNvSpPr>
              <a:spLocks noChangeShapeType="1"/>
            </p:cNvSpPr>
            <p:nvPr/>
          </p:nvSpPr>
          <p:spPr bwMode="auto">
            <a:xfrm flipV="1">
              <a:off x="3238" y="2808"/>
              <a:ext cx="0" cy="24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0" name="Rectangle 63"/>
            <p:cNvSpPr>
              <a:spLocks noChangeArrowheads="1"/>
            </p:cNvSpPr>
            <p:nvPr/>
          </p:nvSpPr>
          <p:spPr bwMode="auto">
            <a:xfrm>
              <a:off x="2929" y="2234"/>
              <a:ext cx="600" cy="397"/>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35871" name="Text Box 64"/>
            <p:cNvSpPr txBox="1">
              <a:spLocks noChangeArrowheads="1"/>
            </p:cNvSpPr>
            <p:nvPr/>
          </p:nvSpPr>
          <p:spPr bwMode="auto">
            <a:xfrm>
              <a:off x="2964" y="2001"/>
              <a:ext cx="5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2000" dirty="0">
                  <a:latin typeface="黑体" pitchFamily="2" charset="-122"/>
                  <a:ea typeface="黑体" pitchFamily="2" charset="-122"/>
                </a:rPr>
                <a:t>Ro</a:t>
              </a:r>
            </a:p>
          </p:txBody>
        </p:sp>
        <p:sp>
          <p:nvSpPr>
            <p:cNvPr id="35872" name="Text Box 65"/>
            <p:cNvSpPr txBox="1">
              <a:spLocks noChangeArrowheads="1"/>
            </p:cNvSpPr>
            <p:nvPr/>
          </p:nvSpPr>
          <p:spPr bwMode="auto">
            <a:xfrm>
              <a:off x="2964" y="2568"/>
              <a:ext cx="5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2000" dirty="0">
                  <a:latin typeface="黑体" pitchFamily="2" charset="-122"/>
                  <a:ea typeface="黑体" pitchFamily="2" charset="-122"/>
                </a:rPr>
                <a:t>Rn</a:t>
              </a:r>
            </a:p>
          </p:txBody>
        </p:sp>
        <p:sp>
          <p:nvSpPr>
            <p:cNvPr id="35873" name="Text Box 66"/>
            <p:cNvSpPr txBox="1">
              <a:spLocks noChangeArrowheads="1"/>
            </p:cNvSpPr>
            <p:nvPr/>
          </p:nvSpPr>
          <p:spPr bwMode="auto">
            <a:xfrm>
              <a:off x="2964" y="2322"/>
              <a:ext cx="53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2000" dirty="0">
                  <a:latin typeface="Times New Roman" pitchFamily="18" charset="0"/>
                  <a:ea typeface="黑体" pitchFamily="2" charset="-122"/>
                </a:rPr>
                <a:t>……</a:t>
              </a:r>
              <a:endParaRPr lang="en-US" altLang="zh-CN" sz="2000" dirty="0">
                <a:latin typeface="黑体" pitchFamily="2" charset="-122"/>
                <a:ea typeface="黑体" pitchFamily="2" charset="-122"/>
              </a:endParaRPr>
            </a:p>
          </p:txBody>
        </p:sp>
      </p:grpSp>
      <p:sp>
        <p:nvSpPr>
          <p:cNvPr id="35846" name="Text Box 68"/>
          <p:cNvSpPr txBox="1">
            <a:spLocks noChangeArrowheads="1"/>
          </p:cNvSpPr>
          <p:nvPr/>
        </p:nvSpPr>
        <p:spPr bwMode="auto">
          <a:xfrm>
            <a:off x="1258888" y="2241550"/>
            <a:ext cx="6408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例：集成寄存器结构</a:t>
            </a:r>
          </a:p>
        </p:txBody>
      </p:sp>
      <p:grpSp>
        <p:nvGrpSpPr>
          <p:cNvPr id="35847" name="Group 89"/>
          <p:cNvGrpSpPr>
            <a:grpSpLocks/>
          </p:cNvGrpSpPr>
          <p:nvPr/>
        </p:nvGrpSpPr>
        <p:grpSpPr bwMode="auto">
          <a:xfrm>
            <a:off x="5543550" y="476250"/>
            <a:ext cx="2413000" cy="1547813"/>
            <a:chOff x="3492" y="300"/>
            <a:chExt cx="1520" cy="975"/>
          </a:xfrm>
        </p:grpSpPr>
        <p:sp>
          <p:nvSpPr>
            <p:cNvPr id="35848" name="Text Box 90" descr="75%"/>
            <p:cNvSpPr txBox="1">
              <a:spLocks noChangeArrowheads="1"/>
            </p:cNvSpPr>
            <p:nvPr/>
          </p:nvSpPr>
          <p:spPr bwMode="auto">
            <a:xfrm>
              <a:off x="3492" y="300"/>
              <a:ext cx="1520" cy="9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chemeClr val="bg1"/>
                  </a:solidFill>
                  <a:latin typeface="黑体" pitchFamily="2" charset="-122"/>
                  <a:ea typeface="黑体" pitchFamily="2" charset="-122"/>
                </a:rPr>
                <a:t>CPU</a:t>
              </a:r>
            </a:p>
          </p:txBody>
        </p:sp>
        <p:sp>
          <p:nvSpPr>
            <p:cNvPr id="35849" name="Text Box 91"/>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5850" name="Text Box 92"/>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5851" name="Text Box 93"/>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5852" name="Text Box 94"/>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5853" name="Text Box 95"/>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5854" name="Text Box 96"/>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5855" name="Text Box 97"/>
            <p:cNvSpPr txBox="1">
              <a:spLocks noChangeArrowheads="1"/>
            </p:cNvSpPr>
            <p:nvPr/>
          </p:nvSpPr>
          <p:spPr bwMode="auto">
            <a:xfrm>
              <a:off x="3639" y="897"/>
              <a:ext cx="490"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5856" name="Text Box 98"/>
            <p:cNvSpPr txBox="1">
              <a:spLocks noChangeArrowheads="1"/>
            </p:cNvSpPr>
            <p:nvPr/>
          </p:nvSpPr>
          <p:spPr bwMode="auto">
            <a:xfrm>
              <a:off x="3647" y="923"/>
              <a:ext cx="473" cy="23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6</a:t>
            </a:r>
            <a:r>
              <a:rPr lang="en-US" altLang="en-US" dirty="0">
                <a:solidFill>
                  <a:srgbClr val="990000"/>
                </a:solidFill>
                <a:latin typeface="黑体" pitchFamily="2" charset="-122"/>
                <a:ea typeface="黑体" pitchFamily="2" charset="-122"/>
              </a:rPr>
              <a:t> CPU内部数据通路结构</a:t>
            </a:r>
            <a:endParaRPr lang="zh-CN" altLang="en-US">
              <a:solidFill>
                <a:srgbClr val="990000"/>
              </a:solidFill>
              <a:latin typeface="黑体" pitchFamily="2" charset="-122"/>
              <a:ea typeface="黑体" pitchFamily="2" charset="-122"/>
            </a:endParaRPr>
          </a:p>
        </p:txBody>
      </p:sp>
      <p:sp>
        <p:nvSpPr>
          <p:cNvPr id="36867" name="Text Box 13"/>
          <p:cNvSpPr txBox="1">
            <a:spLocks noChangeArrowheads="1"/>
          </p:cNvSpPr>
          <p:nvPr/>
        </p:nvSpPr>
        <p:spPr bwMode="auto">
          <a:xfrm>
            <a:off x="792163" y="1052513"/>
            <a:ext cx="4248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通常用总线的连接方式。</a:t>
            </a:r>
          </a:p>
        </p:txBody>
      </p:sp>
      <p:sp>
        <p:nvSpPr>
          <p:cNvPr id="36868" name="Text Box 14"/>
          <p:cNvSpPr txBox="1">
            <a:spLocks noChangeArrowheads="1"/>
          </p:cNvSpPr>
          <p:nvPr/>
        </p:nvSpPr>
        <p:spPr bwMode="auto">
          <a:xfrm>
            <a:off x="863600" y="1700213"/>
            <a:ext cx="4643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en-US" dirty="0">
                <a:latin typeface="黑体" pitchFamily="2" charset="-122"/>
                <a:ea typeface="黑体" pitchFamily="2" charset="-122"/>
              </a:rPr>
              <a:t>2) </a:t>
            </a:r>
            <a:r>
              <a:rPr lang="en-US" altLang="en-US" dirty="0" err="1">
                <a:latin typeface="黑体" pitchFamily="2" charset="-122"/>
                <a:ea typeface="黑体" pitchFamily="2" charset="-122"/>
              </a:rPr>
              <a:t>多组内总线结构</a:t>
            </a:r>
            <a:endParaRPr lang="zh-CN" altLang="en-US" dirty="0">
              <a:latin typeface="黑体" pitchFamily="2" charset="-122"/>
              <a:ea typeface="黑体" pitchFamily="2" charset="-122"/>
            </a:endParaRPr>
          </a:p>
        </p:txBody>
      </p:sp>
      <p:sp>
        <p:nvSpPr>
          <p:cNvPr id="36869" name="Text Box 38"/>
          <p:cNvSpPr txBox="1">
            <a:spLocks noChangeArrowheads="1"/>
          </p:cNvSpPr>
          <p:nvPr/>
        </p:nvSpPr>
        <p:spPr bwMode="auto">
          <a:xfrm>
            <a:off x="1258888" y="2241550"/>
            <a:ext cx="6408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例：双总线结构</a:t>
            </a:r>
          </a:p>
        </p:txBody>
      </p:sp>
      <p:grpSp>
        <p:nvGrpSpPr>
          <p:cNvPr id="36870" name="Group 125"/>
          <p:cNvGrpSpPr>
            <a:grpSpLocks/>
          </p:cNvGrpSpPr>
          <p:nvPr/>
        </p:nvGrpSpPr>
        <p:grpSpPr bwMode="auto">
          <a:xfrm>
            <a:off x="5543550" y="476250"/>
            <a:ext cx="2413000" cy="1547813"/>
            <a:chOff x="3492" y="300"/>
            <a:chExt cx="1520" cy="975"/>
          </a:xfrm>
        </p:grpSpPr>
        <p:sp>
          <p:nvSpPr>
            <p:cNvPr id="36893" name="Text Box 126" descr="75%"/>
            <p:cNvSpPr txBox="1">
              <a:spLocks noChangeArrowheads="1"/>
            </p:cNvSpPr>
            <p:nvPr/>
          </p:nvSpPr>
          <p:spPr bwMode="auto">
            <a:xfrm>
              <a:off x="3492" y="300"/>
              <a:ext cx="1520" cy="9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chemeClr val="bg1"/>
                  </a:solidFill>
                  <a:latin typeface="黑体" pitchFamily="2" charset="-122"/>
                  <a:ea typeface="黑体" pitchFamily="2" charset="-122"/>
                </a:rPr>
                <a:t>CPU</a:t>
              </a:r>
            </a:p>
          </p:txBody>
        </p:sp>
        <p:sp>
          <p:nvSpPr>
            <p:cNvPr id="36894" name="Text Box 127"/>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6895" name="Text Box 128"/>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6896" name="Text Box 129"/>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6897" name="Text Box 130"/>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6898" name="Text Box 131"/>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6899" name="Text Box 132"/>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6900" name="Text Box 133"/>
            <p:cNvSpPr txBox="1">
              <a:spLocks noChangeArrowheads="1"/>
            </p:cNvSpPr>
            <p:nvPr/>
          </p:nvSpPr>
          <p:spPr bwMode="auto">
            <a:xfrm>
              <a:off x="3639" y="897"/>
              <a:ext cx="490"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6901" name="Text Box 134"/>
            <p:cNvSpPr txBox="1">
              <a:spLocks noChangeArrowheads="1"/>
            </p:cNvSpPr>
            <p:nvPr/>
          </p:nvSpPr>
          <p:spPr bwMode="auto">
            <a:xfrm>
              <a:off x="3647" y="923"/>
              <a:ext cx="473" cy="23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grpSp>
        <p:nvGrpSpPr>
          <p:cNvPr id="36871" name="Group 151"/>
          <p:cNvGrpSpPr>
            <a:grpSpLocks/>
          </p:cNvGrpSpPr>
          <p:nvPr/>
        </p:nvGrpSpPr>
        <p:grpSpPr bwMode="auto">
          <a:xfrm>
            <a:off x="2051050" y="3105150"/>
            <a:ext cx="5627688" cy="2324100"/>
            <a:chOff x="1292" y="1956"/>
            <a:chExt cx="3545" cy="1464"/>
          </a:xfrm>
        </p:grpSpPr>
        <p:sp>
          <p:nvSpPr>
            <p:cNvPr id="36872" name="Line 62"/>
            <p:cNvSpPr>
              <a:spLocks noChangeShapeType="1"/>
            </p:cNvSpPr>
            <p:nvPr/>
          </p:nvSpPr>
          <p:spPr bwMode="auto">
            <a:xfrm>
              <a:off x="1362" y="1957"/>
              <a:ext cx="3354"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Line 63"/>
            <p:cNvSpPr>
              <a:spLocks noChangeShapeType="1"/>
            </p:cNvSpPr>
            <p:nvPr/>
          </p:nvSpPr>
          <p:spPr bwMode="auto">
            <a:xfrm>
              <a:off x="1362" y="3420"/>
              <a:ext cx="3391"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4" name="Rectangle 105"/>
            <p:cNvSpPr>
              <a:spLocks noChangeArrowheads="1"/>
            </p:cNvSpPr>
            <p:nvPr/>
          </p:nvSpPr>
          <p:spPr bwMode="auto">
            <a:xfrm>
              <a:off x="4465" y="1966"/>
              <a:ext cx="36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800">
                  <a:solidFill>
                    <a:srgbClr val="000099"/>
                  </a:solidFill>
                  <a:latin typeface="黑体" pitchFamily="2" charset="-122"/>
                  <a:ea typeface="黑体" pitchFamily="2" charset="-122"/>
                </a:rPr>
                <a:t>总线</a:t>
              </a:r>
              <a:r>
                <a:rPr lang="en-US" altLang="zh-CN" sz="1800" dirty="0">
                  <a:solidFill>
                    <a:srgbClr val="000099"/>
                  </a:solidFill>
                  <a:latin typeface="黑体" pitchFamily="2" charset="-122"/>
                  <a:ea typeface="黑体" pitchFamily="2" charset="-122"/>
                </a:rPr>
                <a:t>1</a:t>
              </a:r>
              <a:endParaRPr lang="en-US" altLang="zh-CN" dirty="0">
                <a:solidFill>
                  <a:srgbClr val="000099"/>
                </a:solidFill>
                <a:latin typeface="黑体" pitchFamily="2" charset="-122"/>
                <a:ea typeface="黑体" pitchFamily="2" charset="-122"/>
              </a:endParaRPr>
            </a:p>
          </p:txBody>
        </p:sp>
        <p:sp>
          <p:nvSpPr>
            <p:cNvPr id="36875" name="Rectangle 107"/>
            <p:cNvSpPr>
              <a:spLocks noChangeArrowheads="1"/>
            </p:cNvSpPr>
            <p:nvPr/>
          </p:nvSpPr>
          <p:spPr bwMode="auto">
            <a:xfrm>
              <a:off x="4470" y="3135"/>
              <a:ext cx="36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800">
                  <a:solidFill>
                    <a:srgbClr val="000099"/>
                  </a:solidFill>
                  <a:latin typeface="黑体" pitchFamily="2" charset="-122"/>
                  <a:ea typeface="黑体" pitchFamily="2" charset="-122"/>
                </a:rPr>
                <a:t>总线</a:t>
              </a:r>
              <a:r>
                <a:rPr lang="en-US" altLang="zh-CN" sz="1800" dirty="0">
                  <a:solidFill>
                    <a:srgbClr val="000099"/>
                  </a:solidFill>
                  <a:latin typeface="黑体" pitchFamily="2" charset="-122"/>
                  <a:ea typeface="黑体" pitchFamily="2" charset="-122"/>
                </a:rPr>
                <a:t>2</a:t>
              </a:r>
              <a:endParaRPr lang="en-US" altLang="zh-CN" dirty="0">
                <a:solidFill>
                  <a:srgbClr val="000099"/>
                </a:solidFill>
                <a:latin typeface="黑体" pitchFamily="2" charset="-122"/>
                <a:ea typeface="黑体" pitchFamily="2" charset="-122"/>
              </a:endParaRPr>
            </a:p>
          </p:txBody>
        </p:sp>
        <p:sp>
          <p:nvSpPr>
            <p:cNvPr id="36876" name="Line 47"/>
            <p:cNvSpPr>
              <a:spLocks noChangeShapeType="1"/>
            </p:cNvSpPr>
            <p:nvPr/>
          </p:nvSpPr>
          <p:spPr bwMode="auto">
            <a:xfrm>
              <a:off x="1292" y="1956"/>
              <a:ext cx="351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77" name="Line 48"/>
            <p:cNvSpPr>
              <a:spLocks noChangeShapeType="1"/>
            </p:cNvSpPr>
            <p:nvPr/>
          </p:nvSpPr>
          <p:spPr bwMode="auto">
            <a:xfrm>
              <a:off x="1292" y="3407"/>
              <a:ext cx="351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78" name="Text Box 137"/>
            <p:cNvSpPr txBox="1">
              <a:spLocks noChangeArrowheads="1"/>
            </p:cNvSpPr>
            <p:nvPr/>
          </p:nvSpPr>
          <p:spPr bwMode="auto">
            <a:xfrm>
              <a:off x="1364" y="2387"/>
              <a:ext cx="584" cy="595"/>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通用</a:t>
              </a:r>
            </a:p>
            <a:p>
              <a:pPr algn="ctr" eaLnBrk="1" hangingPunct="1">
                <a:lnSpc>
                  <a:spcPct val="100000"/>
                </a:lnSpc>
                <a:spcBef>
                  <a:spcPct val="0"/>
                </a:spcBef>
              </a:pPr>
              <a:r>
                <a:rPr lang="zh-CN" altLang="en-US" sz="1800">
                  <a:latin typeface="黑体" pitchFamily="2" charset="-122"/>
                  <a:ea typeface="黑体" pitchFamily="2" charset="-122"/>
                </a:rPr>
                <a:t>寄存器</a:t>
              </a:r>
            </a:p>
          </p:txBody>
        </p:sp>
        <p:sp>
          <p:nvSpPr>
            <p:cNvPr id="36879" name="Text Box 138"/>
            <p:cNvSpPr txBox="1">
              <a:spLocks noChangeArrowheads="1"/>
            </p:cNvSpPr>
            <p:nvPr/>
          </p:nvSpPr>
          <p:spPr bwMode="auto">
            <a:xfrm>
              <a:off x="2245" y="2179"/>
              <a:ext cx="584" cy="436"/>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特殊</a:t>
              </a:r>
            </a:p>
            <a:p>
              <a:pPr algn="ctr" eaLnBrk="1" hangingPunct="1">
                <a:lnSpc>
                  <a:spcPct val="100000"/>
                </a:lnSpc>
                <a:spcBef>
                  <a:spcPct val="0"/>
                </a:spcBef>
              </a:pPr>
              <a:r>
                <a:rPr lang="zh-CN" altLang="en-US" sz="1800">
                  <a:latin typeface="黑体" pitchFamily="2" charset="-122"/>
                  <a:ea typeface="黑体" pitchFamily="2" charset="-122"/>
                </a:rPr>
                <a:t>寄存器</a:t>
              </a:r>
            </a:p>
          </p:txBody>
        </p:sp>
        <p:sp>
          <p:nvSpPr>
            <p:cNvPr id="36880" name="Text Box 139"/>
            <p:cNvSpPr txBox="1">
              <a:spLocks noChangeArrowheads="1"/>
            </p:cNvSpPr>
            <p:nvPr/>
          </p:nvSpPr>
          <p:spPr bwMode="auto">
            <a:xfrm>
              <a:off x="2245" y="2752"/>
              <a:ext cx="584" cy="436"/>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特殊</a:t>
              </a:r>
            </a:p>
            <a:p>
              <a:pPr algn="ctr" eaLnBrk="1" hangingPunct="1">
                <a:lnSpc>
                  <a:spcPct val="100000"/>
                </a:lnSpc>
                <a:spcBef>
                  <a:spcPct val="0"/>
                </a:spcBef>
              </a:pPr>
              <a:r>
                <a:rPr lang="zh-CN" altLang="en-US" sz="1800">
                  <a:latin typeface="黑体" pitchFamily="2" charset="-122"/>
                  <a:ea typeface="黑体" pitchFamily="2" charset="-122"/>
                </a:rPr>
                <a:t>寄存器</a:t>
              </a:r>
            </a:p>
          </p:txBody>
        </p:sp>
        <p:sp>
          <p:nvSpPr>
            <p:cNvPr id="36881" name="Line 140"/>
            <p:cNvSpPr>
              <a:spLocks noChangeShapeType="1"/>
            </p:cNvSpPr>
            <p:nvPr/>
          </p:nvSpPr>
          <p:spPr bwMode="auto">
            <a:xfrm>
              <a:off x="1667" y="2982"/>
              <a:ext cx="0" cy="413"/>
            </a:xfrm>
            <a:prstGeom prst="line">
              <a:avLst/>
            </a:prstGeom>
            <a:noFill/>
            <a:ln w="28575">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82" name="Line 141"/>
            <p:cNvSpPr>
              <a:spLocks noChangeShapeType="1"/>
            </p:cNvSpPr>
            <p:nvPr/>
          </p:nvSpPr>
          <p:spPr bwMode="auto">
            <a:xfrm>
              <a:off x="1667" y="1971"/>
              <a:ext cx="0" cy="408"/>
            </a:xfrm>
            <a:prstGeom prst="line">
              <a:avLst/>
            </a:prstGeom>
            <a:noFill/>
            <a:ln w="28575">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83" name="Line 142"/>
            <p:cNvSpPr>
              <a:spLocks noChangeShapeType="1"/>
            </p:cNvSpPr>
            <p:nvPr/>
          </p:nvSpPr>
          <p:spPr bwMode="auto">
            <a:xfrm>
              <a:off x="2536" y="1979"/>
              <a:ext cx="0" cy="193"/>
            </a:xfrm>
            <a:prstGeom prst="line">
              <a:avLst/>
            </a:prstGeom>
            <a:noFill/>
            <a:ln w="28575">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84" name="Line 143"/>
            <p:cNvSpPr>
              <a:spLocks noChangeShapeType="1"/>
            </p:cNvSpPr>
            <p:nvPr/>
          </p:nvSpPr>
          <p:spPr bwMode="auto">
            <a:xfrm>
              <a:off x="2535" y="3200"/>
              <a:ext cx="0" cy="193"/>
            </a:xfrm>
            <a:prstGeom prst="line">
              <a:avLst/>
            </a:prstGeom>
            <a:noFill/>
            <a:ln w="28575">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36885" name="Group 145"/>
            <p:cNvGrpSpPr>
              <a:grpSpLocks/>
            </p:cNvGrpSpPr>
            <p:nvPr/>
          </p:nvGrpSpPr>
          <p:grpSpPr bwMode="auto">
            <a:xfrm>
              <a:off x="3301" y="2131"/>
              <a:ext cx="409" cy="1101"/>
              <a:chOff x="3179" y="2010"/>
              <a:chExt cx="409" cy="1101"/>
            </a:xfrm>
          </p:grpSpPr>
          <p:sp>
            <p:nvSpPr>
              <p:cNvPr id="36891" name="Text Box 135"/>
              <p:cNvSpPr txBox="1">
                <a:spLocks noChangeArrowheads="1"/>
              </p:cNvSpPr>
              <p:nvPr/>
            </p:nvSpPr>
            <p:spPr bwMode="auto">
              <a:xfrm>
                <a:off x="3179" y="2192"/>
                <a:ext cx="40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2000" dirty="0">
                    <a:solidFill>
                      <a:srgbClr val="000099"/>
                    </a:solidFill>
                    <a:latin typeface="黑体" pitchFamily="2" charset="-122"/>
                    <a:ea typeface="黑体" pitchFamily="2" charset="-122"/>
                  </a:rPr>
                  <a:t>ALU</a:t>
                </a:r>
              </a:p>
            </p:txBody>
          </p:sp>
          <p:sp>
            <p:nvSpPr>
              <p:cNvPr id="36892" name="Freeform 144"/>
              <p:cNvSpPr>
                <a:spLocks/>
              </p:cNvSpPr>
              <p:nvPr/>
            </p:nvSpPr>
            <p:spPr bwMode="auto">
              <a:xfrm>
                <a:off x="3179" y="2010"/>
                <a:ext cx="388" cy="1101"/>
              </a:xfrm>
              <a:custGeom>
                <a:avLst/>
                <a:gdLst>
                  <a:gd name="T0" fmla="*/ 3 w 393"/>
                  <a:gd name="T1" fmla="*/ 0 h 1092"/>
                  <a:gd name="T2" fmla="*/ 3 w 393"/>
                  <a:gd name="T3" fmla="*/ 113 h 1092"/>
                  <a:gd name="T4" fmla="*/ 137 w 393"/>
                  <a:gd name="T5" fmla="*/ 161 h 1092"/>
                  <a:gd name="T6" fmla="*/ 0 w 393"/>
                  <a:gd name="T7" fmla="*/ 206 h 1092"/>
                  <a:gd name="T8" fmla="*/ 0 w 393"/>
                  <a:gd name="T9" fmla="*/ 324 h 1092"/>
                  <a:gd name="T10" fmla="*/ 383 w 393"/>
                  <a:gd name="T11" fmla="*/ 232 h 1092"/>
                  <a:gd name="T12" fmla="*/ 383 w 393"/>
                  <a:gd name="T13" fmla="*/ 83 h 1092"/>
                  <a:gd name="T14" fmla="*/ 3 w 393"/>
                  <a:gd name="T15" fmla="*/ 0 h 1092"/>
                  <a:gd name="T16" fmla="*/ 0 60000 65536"/>
                  <a:gd name="T17" fmla="*/ 0 60000 65536"/>
                  <a:gd name="T18" fmla="*/ 0 60000 65536"/>
                  <a:gd name="T19" fmla="*/ 0 60000 65536"/>
                  <a:gd name="T20" fmla="*/ 0 60000 65536"/>
                  <a:gd name="T21" fmla="*/ 0 60000 65536"/>
                  <a:gd name="T22" fmla="*/ 0 60000 65536"/>
                  <a:gd name="T23" fmla="*/ 0 60000 65536"/>
                  <a:gd name="T24" fmla="*/ 0 w 393"/>
                  <a:gd name="T25" fmla="*/ 0 h 1092"/>
                  <a:gd name="T26" fmla="*/ 393 w 393"/>
                  <a:gd name="T27" fmla="*/ 1092 h 10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93" h="1092">
                    <a:moveTo>
                      <a:pt x="3" y="0"/>
                    </a:moveTo>
                    <a:lnTo>
                      <a:pt x="3" y="381"/>
                    </a:lnTo>
                    <a:lnTo>
                      <a:pt x="141" y="546"/>
                    </a:lnTo>
                    <a:lnTo>
                      <a:pt x="0" y="693"/>
                    </a:lnTo>
                    <a:lnTo>
                      <a:pt x="0" y="1092"/>
                    </a:lnTo>
                    <a:lnTo>
                      <a:pt x="393" y="783"/>
                    </a:lnTo>
                    <a:lnTo>
                      <a:pt x="393" y="279"/>
                    </a:lnTo>
                    <a:lnTo>
                      <a:pt x="3" y="0"/>
                    </a:lnTo>
                    <a:close/>
                  </a:path>
                </a:pathLst>
              </a:custGeom>
              <a:noFill/>
              <a:ln w="28575"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
          <p:nvSpPr>
            <p:cNvPr id="36886" name="Freeform 146"/>
            <p:cNvSpPr>
              <a:spLocks/>
            </p:cNvSpPr>
            <p:nvPr/>
          </p:nvSpPr>
          <p:spPr bwMode="auto">
            <a:xfrm>
              <a:off x="3086" y="1971"/>
              <a:ext cx="200" cy="318"/>
            </a:xfrm>
            <a:custGeom>
              <a:avLst/>
              <a:gdLst>
                <a:gd name="T0" fmla="*/ 0 w 146"/>
                <a:gd name="T1" fmla="*/ 0 h 345"/>
                <a:gd name="T2" fmla="*/ 0 w 146"/>
                <a:gd name="T3" fmla="*/ 496 h 345"/>
                <a:gd name="T4" fmla="*/ 16382 w 146"/>
                <a:gd name="T5" fmla="*/ 496 h 345"/>
                <a:gd name="T6" fmla="*/ 0 60000 65536"/>
                <a:gd name="T7" fmla="*/ 0 60000 65536"/>
                <a:gd name="T8" fmla="*/ 0 60000 65536"/>
                <a:gd name="T9" fmla="*/ 0 w 146"/>
                <a:gd name="T10" fmla="*/ 0 h 345"/>
                <a:gd name="T11" fmla="*/ 146 w 146"/>
                <a:gd name="T12" fmla="*/ 345 h 345"/>
              </a:gdLst>
              <a:ahLst/>
              <a:cxnLst>
                <a:cxn ang="T6">
                  <a:pos x="T0" y="T1"/>
                </a:cxn>
                <a:cxn ang="T7">
                  <a:pos x="T2" y="T3"/>
                </a:cxn>
                <a:cxn ang="T8">
                  <a:pos x="T4" y="T5"/>
                </a:cxn>
              </a:cxnLst>
              <a:rect l="T9" t="T10" r="T11" b="T12"/>
              <a:pathLst>
                <a:path w="146" h="345">
                  <a:moveTo>
                    <a:pt x="0" y="0"/>
                  </a:moveTo>
                  <a:lnTo>
                    <a:pt x="0" y="345"/>
                  </a:lnTo>
                  <a:lnTo>
                    <a:pt x="146" y="345"/>
                  </a:lnTo>
                </a:path>
              </a:pathLst>
            </a:custGeom>
            <a:noFill/>
            <a:ln w="28575" cap="flat" cmpd="sng">
              <a:solidFill>
                <a:srgbClr val="000099"/>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6887" name="Freeform 147"/>
            <p:cNvSpPr>
              <a:spLocks/>
            </p:cNvSpPr>
            <p:nvPr/>
          </p:nvSpPr>
          <p:spPr bwMode="auto">
            <a:xfrm flipV="1">
              <a:off x="3090" y="3035"/>
              <a:ext cx="211" cy="360"/>
            </a:xfrm>
            <a:custGeom>
              <a:avLst/>
              <a:gdLst>
                <a:gd name="T0" fmla="*/ 0 w 146"/>
                <a:gd name="T1" fmla="*/ 0 h 345"/>
                <a:gd name="T2" fmla="*/ 0 w 146"/>
                <a:gd name="T3" fmla="*/ 521 h 345"/>
                <a:gd name="T4" fmla="*/ 18234 w 146"/>
                <a:gd name="T5" fmla="*/ 521 h 345"/>
                <a:gd name="T6" fmla="*/ 0 60000 65536"/>
                <a:gd name="T7" fmla="*/ 0 60000 65536"/>
                <a:gd name="T8" fmla="*/ 0 60000 65536"/>
                <a:gd name="T9" fmla="*/ 0 w 146"/>
                <a:gd name="T10" fmla="*/ 0 h 345"/>
                <a:gd name="T11" fmla="*/ 146 w 146"/>
                <a:gd name="T12" fmla="*/ 345 h 345"/>
              </a:gdLst>
              <a:ahLst/>
              <a:cxnLst>
                <a:cxn ang="T6">
                  <a:pos x="T0" y="T1"/>
                </a:cxn>
                <a:cxn ang="T7">
                  <a:pos x="T2" y="T3"/>
                </a:cxn>
                <a:cxn ang="T8">
                  <a:pos x="T4" y="T5"/>
                </a:cxn>
              </a:cxnLst>
              <a:rect l="T9" t="T10" r="T11" b="T12"/>
              <a:pathLst>
                <a:path w="146" h="345">
                  <a:moveTo>
                    <a:pt x="0" y="0"/>
                  </a:moveTo>
                  <a:lnTo>
                    <a:pt x="0" y="345"/>
                  </a:lnTo>
                  <a:lnTo>
                    <a:pt x="146" y="345"/>
                  </a:lnTo>
                </a:path>
              </a:pathLst>
            </a:custGeom>
            <a:noFill/>
            <a:ln w="28575" cap="flat" cmpd="sng">
              <a:solidFill>
                <a:srgbClr val="000099"/>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6888" name="Line 148"/>
            <p:cNvSpPr>
              <a:spLocks noChangeShapeType="1"/>
            </p:cNvSpPr>
            <p:nvPr/>
          </p:nvSpPr>
          <p:spPr bwMode="auto">
            <a:xfrm>
              <a:off x="4271" y="1985"/>
              <a:ext cx="0" cy="1383"/>
            </a:xfrm>
            <a:prstGeom prst="line">
              <a:avLst/>
            </a:prstGeom>
            <a:noFill/>
            <a:ln w="28575">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889" name="Text Box 149"/>
            <p:cNvSpPr txBox="1">
              <a:spLocks noChangeArrowheads="1"/>
            </p:cNvSpPr>
            <p:nvPr/>
          </p:nvSpPr>
          <p:spPr bwMode="auto">
            <a:xfrm>
              <a:off x="3983" y="2473"/>
              <a:ext cx="584" cy="279"/>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缓冲器</a:t>
              </a:r>
            </a:p>
          </p:txBody>
        </p:sp>
        <p:sp>
          <p:nvSpPr>
            <p:cNvPr id="36890" name="Line 150"/>
            <p:cNvSpPr>
              <a:spLocks noChangeShapeType="1"/>
            </p:cNvSpPr>
            <p:nvPr/>
          </p:nvSpPr>
          <p:spPr bwMode="auto">
            <a:xfrm>
              <a:off x="3698" y="2621"/>
              <a:ext cx="273"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6</a:t>
            </a:r>
            <a:r>
              <a:rPr lang="en-US" altLang="en-US" dirty="0">
                <a:solidFill>
                  <a:srgbClr val="990000"/>
                </a:solidFill>
                <a:latin typeface="黑体" pitchFamily="2" charset="-122"/>
                <a:ea typeface="黑体" pitchFamily="2" charset="-122"/>
              </a:rPr>
              <a:t> CPU内部数据通路结构</a:t>
            </a:r>
            <a:endParaRPr lang="zh-CN" altLang="en-US">
              <a:solidFill>
                <a:srgbClr val="990000"/>
              </a:solidFill>
              <a:latin typeface="黑体" pitchFamily="2" charset="-122"/>
              <a:ea typeface="黑体" pitchFamily="2" charset="-122"/>
            </a:endParaRPr>
          </a:p>
        </p:txBody>
      </p:sp>
      <p:sp>
        <p:nvSpPr>
          <p:cNvPr id="37891" name="Text Box 13"/>
          <p:cNvSpPr txBox="1">
            <a:spLocks noChangeArrowheads="1"/>
          </p:cNvSpPr>
          <p:nvPr/>
        </p:nvSpPr>
        <p:spPr bwMode="auto">
          <a:xfrm>
            <a:off x="792163" y="1052513"/>
            <a:ext cx="4248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通常用总线的连接方式。</a:t>
            </a:r>
          </a:p>
        </p:txBody>
      </p:sp>
      <p:sp>
        <p:nvSpPr>
          <p:cNvPr id="37892" name="Text Box 14"/>
          <p:cNvSpPr txBox="1">
            <a:spLocks noChangeArrowheads="1"/>
          </p:cNvSpPr>
          <p:nvPr/>
        </p:nvSpPr>
        <p:spPr bwMode="auto">
          <a:xfrm>
            <a:off x="863600" y="1700213"/>
            <a:ext cx="4643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en-US" dirty="0">
                <a:latin typeface="黑体" pitchFamily="2" charset="-122"/>
                <a:ea typeface="黑体" pitchFamily="2" charset="-122"/>
              </a:rPr>
              <a:t>2) 多组内总线结构</a:t>
            </a:r>
            <a:endParaRPr lang="zh-CN" altLang="en-US">
              <a:latin typeface="黑体" pitchFamily="2" charset="-122"/>
              <a:ea typeface="黑体" pitchFamily="2" charset="-122"/>
            </a:endParaRPr>
          </a:p>
        </p:txBody>
      </p:sp>
      <p:sp>
        <p:nvSpPr>
          <p:cNvPr id="37893" name="Text Box 15"/>
          <p:cNvSpPr txBox="1">
            <a:spLocks noChangeArrowheads="1"/>
          </p:cNvSpPr>
          <p:nvPr/>
        </p:nvSpPr>
        <p:spPr bwMode="auto">
          <a:xfrm>
            <a:off x="1258888" y="2241550"/>
            <a:ext cx="6408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例：三总线结构</a:t>
            </a:r>
          </a:p>
        </p:txBody>
      </p:sp>
      <p:grpSp>
        <p:nvGrpSpPr>
          <p:cNvPr id="37894" name="Group 49"/>
          <p:cNvGrpSpPr>
            <a:grpSpLocks/>
          </p:cNvGrpSpPr>
          <p:nvPr/>
        </p:nvGrpSpPr>
        <p:grpSpPr bwMode="auto">
          <a:xfrm>
            <a:off x="5543550" y="476250"/>
            <a:ext cx="2413000" cy="1547813"/>
            <a:chOff x="3492" y="300"/>
            <a:chExt cx="1520" cy="975"/>
          </a:xfrm>
        </p:grpSpPr>
        <p:sp>
          <p:nvSpPr>
            <p:cNvPr id="37918" name="Text Box 50" descr="75%"/>
            <p:cNvSpPr txBox="1">
              <a:spLocks noChangeArrowheads="1"/>
            </p:cNvSpPr>
            <p:nvPr/>
          </p:nvSpPr>
          <p:spPr bwMode="auto">
            <a:xfrm>
              <a:off x="3492" y="300"/>
              <a:ext cx="1520" cy="9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chemeClr val="bg1"/>
                  </a:solidFill>
                  <a:latin typeface="黑体" pitchFamily="2" charset="-122"/>
                  <a:ea typeface="黑体" pitchFamily="2" charset="-122"/>
                </a:rPr>
                <a:t>CPU</a:t>
              </a:r>
            </a:p>
          </p:txBody>
        </p:sp>
        <p:sp>
          <p:nvSpPr>
            <p:cNvPr id="37919" name="Text Box 51"/>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7920" name="Text Box 52"/>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7921" name="Text Box 53"/>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7922" name="Text Box 54"/>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7923" name="Text Box 55"/>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7924" name="Text Box 56"/>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7925" name="Text Box 57"/>
            <p:cNvSpPr txBox="1">
              <a:spLocks noChangeArrowheads="1"/>
            </p:cNvSpPr>
            <p:nvPr/>
          </p:nvSpPr>
          <p:spPr bwMode="auto">
            <a:xfrm>
              <a:off x="3639" y="897"/>
              <a:ext cx="490"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7926" name="Text Box 58"/>
            <p:cNvSpPr txBox="1">
              <a:spLocks noChangeArrowheads="1"/>
            </p:cNvSpPr>
            <p:nvPr/>
          </p:nvSpPr>
          <p:spPr bwMode="auto">
            <a:xfrm>
              <a:off x="3647" y="923"/>
              <a:ext cx="473" cy="23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grpSp>
        <p:nvGrpSpPr>
          <p:cNvPr id="2" name="组合 1"/>
          <p:cNvGrpSpPr/>
          <p:nvPr/>
        </p:nvGrpSpPr>
        <p:grpSpPr>
          <a:xfrm>
            <a:off x="2051050" y="2725738"/>
            <a:ext cx="5662613" cy="2755901"/>
            <a:chOff x="2051050" y="2725738"/>
            <a:chExt cx="5662613" cy="2755901"/>
          </a:xfrm>
        </p:grpSpPr>
        <p:sp>
          <p:nvSpPr>
            <p:cNvPr id="37896" name="Line 16"/>
            <p:cNvSpPr>
              <a:spLocks noChangeShapeType="1"/>
            </p:cNvSpPr>
            <p:nvPr/>
          </p:nvSpPr>
          <p:spPr bwMode="auto">
            <a:xfrm>
              <a:off x="2051050" y="3105151"/>
              <a:ext cx="558165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897" name="Line 25"/>
            <p:cNvSpPr>
              <a:spLocks noChangeShapeType="1"/>
            </p:cNvSpPr>
            <p:nvPr/>
          </p:nvSpPr>
          <p:spPr bwMode="auto">
            <a:xfrm>
              <a:off x="2051050" y="3429001"/>
              <a:ext cx="558165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898" name="Line 26"/>
            <p:cNvSpPr>
              <a:spLocks noChangeShapeType="1"/>
            </p:cNvSpPr>
            <p:nvPr/>
          </p:nvSpPr>
          <p:spPr bwMode="auto">
            <a:xfrm>
              <a:off x="2051050" y="5481638"/>
              <a:ext cx="558165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899" name="Text Box 63"/>
            <p:cNvSpPr txBox="1">
              <a:spLocks noChangeArrowheads="1"/>
            </p:cNvSpPr>
            <p:nvPr/>
          </p:nvSpPr>
          <p:spPr bwMode="auto">
            <a:xfrm>
              <a:off x="2165350" y="3783013"/>
              <a:ext cx="927100" cy="1212850"/>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endParaRPr lang="zh-CN" altLang="en-US" sz="1800">
                <a:latin typeface="黑体" pitchFamily="2" charset="-122"/>
                <a:ea typeface="黑体" pitchFamily="2" charset="-122"/>
              </a:endParaRPr>
            </a:p>
            <a:p>
              <a:pPr algn="ctr" eaLnBrk="1" hangingPunct="1">
                <a:lnSpc>
                  <a:spcPct val="100000"/>
                </a:lnSpc>
                <a:spcBef>
                  <a:spcPct val="0"/>
                </a:spcBef>
              </a:pPr>
              <a:r>
                <a:rPr lang="zh-CN" altLang="en-US" sz="1800">
                  <a:latin typeface="黑体" pitchFamily="2" charset="-122"/>
                  <a:ea typeface="黑体" pitchFamily="2" charset="-122"/>
                </a:rPr>
                <a:t>通用</a:t>
              </a:r>
            </a:p>
            <a:p>
              <a:pPr algn="ctr" eaLnBrk="1" hangingPunct="1">
                <a:lnSpc>
                  <a:spcPct val="100000"/>
                </a:lnSpc>
                <a:spcBef>
                  <a:spcPct val="0"/>
                </a:spcBef>
              </a:pPr>
              <a:r>
                <a:rPr lang="zh-CN" altLang="en-US" sz="1800">
                  <a:latin typeface="黑体" pitchFamily="2" charset="-122"/>
                  <a:ea typeface="黑体" pitchFamily="2" charset="-122"/>
                </a:rPr>
                <a:t>寄存器</a:t>
              </a:r>
            </a:p>
          </p:txBody>
        </p:sp>
        <p:grpSp>
          <p:nvGrpSpPr>
            <p:cNvPr id="37900" name="Group 67"/>
            <p:cNvGrpSpPr>
              <a:grpSpLocks/>
            </p:cNvGrpSpPr>
            <p:nvPr/>
          </p:nvGrpSpPr>
          <p:grpSpPr bwMode="auto">
            <a:xfrm>
              <a:off x="3408363" y="4056063"/>
              <a:ext cx="1543050" cy="625475"/>
              <a:chOff x="2441" y="2555"/>
              <a:chExt cx="972" cy="394"/>
            </a:xfrm>
          </p:grpSpPr>
          <p:sp>
            <p:nvSpPr>
              <p:cNvPr id="37916" name="Text Box 65"/>
              <p:cNvSpPr txBox="1">
                <a:spLocks noChangeArrowheads="1"/>
              </p:cNvSpPr>
              <p:nvPr/>
            </p:nvSpPr>
            <p:spPr bwMode="auto">
              <a:xfrm>
                <a:off x="2730" y="2628"/>
                <a:ext cx="40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2000" dirty="0">
                    <a:solidFill>
                      <a:srgbClr val="000099"/>
                    </a:solidFill>
                    <a:latin typeface="黑体" pitchFamily="2" charset="-122"/>
                    <a:ea typeface="黑体" pitchFamily="2" charset="-122"/>
                  </a:rPr>
                  <a:t>ALU</a:t>
                </a:r>
              </a:p>
            </p:txBody>
          </p:sp>
          <p:sp>
            <p:nvSpPr>
              <p:cNvPr id="37917" name="Freeform 66"/>
              <p:cNvSpPr>
                <a:spLocks/>
              </p:cNvSpPr>
              <p:nvPr/>
            </p:nvSpPr>
            <p:spPr bwMode="auto">
              <a:xfrm rot="5400000">
                <a:off x="2730" y="2266"/>
                <a:ext cx="394" cy="972"/>
              </a:xfrm>
              <a:custGeom>
                <a:avLst/>
                <a:gdLst>
                  <a:gd name="T0" fmla="*/ 3 w 393"/>
                  <a:gd name="T1" fmla="*/ 0 h 1092"/>
                  <a:gd name="T2" fmla="*/ 3 w 393"/>
                  <a:gd name="T3" fmla="*/ 88 h 1092"/>
                  <a:gd name="T4" fmla="*/ 141 w 393"/>
                  <a:gd name="T5" fmla="*/ 126 h 1092"/>
                  <a:gd name="T6" fmla="*/ 0 w 393"/>
                  <a:gd name="T7" fmla="*/ 160 h 1092"/>
                  <a:gd name="T8" fmla="*/ 0 w 393"/>
                  <a:gd name="T9" fmla="*/ 252 h 1092"/>
                  <a:gd name="T10" fmla="*/ 395 w 393"/>
                  <a:gd name="T11" fmla="*/ 181 h 1092"/>
                  <a:gd name="T12" fmla="*/ 395 w 393"/>
                  <a:gd name="T13" fmla="*/ 64 h 1092"/>
                  <a:gd name="T14" fmla="*/ 3 w 393"/>
                  <a:gd name="T15" fmla="*/ 0 h 1092"/>
                  <a:gd name="T16" fmla="*/ 0 60000 65536"/>
                  <a:gd name="T17" fmla="*/ 0 60000 65536"/>
                  <a:gd name="T18" fmla="*/ 0 60000 65536"/>
                  <a:gd name="T19" fmla="*/ 0 60000 65536"/>
                  <a:gd name="T20" fmla="*/ 0 60000 65536"/>
                  <a:gd name="T21" fmla="*/ 0 60000 65536"/>
                  <a:gd name="T22" fmla="*/ 0 60000 65536"/>
                  <a:gd name="T23" fmla="*/ 0 60000 65536"/>
                  <a:gd name="T24" fmla="*/ 0 w 393"/>
                  <a:gd name="T25" fmla="*/ 0 h 1092"/>
                  <a:gd name="T26" fmla="*/ 393 w 393"/>
                  <a:gd name="T27" fmla="*/ 1092 h 10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93" h="1092">
                    <a:moveTo>
                      <a:pt x="3" y="0"/>
                    </a:moveTo>
                    <a:lnTo>
                      <a:pt x="3" y="381"/>
                    </a:lnTo>
                    <a:lnTo>
                      <a:pt x="141" y="546"/>
                    </a:lnTo>
                    <a:lnTo>
                      <a:pt x="0" y="693"/>
                    </a:lnTo>
                    <a:lnTo>
                      <a:pt x="0" y="1092"/>
                    </a:lnTo>
                    <a:lnTo>
                      <a:pt x="393" y="783"/>
                    </a:lnTo>
                    <a:lnTo>
                      <a:pt x="393" y="279"/>
                    </a:lnTo>
                    <a:lnTo>
                      <a:pt x="3" y="0"/>
                    </a:lnTo>
                    <a:close/>
                  </a:path>
                </a:pathLst>
              </a:custGeom>
              <a:noFill/>
              <a:ln w="28575"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
          <p:nvSpPr>
            <p:cNvPr id="37901" name="Text Box 68"/>
            <p:cNvSpPr txBox="1">
              <a:spLocks noChangeArrowheads="1"/>
            </p:cNvSpPr>
            <p:nvPr/>
          </p:nvSpPr>
          <p:spPr bwMode="auto">
            <a:xfrm>
              <a:off x="5326063" y="3783013"/>
              <a:ext cx="927100" cy="1212850"/>
            </a:xfrm>
            <a:prstGeom prst="rect">
              <a:avLst/>
            </a:prstGeom>
            <a:solidFill>
              <a:srgbClr val="00FFFF"/>
            </a:solidFill>
            <a:ln w="28575" algn="ctr">
              <a:solidFill>
                <a:srgbClr val="000099"/>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endParaRPr lang="zh-CN" altLang="en-US" sz="1800">
                <a:latin typeface="黑体" pitchFamily="2" charset="-122"/>
                <a:ea typeface="黑体" pitchFamily="2" charset="-122"/>
              </a:endParaRPr>
            </a:p>
            <a:p>
              <a:pPr algn="ctr" eaLnBrk="1" hangingPunct="1">
                <a:lnSpc>
                  <a:spcPct val="100000"/>
                </a:lnSpc>
                <a:spcBef>
                  <a:spcPct val="0"/>
                </a:spcBef>
              </a:pPr>
              <a:r>
                <a:rPr lang="zh-CN" altLang="en-US" sz="1800">
                  <a:latin typeface="黑体" pitchFamily="2" charset="-122"/>
                  <a:ea typeface="黑体" pitchFamily="2" charset="-122"/>
                </a:rPr>
                <a:t>特殊</a:t>
              </a:r>
            </a:p>
            <a:p>
              <a:pPr algn="ctr" eaLnBrk="1" hangingPunct="1">
                <a:lnSpc>
                  <a:spcPct val="100000"/>
                </a:lnSpc>
                <a:spcBef>
                  <a:spcPct val="0"/>
                </a:spcBef>
              </a:pPr>
              <a:r>
                <a:rPr lang="zh-CN" altLang="en-US" sz="1800">
                  <a:latin typeface="黑体" pitchFamily="2" charset="-122"/>
                  <a:ea typeface="黑体" pitchFamily="2" charset="-122"/>
                </a:rPr>
                <a:t>寄存器</a:t>
              </a:r>
            </a:p>
          </p:txBody>
        </p:sp>
        <p:sp>
          <p:nvSpPr>
            <p:cNvPr id="37902" name="Text Box 69"/>
            <p:cNvSpPr txBox="1">
              <a:spLocks noChangeArrowheads="1"/>
            </p:cNvSpPr>
            <p:nvPr/>
          </p:nvSpPr>
          <p:spPr bwMode="auto">
            <a:xfrm>
              <a:off x="6554788" y="4129088"/>
              <a:ext cx="927100" cy="69215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latin typeface="黑体" pitchFamily="2" charset="-122"/>
                  <a:ea typeface="黑体" pitchFamily="2" charset="-122"/>
                </a:rPr>
                <a:t>总线</a:t>
              </a:r>
            </a:p>
            <a:p>
              <a:pPr algn="ctr" eaLnBrk="1" hangingPunct="1">
                <a:lnSpc>
                  <a:spcPct val="100000"/>
                </a:lnSpc>
                <a:spcBef>
                  <a:spcPct val="0"/>
                </a:spcBef>
              </a:pPr>
              <a:r>
                <a:rPr lang="zh-CN" altLang="en-US" sz="1800">
                  <a:latin typeface="黑体" pitchFamily="2" charset="-122"/>
                  <a:ea typeface="黑体" pitchFamily="2" charset="-122"/>
                </a:rPr>
                <a:t>旁路器</a:t>
              </a:r>
            </a:p>
          </p:txBody>
        </p:sp>
        <p:sp>
          <p:nvSpPr>
            <p:cNvPr id="37903" name="Line 70"/>
            <p:cNvSpPr>
              <a:spLocks noChangeShapeType="1"/>
            </p:cNvSpPr>
            <p:nvPr/>
          </p:nvSpPr>
          <p:spPr bwMode="auto">
            <a:xfrm>
              <a:off x="4176713" y="4679951"/>
              <a:ext cx="0" cy="801688"/>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4" name="Line 71"/>
            <p:cNvSpPr>
              <a:spLocks noChangeShapeType="1"/>
            </p:cNvSpPr>
            <p:nvPr/>
          </p:nvSpPr>
          <p:spPr bwMode="auto">
            <a:xfrm>
              <a:off x="7027863" y="4811713"/>
              <a:ext cx="0" cy="66040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5" name="Line 72"/>
            <p:cNvSpPr>
              <a:spLocks noChangeShapeType="1"/>
            </p:cNvSpPr>
            <p:nvPr/>
          </p:nvSpPr>
          <p:spPr bwMode="auto">
            <a:xfrm>
              <a:off x="5816600" y="4991101"/>
              <a:ext cx="0" cy="481013"/>
            </a:xfrm>
            <a:prstGeom prst="line">
              <a:avLst/>
            </a:prstGeom>
            <a:noFill/>
            <a:ln w="28575">
              <a:solidFill>
                <a:srgbClr val="000099"/>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6" name="Line 73"/>
            <p:cNvSpPr>
              <a:spLocks noChangeShapeType="1"/>
            </p:cNvSpPr>
            <p:nvPr/>
          </p:nvSpPr>
          <p:spPr bwMode="auto">
            <a:xfrm>
              <a:off x="4613424" y="3073400"/>
              <a:ext cx="0" cy="98640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7" name="Line 74"/>
            <p:cNvSpPr>
              <a:spLocks noChangeShapeType="1"/>
            </p:cNvSpPr>
            <p:nvPr/>
          </p:nvSpPr>
          <p:spPr bwMode="auto">
            <a:xfrm>
              <a:off x="7027863" y="3429001"/>
              <a:ext cx="4763" cy="700088"/>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8" name="Line 75"/>
            <p:cNvSpPr>
              <a:spLocks noChangeShapeType="1"/>
            </p:cNvSpPr>
            <p:nvPr/>
          </p:nvSpPr>
          <p:spPr bwMode="auto">
            <a:xfrm>
              <a:off x="3654425" y="3429001"/>
              <a:ext cx="0" cy="62706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09" name="Line 76"/>
            <p:cNvSpPr>
              <a:spLocks noChangeShapeType="1"/>
            </p:cNvSpPr>
            <p:nvPr/>
          </p:nvSpPr>
          <p:spPr bwMode="auto">
            <a:xfrm>
              <a:off x="2463800" y="3429001"/>
              <a:ext cx="0" cy="354013"/>
            </a:xfrm>
            <a:prstGeom prst="line">
              <a:avLst/>
            </a:prstGeom>
            <a:noFill/>
            <a:ln w="28575">
              <a:solidFill>
                <a:srgbClr val="000099"/>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10" name="Line 77"/>
            <p:cNvSpPr>
              <a:spLocks noChangeShapeType="1"/>
            </p:cNvSpPr>
            <p:nvPr/>
          </p:nvSpPr>
          <p:spPr bwMode="auto">
            <a:xfrm>
              <a:off x="2617788" y="4991101"/>
              <a:ext cx="0" cy="481013"/>
            </a:xfrm>
            <a:prstGeom prst="line">
              <a:avLst/>
            </a:prstGeom>
            <a:noFill/>
            <a:ln w="28575">
              <a:solidFill>
                <a:srgbClr val="000099"/>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11" name="Line 78"/>
            <p:cNvSpPr>
              <a:spLocks noChangeShapeType="1"/>
            </p:cNvSpPr>
            <p:nvPr/>
          </p:nvSpPr>
          <p:spPr bwMode="auto">
            <a:xfrm>
              <a:off x="2811463" y="3105151"/>
              <a:ext cx="0" cy="711200"/>
            </a:xfrm>
            <a:prstGeom prst="line">
              <a:avLst/>
            </a:prstGeom>
            <a:noFill/>
            <a:ln w="28575">
              <a:solidFill>
                <a:srgbClr val="000099"/>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12" name="Line 79"/>
            <p:cNvSpPr>
              <a:spLocks noChangeShapeType="1"/>
            </p:cNvSpPr>
            <p:nvPr/>
          </p:nvSpPr>
          <p:spPr bwMode="auto">
            <a:xfrm>
              <a:off x="5805488" y="3462338"/>
              <a:ext cx="0" cy="354013"/>
            </a:xfrm>
            <a:prstGeom prst="line">
              <a:avLst/>
            </a:prstGeom>
            <a:noFill/>
            <a:ln w="28575">
              <a:solidFill>
                <a:srgbClr val="000099"/>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913" name="Rectangle 80"/>
            <p:cNvSpPr>
              <a:spLocks noChangeArrowheads="1"/>
            </p:cNvSpPr>
            <p:nvPr/>
          </p:nvSpPr>
          <p:spPr bwMode="auto">
            <a:xfrm>
              <a:off x="7088188" y="2725738"/>
              <a:ext cx="58261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800">
                  <a:solidFill>
                    <a:srgbClr val="000099"/>
                  </a:solidFill>
                  <a:latin typeface="黑体" pitchFamily="2" charset="-122"/>
                  <a:ea typeface="黑体" pitchFamily="2" charset="-122"/>
                </a:rPr>
                <a:t>总线</a:t>
              </a:r>
              <a:r>
                <a:rPr lang="en-US" altLang="zh-CN" sz="1800" dirty="0">
                  <a:solidFill>
                    <a:srgbClr val="000099"/>
                  </a:solidFill>
                  <a:latin typeface="黑体" pitchFamily="2" charset="-122"/>
                  <a:ea typeface="黑体" pitchFamily="2" charset="-122"/>
                </a:rPr>
                <a:t>1</a:t>
              </a:r>
              <a:endParaRPr lang="en-US" altLang="zh-CN" dirty="0">
                <a:solidFill>
                  <a:srgbClr val="000099"/>
                </a:solidFill>
                <a:latin typeface="黑体" pitchFamily="2" charset="-122"/>
                <a:ea typeface="黑体" pitchFamily="2" charset="-122"/>
              </a:endParaRPr>
            </a:p>
          </p:txBody>
        </p:sp>
        <p:sp>
          <p:nvSpPr>
            <p:cNvPr id="37914" name="Rectangle 81"/>
            <p:cNvSpPr>
              <a:spLocks noChangeArrowheads="1"/>
            </p:cNvSpPr>
            <p:nvPr/>
          </p:nvSpPr>
          <p:spPr bwMode="auto">
            <a:xfrm>
              <a:off x="7088188" y="3073401"/>
              <a:ext cx="58261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800">
                  <a:solidFill>
                    <a:srgbClr val="000099"/>
                  </a:solidFill>
                  <a:latin typeface="黑体" pitchFamily="2" charset="-122"/>
                  <a:ea typeface="黑体" pitchFamily="2" charset="-122"/>
                </a:rPr>
                <a:t>总线</a:t>
              </a:r>
              <a:r>
                <a:rPr lang="en-US" altLang="zh-CN" sz="1800" dirty="0">
                  <a:solidFill>
                    <a:srgbClr val="000099"/>
                  </a:solidFill>
                  <a:latin typeface="黑体" pitchFamily="2" charset="-122"/>
                  <a:ea typeface="黑体" pitchFamily="2" charset="-122"/>
                </a:rPr>
                <a:t>2</a:t>
              </a:r>
              <a:endParaRPr lang="en-US" altLang="zh-CN" dirty="0">
                <a:solidFill>
                  <a:srgbClr val="000099"/>
                </a:solidFill>
                <a:latin typeface="黑体" pitchFamily="2" charset="-122"/>
                <a:ea typeface="黑体" pitchFamily="2" charset="-122"/>
              </a:endParaRPr>
            </a:p>
          </p:txBody>
        </p:sp>
        <p:sp>
          <p:nvSpPr>
            <p:cNvPr id="37915" name="Rectangle 82"/>
            <p:cNvSpPr>
              <a:spLocks noChangeArrowheads="1"/>
            </p:cNvSpPr>
            <p:nvPr/>
          </p:nvSpPr>
          <p:spPr bwMode="auto">
            <a:xfrm>
              <a:off x="7131050" y="5086351"/>
              <a:ext cx="58261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800">
                  <a:solidFill>
                    <a:srgbClr val="000099"/>
                  </a:solidFill>
                  <a:latin typeface="黑体" pitchFamily="2" charset="-122"/>
                  <a:ea typeface="黑体" pitchFamily="2" charset="-122"/>
                </a:rPr>
                <a:t>总线</a:t>
              </a:r>
              <a:r>
                <a:rPr lang="en-US" altLang="zh-CN" sz="1800" dirty="0">
                  <a:solidFill>
                    <a:srgbClr val="000099"/>
                  </a:solidFill>
                  <a:latin typeface="黑体" pitchFamily="2" charset="-122"/>
                  <a:ea typeface="黑体" pitchFamily="2" charset="-122"/>
                </a:rPr>
                <a:t>3</a:t>
              </a:r>
              <a:endParaRPr lang="en-US" altLang="zh-CN" dirty="0">
                <a:solidFill>
                  <a:srgbClr val="000099"/>
                </a:solidFill>
                <a:latin typeface="黑体" pitchFamily="2" charset="-122"/>
                <a:ea typeface="黑体" pitchFamily="2" charset="-122"/>
              </a:endParaRPr>
            </a:p>
          </p:txBody>
        </p:sp>
      </p:grpSp>
    </p:spTree>
  </p:cSld>
  <p:clrMapOvr>
    <a:masterClrMapping/>
  </p:clrMapOvr>
  <p:transition>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ChangeArrowheads="1"/>
          </p:cNvSpPr>
          <p:nvPr/>
        </p:nvSpPr>
        <p:spPr bwMode="auto">
          <a:xfrm>
            <a:off x="539750" y="512763"/>
            <a:ext cx="417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6</a:t>
            </a:r>
            <a:r>
              <a:rPr lang="en-US" altLang="en-US" dirty="0">
                <a:solidFill>
                  <a:srgbClr val="990000"/>
                </a:solidFill>
                <a:latin typeface="黑体" pitchFamily="2" charset="-122"/>
                <a:ea typeface="黑体" pitchFamily="2" charset="-122"/>
              </a:rPr>
              <a:t> CPU内部数据通路结构</a:t>
            </a:r>
            <a:endParaRPr lang="zh-CN" altLang="en-US">
              <a:solidFill>
                <a:srgbClr val="990000"/>
              </a:solidFill>
              <a:latin typeface="黑体" pitchFamily="2" charset="-122"/>
              <a:ea typeface="黑体" pitchFamily="2" charset="-122"/>
            </a:endParaRPr>
          </a:p>
        </p:txBody>
      </p:sp>
      <p:sp>
        <p:nvSpPr>
          <p:cNvPr id="38915" name="Text Box 14"/>
          <p:cNvSpPr txBox="1">
            <a:spLocks noChangeArrowheads="1"/>
          </p:cNvSpPr>
          <p:nvPr/>
        </p:nvSpPr>
        <p:spPr bwMode="auto">
          <a:xfrm>
            <a:off x="792163" y="1052513"/>
            <a:ext cx="4248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通常用总线的连接方式。</a:t>
            </a:r>
          </a:p>
        </p:txBody>
      </p:sp>
      <p:sp>
        <p:nvSpPr>
          <p:cNvPr id="38916" name="Text Box 15"/>
          <p:cNvSpPr txBox="1">
            <a:spLocks noChangeArrowheads="1"/>
          </p:cNvSpPr>
          <p:nvPr/>
        </p:nvSpPr>
        <p:spPr bwMode="auto">
          <a:xfrm>
            <a:off x="863600" y="1700213"/>
            <a:ext cx="4643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en-US" dirty="0">
                <a:latin typeface="黑体" pitchFamily="2" charset="-122"/>
                <a:ea typeface="黑体" pitchFamily="2" charset="-122"/>
              </a:rPr>
              <a:t>2) 多组内总线结构</a:t>
            </a:r>
            <a:endParaRPr lang="zh-CN" altLang="en-US">
              <a:latin typeface="黑体" pitchFamily="2" charset="-122"/>
              <a:ea typeface="黑体" pitchFamily="2" charset="-122"/>
            </a:endParaRPr>
          </a:p>
        </p:txBody>
      </p:sp>
      <p:sp>
        <p:nvSpPr>
          <p:cNvPr id="38917" name="Text Box 16"/>
          <p:cNvSpPr txBox="1">
            <a:spLocks noChangeArrowheads="1"/>
          </p:cNvSpPr>
          <p:nvPr/>
        </p:nvSpPr>
        <p:spPr bwMode="auto">
          <a:xfrm>
            <a:off x="1258888" y="2241550"/>
            <a:ext cx="6408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例：</a:t>
            </a:r>
            <a:r>
              <a:rPr lang="en-US" altLang="zh-CN" dirty="0">
                <a:latin typeface="黑体" pitchFamily="2" charset="-122"/>
                <a:ea typeface="黑体" pitchFamily="2" charset="-122"/>
              </a:rPr>
              <a:t>Intel80386 </a:t>
            </a:r>
            <a:r>
              <a:rPr lang="zh-CN" altLang="en-US">
                <a:latin typeface="黑体" pitchFamily="2" charset="-122"/>
                <a:ea typeface="黑体" pitchFamily="2" charset="-122"/>
              </a:rPr>
              <a:t>的多组、多种内部总线。 </a:t>
            </a:r>
          </a:p>
        </p:txBody>
      </p:sp>
      <p:pic>
        <p:nvPicPr>
          <p:cNvPr id="38918" name="Picture 20" descr="386处理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425" y="3141663"/>
            <a:ext cx="6877050" cy="251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919" name="Group 41"/>
          <p:cNvGrpSpPr>
            <a:grpSpLocks/>
          </p:cNvGrpSpPr>
          <p:nvPr/>
        </p:nvGrpSpPr>
        <p:grpSpPr bwMode="auto">
          <a:xfrm>
            <a:off x="5543550" y="476250"/>
            <a:ext cx="2413000" cy="1547813"/>
            <a:chOff x="3492" y="300"/>
            <a:chExt cx="1520" cy="975"/>
          </a:xfrm>
        </p:grpSpPr>
        <p:sp>
          <p:nvSpPr>
            <p:cNvPr id="38920" name="Text Box 42" descr="75%"/>
            <p:cNvSpPr txBox="1">
              <a:spLocks noChangeArrowheads="1"/>
            </p:cNvSpPr>
            <p:nvPr/>
          </p:nvSpPr>
          <p:spPr bwMode="auto">
            <a:xfrm>
              <a:off x="3492" y="300"/>
              <a:ext cx="1520" cy="975"/>
            </a:xfrm>
            <a:prstGeom prst="rect">
              <a:avLst/>
            </a:prstGeom>
            <a:pattFill prst="pct75">
              <a:fgClr>
                <a:srgbClr val="FF0000"/>
              </a:fgClr>
              <a:bgClr>
                <a:srgbClr val="FFFFFF"/>
              </a:bgClr>
            </a:patt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2000" dirty="0">
                  <a:solidFill>
                    <a:schemeClr val="bg1"/>
                  </a:solidFill>
                  <a:latin typeface="黑体" pitchFamily="2" charset="-122"/>
                  <a:ea typeface="黑体" pitchFamily="2" charset="-122"/>
                </a:rPr>
                <a:t>CPU</a:t>
              </a:r>
            </a:p>
          </p:txBody>
        </p:sp>
        <p:sp>
          <p:nvSpPr>
            <p:cNvPr id="38921" name="Text Box 43"/>
            <p:cNvSpPr txBox="1">
              <a:spLocks noChangeArrowheads="1"/>
            </p:cNvSpPr>
            <p:nvPr/>
          </p:nvSpPr>
          <p:spPr bwMode="auto">
            <a:xfrm>
              <a:off x="3635" y="509"/>
              <a:ext cx="490" cy="273"/>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sz="2000">
                <a:solidFill>
                  <a:srgbClr val="000099"/>
                </a:solidFill>
                <a:latin typeface="黑体" pitchFamily="2" charset="-122"/>
                <a:ea typeface="黑体" pitchFamily="2" charset="-122"/>
              </a:endParaRPr>
            </a:p>
          </p:txBody>
        </p:sp>
        <p:sp>
          <p:nvSpPr>
            <p:cNvPr id="38922" name="Text Box 44"/>
            <p:cNvSpPr txBox="1">
              <a:spLocks noChangeArrowheads="1"/>
            </p:cNvSpPr>
            <p:nvPr/>
          </p:nvSpPr>
          <p:spPr bwMode="auto">
            <a:xfrm>
              <a:off x="3655" y="568"/>
              <a:ext cx="4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ALU</a:t>
              </a:r>
            </a:p>
          </p:txBody>
        </p:sp>
        <p:sp>
          <p:nvSpPr>
            <p:cNvPr id="38923" name="Text Box 45"/>
            <p:cNvSpPr txBox="1">
              <a:spLocks noChangeArrowheads="1"/>
            </p:cNvSpPr>
            <p:nvPr/>
          </p:nvSpPr>
          <p:spPr bwMode="auto">
            <a:xfrm>
              <a:off x="4357" y="509"/>
              <a:ext cx="489" cy="276"/>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8924" name="Text Box 46"/>
            <p:cNvSpPr txBox="1">
              <a:spLocks noChangeArrowheads="1"/>
            </p:cNvSpPr>
            <p:nvPr/>
          </p:nvSpPr>
          <p:spPr bwMode="auto">
            <a:xfrm>
              <a:off x="4375" y="569"/>
              <a:ext cx="45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寄存器</a:t>
              </a:r>
            </a:p>
          </p:txBody>
        </p:sp>
        <p:sp>
          <p:nvSpPr>
            <p:cNvPr id="38925" name="Text Box 47"/>
            <p:cNvSpPr txBox="1">
              <a:spLocks noChangeArrowheads="1"/>
            </p:cNvSpPr>
            <p:nvPr/>
          </p:nvSpPr>
          <p:spPr bwMode="auto">
            <a:xfrm>
              <a:off x="4357" y="898"/>
              <a:ext cx="489" cy="275"/>
            </a:xfrm>
            <a:prstGeom prst="rect">
              <a:avLst/>
            </a:prstGeom>
            <a:solidFill>
              <a:schemeClr val="bg1"/>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8926" name="Text Box 48"/>
            <p:cNvSpPr txBox="1">
              <a:spLocks noChangeArrowheads="1"/>
            </p:cNvSpPr>
            <p:nvPr/>
          </p:nvSpPr>
          <p:spPr bwMode="auto">
            <a:xfrm>
              <a:off x="4375" y="960"/>
              <a:ext cx="45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2000" dirty="0">
                  <a:solidFill>
                    <a:srgbClr val="000099"/>
                  </a:solidFill>
                  <a:latin typeface="黑体" pitchFamily="2" charset="-122"/>
                  <a:ea typeface="黑体" pitchFamily="2" charset="-122"/>
                </a:rPr>
                <a:t>CU</a:t>
              </a:r>
            </a:p>
          </p:txBody>
        </p:sp>
        <p:sp>
          <p:nvSpPr>
            <p:cNvPr id="38927" name="Text Box 49"/>
            <p:cNvSpPr txBox="1">
              <a:spLocks noChangeArrowheads="1"/>
            </p:cNvSpPr>
            <p:nvPr/>
          </p:nvSpPr>
          <p:spPr bwMode="auto">
            <a:xfrm>
              <a:off x="3639" y="897"/>
              <a:ext cx="490" cy="27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endParaRPr lang="zh-CN" altLang="en-US">
                <a:solidFill>
                  <a:srgbClr val="000099"/>
                </a:solidFill>
                <a:latin typeface="黑体" pitchFamily="2" charset="-122"/>
                <a:ea typeface="黑体" pitchFamily="2" charset="-122"/>
              </a:endParaRPr>
            </a:p>
          </p:txBody>
        </p:sp>
        <p:sp>
          <p:nvSpPr>
            <p:cNvPr id="38928" name="Text Box 50"/>
            <p:cNvSpPr txBox="1">
              <a:spLocks noChangeArrowheads="1"/>
            </p:cNvSpPr>
            <p:nvPr/>
          </p:nvSpPr>
          <p:spPr bwMode="auto">
            <a:xfrm>
              <a:off x="3647" y="923"/>
              <a:ext cx="473" cy="23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800">
                  <a:solidFill>
                    <a:srgbClr val="000099"/>
                  </a:solidFill>
                  <a:latin typeface="黑体" pitchFamily="2" charset="-122"/>
                  <a:ea typeface="黑体" pitchFamily="2" charset="-122"/>
                </a:rPr>
                <a:t>中断</a:t>
              </a:r>
            </a:p>
            <a:p>
              <a:pPr algn="ctr" eaLnBrk="1" hangingPunct="1">
                <a:lnSpc>
                  <a:spcPct val="80000"/>
                </a:lnSpc>
                <a:spcBef>
                  <a:spcPct val="0"/>
                </a:spcBef>
              </a:pPr>
              <a:r>
                <a:rPr lang="zh-CN" altLang="en-US" sz="1800">
                  <a:solidFill>
                    <a:srgbClr val="000099"/>
                  </a:solidFill>
                  <a:latin typeface="黑体" pitchFamily="2" charset="-122"/>
                  <a:ea typeface="黑体" pitchFamily="2" charset="-122"/>
                </a:rPr>
                <a:t>系统</a:t>
              </a:r>
            </a:p>
          </p:txBody>
        </p:sp>
      </p:grpSp>
    </p:spTree>
  </p:cSld>
  <p:clrMapOvr>
    <a:masterClrMapping/>
  </p:clrMapOvr>
  <p:transition>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ChangeArrowheads="1"/>
          </p:cNvSpPr>
          <p:nvPr/>
        </p:nvSpPr>
        <p:spPr bwMode="auto">
          <a:xfrm>
            <a:off x="1008063" y="1052513"/>
            <a:ext cx="7812087"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1.</a:t>
            </a:r>
            <a:r>
              <a:rPr lang="zh-CN" altLang="en-US" dirty="0">
                <a:latin typeface="黑体" pitchFamily="2" charset="-122"/>
                <a:ea typeface="黑体" pitchFamily="2" charset="-122"/>
              </a:rPr>
              <a:t>字长</a:t>
            </a:r>
          </a:p>
          <a:p>
            <a:pPr>
              <a:spcBef>
                <a:spcPct val="0"/>
              </a:spcBef>
            </a:pPr>
            <a:r>
              <a:rPr lang="en-US" altLang="zh-CN" dirty="0">
                <a:latin typeface="黑体" pitchFamily="2" charset="-122"/>
                <a:ea typeface="黑体" pitchFamily="2" charset="-122"/>
              </a:rPr>
              <a:t>2.</a:t>
            </a:r>
            <a:r>
              <a:rPr lang="zh-CN" altLang="en-US" dirty="0">
                <a:latin typeface="黑体" pitchFamily="2" charset="-122"/>
                <a:ea typeface="黑体" pitchFamily="2" charset="-122"/>
              </a:rPr>
              <a:t>内部工作频率</a:t>
            </a:r>
          </a:p>
          <a:p>
            <a:pPr>
              <a:spcBef>
                <a:spcPct val="0"/>
              </a:spcBef>
            </a:pPr>
            <a:r>
              <a:rPr lang="en-US" altLang="zh-CN" dirty="0">
                <a:latin typeface="黑体" pitchFamily="2" charset="-122"/>
                <a:ea typeface="黑体" pitchFamily="2" charset="-122"/>
              </a:rPr>
              <a:t>3.</a:t>
            </a:r>
            <a:r>
              <a:rPr lang="zh-CN" altLang="en-US" dirty="0">
                <a:latin typeface="黑体" pitchFamily="2" charset="-122"/>
                <a:ea typeface="黑体" pitchFamily="2" charset="-122"/>
              </a:rPr>
              <a:t>外部工作频率</a:t>
            </a:r>
          </a:p>
          <a:p>
            <a:pPr>
              <a:spcBef>
                <a:spcPct val="0"/>
              </a:spcBef>
            </a:pPr>
            <a:r>
              <a:rPr lang="zh-CN" altLang="en-US" dirty="0">
                <a:latin typeface="黑体" pitchFamily="2" charset="-122"/>
                <a:ea typeface="黑体" pitchFamily="2" charset="-122"/>
              </a:rPr>
              <a:t>  主板为</a:t>
            </a:r>
            <a:r>
              <a:rPr lang="en-US" altLang="zh-CN" dirty="0">
                <a:latin typeface="黑体" pitchFamily="2" charset="-122"/>
                <a:ea typeface="黑体" pitchFamily="2" charset="-122"/>
              </a:rPr>
              <a:t>CPU</a:t>
            </a:r>
            <a:r>
              <a:rPr lang="zh-CN" altLang="en-US" dirty="0">
                <a:latin typeface="黑体" pitchFamily="2" charset="-122"/>
                <a:ea typeface="黑体" pitchFamily="2" charset="-122"/>
              </a:rPr>
              <a:t>提供的基准频率。</a:t>
            </a:r>
          </a:p>
          <a:p>
            <a:pPr>
              <a:spcBef>
                <a:spcPct val="0"/>
              </a:spcBef>
            </a:pPr>
            <a:r>
              <a:rPr lang="zh-CN" altLang="en-US" dirty="0">
                <a:latin typeface="黑体" pitchFamily="2" charset="-122"/>
                <a:ea typeface="黑体" pitchFamily="2" charset="-122"/>
              </a:rPr>
              <a:t>      内频</a:t>
            </a:r>
            <a:r>
              <a:rPr lang="en-US" altLang="zh-CN" dirty="0">
                <a:latin typeface="黑体" pitchFamily="2" charset="-122"/>
                <a:ea typeface="黑体" pitchFamily="2" charset="-122"/>
              </a:rPr>
              <a:t>=</a:t>
            </a:r>
            <a:r>
              <a:rPr lang="zh-CN" altLang="en-US" dirty="0">
                <a:latin typeface="黑体" pitchFamily="2" charset="-122"/>
                <a:ea typeface="黑体" pitchFamily="2" charset="-122"/>
              </a:rPr>
              <a:t>外频</a:t>
            </a:r>
            <a:r>
              <a:rPr lang="en-US" altLang="zh-CN" dirty="0">
                <a:latin typeface="黑体" pitchFamily="2" charset="-122"/>
                <a:ea typeface="黑体" pitchFamily="2" charset="-122"/>
              </a:rPr>
              <a:t>×</a:t>
            </a:r>
            <a:r>
              <a:rPr lang="zh-CN" altLang="en-US" dirty="0">
                <a:latin typeface="黑体" pitchFamily="2" charset="-122"/>
                <a:ea typeface="黑体" pitchFamily="2" charset="-122"/>
              </a:rPr>
              <a:t>倍频   </a:t>
            </a:r>
            <a:r>
              <a:rPr lang="zh-CN" altLang="en-US" sz="2000" dirty="0">
                <a:solidFill>
                  <a:srgbClr val="008000"/>
                </a:solidFill>
                <a:latin typeface="黑体" pitchFamily="2" charset="-122"/>
                <a:ea typeface="黑体" pitchFamily="2" charset="-122"/>
              </a:rPr>
              <a:t>例如，</a:t>
            </a:r>
            <a:r>
              <a:rPr lang="en-US" altLang="zh-CN" sz="2000" dirty="0">
                <a:solidFill>
                  <a:srgbClr val="008000"/>
                </a:solidFill>
                <a:latin typeface="黑体" pitchFamily="2" charset="-122"/>
                <a:ea typeface="黑体" pitchFamily="2" charset="-122"/>
              </a:rPr>
              <a:t>Intel Core i7</a:t>
            </a:r>
            <a:r>
              <a:rPr lang="zh-CN" altLang="en-US" sz="2000" dirty="0">
                <a:solidFill>
                  <a:srgbClr val="008000"/>
                </a:solidFill>
                <a:latin typeface="黑体" pitchFamily="2" charset="-122"/>
                <a:ea typeface="黑体" pitchFamily="2" charset="-122"/>
              </a:rPr>
              <a:t>的倍频为</a:t>
            </a:r>
            <a:r>
              <a:rPr lang="en-US" altLang="zh-CN" sz="2000" dirty="0">
                <a:solidFill>
                  <a:srgbClr val="008000"/>
                </a:solidFill>
                <a:latin typeface="黑体" pitchFamily="2" charset="-122"/>
                <a:ea typeface="黑体" pitchFamily="2" charset="-122"/>
              </a:rPr>
              <a:t>34</a:t>
            </a:r>
            <a:endParaRPr lang="zh-CN" altLang="en-US" dirty="0">
              <a:solidFill>
                <a:srgbClr val="008000"/>
              </a:solidFill>
              <a:latin typeface="黑体" pitchFamily="2" charset="-122"/>
              <a:ea typeface="黑体" pitchFamily="2" charset="-122"/>
            </a:endParaRPr>
          </a:p>
          <a:p>
            <a:pPr>
              <a:spcBef>
                <a:spcPct val="0"/>
              </a:spcBef>
            </a:pPr>
            <a:r>
              <a:rPr lang="en-US" altLang="zh-CN" dirty="0">
                <a:latin typeface="黑体" pitchFamily="2" charset="-122"/>
                <a:ea typeface="黑体" pitchFamily="2" charset="-122"/>
              </a:rPr>
              <a:t>4.</a:t>
            </a:r>
            <a:r>
              <a:rPr lang="zh-CN" altLang="en-US" dirty="0">
                <a:latin typeface="黑体" pitchFamily="2" charset="-122"/>
                <a:ea typeface="黑体" pitchFamily="2" charset="-122"/>
              </a:rPr>
              <a:t>前端总线频率</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早期与外频相同，目前微机中是外频的几倍。</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前端总线（</a:t>
            </a:r>
            <a:r>
              <a:rPr lang="en-US" altLang="zh-CN" dirty="0">
                <a:latin typeface="黑体" pitchFamily="2" charset="-122"/>
                <a:ea typeface="黑体" pitchFamily="2" charset="-122"/>
              </a:rPr>
              <a:t>FSB—Front Side Bus</a:t>
            </a:r>
            <a:r>
              <a:rPr lang="zh-CN" altLang="en-US" dirty="0">
                <a:latin typeface="黑体" pitchFamily="2" charset="-122"/>
                <a:ea typeface="黑体" pitchFamily="2" charset="-122"/>
              </a:rPr>
              <a:t>）</a:t>
            </a:r>
            <a:r>
              <a:rPr lang="en-US" altLang="zh-CN" dirty="0">
                <a:latin typeface="黑体" pitchFamily="2" charset="-122"/>
                <a:ea typeface="黑体" pitchFamily="2" charset="-122"/>
              </a:rPr>
              <a:t>-- </a:t>
            </a:r>
            <a:r>
              <a:rPr lang="zh-CN" altLang="en-US" dirty="0">
                <a:latin typeface="黑体" pitchFamily="2" charset="-122"/>
                <a:ea typeface="黑体" pitchFamily="2" charset="-122"/>
              </a:rPr>
              <a:t>连接内存、显卡等，是</a:t>
            </a:r>
            <a:r>
              <a:rPr lang="en-US" altLang="zh-CN" dirty="0">
                <a:latin typeface="黑体" pitchFamily="2" charset="-122"/>
                <a:ea typeface="黑体" pitchFamily="2" charset="-122"/>
              </a:rPr>
              <a:t>CPU</a:t>
            </a:r>
            <a:r>
              <a:rPr lang="zh-CN" altLang="en-US" dirty="0">
                <a:latin typeface="黑体" pitchFamily="2" charset="-122"/>
                <a:ea typeface="黑体" pitchFamily="2" charset="-122"/>
              </a:rPr>
              <a:t>与外界交换数据的主要通道。</a:t>
            </a:r>
            <a:endParaRPr lang="en-US" altLang="zh-CN" dirty="0">
              <a:latin typeface="黑体" pitchFamily="2" charset="-122"/>
              <a:ea typeface="黑体" pitchFamily="2" charset="-122"/>
            </a:endParaRPr>
          </a:p>
          <a:p>
            <a:pPr>
              <a:spcBef>
                <a:spcPct val="0"/>
              </a:spcBef>
            </a:pPr>
            <a:endParaRPr lang="zh-CN" altLang="en-US" dirty="0">
              <a:latin typeface="黑体" pitchFamily="2" charset="-122"/>
              <a:ea typeface="黑体" pitchFamily="2" charset="-122"/>
            </a:endParaRPr>
          </a:p>
        </p:txBody>
      </p:sp>
      <p:sp>
        <p:nvSpPr>
          <p:cNvPr id="39939" name="Rectangle 4"/>
          <p:cNvSpPr>
            <a:spLocks noChangeArrowheads="1"/>
          </p:cNvSpPr>
          <p:nvPr/>
        </p:nvSpPr>
        <p:spPr bwMode="auto">
          <a:xfrm>
            <a:off x="539750" y="512763"/>
            <a:ext cx="521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7</a:t>
            </a:r>
            <a:r>
              <a:rPr lang="en-US"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CPU</a:t>
            </a:r>
            <a:r>
              <a:rPr lang="zh-CN" altLang="en-US">
                <a:solidFill>
                  <a:srgbClr val="990000"/>
                </a:solidFill>
                <a:latin typeface="黑体" pitchFamily="2" charset="-122"/>
                <a:ea typeface="黑体" pitchFamily="2" charset="-122"/>
              </a:rPr>
              <a:t>芯片的主要技术参数</a:t>
            </a: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971550" y="1125538"/>
            <a:ext cx="77724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5.QPI</a:t>
            </a:r>
            <a:r>
              <a:rPr lang="zh-CN" altLang="en-US" dirty="0">
                <a:latin typeface="黑体" pitchFamily="2" charset="-122"/>
                <a:ea typeface="黑体" pitchFamily="2" charset="-122"/>
              </a:rPr>
              <a:t>数据传输速率  </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QPI(Quick Path Interconnect)</a:t>
            </a:r>
            <a:r>
              <a:rPr lang="zh-CN" altLang="en-US" dirty="0">
                <a:latin typeface="黑体" pitchFamily="2" charset="-122"/>
                <a:ea typeface="黑体" pitchFamily="2" charset="-122"/>
              </a:rPr>
              <a:t>快速互联通道。</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是基于包传输的高速点到点的传输技术。</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单位：</a:t>
            </a:r>
            <a:r>
              <a:rPr lang="en-US" altLang="zh-CN" dirty="0">
                <a:latin typeface="黑体" pitchFamily="2" charset="-122"/>
                <a:ea typeface="黑体" pitchFamily="2" charset="-122"/>
              </a:rPr>
              <a:t>T/s </a:t>
            </a:r>
            <a:r>
              <a:rPr lang="zh-CN" altLang="en-US" dirty="0">
                <a:latin typeface="黑体" pitchFamily="2" charset="-122"/>
                <a:ea typeface="黑体" pitchFamily="2" charset="-122"/>
              </a:rPr>
              <a:t>每秒数据传输的次数。如，</a:t>
            </a:r>
            <a:r>
              <a:rPr lang="en-US" altLang="zh-CN" dirty="0">
                <a:latin typeface="黑体" pitchFamily="2" charset="-122"/>
                <a:ea typeface="黑体" pitchFamily="2" charset="-122"/>
              </a:rPr>
              <a:t>GT/s</a:t>
            </a:r>
            <a:r>
              <a:rPr lang="zh-CN" altLang="en-US" dirty="0">
                <a:latin typeface="黑体" pitchFamily="2" charset="-122"/>
                <a:ea typeface="黑体" pitchFamily="2" charset="-122"/>
              </a:rPr>
              <a:t>等。</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QPI</a:t>
            </a:r>
            <a:r>
              <a:rPr lang="zh-CN" altLang="en-US" dirty="0">
                <a:latin typeface="黑体" pitchFamily="2" charset="-122"/>
                <a:ea typeface="黑体" pitchFamily="2" charset="-122"/>
              </a:rPr>
              <a:t>总线采用的是</a:t>
            </a:r>
            <a:r>
              <a:rPr lang="en-US" altLang="zh-CN" dirty="0">
                <a:latin typeface="黑体" pitchFamily="2" charset="-122"/>
                <a:ea typeface="黑体" pitchFamily="2" charset="-122"/>
              </a:rPr>
              <a:t>2:1</a:t>
            </a:r>
            <a:r>
              <a:rPr lang="zh-CN" altLang="en-US" dirty="0">
                <a:latin typeface="黑体" pitchFamily="2" charset="-122"/>
                <a:ea typeface="黑体" pitchFamily="2" charset="-122"/>
              </a:rPr>
              <a:t>比率，可同时双向传送。</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6.</a:t>
            </a:r>
            <a:r>
              <a:rPr lang="zh-CN" altLang="en-US" dirty="0">
                <a:latin typeface="黑体" pitchFamily="2" charset="-122"/>
                <a:ea typeface="黑体" pitchFamily="2" charset="-122"/>
              </a:rPr>
              <a:t>片内</a:t>
            </a:r>
            <a:r>
              <a:rPr lang="en-US" altLang="zh-CN" dirty="0">
                <a:latin typeface="黑体" pitchFamily="2" charset="-122"/>
                <a:ea typeface="黑体" pitchFamily="2" charset="-122"/>
              </a:rPr>
              <a:t>Cache(CPU Cache)</a:t>
            </a:r>
            <a:r>
              <a:rPr lang="zh-CN" altLang="en-US" dirty="0">
                <a:latin typeface="黑体" pitchFamily="2" charset="-122"/>
                <a:ea typeface="黑体" pitchFamily="2" charset="-122"/>
              </a:rPr>
              <a:t>的容量和速率</a:t>
            </a:r>
          </a:p>
          <a:p>
            <a:pPr>
              <a:spcBef>
                <a:spcPct val="0"/>
              </a:spcBef>
            </a:pPr>
            <a:r>
              <a:rPr lang="zh-CN" altLang="en-US" dirty="0">
                <a:latin typeface="黑体" pitchFamily="2" charset="-122"/>
                <a:ea typeface="黑体" pitchFamily="2" charset="-122"/>
              </a:rPr>
              <a:t>  可分为</a:t>
            </a:r>
            <a:r>
              <a:rPr lang="en-US" altLang="zh-CN" dirty="0">
                <a:latin typeface="黑体" pitchFamily="2" charset="-122"/>
                <a:ea typeface="黑体" pitchFamily="2" charset="-122"/>
              </a:rPr>
              <a:t>L1 Cache</a:t>
            </a:r>
            <a:r>
              <a:rPr lang="zh-CN" altLang="en-US" dirty="0">
                <a:latin typeface="黑体" pitchFamily="2" charset="-122"/>
                <a:ea typeface="黑体" pitchFamily="2" charset="-122"/>
              </a:rPr>
              <a:t>、</a:t>
            </a:r>
            <a:r>
              <a:rPr lang="en-US" altLang="zh-CN" dirty="0">
                <a:latin typeface="黑体" pitchFamily="2" charset="-122"/>
                <a:ea typeface="黑体" pitchFamily="2" charset="-122"/>
              </a:rPr>
              <a:t>L2 Cache</a:t>
            </a:r>
            <a:r>
              <a:rPr lang="zh-CN" altLang="en-US" dirty="0">
                <a:latin typeface="黑体" pitchFamily="2" charset="-122"/>
                <a:ea typeface="黑体" pitchFamily="2" charset="-122"/>
              </a:rPr>
              <a:t>，高端</a:t>
            </a:r>
            <a:r>
              <a:rPr lang="en-US" altLang="zh-CN" dirty="0">
                <a:latin typeface="黑体" pitchFamily="2" charset="-122"/>
                <a:ea typeface="黑体" pitchFamily="2" charset="-122"/>
              </a:rPr>
              <a:t>CPU</a:t>
            </a:r>
            <a:r>
              <a:rPr lang="zh-CN" altLang="en-US" dirty="0">
                <a:latin typeface="黑体" pitchFamily="2" charset="-122"/>
                <a:ea typeface="黑体" pitchFamily="2" charset="-122"/>
              </a:rPr>
              <a:t>有</a:t>
            </a:r>
            <a:r>
              <a:rPr lang="en-US" altLang="zh-CN" dirty="0">
                <a:latin typeface="黑体" pitchFamily="2" charset="-122"/>
                <a:ea typeface="黑体" pitchFamily="2" charset="-122"/>
              </a:rPr>
              <a:t>L3 Cache</a:t>
            </a:r>
          </a:p>
          <a:p>
            <a:pPr>
              <a:spcBef>
                <a:spcPct val="0"/>
              </a:spcBef>
            </a:pPr>
            <a:r>
              <a:rPr lang="en-US" altLang="zh-CN" dirty="0">
                <a:latin typeface="黑体" pitchFamily="2" charset="-122"/>
                <a:ea typeface="黑体" pitchFamily="2" charset="-122"/>
              </a:rPr>
              <a:t>  L1 Cache</a:t>
            </a:r>
            <a:r>
              <a:rPr lang="zh-CN" altLang="en-US" dirty="0">
                <a:latin typeface="黑体" pitchFamily="2" charset="-122"/>
                <a:ea typeface="黑体" pitchFamily="2" charset="-122"/>
              </a:rPr>
              <a:t>在</a:t>
            </a:r>
            <a:r>
              <a:rPr lang="en-US" altLang="zh-CN" dirty="0">
                <a:latin typeface="黑体" pitchFamily="2" charset="-122"/>
                <a:ea typeface="黑体" pitchFamily="2" charset="-122"/>
              </a:rPr>
              <a:t>CPU</a:t>
            </a:r>
            <a:r>
              <a:rPr lang="zh-CN" altLang="en-US" dirty="0">
                <a:latin typeface="黑体" pitchFamily="2" charset="-122"/>
                <a:ea typeface="黑体" pitchFamily="2" charset="-122"/>
              </a:rPr>
              <a:t>内核旁，</a:t>
            </a:r>
            <a:r>
              <a:rPr lang="en-US" altLang="zh-CN" dirty="0">
                <a:latin typeface="黑体" pitchFamily="2" charset="-122"/>
                <a:ea typeface="黑体" pitchFamily="2" charset="-122"/>
              </a:rPr>
              <a:t>x86</a:t>
            </a:r>
            <a:r>
              <a:rPr lang="zh-CN" altLang="en-US" dirty="0">
                <a:latin typeface="黑体" pitchFamily="2" charset="-122"/>
                <a:ea typeface="黑体" pitchFamily="2" charset="-122"/>
              </a:rPr>
              <a:t>中分为</a:t>
            </a:r>
            <a:r>
              <a:rPr lang="en-US" altLang="zh-CN" dirty="0">
                <a:latin typeface="黑体" pitchFamily="2" charset="-122"/>
                <a:ea typeface="黑体" pitchFamily="2" charset="-122"/>
              </a:rPr>
              <a:t>D-Cache</a:t>
            </a:r>
            <a:r>
              <a:rPr lang="zh-CN" altLang="en-US" dirty="0">
                <a:latin typeface="黑体" pitchFamily="2" charset="-122"/>
                <a:ea typeface="黑体" pitchFamily="2" charset="-122"/>
              </a:rPr>
              <a:t>和</a:t>
            </a:r>
            <a:r>
              <a:rPr lang="en-US" altLang="zh-CN" dirty="0">
                <a:latin typeface="黑体" pitchFamily="2" charset="-122"/>
                <a:ea typeface="黑体" pitchFamily="2" charset="-122"/>
              </a:rPr>
              <a:t>I-Cache</a:t>
            </a:r>
          </a:p>
          <a:p>
            <a:pPr>
              <a:spcBef>
                <a:spcPct val="0"/>
              </a:spcBef>
            </a:pPr>
            <a:r>
              <a:rPr lang="en-US" altLang="zh-CN" dirty="0">
                <a:latin typeface="黑体" pitchFamily="2" charset="-122"/>
                <a:ea typeface="黑体" pitchFamily="2" charset="-122"/>
              </a:rPr>
              <a:t>  L2 Cache</a:t>
            </a:r>
            <a:r>
              <a:rPr lang="zh-CN" altLang="en-US" dirty="0">
                <a:latin typeface="黑体" pitchFamily="2" charset="-122"/>
                <a:ea typeface="黑体" pitchFamily="2" charset="-122"/>
              </a:rPr>
              <a:t>是影响</a:t>
            </a:r>
            <a:r>
              <a:rPr lang="en-US" altLang="zh-CN" dirty="0">
                <a:latin typeface="黑体" pitchFamily="2" charset="-122"/>
                <a:ea typeface="黑体" pitchFamily="2" charset="-122"/>
              </a:rPr>
              <a:t>CPU</a:t>
            </a:r>
            <a:r>
              <a:rPr lang="zh-CN" altLang="en-US" dirty="0">
                <a:latin typeface="黑体" pitchFamily="2" charset="-122"/>
                <a:ea typeface="黑体" pitchFamily="2" charset="-122"/>
              </a:rPr>
              <a:t>性能的关键因素之一，增加其容量能使性能大幅度提高。</a:t>
            </a:r>
            <a:endParaRPr lang="en-US" altLang="zh-CN" dirty="0">
              <a:latin typeface="黑体" pitchFamily="2" charset="-122"/>
              <a:ea typeface="黑体" pitchFamily="2" charset="-122"/>
            </a:endParaRPr>
          </a:p>
        </p:txBody>
      </p:sp>
      <p:sp>
        <p:nvSpPr>
          <p:cNvPr id="40963" name="Rectangle 4"/>
          <p:cNvSpPr>
            <a:spLocks noChangeArrowheads="1"/>
          </p:cNvSpPr>
          <p:nvPr/>
        </p:nvSpPr>
        <p:spPr bwMode="auto">
          <a:xfrm>
            <a:off x="539750" y="512763"/>
            <a:ext cx="521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7</a:t>
            </a:r>
            <a:r>
              <a:rPr lang="en-US"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CPU</a:t>
            </a:r>
            <a:r>
              <a:rPr lang="zh-CN" altLang="en-US">
                <a:solidFill>
                  <a:srgbClr val="990000"/>
                </a:solidFill>
                <a:latin typeface="黑体" pitchFamily="2" charset="-122"/>
                <a:ea typeface="黑体" pitchFamily="2" charset="-122"/>
              </a:rPr>
              <a:t>芯片的主要技术参数</a:t>
            </a:r>
          </a:p>
        </p:txBody>
      </p:sp>
    </p:spTree>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971550" y="1125538"/>
            <a:ext cx="7772400"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7.</a:t>
            </a:r>
            <a:r>
              <a:rPr lang="zh-CN" altLang="en-US" dirty="0">
                <a:latin typeface="黑体" pitchFamily="2" charset="-122"/>
                <a:ea typeface="黑体" pitchFamily="2" charset="-122"/>
              </a:rPr>
              <a:t>工作电压</a:t>
            </a:r>
          </a:p>
          <a:p>
            <a:pPr>
              <a:spcBef>
                <a:spcPct val="0"/>
              </a:spcBef>
            </a:pPr>
            <a:r>
              <a:rPr lang="zh-CN" altLang="en-US" dirty="0">
                <a:latin typeface="黑体" pitchFamily="2" charset="-122"/>
                <a:ea typeface="黑体" pitchFamily="2" charset="-122"/>
              </a:rPr>
              <a:t>　　工作电压指的是</a:t>
            </a:r>
            <a:r>
              <a:rPr lang="en-US" altLang="zh-CN" dirty="0">
                <a:latin typeface="黑体" pitchFamily="2" charset="-122"/>
                <a:ea typeface="黑体" pitchFamily="2" charset="-122"/>
              </a:rPr>
              <a:t>CPU</a:t>
            </a:r>
            <a:r>
              <a:rPr lang="zh-CN" altLang="en-US" dirty="0">
                <a:latin typeface="黑体" pitchFamily="2" charset="-122"/>
                <a:ea typeface="黑体" pitchFamily="2" charset="-122"/>
              </a:rPr>
              <a:t>正常工作所需的电压。</a:t>
            </a:r>
          </a:p>
          <a:p>
            <a:pPr>
              <a:spcBef>
                <a:spcPct val="0"/>
              </a:spcBef>
            </a:pPr>
            <a:r>
              <a:rPr lang="en-US" altLang="zh-CN" dirty="0">
                <a:latin typeface="黑体" pitchFamily="2" charset="-122"/>
                <a:ea typeface="黑体" pitchFamily="2" charset="-122"/>
              </a:rPr>
              <a:t>8.</a:t>
            </a:r>
            <a:r>
              <a:rPr lang="zh-CN" altLang="en-US" dirty="0">
                <a:latin typeface="黑体" pitchFamily="2" charset="-122"/>
                <a:ea typeface="黑体" pitchFamily="2" charset="-122"/>
              </a:rPr>
              <a:t>地址总线宽度（地址线有多少条）</a:t>
            </a:r>
          </a:p>
          <a:p>
            <a:pPr>
              <a:spcBef>
                <a:spcPct val="0"/>
              </a:spcBef>
            </a:pPr>
            <a:r>
              <a:rPr lang="zh-CN" altLang="en-US" dirty="0">
                <a:latin typeface="黑体" pitchFamily="2" charset="-122"/>
                <a:ea typeface="黑体" pitchFamily="2" charset="-122"/>
              </a:rPr>
              <a:t>    决定了</a:t>
            </a:r>
            <a:r>
              <a:rPr lang="en-US" altLang="zh-CN" dirty="0">
                <a:latin typeface="黑体" pitchFamily="2" charset="-122"/>
                <a:ea typeface="黑体" pitchFamily="2" charset="-122"/>
              </a:rPr>
              <a:t>CPU</a:t>
            </a:r>
            <a:r>
              <a:rPr lang="zh-CN" altLang="en-US" dirty="0">
                <a:latin typeface="黑体" pitchFamily="2" charset="-122"/>
                <a:ea typeface="黑体" pitchFamily="2" charset="-122"/>
              </a:rPr>
              <a:t>可以访问的最大的物理地址空间。</a:t>
            </a:r>
          </a:p>
          <a:p>
            <a:pPr>
              <a:spcBef>
                <a:spcPct val="0"/>
              </a:spcBef>
            </a:pPr>
            <a:r>
              <a:rPr lang="en-US" altLang="zh-CN" dirty="0">
                <a:latin typeface="黑体" pitchFamily="2" charset="-122"/>
                <a:ea typeface="黑体" pitchFamily="2" charset="-122"/>
              </a:rPr>
              <a:t>9.</a:t>
            </a:r>
            <a:r>
              <a:rPr lang="zh-CN" altLang="en-US" dirty="0">
                <a:latin typeface="黑体" pitchFamily="2" charset="-122"/>
                <a:ea typeface="黑体" pitchFamily="2" charset="-122"/>
              </a:rPr>
              <a:t>数据总线宽度（数据线有多少条）</a:t>
            </a:r>
          </a:p>
          <a:p>
            <a:pPr>
              <a:spcBef>
                <a:spcPct val="0"/>
              </a:spcBef>
            </a:pPr>
            <a:r>
              <a:rPr lang="en-US" altLang="zh-CN" dirty="0">
                <a:latin typeface="黑体" pitchFamily="2" charset="-122"/>
                <a:ea typeface="黑体" pitchFamily="2" charset="-122"/>
              </a:rPr>
              <a:t>10.</a:t>
            </a:r>
            <a:r>
              <a:rPr lang="zh-CN" altLang="en-US" dirty="0">
                <a:latin typeface="黑体" pitchFamily="2" charset="-122"/>
                <a:ea typeface="黑体" pitchFamily="2" charset="-122"/>
              </a:rPr>
              <a:t>制造工艺</a:t>
            </a:r>
          </a:p>
          <a:p>
            <a:pPr>
              <a:spcBef>
                <a:spcPct val="0"/>
              </a:spcBef>
            </a:pPr>
            <a:r>
              <a:rPr lang="zh-CN" altLang="en-US" dirty="0">
                <a:latin typeface="黑体" pitchFamily="2" charset="-122"/>
                <a:ea typeface="黑体" pitchFamily="2" charset="-122"/>
              </a:rPr>
              <a:t>    线宽越小，意味着芯片上包括的晶体管数目越多。</a:t>
            </a:r>
          </a:p>
        </p:txBody>
      </p:sp>
      <p:sp>
        <p:nvSpPr>
          <p:cNvPr id="40963" name="Rectangle 4"/>
          <p:cNvSpPr>
            <a:spLocks noChangeArrowheads="1"/>
          </p:cNvSpPr>
          <p:nvPr/>
        </p:nvSpPr>
        <p:spPr bwMode="auto">
          <a:xfrm>
            <a:off x="539750" y="512763"/>
            <a:ext cx="521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en-US" dirty="0">
                <a:solidFill>
                  <a:srgbClr val="990000"/>
                </a:solidFill>
                <a:latin typeface="黑体" pitchFamily="2" charset="-122"/>
                <a:ea typeface="黑体" pitchFamily="2" charset="-122"/>
              </a:rPr>
              <a:t>6.2.</a:t>
            </a:r>
            <a:r>
              <a:rPr lang="en-US" altLang="zh-CN" dirty="0">
                <a:solidFill>
                  <a:srgbClr val="990000"/>
                </a:solidFill>
                <a:latin typeface="黑体" pitchFamily="2" charset="-122"/>
                <a:ea typeface="黑体" pitchFamily="2" charset="-122"/>
              </a:rPr>
              <a:t>7</a:t>
            </a:r>
            <a:r>
              <a:rPr lang="en-US"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CPU</a:t>
            </a:r>
            <a:r>
              <a:rPr lang="zh-CN" altLang="en-US">
                <a:solidFill>
                  <a:srgbClr val="990000"/>
                </a:solidFill>
                <a:latin typeface="黑体" pitchFamily="2" charset="-122"/>
                <a:ea typeface="黑体" pitchFamily="2" charset="-122"/>
              </a:rPr>
              <a:t>芯片的主要技术参数</a:t>
            </a:r>
          </a:p>
        </p:txBody>
      </p:sp>
    </p:spTree>
    <p:extLst>
      <p:ext uri="{BB962C8B-B14F-4D97-AF65-F5344CB8AC3E}">
        <p14:creationId xmlns:p14="http://schemas.microsoft.com/office/powerpoint/2010/main" val="2202908430"/>
      </p:ext>
    </p:extLst>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1021340"/>
            <a:ext cx="43989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en-US" altLang="zh-CN" dirty="0">
                <a:solidFill>
                  <a:srgbClr val="990000"/>
                </a:solidFill>
                <a:latin typeface="黑体" pitchFamily="2" charset="-122"/>
                <a:ea typeface="黑体" pitchFamily="2" charset="-122"/>
              </a:rPr>
              <a:t>6.3.1 </a:t>
            </a:r>
            <a:r>
              <a:rPr lang="zh-CN" altLang="en-US" dirty="0">
                <a:solidFill>
                  <a:srgbClr val="990000"/>
                </a:solidFill>
                <a:latin typeface="黑体" pitchFamily="2" charset="-122"/>
                <a:ea typeface="黑体" pitchFamily="2" charset="-122"/>
              </a:rPr>
              <a:t>时序系统</a:t>
            </a:r>
            <a:endParaRPr lang="en-US" altLang="zh-CN" dirty="0">
              <a:solidFill>
                <a:srgbClr val="990000"/>
              </a:solidFill>
              <a:latin typeface="黑体" pitchFamily="2" charset="-122"/>
              <a:ea typeface="黑体" pitchFamily="2" charset="-122"/>
            </a:endParaRPr>
          </a:p>
          <a:p>
            <a:pPr>
              <a:lnSpc>
                <a:spcPct val="100000"/>
              </a:lnSpc>
              <a:spcBef>
                <a:spcPct val="0"/>
              </a:spcBef>
            </a:pPr>
            <a:r>
              <a:rPr lang="zh-CN" altLang="en-US" dirty="0">
                <a:solidFill>
                  <a:srgbClr val="990000"/>
                </a:solidFill>
                <a:latin typeface="黑体" pitchFamily="2" charset="-122"/>
                <a:ea typeface="黑体" pitchFamily="2" charset="-122"/>
              </a:rPr>
              <a:t>一、指令周期的基本概念</a:t>
            </a:r>
          </a:p>
        </p:txBody>
      </p:sp>
      <p:sp>
        <p:nvSpPr>
          <p:cNvPr id="23" name="Text Box 4"/>
          <p:cNvSpPr txBox="1">
            <a:spLocks noChangeArrowheads="1"/>
          </p:cNvSpPr>
          <p:nvPr/>
        </p:nvSpPr>
        <p:spPr bwMode="auto">
          <a:xfrm>
            <a:off x="838200" y="1749133"/>
            <a:ext cx="571500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1 .  </a:t>
            </a:r>
            <a:r>
              <a:rPr kumimoji="1" lang="zh-CN" altLang="en-US" b="1" dirty="0">
                <a:latin typeface="Times New Roman" pitchFamily="18" charset="0"/>
              </a:rPr>
              <a:t>指令周期</a:t>
            </a:r>
          </a:p>
        </p:txBody>
      </p:sp>
      <p:sp>
        <p:nvSpPr>
          <p:cNvPr id="24" name="Text Box 5"/>
          <p:cNvSpPr txBox="1">
            <a:spLocks noChangeArrowheads="1"/>
          </p:cNvSpPr>
          <p:nvPr/>
        </p:nvSpPr>
        <p:spPr bwMode="auto">
          <a:xfrm>
            <a:off x="1371599" y="2382978"/>
            <a:ext cx="722168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C00000"/>
                </a:solidFill>
                <a:latin typeface="Times New Roman" pitchFamily="18" charset="0"/>
              </a:rPr>
              <a:t>从取指令、分析取数到执行该指令所需的全部时间</a:t>
            </a:r>
          </a:p>
        </p:txBody>
      </p:sp>
      <p:sp>
        <p:nvSpPr>
          <p:cNvPr id="25" name="Text Box 6"/>
          <p:cNvSpPr txBox="1">
            <a:spLocks noChangeArrowheads="1"/>
          </p:cNvSpPr>
          <p:nvPr/>
        </p:nvSpPr>
        <p:spPr bwMode="auto">
          <a:xfrm>
            <a:off x="1371600" y="3449778"/>
            <a:ext cx="27432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C00000"/>
                </a:solidFill>
                <a:latin typeface="Times New Roman" pitchFamily="18" charset="0"/>
              </a:rPr>
              <a:t>完成一条指令</a:t>
            </a:r>
          </a:p>
        </p:txBody>
      </p:sp>
      <p:sp>
        <p:nvSpPr>
          <p:cNvPr id="26" name="AutoShape 7"/>
          <p:cNvSpPr>
            <a:spLocks/>
          </p:cNvSpPr>
          <p:nvPr/>
        </p:nvSpPr>
        <p:spPr bwMode="auto">
          <a:xfrm>
            <a:off x="3429000" y="3386243"/>
            <a:ext cx="139700" cy="600146"/>
          </a:xfrm>
          <a:prstGeom prst="leftBrace">
            <a:avLst>
              <a:gd name="adj1" fmla="val 35417"/>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27" name="Text Box 8"/>
          <p:cNvSpPr txBox="1">
            <a:spLocks noChangeArrowheads="1"/>
          </p:cNvSpPr>
          <p:nvPr/>
        </p:nvSpPr>
        <p:spPr bwMode="auto">
          <a:xfrm>
            <a:off x="3605213" y="3754578"/>
            <a:ext cx="157638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a:latin typeface="Times New Roman" pitchFamily="18" charset="0"/>
              </a:rPr>
              <a:t>执行</a:t>
            </a:r>
          </a:p>
        </p:txBody>
      </p:sp>
      <p:sp>
        <p:nvSpPr>
          <p:cNvPr id="28" name="Text Box 9"/>
          <p:cNvSpPr txBox="1">
            <a:spLocks noChangeArrowheads="1"/>
          </p:cNvSpPr>
          <p:nvPr/>
        </p:nvSpPr>
        <p:spPr bwMode="auto">
          <a:xfrm>
            <a:off x="3581400" y="3144978"/>
            <a:ext cx="198120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a:latin typeface="Times New Roman" pitchFamily="18" charset="0"/>
              </a:rPr>
              <a:t>取指、分析</a:t>
            </a:r>
          </a:p>
        </p:txBody>
      </p:sp>
      <p:grpSp>
        <p:nvGrpSpPr>
          <p:cNvPr id="29" name="Group 10"/>
          <p:cNvGrpSpPr>
            <a:grpSpLocks/>
          </p:cNvGrpSpPr>
          <p:nvPr/>
        </p:nvGrpSpPr>
        <p:grpSpPr bwMode="auto">
          <a:xfrm>
            <a:off x="2566992" y="4515001"/>
            <a:ext cx="4198942" cy="1728791"/>
            <a:chOff x="1617" y="3119"/>
            <a:chExt cx="2645" cy="1089"/>
          </a:xfrm>
        </p:grpSpPr>
        <p:sp>
          <p:nvSpPr>
            <p:cNvPr id="30" name="Text Box 11"/>
            <p:cNvSpPr txBox="1">
              <a:spLocks noChangeArrowheads="1"/>
            </p:cNvSpPr>
            <p:nvPr/>
          </p:nvSpPr>
          <p:spPr bwMode="auto">
            <a:xfrm>
              <a:off x="1910" y="3119"/>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取指阶段</a:t>
              </a:r>
            </a:p>
          </p:txBody>
        </p:sp>
        <p:sp>
          <p:nvSpPr>
            <p:cNvPr id="31" name="Text Box 12"/>
            <p:cNvSpPr txBox="1">
              <a:spLocks noChangeArrowheads="1"/>
            </p:cNvSpPr>
            <p:nvPr/>
          </p:nvSpPr>
          <p:spPr bwMode="auto">
            <a:xfrm>
              <a:off x="1899" y="3358"/>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取指周期</a:t>
              </a:r>
            </a:p>
          </p:txBody>
        </p:sp>
        <p:sp>
          <p:nvSpPr>
            <p:cNvPr id="32" name="Text Box 13"/>
            <p:cNvSpPr txBox="1">
              <a:spLocks noChangeArrowheads="1"/>
            </p:cNvSpPr>
            <p:nvPr/>
          </p:nvSpPr>
          <p:spPr bwMode="auto">
            <a:xfrm>
              <a:off x="3120" y="3121"/>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执行阶段</a:t>
              </a:r>
            </a:p>
          </p:txBody>
        </p:sp>
        <p:sp>
          <p:nvSpPr>
            <p:cNvPr id="33" name="Text Box 14"/>
            <p:cNvSpPr txBox="1">
              <a:spLocks noChangeArrowheads="1"/>
            </p:cNvSpPr>
            <p:nvPr/>
          </p:nvSpPr>
          <p:spPr bwMode="auto">
            <a:xfrm>
              <a:off x="3109" y="3346"/>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执行周期</a:t>
              </a:r>
            </a:p>
          </p:txBody>
        </p:sp>
        <p:sp>
          <p:nvSpPr>
            <p:cNvPr id="34" name="Text Box 15"/>
            <p:cNvSpPr txBox="1">
              <a:spLocks noChangeArrowheads="1"/>
            </p:cNvSpPr>
            <p:nvPr/>
          </p:nvSpPr>
          <p:spPr bwMode="auto">
            <a:xfrm>
              <a:off x="1617" y="3578"/>
              <a:ext cx="1481"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（取指、分析）</a:t>
              </a:r>
            </a:p>
          </p:txBody>
        </p:sp>
        <p:sp>
          <p:nvSpPr>
            <p:cNvPr id="35" name="Text Box 16"/>
            <p:cNvSpPr txBox="1">
              <a:spLocks noChangeArrowheads="1"/>
            </p:cNvSpPr>
            <p:nvPr/>
          </p:nvSpPr>
          <p:spPr bwMode="auto">
            <a:xfrm>
              <a:off x="2976" y="3592"/>
              <a:ext cx="128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（执行指令）</a:t>
              </a:r>
            </a:p>
          </p:txBody>
        </p:sp>
        <p:sp>
          <p:nvSpPr>
            <p:cNvPr id="36" name="Line 17"/>
            <p:cNvSpPr>
              <a:spLocks noChangeShapeType="1"/>
            </p:cNvSpPr>
            <p:nvPr/>
          </p:nvSpPr>
          <p:spPr bwMode="auto">
            <a:xfrm>
              <a:off x="1680" y="3410"/>
              <a:ext cx="24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18"/>
            <p:cNvSpPr>
              <a:spLocks noChangeShapeType="1"/>
            </p:cNvSpPr>
            <p:nvPr/>
          </p:nvSpPr>
          <p:spPr bwMode="auto">
            <a:xfrm>
              <a:off x="1680" y="3170"/>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19"/>
            <p:cNvSpPr>
              <a:spLocks noChangeShapeType="1"/>
            </p:cNvSpPr>
            <p:nvPr/>
          </p:nvSpPr>
          <p:spPr bwMode="auto">
            <a:xfrm>
              <a:off x="2928" y="3170"/>
              <a:ext cx="0" cy="6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20"/>
            <p:cNvSpPr>
              <a:spLocks noChangeShapeType="1"/>
            </p:cNvSpPr>
            <p:nvPr/>
          </p:nvSpPr>
          <p:spPr bwMode="auto">
            <a:xfrm>
              <a:off x="4128" y="3170"/>
              <a:ext cx="0"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21"/>
            <p:cNvSpPr>
              <a:spLocks noChangeShapeType="1"/>
            </p:cNvSpPr>
            <p:nvPr/>
          </p:nvSpPr>
          <p:spPr bwMode="auto">
            <a:xfrm flipH="1">
              <a:off x="1680" y="350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22"/>
            <p:cNvSpPr>
              <a:spLocks noChangeShapeType="1"/>
            </p:cNvSpPr>
            <p:nvPr/>
          </p:nvSpPr>
          <p:spPr bwMode="auto">
            <a:xfrm flipH="1">
              <a:off x="2928" y="350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23"/>
            <p:cNvSpPr>
              <a:spLocks noChangeShapeType="1"/>
            </p:cNvSpPr>
            <p:nvPr/>
          </p:nvSpPr>
          <p:spPr bwMode="auto">
            <a:xfrm rot="10800000" flipH="1">
              <a:off x="3888" y="350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24"/>
            <p:cNvSpPr>
              <a:spLocks noChangeShapeType="1"/>
            </p:cNvSpPr>
            <p:nvPr/>
          </p:nvSpPr>
          <p:spPr bwMode="auto">
            <a:xfrm rot="10800000" flipH="1">
              <a:off x="2688" y="350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Text Box 25"/>
            <p:cNvSpPr txBox="1">
              <a:spLocks noChangeArrowheads="1"/>
            </p:cNvSpPr>
            <p:nvPr/>
          </p:nvSpPr>
          <p:spPr bwMode="auto">
            <a:xfrm>
              <a:off x="2544" y="3880"/>
              <a:ext cx="89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C00000"/>
                  </a:solidFill>
                  <a:latin typeface="Times New Roman" pitchFamily="18" charset="0"/>
                </a:rPr>
                <a:t>指令周期</a:t>
              </a:r>
            </a:p>
          </p:txBody>
        </p:sp>
        <p:sp>
          <p:nvSpPr>
            <p:cNvPr id="45" name="Line 26"/>
            <p:cNvSpPr>
              <a:spLocks noChangeShapeType="1"/>
            </p:cNvSpPr>
            <p:nvPr/>
          </p:nvSpPr>
          <p:spPr bwMode="auto">
            <a:xfrm>
              <a:off x="3360" y="3986"/>
              <a:ext cx="768" cy="0"/>
            </a:xfrm>
            <a:prstGeom prst="line">
              <a:avLst/>
            </a:prstGeom>
            <a:noFill/>
            <a:ln w="9525">
              <a:solidFill>
                <a:schemeClr val="fo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27"/>
            <p:cNvSpPr>
              <a:spLocks noChangeShapeType="1"/>
            </p:cNvSpPr>
            <p:nvPr/>
          </p:nvSpPr>
          <p:spPr bwMode="auto">
            <a:xfrm rot="10800000">
              <a:off x="1680" y="3986"/>
              <a:ext cx="768" cy="0"/>
            </a:xfrm>
            <a:prstGeom prst="line">
              <a:avLst/>
            </a:prstGeom>
            <a:noFill/>
            <a:ln w="9525">
              <a:solidFill>
                <a:schemeClr val="fo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 name="Text Box 28"/>
          <p:cNvSpPr txBox="1">
            <a:spLocks noChangeArrowheads="1"/>
          </p:cNvSpPr>
          <p:nvPr/>
        </p:nvSpPr>
        <p:spPr bwMode="auto">
          <a:xfrm>
            <a:off x="5791200" y="3144978"/>
            <a:ext cx="16764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C00000"/>
                </a:solidFill>
                <a:latin typeface="Times New Roman" pitchFamily="18" charset="0"/>
              </a:rPr>
              <a:t>取指周期</a:t>
            </a:r>
          </a:p>
        </p:txBody>
      </p:sp>
      <p:sp>
        <p:nvSpPr>
          <p:cNvPr id="48" name="Text Box 29"/>
          <p:cNvSpPr txBox="1">
            <a:spLocks noChangeArrowheads="1"/>
          </p:cNvSpPr>
          <p:nvPr/>
        </p:nvSpPr>
        <p:spPr bwMode="auto">
          <a:xfrm>
            <a:off x="5791200" y="3754578"/>
            <a:ext cx="18288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C00000"/>
                </a:solidFill>
                <a:latin typeface="Times New Roman" pitchFamily="18" charset="0"/>
              </a:rPr>
              <a:t>执行周期</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outHorizontal)">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linds(horizontal)">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blinds(horizontal)">
                                      <p:cBhvr>
                                        <p:cTn id="37" dur="5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blinds(horizontal)">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barn(outVertical)">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5" grpId="0" autoUpdateAnimBg="0"/>
      <p:bldP spid="26" grpId="0" animBg="1"/>
      <p:bldP spid="27" grpId="0" autoUpdateAnimBg="0"/>
      <p:bldP spid="28" grpId="0" autoUpdateAnimBg="0"/>
      <p:bldP spid="47" grpId="0" autoUpdateAnimBg="0"/>
      <p:bldP spid="4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1052513"/>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49" name="Text Box 2"/>
          <p:cNvSpPr txBox="1">
            <a:spLocks noChangeArrowheads="1"/>
          </p:cNvSpPr>
          <p:nvPr/>
        </p:nvSpPr>
        <p:spPr bwMode="auto">
          <a:xfrm>
            <a:off x="685800" y="1582891"/>
            <a:ext cx="57150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2.  </a:t>
            </a:r>
            <a:r>
              <a:rPr kumimoji="1" lang="zh-CN" altLang="en-US" b="1" dirty="0">
                <a:latin typeface="Times New Roman" pitchFamily="18" charset="0"/>
              </a:rPr>
              <a:t>每条指令的指令周期不同</a:t>
            </a:r>
          </a:p>
        </p:txBody>
      </p:sp>
      <p:grpSp>
        <p:nvGrpSpPr>
          <p:cNvPr id="50" name="Group 3"/>
          <p:cNvGrpSpPr>
            <a:grpSpLocks/>
          </p:cNvGrpSpPr>
          <p:nvPr/>
        </p:nvGrpSpPr>
        <p:grpSpPr bwMode="auto">
          <a:xfrm>
            <a:off x="1046016" y="2368987"/>
            <a:ext cx="1981200" cy="941388"/>
            <a:chOff x="816" y="1021"/>
            <a:chExt cx="1248" cy="593"/>
          </a:xfrm>
        </p:grpSpPr>
        <p:sp>
          <p:nvSpPr>
            <p:cNvPr id="51" name="Text Box 4"/>
            <p:cNvSpPr txBox="1">
              <a:spLocks noChangeArrowheads="1"/>
            </p:cNvSpPr>
            <p:nvPr/>
          </p:nvSpPr>
          <p:spPr bwMode="auto">
            <a:xfrm>
              <a:off x="1004" y="1021"/>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取指周期</a:t>
              </a:r>
            </a:p>
          </p:txBody>
        </p:sp>
        <p:sp>
          <p:nvSpPr>
            <p:cNvPr id="52" name="Text Box 5"/>
            <p:cNvSpPr txBox="1">
              <a:spLocks noChangeArrowheads="1"/>
            </p:cNvSpPr>
            <p:nvPr/>
          </p:nvSpPr>
          <p:spPr bwMode="auto">
            <a:xfrm>
              <a:off x="1021" y="1253"/>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指令周期</a:t>
              </a:r>
            </a:p>
          </p:txBody>
        </p:sp>
        <p:sp>
          <p:nvSpPr>
            <p:cNvPr id="53" name="Line 6"/>
            <p:cNvSpPr>
              <a:spLocks noChangeShapeType="1"/>
            </p:cNvSpPr>
            <p:nvPr/>
          </p:nvSpPr>
          <p:spPr bwMode="auto">
            <a:xfrm flipV="1">
              <a:off x="816" y="1296"/>
              <a:ext cx="1248"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Line 7"/>
            <p:cNvSpPr>
              <a:spLocks noChangeShapeType="1"/>
            </p:cNvSpPr>
            <p:nvPr/>
          </p:nvSpPr>
          <p:spPr bwMode="auto">
            <a:xfrm>
              <a:off x="816" y="1058"/>
              <a:ext cx="0" cy="52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8"/>
            <p:cNvSpPr>
              <a:spLocks noChangeShapeType="1"/>
            </p:cNvSpPr>
            <p:nvPr/>
          </p:nvSpPr>
          <p:spPr bwMode="auto">
            <a:xfrm>
              <a:off x="2064" y="1058"/>
              <a:ext cx="0" cy="52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 name="Line 9"/>
            <p:cNvSpPr>
              <a:spLocks noChangeShapeType="1"/>
            </p:cNvSpPr>
            <p:nvPr/>
          </p:nvSpPr>
          <p:spPr bwMode="auto">
            <a:xfrm flipH="1">
              <a:off x="816" y="1394"/>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10"/>
            <p:cNvSpPr>
              <a:spLocks noChangeShapeType="1"/>
            </p:cNvSpPr>
            <p:nvPr/>
          </p:nvSpPr>
          <p:spPr bwMode="auto">
            <a:xfrm rot="10800000" flipH="1">
              <a:off x="1824" y="1394"/>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11"/>
            <p:cNvSpPr>
              <a:spLocks noChangeShapeType="1"/>
            </p:cNvSpPr>
            <p:nvPr/>
          </p:nvSpPr>
          <p:spPr bwMode="auto">
            <a:xfrm flipH="1">
              <a:off x="816" y="120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Line 12"/>
            <p:cNvSpPr>
              <a:spLocks noChangeShapeType="1"/>
            </p:cNvSpPr>
            <p:nvPr/>
          </p:nvSpPr>
          <p:spPr bwMode="auto">
            <a:xfrm rot="10800000" flipH="1">
              <a:off x="1824" y="120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0" name="Group 13"/>
          <p:cNvGrpSpPr>
            <a:grpSpLocks/>
          </p:cNvGrpSpPr>
          <p:nvPr/>
        </p:nvGrpSpPr>
        <p:grpSpPr bwMode="auto">
          <a:xfrm>
            <a:off x="1046016" y="3669157"/>
            <a:ext cx="3886200" cy="1041401"/>
            <a:chOff x="816" y="1840"/>
            <a:chExt cx="2448" cy="656"/>
          </a:xfrm>
        </p:grpSpPr>
        <p:sp>
          <p:nvSpPr>
            <p:cNvPr id="61" name="Text Box 14"/>
            <p:cNvSpPr txBox="1">
              <a:spLocks noChangeArrowheads="1"/>
            </p:cNvSpPr>
            <p:nvPr/>
          </p:nvSpPr>
          <p:spPr bwMode="auto">
            <a:xfrm>
              <a:off x="1025" y="1840"/>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取指周期</a:t>
              </a:r>
            </a:p>
          </p:txBody>
        </p:sp>
        <p:sp>
          <p:nvSpPr>
            <p:cNvPr id="62" name="Text Box 15"/>
            <p:cNvSpPr txBox="1">
              <a:spLocks noChangeArrowheads="1"/>
            </p:cNvSpPr>
            <p:nvPr/>
          </p:nvSpPr>
          <p:spPr bwMode="auto">
            <a:xfrm>
              <a:off x="2200" y="1846"/>
              <a:ext cx="94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latin typeface="Times New Roman" pitchFamily="18" charset="0"/>
                </a:rPr>
                <a:t> </a:t>
              </a:r>
              <a:r>
                <a:rPr kumimoji="1" lang="zh-CN" altLang="en-US" b="1" dirty="0">
                  <a:latin typeface="Times New Roman" pitchFamily="18" charset="0"/>
                </a:rPr>
                <a:t>执行周期</a:t>
              </a:r>
            </a:p>
          </p:txBody>
        </p:sp>
        <p:sp>
          <p:nvSpPr>
            <p:cNvPr id="63" name="Line 16"/>
            <p:cNvSpPr>
              <a:spLocks noChangeShapeType="1"/>
            </p:cNvSpPr>
            <p:nvPr/>
          </p:nvSpPr>
          <p:spPr bwMode="auto">
            <a:xfrm>
              <a:off x="816" y="2124"/>
              <a:ext cx="24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17"/>
            <p:cNvSpPr>
              <a:spLocks noChangeShapeType="1"/>
            </p:cNvSpPr>
            <p:nvPr/>
          </p:nvSpPr>
          <p:spPr bwMode="auto">
            <a:xfrm>
              <a:off x="816" y="1884"/>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18"/>
            <p:cNvSpPr>
              <a:spLocks noChangeShapeType="1"/>
            </p:cNvSpPr>
            <p:nvPr/>
          </p:nvSpPr>
          <p:spPr bwMode="auto">
            <a:xfrm>
              <a:off x="2064" y="1884"/>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Line 19"/>
            <p:cNvSpPr>
              <a:spLocks noChangeShapeType="1"/>
            </p:cNvSpPr>
            <p:nvPr/>
          </p:nvSpPr>
          <p:spPr bwMode="auto">
            <a:xfrm>
              <a:off x="3264" y="1884"/>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Text Box 20"/>
            <p:cNvSpPr txBox="1">
              <a:spLocks noChangeArrowheads="1"/>
            </p:cNvSpPr>
            <p:nvPr/>
          </p:nvSpPr>
          <p:spPr bwMode="auto">
            <a:xfrm>
              <a:off x="1652" y="2128"/>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指令周期</a:t>
              </a:r>
            </a:p>
          </p:txBody>
        </p:sp>
        <p:sp>
          <p:nvSpPr>
            <p:cNvPr id="68" name="Line 21"/>
            <p:cNvSpPr>
              <a:spLocks noChangeShapeType="1"/>
            </p:cNvSpPr>
            <p:nvPr/>
          </p:nvSpPr>
          <p:spPr bwMode="auto">
            <a:xfrm>
              <a:off x="2496" y="2314"/>
              <a:ext cx="768"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9" name="Line 22"/>
            <p:cNvSpPr>
              <a:spLocks noChangeShapeType="1"/>
            </p:cNvSpPr>
            <p:nvPr/>
          </p:nvSpPr>
          <p:spPr bwMode="auto">
            <a:xfrm rot="10800000">
              <a:off x="816" y="2314"/>
              <a:ext cx="768"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23"/>
            <p:cNvSpPr>
              <a:spLocks noChangeShapeType="1"/>
            </p:cNvSpPr>
            <p:nvPr/>
          </p:nvSpPr>
          <p:spPr bwMode="auto">
            <a:xfrm flipH="1">
              <a:off x="816" y="202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 name="Line 24"/>
            <p:cNvSpPr>
              <a:spLocks noChangeShapeType="1"/>
            </p:cNvSpPr>
            <p:nvPr/>
          </p:nvSpPr>
          <p:spPr bwMode="auto">
            <a:xfrm rot="10800000" flipH="1">
              <a:off x="1824" y="202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2" name="Line 25"/>
            <p:cNvSpPr>
              <a:spLocks noChangeShapeType="1"/>
            </p:cNvSpPr>
            <p:nvPr/>
          </p:nvSpPr>
          <p:spPr bwMode="auto">
            <a:xfrm flipH="1">
              <a:off x="2064" y="202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 name="Line 26"/>
            <p:cNvSpPr>
              <a:spLocks noChangeShapeType="1"/>
            </p:cNvSpPr>
            <p:nvPr/>
          </p:nvSpPr>
          <p:spPr bwMode="auto">
            <a:xfrm rot="10800000" flipH="1">
              <a:off x="3024" y="2026"/>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4" name="Text Box 27"/>
          <p:cNvSpPr txBox="1">
            <a:spLocks noChangeArrowheads="1"/>
          </p:cNvSpPr>
          <p:nvPr/>
        </p:nvSpPr>
        <p:spPr bwMode="auto">
          <a:xfrm>
            <a:off x="6608616" y="2576952"/>
            <a:ext cx="228600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dirty="0">
                <a:solidFill>
                  <a:srgbClr val="C00000"/>
                </a:solidFill>
                <a:latin typeface="Times New Roman" pitchFamily="18" charset="0"/>
              </a:rPr>
              <a:t>NOP	JMP X</a:t>
            </a:r>
          </a:p>
        </p:txBody>
      </p:sp>
      <p:sp>
        <p:nvSpPr>
          <p:cNvPr id="75" name="Text Box 28"/>
          <p:cNvSpPr txBox="1">
            <a:spLocks noChangeArrowheads="1"/>
          </p:cNvSpPr>
          <p:nvPr/>
        </p:nvSpPr>
        <p:spPr bwMode="auto">
          <a:xfrm>
            <a:off x="6608616" y="3872352"/>
            <a:ext cx="228600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dirty="0">
                <a:solidFill>
                  <a:srgbClr val="C00000"/>
                </a:solidFill>
                <a:latin typeface="Times New Roman" pitchFamily="18" charset="0"/>
              </a:rPr>
              <a:t>ADD   </a:t>
            </a:r>
            <a:r>
              <a:rPr kumimoji="1" lang="en-US" altLang="zh-CN" b="1" dirty="0" err="1">
                <a:solidFill>
                  <a:srgbClr val="C00000"/>
                </a:solidFill>
                <a:latin typeface="Times New Roman" pitchFamily="18" charset="0"/>
              </a:rPr>
              <a:t>mem</a:t>
            </a:r>
            <a:r>
              <a:rPr kumimoji="1" lang="en-US" altLang="zh-CN" b="1" dirty="0">
                <a:solidFill>
                  <a:srgbClr val="C00000"/>
                </a:solidFill>
                <a:latin typeface="Times New Roman" pitchFamily="18" charset="0"/>
              </a:rPr>
              <a:t> </a:t>
            </a:r>
          </a:p>
        </p:txBody>
      </p:sp>
      <p:sp>
        <p:nvSpPr>
          <p:cNvPr id="76" name="Text Box 29"/>
          <p:cNvSpPr txBox="1">
            <a:spLocks noChangeArrowheads="1"/>
          </p:cNvSpPr>
          <p:nvPr/>
        </p:nvSpPr>
        <p:spPr bwMode="auto">
          <a:xfrm>
            <a:off x="6608616" y="5354786"/>
            <a:ext cx="228600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dirty="0">
                <a:solidFill>
                  <a:srgbClr val="C00000"/>
                </a:solidFill>
                <a:latin typeface="Times New Roman" pitchFamily="18" charset="0"/>
              </a:rPr>
              <a:t>MUL   </a:t>
            </a:r>
            <a:r>
              <a:rPr kumimoji="1" lang="en-US" altLang="zh-CN" b="1" dirty="0" err="1">
                <a:solidFill>
                  <a:srgbClr val="C00000"/>
                </a:solidFill>
                <a:latin typeface="Times New Roman" pitchFamily="18" charset="0"/>
              </a:rPr>
              <a:t>mem</a:t>
            </a:r>
            <a:endParaRPr kumimoji="1" lang="en-US" altLang="zh-CN" b="1" dirty="0">
              <a:solidFill>
                <a:srgbClr val="C00000"/>
              </a:solidFill>
              <a:latin typeface="Times New Roman" pitchFamily="18" charset="0"/>
            </a:endParaRPr>
          </a:p>
        </p:txBody>
      </p:sp>
      <p:grpSp>
        <p:nvGrpSpPr>
          <p:cNvPr id="77" name="Group 32"/>
          <p:cNvGrpSpPr>
            <a:grpSpLocks/>
          </p:cNvGrpSpPr>
          <p:nvPr/>
        </p:nvGrpSpPr>
        <p:grpSpPr bwMode="auto">
          <a:xfrm>
            <a:off x="1046016" y="5187969"/>
            <a:ext cx="5181600" cy="1093791"/>
            <a:chOff x="816" y="2908"/>
            <a:chExt cx="3264" cy="689"/>
          </a:xfrm>
        </p:grpSpPr>
        <p:grpSp>
          <p:nvGrpSpPr>
            <p:cNvPr id="78" name="Group 33"/>
            <p:cNvGrpSpPr>
              <a:grpSpLocks/>
            </p:cNvGrpSpPr>
            <p:nvPr/>
          </p:nvGrpSpPr>
          <p:grpSpPr bwMode="auto">
            <a:xfrm>
              <a:off x="816" y="2908"/>
              <a:ext cx="3264" cy="689"/>
              <a:chOff x="816" y="2908"/>
              <a:chExt cx="3264" cy="689"/>
            </a:xfrm>
          </p:grpSpPr>
          <p:sp>
            <p:nvSpPr>
              <p:cNvPr id="80" name="Text Box 34"/>
              <p:cNvSpPr txBox="1">
                <a:spLocks noChangeArrowheads="1"/>
              </p:cNvSpPr>
              <p:nvPr/>
            </p:nvSpPr>
            <p:spPr bwMode="auto">
              <a:xfrm>
                <a:off x="997" y="2927"/>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取指周期</a:t>
                </a:r>
              </a:p>
            </p:txBody>
          </p:sp>
          <p:sp>
            <p:nvSpPr>
              <p:cNvPr id="81" name="Text Box 35"/>
              <p:cNvSpPr txBox="1">
                <a:spLocks noChangeArrowheads="1"/>
              </p:cNvSpPr>
              <p:nvPr/>
            </p:nvSpPr>
            <p:spPr bwMode="auto">
              <a:xfrm>
                <a:off x="2582" y="2908"/>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执行周期</a:t>
                </a:r>
              </a:p>
            </p:txBody>
          </p:sp>
          <p:sp>
            <p:nvSpPr>
              <p:cNvPr id="82" name="Line 36"/>
              <p:cNvSpPr>
                <a:spLocks noChangeShapeType="1"/>
              </p:cNvSpPr>
              <p:nvPr/>
            </p:nvSpPr>
            <p:spPr bwMode="auto">
              <a:xfrm flipV="1">
                <a:off x="816" y="3216"/>
                <a:ext cx="1824"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 name="Line 37"/>
              <p:cNvSpPr>
                <a:spLocks noChangeShapeType="1"/>
              </p:cNvSpPr>
              <p:nvPr/>
            </p:nvSpPr>
            <p:spPr bwMode="auto">
              <a:xfrm>
                <a:off x="816" y="2978"/>
                <a:ext cx="0" cy="5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4" name="Line 38"/>
              <p:cNvSpPr>
                <a:spLocks noChangeShapeType="1"/>
              </p:cNvSpPr>
              <p:nvPr/>
            </p:nvSpPr>
            <p:spPr bwMode="auto">
              <a:xfrm>
                <a:off x="2064" y="2978"/>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 name="Line 39"/>
              <p:cNvSpPr>
                <a:spLocks noChangeShapeType="1"/>
              </p:cNvSpPr>
              <p:nvPr/>
            </p:nvSpPr>
            <p:spPr bwMode="auto">
              <a:xfrm>
                <a:off x="4080" y="2978"/>
                <a:ext cx="0" cy="5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6" name="Text Box 40"/>
              <p:cNvSpPr txBox="1">
                <a:spLocks noChangeArrowheads="1"/>
              </p:cNvSpPr>
              <p:nvPr/>
            </p:nvSpPr>
            <p:spPr bwMode="auto">
              <a:xfrm>
                <a:off x="2076" y="3236"/>
                <a:ext cx="89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指令周期</a:t>
                </a:r>
              </a:p>
            </p:txBody>
          </p:sp>
          <p:sp>
            <p:nvSpPr>
              <p:cNvPr id="87" name="Line 41"/>
              <p:cNvSpPr>
                <a:spLocks noChangeShapeType="1"/>
              </p:cNvSpPr>
              <p:nvPr/>
            </p:nvSpPr>
            <p:spPr bwMode="auto">
              <a:xfrm>
                <a:off x="3039" y="3361"/>
                <a:ext cx="1041"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8" name="Line 42"/>
              <p:cNvSpPr>
                <a:spLocks noChangeShapeType="1"/>
              </p:cNvSpPr>
              <p:nvPr/>
            </p:nvSpPr>
            <p:spPr bwMode="auto">
              <a:xfrm rot="10800000">
                <a:off x="816" y="3360"/>
                <a:ext cx="1041"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 name="Line 43"/>
              <p:cNvSpPr>
                <a:spLocks noChangeShapeType="1"/>
              </p:cNvSpPr>
              <p:nvPr/>
            </p:nvSpPr>
            <p:spPr bwMode="auto">
              <a:xfrm flipH="1">
                <a:off x="816" y="312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0" name="Line 44"/>
              <p:cNvSpPr>
                <a:spLocks noChangeShapeType="1"/>
              </p:cNvSpPr>
              <p:nvPr/>
            </p:nvSpPr>
            <p:spPr bwMode="auto">
              <a:xfrm rot="10800000" flipH="1">
                <a:off x="1824" y="312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1" name="Line 45"/>
              <p:cNvSpPr>
                <a:spLocks noChangeShapeType="1"/>
              </p:cNvSpPr>
              <p:nvPr/>
            </p:nvSpPr>
            <p:spPr bwMode="auto">
              <a:xfrm>
                <a:off x="2688" y="3216"/>
                <a:ext cx="67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2" name="Line 46"/>
              <p:cNvSpPr>
                <a:spLocks noChangeShapeType="1"/>
              </p:cNvSpPr>
              <p:nvPr/>
            </p:nvSpPr>
            <p:spPr bwMode="auto">
              <a:xfrm>
                <a:off x="3408" y="3216"/>
                <a:ext cx="6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3" name="Line 47"/>
              <p:cNvSpPr>
                <a:spLocks noChangeShapeType="1"/>
              </p:cNvSpPr>
              <p:nvPr/>
            </p:nvSpPr>
            <p:spPr bwMode="auto">
              <a:xfrm flipH="1">
                <a:off x="2064" y="3120"/>
                <a:ext cx="467"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4" name="Line 48"/>
              <p:cNvSpPr>
                <a:spLocks noChangeShapeType="1"/>
              </p:cNvSpPr>
              <p:nvPr/>
            </p:nvSpPr>
            <p:spPr bwMode="auto">
              <a:xfrm rot="10800000" flipH="1">
                <a:off x="3611" y="3119"/>
                <a:ext cx="467"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9" name="Text Box 49"/>
            <p:cNvSpPr txBox="1">
              <a:spLocks noChangeArrowheads="1"/>
            </p:cNvSpPr>
            <p:nvPr/>
          </p:nvSpPr>
          <p:spPr bwMode="auto">
            <a:xfrm>
              <a:off x="2889" y="2989"/>
              <a:ext cx="408" cy="36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dirty="0">
                  <a:latin typeface="Times New Roman"/>
                </a:rPr>
                <a:t>…</a:t>
              </a:r>
              <a:endParaRPr kumimoji="1" lang="en-US" altLang="zh-CN" b="1" dirty="0">
                <a:latin typeface="宋体" pitchFamily="2" charset="-122"/>
              </a:endParaRPr>
            </a:p>
          </p:txBody>
        </p:sp>
      </p:grpSp>
    </p:spTree>
    <p:extLst>
      <p:ext uri="{BB962C8B-B14F-4D97-AF65-F5344CB8AC3E}">
        <p14:creationId xmlns:p14="http://schemas.microsoft.com/office/powerpoint/2010/main" val="100139663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arn(outVertical)">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blinds(horizontal)">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barn(outVertical)">
                                      <p:cBhvr>
                                        <p:cTn id="17" dur="5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blinds(horizontal)">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barn(outVertical)">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blinds(horizontal)">
                                      <p:cBhvr>
                                        <p:cTn id="3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utoUpdateAnimBg="0"/>
      <p:bldP spid="75" grpId="0" autoUpdateAnimBg="0"/>
      <p:bldP spid="76"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1052513"/>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533400" y="1548255"/>
            <a:ext cx="57150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3.   </a:t>
            </a:r>
            <a:r>
              <a:rPr kumimoji="1" lang="zh-CN" altLang="en-US" b="1" dirty="0">
                <a:latin typeface="Times New Roman" pitchFamily="18" charset="0"/>
              </a:rPr>
              <a:t>具有间接寻址的指令周期</a:t>
            </a:r>
          </a:p>
        </p:txBody>
      </p:sp>
      <p:sp>
        <p:nvSpPr>
          <p:cNvPr id="96" name="Text Box 3"/>
          <p:cNvSpPr txBox="1">
            <a:spLocks noChangeArrowheads="1"/>
          </p:cNvSpPr>
          <p:nvPr/>
        </p:nvSpPr>
        <p:spPr bwMode="auto">
          <a:xfrm>
            <a:off x="669854" y="3947553"/>
            <a:ext cx="571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4.  </a:t>
            </a:r>
            <a:r>
              <a:rPr kumimoji="1" lang="zh-CN" altLang="en-US" b="1" dirty="0">
                <a:latin typeface="Times New Roman" pitchFamily="18" charset="0"/>
              </a:rPr>
              <a:t>带有中断周期的指令周期</a:t>
            </a:r>
          </a:p>
        </p:txBody>
      </p:sp>
      <p:grpSp>
        <p:nvGrpSpPr>
          <p:cNvPr id="97" name="Group 4"/>
          <p:cNvGrpSpPr>
            <a:grpSpLocks/>
          </p:cNvGrpSpPr>
          <p:nvPr/>
        </p:nvGrpSpPr>
        <p:grpSpPr bwMode="auto">
          <a:xfrm>
            <a:off x="914400" y="2597734"/>
            <a:ext cx="5867400" cy="974725"/>
            <a:chOff x="576" y="1296"/>
            <a:chExt cx="3696" cy="614"/>
          </a:xfrm>
        </p:grpSpPr>
        <p:sp>
          <p:nvSpPr>
            <p:cNvPr id="98" name="Text Box 5"/>
            <p:cNvSpPr txBox="1">
              <a:spLocks noChangeArrowheads="1"/>
            </p:cNvSpPr>
            <p:nvPr/>
          </p:nvSpPr>
          <p:spPr bwMode="auto">
            <a:xfrm>
              <a:off x="806" y="129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取指周期</a:t>
              </a:r>
            </a:p>
          </p:txBody>
        </p:sp>
        <p:sp>
          <p:nvSpPr>
            <p:cNvPr id="99" name="Text Box 6"/>
            <p:cNvSpPr txBox="1">
              <a:spLocks noChangeArrowheads="1"/>
            </p:cNvSpPr>
            <p:nvPr/>
          </p:nvSpPr>
          <p:spPr bwMode="auto">
            <a:xfrm>
              <a:off x="2076" y="1298"/>
              <a:ext cx="76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间址周期</a:t>
              </a:r>
            </a:p>
          </p:txBody>
        </p:sp>
        <p:sp>
          <p:nvSpPr>
            <p:cNvPr id="100" name="Line 7"/>
            <p:cNvSpPr>
              <a:spLocks noChangeShapeType="1"/>
            </p:cNvSpPr>
            <p:nvPr/>
          </p:nvSpPr>
          <p:spPr bwMode="auto">
            <a:xfrm flipV="1">
              <a:off x="576" y="1536"/>
              <a:ext cx="3696"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 name="Line 8"/>
            <p:cNvSpPr>
              <a:spLocks noChangeShapeType="1"/>
            </p:cNvSpPr>
            <p:nvPr/>
          </p:nvSpPr>
          <p:spPr bwMode="auto">
            <a:xfrm>
              <a:off x="576" y="1298"/>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 name="Line 9"/>
            <p:cNvSpPr>
              <a:spLocks noChangeShapeType="1"/>
            </p:cNvSpPr>
            <p:nvPr/>
          </p:nvSpPr>
          <p:spPr bwMode="auto">
            <a:xfrm>
              <a:off x="1824" y="1298"/>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 name="Line 10"/>
            <p:cNvSpPr>
              <a:spLocks noChangeShapeType="1"/>
            </p:cNvSpPr>
            <p:nvPr/>
          </p:nvSpPr>
          <p:spPr bwMode="auto">
            <a:xfrm>
              <a:off x="4272" y="1298"/>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 name="Text Box 11"/>
            <p:cNvSpPr txBox="1">
              <a:spLocks noChangeArrowheads="1"/>
            </p:cNvSpPr>
            <p:nvPr/>
          </p:nvSpPr>
          <p:spPr bwMode="auto">
            <a:xfrm>
              <a:off x="2028" y="1584"/>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指令周期</a:t>
              </a:r>
            </a:p>
          </p:txBody>
        </p:sp>
        <p:sp>
          <p:nvSpPr>
            <p:cNvPr id="105" name="Line 12"/>
            <p:cNvSpPr>
              <a:spLocks noChangeShapeType="1"/>
            </p:cNvSpPr>
            <p:nvPr/>
          </p:nvSpPr>
          <p:spPr bwMode="auto">
            <a:xfrm>
              <a:off x="3216" y="1680"/>
              <a:ext cx="1041"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13"/>
            <p:cNvSpPr>
              <a:spLocks noChangeShapeType="1"/>
            </p:cNvSpPr>
            <p:nvPr/>
          </p:nvSpPr>
          <p:spPr bwMode="auto">
            <a:xfrm rot="10800000">
              <a:off x="591" y="1680"/>
              <a:ext cx="1041"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14"/>
            <p:cNvSpPr>
              <a:spLocks noChangeShapeType="1"/>
            </p:cNvSpPr>
            <p:nvPr/>
          </p:nvSpPr>
          <p:spPr bwMode="auto">
            <a:xfrm flipH="1">
              <a:off x="576" y="144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15"/>
            <p:cNvSpPr>
              <a:spLocks noChangeShapeType="1"/>
            </p:cNvSpPr>
            <p:nvPr/>
          </p:nvSpPr>
          <p:spPr bwMode="auto">
            <a:xfrm rot="10800000" flipH="1">
              <a:off x="1584" y="144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16"/>
            <p:cNvSpPr>
              <a:spLocks noChangeShapeType="1"/>
            </p:cNvSpPr>
            <p:nvPr/>
          </p:nvSpPr>
          <p:spPr bwMode="auto">
            <a:xfrm flipH="1">
              <a:off x="1824" y="144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17"/>
            <p:cNvSpPr>
              <a:spLocks noChangeShapeType="1"/>
            </p:cNvSpPr>
            <p:nvPr/>
          </p:nvSpPr>
          <p:spPr bwMode="auto">
            <a:xfrm rot="10800000" flipH="1">
              <a:off x="2784" y="144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Text Box 18"/>
            <p:cNvSpPr txBox="1">
              <a:spLocks noChangeArrowheads="1"/>
            </p:cNvSpPr>
            <p:nvPr/>
          </p:nvSpPr>
          <p:spPr bwMode="auto">
            <a:xfrm>
              <a:off x="3276" y="129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执行周期</a:t>
              </a:r>
            </a:p>
          </p:txBody>
        </p:sp>
        <p:sp>
          <p:nvSpPr>
            <p:cNvPr id="112" name="Line 19"/>
            <p:cNvSpPr>
              <a:spLocks noChangeShapeType="1"/>
            </p:cNvSpPr>
            <p:nvPr/>
          </p:nvSpPr>
          <p:spPr bwMode="auto">
            <a:xfrm>
              <a:off x="3024" y="1296"/>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Line 20"/>
            <p:cNvSpPr>
              <a:spLocks noChangeShapeType="1"/>
            </p:cNvSpPr>
            <p:nvPr/>
          </p:nvSpPr>
          <p:spPr bwMode="auto">
            <a:xfrm flipH="1">
              <a:off x="3024" y="1438"/>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Line 21"/>
            <p:cNvSpPr>
              <a:spLocks noChangeShapeType="1"/>
            </p:cNvSpPr>
            <p:nvPr/>
          </p:nvSpPr>
          <p:spPr bwMode="auto">
            <a:xfrm rot="10800000" flipH="1">
              <a:off x="4032" y="1438"/>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5" name="Group 22"/>
          <p:cNvGrpSpPr>
            <a:grpSpLocks/>
          </p:cNvGrpSpPr>
          <p:nvPr/>
        </p:nvGrpSpPr>
        <p:grpSpPr bwMode="auto">
          <a:xfrm>
            <a:off x="914400" y="4856020"/>
            <a:ext cx="7772400" cy="990600"/>
            <a:chOff x="576" y="2928"/>
            <a:chExt cx="4896" cy="624"/>
          </a:xfrm>
        </p:grpSpPr>
        <p:sp>
          <p:nvSpPr>
            <p:cNvPr id="116" name="Text Box 23"/>
            <p:cNvSpPr txBox="1">
              <a:spLocks noChangeArrowheads="1"/>
            </p:cNvSpPr>
            <p:nvPr/>
          </p:nvSpPr>
          <p:spPr bwMode="auto">
            <a:xfrm>
              <a:off x="806" y="2938"/>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取指周期</a:t>
              </a:r>
            </a:p>
          </p:txBody>
        </p:sp>
        <p:sp>
          <p:nvSpPr>
            <p:cNvPr id="117" name="Text Box 24"/>
            <p:cNvSpPr txBox="1">
              <a:spLocks noChangeArrowheads="1"/>
            </p:cNvSpPr>
            <p:nvPr/>
          </p:nvSpPr>
          <p:spPr bwMode="auto">
            <a:xfrm>
              <a:off x="2076" y="2940"/>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间址周期</a:t>
              </a:r>
            </a:p>
          </p:txBody>
        </p:sp>
        <p:sp>
          <p:nvSpPr>
            <p:cNvPr id="118" name="Freeform 25"/>
            <p:cNvSpPr>
              <a:spLocks/>
            </p:cNvSpPr>
            <p:nvPr/>
          </p:nvSpPr>
          <p:spPr bwMode="auto">
            <a:xfrm>
              <a:off x="576" y="3180"/>
              <a:ext cx="4896" cy="1"/>
            </a:xfrm>
            <a:custGeom>
              <a:avLst/>
              <a:gdLst>
                <a:gd name="T0" fmla="*/ 0 w 4896"/>
                <a:gd name="T1" fmla="*/ 0 h 1"/>
                <a:gd name="T2" fmla="*/ 4896 w 4896"/>
                <a:gd name="T3" fmla="*/ 0 h 1"/>
              </a:gdLst>
              <a:ahLst/>
              <a:cxnLst>
                <a:cxn ang="0">
                  <a:pos x="T0" y="T1"/>
                </a:cxn>
                <a:cxn ang="0">
                  <a:pos x="T2" y="T3"/>
                </a:cxn>
              </a:cxnLst>
              <a:rect l="0" t="0" r="r" b="b"/>
              <a:pathLst>
                <a:path w="4896" h="1">
                  <a:moveTo>
                    <a:pt x="0" y="0"/>
                  </a:moveTo>
                  <a:lnTo>
                    <a:pt x="4896" y="0"/>
                  </a:lnTo>
                </a:path>
              </a:pathLst>
            </a:custGeom>
            <a:noFill/>
            <a:ln w="285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9" name="Line 26"/>
            <p:cNvSpPr>
              <a:spLocks noChangeShapeType="1"/>
            </p:cNvSpPr>
            <p:nvPr/>
          </p:nvSpPr>
          <p:spPr bwMode="auto">
            <a:xfrm>
              <a:off x="576" y="2940"/>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0" name="Line 27"/>
            <p:cNvSpPr>
              <a:spLocks noChangeShapeType="1"/>
            </p:cNvSpPr>
            <p:nvPr/>
          </p:nvSpPr>
          <p:spPr bwMode="auto">
            <a:xfrm>
              <a:off x="1824" y="2940"/>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 name="Line 28"/>
            <p:cNvSpPr>
              <a:spLocks noChangeShapeType="1"/>
            </p:cNvSpPr>
            <p:nvPr/>
          </p:nvSpPr>
          <p:spPr bwMode="auto">
            <a:xfrm>
              <a:off x="5472" y="2940"/>
              <a:ext cx="0" cy="6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 name="Text Box 29"/>
            <p:cNvSpPr txBox="1">
              <a:spLocks noChangeArrowheads="1"/>
            </p:cNvSpPr>
            <p:nvPr/>
          </p:nvSpPr>
          <p:spPr bwMode="auto">
            <a:xfrm>
              <a:off x="2648" y="322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指令周期</a:t>
              </a:r>
            </a:p>
          </p:txBody>
        </p:sp>
        <p:sp>
          <p:nvSpPr>
            <p:cNvPr id="123" name="Freeform 30"/>
            <p:cNvSpPr>
              <a:spLocks/>
            </p:cNvSpPr>
            <p:nvPr/>
          </p:nvSpPr>
          <p:spPr bwMode="auto">
            <a:xfrm>
              <a:off x="3720" y="3323"/>
              <a:ext cx="1752" cy="1"/>
            </a:xfrm>
            <a:custGeom>
              <a:avLst/>
              <a:gdLst>
                <a:gd name="T0" fmla="*/ 0 w 1752"/>
                <a:gd name="T1" fmla="*/ 1 h 1"/>
                <a:gd name="T2" fmla="*/ 1752 w 1752"/>
                <a:gd name="T3" fmla="*/ 0 h 1"/>
              </a:gdLst>
              <a:ahLst/>
              <a:cxnLst>
                <a:cxn ang="0">
                  <a:pos x="T0" y="T1"/>
                </a:cxn>
                <a:cxn ang="0">
                  <a:pos x="T2" y="T3"/>
                </a:cxn>
              </a:cxnLst>
              <a:rect l="0" t="0" r="r" b="b"/>
              <a:pathLst>
                <a:path w="1752" h="1">
                  <a:moveTo>
                    <a:pt x="0" y="1"/>
                  </a:moveTo>
                  <a:lnTo>
                    <a:pt x="1752" y="0"/>
                  </a:lnTo>
                </a:path>
              </a:pathLst>
            </a:custGeom>
            <a:noFill/>
            <a:ln w="9525">
              <a:solidFill>
                <a:schemeClr val="tx1"/>
              </a:solidFill>
              <a:round/>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4" name="Freeform 31"/>
            <p:cNvSpPr>
              <a:spLocks/>
            </p:cNvSpPr>
            <p:nvPr/>
          </p:nvSpPr>
          <p:spPr bwMode="auto">
            <a:xfrm>
              <a:off x="591" y="3321"/>
              <a:ext cx="1773" cy="1"/>
            </a:xfrm>
            <a:custGeom>
              <a:avLst/>
              <a:gdLst>
                <a:gd name="T0" fmla="*/ 1773 w 1773"/>
                <a:gd name="T1" fmla="*/ 0 h 1"/>
                <a:gd name="T2" fmla="*/ 0 w 1773"/>
                <a:gd name="T3" fmla="*/ 1 h 1"/>
              </a:gdLst>
              <a:ahLst/>
              <a:cxnLst>
                <a:cxn ang="0">
                  <a:pos x="T0" y="T1"/>
                </a:cxn>
                <a:cxn ang="0">
                  <a:pos x="T2" y="T3"/>
                </a:cxn>
              </a:cxnLst>
              <a:rect l="0" t="0" r="r" b="b"/>
              <a:pathLst>
                <a:path w="1773" h="1">
                  <a:moveTo>
                    <a:pt x="1773" y="0"/>
                  </a:moveTo>
                  <a:lnTo>
                    <a:pt x="0" y="1"/>
                  </a:lnTo>
                </a:path>
              </a:pathLst>
            </a:custGeom>
            <a:noFill/>
            <a:ln w="9525">
              <a:solidFill>
                <a:schemeClr val="tx1"/>
              </a:solidFill>
              <a:round/>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5" name="Line 32"/>
            <p:cNvSpPr>
              <a:spLocks noChangeShapeType="1"/>
            </p:cNvSpPr>
            <p:nvPr/>
          </p:nvSpPr>
          <p:spPr bwMode="auto">
            <a:xfrm flipH="1">
              <a:off x="576" y="308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6" name="Line 33"/>
            <p:cNvSpPr>
              <a:spLocks noChangeShapeType="1"/>
            </p:cNvSpPr>
            <p:nvPr/>
          </p:nvSpPr>
          <p:spPr bwMode="auto">
            <a:xfrm rot="10800000" flipH="1">
              <a:off x="1584" y="308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7" name="Line 34"/>
            <p:cNvSpPr>
              <a:spLocks noChangeShapeType="1"/>
            </p:cNvSpPr>
            <p:nvPr/>
          </p:nvSpPr>
          <p:spPr bwMode="auto">
            <a:xfrm flipH="1">
              <a:off x="1824" y="308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8" name="Line 35"/>
            <p:cNvSpPr>
              <a:spLocks noChangeShapeType="1"/>
            </p:cNvSpPr>
            <p:nvPr/>
          </p:nvSpPr>
          <p:spPr bwMode="auto">
            <a:xfrm rot="10800000" flipH="1">
              <a:off x="2784" y="308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 name="Text Box 36"/>
            <p:cNvSpPr txBox="1">
              <a:spLocks noChangeArrowheads="1"/>
            </p:cNvSpPr>
            <p:nvPr/>
          </p:nvSpPr>
          <p:spPr bwMode="auto">
            <a:xfrm>
              <a:off x="3276" y="2938"/>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执行周期</a:t>
              </a:r>
            </a:p>
          </p:txBody>
        </p:sp>
        <p:sp>
          <p:nvSpPr>
            <p:cNvPr id="130" name="Line 37"/>
            <p:cNvSpPr>
              <a:spLocks noChangeShapeType="1"/>
            </p:cNvSpPr>
            <p:nvPr/>
          </p:nvSpPr>
          <p:spPr bwMode="auto">
            <a:xfrm>
              <a:off x="3024" y="2938"/>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1" name="Line 38"/>
            <p:cNvSpPr>
              <a:spLocks noChangeShapeType="1"/>
            </p:cNvSpPr>
            <p:nvPr/>
          </p:nvSpPr>
          <p:spPr bwMode="auto">
            <a:xfrm flipH="1">
              <a:off x="3024" y="308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 name="Line 39"/>
            <p:cNvSpPr>
              <a:spLocks noChangeShapeType="1"/>
            </p:cNvSpPr>
            <p:nvPr/>
          </p:nvSpPr>
          <p:spPr bwMode="auto">
            <a:xfrm rot="10800000" flipH="1">
              <a:off x="4032" y="3080"/>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 name="Line 40"/>
            <p:cNvSpPr>
              <a:spLocks noChangeShapeType="1"/>
            </p:cNvSpPr>
            <p:nvPr/>
          </p:nvSpPr>
          <p:spPr bwMode="auto">
            <a:xfrm>
              <a:off x="4272" y="2938"/>
              <a:ext cx="0" cy="2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 name="Line 41"/>
            <p:cNvSpPr>
              <a:spLocks noChangeShapeType="1"/>
            </p:cNvSpPr>
            <p:nvPr/>
          </p:nvSpPr>
          <p:spPr bwMode="auto">
            <a:xfrm flipH="1">
              <a:off x="4272" y="307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 name="Text Box 42"/>
            <p:cNvSpPr txBox="1">
              <a:spLocks noChangeArrowheads="1"/>
            </p:cNvSpPr>
            <p:nvPr/>
          </p:nvSpPr>
          <p:spPr bwMode="auto">
            <a:xfrm>
              <a:off x="4520" y="2928"/>
              <a:ext cx="76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00000"/>
                  </a:solidFill>
                  <a:latin typeface="Times New Roman" pitchFamily="18" charset="0"/>
                </a:rPr>
                <a:t>中断周期</a:t>
              </a:r>
            </a:p>
          </p:txBody>
        </p:sp>
        <p:sp>
          <p:nvSpPr>
            <p:cNvPr id="136" name="Line 43"/>
            <p:cNvSpPr>
              <a:spLocks noChangeShapeType="1"/>
            </p:cNvSpPr>
            <p:nvPr/>
          </p:nvSpPr>
          <p:spPr bwMode="auto">
            <a:xfrm rot="10800000" flipH="1">
              <a:off x="5232" y="3072"/>
              <a:ext cx="24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301880799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barn(outVertical)">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blinds(horizontal)">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15"/>
                                        </p:tgtEl>
                                        <p:attrNameLst>
                                          <p:attrName>style.visibility</p:attrName>
                                        </p:attrNameLst>
                                      </p:cBhvr>
                                      <p:to>
                                        <p:strVal val="visible"/>
                                      </p:to>
                                    </p:set>
                                    <p:animEffect transition="in" filter="barn(outVertical)">
                                      <p:cBhvr>
                                        <p:cTn id="1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1031731"/>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769649" y="1378545"/>
            <a:ext cx="571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5.  </a:t>
            </a:r>
            <a:r>
              <a:rPr kumimoji="1" lang="zh-CN" altLang="en-US" b="1" dirty="0">
                <a:latin typeface="Times New Roman" pitchFamily="18" charset="0"/>
              </a:rPr>
              <a:t>指令周期流程</a:t>
            </a:r>
          </a:p>
        </p:txBody>
      </p:sp>
      <p:sp>
        <p:nvSpPr>
          <p:cNvPr id="96" name="Rectangle 3"/>
          <p:cNvSpPr>
            <a:spLocks noChangeArrowheads="1"/>
          </p:cNvSpPr>
          <p:nvPr/>
        </p:nvSpPr>
        <p:spPr bwMode="auto">
          <a:xfrm>
            <a:off x="3178175" y="2192487"/>
            <a:ext cx="1217000" cy="44941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取指周期</a:t>
            </a:r>
          </a:p>
        </p:txBody>
      </p:sp>
      <p:sp>
        <p:nvSpPr>
          <p:cNvPr id="97" name="Rectangle 4"/>
          <p:cNvSpPr>
            <a:spLocks noChangeArrowheads="1"/>
          </p:cNvSpPr>
          <p:nvPr/>
        </p:nvSpPr>
        <p:spPr bwMode="auto">
          <a:xfrm>
            <a:off x="3178175" y="4462612"/>
            <a:ext cx="1217000" cy="44941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执行周期</a:t>
            </a:r>
          </a:p>
        </p:txBody>
      </p:sp>
      <p:grpSp>
        <p:nvGrpSpPr>
          <p:cNvPr id="98" name="Group 5"/>
          <p:cNvGrpSpPr>
            <a:grpSpLocks/>
          </p:cNvGrpSpPr>
          <p:nvPr/>
        </p:nvGrpSpPr>
        <p:grpSpPr bwMode="auto">
          <a:xfrm>
            <a:off x="2540000" y="2965600"/>
            <a:ext cx="2741613" cy="763587"/>
            <a:chOff x="836" y="1439"/>
            <a:chExt cx="1727" cy="481"/>
          </a:xfrm>
        </p:grpSpPr>
        <p:sp>
          <p:nvSpPr>
            <p:cNvPr id="99" name="AutoShape 6"/>
            <p:cNvSpPr>
              <a:spLocks noChangeArrowheads="1"/>
            </p:cNvSpPr>
            <p:nvPr/>
          </p:nvSpPr>
          <p:spPr bwMode="auto">
            <a:xfrm>
              <a:off x="836" y="1439"/>
              <a:ext cx="1727" cy="442"/>
            </a:xfrm>
            <a:prstGeom prst="diamond">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有间址吗？</a:t>
              </a:r>
            </a:p>
          </p:txBody>
        </p:sp>
        <p:sp>
          <p:nvSpPr>
            <p:cNvPr id="100" name="AutoShape 7"/>
            <p:cNvSpPr>
              <a:spLocks noChangeArrowheads="1"/>
            </p:cNvSpPr>
            <p:nvPr/>
          </p:nvSpPr>
          <p:spPr bwMode="auto">
            <a:xfrm>
              <a:off x="1008" y="1440"/>
              <a:ext cx="1248" cy="480"/>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1" name="Group 8"/>
          <p:cNvGrpSpPr>
            <a:grpSpLocks/>
          </p:cNvGrpSpPr>
          <p:nvPr/>
        </p:nvGrpSpPr>
        <p:grpSpPr bwMode="auto">
          <a:xfrm>
            <a:off x="2813050" y="5240487"/>
            <a:ext cx="1981200" cy="762000"/>
            <a:chOff x="1008" y="2496"/>
            <a:chExt cx="1248" cy="480"/>
          </a:xfrm>
        </p:grpSpPr>
        <p:sp>
          <p:nvSpPr>
            <p:cNvPr id="102" name="AutoShape 9"/>
            <p:cNvSpPr>
              <a:spLocks noChangeArrowheads="1"/>
            </p:cNvSpPr>
            <p:nvPr/>
          </p:nvSpPr>
          <p:spPr bwMode="auto">
            <a:xfrm>
              <a:off x="1008" y="2496"/>
              <a:ext cx="1248" cy="480"/>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Text Box 10"/>
            <p:cNvSpPr txBox="1">
              <a:spLocks noChangeArrowheads="1"/>
            </p:cNvSpPr>
            <p:nvPr/>
          </p:nvSpPr>
          <p:spPr bwMode="auto">
            <a:xfrm>
              <a:off x="1200" y="2592"/>
              <a:ext cx="9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有中断吗？</a:t>
              </a:r>
            </a:p>
          </p:txBody>
        </p:sp>
      </p:grpSp>
      <p:sp>
        <p:nvSpPr>
          <p:cNvPr id="104" name="Rectangle 11"/>
          <p:cNvSpPr>
            <a:spLocks noChangeArrowheads="1"/>
          </p:cNvSpPr>
          <p:nvPr/>
        </p:nvSpPr>
        <p:spPr bwMode="auto">
          <a:xfrm>
            <a:off x="5565775" y="3578375"/>
            <a:ext cx="1217000" cy="44941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间址周期</a:t>
            </a:r>
          </a:p>
        </p:txBody>
      </p:sp>
      <p:sp>
        <p:nvSpPr>
          <p:cNvPr id="105" name="Text Box 12"/>
          <p:cNvSpPr txBox="1">
            <a:spLocks noChangeArrowheads="1"/>
          </p:cNvSpPr>
          <p:nvPr/>
        </p:nvSpPr>
        <p:spPr bwMode="auto">
          <a:xfrm>
            <a:off x="5565775" y="5850087"/>
            <a:ext cx="1217000" cy="44941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中断周期</a:t>
            </a:r>
          </a:p>
        </p:txBody>
      </p:sp>
      <p:sp>
        <p:nvSpPr>
          <p:cNvPr id="106" name="Freeform 13"/>
          <p:cNvSpPr>
            <a:spLocks/>
          </p:cNvSpPr>
          <p:nvPr/>
        </p:nvSpPr>
        <p:spPr bwMode="auto">
          <a:xfrm>
            <a:off x="3803650" y="2611587"/>
            <a:ext cx="1588" cy="342900"/>
          </a:xfrm>
          <a:custGeom>
            <a:avLst/>
            <a:gdLst>
              <a:gd name="T0" fmla="*/ 0 w 1"/>
              <a:gd name="T1" fmla="*/ 0 h 216"/>
              <a:gd name="T2" fmla="*/ 1 w 1"/>
              <a:gd name="T3" fmla="*/ 216 h 216"/>
            </a:gdLst>
            <a:ahLst/>
            <a:cxnLst>
              <a:cxn ang="0">
                <a:pos x="T0" y="T1"/>
              </a:cxn>
              <a:cxn ang="0">
                <a:pos x="T2" y="T3"/>
              </a:cxn>
            </a:cxnLst>
            <a:rect l="0" t="0" r="r" b="b"/>
            <a:pathLst>
              <a:path w="1" h="216">
                <a:moveTo>
                  <a:pt x="0" y="0"/>
                </a:moveTo>
                <a:lnTo>
                  <a:pt x="1" y="216"/>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Freeform 14"/>
          <p:cNvSpPr>
            <a:spLocks/>
          </p:cNvSpPr>
          <p:nvPr/>
        </p:nvSpPr>
        <p:spPr bwMode="auto">
          <a:xfrm>
            <a:off x="3803650" y="1849587"/>
            <a:ext cx="1588" cy="342900"/>
          </a:xfrm>
          <a:custGeom>
            <a:avLst/>
            <a:gdLst>
              <a:gd name="T0" fmla="*/ 0 w 1"/>
              <a:gd name="T1" fmla="*/ 0 h 216"/>
              <a:gd name="T2" fmla="*/ 1 w 1"/>
              <a:gd name="T3" fmla="*/ 216 h 216"/>
            </a:gdLst>
            <a:ahLst/>
            <a:cxnLst>
              <a:cxn ang="0">
                <a:pos x="T0" y="T1"/>
              </a:cxn>
              <a:cxn ang="0">
                <a:pos x="T2" y="T3"/>
              </a:cxn>
            </a:cxnLst>
            <a:rect l="0" t="0" r="r" b="b"/>
            <a:pathLst>
              <a:path w="1" h="216">
                <a:moveTo>
                  <a:pt x="0" y="0"/>
                </a:moveTo>
                <a:lnTo>
                  <a:pt x="1" y="216"/>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Freeform 15"/>
          <p:cNvSpPr>
            <a:spLocks/>
          </p:cNvSpPr>
          <p:nvPr/>
        </p:nvSpPr>
        <p:spPr bwMode="auto">
          <a:xfrm>
            <a:off x="3803650" y="4897587"/>
            <a:ext cx="1588" cy="342900"/>
          </a:xfrm>
          <a:custGeom>
            <a:avLst/>
            <a:gdLst>
              <a:gd name="T0" fmla="*/ 0 w 1"/>
              <a:gd name="T1" fmla="*/ 0 h 216"/>
              <a:gd name="T2" fmla="*/ 1 w 1"/>
              <a:gd name="T3" fmla="*/ 216 h 216"/>
            </a:gdLst>
            <a:ahLst/>
            <a:cxnLst>
              <a:cxn ang="0">
                <a:pos x="T0" y="T1"/>
              </a:cxn>
              <a:cxn ang="0">
                <a:pos x="T2" y="T3"/>
              </a:cxn>
            </a:cxnLst>
            <a:rect l="0" t="0" r="r" b="b"/>
            <a:pathLst>
              <a:path w="1" h="216">
                <a:moveTo>
                  <a:pt x="0" y="0"/>
                </a:moveTo>
                <a:lnTo>
                  <a:pt x="1" y="216"/>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09" name="Group 16"/>
          <p:cNvGrpSpPr>
            <a:grpSpLocks/>
          </p:cNvGrpSpPr>
          <p:nvPr/>
        </p:nvGrpSpPr>
        <p:grpSpPr bwMode="auto">
          <a:xfrm>
            <a:off x="3803650" y="3992712"/>
            <a:ext cx="2362200" cy="268288"/>
            <a:chOff x="2396" y="2142"/>
            <a:chExt cx="1488" cy="169"/>
          </a:xfrm>
        </p:grpSpPr>
        <p:sp>
          <p:nvSpPr>
            <p:cNvPr id="110" name="Freeform 17"/>
            <p:cNvSpPr>
              <a:spLocks/>
            </p:cNvSpPr>
            <p:nvPr/>
          </p:nvSpPr>
          <p:spPr bwMode="auto">
            <a:xfrm>
              <a:off x="3882" y="2142"/>
              <a:ext cx="2" cy="169"/>
            </a:xfrm>
            <a:custGeom>
              <a:avLst/>
              <a:gdLst>
                <a:gd name="T0" fmla="*/ 0 w 2"/>
                <a:gd name="T1" fmla="*/ 0 h 169"/>
                <a:gd name="T2" fmla="*/ 2 w 2"/>
                <a:gd name="T3" fmla="*/ 169 h 169"/>
              </a:gdLst>
              <a:ahLst/>
              <a:cxnLst>
                <a:cxn ang="0">
                  <a:pos x="T0" y="T1"/>
                </a:cxn>
                <a:cxn ang="0">
                  <a:pos x="T2" y="T3"/>
                </a:cxn>
              </a:cxnLst>
              <a:rect l="0" t="0" r="r" b="b"/>
              <a:pathLst>
                <a:path w="2" h="169">
                  <a:moveTo>
                    <a:pt x="0" y="0"/>
                  </a:moveTo>
                  <a:lnTo>
                    <a:pt x="2" y="169"/>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18"/>
            <p:cNvSpPr>
              <a:spLocks noChangeShapeType="1"/>
            </p:cNvSpPr>
            <p:nvPr/>
          </p:nvSpPr>
          <p:spPr bwMode="auto">
            <a:xfrm flipH="1">
              <a:off x="2396" y="2304"/>
              <a:ext cx="1488"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2" name="Group 19"/>
          <p:cNvGrpSpPr>
            <a:grpSpLocks/>
          </p:cNvGrpSpPr>
          <p:nvPr/>
        </p:nvGrpSpPr>
        <p:grpSpPr bwMode="auto">
          <a:xfrm>
            <a:off x="4794250" y="2954487"/>
            <a:ext cx="1371600" cy="619125"/>
            <a:chOff x="3020" y="1488"/>
            <a:chExt cx="864" cy="390"/>
          </a:xfrm>
        </p:grpSpPr>
        <p:sp>
          <p:nvSpPr>
            <p:cNvPr id="113" name="Freeform 20"/>
            <p:cNvSpPr>
              <a:spLocks/>
            </p:cNvSpPr>
            <p:nvPr/>
          </p:nvSpPr>
          <p:spPr bwMode="auto">
            <a:xfrm>
              <a:off x="3020" y="1728"/>
              <a:ext cx="864" cy="150"/>
            </a:xfrm>
            <a:custGeom>
              <a:avLst/>
              <a:gdLst>
                <a:gd name="T0" fmla="*/ 0 w 864"/>
                <a:gd name="T1" fmla="*/ 0 h 150"/>
                <a:gd name="T2" fmla="*/ 864 w 864"/>
                <a:gd name="T3" fmla="*/ 0 h 150"/>
                <a:gd name="T4" fmla="*/ 862 w 864"/>
                <a:gd name="T5" fmla="*/ 150 h 150"/>
              </a:gdLst>
              <a:ahLst/>
              <a:cxnLst>
                <a:cxn ang="0">
                  <a:pos x="T0" y="T1"/>
                </a:cxn>
                <a:cxn ang="0">
                  <a:pos x="T2" y="T3"/>
                </a:cxn>
                <a:cxn ang="0">
                  <a:pos x="T4" y="T5"/>
                </a:cxn>
              </a:cxnLst>
              <a:rect l="0" t="0" r="r" b="b"/>
              <a:pathLst>
                <a:path w="864" h="150">
                  <a:moveTo>
                    <a:pt x="0" y="0"/>
                  </a:moveTo>
                  <a:lnTo>
                    <a:pt x="864" y="0"/>
                  </a:lnTo>
                  <a:lnTo>
                    <a:pt x="862" y="150"/>
                  </a:lnTo>
                </a:path>
              </a:pathLst>
            </a:custGeom>
            <a:noFill/>
            <a:ln w="28575" cmpd="sng">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Text Box 21"/>
            <p:cNvSpPr txBox="1">
              <a:spLocks noChangeArrowheads="1"/>
            </p:cNvSpPr>
            <p:nvPr/>
          </p:nvSpPr>
          <p:spPr bwMode="auto">
            <a:xfrm>
              <a:off x="3068" y="148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是</a:t>
              </a:r>
            </a:p>
          </p:txBody>
        </p:sp>
      </p:grpSp>
      <p:grpSp>
        <p:nvGrpSpPr>
          <p:cNvPr id="115" name="Group 22"/>
          <p:cNvGrpSpPr>
            <a:grpSpLocks/>
          </p:cNvGrpSpPr>
          <p:nvPr/>
        </p:nvGrpSpPr>
        <p:grpSpPr bwMode="auto">
          <a:xfrm>
            <a:off x="4794250" y="5224612"/>
            <a:ext cx="1371600" cy="625475"/>
            <a:chOff x="3020" y="2918"/>
            <a:chExt cx="864" cy="394"/>
          </a:xfrm>
        </p:grpSpPr>
        <p:sp>
          <p:nvSpPr>
            <p:cNvPr id="116" name="Freeform 23"/>
            <p:cNvSpPr>
              <a:spLocks/>
            </p:cNvSpPr>
            <p:nvPr/>
          </p:nvSpPr>
          <p:spPr bwMode="auto">
            <a:xfrm>
              <a:off x="3020" y="3161"/>
              <a:ext cx="864" cy="151"/>
            </a:xfrm>
            <a:custGeom>
              <a:avLst/>
              <a:gdLst>
                <a:gd name="T0" fmla="*/ 0 w 864"/>
                <a:gd name="T1" fmla="*/ 0 h 151"/>
                <a:gd name="T2" fmla="*/ 864 w 864"/>
                <a:gd name="T3" fmla="*/ 0 h 151"/>
                <a:gd name="T4" fmla="*/ 862 w 864"/>
                <a:gd name="T5" fmla="*/ 151 h 151"/>
              </a:gdLst>
              <a:ahLst/>
              <a:cxnLst>
                <a:cxn ang="0">
                  <a:pos x="T0" y="T1"/>
                </a:cxn>
                <a:cxn ang="0">
                  <a:pos x="T2" y="T3"/>
                </a:cxn>
                <a:cxn ang="0">
                  <a:pos x="T4" y="T5"/>
                </a:cxn>
              </a:cxnLst>
              <a:rect l="0" t="0" r="r" b="b"/>
              <a:pathLst>
                <a:path w="864" h="151">
                  <a:moveTo>
                    <a:pt x="0" y="0"/>
                  </a:moveTo>
                  <a:lnTo>
                    <a:pt x="864" y="0"/>
                  </a:lnTo>
                  <a:lnTo>
                    <a:pt x="862" y="151"/>
                  </a:lnTo>
                </a:path>
              </a:pathLst>
            </a:custGeom>
            <a:noFill/>
            <a:ln w="28575" cmpd="sng">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 name="Text Box 24"/>
            <p:cNvSpPr txBox="1">
              <a:spLocks noChangeArrowheads="1"/>
            </p:cNvSpPr>
            <p:nvPr/>
          </p:nvSpPr>
          <p:spPr bwMode="auto">
            <a:xfrm>
              <a:off x="3068" y="291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是</a:t>
              </a:r>
            </a:p>
          </p:txBody>
        </p:sp>
      </p:grpSp>
      <p:grpSp>
        <p:nvGrpSpPr>
          <p:cNvPr id="118" name="Group 25"/>
          <p:cNvGrpSpPr>
            <a:grpSpLocks/>
          </p:cNvGrpSpPr>
          <p:nvPr/>
        </p:nvGrpSpPr>
        <p:grpSpPr bwMode="auto">
          <a:xfrm>
            <a:off x="3803650" y="3713312"/>
            <a:ext cx="498475" cy="765175"/>
            <a:chOff x="2396" y="1966"/>
            <a:chExt cx="314" cy="482"/>
          </a:xfrm>
        </p:grpSpPr>
        <p:sp>
          <p:nvSpPr>
            <p:cNvPr id="119" name="Freeform 26"/>
            <p:cNvSpPr>
              <a:spLocks/>
            </p:cNvSpPr>
            <p:nvPr/>
          </p:nvSpPr>
          <p:spPr bwMode="auto">
            <a:xfrm>
              <a:off x="2396" y="1983"/>
              <a:ext cx="1" cy="465"/>
            </a:xfrm>
            <a:custGeom>
              <a:avLst/>
              <a:gdLst>
                <a:gd name="T0" fmla="*/ 0 w 1"/>
                <a:gd name="T1" fmla="*/ 0 h 465"/>
                <a:gd name="T2" fmla="*/ 1 w 1"/>
                <a:gd name="T3" fmla="*/ 465 h 465"/>
              </a:gdLst>
              <a:ahLst/>
              <a:cxnLst>
                <a:cxn ang="0">
                  <a:pos x="T0" y="T1"/>
                </a:cxn>
                <a:cxn ang="0">
                  <a:pos x="T2" y="T3"/>
                </a:cxn>
              </a:cxnLst>
              <a:rect l="0" t="0" r="r" b="b"/>
              <a:pathLst>
                <a:path w="1" h="465">
                  <a:moveTo>
                    <a:pt x="0" y="0"/>
                  </a:moveTo>
                  <a:lnTo>
                    <a:pt x="1" y="465"/>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0" name="Text Box 27"/>
            <p:cNvSpPr txBox="1">
              <a:spLocks noChangeArrowheads="1"/>
            </p:cNvSpPr>
            <p:nvPr/>
          </p:nvSpPr>
          <p:spPr bwMode="auto">
            <a:xfrm>
              <a:off x="2434" y="1966"/>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否</a:t>
              </a:r>
            </a:p>
          </p:txBody>
        </p:sp>
      </p:grpSp>
      <p:grpSp>
        <p:nvGrpSpPr>
          <p:cNvPr id="121" name="Group 28"/>
          <p:cNvGrpSpPr>
            <a:grpSpLocks/>
          </p:cNvGrpSpPr>
          <p:nvPr/>
        </p:nvGrpSpPr>
        <p:grpSpPr bwMode="auto">
          <a:xfrm>
            <a:off x="3803650" y="6297762"/>
            <a:ext cx="2362200" cy="238125"/>
            <a:chOff x="2396" y="3594"/>
            <a:chExt cx="1488" cy="150"/>
          </a:xfrm>
        </p:grpSpPr>
        <p:sp>
          <p:nvSpPr>
            <p:cNvPr id="122" name="Freeform 29"/>
            <p:cNvSpPr>
              <a:spLocks/>
            </p:cNvSpPr>
            <p:nvPr/>
          </p:nvSpPr>
          <p:spPr bwMode="auto">
            <a:xfrm>
              <a:off x="3882" y="3594"/>
              <a:ext cx="2" cy="150"/>
            </a:xfrm>
            <a:custGeom>
              <a:avLst/>
              <a:gdLst>
                <a:gd name="T0" fmla="*/ 0 w 2"/>
                <a:gd name="T1" fmla="*/ 0 h 150"/>
                <a:gd name="T2" fmla="*/ 2 w 2"/>
                <a:gd name="T3" fmla="*/ 150 h 150"/>
              </a:gdLst>
              <a:ahLst/>
              <a:cxnLst>
                <a:cxn ang="0">
                  <a:pos x="T0" y="T1"/>
                </a:cxn>
                <a:cxn ang="0">
                  <a:pos x="T2" y="T3"/>
                </a:cxn>
              </a:cxnLst>
              <a:rect l="0" t="0" r="r" b="b"/>
              <a:pathLst>
                <a:path w="2" h="150">
                  <a:moveTo>
                    <a:pt x="0" y="0"/>
                  </a:moveTo>
                  <a:lnTo>
                    <a:pt x="2" y="150"/>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 name="Line 30"/>
            <p:cNvSpPr>
              <a:spLocks noChangeShapeType="1"/>
            </p:cNvSpPr>
            <p:nvPr/>
          </p:nvSpPr>
          <p:spPr bwMode="auto">
            <a:xfrm flipH="1">
              <a:off x="2396" y="3737"/>
              <a:ext cx="1488"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24" name="Group 31"/>
          <p:cNvGrpSpPr>
            <a:grpSpLocks/>
          </p:cNvGrpSpPr>
          <p:nvPr/>
        </p:nvGrpSpPr>
        <p:grpSpPr bwMode="auto">
          <a:xfrm>
            <a:off x="2508250" y="1963887"/>
            <a:ext cx="1809750" cy="4595813"/>
            <a:chOff x="1580" y="864"/>
            <a:chExt cx="1140" cy="2895"/>
          </a:xfrm>
        </p:grpSpPr>
        <p:grpSp>
          <p:nvGrpSpPr>
            <p:cNvPr id="125" name="Group 32"/>
            <p:cNvGrpSpPr>
              <a:grpSpLocks/>
            </p:cNvGrpSpPr>
            <p:nvPr/>
          </p:nvGrpSpPr>
          <p:grpSpPr bwMode="auto">
            <a:xfrm>
              <a:off x="1580" y="864"/>
              <a:ext cx="817" cy="2895"/>
              <a:chOff x="1580" y="864"/>
              <a:chExt cx="817" cy="2895"/>
            </a:xfrm>
          </p:grpSpPr>
          <p:sp>
            <p:nvSpPr>
              <p:cNvPr id="127" name="Freeform 33"/>
              <p:cNvSpPr>
                <a:spLocks/>
              </p:cNvSpPr>
              <p:nvPr/>
            </p:nvSpPr>
            <p:spPr bwMode="auto">
              <a:xfrm>
                <a:off x="2396" y="3408"/>
                <a:ext cx="1" cy="351"/>
              </a:xfrm>
              <a:custGeom>
                <a:avLst/>
                <a:gdLst>
                  <a:gd name="T0" fmla="*/ 0 w 1"/>
                  <a:gd name="T1" fmla="*/ 0 h 216"/>
                  <a:gd name="T2" fmla="*/ 1 w 1"/>
                  <a:gd name="T3" fmla="*/ 216 h 216"/>
                </a:gdLst>
                <a:ahLst/>
                <a:cxnLst>
                  <a:cxn ang="0">
                    <a:pos x="T0" y="T1"/>
                  </a:cxn>
                  <a:cxn ang="0">
                    <a:pos x="T2" y="T3"/>
                  </a:cxn>
                </a:cxnLst>
                <a:rect l="0" t="0" r="r" b="b"/>
                <a:pathLst>
                  <a:path w="1" h="216">
                    <a:moveTo>
                      <a:pt x="0" y="0"/>
                    </a:moveTo>
                    <a:lnTo>
                      <a:pt x="1" y="216"/>
                    </a:lnTo>
                  </a:path>
                </a:pathLst>
              </a:custGeom>
              <a:noFill/>
              <a:ln w="28575"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8" name="Freeform 34"/>
              <p:cNvSpPr>
                <a:spLocks/>
              </p:cNvSpPr>
              <p:nvPr/>
            </p:nvSpPr>
            <p:spPr bwMode="auto">
              <a:xfrm>
                <a:off x="1580" y="864"/>
                <a:ext cx="816" cy="2880"/>
              </a:xfrm>
              <a:custGeom>
                <a:avLst/>
                <a:gdLst>
                  <a:gd name="T0" fmla="*/ 816 w 816"/>
                  <a:gd name="T1" fmla="*/ 2832 h 2832"/>
                  <a:gd name="T2" fmla="*/ 0 w 816"/>
                  <a:gd name="T3" fmla="*/ 2832 h 2832"/>
                  <a:gd name="T4" fmla="*/ 0 w 816"/>
                  <a:gd name="T5" fmla="*/ 0 h 2832"/>
                  <a:gd name="T6" fmla="*/ 816 w 816"/>
                  <a:gd name="T7" fmla="*/ 0 h 2832"/>
                </a:gdLst>
                <a:ahLst/>
                <a:cxnLst>
                  <a:cxn ang="0">
                    <a:pos x="T0" y="T1"/>
                  </a:cxn>
                  <a:cxn ang="0">
                    <a:pos x="T2" y="T3"/>
                  </a:cxn>
                  <a:cxn ang="0">
                    <a:pos x="T4" y="T5"/>
                  </a:cxn>
                  <a:cxn ang="0">
                    <a:pos x="T6" y="T7"/>
                  </a:cxn>
                </a:cxnLst>
                <a:rect l="0" t="0" r="r" b="b"/>
                <a:pathLst>
                  <a:path w="816" h="2832">
                    <a:moveTo>
                      <a:pt x="816" y="2832"/>
                    </a:moveTo>
                    <a:lnTo>
                      <a:pt x="0" y="2832"/>
                    </a:lnTo>
                    <a:lnTo>
                      <a:pt x="0" y="0"/>
                    </a:lnTo>
                    <a:lnTo>
                      <a:pt x="816" y="0"/>
                    </a:lnTo>
                  </a:path>
                </a:pathLst>
              </a:custGeom>
              <a:noFill/>
              <a:ln w="28575" cmpd="sng">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6" name="Text Box 35"/>
            <p:cNvSpPr txBox="1">
              <a:spLocks noChangeArrowheads="1"/>
            </p:cNvSpPr>
            <p:nvPr/>
          </p:nvSpPr>
          <p:spPr bwMode="auto">
            <a:xfrm>
              <a:off x="2444" y="339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否</a:t>
              </a:r>
            </a:p>
          </p:txBody>
        </p:sp>
      </p:grpSp>
    </p:spTree>
    <p:extLst>
      <p:ext uri="{BB962C8B-B14F-4D97-AF65-F5344CB8AC3E}">
        <p14:creationId xmlns:p14="http://schemas.microsoft.com/office/powerpoint/2010/main" val="385809589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slide(fromTop)">
                                      <p:cBhvr>
                                        <p:cTn id="7" dur="5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barn(outVertical)">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slide(fromTop)">
                                      <p:cBhvr>
                                        <p:cTn id="17" dur="500"/>
                                        <p:tgtEl>
                                          <p:spTgt spid="10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barn(outVertical)">
                                      <p:cBhvr>
                                        <p:cTn id="22" dur="500"/>
                                        <p:tgtEl>
                                          <p:spTgt spid="9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strips(downRight)">
                                      <p:cBhvr>
                                        <p:cTn id="27" dur="500"/>
                                        <p:tgtEl>
                                          <p:spTgt spid="11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104"/>
                                        </p:tgtEl>
                                        <p:attrNameLst>
                                          <p:attrName>style.visibility</p:attrName>
                                        </p:attrNameLst>
                                      </p:cBhvr>
                                      <p:to>
                                        <p:strVal val="visible"/>
                                      </p:to>
                                    </p:set>
                                    <p:animEffect transition="in" filter="barn(outVertical)">
                                      <p:cBhvr>
                                        <p:cTn id="32" dur="500"/>
                                        <p:tgtEl>
                                          <p:spTgt spid="10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strips(downLeft)">
                                      <p:cBhvr>
                                        <p:cTn id="37" dur="500"/>
                                        <p:tgtEl>
                                          <p:spTgt spid="10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118"/>
                                        </p:tgtEl>
                                        <p:attrNameLst>
                                          <p:attrName>style.visibility</p:attrName>
                                        </p:attrNameLst>
                                      </p:cBhvr>
                                      <p:to>
                                        <p:strVal val="visible"/>
                                      </p:to>
                                    </p:set>
                                    <p:animEffect transition="in" filter="slide(fromTop)">
                                      <p:cBhvr>
                                        <p:cTn id="42" dur="500"/>
                                        <p:tgtEl>
                                          <p:spTgt spid="11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barn(outVertical)">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childTnLst>
                                    <p:set>
                                      <p:cBhvr>
                                        <p:cTn id="51" dur="1" fill="hold">
                                          <p:stCondLst>
                                            <p:cond delay="0"/>
                                          </p:stCondLst>
                                        </p:cTn>
                                        <p:tgtEl>
                                          <p:spTgt spid="108"/>
                                        </p:tgtEl>
                                        <p:attrNameLst>
                                          <p:attrName>style.visibility</p:attrName>
                                        </p:attrNameLst>
                                      </p:cBhvr>
                                      <p:to>
                                        <p:strVal val="visible"/>
                                      </p:to>
                                    </p:set>
                                    <p:animEffect transition="in" filter="slide(fromTop)">
                                      <p:cBhvr>
                                        <p:cTn id="52" dur="500"/>
                                        <p:tgtEl>
                                          <p:spTgt spid="108"/>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nodeType="clickEffect">
                                  <p:stCondLst>
                                    <p:cond delay="0"/>
                                  </p:stCondLst>
                                  <p:childTnLst>
                                    <p:set>
                                      <p:cBhvr>
                                        <p:cTn id="56" dur="1" fill="hold">
                                          <p:stCondLst>
                                            <p:cond delay="0"/>
                                          </p:stCondLst>
                                        </p:cTn>
                                        <p:tgtEl>
                                          <p:spTgt spid="101"/>
                                        </p:tgtEl>
                                        <p:attrNameLst>
                                          <p:attrName>style.visibility</p:attrName>
                                        </p:attrNameLst>
                                      </p:cBhvr>
                                      <p:to>
                                        <p:strVal val="visible"/>
                                      </p:to>
                                    </p:set>
                                    <p:animEffect transition="in" filter="barn(outVertical)">
                                      <p:cBhvr>
                                        <p:cTn id="57" dur="500"/>
                                        <p:tgtEl>
                                          <p:spTgt spid="101"/>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nodeType="click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strips(downRight)">
                                      <p:cBhvr>
                                        <p:cTn id="62" dur="500"/>
                                        <p:tgtEl>
                                          <p:spTgt spid="115"/>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37" fill="hold" grpId="0" nodeType="clickEffect">
                                  <p:stCondLst>
                                    <p:cond delay="0"/>
                                  </p:stCondLst>
                                  <p:childTnLst>
                                    <p:set>
                                      <p:cBhvr>
                                        <p:cTn id="66" dur="1" fill="hold">
                                          <p:stCondLst>
                                            <p:cond delay="0"/>
                                          </p:stCondLst>
                                        </p:cTn>
                                        <p:tgtEl>
                                          <p:spTgt spid="105"/>
                                        </p:tgtEl>
                                        <p:attrNameLst>
                                          <p:attrName>style.visibility</p:attrName>
                                        </p:attrNameLst>
                                      </p:cBhvr>
                                      <p:to>
                                        <p:strVal val="visible"/>
                                      </p:to>
                                    </p:set>
                                    <p:animEffect transition="in" filter="barn(outVertical)">
                                      <p:cBhvr>
                                        <p:cTn id="67" dur="500"/>
                                        <p:tgtEl>
                                          <p:spTgt spid="105"/>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121"/>
                                        </p:tgtEl>
                                        <p:attrNameLst>
                                          <p:attrName>style.visibility</p:attrName>
                                        </p:attrNameLst>
                                      </p:cBhvr>
                                      <p:to>
                                        <p:strVal val="visible"/>
                                      </p:to>
                                    </p:set>
                                    <p:animEffect transition="in" filter="strips(downLeft)">
                                      <p:cBhvr>
                                        <p:cTn id="72" dur="500"/>
                                        <p:tgtEl>
                                          <p:spTgt spid="121"/>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9" fill="hold" nodeType="clickEffect">
                                  <p:stCondLst>
                                    <p:cond delay="0"/>
                                  </p:stCondLst>
                                  <p:childTnLst>
                                    <p:set>
                                      <p:cBhvr>
                                        <p:cTn id="76" dur="1" fill="hold">
                                          <p:stCondLst>
                                            <p:cond delay="0"/>
                                          </p:stCondLst>
                                        </p:cTn>
                                        <p:tgtEl>
                                          <p:spTgt spid="124"/>
                                        </p:tgtEl>
                                        <p:attrNameLst>
                                          <p:attrName>style.visibility</p:attrName>
                                        </p:attrNameLst>
                                      </p:cBhvr>
                                      <p:to>
                                        <p:strVal val="visible"/>
                                      </p:to>
                                    </p:set>
                                    <p:animEffect transition="in" filter="strips(upLeft)">
                                      <p:cBhvr>
                                        <p:cTn id="7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autoUpdateAnimBg="0"/>
      <p:bldP spid="97" grpId="0" animBg="1" autoUpdateAnimBg="0"/>
      <p:bldP spid="104" grpId="0" animBg="1" autoUpdateAnimBg="0"/>
      <p:bldP spid="105" grpId="0" animBg="1" autoUpdateAnimBg="0"/>
      <p:bldP spid="106" grpId="0" animBg="1"/>
      <p:bldP spid="107" grpId="0" animBg="1"/>
      <p:bldP spid="10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969385"/>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769649" y="1326590"/>
            <a:ext cx="571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6.  CPU</a:t>
            </a:r>
            <a:r>
              <a:rPr kumimoji="1" lang="zh-CN" altLang="en-US" b="1" dirty="0">
                <a:latin typeface="Times New Roman" pitchFamily="18" charset="0"/>
              </a:rPr>
              <a:t>工作周期的标志</a:t>
            </a:r>
          </a:p>
        </p:txBody>
      </p:sp>
      <p:sp>
        <p:nvSpPr>
          <p:cNvPr id="38" name="Text Box 3"/>
          <p:cNvSpPr txBox="1">
            <a:spLocks noChangeArrowheads="1"/>
          </p:cNvSpPr>
          <p:nvPr/>
        </p:nvSpPr>
        <p:spPr bwMode="auto">
          <a:xfrm>
            <a:off x="1219200" y="1785221"/>
            <a:ext cx="533400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latin typeface="Times New Roman" pitchFamily="18" charset="0"/>
              </a:rPr>
              <a:t>CPU </a:t>
            </a:r>
            <a:r>
              <a:rPr kumimoji="1" lang="zh-CN" altLang="en-US" b="1" dirty="0">
                <a:latin typeface="Times New Roman" pitchFamily="18" charset="0"/>
              </a:rPr>
              <a:t>访存有四种性质</a:t>
            </a:r>
          </a:p>
        </p:txBody>
      </p:sp>
      <p:sp>
        <p:nvSpPr>
          <p:cNvPr id="39" name="Text Box 4"/>
          <p:cNvSpPr txBox="1">
            <a:spLocks noChangeArrowheads="1"/>
          </p:cNvSpPr>
          <p:nvPr/>
        </p:nvSpPr>
        <p:spPr bwMode="auto">
          <a:xfrm>
            <a:off x="1981200" y="2244440"/>
            <a:ext cx="22098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C00000"/>
                </a:solidFill>
                <a:latin typeface="Times New Roman" pitchFamily="18" charset="0"/>
              </a:rPr>
              <a:t>取</a:t>
            </a:r>
            <a:r>
              <a:rPr kumimoji="1" lang="zh-CN" altLang="en-US" sz="2400" b="1" dirty="0">
                <a:latin typeface="Times New Roman" pitchFamily="18" charset="0"/>
              </a:rPr>
              <a:t>  指令</a:t>
            </a:r>
          </a:p>
        </p:txBody>
      </p:sp>
      <p:sp>
        <p:nvSpPr>
          <p:cNvPr id="40" name="Text Box 5"/>
          <p:cNvSpPr txBox="1">
            <a:spLocks noChangeArrowheads="1"/>
          </p:cNvSpPr>
          <p:nvPr/>
        </p:nvSpPr>
        <p:spPr bwMode="auto">
          <a:xfrm>
            <a:off x="1981200" y="2800930"/>
            <a:ext cx="2230438"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C00000"/>
                </a:solidFill>
                <a:latin typeface="Times New Roman" pitchFamily="18" charset="0"/>
              </a:rPr>
              <a:t>取</a:t>
            </a:r>
            <a:r>
              <a:rPr kumimoji="1" lang="zh-CN" altLang="en-US" sz="2400" b="1" dirty="0">
                <a:latin typeface="Times New Roman" pitchFamily="18" charset="0"/>
              </a:rPr>
              <a:t>  有效地址</a:t>
            </a:r>
          </a:p>
        </p:txBody>
      </p:sp>
      <p:sp>
        <p:nvSpPr>
          <p:cNvPr id="41" name="Text Box 6"/>
          <p:cNvSpPr txBox="1">
            <a:spLocks noChangeArrowheads="1"/>
          </p:cNvSpPr>
          <p:nvPr/>
        </p:nvSpPr>
        <p:spPr bwMode="auto">
          <a:xfrm>
            <a:off x="1981200" y="3430157"/>
            <a:ext cx="22098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C00000"/>
                </a:solidFill>
                <a:latin typeface="Times New Roman" pitchFamily="18" charset="0"/>
              </a:rPr>
              <a:t>取</a:t>
            </a:r>
            <a:r>
              <a:rPr kumimoji="1" lang="zh-CN" altLang="en-US" sz="2400" b="1" dirty="0">
                <a:latin typeface="Times New Roman" pitchFamily="18" charset="0"/>
              </a:rPr>
              <a:t>  操作数</a:t>
            </a:r>
          </a:p>
        </p:txBody>
      </p:sp>
      <p:sp>
        <p:nvSpPr>
          <p:cNvPr id="42" name="Text Box 7"/>
          <p:cNvSpPr txBox="1">
            <a:spLocks noChangeArrowheads="1"/>
          </p:cNvSpPr>
          <p:nvPr/>
        </p:nvSpPr>
        <p:spPr bwMode="auto">
          <a:xfrm>
            <a:off x="1981200" y="4059384"/>
            <a:ext cx="220980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C00000"/>
                </a:solidFill>
                <a:latin typeface="Times New Roman" pitchFamily="18" charset="0"/>
              </a:rPr>
              <a:t>存</a:t>
            </a:r>
            <a:r>
              <a:rPr kumimoji="1" lang="zh-CN" altLang="en-US" sz="2400" b="1" dirty="0">
                <a:latin typeface="Times New Roman" pitchFamily="18" charset="0"/>
              </a:rPr>
              <a:t>  程序断点</a:t>
            </a:r>
          </a:p>
        </p:txBody>
      </p:sp>
      <p:sp>
        <p:nvSpPr>
          <p:cNvPr id="43" name="Text Box 8"/>
          <p:cNvSpPr txBox="1">
            <a:spLocks noChangeArrowheads="1"/>
          </p:cNvSpPr>
          <p:nvPr/>
        </p:nvSpPr>
        <p:spPr bwMode="auto">
          <a:xfrm>
            <a:off x="4495800" y="224444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取指周期</a:t>
            </a:r>
          </a:p>
        </p:txBody>
      </p:sp>
      <p:sp>
        <p:nvSpPr>
          <p:cNvPr id="44" name="Text Box 9"/>
          <p:cNvSpPr txBox="1">
            <a:spLocks noChangeArrowheads="1"/>
          </p:cNvSpPr>
          <p:nvPr/>
        </p:nvSpPr>
        <p:spPr bwMode="auto">
          <a:xfrm>
            <a:off x="4495800" y="280093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间址周期</a:t>
            </a:r>
          </a:p>
        </p:txBody>
      </p:sp>
      <p:sp>
        <p:nvSpPr>
          <p:cNvPr id="45" name="Text Box 10"/>
          <p:cNvSpPr txBox="1">
            <a:spLocks noChangeArrowheads="1"/>
          </p:cNvSpPr>
          <p:nvPr/>
        </p:nvSpPr>
        <p:spPr bwMode="auto">
          <a:xfrm>
            <a:off x="4495800" y="3430157"/>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执行周期</a:t>
            </a:r>
          </a:p>
        </p:txBody>
      </p:sp>
      <p:sp>
        <p:nvSpPr>
          <p:cNvPr id="46" name="Text Box 11"/>
          <p:cNvSpPr txBox="1">
            <a:spLocks noChangeArrowheads="1"/>
          </p:cNvSpPr>
          <p:nvPr/>
        </p:nvSpPr>
        <p:spPr bwMode="auto">
          <a:xfrm>
            <a:off x="4495800" y="4059384"/>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中断周期</a:t>
            </a:r>
          </a:p>
        </p:txBody>
      </p:sp>
      <p:grpSp>
        <p:nvGrpSpPr>
          <p:cNvPr id="47" name="Group 12"/>
          <p:cNvGrpSpPr>
            <a:grpSpLocks/>
          </p:cNvGrpSpPr>
          <p:nvPr/>
        </p:nvGrpSpPr>
        <p:grpSpPr bwMode="auto">
          <a:xfrm>
            <a:off x="1050925" y="4781262"/>
            <a:ext cx="6391275" cy="1657350"/>
            <a:chOff x="662" y="2966"/>
            <a:chExt cx="4026" cy="1044"/>
          </a:xfrm>
        </p:grpSpPr>
        <p:sp>
          <p:nvSpPr>
            <p:cNvPr id="48" name="Text Box 13"/>
            <p:cNvSpPr txBox="1">
              <a:spLocks noChangeArrowheads="1"/>
            </p:cNvSpPr>
            <p:nvPr/>
          </p:nvSpPr>
          <p:spPr bwMode="auto">
            <a:xfrm>
              <a:off x="1526" y="2992"/>
              <a:ext cx="36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Times New Roman" pitchFamily="18" charset="0"/>
                </a:rPr>
                <a:t>FE</a:t>
              </a:r>
            </a:p>
          </p:txBody>
        </p:sp>
        <p:sp>
          <p:nvSpPr>
            <p:cNvPr id="49" name="Rectangle 14"/>
            <p:cNvSpPr>
              <a:spLocks noChangeArrowheads="1"/>
            </p:cNvSpPr>
            <p:nvPr/>
          </p:nvSpPr>
          <p:spPr bwMode="auto">
            <a:xfrm>
              <a:off x="1440" y="2966"/>
              <a:ext cx="528"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0" name="Text Box 15"/>
            <p:cNvSpPr txBox="1">
              <a:spLocks noChangeArrowheads="1"/>
            </p:cNvSpPr>
            <p:nvPr/>
          </p:nvSpPr>
          <p:spPr bwMode="auto">
            <a:xfrm>
              <a:off x="1440" y="3164"/>
              <a:ext cx="23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D</a:t>
              </a:r>
            </a:p>
          </p:txBody>
        </p:sp>
        <p:sp>
          <p:nvSpPr>
            <p:cNvPr id="51" name="AutoShape 16"/>
            <p:cNvSpPr>
              <a:spLocks noChangeArrowheads="1"/>
            </p:cNvSpPr>
            <p:nvPr/>
          </p:nvSpPr>
          <p:spPr bwMode="auto">
            <a:xfrm>
              <a:off x="1776" y="3302"/>
              <a:ext cx="96" cy="96"/>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 name="Line 17"/>
            <p:cNvSpPr>
              <a:spLocks noChangeShapeType="1"/>
            </p:cNvSpPr>
            <p:nvPr/>
          </p:nvSpPr>
          <p:spPr bwMode="auto">
            <a:xfrm>
              <a:off x="1536" y="339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3" name="Text Box 18"/>
            <p:cNvSpPr txBox="1">
              <a:spLocks noChangeArrowheads="1"/>
            </p:cNvSpPr>
            <p:nvPr/>
          </p:nvSpPr>
          <p:spPr bwMode="auto">
            <a:xfrm>
              <a:off x="2352" y="2992"/>
              <a:ext cx="47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Times New Roman" pitchFamily="18" charset="0"/>
                </a:rPr>
                <a:t>IND</a:t>
              </a:r>
            </a:p>
          </p:txBody>
        </p:sp>
        <p:sp>
          <p:nvSpPr>
            <p:cNvPr id="54" name="Rectangle 19"/>
            <p:cNvSpPr>
              <a:spLocks noChangeArrowheads="1"/>
            </p:cNvSpPr>
            <p:nvPr/>
          </p:nvSpPr>
          <p:spPr bwMode="auto">
            <a:xfrm>
              <a:off x="2304" y="2966"/>
              <a:ext cx="528"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 name="Text Box 20"/>
            <p:cNvSpPr txBox="1">
              <a:spLocks noChangeArrowheads="1"/>
            </p:cNvSpPr>
            <p:nvPr/>
          </p:nvSpPr>
          <p:spPr bwMode="auto">
            <a:xfrm>
              <a:off x="2304" y="3161"/>
              <a:ext cx="23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D</a:t>
              </a:r>
            </a:p>
          </p:txBody>
        </p:sp>
        <p:sp>
          <p:nvSpPr>
            <p:cNvPr id="56" name="AutoShape 21"/>
            <p:cNvSpPr>
              <a:spLocks noChangeArrowheads="1"/>
            </p:cNvSpPr>
            <p:nvPr/>
          </p:nvSpPr>
          <p:spPr bwMode="auto">
            <a:xfrm>
              <a:off x="2640" y="3302"/>
              <a:ext cx="96" cy="96"/>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 name="Line 22"/>
            <p:cNvSpPr>
              <a:spLocks noChangeShapeType="1"/>
            </p:cNvSpPr>
            <p:nvPr/>
          </p:nvSpPr>
          <p:spPr bwMode="auto">
            <a:xfrm>
              <a:off x="2400" y="339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8" name="Line 23"/>
            <p:cNvSpPr>
              <a:spLocks noChangeShapeType="1"/>
            </p:cNvSpPr>
            <p:nvPr/>
          </p:nvSpPr>
          <p:spPr bwMode="auto">
            <a:xfrm>
              <a:off x="3264" y="339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9" name="Text Box 24"/>
            <p:cNvSpPr txBox="1">
              <a:spLocks noChangeArrowheads="1"/>
            </p:cNvSpPr>
            <p:nvPr/>
          </p:nvSpPr>
          <p:spPr bwMode="auto">
            <a:xfrm>
              <a:off x="4128" y="2992"/>
              <a:ext cx="46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Times New Roman" pitchFamily="18" charset="0"/>
                </a:rPr>
                <a:t>INT</a:t>
              </a:r>
            </a:p>
          </p:txBody>
        </p:sp>
        <p:sp>
          <p:nvSpPr>
            <p:cNvPr id="60" name="Rectangle 25"/>
            <p:cNvSpPr>
              <a:spLocks noChangeArrowheads="1"/>
            </p:cNvSpPr>
            <p:nvPr/>
          </p:nvSpPr>
          <p:spPr bwMode="auto">
            <a:xfrm>
              <a:off x="4080" y="2966"/>
              <a:ext cx="528"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1" name="Text Box 26"/>
            <p:cNvSpPr txBox="1">
              <a:spLocks noChangeArrowheads="1"/>
            </p:cNvSpPr>
            <p:nvPr/>
          </p:nvSpPr>
          <p:spPr bwMode="auto">
            <a:xfrm>
              <a:off x="4080" y="3164"/>
              <a:ext cx="23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D</a:t>
              </a:r>
            </a:p>
          </p:txBody>
        </p:sp>
        <p:sp>
          <p:nvSpPr>
            <p:cNvPr id="62" name="AutoShape 27"/>
            <p:cNvSpPr>
              <a:spLocks noChangeArrowheads="1"/>
            </p:cNvSpPr>
            <p:nvPr/>
          </p:nvSpPr>
          <p:spPr bwMode="auto">
            <a:xfrm>
              <a:off x="4416" y="3302"/>
              <a:ext cx="96" cy="96"/>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3" name="Line 28"/>
            <p:cNvSpPr>
              <a:spLocks noChangeShapeType="1"/>
            </p:cNvSpPr>
            <p:nvPr/>
          </p:nvSpPr>
          <p:spPr bwMode="auto">
            <a:xfrm>
              <a:off x="4176" y="339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4" name="Freeform 29"/>
            <p:cNvSpPr>
              <a:spLocks/>
            </p:cNvSpPr>
            <p:nvPr/>
          </p:nvSpPr>
          <p:spPr bwMode="auto">
            <a:xfrm>
              <a:off x="1125" y="3635"/>
              <a:ext cx="3345" cy="3"/>
            </a:xfrm>
            <a:custGeom>
              <a:avLst/>
              <a:gdLst>
                <a:gd name="T0" fmla="*/ 0 w 3345"/>
                <a:gd name="T1" fmla="*/ 3 h 3"/>
                <a:gd name="T2" fmla="*/ 3345 w 3345"/>
                <a:gd name="T3" fmla="*/ 0 h 3"/>
              </a:gdLst>
              <a:ahLst/>
              <a:cxnLst>
                <a:cxn ang="0">
                  <a:pos x="T0" y="T1"/>
                </a:cxn>
                <a:cxn ang="0">
                  <a:pos x="T2" y="T3"/>
                </a:cxn>
              </a:cxnLst>
              <a:rect l="0" t="0" r="r" b="b"/>
              <a:pathLst>
                <a:path w="3345" h="3">
                  <a:moveTo>
                    <a:pt x="0" y="3"/>
                  </a:moveTo>
                  <a:lnTo>
                    <a:pt x="3345"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 name="Line 30"/>
            <p:cNvSpPr>
              <a:spLocks noChangeShapeType="1"/>
            </p:cNvSpPr>
            <p:nvPr/>
          </p:nvSpPr>
          <p:spPr bwMode="auto">
            <a:xfrm>
              <a:off x="4464" y="3398"/>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 name="Line 31"/>
            <p:cNvSpPr>
              <a:spLocks noChangeShapeType="1"/>
            </p:cNvSpPr>
            <p:nvPr/>
          </p:nvSpPr>
          <p:spPr bwMode="auto">
            <a:xfrm>
              <a:off x="3552" y="3398"/>
              <a:ext cx="0" cy="240"/>
            </a:xfrm>
            <a:prstGeom prst="line">
              <a:avLst/>
            </a:prstGeom>
            <a:noFill/>
            <a:ln w="2857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Line 32"/>
            <p:cNvSpPr>
              <a:spLocks noChangeShapeType="1"/>
            </p:cNvSpPr>
            <p:nvPr/>
          </p:nvSpPr>
          <p:spPr bwMode="auto">
            <a:xfrm>
              <a:off x="2688" y="3398"/>
              <a:ext cx="0" cy="240"/>
            </a:xfrm>
            <a:prstGeom prst="line">
              <a:avLst/>
            </a:prstGeom>
            <a:noFill/>
            <a:ln w="2857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Line 33"/>
            <p:cNvSpPr>
              <a:spLocks noChangeShapeType="1"/>
            </p:cNvSpPr>
            <p:nvPr/>
          </p:nvSpPr>
          <p:spPr bwMode="auto">
            <a:xfrm>
              <a:off x="1824" y="3398"/>
              <a:ext cx="0" cy="240"/>
            </a:xfrm>
            <a:prstGeom prst="line">
              <a:avLst/>
            </a:prstGeom>
            <a:noFill/>
            <a:ln w="28575">
              <a:solidFill>
                <a:schemeClr val="tx1"/>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9" name="Text Box 34"/>
            <p:cNvSpPr txBox="1">
              <a:spLocks noChangeArrowheads="1"/>
            </p:cNvSpPr>
            <p:nvPr/>
          </p:nvSpPr>
          <p:spPr bwMode="auto">
            <a:xfrm>
              <a:off x="662" y="3489"/>
              <a:ext cx="4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CLK</a:t>
              </a:r>
            </a:p>
          </p:txBody>
        </p:sp>
        <p:sp>
          <p:nvSpPr>
            <p:cNvPr id="70" name="Line 35"/>
            <p:cNvSpPr>
              <a:spLocks noChangeShapeType="1"/>
            </p:cNvSpPr>
            <p:nvPr/>
          </p:nvSpPr>
          <p:spPr bwMode="auto">
            <a:xfrm>
              <a:off x="1440" y="3926"/>
              <a:ext cx="19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1" name="Text Box 36"/>
            <p:cNvSpPr txBox="1">
              <a:spLocks noChangeArrowheads="1"/>
            </p:cNvSpPr>
            <p:nvPr/>
          </p:nvSpPr>
          <p:spPr bwMode="auto">
            <a:xfrm>
              <a:off x="1300" y="373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1</a:t>
              </a:r>
            </a:p>
          </p:txBody>
        </p:sp>
        <p:sp>
          <p:nvSpPr>
            <p:cNvPr id="72" name="Text Box 37"/>
            <p:cNvSpPr txBox="1">
              <a:spLocks noChangeArrowheads="1"/>
            </p:cNvSpPr>
            <p:nvPr/>
          </p:nvSpPr>
          <p:spPr bwMode="auto">
            <a:xfrm>
              <a:off x="1620" y="3731"/>
              <a:ext cx="3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FE</a:t>
              </a:r>
            </a:p>
          </p:txBody>
        </p:sp>
        <p:sp>
          <p:nvSpPr>
            <p:cNvPr id="73" name="Line 38"/>
            <p:cNvSpPr>
              <a:spLocks noChangeShapeType="1"/>
            </p:cNvSpPr>
            <p:nvPr/>
          </p:nvSpPr>
          <p:spPr bwMode="auto">
            <a:xfrm>
              <a:off x="2283" y="3941"/>
              <a:ext cx="19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4" name="Text Box 39"/>
            <p:cNvSpPr txBox="1">
              <a:spLocks noChangeArrowheads="1"/>
            </p:cNvSpPr>
            <p:nvPr/>
          </p:nvSpPr>
          <p:spPr bwMode="auto">
            <a:xfrm>
              <a:off x="2143" y="374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1</a:t>
              </a:r>
            </a:p>
          </p:txBody>
        </p:sp>
        <p:sp>
          <p:nvSpPr>
            <p:cNvPr id="75" name="Text Box 40"/>
            <p:cNvSpPr txBox="1">
              <a:spLocks noChangeArrowheads="1"/>
            </p:cNvSpPr>
            <p:nvPr/>
          </p:nvSpPr>
          <p:spPr bwMode="auto">
            <a:xfrm>
              <a:off x="2463" y="3746"/>
              <a:ext cx="4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IND</a:t>
              </a:r>
            </a:p>
          </p:txBody>
        </p:sp>
        <p:sp>
          <p:nvSpPr>
            <p:cNvPr id="76" name="Line 41"/>
            <p:cNvSpPr>
              <a:spLocks noChangeShapeType="1"/>
            </p:cNvSpPr>
            <p:nvPr/>
          </p:nvSpPr>
          <p:spPr bwMode="auto">
            <a:xfrm>
              <a:off x="3147" y="3941"/>
              <a:ext cx="19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7" name="Text Box 42"/>
            <p:cNvSpPr txBox="1">
              <a:spLocks noChangeArrowheads="1"/>
            </p:cNvSpPr>
            <p:nvPr/>
          </p:nvSpPr>
          <p:spPr bwMode="auto">
            <a:xfrm>
              <a:off x="3007" y="376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1</a:t>
              </a:r>
            </a:p>
          </p:txBody>
        </p:sp>
        <p:sp>
          <p:nvSpPr>
            <p:cNvPr id="78" name="Text Box 43"/>
            <p:cNvSpPr txBox="1">
              <a:spLocks noChangeArrowheads="1"/>
            </p:cNvSpPr>
            <p:nvPr/>
          </p:nvSpPr>
          <p:spPr bwMode="auto">
            <a:xfrm>
              <a:off x="3327" y="3753"/>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EX</a:t>
              </a:r>
            </a:p>
          </p:txBody>
        </p:sp>
        <p:sp>
          <p:nvSpPr>
            <p:cNvPr id="79" name="Line 44"/>
            <p:cNvSpPr>
              <a:spLocks noChangeShapeType="1"/>
            </p:cNvSpPr>
            <p:nvPr/>
          </p:nvSpPr>
          <p:spPr bwMode="auto">
            <a:xfrm>
              <a:off x="4107" y="3941"/>
              <a:ext cx="19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0" name="Text Box 45"/>
            <p:cNvSpPr txBox="1">
              <a:spLocks noChangeArrowheads="1"/>
            </p:cNvSpPr>
            <p:nvPr/>
          </p:nvSpPr>
          <p:spPr bwMode="auto">
            <a:xfrm>
              <a:off x="3967" y="3739"/>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1</a:t>
              </a:r>
            </a:p>
          </p:txBody>
        </p:sp>
        <p:sp>
          <p:nvSpPr>
            <p:cNvPr id="81" name="Text Box 46"/>
            <p:cNvSpPr txBox="1">
              <a:spLocks noChangeArrowheads="1"/>
            </p:cNvSpPr>
            <p:nvPr/>
          </p:nvSpPr>
          <p:spPr bwMode="auto">
            <a:xfrm>
              <a:off x="4287" y="3753"/>
              <a:ext cx="40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INT</a:t>
              </a:r>
            </a:p>
          </p:txBody>
        </p:sp>
        <p:sp>
          <p:nvSpPr>
            <p:cNvPr id="82" name="Text Box 47"/>
            <p:cNvSpPr txBox="1">
              <a:spLocks noChangeArrowheads="1"/>
            </p:cNvSpPr>
            <p:nvPr/>
          </p:nvSpPr>
          <p:spPr bwMode="auto">
            <a:xfrm>
              <a:off x="3254" y="2992"/>
              <a:ext cx="38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Times New Roman" pitchFamily="18" charset="0"/>
                </a:rPr>
                <a:t>EX</a:t>
              </a:r>
            </a:p>
          </p:txBody>
        </p:sp>
        <p:sp>
          <p:nvSpPr>
            <p:cNvPr id="83" name="Rectangle 48"/>
            <p:cNvSpPr>
              <a:spLocks noChangeArrowheads="1"/>
            </p:cNvSpPr>
            <p:nvPr/>
          </p:nvSpPr>
          <p:spPr bwMode="auto">
            <a:xfrm>
              <a:off x="3168" y="2966"/>
              <a:ext cx="528"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4" name="Text Box 49"/>
            <p:cNvSpPr txBox="1">
              <a:spLocks noChangeArrowheads="1"/>
            </p:cNvSpPr>
            <p:nvPr/>
          </p:nvSpPr>
          <p:spPr bwMode="auto">
            <a:xfrm>
              <a:off x="3168" y="3164"/>
              <a:ext cx="23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D</a:t>
              </a:r>
            </a:p>
          </p:txBody>
        </p:sp>
        <p:sp>
          <p:nvSpPr>
            <p:cNvPr id="85" name="AutoShape 50"/>
            <p:cNvSpPr>
              <a:spLocks noChangeArrowheads="1"/>
            </p:cNvSpPr>
            <p:nvPr/>
          </p:nvSpPr>
          <p:spPr bwMode="auto">
            <a:xfrm>
              <a:off x="3504" y="3302"/>
              <a:ext cx="96" cy="96"/>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86" name="Text Box 51"/>
          <p:cNvSpPr txBox="1">
            <a:spLocks noChangeArrowheads="1"/>
          </p:cNvSpPr>
          <p:nvPr/>
        </p:nvSpPr>
        <p:spPr bwMode="auto">
          <a:xfrm>
            <a:off x="6400800" y="2826330"/>
            <a:ext cx="2743200" cy="123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a:solidFill>
                  <a:srgbClr val="C00000"/>
                </a:solidFill>
                <a:latin typeface="Times New Roman" pitchFamily="18" charset="0"/>
              </a:rPr>
              <a:t>CPU </a:t>
            </a:r>
            <a:r>
              <a:rPr kumimoji="1" lang="zh-CN" altLang="en-US" sz="2400" b="1" dirty="0">
                <a:solidFill>
                  <a:srgbClr val="C00000"/>
                </a:solidFill>
                <a:latin typeface="Times New Roman" pitchFamily="18" charset="0"/>
              </a:rPr>
              <a:t>的</a:t>
            </a:r>
          </a:p>
          <a:p>
            <a:pPr>
              <a:spcBef>
                <a:spcPct val="50000"/>
              </a:spcBef>
            </a:pPr>
            <a:r>
              <a:rPr kumimoji="1" lang="en-US" altLang="zh-CN" sz="2400" b="1" dirty="0">
                <a:solidFill>
                  <a:srgbClr val="C00000"/>
                </a:solidFill>
                <a:latin typeface="Times New Roman" pitchFamily="18" charset="0"/>
              </a:rPr>
              <a:t>4</a:t>
            </a:r>
            <a:r>
              <a:rPr kumimoji="1" lang="zh-CN" altLang="en-US" sz="2400" b="1" dirty="0">
                <a:solidFill>
                  <a:srgbClr val="C00000"/>
                </a:solidFill>
                <a:latin typeface="Times New Roman" pitchFamily="18" charset="0"/>
              </a:rPr>
              <a:t>个工作周期</a:t>
            </a:r>
          </a:p>
        </p:txBody>
      </p:sp>
    </p:spTree>
    <p:extLst>
      <p:ext uri="{BB962C8B-B14F-4D97-AF65-F5344CB8AC3E}">
        <p14:creationId xmlns:p14="http://schemas.microsoft.com/office/powerpoint/2010/main" val="2758138155"/>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blinds(horizontal)">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blinds(horizontal)">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blinds(horizontal)">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blinds(horizontal)">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linds(horizontal)">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blinds(horizontal)">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86"/>
                                        </p:tgtEl>
                                        <p:attrNameLst>
                                          <p:attrName>style.visibility</p:attrName>
                                        </p:attrNameLst>
                                      </p:cBhvr>
                                      <p:to>
                                        <p:strVal val="visible"/>
                                      </p:to>
                                    </p:set>
                                    <p:anim calcmode="lin" valueType="num">
                                      <p:cBhvr additive="base">
                                        <p:cTn id="52" dur="500" fill="hold"/>
                                        <p:tgtEl>
                                          <p:spTgt spid="86"/>
                                        </p:tgtEl>
                                        <p:attrNameLst>
                                          <p:attrName>ppt_x</p:attrName>
                                        </p:attrNameLst>
                                      </p:cBhvr>
                                      <p:tavLst>
                                        <p:tav tm="0">
                                          <p:val>
                                            <p:strVal val="1+#ppt_w/2"/>
                                          </p:val>
                                        </p:tav>
                                        <p:tav tm="100000">
                                          <p:val>
                                            <p:strVal val="#ppt_x"/>
                                          </p:val>
                                        </p:tav>
                                      </p:tavLst>
                                    </p:anim>
                                    <p:anim calcmode="lin" valueType="num">
                                      <p:cBhvr additive="base">
                                        <p:cTn id="53"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37" fill="hold"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barn(outVertical)">
                                      <p:cBhvr>
                                        <p:cTn id="5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39" grpId="0" autoUpdateAnimBg="0"/>
      <p:bldP spid="40" grpId="0" autoUpdateAnimBg="0"/>
      <p:bldP spid="41" grpId="0" autoUpdateAnimBg="0"/>
      <p:bldP spid="42" grpId="0" autoUpdateAnimBg="0"/>
      <p:bldP spid="43" grpId="0" autoUpdateAnimBg="0"/>
      <p:bldP spid="44" grpId="0" autoUpdateAnimBg="0"/>
      <p:bldP spid="45" grpId="0" autoUpdateAnimBg="0"/>
      <p:bldP spid="46" grpId="0" autoUpdateAnimBg="0"/>
      <p:bldP spid="86"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969385"/>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769649" y="1462249"/>
            <a:ext cx="5715000" cy="1189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AutoNum type="arabicPeriod" startAt="7"/>
            </a:pPr>
            <a:r>
              <a:rPr kumimoji="1" lang="zh-CN" altLang="en-US" b="1" dirty="0">
                <a:latin typeface="Times New Roman" pitchFamily="18" charset="0"/>
              </a:rPr>
              <a:t>指令周期的数据流</a:t>
            </a:r>
            <a:endParaRPr kumimoji="1" lang="en-US" altLang="zh-CN" b="1" dirty="0">
              <a:latin typeface="Times New Roman" pitchFamily="18" charset="0"/>
            </a:endParaRPr>
          </a:p>
          <a:p>
            <a:r>
              <a:rPr kumimoji="1" lang="zh-CN" altLang="en-US" dirty="0">
                <a:latin typeface="Times New Roman" pitchFamily="18" charset="0"/>
              </a:rPr>
              <a:t>（</a:t>
            </a:r>
            <a:r>
              <a:rPr kumimoji="1" lang="en-US" altLang="zh-CN" dirty="0">
                <a:latin typeface="Times New Roman" pitchFamily="18" charset="0"/>
              </a:rPr>
              <a:t>1</a:t>
            </a:r>
            <a:r>
              <a:rPr kumimoji="1" lang="zh-CN" altLang="en-US" dirty="0">
                <a:latin typeface="Times New Roman" pitchFamily="18" charset="0"/>
              </a:rPr>
              <a:t>）取指周期数据流</a:t>
            </a:r>
            <a:endParaRPr kumimoji="1" lang="zh-CN" altLang="en-US" b="1" dirty="0">
              <a:latin typeface="Times New Roman" pitchFamily="18" charset="0"/>
            </a:endParaRPr>
          </a:p>
        </p:txBody>
      </p:sp>
      <p:sp>
        <p:nvSpPr>
          <p:cNvPr id="87" name="AutoShape 2"/>
          <p:cNvSpPr>
            <a:spLocks noChangeArrowheads="1"/>
          </p:cNvSpPr>
          <p:nvPr/>
        </p:nvSpPr>
        <p:spPr bwMode="auto">
          <a:xfrm rot="10800000">
            <a:off x="2743200" y="5603875"/>
            <a:ext cx="1143000" cy="152400"/>
          </a:xfrm>
          <a:prstGeom prst="rightArrow">
            <a:avLst>
              <a:gd name="adj1" fmla="val 50000"/>
              <a:gd name="adj2" fmla="val 13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000" b="1">
              <a:solidFill>
                <a:schemeClr val="folHlink"/>
              </a:solidFill>
              <a:latin typeface="Times New Roman" pitchFamily="18" charset="0"/>
            </a:endParaRPr>
          </a:p>
        </p:txBody>
      </p:sp>
      <p:sp>
        <p:nvSpPr>
          <p:cNvPr id="88" name="AutoShape 3"/>
          <p:cNvSpPr>
            <a:spLocks noChangeArrowheads="1"/>
          </p:cNvSpPr>
          <p:nvPr/>
        </p:nvSpPr>
        <p:spPr bwMode="auto">
          <a:xfrm>
            <a:off x="2743200" y="3927475"/>
            <a:ext cx="1143000" cy="152400"/>
          </a:xfrm>
          <a:prstGeom prst="rightArrow">
            <a:avLst>
              <a:gd name="adj1" fmla="val 50000"/>
              <a:gd name="adj2" fmla="val 13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89" name="AutoShape 4"/>
          <p:cNvSpPr>
            <a:spLocks noChangeArrowheads="1"/>
          </p:cNvSpPr>
          <p:nvPr/>
        </p:nvSpPr>
        <p:spPr bwMode="auto">
          <a:xfrm>
            <a:off x="4876800" y="3927475"/>
            <a:ext cx="609600" cy="152400"/>
          </a:xfrm>
          <a:prstGeom prst="rightArrow">
            <a:avLst>
              <a:gd name="adj1" fmla="val 50000"/>
              <a:gd name="adj2" fmla="val 71111"/>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90" name="AutoShape 5"/>
          <p:cNvSpPr>
            <a:spLocks noChangeArrowheads="1"/>
          </p:cNvSpPr>
          <p:nvPr/>
        </p:nvSpPr>
        <p:spPr bwMode="auto">
          <a:xfrm rot="10800000">
            <a:off x="4876800" y="5562600"/>
            <a:ext cx="1143000" cy="152400"/>
          </a:xfrm>
          <a:prstGeom prst="rightArrow">
            <a:avLst>
              <a:gd name="adj1" fmla="val 50000"/>
              <a:gd name="adj2" fmla="val 13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000" b="1">
              <a:solidFill>
                <a:schemeClr val="folHlink"/>
              </a:solidFill>
              <a:latin typeface="Times New Roman" pitchFamily="18" charset="0"/>
            </a:endParaRPr>
          </a:p>
        </p:txBody>
      </p:sp>
      <p:sp>
        <p:nvSpPr>
          <p:cNvPr id="91" name="AutoShape 8"/>
          <p:cNvSpPr>
            <a:spLocks noChangeArrowheads="1"/>
          </p:cNvSpPr>
          <p:nvPr/>
        </p:nvSpPr>
        <p:spPr bwMode="auto">
          <a:xfrm>
            <a:off x="4876800" y="4648200"/>
            <a:ext cx="1676400" cy="152400"/>
          </a:xfrm>
          <a:prstGeom prst="rightArrow">
            <a:avLst>
              <a:gd name="adj1" fmla="val 50000"/>
              <a:gd name="adj2" fmla="val 11458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92" name="AutoShape 9"/>
          <p:cNvSpPr>
            <a:spLocks noChangeArrowheads="1"/>
          </p:cNvSpPr>
          <p:nvPr/>
        </p:nvSpPr>
        <p:spPr bwMode="auto">
          <a:xfrm>
            <a:off x="5638800" y="4432300"/>
            <a:ext cx="1447800" cy="152400"/>
          </a:xfrm>
          <a:prstGeom prst="rightArrow">
            <a:avLst>
              <a:gd name="adj1" fmla="val 50000"/>
              <a:gd name="adj2" fmla="val 12706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93" name="AutoShape 10"/>
          <p:cNvSpPr>
            <a:spLocks noChangeArrowheads="1"/>
          </p:cNvSpPr>
          <p:nvPr/>
        </p:nvSpPr>
        <p:spPr bwMode="auto">
          <a:xfrm rot="10800000">
            <a:off x="6172200" y="4232275"/>
            <a:ext cx="914400" cy="152400"/>
          </a:xfrm>
          <a:prstGeom prst="rightArrow">
            <a:avLst>
              <a:gd name="adj1" fmla="val 50000"/>
              <a:gd name="adj2" fmla="val 106667"/>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000" b="1">
              <a:solidFill>
                <a:schemeClr val="folHlink"/>
              </a:solidFill>
              <a:latin typeface="Times New Roman" pitchFamily="18" charset="0"/>
            </a:endParaRPr>
          </a:p>
        </p:txBody>
      </p:sp>
      <p:sp>
        <p:nvSpPr>
          <p:cNvPr id="94" name="AutoShape 11"/>
          <p:cNvSpPr>
            <a:spLocks noChangeArrowheads="1"/>
          </p:cNvSpPr>
          <p:nvPr/>
        </p:nvSpPr>
        <p:spPr bwMode="auto">
          <a:xfrm>
            <a:off x="6629400" y="4003675"/>
            <a:ext cx="457200" cy="152400"/>
          </a:xfrm>
          <a:prstGeom prst="rightArrow">
            <a:avLst>
              <a:gd name="adj1" fmla="val 50000"/>
              <a:gd name="adj2" fmla="val 5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grpSp>
        <p:nvGrpSpPr>
          <p:cNvPr id="96" name="Group 12"/>
          <p:cNvGrpSpPr>
            <a:grpSpLocks/>
          </p:cNvGrpSpPr>
          <p:nvPr/>
        </p:nvGrpSpPr>
        <p:grpSpPr bwMode="auto">
          <a:xfrm>
            <a:off x="3886200" y="5451475"/>
            <a:ext cx="990600" cy="457200"/>
            <a:chOff x="2448" y="3434"/>
            <a:chExt cx="624" cy="288"/>
          </a:xfrm>
        </p:grpSpPr>
        <p:sp>
          <p:nvSpPr>
            <p:cNvPr id="97" name="Text Box 13"/>
            <p:cNvSpPr txBox="1">
              <a:spLocks noChangeArrowheads="1"/>
            </p:cNvSpPr>
            <p:nvPr/>
          </p:nvSpPr>
          <p:spPr bwMode="auto">
            <a:xfrm>
              <a:off x="2534" y="3443"/>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MDR</a:t>
              </a:r>
            </a:p>
          </p:txBody>
        </p:sp>
        <p:sp>
          <p:nvSpPr>
            <p:cNvPr id="98" name="Rectangle 14"/>
            <p:cNvSpPr>
              <a:spLocks noChangeArrowheads="1"/>
            </p:cNvSpPr>
            <p:nvPr/>
          </p:nvSpPr>
          <p:spPr bwMode="auto">
            <a:xfrm>
              <a:off x="2448" y="3434"/>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9" name="Rectangle 15"/>
          <p:cNvSpPr>
            <a:spLocks noChangeArrowheads="1"/>
          </p:cNvSpPr>
          <p:nvPr/>
        </p:nvSpPr>
        <p:spPr bwMode="auto">
          <a:xfrm>
            <a:off x="3886200" y="4537075"/>
            <a:ext cx="990600" cy="457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CU</a:t>
            </a:r>
          </a:p>
        </p:txBody>
      </p:sp>
      <p:sp>
        <p:nvSpPr>
          <p:cNvPr id="100" name="Rectangle 16"/>
          <p:cNvSpPr>
            <a:spLocks noChangeArrowheads="1"/>
          </p:cNvSpPr>
          <p:nvPr/>
        </p:nvSpPr>
        <p:spPr bwMode="auto">
          <a:xfrm>
            <a:off x="3886200" y="3810000"/>
            <a:ext cx="990600" cy="457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MAR</a:t>
            </a:r>
          </a:p>
        </p:txBody>
      </p:sp>
      <p:sp>
        <p:nvSpPr>
          <p:cNvPr id="101" name="Rectangle 17"/>
          <p:cNvSpPr>
            <a:spLocks noChangeArrowheads="1"/>
          </p:cNvSpPr>
          <p:nvPr/>
        </p:nvSpPr>
        <p:spPr bwMode="auto">
          <a:xfrm>
            <a:off x="1752600" y="3775075"/>
            <a:ext cx="990600" cy="457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PC</a:t>
            </a:r>
          </a:p>
        </p:txBody>
      </p:sp>
      <p:grpSp>
        <p:nvGrpSpPr>
          <p:cNvPr id="102" name="Group 18"/>
          <p:cNvGrpSpPr>
            <a:grpSpLocks/>
          </p:cNvGrpSpPr>
          <p:nvPr/>
        </p:nvGrpSpPr>
        <p:grpSpPr bwMode="auto">
          <a:xfrm>
            <a:off x="1752600" y="5451475"/>
            <a:ext cx="990600" cy="457200"/>
            <a:chOff x="1104" y="3434"/>
            <a:chExt cx="624" cy="288"/>
          </a:xfrm>
        </p:grpSpPr>
        <p:sp>
          <p:nvSpPr>
            <p:cNvPr id="103" name="Rectangle 19"/>
            <p:cNvSpPr>
              <a:spLocks noChangeArrowheads="1"/>
            </p:cNvSpPr>
            <p:nvPr/>
          </p:nvSpPr>
          <p:spPr bwMode="auto">
            <a:xfrm>
              <a:off x="1104" y="3434"/>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Text Box 20"/>
            <p:cNvSpPr txBox="1">
              <a:spLocks noChangeArrowheads="1"/>
            </p:cNvSpPr>
            <p:nvPr/>
          </p:nvSpPr>
          <p:spPr bwMode="auto">
            <a:xfrm>
              <a:off x="1290" y="3443"/>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IR</a:t>
              </a:r>
            </a:p>
          </p:txBody>
        </p:sp>
      </p:grpSp>
      <p:grpSp>
        <p:nvGrpSpPr>
          <p:cNvPr id="105" name="Group 21"/>
          <p:cNvGrpSpPr>
            <a:grpSpLocks/>
          </p:cNvGrpSpPr>
          <p:nvPr/>
        </p:nvGrpSpPr>
        <p:grpSpPr bwMode="auto">
          <a:xfrm>
            <a:off x="1447800" y="2209800"/>
            <a:ext cx="6934200" cy="3851275"/>
            <a:chOff x="912" y="1392"/>
            <a:chExt cx="4368" cy="2426"/>
          </a:xfrm>
        </p:grpSpPr>
        <p:sp>
          <p:nvSpPr>
            <p:cNvPr id="106" name="Rectangle 22"/>
            <p:cNvSpPr>
              <a:spLocks noChangeArrowheads="1"/>
            </p:cNvSpPr>
            <p:nvPr/>
          </p:nvSpPr>
          <p:spPr bwMode="auto">
            <a:xfrm>
              <a:off x="912" y="2090"/>
              <a:ext cx="2352" cy="17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Rectangle 23"/>
            <p:cNvSpPr>
              <a:spLocks noChangeArrowheads="1"/>
            </p:cNvSpPr>
            <p:nvPr/>
          </p:nvSpPr>
          <p:spPr bwMode="auto">
            <a:xfrm>
              <a:off x="3456" y="209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 name="Rectangle 24"/>
            <p:cNvSpPr>
              <a:spLocks noChangeArrowheads="1"/>
            </p:cNvSpPr>
            <p:nvPr/>
          </p:nvSpPr>
          <p:spPr bwMode="auto">
            <a:xfrm>
              <a:off x="3792" y="209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Rectangle 25"/>
            <p:cNvSpPr>
              <a:spLocks noChangeArrowheads="1"/>
            </p:cNvSpPr>
            <p:nvPr/>
          </p:nvSpPr>
          <p:spPr bwMode="auto">
            <a:xfrm>
              <a:off x="4128" y="209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Rectangle 26"/>
            <p:cNvSpPr>
              <a:spLocks noChangeArrowheads="1"/>
            </p:cNvSpPr>
            <p:nvPr/>
          </p:nvSpPr>
          <p:spPr bwMode="auto">
            <a:xfrm>
              <a:off x="4464" y="2463"/>
              <a:ext cx="816" cy="5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latin typeface="Times New Roman" pitchFamily="18" charset="0"/>
                </a:rPr>
                <a:t>存储器</a:t>
              </a:r>
            </a:p>
          </p:txBody>
        </p:sp>
        <p:sp>
          <p:nvSpPr>
            <p:cNvPr id="111" name="Text Box 27"/>
            <p:cNvSpPr txBox="1">
              <a:spLocks noChangeArrowheads="1"/>
            </p:cNvSpPr>
            <p:nvPr/>
          </p:nvSpPr>
          <p:spPr bwMode="auto">
            <a:xfrm>
              <a:off x="1718" y="1850"/>
              <a:ext cx="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CPU</a:t>
              </a:r>
            </a:p>
          </p:txBody>
        </p:sp>
        <p:sp>
          <p:nvSpPr>
            <p:cNvPr id="112" name="Text Box 28"/>
            <p:cNvSpPr txBox="1">
              <a:spLocks noChangeArrowheads="1"/>
            </p:cNvSpPr>
            <p:nvPr/>
          </p:nvSpPr>
          <p:spPr bwMode="auto">
            <a:xfrm>
              <a:off x="3340" y="1392"/>
              <a:ext cx="308"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地址总线</a:t>
              </a:r>
            </a:p>
          </p:txBody>
        </p:sp>
        <p:sp>
          <p:nvSpPr>
            <p:cNvPr id="113" name="Text Box 29"/>
            <p:cNvSpPr txBox="1">
              <a:spLocks noChangeArrowheads="1"/>
            </p:cNvSpPr>
            <p:nvPr/>
          </p:nvSpPr>
          <p:spPr bwMode="auto">
            <a:xfrm>
              <a:off x="3676" y="1392"/>
              <a:ext cx="308"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数据总线</a:t>
              </a:r>
            </a:p>
          </p:txBody>
        </p:sp>
        <p:sp>
          <p:nvSpPr>
            <p:cNvPr id="114" name="Text Box 30"/>
            <p:cNvSpPr txBox="1">
              <a:spLocks noChangeArrowheads="1"/>
            </p:cNvSpPr>
            <p:nvPr/>
          </p:nvSpPr>
          <p:spPr bwMode="auto">
            <a:xfrm>
              <a:off x="4060" y="1392"/>
              <a:ext cx="308"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控制总线</a:t>
              </a:r>
            </a:p>
          </p:txBody>
        </p:sp>
      </p:grpSp>
      <p:grpSp>
        <p:nvGrpSpPr>
          <p:cNvPr id="115" name="Group 31"/>
          <p:cNvGrpSpPr>
            <a:grpSpLocks/>
          </p:cNvGrpSpPr>
          <p:nvPr/>
        </p:nvGrpSpPr>
        <p:grpSpPr bwMode="auto">
          <a:xfrm>
            <a:off x="1752600" y="5443538"/>
            <a:ext cx="990600" cy="457200"/>
            <a:chOff x="1104" y="3423"/>
            <a:chExt cx="624" cy="288"/>
          </a:xfrm>
        </p:grpSpPr>
        <p:sp>
          <p:nvSpPr>
            <p:cNvPr id="116" name="Rectangle 32"/>
            <p:cNvSpPr>
              <a:spLocks noChangeArrowheads="1"/>
            </p:cNvSpPr>
            <p:nvPr/>
          </p:nvSpPr>
          <p:spPr bwMode="auto">
            <a:xfrm>
              <a:off x="1104" y="3423"/>
              <a:ext cx="624" cy="288"/>
            </a:xfrm>
            <a:prstGeom prst="rect">
              <a:avLst/>
            </a:prstGeom>
            <a:solidFill>
              <a:schemeClr val="folHlink"/>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Text Box 33"/>
            <p:cNvSpPr txBox="1">
              <a:spLocks noChangeArrowheads="1"/>
            </p:cNvSpPr>
            <p:nvPr/>
          </p:nvSpPr>
          <p:spPr bwMode="auto">
            <a:xfrm>
              <a:off x="1290" y="3446"/>
              <a:ext cx="300" cy="256"/>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bg2"/>
                  </a:solidFill>
                  <a:latin typeface="Times New Roman" pitchFamily="18" charset="0"/>
                </a:rPr>
                <a:t>IR</a:t>
              </a:r>
            </a:p>
          </p:txBody>
        </p:sp>
      </p:grpSp>
      <p:grpSp>
        <p:nvGrpSpPr>
          <p:cNvPr id="118" name="Group 34"/>
          <p:cNvGrpSpPr>
            <a:grpSpLocks/>
          </p:cNvGrpSpPr>
          <p:nvPr/>
        </p:nvGrpSpPr>
        <p:grpSpPr bwMode="auto">
          <a:xfrm>
            <a:off x="2259013" y="4235450"/>
            <a:ext cx="2209800" cy="914400"/>
            <a:chOff x="1440" y="2640"/>
            <a:chExt cx="1392" cy="576"/>
          </a:xfrm>
        </p:grpSpPr>
        <p:grpSp>
          <p:nvGrpSpPr>
            <p:cNvPr id="119" name="Group 35"/>
            <p:cNvGrpSpPr>
              <a:grpSpLocks/>
            </p:cNvGrpSpPr>
            <p:nvPr/>
          </p:nvGrpSpPr>
          <p:grpSpPr bwMode="auto">
            <a:xfrm>
              <a:off x="1440" y="2640"/>
              <a:ext cx="1392" cy="576"/>
              <a:chOff x="1440" y="2640"/>
              <a:chExt cx="1392" cy="576"/>
            </a:xfrm>
          </p:grpSpPr>
          <p:grpSp>
            <p:nvGrpSpPr>
              <p:cNvPr id="121" name="Group 36"/>
              <p:cNvGrpSpPr>
                <a:grpSpLocks/>
              </p:cNvGrpSpPr>
              <p:nvPr/>
            </p:nvGrpSpPr>
            <p:grpSpPr bwMode="auto">
              <a:xfrm>
                <a:off x="1440" y="2640"/>
                <a:ext cx="1008" cy="336"/>
                <a:chOff x="1440" y="2666"/>
                <a:chExt cx="1008" cy="336"/>
              </a:xfrm>
            </p:grpSpPr>
            <p:sp>
              <p:nvSpPr>
                <p:cNvPr id="123" name="Rectangle 37"/>
                <p:cNvSpPr>
                  <a:spLocks noChangeArrowheads="1"/>
                </p:cNvSpPr>
                <p:nvPr/>
              </p:nvSpPr>
              <p:spPr bwMode="auto">
                <a:xfrm>
                  <a:off x="1488" y="2954"/>
                  <a:ext cx="960" cy="48"/>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AutoShape 38"/>
                <p:cNvSpPr>
                  <a:spLocks noChangeArrowheads="1"/>
                </p:cNvSpPr>
                <p:nvPr/>
              </p:nvSpPr>
              <p:spPr bwMode="auto">
                <a:xfrm>
                  <a:off x="1440" y="2666"/>
                  <a:ext cx="96" cy="336"/>
                </a:xfrm>
                <a:prstGeom prst="upArrow">
                  <a:avLst>
                    <a:gd name="adj1" fmla="val 50000"/>
                    <a:gd name="adj2" fmla="val 87500"/>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122" name="Text Box 39"/>
              <p:cNvSpPr txBox="1">
                <a:spLocks noChangeArrowheads="1"/>
              </p:cNvSpPr>
              <p:nvPr/>
            </p:nvSpPr>
            <p:spPr bwMode="auto">
              <a:xfrm>
                <a:off x="1824" y="2966"/>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latin typeface="Times New Roman" pitchFamily="18" charset="0"/>
                  </a:rPr>
                  <a:t>+1      </a:t>
                </a:r>
              </a:p>
            </p:txBody>
          </p:sp>
        </p:grpSp>
        <p:sp>
          <p:nvSpPr>
            <p:cNvPr id="120" name="Rectangle 40"/>
            <p:cNvSpPr>
              <a:spLocks noChangeArrowheads="1"/>
            </p:cNvSpPr>
            <p:nvPr/>
          </p:nvSpPr>
          <p:spPr bwMode="auto">
            <a:xfrm rot="5400000">
              <a:off x="1502" y="2938"/>
              <a:ext cx="34" cy="23"/>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024276104"/>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barn(outVertical)">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barn(outVertical)">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barn(outVertical)">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barn(outVertical)">
                                      <p:cBhvr>
                                        <p:cTn id="22" dur="500"/>
                                        <p:tgtEl>
                                          <p:spTgt spid="9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barn(outVertical)">
                                      <p:cBhvr>
                                        <p:cTn id="27" dur="500"/>
                                        <p:tgtEl>
                                          <p:spTgt spid="10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99"/>
                                        </p:tgtEl>
                                        <p:attrNameLst>
                                          <p:attrName>style.visibility</p:attrName>
                                        </p:attrNameLst>
                                      </p:cBhvr>
                                      <p:to>
                                        <p:strVal val="visible"/>
                                      </p:to>
                                    </p:set>
                                    <p:animEffect transition="in" filter="barn(outVertical)">
                                      <p:cBhvr>
                                        <p:cTn id="32" dur="500"/>
                                        <p:tgtEl>
                                          <p:spTgt spid="99"/>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animEffect transition="in" filter="slide(fromLeft)">
                                      <p:cBhvr>
                                        <p:cTn id="37" dur="500"/>
                                        <p:tgtEl>
                                          <p:spTgt spid="88"/>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89"/>
                                        </p:tgtEl>
                                        <p:attrNameLst>
                                          <p:attrName>style.visibility</p:attrName>
                                        </p:attrNameLst>
                                      </p:cBhvr>
                                      <p:to>
                                        <p:strVal val="visible"/>
                                      </p:to>
                                    </p:set>
                                    <p:animEffect transition="in" filter="slide(fromLeft)">
                                      <p:cBhvr>
                                        <p:cTn id="42" dur="500"/>
                                        <p:tgtEl>
                                          <p:spTgt spid="89"/>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slide(fromLeft)">
                                      <p:cBhvr>
                                        <p:cTn id="47" dur="500"/>
                                        <p:tgtEl>
                                          <p:spTgt spid="92"/>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slide(fromLeft)">
                                      <p:cBhvr>
                                        <p:cTn id="52" dur="500"/>
                                        <p:tgtEl>
                                          <p:spTgt spid="91"/>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94"/>
                                        </p:tgtEl>
                                        <p:attrNameLst>
                                          <p:attrName>style.visibility</p:attrName>
                                        </p:attrNameLst>
                                      </p:cBhvr>
                                      <p:to>
                                        <p:strVal val="visible"/>
                                      </p:to>
                                    </p:set>
                                    <p:animEffect transition="in" filter="slide(fromLeft)">
                                      <p:cBhvr>
                                        <p:cTn id="57" dur="500"/>
                                        <p:tgtEl>
                                          <p:spTgt spid="94"/>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2" fill="hold" grpId="0" nodeType="click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slide(fromRight)">
                                      <p:cBhvr>
                                        <p:cTn id="62" dur="500"/>
                                        <p:tgtEl>
                                          <p:spTgt spid="93"/>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2" fill="hold" grpId="0" nodeType="clickEffect">
                                  <p:stCondLst>
                                    <p:cond delay="0"/>
                                  </p:stCondLst>
                                  <p:childTnLst>
                                    <p:set>
                                      <p:cBhvr>
                                        <p:cTn id="66" dur="1" fill="hold">
                                          <p:stCondLst>
                                            <p:cond delay="0"/>
                                          </p:stCondLst>
                                        </p:cTn>
                                        <p:tgtEl>
                                          <p:spTgt spid="90"/>
                                        </p:tgtEl>
                                        <p:attrNameLst>
                                          <p:attrName>style.visibility</p:attrName>
                                        </p:attrNameLst>
                                      </p:cBhvr>
                                      <p:to>
                                        <p:strVal val="visible"/>
                                      </p:to>
                                    </p:set>
                                    <p:animEffect transition="in" filter="slide(fromRight)">
                                      <p:cBhvr>
                                        <p:cTn id="67" dur="500"/>
                                        <p:tgtEl>
                                          <p:spTgt spid="90"/>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2" fill="hold" grpId="0" nodeType="clickEffect">
                                  <p:stCondLst>
                                    <p:cond delay="0"/>
                                  </p:stCondLst>
                                  <p:childTnLst>
                                    <p:set>
                                      <p:cBhvr>
                                        <p:cTn id="71" dur="1" fill="hold">
                                          <p:stCondLst>
                                            <p:cond delay="0"/>
                                          </p:stCondLst>
                                        </p:cTn>
                                        <p:tgtEl>
                                          <p:spTgt spid="87"/>
                                        </p:tgtEl>
                                        <p:attrNameLst>
                                          <p:attrName>style.visibility</p:attrName>
                                        </p:attrNameLst>
                                      </p:cBhvr>
                                      <p:to>
                                        <p:strVal val="visible"/>
                                      </p:to>
                                    </p:set>
                                    <p:animEffect transition="in" filter="slide(fromRight)">
                                      <p:cBhvr>
                                        <p:cTn id="72" dur="500"/>
                                        <p:tgtEl>
                                          <p:spTgt spid="87"/>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37" fill="hold" nodeType="clickEffect">
                                  <p:stCondLst>
                                    <p:cond delay="0"/>
                                  </p:stCondLst>
                                  <p:childTnLst>
                                    <p:set>
                                      <p:cBhvr>
                                        <p:cTn id="76" dur="1" fill="hold">
                                          <p:stCondLst>
                                            <p:cond delay="0"/>
                                          </p:stCondLst>
                                        </p:cTn>
                                        <p:tgtEl>
                                          <p:spTgt spid="115"/>
                                        </p:tgtEl>
                                        <p:attrNameLst>
                                          <p:attrName>style.visibility</p:attrName>
                                        </p:attrNameLst>
                                      </p:cBhvr>
                                      <p:to>
                                        <p:strVal val="visible"/>
                                      </p:to>
                                    </p:set>
                                    <p:animEffect transition="in" filter="barn(outVertical)">
                                      <p:cBhvr>
                                        <p:cTn id="77" dur="500"/>
                                        <p:tgtEl>
                                          <p:spTgt spid="115"/>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9" fill="hold" nodeType="clickEffect">
                                  <p:stCondLst>
                                    <p:cond delay="0"/>
                                  </p:stCondLst>
                                  <p:childTnLst>
                                    <p:set>
                                      <p:cBhvr>
                                        <p:cTn id="81" dur="1" fill="hold">
                                          <p:stCondLst>
                                            <p:cond delay="0"/>
                                          </p:stCondLst>
                                        </p:cTn>
                                        <p:tgtEl>
                                          <p:spTgt spid="118"/>
                                        </p:tgtEl>
                                        <p:attrNameLst>
                                          <p:attrName>style.visibility</p:attrName>
                                        </p:attrNameLst>
                                      </p:cBhvr>
                                      <p:to>
                                        <p:strVal val="visible"/>
                                      </p:to>
                                    </p:set>
                                    <p:animEffect transition="in" filter="strips(upLeft)">
                                      <p:cBhvr>
                                        <p:cTn id="8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autoUpdateAnimBg="0"/>
      <p:bldP spid="88" grpId="0" animBg="1" autoUpdateAnimBg="0"/>
      <p:bldP spid="89" grpId="0" animBg="1" autoUpdateAnimBg="0"/>
      <p:bldP spid="90" grpId="0" animBg="1" autoUpdateAnimBg="0"/>
      <p:bldP spid="91" grpId="0" animBg="1" autoUpdateAnimBg="0"/>
      <p:bldP spid="92" grpId="0" animBg="1" autoUpdateAnimBg="0"/>
      <p:bldP spid="93" grpId="0" animBg="1" autoUpdateAnimBg="0"/>
      <p:bldP spid="94" grpId="0" animBg="1" autoUpdateAnimBg="0"/>
      <p:bldP spid="99" grpId="0" animBg="1" autoUpdateAnimBg="0"/>
      <p:bldP spid="100" grpId="0" animBg="1" autoUpdateAnimBg="0"/>
      <p:bldP spid="101"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969385"/>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769649" y="1462249"/>
            <a:ext cx="5715000" cy="123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buAutoNum type="arabicPeriod" startAt="7"/>
            </a:pPr>
            <a:r>
              <a:rPr kumimoji="1" lang="zh-CN" altLang="en-US" b="1" dirty="0">
                <a:latin typeface="Times New Roman" pitchFamily="18" charset="0"/>
              </a:rPr>
              <a:t>指令周期的数据流</a:t>
            </a:r>
            <a:endParaRPr kumimoji="1" lang="en-US" altLang="zh-CN" b="1" dirty="0">
              <a:latin typeface="Times New Roman" pitchFamily="18" charset="0"/>
            </a:endParaRPr>
          </a:p>
          <a:p>
            <a:r>
              <a:rPr kumimoji="1" lang="zh-CN" altLang="en-US" dirty="0">
                <a:latin typeface="Times New Roman" pitchFamily="18" charset="0"/>
              </a:rPr>
              <a:t>（</a:t>
            </a:r>
            <a:r>
              <a:rPr kumimoji="1" lang="en-US" altLang="zh-CN" dirty="0">
                <a:latin typeface="Times New Roman" pitchFamily="18" charset="0"/>
              </a:rPr>
              <a:t>2</a:t>
            </a:r>
            <a:r>
              <a:rPr kumimoji="1" lang="zh-CN" altLang="en-US" dirty="0">
                <a:latin typeface="Times New Roman" pitchFamily="18" charset="0"/>
              </a:rPr>
              <a:t>）间址周期数据流</a:t>
            </a:r>
            <a:endParaRPr kumimoji="1" lang="zh-CN" altLang="en-US" b="1" dirty="0">
              <a:latin typeface="Times New Roman" pitchFamily="18" charset="0"/>
            </a:endParaRPr>
          </a:p>
        </p:txBody>
      </p:sp>
      <p:sp>
        <p:nvSpPr>
          <p:cNvPr id="42" name="AutoShape 3"/>
          <p:cNvSpPr>
            <a:spLocks noChangeArrowheads="1"/>
          </p:cNvSpPr>
          <p:nvPr/>
        </p:nvSpPr>
        <p:spPr bwMode="auto">
          <a:xfrm rot="10800000">
            <a:off x="6324600" y="4294912"/>
            <a:ext cx="914400" cy="152400"/>
          </a:xfrm>
          <a:prstGeom prst="rightArrow">
            <a:avLst>
              <a:gd name="adj1" fmla="val 50000"/>
              <a:gd name="adj2" fmla="val 106667"/>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000" b="1">
              <a:solidFill>
                <a:schemeClr val="folHlink"/>
              </a:solidFill>
              <a:latin typeface="Times New Roman" pitchFamily="18" charset="0"/>
            </a:endParaRPr>
          </a:p>
        </p:txBody>
      </p:sp>
      <p:sp>
        <p:nvSpPr>
          <p:cNvPr id="43" name="AutoShape 4"/>
          <p:cNvSpPr>
            <a:spLocks noChangeArrowheads="1"/>
          </p:cNvSpPr>
          <p:nvPr/>
        </p:nvSpPr>
        <p:spPr bwMode="auto">
          <a:xfrm>
            <a:off x="5029200" y="4752112"/>
            <a:ext cx="1676400" cy="152400"/>
          </a:xfrm>
          <a:prstGeom prst="rightArrow">
            <a:avLst>
              <a:gd name="adj1" fmla="val 50000"/>
              <a:gd name="adj2" fmla="val 11458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44" name="AutoShape 5"/>
          <p:cNvSpPr>
            <a:spLocks noChangeArrowheads="1"/>
          </p:cNvSpPr>
          <p:nvPr/>
        </p:nvSpPr>
        <p:spPr bwMode="auto">
          <a:xfrm>
            <a:off x="5029200" y="3955187"/>
            <a:ext cx="609600" cy="152400"/>
          </a:xfrm>
          <a:prstGeom prst="rightArrow">
            <a:avLst>
              <a:gd name="adj1" fmla="val 50000"/>
              <a:gd name="adj2" fmla="val 71111"/>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grpSp>
        <p:nvGrpSpPr>
          <p:cNvPr id="45" name="Group 6"/>
          <p:cNvGrpSpPr>
            <a:grpSpLocks/>
          </p:cNvGrpSpPr>
          <p:nvPr/>
        </p:nvGrpSpPr>
        <p:grpSpPr bwMode="auto">
          <a:xfrm>
            <a:off x="5753100" y="4488587"/>
            <a:ext cx="1485900" cy="152400"/>
            <a:chOff x="3624" y="2618"/>
            <a:chExt cx="936" cy="96"/>
          </a:xfrm>
        </p:grpSpPr>
        <p:sp>
          <p:nvSpPr>
            <p:cNvPr id="46" name="AutoShape 7"/>
            <p:cNvSpPr>
              <a:spLocks noChangeArrowheads="1"/>
            </p:cNvSpPr>
            <p:nvPr/>
          </p:nvSpPr>
          <p:spPr bwMode="auto">
            <a:xfrm>
              <a:off x="3648" y="2618"/>
              <a:ext cx="912" cy="96"/>
            </a:xfrm>
            <a:prstGeom prst="rightArrow">
              <a:avLst>
                <a:gd name="adj1" fmla="val 50000"/>
                <a:gd name="adj2" fmla="val 12706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47" name="Rectangle 8"/>
            <p:cNvSpPr>
              <a:spLocks noChangeArrowheads="1"/>
            </p:cNvSpPr>
            <p:nvPr/>
          </p:nvSpPr>
          <p:spPr bwMode="auto">
            <a:xfrm rot="5400000">
              <a:off x="3633" y="2641"/>
              <a:ext cx="27" cy="4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 name="Group 9"/>
          <p:cNvGrpSpPr>
            <a:grpSpLocks/>
          </p:cNvGrpSpPr>
          <p:nvPr/>
        </p:nvGrpSpPr>
        <p:grpSpPr bwMode="auto">
          <a:xfrm>
            <a:off x="5029200" y="5631587"/>
            <a:ext cx="1195388" cy="152400"/>
            <a:chOff x="3168" y="3338"/>
            <a:chExt cx="753" cy="96"/>
          </a:xfrm>
        </p:grpSpPr>
        <p:sp>
          <p:nvSpPr>
            <p:cNvPr id="49" name="AutoShape 10"/>
            <p:cNvSpPr>
              <a:spLocks noChangeArrowheads="1"/>
            </p:cNvSpPr>
            <p:nvPr/>
          </p:nvSpPr>
          <p:spPr bwMode="auto">
            <a:xfrm rot="10800000">
              <a:off x="3168" y="3338"/>
              <a:ext cx="720" cy="96"/>
            </a:xfrm>
            <a:prstGeom prst="rightArrow">
              <a:avLst>
                <a:gd name="adj1" fmla="val 50000"/>
                <a:gd name="adj2" fmla="val 13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000" b="1">
                <a:solidFill>
                  <a:schemeClr val="folHlink"/>
                </a:solidFill>
                <a:latin typeface="Times New Roman" pitchFamily="18" charset="0"/>
              </a:endParaRPr>
            </a:p>
          </p:txBody>
        </p:sp>
        <p:sp>
          <p:nvSpPr>
            <p:cNvPr id="50" name="Rectangle 11"/>
            <p:cNvSpPr>
              <a:spLocks noChangeArrowheads="1"/>
            </p:cNvSpPr>
            <p:nvPr/>
          </p:nvSpPr>
          <p:spPr bwMode="auto">
            <a:xfrm rot="5400000">
              <a:off x="3885" y="3364"/>
              <a:ext cx="27" cy="4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 name="Group 12"/>
          <p:cNvGrpSpPr>
            <a:grpSpLocks/>
          </p:cNvGrpSpPr>
          <p:nvPr/>
        </p:nvGrpSpPr>
        <p:grpSpPr bwMode="auto">
          <a:xfrm>
            <a:off x="3048000" y="3955187"/>
            <a:ext cx="990600" cy="1752600"/>
            <a:chOff x="1920" y="2282"/>
            <a:chExt cx="624" cy="1104"/>
          </a:xfrm>
        </p:grpSpPr>
        <p:sp>
          <p:nvSpPr>
            <p:cNvPr id="52" name="AutoShape 13"/>
            <p:cNvSpPr>
              <a:spLocks noChangeArrowheads="1"/>
            </p:cNvSpPr>
            <p:nvPr/>
          </p:nvSpPr>
          <p:spPr bwMode="auto">
            <a:xfrm>
              <a:off x="1920" y="2282"/>
              <a:ext cx="624" cy="96"/>
            </a:xfrm>
            <a:prstGeom prst="rightArrow">
              <a:avLst>
                <a:gd name="adj1" fmla="val 50000"/>
                <a:gd name="adj2" fmla="val 115556"/>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53" name="Rectangle 14"/>
            <p:cNvSpPr>
              <a:spLocks noChangeArrowheads="1"/>
            </p:cNvSpPr>
            <p:nvPr/>
          </p:nvSpPr>
          <p:spPr bwMode="auto">
            <a:xfrm>
              <a:off x="1920" y="3338"/>
              <a:ext cx="624" cy="48"/>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Rectangle 15"/>
            <p:cNvSpPr>
              <a:spLocks noChangeArrowheads="1"/>
            </p:cNvSpPr>
            <p:nvPr/>
          </p:nvSpPr>
          <p:spPr bwMode="auto">
            <a:xfrm>
              <a:off x="1920" y="2330"/>
              <a:ext cx="48" cy="1056"/>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Rectangle 16"/>
            <p:cNvSpPr>
              <a:spLocks noChangeArrowheads="1"/>
            </p:cNvSpPr>
            <p:nvPr/>
          </p:nvSpPr>
          <p:spPr bwMode="auto">
            <a:xfrm rot="5400000">
              <a:off x="1934" y="3348"/>
              <a:ext cx="34" cy="34"/>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17"/>
            <p:cNvSpPr>
              <a:spLocks noChangeArrowheads="1"/>
            </p:cNvSpPr>
            <p:nvPr/>
          </p:nvSpPr>
          <p:spPr bwMode="auto">
            <a:xfrm>
              <a:off x="1926" y="2312"/>
              <a:ext cx="79" cy="34"/>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 name="Group 18"/>
          <p:cNvGrpSpPr>
            <a:grpSpLocks/>
          </p:cNvGrpSpPr>
          <p:nvPr/>
        </p:nvGrpSpPr>
        <p:grpSpPr bwMode="auto">
          <a:xfrm>
            <a:off x="6767513" y="4066312"/>
            <a:ext cx="471487" cy="152400"/>
            <a:chOff x="4263" y="2352"/>
            <a:chExt cx="297" cy="96"/>
          </a:xfrm>
        </p:grpSpPr>
        <p:sp>
          <p:nvSpPr>
            <p:cNvPr id="58" name="AutoShape 19"/>
            <p:cNvSpPr>
              <a:spLocks noChangeArrowheads="1"/>
            </p:cNvSpPr>
            <p:nvPr/>
          </p:nvSpPr>
          <p:spPr bwMode="auto">
            <a:xfrm>
              <a:off x="4272" y="2352"/>
              <a:ext cx="288" cy="96"/>
            </a:xfrm>
            <a:prstGeom prst="rightArrow">
              <a:avLst>
                <a:gd name="adj1" fmla="val 50000"/>
                <a:gd name="adj2" fmla="val 5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59" name="Rectangle 20"/>
            <p:cNvSpPr>
              <a:spLocks noChangeArrowheads="1"/>
            </p:cNvSpPr>
            <p:nvPr/>
          </p:nvSpPr>
          <p:spPr bwMode="auto">
            <a:xfrm>
              <a:off x="4263" y="2372"/>
              <a:ext cx="45" cy="68"/>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 name="Group 21"/>
          <p:cNvGrpSpPr>
            <a:grpSpLocks/>
          </p:cNvGrpSpPr>
          <p:nvPr/>
        </p:nvGrpSpPr>
        <p:grpSpPr bwMode="auto">
          <a:xfrm>
            <a:off x="1600200" y="2256562"/>
            <a:ext cx="6934200" cy="3851275"/>
            <a:chOff x="1008" y="1212"/>
            <a:chExt cx="4368" cy="2426"/>
          </a:xfrm>
        </p:grpSpPr>
        <p:sp>
          <p:nvSpPr>
            <p:cNvPr id="61" name="Text Box 22"/>
            <p:cNvSpPr txBox="1">
              <a:spLocks noChangeArrowheads="1"/>
            </p:cNvSpPr>
            <p:nvPr/>
          </p:nvSpPr>
          <p:spPr bwMode="auto">
            <a:xfrm>
              <a:off x="2630" y="3263"/>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MDR</a:t>
              </a:r>
            </a:p>
          </p:txBody>
        </p:sp>
        <p:sp>
          <p:nvSpPr>
            <p:cNvPr id="62" name="Rectangle 23"/>
            <p:cNvSpPr>
              <a:spLocks noChangeArrowheads="1"/>
            </p:cNvSpPr>
            <p:nvPr/>
          </p:nvSpPr>
          <p:spPr bwMode="auto">
            <a:xfrm>
              <a:off x="2544" y="3254"/>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Rectangle 24"/>
            <p:cNvSpPr>
              <a:spLocks noChangeArrowheads="1"/>
            </p:cNvSpPr>
            <p:nvPr/>
          </p:nvSpPr>
          <p:spPr bwMode="auto">
            <a:xfrm>
              <a:off x="2544" y="2678"/>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CU</a:t>
              </a:r>
            </a:p>
          </p:txBody>
        </p:sp>
        <p:sp>
          <p:nvSpPr>
            <p:cNvPr id="64" name="Rectangle 25"/>
            <p:cNvSpPr>
              <a:spLocks noChangeArrowheads="1"/>
            </p:cNvSpPr>
            <p:nvPr/>
          </p:nvSpPr>
          <p:spPr bwMode="auto">
            <a:xfrm>
              <a:off x="2544" y="2198"/>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MAR</a:t>
              </a:r>
            </a:p>
          </p:txBody>
        </p:sp>
        <p:sp>
          <p:nvSpPr>
            <p:cNvPr id="65" name="Rectangle 26"/>
            <p:cNvSpPr>
              <a:spLocks noChangeArrowheads="1"/>
            </p:cNvSpPr>
            <p:nvPr/>
          </p:nvSpPr>
          <p:spPr bwMode="auto">
            <a:xfrm>
              <a:off x="3552" y="191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27"/>
            <p:cNvSpPr>
              <a:spLocks noChangeArrowheads="1"/>
            </p:cNvSpPr>
            <p:nvPr/>
          </p:nvSpPr>
          <p:spPr bwMode="auto">
            <a:xfrm>
              <a:off x="3888" y="191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Rectangle 28"/>
            <p:cNvSpPr>
              <a:spLocks noChangeArrowheads="1"/>
            </p:cNvSpPr>
            <p:nvPr/>
          </p:nvSpPr>
          <p:spPr bwMode="auto">
            <a:xfrm>
              <a:off x="4224" y="1910"/>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Rectangle 29"/>
            <p:cNvSpPr>
              <a:spLocks noChangeArrowheads="1"/>
            </p:cNvSpPr>
            <p:nvPr/>
          </p:nvSpPr>
          <p:spPr bwMode="auto">
            <a:xfrm>
              <a:off x="1008" y="1910"/>
              <a:ext cx="2352" cy="17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Text Box 30"/>
            <p:cNvSpPr txBox="1">
              <a:spLocks noChangeArrowheads="1"/>
            </p:cNvSpPr>
            <p:nvPr/>
          </p:nvSpPr>
          <p:spPr bwMode="auto">
            <a:xfrm>
              <a:off x="1814" y="1670"/>
              <a:ext cx="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CPU</a:t>
              </a:r>
            </a:p>
          </p:txBody>
        </p:sp>
        <p:sp>
          <p:nvSpPr>
            <p:cNvPr id="70" name="Text Box 31"/>
            <p:cNvSpPr txBox="1">
              <a:spLocks noChangeArrowheads="1"/>
            </p:cNvSpPr>
            <p:nvPr/>
          </p:nvSpPr>
          <p:spPr bwMode="auto">
            <a:xfrm>
              <a:off x="3436" y="1212"/>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地址总线</a:t>
              </a:r>
            </a:p>
          </p:txBody>
        </p:sp>
        <p:sp>
          <p:nvSpPr>
            <p:cNvPr id="71" name="Text Box 32"/>
            <p:cNvSpPr txBox="1">
              <a:spLocks noChangeArrowheads="1"/>
            </p:cNvSpPr>
            <p:nvPr/>
          </p:nvSpPr>
          <p:spPr bwMode="auto">
            <a:xfrm>
              <a:off x="3772" y="1212"/>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数据总线</a:t>
              </a:r>
            </a:p>
          </p:txBody>
        </p:sp>
        <p:sp>
          <p:nvSpPr>
            <p:cNvPr id="72" name="Text Box 33"/>
            <p:cNvSpPr txBox="1">
              <a:spLocks noChangeArrowheads="1"/>
            </p:cNvSpPr>
            <p:nvPr/>
          </p:nvSpPr>
          <p:spPr bwMode="auto">
            <a:xfrm>
              <a:off x="4156" y="1212"/>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控制总线</a:t>
              </a:r>
            </a:p>
          </p:txBody>
        </p:sp>
        <p:sp>
          <p:nvSpPr>
            <p:cNvPr id="73" name="Rectangle 34"/>
            <p:cNvSpPr>
              <a:spLocks noChangeArrowheads="1"/>
            </p:cNvSpPr>
            <p:nvPr/>
          </p:nvSpPr>
          <p:spPr bwMode="auto">
            <a:xfrm>
              <a:off x="1152" y="2198"/>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PC</a:t>
              </a:r>
            </a:p>
          </p:txBody>
        </p:sp>
        <p:sp>
          <p:nvSpPr>
            <p:cNvPr id="74" name="Rectangle 35"/>
            <p:cNvSpPr>
              <a:spLocks noChangeArrowheads="1"/>
            </p:cNvSpPr>
            <p:nvPr/>
          </p:nvSpPr>
          <p:spPr bwMode="auto">
            <a:xfrm>
              <a:off x="1152" y="3254"/>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Text Box 36"/>
            <p:cNvSpPr txBox="1">
              <a:spLocks noChangeArrowheads="1"/>
            </p:cNvSpPr>
            <p:nvPr/>
          </p:nvSpPr>
          <p:spPr bwMode="auto">
            <a:xfrm>
              <a:off x="1338" y="3266"/>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IR</a:t>
              </a:r>
            </a:p>
          </p:txBody>
        </p:sp>
        <p:sp>
          <p:nvSpPr>
            <p:cNvPr id="76" name="Rectangle 37"/>
            <p:cNvSpPr>
              <a:spLocks noChangeArrowheads="1"/>
            </p:cNvSpPr>
            <p:nvPr/>
          </p:nvSpPr>
          <p:spPr bwMode="auto">
            <a:xfrm>
              <a:off x="4560" y="2268"/>
              <a:ext cx="816" cy="5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latin typeface="Times New Roman" pitchFamily="18" charset="0"/>
                </a:rPr>
                <a:t>存储器</a:t>
              </a:r>
            </a:p>
          </p:txBody>
        </p:sp>
      </p:grpSp>
      <p:grpSp>
        <p:nvGrpSpPr>
          <p:cNvPr id="77" name="Group 38"/>
          <p:cNvGrpSpPr>
            <a:grpSpLocks/>
          </p:cNvGrpSpPr>
          <p:nvPr/>
        </p:nvGrpSpPr>
        <p:grpSpPr bwMode="auto">
          <a:xfrm>
            <a:off x="4038600" y="5503000"/>
            <a:ext cx="990600" cy="457200"/>
            <a:chOff x="2544" y="3264"/>
            <a:chExt cx="624" cy="288"/>
          </a:xfrm>
        </p:grpSpPr>
        <p:sp>
          <p:nvSpPr>
            <p:cNvPr id="78" name="Rectangle 39"/>
            <p:cNvSpPr>
              <a:spLocks noChangeArrowheads="1"/>
            </p:cNvSpPr>
            <p:nvPr/>
          </p:nvSpPr>
          <p:spPr bwMode="auto">
            <a:xfrm>
              <a:off x="2544" y="3264"/>
              <a:ext cx="624" cy="288"/>
            </a:xfrm>
            <a:prstGeom prst="rect">
              <a:avLst/>
            </a:prstGeom>
            <a:solidFill>
              <a:schemeClr val="folHlink"/>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Text Box 40"/>
            <p:cNvSpPr txBox="1">
              <a:spLocks noChangeArrowheads="1"/>
            </p:cNvSpPr>
            <p:nvPr/>
          </p:nvSpPr>
          <p:spPr bwMode="auto">
            <a:xfrm>
              <a:off x="2621" y="3264"/>
              <a:ext cx="505" cy="256"/>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bg2"/>
                  </a:solidFill>
                  <a:latin typeface="Times New Roman" pitchFamily="18" charset="0"/>
                </a:rPr>
                <a:t>MDR</a:t>
              </a:r>
            </a:p>
          </p:txBody>
        </p:sp>
      </p:grpSp>
    </p:spTree>
    <p:extLst>
      <p:ext uri="{BB962C8B-B14F-4D97-AF65-F5344CB8AC3E}">
        <p14:creationId xmlns:p14="http://schemas.microsoft.com/office/powerpoint/2010/main" val="11226567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arn(outVertical)">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strips(upRight)">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slide(fromLeft)">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slide(fromLeft)">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slide(fromLeft)">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slide(fromLeft)">
                                      <p:cBhvr>
                                        <p:cTn id="32" dur="500"/>
                                        <p:tgtEl>
                                          <p:spTgt spid="5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slide(fromRight)">
                                      <p:cBhvr>
                                        <p:cTn id="37" dur="500"/>
                                        <p:tgtEl>
                                          <p:spTgt spid="42"/>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slide(fromRight)">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barn(outVertical)">
                                      <p:cBhvr>
                                        <p:cTn id="4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autoUpdateAnimBg="0"/>
      <p:bldP spid="43" grpId="0" animBg="1" autoUpdateAnimBg="0"/>
      <p:bldP spid="44"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969385"/>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一、</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指令周期的基本概念</a:t>
            </a:r>
          </a:p>
        </p:txBody>
      </p:sp>
      <p:sp>
        <p:nvSpPr>
          <p:cNvPr id="95" name="Text Box 2"/>
          <p:cNvSpPr txBox="1">
            <a:spLocks noChangeArrowheads="1"/>
          </p:cNvSpPr>
          <p:nvPr/>
        </p:nvSpPr>
        <p:spPr bwMode="auto">
          <a:xfrm>
            <a:off x="769648" y="1462249"/>
            <a:ext cx="7272915" cy="20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ts val="0"/>
              </a:spcBef>
              <a:buAutoNum type="arabicPeriod" startAt="7"/>
            </a:pPr>
            <a:r>
              <a:rPr kumimoji="1" lang="zh-CN" altLang="en-US" b="1" dirty="0">
                <a:latin typeface="Times New Roman" pitchFamily="18" charset="0"/>
              </a:rPr>
              <a:t>指令周期的数据流</a:t>
            </a:r>
            <a:endParaRPr kumimoji="1" lang="en-US" altLang="zh-CN" b="1" dirty="0">
              <a:latin typeface="Times New Roman" pitchFamily="18" charset="0"/>
            </a:endParaRPr>
          </a:p>
          <a:p>
            <a:pPr>
              <a:spcBef>
                <a:spcPts val="0"/>
              </a:spcBef>
            </a:pPr>
            <a:r>
              <a:rPr kumimoji="1" lang="zh-CN" altLang="en-US" dirty="0">
                <a:latin typeface="Times New Roman" pitchFamily="18" charset="0"/>
              </a:rPr>
              <a:t>（</a:t>
            </a:r>
            <a:r>
              <a:rPr kumimoji="1" lang="en-US" altLang="zh-CN" dirty="0">
                <a:latin typeface="Times New Roman" pitchFamily="18" charset="0"/>
              </a:rPr>
              <a:t>3</a:t>
            </a:r>
            <a:r>
              <a:rPr kumimoji="1" lang="zh-CN" altLang="en-US" dirty="0">
                <a:latin typeface="Times New Roman" pitchFamily="18" charset="0"/>
              </a:rPr>
              <a:t>）执行周期数据流</a:t>
            </a:r>
            <a:endParaRPr kumimoji="1" lang="en-US" altLang="zh-CN" dirty="0">
              <a:latin typeface="Times New Roman" pitchFamily="18" charset="0"/>
            </a:endParaRPr>
          </a:p>
          <a:p>
            <a:pPr>
              <a:spcBef>
                <a:spcPts val="0"/>
              </a:spcBef>
            </a:pPr>
            <a:r>
              <a:rPr kumimoji="1" lang="zh-CN" altLang="en-US" dirty="0">
                <a:latin typeface="Times New Roman" pitchFamily="18" charset="0"/>
              </a:rPr>
              <a:t>不同指令的执行周期数据流不同</a:t>
            </a:r>
          </a:p>
          <a:p>
            <a:pPr>
              <a:spcBef>
                <a:spcPts val="0"/>
              </a:spcBef>
            </a:pPr>
            <a:r>
              <a:rPr kumimoji="1" lang="zh-CN" altLang="en-US" dirty="0">
                <a:latin typeface="Times New Roman" pitchFamily="18" charset="0"/>
              </a:rPr>
              <a:t>（</a:t>
            </a:r>
            <a:r>
              <a:rPr kumimoji="1" lang="en-US" altLang="zh-CN" dirty="0">
                <a:latin typeface="Times New Roman" pitchFamily="18" charset="0"/>
              </a:rPr>
              <a:t>3</a:t>
            </a:r>
            <a:r>
              <a:rPr kumimoji="1" lang="zh-CN" altLang="en-US" dirty="0">
                <a:latin typeface="Times New Roman" pitchFamily="18" charset="0"/>
              </a:rPr>
              <a:t>）中断周期数据流</a:t>
            </a:r>
            <a:endParaRPr kumimoji="1" lang="zh-CN" altLang="en-US" b="1" dirty="0">
              <a:latin typeface="Times New Roman" pitchFamily="18" charset="0"/>
            </a:endParaRPr>
          </a:p>
        </p:txBody>
      </p:sp>
      <p:sp>
        <p:nvSpPr>
          <p:cNvPr id="80" name="AutoShape 2"/>
          <p:cNvSpPr>
            <a:spLocks noChangeArrowheads="1"/>
          </p:cNvSpPr>
          <p:nvPr/>
        </p:nvSpPr>
        <p:spPr bwMode="auto">
          <a:xfrm>
            <a:off x="5045075" y="4395355"/>
            <a:ext cx="609600" cy="152400"/>
          </a:xfrm>
          <a:prstGeom prst="rightArrow">
            <a:avLst>
              <a:gd name="adj1" fmla="val 50000"/>
              <a:gd name="adj2" fmla="val 71111"/>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grpSp>
        <p:nvGrpSpPr>
          <p:cNvPr id="81" name="Group 3"/>
          <p:cNvGrpSpPr>
            <a:grpSpLocks/>
          </p:cNvGrpSpPr>
          <p:nvPr/>
        </p:nvGrpSpPr>
        <p:grpSpPr bwMode="auto">
          <a:xfrm>
            <a:off x="2514600" y="4711268"/>
            <a:ext cx="1524000" cy="1487487"/>
            <a:chOff x="1584" y="2935"/>
            <a:chExt cx="960" cy="937"/>
          </a:xfrm>
        </p:grpSpPr>
        <p:sp>
          <p:nvSpPr>
            <p:cNvPr id="82" name="Rectangle 4"/>
            <p:cNvSpPr>
              <a:spLocks noChangeArrowheads="1"/>
            </p:cNvSpPr>
            <p:nvPr/>
          </p:nvSpPr>
          <p:spPr bwMode="auto">
            <a:xfrm>
              <a:off x="1584" y="2935"/>
              <a:ext cx="48" cy="912"/>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3" name="AutoShape 5"/>
            <p:cNvSpPr>
              <a:spLocks noChangeArrowheads="1"/>
            </p:cNvSpPr>
            <p:nvPr/>
          </p:nvSpPr>
          <p:spPr bwMode="auto">
            <a:xfrm>
              <a:off x="1632" y="3776"/>
              <a:ext cx="912" cy="96"/>
            </a:xfrm>
            <a:prstGeom prst="rightArrow">
              <a:avLst>
                <a:gd name="adj1" fmla="val 50000"/>
                <a:gd name="adj2" fmla="val 168889"/>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84" name="Rectangle 6"/>
            <p:cNvSpPr>
              <a:spLocks noChangeArrowheads="1"/>
            </p:cNvSpPr>
            <p:nvPr/>
          </p:nvSpPr>
          <p:spPr bwMode="auto">
            <a:xfrm rot="5400000">
              <a:off x="1631" y="3794"/>
              <a:ext cx="34" cy="57"/>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5" name="AutoShape 7"/>
          <p:cNvSpPr>
            <a:spLocks noChangeArrowheads="1"/>
          </p:cNvSpPr>
          <p:nvPr/>
        </p:nvSpPr>
        <p:spPr bwMode="auto">
          <a:xfrm>
            <a:off x="5045075" y="6071755"/>
            <a:ext cx="1127125" cy="152400"/>
          </a:xfrm>
          <a:prstGeom prst="rightArrow">
            <a:avLst>
              <a:gd name="adj1" fmla="val 50000"/>
              <a:gd name="adj2" fmla="val 131481"/>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86" name="AutoShape 11"/>
          <p:cNvSpPr>
            <a:spLocks noChangeArrowheads="1"/>
          </p:cNvSpPr>
          <p:nvPr/>
        </p:nvSpPr>
        <p:spPr bwMode="auto">
          <a:xfrm>
            <a:off x="6324600" y="4735080"/>
            <a:ext cx="914400" cy="152400"/>
          </a:xfrm>
          <a:prstGeom prst="rightArrow">
            <a:avLst>
              <a:gd name="adj1" fmla="val 50000"/>
              <a:gd name="adj2" fmla="val 106667"/>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87" name="AutoShape 12"/>
          <p:cNvSpPr>
            <a:spLocks noChangeArrowheads="1"/>
          </p:cNvSpPr>
          <p:nvPr/>
        </p:nvSpPr>
        <p:spPr bwMode="auto">
          <a:xfrm>
            <a:off x="5029200" y="5157355"/>
            <a:ext cx="1676400" cy="152400"/>
          </a:xfrm>
          <a:prstGeom prst="rightArrow">
            <a:avLst>
              <a:gd name="adj1" fmla="val 50000"/>
              <a:gd name="adj2" fmla="val 11458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grpSp>
        <p:nvGrpSpPr>
          <p:cNvPr id="88" name="Group 13"/>
          <p:cNvGrpSpPr>
            <a:grpSpLocks/>
          </p:cNvGrpSpPr>
          <p:nvPr/>
        </p:nvGrpSpPr>
        <p:grpSpPr bwMode="auto">
          <a:xfrm>
            <a:off x="5753100" y="4928755"/>
            <a:ext cx="1485900" cy="152400"/>
            <a:chOff x="3624" y="3072"/>
            <a:chExt cx="936" cy="96"/>
          </a:xfrm>
        </p:grpSpPr>
        <p:sp>
          <p:nvSpPr>
            <p:cNvPr id="89" name="AutoShape 14"/>
            <p:cNvSpPr>
              <a:spLocks noChangeArrowheads="1"/>
            </p:cNvSpPr>
            <p:nvPr/>
          </p:nvSpPr>
          <p:spPr bwMode="auto">
            <a:xfrm>
              <a:off x="3648" y="3072"/>
              <a:ext cx="912" cy="96"/>
            </a:xfrm>
            <a:prstGeom prst="rightArrow">
              <a:avLst>
                <a:gd name="adj1" fmla="val 50000"/>
                <a:gd name="adj2" fmla="val 12706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90" name="Rectangle 15"/>
            <p:cNvSpPr>
              <a:spLocks noChangeArrowheads="1"/>
            </p:cNvSpPr>
            <p:nvPr/>
          </p:nvSpPr>
          <p:spPr bwMode="auto">
            <a:xfrm rot="5400000">
              <a:off x="3633" y="3095"/>
              <a:ext cx="27" cy="4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1" name="Group 16"/>
          <p:cNvGrpSpPr>
            <a:grpSpLocks/>
          </p:cNvGrpSpPr>
          <p:nvPr/>
        </p:nvGrpSpPr>
        <p:grpSpPr bwMode="auto">
          <a:xfrm>
            <a:off x="2770188" y="4700155"/>
            <a:ext cx="1255712" cy="609600"/>
            <a:chOff x="1745" y="2928"/>
            <a:chExt cx="791" cy="384"/>
          </a:xfrm>
        </p:grpSpPr>
        <p:sp>
          <p:nvSpPr>
            <p:cNvPr id="92" name="AutoShape 17"/>
            <p:cNvSpPr>
              <a:spLocks noChangeArrowheads="1"/>
            </p:cNvSpPr>
            <p:nvPr/>
          </p:nvSpPr>
          <p:spPr bwMode="auto">
            <a:xfrm>
              <a:off x="1745" y="2928"/>
              <a:ext cx="79" cy="384"/>
            </a:xfrm>
            <a:prstGeom prst="upArrow">
              <a:avLst>
                <a:gd name="adj1" fmla="val 50000"/>
                <a:gd name="adj2" fmla="val 121519"/>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3" name="Rectangle 18"/>
            <p:cNvSpPr>
              <a:spLocks noChangeArrowheads="1"/>
            </p:cNvSpPr>
            <p:nvPr/>
          </p:nvSpPr>
          <p:spPr bwMode="auto">
            <a:xfrm>
              <a:off x="1790" y="3264"/>
              <a:ext cx="746" cy="48"/>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19"/>
            <p:cNvSpPr>
              <a:spLocks noChangeArrowheads="1"/>
            </p:cNvSpPr>
            <p:nvPr/>
          </p:nvSpPr>
          <p:spPr bwMode="auto">
            <a:xfrm rot="5400000">
              <a:off x="1769" y="3262"/>
              <a:ext cx="45" cy="4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6" name="AutoShape 20"/>
          <p:cNvSpPr>
            <a:spLocks noChangeArrowheads="1"/>
          </p:cNvSpPr>
          <p:nvPr/>
        </p:nvSpPr>
        <p:spPr bwMode="auto">
          <a:xfrm>
            <a:off x="4419600" y="4719205"/>
            <a:ext cx="152400" cy="228600"/>
          </a:xfrm>
          <a:prstGeom prst="upArrow">
            <a:avLst>
              <a:gd name="adj1" fmla="val 50000"/>
              <a:gd name="adj2" fmla="val 37500"/>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97" name="Group 21"/>
          <p:cNvGrpSpPr>
            <a:grpSpLocks/>
          </p:cNvGrpSpPr>
          <p:nvPr/>
        </p:nvGrpSpPr>
        <p:grpSpPr bwMode="auto">
          <a:xfrm>
            <a:off x="6767513" y="4506480"/>
            <a:ext cx="471487" cy="152400"/>
            <a:chOff x="4263" y="2806"/>
            <a:chExt cx="297" cy="96"/>
          </a:xfrm>
        </p:grpSpPr>
        <p:sp>
          <p:nvSpPr>
            <p:cNvPr id="98" name="AutoShape 22"/>
            <p:cNvSpPr>
              <a:spLocks noChangeArrowheads="1"/>
            </p:cNvSpPr>
            <p:nvPr/>
          </p:nvSpPr>
          <p:spPr bwMode="auto">
            <a:xfrm>
              <a:off x="4272" y="2806"/>
              <a:ext cx="288" cy="96"/>
            </a:xfrm>
            <a:prstGeom prst="rightArrow">
              <a:avLst>
                <a:gd name="adj1" fmla="val 50000"/>
                <a:gd name="adj2" fmla="val 53333"/>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000" b="1">
                <a:solidFill>
                  <a:schemeClr val="folHlink"/>
                </a:solidFill>
                <a:latin typeface="Times New Roman" pitchFamily="18" charset="0"/>
              </a:endParaRPr>
            </a:p>
          </p:txBody>
        </p:sp>
        <p:sp>
          <p:nvSpPr>
            <p:cNvPr id="99" name="Rectangle 23"/>
            <p:cNvSpPr>
              <a:spLocks noChangeArrowheads="1"/>
            </p:cNvSpPr>
            <p:nvPr/>
          </p:nvSpPr>
          <p:spPr bwMode="auto">
            <a:xfrm>
              <a:off x="4263" y="2826"/>
              <a:ext cx="45" cy="68"/>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0" name="Group 24"/>
          <p:cNvGrpSpPr>
            <a:grpSpLocks/>
          </p:cNvGrpSpPr>
          <p:nvPr/>
        </p:nvGrpSpPr>
        <p:grpSpPr bwMode="auto">
          <a:xfrm>
            <a:off x="1600200" y="2677680"/>
            <a:ext cx="6934200" cy="3851275"/>
            <a:chOff x="1008" y="1654"/>
            <a:chExt cx="4368" cy="2426"/>
          </a:xfrm>
        </p:grpSpPr>
        <p:sp>
          <p:nvSpPr>
            <p:cNvPr id="101" name="Rectangle 25"/>
            <p:cNvSpPr>
              <a:spLocks noChangeArrowheads="1"/>
            </p:cNvSpPr>
            <p:nvPr/>
          </p:nvSpPr>
          <p:spPr bwMode="auto">
            <a:xfrm>
              <a:off x="2544" y="3696"/>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 name="Group 26"/>
            <p:cNvGrpSpPr>
              <a:grpSpLocks/>
            </p:cNvGrpSpPr>
            <p:nvPr/>
          </p:nvGrpSpPr>
          <p:grpSpPr bwMode="auto">
            <a:xfrm>
              <a:off x="1008" y="1654"/>
              <a:ext cx="4368" cy="2426"/>
              <a:chOff x="1008" y="1654"/>
              <a:chExt cx="4368" cy="2426"/>
            </a:xfrm>
          </p:grpSpPr>
          <p:sp>
            <p:nvSpPr>
              <p:cNvPr id="103" name="Text Box 27"/>
              <p:cNvSpPr txBox="1">
                <a:spLocks noChangeArrowheads="1"/>
              </p:cNvSpPr>
              <p:nvPr/>
            </p:nvSpPr>
            <p:spPr bwMode="auto">
              <a:xfrm>
                <a:off x="2630" y="3705"/>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MDR</a:t>
                </a:r>
              </a:p>
            </p:txBody>
          </p:sp>
          <p:sp>
            <p:nvSpPr>
              <p:cNvPr id="104" name="Rectangle 28"/>
              <p:cNvSpPr>
                <a:spLocks noChangeArrowheads="1"/>
              </p:cNvSpPr>
              <p:nvPr/>
            </p:nvSpPr>
            <p:spPr bwMode="auto">
              <a:xfrm>
                <a:off x="2544" y="3105"/>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CU</a:t>
                </a:r>
              </a:p>
            </p:txBody>
          </p:sp>
          <p:sp>
            <p:nvSpPr>
              <p:cNvPr id="105" name="Rectangle 29"/>
              <p:cNvSpPr>
                <a:spLocks noChangeArrowheads="1"/>
              </p:cNvSpPr>
              <p:nvPr/>
            </p:nvSpPr>
            <p:spPr bwMode="auto">
              <a:xfrm>
                <a:off x="2544" y="2640"/>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MAR</a:t>
                </a:r>
              </a:p>
            </p:txBody>
          </p:sp>
          <p:sp>
            <p:nvSpPr>
              <p:cNvPr id="106" name="Rectangle 30"/>
              <p:cNvSpPr>
                <a:spLocks noChangeArrowheads="1"/>
              </p:cNvSpPr>
              <p:nvPr/>
            </p:nvSpPr>
            <p:spPr bwMode="auto">
              <a:xfrm>
                <a:off x="3552" y="2352"/>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Rectangle 31"/>
              <p:cNvSpPr>
                <a:spLocks noChangeArrowheads="1"/>
              </p:cNvSpPr>
              <p:nvPr/>
            </p:nvSpPr>
            <p:spPr bwMode="auto">
              <a:xfrm>
                <a:off x="3888" y="2352"/>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 name="Rectangle 32"/>
              <p:cNvSpPr>
                <a:spLocks noChangeArrowheads="1"/>
              </p:cNvSpPr>
              <p:nvPr/>
            </p:nvSpPr>
            <p:spPr bwMode="auto">
              <a:xfrm>
                <a:off x="4224" y="2352"/>
                <a:ext cx="96" cy="1680"/>
              </a:xfrm>
              <a:prstGeom prst="rect">
                <a:avLst/>
              </a:prstGeom>
              <a:solidFill>
                <a:schemeClr val="folHlink"/>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Rectangle 33"/>
              <p:cNvSpPr>
                <a:spLocks noChangeArrowheads="1"/>
              </p:cNvSpPr>
              <p:nvPr/>
            </p:nvSpPr>
            <p:spPr bwMode="auto">
              <a:xfrm>
                <a:off x="1008" y="2352"/>
                <a:ext cx="2352" cy="17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Text Box 34"/>
              <p:cNvSpPr txBox="1">
                <a:spLocks noChangeArrowheads="1"/>
              </p:cNvSpPr>
              <p:nvPr/>
            </p:nvSpPr>
            <p:spPr bwMode="auto">
              <a:xfrm>
                <a:off x="1814" y="2112"/>
                <a:ext cx="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CPU</a:t>
                </a:r>
              </a:p>
            </p:txBody>
          </p:sp>
          <p:sp>
            <p:nvSpPr>
              <p:cNvPr id="111" name="Text Box 35"/>
              <p:cNvSpPr txBox="1">
                <a:spLocks noChangeArrowheads="1"/>
              </p:cNvSpPr>
              <p:nvPr/>
            </p:nvSpPr>
            <p:spPr bwMode="auto">
              <a:xfrm>
                <a:off x="3436" y="1654"/>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地址总线</a:t>
                </a:r>
              </a:p>
            </p:txBody>
          </p:sp>
          <p:sp>
            <p:nvSpPr>
              <p:cNvPr id="112" name="Text Box 36"/>
              <p:cNvSpPr txBox="1">
                <a:spLocks noChangeArrowheads="1"/>
              </p:cNvSpPr>
              <p:nvPr/>
            </p:nvSpPr>
            <p:spPr bwMode="auto">
              <a:xfrm>
                <a:off x="3772" y="1654"/>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数据总线</a:t>
                </a:r>
              </a:p>
            </p:txBody>
          </p:sp>
          <p:sp>
            <p:nvSpPr>
              <p:cNvPr id="113" name="Text Box 37"/>
              <p:cNvSpPr txBox="1">
                <a:spLocks noChangeArrowheads="1"/>
              </p:cNvSpPr>
              <p:nvPr/>
            </p:nvSpPr>
            <p:spPr bwMode="auto">
              <a:xfrm>
                <a:off x="4156" y="1654"/>
                <a:ext cx="3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kumimoji="1" lang="zh-CN" altLang="en-US" sz="2000" b="1">
                    <a:latin typeface="Times New Roman" pitchFamily="18" charset="0"/>
                  </a:rPr>
                  <a:t>控制总线</a:t>
                </a:r>
              </a:p>
            </p:txBody>
          </p:sp>
          <p:sp>
            <p:nvSpPr>
              <p:cNvPr id="114" name="Rectangle 38"/>
              <p:cNvSpPr>
                <a:spLocks noChangeArrowheads="1"/>
              </p:cNvSpPr>
              <p:nvPr/>
            </p:nvSpPr>
            <p:spPr bwMode="auto">
              <a:xfrm>
                <a:off x="1344" y="2640"/>
                <a:ext cx="624"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latin typeface="Times New Roman" pitchFamily="18" charset="0"/>
                  </a:rPr>
                  <a:t>PC</a:t>
                </a:r>
              </a:p>
            </p:txBody>
          </p:sp>
          <p:sp>
            <p:nvSpPr>
              <p:cNvPr id="115" name="Rectangle 39"/>
              <p:cNvSpPr>
                <a:spLocks noChangeArrowheads="1"/>
              </p:cNvSpPr>
              <p:nvPr/>
            </p:nvSpPr>
            <p:spPr bwMode="auto">
              <a:xfrm>
                <a:off x="4560" y="2736"/>
                <a:ext cx="816" cy="5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latin typeface="Times New Roman" pitchFamily="18" charset="0"/>
                  </a:rPr>
                  <a:t>存储器</a:t>
                </a:r>
              </a:p>
            </p:txBody>
          </p:sp>
        </p:grpSp>
      </p:grpSp>
    </p:spTree>
    <p:extLst>
      <p:ext uri="{BB962C8B-B14F-4D97-AF65-F5344CB8AC3E}">
        <p14:creationId xmlns:p14="http://schemas.microsoft.com/office/powerpoint/2010/main" val="3722073869"/>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arn(outVertical)">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slide(fromBottom)">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slide(fromLeft)">
                                      <p:cBhvr>
                                        <p:cTn id="17" dur="500"/>
                                        <p:tgtEl>
                                          <p:spTgt spid="8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slide(fromLeft)">
                                      <p:cBhvr>
                                        <p:cTn id="22" dur="500"/>
                                        <p:tgtEl>
                                          <p:spTgt spid="8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87"/>
                                        </p:tgtEl>
                                        <p:attrNameLst>
                                          <p:attrName>style.visibility</p:attrName>
                                        </p:attrNameLst>
                                      </p:cBhvr>
                                      <p:to>
                                        <p:strVal val="visible"/>
                                      </p:to>
                                    </p:set>
                                    <p:animEffect transition="in" filter="slide(fromLeft)">
                                      <p:cBhvr>
                                        <p:cTn id="27" dur="500"/>
                                        <p:tgtEl>
                                          <p:spTgt spid="8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97"/>
                                        </p:tgtEl>
                                        <p:attrNameLst>
                                          <p:attrName>style.visibility</p:attrName>
                                        </p:attrNameLst>
                                      </p:cBhvr>
                                      <p:to>
                                        <p:strVal val="visible"/>
                                      </p:to>
                                    </p:set>
                                    <p:animEffect transition="in" filter="slide(fromLeft)">
                                      <p:cBhvr>
                                        <p:cTn id="32" dur="500"/>
                                        <p:tgtEl>
                                          <p:spTgt spid="97"/>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strips(downRight)">
                                      <p:cBhvr>
                                        <p:cTn id="37" dur="500"/>
                                        <p:tgtEl>
                                          <p:spTgt spid="8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85"/>
                                        </p:tgtEl>
                                        <p:attrNameLst>
                                          <p:attrName>style.visibility</p:attrName>
                                        </p:attrNameLst>
                                      </p:cBhvr>
                                      <p:to>
                                        <p:strVal val="visible"/>
                                      </p:to>
                                    </p:set>
                                    <p:animEffect transition="in" filter="slide(fromLeft)">
                                      <p:cBhvr>
                                        <p:cTn id="42" dur="500"/>
                                        <p:tgtEl>
                                          <p:spTgt spid="85"/>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86"/>
                                        </p:tgtEl>
                                        <p:attrNameLst>
                                          <p:attrName>style.visibility</p:attrName>
                                        </p:attrNameLst>
                                      </p:cBhvr>
                                      <p:to>
                                        <p:strVal val="visible"/>
                                      </p:to>
                                    </p:set>
                                    <p:animEffect transition="in" filter="slide(fromLeft)">
                                      <p:cBhvr>
                                        <p:cTn id="47" dur="500"/>
                                        <p:tgtEl>
                                          <p:spTgt spid="86"/>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9" fill="hold" nodeType="click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strips(upLeft)">
                                      <p:cBhvr>
                                        <p:cTn id="52"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autoUpdateAnimBg="0"/>
      <p:bldP spid="85" grpId="0" animBg="1" autoUpdateAnimBg="0"/>
      <p:bldP spid="86" grpId="0" animBg="1" autoUpdateAnimBg="0"/>
      <p:bldP spid="87" grpId="0" animBg="1" autoUpdateAnimBg="0"/>
      <p:bldP spid="9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969385"/>
            <a:ext cx="439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二、</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机器周期</a:t>
            </a:r>
          </a:p>
        </p:txBody>
      </p:sp>
      <p:sp>
        <p:nvSpPr>
          <p:cNvPr id="40" name="Text Box 4"/>
          <p:cNvSpPr txBox="1">
            <a:spLocks noChangeArrowheads="1"/>
          </p:cNvSpPr>
          <p:nvPr/>
        </p:nvSpPr>
        <p:spPr bwMode="auto">
          <a:xfrm>
            <a:off x="974725" y="1409699"/>
            <a:ext cx="278634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(1) </a:t>
            </a:r>
            <a:r>
              <a:rPr kumimoji="1" lang="zh-CN" altLang="en-US" b="1">
                <a:latin typeface="Times New Roman" pitchFamily="18" charset="0"/>
              </a:rPr>
              <a:t>机器周期的概念</a:t>
            </a:r>
          </a:p>
        </p:txBody>
      </p:sp>
      <p:sp>
        <p:nvSpPr>
          <p:cNvPr id="41" name="Text Box 5"/>
          <p:cNvSpPr txBox="1">
            <a:spLocks noChangeArrowheads="1"/>
          </p:cNvSpPr>
          <p:nvPr/>
        </p:nvSpPr>
        <p:spPr bwMode="auto">
          <a:xfrm>
            <a:off x="974725" y="2530474"/>
            <a:ext cx="433323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(2) </a:t>
            </a:r>
            <a:r>
              <a:rPr kumimoji="1" lang="zh-CN" altLang="en-US" b="1">
                <a:latin typeface="Times New Roman" pitchFamily="18" charset="0"/>
              </a:rPr>
              <a:t>确定机器周期需考虑的因素</a:t>
            </a:r>
          </a:p>
        </p:txBody>
      </p:sp>
      <p:sp>
        <p:nvSpPr>
          <p:cNvPr id="42" name="Text Box 6"/>
          <p:cNvSpPr txBox="1">
            <a:spLocks noChangeArrowheads="1"/>
          </p:cNvSpPr>
          <p:nvPr/>
        </p:nvSpPr>
        <p:spPr bwMode="auto">
          <a:xfrm>
            <a:off x="974725" y="4213224"/>
            <a:ext cx="278634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(3) </a:t>
            </a:r>
            <a:r>
              <a:rPr kumimoji="1" lang="zh-CN" altLang="en-US" b="1">
                <a:latin typeface="Times New Roman" pitchFamily="18" charset="0"/>
              </a:rPr>
              <a:t>基准时间的确定</a:t>
            </a:r>
          </a:p>
        </p:txBody>
      </p:sp>
      <p:sp>
        <p:nvSpPr>
          <p:cNvPr id="43" name="Text Box 7"/>
          <p:cNvSpPr txBox="1">
            <a:spLocks noChangeArrowheads="1"/>
          </p:cNvSpPr>
          <p:nvPr/>
        </p:nvSpPr>
        <p:spPr bwMode="auto">
          <a:xfrm>
            <a:off x="1431925" y="1970087"/>
            <a:ext cx="5134739"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00000"/>
                </a:solidFill>
                <a:latin typeface="Times New Roman" pitchFamily="18" charset="0"/>
              </a:rPr>
              <a:t>所有指令执行过程中的一个基准时间</a:t>
            </a:r>
          </a:p>
        </p:txBody>
      </p:sp>
      <p:sp>
        <p:nvSpPr>
          <p:cNvPr id="44" name="Text Box 8"/>
          <p:cNvSpPr txBox="1">
            <a:spLocks noChangeArrowheads="1"/>
          </p:cNvSpPr>
          <p:nvPr/>
        </p:nvSpPr>
        <p:spPr bwMode="auto">
          <a:xfrm>
            <a:off x="1431925" y="3113087"/>
            <a:ext cx="4359275"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dirty="0">
                <a:latin typeface="Times New Roman" pitchFamily="18" charset="0"/>
              </a:rPr>
              <a:t>每条指令的执行 </a:t>
            </a:r>
            <a:r>
              <a:rPr kumimoji="1" lang="zh-CN" altLang="en-US" b="1" dirty="0">
                <a:solidFill>
                  <a:srgbClr val="C00000"/>
                </a:solidFill>
                <a:latin typeface="Times New Roman" pitchFamily="18" charset="0"/>
              </a:rPr>
              <a:t>步骤</a:t>
            </a:r>
          </a:p>
        </p:txBody>
      </p:sp>
      <p:sp>
        <p:nvSpPr>
          <p:cNvPr id="45" name="Text Box 9"/>
          <p:cNvSpPr txBox="1">
            <a:spLocks noChangeArrowheads="1"/>
          </p:cNvSpPr>
          <p:nvPr/>
        </p:nvSpPr>
        <p:spPr bwMode="auto">
          <a:xfrm>
            <a:off x="1431925" y="3675062"/>
            <a:ext cx="4664075"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dirty="0">
                <a:solidFill>
                  <a:srgbClr val="C00000"/>
                </a:solidFill>
                <a:latin typeface="Times New Roman" pitchFamily="18" charset="0"/>
              </a:rPr>
              <a:t>每一步骤 </a:t>
            </a:r>
            <a:r>
              <a:rPr kumimoji="1" lang="zh-CN" altLang="en-US" b="1" dirty="0">
                <a:latin typeface="Times New Roman" pitchFamily="18" charset="0"/>
              </a:rPr>
              <a:t>所需的 </a:t>
            </a:r>
            <a:r>
              <a:rPr kumimoji="1" lang="zh-CN" altLang="en-US" b="1" dirty="0">
                <a:solidFill>
                  <a:srgbClr val="C00000"/>
                </a:solidFill>
                <a:latin typeface="Times New Roman" pitchFamily="18" charset="0"/>
              </a:rPr>
              <a:t>时间</a:t>
            </a:r>
          </a:p>
        </p:txBody>
      </p:sp>
      <p:sp>
        <p:nvSpPr>
          <p:cNvPr id="46" name="Text Box 10"/>
          <p:cNvSpPr txBox="1">
            <a:spLocks noChangeArrowheads="1"/>
          </p:cNvSpPr>
          <p:nvPr/>
        </p:nvSpPr>
        <p:spPr bwMode="auto">
          <a:xfrm>
            <a:off x="1219200" y="4773612"/>
            <a:ext cx="66294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kumimoji="1" lang="en-US" altLang="zh-CN" b="1" dirty="0">
                <a:latin typeface="Times New Roman" pitchFamily="18" charset="0"/>
              </a:rPr>
              <a:t> </a:t>
            </a:r>
            <a:r>
              <a:rPr kumimoji="1" lang="zh-CN" altLang="en-US" b="1" dirty="0">
                <a:latin typeface="Times New Roman" pitchFamily="18" charset="0"/>
              </a:rPr>
              <a:t>以完成 </a:t>
            </a:r>
            <a:r>
              <a:rPr kumimoji="1" lang="zh-CN" altLang="en-US" b="1" dirty="0">
                <a:solidFill>
                  <a:srgbClr val="C00000"/>
                </a:solidFill>
                <a:latin typeface="Times New Roman" pitchFamily="18" charset="0"/>
              </a:rPr>
              <a:t>最复杂 </a:t>
            </a:r>
            <a:r>
              <a:rPr kumimoji="1" lang="zh-CN" altLang="en-US" b="1" dirty="0">
                <a:latin typeface="Times New Roman" pitchFamily="18" charset="0"/>
              </a:rPr>
              <a:t>指令功能的时间 </a:t>
            </a:r>
            <a:r>
              <a:rPr kumimoji="1" lang="zh-CN" altLang="en-US" b="1" dirty="0">
                <a:solidFill>
                  <a:srgbClr val="C00000"/>
                </a:solidFill>
                <a:latin typeface="Times New Roman" pitchFamily="18" charset="0"/>
              </a:rPr>
              <a:t>为准</a:t>
            </a:r>
          </a:p>
        </p:txBody>
      </p:sp>
      <p:sp>
        <p:nvSpPr>
          <p:cNvPr id="47" name="Text Box 11"/>
          <p:cNvSpPr txBox="1">
            <a:spLocks noChangeArrowheads="1"/>
          </p:cNvSpPr>
          <p:nvPr/>
        </p:nvSpPr>
        <p:spPr bwMode="auto">
          <a:xfrm>
            <a:off x="1219200" y="5333999"/>
            <a:ext cx="6781800"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kumimoji="1" lang="en-US" altLang="zh-CN" b="1" dirty="0">
                <a:latin typeface="Times New Roman" pitchFamily="18" charset="0"/>
              </a:rPr>
              <a:t> </a:t>
            </a:r>
            <a:r>
              <a:rPr kumimoji="1" lang="zh-CN" altLang="en-US" b="1" dirty="0">
                <a:latin typeface="Times New Roman" pitchFamily="18" charset="0"/>
              </a:rPr>
              <a:t>以 </a:t>
            </a:r>
            <a:r>
              <a:rPr kumimoji="1" lang="zh-CN" altLang="en-US" b="1" dirty="0">
                <a:solidFill>
                  <a:srgbClr val="C00000"/>
                </a:solidFill>
                <a:latin typeface="Times New Roman" pitchFamily="18" charset="0"/>
              </a:rPr>
              <a:t>访问一次存储器 </a:t>
            </a:r>
            <a:r>
              <a:rPr kumimoji="1" lang="zh-CN" altLang="en-US" b="1" dirty="0">
                <a:latin typeface="Times New Roman" pitchFamily="18" charset="0"/>
              </a:rPr>
              <a:t>的时间 </a:t>
            </a:r>
            <a:r>
              <a:rPr kumimoji="1" lang="zh-CN" altLang="en-US" b="1" dirty="0">
                <a:solidFill>
                  <a:srgbClr val="C00000"/>
                </a:solidFill>
                <a:latin typeface="Times New Roman" pitchFamily="18" charset="0"/>
              </a:rPr>
              <a:t>为基准</a:t>
            </a:r>
          </a:p>
        </p:txBody>
      </p:sp>
      <p:sp>
        <p:nvSpPr>
          <p:cNvPr id="48" name="Text Box 12"/>
          <p:cNvSpPr txBox="1">
            <a:spLocks noChangeArrowheads="1"/>
          </p:cNvSpPr>
          <p:nvPr/>
        </p:nvSpPr>
        <p:spPr bwMode="auto">
          <a:xfrm>
            <a:off x="974725" y="5895974"/>
            <a:ext cx="329769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若指令字长 </a:t>
            </a:r>
            <a:r>
              <a:rPr kumimoji="1" lang="en-US" altLang="zh-CN" b="1" dirty="0">
                <a:latin typeface="Times New Roman" pitchFamily="18" charset="0"/>
              </a:rPr>
              <a:t>= </a:t>
            </a:r>
            <a:r>
              <a:rPr kumimoji="1" lang="zh-CN" altLang="en-US" b="1" dirty="0">
                <a:latin typeface="Times New Roman" pitchFamily="18" charset="0"/>
              </a:rPr>
              <a:t>存储字长</a:t>
            </a:r>
          </a:p>
        </p:txBody>
      </p:sp>
      <p:sp>
        <p:nvSpPr>
          <p:cNvPr id="49" name="Text Box 13"/>
          <p:cNvSpPr txBox="1">
            <a:spLocks noChangeArrowheads="1"/>
          </p:cNvSpPr>
          <p:nvPr/>
        </p:nvSpPr>
        <p:spPr bwMode="auto">
          <a:xfrm>
            <a:off x="5089525" y="5895974"/>
            <a:ext cx="3749675"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dirty="0">
                <a:solidFill>
                  <a:srgbClr val="C00000"/>
                </a:solidFill>
                <a:latin typeface="Times New Roman" pitchFamily="18" charset="0"/>
              </a:rPr>
              <a:t>取指周期 </a:t>
            </a:r>
            <a:r>
              <a:rPr kumimoji="1" lang="en-US" altLang="zh-CN" b="1" dirty="0">
                <a:solidFill>
                  <a:srgbClr val="C00000"/>
                </a:solidFill>
                <a:latin typeface="Times New Roman" pitchFamily="18" charset="0"/>
              </a:rPr>
              <a:t>= </a:t>
            </a:r>
            <a:r>
              <a:rPr kumimoji="1" lang="zh-CN" altLang="en-US" b="1" dirty="0">
                <a:solidFill>
                  <a:srgbClr val="C00000"/>
                </a:solidFill>
                <a:latin typeface="Times New Roman" pitchFamily="18" charset="0"/>
              </a:rPr>
              <a:t>机器周期</a:t>
            </a:r>
          </a:p>
        </p:txBody>
      </p:sp>
    </p:spTree>
    <p:extLst>
      <p:ext uri="{BB962C8B-B14F-4D97-AF65-F5344CB8AC3E}">
        <p14:creationId xmlns:p14="http://schemas.microsoft.com/office/powerpoint/2010/main" val="307054903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horizont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blinds(horizontal)">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blinds(horizontal)">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linds(horizontal)">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blinds(horizontal)">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blinds(horizontal)">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blinds(horizontal)">
                                      <p:cBhvr>
                                        <p:cTn id="47" dur="5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blinds(horizontal)">
                                      <p:cBhvr>
                                        <p:cTn id="5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utoUpdateAnimBg="0"/>
      <p:bldP spid="41" grpId="0" autoUpdateAnimBg="0"/>
      <p:bldP spid="42" grpId="0" autoUpdateAnimBg="0"/>
      <p:bldP spid="43" grpId="0" autoUpdateAnimBg="0"/>
      <p:bldP spid="44" grpId="0" autoUpdateAnimBg="0"/>
      <p:bldP spid="45" grpId="0" autoUpdateAnimBg="0"/>
      <p:bldP spid="46" grpId="0" autoUpdateAnimBg="0"/>
      <p:bldP spid="47" grpId="0" autoUpdateAnimBg="0"/>
      <p:bldP spid="48" grpId="0" autoUpdateAnimBg="0"/>
      <p:bldP spid="49"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7" y="969385"/>
            <a:ext cx="546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三、</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时钟周期（节拍）</a:t>
            </a:r>
          </a:p>
        </p:txBody>
      </p:sp>
      <p:sp>
        <p:nvSpPr>
          <p:cNvPr id="14" name="Text Box 3"/>
          <p:cNvSpPr txBox="1">
            <a:spLocks noChangeArrowheads="1"/>
          </p:cNvSpPr>
          <p:nvPr/>
        </p:nvSpPr>
        <p:spPr bwMode="auto">
          <a:xfrm>
            <a:off x="1106488" y="1510434"/>
            <a:ext cx="5134739"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itchFamily="18" charset="0"/>
              </a:rPr>
              <a:t>一个机器周期内可完成若干个微操作</a:t>
            </a:r>
          </a:p>
        </p:txBody>
      </p:sp>
      <p:sp>
        <p:nvSpPr>
          <p:cNvPr id="15" name="Text Box 4"/>
          <p:cNvSpPr txBox="1">
            <a:spLocks noChangeArrowheads="1"/>
          </p:cNvSpPr>
          <p:nvPr/>
        </p:nvSpPr>
        <p:spPr bwMode="auto">
          <a:xfrm>
            <a:off x="1106488" y="2336800"/>
            <a:ext cx="3587842"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itchFamily="18" charset="0"/>
              </a:rPr>
              <a:t>每个微操作需一定的时间</a:t>
            </a:r>
          </a:p>
        </p:txBody>
      </p:sp>
      <p:sp>
        <p:nvSpPr>
          <p:cNvPr id="16" name="Text Box 5"/>
          <p:cNvSpPr txBox="1">
            <a:spLocks noChangeArrowheads="1"/>
          </p:cNvSpPr>
          <p:nvPr/>
        </p:nvSpPr>
        <p:spPr bwMode="auto">
          <a:xfrm>
            <a:off x="1036638" y="4446440"/>
            <a:ext cx="7497762"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dirty="0">
                <a:solidFill>
                  <a:srgbClr val="C00000"/>
                </a:solidFill>
                <a:latin typeface="Times New Roman" pitchFamily="18" charset="0"/>
              </a:rPr>
              <a:t>时钟周期是控制计算机操作的最小单位时间</a:t>
            </a:r>
          </a:p>
        </p:txBody>
      </p:sp>
      <p:sp>
        <p:nvSpPr>
          <p:cNvPr id="17" name="Text Box 6"/>
          <p:cNvSpPr txBox="1">
            <a:spLocks noChangeArrowheads="1"/>
          </p:cNvSpPr>
          <p:nvPr/>
        </p:nvSpPr>
        <p:spPr bwMode="auto">
          <a:xfrm>
            <a:off x="1106488" y="3267075"/>
            <a:ext cx="7427912" cy="106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kumimoji="1" lang="zh-CN" altLang="en-US" b="1" dirty="0">
                <a:latin typeface="Times New Roman" pitchFamily="18" charset="0"/>
              </a:rPr>
              <a:t>将一个机器周期分成若干个时间相等的时间段（</a:t>
            </a:r>
            <a:r>
              <a:rPr kumimoji="1" lang="zh-CN" altLang="en-US" b="1" dirty="0">
                <a:solidFill>
                  <a:srgbClr val="C00000"/>
                </a:solidFill>
                <a:latin typeface="Times New Roman" pitchFamily="18" charset="0"/>
              </a:rPr>
              <a:t>节拍、状态、时钟周期</a:t>
            </a:r>
            <a:r>
              <a:rPr kumimoji="1" lang="zh-CN" altLang="en-US" b="1" dirty="0">
                <a:latin typeface="Times New Roman" pitchFamily="18" charset="0"/>
              </a:rPr>
              <a:t>）</a:t>
            </a:r>
          </a:p>
        </p:txBody>
      </p:sp>
      <p:sp>
        <p:nvSpPr>
          <p:cNvPr id="18" name="Text Box 8"/>
          <p:cNvSpPr txBox="1">
            <a:spLocks noChangeArrowheads="1"/>
          </p:cNvSpPr>
          <p:nvPr/>
        </p:nvSpPr>
        <p:spPr bwMode="auto">
          <a:xfrm>
            <a:off x="1036638" y="5429102"/>
            <a:ext cx="6062878"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00000"/>
                </a:solidFill>
                <a:latin typeface="Times New Roman" pitchFamily="18" charset="0"/>
              </a:rPr>
              <a:t>用时钟周期控制产生一个或几个微操作命令</a:t>
            </a:r>
          </a:p>
        </p:txBody>
      </p:sp>
    </p:spTree>
    <p:extLst>
      <p:ext uri="{BB962C8B-B14F-4D97-AF65-F5344CB8AC3E}">
        <p14:creationId xmlns:p14="http://schemas.microsoft.com/office/powerpoint/2010/main" val="2690041599"/>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16" grpId="0" autoUpdateAnimBg="0"/>
      <p:bldP spid="17" grpId="0" autoUpdateAnimBg="0"/>
      <p:bldP spid="18"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7" y="969385"/>
            <a:ext cx="546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三、</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时钟周期（节拍）</a:t>
            </a:r>
          </a:p>
        </p:txBody>
      </p:sp>
      <p:sp>
        <p:nvSpPr>
          <p:cNvPr id="9" name="Freeform 2"/>
          <p:cNvSpPr>
            <a:spLocks/>
          </p:cNvSpPr>
          <p:nvPr/>
        </p:nvSpPr>
        <p:spPr bwMode="auto">
          <a:xfrm>
            <a:off x="609600" y="2583874"/>
            <a:ext cx="8077200" cy="457200"/>
          </a:xfrm>
          <a:custGeom>
            <a:avLst/>
            <a:gdLst>
              <a:gd name="T0" fmla="*/ 0 w 5088"/>
              <a:gd name="T1" fmla="*/ 288 h 288"/>
              <a:gd name="T2" fmla="*/ 240 w 5088"/>
              <a:gd name="T3" fmla="*/ 288 h 288"/>
              <a:gd name="T4" fmla="*/ 240 w 5088"/>
              <a:gd name="T5" fmla="*/ 0 h 288"/>
              <a:gd name="T6" fmla="*/ 816 w 5088"/>
              <a:gd name="T7" fmla="*/ 0 h 288"/>
              <a:gd name="T8" fmla="*/ 816 w 5088"/>
              <a:gd name="T9" fmla="*/ 288 h 288"/>
              <a:gd name="T10" fmla="*/ 2544 w 5088"/>
              <a:gd name="T11" fmla="*/ 288 h 288"/>
              <a:gd name="T12" fmla="*/ 2544 w 5088"/>
              <a:gd name="T13" fmla="*/ 0 h 288"/>
              <a:gd name="T14" fmla="*/ 3120 w 5088"/>
              <a:gd name="T15" fmla="*/ 0 h 288"/>
              <a:gd name="T16" fmla="*/ 3120 w 5088"/>
              <a:gd name="T17" fmla="*/ 288 h 288"/>
              <a:gd name="T18" fmla="*/ 4848 w 5088"/>
              <a:gd name="T19" fmla="*/ 288 h 288"/>
              <a:gd name="T20" fmla="*/ 4848 w 5088"/>
              <a:gd name="T21" fmla="*/ 0 h 288"/>
              <a:gd name="T22" fmla="*/ 5088 w 5088"/>
              <a:gd name="T23"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88" h="288">
                <a:moveTo>
                  <a:pt x="0" y="288"/>
                </a:moveTo>
                <a:lnTo>
                  <a:pt x="240" y="288"/>
                </a:lnTo>
                <a:lnTo>
                  <a:pt x="240" y="0"/>
                </a:lnTo>
                <a:lnTo>
                  <a:pt x="816" y="0"/>
                </a:lnTo>
                <a:lnTo>
                  <a:pt x="816" y="288"/>
                </a:lnTo>
                <a:lnTo>
                  <a:pt x="2544" y="288"/>
                </a:lnTo>
                <a:lnTo>
                  <a:pt x="2544" y="0"/>
                </a:lnTo>
                <a:lnTo>
                  <a:pt x="3120" y="0"/>
                </a:lnTo>
                <a:lnTo>
                  <a:pt x="3120" y="288"/>
                </a:lnTo>
                <a:lnTo>
                  <a:pt x="4848" y="288"/>
                </a:lnTo>
                <a:lnTo>
                  <a:pt x="4848" y="0"/>
                </a:lnTo>
                <a:lnTo>
                  <a:pt x="5088"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10" name="Freeform 3"/>
          <p:cNvSpPr>
            <a:spLocks/>
          </p:cNvSpPr>
          <p:nvPr/>
        </p:nvSpPr>
        <p:spPr bwMode="auto">
          <a:xfrm>
            <a:off x="582613" y="3435928"/>
            <a:ext cx="8124825" cy="463550"/>
          </a:xfrm>
          <a:custGeom>
            <a:avLst/>
            <a:gdLst>
              <a:gd name="T0" fmla="*/ 0 w 5118"/>
              <a:gd name="T1" fmla="*/ 292 h 292"/>
              <a:gd name="T2" fmla="*/ 833 w 5118"/>
              <a:gd name="T3" fmla="*/ 288 h 292"/>
              <a:gd name="T4" fmla="*/ 833 w 5118"/>
              <a:gd name="T5" fmla="*/ 0 h 292"/>
              <a:gd name="T6" fmla="*/ 1409 w 5118"/>
              <a:gd name="T7" fmla="*/ 0 h 292"/>
              <a:gd name="T8" fmla="*/ 1409 w 5118"/>
              <a:gd name="T9" fmla="*/ 288 h 292"/>
              <a:gd name="T10" fmla="*/ 3137 w 5118"/>
              <a:gd name="T11" fmla="*/ 288 h 292"/>
              <a:gd name="T12" fmla="*/ 3137 w 5118"/>
              <a:gd name="T13" fmla="*/ 0 h 292"/>
              <a:gd name="T14" fmla="*/ 3713 w 5118"/>
              <a:gd name="T15" fmla="*/ 0 h 292"/>
              <a:gd name="T16" fmla="*/ 3713 w 5118"/>
              <a:gd name="T17" fmla="*/ 288 h 292"/>
              <a:gd name="T18" fmla="*/ 5118 w 5118"/>
              <a:gd name="T19" fmla="*/ 292 h 292"/>
              <a:gd name="T20" fmla="*/ 5105 w 5118"/>
              <a:gd name="T21" fmla="*/ 292 h 292"/>
              <a:gd name="T22" fmla="*/ 5092 w 5118"/>
              <a:gd name="T23" fmla="*/ 292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18" h="292">
                <a:moveTo>
                  <a:pt x="0" y="292"/>
                </a:moveTo>
                <a:lnTo>
                  <a:pt x="833" y="288"/>
                </a:lnTo>
                <a:lnTo>
                  <a:pt x="833" y="0"/>
                </a:lnTo>
                <a:lnTo>
                  <a:pt x="1409" y="0"/>
                </a:lnTo>
                <a:lnTo>
                  <a:pt x="1409" y="288"/>
                </a:lnTo>
                <a:lnTo>
                  <a:pt x="3137" y="288"/>
                </a:lnTo>
                <a:lnTo>
                  <a:pt x="3137" y="0"/>
                </a:lnTo>
                <a:lnTo>
                  <a:pt x="3713" y="0"/>
                </a:lnTo>
                <a:lnTo>
                  <a:pt x="3713" y="288"/>
                </a:lnTo>
                <a:lnTo>
                  <a:pt x="5118" y="292"/>
                </a:lnTo>
                <a:lnTo>
                  <a:pt x="5105" y="292"/>
                </a:lnTo>
                <a:lnTo>
                  <a:pt x="5092" y="2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11" name="Freeform 4"/>
          <p:cNvSpPr>
            <a:spLocks/>
          </p:cNvSpPr>
          <p:nvPr/>
        </p:nvSpPr>
        <p:spPr bwMode="auto">
          <a:xfrm>
            <a:off x="604838" y="4287982"/>
            <a:ext cx="8208962" cy="477838"/>
          </a:xfrm>
          <a:custGeom>
            <a:avLst/>
            <a:gdLst>
              <a:gd name="T0" fmla="*/ 0 w 5171"/>
              <a:gd name="T1" fmla="*/ 288 h 301"/>
              <a:gd name="T2" fmla="*/ 1400 w 5171"/>
              <a:gd name="T3" fmla="*/ 288 h 301"/>
              <a:gd name="T4" fmla="*/ 1400 w 5171"/>
              <a:gd name="T5" fmla="*/ 0 h 301"/>
              <a:gd name="T6" fmla="*/ 1976 w 5171"/>
              <a:gd name="T7" fmla="*/ 0 h 301"/>
              <a:gd name="T8" fmla="*/ 1976 w 5171"/>
              <a:gd name="T9" fmla="*/ 288 h 301"/>
              <a:gd name="T10" fmla="*/ 3704 w 5171"/>
              <a:gd name="T11" fmla="*/ 288 h 301"/>
              <a:gd name="T12" fmla="*/ 3704 w 5171"/>
              <a:gd name="T13" fmla="*/ 0 h 301"/>
              <a:gd name="T14" fmla="*/ 4280 w 5171"/>
              <a:gd name="T15" fmla="*/ 0 h 301"/>
              <a:gd name="T16" fmla="*/ 4280 w 5171"/>
              <a:gd name="T17" fmla="*/ 288 h 301"/>
              <a:gd name="T18" fmla="*/ 5158 w 5171"/>
              <a:gd name="T19" fmla="*/ 288 h 301"/>
              <a:gd name="T20" fmla="*/ 5158 w 5171"/>
              <a:gd name="T21" fmla="*/ 288 h 301"/>
              <a:gd name="T22" fmla="*/ 5171 w 5171"/>
              <a:gd name="T23"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71" h="301">
                <a:moveTo>
                  <a:pt x="0" y="288"/>
                </a:moveTo>
                <a:lnTo>
                  <a:pt x="1400" y="288"/>
                </a:lnTo>
                <a:lnTo>
                  <a:pt x="1400" y="0"/>
                </a:lnTo>
                <a:lnTo>
                  <a:pt x="1976" y="0"/>
                </a:lnTo>
                <a:lnTo>
                  <a:pt x="1976" y="288"/>
                </a:lnTo>
                <a:lnTo>
                  <a:pt x="3704" y="288"/>
                </a:lnTo>
                <a:lnTo>
                  <a:pt x="3704" y="0"/>
                </a:lnTo>
                <a:lnTo>
                  <a:pt x="4280" y="0"/>
                </a:lnTo>
                <a:lnTo>
                  <a:pt x="4280" y="288"/>
                </a:lnTo>
                <a:lnTo>
                  <a:pt x="5158" y="288"/>
                </a:lnTo>
                <a:lnTo>
                  <a:pt x="5158" y="288"/>
                </a:lnTo>
                <a:lnTo>
                  <a:pt x="5171" y="301"/>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12" name="Freeform 5"/>
          <p:cNvSpPr>
            <a:spLocks/>
          </p:cNvSpPr>
          <p:nvPr/>
        </p:nvSpPr>
        <p:spPr bwMode="auto">
          <a:xfrm>
            <a:off x="623888" y="5082597"/>
            <a:ext cx="8291512" cy="463550"/>
          </a:xfrm>
          <a:custGeom>
            <a:avLst/>
            <a:gdLst>
              <a:gd name="T0" fmla="*/ 0 w 5223"/>
              <a:gd name="T1" fmla="*/ 292 h 292"/>
              <a:gd name="T2" fmla="*/ 1967 w 5223"/>
              <a:gd name="T3" fmla="*/ 288 h 292"/>
              <a:gd name="T4" fmla="*/ 1967 w 5223"/>
              <a:gd name="T5" fmla="*/ 0 h 292"/>
              <a:gd name="T6" fmla="*/ 2543 w 5223"/>
              <a:gd name="T7" fmla="*/ 0 h 292"/>
              <a:gd name="T8" fmla="*/ 2543 w 5223"/>
              <a:gd name="T9" fmla="*/ 288 h 292"/>
              <a:gd name="T10" fmla="*/ 4271 w 5223"/>
              <a:gd name="T11" fmla="*/ 288 h 292"/>
              <a:gd name="T12" fmla="*/ 4271 w 5223"/>
              <a:gd name="T13" fmla="*/ 0 h 292"/>
              <a:gd name="T14" fmla="*/ 4847 w 5223"/>
              <a:gd name="T15" fmla="*/ 0 h 292"/>
              <a:gd name="T16" fmla="*/ 4847 w 5223"/>
              <a:gd name="T17" fmla="*/ 288 h 292"/>
              <a:gd name="T18" fmla="*/ 5210 w 5223"/>
              <a:gd name="T19" fmla="*/ 292 h 292"/>
              <a:gd name="T20" fmla="*/ 5210 w 5223"/>
              <a:gd name="T21" fmla="*/ 279 h 292"/>
              <a:gd name="T22" fmla="*/ 5223 w 5223"/>
              <a:gd name="T23" fmla="*/ 292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23" h="292">
                <a:moveTo>
                  <a:pt x="0" y="292"/>
                </a:moveTo>
                <a:lnTo>
                  <a:pt x="1967" y="288"/>
                </a:lnTo>
                <a:lnTo>
                  <a:pt x="1967" y="0"/>
                </a:lnTo>
                <a:lnTo>
                  <a:pt x="2543" y="0"/>
                </a:lnTo>
                <a:lnTo>
                  <a:pt x="2543" y="288"/>
                </a:lnTo>
                <a:lnTo>
                  <a:pt x="4271" y="288"/>
                </a:lnTo>
                <a:lnTo>
                  <a:pt x="4271" y="0"/>
                </a:lnTo>
                <a:lnTo>
                  <a:pt x="4847" y="0"/>
                </a:lnTo>
                <a:lnTo>
                  <a:pt x="4847" y="288"/>
                </a:lnTo>
                <a:lnTo>
                  <a:pt x="5210" y="292"/>
                </a:lnTo>
                <a:lnTo>
                  <a:pt x="5210" y="279"/>
                </a:lnTo>
                <a:lnTo>
                  <a:pt x="5223" y="2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13" name="Text Box 6"/>
          <p:cNvSpPr txBox="1">
            <a:spLocks noChangeArrowheads="1"/>
          </p:cNvSpPr>
          <p:nvPr/>
        </p:nvSpPr>
        <p:spPr bwMode="auto">
          <a:xfrm>
            <a:off x="60325" y="1956957"/>
            <a:ext cx="795411" cy="53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200" b="1">
                <a:solidFill>
                  <a:srgbClr val="C00000"/>
                </a:solidFill>
                <a:latin typeface="Times New Roman" pitchFamily="18" charset="0"/>
              </a:rPr>
              <a:t>CLK</a:t>
            </a:r>
          </a:p>
        </p:txBody>
      </p:sp>
      <p:sp>
        <p:nvSpPr>
          <p:cNvPr id="19" name="Text Box 7"/>
          <p:cNvSpPr txBox="1">
            <a:spLocks noChangeArrowheads="1"/>
          </p:cNvSpPr>
          <p:nvPr/>
        </p:nvSpPr>
        <p:spPr bwMode="auto">
          <a:xfrm>
            <a:off x="152400" y="2736274"/>
            <a:ext cx="47481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C00000"/>
                </a:solidFill>
                <a:latin typeface="Times New Roman" pitchFamily="18" charset="0"/>
              </a:rPr>
              <a:t>T</a:t>
            </a:r>
            <a:r>
              <a:rPr kumimoji="1" lang="en-US" altLang="zh-CN" sz="2400" b="1" baseline="-15000">
                <a:solidFill>
                  <a:srgbClr val="C00000"/>
                </a:solidFill>
                <a:latin typeface="Times New Roman" pitchFamily="18" charset="0"/>
              </a:rPr>
              <a:t>0</a:t>
            </a:r>
          </a:p>
        </p:txBody>
      </p:sp>
      <p:sp>
        <p:nvSpPr>
          <p:cNvPr id="20" name="Text Box 8"/>
          <p:cNvSpPr txBox="1">
            <a:spLocks noChangeArrowheads="1"/>
          </p:cNvSpPr>
          <p:nvPr/>
        </p:nvSpPr>
        <p:spPr bwMode="auto">
          <a:xfrm>
            <a:off x="152400" y="3588328"/>
            <a:ext cx="47481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C00000"/>
                </a:solidFill>
                <a:latin typeface="Times New Roman" pitchFamily="18" charset="0"/>
              </a:rPr>
              <a:t>T</a:t>
            </a:r>
            <a:r>
              <a:rPr kumimoji="1" lang="en-US" altLang="zh-CN" sz="2400" b="1" baseline="-15000">
                <a:solidFill>
                  <a:srgbClr val="C00000"/>
                </a:solidFill>
                <a:latin typeface="Times New Roman" pitchFamily="18" charset="0"/>
              </a:rPr>
              <a:t>1</a:t>
            </a:r>
          </a:p>
        </p:txBody>
      </p:sp>
      <p:sp>
        <p:nvSpPr>
          <p:cNvPr id="21" name="Text Box 9"/>
          <p:cNvSpPr txBox="1">
            <a:spLocks noChangeArrowheads="1"/>
          </p:cNvSpPr>
          <p:nvPr/>
        </p:nvSpPr>
        <p:spPr bwMode="auto">
          <a:xfrm>
            <a:off x="152400" y="4440382"/>
            <a:ext cx="47481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C00000"/>
                </a:solidFill>
                <a:latin typeface="Times New Roman" pitchFamily="18" charset="0"/>
              </a:rPr>
              <a:t>T</a:t>
            </a:r>
            <a:r>
              <a:rPr kumimoji="1" lang="en-US" altLang="zh-CN" sz="2400" b="1" baseline="-15000">
                <a:solidFill>
                  <a:srgbClr val="C00000"/>
                </a:solidFill>
                <a:latin typeface="Times New Roman" pitchFamily="18" charset="0"/>
              </a:rPr>
              <a:t>2</a:t>
            </a:r>
          </a:p>
        </p:txBody>
      </p:sp>
      <p:sp>
        <p:nvSpPr>
          <p:cNvPr id="22" name="Text Box 10"/>
          <p:cNvSpPr txBox="1">
            <a:spLocks noChangeArrowheads="1"/>
          </p:cNvSpPr>
          <p:nvPr/>
        </p:nvSpPr>
        <p:spPr bwMode="auto">
          <a:xfrm>
            <a:off x="152400" y="5250872"/>
            <a:ext cx="47481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C00000"/>
                </a:solidFill>
                <a:latin typeface="Times New Roman" pitchFamily="18" charset="0"/>
              </a:rPr>
              <a:t>T</a:t>
            </a:r>
            <a:r>
              <a:rPr kumimoji="1" lang="en-US" altLang="zh-CN" sz="2400" b="1" baseline="-15000">
                <a:solidFill>
                  <a:srgbClr val="C00000"/>
                </a:solidFill>
                <a:latin typeface="Times New Roman" pitchFamily="18" charset="0"/>
              </a:rPr>
              <a:t>3</a:t>
            </a:r>
          </a:p>
        </p:txBody>
      </p:sp>
      <p:grpSp>
        <p:nvGrpSpPr>
          <p:cNvPr id="23" name="Group 11"/>
          <p:cNvGrpSpPr>
            <a:grpSpLocks/>
          </p:cNvGrpSpPr>
          <p:nvPr/>
        </p:nvGrpSpPr>
        <p:grpSpPr bwMode="auto">
          <a:xfrm>
            <a:off x="609600" y="1880758"/>
            <a:ext cx="8077200" cy="3665390"/>
            <a:chOff x="384" y="1008"/>
            <a:chExt cx="5088" cy="2592"/>
          </a:xfrm>
        </p:grpSpPr>
        <p:grpSp>
          <p:nvGrpSpPr>
            <p:cNvPr id="24" name="Group 12"/>
            <p:cNvGrpSpPr>
              <a:grpSpLocks/>
            </p:cNvGrpSpPr>
            <p:nvPr/>
          </p:nvGrpSpPr>
          <p:grpSpPr bwMode="auto">
            <a:xfrm>
              <a:off x="384" y="1008"/>
              <a:ext cx="5088" cy="292"/>
              <a:chOff x="384" y="1964"/>
              <a:chExt cx="5088" cy="292"/>
            </a:xfrm>
          </p:grpSpPr>
          <p:sp>
            <p:nvSpPr>
              <p:cNvPr id="35" name="Freeform 13"/>
              <p:cNvSpPr>
                <a:spLocks/>
              </p:cNvSpPr>
              <p:nvPr/>
            </p:nvSpPr>
            <p:spPr bwMode="auto">
              <a:xfrm>
                <a:off x="384" y="1964"/>
                <a:ext cx="480" cy="288"/>
              </a:xfrm>
              <a:custGeom>
                <a:avLst/>
                <a:gdLst>
                  <a:gd name="T0" fmla="*/ 0 w 480"/>
                  <a:gd name="T1" fmla="*/ 288 h 288"/>
                  <a:gd name="T2" fmla="*/ 240 w 480"/>
                  <a:gd name="T3" fmla="*/ 288 h 288"/>
                  <a:gd name="T4" fmla="*/ 240 w 480"/>
                  <a:gd name="T5" fmla="*/ 0 h 288"/>
                  <a:gd name="T6" fmla="*/ 480 w 480"/>
                  <a:gd name="T7" fmla="*/ 0 h 288"/>
                  <a:gd name="T8" fmla="*/ 480 w 480"/>
                  <a:gd name="T9" fmla="*/ 288 h 288"/>
                </a:gdLst>
                <a:ahLst/>
                <a:cxnLst>
                  <a:cxn ang="0">
                    <a:pos x="T0" y="T1"/>
                  </a:cxn>
                  <a:cxn ang="0">
                    <a:pos x="T2" y="T3"/>
                  </a:cxn>
                  <a:cxn ang="0">
                    <a:pos x="T4" y="T5"/>
                  </a:cxn>
                  <a:cxn ang="0">
                    <a:pos x="T6" y="T7"/>
                  </a:cxn>
                  <a:cxn ang="0">
                    <a:pos x="T8" y="T9"/>
                  </a:cxn>
                </a:cxnLst>
                <a:rect l="0" t="0" r="r" b="b"/>
                <a:pathLst>
                  <a:path w="480" h="288">
                    <a:moveTo>
                      <a:pt x="0" y="288"/>
                    </a:moveTo>
                    <a:lnTo>
                      <a:pt x="240" y="288"/>
                    </a:lnTo>
                    <a:lnTo>
                      <a:pt x="240" y="0"/>
                    </a:lnTo>
                    <a:lnTo>
                      <a:pt x="480" y="0"/>
                    </a:lnTo>
                    <a:lnTo>
                      <a:pt x="4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6" name="Freeform 14"/>
              <p:cNvSpPr>
                <a:spLocks/>
              </p:cNvSpPr>
              <p:nvPr/>
            </p:nvSpPr>
            <p:spPr bwMode="auto">
              <a:xfrm>
                <a:off x="860"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7" name="Freeform 15"/>
              <p:cNvSpPr>
                <a:spLocks/>
              </p:cNvSpPr>
              <p:nvPr/>
            </p:nvSpPr>
            <p:spPr bwMode="auto">
              <a:xfrm>
                <a:off x="1436"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8" name="Freeform 16"/>
              <p:cNvSpPr>
                <a:spLocks/>
              </p:cNvSpPr>
              <p:nvPr/>
            </p:nvSpPr>
            <p:spPr bwMode="auto">
              <a:xfrm>
                <a:off x="2012"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9" name="Freeform 17"/>
              <p:cNvSpPr>
                <a:spLocks/>
              </p:cNvSpPr>
              <p:nvPr/>
            </p:nvSpPr>
            <p:spPr bwMode="auto">
              <a:xfrm>
                <a:off x="2588"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0" name="Freeform 18"/>
              <p:cNvSpPr>
                <a:spLocks/>
              </p:cNvSpPr>
              <p:nvPr/>
            </p:nvSpPr>
            <p:spPr bwMode="auto">
              <a:xfrm>
                <a:off x="3164"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1" name="Freeform 19"/>
              <p:cNvSpPr>
                <a:spLocks/>
              </p:cNvSpPr>
              <p:nvPr/>
            </p:nvSpPr>
            <p:spPr bwMode="auto">
              <a:xfrm>
                <a:off x="3740"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2" name="Freeform 20"/>
              <p:cNvSpPr>
                <a:spLocks/>
              </p:cNvSpPr>
              <p:nvPr/>
            </p:nvSpPr>
            <p:spPr bwMode="auto">
              <a:xfrm>
                <a:off x="4316"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288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28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3" name="Freeform 21"/>
              <p:cNvSpPr>
                <a:spLocks/>
              </p:cNvSpPr>
              <p:nvPr/>
            </p:nvSpPr>
            <p:spPr bwMode="auto">
              <a:xfrm>
                <a:off x="4892" y="1964"/>
                <a:ext cx="580" cy="292"/>
              </a:xfrm>
              <a:custGeom>
                <a:avLst/>
                <a:gdLst>
                  <a:gd name="T0" fmla="*/ 0 w 580"/>
                  <a:gd name="T1" fmla="*/ 292 h 292"/>
                  <a:gd name="T2" fmla="*/ 340 w 580"/>
                  <a:gd name="T3" fmla="*/ 288 h 292"/>
                  <a:gd name="T4" fmla="*/ 340 w 580"/>
                  <a:gd name="T5" fmla="*/ 0 h 292"/>
                  <a:gd name="T6" fmla="*/ 580 w 580"/>
                  <a:gd name="T7" fmla="*/ 0 h 292"/>
                  <a:gd name="T8" fmla="*/ 580 w 580"/>
                  <a:gd name="T9" fmla="*/ 4 h 292"/>
                </a:gdLst>
                <a:ahLst/>
                <a:cxnLst>
                  <a:cxn ang="0">
                    <a:pos x="T0" y="T1"/>
                  </a:cxn>
                  <a:cxn ang="0">
                    <a:pos x="T2" y="T3"/>
                  </a:cxn>
                  <a:cxn ang="0">
                    <a:pos x="T4" y="T5"/>
                  </a:cxn>
                  <a:cxn ang="0">
                    <a:pos x="T6" y="T7"/>
                  </a:cxn>
                  <a:cxn ang="0">
                    <a:pos x="T8" y="T9"/>
                  </a:cxn>
                </a:cxnLst>
                <a:rect l="0" t="0" r="r" b="b"/>
                <a:pathLst>
                  <a:path w="580" h="292">
                    <a:moveTo>
                      <a:pt x="0" y="292"/>
                    </a:moveTo>
                    <a:lnTo>
                      <a:pt x="340" y="288"/>
                    </a:lnTo>
                    <a:lnTo>
                      <a:pt x="340" y="0"/>
                    </a:lnTo>
                    <a:lnTo>
                      <a:pt x="580" y="0"/>
                    </a:lnTo>
                    <a:lnTo>
                      <a:pt x="580" y="4"/>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grpSp>
        <p:grpSp>
          <p:nvGrpSpPr>
            <p:cNvPr id="25" name="Group 22"/>
            <p:cNvGrpSpPr>
              <a:grpSpLocks/>
            </p:cNvGrpSpPr>
            <p:nvPr/>
          </p:nvGrpSpPr>
          <p:grpSpPr bwMode="auto">
            <a:xfrm>
              <a:off x="624" y="1132"/>
              <a:ext cx="4608" cy="2468"/>
              <a:chOff x="624" y="1132"/>
              <a:chExt cx="4608" cy="2720"/>
            </a:xfrm>
          </p:grpSpPr>
          <p:sp>
            <p:nvSpPr>
              <p:cNvPr id="26" name="Line 23"/>
              <p:cNvSpPr>
                <a:spLocks noChangeShapeType="1"/>
              </p:cNvSpPr>
              <p:nvPr/>
            </p:nvSpPr>
            <p:spPr bwMode="auto">
              <a:xfrm>
                <a:off x="624"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27" name="Line 24"/>
              <p:cNvSpPr>
                <a:spLocks noChangeShapeType="1"/>
              </p:cNvSpPr>
              <p:nvPr/>
            </p:nvSpPr>
            <p:spPr bwMode="auto">
              <a:xfrm>
                <a:off x="1200"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28" name="Line 25"/>
              <p:cNvSpPr>
                <a:spLocks noChangeShapeType="1"/>
              </p:cNvSpPr>
              <p:nvPr/>
            </p:nvSpPr>
            <p:spPr bwMode="auto">
              <a:xfrm>
                <a:off x="1776"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29" name="Line 26"/>
              <p:cNvSpPr>
                <a:spLocks noChangeShapeType="1"/>
              </p:cNvSpPr>
              <p:nvPr/>
            </p:nvSpPr>
            <p:spPr bwMode="auto">
              <a:xfrm>
                <a:off x="2352"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0" name="Line 27"/>
              <p:cNvSpPr>
                <a:spLocks noChangeShapeType="1"/>
              </p:cNvSpPr>
              <p:nvPr/>
            </p:nvSpPr>
            <p:spPr bwMode="auto">
              <a:xfrm>
                <a:off x="2928"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1" name="Line 28"/>
              <p:cNvSpPr>
                <a:spLocks noChangeShapeType="1"/>
              </p:cNvSpPr>
              <p:nvPr/>
            </p:nvSpPr>
            <p:spPr bwMode="auto">
              <a:xfrm>
                <a:off x="3504"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2" name="Line 29"/>
              <p:cNvSpPr>
                <a:spLocks noChangeShapeType="1"/>
              </p:cNvSpPr>
              <p:nvPr/>
            </p:nvSpPr>
            <p:spPr bwMode="auto">
              <a:xfrm>
                <a:off x="4080"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3" name="Line 30"/>
              <p:cNvSpPr>
                <a:spLocks noChangeShapeType="1"/>
              </p:cNvSpPr>
              <p:nvPr/>
            </p:nvSpPr>
            <p:spPr bwMode="auto">
              <a:xfrm>
                <a:off x="4656"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34" name="Line 31"/>
              <p:cNvSpPr>
                <a:spLocks noChangeShapeType="1"/>
              </p:cNvSpPr>
              <p:nvPr/>
            </p:nvSpPr>
            <p:spPr bwMode="auto">
              <a:xfrm>
                <a:off x="5232" y="1132"/>
                <a:ext cx="0" cy="2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grpSp>
      </p:grpSp>
      <p:grpSp>
        <p:nvGrpSpPr>
          <p:cNvPr id="44" name="Group 32"/>
          <p:cNvGrpSpPr>
            <a:grpSpLocks/>
          </p:cNvGrpSpPr>
          <p:nvPr/>
        </p:nvGrpSpPr>
        <p:grpSpPr bwMode="auto">
          <a:xfrm>
            <a:off x="838200" y="1271157"/>
            <a:ext cx="1217613" cy="625475"/>
            <a:chOff x="528" y="624"/>
            <a:chExt cx="767" cy="394"/>
          </a:xfrm>
        </p:grpSpPr>
        <p:sp>
          <p:nvSpPr>
            <p:cNvPr id="45" name="Line 33"/>
            <p:cNvSpPr>
              <a:spLocks noChangeShapeType="1"/>
            </p:cNvSpPr>
            <p:nvPr/>
          </p:nvSpPr>
          <p:spPr bwMode="auto">
            <a:xfrm>
              <a:off x="624" y="82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6" name="Line 34"/>
            <p:cNvSpPr>
              <a:spLocks noChangeShapeType="1"/>
            </p:cNvSpPr>
            <p:nvPr/>
          </p:nvSpPr>
          <p:spPr bwMode="auto">
            <a:xfrm>
              <a:off x="1200" y="82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7" name="Line 35"/>
            <p:cNvSpPr>
              <a:spLocks noChangeShapeType="1"/>
            </p:cNvSpPr>
            <p:nvPr/>
          </p:nvSpPr>
          <p:spPr bwMode="auto">
            <a:xfrm flipV="1">
              <a:off x="624" y="874"/>
              <a:ext cx="576" cy="0"/>
            </a:xfrm>
            <a:prstGeom prst="line">
              <a:avLst/>
            </a:prstGeom>
            <a:noFill/>
            <a:ln w="19050">
              <a:solidFill>
                <a:schemeClr val="folHlink"/>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48" name="Text Box 36"/>
            <p:cNvSpPr txBox="1">
              <a:spLocks noChangeArrowheads="1"/>
            </p:cNvSpPr>
            <p:nvPr/>
          </p:nvSpPr>
          <p:spPr bwMode="auto">
            <a:xfrm>
              <a:off x="528" y="624"/>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00000"/>
                  </a:solidFill>
                  <a:latin typeface="Times New Roman" pitchFamily="18" charset="0"/>
                </a:rPr>
                <a:t>时钟周期</a:t>
              </a:r>
            </a:p>
          </p:txBody>
        </p:sp>
      </p:grpSp>
      <p:grpSp>
        <p:nvGrpSpPr>
          <p:cNvPr id="49" name="Group 38"/>
          <p:cNvGrpSpPr>
            <a:grpSpLocks/>
          </p:cNvGrpSpPr>
          <p:nvPr/>
        </p:nvGrpSpPr>
        <p:grpSpPr bwMode="auto">
          <a:xfrm>
            <a:off x="990600" y="5708072"/>
            <a:ext cx="7315200" cy="933450"/>
            <a:chOff x="624" y="3744"/>
            <a:chExt cx="4608" cy="588"/>
          </a:xfrm>
        </p:grpSpPr>
        <p:sp>
          <p:nvSpPr>
            <p:cNvPr id="50" name="Line 39"/>
            <p:cNvSpPr>
              <a:spLocks noChangeShapeType="1"/>
            </p:cNvSpPr>
            <p:nvPr/>
          </p:nvSpPr>
          <p:spPr bwMode="auto">
            <a:xfrm>
              <a:off x="624" y="3984"/>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1" name="Line 40"/>
            <p:cNvSpPr>
              <a:spLocks noChangeShapeType="1"/>
            </p:cNvSpPr>
            <p:nvPr/>
          </p:nvSpPr>
          <p:spPr bwMode="auto">
            <a:xfrm>
              <a:off x="624" y="3792"/>
              <a:ext cx="0" cy="3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2" name="Line 41"/>
            <p:cNvSpPr>
              <a:spLocks noChangeShapeType="1"/>
            </p:cNvSpPr>
            <p:nvPr/>
          </p:nvSpPr>
          <p:spPr bwMode="auto">
            <a:xfrm>
              <a:off x="1200"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3" name="Line 42"/>
            <p:cNvSpPr>
              <a:spLocks noChangeShapeType="1"/>
            </p:cNvSpPr>
            <p:nvPr/>
          </p:nvSpPr>
          <p:spPr bwMode="auto">
            <a:xfrm>
              <a:off x="1776"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4" name="Line 43"/>
            <p:cNvSpPr>
              <a:spLocks noChangeShapeType="1"/>
            </p:cNvSpPr>
            <p:nvPr/>
          </p:nvSpPr>
          <p:spPr bwMode="auto">
            <a:xfrm>
              <a:off x="2352"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5" name="Line 44"/>
            <p:cNvSpPr>
              <a:spLocks noChangeShapeType="1"/>
            </p:cNvSpPr>
            <p:nvPr/>
          </p:nvSpPr>
          <p:spPr bwMode="auto">
            <a:xfrm>
              <a:off x="2928" y="3792"/>
              <a:ext cx="0" cy="3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6" name="Line 45"/>
            <p:cNvSpPr>
              <a:spLocks noChangeShapeType="1"/>
            </p:cNvSpPr>
            <p:nvPr/>
          </p:nvSpPr>
          <p:spPr bwMode="auto">
            <a:xfrm>
              <a:off x="3504"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7" name="Line 46"/>
            <p:cNvSpPr>
              <a:spLocks noChangeShapeType="1"/>
            </p:cNvSpPr>
            <p:nvPr/>
          </p:nvSpPr>
          <p:spPr bwMode="auto">
            <a:xfrm>
              <a:off x="4080"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8" name="Line 47"/>
            <p:cNvSpPr>
              <a:spLocks noChangeShapeType="1"/>
            </p:cNvSpPr>
            <p:nvPr/>
          </p:nvSpPr>
          <p:spPr bwMode="auto">
            <a:xfrm>
              <a:off x="4656" y="3882"/>
              <a:ext cx="0" cy="1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59" name="Line 48"/>
            <p:cNvSpPr>
              <a:spLocks noChangeShapeType="1"/>
            </p:cNvSpPr>
            <p:nvPr/>
          </p:nvSpPr>
          <p:spPr bwMode="auto">
            <a:xfrm>
              <a:off x="5232" y="3792"/>
              <a:ext cx="0" cy="3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60" name="Line 49"/>
            <p:cNvSpPr>
              <a:spLocks noChangeShapeType="1"/>
            </p:cNvSpPr>
            <p:nvPr/>
          </p:nvSpPr>
          <p:spPr bwMode="auto">
            <a:xfrm>
              <a:off x="2256" y="4118"/>
              <a:ext cx="67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61" name="Line 50"/>
            <p:cNvSpPr>
              <a:spLocks noChangeShapeType="1"/>
            </p:cNvSpPr>
            <p:nvPr/>
          </p:nvSpPr>
          <p:spPr bwMode="auto">
            <a:xfrm rot="10800000">
              <a:off x="624" y="4118"/>
              <a:ext cx="67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62" name="Text Box 51"/>
            <p:cNvSpPr txBox="1">
              <a:spLocks noChangeArrowheads="1"/>
            </p:cNvSpPr>
            <p:nvPr/>
          </p:nvSpPr>
          <p:spPr bwMode="auto">
            <a:xfrm>
              <a:off x="1430" y="4020"/>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00000"/>
                  </a:solidFill>
                  <a:latin typeface="Times New Roman" pitchFamily="18" charset="0"/>
                </a:rPr>
                <a:t>机器周期</a:t>
              </a:r>
            </a:p>
          </p:txBody>
        </p:sp>
        <p:sp>
          <p:nvSpPr>
            <p:cNvPr id="63" name="Line 52"/>
            <p:cNvSpPr>
              <a:spLocks noChangeShapeType="1"/>
            </p:cNvSpPr>
            <p:nvPr/>
          </p:nvSpPr>
          <p:spPr bwMode="auto">
            <a:xfrm>
              <a:off x="4560" y="4120"/>
              <a:ext cx="67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64" name="Line 53"/>
            <p:cNvSpPr>
              <a:spLocks noChangeShapeType="1"/>
            </p:cNvSpPr>
            <p:nvPr/>
          </p:nvSpPr>
          <p:spPr bwMode="auto">
            <a:xfrm rot="10800000">
              <a:off x="2928" y="4120"/>
              <a:ext cx="672"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C00000"/>
                </a:solidFill>
              </a:endParaRPr>
            </a:p>
          </p:txBody>
        </p:sp>
        <p:sp>
          <p:nvSpPr>
            <p:cNvPr id="65" name="Text Box 54"/>
            <p:cNvSpPr txBox="1">
              <a:spLocks noChangeArrowheads="1"/>
            </p:cNvSpPr>
            <p:nvPr/>
          </p:nvSpPr>
          <p:spPr bwMode="auto">
            <a:xfrm>
              <a:off x="3734" y="4022"/>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C00000"/>
                  </a:solidFill>
                  <a:latin typeface="Times New Roman" pitchFamily="18" charset="0"/>
                </a:rPr>
                <a:t>机器周期</a:t>
              </a:r>
            </a:p>
          </p:txBody>
        </p:sp>
        <p:sp>
          <p:nvSpPr>
            <p:cNvPr id="66" name="Text Box 55"/>
            <p:cNvSpPr txBox="1">
              <a:spLocks noChangeArrowheads="1"/>
            </p:cNvSpPr>
            <p:nvPr/>
          </p:nvSpPr>
          <p:spPr bwMode="auto">
            <a:xfrm>
              <a:off x="768"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0</a:t>
              </a:r>
            </a:p>
          </p:txBody>
        </p:sp>
        <p:sp>
          <p:nvSpPr>
            <p:cNvPr id="67" name="Text Box 56"/>
            <p:cNvSpPr txBox="1">
              <a:spLocks noChangeArrowheads="1"/>
            </p:cNvSpPr>
            <p:nvPr/>
          </p:nvSpPr>
          <p:spPr bwMode="auto">
            <a:xfrm>
              <a:off x="1357"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1</a:t>
              </a:r>
            </a:p>
          </p:txBody>
        </p:sp>
        <p:sp>
          <p:nvSpPr>
            <p:cNvPr id="68" name="Text Box 57"/>
            <p:cNvSpPr txBox="1">
              <a:spLocks noChangeArrowheads="1"/>
            </p:cNvSpPr>
            <p:nvPr/>
          </p:nvSpPr>
          <p:spPr bwMode="auto">
            <a:xfrm>
              <a:off x="1933"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2</a:t>
              </a:r>
            </a:p>
          </p:txBody>
        </p:sp>
        <p:sp>
          <p:nvSpPr>
            <p:cNvPr id="69" name="Text Box 58"/>
            <p:cNvSpPr txBox="1">
              <a:spLocks noChangeArrowheads="1"/>
            </p:cNvSpPr>
            <p:nvPr/>
          </p:nvSpPr>
          <p:spPr bwMode="auto">
            <a:xfrm>
              <a:off x="2509"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3</a:t>
              </a:r>
            </a:p>
          </p:txBody>
        </p:sp>
        <p:sp>
          <p:nvSpPr>
            <p:cNvPr id="70" name="Text Box 59"/>
            <p:cNvSpPr txBox="1">
              <a:spLocks noChangeArrowheads="1"/>
            </p:cNvSpPr>
            <p:nvPr/>
          </p:nvSpPr>
          <p:spPr bwMode="auto">
            <a:xfrm>
              <a:off x="3072"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0</a:t>
              </a:r>
            </a:p>
          </p:txBody>
        </p:sp>
        <p:sp>
          <p:nvSpPr>
            <p:cNvPr id="71" name="Text Box 60"/>
            <p:cNvSpPr txBox="1">
              <a:spLocks noChangeArrowheads="1"/>
            </p:cNvSpPr>
            <p:nvPr/>
          </p:nvSpPr>
          <p:spPr bwMode="auto">
            <a:xfrm>
              <a:off x="3661"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1</a:t>
              </a:r>
            </a:p>
          </p:txBody>
        </p:sp>
        <p:sp>
          <p:nvSpPr>
            <p:cNvPr id="72" name="Text Box 61"/>
            <p:cNvSpPr txBox="1">
              <a:spLocks noChangeArrowheads="1"/>
            </p:cNvSpPr>
            <p:nvPr/>
          </p:nvSpPr>
          <p:spPr bwMode="auto">
            <a:xfrm>
              <a:off x="4237"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2</a:t>
              </a:r>
            </a:p>
          </p:txBody>
        </p:sp>
        <p:sp>
          <p:nvSpPr>
            <p:cNvPr id="73" name="Text Box 62"/>
            <p:cNvSpPr txBox="1">
              <a:spLocks noChangeArrowheads="1"/>
            </p:cNvSpPr>
            <p:nvPr/>
          </p:nvSpPr>
          <p:spPr bwMode="auto">
            <a:xfrm>
              <a:off x="4813" y="3744"/>
              <a:ext cx="26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C00000"/>
                  </a:solidFill>
                  <a:latin typeface="Times New Roman" pitchFamily="18" charset="0"/>
                </a:rPr>
                <a:t>T</a:t>
              </a:r>
              <a:r>
                <a:rPr kumimoji="1" lang="en-US" altLang="zh-CN" sz="2000" b="1" baseline="-15000">
                  <a:solidFill>
                    <a:srgbClr val="C00000"/>
                  </a:solidFill>
                  <a:latin typeface="Times New Roman" pitchFamily="18" charset="0"/>
                </a:rPr>
                <a:t>3</a:t>
              </a:r>
            </a:p>
          </p:txBody>
        </p:sp>
      </p:grpSp>
    </p:spTree>
    <p:extLst>
      <p:ext uri="{BB962C8B-B14F-4D97-AF65-F5344CB8AC3E}">
        <p14:creationId xmlns:p14="http://schemas.microsoft.com/office/powerpoint/2010/main" val="249660101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outVertic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arn(outVertical)">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linds(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trips(downRigh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linds(horizontal)">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trips(downRigh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blinds(horizontal)">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strips(downRigh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linds(horizontal)">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strips(downRigh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barn(outVertical)">
                                      <p:cBhvr>
                                        <p:cTn id="6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utoUpdateAnimBg="0"/>
      <p:bldP spid="19" grpId="0" autoUpdateAnimBg="0"/>
      <p:bldP spid="20" grpId="0" autoUpdateAnimBg="0"/>
      <p:bldP spid="21" grpId="0" autoUpdateAnimBg="0"/>
      <p:bldP spid="2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7" y="969385"/>
            <a:ext cx="546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四、</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多级时序系统</a:t>
            </a:r>
          </a:p>
        </p:txBody>
      </p:sp>
      <p:sp>
        <p:nvSpPr>
          <p:cNvPr id="9" name="Text Box 3"/>
          <p:cNvSpPr txBox="1">
            <a:spLocks noChangeArrowheads="1"/>
          </p:cNvSpPr>
          <p:nvPr/>
        </p:nvSpPr>
        <p:spPr bwMode="auto">
          <a:xfrm>
            <a:off x="1050925" y="1385892"/>
            <a:ext cx="5088252" cy="449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机器周期、节拍（状态）组成多级时序系统</a:t>
            </a:r>
          </a:p>
        </p:txBody>
      </p:sp>
      <p:sp>
        <p:nvSpPr>
          <p:cNvPr id="10" name="Text Box 4"/>
          <p:cNvSpPr txBox="1">
            <a:spLocks noChangeArrowheads="1"/>
          </p:cNvSpPr>
          <p:nvPr/>
        </p:nvSpPr>
        <p:spPr bwMode="auto">
          <a:xfrm>
            <a:off x="1050925" y="1853482"/>
            <a:ext cx="66167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dirty="0">
                <a:latin typeface="Times New Roman" pitchFamily="18" charset="0"/>
              </a:rPr>
              <a:t>一个指令周期包含若干个机器周期</a:t>
            </a:r>
          </a:p>
        </p:txBody>
      </p:sp>
      <p:sp>
        <p:nvSpPr>
          <p:cNvPr id="11" name="Text Box 5"/>
          <p:cNvSpPr txBox="1">
            <a:spLocks noChangeArrowheads="1"/>
          </p:cNvSpPr>
          <p:nvPr/>
        </p:nvSpPr>
        <p:spPr bwMode="auto">
          <a:xfrm>
            <a:off x="1050925" y="2300290"/>
            <a:ext cx="62579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dirty="0">
                <a:latin typeface="Times New Roman" pitchFamily="18" charset="0"/>
              </a:rPr>
              <a:t>一个机器周期包含若干个时钟周期</a:t>
            </a:r>
          </a:p>
        </p:txBody>
      </p:sp>
      <p:sp>
        <p:nvSpPr>
          <p:cNvPr id="12" name="Text Box 6"/>
          <p:cNvSpPr txBox="1">
            <a:spLocks noChangeArrowheads="1"/>
          </p:cNvSpPr>
          <p:nvPr/>
        </p:nvSpPr>
        <p:spPr bwMode="auto">
          <a:xfrm>
            <a:off x="236972" y="2745076"/>
            <a:ext cx="74090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CLK</a:t>
            </a:r>
          </a:p>
        </p:txBody>
      </p:sp>
      <p:grpSp>
        <p:nvGrpSpPr>
          <p:cNvPr id="13" name="Group 7"/>
          <p:cNvGrpSpPr>
            <a:grpSpLocks/>
          </p:cNvGrpSpPr>
          <p:nvPr/>
        </p:nvGrpSpPr>
        <p:grpSpPr bwMode="auto">
          <a:xfrm>
            <a:off x="1091047" y="2808576"/>
            <a:ext cx="7315200" cy="304800"/>
            <a:chOff x="576" y="1815"/>
            <a:chExt cx="4608" cy="192"/>
          </a:xfrm>
        </p:grpSpPr>
        <p:sp>
          <p:nvSpPr>
            <p:cNvPr id="19" name="Freeform 8"/>
            <p:cNvSpPr>
              <a:spLocks/>
            </p:cNvSpPr>
            <p:nvPr/>
          </p:nvSpPr>
          <p:spPr bwMode="auto">
            <a:xfrm>
              <a:off x="576"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0" name="Freeform 9"/>
            <p:cNvSpPr>
              <a:spLocks/>
            </p:cNvSpPr>
            <p:nvPr/>
          </p:nvSpPr>
          <p:spPr bwMode="auto">
            <a:xfrm>
              <a:off x="960"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1" name="Freeform 10"/>
            <p:cNvSpPr>
              <a:spLocks/>
            </p:cNvSpPr>
            <p:nvPr/>
          </p:nvSpPr>
          <p:spPr bwMode="auto">
            <a:xfrm>
              <a:off x="1344"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2" name="Freeform 11"/>
            <p:cNvSpPr>
              <a:spLocks/>
            </p:cNvSpPr>
            <p:nvPr/>
          </p:nvSpPr>
          <p:spPr bwMode="auto">
            <a:xfrm>
              <a:off x="1728"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3" name="Freeform 12"/>
            <p:cNvSpPr>
              <a:spLocks/>
            </p:cNvSpPr>
            <p:nvPr/>
          </p:nvSpPr>
          <p:spPr bwMode="auto">
            <a:xfrm>
              <a:off x="2112"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4" name="Freeform 13"/>
            <p:cNvSpPr>
              <a:spLocks/>
            </p:cNvSpPr>
            <p:nvPr/>
          </p:nvSpPr>
          <p:spPr bwMode="auto">
            <a:xfrm>
              <a:off x="2496"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5" name="Freeform 14"/>
            <p:cNvSpPr>
              <a:spLocks/>
            </p:cNvSpPr>
            <p:nvPr/>
          </p:nvSpPr>
          <p:spPr bwMode="auto">
            <a:xfrm>
              <a:off x="2880"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6" name="Freeform 15"/>
            <p:cNvSpPr>
              <a:spLocks/>
            </p:cNvSpPr>
            <p:nvPr/>
          </p:nvSpPr>
          <p:spPr bwMode="auto">
            <a:xfrm>
              <a:off x="3264"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7" name="Freeform 16"/>
            <p:cNvSpPr>
              <a:spLocks/>
            </p:cNvSpPr>
            <p:nvPr/>
          </p:nvSpPr>
          <p:spPr bwMode="auto">
            <a:xfrm>
              <a:off x="3648"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8" name="Freeform 17"/>
            <p:cNvSpPr>
              <a:spLocks/>
            </p:cNvSpPr>
            <p:nvPr/>
          </p:nvSpPr>
          <p:spPr bwMode="auto">
            <a:xfrm>
              <a:off x="4032"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29" name="Freeform 18"/>
            <p:cNvSpPr>
              <a:spLocks/>
            </p:cNvSpPr>
            <p:nvPr/>
          </p:nvSpPr>
          <p:spPr bwMode="auto">
            <a:xfrm>
              <a:off x="4416"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0" name="Freeform 19"/>
            <p:cNvSpPr>
              <a:spLocks/>
            </p:cNvSpPr>
            <p:nvPr/>
          </p:nvSpPr>
          <p:spPr bwMode="auto">
            <a:xfrm>
              <a:off x="4800" y="1815"/>
              <a:ext cx="384" cy="192"/>
            </a:xfrm>
            <a:custGeom>
              <a:avLst/>
              <a:gdLst>
                <a:gd name="T0" fmla="*/ 0 w 384"/>
                <a:gd name="T1" fmla="*/ 192 h 192"/>
                <a:gd name="T2" fmla="*/ 0 w 384"/>
                <a:gd name="T3" fmla="*/ 0 h 192"/>
                <a:gd name="T4" fmla="*/ 192 w 384"/>
                <a:gd name="T5" fmla="*/ 0 h 192"/>
                <a:gd name="T6" fmla="*/ 192 w 384"/>
                <a:gd name="T7" fmla="*/ 192 h 192"/>
                <a:gd name="T8" fmla="*/ 384 w 384"/>
                <a:gd name="T9" fmla="*/ 192 h 192"/>
              </a:gdLst>
              <a:ahLst/>
              <a:cxnLst>
                <a:cxn ang="0">
                  <a:pos x="T0" y="T1"/>
                </a:cxn>
                <a:cxn ang="0">
                  <a:pos x="T2" y="T3"/>
                </a:cxn>
                <a:cxn ang="0">
                  <a:pos x="T4" y="T5"/>
                </a:cxn>
                <a:cxn ang="0">
                  <a:pos x="T6" y="T7"/>
                </a:cxn>
                <a:cxn ang="0">
                  <a:pos x="T8" y="T9"/>
                </a:cxn>
              </a:cxnLst>
              <a:rect l="0" t="0" r="r" b="b"/>
              <a:pathLst>
                <a:path w="384" h="192">
                  <a:moveTo>
                    <a:pt x="0" y="192"/>
                  </a:moveTo>
                  <a:lnTo>
                    <a:pt x="0" y="0"/>
                  </a:lnTo>
                  <a:lnTo>
                    <a:pt x="192" y="0"/>
                  </a:lnTo>
                  <a:lnTo>
                    <a:pt x="192" y="192"/>
                  </a:lnTo>
                  <a:lnTo>
                    <a:pt x="384" y="192"/>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grpSp>
      <p:grpSp>
        <p:nvGrpSpPr>
          <p:cNvPr id="31" name="Group 20"/>
          <p:cNvGrpSpPr>
            <a:grpSpLocks/>
          </p:cNvGrpSpPr>
          <p:nvPr/>
        </p:nvGrpSpPr>
        <p:grpSpPr bwMode="auto">
          <a:xfrm>
            <a:off x="1091047" y="3359727"/>
            <a:ext cx="7315200" cy="1554163"/>
            <a:chOff x="576" y="2064"/>
            <a:chExt cx="4608" cy="979"/>
          </a:xfrm>
        </p:grpSpPr>
        <p:sp>
          <p:nvSpPr>
            <p:cNvPr id="32" name="Line 21"/>
            <p:cNvSpPr>
              <a:spLocks noChangeShapeType="1"/>
            </p:cNvSpPr>
            <p:nvPr/>
          </p:nvSpPr>
          <p:spPr bwMode="auto">
            <a:xfrm>
              <a:off x="576" y="2301"/>
              <a:ext cx="46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3" name="Line 22"/>
            <p:cNvSpPr>
              <a:spLocks noChangeShapeType="1"/>
            </p:cNvSpPr>
            <p:nvPr/>
          </p:nvSpPr>
          <p:spPr bwMode="auto">
            <a:xfrm>
              <a:off x="960"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4" name="Line 23"/>
            <p:cNvSpPr>
              <a:spLocks noChangeShapeType="1"/>
            </p:cNvSpPr>
            <p:nvPr/>
          </p:nvSpPr>
          <p:spPr bwMode="auto">
            <a:xfrm>
              <a:off x="1344"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5" name="Line 24"/>
            <p:cNvSpPr>
              <a:spLocks noChangeShapeType="1"/>
            </p:cNvSpPr>
            <p:nvPr/>
          </p:nvSpPr>
          <p:spPr bwMode="auto">
            <a:xfrm>
              <a:off x="1728"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6" name="Line 25"/>
            <p:cNvSpPr>
              <a:spLocks noChangeShapeType="1"/>
            </p:cNvSpPr>
            <p:nvPr/>
          </p:nvSpPr>
          <p:spPr bwMode="auto">
            <a:xfrm>
              <a:off x="2112" y="2208"/>
              <a:ext cx="0" cy="4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7" name="Line 26"/>
            <p:cNvSpPr>
              <a:spLocks noChangeShapeType="1"/>
            </p:cNvSpPr>
            <p:nvPr/>
          </p:nvSpPr>
          <p:spPr bwMode="auto">
            <a:xfrm>
              <a:off x="2496"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8" name="Line 27"/>
            <p:cNvSpPr>
              <a:spLocks noChangeShapeType="1"/>
            </p:cNvSpPr>
            <p:nvPr/>
          </p:nvSpPr>
          <p:spPr bwMode="auto">
            <a:xfrm>
              <a:off x="2880"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39" name="Line 28"/>
            <p:cNvSpPr>
              <a:spLocks noChangeShapeType="1"/>
            </p:cNvSpPr>
            <p:nvPr/>
          </p:nvSpPr>
          <p:spPr bwMode="auto">
            <a:xfrm>
              <a:off x="3264"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0" name="Line 29"/>
            <p:cNvSpPr>
              <a:spLocks noChangeShapeType="1"/>
            </p:cNvSpPr>
            <p:nvPr/>
          </p:nvSpPr>
          <p:spPr bwMode="auto">
            <a:xfrm>
              <a:off x="3648" y="2208"/>
              <a:ext cx="0" cy="4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1" name="Line 30"/>
            <p:cNvSpPr>
              <a:spLocks noChangeShapeType="1"/>
            </p:cNvSpPr>
            <p:nvPr/>
          </p:nvSpPr>
          <p:spPr bwMode="auto">
            <a:xfrm>
              <a:off x="4032"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2" name="Line 31"/>
            <p:cNvSpPr>
              <a:spLocks noChangeShapeType="1"/>
            </p:cNvSpPr>
            <p:nvPr/>
          </p:nvSpPr>
          <p:spPr bwMode="auto">
            <a:xfrm>
              <a:off x="4416"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3" name="Line 32"/>
            <p:cNvSpPr>
              <a:spLocks noChangeShapeType="1"/>
            </p:cNvSpPr>
            <p:nvPr/>
          </p:nvSpPr>
          <p:spPr bwMode="auto">
            <a:xfrm>
              <a:off x="4800" y="2253"/>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4" name="Line 33"/>
            <p:cNvSpPr>
              <a:spLocks noChangeShapeType="1"/>
            </p:cNvSpPr>
            <p:nvPr/>
          </p:nvSpPr>
          <p:spPr bwMode="auto">
            <a:xfrm>
              <a:off x="5184" y="2253"/>
              <a:ext cx="0" cy="77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5" name="Line 34"/>
            <p:cNvSpPr>
              <a:spLocks noChangeShapeType="1"/>
            </p:cNvSpPr>
            <p:nvPr/>
          </p:nvSpPr>
          <p:spPr bwMode="auto">
            <a:xfrm>
              <a:off x="576" y="2253"/>
              <a:ext cx="0" cy="77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6" name="Line 35"/>
            <p:cNvSpPr>
              <a:spLocks noChangeShapeType="1"/>
            </p:cNvSpPr>
            <p:nvPr/>
          </p:nvSpPr>
          <p:spPr bwMode="auto">
            <a:xfrm flipH="1">
              <a:off x="576"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7" name="Text Box 36"/>
            <p:cNvSpPr txBox="1">
              <a:spLocks noChangeArrowheads="1"/>
            </p:cNvSpPr>
            <p:nvPr/>
          </p:nvSpPr>
          <p:spPr bwMode="auto">
            <a:xfrm>
              <a:off x="960" y="2360"/>
              <a:ext cx="80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机器周期 </a:t>
              </a:r>
            </a:p>
          </p:txBody>
        </p:sp>
        <p:sp>
          <p:nvSpPr>
            <p:cNvPr id="48" name="Line 37"/>
            <p:cNvSpPr>
              <a:spLocks noChangeShapeType="1"/>
            </p:cNvSpPr>
            <p:nvPr/>
          </p:nvSpPr>
          <p:spPr bwMode="auto">
            <a:xfrm rot="10800000" flipH="1">
              <a:off x="1776"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49" name="Line 38"/>
            <p:cNvSpPr>
              <a:spLocks noChangeShapeType="1"/>
            </p:cNvSpPr>
            <p:nvPr/>
          </p:nvSpPr>
          <p:spPr bwMode="auto">
            <a:xfrm flipH="1">
              <a:off x="2112"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50" name="Text Box 39"/>
            <p:cNvSpPr txBox="1">
              <a:spLocks noChangeArrowheads="1"/>
            </p:cNvSpPr>
            <p:nvPr/>
          </p:nvSpPr>
          <p:spPr bwMode="auto">
            <a:xfrm>
              <a:off x="2496" y="2360"/>
              <a:ext cx="80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机器周期 </a:t>
              </a:r>
            </a:p>
          </p:txBody>
        </p:sp>
        <p:sp>
          <p:nvSpPr>
            <p:cNvPr id="51" name="Line 40"/>
            <p:cNvSpPr>
              <a:spLocks noChangeShapeType="1"/>
            </p:cNvSpPr>
            <p:nvPr/>
          </p:nvSpPr>
          <p:spPr bwMode="auto">
            <a:xfrm rot="10800000" flipH="1">
              <a:off x="3312"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52" name="Line 41"/>
            <p:cNvSpPr>
              <a:spLocks noChangeShapeType="1"/>
            </p:cNvSpPr>
            <p:nvPr/>
          </p:nvSpPr>
          <p:spPr bwMode="auto">
            <a:xfrm flipH="1">
              <a:off x="3648"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53" name="Text Box 42"/>
            <p:cNvSpPr txBox="1">
              <a:spLocks noChangeArrowheads="1"/>
            </p:cNvSpPr>
            <p:nvPr/>
          </p:nvSpPr>
          <p:spPr bwMode="auto">
            <a:xfrm>
              <a:off x="4032" y="2360"/>
              <a:ext cx="807"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机器周期 </a:t>
              </a:r>
            </a:p>
          </p:txBody>
        </p:sp>
        <p:sp>
          <p:nvSpPr>
            <p:cNvPr id="54" name="Line 43"/>
            <p:cNvSpPr>
              <a:spLocks noChangeShapeType="1"/>
            </p:cNvSpPr>
            <p:nvPr/>
          </p:nvSpPr>
          <p:spPr bwMode="auto">
            <a:xfrm rot="10800000" flipH="1">
              <a:off x="4848" y="2493"/>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55" name="Text Box 44"/>
            <p:cNvSpPr txBox="1">
              <a:spLocks noChangeArrowheads="1"/>
            </p:cNvSpPr>
            <p:nvPr/>
          </p:nvSpPr>
          <p:spPr bwMode="auto">
            <a:xfrm>
              <a:off x="864" y="2542"/>
              <a:ext cx="97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（取指令） </a:t>
              </a:r>
            </a:p>
          </p:txBody>
        </p:sp>
        <p:sp>
          <p:nvSpPr>
            <p:cNvPr id="56" name="Text Box 45"/>
            <p:cNvSpPr txBox="1">
              <a:spLocks noChangeArrowheads="1"/>
            </p:cNvSpPr>
            <p:nvPr/>
          </p:nvSpPr>
          <p:spPr bwMode="auto">
            <a:xfrm>
              <a:off x="2261" y="2542"/>
              <a:ext cx="129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（取有效地址） </a:t>
              </a:r>
            </a:p>
          </p:txBody>
        </p:sp>
        <p:sp>
          <p:nvSpPr>
            <p:cNvPr id="57" name="Text Box 46"/>
            <p:cNvSpPr txBox="1">
              <a:spLocks noChangeArrowheads="1"/>
            </p:cNvSpPr>
            <p:nvPr/>
          </p:nvSpPr>
          <p:spPr bwMode="auto">
            <a:xfrm>
              <a:off x="3870" y="2542"/>
              <a:ext cx="113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（执行指令） </a:t>
              </a:r>
            </a:p>
          </p:txBody>
        </p:sp>
        <p:sp>
          <p:nvSpPr>
            <p:cNvPr id="58" name="Line 47"/>
            <p:cNvSpPr>
              <a:spLocks noChangeShapeType="1"/>
            </p:cNvSpPr>
            <p:nvPr/>
          </p:nvSpPr>
          <p:spPr bwMode="auto">
            <a:xfrm flipH="1">
              <a:off x="576" y="2829"/>
              <a:ext cx="1605"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59" name="Line 48"/>
            <p:cNvSpPr>
              <a:spLocks noChangeShapeType="1"/>
            </p:cNvSpPr>
            <p:nvPr/>
          </p:nvSpPr>
          <p:spPr bwMode="auto">
            <a:xfrm rot="10800000" flipH="1">
              <a:off x="3573" y="2824"/>
              <a:ext cx="1605"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60" name="Text Box 49"/>
            <p:cNvSpPr txBox="1">
              <a:spLocks noChangeArrowheads="1"/>
            </p:cNvSpPr>
            <p:nvPr/>
          </p:nvSpPr>
          <p:spPr bwMode="auto">
            <a:xfrm>
              <a:off x="2496" y="2733"/>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chemeClr val="folHlink"/>
                  </a:solidFill>
                  <a:latin typeface="Times New Roman" pitchFamily="18" charset="0"/>
                </a:rPr>
                <a:t>指令周期</a:t>
              </a:r>
            </a:p>
          </p:txBody>
        </p:sp>
        <p:sp>
          <p:nvSpPr>
            <p:cNvPr id="61" name="Text Box 50"/>
            <p:cNvSpPr txBox="1">
              <a:spLocks noChangeArrowheads="1"/>
            </p:cNvSpPr>
            <p:nvPr/>
          </p:nvSpPr>
          <p:spPr bwMode="auto">
            <a:xfrm>
              <a:off x="662"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0</a:t>
              </a:r>
            </a:p>
          </p:txBody>
        </p:sp>
        <p:sp>
          <p:nvSpPr>
            <p:cNvPr id="62" name="Text Box 51"/>
            <p:cNvSpPr txBox="1">
              <a:spLocks noChangeArrowheads="1"/>
            </p:cNvSpPr>
            <p:nvPr/>
          </p:nvSpPr>
          <p:spPr bwMode="auto">
            <a:xfrm>
              <a:off x="1021"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1</a:t>
              </a:r>
            </a:p>
          </p:txBody>
        </p:sp>
        <p:sp>
          <p:nvSpPr>
            <p:cNvPr id="63" name="Text Box 52"/>
            <p:cNvSpPr txBox="1">
              <a:spLocks noChangeArrowheads="1"/>
            </p:cNvSpPr>
            <p:nvPr/>
          </p:nvSpPr>
          <p:spPr bwMode="auto">
            <a:xfrm>
              <a:off x="1392"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2</a:t>
              </a:r>
            </a:p>
          </p:txBody>
        </p:sp>
        <p:sp>
          <p:nvSpPr>
            <p:cNvPr id="64" name="Text Box 53"/>
            <p:cNvSpPr txBox="1">
              <a:spLocks noChangeArrowheads="1"/>
            </p:cNvSpPr>
            <p:nvPr/>
          </p:nvSpPr>
          <p:spPr bwMode="auto">
            <a:xfrm>
              <a:off x="1741"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3</a:t>
              </a:r>
            </a:p>
          </p:txBody>
        </p:sp>
        <p:sp>
          <p:nvSpPr>
            <p:cNvPr id="65" name="Text Box 54"/>
            <p:cNvSpPr txBox="1">
              <a:spLocks noChangeArrowheads="1"/>
            </p:cNvSpPr>
            <p:nvPr/>
          </p:nvSpPr>
          <p:spPr bwMode="auto">
            <a:xfrm>
              <a:off x="2198"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0</a:t>
              </a:r>
            </a:p>
          </p:txBody>
        </p:sp>
        <p:sp>
          <p:nvSpPr>
            <p:cNvPr id="66" name="Text Box 55"/>
            <p:cNvSpPr txBox="1">
              <a:spLocks noChangeArrowheads="1"/>
            </p:cNvSpPr>
            <p:nvPr/>
          </p:nvSpPr>
          <p:spPr bwMode="auto">
            <a:xfrm>
              <a:off x="2557"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1</a:t>
              </a:r>
            </a:p>
          </p:txBody>
        </p:sp>
        <p:sp>
          <p:nvSpPr>
            <p:cNvPr id="67" name="Text Box 56"/>
            <p:cNvSpPr txBox="1">
              <a:spLocks noChangeArrowheads="1"/>
            </p:cNvSpPr>
            <p:nvPr/>
          </p:nvSpPr>
          <p:spPr bwMode="auto">
            <a:xfrm>
              <a:off x="2928"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2</a:t>
              </a:r>
            </a:p>
          </p:txBody>
        </p:sp>
        <p:sp>
          <p:nvSpPr>
            <p:cNvPr id="68" name="Text Box 57"/>
            <p:cNvSpPr txBox="1">
              <a:spLocks noChangeArrowheads="1"/>
            </p:cNvSpPr>
            <p:nvPr/>
          </p:nvSpPr>
          <p:spPr bwMode="auto">
            <a:xfrm>
              <a:off x="3277"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3</a:t>
              </a:r>
            </a:p>
          </p:txBody>
        </p:sp>
        <p:sp>
          <p:nvSpPr>
            <p:cNvPr id="69" name="Text Box 58"/>
            <p:cNvSpPr txBox="1">
              <a:spLocks noChangeArrowheads="1"/>
            </p:cNvSpPr>
            <p:nvPr/>
          </p:nvSpPr>
          <p:spPr bwMode="auto">
            <a:xfrm>
              <a:off x="3744"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0</a:t>
              </a:r>
            </a:p>
          </p:txBody>
        </p:sp>
        <p:sp>
          <p:nvSpPr>
            <p:cNvPr id="70" name="Text Box 59"/>
            <p:cNvSpPr txBox="1">
              <a:spLocks noChangeArrowheads="1"/>
            </p:cNvSpPr>
            <p:nvPr/>
          </p:nvSpPr>
          <p:spPr bwMode="auto">
            <a:xfrm>
              <a:off x="4103"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1</a:t>
              </a:r>
            </a:p>
          </p:txBody>
        </p:sp>
        <p:sp>
          <p:nvSpPr>
            <p:cNvPr id="71" name="Text Box 60"/>
            <p:cNvSpPr txBox="1">
              <a:spLocks noChangeArrowheads="1"/>
            </p:cNvSpPr>
            <p:nvPr/>
          </p:nvSpPr>
          <p:spPr bwMode="auto">
            <a:xfrm>
              <a:off x="4474"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2</a:t>
              </a:r>
            </a:p>
          </p:txBody>
        </p:sp>
        <p:sp>
          <p:nvSpPr>
            <p:cNvPr id="72" name="Text Box 61"/>
            <p:cNvSpPr txBox="1">
              <a:spLocks noChangeArrowheads="1"/>
            </p:cNvSpPr>
            <p:nvPr/>
          </p:nvSpPr>
          <p:spPr bwMode="auto">
            <a:xfrm>
              <a:off x="4823" y="2064"/>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3</a:t>
              </a:r>
            </a:p>
          </p:txBody>
        </p:sp>
      </p:grpSp>
      <p:grpSp>
        <p:nvGrpSpPr>
          <p:cNvPr id="73" name="Group 62"/>
          <p:cNvGrpSpPr>
            <a:grpSpLocks/>
          </p:cNvGrpSpPr>
          <p:nvPr/>
        </p:nvGrpSpPr>
        <p:grpSpPr bwMode="auto">
          <a:xfrm>
            <a:off x="1091047" y="5020251"/>
            <a:ext cx="4278313" cy="1558925"/>
            <a:chOff x="576" y="3206"/>
            <a:chExt cx="2695" cy="982"/>
          </a:xfrm>
        </p:grpSpPr>
        <p:sp>
          <p:nvSpPr>
            <p:cNvPr id="74" name="Freeform 63"/>
            <p:cNvSpPr>
              <a:spLocks/>
            </p:cNvSpPr>
            <p:nvPr/>
          </p:nvSpPr>
          <p:spPr bwMode="auto">
            <a:xfrm>
              <a:off x="576" y="3453"/>
              <a:ext cx="2684" cy="3"/>
            </a:xfrm>
            <a:custGeom>
              <a:avLst/>
              <a:gdLst>
                <a:gd name="T0" fmla="*/ 0 w 2684"/>
                <a:gd name="T1" fmla="*/ 0 h 3"/>
                <a:gd name="T2" fmla="*/ 2684 w 2684"/>
                <a:gd name="T3" fmla="*/ 3 h 3"/>
              </a:gdLst>
              <a:ahLst/>
              <a:cxnLst>
                <a:cxn ang="0">
                  <a:pos x="T0" y="T1"/>
                </a:cxn>
                <a:cxn ang="0">
                  <a:pos x="T2" y="T3"/>
                </a:cxn>
              </a:cxnLst>
              <a:rect l="0" t="0" r="r" b="b"/>
              <a:pathLst>
                <a:path w="2684" h="3">
                  <a:moveTo>
                    <a:pt x="0" y="0"/>
                  </a:moveTo>
                  <a:lnTo>
                    <a:pt x="2684" y="3"/>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75" name="Line 64"/>
            <p:cNvSpPr>
              <a:spLocks noChangeShapeType="1"/>
            </p:cNvSpPr>
            <p:nvPr/>
          </p:nvSpPr>
          <p:spPr bwMode="auto">
            <a:xfrm>
              <a:off x="960" y="3405"/>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76" name="Line 65"/>
            <p:cNvSpPr>
              <a:spLocks noChangeShapeType="1"/>
            </p:cNvSpPr>
            <p:nvPr/>
          </p:nvSpPr>
          <p:spPr bwMode="auto">
            <a:xfrm>
              <a:off x="1344" y="3405"/>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77" name="Line 66"/>
            <p:cNvSpPr>
              <a:spLocks noChangeShapeType="1"/>
            </p:cNvSpPr>
            <p:nvPr/>
          </p:nvSpPr>
          <p:spPr bwMode="auto">
            <a:xfrm>
              <a:off x="1728" y="3405"/>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78" name="Line 67"/>
            <p:cNvSpPr>
              <a:spLocks noChangeShapeType="1"/>
            </p:cNvSpPr>
            <p:nvPr/>
          </p:nvSpPr>
          <p:spPr bwMode="auto">
            <a:xfrm>
              <a:off x="2112" y="3425"/>
              <a:ext cx="0" cy="4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79" name="Line 68"/>
            <p:cNvSpPr>
              <a:spLocks noChangeShapeType="1"/>
            </p:cNvSpPr>
            <p:nvPr/>
          </p:nvSpPr>
          <p:spPr bwMode="auto">
            <a:xfrm>
              <a:off x="2496" y="3405"/>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0" name="Line 69"/>
            <p:cNvSpPr>
              <a:spLocks noChangeShapeType="1"/>
            </p:cNvSpPr>
            <p:nvPr/>
          </p:nvSpPr>
          <p:spPr bwMode="auto">
            <a:xfrm>
              <a:off x="2880" y="3405"/>
              <a:ext cx="0"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1" name="Line 70"/>
            <p:cNvSpPr>
              <a:spLocks noChangeShapeType="1"/>
            </p:cNvSpPr>
            <p:nvPr/>
          </p:nvSpPr>
          <p:spPr bwMode="auto">
            <a:xfrm>
              <a:off x="3264" y="3405"/>
              <a:ext cx="0" cy="7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2" name="Line 71"/>
            <p:cNvSpPr>
              <a:spLocks noChangeShapeType="1"/>
            </p:cNvSpPr>
            <p:nvPr/>
          </p:nvSpPr>
          <p:spPr bwMode="auto">
            <a:xfrm>
              <a:off x="576" y="3405"/>
              <a:ext cx="0" cy="77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3" name="Line 72"/>
            <p:cNvSpPr>
              <a:spLocks noChangeShapeType="1"/>
            </p:cNvSpPr>
            <p:nvPr/>
          </p:nvSpPr>
          <p:spPr bwMode="auto">
            <a:xfrm flipH="1">
              <a:off x="576" y="3645"/>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4" name="Text Box 73"/>
            <p:cNvSpPr txBox="1">
              <a:spLocks noChangeArrowheads="1"/>
            </p:cNvSpPr>
            <p:nvPr/>
          </p:nvSpPr>
          <p:spPr bwMode="auto">
            <a:xfrm>
              <a:off x="960" y="3501"/>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chemeClr val="folHlink"/>
                  </a:solidFill>
                  <a:latin typeface="Times New Roman" pitchFamily="18" charset="0"/>
                </a:rPr>
                <a:t>机器周期</a:t>
              </a:r>
            </a:p>
          </p:txBody>
        </p:sp>
        <p:sp>
          <p:nvSpPr>
            <p:cNvPr id="85" name="Line 74"/>
            <p:cNvSpPr>
              <a:spLocks noChangeShapeType="1"/>
            </p:cNvSpPr>
            <p:nvPr/>
          </p:nvSpPr>
          <p:spPr bwMode="auto">
            <a:xfrm rot="10800000" flipH="1">
              <a:off x="1776" y="3645"/>
              <a:ext cx="336"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6" name="Line 75"/>
            <p:cNvSpPr>
              <a:spLocks noChangeShapeType="1"/>
            </p:cNvSpPr>
            <p:nvPr/>
          </p:nvSpPr>
          <p:spPr bwMode="auto">
            <a:xfrm flipH="1">
              <a:off x="2112" y="3645"/>
              <a:ext cx="199"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7" name="Text Box 76"/>
            <p:cNvSpPr txBox="1">
              <a:spLocks noChangeArrowheads="1"/>
            </p:cNvSpPr>
            <p:nvPr/>
          </p:nvSpPr>
          <p:spPr bwMode="auto">
            <a:xfrm>
              <a:off x="2312" y="3501"/>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chemeClr val="folHlink"/>
                  </a:solidFill>
                  <a:latin typeface="Times New Roman" pitchFamily="18" charset="0"/>
                </a:rPr>
                <a:t>机器周期</a:t>
              </a:r>
            </a:p>
          </p:txBody>
        </p:sp>
        <p:sp>
          <p:nvSpPr>
            <p:cNvPr id="88" name="Line 77"/>
            <p:cNvSpPr>
              <a:spLocks noChangeShapeType="1"/>
            </p:cNvSpPr>
            <p:nvPr/>
          </p:nvSpPr>
          <p:spPr bwMode="auto">
            <a:xfrm rot="10800000" flipH="1">
              <a:off x="3072" y="3644"/>
              <a:ext cx="199"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89" name="Text Box 78"/>
            <p:cNvSpPr txBox="1">
              <a:spLocks noChangeArrowheads="1"/>
            </p:cNvSpPr>
            <p:nvPr/>
          </p:nvSpPr>
          <p:spPr bwMode="auto">
            <a:xfrm>
              <a:off x="912" y="3683"/>
              <a:ext cx="92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（取指令）</a:t>
              </a:r>
            </a:p>
          </p:txBody>
        </p:sp>
        <p:sp>
          <p:nvSpPr>
            <p:cNvPr id="90" name="Text Box 79"/>
            <p:cNvSpPr txBox="1">
              <a:spLocks noChangeArrowheads="1"/>
            </p:cNvSpPr>
            <p:nvPr/>
          </p:nvSpPr>
          <p:spPr bwMode="auto">
            <a:xfrm>
              <a:off x="2160" y="3683"/>
              <a:ext cx="109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（执行指令）</a:t>
              </a:r>
            </a:p>
          </p:txBody>
        </p:sp>
        <p:sp>
          <p:nvSpPr>
            <p:cNvPr id="91" name="Line 80"/>
            <p:cNvSpPr>
              <a:spLocks noChangeShapeType="1"/>
            </p:cNvSpPr>
            <p:nvPr/>
          </p:nvSpPr>
          <p:spPr bwMode="auto">
            <a:xfrm flipH="1" flipV="1">
              <a:off x="576" y="3981"/>
              <a:ext cx="923" cy="3"/>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92" name="Text Box 81"/>
            <p:cNvSpPr txBox="1">
              <a:spLocks noChangeArrowheads="1"/>
            </p:cNvSpPr>
            <p:nvPr/>
          </p:nvSpPr>
          <p:spPr bwMode="auto">
            <a:xfrm>
              <a:off x="1584" y="3878"/>
              <a:ext cx="7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Times New Roman" pitchFamily="18" charset="0"/>
                </a:rPr>
                <a:t>指令周期</a:t>
              </a:r>
            </a:p>
          </p:txBody>
        </p:sp>
        <p:sp>
          <p:nvSpPr>
            <p:cNvPr id="93" name="Line 82"/>
            <p:cNvSpPr>
              <a:spLocks noChangeShapeType="1"/>
            </p:cNvSpPr>
            <p:nvPr/>
          </p:nvSpPr>
          <p:spPr bwMode="auto">
            <a:xfrm rot="10800000" flipH="1" flipV="1">
              <a:off x="2339" y="3980"/>
              <a:ext cx="923" cy="3"/>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94" name="Text Box 83"/>
            <p:cNvSpPr txBox="1">
              <a:spLocks noChangeArrowheads="1"/>
            </p:cNvSpPr>
            <p:nvPr/>
          </p:nvSpPr>
          <p:spPr bwMode="auto">
            <a:xfrm>
              <a:off x="672"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0</a:t>
              </a:r>
            </a:p>
          </p:txBody>
        </p:sp>
        <p:sp>
          <p:nvSpPr>
            <p:cNvPr id="95" name="Text Box 84"/>
            <p:cNvSpPr txBox="1">
              <a:spLocks noChangeArrowheads="1"/>
            </p:cNvSpPr>
            <p:nvPr/>
          </p:nvSpPr>
          <p:spPr bwMode="auto">
            <a:xfrm>
              <a:off x="1031"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1</a:t>
              </a:r>
            </a:p>
          </p:txBody>
        </p:sp>
        <p:sp>
          <p:nvSpPr>
            <p:cNvPr id="96" name="Text Box 85"/>
            <p:cNvSpPr txBox="1">
              <a:spLocks noChangeArrowheads="1"/>
            </p:cNvSpPr>
            <p:nvPr/>
          </p:nvSpPr>
          <p:spPr bwMode="auto">
            <a:xfrm>
              <a:off x="1402"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2</a:t>
              </a:r>
            </a:p>
          </p:txBody>
        </p:sp>
        <p:sp>
          <p:nvSpPr>
            <p:cNvPr id="97" name="Text Box 86"/>
            <p:cNvSpPr txBox="1">
              <a:spLocks noChangeArrowheads="1"/>
            </p:cNvSpPr>
            <p:nvPr/>
          </p:nvSpPr>
          <p:spPr bwMode="auto">
            <a:xfrm>
              <a:off x="1751"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3</a:t>
              </a:r>
            </a:p>
          </p:txBody>
        </p:sp>
        <p:sp>
          <p:nvSpPr>
            <p:cNvPr id="98" name="Text Box 87"/>
            <p:cNvSpPr txBox="1">
              <a:spLocks noChangeArrowheads="1"/>
            </p:cNvSpPr>
            <p:nvPr/>
          </p:nvSpPr>
          <p:spPr bwMode="auto">
            <a:xfrm>
              <a:off x="2198"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0</a:t>
              </a:r>
            </a:p>
          </p:txBody>
        </p:sp>
        <p:sp>
          <p:nvSpPr>
            <p:cNvPr id="99" name="Text Box 88"/>
            <p:cNvSpPr txBox="1">
              <a:spLocks noChangeArrowheads="1"/>
            </p:cNvSpPr>
            <p:nvPr/>
          </p:nvSpPr>
          <p:spPr bwMode="auto">
            <a:xfrm>
              <a:off x="2557"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1</a:t>
              </a:r>
            </a:p>
          </p:txBody>
        </p:sp>
        <p:sp>
          <p:nvSpPr>
            <p:cNvPr id="100" name="Text Box 89"/>
            <p:cNvSpPr txBox="1">
              <a:spLocks noChangeArrowheads="1"/>
            </p:cNvSpPr>
            <p:nvPr/>
          </p:nvSpPr>
          <p:spPr bwMode="auto">
            <a:xfrm>
              <a:off x="2928" y="3206"/>
              <a:ext cx="269"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chemeClr val="folHlink"/>
                  </a:solidFill>
                  <a:latin typeface="Times New Roman" pitchFamily="18" charset="0"/>
                </a:rPr>
                <a:t>T</a:t>
              </a:r>
              <a:r>
                <a:rPr kumimoji="1" lang="en-US" altLang="zh-CN" sz="2000" b="1" baseline="-15000">
                  <a:solidFill>
                    <a:schemeClr val="folHlink"/>
                  </a:solidFill>
                  <a:latin typeface="Times New Roman" pitchFamily="18" charset="0"/>
                </a:rPr>
                <a:t>2</a:t>
              </a:r>
            </a:p>
          </p:txBody>
        </p:sp>
      </p:grpSp>
      <p:sp>
        <p:nvSpPr>
          <p:cNvPr id="101" name="Text Box 90"/>
          <p:cNvSpPr txBox="1">
            <a:spLocks noChangeArrowheads="1"/>
          </p:cNvSpPr>
          <p:nvPr/>
        </p:nvSpPr>
        <p:spPr bwMode="auto">
          <a:xfrm>
            <a:off x="252847" y="5020251"/>
            <a:ext cx="870751"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 </a:t>
            </a:r>
            <a:r>
              <a:rPr kumimoji="1" lang="zh-CN" altLang="en-US" sz="2000" b="1">
                <a:latin typeface="Times New Roman" pitchFamily="18" charset="0"/>
              </a:rPr>
              <a:t>节拍</a:t>
            </a:r>
          </a:p>
          <a:p>
            <a:r>
              <a:rPr kumimoji="1" lang="en-US" altLang="zh-CN" sz="2000" b="1">
                <a:latin typeface="Times New Roman" pitchFamily="18" charset="0"/>
              </a:rPr>
              <a:t>(</a:t>
            </a:r>
            <a:r>
              <a:rPr kumimoji="1" lang="zh-CN" altLang="en-US" sz="2000" b="1">
                <a:latin typeface="Times New Roman" pitchFamily="18" charset="0"/>
              </a:rPr>
              <a:t>状态</a:t>
            </a:r>
            <a:r>
              <a:rPr kumimoji="1" lang="en-US" altLang="zh-CN" sz="2000" b="1">
                <a:latin typeface="Times New Roman" pitchFamily="18" charset="0"/>
              </a:rPr>
              <a:t>)</a:t>
            </a:r>
          </a:p>
        </p:txBody>
      </p:sp>
      <p:sp>
        <p:nvSpPr>
          <p:cNvPr id="102" name="Text Box 91"/>
          <p:cNvSpPr txBox="1">
            <a:spLocks noChangeArrowheads="1"/>
          </p:cNvSpPr>
          <p:nvPr/>
        </p:nvSpPr>
        <p:spPr bwMode="auto">
          <a:xfrm>
            <a:off x="227447" y="3359726"/>
            <a:ext cx="870751"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 </a:t>
            </a:r>
            <a:r>
              <a:rPr kumimoji="1" lang="zh-CN" altLang="en-US" sz="2000" b="1">
                <a:latin typeface="Times New Roman" pitchFamily="18" charset="0"/>
              </a:rPr>
              <a:t>节拍</a:t>
            </a:r>
          </a:p>
          <a:p>
            <a:r>
              <a:rPr kumimoji="1" lang="en-US" altLang="zh-CN" sz="2000" b="1">
                <a:latin typeface="Times New Roman" pitchFamily="18" charset="0"/>
              </a:rPr>
              <a:t>(</a:t>
            </a:r>
            <a:r>
              <a:rPr kumimoji="1" lang="zh-CN" altLang="en-US" sz="2000" b="1">
                <a:latin typeface="Times New Roman" pitchFamily="18" charset="0"/>
              </a:rPr>
              <a:t>状态</a:t>
            </a:r>
            <a:r>
              <a:rPr kumimoji="1" lang="en-US" altLang="zh-CN" sz="2000" b="1">
                <a:latin typeface="Times New Roman" pitchFamily="18" charset="0"/>
              </a:rPr>
              <a:t>)</a:t>
            </a:r>
          </a:p>
        </p:txBody>
      </p:sp>
    </p:spTree>
    <p:extLst>
      <p:ext uri="{BB962C8B-B14F-4D97-AF65-F5344CB8AC3E}">
        <p14:creationId xmlns:p14="http://schemas.microsoft.com/office/powerpoint/2010/main" val="1456805769"/>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strips(downRigh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2"/>
                                        </p:tgtEl>
                                        <p:attrNameLst>
                                          <p:attrName>style.visibility</p:attrName>
                                        </p:attrNameLst>
                                      </p:cBhvr>
                                      <p:to>
                                        <p:strVal val="visible"/>
                                      </p:to>
                                    </p:set>
                                    <p:animEffect transition="in" filter="blinds(horizontal)">
                                      <p:cBhvr>
                                        <p:cTn id="32" dur="500"/>
                                        <p:tgtEl>
                                          <p:spTgt spid="10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strips(downRigh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1"/>
                                        </p:tgtEl>
                                        <p:attrNameLst>
                                          <p:attrName>style.visibility</p:attrName>
                                        </p:attrNameLst>
                                      </p:cBhvr>
                                      <p:to>
                                        <p:strVal val="visible"/>
                                      </p:to>
                                    </p:set>
                                    <p:animEffect transition="in" filter="blinds(horizontal)">
                                      <p:cBhvr>
                                        <p:cTn id="42" dur="500"/>
                                        <p:tgtEl>
                                          <p:spTgt spid="10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strips(downRight)">
                                      <p:cBhvr>
                                        <p:cTn id="4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P spid="101" grpId="0" autoUpdateAnimBg="0"/>
      <p:bldP spid="102"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7" y="969385"/>
            <a:ext cx="546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zh-CN" altLang="en-US" dirty="0">
                <a:solidFill>
                  <a:srgbClr val="990000"/>
                </a:solidFill>
                <a:latin typeface="黑体" pitchFamily="2" charset="-122"/>
                <a:ea typeface="黑体" pitchFamily="2" charset="-122"/>
              </a:rPr>
              <a:t>四、</a:t>
            </a:r>
            <a:r>
              <a:rPr lang="en-US" altLang="zh-CN" dirty="0">
                <a:solidFill>
                  <a:srgbClr val="990000"/>
                </a:solidFill>
                <a:latin typeface="黑体" pitchFamily="2" charset="-122"/>
                <a:ea typeface="黑体" pitchFamily="2" charset="-122"/>
              </a:rPr>
              <a:t> </a:t>
            </a:r>
            <a:r>
              <a:rPr lang="zh-CN" altLang="en-US" dirty="0">
                <a:solidFill>
                  <a:srgbClr val="990000"/>
                </a:solidFill>
                <a:latin typeface="黑体" pitchFamily="2" charset="-122"/>
                <a:ea typeface="黑体" pitchFamily="2" charset="-122"/>
              </a:rPr>
              <a:t>多级时序系统</a:t>
            </a:r>
          </a:p>
        </p:txBody>
      </p:sp>
      <p:sp>
        <p:nvSpPr>
          <p:cNvPr id="10" name="Text Box 4"/>
          <p:cNvSpPr txBox="1">
            <a:spLocks noChangeArrowheads="1"/>
          </p:cNvSpPr>
          <p:nvPr/>
        </p:nvSpPr>
        <p:spPr bwMode="auto">
          <a:xfrm>
            <a:off x="811933" y="1431050"/>
            <a:ext cx="7615093" cy="2049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dirty="0"/>
              <a:t>例：设某计算机的</a:t>
            </a:r>
            <a:r>
              <a:rPr lang="en-US" altLang="zh-CN" sz="2000" dirty="0"/>
              <a:t>CPU</a:t>
            </a:r>
            <a:r>
              <a:rPr lang="zh-CN" altLang="en-US" sz="2000" dirty="0"/>
              <a:t>主频为</a:t>
            </a:r>
            <a:r>
              <a:rPr lang="en-US" altLang="zh-CN" sz="2000" dirty="0"/>
              <a:t>8M Hz</a:t>
            </a:r>
            <a:r>
              <a:rPr lang="zh-CN" altLang="en-US" sz="2000" dirty="0"/>
              <a:t>，每个机器周期平均含</a:t>
            </a:r>
            <a:r>
              <a:rPr lang="en-US" altLang="zh-CN" sz="2000" dirty="0"/>
              <a:t>2</a:t>
            </a:r>
            <a:r>
              <a:rPr lang="zh-CN" altLang="en-US" sz="2000" dirty="0"/>
              <a:t>个时钟周期，每条指令的指令周期平均有</a:t>
            </a:r>
            <a:r>
              <a:rPr lang="en-US" altLang="zh-CN" sz="2000" dirty="0"/>
              <a:t>2.5</a:t>
            </a:r>
            <a:r>
              <a:rPr lang="zh-CN" altLang="en-US" sz="2000" dirty="0"/>
              <a:t>个机器周期，试问该机的平均指令执行速度为多少</a:t>
            </a:r>
            <a:r>
              <a:rPr lang="en-US" altLang="zh-CN" sz="2000" dirty="0"/>
              <a:t>MIPS</a:t>
            </a:r>
            <a:r>
              <a:rPr lang="zh-CN" altLang="en-US" sz="2000" dirty="0"/>
              <a:t>？若</a:t>
            </a:r>
            <a:r>
              <a:rPr lang="en-US" altLang="zh-CN" sz="2000" dirty="0"/>
              <a:t>CPU</a:t>
            </a:r>
            <a:r>
              <a:rPr lang="zh-CN" altLang="en-US" sz="2000" dirty="0"/>
              <a:t>主频不变，但每个机器周期平均含</a:t>
            </a:r>
            <a:r>
              <a:rPr lang="en-US" altLang="zh-CN" sz="2000" dirty="0"/>
              <a:t>4</a:t>
            </a:r>
            <a:r>
              <a:rPr lang="zh-CN" altLang="en-US" sz="2000" dirty="0"/>
              <a:t>个时钟周期，每条指令的指令周期平均有</a:t>
            </a:r>
            <a:r>
              <a:rPr lang="en-US" altLang="zh-CN" sz="2000" dirty="0"/>
              <a:t>5</a:t>
            </a:r>
            <a:r>
              <a:rPr lang="zh-CN" altLang="en-US" sz="2000" dirty="0"/>
              <a:t>个机器周期，则该机的平均指令执行速度又是多少</a:t>
            </a:r>
            <a:r>
              <a:rPr lang="en-US" altLang="zh-CN" sz="2000" dirty="0"/>
              <a:t>MIPS</a:t>
            </a:r>
            <a:r>
              <a:rPr lang="zh-CN" altLang="en-US" sz="2000" dirty="0"/>
              <a:t>？由此得出什么结论？</a:t>
            </a:r>
            <a:endParaRPr kumimoji="1" lang="zh-CN" altLang="en-US" sz="2000" b="1" dirty="0">
              <a:latin typeface="Times New Roman" pitchFamily="18" charset="0"/>
            </a:endParaRPr>
          </a:p>
        </p:txBody>
      </p:sp>
      <p:sp>
        <p:nvSpPr>
          <p:cNvPr id="103" name="Rectangle 3"/>
          <p:cNvSpPr txBox="1">
            <a:spLocks noChangeArrowheads="1"/>
          </p:cNvSpPr>
          <p:nvPr/>
        </p:nvSpPr>
        <p:spPr>
          <a:xfrm>
            <a:off x="630237" y="3522423"/>
            <a:ext cx="8280400" cy="243156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r>
              <a:rPr lang="zh-CN" altLang="en-US" sz="2000" b="1" dirty="0"/>
              <a:t>解：主频为</a:t>
            </a:r>
            <a:r>
              <a:rPr lang="en-US" altLang="zh-CN" sz="2000" b="1" dirty="0"/>
              <a:t>8M Hz</a:t>
            </a:r>
            <a:r>
              <a:rPr lang="zh-CN" altLang="en-US" sz="2000" b="1" dirty="0"/>
              <a:t>，所以</a:t>
            </a:r>
          </a:p>
          <a:p>
            <a:pPr lvl="1"/>
            <a:r>
              <a:rPr lang="zh-CN" altLang="en-US" sz="2000" b="1" dirty="0">
                <a:solidFill>
                  <a:srgbClr val="FF0000"/>
                </a:solidFill>
              </a:rPr>
              <a:t>时钟周期为</a:t>
            </a:r>
            <a:r>
              <a:rPr lang="en-US" altLang="zh-CN" sz="2000" b="1" dirty="0">
                <a:solidFill>
                  <a:srgbClr val="FF0000"/>
                </a:solidFill>
              </a:rPr>
              <a:t>1/8=0.125μs</a:t>
            </a:r>
          </a:p>
          <a:p>
            <a:pPr lvl="1"/>
            <a:r>
              <a:rPr lang="zh-CN" altLang="en-US" sz="2000" b="1" dirty="0">
                <a:solidFill>
                  <a:srgbClr val="FF0000"/>
                </a:solidFill>
              </a:rPr>
              <a:t>机器周期为</a:t>
            </a:r>
            <a:r>
              <a:rPr lang="en-US" altLang="zh-CN" sz="2000" b="1" dirty="0">
                <a:solidFill>
                  <a:srgbClr val="FF0000"/>
                </a:solidFill>
              </a:rPr>
              <a:t>0.125×2=0.25μs</a:t>
            </a:r>
          </a:p>
          <a:p>
            <a:pPr lvl="1"/>
            <a:r>
              <a:rPr lang="zh-CN" altLang="en-US" sz="2000" b="1" dirty="0">
                <a:solidFill>
                  <a:srgbClr val="FF0000"/>
                </a:solidFill>
              </a:rPr>
              <a:t>指令周期为</a:t>
            </a:r>
            <a:r>
              <a:rPr lang="en-US" altLang="zh-CN" sz="2000" b="1" dirty="0">
                <a:solidFill>
                  <a:srgbClr val="FF0000"/>
                </a:solidFill>
              </a:rPr>
              <a:t>0.25×2.5=0.625μs</a:t>
            </a:r>
          </a:p>
          <a:p>
            <a:pPr lvl="1"/>
            <a:r>
              <a:rPr lang="zh-CN" altLang="en-US" sz="2000" b="1" dirty="0">
                <a:solidFill>
                  <a:srgbClr val="FF0000"/>
                </a:solidFill>
              </a:rPr>
              <a:t>平均指令执行速度为</a:t>
            </a:r>
            <a:r>
              <a:rPr lang="en-US" altLang="zh-CN" sz="2000" b="1" dirty="0">
                <a:solidFill>
                  <a:srgbClr val="FF0000"/>
                </a:solidFill>
              </a:rPr>
              <a:t>1/0.625=1.6MIPS</a:t>
            </a:r>
            <a:endParaRPr lang="zh-CN" altLang="en-US" sz="2000" b="1" dirty="0">
              <a:solidFill>
                <a:srgbClr val="FF0000"/>
              </a:solidFill>
            </a:endParaRPr>
          </a:p>
        </p:txBody>
      </p:sp>
      <p:sp>
        <p:nvSpPr>
          <p:cNvPr id="104" name="Rectangle 3"/>
          <p:cNvSpPr txBox="1">
            <a:spLocks noChangeArrowheads="1"/>
          </p:cNvSpPr>
          <p:nvPr/>
        </p:nvSpPr>
        <p:spPr>
          <a:xfrm>
            <a:off x="630237" y="3522423"/>
            <a:ext cx="8280400" cy="282642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r>
              <a:rPr lang="zh-CN" altLang="en-US" sz="2000" b="1" dirty="0"/>
              <a:t>解：若主频不变，则</a:t>
            </a:r>
          </a:p>
          <a:p>
            <a:pPr lvl="1"/>
            <a:r>
              <a:rPr lang="zh-CN" altLang="en-US" sz="2000" b="1" dirty="0">
                <a:solidFill>
                  <a:srgbClr val="FF0000"/>
                </a:solidFill>
              </a:rPr>
              <a:t>时钟周期为</a:t>
            </a:r>
            <a:r>
              <a:rPr lang="en-US" altLang="zh-CN" sz="2000" b="1" dirty="0">
                <a:solidFill>
                  <a:srgbClr val="FF0000"/>
                </a:solidFill>
              </a:rPr>
              <a:t>1/8=0.125μs</a:t>
            </a:r>
          </a:p>
          <a:p>
            <a:pPr lvl="1"/>
            <a:r>
              <a:rPr lang="zh-CN" altLang="en-US" sz="2000" b="1" dirty="0">
                <a:solidFill>
                  <a:srgbClr val="FF0000"/>
                </a:solidFill>
              </a:rPr>
              <a:t>机器周期为</a:t>
            </a:r>
            <a:r>
              <a:rPr lang="en-US" altLang="zh-CN" sz="2000" b="1" dirty="0">
                <a:solidFill>
                  <a:srgbClr val="FF0000"/>
                </a:solidFill>
              </a:rPr>
              <a:t>0.125×4=0.5μs</a:t>
            </a:r>
          </a:p>
          <a:p>
            <a:pPr lvl="1"/>
            <a:r>
              <a:rPr lang="zh-CN" altLang="en-US" sz="2000" b="1" dirty="0">
                <a:solidFill>
                  <a:srgbClr val="FF0000"/>
                </a:solidFill>
              </a:rPr>
              <a:t>指令周期为</a:t>
            </a:r>
            <a:r>
              <a:rPr lang="en-US" altLang="zh-CN" sz="2000" b="1" dirty="0">
                <a:solidFill>
                  <a:srgbClr val="FF0000"/>
                </a:solidFill>
              </a:rPr>
              <a:t>0.5×5=2.5μs</a:t>
            </a:r>
          </a:p>
          <a:p>
            <a:pPr lvl="1"/>
            <a:r>
              <a:rPr lang="zh-CN" altLang="en-US" sz="2000" b="1" dirty="0">
                <a:solidFill>
                  <a:srgbClr val="FF0000"/>
                </a:solidFill>
              </a:rPr>
              <a:t>平均指令执行速度为</a:t>
            </a:r>
            <a:r>
              <a:rPr lang="en-US" altLang="zh-CN" sz="2000" b="1" dirty="0">
                <a:solidFill>
                  <a:srgbClr val="FF0000"/>
                </a:solidFill>
              </a:rPr>
              <a:t>1/2.5=0.4MIPS</a:t>
            </a:r>
          </a:p>
          <a:p>
            <a:r>
              <a:rPr lang="zh-CN" altLang="en-US" sz="2000" b="1" dirty="0"/>
              <a:t>可见机器的运行速度并不完全取决于主频。</a:t>
            </a:r>
          </a:p>
        </p:txBody>
      </p:sp>
    </p:spTree>
    <p:extLst>
      <p:ext uri="{BB962C8B-B14F-4D97-AF65-F5344CB8AC3E}">
        <p14:creationId xmlns:p14="http://schemas.microsoft.com/office/powerpoint/2010/main" val="369589308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10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03" grpId="0"/>
      <p:bldP spid="103" grpId="1"/>
      <p:bldP spid="10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0" y="400050"/>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6.3 </a:t>
            </a:r>
            <a:r>
              <a:rPr lang="zh-CN" altLang="en-US" sz="2800">
                <a:solidFill>
                  <a:srgbClr val="990000"/>
                </a:solidFill>
                <a:latin typeface="黑体" pitchFamily="2" charset="-122"/>
                <a:ea typeface="黑体" pitchFamily="2" charset="-122"/>
              </a:rPr>
              <a:t>时序控制方式与时序系统</a:t>
            </a:r>
          </a:p>
        </p:txBody>
      </p:sp>
      <p:sp>
        <p:nvSpPr>
          <p:cNvPr id="41987" name="Rectangle 4"/>
          <p:cNvSpPr>
            <a:spLocks noChangeArrowheads="1"/>
          </p:cNvSpPr>
          <p:nvPr/>
        </p:nvSpPr>
        <p:spPr bwMode="auto">
          <a:xfrm>
            <a:off x="630238" y="1052513"/>
            <a:ext cx="3746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6.3.2 </a:t>
            </a:r>
            <a:r>
              <a:rPr lang="zh-CN" altLang="en-US" dirty="0">
                <a:solidFill>
                  <a:srgbClr val="990000"/>
                </a:solidFill>
                <a:latin typeface="黑体" pitchFamily="2" charset="-122"/>
                <a:ea typeface="黑体" pitchFamily="2" charset="-122"/>
              </a:rPr>
              <a:t>时序控制方式</a:t>
            </a:r>
          </a:p>
        </p:txBody>
      </p:sp>
      <p:sp>
        <p:nvSpPr>
          <p:cNvPr id="41988" name="Rectangle 5"/>
          <p:cNvSpPr>
            <a:spLocks noChangeArrowheads="1"/>
          </p:cNvSpPr>
          <p:nvPr/>
        </p:nvSpPr>
        <p:spPr bwMode="auto">
          <a:xfrm>
            <a:off x="914400" y="1592263"/>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指完成指令的各微操作在与时序上采用何种协调关系。</a:t>
            </a:r>
          </a:p>
        </p:txBody>
      </p:sp>
      <p:sp>
        <p:nvSpPr>
          <p:cNvPr id="171014" name="Rectangle 6"/>
          <p:cNvSpPr>
            <a:spLocks noChangeArrowheads="1"/>
          </p:cNvSpPr>
          <p:nvPr/>
        </p:nvSpPr>
        <p:spPr bwMode="auto">
          <a:xfrm>
            <a:off x="900113" y="2133600"/>
            <a:ext cx="8047037"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1</a:t>
            </a:r>
            <a:r>
              <a:rPr lang="zh-CN" altLang="en-US" dirty="0">
                <a:latin typeface="黑体" pitchFamily="2" charset="-122"/>
                <a:ea typeface="黑体" pitchFamily="2" charset="-122"/>
              </a:rPr>
              <a:t>）同步控制方式</a:t>
            </a:r>
          </a:p>
          <a:p>
            <a:pPr>
              <a:lnSpc>
                <a:spcPct val="120000"/>
              </a:lnSpc>
              <a:spcBef>
                <a:spcPct val="0"/>
              </a:spcBef>
            </a:pPr>
            <a:r>
              <a:rPr lang="zh-CN" altLang="en-US" dirty="0">
                <a:latin typeface="黑体" pitchFamily="2" charset="-122"/>
                <a:ea typeface="黑体" pitchFamily="2" charset="-122"/>
              </a:rPr>
              <a:t>   各项微操作都由</a:t>
            </a:r>
            <a:r>
              <a:rPr lang="zh-CN" altLang="en-US" dirty="0">
                <a:solidFill>
                  <a:srgbClr val="C00000"/>
                </a:solidFill>
                <a:latin typeface="黑体" pitchFamily="2" charset="-122"/>
                <a:ea typeface="黑体" pitchFamily="2" charset="-122"/>
              </a:rPr>
              <a:t>固定的，统一的时序</a:t>
            </a:r>
            <a:r>
              <a:rPr lang="zh-CN" altLang="en-US" dirty="0">
                <a:latin typeface="黑体" pitchFamily="2" charset="-122"/>
                <a:ea typeface="黑体" pitchFamily="2" charset="-122"/>
              </a:rPr>
              <a:t>进行控制。</a:t>
            </a:r>
          </a:p>
        </p:txBody>
      </p:sp>
      <p:sp>
        <p:nvSpPr>
          <p:cNvPr id="171017" name="Rectangle 9"/>
          <p:cNvSpPr>
            <a:spLocks noChangeArrowheads="1"/>
          </p:cNvSpPr>
          <p:nvPr/>
        </p:nvSpPr>
        <p:spPr bwMode="auto">
          <a:xfrm>
            <a:off x="1150938" y="5265738"/>
            <a:ext cx="7345362"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p>
            <a:pPr>
              <a:lnSpc>
                <a:spcPct val="12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特点：控制方式简单，容易实现，存在时间浪费。</a:t>
            </a:r>
          </a:p>
          <a:p>
            <a:pPr>
              <a:lnSpc>
                <a:spcPct val="120000"/>
              </a:lnSpc>
              <a:spcBef>
                <a:spcPct val="0"/>
              </a:spcBef>
            </a:pPr>
            <a:r>
              <a:rPr lang="zh-CN" altLang="en-US">
                <a:latin typeface="黑体" pitchFamily="2" charset="-122"/>
                <a:ea typeface="黑体" pitchFamily="2" charset="-122"/>
              </a:rPr>
              <a:t> 应用：</a:t>
            </a:r>
            <a:r>
              <a:rPr lang="en-US" altLang="zh-CN" dirty="0">
                <a:latin typeface="黑体" pitchFamily="2" charset="-122"/>
                <a:ea typeface="黑体" pitchFamily="2" charset="-122"/>
              </a:rPr>
              <a:t>CPU</a:t>
            </a:r>
            <a:r>
              <a:rPr lang="zh-CN" altLang="en-US">
                <a:latin typeface="黑体" pitchFamily="2" charset="-122"/>
                <a:ea typeface="黑体" pitchFamily="2" charset="-122"/>
              </a:rPr>
              <a:t>内部或设备内部。</a:t>
            </a:r>
          </a:p>
        </p:txBody>
      </p:sp>
      <p:grpSp>
        <p:nvGrpSpPr>
          <p:cNvPr id="2" name="Group 27"/>
          <p:cNvGrpSpPr>
            <a:grpSpLocks/>
          </p:cNvGrpSpPr>
          <p:nvPr/>
        </p:nvGrpSpPr>
        <p:grpSpPr bwMode="auto">
          <a:xfrm>
            <a:off x="1584325" y="3284538"/>
            <a:ext cx="6872288" cy="1677987"/>
            <a:chOff x="998" y="2069"/>
            <a:chExt cx="4329" cy="1057"/>
          </a:xfrm>
        </p:grpSpPr>
        <p:sp>
          <p:nvSpPr>
            <p:cNvPr id="41992" name="Text Box 11"/>
            <p:cNvSpPr txBox="1">
              <a:spLocks noChangeArrowheads="1"/>
            </p:cNvSpPr>
            <p:nvPr/>
          </p:nvSpPr>
          <p:spPr bwMode="auto">
            <a:xfrm>
              <a:off x="1479" y="2069"/>
              <a:ext cx="49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时钟</a:t>
              </a:r>
            </a:p>
          </p:txBody>
        </p:sp>
        <p:sp>
          <p:nvSpPr>
            <p:cNvPr id="41993" name="Text Box 12"/>
            <p:cNvSpPr txBox="1">
              <a:spLocks noChangeArrowheads="1"/>
            </p:cNvSpPr>
            <p:nvPr/>
          </p:nvSpPr>
          <p:spPr bwMode="auto">
            <a:xfrm>
              <a:off x="998" y="2352"/>
              <a:ext cx="98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1</a:t>
              </a:r>
            </a:p>
          </p:txBody>
        </p:sp>
        <p:sp>
          <p:nvSpPr>
            <p:cNvPr id="41994" name="Text Box 13"/>
            <p:cNvSpPr txBox="1">
              <a:spLocks noChangeArrowheads="1"/>
            </p:cNvSpPr>
            <p:nvPr/>
          </p:nvSpPr>
          <p:spPr bwMode="auto">
            <a:xfrm>
              <a:off x="998" y="2636"/>
              <a:ext cx="98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2</a:t>
              </a:r>
            </a:p>
          </p:txBody>
        </p:sp>
        <p:sp>
          <p:nvSpPr>
            <p:cNvPr id="41995" name="Text Box 14"/>
            <p:cNvSpPr txBox="1">
              <a:spLocks noChangeArrowheads="1"/>
            </p:cNvSpPr>
            <p:nvPr/>
          </p:nvSpPr>
          <p:spPr bwMode="auto">
            <a:xfrm>
              <a:off x="998" y="2919"/>
              <a:ext cx="98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3</a:t>
              </a:r>
            </a:p>
          </p:txBody>
        </p:sp>
        <p:sp>
          <p:nvSpPr>
            <p:cNvPr id="41996" name="Freeform 15"/>
            <p:cNvSpPr>
              <a:spLocks/>
            </p:cNvSpPr>
            <p:nvPr/>
          </p:nvSpPr>
          <p:spPr bwMode="auto">
            <a:xfrm>
              <a:off x="2040" y="2069"/>
              <a:ext cx="3287" cy="189"/>
            </a:xfrm>
            <a:custGeom>
              <a:avLst/>
              <a:gdLst>
                <a:gd name="T0" fmla="*/ 0 w 4305"/>
                <a:gd name="T1" fmla="*/ 1 h 312"/>
                <a:gd name="T2" fmla="*/ 4 w 4305"/>
                <a:gd name="T3" fmla="*/ 1 h 312"/>
                <a:gd name="T4" fmla="*/ 4 w 4305"/>
                <a:gd name="T5" fmla="*/ 0 h 312"/>
                <a:gd name="T6" fmla="*/ 9 w 4305"/>
                <a:gd name="T7" fmla="*/ 0 h 312"/>
                <a:gd name="T8" fmla="*/ 9 w 4305"/>
                <a:gd name="T9" fmla="*/ 1 h 312"/>
                <a:gd name="T10" fmla="*/ 15 w 4305"/>
                <a:gd name="T11" fmla="*/ 1 h 312"/>
                <a:gd name="T12" fmla="*/ 15 w 4305"/>
                <a:gd name="T13" fmla="*/ 0 h 312"/>
                <a:gd name="T14" fmla="*/ 21 w 4305"/>
                <a:gd name="T15" fmla="*/ 0 h 312"/>
                <a:gd name="T16" fmla="*/ 21 w 4305"/>
                <a:gd name="T17" fmla="*/ 1 h 312"/>
                <a:gd name="T18" fmla="*/ 26 w 4305"/>
                <a:gd name="T19" fmla="*/ 1 h 312"/>
                <a:gd name="T20" fmla="*/ 26 w 4305"/>
                <a:gd name="T21" fmla="*/ 0 h 312"/>
                <a:gd name="T22" fmla="*/ 31 w 4305"/>
                <a:gd name="T23" fmla="*/ 0 h 312"/>
                <a:gd name="T24" fmla="*/ 31 w 4305"/>
                <a:gd name="T25" fmla="*/ 1 h 312"/>
                <a:gd name="T26" fmla="*/ 37 w 4305"/>
                <a:gd name="T27" fmla="*/ 1 h 312"/>
                <a:gd name="T28" fmla="*/ 37 w 4305"/>
                <a:gd name="T29" fmla="*/ 0 h 312"/>
                <a:gd name="T30" fmla="*/ 43 w 4305"/>
                <a:gd name="T31" fmla="*/ 0 h 312"/>
                <a:gd name="T32" fmla="*/ 43 w 4305"/>
                <a:gd name="T33" fmla="*/ 1 h 312"/>
                <a:gd name="T34" fmla="*/ 48 w 4305"/>
                <a:gd name="T35" fmla="*/ 1 h 312"/>
                <a:gd name="T36" fmla="*/ 48 w 4305"/>
                <a:gd name="T37" fmla="*/ 0 h 312"/>
                <a:gd name="T38" fmla="*/ 53 w 4305"/>
                <a:gd name="T39" fmla="*/ 0 h 312"/>
                <a:gd name="T40" fmla="*/ 53 w 4305"/>
                <a:gd name="T41" fmla="*/ 1 h 312"/>
                <a:gd name="T42" fmla="*/ 59 w 4305"/>
                <a:gd name="T43" fmla="*/ 1 h 312"/>
                <a:gd name="T44" fmla="*/ 59 w 4305"/>
                <a:gd name="T45" fmla="*/ 0 h 312"/>
                <a:gd name="T46" fmla="*/ 64 w 4305"/>
                <a:gd name="T47" fmla="*/ 0 h 312"/>
                <a:gd name="T48" fmla="*/ 64 w 4305"/>
                <a:gd name="T49" fmla="*/ 1 h 312"/>
                <a:gd name="T50" fmla="*/ 70 w 4305"/>
                <a:gd name="T51" fmla="*/ 1 h 312"/>
                <a:gd name="T52" fmla="*/ 70 w 4305"/>
                <a:gd name="T53" fmla="*/ 0 h 312"/>
                <a:gd name="T54" fmla="*/ 75 w 4305"/>
                <a:gd name="T55" fmla="*/ 0 h 3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305"/>
                <a:gd name="T85" fmla="*/ 0 h 312"/>
                <a:gd name="T86" fmla="*/ 4305 w 4305"/>
                <a:gd name="T87" fmla="*/ 312 h 3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305" h="312">
                  <a:moveTo>
                    <a:pt x="0" y="312"/>
                  </a:moveTo>
                  <a:lnTo>
                    <a:pt x="210" y="312"/>
                  </a:lnTo>
                  <a:lnTo>
                    <a:pt x="210" y="0"/>
                  </a:lnTo>
                  <a:lnTo>
                    <a:pt x="525" y="0"/>
                  </a:lnTo>
                  <a:lnTo>
                    <a:pt x="525" y="312"/>
                  </a:lnTo>
                  <a:lnTo>
                    <a:pt x="840" y="312"/>
                  </a:lnTo>
                  <a:lnTo>
                    <a:pt x="840" y="0"/>
                  </a:lnTo>
                  <a:lnTo>
                    <a:pt x="1155" y="0"/>
                  </a:lnTo>
                  <a:lnTo>
                    <a:pt x="1155" y="312"/>
                  </a:lnTo>
                  <a:lnTo>
                    <a:pt x="1470" y="312"/>
                  </a:lnTo>
                  <a:lnTo>
                    <a:pt x="1470" y="0"/>
                  </a:lnTo>
                  <a:lnTo>
                    <a:pt x="1785" y="0"/>
                  </a:lnTo>
                  <a:lnTo>
                    <a:pt x="1785" y="312"/>
                  </a:lnTo>
                  <a:lnTo>
                    <a:pt x="2100" y="312"/>
                  </a:lnTo>
                  <a:lnTo>
                    <a:pt x="2100" y="0"/>
                  </a:lnTo>
                  <a:lnTo>
                    <a:pt x="2415" y="0"/>
                  </a:lnTo>
                  <a:lnTo>
                    <a:pt x="2415" y="312"/>
                  </a:lnTo>
                  <a:lnTo>
                    <a:pt x="2730" y="312"/>
                  </a:lnTo>
                  <a:lnTo>
                    <a:pt x="2730" y="0"/>
                  </a:lnTo>
                  <a:lnTo>
                    <a:pt x="3045" y="0"/>
                  </a:lnTo>
                  <a:lnTo>
                    <a:pt x="3045" y="312"/>
                  </a:lnTo>
                  <a:lnTo>
                    <a:pt x="3360" y="312"/>
                  </a:lnTo>
                  <a:lnTo>
                    <a:pt x="3360" y="0"/>
                  </a:lnTo>
                  <a:lnTo>
                    <a:pt x="3675" y="0"/>
                  </a:lnTo>
                  <a:lnTo>
                    <a:pt x="3675" y="312"/>
                  </a:lnTo>
                  <a:lnTo>
                    <a:pt x="3990" y="312"/>
                  </a:lnTo>
                  <a:lnTo>
                    <a:pt x="3990" y="0"/>
                  </a:lnTo>
                  <a:lnTo>
                    <a:pt x="4305" y="0"/>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1997" name="Group 16"/>
            <p:cNvGrpSpPr>
              <a:grpSpLocks/>
            </p:cNvGrpSpPr>
            <p:nvPr/>
          </p:nvGrpSpPr>
          <p:grpSpPr bwMode="auto">
            <a:xfrm>
              <a:off x="2201" y="2163"/>
              <a:ext cx="2405" cy="945"/>
              <a:chOff x="3226" y="5034"/>
              <a:chExt cx="3150" cy="2184"/>
            </a:xfrm>
          </p:grpSpPr>
          <p:sp>
            <p:nvSpPr>
              <p:cNvPr id="42001" name="Line 17"/>
              <p:cNvSpPr>
                <a:spLocks noChangeShapeType="1"/>
              </p:cNvSpPr>
              <p:nvPr/>
            </p:nvSpPr>
            <p:spPr bwMode="auto">
              <a:xfrm>
                <a:off x="322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2" name="Line 18"/>
              <p:cNvSpPr>
                <a:spLocks noChangeShapeType="1"/>
              </p:cNvSpPr>
              <p:nvPr/>
            </p:nvSpPr>
            <p:spPr bwMode="auto">
              <a:xfrm>
                <a:off x="385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19"/>
              <p:cNvSpPr>
                <a:spLocks noChangeShapeType="1"/>
              </p:cNvSpPr>
              <p:nvPr/>
            </p:nvSpPr>
            <p:spPr bwMode="auto">
              <a:xfrm>
                <a:off x="448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0"/>
              <p:cNvSpPr>
                <a:spLocks noChangeShapeType="1"/>
              </p:cNvSpPr>
              <p:nvPr/>
            </p:nvSpPr>
            <p:spPr bwMode="auto">
              <a:xfrm>
                <a:off x="511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21"/>
              <p:cNvSpPr>
                <a:spLocks noChangeShapeType="1"/>
              </p:cNvSpPr>
              <p:nvPr/>
            </p:nvSpPr>
            <p:spPr bwMode="auto">
              <a:xfrm>
                <a:off x="574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22"/>
              <p:cNvSpPr>
                <a:spLocks noChangeShapeType="1"/>
              </p:cNvSpPr>
              <p:nvPr/>
            </p:nvSpPr>
            <p:spPr bwMode="auto">
              <a:xfrm>
                <a:off x="6376" y="5034"/>
                <a:ext cx="0" cy="2184"/>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998" name="Freeform 23"/>
            <p:cNvSpPr>
              <a:spLocks/>
            </p:cNvSpPr>
            <p:nvPr/>
          </p:nvSpPr>
          <p:spPr bwMode="auto">
            <a:xfrm>
              <a:off x="2040" y="2352"/>
              <a:ext cx="3287" cy="189"/>
            </a:xfrm>
            <a:custGeom>
              <a:avLst/>
              <a:gdLst>
                <a:gd name="T0" fmla="*/ 0 w 4305"/>
                <a:gd name="T1" fmla="*/ 1 h 312"/>
                <a:gd name="T2" fmla="*/ 4 w 4305"/>
                <a:gd name="T3" fmla="*/ 1 h 312"/>
                <a:gd name="T4" fmla="*/ 4 w 4305"/>
                <a:gd name="T5" fmla="*/ 0 h 312"/>
                <a:gd name="T6" fmla="*/ 15 w 4305"/>
                <a:gd name="T7" fmla="*/ 0 h 312"/>
                <a:gd name="T8" fmla="*/ 15 w 4305"/>
                <a:gd name="T9" fmla="*/ 1 h 312"/>
                <a:gd name="T10" fmla="*/ 48 w 4305"/>
                <a:gd name="T11" fmla="*/ 1 h 312"/>
                <a:gd name="T12" fmla="*/ 48 w 4305"/>
                <a:gd name="T13" fmla="*/ 0 h 312"/>
                <a:gd name="T14" fmla="*/ 59 w 4305"/>
                <a:gd name="T15" fmla="*/ 0 h 312"/>
                <a:gd name="T16" fmla="*/ 59 w 4305"/>
                <a:gd name="T17" fmla="*/ 1 h 312"/>
                <a:gd name="T18" fmla="*/ 75 w 4305"/>
                <a:gd name="T19" fmla="*/ 1 h 3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05"/>
                <a:gd name="T31" fmla="*/ 0 h 312"/>
                <a:gd name="T32" fmla="*/ 4305 w 4305"/>
                <a:gd name="T33" fmla="*/ 312 h 3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05" h="312">
                  <a:moveTo>
                    <a:pt x="0" y="312"/>
                  </a:moveTo>
                  <a:lnTo>
                    <a:pt x="210" y="312"/>
                  </a:lnTo>
                  <a:lnTo>
                    <a:pt x="210" y="0"/>
                  </a:lnTo>
                  <a:lnTo>
                    <a:pt x="840" y="0"/>
                  </a:lnTo>
                  <a:lnTo>
                    <a:pt x="840" y="312"/>
                  </a:lnTo>
                  <a:lnTo>
                    <a:pt x="2730" y="312"/>
                  </a:lnTo>
                  <a:lnTo>
                    <a:pt x="2730" y="0"/>
                  </a:lnTo>
                  <a:lnTo>
                    <a:pt x="3360" y="0"/>
                  </a:lnTo>
                  <a:lnTo>
                    <a:pt x="336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999" name="Freeform 24"/>
            <p:cNvSpPr>
              <a:spLocks/>
            </p:cNvSpPr>
            <p:nvPr/>
          </p:nvSpPr>
          <p:spPr bwMode="auto">
            <a:xfrm>
              <a:off x="2040" y="2636"/>
              <a:ext cx="3287" cy="189"/>
            </a:xfrm>
            <a:custGeom>
              <a:avLst/>
              <a:gdLst>
                <a:gd name="T0" fmla="*/ 0 w 4305"/>
                <a:gd name="T1" fmla="*/ 1 h 312"/>
                <a:gd name="T2" fmla="*/ 15 w 4305"/>
                <a:gd name="T3" fmla="*/ 1 h 312"/>
                <a:gd name="T4" fmla="*/ 15 w 4305"/>
                <a:gd name="T5" fmla="*/ 0 h 312"/>
                <a:gd name="T6" fmla="*/ 26 w 4305"/>
                <a:gd name="T7" fmla="*/ 0 h 312"/>
                <a:gd name="T8" fmla="*/ 26 w 4305"/>
                <a:gd name="T9" fmla="*/ 1 h 312"/>
                <a:gd name="T10" fmla="*/ 75 w 4305"/>
                <a:gd name="T11" fmla="*/ 1 h 312"/>
                <a:gd name="T12" fmla="*/ 0 60000 65536"/>
                <a:gd name="T13" fmla="*/ 0 60000 65536"/>
                <a:gd name="T14" fmla="*/ 0 60000 65536"/>
                <a:gd name="T15" fmla="*/ 0 60000 65536"/>
                <a:gd name="T16" fmla="*/ 0 60000 65536"/>
                <a:gd name="T17" fmla="*/ 0 60000 65536"/>
                <a:gd name="T18" fmla="*/ 0 w 4305"/>
                <a:gd name="T19" fmla="*/ 0 h 312"/>
                <a:gd name="T20" fmla="*/ 4305 w 4305"/>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4305" h="312">
                  <a:moveTo>
                    <a:pt x="0" y="312"/>
                  </a:moveTo>
                  <a:lnTo>
                    <a:pt x="840" y="312"/>
                  </a:lnTo>
                  <a:lnTo>
                    <a:pt x="840" y="0"/>
                  </a:lnTo>
                  <a:lnTo>
                    <a:pt x="1470" y="0"/>
                  </a:lnTo>
                  <a:lnTo>
                    <a:pt x="147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00" name="Freeform 25"/>
            <p:cNvSpPr>
              <a:spLocks/>
            </p:cNvSpPr>
            <p:nvPr/>
          </p:nvSpPr>
          <p:spPr bwMode="auto">
            <a:xfrm>
              <a:off x="2040" y="2919"/>
              <a:ext cx="3287" cy="189"/>
            </a:xfrm>
            <a:custGeom>
              <a:avLst/>
              <a:gdLst>
                <a:gd name="T0" fmla="*/ 0 w 4305"/>
                <a:gd name="T1" fmla="*/ 1 h 312"/>
                <a:gd name="T2" fmla="*/ 26 w 4305"/>
                <a:gd name="T3" fmla="*/ 1 h 312"/>
                <a:gd name="T4" fmla="*/ 26 w 4305"/>
                <a:gd name="T5" fmla="*/ 0 h 312"/>
                <a:gd name="T6" fmla="*/ 37 w 4305"/>
                <a:gd name="T7" fmla="*/ 0 h 312"/>
                <a:gd name="T8" fmla="*/ 37 w 4305"/>
                <a:gd name="T9" fmla="*/ 1 h 312"/>
                <a:gd name="T10" fmla="*/ 75 w 4305"/>
                <a:gd name="T11" fmla="*/ 1 h 312"/>
                <a:gd name="T12" fmla="*/ 0 60000 65536"/>
                <a:gd name="T13" fmla="*/ 0 60000 65536"/>
                <a:gd name="T14" fmla="*/ 0 60000 65536"/>
                <a:gd name="T15" fmla="*/ 0 60000 65536"/>
                <a:gd name="T16" fmla="*/ 0 60000 65536"/>
                <a:gd name="T17" fmla="*/ 0 60000 65536"/>
                <a:gd name="T18" fmla="*/ 0 w 4305"/>
                <a:gd name="T19" fmla="*/ 0 h 312"/>
                <a:gd name="T20" fmla="*/ 4305 w 4305"/>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4305" h="312">
                  <a:moveTo>
                    <a:pt x="0" y="312"/>
                  </a:moveTo>
                  <a:lnTo>
                    <a:pt x="1470" y="312"/>
                  </a:lnTo>
                  <a:lnTo>
                    <a:pt x="1470" y="0"/>
                  </a:lnTo>
                  <a:lnTo>
                    <a:pt x="2100" y="0"/>
                  </a:lnTo>
                  <a:lnTo>
                    <a:pt x="210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1014"/>
                                        </p:tgtEl>
                                        <p:attrNameLst>
                                          <p:attrName>style.visibility</p:attrName>
                                        </p:attrNameLst>
                                      </p:cBhvr>
                                      <p:to>
                                        <p:strVal val="visible"/>
                                      </p:to>
                                    </p:set>
                                    <p:animEffect transition="in" filter="wipe(up)">
                                      <p:cBhvr>
                                        <p:cTn id="7" dur="500"/>
                                        <p:tgtEl>
                                          <p:spTgt spid="171014"/>
                                        </p:tgtEl>
                                      </p:cBhvr>
                                    </p:animEffect>
                                  </p:childTnLst>
                                </p:cTn>
                              </p:par>
                              <p:par>
                                <p:cTn id="8" presetID="22" presetClass="entr" presetSubtype="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71017"/>
                                        </p:tgtEl>
                                        <p:attrNameLst>
                                          <p:attrName>style.visibility</p:attrName>
                                        </p:attrNameLst>
                                      </p:cBhvr>
                                      <p:to>
                                        <p:strVal val="visible"/>
                                      </p:to>
                                    </p:set>
                                    <p:animEffect transition="in" filter="wipe(up)">
                                      <p:cBhvr>
                                        <p:cTn id="13" dur="500"/>
                                        <p:tgtEl>
                                          <p:spTgt spid="17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P spid="1710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ChangeArrowheads="1"/>
          </p:cNvSpPr>
          <p:nvPr/>
        </p:nvSpPr>
        <p:spPr bwMode="auto">
          <a:xfrm>
            <a:off x="630238" y="512763"/>
            <a:ext cx="3746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6.3.2 </a:t>
            </a:r>
            <a:r>
              <a:rPr lang="zh-CN" altLang="en-US" dirty="0">
                <a:solidFill>
                  <a:srgbClr val="990000"/>
                </a:solidFill>
                <a:latin typeface="黑体" pitchFamily="2" charset="-122"/>
                <a:ea typeface="黑体" pitchFamily="2" charset="-122"/>
              </a:rPr>
              <a:t>时序控制方式</a:t>
            </a:r>
          </a:p>
        </p:txBody>
      </p:sp>
      <p:sp>
        <p:nvSpPr>
          <p:cNvPr id="43011" name="Rectangle 6"/>
          <p:cNvSpPr>
            <a:spLocks noChangeArrowheads="1"/>
          </p:cNvSpPr>
          <p:nvPr/>
        </p:nvSpPr>
        <p:spPr bwMode="auto">
          <a:xfrm>
            <a:off x="914400" y="1052513"/>
            <a:ext cx="792480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2</a:t>
            </a:r>
            <a:r>
              <a:rPr lang="zh-CN" altLang="en-US">
                <a:latin typeface="黑体" pitchFamily="2" charset="-122"/>
                <a:ea typeface="黑体" pitchFamily="2" charset="-122"/>
              </a:rPr>
              <a:t>）异步控制方式</a:t>
            </a:r>
          </a:p>
          <a:p>
            <a:pPr>
              <a:lnSpc>
                <a:spcPct val="120000"/>
              </a:lnSpc>
              <a:spcBef>
                <a:spcPct val="0"/>
              </a:spcBef>
            </a:pPr>
            <a:r>
              <a:rPr lang="zh-CN" altLang="en-US">
                <a:latin typeface="黑体" pitchFamily="2" charset="-122"/>
                <a:ea typeface="黑体" pitchFamily="2" charset="-122"/>
              </a:rPr>
              <a:t>    各微操作按其需要选择不同的时间间隔，不受统一的时间的约束；各微操作之间的衔接与各部件之间的信息交换采用应答方式。</a:t>
            </a:r>
          </a:p>
        </p:txBody>
      </p:sp>
      <p:sp>
        <p:nvSpPr>
          <p:cNvPr id="43012" name="Rectangle 7"/>
          <p:cNvSpPr>
            <a:spLocks noChangeArrowheads="1"/>
          </p:cNvSpPr>
          <p:nvPr/>
        </p:nvSpPr>
        <p:spPr bwMode="auto">
          <a:xfrm>
            <a:off x="900113" y="4616450"/>
            <a:ext cx="72898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p>
            <a:pPr marL="901700" indent="-901700">
              <a:spcBef>
                <a:spcPct val="0"/>
              </a:spcBef>
            </a:pPr>
            <a:r>
              <a:rPr lang="zh-CN" altLang="en-US">
                <a:latin typeface="黑体" pitchFamily="2" charset="-122"/>
                <a:ea typeface="黑体" pitchFamily="2" charset="-122"/>
              </a:rPr>
              <a:t>特点：没有时间上的浪费，因而提高了机器的效率，但是控制比较复杂。</a:t>
            </a:r>
          </a:p>
          <a:p>
            <a:pPr marL="901700" indent="-901700">
              <a:spcBef>
                <a:spcPct val="0"/>
              </a:spcBef>
            </a:pPr>
            <a:r>
              <a:rPr lang="zh-CN" altLang="en-US">
                <a:latin typeface="黑体" pitchFamily="2" charset="-122"/>
                <a:ea typeface="黑体" pitchFamily="2" charset="-122"/>
              </a:rPr>
              <a:t>应用：用于系统总线操作控制</a:t>
            </a:r>
          </a:p>
        </p:txBody>
      </p:sp>
      <p:grpSp>
        <p:nvGrpSpPr>
          <p:cNvPr id="43013" name="Group 13"/>
          <p:cNvGrpSpPr>
            <a:grpSpLocks/>
          </p:cNvGrpSpPr>
          <p:nvPr/>
        </p:nvGrpSpPr>
        <p:grpSpPr bwMode="auto">
          <a:xfrm>
            <a:off x="1403350" y="3213100"/>
            <a:ext cx="7056438" cy="863600"/>
            <a:chOff x="884" y="1933"/>
            <a:chExt cx="4445" cy="703"/>
          </a:xfrm>
        </p:grpSpPr>
        <p:sp>
          <p:nvSpPr>
            <p:cNvPr id="43014" name="Text Box 9"/>
            <p:cNvSpPr txBox="1">
              <a:spLocks noChangeArrowheads="1"/>
            </p:cNvSpPr>
            <p:nvPr/>
          </p:nvSpPr>
          <p:spPr bwMode="auto">
            <a:xfrm>
              <a:off x="884" y="1933"/>
              <a:ext cx="101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1</a:t>
              </a:r>
            </a:p>
          </p:txBody>
        </p:sp>
        <p:sp>
          <p:nvSpPr>
            <p:cNvPr id="43015" name="Freeform 10"/>
            <p:cNvSpPr>
              <a:spLocks/>
            </p:cNvSpPr>
            <p:nvPr/>
          </p:nvSpPr>
          <p:spPr bwMode="auto">
            <a:xfrm>
              <a:off x="1954" y="1933"/>
              <a:ext cx="3375" cy="271"/>
            </a:xfrm>
            <a:custGeom>
              <a:avLst/>
              <a:gdLst>
                <a:gd name="T0" fmla="*/ 0 w 4305"/>
                <a:gd name="T1" fmla="*/ 37 h 312"/>
                <a:gd name="T2" fmla="*/ 5 w 4305"/>
                <a:gd name="T3" fmla="*/ 37 h 312"/>
                <a:gd name="T4" fmla="*/ 5 w 4305"/>
                <a:gd name="T5" fmla="*/ 0 h 312"/>
                <a:gd name="T6" fmla="*/ 21 w 4305"/>
                <a:gd name="T7" fmla="*/ 0 h 312"/>
                <a:gd name="T8" fmla="*/ 21 w 4305"/>
                <a:gd name="T9" fmla="*/ 37 h 312"/>
                <a:gd name="T10" fmla="*/ 71 w 4305"/>
                <a:gd name="T11" fmla="*/ 37 h 312"/>
                <a:gd name="T12" fmla="*/ 71 w 4305"/>
                <a:gd name="T13" fmla="*/ 0 h 312"/>
                <a:gd name="T14" fmla="*/ 87 w 4305"/>
                <a:gd name="T15" fmla="*/ 0 h 312"/>
                <a:gd name="T16" fmla="*/ 87 w 4305"/>
                <a:gd name="T17" fmla="*/ 37 h 312"/>
                <a:gd name="T18" fmla="*/ 112 w 4305"/>
                <a:gd name="T19" fmla="*/ 37 h 3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05"/>
                <a:gd name="T31" fmla="*/ 0 h 312"/>
                <a:gd name="T32" fmla="*/ 4305 w 4305"/>
                <a:gd name="T33" fmla="*/ 312 h 3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05" h="312">
                  <a:moveTo>
                    <a:pt x="0" y="312"/>
                  </a:moveTo>
                  <a:lnTo>
                    <a:pt x="210" y="312"/>
                  </a:lnTo>
                  <a:lnTo>
                    <a:pt x="210" y="0"/>
                  </a:lnTo>
                  <a:lnTo>
                    <a:pt x="840" y="0"/>
                  </a:lnTo>
                  <a:lnTo>
                    <a:pt x="840" y="312"/>
                  </a:lnTo>
                  <a:lnTo>
                    <a:pt x="2730" y="312"/>
                  </a:lnTo>
                  <a:lnTo>
                    <a:pt x="2730" y="0"/>
                  </a:lnTo>
                  <a:lnTo>
                    <a:pt x="3360" y="0"/>
                  </a:lnTo>
                  <a:lnTo>
                    <a:pt x="336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16" name="Text Box 11"/>
            <p:cNvSpPr txBox="1">
              <a:spLocks noChangeArrowheads="1"/>
            </p:cNvSpPr>
            <p:nvPr/>
          </p:nvSpPr>
          <p:spPr bwMode="auto">
            <a:xfrm>
              <a:off x="884" y="2340"/>
              <a:ext cx="101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2</a:t>
              </a:r>
            </a:p>
          </p:txBody>
        </p:sp>
        <p:sp>
          <p:nvSpPr>
            <p:cNvPr id="43017" name="Freeform 12"/>
            <p:cNvSpPr>
              <a:spLocks/>
            </p:cNvSpPr>
            <p:nvPr/>
          </p:nvSpPr>
          <p:spPr bwMode="auto">
            <a:xfrm>
              <a:off x="1954" y="2340"/>
              <a:ext cx="3375" cy="271"/>
            </a:xfrm>
            <a:custGeom>
              <a:avLst/>
              <a:gdLst>
                <a:gd name="T0" fmla="*/ 0 w 4305"/>
                <a:gd name="T1" fmla="*/ 37 h 312"/>
                <a:gd name="T2" fmla="*/ 21 w 4305"/>
                <a:gd name="T3" fmla="*/ 37 h 312"/>
                <a:gd name="T4" fmla="*/ 21 w 4305"/>
                <a:gd name="T5" fmla="*/ 0 h 312"/>
                <a:gd name="T6" fmla="*/ 49 w 4305"/>
                <a:gd name="T7" fmla="*/ 0 h 312"/>
                <a:gd name="T8" fmla="*/ 49 w 4305"/>
                <a:gd name="T9" fmla="*/ 37 h 312"/>
                <a:gd name="T10" fmla="*/ 112 w 4305"/>
                <a:gd name="T11" fmla="*/ 37 h 312"/>
                <a:gd name="T12" fmla="*/ 0 60000 65536"/>
                <a:gd name="T13" fmla="*/ 0 60000 65536"/>
                <a:gd name="T14" fmla="*/ 0 60000 65536"/>
                <a:gd name="T15" fmla="*/ 0 60000 65536"/>
                <a:gd name="T16" fmla="*/ 0 60000 65536"/>
                <a:gd name="T17" fmla="*/ 0 60000 65536"/>
                <a:gd name="T18" fmla="*/ 0 w 4305"/>
                <a:gd name="T19" fmla="*/ 0 h 312"/>
                <a:gd name="T20" fmla="*/ 4305 w 4305"/>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4305" h="312">
                  <a:moveTo>
                    <a:pt x="0" y="312"/>
                  </a:moveTo>
                  <a:lnTo>
                    <a:pt x="840" y="312"/>
                  </a:lnTo>
                  <a:lnTo>
                    <a:pt x="840" y="0"/>
                  </a:lnTo>
                  <a:lnTo>
                    <a:pt x="1890" y="0"/>
                  </a:lnTo>
                  <a:lnTo>
                    <a:pt x="189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ChangeArrowheads="1"/>
          </p:cNvSpPr>
          <p:nvPr/>
        </p:nvSpPr>
        <p:spPr bwMode="auto">
          <a:xfrm>
            <a:off x="630238" y="512763"/>
            <a:ext cx="3746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6.3.2 </a:t>
            </a:r>
            <a:r>
              <a:rPr lang="zh-CN" altLang="en-US" dirty="0">
                <a:solidFill>
                  <a:srgbClr val="990000"/>
                </a:solidFill>
                <a:latin typeface="黑体" pitchFamily="2" charset="-122"/>
                <a:ea typeface="黑体" pitchFamily="2" charset="-122"/>
              </a:rPr>
              <a:t>时序控制方式</a:t>
            </a:r>
          </a:p>
        </p:txBody>
      </p:sp>
      <p:sp>
        <p:nvSpPr>
          <p:cNvPr id="44035" name="Rectangle 7"/>
          <p:cNvSpPr>
            <a:spLocks noChangeArrowheads="1"/>
          </p:cNvSpPr>
          <p:nvPr/>
        </p:nvSpPr>
        <p:spPr bwMode="auto">
          <a:xfrm>
            <a:off x="900113" y="1106488"/>
            <a:ext cx="77724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3</a:t>
            </a:r>
            <a:r>
              <a:rPr lang="zh-CN" altLang="en-US">
                <a:latin typeface="黑体" pitchFamily="2" charset="-122"/>
                <a:ea typeface="黑体" pitchFamily="2" charset="-122"/>
              </a:rPr>
              <a:t>）准同步控制方式</a:t>
            </a:r>
          </a:p>
          <a:p>
            <a:pPr>
              <a:lnSpc>
                <a:spcPct val="120000"/>
              </a:lnSpc>
              <a:spcBef>
                <a:spcPct val="0"/>
              </a:spcBef>
            </a:pPr>
            <a:r>
              <a:rPr lang="zh-CN" altLang="en-US">
                <a:latin typeface="黑体" pitchFamily="2" charset="-122"/>
                <a:ea typeface="黑体" pitchFamily="2" charset="-122"/>
              </a:rPr>
              <a:t>   异步方式的同步化</a:t>
            </a:r>
          </a:p>
          <a:p>
            <a:pPr>
              <a:lnSpc>
                <a:spcPct val="120000"/>
              </a:lnSpc>
              <a:spcBef>
                <a:spcPct val="0"/>
              </a:spcBef>
            </a:pPr>
            <a:r>
              <a:rPr lang="zh-CN" altLang="en-US">
                <a:latin typeface="黑体" pitchFamily="2" charset="-122"/>
                <a:ea typeface="黑体" pitchFamily="2" charset="-122"/>
              </a:rPr>
              <a:t>  （只在节拍结束时查询异步应答信号）。</a:t>
            </a:r>
          </a:p>
        </p:txBody>
      </p:sp>
      <p:sp>
        <p:nvSpPr>
          <p:cNvPr id="44036" name="Rectangle 8"/>
          <p:cNvSpPr>
            <a:spLocks noChangeArrowheads="1"/>
          </p:cNvSpPr>
          <p:nvPr/>
        </p:nvSpPr>
        <p:spPr bwMode="auto">
          <a:xfrm>
            <a:off x="846138" y="4778375"/>
            <a:ext cx="77724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4</a:t>
            </a:r>
            <a:r>
              <a:rPr lang="zh-CN" altLang="en-US">
                <a:latin typeface="黑体" pitchFamily="2" charset="-122"/>
                <a:ea typeface="黑体" pitchFamily="2" charset="-122"/>
              </a:rPr>
              <a:t>）联合控制方式</a:t>
            </a:r>
          </a:p>
          <a:p>
            <a:pPr>
              <a:lnSpc>
                <a:spcPct val="120000"/>
              </a:lnSpc>
              <a:spcBef>
                <a:spcPct val="0"/>
              </a:spcBef>
            </a:pPr>
            <a:r>
              <a:rPr lang="zh-CN" altLang="en-US">
                <a:latin typeface="黑体" pitchFamily="2" charset="-122"/>
                <a:ea typeface="黑体" pitchFamily="2" charset="-122"/>
              </a:rPr>
              <a:t>   同步控制和异步控制相结合的方式。</a:t>
            </a:r>
          </a:p>
        </p:txBody>
      </p:sp>
      <p:grpSp>
        <p:nvGrpSpPr>
          <p:cNvPr id="44037" name="Group 25"/>
          <p:cNvGrpSpPr>
            <a:grpSpLocks/>
          </p:cNvGrpSpPr>
          <p:nvPr/>
        </p:nvGrpSpPr>
        <p:grpSpPr bwMode="auto">
          <a:xfrm>
            <a:off x="1619250" y="2889250"/>
            <a:ext cx="6875463" cy="1296988"/>
            <a:chOff x="1020" y="1820"/>
            <a:chExt cx="4331" cy="817"/>
          </a:xfrm>
        </p:grpSpPr>
        <p:sp>
          <p:nvSpPr>
            <p:cNvPr id="44038" name="Text Box 12"/>
            <p:cNvSpPr txBox="1">
              <a:spLocks noChangeArrowheads="1"/>
            </p:cNvSpPr>
            <p:nvPr/>
          </p:nvSpPr>
          <p:spPr bwMode="auto">
            <a:xfrm>
              <a:off x="1501" y="1820"/>
              <a:ext cx="50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时钟</a:t>
              </a:r>
            </a:p>
          </p:txBody>
        </p:sp>
        <p:sp>
          <p:nvSpPr>
            <p:cNvPr id="44039" name="Text Box 13"/>
            <p:cNvSpPr txBox="1">
              <a:spLocks noChangeArrowheads="1"/>
            </p:cNvSpPr>
            <p:nvPr/>
          </p:nvSpPr>
          <p:spPr bwMode="auto">
            <a:xfrm>
              <a:off x="1020" y="2119"/>
              <a:ext cx="98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1</a:t>
              </a:r>
            </a:p>
          </p:txBody>
        </p:sp>
        <p:sp>
          <p:nvSpPr>
            <p:cNvPr id="44040" name="Text Box 14"/>
            <p:cNvSpPr txBox="1">
              <a:spLocks noChangeArrowheads="1"/>
            </p:cNvSpPr>
            <p:nvPr/>
          </p:nvSpPr>
          <p:spPr bwMode="auto">
            <a:xfrm>
              <a:off x="1020" y="2419"/>
              <a:ext cx="985"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2000">
                  <a:latin typeface="黑体" pitchFamily="2" charset="-122"/>
                  <a:ea typeface="黑体" pitchFamily="2" charset="-122"/>
                </a:rPr>
                <a:t>微操作信号</a:t>
              </a:r>
              <a:r>
                <a:rPr lang="en-US" altLang="zh-CN" sz="2000" dirty="0">
                  <a:latin typeface="黑体" pitchFamily="2" charset="-122"/>
                  <a:ea typeface="黑体" pitchFamily="2" charset="-122"/>
                </a:rPr>
                <a:t>2</a:t>
              </a:r>
            </a:p>
          </p:txBody>
        </p:sp>
        <p:sp>
          <p:nvSpPr>
            <p:cNvPr id="44041" name="Freeform 15"/>
            <p:cNvSpPr>
              <a:spLocks/>
            </p:cNvSpPr>
            <p:nvPr/>
          </p:nvSpPr>
          <p:spPr bwMode="auto">
            <a:xfrm>
              <a:off x="2063" y="1820"/>
              <a:ext cx="3288" cy="200"/>
            </a:xfrm>
            <a:custGeom>
              <a:avLst/>
              <a:gdLst>
                <a:gd name="T0" fmla="*/ 0 w 4305"/>
                <a:gd name="T1" fmla="*/ 1 h 312"/>
                <a:gd name="T2" fmla="*/ 4 w 4305"/>
                <a:gd name="T3" fmla="*/ 1 h 312"/>
                <a:gd name="T4" fmla="*/ 4 w 4305"/>
                <a:gd name="T5" fmla="*/ 0 h 312"/>
                <a:gd name="T6" fmla="*/ 9 w 4305"/>
                <a:gd name="T7" fmla="*/ 0 h 312"/>
                <a:gd name="T8" fmla="*/ 9 w 4305"/>
                <a:gd name="T9" fmla="*/ 1 h 312"/>
                <a:gd name="T10" fmla="*/ 15 w 4305"/>
                <a:gd name="T11" fmla="*/ 1 h 312"/>
                <a:gd name="T12" fmla="*/ 15 w 4305"/>
                <a:gd name="T13" fmla="*/ 0 h 312"/>
                <a:gd name="T14" fmla="*/ 21 w 4305"/>
                <a:gd name="T15" fmla="*/ 0 h 312"/>
                <a:gd name="T16" fmla="*/ 21 w 4305"/>
                <a:gd name="T17" fmla="*/ 1 h 312"/>
                <a:gd name="T18" fmla="*/ 26 w 4305"/>
                <a:gd name="T19" fmla="*/ 1 h 312"/>
                <a:gd name="T20" fmla="*/ 26 w 4305"/>
                <a:gd name="T21" fmla="*/ 0 h 312"/>
                <a:gd name="T22" fmla="*/ 31 w 4305"/>
                <a:gd name="T23" fmla="*/ 0 h 312"/>
                <a:gd name="T24" fmla="*/ 31 w 4305"/>
                <a:gd name="T25" fmla="*/ 1 h 312"/>
                <a:gd name="T26" fmla="*/ 37 w 4305"/>
                <a:gd name="T27" fmla="*/ 1 h 312"/>
                <a:gd name="T28" fmla="*/ 37 w 4305"/>
                <a:gd name="T29" fmla="*/ 0 h 312"/>
                <a:gd name="T30" fmla="*/ 43 w 4305"/>
                <a:gd name="T31" fmla="*/ 0 h 312"/>
                <a:gd name="T32" fmla="*/ 43 w 4305"/>
                <a:gd name="T33" fmla="*/ 1 h 312"/>
                <a:gd name="T34" fmla="*/ 48 w 4305"/>
                <a:gd name="T35" fmla="*/ 1 h 312"/>
                <a:gd name="T36" fmla="*/ 48 w 4305"/>
                <a:gd name="T37" fmla="*/ 0 h 312"/>
                <a:gd name="T38" fmla="*/ 53 w 4305"/>
                <a:gd name="T39" fmla="*/ 0 h 312"/>
                <a:gd name="T40" fmla="*/ 53 w 4305"/>
                <a:gd name="T41" fmla="*/ 1 h 312"/>
                <a:gd name="T42" fmla="*/ 59 w 4305"/>
                <a:gd name="T43" fmla="*/ 1 h 312"/>
                <a:gd name="T44" fmla="*/ 59 w 4305"/>
                <a:gd name="T45" fmla="*/ 0 h 312"/>
                <a:gd name="T46" fmla="*/ 64 w 4305"/>
                <a:gd name="T47" fmla="*/ 0 h 312"/>
                <a:gd name="T48" fmla="*/ 64 w 4305"/>
                <a:gd name="T49" fmla="*/ 1 h 312"/>
                <a:gd name="T50" fmla="*/ 70 w 4305"/>
                <a:gd name="T51" fmla="*/ 1 h 312"/>
                <a:gd name="T52" fmla="*/ 70 w 4305"/>
                <a:gd name="T53" fmla="*/ 0 h 312"/>
                <a:gd name="T54" fmla="*/ 76 w 4305"/>
                <a:gd name="T55" fmla="*/ 0 h 3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305"/>
                <a:gd name="T85" fmla="*/ 0 h 312"/>
                <a:gd name="T86" fmla="*/ 4305 w 4305"/>
                <a:gd name="T87" fmla="*/ 312 h 3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305" h="312">
                  <a:moveTo>
                    <a:pt x="0" y="312"/>
                  </a:moveTo>
                  <a:lnTo>
                    <a:pt x="210" y="312"/>
                  </a:lnTo>
                  <a:lnTo>
                    <a:pt x="210" y="0"/>
                  </a:lnTo>
                  <a:lnTo>
                    <a:pt x="525" y="0"/>
                  </a:lnTo>
                  <a:lnTo>
                    <a:pt x="525" y="312"/>
                  </a:lnTo>
                  <a:lnTo>
                    <a:pt x="840" y="312"/>
                  </a:lnTo>
                  <a:lnTo>
                    <a:pt x="840" y="0"/>
                  </a:lnTo>
                  <a:lnTo>
                    <a:pt x="1155" y="0"/>
                  </a:lnTo>
                  <a:lnTo>
                    <a:pt x="1155" y="312"/>
                  </a:lnTo>
                  <a:lnTo>
                    <a:pt x="1470" y="312"/>
                  </a:lnTo>
                  <a:lnTo>
                    <a:pt x="1470" y="0"/>
                  </a:lnTo>
                  <a:lnTo>
                    <a:pt x="1785" y="0"/>
                  </a:lnTo>
                  <a:lnTo>
                    <a:pt x="1785" y="312"/>
                  </a:lnTo>
                  <a:lnTo>
                    <a:pt x="2100" y="312"/>
                  </a:lnTo>
                  <a:lnTo>
                    <a:pt x="2100" y="0"/>
                  </a:lnTo>
                  <a:lnTo>
                    <a:pt x="2415" y="0"/>
                  </a:lnTo>
                  <a:lnTo>
                    <a:pt x="2415" y="312"/>
                  </a:lnTo>
                  <a:lnTo>
                    <a:pt x="2730" y="312"/>
                  </a:lnTo>
                  <a:lnTo>
                    <a:pt x="2730" y="0"/>
                  </a:lnTo>
                  <a:lnTo>
                    <a:pt x="3045" y="0"/>
                  </a:lnTo>
                  <a:lnTo>
                    <a:pt x="3045" y="312"/>
                  </a:lnTo>
                  <a:lnTo>
                    <a:pt x="3360" y="312"/>
                  </a:lnTo>
                  <a:lnTo>
                    <a:pt x="3360" y="0"/>
                  </a:lnTo>
                  <a:lnTo>
                    <a:pt x="3675" y="0"/>
                  </a:lnTo>
                  <a:lnTo>
                    <a:pt x="3675" y="312"/>
                  </a:lnTo>
                  <a:lnTo>
                    <a:pt x="3990" y="312"/>
                  </a:lnTo>
                  <a:lnTo>
                    <a:pt x="3990" y="0"/>
                  </a:lnTo>
                  <a:lnTo>
                    <a:pt x="4305" y="0"/>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4042" name="Group 16"/>
            <p:cNvGrpSpPr>
              <a:grpSpLocks/>
            </p:cNvGrpSpPr>
            <p:nvPr/>
          </p:nvGrpSpPr>
          <p:grpSpPr bwMode="auto">
            <a:xfrm>
              <a:off x="2223" y="1920"/>
              <a:ext cx="2406" cy="698"/>
              <a:chOff x="3331" y="11118"/>
              <a:chExt cx="3150" cy="1560"/>
            </a:xfrm>
          </p:grpSpPr>
          <p:sp>
            <p:nvSpPr>
              <p:cNvPr id="44045" name="Line 17"/>
              <p:cNvSpPr>
                <a:spLocks noChangeShapeType="1"/>
              </p:cNvSpPr>
              <p:nvPr/>
            </p:nvSpPr>
            <p:spPr bwMode="auto">
              <a:xfrm>
                <a:off x="333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Line 18"/>
              <p:cNvSpPr>
                <a:spLocks noChangeShapeType="1"/>
              </p:cNvSpPr>
              <p:nvPr/>
            </p:nvSpPr>
            <p:spPr bwMode="auto">
              <a:xfrm>
                <a:off x="396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19"/>
              <p:cNvSpPr>
                <a:spLocks noChangeShapeType="1"/>
              </p:cNvSpPr>
              <p:nvPr/>
            </p:nvSpPr>
            <p:spPr bwMode="auto">
              <a:xfrm>
                <a:off x="459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20"/>
              <p:cNvSpPr>
                <a:spLocks noChangeShapeType="1"/>
              </p:cNvSpPr>
              <p:nvPr/>
            </p:nvSpPr>
            <p:spPr bwMode="auto">
              <a:xfrm>
                <a:off x="522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9" name="Line 21"/>
              <p:cNvSpPr>
                <a:spLocks noChangeShapeType="1"/>
              </p:cNvSpPr>
              <p:nvPr/>
            </p:nvSpPr>
            <p:spPr bwMode="auto">
              <a:xfrm>
                <a:off x="585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0" name="Line 22"/>
              <p:cNvSpPr>
                <a:spLocks noChangeShapeType="1"/>
              </p:cNvSpPr>
              <p:nvPr/>
            </p:nvSpPr>
            <p:spPr bwMode="auto">
              <a:xfrm>
                <a:off x="6481" y="11118"/>
                <a:ext cx="0" cy="1560"/>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43" name="Freeform 23"/>
            <p:cNvSpPr>
              <a:spLocks/>
            </p:cNvSpPr>
            <p:nvPr/>
          </p:nvSpPr>
          <p:spPr bwMode="auto">
            <a:xfrm>
              <a:off x="2063" y="2119"/>
              <a:ext cx="3288" cy="200"/>
            </a:xfrm>
            <a:custGeom>
              <a:avLst/>
              <a:gdLst>
                <a:gd name="T0" fmla="*/ 0 w 4305"/>
                <a:gd name="T1" fmla="*/ 1 h 312"/>
                <a:gd name="T2" fmla="*/ 4 w 4305"/>
                <a:gd name="T3" fmla="*/ 1 h 312"/>
                <a:gd name="T4" fmla="*/ 4 w 4305"/>
                <a:gd name="T5" fmla="*/ 0 h 312"/>
                <a:gd name="T6" fmla="*/ 15 w 4305"/>
                <a:gd name="T7" fmla="*/ 0 h 312"/>
                <a:gd name="T8" fmla="*/ 15 w 4305"/>
                <a:gd name="T9" fmla="*/ 1 h 312"/>
                <a:gd name="T10" fmla="*/ 48 w 4305"/>
                <a:gd name="T11" fmla="*/ 1 h 312"/>
                <a:gd name="T12" fmla="*/ 48 w 4305"/>
                <a:gd name="T13" fmla="*/ 0 h 312"/>
                <a:gd name="T14" fmla="*/ 59 w 4305"/>
                <a:gd name="T15" fmla="*/ 0 h 312"/>
                <a:gd name="T16" fmla="*/ 59 w 4305"/>
                <a:gd name="T17" fmla="*/ 1 h 312"/>
                <a:gd name="T18" fmla="*/ 76 w 4305"/>
                <a:gd name="T19" fmla="*/ 1 h 3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05"/>
                <a:gd name="T31" fmla="*/ 0 h 312"/>
                <a:gd name="T32" fmla="*/ 4305 w 4305"/>
                <a:gd name="T33" fmla="*/ 312 h 3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05" h="312">
                  <a:moveTo>
                    <a:pt x="0" y="312"/>
                  </a:moveTo>
                  <a:lnTo>
                    <a:pt x="210" y="312"/>
                  </a:lnTo>
                  <a:lnTo>
                    <a:pt x="210" y="0"/>
                  </a:lnTo>
                  <a:lnTo>
                    <a:pt x="840" y="0"/>
                  </a:lnTo>
                  <a:lnTo>
                    <a:pt x="840" y="312"/>
                  </a:lnTo>
                  <a:lnTo>
                    <a:pt x="2730" y="312"/>
                  </a:lnTo>
                  <a:lnTo>
                    <a:pt x="2730" y="0"/>
                  </a:lnTo>
                  <a:lnTo>
                    <a:pt x="3360" y="0"/>
                  </a:lnTo>
                  <a:lnTo>
                    <a:pt x="336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44" name="Freeform 24"/>
            <p:cNvSpPr>
              <a:spLocks/>
            </p:cNvSpPr>
            <p:nvPr/>
          </p:nvSpPr>
          <p:spPr bwMode="auto">
            <a:xfrm>
              <a:off x="2063" y="2419"/>
              <a:ext cx="3288" cy="199"/>
            </a:xfrm>
            <a:custGeom>
              <a:avLst/>
              <a:gdLst>
                <a:gd name="T0" fmla="*/ 0 w 4305"/>
                <a:gd name="T1" fmla="*/ 1 h 312"/>
                <a:gd name="T2" fmla="*/ 15 w 4305"/>
                <a:gd name="T3" fmla="*/ 1 h 312"/>
                <a:gd name="T4" fmla="*/ 15 w 4305"/>
                <a:gd name="T5" fmla="*/ 0 h 312"/>
                <a:gd name="T6" fmla="*/ 37 w 4305"/>
                <a:gd name="T7" fmla="*/ 0 h 312"/>
                <a:gd name="T8" fmla="*/ 37 w 4305"/>
                <a:gd name="T9" fmla="*/ 1 h 312"/>
                <a:gd name="T10" fmla="*/ 76 w 4305"/>
                <a:gd name="T11" fmla="*/ 1 h 312"/>
                <a:gd name="T12" fmla="*/ 0 60000 65536"/>
                <a:gd name="T13" fmla="*/ 0 60000 65536"/>
                <a:gd name="T14" fmla="*/ 0 60000 65536"/>
                <a:gd name="T15" fmla="*/ 0 60000 65536"/>
                <a:gd name="T16" fmla="*/ 0 60000 65536"/>
                <a:gd name="T17" fmla="*/ 0 60000 65536"/>
                <a:gd name="T18" fmla="*/ 0 w 4305"/>
                <a:gd name="T19" fmla="*/ 0 h 312"/>
                <a:gd name="T20" fmla="*/ 4305 w 4305"/>
                <a:gd name="T21" fmla="*/ 312 h 312"/>
              </a:gdLst>
              <a:ahLst/>
              <a:cxnLst>
                <a:cxn ang="T12">
                  <a:pos x="T0" y="T1"/>
                </a:cxn>
                <a:cxn ang="T13">
                  <a:pos x="T2" y="T3"/>
                </a:cxn>
                <a:cxn ang="T14">
                  <a:pos x="T4" y="T5"/>
                </a:cxn>
                <a:cxn ang="T15">
                  <a:pos x="T6" y="T7"/>
                </a:cxn>
                <a:cxn ang="T16">
                  <a:pos x="T8" y="T9"/>
                </a:cxn>
                <a:cxn ang="T17">
                  <a:pos x="T10" y="T11"/>
                </a:cxn>
              </a:cxnLst>
              <a:rect l="T18" t="T19" r="T20" b="T21"/>
              <a:pathLst>
                <a:path w="4305" h="312">
                  <a:moveTo>
                    <a:pt x="0" y="312"/>
                  </a:moveTo>
                  <a:lnTo>
                    <a:pt x="840" y="312"/>
                  </a:lnTo>
                  <a:lnTo>
                    <a:pt x="840" y="0"/>
                  </a:lnTo>
                  <a:lnTo>
                    <a:pt x="2100" y="0"/>
                  </a:lnTo>
                  <a:lnTo>
                    <a:pt x="2100" y="312"/>
                  </a:lnTo>
                  <a:lnTo>
                    <a:pt x="4305" y="312"/>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30238" y="511175"/>
            <a:ext cx="65341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6.3.3 </a:t>
            </a:r>
            <a:r>
              <a:rPr lang="zh-CN" altLang="en-US" dirty="0">
                <a:solidFill>
                  <a:srgbClr val="990000"/>
                </a:solidFill>
                <a:latin typeface="黑体" pitchFamily="2" charset="-122"/>
                <a:ea typeface="黑体" pitchFamily="2" charset="-122"/>
              </a:rPr>
              <a:t>同步控制方式下的多级时序系统</a:t>
            </a:r>
          </a:p>
        </p:txBody>
      </p:sp>
      <p:sp>
        <p:nvSpPr>
          <p:cNvPr id="45059" name="Rectangle 4"/>
          <p:cNvSpPr>
            <a:spLocks noChangeArrowheads="1"/>
          </p:cNvSpPr>
          <p:nvPr/>
        </p:nvSpPr>
        <p:spPr bwMode="auto">
          <a:xfrm>
            <a:off x="1260475" y="1801813"/>
            <a:ext cx="7294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zh-CN" altLang="en-US">
                <a:solidFill>
                  <a:srgbClr val="FF0000"/>
                </a:solidFill>
                <a:latin typeface="黑体" pitchFamily="2" charset="-122"/>
                <a:ea typeface="黑体" pitchFamily="2" charset="-122"/>
              </a:rPr>
              <a:t>指令周期：</a:t>
            </a:r>
            <a:r>
              <a:rPr lang="zh-CN" altLang="en-US">
                <a:latin typeface="黑体" pitchFamily="2" charset="-122"/>
                <a:ea typeface="黑体" pitchFamily="2" charset="-122"/>
              </a:rPr>
              <a:t>从取指到一条指令执行结束所需的时间。 </a:t>
            </a:r>
          </a:p>
        </p:txBody>
      </p:sp>
      <p:sp>
        <p:nvSpPr>
          <p:cNvPr id="45060" name="Text Box 68"/>
          <p:cNvSpPr txBox="1">
            <a:spLocks noChangeArrowheads="1"/>
          </p:cNvSpPr>
          <p:nvPr/>
        </p:nvSpPr>
        <p:spPr bwMode="auto">
          <a:xfrm>
            <a:off x="647700" y="2312988"/>
            <a:ext cx="7920038"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    在同步控制方式下，常将时序关系把指令周期划分为几个层次，称为</a:t>
            </a:r>
            <a:r>
              <a:rPr lang="zh-CN" altLang="en-US">
                <a:solidFill>
                  <a:srgbClr val="FF0000"/>
                </a:solidFill>
                <a:latin typeface="黑体" pitchFamily="2" charset="-122"/>
                <a:ea typeface="黑体" pitchFamily="2" charset="-122"/>
              </a:rPr>
              <a:t>多级时序</a:t>
            </a:r>
            <a:r>
              <a:rPr lang="zh-CN" altLang="en-US">
                <a:latin typeface="黑体" pitchFamily="2" charset="-122"/>
                <a:ea typeface="黑体" pitchFamily="2" charset="-122"/>
              </a:rPr>
              <a:t>。</a:t>
            </a:r>
          </a:p>
          <a:p>
            <a:pPr eaLnBrk="1" hangingPunct="1"/>
            <a:r>
              <a:rPr lang="zh-CN" altLang="en-US">
                <a:latin typeface="黑体" pitchFamily="2" charset="-122"/>
                <a:ea typeface="黑体" pitchFamily="2" charset="-122"/>
              </a:rPr>
              <a:t>    最常见的是二级时序和三级时序。</a:t>
            </a:r>
          </a:p>
        </p:txBody>
      </p:sp>
      <p:sp>
        <p:nvSpPr>
          <p:cNvPr id="45061" name="Text Box 70"/>
          <p:cNvSpPr txBox="1">
            <a:spLocks noChangeArrowheads="1"/>
          </p:cNvSpPr>
          <p:nvPr/>
        </p:nvSpPr>
        <p:spPr bwMode="auto">
          <a:xfrm>
            <a:off x="827088" y="1052513"/>
            <a:ext cx="41402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1. </a:t>
            </a:r>
            <a:r>
              <a:rPr lang="zh-CN" altLang="en-US">
                <a:solidFill>
                  <a:srgbClr val="990000"/>
                </a:solidFill>
                <a:latin typeface="黑体" pitchFamily="2" charset="-122"/>
                <a:ea typeface="黑体" pitchFamily="2" charset="-122"/>
              </a:rPr>
              <a:t>时序的层次划分</a:t>
            </a:r>
          </a:p>
        </p:txBody>
      </p:sp>
    </p:spTree>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630238" y="511175"/>
            <a:ext cx="65341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6.3.3 </a:t>
            </a:r>
            <a:r>
              <a:rPr lang="zh-CN" altLang="en-US" dirty="0">
                <a:solidFill>
                  <a:srgbClr val="990000"/>
                </a:solidFill>
                <a:latin typeface="黑体" pitchFamily="2" charset="-122"/>
                <a:ea typeface="黑体" pitchFamily="2" charset="-122"/>
              </a:rPr>
              <a:t>同步控制方式下的多级时序系统</a:t>
            </a:r>
          </a:p>
        </p:txBody>
      </p:sp>
      <p:sp>
        <p:nvSpPr>
          <p:cNvPr id="46083" name="Text Box 3"/>
          <p:cNvSpPr txBox="1">
            <a:spLocks noChangeArrowheads="1"/>
          </p:cNvSpPr>
          <p:nvPr/>
        </p:nvSpPr>
        <p:spPr bwMode="auto">
          <a:xfrm>
            <a:off x="827088" y="1052513"/>
            <a:ext cx="41402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2. </a:t>
            </a:r>
            <a:r>
              <a:rPr lang="zh-CN" altLang="en-US">
                <a:solidFill>
                  <a:srgbClr val="990000"/>
                </a:solidFill>
                <a:latin typeface="黑体" pitchFamily="2" charset="-122"/>
                <a:ea typeface="黑体" pitchFamily="2" charset="-122"/>
              </a:rPr>
              <a:t>多级时序划分举例</a:t>
            </a:r>
          </a:p>
        </p:txBody>
      </p:sp>
      <p:sp>
        <p:nvSpPr>
          <p:cNvPr id="46084" name="Text Box 5"/>
          <p:cNvSpPr txBox="1">
            <a:spLocks noChangeArrowheads="1"/>
          </p:cNvSpPr>
          <p:nvPr/>
        </p:nvSpPr>
        <p:spPr bwMode="auto">
          <a:xfrm>
            <a:off x="1008063" y="1679575"/>
            <a:ext cx="78486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a:t>
            </a:r>
            <a:r>
              <a:rPr lang="en-US" altLang="zh-CN" dirty="0">
                <a:latin typeface="黑体" pitchFamily="2" charset="-122"/>
                <a:ea typeface="黑体" pitchFamily="2" charset="-122"/>
              </a:rPr>
              <a:t>1</a:t>
            </a:r>
            <a:r>
              <a:rPr lang="zh-CN" altLang="en-US">
                <a:latin typeface="黑体" pitchFamily="2" charset="-122"/>
                <a:ea typeface="黑体" pitchFamily="2" charset="-122"/>
              </a:rPr>
              <a:t>）三级时序举例（常用在组合逻辑控制器中）</a:t>
            </a:r>
          </a:p>
        </p:txBody>
      </p:sp>
      <p:sp>
        <p:nvSpPr>
          <p:cNvPr id="46085" name="Text Box 9"/>
          <p:cNvSpPr txBox="1">
            <a:spLocks noChangeArrowheads="1"/>
          </p:cNvSpPr>
          <p:nvPr/>
        </p:nvSpPr>
        <p:spPr bwMode="auto">
          <a:xfrm>
            <a:off x="3600450" y="5661025"/>
            <a:ext cx="5257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u="sng">
                <a:solidFill>
                  <a:srgbClr val="990000"/>
                </a:solidFill>
                <a:latin typeface="黑体" pitchFamily="2" charset="-122"/>
                <a:ea typeface="黑体" pitchFamily="2" charset="-122"/>
              </a:rPr>
              <a:t>第</a:t>
            </a:r>
            <a:r>
              <a:rPr lang="en-US" altLang="zh-CN" u="sng" dirty="0">
                <a:solidFill>
                  <a:srgbClr val="990000"/>
                </a:solidFill>
                <a:latin typeface="黑体" pitchFamily="2" charset="-122"/>
                <a:ea typeface="黑体" pitchFamily="2" charset="-122"/>
              </a:rPr>
              <a:t>1</a:t>
            </a:r>
            <a:r>
              <a:rPr lang="zh-CN" altLang="en-US" u="sng">
                <a:solidFill>
                  <a:srgbClr val="990000"/>
                </a:solidFill>
                <a:latin typeface="黑体" pitchFamily="2" charset="-122"/>
                <a:ea typeface="黑体" pitchFamily="2" charset="-122"/>
              </a:rPr>
              <a:t>级</a:t>
            </a:r>
            <a:r>
              <a:rPr lang="zh-CN" altLang="en-US">
                <a:solidFill>
                  <a:srgbClr val="FF0000"/>
                </a:solidFill>
                <a:latin typeface="黑体" pitchFamily="2" charset="-122"/>
                <a:ea typeface="黑体" pitchFamily="2" charset="-122"/>
              </a:rPr>
              <a:t>     </a:t>
            </a:r>
            <a:r>
              <a:rPr lang="zh-CN" altLang="en-US" u="sng">
                <a:solidFill>
                  <a:srgbClr val="FF0000"/>
                </a:solidFill>
                <a:latin typeface="黑体" pitchFamily="2" charset="-122"/>
                <a:ea typeface="黑体" pitchFamily="2" charset="-122"/>
              </a:rPr>
              <a:t>第</a:t>
            </a:r>
            <a:r>
              <a:rPr lang="en-US" altLang="zh-CN" u="sng" dirty="0">
                <a:solidFill>
                  <a:srgbClr val="FF0000"/>
                </a:solidFill>
                <a:latin typeface="黑体" pitchFamily="2" charset="-122"/>
                <a:ea typeface="黑体" pitchFamily="2" charset="-122"/>
              </a:rPr>
              <a:t>2</a:t>
            </a:r>
            <a:r>
              <a:rPr lang="zh-CN" altLang="en-US" u="sng">
                <a:solidFill>
                  <a:srgbClr val="FF0000"/>
                </a:solidFill>
                <a:latin typeface="黑体" pitchFamily="2" charset="-122"/>
                <a:ea typeface="黑体" pitchFamily="2" charset="-122"/>
              </a:rPr>
              <a:t>级</a:t>
            </a:r>
            <a:r>
              <a:rPr lang="zh-CN" altLang="en-US">
                <a:solidFill>
                  <a:srgbClr val="FF0000"/>
                </a:solidFill>
                <a:latin typeface="黑体" pitchFamily="2" charset="-122"/>
                <a:ea typeface="黑体" pitchFamily="2" charset="-122"/>
              </a:rPr>
              <a:t>     </a:t>
            </a:r>
            <a:r>
              <a:rPr lang="zh-CN" altLang="en-US" u="sng">
                <a:solidFill>
                  <a:srgbClr val="FF00FF"/>
                </a:solidFill>
                <a:latin typeface="黑体" pitchFamily="2" charset="-122"/>
                <a:ea typeface="黑体" pitchFamily="2" charset="-122"/>
              </a:rPr>
              <a:t>第</a:t>
            </a:r>
            <a:r>
              <a:rPr lang="en-US" altLang="zh-CN" u="sng" dirty="0">
                <a:solidFill>
                  <a:srgbClr val="FF00FF"/>
                </a:solidFill>
                <a:latin typeface="黑体" pitchFamily="2" charset="-122"/>
                <a:ea typeface="黑体" pitchFamily="2" charset="-122"/>
              </a:rPr>
              <a:t>3</a:t>
            </a:r>
            <a:r>
              <a:rPr lang="zh-CN" altLang="en-US" u="sng">
                <a:solidFill>
                  <a:srgbClr val="FF00FF"/>
                </a:solidFill>
                <a:latin typeface="黑体" pitchFamily="2" charset="-122"/>
                <a:ea typeface="黑体" pitchFamily="2" charset="-122"/>
              </a:rPr>
              <a:t>级</a:t>
            </a:r>
          </a:p>
        </p:txBody>
      </p:sp>
      <p:graphicFrame>
        <p:nvGraphicFramePr>
          <p:cNvPr id="234610" name="Group 114"/>
          <p:cNvGraphicFramePr>
            <a:graphicFrameLocks noGrp="1"/>
          </p:cNvGraphicFramePr>
          <p:nvPr/>
        </p:nvGraphicFramePr>
        <p:xfrm>
          <a:off x="1708150" y="2435225"/>
          <a:ext cx="6096000" cy="30782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96195">
                <a:tc rowSpan="7">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rgbClr val="000099"/>
                          </a:solidFill>
                          <a:effectLst/>
                          <a:latin typeface="黑体" pitchFamily="2" charset="-122"/>
                          <a:ea typeface="黑体" pitchFamily="2" charset="-122"/>
                        </a:rPr>
                        <a:t>指令周期</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990000"/>
                          </a:solidFill>
                          <a:effectLst/>
                          <a:latin typeface="黑体" pitchFamily="2" charset="-122"/>
                          <a:ea typeface="黑体" pitchFamily="2" charset="-122"/>
                        </a:rPr>
                        <a:t>工作周期</a:t>
                      </a:r>
                      <a:r>
                        <a:rPr kumimoji="0" lang="en-US" altLang="zh-CN" sz="2000" b="1" i="0" u="none" strike="noStrike" cap="none" normalizeH="0" baseline="0" dirty="0">
                          <a:ln>
                            <a:noFill/>
                          </a:ln>
                          <a:solidFill>
                            <a:srgbClr val="990000"/>
                          </a:solidFill>
                          <a:effectLst/>
                          <a:latin typeface="黑体" pitchFamily="2" charset="-122"/>
                          <a:ea typeface="黑体" pitchFamily="2" charset="-122"/>
                        </a:rPr>
                        <a:t>0</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节拍</a:t>
                      </a:r>
                      <a:r>
                        <a:rPr kumimoji="0" lang="en-US" altLang="zh-CN" sz="2000" b="1" i="0" u="none" strike="noStrike" cap="none" normalizeH="0" baseline="0" dirty="0">
                          <a:ln>
                            <a:noFill/>
                          </a:ln>
                          <a:solidFill>
                            <a:srgbClr val="FF0000"/>
                          </a:solidFill>
                          <a:effectLst/>
                          <a:latin typeface="黑体" pitchFamily="2" charset="-122"/>
                          <a:ea typeface="黑体" pitchFamily="2" charset="-122"/>
                        </a:rPr>
                        <a:t>0</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9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黑体" pitchFamily="2" charset="-122"/>
                          <a:ea typeface="黑体" pitchFamily="2" charset="-122"/>
                        </a:rPr>
                        <a:t>  </a:t>
                      </a:r>
                      <a:r>
                        <a:rPr kumimoji="0" lang="en-US" altLang="zh-CN" sz="2000" b="1" i="0" u="none" strike="noStrike" cap="none" normalizeH="0" baseline="0" dirty="0">
                          <a:ln>
                            <a:noFill/>
                          </a:ln>
                          <a:solidFill>
                            <a:srgbClr val="FF0000"/>
                          </a:solidFill>
                          <a:effectLst/>
                          <a:latin typeface="宋体"/>
                          <a:ea typeface="黑体" pitchFamily="2" charset="-122"/>
                        </a:rPr>
                        <a:t>……</a:t>
                      </a:r>
                      <a:endParaRPr kumimoji="0" lang="en-US" altLang="zh-CN" sz="2000" b="1" i="0" u="none" strike="noStrike" cap="none" normalizeH="0" baseline="0" dirty="0">
                        <a:ln>
                          <a:noFill/>
                        </a:ln>
                        <a:solidFill>
                          <a:srgbClr val="FF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19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节拍</a:t>
                      </a:r>
                      <a:r>
                        <a:rPr kumimoji="0" lang="en-US" altLang="zh-CN" sz="2000" b="1" i="0" u="none" strike="noStrike" cap="none" normalizeH="0" baseline="0" dirty="0">
                          <a:ln>
                            <a:noFill/>
                          </a:ln>
                          <a:solidFill>
                            <a:srgbClr val="FF0000"/>
                          </a:solidFill>
                          <a:effectLst/>
                          <a:latin typeface="黑体" pitchFamily="2" charset="-122"/>
                          <a:ea typeface="黑体" pitchFamily="2" charset="-122"/>
                        </a:rPr>
                        <a:t>n</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0990">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99"/>
                          </a:solidFill>
                          <a:effectLst/>
                          <a:latin typeface="黑体" pitchFamily="2" charset="-122"/>
                          <a:ea typeface="黑体" pitchFamily="2" charset="-122"/>
                        </a:rPr>
                        <a:t>  </a:t>
                      </a:r>
                      <a:r>
                        <a:rPr kumimoji="0" lang="en-US" altLang="zh-CN" sz="2000" b="1" i="0" u="none" strike="noStrike" cap="none" normalizeH="0" baseline="0" dirty="0">
                          <a:ln>
                            <a:noFill/>
                          </a:ln>
                          <a:solidFill>
                            <a:srgbClr val="990000"/>
                          </a:solidFill>
                          <a:effectLst/>
                          <a:latin typeface="宋体"/>
                          <a:ea typeface="黑体" pitchFamily="2" charset="-122"/>
                        </a:rPr>
                        <a:t>……</a:t>
                      </a:r>
                      <a:endParaRPr kumimoji="0" lang="en-US" altLang="zh-CN" sz="2000" b="1" i="0" u="none" strike="noStrike" cap="none" normalizeH="0" baseline="0" dirty="0">
                        <a:ln>
                          <a:noFill/>
                        </a:ln>
                        <a:solidFill>
                          <a:srgbClr val="990000"/>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rgbClr val="99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FF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95">
                <a:tc vMerge="1">
                  <a:txBody>
                    <a:bodyPr/>
                    <a:lstStyle/>
                    <a:p>
                      <a:endParaRPr lang="zh-CN" altLang="en-US"/>
                    </a:p>
                  </a:txBody>
                  <a:tcPr/>
                </a:tc>
                <a:tc rowSpan="3">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990000"/>
                          </a:solidFill>
                          <a:effectLst/>
                          <a:latin typeface="黑体" pitchFamily="2" charset="-122"/>
                          <a:ea typeface="黑体" pitchFamily="2" charset="-122"/>
                        </a:rPr>
                        <a:t>工作周期</a:t>
                      </a:r>
                      <a:r>
                        <a:rPr kumimoji="0" lang="en-US" altLang="zh-CN" sz="2000" b="1" i="0" u="none" strike="noStrike" cap="none" normalizeH="0" baseline="0" dirty="0">
                          <a:ln>
                            <a:noFill/>
                          </a:ln>
                          <a:solidFill>
                            <a:srgbClr val="990000"/>
                          </a:solidFill>
                          <a:effectLst/>
                          <a:latin typeface="黑体" pitchFamily="2" charset="-122"/>
                          <a:ea typeface="黑体" pitchFamily="2" charset="-122"/>
                        </a:rPr>
                        <a:t>m</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a:t>
                      </a:r>
                      <a:r>
                        <a:rPr kumimoji="0" lang="en-US" altLang="zh-CN" sz="2000" b="1" i="0" u="none" strike="noStrike" cap="none" normalizeH="0" baseline="0" dirty="0">
                          <a:ln>
                            <a:noFill/>
                          </a:ln>
                          <a:solidFill>
                            <a:srgbClr val="FF0000"/>
                          </a:solidFill>
                          <a:effectLst/>
                          <a:latin typeface="宋体"/>
                          <a:ea typeface="黑体" pitchFamily="2" charset="-122"/>
                        </a:rPr>
                        <a:t>……</a:t>
                      </a:r>
                      <a:endParaRPr kumimoji="0" lang="en-US" altLang="zh-CN" sz="2000" b="1" i="0" u="none" strike="noStrike" cap="none" normalizeH="0" baseline="0" dirty="0">
                        <a:ln>
                          <a:noFill/>
                        </a:ln>
                        <a:solidFill>
                          <a:srgbClr val="FF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9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黑体" pitchFamily="2" charset="-122"/>
                          <a:ea typeface="黑体" pitchFamily="2" charset="-122"/>
                        </a:rPr>
                        <a:t>  </a:t>
                      </a:r>
                      <a:r>
                        <a:rPr kumimoji="0" lang="en-US" altLang="zh-CN" sz="2000" b="1" i="0" u="none" strike="noStrike" cap="none" normalizeH="0" baseline="0" dirty="0">
                          <a:ln>
                            <a:noFill/>
                          </a:ln>
                          <a:solidFill>
                            <a:srgbClr val="FF0000"/>
                          </a:solidFill>
                          <a:effectLst/>
                          <a:latin typeface="宋体"/>
                          <a:ea typeface="黑体" pitchFamily="2" charset="-122"/>
                        </a:rPr>
                        <a:t>……</a:t>
                      </a:r>
                      <a:endParaRPr kumimoji="0" lang="en-US" altLang="zh-CN" sz="2000" b="1" i="0" u="none" strike="noStrike" cap="none" normalizeH="0" baseline="0" dirty="0">
                        <a:ln>
                          <a:noFill/>
                        </a:ln>
                        <a:solidFill>
                          <a:srgbClr val="FF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9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a:t>
                      </a:r>
                      <a:r>
                        <a:rPr kumimoji="0" lang="en-US" altLang="zh-CN" sz="2000" b="1" i="0" u="none" strike="noStrike" cap="none" normalizeH="0" baseline="0" dirty="0">
                          <a:ln>
                            <a:noFill/>
                          </a:ln>
                          <a:solidFill>
                            <a:srgbClr val="FF0000"/>
                          </a:solidFill>
                          <a:effectLst/>
                          <a:latin typeface="宋体"/>
                          <a:ea typeface="黑体" pitchFamily="2" charset="-122"/>
                        </a:rPr>
                        <a:t>……</a:t>
                      </a:r>
                      <a:endParaRPr kumimoji="0" lang="en-US" altLang="zh-CN" sz="2000" b="1" i="0" u="none" strike="noStrike" cap="none" normalizeH="0" baseline="0" dirty="0">
                        <a:ln>
                          <a:noFill/>
                        </a:ln>
                        <a:solidFill>
                          <a:srgbClr val="FF0000"/>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6118" name="Text Box 107"/>
          <p:cNvSpPr txBox="1">
            <a:spLocks noChangeArrowheads="1"/>
          </p:cNvSpPr>
          <p:nvPr/>
        </p:nvSpPr>
        <p:spPr bwMode="auto">
          <a:xfrm>
            <a:off x="6275388" y="1068388"/>
            <a:ext cx="18669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endParaRPr lang="zh-CN" altLang="en-US">
              <a:latin typeface="黑体" pitchFamily="2" charset="-122"/>
              <a:ea typeface="黑体" pitchFamily="2" charset="-122"/>
            </a:endParaRPr>
          </a:p>
        </p:txBody>
      </p:sp>
      <p:sp>
        <p:nvSpPr>
          <p:cNvPr id="46119" name="Text Box 108"/>
          <p:cNvSpPr txBox="1">
            <a:spLocks noChangeArrowheads="1"/>
          </p:cNvSpPr>
          <p:nvPr/>
        </p:nvSpPr>
        <p:spPr bwMode="auto">
          <a:xfrm>
            <a:off x="6324600" y="2624138"/>
            <a:ext cx="1439863" cy="184150"/>
          </a:xfrm>
          <a:prstGeom prst="rect">
            <a:avLst/>
          </a:prstGeom>
          <a:solidFill>
            <a:srgbClr val="FFFF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FF"/>
                </a:solidFill>
                <a:latin typeface="黑体" pitchFamily="2" charset="-122"/>
                <a:ea typeface="黑体" pitchFamily="2" charset="-122"/>
              </a:rPr>
              <a:t> </a:t>
            </a:r>
            <a:r>
              <a:rPr lang="zh-CN" altLang="en-US" sz="1600">
                <a:solidFill>
                  <a:srgbClr val="FF00FF"/>
                </a:solidFill>
                <a:latin typeface="黑体" pitchFamily="2" charset="-122"/>
                <a:ea typeface="黑体" pitchFamily="2" charset="-122"/>
              </a:rPr>
              <a:t>节拍脉冲</a:t>
            </a:r>
          </a:p>
        </p:txBody>
      </p:sp>
      <p:sp>
        <p:nvSpPr>
          <p:cNvPr id="46120" name="Line 109"/>
          <p:cNvSpPr>
            <a:spLocks noChangeShapeType="1"/>
          </p:cNvSpPr>
          <p:nvPr/>
        </p:nvSpPr>
        <p:spPr bwMode="auto">
          <a:xfrm>
            <a:off x="6284913" y="2625725"/>
            <a:ext cx="151130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1" name="Line 111"/>
          <p:cNvSpPr>
            <a:spLocks noChangeShapeType="1"/>
          </p:cNvSpPr>
          <p:nvPr/>
        </p:nvSpPr>
        <p:spPr bwMode="auto">
          <a:xfrm>
            <a:off x="6276975" y="3408363"/>
            <a:ext cx="151130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2" name="Text Box 115"/>
          <p:cNvSpPr txBox="1">
            <a:spLocks noChangeArrowheads="1"/>
          </p:cNvSpPr>
          <p:nvPr/>
        </p:nvSpPr>
        <p:spPr bwMode="auto">
          <a:xfrm>
            <a:off x="6329363" y="3422650"/>
            <a:ext cx="1439862" cy="184150"/>
          </a:xfrm>
          <a:prstGeom prst="rect">
            <a:avLst/>
          </a:prstGeom>
          <a:solidFill>
            <a:srgbClr val="FFFF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FF"/>
                </a:solidFill>
                <a:latin typeface="黑体" pitchFamily="2" charset="-122"/>
                <a:ea typeface="黑体" pitchFamily="2" charset="-122"/>
              </a:rPr>
              <a:t> </a:t>
            </a:r>
            <a:r>
              <a:rPr lang="zh-CN" altLang="en-US" sz="1600">
                <a:solidFill>
                  <a:srgbClr val="FF00FF"/>
                </a:solidFill>
                <a:latin typeface="黑体" pitchFamily="2" charset="-122"/>
                <a:ea typeface="黑体" pitchFamily="2" charset="-122"/>
              </a:rPr>
              <a:t>节拍脉冲</a:t>
            </a:r>
          </a:p>
        </p:txBody>
      </p:sp>
    </p:spTree>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ChangeArrowheads="1"/>
          </p:cNvSpPr>
          <p:nvPr/>
        </p:nvSpPr>
        <p:spPr bwMode="auto">
          <a:xfrm>
            <a:off x="611188" y="728663"/>
            <a:ext cx="7948612"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p>
            <a:pPr>
              <a:lnSpc>
                <a:spcPct val="120000"/>
              </a:lnSpc>
              <a:spcBef>
                <a:spcPct val="0"/>
              </a:spcBef>
            </a:pPr>
            <a:r>
              <a:rPr lang="zh-CN" altLang="en-US">
                <a:latin typeface="黑体" pitchFamily="2" charset="-122"/>
                <a:ea typeface="黑体" pitchFamily="2" charset="-122"/>
              </a:rPr>
              <a:t>在三级时序系统中，一个指令周期分为三级时序：</a:t>
            </a:r>
          </a:p>
          <a:p>
            <a:pPr>
              <a:lnSpc>
                <a:spcPct val="120000"/>
              </a:lnSpc>
            </a:pPr>
            <a:r>
              <a:rPr lang="zh-CN" altLang="en-US">
                <a:latin typeface="黑体" pitchFamily="2" charset="-122"/>
                <a:ea typeface="黑体" pitchFamily="2" charset="-122"/>
              </a:rPr>
              <a:t>    ① </a:t>
            </a:r>
            <a:r>
              <a:rPr lang="en-US" altLang="zh-CN" dirty="0">
                <a:solidFill>
                  <a:srgbClr val="990000"/>
                </a:solidFill>
                <a:latin typeface="黑体" pitchFamily="2" charset="-122"/>
                <a:ea typeface="黑体" pitchFamily="2" charset="-122"/>
              </a:rPr>
              <a:t>CPU</a:t>
            </a:r>
            <a:r>
              <a:rPr lang="zh-CN" altLang="en-US">
                <a:solidFill>
                  <a:srgbClr val="990000"/>
                </a:solidFill>
                <a:latin typeface="黑体" pitchFamily="2" charset="-122"/>
                <a:ea typeface="黑体" pitchFamily="2" charset="-122"/>
              </a:rPr>
              <a:t>工作周期</a:t>
            </a:r>
            <a:r>
              <a:rPr lang="zh-CN" altLang="en-US">
                <a:latin typeface="黑体" pitchFamily="2" charset="-122"/>
                <a:ea typeface="黑体" pitchFamily="2" charset="-122"/>
              </a:rPr>
              <a:t>（又称为机器周期）</a:t>
            </a:r>
          </a:p>
          <a:p>
            <a:pPr>
              <a:lnSpc>
                <a:spcPct val="120000"/>
              </a:lnSpc>
              <a:spcBef>
                <a:spcPct val="0"/>
              </a:spcBef>
            </a:pPr>
            <a:r>
              <a:rPr lang="zh-CN" altLang="en-US">
                <a:latin typeface="黑体" pitchFamily="2" charset="-122"/>
                <a:ea typeface="黑体" pitchFamily="2" charset="-122"/>
              </a:rPr>
              <a:t>        对应于指令执行的某个阶段（如取指、取操等）</a:t>
            </a:r>
            <a:r>
              <a:rPr lang="en-US" altLang="zh-CN" dirty="0">
                <a:latin typeface="黑体" pitchFamily="2" charset="-122"/>
                <a:ea typeface="黑体" pitchFamily="2" charset="-122"/>
              </a:rPr>
              <a:t>,</a:t>
            </a:r>
          </a:p>
          <a:p>
            <a:pPr>
              <a:lnSpc>
                <a:spcPct val="12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通常伴随着一次总线操作（访内）。</a:t>
            </a:r>
          </a:p>
          <a:p>
            <a:pPr>
              <a:lnSpc>
                <a:spcPct val="120000"/>
              </a:lnSpc>
            </a:pPr>
            <a:r>
              <a:rPr lang="zh-CN" altLang="en-US">
                <a:latin typeface="黑体" pitchFamily="2" charset="-122"/>
                <a:ea typeface="黑体" pitchFamily="2" charset="-122"/>
              </a:rPr>
              <a:t>    ② </a:t>
            </a:r>
            <a:r>
              <a:rPr lang="zh-CN" altLang="en-US">
                <a:solidFill>
                  <a:srgbClr val="FF0000"/>
                </a:solidFill>
                <a:latin typeface="黑体" pitchFamily="2" charset="-122"/>
                <a:ea typeface="黑体" pitchFamily="2" charset="-122"/>
              </a:rPr>
              <a:t>节拍</a:t>
            </a:r>
            <a:r>
              <a:rPr lang="zh-CN" altLang="en-US">
                <a:latin typeface="黑体" pitchFamily="2" charset="-122"/>
                <a:ea typeface="黑体" pitchFamily="2" charset="-122"/>
              </a:rPr>
              <a:t>（又称为时钟周期）</a:t>
            </a:r>
            <a:endParaRPr lang="zh-CN" altLang="en-US">
              <a:solidFill>
                <a:srgbClr val="FF00FF"/>
              </a:solidFill>
              <a:latin typeface="黑体" pitchFamily="2" charset="-122"/>
              <a:ea typeface="黑体" pitchFamily="2" charset="-122"/>
            </a:endParaRPr>
          </a:p>
          <a:p>
            <a:pPr>
              <a:lnSpc>
                <a:spcPct val="120000"/>
              </a:lnSpc>
              <a:spcBef>
                <a:spcPct val="0"/>
              </a:spcBef>
            </a:pPr>
            <a:r>
              <a:rPr lang="zh-CN" altLang="en-US">
                <a:latin typeface="黑体" pitchFamily="2" charset="-122"/>
                <a:ea typeface="黑体" pitchFamily="2" charset="-122"/>
              </a:rPr>
              <a:t>        完成</a:t>
            </a:r>
            <a:r>
              <a:rPr lang="en-US" altLang="zh-CN" dirty="0">
                <a:latin typeface="黑体" pitchFamily="2" charset="-122"/>
                <a:ea typeface="黑体" pitchFamily="2" charset="-122"/>
              </a:rPr>
              <a:t>CPU</a:t>
            </a:r>
            <a:r>
              <a:rPr lang="zh-CN" altLang="en-US">
                <a:latin typeface="黑体" pitchFamily="2" charset="-122"/>
                <a:ea typeface="黑体" pitchFamily="2" charset="-122"/>
              </a:rPr>
              <a:t>内部一些最基本操作所需的时间。</a:t>
            </a:r>
          </a:p>
          <a:p>
            <a:pPr>
              <a:lnSpc>
                <a:spcPct val="120000"/>
              </a:lnSpc>
              <a:spcBef>
                <a:spcPct val="0"/>
              </a:spcBef>
            </a:pPr>
            <a:r>
              <a:rPr lang="zh-CN" altLang="en-US">
                <a:latin typeface="黑体" pitchFamily="2" charset="-122"/>
                <a:ea typeface="黑体" pitchFamily="2" charset="-122"/>
              </a:rPr>
              <a:t>        比如寄存器之间的数据传送等。</a:t>
            </a:r>
          </a:p>
          <a:p>
            <a:pPr>
              <a:lnSpc>
                <a:spcPct val="120000"/>
              </a:lnSpc>
            </a:pPr>
            <a:r>
              <a:rPr lang="zh-CN" altLang="en-US">
                <a:latin typeface="黑体" pitchFamily="2" charset="-122"/>
                <a:ea typeface="黑体" pitchFamily="2" charset="-122"/>
              </a:rPr>
              <a:t>    ③ </a:t>
            </a:r>
            <a:r>
              <a:rPr lang="zh-CN" altLang="en-US">
                <a:solidFill>
                  <a:srgbClr val="FF00FF"/>
                </a:solidFill>
                <a:latin typeface="黑体" pitchFamily="2" charset="-122"/>
                <a:ea typeface="黑体" pitchFamily="2" charset="-122"/>
              </a:rPr>
              <a:t>节拍脉冲</a:t>
            </a:r>
            <a:r>
              <a:rPr lang="zh-CN" altLang="en-US">
                <a:latin typeface="黑体" pitchFamily="2" charset="-122"/>
                <a:ea typeface="黑体" pitchFamily="2" charset="-122"/>
              </a:rPr>
              <a:t>（又称为工作脉冲、定时脉冲） </a:t>
            </a:r>
            <a:endParaRPr lang="zh-CN" altLang="en-US">
              <a:solidFill>
                <a:srgbClr val="0000FF"/>
              </a:solidFill>
              <a:latin typeface="黑体" pitchFamily="2" charset="-122"/>
              <a:ea typeface="黑体" pitchFamily="2" charset="-122"/>
            </a:endParaRPr>
          </a:p>
          <a:p>
            <a:pPr>
              <a:lnSpc>
                <a:spcPct val="120000"/>
              </a:lnSpc>
              <a:spcBef>
                <a:spcPct val="0"/>
              </a:spcBef>
            </a:pPr>
            <a:r>
              <a:rPr lang="zh-CN" altLang="en-US">
                <a:latin typeface="黑体" pitchFamily="2" charset="-122"/>
                <a:ea typeface="黑体" pitchFamily="2" charset="-122"/>
              </a:rPr>
              <a:t>        通常作为触发器（寄存器）的</a:t>
            </a:r>
            <a:r>
              <a:rPr lang="zh-CN" altLang="en-US" u="sng">
                <a:latin typeface="黑体" pitchFamily="2" charset="-122"/>
                <a:ea typeface="黑体" pitchFamily="2" charset="-122"/>
              </a:rPr>
              <a:t>打入脉冲</a:t>
            </a:r>
            <a:r>
              <a:rPr lang="zh-CN" altLang="en-US">
                <a:latin typeface="黑体" pitchFamily="2" charset="-122"/>
                <a:ea typeface="黑体" pitchFamily="2" charset="-122"/>
              </a:rPr>
              <a:t>，</a:t>
            </a:r>
          </a:p>
          <a:p>
            <a:pPr>
              <a:lnSpc>
                <a:spcPct val="120000"/>
              </a:lnSpc>
              <a:spcBef>
                <a:spcPct val="0"/>
              </a:spcBef>
            </a:pPr>
            <a:r>
              <a:rPr lang="zh-CN" altLang="en-US">
                <a:latin typeface="黑体" pitchFamily="2" charset="-122"/>
                <a:ea typeface="黑体" pitchFamily="2" charset="-122"/>
              </a:rPr>
              <a:t>        与</a:t>
            </a:r>
            <a:r>
              <a:rPr lang="zh-CN" altLang="en-US" u="sng">
                <a:latin typeface="黑体" pitchFamily="2" charset="-122"/>
                <a:ea typeface="黑体" pitchFamily="2" charset="-122"/>
              </a:rPr>
              <a:t>节拍</a:t>
            </a:r>
            <a:r>
              <a:rPr lang="zh-CN" altLang="en-US">
                <a:latin typeface="黑体" pitchFamily="2" charset="-122"/>
                <a:ea typeface="黑体" pitchFamily="2" charset="-122"/>
              </a:rPr>
              <a:t>相配合完成一次数据传送。</a:t>
            </a:r>
          </a:p>
        </p:txBody>
      </p:sp>
    </p:spTree>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182"/>
          <p:cNvGrpSpPr>
            <a:grpSpLocks/>
          </p:cNvGrpSpPr>
          <p:nvPr/>
        </p:nvGrpSpPr>
        <p:grpSpPr bwMode="auto">
          <a:xfrm>
            <a:off x="319088" y="368300"/>
            <a:ext cx="7947025" cy="5943600"/>
            <a:chOff x="201" y="232"/>
            <a:chExt cx="5006" cy="3744"/>
          </a:xfrm>
        </p:grpSpPr>
        <p:sp>
          <p:nvSpPr>
            <p:cNvPr id="48131" name="Text Box 113"/>
            <p:cNvSpPr txBox="1">
              <a:spLocks noChangeArrowheads="1"/>
            </p:cNvSpPr>
            <p:nvPr/>
          </p:nvSpPr>
          <p:spPr bwMode="auto">
            <a:xfrm>
              <a:off x="1791" y="3430"/>
              <a:ext cx="3207"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solidFill>
                    <a:srgbClr val="FF0000"/>
                  </a:solidFill>
                  <a:latin typeface="黑体" pitchFamily="2" charset="-122"/>
                  <a:ea typeface="黑体" pitchFamily="2" charset="-122"/>
                </a:rPr>
                <a:t>一个微操作持续的时间，为一个节拍的时间</a:t>
              </a:r>
            </a:p>
            <a:p>
              <a:pPr algn="just" eaLnBrk="1" hangingPunct="1">
                <a:spcBef>
                  <a:spcPct val="0"/>
                </a:spcBef>
              </a:pPr>
              <a:r>
                <a:rPr lang="zh-CN" altLang="en-US" sz="1800">
                  <a:solidFill>
                    <a:srgbClr val="FF0000"/>
                  </a:solidFill>
                  <a:latin typeface="黑体" pitchFamily="2" charset="-122"/>
                  <a:ea typeface="黑体" pitchFamily="2" charset="-122"/>
                </a:rPr>
                <a:t>（即一个时钟周期的时间）。</a:t>
              </a:r>
            </a:p>
          </p:txBody>
        </p:sp>
        <p:grpSp>
          <p:nvGrpSpPr>
            <p:cNvPr id="48132" name="Group 114"/>
            <p:cNvGrpSpPr>
              <a:grpSpLocks/>
            </p:cNvGrpSpPr>
            <p:nvPr/>
          </p:nvGrpSpPr>
          <p:grpSpPr bwMode="auto">
            <a:xfrm>
              <a:off x="1444" y="683"/>
              <a:ext cx="3763" cy="2324"/>
              <a:chOff x="2848" y="9876"/>
              <a:chExt cx="6048" cy="2914"/>
            </a:xfrm>
          </p:grpSpPr>
          <p:sp>
            <p:nvSpPr>
              <p:cNvPr id="48186" name="Line 115"/>
              <p:cNvSpPr>
                <a:spLocks noChangeShapeType="1"/>
              </p:cNvSpPr>
              <p:nvPr/>
            </p:nvSpPr>
            <p:spPr bwMode="auto">
              <a:xfrm>
                <a:off x="2848" y="9876"/>
                <a:ext cx="0" cy="2914"/>
              </a:xfrm>
              <a:prstGeom prst="line">
                <a:avLst/>
              </a:prstGeom>
              <a:noFill/>
              <a:ln w="1905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7" name="Line 116"/>
              <p:cNvSpPr>
                <a:spLocks noChangeShapeType="1"/>
              </p:cNvSpPr>
              <p:nvPr/>
            </p:nvSpPr>
            <p:spPr bwMode="auto">
              <a:xfrm>
                <a:off x="4864" y="9876"/>
                <a:ext cx="0" cy="2914"/>
              </a:xfrm>
              <a:prstGeom prst="line">
                <a:avLst/>
              </a:prstGeom>
              <a:noFill/>
              <a:ln w="1905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8" name="Line 117"/>
              <p:cNvSpPr>
                <a:spLocks noChangeShapeType="1"/>
              </p:cNvSpPr>
              <p:nvPr/>
            </p:nvSpPr>
            <p:spPr bwMode="auto">
              <a:xfrm>
                <a:off x="6880" y="9876"/>
                <a:ext cx="0" cy="2914"/>
              </a:xfrm>
              <a:prstGeom prst="line">
                <a:avLst/>
              </a:prstGeom>
              <a:noFill/>
              <a:ln w="1905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9" name="Line 118"/>
              <p:cNvSpPr>
                <a:spLocks noChangeShapeType="1"/>
              </p:cNvSpPr>
              <p:nvPr/>
            </p:nvSpPr>
            <p:spPr bwMode="auto">
              <a:xfrm>
                <a:off x="8896" y="9876"/>
                <a:ext cx="0" cy="2914"/>
              </a:xfrm>
              <a:prstGeom prst="line">
                <a:avLst/>
              </a:prstGeom>
              <a:noFill/>
              <a:ln w="1905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133" name="Text Box 119"/>
            <p:cNvSpPr txBox="1">
              <a:spLocks noChangeArrowheads="1"/>
            </p:cNvSpPr>
            <p:nvPr/>
          </p:nvSpPr>
          <p:spPr bwMode="auto">
            <a:xfrm>
              <a:off x="201" y="657"/>
              <a:ext cx="104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取指周期 </a:t>
              </a:r>
              <a:r>
                <a:rPr lang="en-US" altLang="zh-CN" sz="1800" dirty="0">
                  <a:latin typeface="黑体" pitchFamily="2" charset="-122"/>
                  <a:ea typeface="黑体" pitchFamily="2" charset="-122"/>
                </a:rPr>
                <a:t>FIC</a:t>
              </a:r>
            </a:p>
          </p:txBody>
        </p:sp>
        <p:sp>
          <p:nvSpPr>
            <p:cNvPr id="48134" name="Text Box 120"/>
            <p:cNvSpPr txBox="1">
              <a:spLocks noChangeArrowheads="1"/>
            </p:cNvSpPr>
            <p:nvPr/>
          </p:nvSpPr>
          <p:spPr bwMode="auto">
            <a:xfrm>
              <a:off x="203" y="997"/>
              <a:ext cx="104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取数周期 </a:t>
              </a:r>
              <a:r>
                <a:rPr lang="en-US" altLang="zh-CN" sz="1800" dirty="0">
                  <a:latin typeface="黑体" pitchFamily="2" charset="-122"/>
                  <a:ea typeface="黑体" pitchFamily="2" charset="-122"/>
                </a:rPr>
                <a:t>FDC</a:t>
              </a:r>
            </a:p>
          </p:txBody>
        </p:sp>
        <p:sp>
          <p:nvSpPr>
            <p:cNvPr id="48135" name="Text Box 122"/>
            <p:cNvSpPr txBox="1">
              <a:spLocks noChangeArrowheads="1"/>
            </p:cNvSpPr>
            <p:nvPr/>
          </p:nvSpPr>
          <p:spPr bwMode="auto">
            <a:xfrm>
              <a:off x="204" y="1653"/>
              <a:ext cx="104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节拍 </a:t>
              </a:r>
              <a:r>
                <a:rPr lang="en-US" altLang="zh-CN" sz="1800" dirty="0">
                  <a:latin typeface="黑体" pitchFamily="2" charset="-122"/>
                  <a:ea typeface="黑体" pitchFamily="2" charset="-122"/>
                </a:rPr>
                <a:t>T0</a:t>
              </a:r>
            </a:p>
          </p:txBody>
        </p:sp>
        <p:sp>
          <p:nvSpPr>
            <p:cNvPr id="48136" name="Text Box 123"/>
            <p:cNvSpPr txBox="1">
              <a:spLocks noChangeArrowheads="1"/>
            </p:cNvSpPr>
            <p:nvPr/>
          </p:nvSpPr>
          <p:spPr bwMode="auto">
            <a:xfrm>
              <a:off x="204" y="2323"/>
              <a:ext cx="104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节拍 </a:t>
              </a:r>
              <a:r>
                <a:rPr lang="en-US" altLang="zh-CN" sz="1800" dirty="0">
                  <a:latin typeface="黑体" pitchFamily="2" charset="-122"/>
                  <a:ea typeface="黑体" pitchFamily="2" charset="-122"/>
                </a:rPr>
                <a:t>T2</a:t>
              </a:r>
            </a:p>
          </p:txBody>
        </p:sp>
        <p:sp>
          <p:nvSpPr>
            <p:cNvPr id="48137" name="Text Box 124"/>
            <p:cNvSpPr txBox="1">
              <a:spLocks noChangeArrowheads="1"/>
            </p:cNvSpPr>
            <p:nvPr/>
          </p:nvSpPr>
          <p:spPr bwMode="auto">
            <a:xfrm>
              <a:off x="213" y="1994"/>
              <a:ext cx="104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节拍 </a:t>
              </a:r>
              <a:r>
                <a:rPr lang="en-US" altLang="zh-CN" sz="1800" dirty="0">
                  <a:latin typeface="黑体" pitchFamily="2" charset="-122"/>
                  <a:ea typeface="黑体" pitchFamily="2" charset="-122"/>
                </a:rPr>
                <a:t>T1</a:t>
              </a:r>
            </a:p>
          </p:txBody>
        </p:sp>
        <p:sp>
          <p:nvSpPr>
            <p:cNvPr id="48138" name="Text Box 125"/>
            <p:cNvSpPr txBox="1">
              <a:spLocks noChangeArrowheads="1"/>
            </p:cNvSpPr>
            <p:nvPr/>
          </p:nvSpPr>
          <p:spPr bwMode="auto">
            <a:xfrm>
              <a:off x="204" y="2638"/>
              <a:ext cx="104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节拍 </a:t>
              </a:r>
              <a:r>
                <a:rPr lang="en-US" altLang="zh-CN" sz="1800" dirty="0">
                  <a:latin typeface="黑体" pitchFamily="2" charset="-122"/>
                  <a:ea typeface="黑体" pitchFamily="2" charset="-122"/>
                </a:rPr>
                <a:t>T3</a:t>
              </a:r>
            </a:p>
          </p:txBody>
        </p:sp>
        <p:sp>
          <p:nvSpPr>
            <p:cNvPr id="48139" name="Text Box 126"/>
            <p:cNvSpPr txBox="1">
              <a:spLocks noChangeArrowheads="1"/>
            </p:cNvSpPr>
            <p:nvPr/>
          </p:nvSpPr>
          <p:spPr bwMode="auto">
            <a:xfrm>
              <a:off x="203" y="3022"/>
              <a:ext cx="10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80000"/>
                </a:lnSpc>
                <a:spcBef>
                  <a:spcPct val="0"/>
                </a:spcBef>
              </a:pPr>
              <a:r>
                <a:rPr lang="zh-CN" altLang="en-US" sz="1800">
                  <a:latin typeface="黑体" pitchFamily="2" charset="-122"/>
                  <a:ea typeface="黑体" pitchFamily="2" charset="-122"/>
                </a:rPr>
                <a:t>节拍脉冲</a:t>
              </a:r>
            </a:p>
            <a:p>
              <a:pPr algn="r" eaLnBrk="1" hangingPunct="1">
                <a:lnSpc>
                  <a:spcPct val="80000"/>
                </a:lnSpc>
                <a:spcBef>
                  <a:spcPct val="0"/>
                </a:spcBef>
              </a:pPr>
              <a:endParaRPr lang="zh-CN" altLang="en-US" sz="1800">
                <a:latin typeface="黑体" pitchFamily="2" charset="-122"/>
                <a:ea typeface="黑体" pitchFamily="2" charset="-122"/>
              </a:endParaRPr>
            </a:p>
          </p:txBody>
        </p:sp>
        <p:sp>
          <p:nvSpPr>
            <p:cNvPr id="48140" name="Line 127"/>
            <p:cNvSpPr>
              <a:spLocks noChangeShapeType="1"/>
            </p:cNvSpPr>
            <p:nvPr/>
          </p:nvSpPr>
          <p:spPr bwMode="auto">
            <a:xfrm>
              <a:off x="1444" y="3305"/>
              <a:ext cx="1" cy="19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128"/>
            <p:cNvSpPr>
              <a:spLocks noChangeShapeType="1"/>
            </p:cNvSpPr>
            <p:nvPr/>
          </p:nvSpPr>
          <p:spPr bwMode="auto">
            <a:xfrm>
              <a:off x="1758" y="3297"/>
              <a:ext cx="0" cy="20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129"/>
            <p:cNvSpPr>
              <a:spLocks noChangeShapeType="1"/>
            </p:cNvSpPr>
            <p:nvPr/>
          </p:nvSpPr>
          <p:spPr bwMode="auto">
            <a:xfrm>
              <a:off x="1285" y="3385"/>
              <a:ext cx="159" cy="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43" name="Line 130"/>
            <p:cNvSpPr>
              <a:spLocks noChangeShapeType="1"/>
            </p:cNvSpPr>
            <p:nvPr/>
          </p:nvSpPr>
          <p:spPr bwMode="auto">
            <a:xfrm flipH="1">
              <a:off x="1758" y="3398"/>
              <a:ext cx="14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44" name="Line 132"/>
            <p:cNvSpPr>
              <a:spLocks noChangeShapeType="1"/>
            </p:cNvSpPr>
            <p:nvPr/>
          </p:nvSpPr>
          <p:spPr bwMode="auto">
            <a:xfrm>
              <a:off x="1758" y="1719"/>
              <a:ext cx="0" cy="1302"/>
            </a:xfrm>
            <a:prstGeom prst="line">
              <a:avLst/>
            </a:prstGeom>
            <a:noFill/>
            <a:ln w="9525">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8145" name="Group 133"/>
            <p:cNvGrpSpPr>
              <a:grpSpLocks/>
            </p:cNvGrpSpPr>
            <p:nvPr/>
          </p:nvGrpSpPr>
          <p:grpSpPr bwMode="auto">
            <a:xfrm>
              <a:off x="1327" y="3007"/>
              <a:ext cx="3880" cy="149"/>
              <a:chOff x="2659" y="12790"/>
              <a:chExt cx="6237" cy="188"/>
            </a:xfrm>
          </p:grpSpPr>
          <p:sp>
            <p:nvSpPr>
              <p:cNvPr id="48183" name="Freeform 134"/>
              <p:cNvSpPr>
                <a:spLocks/>
              </p:cNvSpPr>
              <p:nvPr/>
            </p:nvSpPr>
            <p:spPr bwMode="auto">
              <a:xfrm>
                <a:off x="2659" y="12790"/>
                <a:ext cx="2205" cy="188"/>
              </a:xfrm>
              <a:custGeom>
                <a:avLst/>
                <a:gdLst>
                  <a:gd name="T0" fmla="*/ 0 w 2205"/>
                  <a:gd name="T1" fmla="*/ 0 h 188"/>
                  <a:gd name="T2" fmla="*/ 189 w 2205"/>
                  <a:gd name="T3" fmla="*/ 0 h 188"/>
                  <a:gd name="T4" fmla="*/ 189 w 2205"/>
                  <a:gd name="T5" fmla="*/ 188 h 188"/>
                  <a:gd name="T6" fmla="*/ 441 w 2205"/>
                  <a:gd name="T7" fmla="*/ 188 h 188"/>
                  <a:gd name="T8" fmla="*/ 441 w 2205"/>
                  <a:gd name="T9" fmla="*/ 0 h 188"/>
                  <a:gd name="T10" fmla="*/ 693 w 2205"/>
                  <a:gd name="T11" fmla="*/ 0 h 188"/>
                  <a:gd name="T12" fmla="*/ 693 w 2205"/>
                  <a:gd name="T13" fmla="*/ 188 h 188"/>
                  <a:gd name="T14" fmla="*/ 945 w 2205"/>
                  <a:gd name="T15" fmla="*/ 188 h 188"/>
                  <a:gd name="T16" fmla="*/ 945 w 2205"/>
                  <a:gd name="T17" fmla="*/ 0 h 188"/>
                  <a:gd name="T18" fmla="*/ 1197 w 2205"/>
                  <a:gd name="T19" fmla="*/ 0 h 188"/>
                  <a:gd name="T20" fmla="*/ 1197 w 2205"/>
                  <a:gd name="T21" fmla="*/ 188 h 188"/>
                  <a:gd name="T22" fmla="*/ 1449 w 2205"/>
                  <a:gd name="T23" fmla="*/ 188 h 188"/>
                  <a:gd name="T24" fmla="*/ 1449 w 2205"/>
                  <a:gd name="T25" fmla="*/ 0 h 188"/>
                  <a:gd name="T26" fmla="*/ 1701 w 2205"/>
                  <a:gd name="T27" fmla="*/ 0 h 188"/>
                  <a:gd name="T28" fmla="*/ 1701 w 2205"/>
                  <a:gd name="T29" fmla="*/ 188 h 188"/>
                  <a:gd name="T30" fmla="*/ 1953 w 2205"/>
                  <a:gd name="T31" fmla="*/ 188 h 188"/>
                  <a:gd name="T32" fmla="*/ 1953 w 2205"/>
                  <a:gd name="T33" fmla="*/ 0 h 188"/>
                  <a:gd name="T34" fmla="*/ 2205 w 2205"/>
                  <a:gd name="T35" fmla="*/ 0 h 188"/>
                  <a:gd name="T36" fmla="*/ 2205 w 2205"/>
                  <a:gd name="T37" fmla="*/ 188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05"/>
                  <a:gd name="T58" fmla="*/ 0 h 188"/>
                  <a:gd name="T59" fmla="*/ 2205 w 2205"/>
                  <a:gd name="T60" fmla="*/ 188 h 1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05" h="188">
                    <a:moveTo>
                      <a:pt x="0" y="0"/>
                    </a:moveTo>
                    <a:lnTo>
                      <a:pt x="189" y="0"/>
                    </a:lnTo>
                    <a:lnTo>
                      <a:pt x="189" y="188"/>
                    </a:lnTo>
                    <a:lnTo>
                      <a:pt x="441" y="188"/>
                    </a:lnTo>
                    <a:lnTo>
                      <a:pt x="441" y="0"/>
                    </a:lnTo>
                    <a:lnTo>
                      <a:pt x="693" y="0"/>
                    </a:lnTo>
                    <a:lnTo>
                      <a:pt x="693" y="188"/>
                    </a:lnTo>
                    <a:lnTo>
                      <a:pt x="945" y="188"/>
                    </a:lnTo>
                    <a:lnTo>
                      <a:pt x="945" y="0"/>
                    </a:lnTo>
                    <a:lnTo>
                      <a:pt x="1197" y="0"/>
                    </a:lnTo>
                    <a:lnTo>
                      <a:pt x="1197" y="188"/>
                    </a:lnTo>
                    <a:lnTo>
                      <a:pt x="1449" y="188"/>
                    </a:lnTo>
                    <a:lnTo>
                      <a:pt x="1449" y="0"/>
                    </a:lnTo>
                    <a:lnTo>
                      <a:pt x="1701" y="0"/>
                    </a:lnTo>
                    <a:lnTo>
                      <a:pt x="1701" y="188"/>
                    </a:lnTo>
                    <a:lnTo>
                      <a:pt x="1953" y="188"/>
                    </a:lnTo>
                    <a:lnTo>
                      <a:pt x="1953" y="0"/>
                    </a:lnTo>
                    <a:lnTo>
                      <a:pt x="2205" y="0"/>
                    </a:lnTo>
                    <a:lnTo>
                      <a:pt x="2205"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4" name="Freeform 135"/>
              <p:cNvSpPr>
                <a:spLocks/>
              </p:cNvSpPr>
              <p:nvPr/>
            </p:nvSpPr>
            <p:spPr bwMode="auto">
              <a:xfrm>
                <a:off x="4675" y="12790"/>
                <a:ext cx="2205" cy="188"/>
              </a:xfrm>
              <a:custGeom>
                <a:avLst/>
                <a:gdLst>
                  <a:gd name="T0" fmla="*/ 0 w 2205"/>
                  <a:gd name="T1" fmla="*/ 0 h 188"/>
                  <a:gd name="T2" fmla="*/ 189 w 2205"/>
                  <a:gd name="T3" fmla="*/ 0 h 188"/>
                  <a:gd name="T4" fmla="*/ 189 w 2205"/>
                  <a:gd name="T5" fmla="*/ 188 h 188"/>
                  <a:gd name="T6" fmla="*/ 441 w 2205"/>
                  <a:gd name="T7" fmla="*/ 188 h 188"/>
                  <a:gd name="T8" fmla="*/ 441 w 2205"/>
                  <a:gd name="T9" fmla="*/ 0 h 188"/>
                  <a:gd name="T10" fmla="*/ 693 w 2205"/>
                  <a:gd name="T11" fmla="*/ 0 h 188"/>
                  <a:gd name="T12" fmla="*/ 693 w 2205"/>
                  <a:gd name="T13" fmla="*/ 188 h 188"/>
                  <a:gd name="T14" fmla="*/ 945 w 2205"/>
                  <a:gd name="T15" fmla="*/ 188 h 188"/>
                  <a:gd name="T16" fmla="*/ 945 w 2205"/>
                  <a:gd name="T17" fmla="*/ 0 h 188"/>
                  <a:gd name="T18" fmla="*/ 1197 w 2205"/>
                  <a:gd name="T19" fmla="*/ 0 h 188"/>
                  <a:gd name="T20" fmla="*/ 1197 w 2205"/>
                  <a:gd name="T21" fmla="*/ 188 h 188"/>
                  <a:gd name="T22" fmla="*/ 1449 w 2205"/>
                  <a:gd name="T23" fmla="*/ 188 h 188"/>
                  <a:gd name="T24" fmla="*/ 1449 w 2205"/>
                  <a:gd name="T25" fmla="*/ 0 h 188"/>
                  <a:gd name="T26" fmla="*/ 1701 w 2205"/>
                  <a:gd name="T27" fmla="*/ 0 h 188"/>
                  <a:gd name="T28" fmla="*/ 1701 w 2205"/>
                  <a:gd name="T29" fmla="*/ 188 h 188"/>
                  <a:gd name="T30" fmla="*/ 1953 w 2205"/>
                  <a:gd name="T31" fmla="*/ 188 h 188"/>
                  <a:gd name="T32" fmla="*/ 1953 w 2205"/>
                  <a:gd name="T33" fmla="*/ 0 h 188"/>
                  <a:gd name="T34" fmla="*/ 2205 w 2205"/>
                  <a:gd name="T35" fmla="*/ 0 h 188"/>
                  <a:gd name="T36" fmla="*/ 2205 w 2205"/>
                  <a:gd name="T37" fmla="*/ 188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05"/>
                  <a:gd name="T58" fmla="*/ 0 h 188"/>
                  <a:gd name="T59" fmla="*/ 2205 w 2205"/>
                  <a:gd name="T60" fmla="*/ 188 h 1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05" h="188">
                    <a:moveTo>
                      <a:pt x="0" y="0"/>
                    </a:moveTo>
                    <a:lnTo>
                      <a:pt x="189" y="0"/>
                    </a:lnTo>
                    <a:lnTo>
                      <a:pt x="189" y="188"/>
                    </a:lnTo>
                    <a:lnTo>
                      <a:pt x="441" y="188"/>
                    </a:lnTo>
                    <a:lnTo>
                      <a:pt x="441" y="0"/>
                    </a:lnTo>
                    <a:lnTo>
                      <a:pt x="693" y="0"/>
                    </a:lnTo>
                    <a:lnTo>
                      <a:pt x="693" y="188"/>
                    </a:lnTo>
                    <a:lnTo>
                      <a:pt x="945" y="188"/>
                    </a:lnTo>
                    <a:lnTo>
                      <a:pt x="945" y="0"/>
                    </a:lnTo>
                    <a:lnTo>
                      <a:pt x="1197" y="0"/>
                    </a:lnTo>
                    <a:lnTo>
                      <a:pt x="1197" y="188"/>
                    </a:lnTo>
                    <a:lnTo>
                      <a:pt x="1449" y="188"/>
                    </a:lnTo>
                    <a:lnTo>
                      <a:pt x="1449" y="0"/>
                    </a:lnTo>
                    <a:lnTo>
                      <a:pt x="1701" y="0"/>
                    </a:lnTo>
                    <a:lnTo>
                      <a:pt x="1701" y="188"/>
                    </a:lnTo>
                    <a:lnTo>
                      <a:pt x="1953" y="188"/>
                    </a:lnTo>
                    <a:lnTo>
                      <a:pt x="1953" y="0"/>
                    </a:lnTo>
                    <a:lnTo>
                      <a:pt x="2205" y="0"/>
                    </a:lnTo>
                    <a:lnTo>
                      <a:pt x="2205"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5" name="Freeform 136"/>
              <p:cNvSpPr>
                <a:spLocks/>
              </p:cNvSpPr>
              <p:nvPr/>
            </p:nvSpPr>
            <p:spPr bwMode="auto">
              <a:xfrm>
                <a:off x="6691" y="12790"/>
                <a:ext cx="2205" cy="188"/>
              </a:xfrm>
              <a:custGeom>
                <a:avLst/>
                <a:gdLst>
                  <a:gd name="T0" fmla="*/ 0 w 2205"/>
                  <a:gd name="T1" fmla="*/ 0 h 188"/>
                  <a:gd name="T2" fmla="*/ 189 w 2205"/>
                  <a:gd name="T3" fmla="*/ 0 h 188"/>
                  <a:gd name="T4" fmla="*/ 189 w 2205"/>
                  <a:gd name="T5" fmla="*/ 188 h 188"/>
                  <a:gd name="T6" fmla="*/ 441 w 2205"/>
                  <a:gd name="T7" fmla="*/ 188 h 188"/>
                  <a:gd name="T8" fmla="*/ 441 w 2205"/>
                  <a:gd name="T9" fmla="*/ 0 h 188"/>
                  <a:gd name="T10" fmla="*/ 693 w 2205"/>
                  <a:gd name="T11" fmla="*/ 0 h 188"/>
                  <a:gd name="T12" fmla="*/ 693 w 2205"/>
                  <a:gd name="T13" fmla="*/ 188 h 188"/>
                  <a:gd name="T14" fmla="*/ 945 w 2205"/>
                  <a:gd name="T15" fmla="*/ 188 h 188"/>
                  <a:gd name="T16" fmla="*/ 945 w 2205"/>
                  <a:gd name="T17" fmla="*/ 0 h 188"/>
                  <a:gd name="T18" fmla="*/ 1197 w 2205"/>
                  <a:gd name="T19" fmla="*/ 0 h 188"/>
                  <a:gd name="T20" fmla="*/ 1197 w 2205"/>
                  <a:gd name="T21" fmla="*/ 188 h 188"/>
                  <a:gd name="T22" fmla="*/ 1449 w 2205"/>
                  <a:gd name="T23" fmla="*/ 188 h 188"/>
                  <a:gd name="T24" fmla="*/ 1449 w 2205"/>
                  <a:gd name="T25" fmla="*/ 0 h 188"/>
                  <a:gd name="T26" fmla="*/ 1701 w 2205"/>
                  <a:gd name="T27" fmla="*/ 0 h 188"/>
                  <a:gd name="T28" fmla="*/ 1701 w 2205"/>
                  <a:gd name="T29" fmla="*/ 188 h 188"/>
                  <a:gd name="T30" fmla="*/ 1953 w 2205"/>
                  <a:gd name="T31" fmla="*/ 188 h 188"/>
                  <a:gd name="T32" fmla="*/ 1953 w 2205"/>
                  <a:gd name="T33" fmla="*/ 0 h 188"/>
                  <a:gd name="T34" fmla="*/ 2205 w 2205"/>
                  <a:gd name="T35" fmla="*/ 0 h 188"/>
                  <a:gd name="T36" fmla="*/ 2205 w 2205"/>
                  <a:gd name="T37" fmla="*/ 188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05"/>
                  <a:gd name="T58" fmla="*/ 0 h 188"/>
                  <a:gd name="T59" fmla="*/ 2205 w 2205"/>
                  <a:gd name="T60" fmla="*/ 188 h 1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05" h="188">
                    <a:moveTo>
                      <a:pt x="0" y="0"/>
                    </a:moveTo>
                    <a:lnTo>
                      <a:pt x="189" y="0"/>
                    </a:lnTo>
                    <a:lnTo>
                      <a:pt x="189" y="188"/>
                    </a:lnTo>
                    <a:lnTo>
                      <a:pt x="441" y="188"/>
                    </a:lnTo>
                    <a:lnTo>
                      <a:pt x="441" y="0"/>
                    </a:lnTo>
                    <a:lnTo>
                      <a:pt x="693" y="0"/>
                    </a:lnTo>
                    <a:lnTo>
                      <a:pt x="693" y="188"/>
                    </a:lnTo>
                    <a:lnTo>
                      <a:pt x="945" y="188"/>
                    </a:lnTo>
                    <a:lnTo>
                      <a:pt x="945" y="0"/>
                    </a:lnTo>
                    <a:lnTo>
                      <a:pt x="1197" y="0"/>
                    </a:lnTo>
                    <a:lnTo>
                      <a:pt x="1197" y="188"/>
                    </a:lnTo>
                    <a:lnTo>
                      <a:pt x="1449" y="188"/>
                    </a:lnTo>
                    <a:lnTo>
                      <a:pt x="1449" y="0"/>
                    </a:lnTo>
                    <a:lnTo>
                      <a:pt x="1701" y="0"/>
                    </a:lnTo>
                    <a:lnTo>
                      <a:pt x="1701" y="188"/>
                    </a:lnTo>
                    <a:lnTo>
                      <a:pt x="1953" y="188"/>
                    </a:lnTo>
                    <a:lnTo>
                      <a:pt x="1953" y="0"/>
                    </a:lnTo>
                    <a:lnTo>
                      <a:pt x="2205" y="0"/>
                    </a:lnTo>
                    <a:lnTo>
                      <a:pt x="2205"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8146" name="Freeform 137"/>
            <p:cNvSpPr>
              <a:spLocks/>
            </p:cNvSpPr>
            <p:nvPr/>
          </p:nvSpPr>
          <p:spPr bwMode="auto">
            <a:xfrm>
              <a:off x="1327" y="1731"/>
              <a:ext cx="3880" cy="150"/>
            </a:xfrm>
            <a:custGeom>
              <a:avLst/>
              <a:gdLst>
                <a:gd name="T0" fmla="*/ 0 w 6237"/>
                <a:gd name="T1" fmla="*/ 6 h 188"/>
                <a:gd name="T2" fmla="*/ 1 w 6237"/>
                <a:gd name="T3" fmla="*/ 6 h 188"/>
                <a:gd name="T4" fmla="*/ 1 w 6237"/>
                <a:gd name="T5" fmla="*/ 0 h 188"/>
                <a:gd name="T6" fmla="*/ 1 w 6237"/>
                <a:gd name="T7" fmla="*/ 0 h 188"/>
                <a:gd name="T8" fmla="*/ 1 w 6237"/>
                <a:gd name="T9" fmla="*/ 6 h 188"/>
                <a:gd name="T10" fmla="*/ 1 w 6237"/>
                <a:gd name="T11" fmla="*/ 6 h 188"/>
                <a:gd name="T12" fmla="*/ 1 w 6237"/>
                <a:gd name="T13" fmla="*/ 0 h 188"/>
                <a:gd name="T14" fmla="*/ 2 w 6237"/>
                <a:gd name="T15" fmla="*/ 0 h 188"/>
                <a:gd name="T16" fmla="*/ 2 w 6237"/>
                <a:gd name="T17" fmla="*/ 6 h 188"/>
                <a:gd name="T18" fmla="*/ 4 w 6237"/>
                <a:gd name="T19" fmla="*/ 6 h 188"/>
                <a:gd name="T20" fmla="*/ 4 w 6237"/>
                <a:gd name="T21" fmla="*/ 0 h 188"/>
                <a:gd name="T22" fmla="*/ 4 w 6237"/>
                <a:gd name="T23" fmla="*/ 0 h 188"/>
                <a:gd name="T24" fmla="*/ 4 w 6237"/>
                <a:gd name="T25" fmla="*/ 6 h 188"/>
                <a:gd name="T26" fmla="*/ 5 w 6237"/>
                <a:gd name="T27" fmla="*/ 6 h 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37"/>
                <a:gd name="T43" fmla="*/ 0 h 188"/>
                <a:gd name="T44" fmla="*/ 6237 w 6237"/>
                <a:gd name="T45" fmla="*/ 188 h 1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37" h="188">
                  <a:moveTo>
                    <a:pt x="0" y="188"/>
                  </a:moveTo>
                  <a:lnTo>
                    <a:pt x="189" y="188"/>
                  </a:lnTo>
                  <a:lnTo>
                    <a:pt x="189" y="0"/>
                  </a:lnTo>
                  <a:lnTo>
                    <a:pt x="693" y="0"/>
                  </a:lnTo>
                  <a:lnTo>
                    <a:pt x="693" y="188"/>
                  </a:lnTo>
                  <a:lnTo>
                    <a:pt x="2205" y="188"/>
                  </a:lnTo>
                  <a:lnTo>
                    <a:pt x="2205" y="0"/>
                  </a:lnTo>
                  <a:lnTo>
                    <a:pt x="2709" y="0"/>
                  </a:lnTo>
                  <a:lnTo>
                    <a:pt x="2709" y="188"/>
                  </a:lnTo>
                  <a:lnTo>
                    <a:pt x="4221" y="188"/>
                  </a:lnTo>
                  <a:lnTo>
                    <a:pt x="4221" y="0"/>
                  </a:lnTo>
                  <a:lnTo>
                    <a:pt x="4725" y="0"/>
                  </a:lnTo>
                  <a:lnTo>
                    <a:pt x="4725" y="188"/>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47" name="Freeform 138"/>
            <p:cNvSpPr>
              <a:spLocks/>
            </p:cNvSpPr>
            <p:nvPr/>
          </p:nvSpPr>
          <p:spPr bwMode="auto">
            <a:xfrm>
              <a:off x="1327" y="2032"/>
              <a:ext cx="3880" cy="150"/>
            </a:xfrm>
            <a:custGeom>
              <a:avLst/>
              <a:gdLst>
                <a:gd name="T0" fmla="*/ 0 w 6237"/>
                <a:gd name="T1" fmla="*/ 6 h 188"/>
                <a:gd name="T2" fmla="*/ 1 w 6237"/>
                <a:gd name="T3" fmla="*/ 6 h 188"/>
                <a:gd name="T4" fmla="*/ 1 w 6237"/>
                <a:gd name="T5" fmla="*/ 0 h 188"/>
                <a:gd name="T6" fmla="*/ 1 w 6237"/>
                <a:gd name="T7" fmla="*/ 0 h 188"/>
                <a:gd name="T8" fmla="*/ 1 w 6237"/>
                <a:gd name="T9" fmla="*/ 6 h 188"/>
                <a:gd name="T10" fmla="*/ 2 w 6237"/>
                <a:gd name="T11" fmla="*/ 6 h 188"/>
                <a:gd name="T12" fmla="*/ 2 w 6237"/>
                <a:gd name="T13" fmla="*/ 0 h 188"/>
                <a:gd name="T14" fmla="*/ 2 w 6237"/>
                <a:gd name="T15" fmla="*/ 0 h 188"/>
                <a:gd name="T16" fmla="*/ 2 w 6237"/>
                <a:gd name="T17" fmla="*/ 6 h 188"/>
                <a:gd name="T18" fmla="*/ 4 w 6237"/>
                <a:gd name="T19" fmla="*/ 6 h 188"/>
                <a:gd name="T20" fmla="*/ 4 w 6237"/>
                <a:gd name="T21" fmla="*/ 0 h 188"/>
                <a:gd name="T22" fmla="*/ 4 w 6237"/>
                <a:gd name="T23" fmla="*/ 0 h 188"/>
                <a:gd name="T24" fmla="*/ 4 w 6237"/>
                <a:gd name="T25" fmla="*/ 6 h 188"/>
                <a:gd name="T26" fmla="*/ 5 w 6237"/>
                <a:gd name="T27" fmla="*/ 6 h 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37"/>
                <a:gd name="T43" fmla="*/ 0 h 188"/>
                <a:gd name="T44" fmla="*/ 6237 w 6237"/>
                <a:gd name="T45" fmla="*/ 188 h 1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37" h="188">
                  <a:moveTo>
                    <a:pt x="0" y="188"/>
                  </a:moveTo>
                  <a:lnTo>
                    <a:pt x="693" y="188"/>
                  </a:lnTo>
                  <a:lnTo>
                    <a:pt x="693" y="0"/>
                  </a:lnTo>
                  <a:lnTo>
                    <a:pt x="1197" y="0"/>
                  </a:lnTo>
                  <a:lnTo>
                    <a:pt x="1197" y="188"/>
                  </a:lnTo>
                  <a:lnTo>
                    <a:pt x="2709" y="188"/>
                  </a:lnTo>
                  <a:lnTo>
                    <a:pt x="2709" y="0"/>
                  </a:lnTo>
                  <a:lnTo>
                    <a:pt x="3213" y="0"/>
                  </a:lnTo>
                  <a:lnTo>
                    <a:pt x="3213" y="188"/>
                  </a:lnTo>
                  <a:lnTo>
                    <a:pt x="4725" y="188"/>
                  </a:lnTo>
                  <a:lnTo>
                    <a:pt x="4725" y="0"/>
                  </a:lnTo>
                  <a:lnTo>
                    <a:pt x="5229" y="0"/>
                  </a:lnTo>
                  <a:lnTo>
                    <a:pt x="5229" y="188"/>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48" name="Freeform 139"/>
            <p:cNvSpPr>
              <a:spLocks/>
            </p:cNvSpPr>
            <p:nvPr/>
          </p:nvSpPr>
          <p:spPr bwMode="auto">
            <a:xfrm>
              <a:off x="1327" y="2341"/>
              <a:ext cx="3880" cy="150"/>
            </a:xfrm>
            <a:custGeom>
              <a:avLst/>
              <a:gdLst>
                <a:gd name="T0" fmla="*/ 0 w 6237"/>
                <a:gd name="T1" fmla="*/ 6 h 188"/>
                <a:gd name="T2" fmla="*/ 1 w 6237"/>
                <a:gd name="T3" fmla="*/ 6 h 188"/>
                <a:gd name="T4" fmla="*/ 1 w 6237"/>
                <a:gd name="T5" fmla="*/ 0 h 188"/>
                <a:gd name="T6" fmla="*/ 1 w 6237"/>
                <a:gd name="T7" fmla="*/ 0 h 188"/>
                <a:gd name="T8" fmla="*/ 1 w 6237"/>
                <a:gd name="T9" fmla="*/ 6 h 188"/>
                <a:gd name="T10" fmla="*/ 2 w 6237"/>
                <a:gd name="T11" fmla="*/ 6 h 188"/>
                <a:gd name="T12" fmla="*/ 2 w 6237"/>
                <a:gd name="T13" fmla="*/ 0 h 188"/>
                <a:gd name="T14" fmla="*/ 2 w 6237"/>
                <a:gd name="T15" fmla="*/ 0 h 188"/>
                <a:gd name="T16" fmla="*/ 2 w 6237"/>
                <a:gd name="T17" fmla="*/ 6 h 188"/>
                <a:gd name="T18" fmla="*/ 4 w 6237"/>
                <a:gd name="T19" fmla="*/ 6 h 188"/>
                <a:gd name="T20" fmla="*/ 4 w 6237"/>
                <a:gd name="T21" fmla="*/ 0 h 188"/>
                <a:gd name="T22" fmla="*/ 4 w 6237"/>
                <a:gd name="T23" fmla="*/ 0 h 188"/>
                <a:gd name="T24" fmla="*/ 4 w 6237"/>
                <a:gd name="T25" fmla="*/ 6 h 188"/>
                <a:gd name="T26" fmla="*/ 5 w 6237"/>
                <a:gd name="T27" fmla="*/ 6 h 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37"/>
                <a:gd name="T43" fmla="*/ 0 h 188"/>
                <a:gd name="T44" fmla="*/ 6237 w 6237"/>
                <a:gd name="T45" fmla="*/ 188 h 1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37" h="188">
                  <a:moveTo>
                    <a:pt x="0" y="188"/>
                  </a:moveTo>
                  <a:lnTo>
                    <a:pt x="1197" y="188"/>
                  </a:lnTo>
                  <a:lnTo>
                    <a:pt x="1197" y="0"/>
                  </a:lnTo>
                  <a:lnTo>
                    <a:pt x="1701" y="0"/>
                  </a:lnTo>
                  <a:lnTo>
                    <a:pt x="1701" y="188"/>
                  </a:lnTo>
                  <a:lnTo>
                    <a:pt x="3213" y="188"/>
                  </a:lnTo>
                  <a:lnTo>
                    <a:pt x="3213" y="0"/>
                  </a:lnTo>
                  <a:lnTo>
                    <a:pt x="3717" y="0"/>
                  </a:lnTo>
                  <a:lnTo>
                    <a:pt x="3717" y="188"/>
                  </a:lnTo>
                  <a:lnTo>
                    <a:pt x="5229" y="188"/>
                  </a:lnTo>
                  <a:lnTo>
                    <a:pt x="5229" y="0"/>
                  </a:lnTo>
                  <a:lnTo>
                    <a:pt x="5733" y="0"/>
                  </a:lnTo>
                  <a:lnTo>
                    <a:pt x="5733" y="188"/>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49" name="Freeform 140"/>
            <p:cNvSpPr>
              <a:spLocks/>
            </p:cNvSpPr>
            <p:nvPr/>
          </p:nvSpPr>
          <p:spPr bwMode="auto">
            <a:xfrm>
              <a:off x="1327" y="2645"/>
              <a:ext cx="3880" cy="150"/>
            </a:xfrm>
            <a:custGeom>
              <a:avLst/>
              <a:gdLst>
                <a:gd name="T0" fmla="*/ 0 w 6237"/>
                <a:gd name="T1" fmla="*/ 0 h 188"/>
                <a:gd name="T2" fmla="*/ 1 w 6237"/>
                <a:gd name="T3" fmla="*/ 0 h 188"/>
                <a:gd name="T4" fmla="*/ 1 w 6237"/>
                <a:gd name="T5" fmla="*/ 6 h 188"/>
                <a:gd name="T6" fmla="*/ 1 w 6237"/>
                <a:gd name="T7" fmla="*/ 6 h 188"/>
                <a:gd name="T8" fmla="*/ 1 w 6237"/>
                <a:gd name="T9" fmla="*/ 0 h 188"/>
                <a:gd name="T10" fmla="*/ 1 w 6237"/>
                <a:gd name="T11" fmla="*/ 0 h 188"/>
                <a:gd name="T12" fmla="*/ 1 w 6237"/>
                <a:gd name="T13" fmla="*/ 6 h 188"/>
                <a:gd name="T14" fmla="*/ 2 w 6237"/>
                <a:gd name="T15" fmla="*/ 6 h 188"/>
                <a:gd name="T16" fmla="*/ 2 w 6237"/>
                <a:gd name="T17" fmla="*/ 0 h 188"/>
                <a:gd name="T18" fmla="*/ 4 w 6237"/>
                <a:gd name="T19" fmla="*/ 0 h 188"/>
                <a:gd name="T20" fmla="*/ 4 w 6237"/>
                <a:gd name="T21" fmla="*/ 6 h 188"/>
                <a:gd name="T22" fmla="*/ 4 w 6237"/>
                <a:gd name="T23" fmla="*/ 6 h 188"/>
                <a:gd name="T24" fmla="*/ 4 w 6237"/>
                <a:gd name="T25" fmla="*/ 0 h 188"/>
                <a:gd name="T26" fmla="*/ 5 w 6237"/>
                <a:gd name="T27" fmla="*/ 0 h 188"/>
                <a:gd name="T28" fmla="*/ 5 w 6237"/>
                <a:gd name="T29" fmla="*/ 6 h 1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37"/>
                <a:gd name="T46" fmla="*/ 0 h 188"/>
                <a:gd name="T47" fmla="*/ 6237 w 6237"/>
                <a:gd name="T48" fmla="*/ 188 h 1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37" h="188">
                  <a:moveTo>
                    <a:pt x="0" y="0"/>
                  </a:moveTo>
                  <a:lnTo>
                    <a:pt x="189" y="0"/>
                  </a:lnTo>
                  <a:lnTo>
                    <a:pt x="189" y="188"/>
                  </a:lnTo>
                  <a:lnTo>
                    <a:pt x="1701" y="188"/>
                  </a:lnTo>
                  <a:lnTo>
                    <a:pt x="1701" y="0"/>
                  </a:lnTo>
                  <a:lnTo>
                    <a:pt x="2205" y="0"/>
                  </a:lnTo>
                  <a:lnTo>
                    <a:pt x="2205" y="188"/>
                  </a:lnTo>
                  <a:lnTo>
                    <a:pt x="3717" y="188"/>
                  </a:lnTo>
                  <a:lnTo>
                    <a:pt x="3717" y="0"/>
                  </a:lnTo>
                  <a:lnTo>
                    <a:pt x="4221" y="0"/>
                  </a:lnTo>
                  <a:lnTo>
                    <a:pt x="4221" y="188"/>
                  </a:lnTo>
                  <a:lnTo>
                    <a:pt x="5733" y="188"/>
                  </a:lnTo>
                  <a:lnTo>
                    <a:pt x="5733" y="0"/>
                  </a:lnTo>
                  <a:lnTo>
                    <a:pt x="6237" y="0"/>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50" name="Freeform 141"/>
            <p:cNvSpPr>
              <a:spLocks/>
            </p:cNvSpPr>
            <p:nvPr/>
          </p:nvSpPr>
          <p:spPr bwMode="auto">
            <a:xfrm>
              <a:off x="1327" y="756"/>
              <a:ext cx="3880" cy="152"/>
            </a:xfrm>
            <a:custGeom>
              <a:avLst/>
              <a:gdLst>
                <a:gd name="T0" fmla="*/ 0 w 6237"/>
                <a:gd name="T1" fmla="*/ 8 h 188"/>
                <a:gd name="T2" fmla="*/ 1 w 6237"/>
                <a:gd name="T3" fmla="*/ 8 h 188"/>
                <a:gd name="T4" fmla="*/ 1 w 6237"/>
                <a:gd name="T5" fmla="*/ 0 h 188"/>
                <a:gd name="T6" fmla="*/ 1 w 6237"/>
                <a:gd name="T7" fmla="*/ 0 h 188"/>
                <a:gd name="T8" fmla="*/ 1 w 6237"/>
                <a:gd name="T9" fmla="*/ 8 h 188"/>
                <a:gd name="T10" fmla="*/ 5 w 6237"/>
                <a:gd name="T11" fmla="*/ 8 h 188"/>
                <a:gd name="T12" fmla="*/ 0 60000 65536"/>
                <a:gd name="T13" fmla="*/ 0 60000 65536"/>
                <a:gd name="T14" fmla="*/ 0 60000 65536"/>
                <a:gd name="T15" fmla="*/ 0 60000 65536"/>
                <a:gd name="T16" fmla="*/ 0 60000 65536"/>
                <a:gd name="T17" fmla="*/ 0 60000 65536"/>
                <a:gd name="T18" fmla="*/ 0 w 6237"/>
                <a:gd name="T19" fmla="*/ 0 h 188"/>
                <a:gd name="T20" fmla="*/ 6237 w 6237"/>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6237" h="188">
                  <a:moveTo>
                    <a:pt x="0" y="188"/>
                  </a:moveTo>
                  <a:lnTo>
                    <a:pt x="189" y="188"/>
                  </a:lnTo>
                  <a:lnTo>
                    <a:pt x="189" y="0"/>
                  </a:lnTo>
                  <a:lnTo>
                    <a:pt x="2205" y="0"/>
                  </a:lnTo>
                  <a:lnTo>
                    <a:pt x="2205" y="188"/>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51" name="Freeform 142"/>
            <p:cNvSpPr>
              <a:spLocks/>
            </p:cNvSpPr>
            <p:nvPr/>
          </p:nvSpPr>
          <p:spPr bwMode="auto">
            <a:xfrm>
              <a:off x="1327" y="1071"/>
              <a:ext cx="3880" cy="150"/>
            </a:xfrm>
            <a:custGeom>
              <a:avLst/>
              <a:gdLst>
                <a:gd name="T0" fmla="*/ 0 w 6237"/>
                <a:gd name="T1" fmla="*/ 6 h 188"/>
                <a:gd name="T2" fmla="*/ 1 w 6237"/>
                <a:gd name="T3" fmla="*/ 6 h 188"/>
                <a:gd name="T4" fmla="*/ 1 w 6237"/>
                <a:gd name="T5" fmla="*/ 0 h 188"/>
                <a:gd name="T6" fmla="*/ 4 w 6237"/>
                <a:gd name="T7" fmla="*/ 0 h 188"/>
                <a:gd name="T8" fmla="*/ 4 w 6237"/>
                <a:gd name="T9" fmla="*/ 6 h 188"/>
                <a:gd name="T10" fmla="*/ 5 w 6237"/>
                <a:gd name="T11" fmla="*/ 6 h 188"/>
                <a:gd name="T12" fmla="*/ 0 60000 65536"/>
                <a:gd name="T13" fmla="*/ 0 60000 65536"/>
                <a:gd name="T14" fmla="*/ 0 60000 65536"/>
                <a:gd name="T15" fmla="*/ 0 60000 65536"/>
                <a:gd name="T16" fmla="*/ 0 60000 65536"/>
                <a:gd name="T17" fmla="*/ 0 60000 65536"/>
                <a:gd name="T18" fmla="*/ 0 w 6237"/>
                <a:gd name="T19" fmla="*/ 0 h 188"/>
                <a:gd name="T20" fmla="*/ 6237 w 6237"/>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6237" h="188">
                  <a:moveTo>
                    <a:pt x="0" y="188"/>
                  </a:moveTo>
                  <a:lnTo>
                    <a:pt x="2205" y="188"/>
                  </a:lnTo>
                  <a:lnTo>
                    <a:pt x="2205" y="0"/>
                  </a:lnTo>
                  <a:lnTo>
                    <a:pt x="4221" y="0"/>
                  </a:lnTo>
                  <a:lnTo>
                    <a:pt x="4221" y="188"/>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52" name="Freeform 143"/>
            <p:cNvSpPr>
              <a:spLocks/>
            </p:cNvSpPr>
            <p:nvPr/>
          </p:nvSpPr>
          <p:spPr bwMode="auto">
            <a:xfrm>
              <a:off x="1327" y="1366"/>
              <a:ext cx="3880" cy="150"/>
            </a:xfrm>
            <a:custGeom>
              <a:avLst/>
              <a:gdLst>
                <a:gd name="T0" fmla="*/ 0 w 6237"/>
                <a:gd name="T1" fmla="*/ 6 h 188"/>
                <a:gd name="T2" fmla="*/ 4 w 6237"/>
                <a:gd name="T3" fmla="*/ 6 h 188"/>
                <a:gd name="T4" fmla="*/ 4 w 6237"/>
                <a:gd name="T5" fmla="*/ 0 h 188"/>
                <a:gd name="T6" fmla="*/ 5 w 6237"/>
                <a:gd name="T7" fmla="*/ 0 h 188"/>
                <a:gd name="T8" fmla="*/ 5 w 6237"/>
                <a:gd name="T9" fmla="*/ 6 h 188"/>
                <a:gd name="T10" fmla="*/ 0 60000 65536"/>
                <a:gd name="T11" fmla="*/ 0 60000 65536"/>
                <a:gd name="T12" fmla="*/ 0 60000 65536"/>
                <a:gd name="T13" fmla="*/ 0 60000 65536"/>
                <a:gd name="T14" fmla="*/ 0 60000 65536"/>
                <a:gd name="T15" fmla="*/ 0 w 6237"/>
                <a:gd name="T16" fmla="*/ 0 h 188"/>
                <a:gd name="T17" fmla="*/ 6237 w 6237"/>
                <a:gd name="T18" fmla="*/ 188 h 188"/>
              </a:gdLst>
              <a:ahLst/>
              <a:cxnLst>
                <a:cxn ang="T10">
                  <a:pos x="T0" y="T1"/>
                </a:cxn>
                <a:cxn ang="T11">
                  <a:pos x="T2" y="T3"/>
                </a:cxn>
                <a:cxn ang="T12">
                  <a:pos x="T4" y="T5"/>
                </a:cxn>
                <a:cxn ang="T13">
                  <a:pos x="T6" y="T7"/>
                </a:cxn>
                <a:cxn ang="T14">
                  <a:pos x="T8" y="T9"/>
                </a:cxn>
              </a:cxnLst>
              <a:rect l="T15" t="T16" r="T17" b="T18"/>
              <a:pathLst>
                <a:path w="6237" h="188">
                  <a:moveTo>
                    <a:pt x="0" y="188"/>
                  </a:moveTo>
                  <a:lnTo>
                    <a:pt x="4221" y="188"/>
                  </a:lnTo>
                  <a:lnTo>
                    <a:pt x="4221" y="0"/>
                  </a:lnTo>
                  <a:lnTo>
                    <a:pt x="6237" y="0"/>
                  </a:lnTo>
                  <a:lnTo>
                    <a:pt x="6237" y="188"/>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53" name="Text Box 144"/>
            <p:cNvSpPr txBox="1">
              <a:spLocks noChangeArrowheads="1"/>
            </p:cNvSpPr>
            <p:nvPr/>
          </p:nvSpPr>
          <p:spPr bwMode="auto">
            <a:xfrm>
              <a:off x="2777" y="232"/>
              <a:ext cx="109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latin typeface="黑体" pitchFamily="2" charset="-122"/>
                  <a:ea typeface="黑体" pitchFamily="2" charset="-122"/>
                </a:rPr>
                <a:t>一个指令周期</a:t>
              </a:r>
            </a:p>
          </p:txBody>
        </p:sp>
        <p:sp>
          <p:nvSpPr>
            <p:cNvPr id="48154" name="AutoShape 145"/>
            <p:cNvSpPr>
              <a:spLocks/>
            </p:cNvSpPr>
            <p:nvPr/>
          </p:nvSpPr>
          <p:spPr bwMode="auto">
            <a:xfrm rot="5400000">
              <a:off x="3213" y="-1312"/>
              <a:ext cx="226" cy="3763"/>
            </a:xfrm>
            <a:prstGeom prst="leftBrace">
              <a:avLst>
                <a:gd name="adj1" fmla="val 138754"/>
                <a:gd name="adj2" fmla="val 50000"/>
              </a:avLst>
            </a:prstGeom>
            <a:noFill/>
            <a:ln w="9525">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48155" name="Text Box 147"/>
            <p:cNvSpPr txBox="1">
              <a:spLocks noChangeArrowheads="1"/>
            </p:cNvSpPr>
            <p:nvPr/>
          </p:nvSpPr>
          <p:spPr bwMode="auto">
            <a:xfrm>
              <a:off x="213" y="1344"/>
              <a:ext cx="104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执行周期 </a:t>
              </a:r>
              <a:r>
                <a:rPr lang="en-US" altLang="zh-CN" sz="1800" dirty="0">
                  <a:latin typeface="黑体" pitchFamily="2" charset="-122"/>
                  <a:ea typeface="黑体" pitchFamily="2" charset="-122"/>
                </a:rPr>
                <a:t>EXEC</a:t>
              </a:r>
            </a:p>
          </p:txBody>
        </p:sp>
        <p:sp>
          <p:nvSpPr>
            <p:cNvPr id="48156" name="Rectangle 135"/>
            <p:cNvSpPr>
              <a:spLocks noChangeArrowheads="1"/>
            </p:cNvSpPr>
            <p:nvPr/>
          </p:nvSpPr>
          <p:spPr bwMode="auto">
            <a:xfrm>
              <a:off x="1474" y="777"/>
              <a:ext cx="1205" cy="138"/>
            </a:xfrm>
            <a:prstGeom prst="rect">
              <a:avLst/>
            </a:prstGeom>
            <a:solidFill>
              <a:srgbClr val="990000"/>
            </a:solidFill>
            <a:ln w="12700">
              <a:solidFill>
                <a:srgbClr val="FF0000"/>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57" name="Rectangle 136"/>
            <p:cNvSpPr>
              <a:spLocks noChangeArrowheads="1"/>
            </p:cNvSpPr>
            <p:nvPr/>
          </p:nvSpPr>
          <p:spPr bwMode="auto">
            <a:xfrm>
              <a:off x="2721" y="1092"/>
              <a:ext cx="1204" cy="138"/>
            </a:xfrm>
            <a:prstGeom prst="rect">
              <a:avLst/>
            </a:prstGeom>
            <a:solidFill>
              <a:srgbClr val="990000"/>
            </a:solidFill>
            <a:ln w="12700">
              <a:solidFill>
                <a:srgbClr val="FF0000"/>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58" name="Rectangle 137"/>
            <p:cNvSpPr>
              <a:spLocks noChangeArrowheads="1"/>
            </p:cNvSpPr>
            <p:nvPr/>
          </p:nvSpPr>
          <p:spPr bwMode="auto">
            <a:xfrm>
              <a:off x="3991" y="1389"/>
              <a:ext cx="1204" cy="139"/>
            </a:xfrm>
            <a:prstGeom prst="rect">
              <a:avLst/>
            </a:prstGeom>
            <a:solidFill>
              <a:srgbClr val="990000"/>
            </a:solidFill>
            <a:ln w="12700">
              <a:solidFill>
                <a:srgbClr val="FF0000"/>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59" name="Rectangle 139"/>
            <p:cNvSpPr>
              <a:spLocks noChangeArrowheads="1"/>
            </p:cNvSpPr>
            <p:nvPr/>
          </p:nvSpPr>
          <p:spPr bwMode="auto">
            <a:xfrm>
              <a:off x="1472" y="1753"/>
              <a:ext cx="274"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0" name="Rectangle 140"/>
            <p:cNvSpPr>
              <a:spLocks noChangeArrowheads="1"/>
            </p:cNvSpPr>
            <p:nvPr/>
          </p:nvSpPr>
          <p:spPr bwMode="auto">
            <a:xfrm>
              <a:off x="2721" y="1753"/>
              <a:ext cx="272"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1" name="Rectangle 141"/>
            <p:cNvSpPr>
              <a:spLocks noChangeArrowheads="1"/>
            </p:cNvSpPr>
            <p:nvPr/>
          </p:nvSpPr>
          <p:spPr bwMode="auto">
            <a:xfrm>
              <a:off x="3969" y="1753"/>
              <a:ext cx="273"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2" name="Rectangle 143"/>
            <p:cNvSpPr>
              <a:spLocks noChangeArrowheads="1"/>
            </p:cNvSpPr>
            <p:nvPr/>
          </p:nvSpPr>
          <p:spPr bwMode="auto">
            <a:xfrm>
              <a:off x="1791" y="2061"/>
              <a:ext cx="273"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3" name="Rectangle 144"/>
            <p:cNvSpPr>
              <a:spLocks noChangeArrowheads="1"/>
            </p:cNvSpPr>
            <p:nvPr/>
          </p:nvSpPr>
          <p:spPr bwMode="auto">
            <a:xfrm>
              <a:off x="3039" y="2061"/>
              <a:ext cx="272"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4" name="Rectangle 145"/>
            <p:cNvSpPr>
              <a:spLocks noChangeArrowheads="1"/>
            </p:cNvSpPr>
            <p:nvPr/>
          </p:nvSpPr>
          <p:spPr bwMode="auto">
            <a:xfrm>
              <a:off x="4280" y="2061"/>
              <a:ext cx="274" cy="115"/>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5" name="Rectangle 146"/>
            <p:cNvSpPr>
              <a:spLocks noChangeArrowheads="1"/>
            </p:cNvSpPr>
            <p:nvPr/>
          </p:nvSpPr>
          <p:spPr bwMode="auto">
            <a:xfrm>
              <a:off x="2086" y="2362"/>
              <a:ext cx="274"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6" name="Rectangle 147"/>
            <p:cNvSpPr>
              <a:spLocks noChangeArrowheads="1"/>
            </p:cNvSpPr>
            <p:nvPr/>
          </p:nvSpPr>
          <p:spPr bwMode="auto">
            <a:xfrm>
              <a:off x="3344" y="2364"/>
              <a:ext cx="272"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7" name="Rectangle 148"/>
            <p:cNvSpPr>
              <a:spLocks noChangeArrowheads="1"/>
            </p:cNvSpPr>
            <p:nvPr/>
          </p:nvSpPr>
          <p:spPr bwMode="auto">
            <a:xfrm>
              <a:off x="4599" y="2364"/>
              <a:ext cx="273"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8" name="Rectangle 149"/>
            <p:cNvSpPr>
              <a:spLocks noChangeArrowheads="1"/>
            </p:cNvSpPr>
            <p:nvPr/>
          </p:nvSpPr>
          <p:spPr bwMode="auto">
            <a:xfrm>
              <a:off x="2407" y="2659"/>
              <a:ext cx="273"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69" name="Rectangle 150"/>
            <p:cNvSpPr>
              <a:spLocks noChangeArrowheads="1"/>
            </p:cNvSpPr>
            <p:nvPr/>
          </p:nvSpPr>
          <p:spPr bwMode="auto">
            <a:xfrm>
              <a:off x="3663" y="2659"/>
              <a:ext cx="272"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0" name="Rectangle 151"/>
            <p:cNvSpPr>
              <a:spLocks noChangeArrowheads="1"/>
            </p:cNvSpPr>
            <p:nvPr/>
          </p:nvSpPr>
          <p:spPr bwMode="auto">
            <a:xfrm>
              <a:off x="4917" y="2659"/>
              <a:ext cx="274" cy="116"/>
            </a:xfrm>
            <a:prstGeom prst="rect">
              <a:avLst/>
            </a:prstGeom>
            <a:solidFill>
              <a:srgbClr val="FF0000"/>
            </a:solidFill>
            <a:ln w="12700">
              <a:solidFill>
                <a:srgbClr val="FF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1" name="Rectangle 152"/>
            <p:cNvSpPr>
              <a:spLocks noChangeArrowheads="1"/>
            </p:cNvSpPr>
            <p:nvPr/>
          </p:nvSpPr>
          <p:spPr bwMode="auto">
            <a:xfrm>
              <a:off x="1630" y="3026"/>
              <a:ext cx="120" cy="135"/>
            </a:xfrm>
            <a:prstGeom prst="rect">
              <a:avLst/>
            </a:prstGeom>
            <a:solidFill>
              <a:srgbClr val="0000FF">
                <a:alpha val="50195"/>
              </a:srgbClr>
            </a:solidFill>
            <a:ln w="12700">
              <a:solidFill>
                <a:srgbClr val="00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2" name="Line 153"/>
            <p:cNvSpPr>
              <a:spLocks noChangeShapeType="1"/>
            </p:cNvSpPr>
            <p:nvPr/>
          </p:nvSpPr>
          <p:spPr bwMode="auto">
            <a:xfrm>
              <a:off x="1610" y="3007"/>
              <a:ext cx="0" cy="174"/>
            </a:xfrm>
            <a:prstGeom prst="line">
              <a:avLst/>
            </a:prstGeom>
            <a:noFill/>
            <a:ln w="28575">
              <a:solidFill>
                <a:srgbClr val="FF00FF"/>
              </a:solidFill>
              <a:round/>
              <a:headEnd type="triangle" w="lg" len="lg"/>
              <a:tailEnd/>
            </a:ln>
            <a:extLst>
              <a:ext uri="{909E8E84-426E-40DD-AFC4-6F175D3DCCD1}">
                <a14:hiddenFill xmlns:a14="http://schemas.microsoft.com/office/drawing/2010/main">
                  <a:noFill/>
                </a14:hiddenFill>
              </a:ext>
            </a:extLst>
          </p:spPr>
          <p:txBody>
            <a:bodyPr rIns="36000">
              <a:spAutoFit/>
            </a:bodyPr>
            <a:lstStyle/>
            <a:p>
              <a:endParaRPr lang="zh-CN" altLang="en-US"/>
            </a:p>
          </p:txBody>
        </p:sp>
        <p:sp>
          <p:nvSpPr>
            <p:cNvPr id="48173" name="Rectangle 156"/>
            <p:cNvSpPr>
              <a:spLocks noChangeArrowheads="1"/>
            </p:cNvSpPr>
            <p:nvPr/>
          </p:nvSpPr>
          <p:spPr bwMode="auto">
            <a:xfrm>
              <a:off x="1932" y="3026"/>
              <a:ext cx="119" cy="135"/>
            </a:xfrm>
            <a:prstGeom prst="rect">
              <a:avLst/>
            </a:prstGeom>
            <a:solidFill>
              <a:srgbClr val="0000FF">
                <a:alpha val="50195"/>
              </a:srgbClr>
            </a:solidFill>
            <a:ln w="12700">
              <a:solidFill>
                <a:srgbClr val="00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4" name="Line 157"/>
            <p:cNvSpPr>
              <a:spLocks noChangeShapeType="1"/>
            </p:cNvSpPr>
            <p:nvPr/>
          </p:nvSpPr>
          <p:spPr bwMode="auto">
            <a:xfrm>
              <a:off x="1912" y="3007"/>
              <a:ext cx="0" cy="174"/>
            </a:xfrm>
            <a:prstGeom prst="line">
              <a:avLst/>
            </a:prstGeom>
            <a:noFill/>
            <a:ln w="28575">
              <a:solidFill>
                <a:srgbClr val="FF00FF"/>
              </a:solidFill>
              <a:round/>
              <a:headEnd type="triangle" w="lg" len="lg"/>
              <a:tailEnd/>
            </a:ln>
            <a:extLst>
              <a:ext uri="{909E8E84-426E-40DD-AFC4-6F175D3DCCD1}">
                <a14:hiddenFill xmlns:a14="http://schemas.microsoft.com/office/drawing/2010/main">
                  <a:noFill/>
                </a14:hiddenFill>
              </a:ext>
            </a:extLst>
          </p:spPr>
          <p:txBody>
            <a:bodyPr rIns="36000">
              <a:spAutoFit/>
            </a:bodyPr>
            <a:lstStyle/>
            <a:p>
              <a:endParaRPr lang="zh-CN" altLang="en-US"/>
            </a:p>
          </p:txBody>
        </p:sp>
        <p:sp>
          <p:nvSpPr>
            <p:cNvPr id="48175" name="Rectangle 159"/>
            <p:cNvSpPr>
              <a:spLocks noChangeArrowheads="1"/>
            </p:cNvSpPr>
            <p:nvPr/>
          </p:nvSpPr>
          <p:spPr bwMode="auto">
            <a:xfrm>
              <a:off x="2250" y="3026"/>
              <a:ext cx="120" cy="135"/>
            </a:xfrm>
            <a:prstGeom prst="rect">
              <a:avLst/>
            </a:prstGeom>
            <a:solidFill>
              <a:srgbClr val="0000FF">
                <a:alpha val="50195"/>
              </a:srgbClr>
            </a:solidFill>
            <a:ln w="12700">
              <a:solidFill>
                <a:srgbClr val="00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6" name="Line 160"/>
            <p:cNvSpPr>
              <a:spLocks noChangeShapeType="1"/>
            </p:cNvSpPr>
            <p:nvPr/>
          </p:nvSpPr>
          <p:spPr bwMode="auto">
            <a:xfrm>
              <a:off x="2230" y="3007"/>
              <a:ext cx="0" cy="174"/>
            </a:xfrm>
            <a:prstGeom prst="line">
              <a:avLst/>
            </a:prstGeom>
            <a:noFill/>
            <a:ln w="28575">
              <a:solidFill>
                <a:srgbClr val="FF00FF"/>
              </a:solidFill>
              <a:round/>
              <a:headEnd type="triangle" w="lg" len="lg"/>
              <a:tailEnd/>
            </a:ln>
            <a:extLst>
              <a:ext uri="{909E8E84-426E-40DD-AFC4-6F175D3DCCD1}">
                <a14:hiddenFill xmlns:a14="http://schemas.microsoft.com/office/drawing/2010/main">
                  <a:noFill/>
                </a14:hiddenFill>
              </a:ext>
            </a:extLst>
          </p:spPr>
          <p:txBody>
            <a:bodyPr rIns="36000">
              <a:spAutoFit/>
            </a:bodyPr>
            <a:lstStyle/>
            <a:p>
              <a:endParaRPr lang="zh-CN" altLang="en-US"/>
            </a:p>
          </p:txBody>
        </p:sp>
        <p:sp>
          <p:nvSpPr>
            <p:cNvPr id="48177" name="Rectangle 162"/>
            <p:cNvSpPr>
              <a:spLocks noChangeArrowheads="1"/>
            </p:cNvSpPr>
            <p:nvPr/>
          </p:nvSpPr>
          <p:spPr bwMode="auto">
            <a:xfrm>
              <a:off x="2569" y="3026"/>
              <a:ext cx="119" cy="135"/>
            </a:xfrm>
            <a:prstGeom prst="rect">
              <a:avLst/>
            </a:prstGeom>
            <a:solidFill>
              <a:srgbClr val="0000FF">
                <a:alpha val="50195"/>
              </a:srgbClr>
            </a:solidFill>
            <a:ln w="12700">
              <a:solidFill>
                <a:srgbClr val="0000FF"/>
              </a:solidFill>
              <a:miter lim="800000"/>
              <a:headEnd/>
              <a:tailEnd/>
            </a:ln>
          </p:spPr>
          <p:txBody>
            <a:bodyPr/>
            <a:lstStyle/>
            <a:p>
              <a:pPr>
                <a:lnSpc>
                  <a:spcPct val="100000"/>
                </a:lnSpc>
                <a:spcBef>
                  <a:spcPct val="0"/>
                </a:spcBef>
              </a:pPr>
              <a:endParaRPr lang="zh-CN" altLang="en-US">
                <a:latin typeface="宋体" pitchFamily="2" charset="-122"/>
                <a:ea typeface="宋体" pitchFamily="2" charset="-122"/>
              </a:endParaRPr>
            </a:p>
          </p:txBody>
        </p:sp>
        <p:sp>
          <p:nvSpPr>
            <p:cNvPr id="48178" name="Line 163"/>
            <p:cNvSpPr>
              <a:spLocks noChangeShapeType="1"/>
            </p:cNvSpPr>
            <p:nvPr/>
          </p:nvSpPr>
          <p:spPr bwMode="auto">
            <a:xfrm>
              <a:off x="2549" y="3007"/>
              <a:ext cx="0" cy="174"/>
            </a:xfrm>
            <a:prstGeom prst="line">
              <a:avLst/>
            </a:prstGeom>
            <a:noFill/>
            <a:ln w="28575">
              <a:solidFill>
                <a:srgbClr val="FF00FF"/>
              </a:solidFill>
              <a:round/>
              <a:headEnd type="triangle" w="lg" len="lg"/>
              <a:tailEnd/>
            </a:ln>
            <a:extLst>
              <a:ext uri="{909E8E84-426E-40DD-AFC4-6F175D3DCCD1}">
                <a14:hiddenFill xmlns:a14="http://schemas.microsoft.com/office/drawing/2010/main">
                  <a:noFill/>
                </a14:hiddenFill>
              </a:ext>
            </a:extLst>
          </p:spPr>
          <p:txBody>
            <a:bodyPr rIns="36000">
              <a:spAutoFit/>
            </a:bodyPr>
            <a:lstStyle/>
            <a:p>
              <a:endParaRPr lang="zh-CN" altLang="en-US"/>
            </a:p>
          </p:txBody>
        </p:sp>
        <p:grpSp>
          <p:nvGrpSpPr>
            <p:cNvPr id="48179" name="Group 177"/>
            <p:cNvGrpSpPr>
              <a:grpSpLocks/>
            </p:cNvGrpSpPr>
            <p:nvPr/>
          </p:nvGrpSpPr>
          <p:grpSpPr bwMode="auto">
            <a:xfrm>
              <a:off x="1746" y="1842"/>
              <a:ext cx="635" cy="1157"/>
              <a:chOff x="1270" y="1888"/>
              <a:chExt cx="725" cy="1747"/>
            </a:xfrm>
          </p:grpSpPr>
          <p:sp>
            <p:nvSpPr>
              <p:cNvPr id="48180" name="Line 164"/>
              <p:cNvSpPr>
                <a:spLocks noChangeShapeType="1"/>
              </p:cNvSpPr>
              <p:nvPr/>
            </p:nvSpPr>
            <p:spPr bwMode="auto">
              <a:xfrm>
                <a:off x="1270" y="1888"/>
                <a:ext cx="0" cy="1724"/>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rIns="36000">
                <a:spAutoFit/>
              </a:bodyPr>
              <a:lstStyle/>
              <a:p>
                <a:endParaRPr lang="zh-CN" altLang="en-US"/>
              </a:p>
            </p:txBody>
          </p:sp>
          <p:sp>
            <p:nvSpPr>
              <p:cNvPr id="48181" name="Line 165"/>
              <p:cNvSpPr>
                <a:spLocks noChangeShapeType="1"/>
              </p:cNvSpPr>
              <p:nvPr/>
            </p:nvSpPr>
            <p:spPr bwMode="auto">
              <a:xfrm>
                <a:off x="1633" y="1911"/>
                <a:ext cx="0" cy="1724"/>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rIns="36000">
                <a:spAutoFit/>
              </a:bodyPr>
              <a:lstStyle/>
              <a:p>
                <a:endParaRPr lang="zh-CN" altLang="en-US"/>
              </a:p>
            </p:txBody>
          </p:sp>
          <p:sp>
            <p:nvSpPr>
              <p:cNvPr id="48182" name="Line 166"/>
              <p:cNvSpPr>
                <a:spLocks noChangeShapeType="1"/>
              </p:cNvSpPr>
              <p:nvPr/>
            </p:nvSpPr>
            <p:spPr bwMode="auto">
              <a:xfrm>
                <a:off x="1995" y="1911"/>
                <a:ext cx="0" cy="1724"/>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rIns="36000">
                <a:spAutoFit/>
              </a:bodyPr>
              <a:lstStyle/>
              <a:p>
                <a:endParaRPr lang="zh-CN" altLang="en-US"/>
              </a:p>
            </p:txBody>
          </p:sp>
        </p:grpSp>
      </p:grpSp>
    </p:spTree>
  </p:cSld>
  <p:clrMapOvr>
    <a:masterClrMapping/>
  </p:clrMapOvr>
  <p:transition>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ChangeArrowheads="1"/>
          </p:cNvSpPr>
          <p:nvPr/>
        </p:nvSpPr>
        <p:spPr bwMode="auto">
          <a:xfrm>
            <a:off x="611188" y="404813"/>
            <a:ext cx="79486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p>
            <a:pPr>
              <a:lnSpc>
                <a:spcPct val="120000"/>
              </a:lnSpc>
              <a:spcBef>
                <a:spcPct val="0"/>
              </a:spcBef>
            </a:pPr>
            <a:r>
              <a:rPr lang="zh-CN" altLang="en-US">
                <a:latin typeface="黑体" pitchFamily="2" charset="-122"/>
                <a:ea typeface="黑体" pitchFamily="2" charset="-122"/>
              </a:rPr>
              <a:t>例：</a:t>
            </a:r>
            <a:r>
              <a:rPr lang="en-US" altLang="zh-CN" dirty="0">
                <a:latin typeface="黑体" pitchFamily="2" charset="-122"/>
                <a:ea typeface="黑体" pitchFamily="2" charset="-122"/>
              </a:rPr>
              <a:t>X←X+Y</a:t>
            </a:r>
          </a:p>
        </p:txBody>
      </p:sp>
      <p:grpSp>
        <p:nvGrpSpPr>
          <p:cNvPr id="49155" name="Group 66"/>
          <p:cNvGrpSpPr>
            <a:grpSpLocks/>
          </p:cNvGrpSpPr>
          <p:nvPr/>
        </p:nvGrpSpPr>
        <p:grpSpPr bwMode="auto">
          <a:xfrm>
            <a:off x="2195513" y="1268413"/>
            <a:ext cx="6102350" cy="2754312"/>
            <a:chOff x="861" y="1979"/>
            <a:chExt cx="3844" cy="1735"/>
          </a:xfrm>
        </p:grpSpPr>
        <p:grpSp>
          <p:nvGrpSpPr>
            <p:cNvPr id="49173" name="Group 7"/>
            <p:cNvGrpSpPr>
              <a:grpSpLocks/>
            </p:cNvGrpSpPr>
            <p:nvPr/>
          </p:nvGrpSpPr>
          <p:grpSpPr bwMode="auto">
            <a:xfrm>
              <a:off x="1730" y="2530"/>
              <a:ext cx="403" cy="213"/>
              <a:chOff x="4631" y="9340"/>
              <a:chExt cx="615" cy="435"/>
            </a:xfrm>
          </p:grpSpPr>
          <p:sp>
            <p:nvSpPr>
              <p:cNvPr id="49232" name="Rectangle 8"/>
              <p:cNvSpPr>
                <a:spLocks noChangeArrowheads="1"/>
              </p:cNvSpPr>
              <p:nvPr/>
            </p:nvSpPr>
            <p:spPr bwMode="auto">
              <a:xfrm>
                <a:off x="4686" y="9430"/>
                <a:ext cx="505" cy="300"/>
              </a:xfrm>
              <a:prstGeom prst="rect">
                <a:avLst/>
              </a:prstGeom>
              <a:solidFill>
                <a:srgbClr val="FFFFFF"/>
              </a:solidFill>
              <a:ln w="19050">
                <a:solidFill>
                  <a:srgbClr val="000080"/>
                </a:solidFill>
                <a:miter lim="800000"/>
                <a:headEnd/>
                <a:tailEnd/>
              </a:ln>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33" name="Text Box 9"/>
              <p:cNvSpPr txBox="1">
                <a:spLocks noChangeArrowheads="1"/>
              </p:cNvSpPr>
              <p:nvPr/>
            </p:nvSpPr>
            <p:spPr bwMode="auto">
              <a:xfrm>
                <a:off x="4631" y="934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chemeClr val="tx1"/>
                    </a:solidFill>
                    <a:latin typeface="黑体" pitchFamily="2" charset="-122"/>
                    <a:ea typeface="黑体" pitchFamily="2" charset="-122"/>
                  </a:rPr>
                  <a:t>&amp;</a:t>
                </a:r>
              </a:p>
            </p:txBody>
          </p:sp>
        </p:grpSp>
        <p:grpSp>
          <p:nvGrpSpPr>
            <p:cNvPr id="49174" name="Group 10"/>
            <p:cNvGrpSpPr>
              <a:grpSpLocks/>
            </p:cNvGrpSpPr>
            <p:nvPr/>
          </p:nvGrpSpPr>
          <p:grpSpPr bwMode="auto">
            <a:xfrm>
              <a:off x="3426" y="2549"/>
              <a:ext cx="664" cy="309"/>
              <a:chOff x="5806" y="9605"/>
              <a:chExt cx="1012" cy="600"/>
            </a:xfrm>
          </p:grpSpPr>
          <p:sp>
            <p:nvSpPr>
              <p:cNvPr id="49227" name="Rectangle 11"/>
              <p:cNvSpPr>
                <a:spLocks noChangeArrowheads="1"/>
              </p:cNvSpPr>
              <p:nvPr/>
            </p:nvSpPr>
            <p:spPr bwMode="auto">
              <a:xfrm>
                <a:off x="5910" y="9648"/>
                <a:ext cx="908" cy="411"/>
              </a:xfrm>
              <a:prstGeom prst="rect">
                <a:avLst/>
              </a:prstGeom>
              <a:solidFill>
                <a:srgbClr val="FFFFFF"/>
              </a:solidFill>
              <a:ln w="19050">
                <a:solidFill>
                  <a:srgbClr val="000080"/>
                </a:solidFill>
                <a:miter lim="800000"/>
                <a:headEnd/>
                <a:tailEnd/>
              </a:ln>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28" name="Line 12"/>
              <p:cNvSpPr>
                <a:spLocks noChangeShapeType="1"/>
              </p:cNvSpPr>
              <p:nvPr/>
            </p:nvSpPr>
            <p:spPr bwMode="auto">
              <a:xfrm>
                <a:off x="5910" y="9858"/>
                <a:ext cx="908" cy="0"/>
              </a:xfrm>
              <a:prstGeom prst="line">
                <a:avLst/>
              </a:prstGeom>
              <a:noFill/>
              <a:ln w="1270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29" name="Line 13"/>
              <p:cNvSpPr>
                <a:spLocks noChangeShapeType="1"/>
              </p:cNvSpPr>
              <p:nvPr/>
            </p:nvSpPr>
            <p:spPr bwMode="auto">
              <a:xfrm>
                <a:off x="6359" y="9861"/>
                <a:ext cx="0" cy="186"/>
              </a:xfrm>
              <a:prstGeom prst="line">
                <a:avLst/>
              </a:prstGeom>
              <a:noFill/>
              <a:ln w="1270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0" name="Text Box 14"/>
              <p:cNvSpPr txBox="1">
                <a:spLocks noChangeArrowheads="1"/>
              </p:cNvSpPr>
              <p:nvPr/>
            </p:nvSpPr>
            <p:spPr bwMode="auto">
              <a:xfrm>
                <a:off x="6019" y="9605"/>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chemeClr val="tx1"/>
                    </a:solidFill>
                    <a:latin typeface="黑体" pitchFamily="2" charset="-122"/>
                    <a:ea typeface="黑体" pitchFamily="2" charset="-122"/>
                  </a:rPr>
                  <a:t>≥1</a:t>
                </a:r>
              </a:p>
            </p:txBody>
          </p:sp>
          <p:sp>
            <p:nvSpPr>
              <p:cNvPr id="49231" name="Text Box 15"/>
              <p:cNvSpPr txBox="1">
                <a:spLocks noChangeArrowheads="1"/>
              </p:cNvSpPr>
              <p:nvPr/>
            </p:nvSpPr>
            <p:spPr bwMode="auto">
              <a:xfrm>
                <a:off x="5806" y="9732"/>
                <a:ext cx="740"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chemeClr val="tx1"/>
                    </a:solidFill>
                    <a:latin typeface="黑体" pitchFamily="2" charset="-122"/>
                    <a:ea typeface="黑体" pitchFamily="2" charset="-122"/>
                  </a:rPr>
                  <a:t>&amp;</a:t>
                </a:r>
              </a:p>
            </p:txBody>
          </p:sp>
        </p:grpSp>
        <p:grpSp>
          <p:nvGrpSpPr>
            <p:cNvPr id="49175" name="Group 16"/>
            <p:cNvGrpSpPr>
              <a:grpSpLocks/>
            </p:cNvGrpSpPr>
            <p:nvPr/>
          </p:nvGrpSpPr>
          <p:grpSpPr bwMode="auto">
            <a:xfrm>
              <a:off x="2057" y="2112"/>
              <a:ext cx="1801" cy="228"/>
              <a:chOff x="4425" y="8325"/>
              <a:chExt cx="2745" cy="465"/>
            </a:xfrm>
          </p:grpSpPr>
          <p:sp>
            <p:nvSpPr>
              <p:cNvPr id="49223" name="Text Box 17"/>
              <p:cNvSpPr txBox="1">
                <a:spLocks noChangeArrowheads="1"/>
              </p:cNvSpPr>
              <p:nvPr/>
            </p:nvSpPr>
            <p:spPr bwMode="auto">
              <a:xfrm>
                <a:off x="5805" y="8398"/>
                <a:ext cx="136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zh-CN" altLang="en-US" sz="1800">
                    <a:latin typeface="黑体" pitchFamily="2" charset="-122"/>
                    <a:ea typeface="黑体" pitchFamily="2" charset="-122"/>
                  </a:rPr>
                  <a:t>加法器</a:t>
                </a:r>
                <a:r>
                  <a:rPr lang="en-US" altLang="zh-CN" sz="1800" dirty="0">
                    <a:latin typeface="黑体" pitchFamily="2" charset="-122"/>
                    <a:ea typeface="黑体" pitchFamily="2" charset="-122"/>
                  </a:rPr>
                  <a:t>F</a:t>
                </a:r>
              </a:p>
            </p:txBody>
          </p:sp>
          <p:sp>
            <p:nvSpPr>
              <p:cNvPr id="49224" name="Rectangle 18"/>
              <p:cNvSpPr>
                <a:spLocks noChangeArrowheads="1"/>
              </p:cNvSpPr>
              <p:nvPr/>
            </p:nvSpPr>
            <p:spPr bwMode="auto">
              <a:xfrm>
                <a:off x="4425" y="8325"/>
                <a:ext cx="2580" cy="465"/>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25" name="Rectangle 19"/>
              <p:cNvSpPr>
                <a:spLocks noChangeArrowheads="1"/>
              </p:cNvSpPr>
              <p:nvPr/>
            </p:nvSpPr>
            <p:spPr bwMode="auto">
              <a:xfrm>
                <a:off x="5430" y="8325"/>
                <a:ext cx="450" cy="465"/>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26" name="Text Box 20"/>
              <p:cNvSpPr txBox="1">
                <a:spLocks noChangeArrowheads="1"/>
              </p:cNvSpPr>
              <p:nvPr/>
            </p:nvSpPr>
            <p:spPr bwMode="auto">
              <a:xfrm>
                <a:off x="5310" y="8398"/>
                <a:ext cx="67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Fi</a:t>
                </a:r>
              </a:p>
            </p:txBody>
          </p:sp>
        </p:grpSp>
        <p:grpSp>
          <p:nvGrpSpPr>
            <p:cNvPr id="49176" name="Group 21"/>
            <p:cNvGrpSpPr>
              <a:grpSpLocks/>
            </p:cNvGrpSpPr>
            <p:nvPr/>
          </p:nvGrpSpPr>
          <p:grpSpPr bwMode="auto">
            <a:xfrm>
              <a:off x="2972" y="2950"/>
              <a:ext cx="1732" cy="303"/>
              <a:chOff x="5835" y="10243"/>
              <a:chExt cx="2640" cy="617"/>
            </a:xfrm>
          </p:grpSpPr>
          <p:sp>
            <p:nvSpPr>
              <p:cNvPr id="49218" name="Rectangle 22"/>
              <p:cNvSpPr>
                <a:spLocks noChangeArrowheads="1"/>
              </p:cNvSpPr>
              <p:nvPr/>
            </p:nvSpPr>
            <p:spPr bwMode="auto">
              <a:xfrm>
                <a:off x="5835" y="10275"/>
                <a:ext cx="2550" cy="465"/>
              </a:xfrm>
              <a:prstGeom prst="rect">
                <a:avLst/>
              </a:prstGeom>
              <a:solidFill>
                <a:srgbClr val="00FFFF">
                  <a:alpha val="50195"/>
                </a:srgbClr>
              </a:solidFill>
              <a:ln w="19050">
                <a:solidFill>
                  <a:srgbClr val="000080"/>
                </a:solidFill>
                <a:miter lim="800000"/>
                <a:headEnd/>
                <a:tailEnd/>
              </a:ln>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19" name="Text Box 23"/>
              <p:cNvSpPr txBox="1">
                <a:spLocks noChangeArrowheads="1"/>
              </p:cNvSpPr>
              <p:nvPr/>
            </p:nvSpPr>
            <p:spPr bwMode="auto">
              <a:xfrm>
                <a:off x="7185" y="10348"/>
                <a:ext cx="1290"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zh-CN" altLang="en-US" sz="1800">
                    <a:latin typeface="黑体" pitchFamily="2" charset="-122"/>
                    <a:ea typeface="黑体" pitchFamily="2" charset="-122"/>
                  </a:rPr>
                  <a:t>寄存器</a:t>
                </a:r>
                <a:r>
                  <a:rPr lang="en-US" altLang="zh-CN" sz="1800" dirty="0">
                    <a:latin typeface="黑体" pitchFamily="2" charset="-122"/>
                    <a:ea typeface="黑体" pitchFamily="2" charset="-122"/>
                  </a:rPr>
                  <a:t>Y</a:t>
                </a:r>
              </a:p>
            </p:txBody>
          </p:sp>
          <p:sp>
            <p:nvSpPr>
              <p:cNvPr id="49220" name="Rectangle 24"/>
              <p:cNvSpPr>
                <a:spLocks noChangeArrowheads="1"/>
              </p:cNvSpPr>
              <p:nvPr/>
            </p:nvSpPr>
            <p:spPr bwMode="auto">
              <a:xfrm>
                <a:off x="6840" y="10275"/>
                <a:ext cx="450" cy="465"/>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21" name="Text Box 25"/>
              <p:cNvSpPr txBox="1">
                <a:spLocks noChangeArrowheads="1"/>
              </p:cNvSpPr>
              <p:nvPr/>
            </p:nvSpPr>
            <p:spPr bwMode="auto">
              <a:xfrm>
                <a:off x="6735" y="10468"/>
                <a:ext cx="67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Yi</a:t>
                </a:r>
              </a:p>
            </p:txBody>
          </p:sp>
          <p:sp>
            <p:nvSpPr>
              <p:cNvPr id="49222" name="Text Box 26"/>
              <p:cNvSpPr txBox="1">
                <a:spLocks noChangeArrowheads="1"/>
              </p:cNvSpPr>
              <p:nvPr/>
            </p:nvSpPr>
            <p:spPr bwMode="auto">
              <a:xfrm>
                <a:off x="6750" y="10243"/>
                <a:ext cx="67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0 1</a:t>
                </a:r>
              </a:p>
            </p:txBody>
          </p:sp>
        </p:grpSp>
        <p:grpSp>
          <p:nvGrpSpPr>
            <p:cNvPr id="49177" name="Group 27"/>
            <p:cNvGrpSpPr>
              <a:grpSpLocks/>
            </p:cNvGrpSpPr>
            <p:nvPr/>
          </p:nvGrpSpPr>
          <p:grpSpPr bwMode="auto">
            <a:xfrm>
              <a:off x="1132" y="2950"/>
              <a:ext cx="1732" cy="303"/>
              <a:chOff x="5835" y="10243"/>
              <a:chExt cx="2640" cy="617"/>
            </a:xfrm>
          </p:grpSpPr>
          <p:sp>
            <p:nvSpPr>
              <p:cNvPr id="49213" name="Rectangle 28"/>
              <p:cNvSpPr>
                <a:spLocks noChangeArrowheads="1"/>
              </p:cNvSpPr>
              <p:nvPr/>
            </p:nvSpPr>
            <p:spPr bwMode="auto">
              <a:xfrm>
                <a:off x="5835" y="10275"/>
                <a:ext cx="2550" cy="465"/>
              </a:xfrm>
              <a:prstGeom prst="rect">
                <a:avLst/>
              </a:prstGeom>
              <a:solidFill>
                <a:srgbClr val="00FFFF">
                  <a:alpha val="50195"/>
                </a:srgbClr>
              </a:solidFill>
              <a:ln w="19050">
                <a:solidFill>
                  <a:srgbClr val="000080"/>
                </a:solidFill>
                <a:miter lim="800000"/>
                <a:headEnd/>
                <a:tailEnd/>
              </a:ln>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14" name="Text Box 29"/>
              <p:cNvSpPr txBox="1">
                <a:spLocks noChangeArrowheads="1"/>
              </p:cNvSpPr>
              <p:nvPr/>
            </p:nvSpPr>
            <p:spPr bwMode="auto">
              <a:xfrm>
                <a:off x="7185" y="10348"/>
                <a:ext cx="1290"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zh-CN" altLang="en-US" sz="1800">
                    <a:latin typeface="黑体" pitchFamily="2" charset="-122"/>
                    <a:ea typeface="黑体" pitchFamily="2" charset="-122"/>
                  </a:rPr>
                  <a:t>寄存器</a:t>
                </a:r>
                <a:r>
                  <a:rPr lang="en-US" altLang="zh-CN" sz="1800" dirty="0">
                    <a:latin typeface="黑体" pitchFamily="2" charset="-122"/>
                    <a:ea typeface="黑体" pitchFamily="2" charset="-122"/>
                  </a:rPr>
                  <a:t>X</a:t>
                </a:r>
              </a:p>
            </p:txBody>
          </p:sp>
          <p:sp>
            <p:nvSpPr>
              <p:cNvPr id="49215" name="Rectangle 30"/>
              <p:cNvSpPr>
                <a:spLocks noChangeArrowheads="1"/>
              </p:cNvSpPr>
              <p:nvPr/>
            </p:nvSpPr>
            <p:spPr bwMode="auto">
              <a:xfrm>
                <a:off x="6840" y="10275"/>
                <a:ext cx="450" cy="465"/>
              </a:xfrm>
              <a:prstGeom prst="rect">
                <a:avLst/>
              </a:prstGeom>
              <a:noFill/>
              <a:ln w="1270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16" name="Text Box 31"/>
              <p:cNvSpPr txBox="1">
                <a:spLocks noChangeArrowheads="1"/>
              </p:cNvSpPr>
              <p:nvPr/>
            </p:nvSpPr>
            <p:spPr bwMode="auto">
              <a:xfrm>
                <a:off x="6735" y="10468"/>
                <a:ext cx="67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Xi</a:t>
                </a:r>
              </a:p>
            </p:txBody>
          </p:sp>
          <p:sp>
            <p:nvSpPr>
              <p:cNvPr id="49217" name="Text Box 32"/>
              <p:cNvSpPr txBox="1">
                <a:spLocks noChangeArrowheads="1"/>
              </p:cNvSpPr>
              <p:nvPr/>
            </p:nvSpPr>
            <p:spPr bwMode="auto">
              <a:xfrm>
                <a:off x="6750" y="10243"/>
                <a:ext cx="67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0 1</a:t>
                </a:r>
              </a:p>
            </p:txBody>
          </p:sp>
        </p:grpSp>
        <p:sp>
          <p:nvSpPr>
            <p:cNvPr id="49178" name="Line 33"/>
            <p:cNvSpPr>
              <a:spLocks noChangeShapeType="1"/>
            </p:cNvSpPr>
            <p:nvPr/>
          </p:nvSpPr>
          <p:spPr bwMode="auto">
            <a:xfrm flipV="1">
              <a:off x="1987" y="2716"/>
              <a:ext cx="0" cy="243"/>
            </a:xfrm>
            <a:prstGeom prst="line">
              <a:avLst/>
            </a:prstGeom>
            <a:noFill/>
            <a:ln w="9525">
              <a:solidFill>
                <a:srgbClr val="00008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9179" name="Group 34"/>
            <p:cNvGrpSpPr>
              <a:grpSpLocks/>
            </p:cNvGrpSpPr>
            <p:nvPr/>
          </p:nvGrpSpPr>
          <p:grpSpPr bwMode="auto">
            <a:xfrm>
              <a:off x="3718" y="2782"/>
              <a:ext cx="138" cy="184"/>
              <a:chOff x="6972" y="9780"/>
              <a:chExt cx="210" cy="495"/>
            </a:xfrm>
          </p:grpSpPr>
          <p:sp>
            <p:nvSpPr>
              <p:cNvPr id="49211" name="Line 35"/>
              <p:cNvSpPr>
                <a:spLocks noChangeShapeType="1"/>
              </p:cNvSpPr>
              <p:nvPr/>
            </p:nvSpPr>
            <p:spPr bwMode="auto">
              <a:xfrm flipV="1">
                <a:off x="7182" y="9780"/>
                <a:ext cx="0" cy="495"/>
              </a:xfrm>
              <a:prstGeom prst="line">
                <a:avLst/>
              </a:prstGeom>
              <a:noFill/>
              <a:ln w="9525">
                <a:solidFill>
                  <a:srgbClr val="00008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9212" name="Line 36"/>
              <p:cNvSpPr>
                <a:spLocks noChangeShapeType="1"/>
              </p:cNvSpPr>
              <p:nvPr/>
            </p:nvSpPr>
            <p:spPr bwMode="auto">
              <a:xfrm flipV="1">
                <a:off x="6972" y="9780"/>
                <a:ext cx="0" cy="495"/>
              </a:xfrm>
              <a:prstGeom prst="line">
                <a:avLst/>
              </a:prstGeom>
              <a:noFill/>
              <a:ln w="9525">
                <a:solidFill>
                  <a:srgbClr val="00008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9180" name="Freeform 37"/>
            <p:cNvSpPr>
              <a:spLocks/>
            </p:cNvSpPr>
            <p:nvPr/>
          </p:nvSpPr>
          <p:spPr bwMode="auto">
            <a:xfrm>
              <a:off x="1929" y="2326"/>
              <a:ext cx="857" cy="250"/>
            </a:xfrm>
            <a:custGeom>
              <a:avLst/>
              <a:gdLst>
                <a:gd name="T0" fmla="*/ 0 w 1305"/>
                <a:gd name="T1" fmla="*/ 0 h 615"/>
                <a:gd name="T2" fmla="*/ 0 w 1305"/>
                <a:gd name="T3" fmla="*/ 0 h 615"/>
                <a:gd name="T4" fmla="*/ 1 w 1305"/>
                <a:gd name="T5" fmla="*/ 0 h 615"/>
                <a:gd name="T6" fmla="*/ 1 w 1305"/>
                <a:gd name="T7" fmla="*/ 0 h 615"/>
                <a:gd name="T8" fmla="*/ 0 60000 65536"/>
                <a:gd name="T9" fmla="*/ 0 60000 65536"/>
                <a:gd name="T10" fmla="*/ 0 60000 65536"/>
                <a:gd name="T11" fmla="*/ 0 60000 65536"/>
                <a:gd name="T12" fmla="*/ 0 w 1305"/>
                <a:gd name="T13" fmla="*/ 0 h 615"/>
                <a:gd name="T14" fmla="*/ 1305 w 1305"/>
                <a:gd name="T15" fmla="*/ 615 h 615"/>
              </a:gdLst>
              <a:ahLst/>
              <a:cxnLst>
                <a:cxn ang="T8">
                  <a:pos x="T0" y="T1"/>
                </a:cxn>
                <a:cxn ang="T9">
                  <a:pos x="T2" y="T3"/>
                </a:cxn>
                <a:cxn ang="T10">
                  <a:pos x="T4" y="T5"/>
                </a:cxn>
                <a:cxn ang="T11">
                  <a:pos x="T6" y="T7"/>
                </a:cxn>
              </a:cxnLst>
              <a:rect l="T12" t="T13" r="T14" b="T15"/>
              <a:pathLst>
                <a:path w="1305" h="615">
                  <a:moveTo>
                    <a:pt x="0" y="615"/>
                  </a:moveTo>
                  <a:lnTo>
                    <a:pt x="0" y="360"/>
                  </a:lnTo>
                  <a:lnTo>
                    <a:pt x="1305" y="360"/>
                  </a:lnTo>
                  <a:lnTo>
                    <a:pt x="1305" y="0"/>
                  </a:lnTo>
                </a:path>
              </a:pathLst>
            </a:custGeom>
            <a:noFill/>
            <a:ln w="9525" cap="flat" cmpd="sng">
              <a:solidFill>
                <a:srgbClr val="000080"/>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81" name="Freeform 38"/>
            <p:cNvSpPr>
              <a:spLocks/>
            </p:cNvSpPr>
            <p:nvPr/>
          </p:nvSpPr>
          <p:spPr bwMode="auto">
            <a:xfrm flipH="1">
              <a:off x="2933" y="2333"/>
              <a:ext cx="856" cy="228"/>
            </a:xfrm>
            <a:custGeom>
              <a:avLst/>
              <a:gdLst>
                <a:gd name="T0" fmla="*/ 0 w 1305"/>
                <a:gd name="T1" fmla="*/ 0 h 615"/>
                <a:gd name="T2" fmla="*/ 0 w 1305"/>
                <a:gd name="T3" fmla="*/ 0 h 615"/>
                <a:gd name="T4" fmla="*/ 1 w 1305"/>
                <a:gd name="T5" fmla="*/ 0 h 615"/>
                <a:gd name="T6" fmla="*/ 1 w 1305"/>
                <a:gd name="T7" fmla="*/ 0 h 615"/>
                <a:gd name="T8" fmla="*/ 0 60000 65536"/>
                <a:gd name="T9" fmla="*/ 0 60000 65536"/>
                <a:gd name="T10" fmla="*/ 0 60000 65536"/>
                <a:gd name="T11" fmla="*/ 0 60000 65536"/>
                <a:gd name="T12" fmla="*/ 0 w 1305"/>
                <a:gd name="T13" fmla="*/ 0 h 615"/>
                <a:gd name="T14" fmla="*/ 1305 w 1305"/>
                <a:gd name="T15" fmla="*/ 615 h 615"/>
              </a:gdLst>
              <a:ahLst/>
              <a:cxnLst>
                <a:cxn ang="T8">
                  <a:pos x="T0" y="T1"/>
                </a:cxn>
                <a:cxn ang="T9">
                  <a:pos x="T2" y="T3"/>
                </a:cxn>
                <a:cxn ang="T10">
                  <a:pos x="T4" y="T5"/>
                </a:cxn>
                <a:cxn ang="T11">
                  <a:pos x="T6" y="T7"/>
                </a:cxn>
              </a:cxnLst>
              <a:rect l="T12" t="T13" r="T14" b="T15"/>
              <a:pathLst>
                <a:path w="1305" h="615">
                  <a:moveTo>
                    <a:pt x="0" y="615"/>
                  </a:moveTo>
                  <a:lnTo>
                    <a:pt x="0" y="360"/>
                  </a:lnTo>
                  <a:lnTo>
                    <a:pt x="1305" y="360"/>
                  </a:lnTo>
                  <a:lnTo>
                    <a:pt x="1305" y="0"/>
                  </a:lnTo>
                </a:path>
              </a:pathLst>
            </a:custGeom>
            <a:noFill/>
            <a:ln w="9525" cap="flat" cmpd="sng">
              <a:solidFill>
                <a:srgbClr val="000080"/>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9182" name="Group 39"/>
            <p:cNvGrpSpPr>
              <a:grpSpLocks/>
            </p:cNvGrpSpPr>
            <p:nvPr/>
          </p:nvGrpSpPr>
          <p:grpSpPr bwMode="auto">
            <a:xfrm>
              <a:off x="1181" y="2119"/>
              <a:ext cx="571" cy="405"/>
              <a:chOff x="1815" y="11100"/>
              <a:chExt cx="870" cy="975"/>
            </a:xfrm>
          </p:grpSpPr>
          <p:sp>
            <p:nvSpPr>
              <p:cNvPr id="49205" name="Text Box 40"/>
              <p:cNvSpPr txBox="1">
                <a:spLocks noChangeArrowheads="1"/>
              </p:cNvSpPr>
              <p:nvPr/>
            </p:nvSpPr>
            <p:spPr bwMode="auto">
              <a:xfrm>
                <a:off x="1845" y="11100"/>
                <a:ext cx="210" cy="51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S</a:t>
                </a:r>
              </a:p>
            </p:txBody>
          </p:sp>
          <p:sp>
            <p:nvSpPr>
              <p:cNvPr id="49206" name="Text Box 41"/>
              <p:cNvSpPr txBox="1">
                <a:spLocks noChangeArrowheads="1"/>
              </p:cNvSpPr>
              <p:nvPr/>
            </p:nvSpPr>
            <p:spPr bwMode="auto">
              <a:xfrm>
                <a:off x="2055" y="11100"/>
                <a:ext cx="210" cy="51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Z</a:t>
                </a:r>
              </a:p>
            </p:txBody>
          </p:sp>
          <p:sp>
            <p:nvSpPr>
              <p:cNvPr id="49207" name="Text Box 42"/>
              <p:cNvSpPr txBox="1">
                <a:spLocks noChangeArrowheads="1"/>
              </p:cNvSpPr>
              <p:nvPr/>
            </p:nvSpPr>
            <p:spPr bwMode="auto">
              <a:xfrm>
                <a:off x="2265" y="11100"/>
                <a:ext cx="210" cy="51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O</a:t>
                </a:r>
              </a:p>
            </p:txBody>
          </p:sp>
          <p:sp>
            <p:nvSpPr>
              <p:cNvPr id="49208" name="Text Box 43"/>
              <p:cNvSpPr txBox="1">
                <a:spLocks noChangeArrowheads="1"/>
              </p:cNvSpPr>
              <p:nvPr/>
            </p:nvSpPr>
            <p:spPr bwMode="auto">
              <a:xfrm>
                <a:off x="2475" y="11100"/>
                <a:ext cx="210" cy="51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C</a:t>
                </a:r>
              </a:p>
            </p:txBody>
          </p:sp>
          <p:sp>
            <p:nvSpPr>
              <p:cNvPr id="49209" name="Text Box 44"/>
              <p:cNvSpPr txBox="1">
                <a:spLocks noChangeArrowheads="1"/>
              </p:cNvSpPr>
              <p:nvPr/>
            </p:nvSpPr>
            <p:spPr bwMode="auto">
              <a:xfrm>
                <a:off x="1815" y="11565"/>
                <a:ext cx="705"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PSW</a:t>
                </a:r>
              </a:p>
            </p:txBody>
          </p:sp>
          <p:sp>
            <p:nvSpPr>
              <p:cNvPr id="49210" name="Rectangle 45"/>
              <p:cNvSpPr>
                <a:spLocks noChangeArrowheads="1"/>
              </p:cNvSpPr>
              <p:nvPr/>
            </p:nvSpPr>
            <p:spPr bwMode="auto">
              <a:xfrm>
                <a:off x="1845" y="11100"/>
                <a:ext cx="840" cy="510"/>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100000"/>
                  </a:lnSpc>
                  <a:spcBef>
                    <a:spcPct val="0"/>
                  </a:spcBef>
                </a:pPr>
                <a:endParaRPr lang="zh-CN" altLang="en-US" sz="1800">
                  <a:latin typeface="黑体" pitchFamily="2" charset="-122"/>
                  <a:ea typeface="黑体" pitchFamily="2" charset="-122"/>
                </a:endParaRPr>
              </a:p>
            </p:txBody>
          </p:sp>
        </p:grpSp>
        <p:sp>
          <p:nvSpPr>
            <p:cNvPr id="49183" name="Line 46"/>
            <p:cNvSpPr>
              <a:spLocks noChangeShapeType="1"/>
            </p:cNvSpPr>
            <p:nvPr/>
          </p:nvSpPr>
          <p:spPr bwMode="auto">
            <a:xfrm flipH="1">
              <a:off x="1761" y="2231"/>
              <a:ext cx="287" cy="0"/>
            </a:xfrm>
            <a:prstGeom prst="line">
              <a:avLst/>
            </a:prstGeom>
            <a:noFill/>
            <a:ln w="9525">
              <a:solidFill>
                <a:srgbClr val="00008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9184" name="Group 47"/>
            <p:cNvGrpSpPr>
              <a:grpSpLocks/>
            </p:cNvGrpSpPr>
            <p:nvPr/>
          </p:nvGrpSpPr>
          <p:grpSpPr bwMode="auto">
            <a:xfrm>
              <a:off x="1749" y="3376"/>
              <a:ext cx="403" cy="214"/>
              <a:chOff x="4631" y="9340"/>
              <a:chExt cx="615" cy="435"/>
            </a:xfrm>
          </p:grpSpPr>
          <p:sp>
            <p:nvSpPr>
              <p:cNvPr id="49203" name="Rectangle 48"/>
              <p:cNvSpPr>
                <a:spLocks noChangeArrowheads="1"/>
              </p:cNvSpPr>
              <p:nvPr/>
            </p:nvSpPr>
            <p:spPr bwMode="auto">
              <a:xfrm>
                <a:off x="4686" y="9430"/>
                <a:ext cx="505" cy="300"/>
              </a:xfrm>
              <a:prstGeom prst="rect">
                <a:avLst/>
              </a:prstGeom>
              <a:solidFill>
                <a:srgbClr val="FFFFFF"/>
              </a:solidFill>
              <a:ln w="19050">
                <a:solidFill>
                  <a:srgbClr val="000080"/>
                </a:solidFill>
                <a:miter lim="800000"/>
                <a:headEnd/>
                <a:tailEnd/>
              </a:ln>
            </p:spPr>
            <p:txBody>
              <a:bodyPr/>
              <a:lstStyle/>
              <a:p>
                <a:pPr>
                  <a:lnSpc>
                    <a:spcPct val="100000"/>
                  </a:lnSpc>
                  <a:spcBef>
                    <a:spcPct val="0"/>
                  </a:spcBef>
                </a:pPr>
                <a:endParaRPr lang="zh-CN" altLang="en-US" sz="1800">
                  <a:latin typeface="黑体" pitchFamily="2" charset="-122"/>
                  <a:ea typeface="黑体" pitchFamily="2" charset="-122"/>
                </a:endParaRPr>
              </a:p>
            </p:txBody>
          </p:sp>
          <p:sp>
            <p:nvSpPr>
              <p:cNvPr id="49204" name="Text Box 49"/>
              <p:cNvSpPr txBox="1">
                <a:spLocks noChangeArrowheads="1"/>
              </p:cNvSpPr>
              <p:nvPr/>
            </p:nvSpPr>
            <p:spPr bwMode="auto">
              <a:xfrm>
                <a:off x="4631" y="934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&amp;</a:t>
                </a:r>
              </a:p>
            </p:txBody>
          </p:sp>
        </p:grpSp>
        <p:sp>
          <p:nvSpPr>
            <p:cNvPr id="49185" name="Freeform 50"/>
            <p:cNvSpPr>
              <a:spLocks/>
            </p:cNvSpPr>
            <p:nvPr/>
          </p:nvSpPr>
          <p:spPr bwMode="auto">
            <a:xfrm>
              <a:off x="861" y="1979"/>
              <a:ext cx="2003" cy="1735"/>
            </a:xfrm>
            <a:custGeom>
              <a:avLst/>
              <a:gdLst>
                <a:gd name="T0" fmla="*/ 3 w 3045"/>
                <a:gd name="T1" fmla="*/ 0 h 3525"/>
                <a:gd name="T2" fmla="*/ 3 w 3045"/>
                <a:gd name="T3" fmla="*/ 0 h 3525"/>
                <a:gd name="T4" fmla="*/ 0 w 3045"/>
                <a:gd name="T5" fmla="*/ 0 h 3525"/>
                <a:gd name="T6" fmla="*/ 0 w 3045"/>
                <a:gd name="T7" fmla="*/ 0 h 3525"/>
                <a:gd name="T8" fmla="*/ 1 w 3045"/>
                <a:gd name="T9" fmla="*/ 0 h 3525"/>
                <a:gd name="T10" fmla="*/ 1 w 3045"/>
                <a:gd name="T11" fmla="*/ 0 h 3525"/>
                <a:gd name="T12" fmla="*/ 0 60000 65536"/>
                <a:gd name="T13" fmla="*/ 0 60000 65536"/>
                <a:gd name="T14" fmla="*/ 0 60000 65536"/>
                <a:gd name="T15" fmla="*/ 0 60000 65536"/>
                <a:gd name="T16" fmla="*/ 0 60000 65536"/>
                <a:gd name="T17" fmla="*/ 0 60000 65536"/>
                <a:gd name="T18" fmla="*/ 0 w 3045"/>
                <a:gd name="T19" fmla="*/ 0 h 3525"/>
                <a:gd name="T20" fmla="*/ 3045 w 3045"/>
                <a:gd name="T21" fmla="*/ 3525 h 3525"/>
              </a:gdLst>
              <a:ahLst/>
              <a:cxnLst>
                <a:cxn ang="T12">
                  <a:pos x="T0" y="T1"/>
                </a:cxn>
                <a:cxn ang="T13">
                  <a:pos x="T2" y="T3"/>
                </a:cxn>
                <a:cxn ang="T14">
                  <a:pos x="T4" y="T5"/>
                </a:cxn>
                <a:cxn ang="T15">
                  <a:pos x="T6" y="T7"/>
                </a:cxn>
                <a:cxn ang="T16">
                  <a:pos x="T8" y="T9"/>
                </a:cxn>
                <a:cxn ang="T17">
                  <a:pos x="T10" y="T11"/>
                </a:cxn>
              </a:cxnLst>
              <a:rect l="T18" t="T19" r="T20" b="T21"/>
              <a:pathLst>
                <a:path w="3045" h="3525">
                  <a:moveTo>
                    <a:pt x="3045" y="270"/>
                  </a:moveTo>
                  <a:lnTo>
                    <a:pt x="3045" y="0"/>
                  </a:lnTo>
                  <a:lnTo>
                    <a:pt x="0" y="0"/>
                  </a:lnTo>
                  <a:lnTo>
                    <a:pt x="0" y="3525"/>
                  </a:lnTo>
                  <a:lnTo>
                    <a:pt x="1530" y="3525"/>
                  </a:lnTo>
                  <a:lnTo>
                    <a:pt x="1530" y="3240"/>
                  </a:lnTo>
                </a:path>
              </a:pathLst>
            </a:custGeom>
            <a:noFill/>
            <a:ln w="9525" cap="flat" cmpd="sng">
              <a:solidFill>
                <a:srgbClr val="000080"/>
              </a:solidFill>
              <a:prstDash val="solid"/>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86" name="Line 51"/>
            <p:cNvSpPr>
              <a:spLocks noChangeShapeType="1"/>
            </p:cNvSpPr>
            <p:nvPr/>
          </p:nvSpPr>
          <p:spPr bwMode="auto">
            <a:xfrm flipV="1">
              <a:off x="1935" y="3196"/>
              <a:ext cx="0" cy="229"/>
            </a:xfrm>
            <a:prstGeom prst="line">
              <a:avLst/>
            </a:prstGeom>
            <a:noFill/>
            <a:ln w="9525">
              <a:solidFill>
                <a:srgbClr val="00008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9187" name="Line 52"/>
            <p:cNvSpPr>
              <a:spLocks noChangeShapeType="1"/>
            </p:cNvSpPr>
            <p:nvPr/>
          </p:nvSpPr>
          <p:spPr bwMode="auto">
            <a:xfrm flipH="1">
              <a:off x="3741" y="2223"/>
              <a:ext cx="28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8" name="Freeform 53"/>
            <p:cNvSpPr>
              <a:spLocks/>
            </p:cNvSpPr>
            <p:nvPr/>
          </p:nvSpPr>
          <p:spPr bwMode="auto">
            <a:xfrm>
              <a:off x="4003" y="2784"/>
              <a:ext cx="454" cy="107"/>
            </a:xfrm>
            <a:custGeom>
              <a:avLst/>
              <a:gdLst>
                <a:gd name="T0" fmla="*/ 0 w 693"/>
                <a:gd name="T1" fmla="*/ 0 h 155"/>
                <a:gd name="T2" fmla="*/ 0 w 693"/>
                <a:gd name="T3" fmla="*/ 1 h 155"/>
                <a:gd name="T4" fmla="*/ 1 w 693"/>
                <a:gd name="T5" fmla="*/ 1 h 155"/>
                <a:gd name="T6" fmla="*/ 0 60000 65536"/>
                <a:gd name="T7" fmla="*/ 0 60000 65536"/>
                <a:gd name="T8" fmla="*/ 0 60000 65536"/>
                <a:gd name="T9" fmla="*/ 0 w 693"/>
                <a:gd name="T10" fmla="*/ 0 h 155"/>
                <a:gd name="T11" fmla="*/ 693 w 693"/>
                <a:gd name="T12" fmla="*/ 155 h 155"/>
              </a:gdLst>
              <a:ahLst/>
              <a:cxnLst>
                <a:cxn ang="T6">
                  <a:pos x="T0" y="T1"/>
                </a:cxn>
                <a:cxn ang="T7">
                  <a:pos x="T2" y="T3"/>
                </a:cxn>
                <a:cxn ang="T8">
                  <a:pos x="T4" y="T5"/>
                </a:cxn>
              </a:cxnLst>
              <a:rect l="T9" t="T10" r="T11" b="T12"/>
              <a:pathLst>
                <a:path w="693" h="155">
                  <a:moveTo>
                    <a:pt x="0" y="0"/>
                  </a:moveTo>
                  <a:lnTo>
                    <a:pt x="0" y="155"/>
                  </a:lnTo>
                  <a:lnTo>
                    <a:pt x="693" y="155"/>
                  </a:lnTo>
                </a:path>
              </a:pathLst>
            </a:custGeom>
            <a:noFill/>
            <a:ln w="28575" cap="flat" cmpd="sng">
              <a:solidFill>
                <a:srgbClr val="FF0000"/>
              </a:solidFill>
              <a:prstDash val="solid"/>
              <a:round/>
              <a:headEnd type="triangle" w="sm"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89" name="Freeform 54"/>
            <p:cNvSpPr>
              <a:spLocks/>
            </p:cNvSpPr>
            <p:nvPr/>
          </p:nvSpPr>
          <p:spPr bwMode="auto">
            <a:xfrm>
              <a:off x="2018" y="3577"/>
              <a:ext cx="455" cy="137"/>
            </a:xfrm>
            <a:custGeom>
              <a:avLst/>
              <a:gdLst>
                <a:gd name="T0" fmla="*/ 0 w 693"/>
                <a:gd name="T1" fmla="*/ 0 h 155"/>
                <a:gd name="T2" fmla="*/ 0 w 693"/>
                <a:gd name="T3" fmla="*/ 19 h 155"/>
                <a:gd name="T4" fmla="*/ 1 w 693"/>
                <a:gd name="T5" fmla="*/ 19 h 155"/>
                <a:gd name="T6" fmla="*/ 0 60000 65536"/>
                <a:gd name="T7" fmla="*/ 0 60000 65536"/>
                <a:gd name="T8" fmla="*/ 0 60000 65536"/>
                <a:gd name="T9" fmla="*/ 0 w 693"/>
                <a:gd name="T10" fmla="*/ 0 h 155"/>
                <a:gd name="T11" fmla="*/ 693 w 693"/>
                <a:gd name="T12" fmla="*/ 155 h 155"/>
              </a:gdLst>
              <a:ahLst/>
              <a:cxnLst>
                <a:cxn ang="T6">
                  <a:pos x="T0" y="T1"/>
                </a:cxn>
                <a:cxn ang="T7">
                  <a:pos x="T2" y="T3"/>
                </a:cxn>
                <a:cxn ang="T8">
                  <a:pos x="T4" y="T5"/>
                </a:cxn>
              </a:cxnLst>
              <a:rect l="T9" t="T10" r="T11" b="T12"/>
              <a:pathLst>
                <a:path w="693" h="155">
                  <a:moveTo>
                    <a:pt x="0" y="0"/>
                  </a:moveTo>
                  <a:lnTo>
                    <a:pt x="0" y="155"/>
                  </a:lnTo>
                  <a:lnTo>
                    <a:pt x="693" y="155"/>
                  </a:lnTo>
                </a:path>
              </a:pathLst>
            </a:custGeom>
            <a:noFill/>
            <a:ln w="28575" cap="flat" cmpd="sng">
              <a:solidFill>
                <a:srgbClr val="FF0000"/>
              </a:solidFill>
              <a:prstDash val="solid"/>
              <a:round/>
              <a:headEnd type="triangle" w="sm"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0" name="Freeform 55"/>
            <p:cNvSpPr>
              <a:spLocks/>
            </p:cNvSpPr>
            <p:nvPr/>
          </p:nvSpPr>
          <p:spPr bwMode="auto">
            <a:xfrm>
              <a:off x="2046" y="3196"/>
              <a:ext cx="454" cy="137"/>
            </a:xfrm>
            <a:custGeom>
              <a:avLst/>
              <a:gdLst>
                <a:gd name="T0" fmla="*/ 0 w 693"/>
                <a:gd name="T1" fmla="*/ 0 h 155"/>
                <a:gd name="T2" fmla="*/ 0 w 693"/>
                <a:gd name="T3" fmla="*/ 19 h 155"/>
                <a:gd name="T4" fmla="*/ 1 w 693"/>
                <a:gd name="T5" fmla="*/ 19 h 155"/>
                <a:gd name="T6" fmla="*/ 0 60000 65536"/>
                <a:gd name="T7" fmla="*/ 0 60000 65536"/>
                <a:gd name="T8" fmla="*/ 0 60000 65536"/>
                <a:gd name="T9" fmla="*/ 0 w 693"/>
                <a:gd name="T10" fmla="*/ 0 h 155"/>
                <a:gd name="T11" fmla="*/ 693 w 693"/>
                <a:gd name="T12" fmla="*/ 155 h 155"/>
              </a:gdLst>
              <a:ahLst/>
              <a:cxnLst>
                <a:cxn ang="T6">
                  <a:pos x="T0" y="T1"/>
                </a:cxn>
                <a:cxn ang="T7">
                  <a:pos x="T2" y="T3"/>
                </a:cxn>
                <a:cxn ang="T8">
                  <a:pos x="T4" y="T5"/>
                </a:cxn>
              </a:cxnLst>
              <a:rect l="T9" t="T10" r="T11" b="T12"/>
              <a:pathLst>
                <a:path w="693" h="155">
                  <a:moveTo>
                    <a:pt x="0" y="0"/>
                  </a:moveTo>
                  <a:lnTo>
                    <a:pt x="0" y="155"/>
                  </a:lnTo>
                  <a:lnTo>
                    <a:pt x="693" y="155"/>
                  </a:lnTo>
                </a:path>
              </a:pathLst>
            </a:custGeom>
            <a:noFill/>
            <a:ln w="28575" cap="flat" cmpd="sng">
              <a:solidFill>
                <a:srgbClr val="FF00FF"/>
              </a:solidFill>
              <a:prstDash val="solid"/>
              <a:round/>
              <a:headEnd type="triangle" w="sm"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1" name="Freeform 56"/>
            <p:cNvSpPr>
              <a:spLocks/>
            </p:cNvSpPr>
            <p:nvPr/>
          </p:nvSpPr>
          <p:spPr bwMode="auto">
            <a:xfrm flipH="1">
              <a:off x="3107" y="2785"/>
              <a:ext cx="454" cy="107"/>
            </a:xfrm>
            <a:custGeom>
              <a:avLst/>
              <a:gdLst>
                <a:gd name="T0" fmla="*/ 0 w 693"/>
                <a:gd name="T1" fmla="*/ 0 h 155"/>
                <a:gd name="T2" fmla="*/ 0 w 693"/>
                <a:gd name="T3" fmla="*/ 1 h 155"/>
                <a:gd name="T4" fmla="*/ 1 w 693"/>
                <a:gd name="T5" fmla="*/ 1 h 155"/>
                <a:gd name="T6" fmla="*/ 0 60000 65536"/>
                <a:gd name="T7" fmla="*/ 0 60000 65536"/>
                <a:gd name="T8" fmla="*/ 0 60000 65536"/>
                <a:gd name="T9" fmla="*/ 0 w 693"/>
                <a:gd name="T10" fmla="*/ 0 h 155"/>
                <a:gd name="T11" fmla="*/ 693 w 693"/>
                <a:gd name="T12" fmla="*/ 155 h 155"/>
              </a:gdLst>
              <a:ahLst/>
              <a:cxnLst>
                <a:cxn ang="T6">
                  <a:pos x="T0" y="T1"/>
                </a:cxn>
                <a:cxn ang="T7">
                  <a:pos x="T2" y="T3"/>
                </a:cxn>
                <a:cxn ang="T8">
                  <a:pos x="T4" y="T5"/>
                </a:cxn>
              </a:cxnLst>
              <a:rect l="T9" t="T10" r="T11" b="T12"/>
              <a:pathLst>
                <a:path w="693" h="155">
                  <a:moveTo>
                    <a:pt x="0" y="0"/>
                  </a:moveTo>
                  <a:lnTo>
                    <a:pt x="0" y="155"/>
                  </a:lnTo>
                  <a:lnTo>
                    <a:pt x="693" y="155"/>
                  </a:lnTo>
                </a:path>
              </a:pathLst>
            </a:custGeom>
            <a:noFill/>
            <a:ln w="28575" cap="flat" cmpd="sng">
              <a:solidFill>
                <a:srgbClr val="FF0000"/>
              </a:solidFill>
              <a:prstDash val="solid"/>
              <a:round/>
              <a:headEnd type="triangle" w="sm"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2" name="Freeform 57"/>
            <p:cNvSpPr>
              <a:spLocks/>
            </p:cNvSpPr>
            <p:nvPr/>
          </p:nvSpPr>
          <p:spPr bwMode="auto">
            <a:xfrm flipH="1">
              <a:off x="1398" y="2724"/>
              <a:ext cx="455" cy="107"/>
            </a:xfrm>
            <a:custGeom>
              <a:avLst/>
              <a:gdLst>
                <a:gd name="T0" fmla="*/ 0 w 693"/>
                <a:gd name="T1" fmla="*/ 0 h 155"/>
                <a:gd name="T2" fmla="*/ 0 w 693"/>
                <a:gd name="T3" fmla="*/ 1 h 155"/>
                <a:gd name="T4" fmla="*/ 1 w 693"/>
                <a:gd name="T5" fmla="*/ 1 h 155"/>
                <a:gd name="T6" fmla="*/ 0 60000 65536"/>
                <a:gd name="T7" fmla="*/ 0 60000 65536"/>
                <a:gd name="T8" fmla="*/ 0 60000 65536"/>
                <a:gd name="T9" fmla="*/ 0 w 693"/>
                <a:gd name="T10" fmla="*/ 0 h 155"/>
                <a:gd name="T11" fmla="*/ 693 w 693"/>
                <a:gd name="T12" fmla="*/ 155 h 155"/>
              </a:gdLst>
              <a:ahLst/>
              <a:cxnLst>
                <a:cxn ang="T6">
                  <a:pos x="T0" y="T1"/>
                </a:cxn>
                <a:cxn ang="T7">
                  <a:pos x="T2" y="T3"/>
                </a:cxn>
                <a:cxn ang="T8">
                  <a:pos x="T4" y="T5"/>
                </a:cxn>
              </a:cxnLst>
              <a:rect l="T9" t="T10" r="T11" b="T12"/>
              <a:pathLst>
                <a:path w="693" h="155">
                  <a:moveTo>
                    <a:pt x="0" y="0"/>
                  </a:moveTo>
                  <a:lnTo>
                    <a:pt x="0" y="155"/>
                  </a:lnTo>
                  <a:lnTo>
                    <a:pt x="693" y="155"/>
                  </a:lnTo>
                </a:path>
              </a:pathLst>
            </a:custGeom>
            <a:noFill/>
            <a:ln w="28575" cap="flat" cmpd="sng">
              <a:solidFill>
                <a:srgbClr val="FF0000"/>
              </a:solidFill>
              <a:prstDash val="solid"/>
              <a:round/>
              <a:headEnd type="triangle" w="sm"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3" name="Text Box 58"/>
            <p:cNvSpPr txBox="1">
              <a:spLocks noChangeArrowheads="1"/>
            </p:cNvSpPr>
            <p:nvPr/>
          </p:nvSpPr>
          <p:spPr bwMode="auto">
            <a:xfrm>
              <a:off x="3700" y="2055"/>
              <a:ext cx="75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00"/>
                  </a:solidFill>
                  <a:latin typeface="黑体" pitchFamily="2" charset="-122"/>
                  <a:ea typeface="黑体" pitchFamily="2" charset="-122"/>
                </a:rPr>
                <a:t>1→F</a:t>
              </a:r>
            </a:p>
          </p:txBody>
        </p:sp>
        <p:sp>
          <p:nvSpPr>
            <p:cNvPr id="49194" name="Text Box 59"/>
            <p:cNvSpPr txBox="1">
              <a:spLocks noChangeArrowheads="1"/>
            </p:cNvSpPr>
            <p:nvPr/>
          </p:nvSpPr>
          <p:spPr bwMode="auto">
            <a:xfrm>
              <a:off x="4071" y="2740"/>
              <a:ext cx="634"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00"/>
                  </a:solidFill>
                  <a:latin typeface="黑体" pitchFamily="2" charset="-122"/>
                  <a:ea typeface="黑体" pitchFamily="2" charset="-122"/>
                </a:rPr>
                <a:t>Y→F</a:t>
              </a:r>
            </a:p>
          </p:txBody>
        </p:sp>
        <p:grpSp>
          <p:nvGrpSpPr>
            <p:cNvPr id="49195" name="Group 60"/>
            <p:cNvGrpSpPr>
              <a:grpSpLocks/>
            </p:cNvGrpSpPr>
            <p:nvPr/>
          </p:nvGrpSpPr>
          <p:grpSpPr bwMode="auto">
            <a:xfrm>
              <a:off x="2790" y="2740"/>
              <a:ext cx="633" cy="167"/>
              <a:chOff x="5557" y="9814"/>
              <a:chExt cx="966" cy="341"/>
            </a:xfrm>
          </p:grpSpPr>
          <p:sp>
            <p:nvSpPr>
              <p:cNvPr id="49201" name="Text Box 61"/>
              <p:cNvSpPr txBox="1">
                <a:spLocks noChangeArrowheads="1"/>
              </p:cNvSpPr>
              <p:nvPr/>
            </p:nvSpPr>
            <p:spPr bwMode="auto">
              <a:xfrm>
                <a:off x="5557" y="9814"/>
                <a:ext cx="966"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00"/>
                    </a:solidFill>
                    <a:latin typeface="黑体" pitchFamily="2" charset="-122"/>
                    <a:ea typeface="黑体" pitchFamily="2" charset="-122"/>
                  </a:rPr>
                  <a:t>Y→F</a:t>
                </a:r>
              </a:p>
            </p:txBody>
          </p:sp>
          <p:sp>
            <p:nvSpPr>
              <p:cNvPr id="49202" name="Line 62"/>
              <p:cNvSpPr>
                <a:spLocks noChangeShapeType="1"/>
              </p:cNvSpPr>
              <p:nvPr/>
            </p:nvSpPr>
            <p:spPr bwMode="auto">
              <a:xfrm>
                <a:off x="5767" y="981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196" name="Text Box 63"/>
            <p:cNvSpPr txBox="1">
              <a:spLocks noChangeArrowheads="1"/>
            </p:cNvSpPr>
            <p:nvPr/>
          </p:nvSpPr>
          <p:spPr bwMode="auto">
            <a:xfrm>
              <a:off x="1151" y="2679"/>
              <a:ext cx="6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00"/>
                  </a:solidFill>
                  <a:latin typeface="黑体" pitchFamily="2" charset="-122"/>
                  <a:ea typeface="黑体" pitchFamily="2" charset="-122"/>
                </a:rPr>
                <a:t>X→F</a:t>
              </a:r>
            </a:p>
          </p:txBody>
        </p:sp>
        <p:sp>
          <p:nvSpPr>
            <p:cNvPr id="49197" name="Text Box 64"/>
            <p:cNvSpPr txBox="1">
              <a:spLocks noChangeArrowheads="1"/>
            </p:cNvSpPr>
            <p:nvPr/>
          </p:nvSpPr>
          <p:spPr bwMode="auto">
            <a:xfrm>
              <a:off x="2170" y="3531"/>
              <a:ext cx="634"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00"/>
                  </a:solidFill>
                  <a:latin typeface="黑体" pitchFamily="2" charset="-122"/>
                  <a:ea typeface="黑体" pitchFamily="2" charset="-122"/>
                </a:rPr>
                <a:t>F→X</a:t>
              </a:r>
            </a:p>
          </p:txBody>
        </p:sp>
        <p:sp>
          <p:nvSpPr>
            <p:cNvPr id="49198" name="Text Box 65"/>
            <p:cNvSpPr txBox="1">
              <a:spLocks noChangeArrowheads="1"/>
            </p:cNvSpPr>
            <p:nvPr/>
          </p:nvSpPr>
          <p:spPr bwMode="auto">
            <a:xfrm>
              <a:off x="2446" y="3258"/>
              <a:ext cx="633"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solidFill>
                    <a:srgbClr val="FF00FF"/>
                  </a:solidFill>
                  <a:latin typeface="黑体" pitchFamily="2" charset="-122"/>
                  <a:ea typeface="黑体" pitchFamily="2" charset="-122"/>
                </a:rPr>
                <a:t>CPx</a:t>
              </a:r>
            </a:p>
          </p:txBody>
        </p:sp>
        <p:sp>
          <p:nvSpPr>
            <p:cNvPr id="49199" name="Text Box 66"/>
            <p:cNvSpPr txBox="1">
              <a:spLocks noChangeArrowheads="1"/>
            </p:cNvSpPr>
            <p:nvPr/>
          </p:nvSpPr>
          <p:spPr bwMode="auto">
            <a:xfrm>
              <a:off x="2087" y="2527"/>
              <a:ext cx="41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A</a:t>
              </a:r>
            </a:p>
          </p:txBody>
        </p:sp>
        <p:sp>
          <p:nvSpPr>
            <p:cNvPr id="49200" name="Text Box 67"/>
            <p:cNvSpPr txBox="1">
              <a:spLocks noChangeArrowheads="1"/>
            </p:cNvSpPr>
            <p:nvPr/>
          </p:nvSpPr>
          <p:spPr bwMode="auto">
            <a:xfrm>
              <a:off x="4099" y="2527"/>
              <a:ext cx="41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lang="en-US" altLang="zh-CN" sz="1800" dirty="0">
                  <a:latin typeface="黑体" pitchFamily="2" charset="-122"/>
                  <a:ea typeface="黑体" pitchFamily="2" charset="-122"/>
                </a:rPr>
                <a:t>B</a:t>
              </a:r>
            </a:p>
          </p:txBody>
        </p:sp>
      </p:grpSp>
      <p:grpSp>
        <p:nvGrpSpPr>
          <p:cNvPr id="49156" name="Group 93"/>
          <p:cNvGrpSpPr>
            <a:grpSpLocks/>
          </p:cNvGrpSpPr>
          <p:nvPr/>
        </p:nvGrpSpPr>
        <p:grpSpPr bwMode="auto">
          <a:xfrm>
            <a:off x="1368425" y="4437063"/>
            <a:ext cx="5005388" cy="1555754"/>
            <a:chOff x="2631" y="595"/>
            <a:chExt cx="2586" cy="980"/>
          </a:xfrm>
        </p:grpSpPr>
        <p:grpSp>
          <p:nvGrpSpPr>
            <p:cNvPr id="49157" name="Group 71"/>
            <p:cNvGrpSpPr>
              <a:grpSpLocks/>
            </p:cNvGrpSpPr>
            <p:nvPr/>
          </p:nvGrpSpPr>
          <p:grpSpPr bwMode="auto">
            <a:xfrm>
              <a:off x="4324" y="595"/>
              <a:ext cx="726" cy="879"/>
              <a:chOff x="3015" y="6435"/>
              <a:chExt cx="585" cy="1065"/>
            </a:xfrm>
          </p:grpSpPr>
          <p:sp>
            <p:nvSpPr>
              <p:cNvPr id="49171" name="Line 72"/>
              <p:cNvSpPr>
                <a:spLocks noChangeShapeType="1"/>
              </p:cNvSpPr>
              <p:nvPr/>
            </p:nvSpPr>
            <p:spPr bwMode="auto">
              <a:xfrm>
                <a:off x="3015" y="6435"/>
                <a:ext cx="0" cy="1065"/>
              </a:xfrm>
              <a:prstGeom prst="line">
                <a:avLst/>
              </a:prstGeom>
              <a:noFill/>
              <a:ln w="38100"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2" name="Line 73"/>
              <p:cNvSpPr>
                <a:spLocks noChangeShapeType="1"/>
              </p:cNvSpPr>
              <p:nvPr/>
            </p:nvSpPr>
            <p:spPr bwMode="auto">
              <a:xfrm>
                <a:off x="3600" y="6435"/>
                <a:ext cx="0" cy="1065"/>
              </a:xfrm>
              <a:prstGeom prst="line">
                <a:avLst/>
              </a:prstGeom>
              <a:noFill/>
              <a:ln w="38100"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158" name="Freeform 74"/>
            <p:cNvSpPr>
              <a:spLocks/>
            </p:cNvSpPr>
            <p:nvPr/>
          </p:nvSpPr>
          <p:spPr bwMode="auto">
            <a:xfrm>
              <a:off x="4119" y="654"/>
              <a:ext cx="1098" cy="127"/>
            </a:xfrm>
            <a:custGeom>
              <a:avLst/>
              <a:gdLst>
                <a:gd name="T0" fmla="*/ 0 w 885"/>
                <a:gd name="T1" fmla="*/ 1 h 240"/>
                <a:gd name="T2" fmla="*/ 2093 w 885"/>
                <a:gd name="T3" fmla="*/ 1 h 240"/>
                <a:gd name="T4" fmla="*/ 2093 w 885"/>
                <a:gd name="T5" fmla="*/ 0 h 240"/>
                <a:gd name="T6" fmla="*/ 9453 w 885"/>
                <a:gd name="T7" fmla="*/ 0 h 240"/>
                <a:gd name="T8" fmla="*/ 9453 w 885"/>
                <a:gd name="T9" fmla="*/ 1 h 240"/>
                <a:gd name="T10" fmla="*/ 11166 w 885"/>
                <a:gd name="T11" fmla="*/ 1 h 240"/>
                <a:gd name="T12" fmla="*/ 0 60000 65536"/>
                <a:gd name="T13" fmla="*/ 0 60000 65536"/>
                <a:gd name="T14" fmla="*/ 0 60000 65536"/>
                <a:gd name="T15" fmla="*/ 0 60000 65536"/>
                <a:gd name="T16" fmla="*/ 0 60000 65536"/>
                <a:gd name="T17" fmla="*/ 0 60000 65536"/>
                <a:gd name="T18" fmla="*/ 0 w 885"/>
                <a:gd name="T19" fmla="*/ 0 h 240"/>
                <a:gd name="T20" fmla="*/ 885 w 885"/>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885" h="240">
                  <a:moveTo>
                    <a:pt x="0" y="240"/>
                  </a:moveTo>
                  <a:lnTo>
                    <a:pt x="165" y="240"/>
                  </a:lnTo>
                  <a:lnTo>
                    <a:pt x="165" y="0"/>
                  </a:lnTo>
                  <a:lnTo>
                    <a:pt x="750" y="0"/>
                  </a:lnTo>
                  <a:lnTo>
                    <a:pt x="750" y="240"/>
                  </a:lnTo>
                  <a:lnTo>
                    <a:pt x="885" y="240"/>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59" name="Freeform 75"/>
            <p:cNvSpPr>
              <a:spLocks/>
            </p:cNvSpPr>
            <p:nvPr/>
          </p:nvSpPr>
          <p:spPr bwMode="auto">
            <a:xfrm>
              <a:off x="4119" y="890"/>
              <a:ext cx="1098" cy="129"/>
            </a:xfrm>
            <a:custGeom>
              <a:avLst/>
              <a:gdLst>
                <a:gd name="T0" fmla="*/ 0 w 885"/>
                <a:gd name="T1" fmla="*/ 1 h 240"/>
                <a:gd name="T2" fmla="*/ 2093 w 885"/>
                <a:gd name="T3" fmla="*/ 1 h 240"/>
                <a:gd name="T4" fmla="*/ 2093 w 885"/>
                <a:gd name="T5" fmla="*/ 0 h 240"/>
                <a:gd name="T6" fmla="*/ 9453 w 885"/>
                <a:gd name="T7" fmla="*/ 0 h 240"/>
                <a:gd name="T8" fmla="*/ 9453 w 885"/>
                <a:gd name="T9" fmla="*/ 1 h 240"/>
                <a:gd name="T10" fmla="*/ 11166 w 885"/>
                <a:gd name="T11" fmla="*/ 1 h 240"/>
                <a:gd name="T12" fmla="*/ 0 60000 65536"/>
                <a:gd name="T13" fmla="*/ 0 60000 65536"/>
                <a:gd name="T14" fmla="*/ 0 60000 65536"/>
                <a:gd name="T15" fmla="*/ 0 60000 65536"/>
                <a:gd name="T16" fmla="*/ 0 60000 65536"/>
                <a:gd name="T17" fmla="*/ 0 60000 65536"/>
                <a:gd name="T18" fmla="*/ 0 w 885"/>
                <a:gd name="T19" fmla="*/ 0 h 240"/>
                <a:gd name="T20" fmla="*/ 885 w 885"/>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885" h="240">
                  <a:moveTo>
                    <a:pt x="0" y="240"/>
                  </a:moveTo>
                  <a:lnTo>
                    <a:pt x="165" y="240"/>
                  </a:lnTo>
                  <a:lnTo>
                    <a:pt x="165" y="0"/>
                  </a:lnTo>
                  <a:lnTo>
                    <a:pt x="750" y="0"/>
                  </a:lnTo>
                  <a:lnTo>
                    <a:pt x="750" y="240"/>
                  </a:lnTo>
                  <a:lnTo>
                    <a:pt x="885" y="240"/>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60" name="Freeform 76"/>
            <p:cNvSpPr>
              <a:spLocks/>
            </p:cNvSpPr>
            <p:nvPr/>
          </p:nvSpPr>
          <p:spPr bwMode="auto">
            <a:xfrm>
              <a:off x="4119" y="1335"/>
              <a:ext cx="1098" cy="127"/>
            </a:xfrm>
            <a:custGeom>
              <a:avLst/>
              <a:gdLst>
                <a:gd name="T0" fmla="*/ 0 w 885"/>
                <a:gd name="T1" fmla="*/ 1 h 195"/>
                <a:gd name="T2" fmla="*/ 6648 w 885"/>
                <a:gd name="T3" fmla="*/ 1 h 195"/>
                <a:gd name="T4" fmla="*/ 6648 w 885"/>
                <a:gd name="T5" fmla="*/ 0 h 195"/>
                <a:gd name="T6" fmla="*/ 9453 w 885"/>
                <a:gd name="T7" fmla="*/ 0 h 195"/>
                <a:gd name="T8" fmla="*/ 9453 w 885"/>
                <a:gd name="T9" fmla="*/ 1 h 195"/>
                <a:gd name="T10" fmla="*/ 11166 w 885"/>
                <a:gd name="T11" fmla="*/ 1 h 195"/>
                <a:gd name="T12" fmla="*/ 0 60000 65536"/>
                <a:gd name="T13" fmla="*/ 0 60000 65536"/>
                <a:gd name="T14" fmla="*/ 0 60000 65536"/>
                <a:gd name="T15" fmla="*/ 0 60000 65536"/>
                <a:gd name="T16" fmla="*/ 0 60000 65536"/>
                <a:gd name="T17" fmla="*/ 0 60000 65536"/>
                <a:gd name="T18" fmla="*/ 0 w 885"/>
                <a:gd name="T19" fmla="*/ 0 h 195"/>
                <a:gd name="T20" fmla="*/ 885 w 885"/>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885" h="195">
                  <a:moveTo>
                    <a:pt x="0" y="195"/>
                  </a:moveTo>
                  <a:lnTo>
                    <a:pt x="528" y="195"/>
                  </a:lnTo>
                  <a:lnTo>
                    <a:pt x="528" y="0"/>
                  </a:lnTo>
                  <a:lnTo>
                    <a:pt x="750" y="0"/>
                  </a:lnTo>
                  <a:lnTo>
                    <a:pt x="750" y="195"/>
                  </a:lnTo>
                  <a:lnTo>
                    <a:pt x="885" y="195"/>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61" name="Line 82"/>
            <p:cNvSpPr>
              <a:spLocks noChangeShapeType="1"/>
            </p:cNvSpPr>
            <p:nvPr/>
          </p:nvSpPr>
          <p:spPr bwMode="auto">
            <a:xfrm>
              <a:off x="4783" y="1332"/>
              <a:ext cx="0" cy="131"/>
            </a:xfrm>
            <a:prstGeom prst="line">
              <a:avLst/>
            </a:prstGeom>
            <a:noFill/>
            <a:ln w="38100">
              <a:solidFill>
                <a:srgbClr val="FF00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162" name="Freeform 83"/>
            <p:cNvSpPr>
              <a:spLocks/>
            </p:cNvSpPr>
            <p:nvPr/>
          </p:nvSpPr>
          <p:spPr bwMode="auto">
            <a:xfrm>
              <a:off x="4119" y="1124"/>
              <a:ext cx="1098" cy="127"/>
            </a:xfrm>
            <a:custGeom>
              <a:avLst/>
              <a:gdLst>
                <a:gd name="T0" fmla="*/ 0 w 885"/>
                <a:gd name="T1" fmla="*/ 1 h 240"/>
                <a:gd name="T2" fmla="*/ 2093 w 885"/>
                <a:gd name="T3" fmla="*/ 1 h 240"/>
                <a:gd name="T4" fmla="*/ 2093 w 885"/>
                <a:gd name="T5" fmla="*/ 0 h 240"/>
                <a:gd name="T6" fmla="*/ 9453 w 885"/>
                <a:gd name="T7" fmla="*/ 0 h 240"/>
                <a:gd name="T8" fmla="*/ 9453 w 885"/>
                <a:gd name="T9" fmla="*/ 1 h 240"/>
                <a:gd name="T10" fmla="*/ 11166 w 885"/>
                <a:gd name="T11" fmla="*/ 1 h 240"/>
                <a:gd name="T12" fmla="*/ 0 60000 65536"/>
                <a:gd name="T13" fmla="*/ 0 60000 65536"/>
                <a:gd name="T14" fmla="*/ 0 60000 65536"/>
                <a:gd name="T15" fmla="*/ 0 60000 65536"/>
                <a:gd name="T16" fmla="*/ 0 60000 65536"/>
                <a:gd name="T17" fmla="*/ 0 60000 65536"/>
                <a:gd name="T18" fmla="*/ 0 w 885"/>
                <a:gd name="T19" fmla="*/ 0 h 240"/>
                <a:gd name="T20" fmla="*/ 885 w 885"/>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885" h="240">
                  <a:moveTo>
                    <a:pt x="0" y="240"/>
                  </a:moveTo>
                  <a:lnTo>
                    <a:pt x="165" y="240"/>
                  </a:lnTo>
                  <a:lnTo>
                    <a:pt x="165" y="0"/>
                  </a:lnTo>
                  <a:lnTo>
                    <a:pt x="750" y="0"/>
                  </a:lnTo>
                  <a:lnTo>
                    <a:pt x="750" y="240"/>
                  </a:lnTo>
                  <a:lnTo>
                    <a:pt x="885" y="240"/>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63" name="Text Box 77"/>
            <p:cNvSpPr txBox="1">
              <a:spLocks noChangeArrowheads="1"/>
            </p:cNvSpPr>
            <p:nvPr/>
          </p:nvSpPr>
          <p:spPr bwMode="auto">
            <a:xfrm>
              <a:off x="3676" y="607"/>
              <a:ext cx="389"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a:lnSpc>
                  <a:spcPct val="100000"/>
                </a:lnSpc>
                <a:spcBef>
                  <a:spcPct val="0"/>
                </a:spcBef>
              </a:pPr>
              <a:r>
                <a:rPr lang="en-US" altLang="zh-CN" dirty="0">
                  <a:solidFill>
                    <a:srgbClr val="FF0000"/>
                  </a:solidFill>
                  <a:latin typeface="黑体" pitchFamily="2" charset="-122"/>
                  <a:ea typeface="黑体" pitchFamily="2" charset="-122"/>
                </a:rPr>
                <a:t>X</a:t>
              </a:r>
              <a:r>
                <a:rPr lang="en-US" altLang="zh-CN" dirty="0">
                  <a:solidFill>
                    <a:srgbClr val="FF0000"/>
                  </a:solidFill>
                  <a:latin typeface="黑体" pitchFamily="2" charset="-122"/>
                  <a:ea typeface="黑体" pitchFamily="2" charset="-122"/>
                  <a:sym typeface="Symbol" pitchFamily="18" charset="2"/>
                </a:rPr>
                <a:t></a:t>
              </a:r>
              <a:r>
                <a:rPr lang="en-US" altLang="zh-CN" dirty="0">
                  <a:solidFill>
                    <a:srgbClr val="FF0000"/>
                  </a:solidFill>
                  <a:latin typeface="黑体" pitchFamily="2" charset="-122"/>
                  <a:ea typeface="黑体" pitchFamily="2" charset="-122"/>
                </a:rPr>
                <a:t>F</a:t>
              </a:r>
            </a:p>
          </p:txBody>
        </p:sp>
        <p:sp>
          <p:nvSpPr>
            <p:cNvPr id="49164" name="Text Box 79"/>
            <p:cNvSpPr txBox="1">
              <a:spLocks noChangeArrowheads="1"/>
            </p:cNvSpPr>
            <p:nvPr/>
          </p:nvSpPr>
          <p:spPr bwMode="auto">
            <a:xfrm>
              <a:off x="3704" y="1278"/>
              <a:ext cx="389"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a:lnSpc>
                  <a:spcPct val="100000"/>
                </a:lnSpc>
                <a:spcBef>
                  <a:spcPct val="0"/>
                </a:spcBef>
              </a:pPr>
              <a:r>
                <a:rPr lang="en-US" altLang="zh-CN" dirty="0">
                  <a:solidFill>
                    <a:srgbClr val="FF00FF"/>
                  </a:solidFill>
                  <a:latin typeface="黑体" pitchFamily="2" charset="-122"/>
                  <a:ea typeface="黑体" pitchFamily="2" charset="-122"/>
                </a:rPr>
                <a:t>CPx</a:t>
              </a:r>
            </a:p>
          </p:txBody>
        </p:sp>
        <p:sp>
          <p:nvSpPr>
            <p:cNvPr id="49165" name="Text Box 84"/>
            <p:cNvSpPr txBox="1">
              <a:spLocks noChangeArrowheads="1"/>
            </p:cNvSpPr>
            <p:nvPr/>
          </p:nvSpPr>
          <p:spPr bwMode="auto">
            <a:xfrm>
              <a:off x="3674" y="1066"/>
              <a:ext cx="38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a:lnSpc>
                  <a:spcPct val="100000"/>
                </a:lnSpc>
                <a:spcBef>
                  <a:spcPct val="0"/>
                </a:spcBef>
              </a:pPr>
              <a:r>
                <a:rPr lang="en-US" altLang="zh-CN" dirty="0">
                  <a:solidFill>
                    <a:srgbClr val="FF0000"/>
                  </a:solidFill>
                  <a:latin typeface="黑体" pitchFamily="2" charset="-122"/>
                  <a:ea typeface="黑体" pitchFamily="2" charset="-122"/>
                </a:rPr>
                <a:t>F</a:t>
              </a:r>
              <a:r>
                <a:rPr lang="en-US" altLang="zh-CN" dirty="0">
                  <a:solidFill>
                    <a:srgbClr val="FF0000"/>
                  </a:solidFill>
                  <a:latin typeface="黑体" pitchFamily="2" charset="-122"/>
                  <a:ea typeface="黑体" pitchFamily="2" charset="-122"/>
                  <a:sym typeface="Symbol" pitchFamily="18" charset="2"/>
                </a:rPr>
                <a:t></a:t>
              </a:r>
              <a:r>
                <a:rPr lang="en-US" altLang="zh-CN" dirty="0">
                  <a:solidFill>
                    <a:srgbClr val="FF0000"/>
                  </a:solidFill>
                  <a:latin typeface="黑体" pitchFamily="2" charset="-122"/>
                  <a:ea typeface="黑体" pitchFamily="2" charset="-122"/>
                </a:rPr>
                <a:t>X</a:t>
              </a:r>
            </a:p>
          </p:txBody>
        </p:sp>
        <p:sp>
          <p:nvSpPr>
            <p:cNvPr id="49166" name="Text Box 78"/>
            <p:cNvSpPr txBox="1">
              <a:spLocks noChangeArrowheads="1"/>
            </p:cNvSpPr>
            <p:nvPr/>
          </p:nvSpPr>
          <p:spPr bwMode="auto">
            <a:xfrm>
              <a:off x="3679" y="867"/>
              <a:ext cx="391"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a:lnSpc>
                  <a:spcPct val="100000"/>
                </a:lnSpc>
                <a:spcBef>
                  <a:spcPct val="0"/>
                </a:spcBef>
              </a:pPr>
              <a:r>
                <a:rPr lang="en-US" altLang="zh-CN" dirty="0">
                  <a:solidFill>
                    <a:srgbClr val="FF0000"/>
                  </a:solidFill>
                  <a:latin typeface="黑体" pitchFamily="2" charset="-122"/>
                  <a:ea typeface="黑体" pitchFamily="2" charset="-122"/>
                </a:rPr>
                <a:t>Y</a:t>
              </a:r>
              <a:r>
                <a:rPr lang="en-US" altLang="zh-CN" dirty="0">
                  <a:solidFill>
                    <a:srgbClr val="FF0000"/>
                  </a:solidFill>
                  <a:latin typeface="黑体" pitchFamily="2" charset="-122"/>
                  <a:ea typeface="黑体" pitchFamily="2" charset="-122"/>
                  <a:sym typeface="Symbol" pitchFamily="18" charset="2"/>
                </a:rPr>
                <a:t></a:t>
              </a:r>
              <a:r>
                <a:rPr lang="en-US" altLang="zh-CN" dirty="0">
                  <a:solidFill>
                    <a:srgbClr val="FF0000"/>
                  </a:solidFill>
                  <a:latin typeface="黑体" pitchFamily="2" charset="-122"/>
                  <a:ea typeface="黑体" pitchFamily="2" charset="-122"/>
                </a:rPr>
                <a:t>F</a:t>
              </a:r>
            </a:p>
          </p:txBody>
        </p:sp>
        <p:sp>
          <p:nvSpPr>
            <p:cNvPr id="49167" name="AutoShape 88"/>
            <p:cNvSpPr>
              <a:spLocks/>
            </p:cNvSpPr>
            <p:nvPr/>
          </p:nvSpPr>
          <p:spPr bwMode="auto">
            <a:xfrm>
              <a:off x="3440" y="718"/>
              <a:ext cx="116" cy="533"/>
            </a:xfrm>
            <a:prstGeom prst="leftBrace">
              <a:avLst>
                <a:gd name="adj1" fmla="val 31930"/>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49168" name="Text Box 89"/>
            <p:cNvSpPr txBox="1">
              <a:spLocks noChangeArrowheads="1"/>
            </p:cNvSpPr>
            <p:nvPr/>
          </p:nvSpPr>
          <p:spPr bwMode="auto">
            <a:xfrm>
              <a:off x="2631" y="754"/>
              <a:ext cx="70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solidFill>
                    <a:srgbClr val="FF0000"/>
                  </a:solidFill>
                  <a:latin typeface="Times New Roman" pitchFamily="18" charset="0"/>
                  <a:ea typeface="黑体" pitchFamily="2" charset="-122"/>
                </a:rPr>
                <a:t>节拍</a:t>
              </a:r>
            </a:p>
          </p:txBody>
        </p:sp>
        <p:sp>
          <p:nvSpPr>
            <p:cNvPr id="49169" name="Text Box 90"/>
            <p:cNvSpPr txBox="1">
              <a:spLocks noChangeArrowheads="1"/>
            </p:cNvSpPr>
            <p:nvPr/>
          </p:nvSpPr>
          <p:spPr bwMode="auto">
            <a:xfrm>
              <a:off x="2653" y="1247"/>
              <a:ext cx="95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dirty="0">
                  <a:solidFill>
                    <a:srgbClr val="FF00FF"/>
                  </a:solidFill>
                  <a:latin typeface="Times New Roman" pitchFamily="18" charset="0"/>
                  <a:ea typeface="黑体" pitchFamily="2" charset="-122"/>
                </a:rPr>
                <a:t>节拍脉冲</a:t>
              </a:r>
            </a:p>
          </p:txBody>
        </p:sp>
        <p:sp>
          <p:nvSpPr>
            <p:cNvPr id="49170" name="Line 91"/>
            <p:cNvSpPr>
              <a:spLocks noChangeShapeType="1"/>
            </p:cNvSpPr>
            <p:nvPr/>
          </p:nvSpPr>
          <p:spPr bwMode="auto">
            <a:xfrm>
              <a:off x="4332" y="663"/>
              <a:ext cx="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endParaRPr lang="zh-CN" altLang="en-US"/>
            </a:p>
          </p:txBody>
        </p:sp>
      </p:grpSp>
    </p:spTree>
  </p:cSld>
  <p:clrMapOvr>
    <a:masterClrMapping/>
  </p:clrMapOvr>
  <p:transition>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630238" y="511175"/>
            <a:ext cx="65341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6.3.3 </a:t>
            </a:r>
            <a:r>
              <a:rPr lang="zh-CN" altLang="en-US" dirty="0">
                <a:solidFill>
                  <a:srgbClr val="990000"/>
                </a:solidFill>
                <a:latin typeface="黑体" pitchFamily="2" charset="-122"/>
                <a:ea typeface="黑体" pitchFamily="2" charset="-122"/>
              </a:rPr>
              <a:t>同步控制方式下的多级时序系统</a:t>
            </a:r>
          </a:p>
        </p:txBody>
      </p:sp>
      <p:sp>
        <p:nvSpPr>
          <p:cNvPr id="50179" name="Text Box 3"/>
          <p:cNvSpPr txBox="1">
            <a:spLocks noChangeArrowheads="1"/>
          </p:cNvSpPr>
          <p:nvPr/>
        </p:nvSpPr>
        <p:spPr bwMode="auto">
          <a:xfrm>
            <a:off x="827088" y="1052513"/>
            <a:ext cx="41402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2. </a:t>
            </a:r>
            <a:r>
              <a:rPr lang="zh-CN" altLang="en-US">
                <a:solidFill>
                  <a:srgbClr val="990000"/>
                </a:solidFill>
                <a:latin typeface="黑体" pitchFamily="2" charset="-122"/>
                <a:ea typeface="黑体" pitchFamily="2" charset="-122"/>
              </a:rPr>
              <a:t>多级时序划分举例</a:t>
            </a:r>
          </a:p>
        </p:txBody>
      </p:sp>
      <p:sp>
        <p:nvSpPr>
          <p:cNvPr id="50180" name="Text Box 5"/>
          <p:cNvSpPr txBox="1">
            <a:spLocks noChangeArrowheads="1"/>
          </p:cNvSpPr>
          <p:nvPr/>
        </p:nvSpPr>
        <p:spPr bwMode="auto">
          <a:xfrm>
            <a:off x="1008063" y="1641475"/>
            <a:ext cx="66960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a:t>
            </a:r>
            <a:r>
              <a:rPr lang="en-US" altLang="zh-CN" dirty="0">
                <a:latin typeface="黑体" pitchFamily="2" charset="-122"/>
                <a:ea typeface="黑体" pitchFamily="2" charset="-122"/>
              </a:rPr>
              <a:t>2</a:t>
            </a:r>
            <a:r>
              <a:rPr lang="zh-CN" altLang="en-US">
                <a:latin typeface="黑体" pitchFamily="2" charset="-122"/>
                <a:ea typeface="黑体" pitchFamily="2" charset="-122"/>
              </a:rPr>
              <a:t>）二级时序举例 （常用在微程序控制器中）</a:t>
            </a:r>
          </a:p>
        </p:txBody>
      </p:sp>
      <p:sp>
        <p:nvSpPr>
          <p:cNvPr id="50181" name="Text Box 7"/>
          <p:cNvSpPr txBox="1">
            <a:spLocks noChangeArrowheads="1"/>
          </p:cNvSpPr>
          <p:nvPr/>
        </p:nvSpPr>
        <p:spPr bwMode="auto">
          <a:xfrm>
            <a:off x="3671888" y="3929063"/>
            <a:ext cx="29083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u="sng">
                <a:solidFill>
                  <a:srgbClr val="FF0000"/>
                </a:solidFill>
                <a:latin typeface="黑体" pitchFamily="2" charset="-122"/>
                <a:ea typeface="黑体" pitchFamily="2" charset="-122"/>
              </a:rPr>
              <a:t>第</a:t>
            </a:r>
            <a:r>
              <a:rPr lang="en-US" altLang="zh-CN" u="sng" dirty="0">
                <a:solidFill>
                  <a:srgbClr val="FF0000"/>
                </a:solidFill>
                <a:latin typeface="黑体" pitchFamily="2" charset="-122"/>
                <a:ea typeface="黑体" pitchFamily="2" charset="-122"/>
              </a:rPr>
              <a:t>1</a:t>
            </a:r>
            <a:r>
              <a:rPr lang="zh-CN" altLang="en-US" u="sng">
                <a:solidFill>
                  <a:srgbClr val="FF0000"/>
                </a:solidFill>
                <a:latin typeface="黑体" pitchFamily="2" charset="-122"/>
                <a:ea typeface="黑体" pitchFamily="2" charset="-122"/>
              </a:rPr>
              <a:t>级</a:t>
            </a:r>
            <a:r>
              <a:rPr lang="zh-CN" altLang="en-US">
                <a:solidFill>
                  <a:srgbClr val="FF0000"/>
                </a:solidFill>
                <a:latin typeface="黑体" pitchFamily="2" charset="-122"/>
                <a:ea typeface="黑体" pitchFamily="2" charset="-122"/>
              </a:rPr>
              <a:t>    </a:t>
            </a:r>
            <a:r>
              <a:rPr lang="zh-CN" altLang="en-US" u="sng">
                <a:solidFill>
                  <a:srgbClr val="FF00FF"/>
                </a:solidFill>
                <a:latin typeface="黑体" pitchFamily="2" charset="-122"/>
                <a:ea typeface="黑体" pitchFamily="2" charset="-122"/>
              </a:rPr>
              <a:t>第</a:t>
            </a:r>
            <a:r>
              <a:rPr lang="en-US" altLang="zh-CN" u="sng" dirty="0">
                <a:solidFill>
                  <a:srgbClr val="FF00FF"/>
                </a:solidFill>
                <a:latin typeface="黑体" pitchFamily="2" charset="-122"/>
                <a:ea typeface="黑体" pitchFamily="2" charset="-122"/>
              </a:rPr>
              <a:t>2</a:t>
            </a:r>
            <a:r>
              <a:rPr lang="zh-CN" altLang="en-US" u="sng">
                <a:solidFill>
                  <a:srgbClr val="FF00FF"/>
                </a:solidFill>
                <a:latin typeface="黑体" pitchFamily="2" charset="-122"/>
                <a:ea typeface="黑体" pitchFamily="2" charset="-122"/>
              </a:rPr>
              <a:t>级</a:t>
            </a:r>
          </a:p>
        </p:txBody>
      </p:sp>
      <p:graphicFrame>
        <p:nvGraphicFramePr>
          <p:cNvPr id="235566" name="Group 46"/>
          <p:cNvGraphicFramePr>
            <a:graphicFrameLocks noGrp="1"/>
          </p:cNvGraphicFramePr>
          <p:nvPr/>
        </p:nvGraphicFramePr>
        <p:xfrm>
          <a:off x="1852613" y="2503488"/>
          <a:ext cx="4572000" cy="1189038"/>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96346">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rgbClr val="000099"/>
                          </a:solidFill>
                          <a:effectLst/>
                          <a:latin typeface="黑体" pitchFamily="2" charset="-122"/>
                          <a:ea typeface="黑体" pitchFamily="2" charset="-122"/>
                        </a:rPr>
                        <a:t>指令周期</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节拍</a:t>
                      </a:r>
                      <a:r>
                        <a:rPr kumimoji="0" lang="en-US" altLang="zh-CN" sz="2000" b="1" i="0" u="none" strike="noStrike" cap="none" normalizeH="0" baseline="0" dirty="0">
                          <a:ln>
                            <a:noFill/>
                          </a:ln>
                          <a:solidFill>
                            <a:srgbClr val="FF0000"/>
                          </a:solidFill>
                          <a:effectLst/>
                          <a:latin typeface="黑体" pitchFamily="2" charset="-122"/>
                          <a:ea typeface="黑体" pitchFamily="2" charset="-122"/>
                        </a:rPr>
                        <a:t>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黑体" pitchFamily="2" charset="-122"/>
                          <a:ea typeface="黑体" pitchFamily="2" charset="-122"/>
                        </a:rPr>
                        <a:t>  </a:t>
                      </a:r>
                      <a:r>
                        <a:rPr kumimoji="0" lang="en-US" altLang="zh-CN" sz="2000" b="1" i="0" u="none" strike="noStrike" cap="none" normalizeH="0" baseline="0" dirty="0">
                          <a:ln>
                            <a:noFill/>
                          </a:ln>
                          <a:solidFill>
                            <a:srgbClr val="FF0000"/>
                          </a:solidFill>
                          <a:effectLst/>
                          <a:latin typeface="宋体"/>
                          <a:ea typeface="黑体" pitchFamily="2" charset="-122"/>
                        </a:rPr>
                        <a:t>……</a:t>
                      </a:r>
                      <a:endParaRPr kumimoji="0" lang="en-US" altLang="zh-CN" sz="2000" b="1" i="0" u="none" strike="noStrike" cap="none" normalizeH="0" baseline="0" dirty="0">
                        <a:ln>
                          <a:noFill/>
                        </a:ln>
                        <a:solidFill>
                          <a:srgbClr val="FF0000"/>
                        </a:solidFill>
                        <a:effectLst/>
                        <a:latin typeface="黑体" pitchFamily="2" charset="-122"/>
                        <a:ea typeface="黑体"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itchFamily="2" charset="-122"/>
                          <a:ea typeface="黑体" pitchFamily="2" charset="-122"/>
                        </a:rPr>
                        <a:t> 节拍</a:t>
                      </a:r>
                      <a:r>
                        <a:rPr kumimoji="0" lang="en-US" altLang="zh-CN" sz="2000" b="1" i="0" u="none" strike="noStrike" cap="none" normalizeH="0" baseline="0" dirty="0">
                          <a:ln>
                            <a:noFill/>
                          </a:ln>
                          <a:solidFill>
                            <a:srgbClr val="FF0000"/>
                          </a:solidFill>
                          <a:effectLst/>
                          <a:latin typeface="黑体" pitchFamily="2" charset="-122"/>
                          <a:ea typeface="黑体" pitchFamily="2" charset="-122"/>
                        </a:rPr>
                        <a:t>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000099"/>
                        </a:solidFill>
                        <a:effectLst/>
                        <a:latin typeface="黑体" pitchFamily="2" charset="-122"/>
                        <a:ea typeface="黑体"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50198" name="Group 47"/>
          <p:cNvGrpSpPr>
            <a:grpSpLocks/>
          </p:cNvGrpSpPr>
          <p:nvPr/>
        </p:nvGrpSpPr>
        <p:grpSpPr bwMode="auto">
          <a:xfrm>
            <a:off x="4918075" y="2686050"/>
            <a:ext cx="1511300" cy="193675"/>
            <a:chOff x="4050" y="1752"/>
            <a:chExt cx="952" cy="122"/>
          </a:xfrm>
        </p:grpSpPr>
        <p:sp>
          <p:nvSpPr>
            <p:cNvPr id="50202" name="Text Box 40"/>
            <p:cNvSpPr txBox="1">
              <a:spLocks noChangeArrowheads="1"/>
            </p:cNvSpPr>
            <p:nvPr/>
          </p:nvSpPr>
          <p:spPr bwMode="auto">
            <a:xfrm>
              <a:off x="4050" y="1758"/>
              <a:ext cx="938" cy="116"/>
            </a:xfrm>
            <a:prstGeom prst="rect">
              <a:avLst/>
            </a:prstGeom>
            <a:solidFill>
              <a:srgbClr val="FFFF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FF"/>
                  </a:solidFill>
                  <a:latin typeface="黑体" pitchFamily="2" charset="-122"/>
                  <a:ea typeface="黑体" pitchFamily="2" charset="-122"/>
                </a:rPr>
                <a:t> </a:t>
              </a:r>
              <a:r>
                <a:rPr lang="zh-CN" altLang="en-US" sz="1600">
                  <a:solidFill>
                    <a:srgbClr val="FF00FF"/>
                  </a:solidFill>
                  <a:latin typeface="黑体" pitchFamily="2" charset="-122"/>
                  <a:ea typeface="黑体" pitchFamily="2" charset="-122"/>
                </a:rPr>
                <a:t>节拍脉冲</a:t>
              </a:r>
            </a:p>
          </p:txBody>
        </p:sp>
        <p:sp>
          <p:nvSpPr>
            <p:cNvPr id="50203" name="Line 41"/>
            <p:cNvSpPr>
              <a:spLocks noChangeShapeType="1"/>
            </p:cNvSpPr>
            <p:nvPr/>
          </p:nvSpPr>
          <p:spPr bwMode="auto">
            <a:xfrm>
              <a:off x="4050" y="1752"/>
              <a:ext cx="952"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50199" name="Group 48"/>
          <p:cNvGrpSpPr>
            <a:grpSpLocks/>
          </p:cNvGrpSpPr>
          <p:nvPr/>
        </p:nvGrpSpPr>
        <p:grpSpPr bwMode="auto">
          <a:xfrm>
            <a:off x="4918075" y="3494088"/>
            <a:ext cx="1511300" cy="193675"/>
            <a:chOff x="4050" y="1752"/>
            <a:chExt cx="952" cy="122"/>
          </a:xfrm>
        </p:grpSpPr>
        <p:sp>
          <p:nvSpPr>
            <p:cNvPr id="50200" name="Text Box 49"/>
            <p:cNvSpPr txBox="1">
              <a:spLocks noChangeArrowheads="1"/>
            </p:cNvSpPr>
            <p:nvPr/>
          </p:nvSpPr>
          <p:spPr bwMode="auto">
            <a:xfrm>
              <a:off x="4050" y="1758"/>
              <a:ext cx="938" cy="116"/>
            </a:xfrm>
            <a:prstGeom prst="rect">
              <a:avLst/>
            </a:prstGeom>
            <a:solidFill>
              <a:srgbClr val="FFFF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FF"/>
                  </a:solidFill>
                  <a:latin typeface="黑体" pitchFamily="2" charset="-122"/>
                  <a:ea typeface="黑体" pitchFamily="2" charset="-122"/>
                </a:rPr>
                <a:t> </a:t>
              </a:r>
              <a:r>
                <a:rPr lang="zh-CN" altLang="en-US" sz="1600">
                  <a:solidFill>
                    <a:srgbClr val="FF00FF"/>
                  </a:solidFill>
                  <a:latin typeface="黑体" pitchFamily="2" charset="-122"/>
                  <a:ea typeface="黑体" pitchFamily="2" charset="-122"/>
                </a:rPr>
                <a:t>节拍脉冲</a:t>
              </a:r>
            </a:p>
          </p:txBody>
        </p:sp>
        <p:sp>
          <p:nvSpPr>
            <p:cNvPr id="50201" name="Line 50"/>
            <p:cNvSpPr>
              <a:spLocks noChangeShapeType="1"/>
            </p:cNvSpPr>
            <p:nvPr/>
          </p:nvSpPr>
          <p:spPr bwMode="auto">
            <a:xfrm>
              <a:off x="4050" y="1752"/>
              <a:ext cx="952"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30238" y="511175"/>
            <a:ext cx="65341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6.3.3</a:t>
            </a:r>
            <a:r>
              <a:rPr lang="zh-CN" altLang="en-US" dirty="0">
                <a:solidFill>
                  <a:srgbClr val="990000"/>
                </a:solidFill>
                <a:latin typeface="黑体" pitchFamily="2" charset="-122"/>
                <a:ea typeface="黑体" pitchFamily="2" charset="-122"/>
              </a:rPr>
              <a:t>同步控制方式下的多级时序系统</a:t>
            </a:r>
          </a:p>
        </p:txBody>
      </p:sp>
      <p:sp>
        <p:nvSpPr>
          <p:cNvPr id="51203" name="Text Box 9"/>
          <p:cNvSpPr txBox="1">
            <a:spLocks noChangeArrowheads="1"/>
          </p:cNvSpPr>
          <p:nvPr/>
        </p:nvSpPr>
        <p:spPr bwMode="auto">
          <a:xfrm>
            <a:off x="827088" y="1052513"/>
            <a:ext cx="59769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工作周期与节拍的信号生成</a:t>
            </a:r>
          </a:p>
        </p:txBody>
      </p:sp>
      <p:sp>
        <p:nvSpPr>
          <p:cNvPr id="51204" name="Text Box 10"/>
          <p:cNvSpPr txBox="1">
            <a:spLocks noChangeArrowheads="1"/>
          </p:cNvSpPr>
          <p:nvPr/>
        </p:nvSpPr>
        <p:spPr bwMode="auto">
          <a:xfrm>
            <a:off x="684213" y="1665288"/>
            <a:ext cx="8101012"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a:t>
            </a:r>
            <a:r>
              <a:rPr lang="en-US" altLang="zh-CN" dirty="0">
                <a:latin typeface="黑体" pitchFamily="2" charset="-122"/>
                <a:ea typeface="黑体" pitchFamily="2" charset="-122"/>
              </a:rPr>
              <a:t>1</a:t>
            </a:r>
            <a:r>
              <a:rPr lang="zh-CN" altLang="en-US">
                <a:latin typeface="黑体" pitchFamily="2" charset="-122"/>
                <a:ea typeface="黑体" pitchFamily="2" charset="-122"/>
              </a:rPr>
              <a:t>）</a:t>
            </a:r>
            <a:r>
              <a:rPr lang="en-US" altLang="zh-CN" dirty="0">
                <a:latin typeface="黑体" pitchFamily="2" charset="-122"/>
                <a:ea typeface="黑体" pitchFamily="2" charset="-122"/>
              </a:rPr>
              <a:t>CPU</a:t>
            </a:r>
            <a:r>
              <a:rPr lang="zh-CN" altLang="en-US">
                <a:latin typeface="黑体" pitchFamily="2" charset="-122"/>
                <a:ea typeface="黑体" pitchFamily="2" charset="-122"/>
              </a:rPr>
              <a:t>工作周期信号发生器</a:t>
            </a:r>
          </a:p>
          <a:p>
            <a:pPr eaLnBrk="1" hangingPunct="1">
              <a:spcBef>
                <a:spcPct val="0"/>
              </a:spcBef>
            </a:pPr>
            <a:r>
              <a:rPr lang="zh-CN" altLang="en-US">
                <a:latin typeface="黑体" pitchFamily="2" charset="-122"/>
                <a:ea typeface="黑体" pitchFamily="2" charset="-122"/>
              </a:rPr>
              <a:t>    每个工作周期都用一个触发器与之对应。</a:t>
            </a:r>
          </a:p>
          <a:p>
            <a:pPr eaLnBrk="1" hangingPunct="1">
              <a:spcBef>
                <a:spcPct val="0"/>
              </a:spcBef>
            </a:pPr>
            <a:r>
              <a:rPr lang="zh-CN" altLang="en-US">
                <a:latin typeface="黑体" pitchFamily="2" charset="-122"/>
                <a:ea typeface="黑体" pitchFamily="2" charset="-122"/>
              </a:rPr>
              <a:t>    在一条指令运行的任何时刻，只能处于一种工作周期状态，因此，有一个且仅有一个触发器被置</a:t>
            </a:r>
            <a:r>
              <a:rPr lang="zh-CN" altLang="en-US">
                <a:latin typeface="宋体" pitchFamily="2" charset="-122"/>
                <a:ea typeface="黑体" pitchFamily="2" charset="-122"/>
              </a:rPr>
              <a:t>“</a:t>
            </a:r>
            <a:r>
              <a:rPr lang="en-US" altLang="zh-CN" dirty="0">
                <a:latin typeface="黑体" pitchFamily="2" charset="-122"/>
                <a:ea typeface="黑体" pitchFamily="2" charset="-122"/>
              </a:rPr>
              <a:t>1</a:t>
            </a:r>
            <a:r>
              <a:rPr lang="en-US" altLang="zh-CN" dirty="0">
                <a:latin typeface="宋体" pitchFamily="2" charset="-122"/>
                <a:ea typeface="黑体" pitchFamily="2" charset="-122"/>
              </a:rPr>
              <a:t>”</a:t>
            </a:r>
            <a:r>
              <a:rPr lang="zh-CN" altLang="en-US">
                <a:latin typeface="黑体" pitchFamily="2" charset="-122"/>
                <a:ea typeface="黑体" pitchFamily="2" charset="-122"/>
              </a:rPr>
              <a:t>。</a:t>
            </a:r>
          </a:p>
        </p:txBody>
      </p:sp>
      <p:sp>
        <p:nvSpPr>
          <p:cNvPr id="51205" name="Text Box 14"/>
          <p:cNvSpPr txBox="1">
            <a:spLocks noChangeArrowheads="1"/>
          </p:cNvSpPr>
          <p:nvPr/>
        </p:nvSpPr>
        <p:spPr bwMode="auto">
          <a:xfrm>
            <a:off x="8272463" y="4911725"/>
            <a:ext cx="58420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800" dirty="0">
                <a:solidFill>
                  <a:srgbClr val="FF0000"/>
                </a:solidFill>
                <a:latin typeface="黑体" pitchFamily="2" charset="-122"/>
                <a:ea typeface="黑体" pitchFamily="2" charset="-122"/>
              </a:rPr>
              <a:t>T3</a:t>
            </a:r>
          </a:p>
          <a:p>
            <a:pPr algn="just" eaLnBrk="1" hangingPunct="1">
              <a:spcBef>
                <a:spcPct val="0"/>
              </a:spcBef>
            </a:pPr>
            <a:r>
              <a:rPr lang="en-US" altLang="zh-CN" sz="1800" dirty="0">
                <a:latin typeface="黑体" pitchFamily="2" charset="-122"/>
                <a:ea typeface="黑体" pitchFamily="2" charset="-122"/>
              </a:rPr>
              <a:t> </a:t>
            </a:r>
          </a:p>
        </p:txBody>
      </p:sp>
      <p:grpSp>
        <p:nvGrpSpPr>
          <p:cNvPr id="51206" name="Group 67"/>
          <p:cNvGrpSpPr>
            <a:grpSpLocks/>
          </p:cNvGrpSpPr>
          <p:nvPr/>
        </p:nvGrpSpPr>
        <p:grpSpPr bwMode="auto">
          <a:xfrm>
            <a:off x="1223963" y="3681413"/>
            <a:ext cx="7299325" cy="2195512"/>
            <a:chOff x="771" y="2319"/>
            <a:chExt cx="4598" cy="1383"/>
          </a:xfrm>
        </p:grpSpPr>
        <p:sp>
          <p:nvSpPr>
            <p:cNvPr id="51207" name="Text Box 12"/>
            <p:cNvSpPr txBox="1">
              <a:spLocks noChangeArrowheads="1"/>
            </p:cNvSpPr>
            <p:nvPr/>
          </p:nvSpPr>
          <p:spPr bwMode="auto">
            <a:xfrm>
              <a:off x="4160" y="2769"/>
              <a:ext cx="631" cy="446"/>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20000"/>
                </a:lnSpc>
                <a:spcBef>
                  <a:spcPct val="0"/>
                </a:spcBef>
              </a:pPr>
              <a:r>
                <a:rPr lang="en-US" altLang="zh-CN" sz="1800" dirty="0">
                  <a:latin typeface="黑体" pitchFamily="2" charset="-122"/>
                  <a:ea typeface="黑体" pitchFamily="2" charset="-122"/>
                </a:rPr>
                <a:t>     Q</a:t>
              </a:r>
            </a:p>
            <a:p>
              <a:pPr algn="just" eaLnBrk="1" hangingPunct="1">
                <a:lnSpc>
                  <a:spcPct val="120000"/>
                </a:lnSpc>
                <a:spcBef>
                  <a:spcPct val="0"/>
                </a:spcBef>
              </a:pPr>
              <a:r>
                <a:rPr lang="en-US" altLang="zh-CN" sz="1800" dirty="0">
                  <a:latin typeface="黑体" pitchFamily="2" charset="-122"/>
                  <a:ea typeface="黑体" pitchFamily="2" charset="-122"/>
                </a:rPr>
                <a:t> D   CP</a:t>
              </a:r>
            </a:p>
            <a:p>
              <a:pPr eaLnBrk="1" hangingPunct="1">
                <a:lnSpc>
                  <a:spcPct val="120000"/>
                </a:lnSpc>
                <a:spcBef>
                  <a:spcPct val="0"/>
                </a:spcBef>
              </a:pPr>
              <a:endParaRPr lang="en-US" altLang="zh-CN" sz="1800" dirty="0">
                <a:latin typeface="黑体" pitchFamily="2" charset="-122"/>
                <a:ea typeface="黑体" pitchFamily="2" charset="-122"/>
              </a:endParaRPr>
            </a:p>
          </p:txBody>
        </p:sp>
        <p:sp>
          <p:nvSpPr>
            <p:cNvPr id="51208" name="Text Box 13"/>
            <p:cNvSpPr txBox="1">
              <a:spLocks noChangeArrowheads="1"/>
            </p:cNvSpPr>
            <p:nvPr/>
          </p:nvSpPr>
          <p:spPr bwMode="auto">
            <a:xfrm>
              <a:off x="4222" y="2818"/>
              <a:ext cx="473"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 </a:t>
              </a:r>
              <a:r>
                <a:rPr lang="en-US" altLang="zh-CN" sz="1800" dirty="0">
                  <a:solidFill>
                    <a:srgbClr val="FF0000"/>
                  </a:solidFill>
                  <a:latin typeface="黑体" pitchFamily="2" charset="-122"/>
                  <a:ea typeface="黑体" pitchFamily="2" charset="-122"/>
                </a:rPr>
                <a:t>FIC</a:t>
              </a:r>
            </a:p>
            <a:p>
              <a:pPr algn="ctr" eaLnBrk="1" hangingPunct="1">
                <a:spcBef>
                  <a:spcPct val="0"/>
                </a:spcBef>
              </a:pPr>
              <a:r>
                <a:rPr lang="en-US" altLang="zh-CN" sz="1800" dirty="0">
                  <a:latin typeface="黑体" pitchFamily="2" charset="-122"/>
                  <a:ea typeface="黑体" pitchFamily="2" charset="-122"/>
                </a:rPr>
                <a:t> </a:t>
              </a:r>
            </a:p>
          </p:txBody>
        </p:sp>
        <p:sp>
          <p:nvSpPr>
            <p:cNvPr id="51209" name="Text Box 15"/>
            <p:cNvSpPr txBox="1">
              <a:spLocks noChangeArrowheads="1"/>
            </p:cNvSpPr>
            <p:nvPr/>
          </p:nvSpPr>
          <p:spPr bwMode="auto">
            <a:xfrm>
              <a:off x="4712" y="2769"/>
              <a:ext cx="65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latin typeface="黑体" pitchFamily="2" charset="-122"/>
                  <a:ea typeface="黑体" pitchFamily="2" charset="-122"/>
                </a:rPr>
                <a:t>Reset</a:t>
              </a:r>
            </a:p>
            <a:p>
              <a:pPr algn="ctr" eaLnBrk="1" hangingPunct="1">
                <a:spcBef>
                  <a:spcPct val="0"/>
                </a:spcBef>
              </a:pPr>
              <a:r>
                <a:rPr lang="en-US" altLang="zh-CN" sz="1800" dirty="0">
                  <a:latin typeface="黑体" pitchFamily="2" charset="-122"/>
                  <a:ea typeface="黑体" pitchFamily="2" charset="-122"/>
                </a:rPr>
                <a:t> </a:t>
              </a:r>
            </a:p>
          </p:txBody>
        </p:sp>
        <p:sp>
          <p:nvSpPr>
            <p:cNvPr id="51210" name="Text Box 16"/>
            <p:cNvSpPr txBox="1">
              <a:spLocks noChangeArrowheads="1"/>
            </p:cNvSpPr>
            <p:nvPr/>
          </p:nvSpPr>
          <p:spPr bwMode="auto">
            <a:xfrm>
              <a:off x="4499" y="2847"/>
              <a:ext cx="263"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800">
                  <a:latin typeface="黑体" pitchFamily="2" charset="-122"/>
                  <a:ea typeface="黑体" pitchFamily="2" charset="-122"/>
                </a:rPr>
                <a:t> </a:t>
              </a:r>
              <a:r>
                <a:rPr lang="en-US" altLang="zh-CN" sz="1800" dirty="0">
                  <a:latin typeface="黑体" pitchFamily="2" charset="-122"/>
                  <a:ea typeface="黑体" pitchFamily="2" charset="-122"/>
                </a:rPr>
                <a:t>S</a:t>
              </a:r>
            </a:p>
          </p:txBody>
        </p:sp>
        <p:sp>
          <p:nvSpPr>
            <p:cNvPr id="51211" name="Text Box 18"/>
            <p:cNvSpPr txBox="1">
              <a:spLocks noChangeArrowheads="1"/>
            </p:cNvSpPr>
            <p:nvPr/>
          </p:nvSpPr>
          <p:spPr bwMode="auto">
            <a:xfrm>
              <a:off x="1139" y="231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990000"/>
                  </a:solidFill>
                  <a:latin typeface="黑体" pitchFamily="2" charset="-122"/>
                  <a:ea typeface="黑体" pitchFamily="2" charset="-122"/>
                </a:rPr>
                <a:t>DMA</a:t>
              </a:r>
              <a:r>
                <a:rPr lang="zh-CN" altLang="en-US" sz="1800">
                  <a:solidFill>
                    <a:srgbClr val="990000"/>
                  </a:solidFill>
                  <a:latin typeface="黑体" pitchFamily="2" charset="-122"/>
                  <a:ea typeface="黑体" pitchFamily="2" charset="-122"/>
                </a:rPr>
                <a:t>周期</a:t>
              </a:r>
            </a:p>
            <a:p>
              <a:pPr algn="ctr" eaLnBrk="1" hangingPunct="1">
                <a:spcBef>
                  <a:spcPct val="0"/>
                </a:spcBef>
              </a:pPr>
              <a:r>
                <a:rPr lang="zh-CN" altLang="en-US" sz="1800">
                  <a:latin typeface="黑体" pitchFamily="2" charset="-122"/>
                  <a:ea typeface="黑体" pitchFamily="2" charset="-122"/>
                </a:rPr>
                <a:t> </a:t>
              </a:r>
            </a:p>
          </p:txBody>
        </p:sp>
        <p:sp>
          <p:nvSpPr>
            <p:cNvPr id="51212" name="Text Box 19"/>
            <p:cNvSpPr txBox="1">
              <a:spLocks noChangeArrowheads="1"/>
            </p:cNvSpPr>
            <p:nvPr/>
          </p:nvSpPr>
          <p:spPr bwMode="auto">
            <a:xfrm>
              <a:off x="771" y="345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1→EXEC</a:t>
              </a:r>
            </a:p>
            <a:p>
              <a:pPr algn="ctr" eaLnBrk="1" hangingPunct="1">
                <a:spcBef>
                  <a:spcPct val="0"/>
                </a:spcBef>
              </a:pPr>
              <a:r>
                <a:rPr lang="en-US" altLang="zh-CN" sz="1800" dirty="0">
                  <a:solidFill>
                    <a:srgbClr val="FF0000"/>
                  </a:solidFill>
                  <a:latin typeface="黑体" pitchFamily="2" charset="-122"/>
                  <a:ea typeface="黑体" pitchFamily="2" charset="-122"/>
                </a:rPr>
                <a:t> </a:t>
              </a:r>
            </a:p>
          </p:txBody>
        </p:sp>
        <p:sp>
          <p:nvSpPr>
            <p:cNvPr id="51213" name="Text Box 21"/>
            <p:cNvSpPr txBox="1">
              <a:spLocks noChangeArrowheads="1"/>
            </p:cNvSpPr>
            <p:nvPr/>
          </p:nvSpPr>
          <p:spPr bwMode="auto">
            <a:xfrm>
              <a:off x="1034" y="2770"/>
              <a:ext cx="631" cy="446"/>
            </a:xfrm>
            <a:prstGeom prst="rect">
              <a:avLst/>
            </a:prstGeom>
            <a:solidFill>
              <a:srgbClr val="66CCFF">
                <a:alpha val="50195"/>
              </a:srgbClr>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20000"/>
                </a:lnSpc>
                <a:spcBef>
                  <a:spcPct val="0"/>
                </a:spcBef>
              </a:pPr>
              <a:r>
                <a:rPr lang="zh-CN" altLang="en-US" sz="1800">
                  <a:latin typeface="黑体" pitchFamily="2" charset="-122"/>
                  <a:ea typeface="黑体" pitchFamily="2" charset="-122"/>
                </a:rPr>
                <a:t>      </a:t>
              </a:r>
              <a:r>
                <a:rPr lang="en-US" altLang="zh-CN" sz="1800" dirty="0">
                  <a:latin typeface="黑体" pitchFamily="2" charset="-122"/>
                  <a:ea typeface="黑体" pitchFamily="2" charset="-122"/>
                </a:rPr>
                <a:t>Q</a:t>
              </a:r>
            </a:p>
            <a:p>
              <a:pPr algn="just" eaLnBrk="1" hangingPunct="1">
                <a:lnSpc>
                  <a:spcPct val="120000"/>
                </a:lnSpc>
                <a:spcBef>
                  <a:spcPct val="0"/>
                </a:spcBef>
              </a:pPr>
              <a:r>
                <a:rPr lang="en-US" altLang="zh-CN" sz="1800" dirty="0">
                  <a:latin typeface="黑体" pitchFamily="2" charset="-122"/>
                  <a:ea typeface="黑体" pitchFamily="2" charset="-122"/>
                </a:rPr>
                <a:t> D   CP</a:t>
              </a:r>
            </a:p>
            <a:p>
              <a:pPr eaLnBrk="1" hangingPunct="1">
                <a:lnSpc>
                  <a:spcPct val="120000"/>
                </a:lnSpc>
                <a:spcBef>
                  <a:spcPct val="0"/>
                </a:spcBef>
              </a:pPr>
              <a:endParaRPr lang="en-US" altLang="zh-CN" sz="1800" dirty="0">
                <a:latin typeface="黑体" pitchFamily="2" charset="-122"/>
                <a:ea typeface="黑体" pitchFamily="2" charset="-122"/>
              </a:endParaRPr>
            </a:p>
          </p:txBody>
        </p:sp>
        <p:sp>
          <p:nvSpPr>
            <p:cNvPr id="51214" name="Text Box 22"/>
            <p:cNvSpPr txBox="1">
              <a:spLocks noChangeArrowheads="1"/>
            </p:cNvSpPr>
            <p:nvPr/>
          </p:nvSpPr>
          <p:spPr bwMode="auto">
            <a:xfrm>
              <a:off x="1043" y="2823"/>
              <a:ext cx="5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DMAC</a:t>
              </a:r>
            </a:p>
            <a:p>
              <a:pPr algn="ctr" eaLnBrk="1" hangingPunct="1">
                <a:spcBef>
                  <a:spcPct val="0"/>
                </a:spcBef>
              </a:pPr>
              <a:r>
                <a:rPr lang="en-US" altLang="zh-CN" sz="1800" dirty="0">
                  <a:latin typeface="黑体" pitchFamily="2" charset="-122"/>
                  <a:ea typeface="黑体" pitchFamily="2" charset="-122"/>
                </a:rPr>
                <a:t> </a:t>
              </a:r>
            </a:p>
          </p:txBody>
        </p:sp>
        <p:sp>
          <p:nvSpPr>
            <p:cNvPr id="51215" name="Line 23"/>
            <p:cNvSpPr>
              <a:spLocks noChangeShapeType="1"/>
            </p:cNvSpPr>
            <p:nvPr/>
          </p:nvSpPr>
          <p:spPr bwMode="auto">
            <a:xfrm flipV="1">
              <a:off x="1534" y="2567"/>
              <a:ext cx="0" cy="203"/>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6" name="Line 24"/>
            <p:cNvSpPr>
              <a:spLocks noChangeShapeType="1"/>
            </p:cNvSpPr>
            <p:nvPr/>
          </p:nvSpPr>
          <p:spPr bwMode="auto">
            <a:xfrm>
              <a:off x="1141" y="3216"/>
              <a:ext cx="0" cy="241"/>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Text Box 25"/>
            <p:cNvSpPr txBox="1">
              <a:spLocks noChangeArrowheads="1"/>
            </p:cNvSpPr>
            <p:nvPr/>
          </p:nvSpPr>
          <p:spPr bwMode="auto">
            <a:xfrm>
              <a:off x="4292" y="2319"/>
              <a:ext cx="65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990000"/>
                  </a:solidFill>
                  <a:latin typeface="黑体" pitchFamily="2" charset="-122"/>
                  <a:ea typeface="黑体" pitchFamily="2" charset="-122"/>
                </a:rPr>
                <a:t>取指周期</a:t>
              </a:r>
            </a:p>
            <a:p>
              <a:pPr algn="ctr" eaLnBrk="1" hangingPunct="1">
                <a:spcBef>
                  <a:spcPct val="0"/>
                </a:spcBef>
              </a:pPr>
              <a:r>
                <a:rPr lang="zh-CN" altLang="en-US" sz="1800">
                  <a:latin typeface="黑体" pitchFamily="2" charset="-122"/>
                  <a:ea typeface="黑体" pitchFamily="2" charset="-122"/>
                </a:rPr>
                <a:t> </a:t>
              </a:r>
            </a:p>
          </p:txBody>
        </p:sp>
        <p:sp>
          <p:nvSpPr>
            <p:cNvPr id="51218" name="Text Box 26"/>
            <p:cNvSpPr txBox="1">
              <a:spLocks noChangeArrowheads="1"/>
            </p:cNvSpPr>
            <p:nvPr/>
          </p:nvSpPr>
          <p:spPr bwMode="auto">
            <a:xfrm>
              <a:off x="3924" y="345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1→FIC</a:t>
              </a:r>
            </a:p>
            <a:p>
              <a:pPr algn="ctr" eaLnBrk="1" hangingPunct="1">
                <a:spcBef>
                  <a:spcPct val="0"/>
                </a:spcBef>
              </a:pPr>
              <a:r>
                <a:rPr lang="en-US" altLang="zh-CN" sz="1800" dirty="0">
                  <a:solidFill>
                    <a:srgbClr val="FF0000"/>
                  </a:solidFill>
                  <a:latin typeface="黑体" pitchFamily="2" charset="-122"/>
                  <a:ea typeface="黑体" pitchFamily="2" charset="-122"/>
                </a:rPr>
                <a:t> </a:t>
              </a:r>
            </a:p>
          </p:txBody>
        </p:sp>
        <p:sp>
          <p:nvSpPr>
            <p:cNvPr id="51219" name="Line 27"/>
            <p:cNvSpPr>
              <a:spLocks noChangeShapeType="1"/>
            </p:cNvSpPr>
            <p:nvPr/>
          </p:nvSpPr>
          <p:spPr bwMode="auto">
            <a:xfrm flipV="1">
              <a:off x="4659" y="2567"/>
              <a:ext cx="0" cy="202"/>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0" name="Line 28"/>
            <p:cNvSpPr>
              <a:spLocks noChangeShapeType="1"/>
            </p:cNvSpPr>
            <p:nvPr/>
          </p:nvSpPr>
          <p:spPr bwMode="auto">
            <a:xfrm>
              <a:off x="4267" y="3215"/>
              <a:ext cx="0" cy="242"/>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1" name="Line 29"/>
            <p:cNvSpPr>
              <a:spLocks noChangeShapeType="1"/>
            </p:cNvSpPr>
            <p:nvPr/>
          </p:nvSpPr>
          <p:spPr bwMode="auto">
            <a:xfrm>
              <a:off x="4791" y="3013"/>
              <a:ext cx="26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1222" name="Freeform 30"/>
            <p:cNvSpPr>
              <a:spLocks/>
            </p:cNvSpPr>
            <p:nvPr/>
          </p:nvSpPr>
          <p:spPr bwMode="auto">
            <a:xfrm>
              <a:off x="1533" y="3215"/>
              <a:ext cx="3731" cy="122"/>
            </a:xfrm>
            <a:custGeom>
              <a:avLst/>
              <a:gdLst>
                <a:gd name="T0" fmla="*/ 0 w 4536"/>
                <a:gd name="T1" fmla="*/ 0 h 186"/>
                <a:gd name="T2" fmla="*/ 0 w 4536"/>
                <a:gd name="T3" fmla="*/ 1 h 186"/>
                <a:gd name="T4" fmla="*/ 242 w 4536"/>
                <a:gd name="T5" fmla="*/ 1 h 186"/>
                <a:gd name="T6" fmla="*/ 0 60000 65536"/>
                <a:gd name="T7" fmla="*/ 0 60000 65536"/>
                <a:gd name="T8" fmla="*/ 0 60000 65536"/>
                <a:gd name="T9" fmla="*/ 0 w 4536"/>
                <a:gd name="T10" fmla="*/ 0 h 186"/>
                <a:gd name="T11" fmla="*/ 4536 w 4536"/>
                <a:gd name="T12" fmla="*/ 186 h 186"/>
              </a:gdLst>
              <a:ahLst/>
              <a:cxnLst>
                <a:cxn ang="T6">
                  <a:pos x="T0" y="T1"/>
                </a:cxn>
                <a:cxn ang="T7">
                  <a:pos x="T2" y="T3"/>
                </a:cxn>
                <a:cxn ang="T8">
                  <a:pos x="T4" y="T5"/>
                </a:cxn>
              </a:cxnLst>
              <a:rect l="T9" t="T10" r="T11" b="T12"/>
              <a:pathLst>
                <a:path w="4536" h="186">
                  <a:moveTo>
                    <a:pt x="0" y="0"/>
                  </a:moveTo>
                  <a:lnTo>
                    <a:pt x="0" y="186"/>
                  </a:lnTo>
                  <a:lnTo>
                    <a:pt x="4536" y="186"/>
                  </a:lnTo>
                </a:path>
              </a:pathLst>
            </a:custGeom>
            <a:noFill/>
            <a:ln w="285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3" name="Line 31"/>
            <p:cNvSpPr>
              <a:spLocks noChangeShapeType="1"/>
            </p:cNvSpPr>
            <p:nvPr/>
          </p:nvSpPr>
          <p:spPr bwMode="auto">
            <a:xfrm>
              <a:off x="4659" y="3215"/>
              <a:ext cx="0" cy="1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4" name="Oval 32"/>
            <p:cNvSpPr>
              <a:spLocks noChangeArrowheads="1"/>
            </p:cNvSpPr>
            <p:nvPr/>
          </p:nvSpPr>
          <p:spPr bwMode="auto">
            <a:xfrm>
              <a:off x="4633" y="3312"/>
              <a:ext cx="53" cy="66"/>
            </a:xfrm>
            <a:prstGeom prst="ellipse">
              <a:avLst/>
            </a:prstGeom>
            <a:solidFill>
              <a:srgbClr val="000000"/>
            </a:solidFill>
            <a:ln w="28575">
              <a:solidFill>
                <a:schemeClr val="tx1"/>
              </a:solidFill>
              <a:round/>
              <a:headEnd/>
              <a:tailEnd/>
            </a:ln>
          </p:spPr>
          <p:txBody>
            <a:bodyPr/>
            <a:lstStyle/>
            <a:p>
              <a:endParaRPr lang="zh-CN" altLang="en-US">
                <a:latin typeface="黑体" pitchFamily="2" charset="-122"/>
                <a:ea typeface="黑体" pitchFamily="2" charset="-122"/>
              </a:endParaRPr>
            </a:p>
          </p:txBody>
        </p:sp>
        <p:sp>
          <p:nvSpPr>
            <p:cNvPr id="51225" name="Text Box 34"/>
            <p:cNvSpPr txBox="1">
              <a:spLocks noChangeArrowheads="1"/>
            </p:cNvSpPr>
            <p:nvPr/>
          </p:nvSpPr>
          <p:spPr bwMode="auto">
            <a:xfrm>
              <a:off x="3530" y="231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800">
                  <a:solidFill>
                    <a:srgbClr val="990000"/>
                  </a:solidFill>
                  <a:latin typeface="黑体" pitchFamily="2" charset="-122"/>
                  <a:ea typeface="黑体" pitchFamily="2" charset="-122"/>
                </a:rPr>
                <a:t>取数周期</a:t>
              </a:r>
            </a:p>
            <a:p>
              <a:pPr algn="ctr" eaLnBrk="1" hangingPunct="1">
                <a:spcBef>
                  <a:spcPct val="0"/>
                </a:spcBef>
              </a:pPr>
              <a:r>
                <a:rPr lang="zh-CN" altLang="en-US" sz="1800">
                  <a:latin typeface="黑体" pitchFamily="2" charset="-122"/>
                  <a:ea typeface="黑体" pitchFamily="2" charset="-122"/>
                </a:rPr>
                <a:t> </a:t>
              </a:r>
            </a:p>
          </p:txBody>
        </p:sp>
        <p:sp>
          <p:nvSpPr>
            <p:cNvPr id="51226" name="Text Box 35"/>
            <p:cNvSpPr txBox="1">
              <a:spLocks noChangeArrowheads="1"/>
            </p:cNvSpPr>
            <p:nvPr/>
          </p:nvSpPr>
          <p:spPr bwMode="auto">
            <a:xfrm>
              <a:off x="3162" y="345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1→FDC</a:t>
              </a:r>
            </a:p>
            <a:p>
              <a:pPr algn="ctr" eaLnBrk="1" hangingPunct="1">
                <a:spcBef>
                  <a:spcPct val="0"/>
                </a:spcBef>
              </a:pPr>
              <a:r>
                <a:rPr lang="en-US" altLang="zh-CN" sz="1800" dirty="0">
                  <a:solidFill>
                    <a:srgbClr val="FF0000"/>
                  </a:solidFill>
                  <a:latin typeface="黑体" pitchFamily="2" charset="-122"/>
                  <a:ea typeface="黑体" pitchFamily="2" charset="-122"/>
                </a:rPr>
                <a:t> </a:t>
              </a:r>
            </a:p>
          </p:txBody>
        </p:sp>
        <p:sp>
          <p:nvSpPr>
            <p:cNvPr id="51227" name="Text Box 37"/>
            <p:cNvSpPr txBox="1">
              <a:spLocks noChangeArrowheads="1"/>
            </p:cNvSpPr>
            <p:nvPr/>
          </p:nvSpPr>
          <p:spPr bwMode="auto">
            <a:xfrm>
              <a:off x="3399" y="2770"/>
              <a:ext cx="630" cy="446"/>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20000"/>
                </a:lnSpc>
                <a:spcBef>
                  <a:spcPct val="0"/>
                </a:spcBef>
              </a:pPr>
              <a:r>
                <a:rPr lang="en-US" altLang="zh-CN" sz="1800" dirty="0">
                  <a:latin typeface="黑体" pitchFamily="2" charset="-122"/>
                  <a:ea typeface="黑体" pitchFamily="2" charset="-122"/>
                </a:rPr>
                <a:t>      Q</a:t>
              </a:r>
            </a:p>
            <a:p>
              <a:pPr algn="just" eaLnBrk="1" hangingPunct="1">
                <a:lnSpc>
                  <a:spcPct val="120000"/>
                </a:lnSpc>
                <a:spcBef>
                  <a:spcPct val="0"/>
                </a:spcBef>
              </a:pPr>
              <a:r>
                <a:rPr lang="en-US" altLang="zh-CN" sz="1800" dirty="0">
                  <a:latin typeface="黑体" pitchFamily="2" charset="-122"/>
                  <a:ea typeface="黑体" pitchFamily="2" charset="-122"/>
                </a:rPr>
                <a:t> D   CP</a:t>
              </a:r>
            </a:p>
            <a:p>
              <a:pPr eaLnBrk="1" hangingPunct="1">
                <a:lnSpc>
                  <a:spcPct val="120000"/>
                </a:lnSpc>
                <a:spcBef>
                  <a:spcPct val="0"/>
                </a:spcBef>
              </a:pPr>
              <a:endParaRPr lang="en-US" altLang="zh-CN" sz="1800" dirty="0">
                <a:latin typeface="黑体" pitchFamily="2" charset="-122"/>
                <a:ea typeface="黑体" pitchFamily="2" charset="-122"/>
              </a:endParaRPr>
            </a:p>
          </p:txBody>
        </p:sp>
        <p:sp>
          <p:nvSpPr>
            <p:cNvPr id="51228" name="Text Box 38"/>
            <p:cNvSpPr txBox="1">
              <a:spLocks noChangeArrowheads="1"/>
            </p:cNvSpPr>
            <p:nvPr/>
          </p:nvSpPr>
          <p:spPr bwMode="auto">
            <a:xfrm>
              <a:off x="3384" y="2823"/>
              <a:ext cx="52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FDC</a:t>
              </a:r>
            </a:p>
            <a:p>
              <a:pPr algn="ctr" eaLnBrk="1" hangingPunct="1">
                <a:spcBef>
                  <a:spcPct val="0"/>
                </a:spcBef>
              </a:pPr>
              <a:r>
                <a:rPr lang="en-US" altLang="zh-CN" sz="1800" dirty="0">
                  <a:latin typeface="黑体" pitchFamily="2" charset="-122"/>
                  <a:ea typeface="黑体" pitchFamily="2" charset="-122"/>
                </a:rPr>
                <a:t> </a:t>
              </a:r>
            </a:p>
          </p:txBody>
        </p:sp>
        <p:sp>
          <p:nvSpPr>
            <p:cNvPr id="51229" name="Line 39"/>
            <p:cNvSpPr>
              <a:spLocks noChangeShapeType="1"/>
            </p:cNvSpPr>
            <p:nvPr/>
          </p:nvSpPr>
          <p:spPr bwMode="auto">
            <a:xfrm flipV="1">
              <a:off x="3898" y="2567"/>
              <a:ext cx="0" cy="203"/>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0" name="Line 40"/>
            <p:cNvSpPr>
              <a:spLocks noChangeShapeType="1"/>
            </p:cNvSpPr>
            <p:nvPr/>
          </p:nvSpPr>
          <p:spPr bwMode="auto">
            <a:xfrm>
              <a:off x="3506" y="3216"/>
              <a:ext cx="0" cy="241"/>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1" name="Line 41"/>
            <p:cNvSpPr>
              <a:spLocks noChangeShapeType="1"/>
            </p:cNvSpPr>
            <p:nvPr/>
          </p:nvSpPr>
          <p:spPr bwMode="auto">
            <a:xfrm>
              <a:off x="3924" y="3215"/>
              <a:ext cx="0" cy="1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2" name="Oval 42"/>
            <p:cNvSpPr>
              <a:spLocks noChangeArrowheads="1"/>
            </p:cNvSpPr>
            <p:nvPr/>
          </p:nvSpPr>
          <p:spPr bwMode="auto">
            <a:xfrm>
              <a:off x="3898" y="3312"/>
              <a:ext cx="52" cy="66"/>
            </a:xfrm>
            <a:prstGeom prst="ellipse">
              <a:avLst/>
            </a:prstGeom>
            <a:solidFill>
              <a:srgbClr val="000000"/>
            </a:solidFill>
            <a:ln w="28575">
              <a:solidFill>
                <a:schemeClr val="tx1"/>
              </a:solidFill>
              <a:round/>
              <a:headEnd/>
              <a:tailEnd/>
            </a:ln>
          </p:spPr>
          <p:txBody>
            <a:bodyPr/>
            <a:lstStyle/>
            <a:p>
              <a:endParaRPr lang="zh-CN" altLang="en-US">
                <a:latin typeface="黑体" pitchFamily="2" charset="-122"/>
                <a:ea typeface="黑体" pitchFamily="2" charset="-122"/>
              </a:endParaRPr>
            </a:p>
          </p:txBody>
        </p:sp>
        <p:sp>
          <p:nvSpPr>
            <p:cNvPr id="51233" name="AutoShape 44"/>
            <p:cNvSpPr>
              <a:spLocks noChangeArrowheads="1"/>
            </p:cNvSpPr>
            <p:nvPr/>
          </p:nvSpPr>
          <p:spPr bwMode="auto">
            <a:xfrm rot="-5400000">
              <a:off x="4857" y="3269"/>
              <a:ext cx="343" cy="155"/>
            </a:xfrm>
            <a:prstGeom prst="triangle">
              <a:avLst>
                <a:gd name="adj" fmla="val 50000"/>
              </a:avLst>
            </a:prstGeom>
            <a:solidFill>
              <a:srgbClr val="FFFFFF"/>
            </a:solidFill>
            <a:ln w="28575">
              <a:solidFill>
                <a:srgbClr val="000080"/>
              </a:solidFill>
              <a:miter lim="800000"/>
              <a:headEnd/>
              <a:tailEnd/>
            </a:ln>
          </p:spPr>
          <p:txBody>
            <a:bodyPr/>
            <a:lstStyle/>
            <a:p>
              <a:endParaRPr lang="zh-CN" altLang="en-US">
                <a:latin typeface="黑体" pitchFamily="2" charset="-122"/>
                <a:ea typeface="黑体" pitchFamily="2" charset="-122"/>
              </a:endParaRPr>
            </a:p>
          </p:txBody>
        </p:sp>
        <p:sp>
          <p:nvSpPr>
            <p:cNvPr id="51234" name="Oval 45"/>
            <p:cNvSpPr>
              <a:spLocks noChangeArrowheads="1"/>
            </p:cNvSpPr>
            <p:nvPr/>
          </p:nvSpPr>
          <p:spPr bwMode="auto">
            <a:xfrm rot="-5400000">
              <a:off x="4871" y="3324"/>
              <a:ext cx="71" cy="68"/>
            </a:xfrm>
            <a:prstGeom prst="ellipse">
              <a:avLst/>
            </a:prstGeom>
            <a:solidFill>
              <a:srgbClr val="FFFFFF"/>
            </a:solidFill>
            <a:ln w="28575">
              <a:solidFill>
                <a:srgbClr val="000080"/>
              </a:solidFill>
              <a:round/>
              <a:headEnd/>
              <a:tailEnd/>
            </a:ln>
          </p:spPr>
          <p:txBody>
            <a:bodyPr/>
            <a:lstStyle/>
            <a:p>
              <a:endParaRPr lang="zh-CN" altLang="en-US">
                <a:latin typeface="黑体" pitchFamily="2" charset="-122"/>
                <a:ea typeface="黑体" pitchFamily="2" charset="-122"/>
              </a:endParaRPr>
            </a:p>
          </p:txBody>
        </p:sp>
        <p:sp>
          <p:nvSpPr>
            <p:cNvPr id="51235" name="Text Box 47"/>
            <p:cNvSpPr txBox="1">
              <a:spLocks noChangeArrowheads="1"/>
            </p:cNvSpPr>
            <p:nvPr/>
          </p:nvSpPr>
          <p:spPr bwMode="auto">
            <a:xfrm>
              <a:off x="2699" y="2319"/>
              <a:ext cx="72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sz="1800" dirty="0">
                  <a:solidFill>
                    <a:srgbClr val="990000"/>
                  </a:solidFill>
                  <a:latin typeface="黑体" pitchFamily="2" charset="-122"/>
                  <a:ea typeface="黑体" pitchFamily="2" charset="-122"/>
                </a:rPr>
                <a:t>EXEC</a:t>
              </a:r>
              <a:r>
                <a:rPr lang="zh-CN" altLang="en-US" sz="1800">
                  <a:solidFill>
                    <a:srgbClr val="990000"/>
                  </a:solidFill>
                  <a:latin typeface="黑体" pitchFamily="2" charset="-122"/>
                  <a:ea typeface="黑体" pitchFamily="2" charset="-122"/>
                </a:rPr>
                <a:t>周期</a:t>
              </a:r>
            </a:p>
            <a:p>
              <a:pPr eaLnBrk="1" hangingPunct="1">
                <a:spcBef>
                  <a:spcPct val="0"/>
                </a:spcBef>
              </a:pPr>
              <a:r>
                <a:rPr lang="zh-CN" altLang="en-US" sz="1800">
                  <a:latin typeface="黑体" pitchFamily="2" charset="-122"/>
                  <a:ea typeface="黑体" pitchFamily="2" charset="-122"/>
                </a:rPr>
                <a:t> </a:t>
              </a:r>
            </a:p>
          </p:txBody>
        </p:sp>
        <p:sp>
          <p:nvSpPr>
            <p:cNvPr id="51236" name="Text Box 48"/>
            <p:cNvSpPr txBox="1">
              <a:spLocks noChangeArrowheads="1"/>
            </p:cNvSpPr>
            <p:nvPr/>
          </p:nvSpPr>
          <p:spPr bwMode="auto">
            <a:xfrm>
              <a:off x="2400" y="345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1→FDC</a:t>
              </a:r>
            </a:p>
            <a:p>
              <a:pPr algn="ctr" eaLnBrk="1" hangingPunct="1">
                <a:spcBef>
                  <a:spcPct val="0"/>
                </a:spcBef>
              </a:pPr>
              <a:r>
                <a:rPr lang="en-US" altLang="zh-CN" sz="1800" dirty="0">
                  <a:solidFill>
                    <a:srgbClr val="FF0000"/>
                  </a:solidFill>
                  <a:latin typeface="黑体" pitchFamily="2" charset="-122"/>
                  <a:ea typeface="黑体" pitchFamily="2" charset="-122"/>
                </a:rPr>
                <a:t> </a:t>
              </a:r>
            </a:p>
          </p:txBody>
        </p:sp>
        <p:sp>
          <p:nvSpPr>
            <p:cNvPr id="51237" name="Text Box 50"/>
            <p:cNvSpPr txBox="1">
              <a:spLocks noChangeArrowheads="1"/>
            </p:cNvSpPr>
            <p:nvPr/>
          </p:nvSpPr>
          <p:spPr bwMode="auto">
            <a:xfrm>
              <a:off x="2637" y="2770"/>
              <a:ext cx="630" cy="446"/>
            </a:xfrm>
            <a:prstGeom prst="rect">
              <a:avLst/>
            </a:prstGeom>
            <a:solidFill>
              <a:srgbClr val="00FFFF"/>
            </a:solidFill>
            <a:ln w="28575">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20000"/>
                </a:lnSpc>
                <a:spcBef>
                  <a:spcPct val="0"/>
                </a:spcBef>
              </a:pPr>
              <a:r>
                <a:rPr lang="en-US" altLang="zh-CN" sz="1800" dirty="0">
                  <a:latin typeface="黑体" pitchFamily="2" charset="-122"/>
                  <a:ea typeface="黑体" pitchFamily="2" charset="-122"/>
                </a:rPr>
                <a:t>      Q</a:t>
              </a:r>
            </a:p>
            <a:p>
              <a:pPr algn="just" eaLnBrk="1" hangingPunct="1">
                <a:lnSpc>
                  <a:spcPct val="120000"/>
                </a:lnSpc>
                <a:spcBef>
                  <a:spcPct val="0"/>
                </a:spcBef>
              </a:pPr>
              <a:r>
                <a:rPr lang="en-US" altLang="zh-CN" sz="1800" dirty="0">
                  <a:latin typeface="黑体" pitchFamily="2" charset="-122"/>
                  <a:ea typeface="黑体" pitchFamily="2" charset="-122"/>
                </a:rPr>
                <a:t> D   CP</a:t>
              </a:r>
            </a:p>
            <a:p>
              <a:pPr eaLnBrk="1" hangingPunct="1">
                <a:lnSpc>
                  <a:spcPct val="120000"/>
                </a:lnSpc>
                <a:spcBef>
                  <a:spcPct val="0"/>
                </a:spcBef>
              </a:pPr>
              <a:endParaRPr lang="en-US" altLang="zh-CN" sz="1800" dirty="0">
                <a:latin typeface="黑体" pitchFamily="2" charset="-122"/>
                <a:ea typeface="黑体" pitchFamily="2" charset="-122"/>
              </a:endParaRPr>
            </a:p>
          </p:txBody>
        </p:sp>
        <p:sp>
          <p:nvSpPr>
            <p:cNvPr id="51238" name="Text Box 51"/>
            <p:cNvSpPr txBox="1">
              <a:spLocks noChangeArrowheads="1"/>
            </p:cNvSpPr>
            <p:nvPr/>
          </p:nvSpPr>
          <p:spPr bwMode="auto">
            <a:xfrm>
              <a:off x="2622" y="2823"/>
              <a:ext cx="52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EXEC</a:t>
              </a:r>
            </a:p>
            <a:p>
              <a:pPr algn="ctr" eaLnBrk="1" hangingPunct="1">
                <a:spcBef>
                  <a:spcPct val="0"/>
                </a:spcBef>
              </a:pPr>
              <a:r>
                <a:rPr lang="en-US" altLang="zh-CN" sz="1800" dirty="0">
                  <a:latin typeface="黑体" pitchFamily="2" charset="-122"/>
                  <a:ea typeface="黑体" pitchFamily="2" charset="-122"/>
                </a:rPr>
                <a:t> </a:t>
              </a:r>
            </a:p>
          </p:txBody>
        </p:sp>
        <p:sp>
          <p:nvSpPr>
            <p:cNvPr id="51239" name="Line 52"/>
            <p:cNvSpPr>
              <a:spLocks noChangeShapeType="1"/>
            </p:cNvSpPr>
            <p:nvPr/>
          </p:nvSpPr>
          <p:spPr bwMode="auto">
            <a:xfrm flipV="1">
              <a:off x="3136" y="2567"/>
              <a:ext cx="0" cy="203"/>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0" name="Line 53"/>
            <p:cNvSpPr>
              <a:spLocks noChangeShapeType="1"/>
            </p:cNvSpPr>
            <p:nvPr/>
          </p:nvSpPr>
          <p:spPr bwMode="auto">
            <a:xfrm>
              <a:off x="2744" y="3216"/>
              <a:ext cx="0" cy="241"/>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1" name="Line 54"/>
            <p:cNvSpPr>
              <a:spLocks noChangeShapeType="1"/>
            </p:cNvSpPr>
            <p:nvPr/>
          </p:nvSpPr>
          <p:spPr bwMode="auto">
            <a:xfrm>
              <a:off x="3162" y="3215"/>
              <a:ext cx="0" cy="1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2" name="Oval 55"/>
            <p:cNvSpPr>
              <a:spLocks noChangeArrowheads="1"/>
            </p:cNvSpPr>
            <p:nvPr/>
          </p:nvSpPr>
          <p:spPr bwMode="auto">
            <a:xfrm>
              <a:off x="3136" y="3312"/>
              <a:ext cx="52" cy="66"/>
            </a:xfrm>
            <a:prstGeom prst="ellipse">
              <a:avLst/>
            </a:prstGeom>
            <a:solidFill>
              <a:srgbClr val="000000"/>
            </a:solidFill>
            <a:ln w="28575">
              <a:solidFill>
                <a:schemeClr val="tx1"/>
              </a:solidFill>
              <a:round/>
              <a:headEnd/>
              <a:tailEnd/>
            </a:ln>
          </p:spPr>
          <p:txBody>
            <a:bodyPr/>
            <a:lstStyle/>
            <a:p>
              <a:endParaRPr lang="zh-CN" altLang="en-US">
                <a:latin typeface="黑体" pitchFamily="2" charset="-122"/>
                <a:ea typeface="黑体" pitchFamily="2" charset="-122"/>
              </a:endParaRPr>
            </a:p>
          </p:txBody>
        </p:sp>
        <p:sp>
          <p:nvSpPr>
            <p:cNvPr id="51243" name="Text Box 57"/>
            <p:cNvSpPr txBox="1">
              <a:spLocks noChangeArrowheads="1"/>
            </p:cNvSpPr>
            <p:nvPr/>
          </p:nvSpPr>
          <p:spPr bwMode="auto">
            <a:xfrm>
              <a:off x="1927" y="231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990000"/>
                  </a:solidFill>
                  <a:latin typeface="黑体" pitchFamily="2" charset="-122"/>
                  <a:ea typeface="黑体" pitchFamily="2" charset="-122"/>
                </a:rPr>
                <a:t>INT</a:t>
              </a:r>
              <a:r>
                <a:rPr lang="zh-CN" altLang="en-US" sz="1800">
                  <a:solidFill>
                    <a:srgbClr val="990000"/>
                  </a:solidFill>
                  <a:latin typeface="黑体" pitchFamily="2" charset="-122"/>
                  <a:ea typeface="黑体" pitchFamily="2" charset="-122"/>
                </a:rPr>
                <a:t>周期</a:t>
              </a:r>
            </a:p>
            <a:p>
              <a:pPr algn="ctr" eaLnBrk="1" hangingPunct="1">
                <a:spcBef>
                  <a:spcPct val="0"/>
                </a:spcBef>
              </a:pPr>
              <a:r>
                <a:rPr lang="zh-CN" altLang="en-US" sz="1800">
                  <a:latin typeface="黑体" pitchFamily="2" charset="-122"/>
                  <a:ea typeface="黑体" pitchFamily="2" charset="-122"/>
                </a:rPr>
                <a:t> </a:t>
              </a:r>
            </a:p>
          </p:txBody>
        </p:sp>
        <p:sp>
          <p:nvSpPr>
            <p:cNvPr id="51244" name="Text Box 58"/>
            <p:cNvSpPr txBox="1">
              <a:spLocks noChangeArrowheads="1"/>
            </p:cNvSpPr>
            <p:nvPr/>
          </p:nvSpPr>
          <p:spPr bwMode="auto">
            <a:xfrm>
              <a:off x="1559" y="3459"/>
              <a:ext cx="6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1→FDC</a:t>
              </a:r>
            </a:p>
            <a:p>
              <a:pPr algn="ctr" eaLnBrk="1" hangingPunct="1">
                <a:spcBef>
                  <a:spcPct val="0"/>
                </a:spcBef>
              </a:pPr>
              <a:r>
                <a:rPr lang="en-US" altLang="zh-CN" sz="1800" dirty="0">
                  <a:solidFill>
                    <a:srgbClr val="FF0000"/>
                  </a:solidFill>
                  <a:latin typeface="黑体" pitchFamily="2" charset="-122"/>
                  <a:ea typeface="黑体" pitchFamily="2" charset="-122"/>
                </a:rPr>
                <a:t> </a:t>
              </a:r>
            </a:p>
          </p:txBody>
        </p:sp>
        <p:sp>
          <p:nvSpPr>
            <p:cNvPr id="51245" name="Text Box 60"/>
            <p:cNvSpPr txBox="1">
              <a:spLocks noChangeArrowheads="1"/>
            </p:cNvSpPr>
            <p:nvPr/>
          </p:nvSpPr>
          <p:spPr bwMode="auto">
            <a:xfrm>
              <a:off x="1796" y="2770"/>
              <a:ext cx="630" cy="446"/>
            </a:xfrm>
            <a:prstGeom prst="rect">
              <a:avLst/>
            </a:prstGeom>
            <a:solidFill>
              <a:srgbClr val="66CCFF">
                <a:alpha val="50195"/>
              </a:srgbClr>
            </a:solidFill>
            <a:ln w="28575" algn="ctr">
              <a:solidFill>
                <a:srgbClr val="000080"/>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20000"/>
                </a:lnSpc>
                <a:spcBef>
                  <a:spcPct val="0"/>
                </a:spcBef>
              </a:pPr>
              <a:r>
                <a:rPr lang="en-US" altLang="zh-CN" sz="1800" dirty="0">
                  <a:latin typeface="黑体" pitchFamily="2" charset="-122"/>
                  <a:ea typeface="黑体" pitchFamily="2" charset="-122"/>
                </a:rPr>
                <a:t>      Q</a:t>
              </a:r>
            </a:p>
            <a:p>
              <a:pPr algn="just" eaLnBrk="1" hangingPunct="1">
                <a:lnSpc>
                  <a:spcPct val="120000"/>
                </a:lnSpc>
                <a:spcBef>
                  <a:spcPct val="0"/>
                </a:spcBef>
              </a:pPr>
              <a:r>
                <a:rPr lang="en-US" altLang="zh-CN" sz="1800" dirty="0">
                  <a:latin typeface="黑体" pitchFamily="2" charset="-122"/>
                  <a:ea typeface="黑体" pitchFamily="2" charset="-122"/>
                </a:rPr>
                <a:t> D   CP</a:t>
              </a:r>
            </a:p>
            <a:p>
              <a:pPr algn="just" eaLnBrk="1" hangingPunct="1">
                <a:lnSpc>
                  <a:spcPct val="120000"/>
                </a:lnSpc>
                <a:spcBef>
                  <a:spcPct val="0"/>
                </a:spcBef>
              </a:pPr>
              <a:endParaRPr lang="en-US" altLang="zh-CN" sz="1800" dirty="0">
                <a:latin typeface="黑体" pitchFamily="2" charset="-122"/>
                <a:ea typeface="黑体" pitchFamily="2" charset="-122"/>
              </a:endParaRPr>
            </a:p>
          </p:txBody>
        </p:sp>
        <p:sp>
          <p:nvSpPr>
            <p:cNvPr id="51246" name="Text Box 61"/>
            <p:cNvSpPr txBox="1">
              <a:spLocks noChangeArrowheads="1"/>
            </p:cNvSpPr>
            <p:nvPr/>
          </p:nvSpPr>
          <p:spPr bwMode="auto">
            <a:xfrm>
              <a:off x="1781" y="2823"/>
              <a:ext cx="525"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800" dirty="0">
                  <a:solidFill>
                    <a:srgbClr val="FF0000"/>
                  </a:solidFill>
                  <a:latin typeface="黑体" pitchFamily="2" charset="-122"/>
                  <a:ea typeface="黑体" pitchFamily="2" charset="-122"/>
                </a:rPr>
                <a:t>INTC</a:t>
              </a:r>
            </a:p>
            <a:p>
              <a:pPr algn="ctr" eaLnBrk="1" hangingPunct="1">
                <a:spcBef>
                  <a:spcPct val="0"/>
                </a:spcBef>
              </a:pPr>
              <a:r>
                <a:rPr lang="en-US" altLang="zh-CN" sz="1800" dirty="0">
                  <a:latin typeface="黑体" pitchFamily="2" charset="-122"/>
                  <a:ea typeface="黑体" pitchFamily="2" charset="-122"/>
                </a:rPr>
                <a:t> </a:t>
              </a:r>
            </a:p>
          </p:txBody>
        </p:sp>
        <p:sp>
          <p:nvSpPr>
            <p:cNvPr id="51247" name="Line 62"/>
            <p:cNvSpPr>
              <a:spLocks noChangeShapeType="1"/>
            </p:cNvSpPr>
            <p:nvPr/>
          </p:nvSpPr>
          <p:spPr bwMode="auto">
            <a:xfrm flipV="1">
              <a:off x="2295" y="2567"/>
              <a:ext cx="0" cy="203"/>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8" name="Line 63"/>
            <p:cNvSpPr>
              <a:spLocks noChangeShapeType="1"/>
            </p:cNvSpPr>
            <p:nvPr/>
          </p:nvSpPr>
          <p:spPr bwMode="auto">
            <a:xfrm>
              <a:off x="1903" y="3216"/>
              <a:ext cx="0" cy="241"/>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Line 64"/>
            <p:cNvSpPr>
              <a:spLocks noChangeShapeType="1"/>
            </p:cNvSpPr>
            <p:nvPr/>
          </p:nvSpPr>
          <p:spPr bwMode="auto">
            <a:xfrm>
              <a:off x="2321" y="3215"/>
              <a:ext cx="0" cy="1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0" name="Oval 65"/>
            <p:cNvSpPr>
              <a:spLocks noChangeArrowheads="1"/>
            </p:cNvSpPr>
            <p:nvPr/>
          </p:nvSpPr>
          <p:spPr bwMode="auto">
            <a:xfrm>
              <a:off x="2295" y="3312"/>
              <a:ext cx="52" cy="66"/>
            </a:xfrm>
            <a:prstGeom prst="ellipse">
              <a:avLst/>
            </a:prstGeom>
            <a:solidFill>
              <a:srgbClr val="000000"/>
            </a:solidFill>
            <a:ln w="28575">
              <a:solidFill>
                <a:schemeClr val="tx1"/>
              </a:solidFill>
              <a:round/>
              <a:headEnd/>
              <a:tailEnd/>
            </a:ln>
          </p:spPr>
          <p:txBody>
            <a:bodyPr/>
            <a:lstStyle/>
            <a:p>
              <a:endParaRPr lang="zh-CN" altLang="en-US">
                <a:latin typeface="黑体" pitchFamily="2" charset="-122"/>
                <a:ea typeface="黑体" pitchFamily="2" charset="-122"/>
              </a:endParaRPr>
            </a:p>
          </p:txBody>
        </p:sp>
        <p:sp>
          <p:nvSpPr>
            <p:cNvPr id="51251" name="Line 66"/>
            <p:cNvSpPr>
              <a:spLocks noChangeShapeType="1"/>
            </p:cNvSpPr>
            <p:nvPr/>
          </p:nvSpPr>
          <p:spPr bwMode="auto">
            <a:xfrm>
              <a:off x="4785" y="2976"/>
              <a:ext cx="4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630238" y="511175"/>
            <a:ext cx="65341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6.3.3 </a:t>
            </a:r>
            <a:r>
              <a:rPr lang="zh-CN" altLang="en-US" dirty="0">
                <a:solidFill>
                  <a:srgbClr val="990000"/>
                </a:solidFill>
                <a:latin typeface="黑体" pitchFamily="2" charset="-122"/>
                <a:ea typeface="黑体" pitchFamily="2" charset="-122"/>
              </a:rPr>
              <a:t>同步控制方式下的多级时序系统</a:t>
            </a:r>
          </a:p>
        </p:txBody>
      </p:sp>
      <p:sp>
        <p:nvSpPr>
          <p:cNvPr id="52227" name="Text Box 3"/>
          <p:cNvSpPr txBox="1">
            <a:spLocks noChangeArrowheads="1"/>
          </p:cNvSpPr>
          <p:nvPr/>
        </p:nvSpPr>
        <p:spPr bwMode="auto">
          <a:xfrm>
            <a:off x="827088" y="1052513"/>
            <a:ext cx="59769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工作周期与节拍的信号生成</a:t>
            </a:r>
          </a:p>
        </p:txBody>
      </p:sp>
      <p:sp>
        <p:nvSpPr>
          <p:cNvPr id="52228" name="Text Box 4"/>
          <p:cNvSpPr txBox="1">
            <a:spLocks noChangeArrowheads="1"/>
          </p:cNvSpPr>
          <p:nvPr/>
        </p:nvSpPr>
        <p:spPr bwMode="auto">
          <a:xfrm>
            <a:off x="684213" y="1665288"/>
            <a:ext cx="810101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a:latin typeface="黑体" pitchFamily="2" charset="-122"/>
                <a:ea typeface="黑体" pitchFamily="2" charset="-122"/>
              </a:rPr>
              <a:t>（</a:t>
            </a:r>
            <a:r>
              <a:rPr lang="en-US" altLang="zh-CN" dirty="0">
                <a:latin typeface="黑体" pitchFamily="2" charset="-122"/>
                <a:ea typeface="黑体" pitchFamily="2" charset="-122"/>
              </a:rPr>
              <a:t>2</a:t>
            </a:r>
            <a:r>
              <a:rPr lang="zh-CN" altLang="en-US">
                <a:latin typeface="黑体" pitchFamily="2" charset="-122"/>
                <a:ea typeface="黑体" pitchFamily="2" charset="-122"/>
              </a:rPr>
              <a:t>）节拍信号发生器（以统一节拍法为例）</a:t>
            </a:r>
          </a:p>
          <a:p>
            <a:pPr eaLnBrk="1" hangingPunct="1">
              <a:spcBef>
                <a:spcPct val="0"/>
              </a:spcBef>
            </a:pPr>
            <a:r>
              <a:rPr lang="zh-CN" altLang="en-US">
                <a:latin typeface="黑体" pitchFamily="2" charset="-122"/>
                <a:ea typeface="黑体" pitchFamily="2" charset="-122"/>
              </a:rPr>
              <a:t>    可采用环形一位寄存器等。</a:t>
            </a:r>
          </a:p>
        </p:txBody>
      </p:sp>
      <p:sp>
        <p:nvSpPr>
          <p:cNvPr id="52229" name="Text Box 5"/>
          <p:cNvSpPr txBox="1">
            <a:spLocks noChangeArrowheads="1"/>
          </p:cNvSpPr>
          <p:nvPr/>
        </p:nvSpPr>
        <p:spPr bwMode="auto">
          <a:xfrm>
            <a:off x="8272463" y="4911725"/>
            <a:ext cx="58420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800" dirty="0">
                <a:latin typeface="黑体" pitchFamily="2" charset="-122"/>
                <a:ea typeface="黑体" pitchFamily="2" charset="-122"/>
              </a:rPr>
              <a:t>T3</a:t>
            </a:r>
          </a:p>
          <a:p>
            <a:pPr algn="just" eaLnBrk="1" hangingPunct="1">
              <a:spcBef>
                <a:spcPct val="0"/>
              </a:spcBef>
            </a:pPr>
            <a:r>
              <a:rPr lang="en-US" altLang="zh-CN" sz="1800" dirty="0">
                <a:latin typeface="黑体" pitchFamily="2" charset="-122"/>
                <a:ea typeface="黑体" pitchFamily="2" charset="-122"/>
              </a:rPr>
              <a:t> </a:t>
            </a:r>
          </a:p>
        </p:txBody>
      </p:sp>
      <p:grpSp>
        <p:nvGrpSpPr>
          <p:cNvPr id="52230" name="Group 63"/>
          <p:cNvGrpSpPr>
            <a:grpSpLocks/>
          </p:cNvGrpSpPr>
          <p:nvPr/>
        </p:nvGrpSpPr>
        <p:grpSpPr bwMode="auto">
          <a:xfrm>
            <a:off x="1943100" y="2744788"/>
            <a:ext cx="5688013" cy="1692275"/>
            <a:chOff x="1202" y="1865"/>
            <a:chExt cx="3447" cy="1225"/>
          </a:xfrm>
        </p:grpSpPr>
        <p:sp>
          <p:nvSpPr>
            <p:cNvPr id="52231" name="Text Box 53"/>
            <p:cNvSpPr txBox="1">
              <a:spLocks noChangeArrowheads="1"/>
            </p:cNvSpPr>
            <p:nvPr/>
          </p:nvSpPr>
          <p:spPr bwMode="auto">
            <a:xfrm>
              <a:off x="1202" y="2442"/>
              <a:ext cx="2126" cy="443"/>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2000">
                  <a:latin typeface="黑体" pitchFamily="2" charset="-122"/>
                  <a:ea typeface="黑体" pitchFamily="2" charset="-122"/>
                </a:rPr>
                <a:t>环形移位寄存器</a:t>
              </a:r>
            </a:p>
          </p:txBody>
        </p:sp>
        <p:sp>
          <p:nvSpPr>
            <p:cNvPr id="52232" name="Text Box 54"/>
            <p:cNvSpPr txBox="1">
              <a:spLocks noChangeArrowheads="1"/>
            </p:cNvSpPr>
            <p:nvPr/>
          </p:nvSpPr>
          <p:spPr bwMode="auto">
            <a:xfrm>
              <a:off x="1611" y="1865"/>
              <a:ext cx="1836"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2000" dirty="0">
                  <a:solidFill>
                    <a:srgbClr val="FF0000"/>
                  </a:solidFill>
                  <a:latin typeface="黑体" pitchFamily="2" charset="-122"/>
                  <a:ea typeface="黑体" pitchFamily="2" charset="-122"/>
                </a:rPr>
                <a:t>T</a:t>
              </a:r>
              <a:r>
                <a:rPr lang="en-US" altLang="zh-CN" sz="2000" baseline="-25000" dirty="0">
                  <a:solidFill>
                    <a:srgbClr val="FF0000"/>
                  </a:solidFill>
                  <a:latin typeface="黑体" pitchFamily="2" charset="-122"/>
                  <a:ea typeface="黑体" pitchFamily="2" charset="-122"/>
                </a:rPr>
                <a:t>3</a:t>
              </a:r>
              <a:r>
                <a:rPr lang="en-US" altLang="zh-CN" sz="2000" dirty="0">
                  <a:solidFill>
                    <a:srgbClr val="FF0000"/>
                  </a:solidFill>
                  <a:latin typeface="黑体" pitchFamily="2" charset="-122"/>
                  <a:ea typeface="黑体" pitchFamily="2" charset="-122"/>
                </a:rPr>
                <a:t>    T</a:t>
              </a:r>
              <a:r>
                <a:rPr lang="en-US" altLang="zh-CN" sz="2000" baseline="-25000" dirty="0">
                  <a:solidFill>
                    <a:srgbClr val="FF0000"/>
                  </a:solidFill>
                  <a:latin typeface="黑体" pitchFamily="2" charset="-122"/>
                  <a:ea typeface="黑体" pitchFamily="2" charset="-122"/>
                </a:rPr>
                <a:t>2</a:t>
              </a:r>
              <a:r>
                <a:rPr lang="en-US" altLang="zh-CN" sz="2000" dirty="0">
                  <a:solidFill>
                    <a:srgbClr val="FF0000"/>
                  </a:solidFill>
                  <a:latin typeface="黑体" pitchFamily="2" charset="-122"/>
                  <a:ea typeface="黑体" pitchFamily="2" charset="-122"/>
                </a:rPr>
                <a:t>    T</a:t>
              </a:r>
              <a:r>
                <a:rPr lang="en-US" altLang="zh-CN" sz="2000" baseline="-25000" dirty="0">
                  <a:solidFill>
                    <a:srgbClr val="FF0000"/>
                  </a:solidFill>
                  <a:latin typeface="黑体" pitchFamily="2" charset="-122"/>
                  <a:ea typeface="黑体" pitchFamily="2" charset="-122"/>
                </a:rPr>
                <a:t>1</a:t>
              </a:r>
              <a:r>
                <a:rPr lang="en-US" altLang="zh-CN" sz="2000" dirty="0">
                  <a:solidFill>
                    <a:srgbClr val="FF0000"/>
                  </a:solidFill>
                  <a:latin typeface="黑体" pitchFamily="2" charset="-122"/>
                  <a:ea typeface="黑体" pitchFamily="2" charset="-122"/>
                </a:rPr>
                <a:t>    T</a:t>
              </a:r>
              <a:r>
                <a:rPr lang="en-US" altLang="zh-CN" sz="2000" baseline="-25000" dirty="0">
                  <a:solidFill>
                    <a:srgbClr val="FF0000"/>
                  </a:solidFill>
                  <a:latin typeface="黑体" pitchFamily="2" charset="-122"/>
                  <a:ea typeface="黑体" pitchFamily="2" charset="-122"/>
                </a:rPr>
                <a:t>0</a:t>
              </a:r>
              <a:endParaRPr lang="en-US" altLang="zh-CN" sz="2000" dirty="0">
                <a:solidFill>
                  <a:srgbClr val="FF0000"/>
                </a:solidFill>
                <a:latin typeface="黑体" pitchFamily="2" charset="-122"/>
                <a:ea typeface="黑体" pitchFamily="2" charset="-122"/>
              </a:endParaRPr>
            </a:p>
          </p:txBody>
        </p:sp>
        <p:sp>
          <p:nvSpPr>
            <p:cNvPr id="52233" name="Line 55"/>
            <p:cNvSpPr>
              <a:spLocks noChangeShapeType="1"/>
            </p:cNvSpPr>
            <p:nvPr/>
          </p:nvSpPr>
          <p:spPr bwMode="auto">
            <a:xfrm flipV="1">
              <a:off x="2974" y="2177"/>
              <a:ext cx="0" cy="26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4" name="Line 56"/>
            <p:cNvSpPr>
              <a:spLocks noChangeShapeType="1"/>
            </p:cNvSpPr>
            <p:nvPr/>
          </p:nvSpPr>
          <p:spPr bwMode="auto">
            <a:xfrm flipV="1">
              <a:off x="2555" y="2177"/>
              <a:ext cx="0" cy="26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5" name="Line 57"/>
            <p:cNvSpPr>
              <a:spLocks noChangeShapeType="1"/>
            </p:cNvSpPr>
            <p:nvPr/>
          </p:nvSpPr>
          <p:spPr bwMode="auto">
            <a:xfrm flipV="1">
              <a:off x="2104" y="2177"/>
              <a:ext cx="0" cy="26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6" name="Line 58"/>
            <p:cNvSpPr>
              <a:spLocks noChangeShapeType="1"/>
            </p:cNvSpPr>
            <p:nvPr/>
          </p:nvSpPr>
          <p:spPr bwMode="auto">
            <a:xfrm flipV="1">
              <a:off x="1685" y="2177"/>
              <a:ext cx="0" cy="26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7" name="Line 59"/>
            <p:cNvSpPr>
              <a:spLocks noChangeShapeType="1"/>
            </p:cNvSpPr>
            <p:nvPr/>
          </p:nvSpPr>
          <p:spPr bwMode="auto">
            <a:xfrm>
              <a:off x="3328" y="2664"/>
              <a:ext cx="387" cy="0"/>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8" name="Text Box 60"/>
            <p:cNvSpPr txBox="1">
              <a:spLocks noChangeArrowheads="1"/>
            </p:cNvSpPr>
            <p:nvPr/>
          </p:nvSpPr>
          <p:spPr bwMode="auto">
            <a:xfrm>
              <a:off x="3425" y="2265"/>
              <a:ext cx="1224"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2000">
                  <a:latin typeface="黑体" pitchFamily="2" charset="-122"/>
                  <a:ea typeface="黑体" pitchFamily="2" charset="-122"/>
                </a:rPr>
                <a:t>预置（</a:t>
              </a:r>
              <a:r>
                <a:rPr lang="en-US" altLang="zh-CN" sz="2000" dirty="0">
                  <a:latin typeface="黑体" pitchFamily="2" charset="-122"/>
                  <a:ea typeface="黑体" pitchFamily="2" charset="-122"/>
                </a:rPr>
                <a:t>0001</a:t>
              </a:r>
              <a:r>
                <a:rPr lang="zh-CN" altLang="en-US" sz="2000">
                  <a:latin typeface="黑体" pitchFamily="2" charset="-122"/>
                  <a:ea typeface="黑体" pitchFamily="2" charset="-122"/>
                </a:rPr>
                <a:t>）</a:t>
              </a:r>
            </a:p>
          </p:txBody>
        </p:sp>
        <p:sp>
          <p:nvSpPr>
            <p:cNvPr id="52239" name="Freeform 61"/>
            <p:cNvSpPr>
              <a:spLocks/>
            </p:cNvSpPr>
            <p:nvPr/>
          </p:nvSpPr>
          <p:spPr bwMode="auto">
            <a:xfrm>
              <a:off x="2813" y="2885"/>
              <a:ext cx="934" cy="178"/>
            </a:xfrm>
            <a:custGeom>
              <a:avLst/>
              <a:gdLst>
                <a:gd name="T0" fmla="*/ 0 w 1218"/>
                <a:gd name="T1" fmla="*/ 0 h 248"/>
                <a:gd name="T2" fmla="*/ 0 w 1218"/>
                <a:gd name="T3" fmla="*/ 1 h 248"/>
                <a:gd name="T4" fmla="*/ 23 w 1218"/>
                <a:gd name="T5" fmla="*/ 1 h 248"/>
                <a:gd name="T6" fmla="*/ 0 60000 65536"/>
                <a:gd name="T7" fmla="*/ 0 60000 65536"/>
                <a:gd name="T8" fmla="*/ 0 60000 65536"/>
                <a:gd name="T9" fmla="*/ 0 w 1218"/>
                <a:gd name="T10" fmla="*/ 0 h 248"/>
                <a:gd name="T11" fmla="*/ 1218 w 1218"/>
                <a:gd name="T12" fmla="*/ 248 h 248"/>
              </a:gdLst>
              <a:ahLst/>
              <a:cxnLst>
                <a:cxn ang="T6">
                  <a:pos x="T0" y="T1"/>
                </a:cxn>
                <a:cxn ang="T7">
                  <a:pos x="T2" y="T3"/>
                </a:cxn>
                <a:cxn ang="T8">
                  <a:pos x="T4" y="T5"/>
                </a:cxn>
              </a:cxnLst>
              <a:rect l="T9" t="T10" r="T11" b="T12"/>
              <a:pathLst>
                <a:path w="1218" h="248">
                  <a:moveTo>
                    <a:pt x="0" y="0"/>
                  </a:moveTo>
                  <a:lnTo>
                    <a:pt x="0" y="248"/>
                  </a:lnTo>
                  <a:lnTo>
                    <a:pt x="1218" y="248"/>
                  </a:lnTo>
                </a:path>
              </a:pathLst>
            </a:custGeom>
            <a:noFill/>
            <a:ln w="28575"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40" name="Text Box 62"/>
            <p:cNvSpPr txBox="1">
              <a:spLocks noChangeArrowheads="1"/>
            </p:cNvSpPr>
            <p:nvPr/>
          </p:nvSpPr>
          <p:spPr bwMode="auto">
            <a:xfrm>
              <a:off x="3425" y="2684"/>
              <a:ext cx="837"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2000" dirty="0">
                  <a:latin typeface="黑体" pitchFamily="2" charset="-122"/>
                  <a:ea typeface="黑体" pitchFamily="2" charset="-122"/>
                </a:rPr>
                <a:t>Clock</a:t>
              </a:r>
            </a:p>
          </p:txBody>
        </p:sp>
      </p:grpSp>
    </p:spTree>
  </p:cSld>
  <p:clrMapOvr>
    <a:masterClrMapping/>
  </p:clrMapOvr>
  <p:transition>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a:spLocks noChangeArrowheads="1"/>
          </p:cNvSpPr>
          <p:nvPr/>
        </p:nvSpPr>
        <p:spPr bwMode="auto">
          <a:xfrm>
            <a:off x="611188" y="584200"/>
            <a:ext cx="853281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dirty="0">
                <a:solidFill>
                  <a:srgbClr val="CC3300"/>
                </a:solidFill>
                <a:latin typeface="黑体" pitchFamily="2" charset="-122"/>
                <a:ea typeface="黑体" pitchFamily="2" charset="-122"/>
              </a:rPr>
              <a:t>思考题：</a:t>
            </a:r>
            <a:r>
              <a:rPr lang="en-US" altLang="zh-CN" dirty="0">
                <a:latin typeface="黑体" pitchFamily="2" charset="-122"/>
                <a:ea typeface="黑体" pitchFamily="2" charset="-122"/>
              </a:rPr>
              <a:t>P214  6-1</a:t>
            </a:r>
            <a:r>
              <a:rPr lang="zh-CN" altLang="en-US" dirty="0">
                <a:latin typeface="黑体" pitchFamily="2" charset="-122"/>
                <a:ea typeface="黑体" pitchFamily="2" charset="-122"/>
              </a:rPr>
              <a:t>至</a:t>
            </a:r>
            <a:r>
              <a:rPr lang="en-US" altLang="zh-CN" dirty="0">
                <a:latin typeface="黑体" pitchFamily="2" charset="-122"/>
                <a:ea typeface="黑体" pitchFamily="2" charset="-122"/>
              </a:rPr>
              <a:t>6-5</a:t>
            </a:r>
            <a:r>
              <a:rPr lang="zh-CN" altLang="en-US" dirty="0">
                <a:latin typeface="黑体" pitchFamily="2" charset="-122"/>
                <a:ea typeface="黑体" pitchFamily="2" charset="-122"/>
              </a:rPr>
              <a:t>，</a:t>
            </a:r>
            <a:r>
              <a:rPr lang="en-US" altLang="zh-CN" dirty="0">
                <a:latin typeface="黑体" pitchFamily="2" charset="-122"/>
                <a:ea typeface="黑体" pitchFamily="2" charset="-122"/>
              </a:rPr>
              <a:t>6-8             </a:t>
            </a:r>
          </a:p>
          <a:p>
            <a:pPr eaLnBrk="1" hangingPunct="1">
              <a:lnSpc>
                <a:spcPct val="100000"/>
              </a:lnSpc>
            </a:pPr>
            <a:r>
              <a:rPr lang="zh-CN" altLang="en-US" dirty="0">
                <a:solidFill>
                  <a:srgbClr val="CC3300"/>
                </a:solidFill>
                <a:latin typeface="黑体" pitchFamily="2" charset="-122"/>
                <a:ea typeface="黑体" pitchFamily="2" charset="-122"/>
              </a:rPr>
              <a:t>习题：  </a:t>
            </a:r>
            <a:r>
              <a:rPr lang="en-US" altLang="zh-CN" dirty="0">
                <a:latin typeface="黑体" pitchFamily="2" charset="-122"/>
                <a:ea typeface="黑体" pitchFamily="2" charset="-122"/>
              </a:rPr>
              <a:t>P214  6-6</a:t>
            </a:r>
            <a:r>
              <a:rPr lang="zh-CN" altLang="en-US" dirty="0">
                <a:latin typeface="黑体" pitchFamily="2" charset="-122"/>
                <a:ea typeface="黑体" pitchFamily="2" charset="-122"/>
              </a:rPr>
              <a:t>，</a:t>
            </a:r>
            <a:r>
              <a:rPr lang="en-US" altLang="zh-CN" dirty="0">
                <a:latin typeface="黑体" pitchFamily="2" charset="-122"/>
                <a:ea typeface="黑体" pitchFamily="2" charset="-122"/>
              </a:rPr>
              <a:t>6-7(</a:t>
            </a:r>
            <a:r>
              <a:rPr lang="zh-CN" altLang="en-US" dirty="0">
                <a:latin typeface="黑体" pitchFamily="2" charset="-122"/>
                <a:ea typeface="黑体" pitchFamily="2" charset="-122"/>
              </a:rPr>
              <a:t>以加</a:t>
            </a:r>
            <a:r>
              <a:rPr lang="en-US" altLang="zh-CN" dirty="0">
                <a:latin typeface="黑体" pitchFamily="2" charset="-122"/>
                <a:ea typeface="黑体" pitchFamily="2" charset="-122"/>
              </a:rPr>
              <a:t>1</a:t>
            </a:r>
            <a:r>
              <a:rPr lang="zh-CN" altLang="en-US" dirty="0">
                <a:latin typeface="黑体" pitchFamily="2" charset="-122"/>
                <a:ea typeface="黑体" pitchFamily="2" charset="-122"/>
              </a:rPr>
              <a:t>指令为例</a:t>
            </a:r>
            <a:r>
              <a:rPr lang="en-US" altLang="zh-CN" dirty="0">
                <a:latin typeface="黑体" pitchFamily="2" charset="-122"/>
                <a:ea typeface="黑体" pitchFamily="2" charset="-122"/>
              </a:rPr>
              <a:t>) </a:t>
            </a:r>
          </a:p>
          <a:p>
            <a:pPr eaLnBrk="1" hangingPunct="1">
              <a:lnSpc>
                <a:spcPct val="100000"/>
              </a:lnSpc>
            </a:pPr>
            <a:endParaRPr lang="en-US" altLang="zh-CN" dirty="0">
              <a:latin typeface="黑体" pitchFamily="2" charset="-122"/>
              <a:ea typeface="黑体" pitchFamily="2" charset="-122"/>
            </a:endParaRPr>
          </a:p>
          <a:p>
            <a:pPr eaLnBrk="1" hangingPunct="1">
              <a:lnSpc>
                <a:spcPct val="100000"/>
              </a:lnSpc>
            </a:pPr>
            <a:r>
              <a:rPr lang="zh-CN" altLang="en-US" dirty="0">
                <a:solidFill>
                  <a:srgbClr val="CC3300"/>
                </a:solidFill>
                <a:latin typeface="黑体" pitchFamily="2" charset="-122"/>
                <a:ea typeface="黑体" pitchFamily="2" charset="-122"/>
              </a:rPr>
              <a:t>复习：练习自测题</a:t>
            </a:r>
            <a:r>
              <a:rPr lang="zh-CN" altLang="en-US" dirty="0">
                <a:latin typeface="黑体" pitchFamily="2" charset="-122"/>
                <a:ea typeface="黑体" pitchFamily="2" charset="-122"/>
              </a:rPr>
              <a:t>第</a:t>
            </a:r>
            <a:r>
              <a:rPr lang="en-US" altLang="zh-CN" dirty="0">
                <a:latin typeface="黑体" pitchFamily="2" charset="-122"/>
                <a:ea typeface="黑体" pitchFamily="2" charset="-122"/>
              </a:rPr>
              <a:t>6</a:t>
            </a:r>
            <a:r>
              <a:rPr lang="zh-CN" altLang="en-US" dirty="0">
                <a:latin typeface="黑体" pitchFamily="2" charset="-122"/>
                <a:ea typeface="黑体" pitchFamily="2" charset="-122"/>
              </a:rPr>
              <a:t>章。</a:t>
            </a:r>
          </a:p>
          <a:p>
            <a:pPr eaLnBrk="1" hangingPunct="1">
              <a:lnSpc>
                <a:spcPct val="100000"/>
              </a:lnSpc>
            </a:pPr>
            <a:endParaRPr lang="en-US" altLang="zh-CN" dirty="0">
              <a:latin typeface="黑体" pitchFamily="2" charset="-122"/>
              <a:ea typeface="黑体" pitchFamily="2" charset="-122"/>
            </a:endParaRPr>
          </a:p>
        </p:txBody>
      </p:sp>
    </p:spTree>
  </p:cSld>
  <p:clrMapOvr>
    <a:masterClrMapping/>
  </p:clrMapOvr>
  <p:transition>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97"/>
          <p:cNvSpPr>
            <a:spLocks noChangeArrowheads="1"/>
          </p:cNvSpPr>
          <p:nvPr/>
        </p:nvSpPr>
        <p:spPr bwMode="auto">
          <a:xfrm>
            <a:off x="755650" y="1520825"/>
            <a:ext cx="7416800" cy="529272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p>
        </p:txBody>
      </p:sp>
      <p:sp>
        <p:nvSpPr>
          <p:cNvPr id="54275" name="Rectangle 2"/>
          <p:cNvSpPr>
            <a:spLocks noChangeArrowheads="1"/>
          </p:cNvSpPr>
          <p:nvPr/>
        </p:nvSpPr>
        <p:spPr bwMode="auto">
          <a:xfrm>
            <a:off x="0" y="446088"/>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6.4 </a:t>
            </a:r>
            <a:r>
              <a:rPr lang="zh-CN" altLang="en-US" sz="2800">
                <a:solidFill>
                  <a:srgbClr val="990000"/>
                </a:solidFill>
                <a:latin typeface="黑体" pitchFamily="2" charset="-122"/>
                <a:ea typeface="黑体" pitchFamily="2" charset="-122"/>
              </a:rPr>
              <a:t>指令的微操作序列</a:t>
            </a:r>
          </a:p>
        </p:txBody>
      </p:sp>
      <p:sp>
        <p:nvSpPr>
          <p:cNvPr id="54276" name="Text Box 5"/>
          <p:cNvSpPr txBox="1">
            <a:spLocks noChangeArrowheads="1"/>
          </p:cNvSpPr>
          <p:nvPr/>
        </p:nvSpPr>
        <p:spPr bwMode="auto">
          <a:xfrm>
            <a:off x="611188" y="981075"/>
            <a:ext cx="748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en-US" altLang="zh-CN" dirty="0">
                <a:solidFill>
                  <a:srgbClr val="990000"/>
                </a:solidFill>
                <a:latin typeface="黑体" pitchFamily="2" charset="-122"/>
                <a:ea typeface="黑体" pitchFamily="2" charset="-122"/>
              </a:rPr>
              <a:t>6.4.1 </a:t>
            </a:r>
            <a:r>
              <a:rPr lang="zh-CN" altLang="en-US">
                <a:solidFill>
                  <a:srgbClr val="990000"/>
                </a:solidFill>
                <a:latin typeface="黑体" pitchFamily="2" charset="-122"/>
                <a:ea typeface="黑体" pitchFamily="2" charset="-122"/>
              </a:rPr>
              <a:t>模型机</a:t>
            </a:r>
            <a:endParaRPr lang="zh-CN" altLang="en-US">
              <a:latin typeface="黑体" pitchFamily="2" charset="-122"/>
              <a:ea typeface="黑体" pitchFamily="2" charset="-122"/>
            </a:endParaRPr>
          </a:p>
        </p:txBody>
      </p:sp>
      <p:grpSp>
        <p:nvGrpSpPr>
          <p:cNvPr id="54277" name="Group 996"/>
          <p:cNvGrpSpPr>
            <a:grpSpLocks/>
          </p:cNvGrpSpPr>
          <p:nvPr/>
        </p:nvGrpSpPr>
        <p:grpSpPr bwMode="auto">
          <a:xfrm>
            <a:off x="755650" y="1508125"/>
            <a:ext cx="7416800" cy="5264150"/>
            <a:chOff x="408" y="978"/>
            <a:chExt cx="4672" cy="3316"/>
          </a:xfrm>
        </p:grpSpPr>
        <p:sp>
          <p:nvSpPr>
            <p:cNvPr id="54279" name="Rectangle 997"/>
            <p:cNvSpPr>
              <a:spLocks noChangeArrowheads="1"/>
            </p:cNvSpPr>
            <p:nvPr/>
          </p:nvSpPr>
          <p:spPr bwMode="auto">
            <a:xfrm>
              <a:off x="408" y="2494"/>
              <a:ext cx="4672" cy="31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54280" name="Group 998"/>
            <p:cNvGrpSpPr>
              <a:grpSpLocks/>
            </p:cNvGrpSpPr>
            <p:nvPr/>
          </p:nvGrpSpPr>
          <p:grpSpPr bwMode="auto">
            <a:xfrm>
              <a:off x="430" y="978"/>
              <a:ext cx="4650" cy="3316"/>
              <a:chOff x="727" y="2032"/>
              <a:chExt cx="9240" cy="12586"/>
            </a:xfrm>
          </p:grpSpPr>
          <p:grpSp>
            <p:nvGrpSpPr>
              <p:cNvPr id="54281" name="Group 999"/>
              <p:cNvGrpSpPr>
                <a:grpSpLocks/>
              </p:cNvGrpSpPr>
              <p:nvPr/>
            </p:nvGrpSpPr>
            <p:grpSpPr bwMode="auto">
              <a:xfrm>
                <a:off x="1004" y="2089"/>
                <a:ext cx="8141" cy="12186"/>
                <a:chOff x="1040" y="1418"/>
                <a:chExt cx="8862" cy="13206"/>
              </a:xfrm>
            </p:grpSpPr>
            <p:sp>
              <p:nvSpPr>
                <p:cNvPr id="54475" name="Line 1000"/>
                <p:cNvSpPr>
                  <a:spLocks noChangeShapeType="1"/>
                </p:cNvSpPr>
                <p:nvPr/>
              </p:nvSpPr>
              <p:spPr bwMode="auto">
                <a:xfrm rot="5400000">
                  <a:off x="2006" y="8394"/>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76" name="Line 1001"/>
                <p:cNvSpPr>
                  <a:spLocks noChangeShapeType="1"/>
                </p:cNvSpPr>
                <p:nvPr/>
              </p:nvSpPr>
              <p:spPr bwMode="auto">
                <a:xfrm rot="16200000" flipH="1">
                  <a:off x="2006" y="7960"/>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77" name="Line 1002"/>
                <p:cNvSpPr>
                  <a:spLocks noChangeShapeType="1"/>
                </p:cNvSpPr>
                <p:nvPr/>
              </p:nvSpPr>
              <p:spPr bwMode="auto">
                <a:xfrm rot="16200000" flipH="1">
                  <a:off x="1922" y="9178"/>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4478" name="Group 1003"/>
                <p:cNvGrpSpPr>
                  <a:grpSpLocks/>
                </p:cNvGrpSpPr>
                <p:nvPr/>
              </p:nvGrpSpPr>
              <p:grpSpPr bwMode="auto">
                <a:xfrm>
                  <a:off x="1040" y="1418"/>
                  <a:ext cx="378" cy="13206"/>
                  <a:chOff x="1040" y="1542"/>
                  <a:chExt cx="378" cy="13082"/>
                </a:xfrm>
              </p:grpSpPr>
              <p:sp>
                <p:nvSpPr>
                  <p:cNvPr id="54523" name="Line 1004"/>
                  <p:cNvSpPr>
                    <a:spLocks noChangeShapeType="1"/>
                  </p:cNvSpPr>
                  <p:nvPr/>
                </p:nvSpPr>
                <p:spPr bwMode="auto">
                  <a:xfrm>
                    <a:off x="1040" y="1542"/>
                    <a:ext cx="0" cy="13082"/>
                  </a:xfrm>
                  <a:prstGeom prst="line">
                    <a:avLst/>
                  </a:prstGeom>
                  <a:noFill/>
                  <a:ln w="38100" cmpd="dbl">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524" name="Line 1005"/>
                  <p:cNvSpPr>
                    <a:spLocks noChangeShapeType="1"/>
                  </p:cNvSpPr>
                  <p:nvPr/>
                </p:nvSpPr>
                <p:spPr bwMode="auto">
                  <a:xfrm>
                    <a:off x="1418" y="1542"/>
                    <a:ext cx="0" cy="13082"/>
                  </a:xfrm>
                  <a:prstGeom prst="line">
                    <a:avLst/>
                  </a:prstGeom>
                  <a:noFill/>
                  <a:ln w="38100" cmpd="dbl">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525" name="Line 1006"/>
                  <p:cNvSpPr>
                    <a:spLocks noChangeShapeType="1"/>
                  </p:cNvSpPr>
                  <p:nvPr/>
                </p:nvSpPr>
                <p:spPr bwMode="auto">
                  <a:xfrm>
                    <a:off x="1250" y="1542"/>
                    <a:ext cx="0" cy="13082"/>
                  </a:xfrm>
                  <a:prstGeom prst="line">
                    <a:avLst/>
                  </a:prstGeom>
                  <a:noFill/>
                  <a:ln w="38100" cmpd="dbl">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79" name="Freeform 1007"/>
                <p:cNvSpPr>
                  <a:spLocks/>
                </p:cNvSpPr>
                <p:nvPr/>
              </p:nvSpPr>
              <p:spPr bwMode="auto">
                <a:xfrm>
                  <a:off x="3770" y="6998"/>
                  <a:ext cx="6132" cy="5642"/>
                </a:xfrm>
                <a:custGeom>
                  <a:avLst/>
                  <a:gdLst>
                    <a:gd name="T0" fmla="*/ 0 w 5590"/>
                    <a:gd name="T1" fmla="*/ 6586 h 5580"/>
                    <a:gd name="T2" fmla="*/ 0 w 5590"/>
                    <a:gd name="T3" fmla="*/ 0 h 5580"/>
                    <a:gd name="T4" fmla="*/ 22387 w 5590"/>
                    <a:gd name="T5" fmla="*/ 0 h 5580"/>
                    <a:gd name="T6" fmla="*/ 22400 w 5590"/>
                    <a:gd name="T7" fmla="*/ 3459 h 5580"/>
                    <a:gd name="T8" fmla="*/ 0 60000 65536"/>
                    <a:gd name="T9" fmla="*/ 0 60000 65536"/>
                    <a:gd name="T10" fmla="*/ 0 60000 65536"/>
                    <a:gd name="T11" fmla="*/ 0 60000 65536"/>
                    <a:gd name="T12" fmla="*/ 0 w 5590"/>
                    <a:gd name="T13" fmla="*/ 0 h 5580"/>
                    <a:gd name="T14" fmla="*/ 5590 w 5590"/>
                    <a:gd name="T15" fmla="*/ 5580 h 5580"/>
                  </a:gdLst>
                  <a:ahLst/>
                  <a:cxnLst>
                    <a:cxn ang="T8">
                      <a:pos x="T0" y="T1"/>
                    </a:cxn>
                    <a:cxn ang="T9">
                      <a:pos x="T2" y="T3"/>
                    </a:cxn>
                    <a:cxn ang="T10">
                      <a:pos x="T4" y="T5"/>
                    </a:cxn>
                    <a:cxn ang="T11">
                      <a:pos x="T6" y="T7"/>
                    </a:cxn>
                  </a:cxnLst>
                  <a:rect l="T12" t="T13" r="T14" b="T15"/>
                  <a:pathLst>
                    <a:path w="5590" h="5580">
                      <a:moveTo>
                        <a:pt x="0" y="5580"/>
                      </a:moveTo>
                      <a:lnTo>
                        <a:pt x="0" y="0"/>
                      </a:lnTo>
                      <a:lnTo>
                        <a:pt x="5586" y="0"/>
                      </a:lnTo>
                      <a:lnTo>
                        <a:pt x="5590" y="2930"/>
                      </a:ln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80" name="Line 1008"/>
                <p:cNvSpPr>
                  <a:spLocks noChangeShapeType="1"/>
                </p:cNvSpPr>
                <p:nvPr/>
              </p:nvSpPr>
              <p:spPr bwMode="auto">
                <a:xfrm>
                  <a:off x="4736"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1" name="Line 1009"/>
                <p:cNvSpPr>
                  <a:spLocks noChangeShapeType="1"/>
                </p:cNvSpPr>
                <p:nvPr/>
              </p:nvSpPr>
              <p:spPr bwMode="auto">
                <a:xfrm>
                  <a:off x="6080"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2" name="Line 1010"/>
                <p:cNvSpPr>
                  <a:spLocks noChangeShapeType="1"/>
                </p:cNvSpPr>
                <p:nvPr/>
              </p:nvSpPr>
              <p:spPr bwMode="auto">
                <a:xfrm>
                  <a:off x="7508"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3" name="Line 1011"/>
                <p:cNvSpPr>
                  <a:spLocks noChangeShapeType="1"/>
                </p:cNvSpPr>
                <p:nvPr/>
              </p:nvSpPr>
              <p:spPr bwMode="auto">
                <a:xfrm>
                  <a:off x="8894"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4" name="Line 1012"/>
                <p:cNvSpPr>
                  <a:spLocks noChangeShapeType="1"/>
                </p:cNvSpPr>
                <p:nvPr/>
              </p:nvSpPr>
              <p:spPr bwMode="auto">
                <a:xfrm>
                  <a:off x="4736"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5" name="Line 1013"/>
                <p:cNvSpPr>
                  <a:spLocks noChangeShapeType="1"/>
                </p:cNvSpPr>
                <p:nvPr/>
              </p:nvSpPr>
              <p:spPr bwMode="auto">
                <a:xfrm>
                  <a:off x="6080"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6" name="Line 1014"/>
                <p:cNvSpPr>
                  <a:spLocks noChangeShapeType="1"/>
                </p:cNvSpPr>
                <p:nvPr/>
              </p:nvSpPr>
              <p:spPr bwMode="auto">
                <a:xfrm>
                  <a:off x="7508"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7" name="Line 1015"/>
                <p:cNvSpPr>
                  <a:spLocks noChangeShapeType="1"/>
                </p:cNvSpPr>
                <p:nvPr/>
              </p:nvSpPr>
              <p:spPr bwMode="auto">
                <a:xfrm>
                  <a:off x="8894"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8" name="Line 1016"/>
                <p:cNvSpPr>
                  <a:spLocks noChangeShapeType="1"/>
                </p:cNvSpPr>
                <p:nvPr/>
              </p:nvSpPr>
              <p:spPr bwMode="auto">
                <a:xfrm rot="5400000">
                  <a:off x="9125" y="8495"/>
                  <a:ext cx="0" cy="147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89" name="Line 1017"/>
                <p:cNvSpPr>
                  <a:spLocks noChangeShapeType="1"/>
                </p:cNvSpPr>
                <p:nvPr/>
              </p:nvSpPr>
              <p:spPr bwMode="auto">
                <a:xfrm rot="5400000">
                  <a:off x="3413" y="8315"/>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90" name="Line 1018"/>
                <p:cNvSpPr>
                  <a:spLocks noChangeShapeType="1"/>
                </p:cNvSpPr>
                <p:nvPr/>
              </p:nvSpPr>
              <p:spPr bwMode="auto">
                <a:xfrm rot="5400000">
                  <a:off x="4316" y="10730"/>
                  <a:ext cx="0" cy="109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91" name="Line 1019"/>
                <p:cNvSpPr>
                  <a:spLocks noChangeShapeType="1"/>
                </p:cNvSpPr>
                <p:nvPr/>
              </p:nvSpPr>
              <p:spPr bwMode="auto">
                <a:xfrm rot="5400000">
                  <a:off x="1985" y="3641"/>
                  <a:ext cx="0" cy="11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92" name="Line 1020"/>
                <p:cNvSpPr>
                  <a:spLocks noChangeShapeType="1"/>
                </p:cNvSpPr>
                <p:nvPr/>
              </p:nvSpPr>
              <p:spPr bwMode="auto">
                <a:xfrm rot="5400000">
                  <a:off x="6101" y="2301"/>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93" name="Line 1021"/>
                <p:cNvSpPr>
                  <a:spLocks noChangeShapeType="1"/>
                </p:cNvSpPr>
                <p:nvPr/>
              </p:nvSpPr>
              <p:spPr bwMode="auto">
                <a:xfrm rot="5400000">
                  <a:off x="2363" y="1589"/>
                  <a:ext cx="0" cy="189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94" name="Line 1022"/>
                <p:cNvSpPr>
                  <a:spLocks noChangeShapeType="1"/>
                </p:cNvSpPr>
                <p:nvPr/>
              </p:nvSpPr>
              <p:spPr bwMode="auto">
                <a:xfrm rot="16200000" flipH="1">
                  <a:off x="8600" y="8672"/>
                  <a:ext cx="0" cy="260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95" name="Line 1023"/>
                <p:cNvSpPr>
                  <a:spLocks noChangeShapeType="1"/>
                </p:cNvSpPr>
                <p:nvPr/>
              </p:nvSpPr>
              <p:spPr bwMode="auto">
                <a:xfrm rot="16200000" flipH="1">
                  <a:off x="7615" y="8913"/>
                  <a:ext cx="8" cy="64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96" name="Line 1024"/>
                <p:cNvSpPr>
                  <a:spLocks noChangeShapeType="1"/>
                </p:cNvSpPr>
                <p:nvPr/>
              </p:nvSpPr>
              <p:spPr bwMode="auto">
                <a:xfrm rot="16200000" flipH="1">
                  <a:off x="5723" y="8701"/>
                  <a:ext cx="0" cy="155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97" name="Line 1025"/>
                <p:cNvSpPr>
                  <a:spLocks noChangeShapeType="1"/>
                </p:cNvSpPr>
                <p:nvPr/>
              </p:nvSpPr>
              <p:spPr bwMode="auto">
                <a:xfrm rot="16200000" flipH="1">
                  <a:off x="4127" y="912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98" name="Line 1026"/>
                <p:cNvSpPr>
                  <a:spLocks noChangeShapeType="1"/>
                </p:cNvSpPr>
                <p:nvPr/>
              </p:nvSpPr>
              <p:spPr bwMode="auto">
                <a:xfrm rot="16200000" flipH="1">
                  <a:off x="3413" y="943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499" name="Line 1027"/>
                <p:cNvSpPr>
                  <a:spLocks noChangeShapeType="1"/>
                </p:cNvSpPr>
                <p:nvPr/>
              </p:nvSpPr>
              <p:spPr bwMode="auto">
                <a:xfrm rot="16200000" flipH="1">
                  <a:off x="1817" y="4423"/>
                  <a:ext cx="0" cy="1554"/>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0" name="Line 1028"/>
                <p:cNvSpPr>
                  <a:spLocks noChangeShapeType="1"/>
                </p:cNvSpPr>
                <p:nvPr/>
              </p:nvSpPr>
              <p:spPr bwMode="auto">
                <a:xfrm rot="5400000">
                  <a:off x="1922" y="4900"/>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1" name="Line 1029"/>
                <p:cNvSpPr>
                  <a:spLocks noChangeShapeType="1"/>
                </p:cNvSpPr>
                <p:nvPr/>
              </p:nvSpPr>
              <p:spPr bwMode="auto">
                <a:xfrm rot="16200000" flipH="1">
                  <a:off x="2174" y="718"/>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2" name="Line 1030"/>
                <p:cNvSpPr>
                  <a:spLocks noChangeShapeType="1"/>
                </p:cNvSpPr>
                <p:nvPr/>
              </p:nvSpPr>
              <p:spPr bwMode="auto">
                <a:xfrm rot="16200000" flipH="1">
                  <a:off x="2174" y="532"/>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3" name="Line 1031"/>
                <p:cNvSpPr>
                  <a:spLocks noChangeShapeType="1"/>
                </p:cNvSpPr>
                <p:nvPr/>
              </p:nvSpPr>
              <p:spPr bwMode="auto">
                <a:xfrm rot="5400000">
                  <a:off x="2174" y="904"/>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4" name="Line 1032"/>
                <p:cNvSpPr>
                  <a:spLocks noChangeShapeType="1"/>
                </p:cNvSpPr>
                <p:nvPr/>
              </p:nvSpPr>
              <p:spPr bwMode="auto">
                <a:xfrm rot="5400000">
                  <a:off x="2195" y="2395"/>
                  <a:ext cx="0" cy="189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5" name="Line 1033"/>
                <p:cNvSpPr>
                  <a:spLocks noChangeShapeType="1"/>
                </p:cNvSpPr>
                <p:nvPr/>
              </p:nvSpPr>
              <p:spPr bwMode="auto">
                <a:xfrm rot="16200000" flipH="1">
                  <a:off x="7928" y="11168"/>
                  <a:ext cx="0" cy="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6" name="Line 1034"/>
                <p:cNvSpPr>
                  <a:spLocks noChangeShapeType="1"/>
                </p:cNvSpPr>
                <p:nvPr/>
              </p:nvSpPr>
              <p:spPr bwMode="auto">
                <a:xfrm rot="5400000">
                  <a:off x="4316" y="12094"/>
                  <a:ext cx="0" cy="109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4507" name="Freeform 1035"/>
                <p:cNvSpPr>
                  <a:spLocks/>
                </p:cNvSpPr>
                <p:nvPr/>
              </p:nvSpPr>
              <p:spPr bwMode="auto">
                <a:xfrm>
                  <a:off x="6248" y="9664"/>
                  <a:ext cx="252" cy="1426"/>
                </a:xfrm>
                <a:custGeom>
                  <a:avLst/>
                  <a:gdLst>
                    <a:gd name="T0" fmla="*/ 73601 w 168"/>
                    <a:gd name="T1" fmla="*/ 0 h 1426"/>
                    <a:gd name="T2" fmla="*/ 0 w 168"/>
                    <a:gd name="T3" fmla="*/ 0 h 1426"/>
                    <a:gd name="T4" fmla="*/ 0 w 168"/>
                    <a:gd name="T5" fmla="*/ 1426 h 1426"/>
                    <a:gd name="T6" fmla="*/ 0 60000 65536"/>
                    <a:gd name="T7" fmla="*/ 0 60000 65536"/>
                    <a:gd name="T8" fmla="*/ 0 60000 65536"/>
                    <a:gd name="T9" fmla="*/ 0 w 168"/>
                    <a:gd name="T10" fmla="*/ 0 h 1426"/>
                    <a:gd name="T11" fmla="*/ 168 w 168"/>
                    <a:gd name="T12" fmla="*/ 1426 h 1426"/>
                  </a:gdLst>
                  <a:ahLst/>
                  <a:cxnLst>
                    <a:cxn ang="T6">
                      <a:pos x="T0" y="T1"/>
                    </a:cxn>
                    <a:cxn ang="T7">
                      <a:pos x="T2" y="T3"/>
                    </a:cxn>
                    <a:cxn ang="T8">
                      <a:pos x="T4" y="T5"/>
                    </a:cxn>
                  </a:cxnLst>
                  <a:rect l="T9" t="T10" r="T11" b="T12"/>
                  <a:pathLst>
                    <a:path w="168" h="1426">
                      <a:moveTo>
                        <a:pt x="168" y="0"/>
                      </a:moveTo>
                      <a:lnTo>
                        <a:pt x="0" y="0"/>
                      </a:lnTo>
                      <a:lnTo>
                        <a:pt x="0" y="1426"/>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508" name="Line 1036"/>
                <p:cNvSpPr>
                  <a:spLocks noChangeShapeType="1"/>
                </p:cNvSpPr>
                <p:nvPr/>
              </p:nvSpPr>
              <p:spPr bwMode="auto">
                <a:xfrm>
                  <a:off x="4694" y="8300"/>
                  <a:ext cx="0" cy="68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509" name="Line 1037"/>
                <p:cNvSpPr>
                  <a:spLocks noChangeShapeType="1"/>
                </p:cNvSpPr>
                <p:nvPr/>
              </p:nvSpPr>
              <p:spPr bwMode="auto">
                <a:xfrm rot="5400000">
                  <a:off x="3455" y="10721"/>
                  <a:ext cx="0" cy="483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4510" name="Group 1038"/>
                <p:cNvGrpSpPr>
                  <a:grpSpLocks/>
                </p:cNvGrpSpPr>
                <p:nvPr/>
              </p:nvGrpSpPr>
              <p:grpSpPr bwMode="auto">
                <a:xfrm>
                  <a:off x="5996" y="11834"/>
                  <a:ext cx="336" cy="310"/>
                  <a:chOff x="5996" y="11834"/>
                  <a:chExt cx="336" cy="310"/>
                </a:xfrm>
              </p:grpSpPr>
              <p:sp>
                <p:nvSpPr>
                  <p:cNvPr id="54521" name="Line 1039"/>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522" name="Line 1040"/>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511" name="Group 1041"/>
                <p:cNvGrpSpPr>
                  <a:grpSpLocks/>
                </p:cNvGrpSpPr>
                <p:nvPr/>
              </p:nvGrpSpPr>
              <p:grpSpPr bwMode="auto">
                <a:xfrm>
                  <a:off x="6962" y="11834"/>
                  <a:ext cx="504" cy="310"/>
                  <a:chOff x="5996" y="11834"/>
                  <a:chExt cx="336" cy="310"/>
                </a:xfrm>
              </p:grpSpPr>
              <p:sp>
                <p:nvSpPr>
                  <p:cNvPr id="54519" name="Line 1042"/>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520" name="Line 1043"/>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512" name="Group 1044"/>
                <p:cNvGrpSpPr>
                  <a:grpSpLocks/>
                </p:cNvGrpSpPr>
                <p:nvPr/>
              </p:nvGrpSpPr>
              <p:grpSpPr bwMode="auto">
                <a:xfrm rot="-5400000">
                  <a:off x="5380" y="12336"/>
                  <a:ext cx="434" cy="546"/>
                  <a:chOff x="5996" y="11834"/>
                  <a:chExt cx="336" cy="310"/>
                </a:xfrm>
              </p:grpSpPr>
              <p:sp>
                <p:nvSpPr>
                  <p:cNvPr id="54517" name="Line 1045"/>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518" name="Line 1046"/>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4513" name="Freeform 1047"/>
                <p:cNvSpPr>
                  <a:spLocks/>
                </p:cNvSpPr>
                <p:nvPr/>
              </p:nvSpPr>
              <p:spPr bwMode="auto">
                <a:xfrm>
                  <a:off x="3770" y="10594"/>
                  <a:ext cx="2100" cy="682"/>
                </a:xfrm>
                <a:custGeom>
                  <a:avLst/>
                  <a:gdLst>
                    <a:gd name="T0" fmla="*/ 2100 w 2100"/>
                    <a:gd name="T1" fmla="*/ 682 h 682"/>
                    <a:gd name="T2" fmla="*/ 1722 w 2100"/>
                    <a:gd name="T3" fmla="*/ 682 h 682"/>
                    <a:gd name="T4" fmla="*/ 1722 w 2100"/>
                    <a:gd name="T5" fmla="*/ 0 h 682"/>
                    <a:gd name="T6" fmla="*/ 0 w 2100"/>
                    <a:gd name="T7" fmla="*/ 0 h 682"/>
                    <a:gd name="T8" fmla="*/ 0 60000 65536"/>
                    <a:gd name="T9" fmla="*/ 0 60000 65536"/>
                    <a:gd name="T10" fmla="*/ 0 60000 65536"/>
                    <a:gd name="T11" fmla="*/ 0 60000 65536"/>
                    <a:gd name="T12" fmla="*/ 0 w 2100"/>
                    <a:gd name="T13" fmla="*/ 0 h 682"/>
                    <a:gd name="T14" fmla="*/ 2100 w 2100"/>
                    <a:gd name="T15" fmla="*/ 682 h 682"/>
                  </a:gdLst>
                  <a:ahLst/>
                  <a:cxnLst>
                    <a:cxn ang="T8">
                      <a:pos x="T0" y="T1"/>
                    </a:cxn>
                    <a:cxn ang="T9">
                      <a:pos x="T2" y="T3"/>
                    </a:cxn>
                    <a:cxn ang="T10">
                      <a:pos x="T4" y="T5"/>
                    </a:cxn>
                    <a:cxn ang="T11">
                      <a:pos x="T6" y="T7"/>
                    </a:cxn>
                  </a:cxnLst>
                  <a:rect l="T12" t="T13" r="T14" b="T15"/>
                  <a:pathLst>
                    <a:path w="2100" h="682">
                      <a:moveTo>
                        <a:pt x="2100" y="682"/>
                      </a:moveTo>
                      <a:lnTo>
                        <a:pt x="1722" y="682"/>
                      </a:lnTo>
                      <a:lnTo>
                        <a:pt x="1722" y="0"/>
                      </a:lnTo>
                      <a:lnTo>
                        <a:pt x="0" y="0"/>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514" name="Text Box 1048"/>
                <p:cNvSpPr txBox="1">
                  <a:spLocks noChangeArrowheads="1"/>
                </p:cNvSpPr>
                <p:nvPr/>
              </p:nvSpPr>
              <p:spPr bwMode="auto">
                <a:xfrm>
                  <a:off x="5450" y="12392"/>
                  <a:ext cx="291"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54515" name="Text Box 1049"/>
                <p:cNvSpPr txBox="1">
                  <a:spLocks noChangeArrowheads="1"/>
                </p:cNvSpPr>
                <p:nvPr/>
              </p:nvSpPr>
              <p:spPr bwMode="auto">
                <a:xfrm>
                  <a:off x="595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54516" name="Text Box 1050"/>
                <p:cNvSpPr txBox="1">
                  <a:spLocks noChangeArrowheads="1"/>
                </p:cNvSpPr>
                <p:nvPr/>
              </p:nvSpPr>
              <p:spPr bwMode="auto">
                <a:xfrm>
                  <a:off x="700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grpSp>
          <p:grpSp>
            <p:nvGrpSpPr>
              <p:cNvPr id="54282" name="Group 1051"/>
              <p:cNvGrpSpPr>
                <a:grpSpLocks/>
              </p:cNvGrpSpPr>
              <p:nvPr/>
            </p:nvGrpSpPr>
            <p:grpSpPr bwMode="auto">
              <a:xfrm>
                <a:off x="1004" y="5007"/>
                <a:ext cx="8527" cy="8696"/>
                <a:chOff x="1040" y="4580"/>
                <a:chExt cx="9282" cy="9424"/>
              </a:xfrm>
            </p:grpSpPr>
            <p:grpSp>
              <p:nvGrpSpPr>
                <p:cNvPr id="54394" name="Group 1052"/>
                <p:cNvGrpSpPr>
                  <a:grpSpLocks/>
                </p:cNvGrpSpPr>
                <p:nvPr/>
              </p:nvGrpSpPr>
              <p:grpSpPr bwMode="auto">
                <a:xfrm>
                  <a:off x="4946" y="5758"/>
                  <a:ext cx="168" cy="248"/>
                  <a:chOff x="4316" y="5882"/>
                  <a:chExt cx="168" cy="310"/>
                </a:xfrm>
              </p:grpSpPr>
              <p:sp>
                <p:nvSpPr>
                  <p:cNvPr id="54473" name="Line 105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74" name="Line 105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95" name="Line 1055"/>
                <p:cNvSpPr>
                  <a:spLocks noChangeShapeType="1"/>
                </p:cNvSpPr>
                <p:nvPr/>
              </p:nvSpPr>
              <p:spPr bwMode="auto">
                <a:xfrm>
                  <a:off x="5702" y="1164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4396" name="Group 1056"/>
                <p:cNvGrpSpPr>
                  <a:grpSpLocks/>
                </p:cNvGrpSpPr>
                <p:nvPr/>
              </p:nvGrpSpPr>
              <p:grpSpPr bwMode="auto">
                <a:xfrm>
                  <a:off x="6332" y="5944"/>
                  <a:ext cx="168" cy="310"/>
                  <a:chOff x="4316" y="5882"/>
                  <a:chExt cx="168" cy="310"/>
                </a:xfrm>
              </p:grpSpPr>
              <p:sp>
                <p:nvSpPr>
                  <p:cNvPr id="54471" name="Line 105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72" name="Line 105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397" name="Group 1059"/>
                <p:cNvGrpSpPr>
                  <a:grpSpLocks/>
                </p:cNvGrpSpPr>
                <p:nvPr/>
              </p:nvGrpSpPr>
              <p:grpSpPr bwMode="auto">
                <a:xfrm rot="-5400000">
                  <a:off x="8067" y="8539"/>
                  <a:ext cx="168" cy="310"/>
                  <a:chOff x="4316" y="5882"/>
                  <a:chExt cx="168" cy="310"/>
                </a:xfrm>
              </p:grpSpPr>
              <p:sp>
                <p:nvSpPr>
                  <p:cNvPr id="54469" name="Line 106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70" name="Line 106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398" name="Group 1062"/>
                <p:cNvGrpSpPr>
                  <a:grpSpLocks/>
                </p:cNvGrpSpPr>
                <p:nvPr/>
              </p:nvGrpSpPr>
              <p:grpSpPr bwMode="auto">
                <a:xfrm rot="-5400000">
                  <a:off x="8083" y="9611"/>
                  <a:ext cx="168" cy="310"/>
                  <a:chOff x="4316" y="5882"/>
                  <a:chExt cx="168" cy="310"/>
                </a:xfrm>
              </p:grpSpPr>
              <p:sp>
                <p:nvSpPr>
                  <p:cNvPr id="54467" name="Line 106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68" name="Line 106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399" name="Group 1065"/>
                <p:cNvGrpSpPr>
                  <a:grpSpLocks/>
                </p:cNvGrpSpPr>
                <p:nvPr/>
              </p:nvGrpSpPr>
              <p:grpSpPr bwMode="auto">
                <a:xfrm rot="-5400000">
                  <a:off x="4623" y="8725"/>
                  <a:ext cx="168" cy="310"/>
                  <a:chOff x="4316" y="5882"/>
                  <a:chExt cx="168" cy="310"/>
                </a:xfrm>
              </p:grpSpPr>
              <p:sp>
                <p:nvSpPr>
                  <p:cNvPr id="54465" name="Line 106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66" name="Line 106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00" name="Group 1068"/>
                <p:cNvGrpSpPr>
                  <a:grpSpLocks/>
                </p:cNvGrpSpPr>
                <p:nvPr/>
              </p:nvGrpSpPr>
              <p:grpSpPr bwMode="auto">
                <a:xfrm>
                  <a:off x="4694" y="10904"/>
                  <a:ext cx="168" cy="186"/>
                  <a:chOff x="4316" y="5882"/>
                  <a:chExt cx="168" cy="310"/>
                </a:xfrm>
              </p:grpSpPr>
              <p:sp>
                <p:nvSpPr>
                  <p:cNvPr id="54463" name="Line 106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64" name="Line 107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01" name="Group 1071"/>
                <p:cNvGrpSpPr>
                  <a:grpSpLocks/>
                </p:cNvGrpSpPr>
                <p:nvPr/>
              </p:nvGrpSpPr>
              <p:grpSpPr bwMode="auto">
                <a:xfrm>
                  <a:off x="4694" y="11462"/>
                  <a:ext cx="168" cy="186"/>
                  <a:chOff x="4316" y="5882"/>
                  <a:chExt cx="168" cy="310"/>
                </a:xfrm>
              </p:grpSpPr>
              <p:sp>
                <p:nvSpPr>
                  <p:cNvPr id="54461" name="Line 107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62" name="Line 107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02" name="Line 1074"/>
                <p:cNvSpPr>
                  <a:spLocks noChangeShapeType="1"/>
                </p:cNvSpPr>
                <p:nvPr/>
              </p:nvSpPr>
              <p:spPr bwMode="auto">
                <a:xfrm>
                  <a:off x="2090" y="8300"/>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03" name="Line 1075"/>
                <p:cNvSpPr>
                  <a:spLocks noChangeShapeType="1"/>
                </p:cNvSpPr>
                <p:nvPr/>
              </p:nvSpPr>
              <p:spPr bwMode="auto">
                <a:xfrm>
                  <a:off x="2090" y="9044"/>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04" name="Line 1076"/>
                <p:cNvSpPr>
                  <a:spLocks noChangeShapeType="1"/>
                </p:cNvSpPr>
                <p:nvPr/>
              </p:nvSpPr>
              <p:spPr bwMode="auto">
                <a:xfrm>
                  <a:off x="2090" y="9912"/>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05" name="Line 1077"/>
                <p:cNvSpPr>
                  <a:spLocks noChangeShapeType="1"/>
                </p:cNvSpPr>
                <p:nvPr/>
              </p:nvSpPr>
              <p:spPr bwMode="auto">
                <a:xfrm>
                  <a:off x="4694" y="123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06" name="Line 1078"/>
                <p:cNvSpPr>
                  <a:spLocks noChangeShapeType="1"/>
                </p:cNvSpPr>
                <p:nvPr/>
              </p:nvSpPr>
              <p:spPr bwMode="auto">
                <a:xfrm rot="-5400000">
                  <a:off x="5912" y="1098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4407" name="Group 1079"/>
                <p:cNvGrpSpPr>
                  <a:grpSpLocks/>
                </p:cNvGrpSpPr>
                <p:nvPr/>
              </p:nvGrpSpPr>
              <p:grpSpPr bwMode="auto">
                <a:xfrm rot="-5400000">
                  <a:off x="4639" y="9779"/>
                  <a:ext cx="168" cy="310"/>
                  <a:chOff x="4316" y="5882"/>
                  <a:chExt cx="168" cy="310"/>
                </a:xfrm>
              </p:grpSpPr>
              <p:sp>
                <p:nvSpPr>
                  <p:cNvPr id="54459" name="Line 108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60" name="Line 108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08" name="Line 1082"/>
                <p:cNvSpPr>
                  <a:spLocks noChangeShapeType="1"/>
                </p:cNvSpPr>
                <p:nvPr/>
              </p:nvSpPr>
              <p:spPr bwMode="auto">
                <a:xfrm>
                  <a:off x="4946" y="904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4409" name="Group 1083"/>
                <p:cNvGrpSpPr>
                  <a:grpSpLocks/>
                </p:cNvGrpSpPr>
                <p:nvPr/>
              </p:nvGrpSpPr>
              <p:grpSpPr bwMode="auto">
                <a:xfrm>
                  <a:off x="8390" y="8982"/>
                  <a:ext cx="168" cy="496"/>
                  <a:chOff x="4316" y="5882"/>
                  <a:chExt cx="168" cy="310"/>
                </a:xfrm>
              </p:grpSpPr>
              <p:sp>
                <p:nvSpPr>
                  <p:cNvPr id="54457" name="Line 108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8" name="Line 108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10" name="Line 1086"/>
                <p:cNvSpPr>
                  <a:spLocks noChangeShapeType="1"/>
                </p:cNvSpPr>
                <p:nvPr/>
              </p:nvSpPr>
              <p:spPr bwMode="auto">
                <a:xfrm rot="-5400000">
                  <a:off x="10238" y="666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11" name="Line 1087"/>
                <p:cNvSpPr>
                  <a:spLocks noChangeShapeType="1"/>
                </p:cNvSpPr>
                <p:nvPr/>
              </p:nvSpPr>
              <p:spPr bwMode="auto">
                <a:xfrm>
                  <a:off x="4946" y="92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12" name="Line 1088"/>
                <p:cNvSpPr>
                  <a:spLocks noChangeShapeType="1"/>
                </p:cNvSpPr>
                <p:nvPr/>
              </p:nvSpPr>
              <p:spPr bwMode="auto">
                <a:xfrm rot="-5400000">
                  <a:off x="6575" y="10005"/>
                  <a:ext cx="1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13" name="Line 1089"/>
                <p:cNvSpPr>
                  <a:spLocks noChangeShapeType="1"/>
                </p:cNvSpPr>
                <p:nvPr/>
              </p:nvSpPr>
              <p:spPr bwMode="auto">
                <a:xfrm rot="-5400000">
                  <a:off x="6670" y="10098"/>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14" name="Line 1090"/>
                <p:cNvSpPr>
                  <a:spLocks noChangeShapeType="1"/>
                </p:cNvSpPr>
                <p:nvPr/>
              </p:nvSpPr>
              <p:spPr bwMode="auto">
                <a:xfrm rot="-5400000">
                  <a:off x="6964" y="10222"/>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15" name="Line 1091"/>
                <p:cNvSpPr>
                  <a:spLocks noChangeShapeType="1"/>
                </p:cNvSpPr>
                <p:nvPr/>
              </p:nvSpPr>
              <p:spPr bwMode="auto">
                <a:xfrm>
                  <a:off x="7763" y="12330"/>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16" name="Line 1092"/>
                <p:cNvSpPr>
                  <a:spLocks noChangeShapeType="1"/>
                </p:cNvSpPr>
                <p:nvPr/>
              </p:nvSpPr>
              <p:spPr bwMode="auto">
                <a:xfrm>
                  <a:off x="7760" y="13074"/>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17" name="Line 1093"/>
                <p:cNvSpPr>
                  <a:spLocks noChangeShapeType="1"/>
                </p:cNvSpPr>
                <p:nvPr/>
              </p:nvSpPr>
              <p:spPr bwMode="auto">
                <a:xfrm rot="5400000">
                  <a:off x="7319" y="13348"/>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18" name="Line 1094"/>
                <p:cNvSpPr>
                  <a:spLocks noChangeShapeType="1"/>
                </p:cNvSpPr>
                <p:nvPr/>
              </p:nvSpPr>
              <p:spPr bwMode="auto">
                <a:xfrm rot="5400000">
                  <a:off x="6017"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4419" name="Group 1095"/>
                <p:cNvGrpSpPr>
                  <a:grpSpLocks/>
                </p:cNvGrpSpPr>
                <p:nvPr/>
              </p:nvGrpSpPr>
              <p:grpSpPr bwMode="auto">
                <a:xfrm>
                  <a:off x="3056" y="8362"/>
                  <a:ext cx="210" cy="558"/>
                  <a:chOff x="4316" y="5882"/>
                  <a:chExt cx="168" cy="310"/>
                </a:xfrm>
              </p:grpSpPr>
              <p:sp>
                <p:nvSpPr>
                  <p:cNvPr id="54455" name="Line 109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6" name="Line 109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20" name="Line 1098"/>
                <p:cNvSpPr>
                  <a:spLocks noChangeShapeType="1"/>
                </p:cNvSpPr>
                <p:nvPr/>
              </p:nvSpPr>
              <p:spPr bwMode="auto">
                <a:xfrm>
                  <a:off x="3056" y="997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21" name="Line 1099"/>
                <p:cNvSpPr>
                  <a:spLocks noChangeShapeType="1"/>
                </p:cNvSpPr>
                <p:nvPr/>
              </p:nvSpPr>
              <p:spPr bwMode="auto">
                <a:xfrm>
                  <a:off x="1040" y="458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22" name="Line 1100"/>
                <p:cNvSpPr>
                  <a:spLocks noChangeShapeType="1"/>
                </p:cNvSpPr>
                <p:nvPr/>
              </p:nvSpPr>
              <p:spPr bwMode="auto">
                <a:xfrm>
                  <a:off x="1040" y="489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23" name="AutoShape 1101"/>
                <p:cNvSpPr>
                  <a:spLocks/>
                </p:cNvSpPr>
                <p:nvPr/>
              </p:nvSpPr>
              <p:spPr bwMode="auto">
                <a:xfrm>
                  <a:off x="8180" y="12330"/>
                  <a:ext cx="126" cy="744"/>
                </a:xfrm>
                <a:prstGeom prst="rightBrace">
                  <a:avLst>
                    <a:gd name="adj1" fmla="val 4920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4424" name="AutoShape 1102"/>
                <p:cNvSpPr>
                  <a:spLocks/>
                </p:cNvSpPr>
                <p:nvPr/>
              </p:nvSpPr>
              <p:spPr bwMode="auto">
                <a:xfrm rot="5400000">
                  <a:off x="6722" y="13012"/>
                  <a:ext cx="186" cy="1302"/>
                </a:xfrm>
                <a:prstGeom prst="rightBrace">
                  <a:avLst>
                    <a:gd name="adj1" fmla="val 5833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4425" name="Freeform 1103"/>
                <p:cNvSpPr>
                  <a:spLocks/>
                </p:cNvSpPr>
                <p:nvPr/>
              </p:nvSpPr>
              <p:spPr bwMode="auto">
                <a:xfrm>
                  <a:off x="1040" y="13818"/>
                  <a:ext cx="5796" cy="186"/>
                </a:xfrm>
                <a:custGeom>
                  <a:avLst/>
                  <a:gdLst>
                    <a:gd name="T0" fmla="*/ 5796 w 5796"/>
                    <a:gd name="T1" fmla="*/ 0 h 248"/>
                    <a:gd name="T2" fmla="*/ 5796 w 5796"/>
                    <a:gd name="T3" fmla="*/ 4 h 248"/>
                    <a:gd name="T4" fmla="*/ 0 w 5796"/>
                    <a:gd name="T5" fmla="*/ 4 h 248"/>
                    <a:gd name="T6" fmla="*/ 0 60000 65536"/>
                    <a:gd name="T7" fmla="*/ 0 60000 65536"/>
                    <a:gd name="T8" fmla="*/ 0 60000 65536"/>
                    <a:gd name="T9" fmla="*/ 0 w 5796"/>
                    <a:gd name="T10" fmla="*/ 0 h 248"/>
                    <a:gd name="T11" fmla="*/ 5796 w 5796"/>
                    <a:gd name="T12" fmla="*/ 248 h 248"/>
                  </a:gdLst>
                  <a:ahLst/>
                  <a:cxnLst>
                    <a:cxn ang="T6">
                      <a:pos x="T0" y="T1"/>
                    </a:cxn>
                    <a:cxn ang="T7">
                      <a:pos x="T2" y="T3"/>
                    </a:cxn>
                    <a:cxn ang="T8">
                      <a:pos x="T4" y="T5"/>
                    </a:cxn>
                  </a:cxnLst>
                  <a:rect l="T9" t="T10" r="T11" b="T12"/>
                  <a:pathLst>
                    <a:path w="5796" h="248">
                      <a:moveTo>
                        <a:pt x="5796" y="0"/>
                      </a:moveTo>
                      <a:lnTo>
                        <a:pt x="5796" y="248"/>
                      </a:lnTo>
                      <a:lnTo>
                        <a:pt x="0" y="24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4426" name="Group 1104"/>
                <p:cNvGrpSpPr>
                  <a:grpSpLocks/>
                </p:cNvGrpSpPr>
                <p:nvPr/>
              </p:nvGrpSpPr>
              <p:grpSpPr bwMode="auto">
                <a:xfrm>
                  <a:off x="4946" y="6254"/>
                  <a:ext cx="168" cy="248"/>
                  <a:chOff x="4316" y="5882"/>
                  <a:chExt cx="168" cy="310"/>
                </a:xfrm>
              </p:grpSpPr>
              <p:sp>
                <p:nvSpPr>
                  <p:cNvPr id="54453" name="Line 110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4" name="Line 110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27" name="Group 1107"/>
                <p:cNvGrpSpPr>
                  <a:grpSpLocks/>
                </p:cNvGrpSpPr>
                <p:nvPr/>
              </p:nvGrpSpPr>
              <p:grpSpPr bwMode="auto">
                <a:xfrm>
                  <a:off x="7718" y="5758"/>
                  <a:ext cx="168" cy="744"/>
                  <a:chOff x="7760" y="5758"/>
                  <a:chExt cx="168" cy="744"/>
                </a:xfrm>
              </p:grpSpPr>
              <p:sp>
                <p:nvSpPr>
                  <p:cNvPr id="54449" name="Line 1108"/>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0" name="Line 1109"/>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1" name="Line 1110"/>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52" name="Line 1111"/>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28" name="Group 1112"/>
                <p:cNvGrpSpPr>
                  <a:grpSpLocks/>
                </p:cNvGrpSpPr>
                <p:nvPr/>
              </p:nvGrpSpPr>
              <p:grpSpPr bwMode="auto">
                <a:xfrm>
                  <a:off x="9104" y="5758"/>
                  <a:ext cx="168" cy="744"/>
                  <a:chOff x="7760" y="5758"/>
                  <a:chExt cx="168" cy="744"/>
                </a:xfrm>
              </p:grpSpPr>
              <p:sp>
                <p:nvSpPr>
                  <p:cNvPr id="54445" name="Line 1113"/>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6" name="Line 1114"/>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7" name="Line 1115"/>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8" name="Line 1116"/>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29" name="Group 1117"/>
                <p:cNvGrpSpPr>
                  <a:grpSpLocks/>
                </p:cNvGrpSpPr>
                <p:nvPr/>
              </p:nvGrpSpPr>
              <p:grpSpPr bwMode="auto">
                <a:xfrm>
                  <a:off x="4946" y="7618"/>
                  <a:ext cx="168" cy="310"/>
                  <a:chOff x="4316" y="5882"/>
                  <a:chExt cx="168" cy="310"/>
                </a:xfrm>
              </p:grpSpPr>
              <p:sp>
                <p:nvSpPr>
                  <p:cNvPr id="54443" name="Line 111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4" name="Line 111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30" name="Group 1120"/>
                <p:cNvGrpSpPr>
                  <a:grpSpLocks/>
                </p:cNvGrpSpPr>
                <p:nvPr/>
              </p:nvGrpSpPr>
              <p:grpSpPr bwMode="auto">
                <a:xfrm>
                  <a:off x="6332" y="7618"/>
                  <a:ext cx="168" cy="310"/>
                  <a:chOff x="4316" y="5882"/>
                  <a:chExt cx="168" cy="310"/>
                </a:xfrm>
              </p:grpSpPr>
              <p:sp>
                <p:nvSpPr>
                  <p:cNvPr id="54441" name="Line 112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2" name="Line 112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431" name="Group 1123"/>
                <p:cNvGrpSpPr>
                  <a:grpSpLocks/>
                </p:cNvGrpSpPr>
                <p:nvPr/>
              </p:nvGrpSpPr>
              <p:grpSpPr bwMode="auto">
                <a:xfrm>
                  <a:off x="9104" y="7618"/>
                  <a:ext cx="168" cy="310"/>
                  <a:chOff x="4316" y="5882"/>
                  <a:chExt cx="168" cy="310"/>
                </a:xfrm>
              </p:grpSpPr>
              <p:sp>
                <p:nvSpPr>
                  <p:cNvPr id="54439" name="Line 112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40" name="Line 112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432" name="Line 1126"/>
                <p:cNvSpPr>
                  <a:spLocks noChangeShapeType="1"/>
                </p:cNvSpPr>
                <p:nvPr/>
              </p:nvSpPr>
              <p:spPr bwMode="auto">
                <a:xfrm>
                  <a:off x="7718" y="761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33" name="Line 1127"/>
                <p:cNvSpPr>
                  <a:spLocks noChangeShapeType="1"/>
                </p:cNvSpPr>
                <p:nvPr/>
              </p:nvSpPr>
              <p:spPr bwMode="auto">
                <a:xfrm>
                  <a:off x="7718" y="792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34" name="Line 1128"/>
                <p:cNvSpPr>
                  <a:spLocks noChangeShapeType="1"/>
                </p:cNvSpPr>
                <p:nvPr/>
              </p:nvSpPr>
              <p:spPr bwMode="auto">
                <a:xfrm>
                  <a:off x="7718" y="817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35" name="Line 1129"/>
                <p:cNvSpPr>
                  <a:spLocks noChangeShapeType="1"/>
                </p:cNvSpPr>
                <p:nvPr/>
              </p:nvSpPr>
              <p:spPr bwMode="auto">
                <a:xfrm>
                  <a:off x="4946" y="972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36" name="Line 1130"/>
                <p:cNvSpPr>
                  <a:spLocks noChangeShapeType="1"/>
                </p:cNvSpPr>
                <p:nvPr/>
              </p:nvSpPr>
              <p:spPr bwMode="auto">
                <a:xfrm rot="-5400000">
                  <a:off x="10238" y="728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437" name="Line 1131"/>
                <p:cNvSpPr>
                  <a:spLocks noChangeShapeType="1"/>
                </p:cNvSpPr>
                <p:nvPr/>
              </p:nvSpPr>
              <p:spPr bwMode="auto">
                <a:xfrm>
                  <a:off x="7760" y="12516"/>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438" name="Line 1132"/>
                <p:cNvSpPr>
                  <a:spLocks noChangeShapeType="1"/>
                </p:cNvSpPr>
                <p:nvPr/>
              </p:nvSpPr>
              <p:spPr bwMode="auto">
                <a:xfrm rot="5400000">
                  <a:off x="6185"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283" name="Group 1133"/>
              <p:cNvGrpSpPr>
                <a:grpSpLocks/>
              </p:cNvGrpSpPr>
              <p:nvPr/>
            </p:nvGrpSpPr>
            <p:grpSpPr bwMode="auto">
              <a:xfrm>
                <a:off x="1874" y="2146"/>
                <a:ext cx="7948" cy="10813"/>
                <a:chOff x="1964" y="1480"/>
                <a:chExt cx="8652" cy="11718"/>
              </a:xfrm>
            </p:grpSpPr>
            <p:sp>
              <p:nvSpPr>
                <p:cNvPr id="54361" name="Rectangle 1134"/>
                <p:cNvSpPr>
                  <a:spLocks noChangeArrowheads="1"/>
                </p:cNvSpPr>
                <p:nvPr/>
              </p:nvSpPr>
              <p:spPr bwMode="auto">
                <a:xfrm>
                  <a:off x="3140" y="1480"/>
                  <a:ext cx="2604" cy="2232"/>
                </a:xfrm>
                <a:prstGeom prst="rect">
                  <a:avLst/>
                </a:prstGeom>
                <a:solidFill>
                  <a:srgbClr val="FFFF99"/>
                </a:solidFill>
                <a:ln w="19050">
                  <a:solidFill>
                    <a:srgbClr val="000000"/>
                  </a:solidFill>
                  <a:miter lim="800000"/>
                  <a:headEnd/>
                  <a:tailEnd/>
                </a:ln>
              </p:spPr>
              <p:txBody>
                <a:bodyPr/>
                <a:lstStyle/>
                <a:p>
                  <a:pPr>
                    <a:spcBef>
                      <a:spcPct val="0"/>
                    </a:spcBef>
                  </a:pPr>
                  <a:endParaRPr lang="zh-CN" altLang="en-US" sz="1000">
                    <a:latin typeface="Times New Roman" pitchFamily="18" charset="0"/>
                    <a:ea typeface="黑体" pitchFamily="2" charset="-122"/>
                  </a:endParaRPr>
                </a:p>
              </p:txBody>
            </p:sp>
            <p:sp>
              <p:nvSpPr>
                <p:cNvPr id="54362" name="Text Box 1135"/>
                <p:cNvSpPr txBox="1">
                  <a:spLocks noChangeArrowheads="1"/>
                </p:cNvSpPr>
                <p:nvPr/>
              </p:nvSpPr>
              <p:spPr bwMode="auto">
                <a:xfrm>
                  <a:off x="6458" y="2472"/>
                  <a:ext cx="1049"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设备</a:t>
                  </a:r>
                </a:p>
              </p:txBody>
            </p:sp>
            <p:sp>
              <p:nvSpPr>
                <p:cNvPr id="54363" name="Text Box 1136"/>
                <p:cNvSpPr txBox="1">
                  <a:spLocks noChangeArrowheads="1"/>
                </p:cNvSpPr>
                <p:nvPr/>
              </p:nvSpPr>
              <p:spPr bwMode="auto">
                <a:xfrm>
                  <a:off x="3311" y="1604"/>
                  <a:ext cx="1049" cy="437"/>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zh-CN" altLang="en-US" sz="1000">
                      <a:latin typeface="Times New Roman" pitchFamily="18" charset="0"/>
                      <a:ea typeface="黑体" pitchFamily="2" charset="-122"/>
                    </a:rPr>
                    <a:t>控制逻辑</a:t>
                  </a:r>
                </a:p>
              </p:txBody>
            </p:sp>
            <p:sp>
              <p:nvSpPr>
                <p:cNvPr id="54364" name="Text Box 1137"/>
                <p:cNvSpPr txBox="1">
                  <a:spLocks noChangeArrowheads="1"/>
                </p:cNvSpPr>
                <p:nvPr/>
              </p:nvSpPr>
              <p:spPr bwMode="auto">
                <a:xfrm>
                  <a:off x="3308" y="3154"/>
                  <a:ext cx="1050" cy="43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zh-CN" altLang="en-US" sz="1000">
                      <a:latin typeface="Times New Roman" pitchFamily="18" charset="0"/>
                      <a:ea typeface="黑体" pitchFamily="2" charset="-122"/>
                    </a:rPr>
                    <a:t>地址识别</a:t>
                  </a:r>
                </a:p>
              </p:txBody>
            </p:sp>
            <p:sp>
              <p:nvSpPr>
                <p:cNvPr id="54365" name="Text Box 1138"/>
                <p:cNvSpPr txBox="1">
                  <a:spLocks noChangeArrowheads="1"/>
                </p:cNvSpPr>
                <p:nvPr/>
              </p:nvSpPr>
              <p:spPr bwMode="auto">
                <a:xfrm>
                  <a:off x="3308" y="2162"/>
                  <a:ext cx="1722" cy="868"/>
                </a:xfrm>
                <a:prstGeom prst="rect">
                  <a:avLst/>
                </a:prstGeom>
                <a:solidFill>
                  <a:srgbClr val="FFFF99"/>
                </a:solidFill>
                <a:ln w="19050" algn="ctr">
                  <a:solidFill>
                    <a:srgbClr val="000000"/>
                  </a:solidFill>
                  <a:miter lim="800000"/>
                  <a:headEnd/>
                  <a:tailEnd/>
                </a:ln>
              </p:spPr>
              <p:txBody>
                <a:bodyPr lIns="36000" tIns="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zh-CN" altLang="en-US" sz="1000">
                      <a:latin typeface="Times New Roman" pitchFamily="18" charset="0"/>
                      <a:ea typeface="黑体" pitchFamily="2" charset="-122"/>
                    </a:rPr>
                    <a:t>中断控制逻辑</a:t>
                  </a:r>
                </a:p>
                <a:p>
                  <a:pPr algn="just" eaLnBrk="1" hangingPunct="1">
                    <a:lnSpc>
                      <a:spcPct val="80000"/>
                    </a:lnSpc>
                    <a:spcBef>
                      <a:spcPct val="0"/>
                    </a:spcBef>
                  </a:pPr>
                  <a:r>
                    <a:rPr lang="zh-CN" altLang="en-US" sz="1000">
                      <a:latin typeface="Times New Roman" pitchFamily="18" charset="0"/>
                      <a:ea typeface="黑体" pitchFamily="2" charset="-122"/>
                    </a:rPr>
                    <a:t>命令</a:t>
                  </a:r>
                  <a:r>
                    <a:rPr lang="en-US" altLang="zh-CN" sz="1000" dirty="0">
                      <a:latin typeface="Times New Roman" pitchFamily="18" charset="0"/>
                      <a:ea typeface="黑体" pitchFamily="2" charset="-122"/>
                    </a:rPr>
                    <a:t>/</a:t>
                  </a:r>
                  <a:r>
                    <a:rPr lang="zh-CN" altLang="en-US" sz="1000">
                      <a:latin typeface="Times New Roman" pitchFamily="18" charset="0"/>
                      <a:ea typeface="黑体" pitchFamily="2" charset="-122"/>
                    </a:rPr>
                    <a:t>状态寄存器</a:t>
                  </a:r>
                </a:p>
                <a:p>
                  <a:pPr algn="just" eaLnBrk="1" hangingPunct="1">
                    <a:lnSpc>
                      <a:spcPct val="80000"/>
                    </a:lnSpc>
                    <a:spcBef>
                      <a:spcPct val="0"/>
                    </a:spcBef>
                  </a:pPr>
                  <a:r>
                    <a:rPr lang="zh-CN" altLang="en-US" sz="1000">
                      <a:latin typeface="Times New Roman" pitchFamily="18" charset="0"/>
                      <a:ea typeface="黑体" pitchFamily="2" charset="-122"/>
                    </a:rPr>
                    <a:t>数据寄存器</a:t>
                  </a:r>
                </a:p>
              </p:txBody>
            </p:sp>
            <p:sp>
              <p:nvSpPr>
                <p:cNvPr id="54366" name="Text Box 1139"/>
                <p:cNvSpPr txBox="1">
                  <a:spLocks noChangeArrowheads="1"/>
                </p:cNvSpPr>
                <p:nvPr/>
              </p:nvSpPr>
              <p:spPr bwMode="auto">
                <a:xfrm>
                  <a:off x="4484"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SP</a:t>
                  </a:r>
                </a:p>
              </p:txBody>
            </p:sp>
            <p:sp>
              <p:nvSpPr>
                <p:cNvPr id="54367" name="Text Box 1140"/>
                <p:cNvSpPr txBox="1">
                  <a:spLocks noChangeArrowheads="1"/>
                </p:cNvSpPr>
                <p:nvPr/>
              </p:nvSpPr>
              <p:spPr bwMode="auto">
                <a:xfrm>
                  <a:off x="5870"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BP</a:t>
                  </a:r>
                </a:p>
              </p:txBody>
            </p:sp>
            <p:sp>
              <p:nvSpPr>
                <p:cNvPr id="54368" name="Text Box 1141"/>
                <p:cNvSpPr txBox="1">
                  <a:spLocks noChangeArrowheads="1"/>
                </p:cNvSpPr>
                <p:nvPr/>
              </p:nvSpPr>
              <p:spPr bwMode="auto">
                <a:xfrm>
                  <a:off x="7256"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DI</a:t>
                  </a:r>
                </a:p>
              </p:txBody>
            </p:sp>
            <p:sp>
              <p:nvSpPr>
                <p:cNvPr id="54369" name="Text Box 1142"/>
                <p:cNvSpPr txBox="1">
                  <a:spLocks noChangeArrowheads="1"/>
                </p:cNvSpPr>
                <p:nvPr/>
              </p:nvSpPr>
              <p:spPr bwMode="auto">
                <a:xfrm>
                  <a:off x="8642"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SI</a:t>
                  </a:r>
                </a:p>
              </p:txBody>
            </p:sp>
            <p:sp>
              <p:nvSpPr>
                <p:cNvPr id="54370" name="Text Box 1143"/>
                <p:cNvSpPr txBox="1">
                  <a:spLocks noChangeArrowheads="1"/>
                </p:cNvSpPr>
                <p:nvPr/>
              </p:nvSpPr>
              <p:spPr bwMode="auto">
                <a:xfrm>
                  <a:off x="4484"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AX</a:t>
                  </a:r>
                </a:p>
              </p:txBody>
            </p:sp>
            <p:sp>
              <p:nvSpPr>
                <p:cNvPr id="54371" name="Text Box 1144"/>
                <p:cNvSpPr txBox="1">
                  <a:spLocks noChangeArrowheads="1"/>
                </p:cNvSpPr>
                <p:nvPr/>
              </p:nvSpPr>
              <p:spPr bwMode="auto">
                <a:xfrm>
                  <a:off x="5870"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BX</a:t>
                  </a:r>
                </a:p>
              </p:txBody>
            </p:sp>
            <p:sp>
              <p:nvSpPr>
                <p:cNvPr id="54372" name="Text Box 1145"/>
                <p:cNvSpPr txBox="1">
                  <a:spLocks noChangeArrowheads="1"/>
                </p:cNvSpPr>
                <p:nvPr/>
              </p:nvSpPr>
              <p:spPr bwMode="auto">
                <a:xfrm>
                  <a:off x="7256"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CX</a:t>
                  </a:r>
                </a:p>
              </p:txBody>
            </p:sp>
            <p:sp>
              <p:nvSpPr>
                <p:cNvPr id="54373" name="Text Box 1146"/>
                <p:cNvSpPr txBox="1">
                  <a:spLocks noChangeArrowheads="1"/>
                </p:cNvSpPr>
                <p:nvPr/>
              </p:nvSpPr>
              <p:spPr bwMode="auto">
                <a:xfrm>
                  <a:off x="8642"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DX</a:t>
                  </a:r>
                </a:p>
              </p:txBody>
            </p:sp>
            <p:sp>
              <p:nvSpPr>
                <p:cNvPr id="54374" name="Text Box 1147"/>
                <p:cNvSpPr txBox="1">
                  <a:spLocks noChangeArrowheads="1"/>
                </p:cNvSpPr>
                <p:nvPr/>
              </p:nvSpPr>
              <p:spPr bwMode="auto">
                <a:xfrm>
                  <a:off x="4484" y="898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T</a:t>
                  </a:r>
                </a:p>
              </p:txBody>
            </p:sp>
            <p:grpSp>
              <p:nvGrpSpPr>
                <p:cNvPr id="54375" name="Group 1148"/>
                <p:cNvGrpSpPr>
                  <a:grpSpLocks/>
                </p:cNvGrpSpPr>
                <p:nvPr/>
              </p:nvGrpSpPr>
              <p:grpSpPr bwMode="auto">
                <a:xfrm>
                  <a:off x="2594" y="4022"/>
                  <a:ext cx="1260" cy="1736"/>
                  <a:chOff x="2468" y="4642"/>
                  <a:chExt cx="1050" cy="1612"/>
                </a:xfrm>
              </p:grpSpPr>
              <p:sp>
                <p:nvSpPr>
                  <p:cNvPr id="54390" name="Text Box 1149"/>
                  <p:cNvSpPr txBox="1">
                    <a:spLocks noChangeArrowheads="1"/>
                  </p:cNvSpPr>
                  <p:nvPr/>
                </p:nvSpPr>
                <p:spPr bwMode="auto">
                  <a:xfrm>
                    <a:off x="2468" y="4642"/>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1000" dirty="0">
                        <a:latin typeface="Times New Roman" pitchFamily="18" charset="0"/>
                        <a:ea typeface="黑体" pitchFamily="2" charset="-122"/>
                      </a:rPr>
                      <a:t>MDR</a:t>
                    </a:r>
                  </a:p>
                </p:txBody>
              </p:sp>
              <p:sp>
                <p:nvSpPr>
                  <p:cNvPr id="54391" name="Text Box 1150"/>
                  <p:cNvSpPr txBox="1">
                    <a:spLocks noChangeArrowheads="1"/>
                  </p:cNvSpPr>
                  <p:nvPr/>
                </p:nvSpPr>
                <p:spPr bwMode="auto">
                  <a:xfrm>
                    <a:off x="2468" y="5944"/>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1000" dirty="0">
                        <a:latin typeface="Times New Roman" pitchFamily="18" charset="0"/>
                        <a:ea typeface="黑体" pitchFamily="2" charset="-122"/>
                      </a:rPr>
                      <a:t>MAR</a:t>
                    </a:r>
                  </a:p>
                </p:txBody>
              </p:sp>
              <p:sp>
                <p:nvSpPr>
                  <p:cNvPr id="54392" name="Text Box 1151"/>
                  <p:cNvSpPr txBox="1">
                    <a:spLocks noChangeArrowheads="1"/>
                  </p:cNvSpPr>
                  <p:nvPr/>
                </p:nvSpPr>
                <p:spPr bwMode="auto">
                  <a:xfrm>
                    <a:off x="2468" y="4952"/>
                    <a:ext cx="378" cy="992"/>
                  </a:xfrm>
                  <a:prstGeom prst="rect">
                    <a:avLst/>
                  </a:prstGeom>
                  <a:solidFill>
                    <a:srgbClr val="FFFF99"/>
                  </a:solidFill>
                  <a:ln w="19050">
                    <a:solidFill>
                      <a:srgbClr val="000000"/>
                    </a:solidFill>
                    <a:miter lim="800000"/>
                    <a:headEnd/>
                    <a:tailEnd/>
                  </a:ln>
                </p:spPr>
                <p:txBody>
                  <a:bodyPr vert="eaVert" lIns="0" tIns="0" rIns="360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zh-CN" altLang="en-US" sz="1000">
                        <a:latin typeface="Times New Roman" pitchFamily="18" charset="0"/>
                        <a:ea typeface="黑体" pitchFamily="2" charset="-122"/>
                      </a:rPr>
                      <a:t>控制</a:t>
                    </a:r>
                  </a:p>
                  <a:p>
                    <a:pPr algn="ctr" eaLnBrk="1" hangingPunct="1">
                      <a:lnSpc>
                        <a:spcPct val="90000"/>
                      </a:lnSpc>
                      <a:spcBef>
                        <a:spcPct val="0"/>
                      </a:spcBef>
                    </a:pPr>
                    <a:r>
                      <a:rPr lang="zh-CN" altLang="en-US" sz="1000">
                        <a:latin typeface="Times New Roman" pitchFamily="18" charset="0"/>
                        <a:ea typeface="黑体" pitchFamily="2" charset="-122"/>
                      </a:rPr>
                      <a:t>逻辑</a:t>
                    </a:r>
                  </a:p>
                </p:txBody>
              </p:sp>
              <p:sp>
                <p:nvSpPr>
                  <p:cNvPr id="54393" name="Text Box 1152"/>
                  <p:cNvSpPr txBox="1">
                    <a:spLocks noChangeArrowheads="1"/>
                  </p:cNvSpPr>
                  <p:nvPr/>
                </p:nvSpPr>
                <p:spPr bwMode="auto">
                  <a:xfrm>
                    <a:off x="2846" y="4952"/>
                    <a:ext cx="672" cy="992"/>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主存</a:t>
                    </a:r>
                  </a:p>
                  <a:p>
                    <a:pPr algn="ctr" eaLnBrk="1" hangingPunct="1">
                      <a:lnSpc>
                        <a:spcPct val="96000"/>
                      </a:lnSpc>
                      <a:spcBef>
                        <a:spcPct val="0"/>
                      </a:spcBef>
                    </a:pPr>
                    <a:r>
                      <a:rPr lang="en-US" altLang="zh-CN" sz="1000" dirty="0">
                        <a:latin typeface="Times New Roman" pitchFamily="18" charset="0"/>
                        <a:ea typeface="黑体" pitchFamily="2" charset="-122"/>
                      </a:rPr>
                      <a:t>MM</a:t>
                    </a:r>
                  </a:p>
                </p:txBody>
              </p:sp>
            </p:grpSp>
            <p:sp>
              <p:nvSpPr>
                <p:cNvPr id="54376" name="Text Box 1153"/>
                <p:cNvSpPr txBox="1">
                  <a:spLocks noChangeArrowheads="1"/>
                </p:cNvSpPr>
                <p:nvPr/>
              </p:nvSpPr>
              <p:spPr bwMode="auto">
                <a:xfrm>
                  <a:off x="2594" y="8238"/>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DR</a:t>
                  </a:r>
                </a:p>
              </p:txBody>
            </p:sp>
            <p:sp>
              <p:nvSpPr>
                <p:cNvPr id="54377" name="Text Box 1154"/>
                <p:cNvSpPr txBox="1">
                  <a:spLocks noChangeArrowheads="1"/>
                </p:cNvSpPr>
                <p:nvPr/>
              </p:nvSpPr>
              <p:spPr bwMode="auto">
                <a:xfrm>
                  <a:off x="2594" y="9416"/>
                  <a:ext cx="462" cy="806"/>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AR</a:t>
                  </a:r>
                </a:p>
              </p:txBody>
            </p:sp>
            <p:sp>
              <p:nvSpPr>
                <p:cNvPr id="54378" name="Text Box 1155"/>
                <p:cNvSpPr txBox="1">
                  <a:spLocks noChangeArrowheads="1"/>
                </p:cNvSpPr>
                <p:nvPr/>
              </p:nvSpPr>
              <p:spPr bwMode="auto">
                <a:xfrm>
                  <a:off x="7928" y="87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a:t>
                  </a:r>
                </a:p>
              </p:txBody>
            </p:sp>
            <p:sp>
              <p:nvSpPr>
                <p:cNvPr id="54379" name="Text Box 1156"/>
                <p:cNvSpPr txBox="1">
                  <a:spLocks noChangeArrowheads="1"/>
                </p:cNvSpPr>
                <p:nvPr/>
              </p:nvSpPr>
              <p:spPr bwMode="auto">
                <a:xfrm>
                  <a:off x="4862" y="1084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PC</a:t>
                  </a:r>
                </a:p>
              </p:txBody>
            </p:sp>
            <p:sp>
              <p:nvSpPr>
                <p:cNvPr id="54380" name="Text Box 1157"/>
                <p:cNvSpPr txBox="1">
                  <a:spLocks noChangeArrowheads="1"/>
                </p:cNvSpPr>
                <p:nvPr/>
              </p:nvSpPr>
              <p:spPr bwMode="auto">
                <a:xfrm>
                  <a:off x="4862" y="1220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IR</a:t>
                  </a:r>
                </a:p>
              </p:txBody>
            </p:sp>
            <p:sp>
              <p:nvSpPr>
                <p:cNvPr id="54381" name="Text Box 1158"/>
                <p:cNvSpPr txBox="1">
                  <a:spLocks noChangeArrowheads="1"/>
                </p:cNvSpPr>
                <p:nvPr/>
              </p:nvSpPr>
              <p:spPr bwMode="auto">
                <a:xfrm>
                  <a:off x="5870" y="11090"/>
                  <a:ext cx="546" cy="744"/>
                </a:xfrm>
                <a:prstGeom prst="rect">
                  <a:avLst/>
                </a:prstGeom>
                <a:solidFill>
                  <a:srgbClr val="FFFF99"/>
                </a:solidFill>
                <a:ln w="19050">
                  <a:solidFill>
                    <a:srgbClr val="00000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PSW</a:t>
                  </a:r>
                </a:p>
              </p:txBody>
            </p:sp>
            <p:sp>
              <p:nvSpPr>
                <p:cNvPr id="54382" name="Text Box 1159"/>
                <p:cNvSpPr txBox="1">
                  <a:spLocks noChangeArrowheads="1"/>
                </p:cNvSpPr>
                <p:nvPr/>
              </p:nvSpPr>
              <p:spPr bwMode="auto">
                <a:xfrm>
                  <a:off x="5870" y="12144"/>
                  <a:ext cx="1890" cy="105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微操作</a:t>
                  </a:r>
                </a:p>
                <a:p>
                  <a:pPr algn="ctr" eaLnBrk="1" hangingPunct="1">
                    <a:lnSpc>
                      <a:spcPct val="96000"/>
                    </a:lnSpc>
                    <a:spcBef>
                      <a:spcPct val="0"/>
                    </a:spcBef>
                  </a:pPr>
                  <a:r>
                    <a:rPr lang="zh-CN" altLang="en-US" sz="1000">
                      <a:latin typeface="Times New Roman" pitchFamily="18" charset="0"/>
                      <a:ea typeface="黑体" pitchFamily="2" charset="-122"/>
                    </a:rPr>
                    <a:t>信号发生器</a:t>
                  </a:r>
                </a:p>
              </p:txBody>
            </p:sp>
            <p:sp>
              <p:nvSpPr>
                <p:cNvPr id="54383" name="Text Box 1160"/>
                <p:cNvSpPr txBox="1">
                  <a:spLocks noChangeArrowheads="1"/>
                </p:cNvSpPr>
                <p:nvPr/>
              </p:nvSpPr>
              <p:spPr bwMode="auto">
                <a:xfrm>
                  <a:off x="6794" y="11090"/>
                  <a:ext cx="840"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000">
                      <a:latin typeface="Times New Roman" pitchFamily="18" charset="0"/>
                      <a:ea typeface="黑体" pitchFamily="2" charset="-122"/>
                    </a:rPr>
                    <a:t>时序</a:t>
                  </a:r>
                </a:p>
                <a:p>
                  <a:pPr algn="ctr" eaLnBrk="1" hangingPunct="1">
                    <a:lnSpc>
                      <a:spcPct val="80000"/>
                    </a:lnSpc>
                    <a:spcBef>
                      <a:spcPct val="0"/>
                    </a:spcBef>
                  </a:pPr>
                  <a:r>
                    <a:rPr lang="zh-CN" altLang="en-US" sz="1000">
                      <a:latin typeface="Times New Roman" pitchFamily="18" charset="0"/>
                      <a:ea typeface="黑体" pitchFamily="2" charset="-122"/>
                    </a:rPr>
                    <a:t>部件</a:t>
                  </a:r>
                </a:p>
              </p:txBody>
            </p:sp>
            <p:sp>
              <p:nvSpPr>
                <p:cNvPr id="54384" name="Text Box 1161"/>
                <p:cNvSpPr txBox="1">
                  <a:spLocks noChangeArrowheads="1"/>
                </p:cNvSpPr>
                <p:nvPr/>
              </p:nvSpPr>
              <p:spPr bwMode="auto">
                <a:xfrm>
                  <a:off x="10028" y="6750"/>
                  <a:ext cx="588" cy="434"/>
                </a:xfrm>
                <a:prstGeom prst="rect">
                  <a:avLst/>
                </a:prstGeom>
                <a:solidFill>
                  <a:srgbClr val="FFFF99"/>
                </a:solidFill>
                <a:ln w="19050">
                  <a:solidFill>
                    <a:srgbClr val="000000"/>
                  </a:solidFill>
                  <a:miter lim="800000"/>
                  <a:headEnd/>
                  <a:tailEnd/>
                </a:ln>
              </p:spPr>
              <p:txBody>
                <a:bodyPr lIns="36000" tIns="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CT</a:t>
                  </a:r>
                </a:p>
              </p:txBody>
            </p:sp>
            <p:sp>
              <p:nvSpPr>
                <p:cNvPr id="54385" name="AutoShape 1162"/>
                <p:cNvSpPr>
                  <a:spLocks noChangeArrowheads="1"/>
                </p:cNvSpPr>
                <p:nvPr/>
              </p:nvSpPr>
              <p:spPr bwMode="auto">
                <a:xfrm rot="-5400000">
                  <a:off x="1935" y="9693"/>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4386" name="AutoShape 1163"/>
                <p:cNvSpPr>
                  <a:spLocks noChangeArrowheads="1"/>
                </p:cNvSpPr>
                <p:nvPr/>
              </p:nvSpPr>
              <p:spPr bwMode="auto">
                <a:xfrm rot="5400000" flipH="1">
                  <a:off x="1956" y="8846"/>
                  <a:ext cx="310" cy="210"/>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4387" name="AutoShape 1164"/>
                <p:cNvSpPr>
                  <a:spLocks noChangeArrowheads="1"/>
                </p:cNvSpPr>
                <p:nvPr/>
              </p:nvSpPr>
              <p:spPr bwMode="auto">
                <a:xfrm rot="-5400000">
                  <a:off x="1935" y="8391"/>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4388" name="AutoShape 1165"/>
                <p:cNvSpPr>
                  <a:spLocks noChangeArrowheads="1"/>
                </p:cNvSpPr>
                <p:nvPr/>
              </p:nvSpPr>
              <p:spPr bwMode="auto">
                <a:xfrm rot="5400000">
                  <a:off x="6217" y="9079"/>
                  <a:ext cx="1364" cy="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81 w 21600"/>
                    <a:gd name="T13" fmla="*/ 4195 h 21600"/>
                    <a:gd name="T14" fmla="*/ 17419 w 21600"/>
                    <a:gd name="T15" fmla="*/ 17405 h 21600"/>
                  </a:gdLst>
                  <a:ahLst/>
                  <a:cxnLst>
                    <a:cxn ang="T8">
                      <a:pos x="T0" y="T1"/>
                    </a:cxn>
                    <a:cxn ang="T9">
                      <a:pos x="T2" y="T3"/>
                    </a:cxn>
                    <a:cxn ang="T10">
                      <a:pos x="T4" y="T5"/>
                    </a:cxn>
                    <a:cxn ang="T11">
                      <a:pos x="T6" y="T7"/>
                    </a:cxn>
                  </a:cxnLst>
                  <a:rect l="T12" t="T13" r="T14" b="T15"/>
                  <a:pathLst>
                    <a:path w="21600" h="21600">
                      <a:moveTo>
                        <a:pt x="0" y="0"/>
                      </a:moveTo>
                      <a:lnTo>
                        <a:pt x="4767" y="21600"/>
                      </a:lnTo>
                      <a:lnTo>
                        <a:pt x="16833" y="21600"/>
                      </a:lnTo>
                      <a:lnTo>
                        <a:pt x="21600" y="0"/>
                      </a:lnTo>
                      <a:lnTo>
                        <a:pt x="0" y="0"/>
                      </a:lnTo>
                      <a:close/>
                    </a:path>
                  </a:pathLst>
                </a:custGeom>
                <a:solidFill>
                  <a:srgbClr val="FFFF99"/>
                </a:solidFill>
                <a:ln w="19050">
                  <a:solidFill>
                    <a:srgbClr val="000000"/>
                  </a:solidFill>
                  <a:miter lim="800000"/>
                  <a:headEnd/>
                  <a:tailEnd/>
                </a:ln>
              </p:spPr>
              <p:txBody>
                <a:bodyPr lIns="0" tIns="0" rIns="0" bIns="0"/>
                <a:lstStyle/>
                <a:p>
                  <a:pPr algn="just">
                    <a:lnSpc>
                      <a:spcPct val="96000"/>
                    </a:lnSpc>
                    <a:spcBef>
                      <a:spcPct val="0"/>
                    </a:spcBef>
                  </a:pPr>
                  <a:endParaRPr lang="zh-CN" altLang="en-US" sz="1000">
                    <a:latin typeface="Times New Roman" pitchFamily="18" charset="0"/>
                    <a:ea typeface="黑体" pitchFamily="2" charset="-122"/>
                  </a:endParaRPr>
                </a:p>
                <a:p>
                  <a:pPr algn="just">
                    <a:lnSpc>
                      <a:spcPct val="96000"/>
                    </a:lnSpc>
                    <a:spcBef>
                      <a:spcPct val="0"/>
                    </a:spcBef>
                  </a:pPr>
                  <a:r>
                    <a:rPr lang="en-US" altLang="zh-CN" sz="1000" dirty="0">
                      <a:latin typeface="Times New Roman" pitchFamily="18" charset="0"/>
                      <a:ea typeface="黑体" pitchFamily="2" charset="-122"/>
                    </a:rPr>
                    <a:t>ALU</a:t>
                  </a:r>
                </a:p>
                <a:p>
                  <a:pPr>
                    <a:spcBef>
                      <a:spcPct val="0"/>
                    </a:spcBef>
                  </a:pPr>
                  <a:endParaRPr lang="en-US" altLang="zh-CN" sz="1000" dirty="0">
                    <a:latin typeface="Times New Roman" pitchFamily="18" charset="0"/>
                    <a:ea typeface="黑体" pitchFamily="2" charset="-122"/>
                  </a:endParaRPr>
                </a:p>
              </p:txBody>
            </p:sp>
            <p:sp>
              <p:nvSpPr>
                <p:cNvPr id="54389" name="Text Box 1166"/>
                <p:cNvSpPr txBox="1">
                  <a:spLocks noChangeArrowheads="1"/>
                </p:cNvSpPr>
                <p:nvPr/>
              </p:nvSpPr>
              <p:spPr bwMode="auto">
                <a:xfrm>
                  <a:off x="8222" y="11090"/>
                  <a:ext cx="378"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zh-CN" altLang="en-US" sz="1000">
                      <a:latin typeface="Times New Roman" pitchFamily="18" charset="0"/>
                      <a:ea typeface="黑体" pitchFamily="2" charset="-122"/>
                    </a:rPr>
                    <a:t>时</a:t>
                  </a:r>
                </a:p>
                <a:p>
                  <a:pPr algn="ctr" eaLnBrk="1" hangingPunct="1">
                    <a:lnSpc>
                      <a:spcPct val="80000"/>
                    </a:lnSpc>
                    <a:spcBef>
                      <a:spcPct val="0"/>
                    </a:spcBef>
                  </a:pPr>
                  <a:r>
                    <a:rPr lang="zh-CN" altLang="en-US" sz="1000">
                      <a:latin typeface="Times New Roman" pitchFamily="18" charset="0"/>
                      <a:ea typeface="黑体" pitchFamily="2" charset="-122"/>
                    </a:rPr>
                    <a:t>钟</a:t>
                  </a:r>
                </a:p>
              </p:txBody>
            </p:sp>
          </p:grpSp>
          <p:grpSp>
            <p:nvGrpSpPr>
              <p:cNvPr id="54284" name="Group 1167"/>
              <p:cNvGrpSpPr>
                <a:grpSpLocks/>
              </p:cNvGrpSpPr>
              <p:nvPr/>
            </p:nvGrpSpPr>
            <p:grpSpPr bwMode="auto">
              <a:xfrm>
                <a:off x="1478" y="4721"/>
                <a:ext cx="8489" cy="9268"/>
                <a:chOff x="2024" y="4750"/>
                <a:chExt cx="9240" cy="10044"/>
              </a:xfrm>
            </p:grpSpPr>
            <p:sp>
              <p:nvSpPr>
                <p:cNvPr id="54294" name="Text Box 1168"/>
                <p:cNvSpPr txBox="1">
                  <a:spLocks noChangeArrowheads="1"/>
                </p:cNvSpPr>
                <p:nvPr/>
              </p:nvSpPr>
              <p:spPr bwMode="auto">
                <a:xfrm>
                  <a:off x="10592" y="6734"/>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80000"/>
                    </a:lnSpc>
                    <a:spcBef>
                      <a:spcPct val="0"/>
                    </a:spcBef>
                  </a:pPr>
                  <a:r>
                    <a:rPr lang="en-US" altLang="zh-CN" sz="1000" dirty="0">
                      <a:solidFill>
                        <a:srgbClr val="FF0000"/>
                      </a:solidFill>
                      <a:latin typeface="Times New Roman" pitchFamily="18" charset="0"/>
                      <a:ea typeface="黑体" pitchFamily="2" charset="-122"/>
                    </a:rPr>
                    <a:t>+1CT</a:t>
                  </a:r>
                  <a:endParaRPr lang="en-US" altLang="zh-CN" sz="1000" dirty="0">
                    <a:latin typeface="Times New Roman" pitchFamily="18" charset="0"/>
                    <a:ea typeface="黑体" pitchFamily="2" charset="-122"/>
                  </a:endParaRPr>
                </a:p>
              </p:txBody>
            </p:sp>
            <p:sp>
              <p:nvSpPr>
                <p:cNvPr id="54295" name="Text Box 1169"/>
                <p:cNvSpPr txBox="1">
                  <a:spLocks noChangeArrowheads="1"/>
                </p:cNvSpPr>
                <p:nvPr/>
              </p:nvSpPr>
              <p:spPr bwMode="auto">
                <a:xfrm>
                  <a:off x="10592" y="7850"/>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0→CT</a:t>
                  </a:r>
                  <a:endParaRPr lang="en-US" altLang="zh-CN" sz="1000" dirty="0">
                    <a:latin typeface="Times New Roman" pitchFamily="18" charset="0"/>
                    <a:ea typeface="黑体" pitchFamily="2" charset="-122"/>
                  </a:endParaRPr>
                </a:p>
              </p:txBody>
            </p:sp>
            <p:grpSp>
              <p:nvGrpSpPr>
                <p:cNvPr id="54296" name="Group 1170"/>
                <p:cNvGrpSpPr>
                  <a:grpSpLocks/>
                </p:cNvGrpSpPr>
                <p:nvPr/>
              </p:nvGrpSpPr>
              <p:grpSpPr bwMode="auto">
                <a:xfrm>
                  <a:off x="2024" y="4750"/>
                  <a:ext cx="840" cy="620"/>
                  <a:chOff x="1544" y="4270"/>
                  <a:chExt cx="882" cy="620"/>
                </a:xfrm>
              </p:grpSpPr>
              <p:sp>
                <p:nvSpPr>
                  <p:cNvPr id="54359" name="Text Box 1171"/>
                  <p:cNvSpPr txBox="1">
                    <a:spLocks noChangeArrowheads="1"/>
                  </p:cNvSpPr>
                  <p:nvPr/>
                </p:nvSpPr>
                <p:spPr bwMode="auto">
                  <a:xfrm>
                    <a:off x="1544" y="427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80000"/>
                      </a:lnSpc>
                      <a:spcBef>
                        <a:spcPct val="0"/>
                      </a:spcBef>
                    </a:pPr>
                    <a:r>
                      <a:rPr lang="en-US" altLang="zh-CN" sz="1000" dirty="0">
                        <a:solidFill>
                          <a:srgbClr val="FF0000"/>
                        </a:solidFill>
                        <a:latin typeface="Times New Roman" pitchFamily="18" charset="0"/>
                        <a:ea typeface="黑体" pitchFamily="2" charset="-122"/>
                      </a:rPr>
                      <a:t>/MMRD</a:t>
                    </a:r>
                    <a:endParaRPr lang="en-US" altLang="zh-CN" sz="1000" dirty="0">
                      <a:latin typeface="Times New Roman" pitchFamily="18" charset="0"/>
                      <a:ea typeface="黑体" pitchFamily="2" charset="-122"/>
                    </a:endParaRPr>
                  </a:p>
                </p:txBody>
              </p:sp>
              <p:sp>
                <p:nvSpPr>
                  <p:cNvPr id="54360" name="Text Box 1172"/>
                  <p:cNvSpPr txBox="1">
                    <a:spLocks noChangeArrowheads="1"/>
                  </p:cNvSpPr>
                  <p:nvPr/>
                </p:nvSpPr>
                <p:spPr bwMode="auto">
                  <a:xfrm>
                    <a:off x="1544" y="458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80000"/>
                      </a:lnSpc>
                      <a:spcBef>
                        <a:spcPct val="0"/>
                      </a:spcBef>
                    </a:pPr>
                    <a:r>
                      <a:rPr lang="en-US" altLang="zh-CN" sz="1000" dirty="0">
                        <a:solidFill>
                          <a:srgbClr val="FF0000"/>
                        </a:solidFill>
                        <a:latin typeface="Times New Roman" pitchFamily="18" charset="0"/>
                        <a:ea typeface="黑体" pitchFamily="2" charset="-122"/>
                      </a:rPr>
                      <a:t>/MMWR</a:t>
                    </a:r>
                    <a:endParaRPr lang="en-US" altLang="zh-CN" sz="1000" dirty="0">
                      <a:latin typeface="Times New Roman" pitchFamily="18" charset="0"/>
                      <a:ea typeface="黑体" pitchFamily="2" charset="-122"/>
                    </a:endParaRPr>
                  </a:p>
                </p:txBody>
              </p:sp>
            </p:grpSp>
            <p:grpSp>
              <p:nvGrpSpPr>
                <p:cNvPr id="54297" name="Group 1173"/>
                <p:cNvGrpSpPr>
                  <a:grpSpLocks/>
                </p:cNvGrpSpPr>
                <p:nvPr/>
              </p:nvGrpSpPr>
              <p:grpSpPr bwMode="auto">
                <a:xfrm>
                  <a:off x="5636" y="5928"/>
                  <a:ext cx="756" cy="1240"/>
                  <a:chOff x="5114" y="5510"/>
                  <a:chExt cx="798" cy="1240"/>
                </a:xfrm>
              </p:grpSpPr>
              <p:sp>
                <p:nvSpPr>
                  <p:cNvPr id="54355" name="Text Box 1174"/>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+2SP</a:t>
                    </a:r>
                    <a:endParaRPr lang="en-US" altLang="zh-CN" sz="1000" dirty="0">
                      <a:latin typeface="Times New Roman" pitchFamily="18" charset="0"/>
                      <a:ea typeface="黑体" pitchFamily="2" charset="-122"/>
                    </a:endParaRPr>
                  </a:p>
                </p:txBody>
              </p:sp>
              <p:sp>
                <p:nvSpPr>
                  <p:cNvPr id="54356" name="Text Box 1175"/>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-2SP</a:t>
                    </a:r>
                    <a:endParaRPr lang="en-US" altLang="zh-CN" sz="1000" dirty="0">
                      <a:latin typeface="Times New Roman" pitchFamily="18" charset="0"/>
                      <a:ea typeface="黑体" pitchFamily="2" charset="-122"/>
                    </a:endParaRPr>
                  </a:p>
                </p:txBody>
              </p:sp>
              <p:sp>
                <p:nvSpPr>
                  <p:cNvPr id="54357" name="Text Box 1176"/>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SPin</a:t>
                    </a:r>
                    <a:endParaRPr lang="en-US" altLang="zh-CN" sz="1000" dirty="0">
                      <a:latin typeface="Times New Roman" pitchFamily="18" charset="0"/>
                      <a:ea typeface="黑体" pitchFamily="2" charset="-122"/>
                    </a:endParaRPr>
                  </a:p>
                </p:txBody>
              </p:sp>
              <p:sp>
                <p:nvSpPr>
                  <p:cNvPr id="54358" name="Text Box 1177"/>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SP→IB</a:t>
                    </a:r>
                    <a:endParaRPr lang="en-US" altLang="zh-CN" sz="1000" dirty="0">
                      <a:latin typeface="Times New Roman" pitchFamily="18" charset="0"/>
                      <a:ea typeface="黑体" pitchFamily="2" charset="-122"/>
                    </a:endParaRPr>
                  </a:p>
                </p:txBody>
              </p:sp>
            </p:grpSp>
            <p:sp>
              <p:nvSpPr>
                <p:cNvPr id="54298" name="Text Box 1178"/>
                <p:cNvSpPr txBox="1">
                  <a:spLocks noChangeArrowheads="1"/>
                </p:cNvSpPr>
                <p:nvPr/>
              </p:nvSpPr>
              <p:spPr bwMode="auto">
                <a:xfrm>
                  <a:off x="6980" y="611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BPin</a:t>
                  </a:r>
                  <a:endParaRPr lang="en-US" altLang="zh-CN" sz="1000" dirty="0">
                    <a:latin typeface="Times New Roman" pitchFamily="18" charset="0"/>
                    <a:ea typeface="黑体" pitchFamily="2" charset="-122"/>
                  </a:endParaRPr>
                </a:p>
              </p:txBody>
            </p:sp>
            <p:sp>
              <p:nvSpPr>
                <p:cNvPr id="54299" name="Text Box 1179"/>
                <p:cNvSpPr txBox="1">
                  <a:spLocks noChangeArrowheads="1"/>
                </p:cNvSpPr>
                <p:nvPr/>
              </p:nvSpPr>
              <p:spPr bwMode="auto">
                <a:xfrm>
                  <a:off x="6980" y="64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BP→IB</a:t>
                  </a:r>
                  <a:endParaRPr lang="en-US" altLang="zh-CN" sz="1000" dirty="0">
                    <a:latin typeface="Times New Roman" pitchFamily="18" charset="0"/>
                    <a:ea typeface="黑体" pitchFamily="2" charset="-122"/>
                  </a:endParaRPr>
                </a:p>
              </p:txBody>
            </p:sp>
            <p:grpSp>
              <p:nvGrpSpPr>
                <p:cNvPr id="54300" name="Group 1180"/>
                <p:cNvGrpSpPr>
                  <a:grpSpLocks/>
                </p:cNvGrpSpPr>
                <p:nvPr/>
              </p:nvGrpSpPr>
              <p:grpSpPr bwMode="auto">
                <a:xfrm>
                  <a:off x="8408" y="5928"/>
                  <a:ext cx="756" cy="1240"/>
                  <a:chOff x="5114" y="5510"/>
                  <a:chExt cx="798" cy="1240"/>
                </a:xfrm>
              </p:grpSpPr>
              <p:sp>
                <p:nvSpPr>
                  <p:cNvPr id="54351" name="Text Box 1181"/>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+2DI</a:t>
                    </a:r>
                    <a:endParaRPr lang="en-US" altLang="zh-CN" sz="1000" dirty="0">
                      <a:latin typeface="Times New Roman" pitchFamily="18" charset="0"/>
                      <a:ea typeface="黑体" pitchFamily="2" charset="-122"/>
                    </a:endParaRPr>
                  </a:p>
                </p:txBody>
              </p:sp>
              <p:sp>
                <p:nvSpPr>
                  <p:cNvPr id="54352" name="Text Box 1182"/>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-2DI</a:t>
                    </a:r>
                    <a:endParaRPr lang="en-US" altLang="zh-CN" sz="1000" dirty="0">
                      <a:latin typeface="Times New Roman" pitchFamily="18" charset="0"/>
                      <a:ea typeface="黑体" pitchFamily="2" charset="-122"/>
                    </a:endParaRPr>
                  </a:p>
                </p:txBody>
              </p:sp>
              <p:sp>
                <p:nvSpPr>
                  <p:cNvPr id="54353" name="Text Box 1183"/>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DIin</a:t>
                    </a:r>
                    <a:endParaRPr lang="en-US" altLang="zh-CN" sz="1000" dirty="0">
                      <a:latin typeface="Times New Roman" pitchFamily="18" charset="0"/>
                      <a:ea typeface="黑体" pitchFamily="2" charset="-122"/>
                    </a:endParaRPr>
                  </a:p>
                </p:txBody>
              </p:sp>
              <p:sp>
                <p:nvSpPr>
                  <p:cNvPr id="54354" name="Text Box 1184"/>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DI→IB</a:t>
                    </a:r>
                    <a:endParaRPr lang="en-US" altLang="zh-CN" sz="1000" dirty="0">
                      <a:latin typeface="Times New Roman" pitchFamily="18" charset="0"/>
                      <a:ea typeface="黑体" pitchFamily="2" charset="-122"/>
                    </a:endParaRPr>
                  </a:p>
                </p:txBody>
              </p:sp>
            </p:grpSp>
            <p:grpSp>
              <p:nvGrpSpPr>
                <p:cNvPr id="54301" name="Group 1185"/>
                <p:cNvGrpSpPr>
                  <a:grpSpLocks/>
                </p:cNvGrpSpPr>
                <p:nvPr/>
              </p:nvGrpSpPr>
              <p:grpSpPr bwMode="auto">
                <a:xfrm>
                  <a:off x="9794" y="5928"/>
                  <a:ext cx="756" cy="1240"/>
                  <a:chOff x="5114" y="5510"/>
                  <a:chExt cx="798" cy="1240"/>
                </a:xfrm>
              </p:grpSpPr>
              <p:sp>
                <p:nvSpPr>
                  <p:cNvPr id="54347" name="Text Box 1186"/>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+2SI</a:t>
                    </a:r>
                    <a:endParaRPr lang="en-US" altLang="zh-CN" sz="1000" dirty="0">
                      <a:latin typeface="Times New Roman" pitchFamily="18" charset="0"/>
                      <a:ea typeface="黑体" pitchFamily="2" charset="-122"/>
                    </a:endParaRPr>
                  </a:p>
                </p:txBody>
              </p:sp>
              <p:sp>
                <p:nvSpPr>
                  <p:cNvPr id="54348" name="Text Box 1187"/>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-2SI</a:t>
                    </a:r>
                    <a:endParaRPr lang="en-US" altLang="zh-CN" sz="1000" dirty="0">
                      <a:latin typeface="Times New Roman" pitchFamily="18" charset="0"/>
                      <a:ea typeface="黑体" pitchFamily="2" charset="-122"/>
                    </a:endParaRPr>
                  </a:p>
                </p:txBody>
              </p:sp>
              <p:sp>
                <p:nvSpPr>
                  <p:cNvPr id="54349" name="Text Box 1188"/>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SIin</a:t>
                    </a:r>
                    <a:endParaRPr lang="en-US" altLang="zh-CN" sz="1000" dirty="0">
                      <a:latin typeface="Times New Roman" pitchFamily="18" charset="0"/>
                      <a:ea typeface="黑体" pitchFamily="2" charset="-122"/>
                    </a:endParaRPr>
                  </a:p>
                </p:txBody>
              </p:sp>
              <p:sp>
                <p:nvSpPr>
                  <p:cNvPr id="54350" name="Text Box 1189"/>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SI→IB</a:t>
                    </a:r>
                    <a:endParaRPr lang="en-US" altLang="zh-CN" sz="1000" dirty="0">
                      <a:latin typeface="Times New Roman" pitchFamily="18" charset="0"/>
                      <a:ea typeface="黑体" pitchFamily="2" charset="-122"/>
                    </a:endParaRPr>
                  </a:p>
                </p:txBody>
              </p:sp>
            </p:grpSp>
            <p:grpSp>
              <p:nvGrpSpPr>
                <p:cNvPr id="54302" name="Group 1190"/>
                <p:cNvGrpSpPr>
                  <a:grpSpLocks/>
                </p:cNvGrpSpPr>
                <p:nvPr/>
              </p:nvGrpSpPr>
              <p:grpSpPr bwMode="auto">
                <a:xfrm>
                  <a:off x="5594" y="7788"/>
                  <a:ext cx="756" cy="620"/>
                  <a:chOff x="5114" y="7308"/>
                  <a:chExt cx="756" cy="620"/>
                </a:xfrm>
              </p:grpSpPr>
              <p:sp>
                <p:nvSpPr>
                  <p:cNvPr id="54345" name="Text Box 1191"/>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AXin</a:t>
                    </a:r>
                    <a:endParaRPr lang="en-US" altLang="zh-CN" sz="1000" dirty="0">
                      <a:latin typeface="Times New Roman" pitchFamily="18" charset="0"/>
                      <a:ea typeface="黑体" pitchFamily="2" charset="-122"/>
                    </a:endParaRPr>
                  </a:p>
                </p:txBody>
              </p:sp>
              <p:sp>
                <p:nvSpPr>
                  <p:cNvPr id="54346" name="Text Box 1192"/>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AX→IB</a:t>
                    </a:r>
                    <a:endParaRPr lang="en-US" altLang="zh-CN" sz="1000" dirty="0">
                      <a:latin typeface="Times New Roman" pitchFamily="18" charset="0"/>
                      <a:ea typeface="黑体" pitchFamily="2" charset="-122"/>
                    </a:endParaRPr>
                  </a:p>
                </p:txBody>
              </p:sp>
            </p:grpSp>
            <p:grpSp>
              <p:nvGrpSpPr>
                <p:cNvPr id="54303" name="Group 1193"/>
                <p:cNvGrpSpPr>
                  <a:grpSpLocks/>
                </p:cNvGrpSpPr>
                <p:nvPr/>
              </p:nvGrpSpPr>
              <p:grpSpPr bwMode="auto">
                <a:xfrm>
                  <a:off x="6980" y="7788"/>
                  <a:ext cx="756" cy="620"/>
                  <a:chOff x="5114" y="7308"/>
                  <a:chExt cx="756" cy="620"/>
                </a:xfrm>
              </p:grpSpPr>
              <p:sp>
                <p:nvSpPr>
                  <p:cNvPr id="54343" name="Text Box 1194"/>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BXin</a:t>
                    </a:r>
                    <a:endParaRPr lang="en-US" altLang="zh-CN" sz="1000" dirty="0">
                      <a:latin typeface="Times New Roman" pitchFamily="18" charset="0"/>
                      <a:ea typeface="黑体" pitchFamily="2" charset="-122"/>
                    </a:endParaRPr>
                  </a:p>
                </p:txBody>
              </p:sp>
              <p:sp>
                <p:nvSpPr>
                  <p:cNvPr id="54344" name="Text Box 1195"/>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BX→IB</a:t>
                    </a:r>
                    <a:endParaRPr lang="en-US" altLang="zh-CN" sz="1000" dirty="0">
                      <a:latin typeface="Times New Roman" pitchFamily="18" charset="0"/>
                      <a:ea typeface="黑体" pitchFamily="2" charset="-122"/>
                    </a:endParaRPr>
                  </a:p>
                </p:txBody>
              </p:sp>
            </p:grpSp>
            <p:grpSp>
              <p:nvGrpSpPr>
                <p:cNvPr id="54304" name="Group 1196"/>
                <p:cNvGrpSpPr>
                  <a:grpSpLocks/>
                </p:cNvGrpSpPr>
                <p:nvPr/>
              </p:nvGrpSpPr>
              <p:grpSpPr bwMode="auto">
                <a:xfrm>
                  <a:off x="9710" y="7788"/>
                  <a:ext cx="756" cy="620"/>
                  <a:chOff x="5114" y="7308"/>
                  <a:chExt cx="756" cy="620"/>
                </a:xfrm>
              </p:grpSpPr>
              <p:sp>
                <p:nvSpPr>
                  <p:cNvPr id="54341" name="Text Box 1197"/>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DXin</a:t>
                    </a:r>
                    <a:endParaRPr lang="en-US" altLang="zh-CN" sz="1000" dirty="0">
                      <a:latin typeface="Times New Roman" pitchFamily="18" charset="0"/>
                      <a:ea typeface="黑体" pitchFamily="2" charset="-122"/>
                    </a:endParaRPr>
                  </a:p>
                </p:txBody>
              </p:sp>
              <p:sp>
                <p:nvSpPr>
                  <p:cNvPr id="54342" name="Text Box 1198"/>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DX→IB</a:t>
                    </a:r>
                    <a:endParaRPr lang="en-US" altLang="zh-CN" sz="1000" dirty="0">
                      <a:latin typeface="Times New Roman" pitchFamily="18" charset="0"/>
                      <a:ea typeface="黑体" pitchFamily="2" charset="-122"/>
                    </a:endParaRPr>
                  </a:p>
                </p:txBody>
              </p:sp>
            </p:grpSp>
            <p:sp>
              <p:nvSpPr>
                <p:cNvPr id="54305" name="Text Box 1199"/>
                <p:cNvSpPr txBox="1">
                  <a:spLocks noChangeArrowheads="1"/>
                </p:cNvSpPr>
                <p:nvPr/>
              </p:nvSpPr>
              <p:spPr bwMode="auto">
                <a:xfrm>
                  <a:off x="8366" y="809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CXin</a:t>
                  </a:r>
                  <a:endParaRPr lang="en-US" altLang="zh-CN" sz="1000" dirty="0">
                    <a:latin typeface="Times New Roman" pitchFamily="18" charset="0"/>
                    <a:ea typeface="黑体" pitchFamily="2" charset="-122"/>
                  </a:endParaRPr>
                </a:p>
              </p:txBody>
            </p:sp>
            <p:sp>
              <p:nvSpPr>
                <p:cNvPr id="54306" name="Text Box 1200"/>
                <p:cNvSpPr txBox="1">
                  <a:spLocks noChangeArrowheads="1"/>
                </p:cNvSpPr>
                <p:nvPr/>
              </p:nvSpPr>
              <p:spPr bwMode="auto">
                <a:xfrm>
                  <a:off x="8366" y="778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CX→IB</a:t>
                  </a:r>
                  <a:endParaRPr lang="en-US" altLang="zh-CN" sz="1000" dirty="0">
                    <a:latin typeface="Times New Roman" pitchFamily="18" charset="0"/>
                    <a:ea typeface="黑体" pitchFamily="2" charset="-122"/>
                  </a:endParaRPr>
                </a:p>
              </p:txBody>
            </p:sp>
            <p:sp>
              <p:nvSpPr>
                <p:cNvPr id="54307" name="Text Box 1201"/>
                <p:cNvSpPr txBox="1">
                  <a:spLocks noChangeArrowheads="1"/>
                </p:cNvSpPr>
                <p:nvPr/>
              </p:nvSpPr>
              <p:spPr bwMode="auto">
                <a:xfrm>
                  <a:off x="8324" y="8408"/>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-1CX</a:t>
                  </a:r>
                  <a:endParaRPr lang="en-US" altLang="zh-CN" sz="1000" dirty="0">
                    <a:latin typeface="Times New Roman" pitchFamily="18" charset="0"/>
                    <a:ea typeface="黑体" pitchFamily="2" charset="-122"/>
                  </a:endParaRPr>
                </a:p>
              </p:txBody>
            </p:sp>
            <p:sp>
              <p:nvSpPr>
                <p:cNvPr id="54308" name="Text Box 1202"/>
                <p:cNvSpPr txBox="1">
                  <a:spLocks noChangeArrowheads="1"/>
                </p:cNvSpPr>
                <p:nvPr/>
              </p:nvSpPr>
              <p:spPr bwMode="auto">
                <a:xfrm>
                  <a:off x="3620" y="834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DRin</a:t>
                  </a:r>
                  <a:endParaRPr lang="en-US" altLang="zh-CN" sz="1000" dirty="0">
                    <a:latin typeface="Times New Roman" pitchFamily="18" charset="0"/>
                    <a:ea typeface="黑体" pitchFamily="2" charset="-122"/>
                  </a:endParaRPr>
                </a:p>
              </p:txBody>
            </p:sp>
            <p:sp>
              <p:nvSpPr>
                <p:cNvPr id="54309" name="Text Box 1203"/>
                <p:cNvSpPr txBox="1">
                  <a:spLocks noChangeArrowheads="1"/>
                </p:cNvSpPr>
                <p:nvPr/>
              </p:nvSpPr>
              <p:spPr bwMode="auto">
                <a:xfrm>
                  <a:off x="3578" y="940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DR→IB</a:t>
                  </a:r>
                  <a:endParaRPr lang="en-US" altLang="zh-CN" sz="1000" dirty="0">
                    <a:latin typeface="Times New Roman" pitchFamily="18" charset="0"/>
                    <a:ea typeface="黑体" pitchFamily="2" charset="-122"/>
                  </a:endParaRPr>
                </a:p>
              </p:txBody>
            </p:sp>
            <p:sp>
              <p:nvSpPr>
                <p:cNvPr id="54310" name="Text Box 1204"/>
                <p:cNvSpPr txBox="1">
                  <a:spLocks noChangeArrowheads="1"/>
                </p:cNvSpPr>
                <p:nvPr/>
              </p:nvSpPr>
              <p:spPr bwMode="auto">
                <a:xfrm>
                  <a:off x="4376" y="1138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PC→IB</a:t>
                  </a:r>
                  <a:endParaRPr lang="en-US" altLang="zh-CN" sz="1000" dirty="0">
                    <a:latin typeface="Times New Roman" pitchFamily="18" charset="0"/>
                    <a:ea typeface="黑体" pitchFamily="2" charset="-122"/>
                  </a:endParaRPr>
                </a:p>
              </p:txBody>
            </p:sp>
            <p:sp>
              <p:nvSpPr>
                <p:cNvPr id="54311" name="Text Box 1205"/>
                <p:cNvSpPr txBox="1">
                  <a:spLocks noChangeArrowheads="1"/>
                </p:cNvSpPr>
                <p:nvPr/>
              </p:nvSpPr>
              <p:spPr bwMode="auto">
                <a:xfrm>
                  <a:off x="4376" y="118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0→PC</a:t>
                  </a:r>
                  <a:endParaRPr lang="en-US" altLang="zh-CN" sz="1000" dirty="0">
                    <a:latin typeface="Times New Roman" pitchFamily="18" charset="0"/>
                    <a:ea typeface="黑体" pitchFamily="2" charset="-122"/>
                  </a:endParaRPr>
                </a:p>
              </p:txBody>
            </p:sp>
            <p:sp>
              <p:nvSpPr>
                <p:cNvPr id="54312" name="Text Box 1206"/>
                <p:cNvSpPr txBox="1">
                  <a:spLocks noChangeArrowheads="1"/>
                </p:cNvSpPr>
                <p:nvPr/>
              </p:nvSpPr>
              <p:spPr bwMode="auto">
                <a:xfrm>
                  <a:off x="4376" y="1212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+2PC</a:t>
                  </a:r>
                  <a:endParaRPr lang="en-US" altLang="zh-CN" sz="1000" dirty="0">
                    <a:latin typeface="Times New Roman" pitchFamily="18" charset="0"/>
                    <a:ea typeface="黑体" pitchFamily="2" charset="-122"/>
                  </a:endParaRPr>
                </a:p>
              </p:txBody>
            </p:sp>
            <p:sp>
              <p:nvSpPr>
                <p:cNvPr id="54313" name="Text Box 1207"/>
                <p:cNvSpPr txBox="1">
                  <a:spLocks noChangeArrowheads="1"/>
                </p:cNvSpPr>
                <p:nvPr/>
              </p:nvSpPr>
              <p:spPr bwMode="auto">
                <a:xfrm>
                  <a:off x="4376" y="1107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PCin</a:t>
                  </a:r>
                  <a:endParaRPr lang="en-US" altLang="zh-CN" sz="1000" dirty="0">
                    <a:latin typeface="Times New Roman" pitchFamily="18" charset="0"/>
                    <a:ea typeface="黑体" pitchFamily="2" charset="-122"/>
                  </a:endParaRPr>
                </a:p>
              </p:txBody>
            </p:sp>
            <p:sp>
              <p:nvSpPr>
                <p:cNvPr id="54314" name="Text Box 1208"/>
                <p:cNvSpPr txBox="1">
                  <a:spLocks noChangeArrowheads="1"/>
                </p:cNvSpPr>
                <p:nvPr/>
              </p:nvSpPr>
              <p:spPr bwMode="auto">
                <a:xfrm>
                  <a:off x="4376" y="126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IRin</a:t>
                  </a:r>
                  <a:endParaRPr lang="en-US" altLang="zh-CN" sz="1000" dirty="0">
                    <a:latin typeface="Times New Roman" pitchFamily="18" charset="0"/>
                    <a:ea typeface="黑体" pitchFamily="2" charset="-122"/>
                  </a:endParaRPr>
                </a:p>
              </p:txBody>
            </p:sp>
            <p:sp>
              <p:nvSpPr>
                <p:cNvPr id="54315" name="Text Box 1209"/>
                <p:cNvSpPr txBox="1">
                  <a:spLocks noChangeArrowheads="1"/>
                </p:cNvSpPr>
                <p:nvPr/>
              </p:nvSpPr>
              <p:spPr bwMode="auto">
                <a:xfrm>
                  <a:off x="5384" y="12190"/>
                  <a:ext cx="9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PSW→IB</a:t>
                  </a:r>
                  <a:endParaRPr lang="en-US" altLang="zh-CN" sz="1000" dirty="0">
                    <a:latin typeface="Times New Roman" pitchFamily="18" charset="0"/>
                    <a:ea typeface="黑体" pitchFamily="2" charset="-122"/>
                  </a:endParaRPr>
                </a:p>
              </p:txBody>
            </p:sp>
            <p:sp>
              <p:nvSpPr>
                <p:cNvPr id="54316" name="Text Box 1210"/>
                <p:cNvSpPr txBox="1">
                  <a:spLocks noChangeArrowheads="1"/>
                </p:cNvSpPr>
                <p:nvPr/>
              </p:nvSpPr>
              <p:spPr bwMode="auto">
                <a:xfrm>
                  <a:off x="5846" y="11074"/>
                  <a:ext cx="8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PSWin</a:t>
                  </a:r>
                  <a:endParaRPr lang="en-US" altLang="zh-CN" sz="1000" dirty="0">
                    <a:latin typeface="Times New Roman" pitchFamily="18" charset="0"/>
                    <a:ea typeface="黑体" pitchFamily="2" charset="-122"/>
                  </a:endParaRPr>
                </a:p>
              </p:txBody>
            </p:sp>
            <p:sp>
              <p:nvSpPr>
                <p:cNvPr id="54317" name="Text Box 1211"/>
                <p:cNvSpPr txBox="1">
                  <a:spLocks noChangeArrowheads="1"/>
                </p:cNvSpPr>
                <p:nvPr/>
              </p:nvSpPr>
              <p:spPr bwMode="auto">
                <a:xfrm>
                  <a:off x="3620" y="1045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ARin</a:t>
                  </a:r>
                  <a:endParaRPr lang="en-US" altLang="zh-CN" sz="1000" dirty="0">
                    <a:latin typeface="Times New Roman" pitchFamily="18" charset="0"/>
                    <a:ea typeface="黑体" pitchFamily="2" charset="-122"/>
                  </a:endParaRPr>
                </a:p>
              </p:txBody>
            </p:sp>
            <p:sp>
              <p:nvSpPr>
                <p:cNvPr id="54318" name="Text Box 1212"/>
                <p:cNvSpPr txBox="1">
                  <a:spLocks noChangeArrowheads="1"/>
                </p:cNvSpPr>
                <p:nvPr/>
              </p:nvSpPr>
              <p:spPr bwMode="auto">
                <a:xfrm>
                  <a:off x="2192" y="8470"/>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solidFill>
                        <a:srgbClr val="FF0000"/>
                      </a:solidFill>
                      <a:latin typeface="Times New Roman" pitchFamily="18" charset="0"/>
                      <a:ea typeface="黑体" pitchFamily="2" charset="-122"/>
                    </a:rPr>
                    <a:t>DR→DB</a:t>
                  </a:r>
                  <a:endParaRPr lang="en-US" altLang="zh-CN" sz="1000" dirty="0">
                    <a:latin typeface="Times New Roman" pitchFamily="18" charset="0"/>
                    <a:ea typeface="黑体" pitchFamily="2" charset="-122"/>
                  </a:endParaRPr>
                </a:p>
              </p:txBody>
            </p:sp>
            <p:sp>
              <p:nvSpPr>
                <p:cNvPr id="54319" name="Text Box 1213"/>
                <p:cNvSpPr txBox="1">
                  <a:spLocks noChangeArrowheads="1"/>
                </p:cNvSpPr>
                <p:nvPr/>
              </p:nvSpPr>
              <p:spPr bwMode="auto">
                <a:xfrm>
                  <a:off x="2192" y="9648"/>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000" dirty="0">
                      <a:solidFill>
                        <a:srgbClr val="FF0000"/>
                      </a:solidFill>
                      <a:latin typeface="Times New Roman" pitchFamily="18" charset="0"/>
                      <a:ea typeface="黑体" pitchFamily="2" charset="-122"/>
                    </a:rPr>
                    <a:t>DB→DR</a:t>
                  </a:r>
                  <a:endParaRPr lang="en-US" altLang="zh-CN" sz="1000" dirty="0">
                    <a:latin typeface="Times New Roman" pitchFamily="18" charset="0"/>
                    <a:ea typeface="黑体" pitchFamily="2" charset="-122"/>
                  </a:endParaRPr>
                </a:p>
              </p:txBody>
            </p:sp>
            <p:sp>
              <p:nvSpPr>
                <p:cNvPr id="54320" name="Text Box 1214"/>
                <p:cNvSpPr txBox="1">
                  <a:spLocks noChangeArrowheads="1"/>
                </p:cNvSpPr>
                <p:nvPr/>
              </p:nvSpPr>
              <p:spPr bwMode="auto">
                <a:xfrm>
                  <a:off x="2192" y="10516"/>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000" dirty="0">
                      <a:solidFill>
                        <a:srgbClr val="FF0000"/>
                      </a:solidFill>
                      <a:latin typeface="Times New Roman" pitchFamily="18" charset="0"/>
                      <a:ea typeface="黑体" pitchFamily="2" charset="-122"/>
                    </a:rPr>
                    <a:t>AR→AB</a:t>
                  </a:r>
                  <a:endParaRPr lang="en-US" altLang="zh-CN" sz="1000" dirty="0">
                    <a:latin typeface="Times New Roman" pitchFamily="18" charset="0"/>
                    <a:ea typeface="黑体" pitchFamily="2" charset="-122"/>
                  </a:endParaRPr>
                </a:p>
              </p:txBody>
            </p:sp>
            <p:grpSp>
              <p:nvGrpSpPr>
                <p:cNvPr id="54321" name="Group 1215"/>
                <p:cNvGrpSpPr>
                  <a:grpSpLocks/>
                </p:cNvGrpSpPr>
                <p:nvPr/>
              </p:nvGrpSpPr>
              <p:grpSpPr bwMode="auto">
                <a:xfrm>
                  <a:off x="5678" y="9214"/>
                  <a:ext cx="756" cy="620"/>
                  <a:chOff x="5114" y="7308"/>
                  <a:chExt cx="756" cy="620"/>
                </a:xfrm>
              </p:grpSpPr>
              <p:sp>
                <p:nvSpPr>
                  <p:cNvPr id="54339" name="Text Box 1216"/>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Tin</a:t>
                    </a:r>
                    <a:endParaRPr lang="en-US" altLang="zh-CN" sz="1000" dirty="0">
                      <a:latin typeface="Times New Roman" pitchFamily="18" charset="0"/>
                      <a:ea typeface="黑体" pitchFamily="2" charset="-122"/>
                    </a:endParaRPr>
                  </a:p>
                </p:txBody>
              </p:sp>
              <p:sp>
                <p:nvSpPr>
                  <p:cNvPr id="54340" name="Text Box 1217"/>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T→IB</a:t>
                    </a:r>
                    <a:endParaRPr lang="en-US" altLang="zh-CN" sz="1000" dirty="0">
                      <a:latin typeface="Times New Roman" pitchFamily="18" charset="0"/>
                      <a:ea typeface="黑体" pitchFamily="2" charset="-122"/>
                    </a:endParaRPr>
                  </a:p>
                </p:txBody>
              </p:sp>
            </p:grpSp>
            <p:sp>
              <p:nvSpPr>
                <p:cNvPr id="54322" name="Text Box 1218"/>
                <p:cNvSpPr txBox="1">
                  <a:spLocks noChangeArrowheads="1"/>
                </p:cNvSpPr>
                <p:nvPr/>
              </p:nvSpPr>
              <p:spPr bwMode="auto">
                <a:xfrm>
                  <a:off x="5678" y="1008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0→T</a:t>
                  </a:r>
                  <a:endParaRPr lang="en-US" altLang="zh-CN" sz="1000" dirty="0">
                    <a:latin typeface="Times New Roman" pitchFamily="18" charset="0"/>
                    <a:ea typeface="黑体" pitchFamily="2" charset="-122"/>
                  </a:endParaRPr>
                </a:p>
              </p:txBody>
            </p:sp>
            <p:sp>
              <p:nvSpPr>
                <p:cNvPr id="54323" name="Text Box 1219"/>
                <p:cNvSpPr txBox="1">
                  <a:spLocks noChangeArrowheads="1"/>
                </p:cNvSpPr>
                <p:nvPr/>
              </p:nvSpPr>
              <p:spPr bwMode="auto">
                <a:xfrm>
                  <a:off x="4712" y="8966"/>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SAR  RCR</a:t>
                  </a:r>
                  <a:endParaRPr lang="en-US" altLang="zh-CN" sz="1000" dirty="0">
                    <a:latin typeface="Times New Roman" pitchFamily="18" charset="0"/>
                    <a:ea typeface="黑体" pitchFamily="2" charset="-122"/>
                  </a:endParaRPr>
                </a:p>
              </p:txBody>
            </p:sp>
            <p:sp>
              <p:nvSpPr>
                <p:cNvPr id="54324" name="Text Box 1220"/>
                <p:cNvSpPr txBox="1">
                  <a:spLocks noChangeArrowheads="1"/>
                </p:cNvSpPr>
                <p:nvPr/>
              </p:nvSpPr>
              <p:spPr bwMode="auto">
                <a:xfrm>
                  <a:off x="4712" y="10454"/>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SAL  RCL</a:t>
                  </a:r>
                  <a:endParaRPr lang="en-US" altLang="zh-CN" sz="1000" dirty="0">
                    <a:latin typeface="Times New Roman" pitchFamily="18" charset="0"/>
                    <a:ea typeface="黑体" pitchFamily="2" charset="-122"/>
                  </a:endParaRPr>
                </a:p>
              </p:txBody>
            </p:sp>
            <p:sp>
              <p:nvSpPr>
                <p:cNvPr id="54325" name="Text Box 1221"/>
                <p:cNvSpPr txBox="1">
                  <a:spLocks noChangeArrowheads="1"/>
                </p:cNvSpPr>
                <p:nvPr/>
              </p:nvSpPr>
              <p:spPr bwMode="auto">
                <a:xfrm>
                  <a:off x="8072" y="8780"/>
                  <a:ext cx="11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NEG  NOT</a:t>
                  </a:r>
                  <a:endParaRPr lang="en-US" altLang="zh-CN" sz="1000" dirty="0">
                    <a:latin typeface="Times New Roman" pitchFamily="18" charset="0"/>
                    <a:ea typeface="黑体" pitchFamily="2" charset="-122"/>
                  </a:endParaRPr>
                </a:p>
              </p:txBody>
            </p:sp>
            <p:sp>
              <p:nvSpPr>
                <p:cNvPr id="54326" name="Text Box 1222"/>
                <p:cNvSpPr txBox="1">
                  <a:spLocks noChangeArrowheads="1"/>
                </p:cNvSpPr>
                <p:nvPr/>
              </p:nvSpPr>
              <p:spPr bwMode="auto">
                <a:xfrm>
                  <a:off x="7820" y="10082"/>
                  <a:ext cx="15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+1S      -1S</a:t>
                  </a:r>
                  <a:endParaRPr lang="en-US" altLang="zh-CN" sz="1000" dirty="0">
                    <a:latin typeface="Times New Roman" pitchFamily="18" charset="0"/>
                    <a:ea typeface="黑体" pitchFamily="2" charset="-122"/>
                  </a:endParaRPr>
                </a:p>
              </p:txBody>
            </p:sp>
            <p:sp>
              <p:nvSpPr>
                <p:cNvPr id="54327" name="Text Box 1223"/>
                <p:cNvSpPr txBox="1">
                  <a:spLocks noChangeArrowheads="1"/>
                </p:cNvSpPr>
                <p:nvPr/>
              </p:nvSpPr>
              <p:spPr bwMode="auto">
                <a:xfrm>
                  <a:off x="9122" y="977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Sin</a:t>
                  </a:r>
                  <a:endParaRPr lang="en-US" altLang="zh-CN" sz="1000" dirty="0">
                    <a:latin typeface="Times New Roman" pitchFamily="18" charset="0"/>
                    <a:ea typeface="黑体" pitchFamily="2" charset="-122"/>
                  </a:endParaRPr>
                </a:p>
              </p:txBody>
            </p:sp>
            <p:sp>
              <p:nvSpPr>
                <p:cNvPr id="54328" name="Text Box 1224"/>
                <p:cNvSpPr txBox="1">
                  <a:spLocks noChangeArrowheads="1"/>
                </p:cNvSpPr>
                <p:nvPr/>
              </p:nvSpPr>
              <p:spPr bwMode="auto">
                <a:xfrm>
                  <a:off x="9122" y="9276"/>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S→IB</a:t>
                  </a:r>
                  <a:endParaRPr lang="en-US" altLang="zh-CN" sz="1000" dirty="0">
                    <a:latin typeface="Times New Roman" pitchFamily="18" charset="0"/>
                    <a:ea typeface="黑体" pitchFamily="2" charset="-122"/>
                  </a:endParaRPr>
                </a:p>
              </p:txBody>
            </p:sp>
            <p:sp>
              <p:nvSpPr>
                <p:cNvPr id="54329" name="Text Box 1225"/>
                <p:cNvSpPr txBox="1">
                  <a:spLocks noChangeArrowheads="1"/>
                </p:cNvSpPr>
                <p:nvPr/>
              </p:nvSpPr>
              <p:spPr bwMode="auto">
                <a:xfrm>
                  <a:off x="6686"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ADD</a:t>
                  </a:r>
                  <a:endParaRPr lang="en-US" altLang="zh-CN" sz="1000" dirty="0">
                    <a:latin typeface="Times New Roman" pitchFamily="18" charset="0"/>
                    <a:ea typeface="黑体" pitchFamily="2" charset="-122"/>
                  </a:endParaRPr>
                </a:p>
              </p:txBody>
            </p:sp>
            <p:sp>
              <p:nvSpPr>
                <p:cNvPr id="54330" name="Text Box 1226"/>
                <p:cNvSpPr txBox="1">
                  <a:spLocks noChangeArrowheads="1"/>
                </p:cNvSpPr>
                <p:nvPr/>
              </p:nvSpPr>
              <p:spPr bwMode="auto">
                <a:xfrm>
                  <a:off x="6926" y="10771"/>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SUB</a:t>
                  </a:r>
                  <a:endParaRPr lang="en-US" altLang="zh-CN" sz="1000" dirty="0">
                    <a:latin typeface="Times New Roman" pitchFamily="18" charset="0"/>
                    <a:ea typeface="黑体" pitchFamily="2" charset="-122"/>
                  </a:endParaRPr>
                </a:p>
              </p:txBody>
            </p:sp>
            <p:sp>
              <p:nvSpPr>
                <p:cNvPr id="54331" name="Text Box 1227"/>
                <p:cNvSpPr txBox="1">
                  <a:spLocks noChangeArrowheads="1"/>
                </p:cNvSpPr>
                <p:nvPr/>
              </p:nvSpPr>
              <p:spPr bwMode="auto">
                <a:xfrm>
                  <a:off x="7400" y="1088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XOR</a:t>
                  </a:r>
                  <a:endParaRPr lang="en-US" altLang="zh-CN" sz="1000" dirty="0">
                    <a:latin typeface="Times New Roman" pitchFamily="18" charset="0"/>
                    <a:ea typeface="黑体" pitchFamily="2" charset="-122"/>
                  </a:endParaRPr>
                </a:p>
              </p:txBody>
            </p:sp>
            <p:sp>
              <p:nvSpPr>
                <p:cNvPr id="54332" name="Text Box 1228"/>
                <p:cNvSpPr txBox="1">
                  <a:spLocks noChangeArrowheads="1"/>
                </p:cNvSpPr>
                <p:nvPr/>
              </p:nvSpPr>
              <p:spPr bwMode="auto">
                <a:xfrm>
                  <a:off x="7148" y="10332"/>
                  <a:ext cx="546"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54333" name="Text Box 1229"/>
                <p:cNvSpPr txBox="1">
                  <a:spLocks noChangeArrowheads="1"/>
                </p:cNvSpPr>
                <p:nvPr/>
              </p:nvSpPr>
              <p:spPr bwMode="auto">
                <a:xfrm>
                  <a:off x="6938" y="1367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54334" name="Text Box 1230"/>
                <p:cNvSpPr txBox="1">
                  <a:spLocks noChangeArrowheads="1"/>
                </p:cNvSpPr>
                <p:nvPr/>
              </p:nvSpPr>
              <p:spPr bwMode="auto">
                <a:xfrm>
                  <a:off x="8198" y="13058"/>
                  <a:ext cx="33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54335" name="Text Box 1231"/>
                <p:cNvSpPr txBox="1">
                  <a:spLocks noChangeArrowheads="1"/>
                </p:cNvSpPr>
                <p:nvPr/>
              </p:nvSpPr>
              <p:spPr bwMode="auto">
                <a:xfrm>
                  <a:off x="8912" y="12810"/>
                  <a:ext cx="184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rgbClr val="FF0000"/>
                      </a:solidFill>
                      <a:latin typeface="Times New Roman" pitchFamily="18" charset="0"/>
                      <a:ea typeface="黑体" pitchFamily="2" charset="-122"/>
                    </a:rPr>
                    <a:t>送往</a:t>
                  </a:r>
                  <a:r>
                    <a:rPr lang="en-US" altLang="zh-CN" sz="1000" dirty="0">
                      <a:solidFill>
                        <a:srgbClr val="FF0000"/>
                      </a:solidFill>
                      <a:latin typeface="Times New Roman" pitchFamily="18" charset="0"/>
                      <a:ea typeface="黑体" pitchFamily="2" charset="-122"/>
                    </a:rPr>
                    <a:t>CPU</a:t>
                  </a:r>
                  <a:r>
                    <a:rPr lang="zh-CN" altLang="en-US" sz="1000">
                      <a:solidFill>
                        <a:srgbClr val="FF0000"/>
                      </a:solidFill>
                      <a:latin typeface="Times New Roman" pitchFamily="18" charset="0"/>
                      <a:ea typeface="黑体" pitchFamily="2" charset="-122"/>
                    </a:rPr>
                    <a:t>内部各部件的控制信号</a:t>
                  </a:r>
                  <a:endParaRPr lang="zh-CN" altLang="en-US" sz="1000">
                    <a:latin typeface="Times New Roman" pitchFamily="18" charset="0"/>
                    <a:ea typeface="黑体" pitchFamily="2" charset="-122"/>
                  </a:endParaRPr>
                </a:p>
              </p:txBody>
            </p:sp>
            <p:sp>
              <p:nvSpPr>
                <p:cNvPr id="54336" name="Text Box 1232"/>
                <p:cNvSpPr txBox="1">
                  <a:spLocks noChangeArrowheads="1"/>
                </p:cNvSpPr>
                <p:nvPr/>
              </p:nvSpPr>
              <p:spPr bwMode="auto">
                <a:xfrm>
                  <a:off x="7526" y="14236"/>
                  <a:ext cx="1302"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rgbClr val="FF0000"/>
                      </a:solidFill>
                      <a:latin typeface="Times New Roman" pitchFamily="18" charset="0"/>
                      <a:ea typeface="黑体" pitchFamily="2" charset="-122"/>
                    </a:rPr>
                    <a:t>送往系统总线的控制信号</a:t>
                  </a:r>
                  <a:endParaRPr lang="zh-CN" altLang="en-US" sz="1000">
                    <a:latin typeface="Times New Roman" pitchFamily="18" charset="0"/>
                    <a:ea typeface="黑体" pitchFamily="2" charset="-122"/>
                  </a:endParaRPr>
                </a:p>
              </p:txBody>
            </p:sp>
            <p:sp>
              <p:nvSpPr>
                <p:cNvPr id="54337" name="Text Box 1233"/>
                <p:cNvSpPr txBox="1">
                  <a:spLocks noChangeArrowheads="1"/>
                </p:cNvSpPr>
                <p:nvPr/>
              </p:nvSpPr>
              <p:spPr bwMode="auto">
                <a:xfrm>
                  <a:off x="2444" y="14112"/>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solidFill>
                        <a:srgbClr val="FF0000"/>
                      </a:solidFill>
                      <a:latin typeface="Times New Roman" pitchFamily="18" charset="0"/>
                      <a:ea typeface="黑体" pitchFamily="2" charset="-122"/>
                    </a:rPr>
                    <a:t>/MMRD,  /IORD,  INTA</a:t>
                  </a:r>
                  <a:endParaRPr lang="en-US" altLang="zh-CN" sz="1000" dirty="0">
                    <a:latin typeface="Times New Roman" pitchFamily="18" charset="0"/>
                    <a:ea typeface="黑体" pitchFamily="2" charset="-122"/>
                  </a:endParaRPr>
                </a:p>
              </p:txBody>
            </p:sp>
            <p:sp>
              <p:nvSpPr>
                <p:cNvPr id="54338" name="Text Box 1234"/>
                <p:cNvSpPr txBox="1">
                  <a:spLocks noChangeArrowheads="1"/>
                </p:cNvSpPr>
                <p:nvPr/>
              </p:nvSpPr>
              <p:spPr bwMode="auto">
                <a:xfrm>
                  <a:off x="2444" y="14484"/>
                  <a:ext cx="351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000" dirty="0">
                      <a:solidFill>
                        <a:srgbClr val="FF0000"/>
                      </a:solidFill>
                      <a:latin typeface="Times New Roman" pitchFamily="18" charset="0"/>
                      <a:ea typeface="黑体" pitchFamily="2" charset="-122"/>
                    </a:rPr>
                    <a:t>/MMWR,  /IOWR,  DMAA</a:t>
                  </a:r>
                  <a:endParaRPr lang="en-US" altLang="zh-CN" sz="1000" dirty="0">
                    <a:latin typeface="Times New Roman" pitchFamily="18" charset="0"/>
                    <a:ea typeface="黑体" pitchFamily="2" charset="-122"/>
                  </a:endParaRPr>
                </a:p>
              </p:txBody>
            </p:sp>
          </p:grpSp>
          <p:grpSp>
            <p:nvGrpSpPr>
              <p:cNvPr id="54285" name="Group 1235"/>
              <p:cNvGrpSpPr>
                <a:grpSpLocks/>
              </p:cNvGrpSpPr>
              <p:nvPr/>
            </p:nvGrpSpPr>
            <p:grpSpPr bwMode="auto">
              <a:xfrm>
                <a:off x="727" y="2032"/>
                <a:ext cx="4553" cy="12586"/>
                <a:chOff x="746" y="1356"/>
                <a:chExt cx="4956" cy="13640"/>
              </a:xfrm>
            </p:grpSpPr>
            <p:sp>
              <p:nvSpPr>
                <p:cNvPr id="54286" name="Text Box 1236"/>
                <p:cNvSpPr txBox="1">
                  <a:spLocks noChangeArrowheads="1"/>
                </p:cNvSpPr>
                <p:nvPr/>
              </p:nvSpPr>
              <p:spPr bwMode="auto">
                <a:xfrm>
                  <a:off x="1712" y="135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latin typeface="Times New Roman" pitchFamily="18" charset="0"/>
                      <a:ea typeface="黑体" pitchFamily="2" charset="-122"/>
                    </a:rPr>
                    <a:t>DMAR, INTR</a:t>
                  </a:r>
                </a:p>
              </p:txBody>
            </p:sp>
            <p:sp>
              <p:nvSpPr>
                <p:cNvPr id="54287" name="Text Box 1237"/>
                <p:cNvSpPr txBox="1">
                  <a:spLocks noChangeArrowheads="1"/>
                </p:cNvSpPr>
                <p:nvPr/>
              </p:nvSpPr>
              <p:spPr bwMode="auto">
                <a:xfrm>
                  <a:off x="1712" y="1604"/>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latin typeface="Times New Roman" pitchFamily="18" charset="0"/>
                      <a:ea typeface="黑体" pitchFamily="2" charset="-122"/>
                    </a:rPr>
                    <a:t>Ready</a:t>
                  </a:r>
                </a:p>
              </p:txBody>
            </p:sp>
            <p:sp>
              <p:nvSpPr>
                <p:cNvPr id="54288" name="Text Box 1238"/>
                <p:cNvSpPr txBox="1">
                  <a:spLocks noChangeArrowheads="1"/>
                </p:cNvSpPr>
                <p:nvPr/>
              </p:nvSpPr>
              <p:spPr bwMode="auto">
                <a:xfrm>
                  <a:off x="1712" y="4952"/>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latin typeface="Times New Roman" pitchFamily="18" charset="0"/>
                      <a:ea typeface="黑体" pitchFamily="2" charset="-122"/>
                    </a:rPr>
                    <a:t>Ready</a:t>
                  </a:r>
                </a:p>
              </p:txBody>
            </p:sp>
            <p:sp>
              <p:nvSpPr>
                <p:cNvPr id="54289" name="Text Box 1239"/>
                <p:cNvSpPr txBox="1">
                  <a:spLocks noChangeArrowheads="1"/>
                </p:cNvSpPr>
                <p:nvPr/>
              </p:nvSpPr>
              <p:spPr bwMode="auto">
                <a:xfrm>
                  <a:off x="1712" y="197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latin typeface="Times New Roman" pitchFamily="18" charset="0"/>
                      <a:ea typeface="黑体" pitchFamily="2" charset="-122"/>
                    </a:rPr>
                    <a:t>IORD, IOWR</a:t>
                  </a:r>
                </a:p>
              </p:txBody>
            </p:sp>
            <p:sp>
              <p:nvSpPr>
                <p:cNvPr id="54290" name="Text Box 1240"/>
                <p:cNvSpPr txBox="1">
                  <a:spLocks noChangeArrowheads="1"/>
                </p:cNvSpPr>
                <p:nvPr/>
              </p:nvSpPr>
              <p:spPr bwMode="auto">
                <a:xfrm>
                  <a:off x="4610" y="1604"/>
                  <a:ext cx="109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接口</a:t>
                  </a:r>
                </a:p>
              </p:txBody>
            </p:sp>
            <p:sp>
              <p:nvSpPr>
                <p:cNvPr id="54291" name="Text Box 1241"/>
                <p:cNvSpPr txBox="1">
                  <a:spLocks noChangeArrowheads="1"/>
                </p:cNvSpPr>
                <p:nvPr/>
              </p:nvSpPr>
              <p:spPr bwMode="auto">
                <a:xfrm>
                  <a:off x="1922" y="12826"/>
                  <a:ext cx="273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80000"/>
                    </a:lnSpc>
                    <a:spcBef>
                      <a:spcPct val="0"/>
                    </a:spcBef>
                  </a:pPr>
                  <a:r>
                    <a:rPr lang="en-US" altLang="zh-CN" sz="1000" dirty="0">
                      <a:latin typeface="Times New Roman" pitchFamily="18" charset="0"/>
                      <a:ea typeface="黑体" pitchFamily="2" charset="-122"/>
                    </a:rPr>
                    <a:t>INTR,  DMAR, Ready</a:t>
                  </a:r>
                </a:p>
              </p:txBody>
            </p:sp>
            <p:sp>
              <p:nvSpPr>
                <p:cNvPr id="54292" name="Text Box 1242"/>
                <p:cNvSpPr txBox="1">
                  <a:spLocks noChangeArrowheads="1"/>
                </p:cNvSpPr>
                <p:nvPr/>
              </p:nvSpPr>
              <p:spPr bwMode="auto">
                <a:xfrm>
                  <a:off x="746" y="14624"/>
                  <a:ext cx="10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000" dirty="0">
                      <a:latin typeface="Times New Roman" pitchFamily="18" charset="0"/>
                      <a:ea typeface="黑体" pitchFamily="2" charset="-122"/>
                    </a:rPr>
                    <a:t>CB AB DB</a:t>
                  </a:r>
                </a:p>
              </p:txBody>
            </p:sp>
            <p:sp>
              <p:nvSpPr>
                <p:cNvPr id="54293" name="Text Box 1243"/>
                <p:cNvSpPr txBox="1">
                  <a:spLocks noChangeArrowheads="1"/>
                </p:cNvSpPr>
                <p:nvPr/>
              </p:nvSpPr>
              <p:spPr bwMode="auto">
                <a:xfrm>
                  <a:off x="2174" y="6998"/>
                  <a:ext cx="151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000">
                      <a:solidFill>
                        <a:srgbClr val="0000FF"/>
                      </a:solidFill>
                      <a:latin typeface="Times New Roman" pitchFamily="18" charset="0"/>
                      <a:ea typeface="黑体" pitchFamily="2" charset="-122"/>
                    </a:rPr>
                    <a:t>内部总线</a:t>
                  </a:r>
                  <a:r>
                    <a:rPr lang="en-US" altLang="zh-CN" sz="1000" dirty="0">
                      <a:solidFill>
                        <a:srgbClr val="0000FF"/>
                      </a:solidFill>
                      <a:latin typeface="Times New Roman" pitchFamily="18" charset="0"/>
                      <a:ea typeface="黑体" pitchFamily="2" charset="-122"/>
                    </a:rPr>
                    <a:t>IB</a:t>
                  </a:r>
                  <a:endParaRPr lang="en-US" altLang="zh-CN" sz="1000" dirty="0">
                    <a:latin typeface="Times New Roman" pitchFamily="18" charset="0"/>
                    <a:ea typeface="黑体" pitchFamily="2" charset="-122"/>
                  </a:endParaRPr>
                </a:p>
              </p:txBody>
            </p:sp>
          </p:grpSp>
        </p:grpSp>
      </p:grpSp>
      <p:sp>
        <p:nvSpPr>
          <p:cNvPr id="54278"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a:solidFill>
                  <a:schemeClr val="bg1"/>
                </a:solidFill>
                <a:latin typeface="宋体" pitchFamily="2" charset="-122"/>
                <a:ea typeface="宋体" pitchFamily="2" charset="-122"/>
              </a:rPr>
              <a:t>大图</a:t>
            </a:r>
            <a:endParaRPr kumimoji="1" lang="zh-CN" altLang="en-US" sz="1800" u="sng">
              <a:solidFill>
                <a:srgbClr val="008000"/>
              </a:solidFill>
              <a:latin typeface="宋体" pitchFamily="2" charset="-122"/>
              <a:ea typeface="宋体" pitchFamily="2" charset="-122"/>
            </a:endParaRPr>
          </a:p>
        </p:txBody>
      </p:sp>
    </p:spTree>
  </p:cSld>
  <p:clrMapOvr>
    <a:masterClrMapping/>
  </p:clrMapOvr>
  <p:transition>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0" y="446088"/>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6.4 </a:t>
            </a:r>
            <a:r>
              <a:rPr lang="zh-CN" altLang="en-US" sz="2800">
                <a:solidFill>
                  <a:srgbClr val="990000"/>
                </a:solidFill>
                <a:latin typeface="黑体" pitchFamily="2" charset="-122"/>
                <a:ea typeface="黑体" pitchFamily="2" charset="-122"/>
              </a:rPr>
              <a:t>指令的微操作序列</a:t>
            </a:r>
          </a:p>
        </p:txBody>
      </p:sp>
      <p:sp>
        <p:nvSpPr>
          <p:cNvPr id="55299" name="Text Box 5"/>
          <p:cNvSpPr txBox="1">
            <a:spLocks noChangeArrowheads="1"/>
          </p:cNvSpPr>
          <p:nvPr/>
        </p:nvSpPr>
        <p:spPr bwMode="auto">
          <a:xfrm>
            <a:off x="611188" y="981075"/>
            <a:ext cx="748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en-US" altLang="zh-CN" dirty="0">
                <a:solidFill>
                  <a:srgbClr val="990000"/>
                </a:solidFill>
                <a:latin typeface="黑体" pitchFamily="2" charset="-122"/>
                <a:ea typeface="黑体" pitchFamily="2" charset="-122"/>
              </a:rPr>
              <a:t>6.4.1 </a:t>
            </a:r>
            <a:r>
              <a:rPr lang="zh-CN" altLang="en-US">
                <a:solidFill>
                  <a:srgbClr val="990000"/>
                </a:solidFill>
                <a:latin typeface="黑体" pitchFamily="2" charset="-122"/>
                <a:ea typeface="黑体" pitchFamily="2" charset="-122"/>
              </a:rPr>
              <a:t>模型机</a:t>
            </a:r>
            <a:endParaRPr lang="zh-CN" altLang="en-US">
              <a:latin typeface="黑体" pitchFamily="2" charset="-122"/>
              <a:ea typeface="黑体" pitchFamily="2" charset="-122"/>
            </a:endParaRPr>
          </a:p>
        </p:txBody>
      </p:sp>
      <p:sp>
        <p:nvSpPr>
          <p:cNvPr id="55300" name="Rectangle 6"/>
          <p:cNvSpPr>
            <a:spLocks noChangeArrowheads="1"/>
          </p:cNvSpPr>
          <p:nvPr/>
        </p:nvSpPr>
        <p:spPr bwMode="auto">
          <a:xfrm>
            <a:off x="684213" y="1484313"/>
            <a:ext cx="5808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spAutoFit/>
          </a:bodyPr>
          <a:lstStyle/>
          <a:p>
            <a:pPr>
              <a:lnSpc>
                <a:spcPct val="100000"/>
              </a:lnSpc>
              <a:spcBef>
                <a:spcPct val="0"/>
              </a:spcBef>
            </a:pPr>
            <a:r>
              <a:rPr lang="en-US" altLang="zh-CN" dirty="0">
                <a:solidFill>
                  <a:srgbClr val="990000"/>
                </a:solidFill>
                <a:latin typeface="黑体" pitchFamily="2" charset="-122"/>
                <a:ea typeface="黑体" pitchFamily="2" charset="-122"/>
              </a:rPr>
              <a:t>  1. </a:t>
            </a:r>
            <a:r>
              <a:rPr lang="zh-CN" altLang="en-US">
                <a:solidFill>
                  <a:srgbClr val="990000"/>
                </a:solidFill>
                <a:latin typeface="黑体" pitchFamily="2" charset="-122"/>
                <a:ea typeface="黑体" pitchFamily="2" charset="-122"/>
              </a:rPr>
              <a:t>硬件结构（</a:t>
            </a:r>
            <a:r>
              <a:rPr lang="en-US" altLang="zh-CN" dirty="0">
                <a:solidFill>
                  <a:srgbClr val="990000"/>
                </a:solidFill>
                <a:latin typeface="黑体" pitchFamily="2" charset="-122"/>
                <a:ea typeface="黑体" pitchFamily="2" charset="-122"/>
              </a:rPr>
              <a:t>PC</a:t>
            </a:r>
            <a:r>
              <a:rPr lang="zh-CN" altLang="en-US">
                <a:solidFill>
                  <a:srgbClr val="990000"/>
                </a:solidFill>
                <a:latin typeface="黑体" pitchFamily="2" charset="-122"/>
                <a:ea typeface="黑体" pitchFamily="2" charset="-122"/>
              </a:rPr>
              <a:t>机的简化</a:t>
            </a:r>
            <a:r>
              <a:rPr lang="en-US" altLang="zh-CN" dirty="0">
                <a:solidFill>
                  <a:srgbClr val="990000"/>
                </a:solidFill>
                <a:latin typeface="黑体" pitchFamily="2" charset="-122"/>
                <a:ea typeface="黑体" pitchFamily="2" charset="-122"/>
              </a:rPr>
              <a:t>)     16</a:t>
            </a:r>
            <a:r>
              <a:rPr lang="zh-CN" altLang="en-US">
                <a:solidFill>
                  <a:srgbClr val="990000"/>
                </a:solidFill>
                <a:latin typeface="黑体" pitchFamily="2" charset="-122"/>
                <a:ea typeface="黑体" pitchFamily="2" charset="-122"/>
              </a:rPr>
              <a:t>位机</a:t>
            </a:r>
          </a:p>
        </p:txBody>
      </p:sp>
      <p:sp>
        <p:nvSpPr>
          <p:cNvPr id="55301" name="Text Box 5"/>
          <p:cNvSpPr txBox="1">
            <a:spLocks noChangeArrowheads="1"/>
          </p:cNvSpPr>
          <p:nvPr/>
        </p:nvSpPr>
        <p:spPr bwMode="auto">
          <a:xfrm>
            <a:off x="971550" y="2024063"/>
            <a:ext cx="817245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(1)</a:t>
            </a:r>
            <a:r>
              <a:rPr lang="zh-CN" altLang="en-US">
                <a:latin typeface="黑体" pitchFamily="2" charset="-122"/>
                <a:ea typeface="黑体" pitchFamily="2" charset="-122"/>
              </a:rPr>
              <a:t>总线</a:t>
            </a:r>
          </a:p>
          <a:p>
            <a:pPr eaLnBrk="1" hangingPunct="1">
              <a:spcBef>
                <a:spcPct val="0"/>
              </a:spcBef>
            </a:pPr>
            <a:r>
              <a:rPr lang="zh-CN" altLang="en-US">
                <a:latin typeface="黑体" pitchFamily="2" charset="-122"/>
                <a:ea typeface="黑体" pitchFamily="2" charset="-122"/>
              </a:rPr>
              <a:t>    系统总线：单总线（地址线、数据线、控制线）。</a:t>
            </a:r>
          </a:p>
          <a:p>
            <a:pPr eaLnBrk="1" hangingPunct="1">
              <a:spcBef>
                <a:spcPct val="0"/>
              </a:spcBef>
            </a:pPr>
            <a:r>
              <a:rPr lang="zh-CN" altLang="en-US">
                <a:latin typeface="黑体" pitchFamily="2" charset="-122"/>
                <a:ea typeface="黑体" pitchFamily="2" charset="-122"/>
              </a:rPr>
              <a:t>    内部总线：各寄存器用三态门接入。</a:t>
            </a:r>
          </a:p>
          <a:p>
            <a:pPr eaLnBrk="1" hangingPunct="1"/>
            <a:r>
              <a:rPr lang="zh-CN" altLang="en-US">
                <a:latin typeface="黑体" pitchFamily="2" charset="-122"/>
                <a:ea typeface="黑体" pitchFamily="2" charset="-122"/>
              </a:rPr>
              <a:t>    二者之间通过地址寄存器</a:t>
            </a:r>
            <a:r>
              <a:rPr lang="en-US" altLang="zh-CN" dirty="0">
                <a:latin typeface="黑体" pitchFamily="2" charset="-122"/>
                <a:ea typeface="黑体" pitchFamily="2" charset="-122"/>
              </a:rPr>
              <a:t>AR</a:t>
            </a:r>
            <a:r>
              <a:rPr lang="zh-CN" altLang="en-US">
                <a:latin typeface="黑体" pitchFamily="2" charset="-122"/>
                <a:ea typeface="黑体" pitchFamily="2" charset="-122"/>
              </a:rPr>
              <a:t>和数据寄存器</a:t>
            </a:r>
            <a:r>
              <a:rPr lang="en-US" altLang="zh-CN" dirty="0">
                <a:latin typeface="黑体" pitchFamily="2" charset="-122"/>
                <a:ea typeface="黑体" pitchFamily="2" charset="-122"/>
              </a:rPr>
              <a:t>DR</a:t>
            </a:r>
            <a:r>
              <a:rPr lang="zh-CN" altLang="en-US">
                <a:latin typeface="黑体" pitchFamily="2" charset="-122"/>
                <a:ea typeface="黑体" pitchFamily="2" charset="-122"/>
              </a:rPr>
              <a:t>沟通信息。</a:t>
            </a:r>
          </a:p>
        </p:txBody>
      </p:sp>
      <p:sp>
        <p:nvSpPr>
          <p:cNvPr id="55302" name="Text Box 6"/>
          <p:cNvSpPr txBox="1">
            <a:spLocks noChangeArrowheads="1"/>
          </p:cNvSpPr>
          <p:nvPr/>
        </p:nvSpPr>
        <p:spPr bwMode="auto">
          <a:xfrm>
            <a:off x="971550" y="4400550"/>
            <a:ext cx="817245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latin typeface="黑体" pitchFamily="2" charset="-122"/>
                <a:ea typeface="黑体" pitchFamily="2" charset="-122"/>
              </a:rPr>
              <a:t>(2)</a:t>
            </a:r>
            <a:r>
              <a:rPr lang="zh-CN" altLang="en-US">
                <a:latin typeface="黑体" pitchFamily="2" charset="-122"/>
                <a:ea typeface="黑体" pitchFamily="2" charset="-122"/>
              </a:rPr>
              <a:t>控制器</a:t>
            </a:r>
          </a:p>
          <a:p>
            <a:pPr eaLnBrk="1" hangingPunct="1">
              <a:spcBef>
                <a:spcPct val="0"/>
              </a:spcBef>
            </a:pPr>
            <a:r>
              <a:rPr lang="zh-CN" altLang="en-US">
                <a:latin typeface="黑体" pitchFamily="2" charset="-122"/>
                <a:ea typeface="黑体" pitchFamily="2" charset="-122"/>
              </a:rPr>
              <a:t>   包括</a:t>
            </a:r>
            <a:r>
              <a:rPr lang="en-US" altLang="zh-CN" dirty="0">
                <a:latin typeface="黑体" pitchFamily="2" charset="-122"/>
                <a:ea typeface="黑体" pitchFamily="2" charset="-122"/>
              </a:rPr>
              <a:t>PC,IR,PSW,</a:t>
            </a:r>
            <a:r>
              <a:rPr lang="zh-CN" altLang="en-US">
                <a:latin typeface="黑体" pitchFamily="2" charset="-122"/>
                <a:ea typeface="黑体" pitchFamily="2" charset="-122"/>
              </a:rPr>
              <a:t>时序部件、微操作形成部件等。</a:t>
            </a:r>
          </a:p>
        </p:txBody>
      </p:sp>
    </p:spTree>
  </p:cSld>
  <p:clrMapOvr>
    <a:masterClrMapping/>
  </p:clrMapOvr>
  <p:transition>
    <p:wipe dir="d"/>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3"/>
          <p:cNvSpPr>
            <a:spLocks noChangeArrowheads="1"/>
          </p:cNvSpPr>
          <p:nvPr/>
        </p:nvSpPr>
        <p:spPr bwMode="auto">
          <a:xfrm>
            <a:off x="792163" y="-892175"/>
            <a:ext cx="7740650" cy="80295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p>
        </p:txBody>
      </p:sp>
      <p:grpSp>
        <p:nvGrpSpPr>
          <p:cNvPr id="56323" name="Group 2"/>
          <p:cNvGrpSpPr>
            <a:grpSpLocks/>
          </p:cNvGrpSpPr>
          <p:nvPr/>
        </p:nvGrpSpPr>
        <p:grpSpPr bwMode="auto">
          <a:xfrm>
            <a:off x="792163" y="-855663"/>
            <a:ext cx="7740650" cy="7991476"/>
            <a:chOff x="544" y="255"/>
            <a:chExt cx="4876" cy="5034"/>
          </a:xfrm>
        </p:grpSpPr>
        <p:sp>
          <p:nvSpPr>
            <p:cNvPr id="56326" name="Rectangle 3"/>
            <p:cNvSpPr>
              <a:spLocks noChangeArrowheads="1"/>
            </p:cNvSpPr>
            <p:nvPr/>
          </p:nvSpPr>
          <p:spPr bwMode="auto">
            <a:xfrm>
              <a:off x="544" y="2602"/>
              <a:ext cx="4876" cy="31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56327" name="Group 4"/>
            <p:cNvGrpSpPr>
              <a:grpSpLocks/>
            </p:cNvGrpSpPr>
            <p:nvPr/>
          </p:nvGrpSpPr>
          <p:grpSpPr bwMode="auto">
            <a:xfrm>
              <a:off x="589" y="255"/>
              <a:ext cx="4808" cy="5034"/>
              <a:chOff x="589" y="255"/>
              <a:chExt cx="4808" cy="5034"/>
            </a:xfrm>
          </p:grpSpPr>
          <p:grpSp>
            <p:nvGrpSpPr>
              <p:cNvPr id="56328" name="Group 5"/>
              <p:cNvGrpSpPr>
                <a:grpSpLocks/>
              </p:cNvGrpSpPr>
              <p:nvPr/>
            </p:nvGrpSpPr>
            <p:grpSpPr bwMode="auto">
              <a:xfrm>
                <a:off x="733" y="278"/>
                <a:ext cx="4664" cy="4874"/>
                <a:chOff x="756" y="255"/>
                <a:chExt cx="4664" cy="4874"/>
              </a:xfrm>
            </p:grpSpPr>
            <p:grpSp>
              <p:nvGrpSpPr>
                <p:cNvPr id="56454" name="Group 6"/>
                <p:cNvGrpSpPr>
                  <a:grpSpLocks/>
                </p:cNvGrpSpPr>
                <p:nvPr/>
              </p:nvGrpSpPr>
              <p:grpSpPr bwMode="auto">
                <a:xfrm>
                  <a:off x="756" y="255"/>
                  <a:ext cx="4236" cy="4874"/>
                  <a:chOff x="1040" y="1418"/>
                  <a:chExt cx="8862" cy="13206"/>
                </a:xfrm>
              </p:grpSpPr>
              <p:sp>
                <p:nvSpPr>
                  <p:cNvPr id="56523" name="Line 7"/>
                  <p:cNvSpPr>
                    <a:spLocks noChangeShapeType="1"/>
                  </p:cNvSpPr>
                  <p:nvPr/>
                </p:nvSpPr>
                <p:spPr bwMode="auto">
                  <a:xfrm rot="5400000">
                    <a:off x="2006" y="8394"/>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24" name="Line 8"/>
                  <p:cNvSpPr>
                    <a:spLocks noChangeShapeType="1"/>
                  </p:cNvSpPr>
                  <p:nvPr/>
                </p:nvSpPr>
                <p:spPr bwMode="auto">
                  <a:xfrm rot="16200000" flipH="1">
                    <a:off x="2006" y="7960"/>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25" name="Line 9"/>
                  <p:cNvSpPr>
                    <a:spLocks noChangeShapeType="1"/>
                  </p:cNvSpPr>
                  <p:nvPr/>
                </p:nvSpPr>
                <p:spPr bwMode="auto">
                  <a:xfrm rot="16200000" flipH="1">
                    <a:off x="1922" y="9178"/>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6526" name="Group 10"/>
                  <p:cNvGrpSpPr>
                    <a:grpSpLocks/>
                  </p:cNvGrpSpPr>
                  <p:nvPr/>
                </p:nvGrpSpPr>
                <p:grpSpPr bwMode="auto">
                  <a:xfrm>
                    <a:off x="1040" y="1418"/>
                    <a:ext cx="378" cy="13206"/>
                    <a:chOff x="1040" y="1542"/>
                    <a:chExt cx="378" cy="13082"/>
                  </a:xfrm>
                </p:grpSpPr>
                <p:sp>
                  <p:nvSpPr>
                    <p:cNvPr id="56571" name="Line 11"/>
                    <p:cNvSpPr>
                      <a:spLocks noChangeShapeType="1"/>
                    </p:cNvSpPr>
                    <p:nvPr/>
                  </p:nvSpPr>
                  <p:spPr bwMode="auto">
                    <a:xfrm>
                      <a:off x="1040" y="1542"/>
                      <a:ext cx="0" cy="13082"/>
                    </a:xfrm>
                    <a:prstGeom prst="line">
                      <a:avLst/>
                    </a:prstGeom>
                    <a:noFill/>
                    <a:ln w="38100" cmpd="dbl">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572" name="Line 12"/>
                    <p:cNvSpPr>
                      <a:spLocks noChangeShapeType="1"/>
                    </p:cNvSpPr>
                    <p:nvPr/>
                  </p:nvSpPr>
                  <p:spPr bwMode="auto">
                    <a:xfrm>
                      <a:off x="1418" y="1542"/>
                      <a:ext cx="0" cy="13082"/>
                    </a:xfrm>
                    <a:prstGeom prst="line">
                      <a:avLst/>
                    </a:prstGeom>
                    <a:noFill/>
                    <a:ln w="38100" cmpd="dbl">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573" name="Line 13"/>
                    <p:cNvSpPr>
                      <a:spLocks noChangeShapeType="1"/>
                    </p:cNvSpPr>
                    <p:nvPr/>
                  </p:nvSpPr>
                  <p:spPr bwMode="auto">
                    <a:xfrm>
                      <a:off x="1250" y="1542"/>
                      <a:ext cx="0" cy="13082"/>
                    </a:xfrm>
                    <a:prstGeom prst="line">
                      <a:avLst/>
                    </a:prstGeom>
                    <a:noFill/>
                    <a:ln w="38100" cmpd="dbl">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527" name="Freeform 14"/>
                  <p:cNvSpPr>
                    <a:spLocks/>
                  </p:cNvSpPr>
                  <p:nvPr/>
                </p:nvSpPr>
                <p:spPr bwMode="auto">
                  <a:xfrm>
                    <a:off x="3770" y="6998"/>
                    <a:ext cx="6132" cy="5642"/>
                  </a:xfrm>
                  <a:custGeom>
                    <a:avLst/>
                    <a:gdLst>
                      <a:gd name="T0" fmla="*/ 0 w 5590"/>
                      <a:gd name="T1" fmla="*/ 6586 h 5580"/>
                      <a:gd name="T2" fmla="*/ 0 w 5590"/>
                      <a:gd name="T3" fmla="*/ 0 h 5580"/>
                      <a:gd name="T4" fmla="*/ 22387 w 5590"/>
                      <a:gd name="T5" fmla="*/ 0 h 5580"/>
                      <a:gd name="T6" fmla="*/ 22400 w 5590"/>
                      <a:gd name="T7" fmla="*/ 3459 h 5580"/>
                      <a:gd name="T8" fmla="*/ 0 60000 65536"/>
                      <a:gd name="T9" fmla="*/ 0 60000 65536"/>
                      <a:gd name="T10" fmla="*/ 0 60000 65536"/>
                      <a:gd name="T11" fmla="*/ 0 60000 65536"/>
                      <a:gd name="T12" fmla="*/ 0 w 5590"/>
                      <a:gd name="T13" fmla="*/ 0 h 5580"/>
                      <a:gd name="T14" fmla="*/ 5590 w 5590"/>
                      <a:gd name="T15" fmla="*/ 5580 h 5580"/>
                    </a:gdLst>
                    <a:ahLst/>
                    <a:cxnLst>
                      <a:cxn ang="T8">
                        <a:pos x="T0" y="T1"/>
                      </a:cxn>
                      <a:cxn ang="T9">
                        <a:pos x="T2" y="T3"/>
                      </a:cxn>
                      <a:cxn ang="T10">
                        <a:pos x="T4" y="T5"/>
                      </a:cxn>
                      <a:cxn ang="T11">
                        <a:pos x="T6" y="T7"/>
                      </a:cxn>
                    </a:cxnLst>
                    <a:rect l="T12" t="T13" r="T14" b="T15"/>
                    <a:pathLst>
                      <a:path w="5590" h="5580">
                        <a:moveTo>
                          <a:pt x="0" y="5580"/>
                        </a:moveTo>
                        <a:lnTo>
                          <a:pt x="0" y="0"/>
                        </a:lnTo>
                        <a:lnTo>
                          <a:pt x="5586" y="0"/>
                        </a:lnTo>
                        <a:lnTo>
                          <a:pt x="5590" y="2930"/>
                        </a:ln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528" name="Line 15"/>
                  <p:cNvSpPr>
                    <a:spLocks noChangeShapeType="1"/>
                  </p:cNvSpPr>
                  <p:nvPr/>
                </p:nvSpPr>
                <p:spPr bwMode="auto">
                  <a:xfrm>
                    <a:off x="4736"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29" name="Line 16"/>
                  <p:cNvSpPr>
                    <a:spLocks noChangeShapeType="1"/>
                  </p:cNvSpPr>
                  <p:nvPr/>
                </p:nvSpPr>
                <p:spPr bwMode="auto">
                  <a:xfrm>
                    <a:off x="6080"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0" name="Line 17"/>
                  <p:cNvSpPr>
                    <a:spLocks noChangeShapeType="1"/>
                  </p:cNvSpPr>
                  <p:nvPr/>
                </p:nvSpPr>
                <p:spPr bwMode="auto">
                  <a:xfrm>
                    <a:off x="7508"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1" name="Line 18"/>
                  <p:cNvSpPr>
                    <a:spLocks noChangeShapeType="1"/>
                  </p:cNvSpPr>
                  <p:nvPr/>
                </p:nvSpPr>
                <p:spPr bwMode="auto">
                  <a:xfrm>
                    <a:off x="8894"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2" name="Line 19"/>
                  <p:cNvSpPr>
                    <a:spLocks noChangeShapeType="1"/>
                  </p:cNvSpPr>
                  <p:nvPr/>
                </p:nvSpPr>
                <p:spPr bwMode="auto">
                  <a:xfrm>
                    <a:off x="4736"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3" name="Line 20"/>
                  <p:cNvSpPr>
                    <a:spLocks noChangeShapeType="1"/>
                  </p:cNvSpPr>
                  <p:nvPr/>
                </p:nvSpPr>
                <p:spPr bwMode="auto">
                  <a:xfrm>
                    <a:off x="6080"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4" name="Line 21"/>
                  <p:cNvSpPr>
                    <a:spLocks noChangeShapeType="1"/>
                  </p:cNvSpPr>
                  <p:nvPr/>
                </p:nvSpPr>
                <p:spPr bwMode="auto">
                  <a:xfrm>
                    <a:off x="7508"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5" name="Line 22"/>
                  <p:cNvSpPr>
                    <a:spLocks noChangeShapeType="1"/>
                  </p:cNvSpPr>
                  <p:nvPr/>
                </p:nvSpPr>
                <p:spPr bwMode="auto">
                  <a:xfrm>
                    <a:off x="8894"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6" name="Line 23"/>
                  <p:cNvSpPr>
                    <a:spLocks noChangeShapeType="1"/>
                  </p:cNvSpPr>
                  <p:nvPr/>
                </p:nvSpPr>
                <p:spPr bwMode="auto">
                  <a:xfrm rot="5400000">
                    <a:off x="9125" y="8495"/>
                    <a:ext cx="0" cy="147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7" name="Line 24"/>
                  <p:cNvSpPr>
                    <a:spLocks noChangeShapeType="1"/>
                  </p:cNvSpPr>
                  <p:nvPr/>
                </p:nvSpPr>
                <p:spPr bwMode="auto">
                  <a:xfrm rot="5400000">
                    <a:off x="3413" y="8315"/>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8" name="Line 25"/>
                  <p:cNvSpPr>
                    <a:spLocks noChangeShapeType="1"/>
                  </p:cNvSpPr>
                  <p:nvPr/>
                </p:nvSpPr>
                <p:spPr bwMode="auto">
                  <a:xfrm rot="5400000">
                    <a:off x="4316" y="10730"/>
                    <a:ext cx="0" cy="109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39" name="Line 26"/>
                  <p:cNvSpPr>
                    <a:spLocks noChangeShapeType="1"/>
                  </p:cNvSpPr>
                  <p:nvPr/>
                </p:nvSpPr>
                <p:spPr bwMode="auto">
                  <a:xfrm rot="5400000">
                    <a:off x="1985" y="3641"/>
                    <a:ext cx="0" cy="11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40" name="Line 27"/>
                  <p:cNvSpPr>
                    <a:spLocks noChangeShapeType="1"/>
                  </p:cNvSpPr>
                  <p:nvPr/>
                </p:nvSpPr>
                <p:spPr bwMode="auto">
                  <a:xfrm rot="5400000">
                    <a:off x="6101" y="2301"/>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41" name="Line 28"/>
                  <p:cNvSpPr>
                    <a:spLocks noChangeShapeType="1"/>
                  </p:cNvSpPr>
                  <p:nvPr/>
                </p:nvSpPr>
                <p:spPr bwMode="auto">
                  <a:xfrm rot="5400000">
                    <a:off x="2363" y="1589"/>
                    <a:ext cx="0" cy="189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42" name="Line 29"/>
                  <p:cNvSpPr>
                    <a:spLocks noChangeShapeType="1"/>
                  </p:cNvSpPr>
                  <p:nvPr/>
                </p:nvSpPr>
                <p:spPr bwMode="auto">
                  <a:xfrm rot="16200000" flipH="1">
                    <a:off x="8600" y="8672"/>
                    <a:ext cx="0" cy="260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3" name="Line 30"/>
                  <p:cNvSpPr>
                    <a:spLocks noChangeShapeType="1"/>
                  </p:cNvSpPr>
                  <p:nvPr/>
                </p:nvSpPr>
                <p:spPr bwMode="auto">
                  <a:xfrm rot="16200000" flipH="1">
                    <a:off x="7615" y="8913"/>
                    <a:ext cx="8" cy="64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4" name="Line 31"/>
                  <p:cNvSpPr>
                    <a:spLocks noChangeShapeType="1"/>
                  </p:cNvSpPr>
                  <p:nvPr/>
                </p:nvSpPr>
                <p:spPr bwMode="auto">
                  <a:xfrm rot="16200000" flipH="1">
                    <a:off x="5723" y="8701"/>
                    <a:ext cx="0" cy="155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5" name="Line 32"/>
                  <p:cNvSpPr>
                    <a:spLocks noChangeShapeType="1"/>
                  </p:cNvSpPr>
                  <p:nvPr/>
                </p:nvSpPr>
                <p:spPr bwMode="auto">
                  <a:xfrm rot="16200000" flipH="1">
                    <a:off x="4127" y="912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6" name="Line 33"/>
                  <p:cNvSpPr>
                    <a:spLocks noChangeShapeType="1"/>
                  </p:cNvSpPr>
                  <p:nvPr/>
                </p:nvSpPr>
                <p:spPr bwMode="auto">
                  <a:xfrm rot="16200000" flipH="1">
                    <a:off x="3413" y="943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7" name="Line 34"/>
                  <p:cNvSpPr>
                    <a:spLocks noChangeShapeType="1"/>
                  </p:cNvSpPr>
                  <p:nvPr/>
                </p:nvSpPr>
                <p:spPr bwMode="auto">
                  <a:xfrm rot="16200000" flipH="1">
                    <a:off x="1817" y="4423"/>
                    <a:ext cx="0" cy="1554"/>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8" name="Line 35"/>
                  <p:cNvSpPr>
                    <a:spLocks noChangeShapeType="1"/>
                  </p:cNvSpPr>
                  <p:nvPr/>
                </p:nvSpPr>
                <p:spPr bwMode="auto">
                  <a:xfrm rot="5400000">
                    <a:off x="1922" y="4900"/>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49" name="Line 36"/>
                  <p:cNvSpPr>
                    <a:spLocks noChangeShapeType="1"/>
                  </p:cNvSpPr>
                  <p:nvPr/>
                </p:nvSpPr>
                <p:spPr bwMode="auto">
                  <a:xfrm rot="16200000" flipH="1">
                    <a:off x="2174" y="718"/>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0" name="Line 37"/>
                  <p:cNvSpPr>
                    <a:spLocks noChangeShapeType="1"/>
                  </p:cNvSpPr>
                  <p:nvPr/>
                </p:nvSpPr>
                <p:spPr bwMode="auto">
                  <a:xfrm rot="16200000" flipH="1">
                    <a:off x="2174" y="532"/>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1" name="Line 38"/>
                  <p:cNvSpPr>
                    <a:spLocks noChangeShapeType="1"/>
                  </p:cNvSpPr>
                  <p:nvPr/>
                </p:nvSpPr>
                <p:spPr bwMode="auto">
                  <a:xfrm rot="5400000">
                    <a:off x="2174" y="904"/>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2" name="Line 39"/>
                  <p:cNvSpPr>
                    <a:spLocks noChangeShapeType="1"/>
                  </p:cNvSpPr>
                  <p:nvPr/>
                </p:nvSpPr>
                <p:spPr bwMode="auto">
                  <a:xfrm rot="5400000">
                    <a:off x="2195" y="2395"/>
                    <a:ext cx="0" cy="189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3" name="Line 40"/>
                  <p:cNvSpPr>
                    <a:spLocks noChangeShapeType="1"/>
                  </p:cNvSpPr>
                  <p:nvPr/>
                </p:nvSpPr>
                <p:spPr bwMode="auto">
                  <a:xfrm rot="16200000" flipH="1">
                    <a:off x="7928" y="11168"/>
                    <a:ext cx="0" cy="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4" name="Line 41"/>
                  <p:cNvSpPr>
                    <a:spLocks noChangeShapeType="1"/>
                  </p:cNvSpPr>
                  <p:nvPr/>
                </p:nvSpPr>
                <p:spPr bwMode="auto">
                  <a:xfrm rot="5400000">
                    <a:off x="4316" y="12094"/>
                    <a:ext cx="0" cy="109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6555" name="Freeform 42"/>
                  <p:cNvSpPr>
                    <a:spLocks/>
                  </p:cNvSpPr>
                  <p:nvPr/>
                </p:nvSpPr>
                <p:spPr bwMode="auto">
                  <a:xfrm>
                    <a:off x="6248" y="9664"/>
                    <a:ext cx="252" cy="1426"/>
                  </a:xfrm>
                  <a:custGeom>
                    <a:avLst/>
                    <a:gdLst>
                      <a:gd name="T0" fmla="*/ 73601 w 168"/>
                      <a:gd name="T1" fmla="*/ 0 h 1426"/>
                      <a:gd name="T2" fmla="*/ 0 w 168"/>
                      <a:gd name="T3" fmla="*/ 0 h 1426"/>
                      <a:gd name="T4" fmla="*/ 0 w 168"/>
                      <a:gd name="T5" fmla="*/ 1426 h 1426"/>
                      <a:gd name="T6" fmla="*/ 0 60000 65536"/>
                      <a:gd name="T7" fmla="*/ 0 60000 65536"/>
                      <a:gd name="T8" fmla="*/ 0 60000 65536"/>
                      <a:gd name="T9" fmla="*/ 0 w 168"/>
                      <a:gd name="T10" fmla="*/ 0 h 1426"/>
                      <a:gd name="T11" fmla="*/ 168 w 168"/>
                      <a:gd name="T12" fmla="*/ 1426 h 1426"/>
                    </a:gdLst>
                    <a:ahLst/>
                    <a:cxnLst>
                      <a:cxn ang="T6">
                        <a:pos x="T0" y="T1"/>
                      </a:cxn>
                      <a:cxn ang="T7">
                        <a:pos x="T2" y="T3"/>
                      </a:cxn>
                      <a:cxn ang="T8">
                        <a:pos x="T4" y="T5"/>
                      </a:cxn>
                    </a:cxnLst>
                    <a:rect l="T9" t="T10" r="T11" b="T12"/>
                    <a:pathLst>
                      <a:path w="168" h="1426">
                        <a:moveTo>
                          <a:pt x="168" y="0"/>
                        </a:moveTo>
                        <a:lnTo>
                          <a:pt x="0" y="0"/>
                        </a:lnTo>
                        <a:lnTo>
                          <a:pt x="0" y="1426"/>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556" name="Line 43"/>
                  <p:cNvSpPr>
                    <a:spLocks noChangeShapeType="1"/>
                  </p:cNvSpPr>
                  <p:nvPr/>
                </p:nvSpPr>
                <p:spPr bwMode="auto">
                  <a:xfrm>
                    <a:off x="4694" y="8300"/>
                    <a:ext cx="0" cy="68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57" name="Line 44"/>
                  <p:cNvSpPr>
                    <a:spLocks noChangeShapeType="1"/>
                  </p:cNvSpPr>
                  <p:nvPr/>
                </p:nvSpPr>
                <p:spPr bwMode="auto">
                  <a:xfrm rot="5400000">
                    <a:off x="3455" y="10721"/>
                    <a:ext cx="0" cy="483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6558" name="Group 45"/>
                  <p:cNvGrpSpPr>
                    <a:grpSpLocks/>
                  </p:cNvGrpSpPr>
                  <p:nvPr/>
                </p:nvGrpSpPr>
                <p:grpSpPr bwMode="auto">
                  <a:xfrm>
                    <a:off x="5996" y="11834"/>
                    <a:ext cx="336" cy="310"/>
                    <a:chOff x="5996" y="11834"/>
                    <a:chExt cx="336" cy="310"/>
                  </a:xfrm>
                </p:grpSpPr>
                <p:sp>
                  <p:nvSpPr>
                    <p:cNvPr id="56569" name="Line 46"/>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70" name="Line 47"/>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559" name="Group 48"/>
                  <p:cNvGrpSpPr>
                    <a:grpSpLocks/>
                  </p:cNvGrpSpPr>
                  <p:nvPr/>
                </p:nvGrpSpPr>
                <p:grpSpPr bwMode="auto">
                  <a:xfrm>
                    <a:off x="6962" y="11834"/>
                    <a:ext cx="504" cy="310"/>
                    <a:chOff x="5996" y="11834"/>
                    <a:chExt cx="336" cy="310"/>
                  </a:xfrm>
                </p:grpSpPr>
                <p:sp>
                  <p:nvSpPr>
                    <p:cNvPr id="56567" name="Line 49"/>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68" name="Line 50"/>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560" name="Group 51"/>
                  <p:cNvGrpSpPr>
                    <a:grpSpLocks/>
                  </p:cNvGrpSpPr>
                  <p:nvPr/>
                </p:nvGrpSpPr>
                <p:grpSpPr bwMode="auto">
                  <a:xfrm rot="-5400000">
                    <a:off x="5380" y="12336"/>
                    <a:ext cx="434" cy="546"/>
                    <a:chOff x="5996" y="11834"/>
                    <a:chExt cx="336" cy="310"/>
                  </a:xfrm>
                </p:grpSpPr>
                <p:sp>
                  <p:nvSpPr>
                    <p:cNvPr id="56565" name="Line 52"/>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566" name="Line 53"/>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6561" name="Freeform 54"/>
                  <p:cNvSpPr>
                    <a:spLocks/>
                  </p:cNvSpPr>
                  <p:nvPr/>
                </p:nvSpPr>
                <p:spPr bwMode="auto">
                  <a:xfrm>
                    <a:off x="3770" y="10594"/>
                    <a:ext cx="2100" cy="682"/>
                  </a:xfrm>
                  <a:custGeom>
                    <a:avLst/>
                    <a:gdLst>
                      <a:gd name="T0" fmla="*/ 2100 w 2100"/>
                      <a:gd name="T1" fmla="*/ 682 h 682"/>
                      <a:gd name="T2" fmla="*/ 1722 w 2100"/>
                      <a:gd name="T3" fmla="*/ 682 h 682"/>
                      <a:gd name="T4" fmla="*/ 1722 w 2100"/>
                      <a:gd name="T5" fmla="*/ 0 h 682"/>
                      <a:gd name="T6" fmla="*/ 0 w 2100"/>
                      <a:gd name="T7" fmla="*/ 0 h 682"/>
                      <a:gd name="T8" fmla="*/ 0 60000 65536"/>
                      <a:gd name="T9" fmla="*/ 0 60000 65536"/>
                      <a:gd name="T10" fmla="*/ 0 60000 65536"/>
                      <a:gd name="T11" fmla="*/ 0 60000 65536"/>
                      <a:gd name="T12" fmla="*/ 0 w 2100"/>
                      <a:gd name="T13" fmla="*/ 0 h 682"/>
                      <a:gd name="T14" fmla="*/ 2100 w 2100"/>
                      <a:gd name="T15" fmla="*/ 682 h 682"/>
                    </a:gdLst>
                    <a:ahLst/>
                    <a:cxnLst>
                      <a:cxn ang="T8">
                        <a:pos x="T0" y="T1"/>
                      </a:cxn>
                      <a:cxn ang="T9">
                        <a:pos x="T2" y="T3"/>
                      </a:cxn>
                      <a:cxn ang="T10">
                        <a:pos x="T4" y="T5"/>
                      </a:cxn>
                      <a:cxn ang="T11">
                        <a:pos x="T6" y="T7"/>
                      </a:cxn>
                    </a:cxnLst>
                    <a:rect l="T12" t="T13" r="T14" b="T15"/>
                    <a:pathLst>
                      <a:path w="2100" h="682">
                        <a:moveTo>
                          <a:pt x="2100" y="682"/>
                        </a:moveTo>
                        <a:lnTo>
                          <a:pt x="1722" y="682"/>
                        </a:lnTo>
                        <a:lnTo>
                          <a:pt x="1722" y="0"/>
                        </a:lnTo>
                        <a:lnTo>
                          <a:pt x="0" y="0"/>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562" name="Text Box 55"/>
                  <p:cNvSpPr txBox="1">
                    <a:spLocks noChangeArrowheads="1"/>
                  </p:cNvSpPr>
                  <p:nvPr/>
                </p:nvSpPr>
                <p:spPr bwMode="auto">
                  <a:xfrm>
                    <a:off x="5450" y="12392"/>
                    <a:ext cx="291"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56563" name="Text Box 56"/>
                  <p:cNvSpPr txBox="1">
                    <a:spLocks noChangeArrowheads="1"/>
                  </p:cNvSpPr>
                  <p:nvPr/>
                </p:nvSpPr>
                <p:spPr bwMode="auto">
                  <a:xfrm>
                    <a:off x="595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56564" name="Text Box 57"/>
                  <p:cNvSpPr txBox="1">
                    <a:spLocks noChangeArrowheads="1"/>
                  </p:cNvSpPr>
                  <p:nvPr/>
                </p:nvSpPr>
                <p:spPr bwMode="auto">
                  <a:xfrm>
                    <a:off x="700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grpSp>
            <p:grpSp>
              <p:nvGrpSpPr>
                <p:cNvPr id="56455" name="Group 58"/>
                <p:cNvGrpSpPr>
                  <a:grpSpLocks/>
                </p:cNvGrpSpPr>
                <p:nvPr/>
              </p:nvGrpSpPr>
              <p:grpSpPr bwMode="auto">
                <a:xfrm>
                  <a:off x="1003" y="1308"/>
                  <a:ext cx="4417" cy="3706"/>
                  <a:chOff x="2024" y="4750"/>
                  <a:chExt cx="9240" cy="10044"/>
                </a:xfrm>
              </p:grpSpPr>
              <p:sp>
                <p:nvSpPr>
                  <p:cNvPr id="56456" name="Text Box 59"/>
                  <p:cNvSpPr txBox="1">
                    <a:spLocks noChangeArrowheads="1"/>
                  </p:cNvSpPr>
                  <p:nvPr/>
                </p:nvSpPr>
                <p:spPr bwMode="auto">
                  <a:xfrm>
                    <a:off x="10592" y="6734"/>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+1CT</a:t>
                    </a:r>
                  </a:p>
                </p:txBody>
              </p:sp>
              <p:sp>
                <p:nvSpPr>
                  <p:cNvPr id="56457" name="Text Box 60"/>
                  <p:cNvSpPr txBox="1">
                    <a:spLocks noChangeArrowheads="1"/>
                  </p:cNvSpPr>
                  <p:nvPr/>
                </p:nvSpPr>
                <p:spPr bwMode="auto">
                  <a:xfrm>
                    <a:off x="10592" y="7850"/>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0→CT</a:t>
                    </a:r>
                  </a:p>
                </p:txBody>
              </p:sp>
              <p:grpSp>
                <p:nvGrpSpPr>
                  <p:cNvPr id="56458" name="Group 61"/>
                  <p:cNvGrpSpPr>
                    <a:grpSpLocks/>
                  </p:cNvGrpSpPr>
                  <p:nvPr/>
                </p:nvGrpSpPr>
                <p:grpSpPr bwMode="auto">
                  <a:xfrm>
                    <a:off x="2024" y="4750"/>
                    <a:ext cx="840" cy="620"/>
                    <a:chOff x="1544" y="4270"/>
                    <a:chExt cx="882" cy="620"/>
                  </a:xfrm>
                </p:grpSpPr>
                <p:sp>
                  <p:nvSpPr>
                    <p:cNvPr id="56521" name="Text Box 62"/>
                    <p:cNvSpPr txBox="1">
                      <a:spLocks noChangeArrowheads="1"/>
                    </p:cNvSpPr>
                    <p:nvPr/>
                  </p:nvSpPr>
                  <p:spPr bwMode="auto">
                    <a:xfrm>
                      <a:off x="1544" y="427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/MMRD</a:t>
                      </a:r>
                    </a:p>
                  </p:txBody>
                </p:sp>
                <p:sp>
                  <p:nvSpPr>
                    <p:cNvPr id="56522" name="Text Box 63"/>
                    <p:cNvSpPr txBox="1">
                      <a:spLocks noChangeArrowheads="1"/>
                    </p:cNvSpPr>
                    <p:nvPr/>
                  </p:nvSpPr>
                  <p:spPr bwMode="auto">
                    <a:xfrm>
                      <a:off x="1544" y="458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/MMWR</a:t>
                      </a:r>
                    </a:p>
                  </p:txBody>
                </p:sp>
              </p:grpSp>
              <p:grpSp>
                <p:nvGrpSpPr>
                  <p:cNvPr id="56459" name="Group 64"/>
                  <p:cNvGrpSpPr>
                    <a:grpSpLocks/>
                  </p:cNvGrpSpPr>
                  <p:nvPr/>
                </p:nvGrpSpPr>
                <p:grpSpPr bwMode="auto">
                  <a:xfrm>
                    <a:off x="5636" y="5928"/>
                    <a:ext cx="756" cy="1240"/>
                    <a:chOff x="5114" y="5510"/>
                    <a:chExt cx="798" cy="1240"/>
                  </a:xfrm>
                </p:grpSpPr>
                <p:sp>
                  <p:nvSpPr>
                    <p:cNvPr id="56517" name="Text Box 65"/>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56518" name="Text Box 66"/>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56519" name="Text Box 67"/>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SPin</a:t>
                      </a:r>
                    </a:p>
                  </p:txBody>
                </p:sp>
                <p:sp>
                  <p:nvSpPr>
                    <p:cNvPr id="56520" name="Text Box 68"/>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SP→IB</a:t>
                      </a:r>
                    </a:p>
                  </p:txBody>
                </p:sp>
              </p:grpSp>
              <p:sp>
                <p:nvSpPr>
                  <p:cNvPr id="56460" name="Text Box 69"/>
                  <p:cNvSpPr txBox="1">
                    <a:spLocks noChangeArrowheads="1"/>
                  </p:cNvSpPr>
                  <p:nvPr/>
                </p:nvSpPr>
                <p:spPr bwMode="auto">
                  <a:xfrm>
                    <a:off x="6980" y="611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BPin</a:t>
                    </a:r>
                  </a:p>
                </p:txBody>
              </p:sp>
              <p:sp>
                <p:nvSpPr>
                  <p:cNvPr id="56461" name="Text Box 70"/>
                  <p:cNvSpPr txBox="1">
                    <a:spLocks noChangeArrowheads="1"/>
                  </p:cNvSpPr>
                  <p:nvPr/>
                </p:nvSpPr>
                <p:spPr bwMode="auto">
                  <a:xfrm>
                    <a:off x="6980" y="64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BP→IB</a:t>
                    </a:r>
                  </a:p>
                </p:txBody>
              </p:sp>
              <p:grpSp>
                <p:nvGrpSpPr>
                  <p:cNvPr id="56462" name="Group 71"/>
                  <p:cNvGrpSpPr>
                    <a:grpSpLocks/>
                  </p:cNvGrpSpPr>
                  <p:nvPr/>
                </p:nvGrpSpPr>
                <p:grpSpPr bwMode="auto">
                  <a:xfrm>
                    <a:off x="8408" y="5928"/>
                    <a:ext cx="756" cy="1240"/>
                    <a:chOff x="5114" y="5510"/>
                    <a:chExt cx="798" cy="1240"/>
                  </a:xfrm>
                </p:grpSpPr>
                <p:sp>
                  <p:nvSpPr>
                    <p:cNvPr id="56513" name="Text Box 72"/>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56514" name="Text Box 73"/>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56515" name="Text Box 74"/>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DIin</a:t>
                      </a:r>
                    </a:p>
                  </p:txBody>
                </p:sp>
                <p:sp>
                  <p:nvSpPr>
                    <p:cNvPr id="56516" name="Text Box 75"/>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DI→IB</a:t>
                      </a:r>
                    </a:p>
                  </p:txBody>
                </p:sp>
              </p:grpSp>
              <p:grpSp>
                <p:nvGrpSpPr>
                  <p:cNvPr id="56463" name="Group 76"/>
                  <p:cNvGrpSpPr>
                    <a:grpSpLocks/>
                  </p:cNvGrpSpPr>
                  <p:nvPr/>
                </p:nvGrpSpPr>
                <p:grpSpPr bwMode="auto">
                  <a:xfrm>
                    <a:off x="9794" y="5928"/>
                    <a:ext cx="756" cy="1240"/>
                    <a:chOff x="5114" y="5510"/>
                    <a:chExt cx="798" cy="1240"/>
                  </a:xfrm>
                </p:grpSpPr>
                <p:sp>
                  <p:nvSpPr>
                    <p:cNvPr id="56509" name="Text Box 77"/>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56510" name="Text Box 78"/>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56511" name="Text Box 79"/>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SIin</a:t>
                      </a:r>
                    </a:p>
                  </p:txBody>
                </p:sp>
                <p:sp>
                  <p:nvSpPr>
                    <p:cNvPr id="56512" name="Text Box 80"/>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SI→IB</a:t>
                      </a:r>
                    </a:p>
                  </p:txBody>
                </p:sp>
              </p:grpSp>
              <p:grpSp>
                <p:nvGrpSpPr>
                  <p:cNvPr id="56464" name="Group 81"/>
                  <p:cNvGrpSpPr>
                    <a:grpSpLocks/>
                  </p:cNvGrpSpPr>
                  <p:nvPr/>
                </p:nvGrpSpPr>
                <p:grpSpPr bwMode="auto">
                  <a:xfrm>
                    <a:off x="5594" y="7788"/>
                    <a:ext cx="756" cy="620"/>
                    <a:chOff x="5114" y="7308"/>
                    <a:chExt cx="756" cy="620"/>
                  </a:xfrm>
                </p:grpSpPr>
                <p:sp>
                  <p:nvSpPr>
                    <p:cNvPr id="56507" name="Text Box 82"/>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AXin</a:t>
                      </a:r>
                    </a:p>
                  </p:txBody>
                </p:sp>
                <p:sp>
                  <p:nvSpPr>
                    <p:cNvPr id="56508" name="Text Box 83"/>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AX→IB</a:t>
                      </a:r>
                    </a:p>
                  </p:txBody>
                </p:sp>
              </p:grpSp>
              <p:grpSp>
                <p:nvGrpSpPr>
                  <p:cNvPr id="56465" name="Group 84"/>
                  <p:cNvGrpSpPr>
                    <a:grpSpLocks/>
                  </p:cNvGrpSpPr>
                  <p:nvPr/>
                </p:nvGrpSpPr>
                <p:grpSpPr bwMode="auto">
                  <a:xfrm>
                    <a:off x="6980" y="7788"/>
                    <a:ext cx="756" cy="620"/>
                    <a:chOff x="5114" y="7308"/>
                    <a:chExt cx="756" cy="620"/>
                  </a:xfrm>
                </p:grpSpPr>
                <p:sp>
                  <p:nvSpPr>
                    <p:cNvPr id="56505" name="Text Box 85"/>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BXin</a:t>
                      </a:r>
                    </a:p>
                  </p:txBody>
                </p:sp>
                <p:sp>
                  <p:nvSpPr>
                    <p:cNvPr id="56506" name="Text Box 86"/>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BX→IB</a:t>
                      </a:r>
                    </a:p>
                  </p:txBody>
                </p:sp>
              </p:grpSp>
              <p:grpSp>
                <p:nvGrpSpPr>
                  <p:cNvPr id="56466" name="Group 87"/>
                  <p:cNvGrpSpPr>
                    <a:grpSpLocks/>
                  </p:cNvGrpSpPr>
                  <p:nvPr/>
                </p:nvGrpSpPr>
                <p:grpSpPr bwMode="auto">
                  <a:xfrm>
                    <a:off x="9710" y="7788"/>
                    <a:ext cx="756" cy="620"/>
                    <a:chOff x="5114" y="7308"/>
                    <a:chExt cx="756" cy="620"/>
                  </a:xfrm>
                </p:grpSpPr>
                <p:sp>
                  <p:nvSpPr>
                    <p:cNvPr id="56503" name="Text Box 88"/>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DXin</a:t>
                      </a:r>
                    </a:p>
                  </p:txBody>
                </p:sp>
                <p:sp>
                  <p:nvSpPr>
                    <p:cNvPr id="56504" name="Text Box 89"/>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DX→IB</a:t>
                      </a:r>
                    </a:p>
                  </p:txBody>
                </p:sp>
              </p:grpSp>
              <p:sp>
                <p:nvSpPr>
                  <p:cNvPr id="56467" name="Text Box 90"/>
                  <p:cNvSpPr txBox="1">
                    <a:spLocks noChangeArrowheads="1"/>
                  </p:cNvSpPr>
                  <p:nvPr/>
                </p:nvSpPr>
                <p:spPr bwMode="auto">
                  <a:xfrm>
                    <a:off x="8366" y="809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CXin</a:t>
                    </a:r>
                  </a:p>
                </p:txBody>
              </p:sp>
              <p:sp>
                <p:nvSpPr>
                  <p:cNvPr id="56468" name="Text Box 91"/>
                  <p:cNvSpPr txBox="1">
                    <a:spLocks noChangeArrowheads="1"/>
                  </p:cNvSpPr>
                  <p:nvPr/>
                </p:nvSpPr>
                <p:spPr bwMode="auto">
                  <a:xfrm>
                    <a:off x="8366" y="778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CX→IB</a:t>
                    </a:r>
                  </a:p>
                </p:txBody>
              </p:sp>
              <p:sp>
                <p:nvSpPr>
                  <p:cNvPr id="56469" name="Text Box 92"/>
                  <p:cNvSpPr txBox="1">
                    <a:spLocks noChangeArrowheads="1"/>
                  </p:cNvSpPr>
                  <p:nvPr/>
                </p:nvSpPr>
                <p:spPr bwMode="auto">
                  <a:xfrm>
                    <a:off x="8324" y="8408"/>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-1CX</a:t>
                    </a:r>
                  </a:p>
                </p:txBody>
              </p:sp>
              <p:sp>
                <p:nvSpPr>
                  <p:cNvPr id="56470" name="Text Box 93"/>
                  <p:cNvSpPr txBox="1">
                    <a:spLocks noChangeArrowheads="1"/>
                  </p:cNvSpPr>
                  <p:nvPr/>
                </p:nvSpPr>
                <p:spPr bwMode="auto">
                  <a:xfrm>
                    <a:off x="3620" y="853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DRin</a:t>
                    </a:r>
                  </a:p>
                </p:txBody>
              </p:sp>
              <p:sp>
                <p:nvSpPr>
                  <p:cNvPr id="56471" name="Text Box 94"/>
                  <p:cNvSpPr txBox="1">
                    <a:spLocks noChangeArrowheads="1"/>
                  </p:cNvSpPr>
                  <p:nvPr/>
                </p:nvSpPr>
                <p:spPr bwMode="auto">
                  <a:xfrm>
                    <a:off x="3578" y="940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DR→IB</a:t>
                    </a:r>
                  </a:p>
                </p:txBody>
              </p:sp>
              <p:sp>
                <p:nvSpPr>
                  <p:cNvPr id="56472" name="Text Box 95"/>
                  <p:cNvSpPr txBox="1">
                    <a:spLocks noChangeArrowheads="1"/>
                  </p:cNvSpPr>
                  <p:nvPr/>
                </p:nvSpPr>
                <p:spPr bwMode="auto">
                  <a:xfrm>
                    <a:off x="4376" y="1138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PC→IB</a:t>
                    </a:r>
                  </a:p>
                </p:txBody>
              </p:sp>
              <p:sp>
                <p:nvSpPr>
                  <p:cNvPr id="56473" name="Text Box 96"/>
                  <p:cNvSpPr txBox="1">
                    <a:spLocks noChangeArrowheads="1"/>
                  </p:cNvSpPr>
                  <p:nvPr/>
                </p:nvSpPr>
                <p:spPr bwMode="auto">
                  <a:xfrm>
                    <a:off x="4376" y="118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0→PC</a:t>
                    </a:r>
                  </a:p>
                </p:txBody>
              </p:sp>
              <p:sp>
                <p:nvSpPr>
                  <p:cNvPr id="56474" name="Text Box 97"/>
                  <p:cNvSpPr txBox="1">
                    <a:spLocks noChangeArrowheads="1"/>
                  </p:cNvSpPr>
                  <p:nvPr/>
                </p:nvSpPr>
                <p:spPr bwMode="auto">
                  <a:xfrm>
                    <a:off x="4376" y="1212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+2PC</a:t>
                    </a:r>
                  </a:p>
                </p:txBody>
              </p:sp>
              <p:sp>
                <p:nvSpPr>
                  <p:cNvPr id="56475" name="Text Box 98"/>
                  <p:cNvSpPr txBox="1">
                    <a:spLocks noChangeArrowheads="1"/>
                  </p:cNvSpPr>
                  <p:nvPr/>
                </p:nvSpPr>
                <p:spPr bwMode="auto">
                  <a:xfrm>
                    <a:off x="4376" y="1107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PCin</a:t>
                    </a:r>
                  </a:p>
                </p:txBody>
              </p:sp>
              <p:sp>
                <p:nvSpPr>
                  <p:cNvPr id="56476" name="Text Box 99"/>
                  <p:cNvSpPr txBox="1">
                    <a:spLocks noChangeArrowheads="1"/>
                  </p:cNvSpPr>
                  <p:nvPr/>
                </p:nvSpPr>
                <p:spPr bwMode="auto">
                  <a:xfrm>
                    <a:off x="4376" y="126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IRin</a:t>
                    </a:r>
                  </a:p>
                </p:txBody>
              </p:sp>
              <p:sp>
                <p:nvSpPr>
                  <p:cNvPr id="56477" name="Text Box 100"/>
                  <p:cNvSpPr txBox="1">
                    <a:spLocks noChangeArrowheads="1"/>
                  </p:cNvSpPr>
                  <p:nvPr/>
                </p:nvSpPr>
                <p:spPr bwMode="auto">
                  <a:xfrm>
                    <a:off x="5384" y="12190"/>
                    <a:ext cx="9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PSW→IB</a:t>
                    </a:r>
                  </a:p>
                </p:txBody>
              </p:sp>
              <p:sp>
                <p:nvSpPr>
                  <p:cNvPr id="56478" name="Text Box 101"/>
                  <p:cNvSpPr txBox="1">
                    <a:spLocks noChangeArrowheads="1"/>
                  </p:cNvSpPr>
                  <p:nvPr/>
                </p:nvSpPr>
                <p:spPr bwMode="auto">
                  <a:xfrm>
                    <a:off x="5846" y="11074"/>
                    <a:ext cx="8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PSWin</a:t>
                    </a:r>
                  </a:p>
                </p:txBody>
              </p:sp>
              <p:sp>
                <p:nvSpPr>
                  <p:cNvPr id="56479" name="Text Box 102"/>
                  <p:cNvSpPr txBox="1">
                    <a:spLocks noChangeArrowheads="1"/>
                  </p:cNvSpPr>
                  <p:nvPr/>
                </p:nvSpPr>
                <p:spPr bwMode="auto">
                  <a:xfrm>
                    <a:off x="3620" y="1045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ARin</a:t>
                    </a:r>
                  </a:p>
                </p:txBody>
              </p:sp>
              <p:sp>
                <p:nvSpPr>
                  <p:cNvPr id="56480" name="Text Box 103"/>
                  <p:cNvSpPr txBox="1">
                    <a:spLocks noChangeArrowheads="1"/>
                  </p:cNvSpPr>
                  <p:nvPr/>
                </p:nvSpPr>
                <p:spPr bwMode="auto">
                  <a:xfrm>
                    <a:off x="2192" y="8470"/>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DR→DB</a:t>
                    </a:r>
                  </a:p>
                </p:txBody>
              </p:sp>
              <p:sp>
                <p:nvSpPr>
                  <p:cNvPr id="56481" name="Text Box 104"/>
                  <p:cNvSpPr txBox="1">
                    <a:spLocks noChangeArrowheads="1"/>
                  </p:cNvSpPr>
                  <p:nvPr/>
                </p:nvSpPr>
                <p:spPr bwMode="auto">
                  <a:xfrm>
                    <a:off x="2192" y="9648"/>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DB→DR</a:t>
                    </a:r>
                  </a:p>
                </p:txBody>
              </p:sp>
              <p:sp>
                <p:nvSpPr>
                  <p:cNvPr id="56482" name="Text Box 105"/>
                  <p:cNvSpPr txBox="1">
                    <a:spLocks noChangeArrowheads="1"/>
                  </p:cNvSpPr>
                  <p:nvPr/>
                </p:nvSpPr>
                <p:spPr bwMode="auto">
                  <a:xfrm>
                    <a:off x="2192" y="10516"/>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AR→AB</a:t>
                    </a:r>
                  </a:p>
                </p:txBody>
              </p:sp>
              <p:grpSp>
                <p:nvGrpSpPr>
                  <p:cNvPr id="56483" name="Group 106"/>
                  <p:cNvGrpSpPr>
                    <a:grpSpLocks/>
                  </p:cNvGrpSpPr>
                  <p:nvPr/>
                </p:nvGrpSpPr>
                <p:grpSpPr bwMode="auto">
                  <a:xfrm>
                    <a:off x="5678" y="9214"/>
                    <a:ext cx="756" cy="620"/>
                    <a:chOff x="5114" y="7308"/>
                    <a:chExt cx="756" cy="620"/>
                  </a:xfrm>
                </p:grpSpPr>
                <p:sp>
                  <p:nvSpPr>
                    <p:cNvPr id="56501" name="Text Box 107"/>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Tin</a:t>
                      </a:r>
                    </a:p>
                  </p:txBody>
                </p:sp>
                <p:sp>
                  <p:nvSpPr>
                    <p:cNvPr id="56502" name="Text Box 108"/>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T→IB</a:t>
                      </a:r>
                    </a:p>
                  </p:txBody>
                </p:sp>
              </p:grpSp>
              <p:sp>
                <p:nvSpPr>
                  <p:cNvPr id="56484" name="Text Box 109"/>
                  <p:cNvSpPr txBox="1">
                    <a:spLocks noChangeArrowheads="1"/>
                  </p:cNvSpPr>
                  <p:nvPr/>
                </p:nvSpPr>
                <p:spPr bwMode="auto">
                  <a:xfrm>
                    <a:off x="5678" y="1008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0→T</a:t>
                    </a:r>
                  </a:p>
                </p:txBody>
              </p:sp>
              <p:sp>
                <p:nvSpPr>
                  <p:cNvPr id="56485" name="Text Box 110"/>
                  <p:cNvSpPr txBox="1">
                    <a:spLocks noChangeArrowheads="1"/>
                  </p:cNvSpPr>
                  <p:nvPr/>
                </p:nvSpPr>
                <p:spPr bwMode="auto">
                  <a:xfrm>
                    <a:off x="4712" y="8966"/>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SAR  RCR</a:t>
                    </a:r>
                  </a:p>
                </p:txBody>
              </p:sp>
              <p:sp>
                <p:nvSpPr>
                  <p:cNvPr id="56486" name="Text Box 111"/>
                  <p:cNvSpPr txBox="1">
                    <a:spLocks noChangeArrowheads="1"/>
                  </p:cNvSpPr>
                  <p:nvPr/>
                </p:nvSpPr>
                <p:spPr bwMode="auto">
                  <a:xfrm>
                    <a:off x="4712" y="10454"/>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SAL  RCL</a:t>
                    </a:r>
                  </a:p>
                </p:txBody>
              </p:sp>
              <p:sp>
                <p:nvSpPr>
                  <p:cNvPr id="56487" name="Text Box 112"/>
                  <p:cNvSpPr txBox="1">
                    <a:spLocks noChangeArrowheads="1"/>
                  </p:cNvSpPr>
                  <p:nvPr/>
                </p:nvSpPr>
                <p:spPr bwMode="auto">
                  <a:xfrm>
                    <a:off x="8072" y="8780"/>
                    <a:ext cx="11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NEG  NOT</a:t>
                    </a:r>
                  </a:p>
                </p:txBody>
              </p:sp>
              <p:sp>
                <p:nvSpPr>
                  <p:cNvPr id="56488" name="Text Box 113"/>
                  <p:cNvSpPr txBox="1">
                    <a:spLocks noChangeArrowheads="1"/>
                  </p:cNvSpPr>
                  <p:nvPr/>
                </p:nvSpPr>
                <p:spPr bwMode="auto">
                  <a:xfrm>
                    <a:off x="7820" y="10082"/>
                    <a:ext cx="15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+1S      -1S</a:t>
                    </a:r>
                  </a:p>
                </p:txBody>
              </p:sp>
              <p:sp>
                <p:nvSpPr>
                  <p:cNvPr id="56489" name="Text Box 114"/>
                  <p:cNvSpPr txBox="1">
                    <a:spLocks noChangeArrowheads="1"/>
                  </p:cNvSpPr>
                  <p:nvPr/>
                </p:nvSpPr>
                <p:spPr bwMode="auto">
                  <a:xfrm>
                    <a:off x="9122" y="977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Sin</a:t>
                    </a:r>
                  </a:p>
                </p:txBody>
              </p:sp>
              <p:sp>
                <p:nvSpPr>
                  <p:cNvPr id="56490" name="Text Box 115"/>
                  <p:cNvSpPr txBox="1">
                    <a:spLocks noChangeArrowheads="1"/>
                  </p:cNvSpPr>
                  <p:nvPr/>
                </p:nvSpPr>
                <p:spPr bwMode="auto">
                  <a:xfrm>
                    <a:off x="9122" y="9276"/>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S→IB</a:t>
                    </a:r>
                  </a:p>
                </p:txBody>
              </p:sp>
              <p:sp>
                <p:nvSpPr>
                  <p:cNvPr id="56491" name="Text Box 116"/>
                  <p:cNvSpPr txBox="1">
                    <a:spLocks noChangeArrowheads="1"/>
                  </p:cNvSpPr>
                  <p:nvPr/>
                </p:nvSpPr>
                <p:spPr bwMode="auto">
                  <a:xfrm>
                    <a:off x="6686"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ADD</a:t>
                    </a:r>
                  </a:p>
                </p:txBody>
              </p:sp>
              <p:sp>
                <p:nvSpPr>
                  <p:cNvPr id="56492" name="Text Box 117"/>
                  <p:cNvSpPr txBox="1">
                    <a:spLocks noChangeArrowheads="1"/>
                  </p:cNvSpPr>
                  <p:nvPr/>
                </p:nvSpPr>
                <p:spPr bwMode="auto">
                  <a:xfrm>
                    <a:off x="6926" y="10702"/>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SUB</a:t>
                    </a:r>
                  </a:p>
                </p:txBody>
              </p:sp>
              <p:sp>
                <p:nvSpPr>
                  <p:cNvPr id="56493" name="Text Box 118"/>
                  <p:cNvSpPr txBox="1">
                    <a:spLocks noChangeArrowheads="1"/>
                  </p:cNvSpPr>
                  <p:nvPr/>
                </p:nvSpPr>
                <p:spPr bwMode="auto">
                  <a:xfrm>
                    <a:off x="7400" y="1088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XOR</a:t>
                    </a:r>
                  </a:p>
                </p:txBody>
              </p:sp>
              <p:sp>
                <p:nvSpPr>
                  <p:cNvPr id="56494" name="Text Box 119"/>
                  <p:cNvSpPr txBox="1">
                    <a:spLocks noChangeArrowheads="1"/>
                  </p:cNvSpPr>
                  <p:nvPr/>
                </p:nvSpPr>
                <p:spPr bwMode="auto">
                  <a:xfrm>
                    <a:off x="7148"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56495" name="Text Box 120"/>
                  <p:cNvSpPr txBox="1">
                    <a:spLocks noChangeArrowheads="1"/>
                  </p:cNvSpPr>
                  <p:nvPr/>
                </p:nvSpPr>
                <p:spPr bwMode="auto">
                  <a:xfrm>
                    <a:off x="6938" y="1367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56496" name="Text Box 121"/>
                  <p:cNvSpPr txBox="1">
                    <a:spLocks noChangeArrowheads="1"/>
                  </p:cNvSpPr>
                  <p:nvPr/>
                </p:nvSpPr>
                <p:spPr bwMode="auto">
                  <a:xfrm>
                    <a:off x="8198" y="13058"/>
                    <a:ext cx="33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solidFill>
                          <a:schemeClr val="tx1"/>
                        </a:solidFill>
                        <a:latin typeface="Times New Roman" pitchFamily="18" charset="0"/>
                        <a:ea typeface="黑体" pitchFamily="2" charset="-122"/>
                      </a:rPr>
                      <a:t>…</a:t>
                    </a:r>
                  </a:p>
                </p:txBody>
              </p:sp>
              <p:sp>
                <p:nvSpPr>
                  <p:cNvPr id="56497" name="Text Box 122"/>
                  <p:cNvSpPr txBox="1">
                    <a:spLocks noChangeArrowheads="1"/>
                  </p:cNvSpPr>
                  <p:nvPr/>
                </p:nvSpPr>
                <p:spPr bwMode="auto">
                  <a:xfrm>
                    <a:off x="8912" y="12810"/>
                    <a:ext cx="184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a:t>
                    </a:r>
                    <a:r>
                      <a:rPr lang="en-US" altLang="zh-CN" sz="1000" dirty="0">
                        <a:solidFill>
                          <a:schemeClr val="tx1"/>
                        </a:solidFill>
                        <a:latin typeface="Times New Roman" pitchFamily="18" charset="0"/>
                        <a:ea typeface="黑体" pitchFamily="2" charset="-122"/>
                      </a:rPr>
                      <a:t>CPU</a:t>
                    </a:r>
                    <a:r>
                      <a:rPr lang="zh-CN" altLang="en-US" sz="1000">
                        <a:solidFill>
                          <a:schemeClr val="tx1"/>
                        </a:solidFill>
                        <a:latin typeface="Times New Roman" pitchFamily="18" charset="0"/>
                        <a:ea typeface="黑体" pitchFamily="2" charset="-122"/>
                      </a:rPr>
                      <a:t>内部各部件的控制信号</a:t>
                    </a:r>
                  </a:p>
                </p:txBody>
              </p:sp>
              <p:sp>
                <p:nvSpPr>
                  <p:cNvPr id="56498" name="Text Box 123"/>
                  <p:cNvSpPr txBox="1">
                    <a:spLocks noChangeArrowheads="1"/>
                  </p:cNvSpPr>
                  <p:nvPr/>
                </p:nvSpPr>
                <p:spPr bwMode="auto">
                  <a:xfrm>
                    <a:off x="7526" y="14236"/>
                    <a:ext cx="1302"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送往系统总线的控制信号</a:t>
                    </a:r>
                  </a:p>
                </p:txBody>
              </p:sp>
              <p:sp>
                <p:nvSpPr>
                  <p:cNvPr id="56499" name="Text Box 124"/>
                  <p:cNvSpPr txBox="1">
                    <a:spLocks noChangeArrowheads="1"/>
                  </p:cNvSpPr>
                  <p:nvPr/>
                </p:nvSpPr>
                <p:spPr bwMode="auto">
                  <a:xfrm>
                    <a:off x="2444" y="14112"/>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/MMRD,  /IORD,  INTA</a:t>
                    </a:r>
                  </a:p>
                </p:txBody>
              </p:sp>
              <p:sp>
                <p:nvSpPr>
                  <p:cNvPr id="56500" name="Text Box 125"/>
                  <p:cNvSpPr txBox="1">
                    <a:spLocks noChangeArrowheads="1"/>
                  </p:cNvSpPr>
                  <p:nvPr/>
                </p:nvSpPr>
                <p:spPr bwMode="auto">
                  <a:xfrm>
                    <a:off x="2444" y="14484"/>
                    <a:ext cx="351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/MMWR,  /IOWR,  DMAA</a:t>
                    </a:r>
                  </a:p>
                </p:txBody>
              </p:sp>
            </p:grpSp>
          </p:grpSp>
          <p:grpSp>
            <p:nvGrpSpPr>
              <p:cNvPr id="56329" name="Group 126"/>
              <p:cNvGrpSpPr>
                <a:grpSpLocks/>
              </p:cNvGrpSpPr>
              <p:nvPr/>
            </p:nvGrpSpPr>
            <p:grpSpPr bwMode="auto">
              <a:xfrm>
                <a:off x="733" y="1445"/>
                <a:ext cx="4437" cy="3478"/>
                <a:chOff x="1040" y="4580"/>
                <a:chExt cx="9282" cy="9424"/>
              </a:xfrm>
            </p:grpSpPr>
            <p:grpSp>
              <p:nvGrpSpPr>
                <p:cNvPr id="56373" name="Group 127"/>
                <p:cNvGrpSpPr>
                  <a:grpSpLocks/>
                </p:cNvGrpSpPr>
                <p:nvPr/>
              </p:nvGrpSpPr>
              <p:grpSpPr bwMode="auto">
                <a:xfrm>
                  <a:off x="4946" y="5758"/>
                  <a:ext cx="168" cy="248"/>
                  <a:chOff x="4316" y="5882"/>
                  <a:chExt cx="168" cy="310"/>
                </a:xfrm>
              </p:grpSpPr>
              <p:sp>
                <p:nvSpPr>
                  <p:cNvPr id="56452" name="Line 12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53" name="Line 12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74" name="Line 130"/>
                <p:cNvSpPr>
                  <a:spLocks noChangeShapeType="1"/>
                </p:cNvSpPr>
                <p:nvPr/>
              </p:nvSpPr>
              <p:spPr bwMode="auto">
                <a:xfrm>
                  <a:off x="5702" y="1164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75" name="Group 131"/>
                <p:cNvGrpSpPr>
                  <a:grpSpLocks/>
                </p:cNvGrpSpPr>
                <p:nvPr/>
              </p:nvGrpSpPr>
              <p:grpSpPr bwMode="auto">
                <a:xfrm>
                  <a:off x="6332" y="5944"/>
                  <a:ext cx="168" cy="310"/>
                  <a:chOff x="4316" y="5882"/>
                  <a:chExt cx="168" cy="310"/>
                </a:xfrm>
              </p:grpSpPr>
              <p:sp>
                <p:nvSpPr>
                  <p:cNvPr id="56450" name="Line 13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51" name="Line 13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76" name="Group 134"/>
                <p:cNvGrpSpPr>
                  <a:grpSpLocks/>
                </p:cNvGrpSpPr>
                <p:nvPr/>
              </p:nvGrpSpPr>
              <p:grpSpPr bwMode="auto">
                <a:xfrm rot="-5400000">
                  <a:off x="8067" y="8539"/>
                  <a:ext cx="168" cy="310"/>
                  <a:chOff x="4316" y="5882"/>
                  <a:chExt cx="168" cy="310"/>
                </a:xfrm>
              </p:grpSpPr>
              <p:sp>
                <p:nvSpPr>
                  <p:cNvPr id="56448" name="Line 13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9" name="Line 13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77" name="Group 137"/>
                <p:cNvGrpSpPr>
                  <a:grpSpLocks/>
                </p:cNvGrpSpPr>
                <p:nvPr/>
              </p:nvGrpSpPr>
              <p:grpSpPr bwMode="auto">
                <a:xfrm rot="-5400000">
                  <a:off x="8083" y="9611"/>
                  <a:ext cx="168" cy="310"/>
                  <a:chOff x="4316" y="5882"/>
                  <a:chExt cx="168" cy="310"/>
                </a:xfrm>
              </p:grpSpPr>
              <p:sp>
                <p:nvSpPr>
                  <p:cNvPr id="56446" name="Line 13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7" name="Line 13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78" name="Group 140"/>
                <p:cNvGrpSpPr>
                  <a:grpSpLocks/>
                </p:cNvGrpSpPr>
                <p:nvPr/>
              </p:nvGrpSpPr>
              <p:grpSpPr bwMode="auto">
                <a:xfrm rot="-5400000">
                  <a:off x="4623" y="8725"/>
                  <a:ext cx="168" cy="310"/>
                  <a:chOff x="4316" y="5882"/>
                  <a:chExt cx="168" cy="310"/>
                </a:xfrm>
              </p:grpSpPr>
              <p:sp>
                <p:nvSpPr>
                  <p:cNvPr id="56444" name="Line 14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5" name="Line 14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79" name="Group 143"/>
                <p:cNvGrpSpPr>
                  <a:grpSpLocks/>
                </p:cNvGrpSpPr>
                <p:nvPr/>
              </p:nvGrpSpPr>
              <p:grpSpPr bwMode="auto">
                <a:xfrm>
                  <a:off x="4694" y="10904"/>
                  <a:ext cx="168" cy="186"/>
                  <a:chOff x="4316" y="5882"/>
                  <a:chExt cx="168" cy="310"/>
                </a:xfrm>
              </p:grpSpPr>
              <p:sp>
                <p:nvSpPr>
                  <p:cNvPr id="56442" name="Line 14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3" name="Line 14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80" name="Group 146"/>
                <p:cNvGrpSpPr>
                  <a:grpSpLocks/>
                </p:cNvGrpSpPr>
                <p:nvPr/>
              </p:nvGrpSpPr>
              <p:grpSpPr bwMode="auto">
                <a:xfrm>
                  <a:off x="4694" y="11462"/>
                  <a:ext cx="168" cy="186"/>
                  <a:chOff x="4316" y="5882"/>
                  <a:chExt cx="168" cy="310"/>
                </a:xfrm>
              </p:grpSpPr>
              <p:sp>
                <p:nvSpPr>
                  <p:cNvPr id="56440" name="Line 14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1" name="Line 14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81" name="Line 149"/>
                <p:cNvSpPr>
                  <a:spLocks noChangeShapeType="1"/>
                </p:cNvSpPr>
                <p:nvPr/>
              </p:nvSpPr>
              <p:spPr bwMode="auto">
                <a:xfrm>
                  <a:off x="2090" y="8300"/>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2" name="Line 150"/>
                <p:cNvSpPr>
                  <a:spLocks noChangeShapeType="1"/>
                </p:cNvSpPr>
                <p:nvPr/>
              </p:nvSpPr>
              <p:spPr bwMode="auto">
                <a:xfrm>
                  <a:off x="2090" y="9044"/>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3" name="Line 151"/>
                <p:cNvSpPr>
                  <a:spLocks noChangeShapeType="1"/>
                </p:cNvSpPr>
                <p:nvPr/>
              </p:nvSpPr>
              <p:spPr bwMode="auto">
                <a:xfrm>
                  <a:off x="2090" y="9912"/>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4" name="Line 152"/>
                <p:cNvSpPr>
                  <a:spLocks noChangeShapeType="1"/>
                </p:cNvSpPr>
                <p:nvPr/>
              </p:nvSpPr>
              <p:spPr bwMode="auto">
                <a:xfrm>
                  <a:off x="4694" y="123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85" name="Line 153"/>
                <p:cNvSpPr>
                  <a:spLocks noChangeShapeType="1"/>
                </p:cNvSpPr>
                <p:nvPr/>
              </p:nvSpPr>
              <p:spPr bwMode="auto">
                <a:xfrm rot="-5400000">
                  <a:off x="5912" y="1098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86" name="Group 154"/>
                <p:cNvGrpSpPr>
                  <a:grpSpLocks/>
                </p:cNvGrpSpPr>
                <p:nvPr/>
              </p:nvGrpSpPr>
              <p:grpSpPr bwMode="auto">
                <a:xfrm rot="-5400000">
                  <a:off x="4639" y="9779"/>
                  <a:ext cx="168" cy="310"/>
                  <a:chOff x="4316" y="5882"/>
                  <a:chExt cx="168" cy="310"/>
                </a:xfrm>
              </p:grpSpPr>
              <p:sp>
                <p:nvSpPr>
                  <p:cNvPr id="56438" name="Line 15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9" name="Line 15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87" name="Line 157"/>
                <p:cNvSpPr>
                  <a:spLocks noChangeShapeType="1"/>
                </p:cNvSpPr>
                <p:nvPr/>
              </p:nvSpPr>
              <p:spPr bwMode="auto">
                <a:xfrm>
                  <a:off x="4946" y="904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88" name="Group 158"/>
                <p:cNvGrpSpPr>
                  <a:grpSpLocks/>
                </p:cNvGrpSpPr>
                <p:nvPr/>
              </p:nvGrpSpPr>
              <p:grpSpPr bwMode="auto">
                <a:xfrm>
                  <a:off x="8390" y="8982"/>
                  <a:ext cx="168" cy="496"/>
                  <a:chOff x="4316" y="5882"/>
                  <a:chExt cx="168" cy="310"/>
                </a:xfrm>
              </p:grpSpPr>
              <p:sp>
                <p:nvSpPr>
                  <p:cNvPr id="56436" name="Line 15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7" name="Line 16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89" name="Line 161"/>
                <p:cNvSpPr>
                  <a:spLocks noChangeShapeType="1"/>
                </p:cNvSpPr>
                <p:nvPr/>
              </p:nvSpPr>
              <p:spPr bwMode="auto">
                <a:xfrm rot="-5400000">
                  <a:off x="10238" y="666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90" name="Line 162"/>
                <p:cNvSpPr>
                  <a:spLocks noChangeShapeType="1"/>
                </p:cNvSpPr>
                <p:nvPr/>
              </p:nvSpPr>
              <p:spPr bwMode="auto">
                <a:xfrm>
                  <a:off x="4946" y="92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91" name="Line 163"/>
                <p:cNvSpPr>
                  <a:spLocks noChangeShapeType="1"/>
                </p:cNvSpPr>
                <p:nvPr/>
              </p:nvSpPr>
              <p:spPr bwMode="auto">
                <a:xfrm rot="-5400000">
                  <a:off x="6575" y="10005"/>
                  <a:ext cx="1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92" name="Line 164"/>
                <p:cNvSpPr>
                  <a:spLocks noChangeShapeType="1"/>
                </p:cNvSpPr>
                <p:nvPr/>
              </p:nvSpPr>
              <p:spPr bwMode="auto">
                <a:xfrm rot="-5400000">
                  <a:off x="6670" y="10098"/>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93" name="Line 165"/>
                <p:cNvSpPr>
                  <a:spLocks noChangeShapeType="1"/>
                </p:cNvSpPr>
                <p:nvPr/>
              </p:nvSpPr>
              <p:spPr bwMode="auto">
                <a:xfrm rot="-5400000">
                  <a:off x="6964" y="10222"/>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94" name="Line 166"/>
                <p:cNvSpPr>
                  <a:spLocks noChangeShapeType="1"/>
                </p:cNvSpPr>
                <p:nvPr/>
              </p:nvSpPr>
              <p:spPr bwMode="auto">
                <a:xfrm>
                  <a:off x="7763" y="12330"/>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95" name="Line 167"/>
                <p:cNvSpPr>
                  <a:spLocks noChangeShapeType="1"/>
                </p:cNvSpPr>
                <p:nvPr/>
              </p:nvSpPr>
              <p:spPr bwMode="auto">
                <a:xfrm>
                  <a:off x="7760" y="13074"/>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96" name="Line 168"/>
                <p:cNvSpPr>
                  <a:spLocks noChangeShapeType="1"/>
                </p:cNvSpPr>
                <p:nvPr/>
              </p:nvSpPr>
              <p:spPr bwMode="auto">
                <a:xfrm rot="5400000">
                  <a:off x="7319" y="13348"/>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397" name="Line 169"/>
                <p:cNvSpPr>
                  <a:spLocks noChangeShapeType="1"/>
                </p:cNvSpPr>
                <p:nvPr/>
              </p:nvSpPr>
              <p:spPr bwMode="auto">
                <a:xfrm rot="5400000">
                  <a:off x="6017"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6398" name="Group 170"/>
                <p:cNvGrpSpPr>
                  <a:grpSpLocks/>
                </p:cNvGrpSpPr>
                <p:nvPr/>
              </p:nvGrpSpPr>
              <p:grpSpPr bwMode="auto">
                <a:xfrm>
                  <a:off x="3056" y="8362"/>
                  <a:ext cx="210" cy="558"/>
                  <a:chOff x="4316" y="5882"/>
                  <a:chExt cx="168" cy="310"/>
                </a:xfrm>
              </p:grpSpPr>
              <p:sp>
                <p:nvSpPr>
                  <p:cNvPr id="56434" name="Line 17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5" name="Line 17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99" name="Line 173"/>
                <p:cNvSpPr>
                  <a:spLocks noChangeShapeType="1"/>
                </p:cNvSpPr>
                <p:nvPr/>
              </p:nvSpPr>
              <p:spPr bwMode="auto">
                <a:xfrm>
                  <a:off x="3056" y="997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0" name="Line 174"/>
                <p:cNvSpPr>
                  <a:spLocks noChangeShapeType="1"/>
                </p:cNvSpPr>
                <p:nvPr/>
              </p:nvSpPr>
              <p:spPr bwMode="auto">
                <a:xfrm>
                  <a:off x="1040" y="458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01" name="Line 175"/>
                <p:cNvSpPr>
                  <a:spLocks noChangeShapeType="1"/>
                </p:cNvSpPr>
                <p:nvPr/>
              </p:nvSpPr>
              <p:spPr bwMode="auto">
                <a:xfrm>
                  <a:off x="1040" y="489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02" name="AutoShape 176"/>
                <p:cNvSpPr>
                  <a:spLocks/>
                </p:cNvSpPr>
                <p:nvPr/>
              </p:nvSpPr>
              <p:spPr bwMode="auto">
                <a:xfrm>
                  <a:off x="8180" y="12330"/>
                  <a:ext cx="126" cy="744"/>
                </a:xfrm>
                <a:prstGeom prst="rightBrace">
                  <a:avLst>
                    <a:gd name="adj1" fmla="val 4920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6403" name="AutoShape 177"/>
                <p:cNvSpPr>
                  <a:spLocks/>
                </p:cNvSpPr>
                <p:nvPr/>
              </p:nvSpPr>
              <p:spPr bwMode="auto">
                <a:xfrm rot="5400000">
                  <a:off x="6722" y="13012"/>
                  <a:ext cx="186" cy="1302"/>
                </a:xfrm>
                <a:prstGeom prst="rightBrace">
                  <a:avLst>
                    <a:gd name="adj1" fmla="val 5833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6404" name="Freeform 178"/>
                <p:cNvSpPr>
                  <a:spLocks/>
                </p:cNvSpPr>
                <p:nvPr/>
              </p:nvSpPr>
              <p:spPr bwMode="auto">
                <a:xfrm>
                  <a:off x="1040" y="13818"/>
                  <a:ext cx="5796" cy="186"/>
                </a:xfrm>
                <a:custGeom>
                  <a:avLst/>
                  <a:gdLst>
                    <a:gd name="T0" fmla="*/ 5796 w 5796"/>
                    <a:gd name="T1" fmla="*/ 0 h 248"/>
                    <a:gd name="T2" fmla="*/ 5796 w 5796"/>
                    <a:gd name="T3" fmla="*/ 4 h 248"/>
                    <a:gd name="T4" fmla="*/ 0 w 5796"/>
                    <a:gd name="T5" fmla="*/ 4 h 248"/>
                    <a:gd name="T6" fmla="*/ 0 60000 65536"/>
                    <a:gd name="T7" fmla="*/ 0 60000 65536"/>
                    <a:gd name="T8" fmla="*/ 0 60000 65536"/>
                    <a:gd name="T9" fmla="*/ 0 w 5796"/>
                    <a:gd name="T10" fmla="*/ 0 h 248"/>
                    <a:gd name="T11" fmla="*/ 5796 w 5796"/>
                    <a:gd name="T12" fmla="*/ 248 h 248"/>
                  </a:gdLst>
                  <a:ahLst/>
                  <a:cxnLst>
                    <a:cxn ang="T6">
                      <a:pos x="T0" y="T1"/>
                    </a:cxn>
                    <a:cxn ang="T7">
                      <a:pos x="T2" y="T3"/>
                    </a:cxn>
                    <a:cxn ang="T8">
                      <a:pos x="T4" y="T5"/>
                    </a:cxn>
                  </a:cxnLst>
                  <a:rect l="T9" t="T10" r="T11" b="T12"/>
                  <a:pathLst>
                    <a:path w="5796" h="248">
                      <a:moveTo>
                        <a:pt x="5796" y="0"/>
                      </a:moveTo>
                      <a:lnTo>
                        <a:pt x="5796" y="248"/>
                      </a:lnTo>
                      <a:lnTo>
                        <a:pt x="0" y="24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6405" name="Group 179"/>
                <p:cNvGrpSpPr>
                  <a:grpSpLocks/>
                </p:cNvGrpSpPr>
                <p:nvPr/>
              </p:nvGrpSpPr>
              <p:grpSpPr bwMode="auto">
                <a:xfrm>
                  <a:off x="4946" y="6254"/>
                  <a:ext cx="168" cy="248"/>
                  <a:chOff x="4316" y="5882"/>
                  <a:chExt cx="168" cy="310"/>
                </a:xfrm>
              </p:grpSpPr>
              <p:sp>
                <p:nvSpPr>
                  <p:cNvPr id="56432" name="Line 18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3" name="Line 18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406" name="Group 182"/>
                <p:cNvGrpSpPr>
                  <a:grpSpLocks/>
                </p:cNvGrpSpPr>
                <p:nvPr/>
              </p:nvGrpSpPr>
              <p:grpSpPr bwMode="auto">
                <a:xfrm>
                  <a:off x="7718" y="5758"/>
                  <a:ext cx="168" cy="744"/>
                  <a:chOff x="7760" y="5758"/>
                  <a:chExt cx="168" cy="744"/>
                </a:xfrm>
              </p:grpSpPr>
              <p:sp>
                <p:nvSpPr>
                  <p:cNvPr id="56428" name="Line 183"/>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9" name="Line 184"/>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0" name="Line 185"/>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1" name="Line 186"/>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407" name="Group 187"/>
                <p:cNvGrpSpPr>
                  <a:grpSpLocks/>
                </p:cNvGrpSpPr>
                <p:nvPr/>
              </p:nvGrpSpPr>
              <p:grpSpPr bwMode="auto">
                <a:xfrm>
                  <a:off x="9104" y="5758"/>
                  <a:ext cx="168" cy="744"/>
                  <a:chOff x="7760" y="5758"/>
                  <a:chExt cx="168" cy="744"/>
                </a:xfrm>
              </p:grpSpPr>
              <p:sp>
                <p:nvSpPr>
                  <p:cNvPr id="56424" name="Line 188"/>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5" name="Line 189"/>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6" name="Line 190"/>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7" name="Line 191"/>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408" name="Group 192"/>
                <p:cNvGrpSpPr>
                  <a:grpSpLocks/>
                </p:cNvGrpSpPr>
                <p:nvPr/>
              </p:nvGrpSpPr>
              <p:grpSpPr bwMode="auto">
                <a:xfrm>
                  <a:off x="4946" y="7618"/>
                  <a:ext cx="168" cy="310"/>
                  <a:chOff x="4316" y="5882"/>
                  <a:chExt cx="168" cy="310"/>
                </a:xfrm>
              </p:grpSpPr>
              <p:sp>
                <p:nvSpPr>
                  <p:cNvPr id="56422" name="Line 19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3" name="Line 19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409" name="Group 195"/>
                <p:cNvGrpSpPr>
                  <a:grpSpLocks/>
                </p:cNvGrpSpPr>
                <p:nvPr/>
              </p:nvGrpSpPr>
              <p:grpSpPr bwMode="auto">
                <a:xfrm>
                  <a:off x="6332" y="7618"/>
                  <a:ext cx="168" cy="310"/>
                  <a:chOff x="4316" y="5882"/>
                  <a:chExt cx="168" cy="310"/>
                </a:xfrm>
              </p:grpSpPr>
              <p:sp>
                <p:nvSpPr>
                  <p:cNvPr id="56420" name="Line 19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1" name="Line 19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410" name="Group 198"/>
                <p:cNvGrpSpPr>
                  <a:grpSpLocks/>
                </p:cNvGrpSpPr>
                <p:nvPr/>
              </p:nvGrpSpPr>
              <p:grpSpPr bwMode="auto">
                <a:xfrm>
                  <a:off x="9104" y="7618"/>
                  <a:ext cx="168" cy="310"/>
                  <a:chOff x="4316" y="5882"/>
                  <a:chExt cx="168" cy="310"/>
                </a:xfrm>
              </p:grpSpPr>
              <p:sp>
                <p:nvSpPr>
                  <p:cNvPr id="56418" name="Line 19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9" name="Line 20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411" name="Line 201"/>
                <p:cNvSpPr>
                  <a:spLocks noChangeShapeType="1"/>
                </p:cNvSpPr>
                <p:nvPr/>
              </p:nvSpPr>
              <p:spPr bwMode="auto">
                <a:xfrm>
                  <a:off x="7718" y="761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2" name="Line 202"/>
                <p:cNvSpPr>
                  <a:spLocks noChangeShapeType="1"/>
                </p:cNvSpPr>
                <p:nvPr/>
              </p:nvSpPr>
              <p:spPr bwMode="auto">
                <a:xfrm>
                  <a:off x="7718" y="792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3" name="Line 203"/>
                <p:cNvSpPr>
                  <a:spLocks noChangeShapeType="1"/>
                </p:cNvSpPr>
                <p:nvPr/>
              </p:nvSpPr>
              <p:spPr bwMode="auto">
                <a:xfrm>
                  <a:off x="7718" y="817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4" name="Line 204"/>
                <p:cNvSpPr>
                  <a:spLocks noChangeShapeType="1"/>
                </p:cNvSpPr>
                <p:nvPr/>
              </p:nvSpPr>
              <p:spPr bwMode="auto">
                <a:xfrm>
                  <a:off x="4946" y="972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5" name="Line 205"/>
                <p:cNvSpPr>
                  <a:spLocks noChangeShapeType="1"/>
                </p:cNvSpPr>
                <p:nvPr/>
              </p:nvSpPr>
              <p:spPr bwMode="auto">
                <a:xfrm rot="-5400000">
                  <a:off x="10238" y="728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6" name="Line 206"/>
                <p:cNvSpPr>
                  <a:spLocks noChangeShapeType="1"/>
                </p:cNvSpPr>
                <p:nvPr/>
              </p:nvSpPr>
              <p:spPr bwMode="auto">
                <a:xfrm>
                  <a:off x="7760" y="12516"/>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17" name="Line 207"/>
                <p:cNvSpPr>
                  <a:spLocks noChangeShapeType="1"/>
                </p:cNvSpPr>
                <p:nvPr/>
              </p:nvSpPr>
              <p:spPr bwMode="auto">
                <a:xfrm rot="5400000">
                  <a:off x="6185"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330" name="Group 208"/>
              <p:cNvGrpSpPr>
                <a:grpSpLocks/>
              </p:cNvGrpSpPr>
              <p:nvPr/>
            </p:nvGrpSpPr>
            <p:grpSpPr bwMode="auto">
              <a:xfrm>
                <a:off x="1186" y="301"/>
                <a:ext cx="4136" cy="4324"/>
                <a:chOff x="1964" y="1480"/>
                <a:chExt cx="8652" cy="11718"/>
              </a:xfrm>
            </p:grpSpPr>
            <p:sp>
              <p:nvSpPr>
                <p:cNvPr id="56340" name="Rectangle 209"/>
                <p:cNvSpPr>
                  <a:spLocks noChangeArrowheads="1"/>
                </p:cNvSpPr>
                <p:nvPr/>
              </p:nvSpPr>
              <p:spPr bwMode="auto">
                <a:xfrm>
                  <a:off x="3140" y="1480"/>
                  <a:ext cx="2604" cy="2232"/>
                </a:xfrm>
                <a:prstGeom prst="rect">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6341" name="Text Box 210"/>
                <p:cNvSpPr txBox="1">
                  <a:spLocks noChangeArrowheads="1"/>
                </p:cNvSpPr>
                <p:nvPr/>
              </p:nvSpPr>
              <p:spPr bwMode="auto">
                <a:xfrm>
                  <a:off x="6458" y="2472"/>
                  <a:ext cx="1049"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设备</a:t>
                  </a:r>
                </a:p>
              </p:txBody>
            </p:sp>
            <p:sp>
              <p:nvSpPr>
                <p:cNvPr id="56342" name="Text Box 211"/>
                <p:cNvSpPr txBox="1">
                  <a:spLocks noChangeArrowheads="1"/>
                </p:cNvSpPr>
                <p:nvPr/>
              </p:nvSpPr>
              <p:spPr bwMode="auto">
                <a:xfrm>
                  <a:off x="3311" y="1604"/>
                  <a:ext cx="1049" cy="437"/>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控制逻辑</a:t>
                  </a:r>
                </a:p>
              </p:txBody>
            </p:sp>
            <p:sp>
              <p:nvSpPr>
                <p:cNvPr id="56343" name="Text Box 212"/>
                <p:cNvSpPr txBox="1">
                  <a:spLocks noChangeArrowheads="1"/>
                </p:cNvSpPr>
                <p:nvPr/>
              </p:nvSpPr>
              <p:spPr bwMode="auto">
                <a:xfrm>
                  <a:off x="3308" y="3154"/>
                  <a:ext cx="1050" cy="43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地址识别</a:t>
                  </a:r>
                </a:p>
              </p:txBody>
            </p:sp>
            <p:sp>
              <p:nvSpPr>
                <p:cNvPr id="56344" name="Text Box 213"/>
                <p:cNvSpPr txBox="1">
                  <a:spLocks noChangeArrowheads="1"/>
                </p:cNvSpPr>
                <p:nvPr/>
              </p:nvSpPr>
              <p:spPr bwMode="auto">
                <a:xfrm>
                  <a:off x="3308" y="2162"/>
                  <a:ext cx="1722" cy="868"/>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中断控制逻辑</a:t>
                  </a:r>
                </a:p>
                <a:p>
                  <a:pPr algn="just" eaLnBrk="1" hangingPunct="1">
                    <a:lnSpc>
                      <a:spcPct val="96000"/>
                    </a:lnSpc>
                    <a:spcBef>
                      <a:spcPct val="0"/>
                    </a:spcBef>
                  </a:pPr>
                  <a:r>
                    <a:rPr lang="zh-CN" altLang="en-US" sz="1000">
                      <a:latin typeface="Times New Roman" pitchFamily="18" charset="0"/>
                      <a:ea typeface="黑体" pitchFamily="2" charset="-122"/>
                    </a:rPr>
                    <a:t>命令</a:t>
                  </a:r>
                  <a:r>
                    <a:rPr lang="en-US" altLang="zh-CN" sz="1000" dirty="0">
                      <a:latin typeface="Times New Roman" pitchFamily="18" charset="0"/>
                      <a:ea typeface="黑体" pitchFamily="2" charset="-122"/>
                    </a:rPr>
                    <a:t>/</a:t>
                  </a:r>
                  <a:r>
                    <a:rPr lang="zh-CN" altLang="en-US" sz="1000">
                      <a:latin typeface="Times New Roman" pitchFamily="18" charset="0"/>
                      <a:ea typeface="黑体" pitchFamily="2" charset="-122"/>
                    </a:rPr>
                    <a:t>状态寄存器</a:t>
                  </a:r>
                </a:p>
                <a:p>
                  <a:pPr algn="just" eaLnBrk="1" hangingPunct="1">
                    <a:lnSpc>
                      <a:spcPct val="96000"/>
                    </a:lnSpc>
                    <a:spcBef>
                      <a:spcPct val="0"/>
                    </a:spcBef>
                  </a:pPr>
                  <a:r>
                    <a:rPr lang="zh-CN" altLang="en-US" sz="1000">
                      <a:latin typeface="Times New Roman" pitchFamily="18" charset="0"/>
                      <a:ea typeface="黑体" pitchFamily="2" charset="-122"/>
                    </a:rPr>
                    <a:t>数据寄存器</a:t>
                  </a:r>
                </a:p>
              </p:txBody>
            </p:sp>
            <p:sp>
              <p:nvSpPr>
                <p:cNvPr id="56345" name="Text Box 214"/>
                <p:cNvSpPr txBox="1">
                  <a:spLocks noChangeArrowheads="1"/>
                </p:cNvSpPr>
                <p:nvPr/>
              </p:nvSpPr>
              <p:spPr bwMode="auto">
                <a:xfrm>
                  <a:off x="4484"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SP</a:t>
                  </a:r>
                </a:p>
              </p:txBody>
            </p:sp>
            <p:sp>
              <p:nvSpPr>
                <p:cNvPr id="56346" name="Text Box 215"/>
                <p:cNvSpPr txBox="1">
                  <a:spLocks noChangeArrowheads="1"/>
                </p:cNvSpPr>
                <p:nvPr/>
              </p:nvSpPr>
              <p:spPr bwMode="auto">
                <a:xfrm>
                  <a:off x="5870"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BP</a:t>
                  </a:r>
                </a:p>
              </p:txBody>
            </p:sp>
            <p:sp>
              <p:nvSpPr>
                <p:cNvPr id="56347" name="Text Box 216"/>
                <p:cNvSpPr txBox="1">
                  <a:spLocks noChangeArrowheads="1"/>
                </p:cNvSpPr>
                <p:nvPr/>
              </p:nvSpPr>
              <p:spPr bwMode="auto">
                <a:xfrm>
                  <a:off x="7256"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DI</a:t>
                  </a:r>
                </a:p>
              </p:txBody>
            </p:sp>
            <p:sp>
              <p:nvSpPr>
                <p:cNvPr id="56348" name="Text Box 217"/>
                <p:cNvSpPr txBox="1">
                  <a:spLocks noChangeArrowheads="1"/>
                </p:cNvSpPr>
                <p:nvPr/>
              </p:nvSpPr>
              <p:spPr bwMode="auto">
                <a:xfrm>
                  <a:off x="8642"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SI</a:t>
                  </a:r>
                </a:p>
              </p:txBody>
            </p:sp>
            <p:sp>
              <p:nvSpPr>
                <p:cNvPr id="56349" name="Text Box 218"/>
                <p:cNvSpPr txBox="1">
                  <a:spLocks noChangeArrowheads="1"/>
                </p:cNvSpPr>
                <p:nvPr/>
              </p:nvSpPr>
              <p:spPr bwMode="auto">
                <a:xfrm>
                  <a:off x="4484"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AX</a:t>
                  </a:r>
                </a:p>
              </p:txBody>
            </p:sp>
            <p:sp>
              <p:nvSpPr>
                <p:cNvPr id="56350" name="Text Box 219"/>
                <p:cNvSpPr txBox="1">
                  <a:spLocks noChangeArrowheads="1"/>
                </p:cNvSpPr>
                <p:nvPr/>
              </p:nvSpPr>
              <p:spPr bwMode="auto">
                <a:xfrm>
                  <a:off x="5870"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BX</a:t>
                  </a:r>
                </a:p>
              </p:txBody>
            </p:sp>
            <p:sp>
              <p:nvSpPr>
                <p:cNvPr id="56351" name="Text Box 220"/>
                <p:cNvSpPr txBox="1">
                  <a:spLocks noChangeArrowheads="1"/>
                </p:cNvSpPr>
                <p:nvPr/>
              </p:nvSpPr>
              <p:spPr bwMode="auto">
                <a:xfrm>
                  <a:off x="7256"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CX</a:t>
                  </a:r>
                </a:p>
              </p:txBody>
            </p:sp>
            <p:sp>
              <p:nvSpPr>
                <p:cNvPr id="56352" name="Text Box 221"/>
                <p:cNvSpPr txBox="1">
                  <a:spLocks noChangeArrowheads="1"/>
                </p:cNvSpPr>
                <p:nvPr/>
              </p:nvSpPr>
              <p:spPr bwMode="auto">
                <a:xfrm>
                  <a:off x="8642"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DX</a:t>
                  </a:r>
                </a:p>
              </p:txBody>
            </p:sp>
            <p:sp>
              <p:nvSpPr>
                <p:cNvPr id="56353" name="Text Box 222"/>
                <p:cNvSpPr txBox="1">
                  <a:spLocks noChangeArrowheads="1"/>
                </p:cNvSpPr>
                <p:nvPr/>
              </p:nvSpPr>
              <p:spPr bwMode="auto">
                <a:xfrm>
                  <a:off x="4484" y="898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T</a:t>
                  </a:r>
                </a:p>
              </p:txBody>
            </p:sp>
            <p:grpSp>
              <p:nvGrpSpPr>
                <p:cNvPr id="56354" name="Group 223"/>
                <p:cNvGrpSpPr>
                  <a:grpSpLocks/>
                </p:cNvGrpSpPr>
                <p:nvPr/>
              </p:nvGrpSpPr>
              <p:grpSpPr bwMode="auto">
                <a:xfrm>
                  <a:off x="2594" y="4022"/>
                  <a:ext cx="1260" cy="1736"/>
                  <a:chOff x="2468" y="4642"/>
                  <a:chExt cx="1050" cy="1612"/>
                </a:xfrm>
              </p:grpSpPr>
              <p:sp>
                <p:nvSpPr>
                  <p:cNvPr id="56369" name="Text Box 224"/>
                  <p:cNvSpPr txBox="1">
                    <a:spLocks noChangeArrowheads="1"/>
                  </p:cNvSpPr>
                  <p:nvPr/>
                </p:nvSpPr>
                <p:spPr bwMode="auto">
                  <a:xfrm>
                    <a:off x="2468" y="4642"/>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MDR</a:t>
                    </a:r>
                  </a:p>
                </p:txBody>
              </p:sp>
              <p:sp>
                <p:nvSpPr>
                  <p:cNvPr id="56370" name="Text Box 225"/>
                  <p:cNvSpPr txBox="1">
                    <a:spLocks noChangeArrowheads="1"/>
                  </p:cNvSpPr>
                  <p:nvPr/>
                </p:nvSpPr>
                <p:spPr bwMode="auto">
                  <a:xfrm>
                    <a:off x="2468" y="5944"/>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MAR</a:t>
                    </a:r>
                  </a:p>
                </p:txBody>
              </p:sp>
              <p:sp>
                <p:nvSpPr>
                  <p:cNvPr id="56371" name="Text Box 226"/>
                  <p:cNvSpPr txBox="1">
                    <a:spLocks noChangeArrowheads="1"/>
                  </p:cNvSpPr>
                  <p:nvPr/>
                </p:nvSpPr>
                <p:spPr bwMode="auto">
                  <a:xfrm>
                    <a:off x="2468" y="4952"/>
                    <a:ext cx="378" cy="992"/>
                  </a:xfrm>
                  <a:prstGeom prst="rect">
                    <a:avLst/>
                  </a:prstGeom>
                  <a:solidFill>
                    <a:srgbClr val="FFFF99"/>
                  </a:solidFill>
                  <a:ln w="19050">
                    <a:solidFill>
                      <a:srgbClr val="000000"/>
                    </a:solidFill>
                    <a:miter lim="800000"/>
                    <a:headEnd/>
                    <a:tailEnd/>
                  </a:ln>
                </p:spPr>
                <p:txBody>
                  <a:bodyPr vert="eaVert" lIns="0" tIns="0" rIns="360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000">
                        <a:latin typeface="Times New Roman" pitchFamily="18" charset="0"/>
                        <a:ea typeface="黑体" pitchFamily="2" charset="-122"/>
                      </a:rPr>
                      <a:t>控制逻辑</a:t>
                    </a:r>
                  </a:p>
                </p:txBody>
              </p:sp>
              <p:sp>
                <p:nvSpPr>
                  <p:cNvPr id="56372" name="Text Box 227"/>
                  <p:cNvSpPr txBox="1">
                    <a:spLocks noChangeArrowheads="1"/>
                  </p:cNvSpPr>
                  <p:nvPr/>
                </p:nvSpPr>
                <p:spPr bwMode="auto">
                  <a:xfrm>
                    <a:off x="2846" y="4952"/>
                    <a:ext cx="672" cy="992"/>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主存</a:t>
                    </a:r>
                  </a:p>
                  <a:p>
                    <a:pPr algn="ctr" eaLnBrk="1" hangingPunct="1">
                      <a:lnSpc>
                        <a:spcPct val="96000"/>
                      </a:lnSpc>
                      <a:spcBef>
                        <a:spcPct val="0"/>
                      </a:spcBef>
                    </a:pPr>
                    <a:r>
                      <a:rPr lang="en-US" altLang="zh-CN" sz="1000" dirty="0">
                        <a:latin typeface="Times New Roman" pitchFamily="18" charset="0"/>
                        <a:ea typeface="黑体" pitchFamily="2" charset="-122"/>
                      </a:rPr>
                      <a:t>MM</a:t>
                    </a:r>
                  </a:p>
                </p:txBody>
              </p:sp>
            </p:grpSp>
            <p:sp>
              <p:nvSpPr>
                <p:cNvPr id="56355" name="Text Box 228"/>
                <p:cNvSpPr txBox="1">
                  <a:spLocks noChangeArrowheads="1"/>
                </p:cNvSpPr>
                <p:nvPr/>
              </p:nvSpPr>
              <p:spPr bwMode="auto">
                <a:xfrm>
                  <a:off x="2594" y="8238"/>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DR</a:t>
                  </a:r>
                </a:p>
              </p:txBody>
            </p:sp>
            <p:sp>
              <p:nvSpPr>
                <p:cNvPr id="56356" name="Text Box 229"/>
                <p:cNvSpPr txBox="1">
                  <a:spLocks noChangeArrowheads="1"/>
                </p:cNvSpPr>
                <p:nvPr/>
              </p:nvSpPr>
              <p:spPr bwMode="auto">
                <a:xfrm>
                  <a:off x="2594" y="9416"/>
                  <a:ext cx="462" cy="806"/>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AR</a:t>
                  </a:r>
                </a:p>
              </p:txBody>
            </p:sp>
            <p:sp>
              <p:nvSpPr>
                <p:cNvPr id="56357" name="Text Box 230"/>
                <p:cNvSpPr txBox="1">
                  <a:spLocks noChangeArrowheads="1"/>
                </p:cNvSpPr>
                <p:nvPr/>
              </p:nvSpPr>
              <p:spPr bwMode="auto">
                <a:xfrm>
                  <a:off x="7928" y="87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a:t>
                  </a:r>
                </a:p>
              </p:txBody>
            </p:sp>
            <p:sp>
              <p:nvSpPr>
                <p:cNvPr id="56358" name="Text Box 231"/>
                <p:cNvSpPr txBox="1">
                  <a:spLocks noChangeArrowheads="1"/>
                </p:cNvSpPr>
                <p:nvPr/>
              </p:nvSpPr>
              <p:spPr bwMode="auto">
                <a:xfrm>
                  <a:off x="4862" y="1084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PC</a:t>
                  </a:r>
                </a:p>
              </p:txBody>
            </p:sp>
            <p:sp>
              <p:nvSpPr>
                <p:cNvPr id="56359" name="Text Box 232"/>
                <p:cNvSpPr txBox="1">
                  <a:spLocks noChangeArrowheads="1"/>
                </p:cNvSpPr>
                <p:nvPr/>
              </p:nvSpPr>
              <p:spPr bwMode="auto">
                <a:xfrm>
                  <a:off x="4862" y="1220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IR</a:t>
                  </a:r>
                </a:p>
              </p:txBody>
            </p:sp>
            <p:sp>
              <p:nvSpPr>
                <p:cNvPr id="56360" name="Text Box 233"/>
                <p:cNvSpPr txBox="1">
                  <a:spLocks noChangeArrowheads="1"/>
                </p:cNvSpPr>
                <p:nvPr/>
              </p:nvSpPr>
              <p:spPr bwMode="auto">
                <a:xfrm>
                  <a:off x="5870" y="11090"/>
                  <a:ext cx="546" cy="744"/>
                </a:xfrm>
                <a:prstGeom prst="rect">
                  <a:avLst/>
                </a:prstGeom>
                <a:solidFill>
                  <a:srgbClr val="FFFF99"/>
                </a:solidFill>
                <a:ln w="19050">
                  <a:solidFill>
                    <a:srgbClr val="00000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PSW</a:t>
                  </a:r>
                </a:p>
              </p:txBody>
            </p:sp>
            <p:sp>
              <p:nvSpPr>
                <p:cNvPr id="56361" name="Text Box 234"/>
                <p:cNvSpPr txBox="1">
                  <a:spLocks noChangeArrowheads="1"/>
                </p:cNvSpPr>
                <p:nvPr/>
              </p:nvSpPr>
              <p:spPr bwMode="auto">
                <a:xfrm>
                  <a:off x="5870" y="12144"/>
                  <a:ext cx="1890" cy="105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微操作</a:t>
                  </a:r>
                </a:p>
                <a:p>
                  <a:pPr algn="ctr" eaLnBrk="1" hangingPunct="1">
                    <a:lnSpc>
                      <a:spcPct val="96000"/>
                    </a:lnSpc>
                    <a:spcBef>
                      <a:spcPct val="0"/>
                    </a:spcBef>
                  </a:pPr>
                  <a:r>
                    <a:rPr lang="zh-CN" altLang="en-US" sz="1000">
                      <a:latin typeface="Times New Roman" pitchFamily="18" charset="0"/>
                      <a:ea typeface="黑体" pitchFamily="2" charset="-122"/>
                    </a:rPr>
                    <a:t>信号发生器</a:t>
                  </a:r>
                </a:p>
              </p:txBody>
            </p:sp>
            <p:sp>
              <p:nvSpPr>
                <p:cNvPr id="56362" name="Text Box 235"/>
                <p:cNvSpPr txBox="1">
                  <a:spLocks noChangeArrowheads="1"/>
                </p:cNvSpPr>
                <p:nvPr/>
              </p:nvSpPr>
              <p:spPr bwMode="auto">
                <a:xfrm>
                  <a:off x="6794" y="11090"/>
                  <a:ext cx="840"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时序</a:t>
                  </a:r>
                </a:p>
                <a:p>
                  <a:pPr algn="ctr" eaLnBrk="1" hangingPunct="1">
                    <a:lnSpc>
                      <a:spcPct val="96000"/>
                    </a:lnSpc>
                    <a:spcBef>
                      <a:spcPct val="0"/>
                    </a:spcBef>
                  </a:pPr>
                  <a:r>
                    <a:rPr lang="zh-CN" altLang="en-US" sz="1000">
                      <a:latin typeface="Times New Roman" pitchFamily="18" charset="0"/>
                      <a:ea typeface="黑体" pitchFamily="2" charset="-122"/>
                    </a:rPr>
                    <a:t>部件</a:t>
                  </a:r>
                </a:p>
              </p:txBody>
            </p:sp>
            <p:sp>
              <p:nvSpPr>
                <p:cNvPr id="56363" name="Text Box 236"/>
                <p:cNvSpPr txBox="1">
                  <a:spLocks noChangeArrowheads="1"/>
                </p:cNvSpPr>
                <p:nvPr/>
              </p:nvSpPr>
              <p:spPr bwMode="auto">
                <a:xfrm>
                  <a:off x="10028" y="6750"/>
                  <a:ext cx="588"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CT</a:t>
                  </a:r>
                </a:p>
              </p:txBody>
            </p:sp>
            <p:sp>
              <p:nvSpPr>
                <p:cNvPr id="56364" name="AutoShape 237"/>
                <p:cNvSpPr>
                  <a:spLocks noChangeArrowheads="1"/>
                </p:cNvSpPr>
                <p:nvPr/>
              </p:nvSpPr>
              <p:spPr bwMode="auto">
                <a:xfrm rot="-5400000">
                  <a:off x="1935" y="9693"/>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6365" name="AutoShape 238"/>
                <p:cNvSpPr>
                  <a:spLocks noChangeArrowheads="1"/>
                </p:cNvSpPr>
                <p:nvPr/>
              </p:nvSpPr>
              <p:spPr bwMode="auto">
                <a:xfrm rot="5400000" flipH="1">
                  <a:off x="1956" y="8846"/>
                  <a:ext cx="310" cy="210"/>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6366" name="AutoShape 239"/>
                <p:cNvSpPr>
                  <a:spLocks noChangeArrowheads="1"/>
                </p:cNvSpPr>
                <p:nvPr/>
              </p:nvSpPr>
              <p:spPr bwMode="auto">
                <a:xfrm rot="-5400000">
                  <a:off x="1935" y="8391"/>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6367" name="AutoShape 240"/>
                <p:cNvSpPr>
                  <a:spLocks noChangeArrowheads="1"/>
                </p:cNvSpPr>
                <p:nvPr/>
              </p:nvSpPr>
              <p:spPr bwMode="auto">
                <a:xfrm rot="5400000">
                  <a:off x="6217" y="9079"/>
                  <a:ext cx="1364" cy="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81 w 21600"/>
                    <a:gd name="T13" fmla="*/ 4195 h 21600"/>
                    <a:gd name="T14" fmla="*/ 17419 w 21600"/>
                    <a:gd name="T15" fmla="*/ 17405 h 21600"/>
                  </a:gdLst>
                  <a:ahLst/>
                  <a:cxnLst>
                    <a:cxn ang="T8">
                      <a:pos x="T0" y="T1"/>
                    </a:cxn>
                    <a:cxn ang="T9">
                      <a:pos x="T2" y="T3"/>
                    </a:cxn>
                    <a:cxn ang="T10">
                      <a:pos x="T4" y="T5"/>
                    </a:cxn>
                    <a:cxn ang="T11">
                      <a:pos x="T6" y="T7"/>
                    </a:cxn>
                  </a:cxnLst>
                  <a:rect l="T12" t="T13" r="T14" b="T15"/>
                  <a:pathLst>
                    <a:path w="21600" h="21600">
                      <a:moveTo>
                        <a:pt x="0" y="0"/>
                      </a:moveTo>
                      <a:lnTo>
                        <a:pt x="4767" y="21600"/>
                      </a:lnTo>
                      <a:lnTo>
                        <a:pt x="16833" y="21600"/>
                      </a:lnTo>
                      <a:lnTo>
                        <a:pt x="21600" y="0"/>
                      </a:lnTo>
                      <a:lnTo>
                        <a:pt x="0" y="0"/>
                      </a:lnTo>
                      <a:close/>
                    </a:path>
                  </a:pathLst>
                </a:custGeom>
                <a:solidFill>
                  <a:srgbClr val="FFFF99"/>
                </a:solidFill>
                <a:ln w="19050">
                  <a:solidFill>
                    <a:srgbClr val="000000"/>
                  </a:solidFill>
                  <a:miter lim="800000"/>
                  <a:headEnd/>
                  <a:tailEnd/>
                </a:ln>
              </p:spPr>
              <p:txBody>
                <a:bodyPr lIns="0" tIns="0" rIns="0" bIns="0"/>
                <a:lstStyle/>
                <a:p>
                  <a:pPr algn="just">
                    <a:lnSpc>
                      <a:spcPct val="96000"/>
                    </a:lnSpc>
                    <a:spcBef>
                      <a:spcPct val="0"/>
                    </a:spcBef>
                  </a:pPr>
                  <a:endParaRPr lang="zh-CN" altLang="en-US" sz="1000">
                    <a:latin typeface="Times New Roman" pitchFamily="18" charset="0"/>
                    <a:ea typeface="黑体" pitchFamily="2" charset="-122"/>
                  </a:endParaRPr>
                </a:p>
                <a:p>
                  <a:pPr algn="just">
                    <a:lnSpc>
                      <a:spcPct val="96000"/>
                    </a:lnSpc>
                    <a:spcBef>
                      <a:spcPct val="0"/>
                    </a:spcBef>
                  </a:pPr>
                  <a:r>
                    <a:rPr lang="en-US" altLang="zh-CN" sz="1000" dirty="0">
                      <a:latin typeface="Times New Roman" pitchFamily="18" charset="0"/>
                      <a:ea typeface="黑体" pitchFamily="2" charset="-122"/>
                    </a:rPr>
                    <a:t>ALU</a:t>
                  </a:r>
                </a:p>
                <a:p>
                  <a:pPr>
                    <a:spcBef>
                      <a:spcPct val="0"/>
                    </a:spcBef>
                  </a:pPr>
                  <a:endParaRPr lang="en-US" altLang="zh-CN" sz="1000" dirty="0">
                    <a:latin typeface="Times New Roman" pitchFamily="18" charset="0"/>
                    <a:ea typeface="黑体" pitchFamily="2" charset="-122"/>
                  </a:endParaRPr>
                </a:p>
              </p:txBody>
            </p:sp>
            <p:sp>
              <p:nvSpPr>
                <p:cNvPr id="56368" name="Text Box 241"/>
                <p:cNvSpPr txBox="1">
                  <a:spLocks noChangeArrowheads="1"/>
                </p:cNvSpPr>
                <p:nvPr/>
              </p:nvSpPr>
              <p:spPr bwMode="auto">
                <a:xfrm>
                  <a:off x="8222" y="11090"/>
                  <a:ext cx="378"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a:t>
                  </a:r>
                </a:p>
                <a:p>
                  <a:pPr algn="ctr" eaLnBrk="1" hangingPunct="1">
                    <a:lnSpc>
                      <a:spcPct val="96000"/>
                    </a:lnSpc>
                    <a:spcBef>
                      <a:spcPct val="0"/>
                    </a:spcBef>
                  </a:pPr>
                  <a:r>
                    <a:rPr lang="zh-CN" altLang="en-US" sz="1000">
                      <a:latin typeface="Times New Roman" pitchFamily="18" charset="0"/>
                      <a:ea typeface="黑体" pitchFamily="2" charset="-122"/>
                    </a:rPr>
                    <a:t>钟</a:t>
                  </a:r>
                </a:p>
              </p:txBody>
            </p:sp>
          </p:grpSp>
          <p:grpSp>
            <p:nvGrpSpPr>
              <p:cNvPr id="56331" name="Group 242"/>
              <p:cNvGrpSpPr>
                <a:grpSpLocks/>
              </p:cNvGrpSpPr>
              <p:nvPr/>
            </p:nvGrpSpPr>
            <p:grpSpPr bwMode="auto">
              <a:xfrm>
                <a:off x="589" y="255"/>
                <a:ext cx="2369" cy="5034"/>
                <a:chOff x="746" y="1356"/>
                <a:chExt cx="4956" cy="13640"/>
              </a:xfrm>
            </p:grpSpPr>
            <p:sp>
              <p:nvSpPr>
                <p:cNvPr id="56332" name="Text Box 243"/>
                <p:cNvSpPr txBox="1">
                  <a:spLocks noChangeArrowheads="1"/>
                </p:cNvSpPr>
                <p:nvPr/>
              </p:nvSpPr>
              <p:spPr bwMode="auto">
                <a:xfrm>
                  <a:off x="1712" y="135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DMAR, INTR</a:t>
                  </a:r>
                </a:p>
              </p:txBody>
            </p:sp>
            <p:sp>
              <p:nvSpPr>
                <p:cNvPr id="56333" name="Text Box 244"/>
                <p:cNvSpPr txBox="1">
                  <a:spLocks noChangeArrowheads="1"/>
                </p:cNvSpPr>
                <p:nvPr/>
              </p:nvSpPr>
              <p:spPr bwMode="auto">
                <a:xfrm>
                  <a:off x="1712" y="1604"/>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56334" name="Text Box 245"/>
                <p:cNvSpPr txBox="1">
                  <a:spLocks noChangeArrowheads="1"/>
                </p:cNvSpPr>
                <p:nvPr/>
              </p:nvSpPr>
              <p:spPr bwMode="auto">
                <a:xfrm>
                  <a:off x="1712" y="4952"/>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56335" name="Text Box 246"/>
                <p:cNvSpPr txBox="1">
                  <a:spLocks noChangeArrowheads="1"/>
                </p:cNvSpPr>
                <p:nvPr/>
              </p:nvSpPr>
              <p:spPr bwMode="auto">
                <a:xfrm>
                  <a:off x="1712" y="197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IORD, IOWR</a:t>
                  </a:r>
                </a:p>
              </p:txBody>
            </p:sp>
            <p:sp>
              <p:nvSpPr>
                <p:cNvPr id="56336" name="Text Box 247"/>
                <p:cNvSpPr txBox="1">
                  <a:spLocks noChangeArrowheads="1"/>
                </p:cNvSpPr>
                <p:nvPr/>
              </p:nvSpPr>
              <p:spPr bwMode="auto">
                <a:xfrm>
                  <a:off x="4610" y="1604"/>
                  <a:ext cx="109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接口</a:t>
                  </a:r>
                </a:p>
              </p:txBody>
            </p:sp>
            <p:sp>
              <p:nvSpPr>
                <p:cNvPr id="56337" name="Text Box 248"/>
                <p:cNvSpPr txBox="1">
                  <a:spLocks noChangeArrowheads="1"/>
                </p:cNvSpPr>
                <p:nvPr/>
              </p:nvSpPr>
              <p:spPr bwMode="auto">
                <a:xfrm>
                  <a:off x="1922" y="12826"/>
                  <a:ext cx="273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INTR,  DMAR, Ready</a:t>
                  </a:r>
                </a:p>
              </p:txBody>
            </p:sp>
            <p:sp>
              <p:nvSpPr>
                <p:cNvPr id="56338" name="Text Box 249"/>
                <p:cNvSpPr txBox="1">
                  <a:spLocks noChangeArrowheads="1"/>
                </p:cNvSpPr>
                <p:nvPr/>
              </p:nvSpPr>
              <p:spPr bwMode="auto">
                <a:xfrm>
                  <a:off x="746" y="14624"/>
                  <a:ext cx="10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000" dirty="0">
                      <a:latin typeface="Times New Roman" pitchFamily="18" charset="0"/>
                      <a:ea typeface="黑体" pitchFamily="2" charset="-122"/>
                    </a:rPr>
                    <a:t>CB AB DB</a:t>
                  </a:r>
                </a:p>
              </p:txBody>
            </p:sp>
            <p:sp>
              <p:nvSpPr>
                <p:cNvPr id="56339" name="Text Box 250"/>
                <p:cNvSpPr txBox="1">
                  <a:spLocks noChangeArrowheads="1"/>
                </p:cNvSpPr>
                <p:nvPr/>
              </p:nvSpPr>
              <p:spPr bwMode="auto">
                <a:xfrm>
                  <a:off x="2174" y="6998"/>
                  <a:ext cx="151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200">
                      <a:solidFill>
                        <a:srgbClr val="0000FF"/>
                      </a:solidFill>
                      <a:latin typeface="Times New Roman" pitchFamily="18" charset="0"/>
                      <a:ea typeface="黑体" pitchFamily="2" charset="-122"/>
                    </a:rPr>
                    <a:t>内部总线 </a:t>
                  </a:r>
                  <a:r>
                    <a:rPr lang="en-US" altLang="zh-CN" sz="1200" dirty="0">
                      <a:solidFill>
                        <a:srgbClr val="0000FF"/>
                      </a:solidFill>
                      <a:latin typeface="Times New Roman" pitchFamily="18" charset="0"/>
                      <a:ea typeface="黑体" pitchFamily="2" charset="-122"/>
                    </a:rPr>
                    <a:t>IB</a:t>
                  </a:r>
                  <a:endParaRPr lang="en-US" altLang="zh-CN" sz="1200" dirty="0">
                    <a:latin typeface="Times New Roman" pitchFamily="18" charset="0"/>
                    <a:ea typeface="黑体" pitchFamily="2" charset="-122"/>
                  </a:endParaRPr>
                </a:p>
              </p:txBody>
            </p:sp>
          </p:grpSp>
        </p:grpSp>
      </p:grpSp>
      <p:sp>
        <p:nvSpPr>
          <p:cNvPr id="56324" name="Oval 251"/>
          <p:cNvSpPr>
            <a:spLocks noChangeArrowheads="1"/>
          </p:cNvSpPr>
          <p:nvPr/>
        </p:nvSpPr>
        <p:spPr bwMode="auto">
          <a:xfrm>
            <a:off x="665163" y="2813050"/>
            <a:ext cx="2770187" cy="1744663"/>
          </a:xfrm>
          <a:prstGeom prst="ellipse">
            <a:avLst/>
          </a:prstGeom>
          <a:noFill/>
          <a:ln w="2857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56325" name="Oval 252"/>
          <p:cNvSpPr>
            <a:spLocks noChangeArrowheads="1"/>
          </p:cNvSpPr>
          <p:nvPr/>
        </p:nvSpPr>
        <p:spPr bwMode="auto">
          <a:xfrm>
            <a:off x="2792413" y="4411663"/>
            <a:ext cx="5092700" cy="2106612"/>
          </a:xfrm>
          <a:prstGeom prst="ellipse">
            <a:avLst/>
          </a:prstGeom>
          <a:noFill/>
          <a:ln w="2857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ChangeArrowheads="1"/>
          </p:cNvSpPr>
          <p:nvPr/>
        </p:nvSpPr>
        <p:spPr bwMode="auto">
          <a:xfrm>
            <a:off x="395288" y="600075"/>
            <a:ext cx="68072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nchor="ctr">
            <a:spAutoFit/>
          </a:bodyPr>
          <a:lstStyle/>
          <a:p>
            <a:pPr>
              <a:lnSpc>
                <a:spcPct val="120000"/>
              </a:lnSpc>
              <a:spcBef>
                <a:spcPct val="0"/>
              </a:spcBef>
            </a:pPr>
            <a:r>
              <a:rPr lang="en-US" altLang="zh-CN" dirty="0">
                <a:latin typeface="黑体" pitchFamily="2" charset="-122"/>
                <a:ea typeface="黑体" pitchFamily="2" charset="-122"/>
              </a:rPr>
              <a:t>  (3) </a:t>
            </a:r>
            <a:r>
              <a:rPr lang="zh-CN" altLang="en-US">
                <a:latin typeface="黑体" pitchFamily="2" charset="-122"/>
                <a:ea typeface="黑体" pitchFamily="2" charset="-122"/>
              </a:rPr>
              <a:t>运算器</a:t>
            </a:r>
          </a:p>
          <a:p>
            <a:pPr>
              <a:lnSpc>
                <a:spcPct val="12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ALU</a:t>
            </a:r>
            <a:r>
              <a:rPr lang="zh-CN" altLang="en-US">
                <a:latin typeface="黑体" pitchFamily="2" charset="-122"/>
                <a:ea typeface="黑体" pitchFamily="2" charset="-122"/>
              </a:rPr>
              <a:t>：算逻运算功能</a:t>
            </a:r>
          </a:p>
          <a:p>
            <a:pPr>
              <a:lnSpc>
                <a:spcPct val="12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(ADD,ADC,SUB,SBB,IMUL, ..., </a:t>
            </a:r>
          </a:p>
          <a:p>
            <a:pPr>
              <a:lnSpc>
                <a:spcPct val="120000"/>
              </a:lnSpc>
              <a:spcBef>
                <a:spcPct val="0"/>
              </a:spcBef>
            </a:pPr>
            <a:r>
              <a:rPr lang="en-US" altLang="zh-CN" dirty="0">
                <a:latin typeface="黑体" pitchFamily="2" charset="-122"/>
                <a:ea typeface="黑体" pitchFamily="2" charset="-122"/>
              </a:rPr>
              <a:t>         OR,XOR,CMP,TEST,...</a:t>
            </a:r>
          </a:p>
          <a:p>
            <a:pPr>
              <a:lnSpc>
                <a:spcPct val="12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寄存器：</a:t>
            </a:r>
            <a:r>
              <a:rPr lang="en-US" altLang="zh-CN" dirty="0">
                <a:latin typeface="黑体" pitchFamily="2" charset="-122"/>
                <a:ea typeface="黑体" pitchFamily="2" charset="-122"/>
              </a:rPr>
              <a:t>AX,BX,CX,DX,SI,DI,BP,SP    16</a:t>
            </a:r>
            <a:r>
              <a:rPr lang="zh-CN" altLang="en-US">
                <a:latin typeface="黑体" pitchFamily="2" charset="-122"/>
                <a:ea typeface="黑体" pitchFamily="2" charset="-122"/>
              </a:rPr>
              <a:t>位</a:t>
            </a:r>
          </a:p>
          <a:p>
            <a:pPr>
              <a:lnSpc>
                <a:spcPct val="120000"/>
              </a:lnSpc>
              <a:spcBef>
                <a:spcPct val="0"/>
              </a:spcBef>
            </a:pPr>
            <a:r>
              <a:rPr lang="zh-CN" altLang="en-US">
                <a:latin typeface="黑体" pitchFamily="2" charset="-122"/>
                <a:ea typeface="黑体" pitchFamily="2" charset="-122"/>
              </a:rPr>
              <a:t>    暂存器：</a:t>
            </a:r>
            <a:r>
              <a:rPr lang="en-US" altLang="zh-CN" dirty="0">
                <a:latin typeface="黑体" pitchFamily="2" charset="-122"/>
                <a:ea typeface="黑体" pitchFamily="2" charset="-122"/>
              </a:rPr>
              <a:t>S  ──</a:t>
            </a:r>
            <a:r>
              <a:rPr lang="zh-CN" altLang="en-US">
                <a:latin typeface="黑体" pitchFamily="2" charset="-122"/>
                <a:ea typeface="黑体" pitchFamily="2" charset="-122"/>
              </a:rPr>
              <a:t>具有加１、减１功能；</a:t>
            </a:r>
          </a:p>
          <a:p>
            <a:pPr>
              <a:lnSpc>
                <a:spcPct val="12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T  ──</a:t>
            </a:r>
            <a:r>
              <a:rPr lang="zh-CN" altLang="en-US">
                <a:latin typeface="黑体" pitchFamily="2" charset="-122"/>
                <a:ea typeface="黑体" pitchFamily="2" charset="-122"/>
              </a:rPr>
              <a:t>具有移位功能。</a:t>
            </a:r>
          </a:p>
          <a:p>
            <a:pPr>
              <a:lnSpc>
                <a:spcPct val="120000"/>
              </a:lnSpc>
              <a:spcBef>
                <a:spcPct val="0"/>
              </a:spcBef>
            </a:pPr>
            <a:r>
              <a:rPr lang="zh-CN" altLang="en-US">
                <a:latin typeface="黑体" pitchFamily="2" charset="-122"/>
                <a:ea typeface="黑体" pitchFamily="2" charset="-122"/>
              </a:rPr>
              <a:t>    乘除步数计数器：</a:t>
            </a:r>
            <a:r>
              <a:rPr lang="en-US" altLang="zh-CN" dirty="0">
                <a:latin typeface="黑体" pitchFamily="2" charset="-122"/>
                <a:ea typeface="黑体" pitchFamily="2" charset="-122"/>
              </a:rPr>
              <a:t>CT ──</a:t>
            </a:r>
            <a:r>
              <a:rPr lang="zh-CN" altLang="en-US">
                <a:latin typeface="黑体" pitchFamily="2" charset="-122"/>
                <a:ea typeface="黑体" pitchFamily="2" charset="-122"/>
              </a:rPr>
              <a:t>可清</a:t>
            </a:r>
            <a:r>
              <a:rPr lang="en-US" altLang="zh-CN" dirty="0">
                <a:latin typeface="黑体" pitchFamily="2" charset="-122"/>
                <a:ea typeface="黑体" pitchFamily="2" charset="-122"/>
              </a:rPr>
              <a:t>0, +1</a:t>
            </a:r>
            <a:r>
              <a:rPr lang="zh-CN" altLang="en-US">
                <a:latin typeface="黑体" pitchFamily="2" charset="-122"/>
                <a:ea typeface="黑体" pitchFamily="2" charset="-122"/>
              </a:rPr>
              <a:t>。 </a:t>
            </a:r>
          </a:p>
        </p:txBody>
      </p:sp>
    </p:spTree>
  </p:cSld>
  <p:clrMapOvr>
    <a:masterClrMapping/>
  </p:clrMapOvr>
  <p:transition>
    <p:wipe dir="d"/>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8370" name="Group 2"/>
          <p:cNvGrpSpPr>
            <a:grpSpLocks/>
          </p:cNvGrpSpPr>
          <p:nvPr/>
        </p:nvGrpSpPr>
        <p:grpSpPr bwMode="auto">
          <a:xfrm>
            <a:off x="792163" y="-855663"/>
            <a:ext cx="7740650" cy="7991476"/>
            <a:chOff x="544" y="255"/>
            <a:chExt cx="4876" cy="5034"/>
          </a:xfrm>
        </p:grpSpPr>
        <p:sp>
          <p:nvSpPr>
            <p:cNvPr id="58372" name="Rectangle 3"/>
            <p:cNvSpPr>
              <a:spLocks noChangeArrowheads="1"/>
            </p:cNvSpPr>
            <p:nvPr/>
          </p:nvSpPr>
          <p:spPr bwMode="auto">
            <a:xfrm>
              <a:off x="544" y="2602"/>
              <a:ext cx="4876" cy="31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58373" name="Group 4"/>
            <p:cNvGrpSpPr>
              <a:grpSpLocks/>
            </p:cNvGrpSpPr>
            <p:nvPr/>
          </p:nvGrpSpPr>
          <p:grpSpPr bwMode="auto">
            <a:xfrm>
              <a:off x="589" y="255"/>
              <a:ext cx="4808" cy="5034"/>
              <a:chOff x="589" y="255"/>
              <a:chExt cx="4808" cy="5034"/>
            </a:xfrm>
          </p:grpSpPr>
          <p:grpSp>
            <p:nvGrpSpPr>
              <p:cNvPr id="58374" name="Group 5"/>
              <p:cNvGrpSpPr>
                <a:grpSpLocks/>
              </p:cNvGrpSpPr>
              <p:nvPr/>
            </p:nvGrpSpPr>
            <p:grpSpPr bwMode="auto">
              <a:xfrm>
                <a:off x="733" y="278"/>
                <a:ext cx="4664" cy="4874"/>
                <a:chOff x="756" y="255"/>
                <a:chExt cx="4664" cy="4874"/>
              </a:xfrm>
            </p:grpSpPr>
            <p:grpSp>
              <p:nvGrpSpPr>
                <p:cNvPr id="58500" name="Group 6"/>
                <p:cNvGrpSpPr>
                  <a:grpSpLocks/>
                </p:cNvGrpSpPr>
                <p:nvPr/>
              </p:nvGrpSpPr>
              <p:grpSpPr bwMode="auto">
                <a:xfrm>
                  <a:off x="756" y="255"/>
                  <a:ext cx="4236" cy="4874"/>
                  <a:chOff x="1040" y="1418"/>
                  <a:chExt cx="8862" cy="13206"/>
                </a:xfrm>
              </p:grpSpPr>
              <p:sp>
                <p:nvSpPr>
                  <p:cNvPr id="58569" name="Line 7"/>
                  <p:cNvSpPr>
                    <a:spLocks noChangeShapeType="1"/>
                  </p:cNvSpPr>
                  <p:nvPr/>
                </p:nvSpPr>
                <p:spPr bwMode="auto">
                  <a:xfrm rot="5400000">
                    <a:off x="2006" y="8394"/>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70" name="Line 8"/>
                  <p:cNvSpPr>
                    <a:spLocks noChangeShapeType="1"/>
                  </p:cNvSpPr>
                  <p:nvPr/>
                </p:nvSpPr>
                <p:spPr bwMode="auto">
                  <a:xfrm rot="16200000" flipH="1">
                    <a:off x="2006" y="7960"/>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71" name="Line 9"/>
                  <p:cNvSpPr>
                    <a:spLocks noChangeShapeType="1"/>
                  </p:cNvSpPr>
                  <p:nvPr/>
                </p:nvSpPr>
                <p:spPr bwMode="auto">
                  <a:xfrm rot="16200000" flipH="1">
                    <a:off x="1922" y="9178"/>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8572" name="Group 10"/>
                  <p:cNvGrpSpPr>
                    <a:grpSpLocks/>
                  </p:cNvGrpSpPr>
                  <p:nvPr/>
                </p:nvGrpSpPr>
                <p:grpSpPr bwMode="auto">
                  <a:xfrm>
                    <a:off x="1040" y="1418"/>
                    <a:ext cx="378" cy="13206"/>
                    <a:chOff x="1040" y="1542"/>
                    <a:chExt cx="378" cy="13082"/>
                  </a:xfrm>
                </p:grpSpPr>
                <p:sp>
                  <p:nvSpPr>
                    <p:cNvPr id="58617" name="Line 11"/>
                    <p:cNvSpPr>
                      <a:spLocks noChangeShapeType="1"/>
                    </p:cNvSpPr>
                    <p:nvPr/>
                  </p:nvSpPr>
                  <p:spPr bwMode="auto">
                    <a:xfrm>
                      <a:off x="1040" y="1542"/>
                      <a:ext cx="0" cy="13082"/>
                    </a:xfrm>
                    <a:prstGeom prst="line">
                      <a:avLst/>
                    </a:prstGeom>
                    <a:noFill/>
                    <a:ln w="38100" cmpd="dbl">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618" name="Line 12"/>
                    <p:cNvSpPr>
                      <a:spLocks noChangeShapeType="1"/>
                    </p:cNvSpPr>
                    <p:nvPr/>
                  </p:nvSpPr>
                  <p:spPr bwMode="auto">
                    <a:xfrm>
                      <a:off x="1418" y="1542"/>
                      <a:ext cx="0" cy="13082"/>
                    </a:xfrm>
                    <a:prstGeom prst="line">
                      <a:avLst/>
                    </a:prstGeom>
                    <a:noFill/>
                    <a:ln w="38100" cmpd="dbl">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619" name="Line 13"/>
                    <p:cNvSpPr>
                      <a:spLocks noChangeShapeType="1"/>
                    </p:cNvSpPr>
                    <p:nvPr/>
                  </p:nvSpPr>
                  <p:spPr bwMode="auto">
                    <a:xfrm>
                      <a:off x="1250" y="1542"/>
                      <a:ext cx="0" cy="13082"/>
                    </a:xfrm>
                    <a:prstGeom prst="line">
                      <a:avLst/>
                    </a:prstGeom>
                    <a:noFill/>
                    <a:ln w="38100" cmpd="dbl">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573" name="Freeform 14"/>
                  <p:cNvSpPr>
                    <a:spLocks/>
                  </p:cNvSpPr>
                  <p:nvPr/>
                </p:nvSpPr>
                <p:spPr bwMode="auto">
                  <a:xfrm>
                    <a:off x="3770" y="6998"/>
                    <a:ext cx="6132" cy="5642"/>
                  </a:xfrm>
                  <a:custGeom>
                    <a:avLst/>
                    <a:gdLst>
                      <a:gd name="T0" fmla="*/ 0 w 5590"/>
                      <a:gd name="T1" fmla="*/ 6586 h 5580"/>
                      <a:gd name="T2" fmla="*/ 0 w 5590"/>
                      <a:gd name="T3" fmla="*/ 0 h 5580"/>
                      <a:gd name="T4" fmla="*/ 22387 w 5590"/>
                      <a:gd name="T5" fmla="*/ 0 h 5580"/>
                      <a:gd name="T6" fmla="*/ 22400 w 5590"/>
                      <a:gd name="T7" fmla="*/ 3459 h 5580"/>
                      <a:gd name="T8" fmla="*/ 0 60000 65536"/>
                      <a:gd name="T9" fmla="*/ 0 60000 65536"/>
                      <a:gd name="T10" fmla="*/ 0 60000 65536"/>
                      <a:gd name="T11" fmla="*/ 0 60000 65536"/>
                      <a:gd name="T12" fmla="*/ 0 w 5590"/>
                      <a:gd name="T13" fmla="*/ 0 h 5580"/>
                      <a:gd name="T14" fmla="*/ 5590 w 5590"/>
                      <a:gd name="T15" fmla="*/ 5580 h 5580"/>
                    </a:gdLst>
                    <a:ahLst/>
                    <a:cxnLst>
                      <a:cxn ang="T8">
                        <a:pos x="T0" y="T1"/>
                      </a:cxn>
                      <a:cxn ang="T9">
                        <a:pos x="T2" y="T3"/>
                      </a:cxn>
                      <a:cxn ang="T10">
                        <a:pos x="T4" y="T5"/>
                      </a:cxn>
                      <a:cxn ang="T11">
                        <a:pos x="T6" y="T7"/>
                      </a:cxn>
                    </a:cxnLst>
                    <a:rect l="T12" t="T13" r="T14" b="T15"/>
                    <a:pathLst>
                      <a:path w="5590" h="5580">
                        <a:moveTo>
                          <a:pt x="0" y="5580"/>
                        </a:moveTo>
                        <a:lnTo>
                          <a:pt x="0" y="0"/>
                        </a:lnTo>
                        <a:lnTo>
                          <a:pt x="5586" y="0"/>
                        </a:lnTo>
                        <a:lnTo>
                          <a:pt x="5590" y="2930"/>
                        </a:ln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574" name="Line 15"/>
                  <p:cNvSpPr>
                    <a:spLocks noChangeShapeType="1"/>
                  </p:cNvSpPr>
                  <p:nvPr/>
                </p:nvSpPr>
                <p:spPr bwMode="auto">
                  <a:xfrm>
                    <a:off x="4736"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75" name="Line 16"/>
                  <p:cNvSpPr>
                    <a:spLocks noChangeShapeType="1"/>
                  </p:cNvSpPr>
                  <p:nvPr/>
                </p:nvSpPr>
                <p:spPr bwMode="auto">
                  <a:xfrm>
                    <a:off x="6080"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76" name="Line 17"/>
                  <p:cNvSpPr>
                    <a:spLocks noChangeShapeType="1"/>
                  </p:cNvSpPr>
                  <p:nvPr/>
                </p:nvSpPr>
                <p:spPr bwMode="auto">
                  <a:xfrm>
                    <a:off x="7508"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77" name="Line 18"/>
                  <p:cNvSpPr>
                    <a:spLocks noChangeShapeType="1"/>
                  </p:cNvSpPr>
                  <p:nvPr/>
                </p:nvSpPr>
                <p:spPr bwMode="auto">
                  <a:xfrm>
                    <a:off x="8894"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78" name="Line 19"/>
                  <p:cNvSpPr>
                    <a:spLocks noChangeShapeType="1"/>
                  </p:cNvSpPr>
                  <p:nvPr/>
                </p:nvSpPr>
                <p:spPr bwMode="auto">
                  <a:xfrm>
                    <a:off x="4736"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79" name="Line 20"/>
                  <p:cNvSpPr>
                    <a:spLocks noChangeShapeType="1"/>
                  </p:cNvSpPr>
                  <p:nvPr/>
                </p:nvSpPr>
                <p:spPr bwMode="auto">
                  <a:xfrm>
                    <a:off x="6080"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0" name="Line 21"/>
                  <p:cNvSpPr>
                    <a:spLocks noChangeShapeType="1"/>
                  </p:cNvSpPr>
                  <p:nvPr/>
                </p:nvSpPr>
                <p:spPr bwMode="auto">
                  <a:xfrm>
                    <a:off x="7508"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1" name="Line 22"/>
                  <p:cNvSpPr>
                    <a:spLocks noChangeShapeType="1"/>
                  </p:cNvSpPr>
                  <p:nvPr/>
                </p:nvSpPr>
                <p:spPr bwMode="auto">
                  <a:xfrm>
                    <a:off x="8894"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2" name="Line 23"/>
                  <p:cNvSpPr>
                    <a:spLocks noChangeShapeType="1"/>
                  </p:cNvSpPr>
                  <p:nvPr/>
                </p:nvSpPr>
                <p:spPr bwMode="auto">
                  <a:xfrm rot="5400000">
                    <a:off x="9125" y="8495"/>
                    <a:ext cx="0" cy="147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3" name="Line 24"/>
                  <p:cNvSpPr>
                    <a:spLocks noChangeShapeType="1"/>
                  </p:cNvSpPr>
                  <p:nvPr/>
                </p:nvSpPr>
                <p:spPr bwMode="auto">
                  <a:xfrm rot="5400000">
                    <a:off x="3413" y="8315"/>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4" name="Line 25"/>
                  <p:cNvSpPr>
                    <a:spLocks noChangeShapeType="1"/>
                  </p:cNvSpPr>
                  <p:nvPr/>
                </p:nvSpPr>
                <p:spPr bwMode="auto">
                  <a:xfrm rot="5400000">
                    <a:off x="4316" y="10730"/>
                    <a:ext cx="0" cy="109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5" name="Line 26"/>
                  <p:cNvSpPr>
                    <a:spLocks noChangeShapeType="1"/>
                  </p:cNvSpPr>
                  <p:nvPr/>
                </p:nvSpPr>
                <p:spPr bwMode="auto">
                  <a:xfrm rot="5400000">
                    <a:off x="1985" y="3641"/>
                    <a:ext cx="0" cy="11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6" name="Line 27"/>
                  <p:cNvSpPr>
                    <a:spLocks noChangeShapeType="1"/>
                  </p:cNvSpPr>
                  <p:nvPr/>
                </p:nvSpPr>
                <p:spPr bwMode="auto">
                  <a:xfrm rot="5400000">
                    <a:off x="6101" y="2301"/>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7" name="Line 28"/>
                  <p:cNvSpPr>
                    <a:spLocks noChangeShapeType="1"/>
                  </p:cNvSpPr>
                  <p:nvPr/>
                </p:nvSpPr>
                <p:spPr bwMode="auto">
                  <a:xfrm rot="5400000">
                    <a:off x="2363" y="1589"/>
                    <a:ext cx="0" cy="189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588" name="Line 29"/>
                  <p:cNvSpPr>
                    <a:spLocks noChangeShapeType="1"/>
                  </p:cNvSpPr>
                  <p:nvPr/>
                </p:nvSpPr>
                <p:spPr bwMode="auto">
                  <a:xfrm rot="16200000" flipH="1">
                    <a:off x="8600" y="8672"/>
                    <a:ext cx="0" cy="260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89" name="Line 30"/>
                  <p:cNvSpPr>
                    <a:spLocks noChangeShapeType="1"/>
                  </p:cNvSpPr>
                  <p:nvPr/>
                </p:nvSpPr>
                <p:spPr bwMode="auto">
                  <a:xfrm rot="16200000" flipH="1">
                    <a:off x="7615" y="8913"/>
                    <a:ext cx="8" cy="64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0" name="Line 31"/>
                  <p:cNvSpPr>
                    <a:spLocks noChangeShapeType="1"/>
                  </p:cNvSpPr>
                  <p:nvPr/>
                </p:nvSpPr>
                <p:spPr bwMode="auto">
                  <a:xfrm rot="16200000" flipH="1">
                    <a:off x="5723" y="8701"/>
                    <a:ext cx="0" cy="155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1" name="Line 32"/>
                  <p:cNvSpPr>
                    <a:spLocks noChangeShapeType="1"/>
                  </p:cNvSpPr>
                  <p:nvPr/>
                </p:nvSpPr>
                <p:spPr bwMode="auto">
                  <a:xfrm rot="16200000" flipH="1">
                    <a:off x="4127" y="912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2" name="Line 33"/>
                  <p:cNvSpPr>
                    <a:spLocks noChangeShapeType="1"/>
                  </p:cNvSpPr>
                  <p:nvPr/>
                </p:nvSpPr>
                <p:spPr bwMode="auto">
                  <a:xfrm rot="16200000" flipH="1">
                    <a:off x="3413" y="943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3" name="Line 34"/>
                  <p:cNvSpPr>
                    <a:spLocks noChangeShapeType="1"/>
                  </p:cNvSpPr>
                  <p:nvPr/>
                </p:nvSpPr>
                <p:spPr bwMode="auto">
                  <a:xfrm rot="16200000" flipH="1">
                    <a:off x="1817" y="4423"/>
                    <a:ext cx="0" cy="1554"/>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4" name="Line 35"/>
                  <p:cNvSpPr>
                    <a:spLocks noChangeShapeType="1"/>
                  </p:cNvSpPr>
                  <p:nvPr/>
                </p:nvSpPr>
                <p:spPr bwMode="auto">
                  <a:xfrm rot="5400000">
                    <a:off x="1922" y="4900"/>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5" name="Line 36"/>
                  <p:cNvSpPr>
                    <a:spLocks noChangeShapeType="1"/>
                  </p:cNvSpPr>
                  <p:nvPr/>
                </p:nvSpPr>
                <p:spPr bwMode="auto">
                  <a:xfrm rot="16200000" flipH="1">
                    <a:off x="2174" y="718"/>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6" name="Line 37"/>
                  <p:cNvSpPr>
                    <a:spLocks noChangeShapeType="1"/>
                  </p:cNvSpPr>
                  <p:nvPr/>
                </p:nvSpPr>
                <p:spPr bwMode="auto">
                  <a:xfrm rot="16200000" flipH="1">
                    <a:off x="2174" y="532"/>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7" name="Line 38"/>
                  <p:cNvSpPr>
                    <a:spLocks noChangeShapeType="1"/>
                  </p:cNvSpPr>
                  <p:nvPr/>
                </p:nvSpPr>
                <p:spPr bwMode="auto">
                  <a:xfrm rot="5400000">
                    <a:off x="2174" y="904"/>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8" name="Line 39"/>
                  <p:cNvSpPr>
                    <a:spLocks noChangeShapeType="1"/>
                  </p:cNvSpPr>
                  <p:nvPr/>
                </p:nvSpPr>
                <p:spPr bwMode="auto">
                  <a:xfrm rot="5400000">
                    <a:off x="2195" y="2395"/>
                    <a:ext cx="0" cy="189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599" name="Line 40"/>
                  <p:cNvSpPr>
                    <a:spLocks noChangeShapeType="1"/>
                  </p:cNvSpPr>
                  <p:nvPr/>
                </p:nvSpPr>
                <p:spPr bwMode="auto">
                  <a:xfrm rot="16200000" flipH="1">
                    <a:off x="7928" y="11168"/>
                    <a:ext cx="0" cy="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600" name="Line 41"/>
                  <p:cNvSpPr>
                    <a:spLocks noChangeShapeType="1"/>
                  </p:cNvSpPr>
                  <p:nvPr/>
                </p:nvSpPr>
                <p:spPr bwMode="auto">
                  <a:xfrm rot="5400000">
                    <a:off x="4316" y="12094"/>
                    <a:ext cx="0" cy="109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8601" name="Freeform 42"/>
                  <p:cNvSpPr>
                    <a:spLocks/>
                  </p:cNvSpPr>
                  <p:nvPr/>
                </p:nvSpPr>
                <p:spPr bwMode="auto">
                  <a:xfrm>
                    <a:off x="6248" y="9664"/>
                    <a:ext cx="252" cy="1426"/>
                  </a:xfrm>
                  <a:custGeom>
                    <a:avLst/>
                    <a:gdLst>
                      <a:gd name="T0" fmla="*/ 73601 w 168"/>
                      <a:gd name="T1" fmla="*/ 0 h 1426"/>
                      <a:gd name="T2" fmla="*/ 0 w 168"/>
                      <a:gd name="T3" fmla="*/ 0 h 1426"/>
                      <a:gd name="T4" fmla="*/ 0 w 168"/>
                      <a:gd name="T5" fmla="*/ 1426 h 1426"/>
                      <a:gd name="T6" fmla="*/ 0 60000 65536"/>
                      <a:gd name="T7" fmla="*/ 0 60000 65536"/>
                      <a:gd name="T8" fmla="*/ 0 60000 65536"/>
                      <a:gd name="T9" fmla="*/ 0 w 168"/>
                      <a:gd name="T10" fmla="*/ 0 h 1426"/>
                      <a:gd name="T11" fmla="*/ 168 w 168"/>
                      <a:gd name="T12" fmla="*/ 1426 h 1426"/>
                    </a:gdLst>
                    <a:ahLst/>
                    <a:cxnLst>
                      <a:cxn ang="T6">
                        <a:pos x="T0" y="T1"/>
                      </a:cxn>
                      <a:cxn ang="T7">
                        <a:pos x="T2" y="T3"/>
                      </a:cxn>
                      <a:cxn ang="T8">
                        <a:pos x="T4" y="T5"/>
                      </a:cxn>
                    </a:cxnLst>
                    <a:rect l="T9" t="T10" r="T11" b="T12"/>
                    <a:pathLst>
                      <a:path w="168" h="1426">
                        <a:moveTo>
                          <a:pt x="168" y="0"/>
                        </a:moveTo>
                        <a:lnTo>
                          <a:pt x="0" y="0"/>
                        </a:lnTo>
                        <a:lnTo>
                          <a:pt x="0" y="1426"/>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602" name="Line 43"/>
                  <p:cNvSpPr>
                    <a:spLocks noChangeShapeType="1"/>
                  </p:cNvSpPr>
                  <p:nvPr/>
                </p:nvSpPr>
                <p:spPr bwMode="auto">
                  <a:xfrm>
                    <a:off x="4694" y="8300"/>
                    <a:ext cx="0" cy="68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603" name="Line 44"/>
                  <p:cNvSpPr>
                    <a:spLocks noChangeShapeType="1"/>
                  </p:cNvSpPr>
                  <p:nvPr/>
                </p:nvSpPr>
                <p:spPr bwMode="auto">
                  <a:xfrm rot="5400000">
                    <a:off x="3455" y="10721"/>
                    <a:ext cx="0" cy="483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58604" name="Group 45"/>
                  <p:cNvGrpSpPr>
                    <a:grpSpLocks/>
                  </p:cNvGrpSpPr>
                  <p:nvPr/>
                </p:nvGrpSpPr>
                <p:grpSpPr bwMode="auto">
                  <a:xfrm>
                    <a:off x="5996" y="11834"/>
                    <a:ext cx="336" cy="310"/>
                    <a:chOff x="5996" y="11834"/>
                    <a:chExt cx="336" cy="310"/>
                  </a:xfrm>
                </p:grpSpPr>
                <p:sp>
                  <p:nvSpPr>
                    <p:cNvPr id="58615" name="Line 46"/>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616" name="Line 47"/>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605" name="Group 48"/>
                  <p:cNvGrpSpPr>
                    <a:grpSpLocks/>
                  </p:cNvGrpSpPr>
                  <p:nvPr/>
                </p:nvGrpSpPr>
                <p:grpSpPr bwMode="auto">
                  <a:xfrm>
                    <a:off x="6962" y="11834"/>
                    <a:ext cx="504" cy="310"/>
                    <a:chOff x="5996" y="11834"/>
                    <a:chExt cx="336" cy="310"/>
                  </a:xfrm>
                </p:grpSpPr>
                <p:sp>
                  <p:nvSpPr>
                    <p:cNvPr id="58613" name="Line 49"/>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614" name="Line 50"/>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606" name="Group 51"/>
                  <p:cNvGrpSpPr>
                    <a:grpSpLocks/>
                  </p:cNvGrpSpPr>
                  <p:nvPr/>
                </p:nvGrpSpPr>
                <p:grpSpPr bwMode="auto">
                  <a:xfrm rot="-5400000">
                    <a:off x="5380" y="12336"/>
                    <a:ext cx="434" cy="546"/>
                    <a:chOff x="5996" y="11834"/>
                    <a:chExt cx="336" cy="310"/>
                  </a:xfrm>
                </p:grpSpPr>
                <p:sp>
                  <p:nvSpPr>
                    <p:cNvPr id="58611" name="Line 52"/>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612" name="Line 53"/>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8607" name="Freeform 54"/>
                  <p:cNvSpPr>
                    <a:spLocks/>
                  </p:cNvSpPr>
                  <p:nvPr/>
                </p:nvSpPr>
                <p:spPr bwMode="auto">
                  <a:xfrm>
                    <a:off x="3770" y="10594"/>
                    <a:ext cx="2100" cy="682"/>
                  </a:xfrm>
                  <a:custGeom>
                    <a:avLst/>
                    <a:gdLst>
                      <a:gd name="T0" fmla="*/ 2100 w 2100"/>
                      <a:gd name="T1" fmla="*/ 682 h 682"/>
                      <a:gd name="T2" fmla="*/ 1722 w 2100"/>
                      <a:gd name="T3" fmla="*/ 682 h 682"/>
                      <a:gd name="T4" fmla="*/ 1722 w 2100"/>
                      <a:gd name="T5" fmla="*/ 0 h 682"/>
                      <a:gd name="T6" fmla="*/ 0 w 2100"/>
                      <a:gd name="T7" fmla="*/ 0 h 682"/>
                      <a:gd name="T8" fmla="*/ 0 60000 65536"/>
                      <a:gd name="T9" fmla="*/ 0 60000 65536"/>
                      <a:gd name="T10" fmla="*/ 0 60000 65536"/>
                      <a:gd name="T11" fmla="*/ 0 60000 65536"/>
                      <a:gd name="T12" fmla="*/ 0 w 2100"/>
                      <a:gd name="T13" fmla="*/ 0 h 682"/>
                      <a:gd name="T14" fmla="*/ 2100 w 2100"/>
                      <a:gd name="T15" fmla="*/ 682 h 682"/>
                    </a:gdLst>
                    <a:ahLst/>
                    <a:cxnLst>
                      <a:cxn ang="T8">
                        <a:pos x="T0" y="T1"/>
                      </a:cxn>
                      <a:cxn ang="T9">
                        <a:pos x="T2" y="T3"/>
                      </a:cxn>
                      <a:cxn ang="T10">
                        <a:pos x="T4" y="T5"/>
                      </a:cxn>
                      <a:cxn ang="T11">
                        <a:pos x="T6" y="T7"/>
                      </a:cxn>
                    </a:cxnLst>
                    <a:rect l="T12" t="T13" r="T14" b="T15"/>
                    <a:pathLst>
                      <a:path w="2100" h="682">
                        <a:moveTo>
                          <a:pt x="2100" y="682"/>
                        </a:moveTo>
                        <a:lnTo>
                          <a:pt x="1722" y="682"/>
                        </a:lnTo>
                        <a:lnTo>
                          <a:pt x="1722" y="0"/>
                        </a:lnTo>
                        <a:lnTo>
                          <a:pt x="0" y="0"/>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608" name="Text Box 55"/>
                  <p:cNvSpPr txBox="1">
                    <a:spLocks noChangeArrowheads="1"/>
                  </p:cNvSpPr>
                  <p:nvPr/>
                </p:nvSpPr>
                <p:spPr bwMode="auto">
                  <a:xfrm>
                    <a:off x="5450" y="12392"/>
                    <a:ext cx="291"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58609" name="Text Box 56"/>
                  <p:cNvSpPr txBox="1">
                    <a:spLocks noChangeArrowheads="1"/>
                  </p:cNvSpPr>
                  <p:nvPr/>
                </p:nvSpPr>
                <p:spPr bwMode="auto">
                  <a:xfrm>
                    <a:off x="595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58610" name="Text Box 57"/>
                  <p:cNvSpPr txBox="1">
                    <a:spLocks noChangeArrowheads="1"/>
                  </p:cNvSpPr>
                  <p:nvPr/>
                </p:nvSpPr>
                <p:spPr bwMode="auto">
                  <a:xfrm>
                    <a:off x="700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grpSp>
            <p:grpSp>
              <p:nvGrpSpPr>
                <p:cNvPr id="58501" name="Group 58"/>
                <p:cNvGrpSpPr>
                  <a:grpSpLocks/>
                </p:cNvGrpSpPr>
                <p:nvPr/>
              </p:nvGrpSpPr>
              <p:grpSpPr bwMode="auto">
                <a:xfrm>
                  <a:off x="1003" y="1308"/>
                  <a:ext cx="4417" cy="3706"/>
                  <a:chOff x="2024" y="4750"/>
                  <a:chExt cx="9240" cy="10044"/>
                </a:xfrm>
              </p:grpSpPr>
              <p:sp>
                <p:nvSpPr>
                  <p:cNvPr id="58502" name="Text Box 59"/>
                  <p:cNvSpPr txBox="1">
                    <a:spLocks noChangeArrowheads="1"/>
                  </p:cNvSpPr>
                  <p:nvPr/>
                </p:nvSpPr>
                <p:spPr bwMode="auto">
                  <a:xfrm>
                    <a:off x="10592" y="6734"/>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+1CT</a:t>
                    </a:r>
                  </a:p>
                </p:txBody>
              </p:sp>
              <p:sp>
                <p:nvSpPr>
                  <p:cNvPr id="58503" name="Text Box 60"/>
                  <p:cNvSpPr txBox="1">
                    <a:spLocks noChangeArrowheads="1"/>
                  </p:cNvSpPr>
                  <p:nvPr/>
                </p:nvSpPr>
                <p:spPr bwMode="auto">
                  <a:xfrm>
                    <a:off x="10592" y="7850"/>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0→CT</a:t>
                    </a:r>
                  </a:p>
                </p:txBody>
              </p:sp>
              <p:grpSp>
                <p:nvGrpSpPr>
                  <p:cNvPr id="58504" name="Group 61"/>
                  <p:cNvGrpSpPr>
                    <a:grpSpLocks/>
                  </p:cNvGrpSpPr>
                  <p:nvPr/>
                </p:nvGrpSpPr>
                <p:grpSpPr bwMode="auto">
                  <a:xfrm>
                    <a:off x="2024" y="4750"/>
                    <a:ext cx="840" cy="620"/>
                    <a:chOff x="1544" y="4270"/>
                    <a:chExt cx="882" cy="620"/>
                  </a:xfrm>
                </p:grpSpPr>
                <p:sp>
                  <p:nvSpPr>
                    <p:cNvPr id="58567" name="Text Box 62"/>
                    <p:cNvSpPr txBox="1">
                      <a:spLocks noChangeArrowheads="1"/>
                    </p:cNvSpPr>
                    <p:nvPr/>
                  </p:nvSpPr>
                  <p:spPr bwMode="auto">
                    <a:xfrm>
                      <a:off x="1544" y="427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/MMRD</a:t>
                      </a:r>
                    </a:p>
                  </p:txBody>
                </p:sp>
                <p:sp>
                  <p:nvSpPr>
                    <p:cNvPr id="58568" name="Text Box 63"/>
                    <p:cNvSpPr txBox="1">
                      <a:spLocks noChangeArrowheads="1"/>
                    </p:cNvSpPr>
                    <p:nvPr/>
                  </p:nvSpPr>
                  <p:spPr bwMode="auto">
                    <a:xfrm>
                      <a:off x="1544" y="458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/MMWR</a:t>
                      </a:r>
                    </a:p>
                  </p:txBody>
                </p:sp>
              </p:grpSp>
              <p:grpSp>
                <p:nvGrpSpPr>
                  <p:cNvPr id="58505" name="Group 64"/>
                  <p:cNvGrpSpPr>
                    <a:grpSpLocks/>
                  </p:cNvGrpSpPr>
                  <p:nvPr/>
                </p:nvGrpSpPr>
                <p:grpSpPr bwMode="auto">
                  <a:xfrm>
                    <a:off x="5636" y="5928"/>
                    <a:ext cx="756" cy="1240"/>
                    <a:chOff x="5114" y="5510"/>
                    <a:chExt cx="798" cy="1240"/>
                  </a:xfrm>
                </p:grpSpPr>
                <p:sp>
                  <p:nvSpPr>
                    <p:cNvPr id="58563" name="Text Box 65"/>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58564" name="Text Box 66"/>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58565" name="Text Box 67"/>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SPin</a:t>
                      </a:r>
                    </a:p>
                  </p:txBody>
                </p:sp>
                <p:sp>
                  <p:nvSpPr>
                    <p:cNvPr id="58566" name="Text Box 68"/>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SP→IB</a:t>
                      </a:r>
                    </a:p>
                  </p:txBody>
                </p:sp>
              </p:grpSp>
              <p:sp>
                <p:nvSpPr>
                  <p:cNvPr id="58506" name="Text Box 69"/>
                  <p:cNvSpPr txBox="1">
                    <a:spLocks noChangeArrowheads="1"/>
                  </p:cNvSpPr>
                  <p:nvPr/>
                </p:nvSpPr>
                <p:spPr bwMode="auto">
                  <a:xfrm>
                    <a:off x="6980" y="611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BPin</a:t>
                    </a:r>
                  </a:p>
                </p:txBody>
              </p:sp>
              <p:sp>
                <p:nvSpPr>
                  <p:cNvPr id="58507" name="Text Box 70"/>
                  <p:cNvSpPr txBox="1">
                    <a:spLocks noChangeArrowheads="1"/>
                  </p:cNvSpPr>
                  <p:nvPr/>
                </p:nvSpPr>
                <p:spPr bwMode="auto">
                  <a:xfrm>
                    <a:off x="6980" y="64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BP→IB</a:t>
                    </a:r>
                  </a:p>
                </p:txBody>
              </p:sp>
              <p:grpSp>
                <p:nvGrpSpPr>
                  <p:cNvPr id="58508" name="Group 71"/>
                  <p:cNvGrpSpPr>
                    <a:grpSpLocks/>
                  </p:cNvGrpSpPr>
                  <p:nvPr/>
                </p:nvGrpSpPr>
                <p:grpSpPr bwMode="auto">
                  <a:xfrm>
                    <a:off x="8408" y="5928"/>
                    <a:ext cx="756" cy="1240"/>
                    <a:chOff x="5114" y="5510"/>
                    <a:chExt cx="798" cy="1240"/>
                  </a:xfrm>
                </p:grpSpPr>
                <p:sp>
                  <p:nvSpPr>
                    <p:cNvPr id="58559" name="Text Box 72"/>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58560" name="Text Box 73"/>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58561" name="Text Box 74"/>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DIin</a:t>
                      </a:r>
                    </a:p>
                  </p:txBody>
                </p:sp>
                <p:sp>
                  <p:nvSpPr>
                    <p:cNvPr id="58562" name="Text Box 75"/>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DI→IB</a:t>
                      </a:r>
                    </a:p>
                  </p:txBody>
                </p:sp>
              </p:grpSp>
              <p:grpSp>
                <p:nvGrpSpPr>
                  <p:cNvPr id="58509" name="Group 76"/>
                  <p:cNvGrpSpPr>
                    <a:grpSpLocks/>
                  </p:cNvGrpSpPr>
                  <p:nvPr/>
                </p:nvGrpSpPr>
                <p:grpSpPr bwMode="auto">
                  <a:xfrm>
                    <a:off x="9794" y="5928"/>
                    <a:ext cx="756" cy="1240"/>
                    <a:chOff x="5114" y="5510"/>
                    <a:chExt cx="798" cy="1240"/>
                  </a:xfrm>
                </p:grpSpPr>
                <p:sp>
                  <p:nvSpPr>
                    <p:cNvPr id="58555" name="Text Box 77"/>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58556" name="Text Box 78"/>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58557" name="Text Box 79"/>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SIin</a:t>
                      </a:r>
                    </a:p>
                  </p:txBody>
                </p:sp>
                <p:sp>
                  <p:nvSpPr>
                    <p:cNvPr id="58558" name="Text Box 80"/>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SI→IB</a:t>
                      </a:r>
                    </a:p>
                  </p:txBody>
                </p:sp>
              </p:grpSp>
              <p:grpSp>
                <p:nvGrpSpPr>
                  <p:cNvPr id="58510" name="Group 81"/>
                  <p:cNvGrpSpPr>
                    <a:grpSpLocks/>
                  </p:cNvGrpSpPr>
                  <p:nvPr/>
                </p:nvGrpSpPr>
                <p:grpSpPr bwMode="auto">
                  <a:xfrm>
                    <a:off x="5594" y="7788"/>
                    <a:ext cx="756" cy="620"/>
                    <a:chOff x="5114" y="7308"/>
                    <a:chExt cx="756" cy="620"/>
                  </a:xfrm>
                </p:grpSpPr>
                <p:sp>
                  <p:nvSpPr>
                    <p:cNvPr id="58553" name="Text Box 82"/>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AXin</a:t>
                      </a:r>
                    </a:p>
                  </p:txBody>
                </p:sp>
                <p:sp>
                  <p:nvSpPr>
                    <p:cNvPr id="58554" name="Text Box 83"/>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AX→IB</a:t>
                      </a:r>
                    </a:p>
                  </p:txBody>
                </p:sp>
              </p:grpSp>
              <p:grpSp>
                <p:nvGrpSpPr>
                  <p:cNvPr id="58511" name="Group 84"/>
                  <p:cNvGrpSpPr>
                    <a:grpSpLocks/>
                  </p:cNvGrpSpPr>
                  <p:nvPr/>
                </p:nvGrpSpPr>
                <p:grpSpPr bwMode="auto">
                  <a:xfrm>
                    <a:off x="6980" y="7788"/>
                    <a:ext cx="756" cy="620"/>
                    <a:chOff x="5114" y="7308"/>
                    <a:chExt cx="756" cy="620"/>
                  </a:xfrm>
                </p:grpSpPr>
                <p:sp>
                  <p:nvSpPr>
                    <p:cNvPr id="58551" name="Text Box 85"/>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BXin</a:t>
                      </a:r>
                    </a:p>
                  </p:txBody>
                </p:sp>
                <p:sp>
                  <p:nvSpPr>
                    <p:cNvPr id="58552" name="Text Box 86"/>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BX→IB</a:t>
                      </a:r>
                    </a:p>
                  </p:txBody>
                </p:sp>
              </p:grpSp>
              <p:grpSp>
                <p:nvGrpSpPr>
                  <p:cNvPr id="58512" name="Group 87"/>
                  <p:cNvGrpSpPr>
                    <a:grpSpLocks/>
                  </p:cNvGrpSpPr>
                  <p:nvPr/>
                </p:nvGrpSpPr>
                <p:grpSpPr bwMode="auto">
                  <a:xfrm>
                    <a:off x="9710" y="7788"/>
                    <a:ext cx="756" cy="620"/>
                    <a:chOff x="5114" y="7308"/>
                    <a:chExt cx="756" cy="620"/>
                  </a:xfrm>
                </p:grpSpPr>
                <p:sp>
                  <p:nvSpPr>
                    <p:cNvPr id="58549" name="Text Box 88"/>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DXin</a:t>
                      </a:r>
                    </a:p>
                  </p:txBody>
                </p:sp>
                <p:sp>
                  <p:nvSpPr>
                    <p:cNvPr id="58550" name="Text Box 89"/>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DX→IB</a:t>
                      </a:r>
                    </a:p>
                  </p:txBody>
                </p:sp>
              </p:grpSp>
              <p:sp>
                <p:nvSpPr>
                  <p:cNvPr id="58513" name="Text Box 90"/>
                  <p:cNvSpPr txBox="1">
                    <a:spLocks noChangeArrowheads="1"/>
                  </p:cNvSpPr>
                  <p:nvPr/>
                </p:nvSpPr>
                <p:spPr bwMode="auto">
                  <a:xfrm>
                    <a:off x="8366" y="809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CXin</a:t>
                    </a:r>
                  </a:p>
                </p:txBody>
              </p:sp>
              <p:sp>
                <p:nvSpPr>
                  <p:cNvPr id="58514" name="Text Box 91"/>
                  <p:cNvSpPr txBox="1">
                    <a:spLocks noChangeArrowheads="1"/>
                  </p:cNvSpPr>
                  <p:nvPr/>
                </p:nvSpPr>
                <p:spPr bwMode="auto">
                  <a:xfrm>
                    <a:off x="8366" y="778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CX→IB</a:t>
                    </a:r>
                  </a:p>
                </p:txBody>
              </p:sp>
              <p:sp>
                <p:nvSpPr>
                  <p:cNvPr id="58515" name="Text Box 92"/>
                  <p:cNvSpPr txBox="1">
                    <a:spLocks noChangeArrowheads="1"/>
                  </p:cNvSpPr>
                  <p:nvPr/>
                </p:nvSpPr>
                <p:spPr bwMode="auto">
                  <a:xfrm>
                    <a:off x="8324" y="8408"/>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-1CX</a:t>
                    </a:r>
                  </a:p>
                </p:txBody>
              </p:sp>
              <p:sp>
                <p:nvSpPr>
                  <p:cNvPr id="58516" name="Text Box 93"/>
                  <p:cNvSpPr txBox="1">
                    <a:spLocks noChangeArrowheads="1"/>
                  </p:cNvSpPr>
                  <p:nvPr/>
                </p:nvSpPr>
                <p:spPr bwMode="auto">
                  <a:xfrm>
                    <a:off x="3620" y="853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DRin</a:t>
                    </a:r>
                  </a:p>
                </p:txBody>
              </p:sp>
              <p:sp>
                <p:nvSpPr>
                  <p:cNvPr id="58517" name="Text Box 94"/>
                  <p:cNvSpPr txBox="1">
                    <a:spLocks noChangeArrowheads="1"/>
                  </p:cNvSpPr>
                  <p:nvPr/>
                </p:nvSpPr>
                <p:spPr bwMode="auto">
                  <a:xfrm>
                    <a:off x="3578" y="940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DR→IB</a:t>
                    </a:r>
                  </a:p>
                </p:txBody>
              </p:sp>
              <p:sp>
                <p:nvSpPr>
                  <p:cNvPr id="58518" name="Text Box 95"/>
                  <p:cNvSpPr txBox="1">
                    <a:spLocks noChangeArrowheads="1"/>
                  </p:cNvSpPr>
                  <p:nvPr/>
                </p:nvSpPr>
                <p:spPr bwMode="auto">
                  <a:xfrm>
                    <a:off x="4376" y="1138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PC→IB</a:t>
                    </a:r>
                  </a:p>
                </p:txBody>
              </p:sp>
              <p:sp>
                <p:nvSpPr>
                  <p:cNvPr id="58519" name="Text Box 96"/>
                  <p:cNvSpPr txBox="1">
                    <a:spLocks noChangeArrowheads="1"/>
                  </p:cNvSpPr>
                  <p:nvPr/>
                </p:nvSpPr>
                <p:spPr bwMode="auto">
                  <a:xfrm>
                    <a:off x="4376" y="118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0→PC</a:t>
                    </a:r>
                  </a:p>
                </p:txBody>
              </p:sp>
              <p:sp>
                <p:nvSpPr>
                  <p:cNvPr id="58520" name="Text Box 97"/>
                  <p:cNvSpPr txBox="1">
                    <a:spLocks noChangeArrowheads="1"/>
                  </p:cNvSpPr>
                  <p:nvPr/>
                </p:nvSpPr>
                <p:spPr bwMode="auto">
                  <a:xfrm>
                    <a:off x="4376" y="1212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+2PC</a:t>
                    </a:r>
                  </a:p>
                </p:txBody>
              </p:sp>
              <p:sp>
                <p:nvSpPr>
                  <p:cNvPr id="58521" name="Text Box 98"/>
                  <p:cNvSpPr txBox="1">
                    <a:spLocks noChangeArrowheads="1"/>
                  </p:cNvSpPr>
                  <p:nvPr/>
                </p:nvSpPr>
                <p:spPr bwMode="auto">
                  <a:xfrm>
                    <a:off x="4376" y="1107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PCin</a:t>
                    </a:r>
                  </a:p>
                </p:txBody>
              </p:sp>
              <p:sp>
                <p:nvSpPr>
                  <p:cNvPr id="58522" name="Text Box 99"/>
                  <p:cNvSpPr txBox="1">
                    <a:spLocks noChangeArrowheads="1"/>
                  </p:cNvSpPr>
                  <p:nvPr/>
                </p:nvSpPr>
                <p:spPr bwMode="auto">
                  <a:xfrm>
                    <a:off x="4376" y="126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IRin</a:t>
                    </a:r>
                  </a:p>
                </p:txBody>
              </p:sp>
              <p:sp>
                <p:nvSpPr>
                  <p:cNvPr id="58523" name="Text Box 100"/>
                  <p:cNvSpPr txBox="1">
                    <a:spLocks noChangeArrowheads="1"/>
                  </p:cNvSpPr>
                  <p:nvPr/>
                </p:nvSpPr>
                <p:spPr bwMode="auto">
                  <a:xfrm>
                    <a:off x="5384" y="12190"/>
                    <a:ext cx="9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PSW→IB</a:t>
                    </a:r>
                  </a:p>
                </p:txBody>
              </p:sp>
              <p:sp>
                <p:nvSpPr>
                  <p:cNvPr id="58524" name="Text Box 101"/>
                  <p:cNvSpPr txBox="1">
                    <a:spLocks noChangeArrowheads="1"/>
                  </p:cNvSpPr>
                  <p:nvPr/>
                </p:nvSpPr>
                <p:spPr bwMode="auto">
                  <a:xfrm>
                    <a:off x="5846" y="11074"/>
                    <a:ext cx="8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PSWin</a:t>
                    </a:r>
                  </a:p>
                </p:txBody>
              </p:sp>
              <p:sp>
                <p:nvSpPr>
                  <p:cNvPr id="58525" name="Text Box 102"/>
                  <p:cNvSpPr txBox="1">
                    <a:spLocks noChangeArrowheads="1"/>
                  </p:cNvSpPr>
                  <p:nvPr/>
                </p:nvSpPr>
                <p:spPr bwMode="auto">
                  <a:xfrm>
                    <a:off x="3620" y="1045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ARin</a:t>
                    </a:r>
                  </a:p>
                </p:txBody>
              </p:sp>
              <p:sp>
                <p:nvSpPr>
                  <p:cNvPr id="58526" name="Text Box 103"/>
                  <p:cNvSpPr txBox="1">
                    <a:spLocks noChangeArrowheads="1"/>
                  </p:cNvSpPr>
                  <p:nvPr/>
                </p:nvSpPr>
                <p:spPr bwMode="auto">
                  <a:xfrm>
                    <a:off x="2192" y="8470"/>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DR→DB</a:t>
                    </a:r>
                  </a:p>
                </p:txBody>
              </p:sp>
              <p:sp>
                <p:nvSpPr>
                  <p:cNvPr id="58527" name="Text Box 104"/>
                  <p:cNvSpPr txBox="1">
                    <a:spLocks noChangeArrowheads="1"/>
                  </p:cNvSpPr>
                  <p:nvPr/>
                </p:nvSpPr>
                <p:spPr bwMode="auto">
                  <a:xfrm>
                    <a:off x="2192" y="9648"/>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DB→DR</a:t>
                    </a:r>
                  </a:p>
                </p:txBody>
              </p:sp>
              <p:sp>
                <p:nvSpPr>
                  <p:cNvPr id="58528" name="Text Box 105"/>
                  <p:cNvSpPr txBox="1">
                    <a:spLocks noChangeArrowheads="1"/>
                  </p:cNvSpPr>
                  <p:nvPr/>
                </p:nvSpPr>
                <p:spPr bwMode="auto">
                  <a:xfrm>
                    <a:off x="2192" y="10516"/>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AR→AB</a:t>
                    </a:r>
                  </a:p>
                </p:txBody>
              </p:sp>
              <p:grpSp>
                <p:nvGrpSpPr>
                  <p:cNvPr id="58529" name="Group 106"/>
                  <p:cNvGrpSpPr>
                    <a:grpSpLocks/>
                  </p:cNvGrpSpPr>
                  <p:nvPr/>
                </p:nvGrpSpPr>
                <p:grpSpPr bwMode="auto">
                  <a:xfrm>
                    <a:off x="5678" y="9214"/>
                    <a:ext cx="756" cy="620"/>
                    <a:chOff x="5114" y="7308"/>
                    <a:chExt cx="756" cy="620"/>
                  </a:xfrm>
                </p:grpSpPr>
                <p:sp>
                  <p:nvSpPr>
                    <p:cNvPr id="58547" name="Text Box 107"/>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Tin</a:t>
                      </a:r>
                    </a:p>
                  </p:txBody>
                </p:sp>
                <p:sp>
                  <p:nvSpPr>
                    <p:cNvPr id="58548" name="Text Box 108"/>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T→IB</a:t>
                      </a:r>
                    </a:p>
                  </p:txBody>
                </p:sp>
              </p:grpSp>
              <p:sp>
                <p:nvSpPr>
                  <p:cNvPr id="58530" name="Text Box 109"/>
                  <p:cNvSpPr txBox="1">
                    <a:spLocks noChangeArrowheads="1"/>
                  </p:cNvSpPr>
                  <p:nvPr/>
                </p:nvSpPr>
                <p:spPr bwMode="auto">
                  <a:xfrm>
                    <a:off x="5678" y="1008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0→T</a:t>
                    </a:r>
                  </a:p>
                </p:txBody>
              </p:sp>
              <p:sp>
                <p:nvSpPr>
                  <p:cNvPr id="58531" name="Text Box 110"/>
                  <p:cNvSpPr txBox="1">
                    <a:spLocks noChangeArrowheads="1"/>
                  </p:cNvSpPr>
                  <p:nvPr/>
                </p:nvSpPr>
                <p:spPr bwMode="auto">
                  <a:xfrm>
                    <a:off x="4712" y="8966"/>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SAR  RCR</a:t>
                    </a:r>
                  </a:p>
                </p:txBody>
              </p:sp>
              <p:sp>
                <p:nvSpPr>
                  <p:cNvPr id="58532" name="Text Box 111"/>
                  <p:cNvSpPr txBox="1">
                    <a:spLocks noChangeArrowheads="1"/>
                  </p:cNvSpPr>
                  <p:nvPr/>
                </p:nvSpPr>
                <p:spPr bwMode="auto">
                  <a:xfrm>
                    <a:off x="4712" y="10454"/>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SAL  RCL</a:t>
                    </a:r>
                  </a:p>
                </p:txBody>
              </p:sp>
              <p:sp>
                <p:nvSpPr>
                  <p:cNvPr id="58533" name="Text Box 112"/>
                  <p:cNvSpPr txBox="1">
                    <a:spLocks noChangeArrowheads="1"/>
                  </p:cNvSpPr>
                  <p:nvPr/>
                </p:nvSpPr>
                <p:spPr bwMode="auto">
                  <a:xfrm>
                    <a:off x="8072" y="8780"/>
                    <a:ext cx="11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NEG  NOT</a:t>
                    </a:r>
                  </a:p>
                </p:txBody>
              </p:sp>
              <p:sp>
                <p:nvSpPr>
                  <p:cNvPr id="58534" name="Text Box 113"/>
                  <p:cNvSpPr txBox="1">
                    <a:spLocks noChangeArrowheads="1"/>
                  </p:cNvSpPr>
                  <p:nvPr/>
                </p:nvSpPr>
                <p:spPr bwMode="auto">
                  <a:xfrm>
                    <a:off x="7820" y="10082"/>
                    <a:ext cx="15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+1S      -1S</a:t>
                    </a:r>
                  </a:p>
                </p:txBody>
              </p:sp>
              <p:sp>
                <p:nvSpPr>
                  <p:cNvPr id="58535" name="Text Box 114"/>
                  <p:cNvSpPr txBox="1">
                    <a:spLocks noChangeArrowheads="1"/>
                  </p:cNvSpPr>
                  <p:nvPr/>
                </p:nvSpPr>
                <p:spPr bwMode="auto">
                  <a:xfrm>
                    <a:off x="9122" y="977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Sin</a:t>
                    </a:r>
                  </a:p>
                </p:txBody>
              </p:sp>
              <p:sp>
                <p:nvSpPr>
                  <p:cNvPr id="58536" name="Text Box 115"/>
                  <p:cNvSpPr txBox="1">
                    <a:spLocks noChangeArrowheads="1"/>
                  </p:cNvSpPr>
                  <p:nvPr/>
                </p:nvSpPr>
                <p:spPr bwMode="auto">
                  <a:xfrm>
                    <a:off x="9122" y="9276"/>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S→IB</a:t>
                    </a:r>
                  </a:p>
                </p:txBody>
              </p:sp>
              <p:sp>
                <p:nvSpPr>
                  <p:cNvPr id="58537" name="Text Box 116"/>
                  <p:cNvSpPr txBox="1">
                    <a:spLocks noChangeArrowheads="1"/>
                  </p:cNvSpPr>
                  <p:nvPr/>
                </p:nvSpPr>
                <p:spPr bwMode="auto">
                  <a:xfrm>
                    <a:off x="6686"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ADD</a:t>
                    </a:r>
                  </a:p>
                </p:txBody>
              </p:sp>
              <p:sp>
                <p:nvSpPr>
                  <p:cNvPr id="58538" name="Text Box 117"/>
                  <p:cNvSpPr txBox="1">
                    <a:spLocks noChangeArrowheads="1"/>
                  </p:cNvSpPr>
                  <p:nvPr/>
                </p:nvSpPr>
                <p:spPr bwMode="auto">
                  <a:xfrm>
                    <a:off x="6926" y="10702"/>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SUB</a:t>
                    </a:r>
                  </a:p>
                </p:txBody>
              </p:sp>
              <p:sp>
                <p:nvSpPr>
                  <p:cNvPr id="58539" name="Text Box 118"/>
                  <p:cNvSpPr txBox="1">
                    <a:spLocks noChangeArrowheads="1"/>
                  </p:cNvSpPr>
                  <p:nvPr/>
                </p:nvSpPr>
                <p:spPr bwMode="auto">
                  <a:xfrm>
                    <a:off x="7400" y="1088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XOR</a:t>
                    </a:r>
                  </a:p>
                </p:txBody>
              </p:sp>
              <p:sp>
                <p:nvSpPr>
                  <p:cNvPr id="58540" name="Text Box 119"/>
                  <p:cNvSpPr txBox="1">
                    <a:spLocks noChangeArrowheads="1"/>
                  </p:cNvSpPr>
                  <p:nvPr/>
                </p:nvSpPr>
                <p:spPr bwMode="auto">
                  <a:xfrm>
                    <a:off x="7148"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58541" name="Text Box 120"/>
                  <p:cNvSpPr txBox="1">
                    <a:spLocks noChangeArrowheads="1"/>
                  </p:cNvSpPr>
                  <p:nvPr/>
                </p:nvSpPr>
                <p:spPr bwMode="auto">
                  <a:xfrm>
                    <a:off x="6938" y="1367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58542" name="Text Box 121"/>
                  <p:cNvSpPr txBox="1">
                    <a:spLocks noChangeArrowheads="1"/>
                  </p:cNvSpPr>
                  <p:nvPr/>
                </p:nvSpPr>
                <p:spPr bwMode="auto">
                  <a:xfrm>
                    <a:off x="8198" y="13058"/>
                    <a:ext cx="33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solidFill>
                          <a:schemeClr val="tx1"/>
                        </a:solidFill>
                        <a:latin typeface="Times New Roman" pitchFamily="18" charset="0"/>
                        <a:ea typeface="黑体" pitchFamily="2" charset="-122"/>
                      </a:rPr>
                      <a:t>…</a:t>
                    </a:r>
                  </a:p>
                </p:txBody>
              </p:sp>
              <p:sp>
                <p:nvSpPr>
                  <p:cNvPr id="58543" name="Text Box 122"/>
                  <p:cNvSpPr txBox="1">
                    <a:spLocks noChangeArrowheads="1"/>
                  </p:cNvSpPr>
                  <p:nvPr/>
                </p:nvSpPr>
                <p:spPr bwMode="auto">
                  <a:xfrm>
                    <a:off x="8912" y="12810"/>
                    <a:ext cx="184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a:t>
                    </a:r>
                    <a:r>
                      <a:rPr lang="en-US" altLang="zh-CN" sz="1000" dirty="0">
                        <a:solidFill>
                          <a:schemeClr val="tx1"/>
                        </a:solidFill>
                        <a:latin typeface="Times New Roman" pitchFamily="18" charset="0"/>
                        <a:ea typeface="黑体" pitchFamily="2" charset="-122"/>
                      </a:rPr>
                      <a:t>CPU</a:t>
                    </a:r>
                    <a:r>
                      <a:rPr lang="zh-CN" altLang="en-US" sz="1000">
                        <a:solidFill>
                          <a:schemeClr val="tx1"/>
                        </a:solidFill>
                        <a:latin typeface="Times New Roman" pitchFamily="18" charset="0"/>
                        <a:ea typeface="黑体" pitchFamily="2" charset="-122"/>
                      </a:rPr>
                      <a:t>内部各部件的控制信号</a:t>
                    </a:r>
                  </a:p>
                </p:txBody>
              </p:sp>
              <p:sp>
                <p:nvSpPr>
                  <p:cNvPr id="58544" name="Text Box 123"/>
                  <p:cNvSpPr txBox="1">
                    <a:spLocks noChangeArrowheads="1"/>
                  </p:cNvSpPr>
                  <p:nvPr/>
                </p:nvSpPr>
                <p:spPr bwMode="auto">
                  <a:xfrm>
                    <a:off x="7526" y="14236"/>
                    <a:ext cx="1302"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送往系统总线的控制信号</a:t>
                    </a:r>
                  </a:p>
                </p:txBody>
              </p:sp>
              <p:sp>
                <p:nvSpPr>
                  <p:cNvPr id="58545" name="Text Box 124"/>
                  <p:cNvSpPr txBox="1">
                    <a:spLocks noChangeArrowheads="1"/>
                  </p:cNvSpPr>
                  <p:nvPr/>
                </p:nvSpPr>
                <p:spPr bwMode="auto">
                  <a:xfrm>
                    <a:off x="2444" y="14112"/>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/MMRD,  /IORD,  INTA</a:t>
                    </a:r>
                  </a:p>
                </p:txBody>
              </p:sp>
              <p:sp>
                <p:nvSpPr>
                  <p:cNvPr id="58546" name="Text Box 125"/>
                  <p:cNvSpPr txBox="1">
                    <a:spLocks noChangeArrowheads="1"/>
                  </p:cNvSpPr>
                  <p:nvPr/>
                </p:nvSpPr>
                <p:spPr bwMode="auto">
                  <a:xfrm>
                    <a:off x="2444" y="14484"/>
                    <a:ext cx="351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/MMWR,  /IOWR,  DMAA</a:t>
                    </a:r>
                  </a:p>
                </p:txBody>
              </p:sp>
            </p:grpSp>
          </p:grpSp>
          <p:grpSp>
            <p:nvGrpSpPr>
              <p:cNvPr id="58375" name="Group 126"/>
              <p:cNvGrpSpPr>
                <a:grpSpLocks/>
              </p:cNvGrpSpPr>
              <p:nvPr/>
            </p:nvGrpSpPr>
            <p:grpSpPr bwMode="auto">
              <a:xfrm>
                <a:off x="733" y="1445"/>
                <a:ext cx="4437" cy="3478"/>
                <a:chOff x="1040" y="4580"/>
                <a:chExt cx="9282" cy="9424"/>
              </a:xfrm>
            </p:grpSpPr>
            <p:grpSp>
              <p:nvGrpSpPr>
                <p:cNvPr id="58419" name="Group 127"/>
                <p:cNvGrpSpPr>
                  <a:grpSpLocks/>
                </p:cNvGrpSpPr>
                <p:nvPr/>
              </p:nvGrpSpPr>
              <p:grpSpPr bwMode="auto">
                <a:xfrm>
                  <a:off x="4946" y="5758"/>
                  <a:ext cx="168" cy="248"/>
                  <a:chOff x="4316" y="5882"/>
                  <a:chExt cx="168" cy="310"/>
                </a:xfrm>
              </p:grpSpPr>
              <p:sp>
                <p:nvSpPr>
                  <p:cNvPr id="58498" name="Line 12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99" name="Line 12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20" name="Line 130"/>
                <p:cNvSpPr>
                  <a:spLocks noChangeShapeType="1"/>
                </p:cNvSpPr>
                <p:nvPr/>
              </p:nvSpPr>
              <p:spPr bwMode="auto">
                <a:xfrm>
                  <a:off x="5702" y="1164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8421" name="Group 131"/>
                <p:cNvGrpSpPr>
                  <a:grpSpLocks/>
                </p:cNvGrpSpPr>
                <p:nvPr/>
              </p:nvGrpSpPr>
              <p:grpSpPr bwMode="auto">
                <a:xfrm>
                  <a:off x="6332" y="5944"/>
                  <a:ext cx="168" cy="310"/>
                  <a:chOff x="4316" y="5882"/>
                  <a:chExt cx="168" cy="310"/>
                </a:xfrm>
              </p:grpSpPr>
              <p:sp>
                <p:nvSpPr>
                  <p:cNvPr id="58496" name="Line 13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97" name="Line 13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22" name="Group 134"/>
                <p:cNvGrpSpPr>
                  <a:grpSpLocks/>
                </p:cNvGrpSpPr>
                <p:nvPr/>
              </p:nvGrpSpPr>
              <p:grpSpPr bwMode="auto">
                <a:xfrm rot="-5400000">
                  <a:off x="8067" y="8539"/>
                  <a:ext cx="168" cy="310"/>
                  <a:chOff x="4316" y="5882"/>
                  <a:chExt cx="168" cy="310"/>
                </a:xfrm>
              </p:grpSpPr>
              <p:sp>
                <p:nvSpPr>
                  <p:cNvPr id="58494" name="Line 13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95" name="Line 13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23" name="Group 137"/>
                <p:cNvGrpSpPr>
                  <a:grpSpLocks/>
                </p:cNvGrpSpPr>
                <p:nvPr/>
              </p:nvGrpSpPr>
              <p:grpSpPr bwMode="auto">
                <a:xfrm rot="-5400000">
                  <a:off x="8083" y="9611"/>
                  <a:ext cx="168" cy="310"/>
                  <a:chOff x="4316" y="5882"/>
                  <a:chExt cx="168" cy="310"/>
                </a:xfrm>
              </p:grpSpPr>
              <p:sp>
                <p:nvSpPr>
                  <p:cNvPr id="58492" name="Line 13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93" name="Line 13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24" name="Group 140"/>
                <p:cNvGrpSpPr>
                  <a:grpSpLocks/>
                </p:cNvGrpSpPr>
                <p:nvPr/>
              </p:nvGrpSpPr>
              <p:grpSpPr bwMode="auto">
                <a:xfrm rot="-5400000">
                  <a:off x="4623" y="8725"/>
                  <a:ext cx="168" cy="310"/>
                  <a:chOff x="4316" y="5882"/>
                  <a:chExt cx="168" cy="310"/>
                </a:xfrm>
              </p:grpSpPr>
              <p:sp>
                <p:nvSpPr>
                  <p:cNvPr id="58490" name="Line 14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91" name="Line 14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25" name="Group 143"/>
                <p:cNvGrpSpPr>
                  <a:grpSpLocks/>
                </p:cNvGrpSpPr>
                <p:nvPr/>
              </p:nvGrpSpPr>
              <p:grpSpPr bwMode="auto">
                <a:xfrm>
                  <a:off x="4694" y="10904"/>
                  <a:ext cx="168" cy="186"/>
                  <a:chOff x="4316" y="5882"/>
                  <a:chExt cx="168" cy="310"/>
                </a:xfrm>
              </p:grpSpPr>
              <p:sp>
                <p:nvSpPr>
                  <p:cNvPr id="58488" name="Line 14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89" name="Line 14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26" name="Group 146"/>
                <p:cNvGrpSpPr>
                  <a:grpSpLocks/>
                </p:cNvGrpSpPr>
                <p:nvPr/>
              </p:nvGrpSpPr>
              <p:grpSpPr bwMode="auto">
                <a:xfrm>
                  <a:off x="4694" y="11462"/>
                  <a:ext cx="168" cy="186"/>
                  <a:chOff x="4316" y="5882"/>
                  <a:chExt cx="168" cy="310"/>
                </a:xfrm>
              </p:grpSpPr>
              <p:sp>
                <p:nvSpPr>
                  <p:cNvPr id="58486" name="Line 14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87" name="Line 14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27" name="Line 149"/>
                <p:cNvSpPr>
                  <a:spLocks noChangeShapeType="1"/>
                </p:cNvSpPr>
                <p:nvPr/>
              </p:nvSpPr>
              <p:spPr bwMode="auto">
                <a:xfrm>
                  <a:off x="2090" y="8300"/>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8" name="Line 150"/>
                <p:cNvSpPr>
                  <a:spLocks noChangeShapeType="1"/>
                </p:cNvSpPr>
                <p:nvPr/>
              </p:nvSpPr>
              <p:spPr bwMode="auto">
                <a:xfrm>
                  <a:off x="2090" y="9044"/>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9" name="Line 151"/>
                <p:cNvSpPr>
                  <a:spLocks noChangeShapeType="1"/>
                </p:cNvSpPr>
                <p:nvPr/>
              </p:nvSpPr>
              <p:spPr bwMode="auto">
                <a:xfrm>
                  <a:off x="2090" y="9912"/>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0" name="Line 152"/>
                <p:cNvSpPr>
                  <a:spLocks noChangeShapeType="1"/>
                </p:cNvSpPr>
                <p:nvPr/>
              </p:nvSpPr>
              <p:spPr bwMode="auto">
                <a:xfrm>
                  <a:off x="4694" y="123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1" name="Line 153"/>
                <p:cNvSpPr>
                  <a:spLocks noChangeShapeType="1"/>
                </p:cNvSpPr>
                <p:nvPr/>
              </p:nvSpPr>
              <p:spPr bwMode="auto">
                <a:xfrm rot="-5400000">
                  <a:off x="5912" y="1098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8432" name="Group 154"/>
                <p:cNvGrpSpPr>
                  <a:grpSpLocks/>
                </p:cNvGrpSpPr>
                <p:nvPr/>
              </p:nvGrpSpPr>
              <p:grpSpPr bwMode="auto">
                <a:xfrm rot="-5400000">
                  <a:off x="4639" y="9779"/>
                  <a:ext cx="168" cy="310"/>
                  <a:chOff x="4316" y="5882"/>
                  <a:chExt cx="168" cy="310"/>
                </a:xfrm>
              </p:grpSpPr>
              <p:sp>
                <p:nvSpPr>
                  <p:cNvPr id="58484" name="Line 15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85" name="Line 15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33" name="Line 157"/>
                <p:cNvSpPr>
                  <a:spLocks noChangeShapeType="1"/>
                </p:cNvSpPr>
                <p:nvPr/>
              </p:nvSpPr>
              <p:spPr bwMode="auto">
                <a:xfrm>
                  <a:off x="4946" y="904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8434" name="Group 158"/>
                <p:cNvGrpSpPr>
                  <a:grpSpLocks/>
                </p:cNvGrpSpPr>
                <p:nvPr/>
              </p:nvGrpSpPr>
              <p:grpSpPr bwMode="auto">
                <a:xfrm>
                  <a:off x="8390" y="8982"/>
                  <a:ext cx="168" cy="496"/>
                  <a:chOff x="4316" y="5882"/>
                  <a:chExt cx="168" cy="310"/>
                </a:xfrm>
              </p:grpSpPr>
              <p:sp>
                <p:nvSpPr>
                  <p:cNvPr id="58482" name="Line 15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83" name="Line 16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35" name="Line 161"/>
                <p:cNvSpPr>
                  <a:spLocks noChangeShapeType="1"/>
                </p:cNvSpPr>
                <p:nvPr/>
              </p:nvSpPr>
              <p:spPr bwMode="auto">
                <a:xfrm rot="-5400000">
                  <a:off x="10238" y="666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6" name="Line 162"/>
                <p:cNvSpPr>
                  <a:spLocks noChangeShapeType="1"/>
                </p:cNvSpPr>
                <p:nvPr/>
              </p:nvSpPr>
              <p:spPr bwMode="auto">
                <a:xfrm>
                  <a:off x="4946" y="92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7" name="Line 163"/>
                <p:cNvSpPr>
                  <a:spLocks noChangeShapeType="1"/>
                </p:cNvSpPr>
                <p:nvPr/>
              </p:nvSpPr>
              <p:spPr bwMode="auto">
                <a:xfrm rot="-5400000">
                  <a:off x="6575" y="10005"/>
                  <a:ext cx="1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8" name="Line 164"/>
                <p:cNvSpPr>
                  <a:spLocks noChangeShapeType="1"/>
                </p:cNvSpPr>
                <p:nvPr/>
              </p:nvSpPr>
              <p:spPr bwMode="auto">
                <a:xfrm rot="-5400000">
                  <a:off x="6670" y="10098"/>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9" name="Line 165"/>
                <p:cNvSpPr>
                  <a:spLocks noChangeShapeType="1"/>
                </p:cNvSpPr>
                <p:nvPr/>
              </p:nvSpPr>
              <p:spPr bwMode="auto">
                <a:xfrm rot="-5400000">
                  <a:off x="6964" y="10222"/>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0" name="Line 166"/>
                <p:cNvSpPr>
                  <a:spLocks noChangeShapeType="1"/>
                </p:cNvSpPr>
                <p:nvPr/>
              </p:nvSpPr>
              <p:spPr bwMode="auto">
                <a:xfrm>
                  <a:off x="7763" y="12330"/>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41" name="Line 167"/>
                <p:cNvSpPr>
                  <a:spLocks noChangeShapeType="1"/>
                </p:cNvSpPr>
                <p:nvPr/>
              </p:nvSpPr>
              <p:spPr bwMode="auto">
                <a:xfrm>
                  <a:off x="7760" y="13074"/>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42" name="Line 168"/>
                <p:cNvSpPr>
                  <a:spLocks noChangeShapeType="1"/>
                </p:cNvSpPr>
                <p:nvPr/>
              </p:nvSpPr>
              <p:spPr bwMode="auto">
                <a:xfrm rot="5400000">
                  <a:off x="7319" y="13348"/>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43" name="Line 169"/>
                <p:cNvSpPr>
                  <a:spLocks noChangeShapeType="1"/>
                </p:cNvSpPr>
                <p:nvPr/>
              </p:nvSpPr>
              <p:spPr bwMode="auto">
                <a:xfrm rot="5400000">
                  <a:off x="6017"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8444" name="Group 170"/>
                <p:cNvGrpSpPr>
                  <a:grpSpLocks/>
                </p:cNvGrpSpPr>
                <p:nvPr/>
              </p:nvGrpSpPr>
              <p:grpSpPr bwMode="auto">
                <a:xfrm>
                  <a:off x="3056" y="8362"/>
                  <a:ext cx="210" cy="558"/>
                  <a:chOff x="4316" y="5882"/>
                  <a:chExt cx="168" cy="310"/>
                </a:xfrm>
              </p:grpSpPr>
              <p:sp>
                <p:nvSpPr>
                  <p:cNvPr id="58480" name="Line 17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81" name="Line 17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45" name="Line 173"/>
                <p:cNvSpPr>
                  <a:spLocks noChangeShapeType="1"/>
                </p:cNvSpPr>
                <p:nvPr/>
              </p:nvSpPr>
              <p:spPr bwMode="auto">
                <a:xfrm>
                  <a:off x="3056" y="997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6" name="Line 174"/>
                <p:cNvSpPr>
                  <a:spLocks noChangeShapeType="1"/>
                </p:cNvSpPr>
                <p:nvPr/>
              </p:nvSpPr>
              <p:spPr bwMode="auto">
                <a:xfrm>
                  <a:off x="1040" y="458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47" name="Line 175"/>
                <p:cNvSpPr>
                  <a:spLocks noChangeShapeType="1"/>
                </p:cNvSpPr>
                <p:nvPr/>
              </p:nvSpPr>
              <p:spPr bwMode="auto">
                <a:xfrm>
                  <a:off x="1040" y="489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48" name="AutoShape 176"/>
                <p:cNvSpPr>
                  <a:spLocks/>
                </p:cNvSpPr>
                <p:nvPr/>
              </p:nvSpPr>
              <p:spPr bwMode="auto">
                <a:xfrm>
                  <a:off x="8180" y="12330"/>
                  <a:ext cx="126" cy="744"/>
                </a:xfrm>
                <a:prstGeom prst="rightBrace">
                  <a:avLst>
                    <a:gd name="adj1" fmla="val 4920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8449" name="AutoShape 177"/>
                <p:cNvSpPr>
                  <a:spLocks/>
                </p:cNvSpPr>
                <p:nvPr/>
              </p:nvSpPr>
              <p:spPr bwMode="auto">
                <a:xfrm rot="5400000">
                  <a:off x="6722" y="13012"/>
                  <a:ext cx="186" cy="1302"/>
                </a:xfrm>
                <a:prstGeom prst="rightBrace">
                  <a:avLst>
                    <a:gd name="adj1" fmla="val 5833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58450" name="Freeform 178"/>
                <p:cNvSpPr>
                  <a:spLocks/>
                </p:cNvSpPr>
                <p:nvPr/>
              </p:nvSpPr>
              <p:spPr bwMode="auto">
                <a:xfrm>
                  <a:off x="1040" y="13818"/>
                  <a:ext cx="5796" cy="186"/>
                </a:xfrm>
                <a:custGeom>
                  <a:avLst/>
                  <a:gdLst>
                    <a:gd name="T0" fmla="*/ 5796 w 5796"/>
                    <a:gd name="T1" fmla="*/ 0 h 248"/>
                    <a:gd name="T2" fmla="*/ 5796 w 5796"/>
                    <a:gd name="T3" fmla="*/ 4 h 248"/>
                    <a:gd name="T4" fmla="*/ 0 w 5796"/>
                    <a:gd name="T5" fmla="*/ 4 h 248"/>
                    <a:gd name="T6" fmla="*/ 0 60000 65536"/>
                    <a:gd name="T7" fmla="*/ 0 60000 65536"/>
                    <a:gd name="T8" fmla="*/ 0 60000 65536"/>
                    <a:gd name="T9" fmla="*/ 0 w 5796"/>
                    <a:gd name="T10" fmla="*/ 0 h 248"/>
                    <a:gd name="T11" fmla="*/ 5796 w 5796"/>
                    <a:gd name="T12" fmla="*/ 248 h 248"/>
                  </a:gdLst>
                  <a:ahLst/>
                  <a:cxnLst>
                    <a:cxn ang="T6">
                      <a:pos x="T0" y="T1"/>
                    </a:cxn>
                    <a:cxn ang="T7">
                      <a:pos x="T2" y="T3"/>
                    </a:cxn>
                    <a:cxn ang="T8">
                      <a:pos x="T4" y="T5"/>
                    </a:cxn>
                  </a:cxnLst>
                  <a:rect l="T9" t="T10" r="T11" b="T12"/>
                  <a:pathLst>
                    <a:path w="5796" h="248">
                      <a:moveTo>
                        <a:pt x="5796" y="0"/>
                      </a:moveTo>
                      <a:lnTo>
                        <a:pt x="5796" y="248"/>
                      </a:lnTo>
                      <a:lnTo>
                        <a:pt x="0" y="24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8451" name="Group 179"/>
                <p:cNvGrpSpPr>
                  <a:grpSpLocks/>
                </p:cNvGrpSpPr>
                <p:nvPr/>
              </p:nvGrpSpPr>
              <p:grpSpPr bwMode="auto">
                <a:xfrm>
                  <a:off x="4946" y="6254"/>
                  <a:ext cx="168" cy="248"/>
                  <a:chOff x="4316" y="5882"/>
                  <a:chExt cx="168" cy="310"/>
                </a:xfrm>
              </p:grpSpPr>
              <p:sp>
                <p:nvSpPr>
                  <p:cNvPr id="58478" name="Line 18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9" name="Line 18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52" name="Group 182"/>
                <p:cNvGrpSpPr>
                  <a:grpSpLocks/>
                </p:cNvGrpSpPr>
                <p:nvPr/>
              </p:nvGrpSpPr>
              <p:grpSpPr bwMode="auto">
                <a:xfrm>
                  <a:off x="7718" y="5758"/>
                  <a:ext cx="168" cy="744"/>
                  <a:chOff x="7760" y="5758"/>
                  <a:chExt cx="168" cy="744"/>
                </a:xfrm>
              </p:grpSpPr>
              <p:sp>
                <p:nvSpPr>
                  <p:cNvPr id="58474" name="Line 183"/>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5" name="Line 184"/>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6" name="Line 185"/>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7" name="Line 186"/>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53" name="Group 187"/>
                <p:cNvGrpSpPr>
                  <a:grpSpLocks/>
                </p:cNvGrpSpPr>
                <p:nvPr/>
              </p:nvGrpSpPr>
              <p:grpSpPr bwMode="auto">
                <a:xfrm>
                  <a:off x="9104" y="5758"/>
                  <a:ext cx="168" cy="744"/>
                  <a:chOff x="7760" y="5758"/>
                  <a:chExt cx="168" cy="744"/>
                </a:xfrm>
              </p:grpSpPr>
              <p:sp>
                <p:nvSpPr>
                  <p:cNvPr id="58470" name="Line 188"/>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1" name="Line 189"/>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2" name="Line 190"/>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73" name="Line 191"/>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54" name="Group 192"/>
                <p:cNvGrpSpPr>
                  <a:grpSpLocks/>
                </p:cNvGrpSpPr>
                <p:nvPr/>
              </p:nvGrpSpPr>
              <p:grpSpPr bwMode="auto">
                <a:xfrm>
                  <a:off x="4946" y="7618"/>
                  <a:ext cx="168" cy="310"/>
                  <a:chOff x="4316" y="5882"/>
                  <a:chExt cx="168" cy="310"/>
                </a:xfrm>
              </p:grpSpPr>
              <p:sp>
                <p:nvSpPr>
                  <p:cNvPr id="58468" name="Line 19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9" name="Line 19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55" name="Group 195"/>
                <p:cNvGrpSpPr>
                  <a:grpSpLocks/>
                </p:cNvGrpSpPr>
                <p:nvPr/>
              </p:nvGrpSpPr>
              <p:grpSpPr bwMode="auto">
                <a:xfrm>
                  <a:off x="6332" y="7618"/>
                  <a:ext cx="168" cy="310"/>
                  <a:chOff x="4316" y="5882"/>
                  <a:chExt cx="168" cy="310"/>
                </a:xfrm>
              </p:grpSpPr>
              <p:sp>
                <p:nvSpPr>
                  <p:cNvPr id="58466" name="Line 19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7" name="Line 19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456" name="Group 198"/>
                <p:cNvGrpSpPr>
                  <a:grpSpLocks/>
                </p:cNvGrpSpPr>
                <p:nvPr/>
              </p:nvGrpSpPr>
              <p:grpSpPr bwMode="auto">
                <a:xfrm>
                  <a:off x="9104" y="7618"/>
                  <a:ext cx="168" cy="310"/>
                  <a:chOff x="4316" y="5882"/>
                  <a:chExt cx="168" cy="310"/>
                </a:xfrm>
              </p:grpSpPr>
              <p:sp>
                <p:nvSpPr>
                  <p:cNvPr id="58464" name="Line 19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5" name="Line 20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457" name="Line 201"/>
                <p:cNvSpPr>
                  <a:spLocks noChangeShapeType="1"/>
                </p:cNvSpPr>
                <p:nvPr/>
              </p:nvSpPr>
              <p:spPr bwMode="auto">
                <a:xfrm>
                  <a:off x="7718" y="761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58" name="Line 202"/>
                <p:cNvSpPr>
                  <a:spLocks noChangeShapeType="1"/>
                </p:cNvSpPr>
                <p:nvPr/>
              </p:nvSpPr>
              <p:spPr bwMode="auto">
                <a:xfrm>
                  <a:off x="7718" y="792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59" name="Line 203"/>
                <p:cNvSpPr>
                  <a:spLocks noChangeShapeType="1"/>
                </p:cNvSpPr>
                <p:nvPr/>
              </p:nvSpPr>
              <p:spPr bwMode="auto">
                <a:xfrm>
                  <a:off x="7718" y="817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0" name="Line 204"/>
                <p:cNvSpPr>
                  <a:spLocks noChangeShapeType="1"/>
                </p:cNvSpPr>
                <p:nvPr/>
              </p:nvSpPr>
              <p:spPr bwMode="auto">
                <a:xfrm>
                  <a:off x="4946" y="972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1" name="Line 205"/>
                <p:cNvSpPr>
                  <a:spLocks noChangeShapeType="1"/>
                </p:cNvSpPr>
                <p:nvPr/>
              </p:nvSpPr>
              <p:spPr bwMode="auto">
                <a:xfrm rot="-5400000">
                  <a:off x="10238" y="728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62" name="Line 206"/>
                <p:cNvSpPr>
                  <a:spLocks noChangeShapeType="1"/>
                </p:cNvSpPr>
                <p:nvPr/>
              </p:nvSpPr>
              <p:spPr bwMode="auto">
                <a:xfrm>
                  <a:off x="7760" y="12516"/>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63" name="Line 207"/>
                <p:cNvSpPr>
                  <a:spLocks noChangeShapeType="1"/>
                </p:cNvSpPr>
                <p:nvPr/>
              </p:nvSpPr>
              <p:spPr bwMode="auto">
                <a:xfrm rot="5400000">
                  <a:off x="6185"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376" name="Group 208"/>
              <p:cNvGrpSpPr>
                <a:grpSpLocks/>
              </p:cNvGrpSpPr>
              <p:nvPr/>
            </p:nvGrpSpPr>
            <p:grpSpPr bwMode="auto">
              <a:xfrm>
                <a:off x="1186" y="301"/>
                <a:ext cx="4136" cy="4324"/>
                <a:chOff x="1964" y="1480"/>
                <a:chExt cx="8652" cy="11718"/>
              </a:xfrm>
            </p:grpSpPr>
            <p:sp>
              <p:nvSpPr>
                <p:cNvPr id="58386" name="Rectangle 209"/>
                <p:cNvSpPr>
                  <a:spLocks noChangeArrowheads="1"/>
                </p:cNvSpPr>
                <p:nvPr/>
              </p:nvSpPr>
              <p:spPr bwMode="auto">
                <a:xfrm>
                  <a:off x="3140" y="1480"/>
                  <a:ext cx="2604" cy="2232"/>
                </a:xfrm>
                <a:prstGeom prst="rect">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8387" name="Text Box 210"/>
                <p:cNvSpPr txBox="1">
                  <a:spLocks noChangeArrowheads="1"/>
                </p:cNvSpPr>
                <p:nvPr/>
              </p:nvSpPr>
              <p:spPr bwMode="auto">
                <a:xfrm>
                  <a:off x="6458" y="2472"/>
                  <a:ext cx="1049"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设备</a:t>
                  </a:r>
                </a:p>
              </p:txBody>
            </p:sp>
            <p:sp>
              <p:nvSpPr>
                <p:cNvPr id="58388" name="Text Box 211"/>
                <p:cNvSpPr txBox="1">
                  <a:spLocks noChangeArrowheads="1"/>
                </p:cNvSpPr>
                <p:nvPr/>
              </p:nvSpPr>
              <p:spPr bwMode="auto">
                <a:xfrm>
                  <a:off x="3311" y="1604"/>
                  <a:ext cx="1049" cy="437"/>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控制逻辑</a:t>
                  </a:r>
                </a:p>
              </p:txBody>
            </p:sp>
            <p:sp>
              <p:nvSpPr>
                <p:cNvPr id="58389" name="Text Box 212"/>
                <p:cNvSpPr txBox="1">
                  <a:spLocks noChangeArrowheads="1"/>
                </p:cNvSpPr>
                <p:nvPr/>
              </p:nvSpPr>
              <p:spPr bwMode="auto">
                <a:xfrm>
                  <a:off x="3308" y="3154"/>
                  <a:ext cx="1050" cy="43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地址识别</a:t>
                  </a:r>
                </a:p>
              </p:txBody>
            </p:sp>
            <p:sp>
              <p:nvSpPr>
                <p:cNvPr id="58390" name="Text Box 213"/>
                <p:cNvSpPr txBox="1">
                  <a:spLocks noChangeArrowheads="1"/>
                </p:cNvSpPr>
                <p:nvPr/>
              </p:nvSpPr>
              <p:spPr bwMode="auto">
                <a:xfrm>
                  <a:off x="3308" y="2162"/>
                  <a:ext cx="1722" cy="868"/>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中断控制逻辑</a:t>
                  </a:r>
                </a:p>
                <a:p>
                  <a:pPr algn="just" eaLnBrk="1" hangingPunct="1">
                    <a:lnSpc>
                      <a:spcPct val="96000"/>
                    </a:lnSpc>
                    <a:spcBef>
                      <a:spcPct val="0"/>
                    </a:spcBef>
                  </a:pPr>
                  <a:r>
                    <a:rPr lang="zh-CN" altLang="en-US" sz="1000">
                      <a:latin typeface="Times New Roman" pitchFamily="18" charset="0"/>
                      <a:ea typeface="黑体" pitchFamily="2" charset="-122"/>
                    </a:rPr>
                    <a:t>命令</a:t>
                  </a:r>
                  <a:r>
                    <a:rPr lang="en-US" altLang="zh-CN" sz="1000" dirty="0">
                      <a:latin typeface="Times New Roman" pitchFamily="18" charset="0"/>
                      <a:ea typeface="黑体" pitchFamily="2" charset="-122"/>
                    </a:rPr>
                    <a:t>/</a:t>
                  </a:r>
                  <a:r>
                    <a:rPr lang="zh-CN" altLang="en-US" sz="1000">
                      <a:latin typeface="Times New Roman" pitchFamily="18" charset="0"/>
                      <a:ea typeface="黑体" pitchFamily="2" charset="-122"/>
                    </a:rPr>
                    <a:t>状态寄存器</a:t>
                  </a:r>
                </a:p>
                <a:p>
                  <a:pPr algn="just" eaLnBrk="1" hangingPunct="1">
                    <a:lnSpc>
                      <a:spcPct val="96000"/>
                    </a:lnSpc>
                    <a:spcBef>
                      <a:spcPct val="0"/>
                    </a:spcBef>
                  </a:pPr>
                  <a:r>
                    <a:rPr lang="zh-CN" altLang="en-US" sz="1000">
                      <a:latin typeface="Times New Roman" pitchFamily="18" charset="0"/>
                      <a:ea typeface="黑体" pitchFamily="2" charset="-122"/>
                    </a:rPr>
                    <a:t>数据寄存器</a:t>
                  </a:r>
                </a:p>
              </p:txBody>
            </p:sp>
            <p:sp>
              <p:nvSpPr>
                <p:cNvPr id="58391" name="Text Box 214"/>
                <p:cNvSpPr txBox="1">
                  <a:spLocks noChangeArrowheads="1"/>
                </p:cNvSpPr>
                <p:nvPr/>
              </p:nvSpPr>
              <p:spPr bwMode="auto">
                <a:xfrm>
                  <a:off x="4484"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SP</a:t>
                  </a:r>
                </a:p>
              </p:txBody>
            </p:sp>
            <p:sp>
              <p:nvSpPr>
                <p:cNvPr id="58392" name="Text Box 215"/>
                <p:cNvSpPr txBox="1">
                  <a:spLocks noChangeArrowheads="1"/>
                </p:cNvSpPr>
                <p:nvPr/>
              </p:nvSpPr>
              <p:spPr bwMode="auto">
                <a:xfrm>
                  <a:off x="5870"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BP</a:t>
                  </a:r>
                </a:p>
              </p:txBody>
            </p:sp>
            <p:sp>
              <p:nvSpPr>
                <p:cNvPr id="58393" name="Text Box 216"/>
                <p:cNvSpPr txBox="1">
                  <a:spLocks noChangeArrowheads="1"/>
                </p:cNvSpPr>
                <p:nvPr/>
              </p:nvSpPr>
              <p:spPr bwMode="auto">
                <a:xfrm>
                  <a:off x="7256"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DI</a:t>
                  </a:r>
                </a:p>
              </p:txBody>
            </p:sp>
            <p:sp>
              <p:nvSpPr>
                <p:cNvPr id="58394" name="Text Box 217"/>
                <p:cNvSpPr txBox="1">
                  <a:spLocks noChangeArrowheads="1"/>
                </p:cNvSpPr>
                <p:nvPr/>
              </p:nvSpPr>
              <p:spPr bwMode="auto">
                <a:xfrm>
                  <a:off x="8642"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SI</a:t>
                  </a:r>
                </a:p>
              </p:txBody>
            </p:sp>
            <p:sp>
              <p:nvSpPr>
                <p:cNvPr id="58395" name="Text Box 218"/>
                <p:cNvSpPr txBox="1">
                  <a:spLocks noChangeArrowheads="1"/>
                </p:cNvSpPr>
                <p:nvPr/>
              </p:nvSpPr>
              <p:spPr bwMode="auto">
                <a:xfrm>
                  <a:off x="4484"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AX</a:t>
                  </a:r>
                </a:p>
              </p:txBody>
            </p:sp>
            <p:sp>
              <p:nvSpPr>
                <p:cNvPr id="58396" name="Text Box 219"/>
                <p:cNvSpPr txBox="1">
                  <a:spLocks noChangeArrowheads="1"/>
                </p:cNvSpPr>
                <p:nvPr/>
              </p:nvSpPr>
              <p:spPr bwMode="auto">
                <a:xfrm>
                  <a:off x="5870"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BX</a:t>
                  </a:r>
                </a:p>
              </p:txBody>
            </p:sp>
            <p:sp>
              <p:nvSpPr>
                <p:cNvPr id="58397" name="Text Box 220"/>
                <p:cNvSpPr txBox="1">
                  <a:spLocks noChangeArrowheads="1"/>
                </p:cNvSpPr>
                <p:nvPr/>
              </p:nvSpPr>
              <p:spPr bwMode="auto">
                <a:xfrm>
                  <a:off x="7256"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CX</a:t>
                  </a:r>
                </a:p>
              </p:txBody>
            </p:sp>
            <p:sp>
              <p:nvSpPr>
                <p:cNvPr id="58398" name="Text Box 221"/>
                <p:cNvSpPr txBox="1">
                  <a:spLocks noChangeArrowheads="1"/>
                </p:cNvSpPr>
                <p:nvPr/>
              </p:nvSpPr>
              <p:spPr bwMode="auto">
                <a:xfrm>
                  <a:off x="8642"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DX</a:t>
                  </a:r>
                </a:p>
              </p:txBody>
            </p:sp>
            <p:sp>
              <p:nvSpPr>
                <p:cNvPr id="58399" name="Text Box 222"/>
                <p:cNvSpPr txBox="1">
                  <a:spLocks noChangeArrowheads="1"/>
                </p:cNvSpPr>
                <p:nvPr/>
              </p:nvSpPr>
              <p:spPr bwMode="auto">
                <a:xfrm>
                  <a:off x="4484" y="898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T</a:t>
                  </a:r>
                </a:p>
              </p:txBody>
            </p:sp>
            <p:grpSp>
              <p:nvGrpSpPr>
                <p:cNvPr id="58400" name="Group 223"/>
                <p:cNvGrpSpPr>
                  <a:grpSpLocks/>
                </p:cNvGrpSpPr>
                <p:nvPr/>
              </p:nvGrpSpPr>
              <p:grpSpPr bwMode="auto">
                <a:xfrm>
                  <a:off x="2594" y="4022"/>
                  <a:ext cx="1260" cy="1736"/>
                  <a:chOff x="2468" y="4642"/>
                  <a:chExt cx="1050" cy="1612"/>
                </a:xfrm>
              </p:grpSpPr>
              <p:sp>
                <p:nvSpPr>
                  <p:cNvPr id="58415" name="Text Box 224"/>
                  <p:cNvSpPr txBox="1">
                    <a:spLocks noChangeArrowheads="1"/>
                  </p:cNvSpPr>
                  <p:nvPr/>
                </p:nvSpPr>
                <p:spPr bwMode="auto">
                  <a:xfrm>
                    <a:off x="2468" y="4642"/>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MDR</a:t>
                    </a:r>
                  </a:p>
                </p:txBody>
              </p:sp>
              <p:sp>
                <p:nvSpPr>
                  <p:cNvPr id="58416" name="Text Box 225"/>
                  <p:cNvSpPr txBox="1">
                    <a:spLocks noChangeArrowheads="1"/>
                  </p:cNvSpPr>
                  <p:nvPr/>
                </p:nvSpPr>
                <p:spPr bwMode="auto">
                  <a:xfrm>
                    <a:off x="2468" y="5944"/>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MAR</a:t>
                    </a:r>
                  </a:p>
                </p:txBody>
              </p:sp>
              <p:sp>
                <p:nvSpPr>
                  <p:cNvPr id="58417" name="Text Box 226"/>
                  <p:cNvSpPr txBox="1">
                    <a:spLocks noChangeArrowheads="1"/>
                  </p:cNvSpPr>
                  <p:nvPr/>
                </p:nvSpPr>
                <p:spPr bwMode="auto">
                  <a:xfrm>
                    <a:off x="2468" y="4952"/>
                    <a:ext cx="378" cy="992"/>
                  </a:xfrm>
                  <a:prstGeom prst="rect">
                    <a:avLst/>
                  </a:prstGeom>
                  <a:solidFill>
                    <a:srgbClr val="FFFF99"/>
                  </a:solidFill>
                  <a:ln w="19050">
                    <a:solidFill>
                      <a:srgbClr val="000000"/>
                    </a:solidFill>
                    <a:miter lim="800000"/>
                    <a:headEnd/>
                    <a:tailEnd/>
                  </a:ln>
                </p:spPr>
                <p:txBody>
                  <a:bodyPr vert="eaVert" lIns="0" tIns="0" rIns="360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000">
                        <a:latin typeface="Times New Roman" pitchFamily="18" charset="0"/>
                        <a:ea typeface="黑体" pitchFamily="2" charset="-122"/>
                      </a:rPr>
                      <a:t>控制逻辑</a:t>
                    </a:r>
                  </a:p>
                </p:txBody>
              </p:sp>
              <p:sp>
                <p:nvSpPr>
                  <p:cNvPr id="58418" name="Text Box 227"/>
                  <p:cNvSpPr txBox="1">
                    <a:spLocks noChangeArrowheads="1"/>
                  </p:cNvSpPr>
                  <p:nvPr/>
                </p:nvSpPr>
                <p:spPr bwMode="auto">
                  <a:xfrm>
                    <a:off x="2846" y="4952"/>
                    <a:ext cx="672" cy="992"/>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主存</a:t>
                    </a:r>
                  </a:p>
                  <a:p>
                    <a:pPr algn="ctr" eaLnBrk="1" hangingPunct="1">
                      <a:lnSpc>
                        <a:spcPct val="96000"/>
                      </a:lnSpc>
                      <a:spcBef>
                        <a:spcPct val="0"/>
                      </a:spcBef>
                    </a:pPr>
                    <a:r>
                      <a:rPr lang="en-US" altLang="zh-CN" sz="1000" dirty="0">
                        <a:latin typeface="Times New Roman" pitchFamily="18" charset="0"/>
                        <a:ea typeface="黑体" pitchFamily="2" charset="-122"/>
                      </a:rPr>
                      <a:t>MM</a:t>
                    </a:r>
                  </a:p>
                </p:txBody>
              </p:sp>
            </p:grpSp>
            <p:sp>
              <p:nvSpPr>
                <p:cNvPr id="58401" name="Text Box 228"/>
                <p:cNvSpPr txBox="1">
                  <a:spLocks noChangeArrowheads="1"/>
                </p:cNvSpPr>
                <p:nvPr/>
              </p:nvSpPr>
              <p:spPr bwMode="auto">
                <a:xfrm>
                  <a:off x="2594" y="8238"/>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DR</a:t>
                  </a:r>
                </a:p>
              </p:txBody>
            </p:sp>
            <p:sp>
              <p:nvSpPr>
                <p:cNvPr id="58402" name="Text Box 229"/>
                <p:cNvSpPr txBox="1">
                  <a:spLocks noChangeArrowheads="1"/>
                </p:cNvSpPr>
                <p:nvPr/>
              </p:nvSpPr>
              <p:spPr bwMode="auto">
                <a:xfrm>
                  <a:off x="2594" y="9416"/>
                  <a:ext cx="462" cy="806"/>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AR</a:t>
                  </a:r>
                </a:p>
              </p:txBody>
            </p:sp>
            <p:sp>
              <p:nvSpPr>
                <p:cNvPr id="58403" name="Text Box 230"/>
                <p:cNvSpPr txBox="1">
                  <a:spLocks noChangeArrowheads="1"/>
                </p:cNvSpPr>
                <p:nvPr/>
              </p:nvSpPr>
              <p:spPr bwMode="auto">
                <a:xfrm>
                  <a:off x="7928" y="87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a:t>
                  </a:r>
                </a:p>
              </p:txBody>
            </p:sp>
            <p:sp>
              <p:nvSpPr>
                <p:cNvPr id="58404" name="Text Box 231"/>
                <p:cNvSpPr txBox="1">
                  <a:spLocks noChangeArrowheads="1"/>
                </p:cNvSpPr>
                <p:nvPr/>
              </p:nvSpPr>
              <p:spPr bwMode="auto">
                <a:xfrm>
                  <a:off x="4862" y="1084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PC</a:t>
                  </a:r>
                </a:p>
              </p:txBody>
            </p:sp>
            <p:sp>
              <p:nvSpPr>
                <p:cNvPr id="58405" name="Text Box 232"/>
                <p:cNvSpPr txBox="1">
                  <a:spLocks noChangeArrowheads="1"/>
                </p:cNvSpPr>
                <p:nvPr/>
              </p:nvSpPr>
              <p:spPr bwMode="auto">
                <a:xfrm>
                  <a:off x="4862" y="1220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IR</a:t>
                  </a:r>
                </a:p>
              </p:txBody>
            </p:sp>
            <p:sp>
              <p:nvSpPr>
                <p:cNvPr id="58406" name="Text Box 233"/>
                <p:cNvSpPr txBox="1">
                  <a:spLocks noChangeArrowheads="1"/>
                </p:cNvSpPr>
                <p:nvPr/>
              </p:nvSpPr>
              <p:spPr bwMode="auto">
                <a:xfrm>
                  <a:off x="5870" y="11090"/>
                  <a:ext cx="546" cy="744"/>
                </a:xfrm>
                <a:prstGeom prst="rect">
                  <a:avLst/>
                </a:prstGeom>
                <a:solidFill>
                  <a:srgbClr val="FFFF99"/>
                </a:solidFill>
                <a:ln w="19050">
                  <a:solidFill>
                    <a:srgbClr val="00000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PSW</a:t>
                  </a:r>
                </a:p>
              </p:txBody>
            </p:sp>
            <p:sp>
              <p:nvSpPr>
                <p:cNvPr id="58407" name="Text Box 234"/>
                <p:cNvSpPr txBox="1">
                  <a:spLocks noChangeArrowheads="1"/>
                </p:cNvSpPr>
                <p:nvPr/>
              </p:nvSpPr>
              <p:spPr bwMode="auto">
                <a:xfrm>
                  <a:off x="5870" y="12144"/>
                  <a:ext cx="1890" cy="105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微操作</a:t>
                  </a:r>
                </a:p>
                <a:p>
                  <a:pPr algn="ctr" eaLnBrk="1" hangingPunct="1">
                    <a:lnSpc>
                      <a:spcPct val="96000"/>
                    </a:lnSpc>
                    <a:spcBef>
                      <a:spcPct val="0"/>
                    </a:spcBef>
                  </a:pPr>
                  <a:r>
                    <a:rPr lang="zh-CN" altLang="en-US" sz="1000">
                      <a:latin typeface="Times New Roman" pitchFamily="18" charset="0"/>
                      <a:ea typeface="黑体" pitchFamily="2" charset="-122"/>
                    </a:rPr>
                    <a:t>信号发生器</a:t>
                  </a:r>
                </a:p>
              </p:txBody>
            </p:sp>
            <p:sp>
              <p:nvSpPr>
                <p:cNvPr id="58408" name="Text Box 235"/>
                <p:cNvSpPr txBox="1">
                  <a:spLocks noChangeArrowheads="1"/>
                </p:cNvSpPr>
                <p:nvPr/>
              </p:nvSpPr>
              <p:spPr bwMode="auto">
                <a:xfrm>
                  <a:off x="6794" y="11090"/>
                  <a:ext cx="840"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时序</a:t>
                  </a:r>
                </a:p>
                <a:p>
                  <a:pPr algn="ctr" eaLnBrk="1" hangingPunct="1">
                    <a:lnSpc>
                      <a:spcPct val="96000"/>
                    </a:lnSpc>
                    <a:spcBef>
                      <a:spcPct val="0"/>
                    </a:spcBef>
                  </a:pPr>
                  <a:r>
                    <a:rPr lang="zh-CN" altLang="en-US" sz="1000">
                      <a:latin typeface="Times New Roman" pitchFamily="18" charset="0"/>
                      <a:ea typeface="黑体" pitchFamily="2" charset="-122"/>
                    </a:rPr>
                    <a:t>部件</a:t>
                  </a:r>
                </a:p>
              </p:txBody>
            </p:sp>
            <p:sp>
              <p:nvSpPr>
                <p:cNvPr id="58409" name="Text Box 236"/>
                <p:cNvSpPr txBox="1">
                  <a:spLocks noChangeArrowheads="1"/>
                </p:cNvSpPr>
                <p:nvPr/>
              </p:nvSpPr>
              <p:spPr bwMode="auto">
                <a:xfrm>
                  <a:off x="10028" y="6750"/>
                  <a:ext cx="588"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CT</a:t>
                  </a:r>
                </a:p>
              </p:txBody>
            </p:sp>
            <p:sp>
              <p:nvSpPr>
                <p:cNvPr id="58410" name="AutoShape 237"/>
                <p:cNvSpPr>
                  <a:spLocks noChangeArrowheads="1"/>
                </p:cNvSpPr>
                <p:nvPr/>
              </p:nvSpPr>
              <p:spPr bwMode="auto">
                <a:xfrm rot="-5400000">
                  <a:off x="1935" y="9693"/>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8411" name="AutoShape 238"/>
                <p:cNvSpPr>
                  <a:spLocks noChangeArrowheads="1"/>
                </p:cNvSpPr>
                <p:nvPr/>
              </p:nvSpPr>
              <p:spPr bwMode="auto">
                <a:xfrm rot="5400000" flipH="1">
                  <a:off x="1956" y="8846"/>
                  <a:ext cx="310" cy="210"/>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8412" name="AutoShape 239"/>
                <p:cNvSpPr>
                  <a:spLocks noChangeArrowheads="1"/>
                </p:cNvSpPr>
                <p:nvPr/>
              </p:nvSpPr>
              <p:spPr bwMode="auto">
                <a:xfrm rot="-5400000">
                  <a:off x="1935" y="8391"/>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58413" name="AutoShape 240"/>
                <p:cNvSpPr>
                  <a:spLocks noChangeArrowheads="1"/>
                </p:cNvSpPr>
                <p:nvPr/>
              </p:nvSpPr>
              <p:spPr bwMode="auto">
                <a:xfrm rot="5400000">
                  <a:off x="6217" y="9079"/>
                  <a:ext cx="1364" cy="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81 w 21600"/>
                    <a:gd name="T13" fmla="*/ 4195 h 21600"/>
                    <a:gd name="T14" fmla="*/ 17419 w 21600"/>
                    <a:gd name="T15" fmla="*/ 17405 h 21600"/>
                  </a:gdLst>
                  <a:ahLst/>
                  <a:cxnLst>
                    <a:cxn ang="T8">
                      <a:pos x="T0" y="T1"/>
                    </a:cxn>
                    <a:cxn ang="T9">
                      <a:pos x="T2" y="T3"/>
                    </a:cxn>
                    <a:cxn ang="T10">
                      <a:pos x="T4" y="T5"/>
                    </a:cxn>
                    <a:cxn ang="T11">
                      <a:pos x="T6" y="T7"/>
                    </a:cxn>
                  </a:cxnLst>
                  <a:rect l="T12" t="T13" r="T14" b="T15"/>
                  <a:pathLst>
                    <a:path w="21600" h="21600">
                      <a:moveTo>
                        <a:pt x="0" y="0"/>
                      </a:moveTo>
                      <a:lnTo>
                        <a:pt x="4767" y="21600"/>
                      </a:lnTo>
                      <a:lnTo>
                        <a:pt x="16833" y="21600"/>
                      </a:lnTo>
                      <a:lnTo>
                        <a:pt x="21600" y="0"/>
                      </a:lnTo>
                      <a:lnTo>
                        <a:pt x="0" y="0"/>
                      </a:lnTo>
                      <a:close/>
                    </a:path>
                  </a:pathLst>
                </a:custGeom>
                <a:solidFill>
                  <a:srgbClr val="FFFF99"/>
                </a:solidFill>
                <a:ln w="19050">
                  <a:solidFill>
                    <a:srgbClr val="000000"/>
                  </a:solidFill>
                  <a:miter lim="800000"/>
                  <a:headEnd/>
                  <a:tailEnd/>
                </a:ln>
              </p:spPr>
              <p:txBody>
                <a:bodyPr lIns="0" tIns="0" rIns="0" bIns="0"/>
                <a:lstStyle/>
                <a:p>
                  <a:pPr algn="just">
                    <a:lnSpc>
                      <a:spcPct val="96000"/>
                    </a:lnSpc>
                    <a:spcBef>
                      <a:spcPct val="0"/>
                    </a:spcBef>
                  </a:pPr>
                  <a:endParaRPr lang="zh-CN" altLang="en-US" sz="1000">
                    <a:latin typeface="Times New Roman" pitchFamily="18" charset="0"/>
                    <a:ea typeface="黑体" pitchFamily="2" charset="-122"/>
                  </a:endParaRPr>
                </a:p>
                <a:p>
                  <a:pPr algn="just">
                    <a:lnSpc>
                      <a:spcPct val="96000"/>
                    </a:lnSpc>
                    <a:spcBef>
                      <a:spcPct val="0"/>
                    </a:spcBef>
                  </a:pPr>
                  <a:r>
                    <a:rPr lang="en-US" altLang="zh-CN" sz="1000" dirty="0">
                      <a:latin typeface="Times New Roman" pitchFamily="18" charset="0"/>
                      <a:ea typeface="黑体" pitchFamily="2" charset="-122"/>
                    </a:rPr>
                    <a:t>ALU</a:t>
                  </a:r>
                </a:p>
                <a:p>
                  <a:pPr>
                    <a:spcBef>
                      <a:spcPct val="0"/>
                    </a:spcBef>
                  </a:pPr>
                  <a:endParaRPr lang="en-US" altLang="zh-CN" sz="1000" dirty="0">
                    <a:latin typeface="Times New Roman" pitchFamily="18" charset="0"/>
                    <a:ea typeface="黑体" pitchFamily="2" charset="-122"/>
                  </a:endParaRPr>
                </a:p>
              </p:txBody>
            </p:sp>
            <p:sp>
              <p:nvSpPr>
                <p:cNvPr id="58414" name="Text Box 241"/>
                <p:cNvSpPr txBox="1">
                  <a:spLocks noChangeArrowheads="1"/>
                </p:cNvSpPr>
                <p:nvPr/>
              </p:nvSpPr>
              <p:spPr bwMode="auto">
                <a:xfrm>
                  <a:off x="8222" y="11090"/>
                  <a:ext cx="378"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a:t>
                  </a:r>
                </a:p>
                <a:p>
                  <a:pPr algn="ctr" eaLnBrk="1" hangingPunct="1">
                    <a:lnSpc>
                      <a:spcPct val="96000"/>
                    </a:lnSpc>
                    <a:spcBef>
                      <a:spcPct val="0"/>
                    </a:spcBef>
                  </a:pPr>
                  <a:r>
                    <a:rPr lang="zh-CN" altLang="en-US" sz="1000">
                      <a:latin typeface="Times New Roman" pitchFamily="18" charset="0"/>
                      <a:ea typeface="黑体" pitchFamily="2" charset="-122"/>
                    </a:rPr>
                    <a:t>钟</a:t>
                  </a:r>
                </a:p>
              </p:txBody>
            </p:sp>
          </p:grpSp>
          <p:grpSp>
            <p:nvGrpSpPr>
              <p:cNvPr id="58377" name="Group 242"/>
              <p:cNvGrpSpPr>
                <a:grpSpLocks/>
              </p:cNvGrpSpPr>
              <p:nvPr/>
            </p:nvGrpSpPr>
            <p:grpSpPr bwMode="auto">
              <a:xfrm>
                <a:off x="589" y="255"/>
                <a:ext cx="2369" cy="5034"/>
                <a:chOff x="746" y="1356"/>
                <a:chExt cx="4956" cy="13640"/>
              </a:xfrm>
            </p:grpSpPr>
            <p:sp>
              <p:nvSpPr>
                <p:cNvPr id="58378" name="Text Box 243"/>
                <p:cNvSpPr txBox="1">
                  <a:spLocks noChangeArrowheads="1"/>
                </p:cNvSpPr>
                <p:nvPr/>
              </p:nvSpPr>
              <p:spPr bwMode="auto">
                <a:xfrm>
                  <a:off x="1712" y="135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DMAR, INTR</a:t>
                  </a:r>
                </a:p>
              </p:txBody>
            </p:sp>
            <p:sp>
              <p:nvSpPr>
                <p:cNvPr id="58379" name="Text Box 244"/>
                <p:cNvSpPr txBox="1">
                  <a:spLocks noChangeArrowheads="1"/>
                </p:cNvSpPr>
                <p:nvPr/>
              </p:nvSpPr>
              <p:spPr bwMode="auto">
                <a:xfrm>
                  <a:off x="1712" y="1604"/>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58380" name="Text Box 245"/>
                <p:cNvSpPr txBox="1">
                  <a:spLocks noChangeArrowheads="1"/>
                </p:cNvSpPr>
                <p:nvPr/>
              </p:nvSpPr>
              <p:spPr bwMode="auto">
                <a:xfrm>
                  <a:off x="1712" y="4952"/>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58381" name="Text Box 246"/>
                <p:cNvSpPr txBox="1">
                  <a:spLocks noChangeArrowheads="1"/>
                </p:cNvSpPr>
                <p:nvPr/>
              </p:nvSpPr>
              <p:spPr bwMode="auto">
                <a:xfrm>
                  <a:off x="1712" y="197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IORD, IOWR</a:t>
                  </a:r>
                </a:p>
              </p:txBody>
            </p:sp>
            <p:sp>
              <p:nvSpPr>
                <p:cNvPr id="58382" name="Text Box 247"/>
                <p:cNvSpPr txBox="1">
                  <a:spLocks noChangeArrowheads="1"/>
                </p:cNvSpPr>
                <p:nvPr/>
              </p:nvSpPr>
              <p:spPr bwMode="auto">
                <a:xfrm>
                  <a:off x="4610" y="1604"/>
                  <a:ext cx="109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接口</a:t>
                  </a:r>
                </a:p>
              </p:txBody>
            </p:sp>
            <p:sp>
              <p:nvSpPr>
                <p:cNvPr id="58383" name="Text Box 248"/>
                <p:cNvSpPr txBox="1">
                  <a:spLocks noChangeArrowheads="1"/>
                </p:cNvSpPr>
                <p:nvPr/>
              </p:nvSpPr>
              <p:spPr bwMode="auto">
                <a:xfrm>
                  <a:off x="1922" y="12826"/>
                  <a:ext cx="273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INTR,  DMAR, Ready</a:t>
                  </a:r>
                </a:p>
              </p:txBody>
            </p:sp>
            <p:sp>
              <p:nvSpPr>
                <p:cNvPr id="58384" name="Text Box 249"/>
                <p:cNvSpPr txBox="1">
                  <a:spLocks noChangeArrowheads="1"/>
                </p:cNvSpPr>
                <p:nvPr/>
              </p:nvSpPr>
              <p:spPr bwMode="auto">
                <a:xfrm>
                  <a:off x="746" y="14624"/>
                  <a:ext cx="10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000" dirty="0">
                      <a:latin typeface="Times New Roman" pitchFamily="18" charset="0"/>
                      <a:ea typeface="黑体" pitchFamily="2" charset="-122"/>
                    </a:rPr>
                    <a:t>CB AB DB</a:t>
                  </a:r>
                </a:p>
              </p:txBody>
            </p:sp>
            <p:sp>
              <p:nvSpPr>
                <p:cNvPr id="58385" name="Text Box 250"/>
                <p:cNvSpPr txBox="1">
                  <a:spLocks noChangeArrowheads="1"/>
                </p:cNvSpPr>
                <p:nvPr/>
              </p:nvSpPr>
              <p:spPr bwMode="auto">
                <a:xfrm>
                  <a:off x="2174" y="6998"/>
                  <a:ext cx="151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200">
                      <a:solidFill>
                        <a:srgbClr val="0000FF"/>
                      </a:solidFill>
                      <a:latin typeface="Times New Roman" pitchFamily="18" charset="0"/>
                      <a:ea typeface="黑体" pitchFamily="2" charset="-122"/>
                    </a:rPr>
                    <a:t>内部总线 </a:t>
                  </a:r>
                  <a:r>
                    <a:rPr lang="en-US" altLang="zh-CN" sz="1200" dirty="0">
                      <a:solidFill>
                        <a:srgbClr val="0000FF"/>
                      </a:solidFill>
                      <a:latin typeface="Times New Roman" pitchFamily="18" charset="0"/>
                      <a:ea typeface="黑体" pitchFamily="2" charset="-122"/>
                    </a:rPr>
                    <a:t>IB</a:t>
                  </a:r>
                  <a:endParaRPr lang="en-US" altLang="zh-CN" sz="1200" dirty="0">
                    <a:latin typeface="Times New Roman" pitchFamily="18" charset="0"/>
                    <a:ea typeface="黑体" pitchFamily="2" charset="-122"/>
                  </a:endParaRPr>
                </a:p>
              </p:txBody>
            </p:sp>
          </p:grpSp>
        </p:grpSp>
      </p:grpSp>
      <p:sp>
        <p:nvSpPr>
          <p:cNvPr id="58371" name="Oval 252"/>
          <p:cNvSpPr>
            <a:spLocks noChangeArrowheads="1"/>
          </p:cNvSpPr>
          <p:nvPr/>
        </p:nvSpPr>
        <p:spPr bwMode="auto">
          <a:xfrm>
            <a:off x="3135313" y="3222625"/>
            <a:ext cx="4978400" cy="1425575"/>
          </a:xfrm>
          <a:prstGeom prst="ellipse">
            <a:avLst/>
          </a:prstGeom>
          <a:noFill/>
          <a:ln w="2857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431800" y="490538"/>
            <a:ext cx="710882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nchor="ctr">
            <a:spAutoFit/>
          </a:bodyPr>
          <a:lstStyle/>
          <a:p>
            <a:pPr>
              <a:spcBef>
                <a:spcPct val="0"/>
              </a:spcBef>
            </a:pPr>
            <a:r>
              <a:rPr lang="en-US" altLang="zh-CN" dirty="0">
                <a:latin typeface="黑体" pitchFamily="2" charset="-122"/>
                <a:ea typeface="黑体" pitchFamily="2" charset="-122"/>
              </a:rPr>
              <a:t>  (4) </a:t>
            </a:r>
            <a:r>
              <a:rPr lang="zh-CN" altLang="en-US">
                <a:latin typeface="黑体" pitchFamily="2" charset="-122"/>
                <a:ea typeface="黑体" pitchFamily="2" charset="-122"/>
              </a:rPr>
              <a:t>内存和</a:t>
            </a:r>
            <a:r>
              <a:rPr lang="en-US" altLang="zh-CN" dirty="0">
                <a:latin typeface="黑体" pitchFamily="2" charset="-122"/>
                <a:ea typeface="黑体" pitchFamily="2" charset="-122"/>
              </a:rPr>
              <a:t>I/O</a:t>
            </a:r>
            <a:r>
              <a:rPr lang="zh-CN" altLang="en-US">
                <a:latin typeface="黑体" pitchFamily="2" charset="-122"/>
                <a:ea typeface="黑体" pitchFamily="2" charset="-122"/>
              </a:rPr>
              <a:t>设备</a:t>
            </a:r>
          </a:p>
          <a:p>
            <a:pPr>
              <a:spcBef>
                <a:spcPct val="0"/>
              </a:spcBef>
            </a:pPr>
            <a:r>
              <a:rPr lang="zh-CN" altLang="en-US">
                <a:latin typeface="黑体" pitchFamily="2" charset="-122"/>
                <a:ea typeface="黑体" pitchFamily="2" charset="-122"/>
              </a:rPr>
              <a:t>    寄存器：  </a:t>
            </a:r>
            <a:r>
              <a:rPr lang="en-US" altLang="zh-CN" dirty="0">
                <a:latin typeface="黑体" pitchFamily="2" charset="-122"/>
                <a:ea typeface="黑体" pitchFamily="2" charset="-122"/>
              </a:rPr>
              <a:t>MAR </a:t>
            </a:r>
            <a:r>
              <a:rPr lang="zh-CN" altLang="en-US">
                <a:latin typeface="黑体" pitchFamily="2" charset="-122"/>
                <a:ea typeface="黑体" pitchFamily="2" charset="-122"/>
              </a:rPr>
              <a:t>存储器的地址寄存器；</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MDR </a:t>
            </a:r>
            <a:r>
              <a:rPr lang="zh-CN" altLang="en-US">
                <a:latin typeface="黑体" pitchFamily="2" charset="-122"/>
                <a:ea typeface="黑体" pitchFamily="2" charset="-122"/>
              </a:rPr>
              <a:t>存储器的数据寄存器；</a:t>
            </a:r>
          </a:p>
          <a:p>
            <a:pPr>
              <a:spcBef>
                <a:spcPct val="0"/>
              </a:spcBef>
            </a:pPr>
            <a:r>
              <a:rPr lang="zh-CN" altLang="en-US">
                <a:latin typeface="黑体" pitchFamily="2" charset="-122"/>
                <a:ea typeface="黑体" pitchFamily="2" charset="-122"/>
              </a:rPr>
              <a:t>    控制信号：</a:t>
            </a:r>
            <a:r>
              <a:rPr lang="en-US" altLang="zh-CN" dirty="0">
                <a:latin typeface="黑体" pitchFamily="2" charset="-122"/>
                <a:ea typeface="黑体" pitchFamily="2" charset="-122"/>
              </a:rPr>
              <a:t>/MMRD </a:t>
            </a:r>
            <a:r>
              <a:rPr lang="zh-CN" altLang="en-US">
                <a:latin typeface="黑体" pitchFamily="2" charset="-122"/>
                <a:ea typeface="黑体" pitchFamily="2" charset="-122"/>
              </a:rPr>
              <a:t>存储器读；</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/MMWR </a:t>
            </a:r>
            <a:r>
              <a:rPr lang="zh-CN" altLang="en-US">
                <a:latin typeface="黑体" pitchFamily="2" charset="-122"/>
                <a:ea typeface="黑体" pitchFamily="2" charset="-122"/>
              </a:rPr>
              <a:t>存储器写；</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READY </a:t>
            </a:r>
            <a:r>
              <a:rPr lang="zh-CN" altLang="en-US">
                <a:latin typeface="黑体" pitchFamily="2" charset="-122"/>
                <a:ea typeface="黑体" pitchFamily="2" charset="-122"/>
              </a:rPr>
              <a:t>存储器（或</a:t>
            </a:r>
            <a:r>
              <a:rPr lang="en-US" altLang="zh-CN" dirty="0">
                <a:latin typeface="黑体" pitchFamily="2" charset="-122"/>
                <a:ea typeface="黑体" pitchFamily="2" charset="-122"/>
              </a:rPr>
              <a:t>I/O</a:t>
            </a:r>
            <a:r>
              <a:rPr lang="zh-CN" altLang="en-US">
                <a:latin typeface="黑体" pitchFamily="2" charset="-122"/>
                <a:ea typeface="黑体" pitchFamily="2" charset="-122"/>
              </a:rPr>
              <a:t>）工作完成；</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/IORD I/O</a:t>
            </a:r>
            <a:r>
              <a:rPr lang="zh-CN" altLang="en-US">
                <a:latin typeface="黑体" pitchFamily="2" charset="-122"/>
                <a:ea typeface="黑体" pitchFamily="2" charset="-122"/>
              </a:rPr>
              <a:t>读；</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/IOWR I/O</a:t>
            </a:r>
            <a:r>
              <a:rPr lang="zh-CN" altLang="en-US">
                <a:latin typeface="黑体" pitchFamily="2" charset="-122"/>
                <a:ea typeface="黑体" pitchFamily="2" charset="-122"/>
              </a:rPr>
              <a:t>写。</a:t>
            </a:r>
          </a:p>
        </p:txBody>
      </p:sp>
    </p:spTree>
  </p:cSld>
  <p:clrMapOvr>
    <a:masterClrMapping/>
  </p:clrMapOvr>
  <p:transition>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187036" y="352637"/>
            <a:ext cx="8863445" cy="270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rIns="36000" bIns="0" anchor="ctr">
            <a:spAutoFit/>
          </a:bodyPr>
          <a:lstStyle/>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模型机的简图如下图所示。请写出微操作序列，每一步微操作写出其功能说明及所需的微命令。 </a:t>
            </a:r>
          </a:p>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1</a:t>
            </a:r>
            <a:r>
              <a:rPr lang="zh-CN" altLang="en-US" dirty="0">
                <a:solidFill>
                  <a:srgbClr val="000099"/>
                </a:solidFill>
                <a:latin typeface="黑体" pitchFamily="2" charset="-122"/>
                <a:ea typeface="黑体" pitchFamily="2" charset="-122"/>
                <a:sym typeface="Symbol" pitchFamily="18" charset="2"/>
              </a:rPr>
              <a:t>）实现 </a:t>
            </a:r>
            <a:r>
              <a:rPr lang="en-US" altLang="zh-CN" dirty="0">
                <a:solidFill>
                  <a:srgbClr val="000099"/>
                </a:solidFill>
                <a:latin typeface="黑体" pitchFamily="2" charset="-122"/>
                <a:ea typeface="黑体" pitchFamily="2" charset="-122"/>
                <a:sym typeface="Symbol" pitchFamily="18" charset="2"/>
              </a:rPr>
              <a:t>AX →DR </a:t>
            </a:r>
            <a:r>
              <a:rPr lang="zh-CN" altLang="en-US" dirty="0">
                <a:solidFill>
                  <a:srgbClr val="000099"/>
                </a:solidFill>
                <a:latin typeface="黑体" pitchFamily="2" charset="-122"/>
                <a:ea typeface="黑体" pitchFamily="2" charset="-122"/>
                <a:sym typeface="Symbol" pitchFamily="18" charset="2"/>
              </a:rPr>
              <a:t>所需的微操作序列； </a:t>
            </a:r>
          </a:p>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2</a:t>
            </a:r>
            <a:r>
              <a:rPr lang="zh-CN" altLang="en-US" dirty="0">
                <a:solidFill>
                  <a:srgbClr val="000099"/>
                </a:solidFill>
                <a:latin typeface="黑体" pitchFamily="2" charset="-122"/>
                <a:ea typeface="黑体" pitchFamily="2" charset="-122"/>
                <a:sym typeface="Symbol" pitchFamily="18" charset="2"/>
              </a:rPr>
              <a:t>）实现</a:t>
            </a:r>
            <a:r>
              <a:rPr lang="en-US" altLang="zh-CN" dirty="0">
                <a:solidFill>
                  <a:srgbClr val="000099"/>
                </a:solidFill>
                <a:latin typeface="黑体" pitchFamily="2" charset="-122"/>
                <a:ea typeface="黑体" pitchFamily="2" charset="-122"/>
                <a:sym typeface="Symbol" pitchFamily="18" charset="2"/>
              </a:rPr>
              <a:t>BX+1</a:t>
            </a: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BX </a:t>
            </a:r>
            <a:r>
              <a:rPr lang="zh-CN" altLang="en-US" dirty="0">
                <a:solidFill>
                  <a:srgbClr val="000099"/>
                </a:solidFill>
                <a:latin typeface="黑体" pitchFamily="2" charset="-122"/>
                <a:ea typeface="黑体" pitchFamily="2" charset="-122"/>
                <a:sym typeface="Symbol" pitchFamily="18" charset="2"/>
              </a:rPr>
              <a:t>功能所需的微操作序列；</a:t>
            </a:r>
            <a:endParaRPr lang="en-US" altLang="zh-CN" dirty="0">
              <a:solidFill>
                <a:srgbClr val="000099"/>
              </a:solidFill>
              <a:latin typeface="黑体" pitchFamily="2" charset="-122"/>
              <a:ea typeface="黑体" pitchFamily="2" charset="-122"/>
              <a:sym typeface="Symbol" pitchFamily="18" charset="2"/>
            </a:endParaRPr>
          </a:p>
          <a:p>
            <a:pPr>
              <a:lnSpc>
                <a:spcPct val="120000"/>
              </a:lnSpc>
              <a:spcBef>
                <a:spcPct val="0"/>
              </a:spcBef>
              <a:buClrTx/>
              <a:buFontTx/>
              <a:buNone/>
              <a:tabLst>
                <a:tab pos="355600" algn="l"/>
              </a:tabLst>
            </a:pPr>
            <a:r>
              <a:rPr lang="en-US" altLang="zh-CN" dirty="0">
                <a:solidFill>
                  <a:srgbClr val="000099"/>
                </a:solidFill>
                <a:latin typeface="黑体" pitchFamily="2" charset="-122"/>
                <a:ea typeface="黑体" pitchFamily="2" charset="-122"/>
                <a:sym typeface="Symbol" pitchFamily="18" charset="2"/>
              </a:rPr>
              <a:t>(3)</a:t>
            </a:r>
            <a:r>
              <a:rPr lang="zh-CN" altLang="en-US" dirty="0">
                <a:solidFill>
                  <a:srgbClr val="000099"/>
                </a:solidFill>
                <a:latin typeface="黑体" pitchFamily="2" charset="-122"/>
                <a:ea typeface="黑体" pitchFamily="2" charset="-122"/>
                <a:sym typeface="Symbol" pitchFamily="18" charset="2"/>
              </a:rPr>
              <a:t>按立即数寻址方式（假设立即数位于指令的第二个字中），把操作数取到</a:t>
            </a:r>
            <a:r>
              <a:rPr lang="en-US" altLang="zh-CN" dirty="0">
                <a:solidFill>
                  <a:srgbClr val="000099"/>
                </a:solidFill>
                <a:latin typeface="黑体" pitchFamily="2" charset="-122"/>
                <a:ea typeface="黑体" pitchFamily="2" charset="-122"/>
                <a:sym typeface="Symbol" pitchFamily="18" charset="2"/>
              </a:rPr>
              <a:t>DR</a:t>
            </a:r>
            <a:r>
              <a:rPr lang="zh-CN" altLang="en-US" dirty="0">
                <a:solidFill>
                  <a:srgbClr val="000099"/>
                </a:solidFill>
                <a:latin typeface="黑体" pitchFamily="2" charset="-122"/>
                <a:ea typeface="黑体" pitchFamily="2" charset="-122"/>
                <a:sym typeface="Symbol" pitchFamily="18" charset="2"/>
              </a:rPr>
              <a:t>所需的微操作序列 </a:t>
            </a:r>
          </a:p>
        </p:txBody>
      </p:sp>
      <p:pic>
        <p:nvPicPr>
          <p:cNvPr id="4" name="Picture 1" descr="C:\Users\wy\AppData\Roaming\Tencent\Users\4494101\QQ\WinTemp\RichOle\NH99H2W26LX[JDCN]_1~IB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945" y="2967750"/>
            <a:ext cx="4561268" cy="4205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156823"/>
      </p:ext>
    </p:extLst>
  </p:cSld>
  <p:clrMapOvr>
    <a:masterClrMapping/>
  </p:clrMapOvr>
  <p:transition>
    <p:wipe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187036" y="352637"/>
            <a:ext cx="8863445" cy="270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rIns="36000" bIns="0" anchor="ctr">
            <a:spAutoFit/>
          </a:bodyPr>
          <a:lstStyle/>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模型机的简图如下图所示。请写出微操作序列，每一步微操作写出其功能说明及所需的微命令。 </a:t>
            </a:r>
          </a:p>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1</a:t>
            </a:r>
            <a:r>
              <a:rPr lang="zh-CN" altLang="en-US" dirty="0">
                <a:solidFill>
                  <a:srgbClr val="000099"/>
                </a:solidFill>
                <a:latin typeface="黑体" pitchFamily="2" charset="-122"/>
                <a:ea typeface="黑体" pitchFamily="2" charset="-122"/>
                <a:sym typeface="Symbol" pitchFamily="18" charset="2"/>
              </a:rPr>
              <a:t>）实现 </a:t>
            </a:r>
            <a:r>
              <a:rPr lang="en-US" altLang="zh-CN" dirty="0">
                <a:solidFill>
                  <a:srgbClr val="000099"/>
                </a:solidFill>
                <a:latin typeface="黑体" pitchFamily="2" charset="-122"/>
                <a:ea typeface="黑体" pitchFamily="2" charset="-122"/>
                <a:sym typeface="Symbol" pitchFamily="18" charset="2"/>
              </a:rPr>
              <a:t>AX →DR </a:t>
            </a:r>
            <a:r>
              <a:rPr lang="zh-CN" altLang="en-US" dirty="0">
                <a:solidFill>
                  <a:srgbClr val="000099"/>
                </a:solidFill>
                <a:latin typeface="黑体" pitchFamily="2" charset="-122"/>
                <a:ea typeface="黑体" pitchFamily="2" charset="-122"/>
                <a:sym typeface="Symbol" pitchFamily="18" charset="2"/>
              </a:rPr>
              <a:t>所需的微操作序列； </a:t>
            </a:r>
          </a:p>
          <a:p>
            <a:pPr>
              <a:lnSpc>
                <a:spcPct val="120000"/>
              </a:lnSpc>
              <a:spcBef>
                <a:spcPct val="0"/>
              </a:spcBef>
              <a:buClrTx/>
              <a:buFontTx/>
              <a:buNone/>
              <a:tabLst>
                <a:tab pos="355600" algn="l"/>
              </a:tabLst>
            </a:pP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2</a:t>
            </a:r>
            <a:r>
              <a:rPr lang="zh-CN" altLang="en-US" dirty="0">
                <a:solidFill>
                  <a:srgbClr val="000099"/>
                </a:solidFill>
                <a:latin typeface="黑体" pitchFamily="2" charset="-122"/>
                <a:ea typeface="黑体" pitchFamily="2" charset="-122"/>
                <a:sym typeface="Symbol" pitchFamily="18" charset="2"/>
              </a:rPr>
              <a:t>）实现</a:t>
            </a:r>
            <a:r>
              <a:rPr lang="en-US" altLang="zh-CN" dirty="0">
                <a:solidFill>
                  <a:srgbClr val="000099"/>
                </a:solidFill>
                <a:latin typeface="黑体" pitchFamily="2" charset="-122"/>
                <a:ea typeface="黑体" pitchFamily="2" charset="-122"/>
                <a:sym typeface="Symbol" pitchFamily="18" charset="2"/>
              </a:rPr>
              <a:t>BX+1</a:t>
            </a:r>
            <a:r>
              <a:rPr lang="zh-CN" altLang="en-US" dirty="0">
                <a:solidFill>
                  <a:srgbClr val="000099"/>
                </a:solidFill>
                <a:latin typeface="黑体" pitchFamily="2" charset="-122"/>
                <a:ea typeface="黑体" pitchFamily="2" charset="-122"/>
                <a:sym typeface="Symbol" pitchFamily="18" charset="2"/>
              </a:rPr>
              <a:t>→</a:t>
            </a:r>
            <a:r>
              <a:rPr lang="en-US" altLang="zh-CN" dirty="0">
                <a:solidFill>
                  <a:srgbClr val="000099"/>
                </a:solidFill>
                <a:latin typeface="黑体" pitchFamily="2" charset="-122"/>
                <a:ea typeface="黑体" pitchFamily="2" charset="-122"/>
                <a:sym typeface="Symbol" pitchFamily="18" charset="2"/>
              </a:rPr>
              <a:t>BX </a:t>
            </a:r>
            <a:r>
              <a:rPr lang="zh-CN" altLang="en-US" dirty="0">
                <a:solidFill>
                  <a:srgbClr val="000099"/>
                </a:solidFill>
                <a:latin typeface="黑体" pitchFamily="2" charset="-122"/>
                <a:ea typeface="黑体" pitchFamily="2" charset="-122"/>
                <a:sym typeface="Symbol" pitchFamily="18" charset="2"/>
              </a:rPr>
              <a:t>功能所需的微操作序列；</a:t>
            </a:r>
            <a:endParaRPr lang="en-US" altLang="zh-CN" dirty="0">
              <a:solidFill>
                <a:srgbClr val="000099"/>
              </a:solidFill>
              <a:latin typeface="黑体" pitchFamily="2" charset="-122"/>
              <a:ea typeface="黑体" pitchFamily="2" charset="-122"/>
              <a:sym typeface="Symbol" pitchFamily="18" charset="2"/>
            </a:endParaRPr>
          </a:p>
          <a:p>
            <a:pPr>
              <a:lnSpc>
                <a:spcPct val="120000"/>
              </a:lnSpc>
              <a:spcBef>
                <a:spcPct val="0"/>
              </a:spcBef>
              <a:buClrTx/>
              <a:buFontTx/>
              <a:buNone/>
              <a:tabLst>
                <a:tab pos="355600" algn="l"/>
              </a:tabLst>
            </a:pPr>
            <a:r>
              <a:rPr lang="en-US" altLang="zh-CN" dirty="0">
                <a:solidFill>
                  <a:srgbClr val="000099"/>
                </a:solidFill>
                <a:latin typeface="黑体" pitchFamily="2" charset="-122"/>
                <a:ea typeface="黑体" pitchFamily="2" charset="-122"/>
                <a:sym typeface="Symbol" pitchFamily="18" charset="2"/>
              </a:rPr>
              <a:t>(3)</a:t>
            </a:r>
            <a:r>
              <a:rPr lang="zh-CN" altLang="en-US" dirty="0">
                <a:solidFill>
                  <a:srgbClr val="000099"/>
                </a:solidFill>
                <a:latin typeface="黑体" pitchFamily="2" charset="-122"/>
                <a:ea typeface="黑体" pitchFamily="2" charset="-122"/>
                <a:sym typeface="Symbol" pitchFamily="18" charset="2"/>
              </a:rPr>
              <a:t>按立即数寻址方式（假设立即数位于指令的第二个字中），把操作数取到</a:t>
            </a:r>
            <a:r>
              <a:rPr lang="en-US" altLang="zh-CN" dirty="0">
                <a:solidFill>
                  <a:srgbClr val="000099"/>
                </a:solidFill>
                <a:latin typeface="黑体" pitchFamily="2" charset="-122"/>
                <a:ea typeface="黑体" pitchFamily="2" charset="-122"/>
                <a:sym typeface="Symbol" pitchFamily="18" charset="2"/>
              </a:rPr>
              <a:t>DR</a:t>
            </a:r>
            <a:r>
              <a:rPr lang="zh-CN" altLang="en-US" dirty="0">
                <a:solidFill>
                  <a:srgbClr val="000099"/>
                </a:solidFill>
                <a:latin typeface="黑体" pitchFamily="2" charset="-122"/>
                <a:ea typeface="黑体" pitchFamily="2" charset="-122"/>
                <a:sym typeface="Symbol" pitchFamily="18" charset="2"/>
              </a:rPr>
              <a:t>所需的微操作序列 </a:t>
            </a:r>
          </a:p>
        </p:txBody>
      </p:sp>
      <p:pic>
        <p:nvPicPr>
          <p:cNvPr id="5" name="Picture 1" descr="C:\Users\wy\AppData\Roaming\Tencent\Users\4494101\QQ\WinTemp\RichOle\D~M5~5C7C4HDB}XF})R296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541" y="3057993"/>
            <a:ext cx="6916431" cy="3443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834854"/>
      </p:ext>
    </p:extLst>
  </p:cSld>
  <p:clrMapOvr>
    <a:masterClrMapping/>
  </p:clrMapOvr>
  <p:transition>
    <p:wipe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ChangeArrowheads="1"/>
          </p:cNvSpPr>
          <p:nvPr/>
        </p:nvSpPr>
        <p:spPr bwMode="auto">
          <a:xfrm>
            <a:off x="1752600" y="4860925"/>
            <a:ext cx="6286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br>
              <a:rPr lang="en-US" altLang="zh-CN" sz="1800" b="0" dirty="0">
                <a:solidFill>
                  <a:schemeClr val="tx1"/>
                </a:solidFill>
                <a:latin typeface="黑体" pitchFamily="2" charset="-122"/>
                <a:ea typeface="黑体" pitchFamily="2" charset="-122"/>
              </a:rPr>
            </a:br>
            <a:endParaRPr lang="en-US" altLang="zh-CN" sz="1800" b="0" dirty="0">
              <a:solidFill>
                <a:schemeClr val="tx1"/>
              </a:solidFill>
              <a:latin typeface="黑体" pitchFamily="2" charset="-122"/>
              <a:ea typeface="黑体" pitchFamily="2" charset="-122"/>
            </a:endParaRPr>
          </a:p>
          <a:p>
            <a:pPr eaLnBrk="0" hangingPunct="0">
              <a:lnSpc>
                <a:spcPct val="100000"/>
              </a:lnSpc>
              <a:spcBef>
                <a:spcPct val="0"/>
              </a:spcBef>
            </a:pPr>
            <a:r>
              <a:rPr lang="en-US" altLang="zh-CN" sz="1200" dirty="0">
                <a:solidFill>
                  <a:schemeClr val="tx1"/>
                </a:solidFill>
                <a:latin typeface="黑体" pitchFamily="2" charset="-122"/>
                <a:ea typeface="黑体" pitchFamily="2" charset="-122"/>
                <a:cs typeface="Times New Roman" pitchFamily="18" charset="0"/>
              </a:rPr>
              <a:t>     </a:t>
            </a:r>
            <a:r>
              <a:rPr lang="en-US" altLang="zh-CN" sz="1000" b="0" dirty="0">
                <a:solidFill>
                  <a:schemeClr val="tx1"/>
                </a:solidFill>
                <a:latin typeface="黑体" pitchFamily="2" charset="-122"/>
                <a:ea typeface="黑体" pitchFamily="2" charset="-122"/>
                <a:cs typeface="Times New Roman" pitchFamily="18" charset="0"/>
              </a:rPr>
              <a:t> </a:t>
            </a:r>
            <a:endParaRPr lang="en-US" altLang="zh-CN" sz="1800" b="0" dirty="0">
              <a:solidFill>
                <a:schemeClr val="tx1"/>
              </a:solidFill>
              <a:latin typeface="黑体" pitchFamily="2" charset="-122"/>
              <a:ea typeface="黑体" pitchFamily="2" charset="-122"/>
            </a:endParaRPr>
          </a:p>
        </p:txBody>
      </p:sp>
      <p:sp>
        <p:nvSpPr>
          <p:cNvPr id="60419" name="Rectangle 8"/>
          <p:cNvSpPr>
            <a:spLocks noChangeArrowheads="1"/>
          </p:cNvSpPr>
          <p:nvPr/>
        </p:nvSpPr>
        <p:spPr bwMode="auto">
          <a:xfrm>
            <a:off x="900113" y="944563"/>
            <a:ext cx="457200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(1)</a:t>
            </a:r>
            <a:r>
              <a:rPr lang="zh-CN" altLang="en-US">
                <a:latin typeface="黑体" pitchFamily="2" charset="-122"/>
                <a:ea typeface="黑体" pitchFamily="2" charset="-122"/>
              </a:rPr>
              <a:t>指令系统</a:t>
            </a:r>
          </a:p>
          <a:p>
            <a:pPr>
              <a:spcBef>
                <a:spcPct val="0"/>
              </a:spcBef>
            </a:pPr>
            <a:r>
              <a:rPr lang="zh-CN" altLang="en-US">
                <a:latin typeface="黑体" pitchFamily="2" charset="-122"/>
                <a:ea typeface="黑体" pitchFamily="2" charset="-122"/>
              </a:rPr>
              <a:t> ①双操作数指令</a:t>
            </a:r>
          </a:p>
        </p:txBody>
      </p:sp>
      <p:sp>
        <p:nvSpPr>
          <p:cNvPr id="60420" name="Rectangle 9"/>
          <p:cNvSpPr>
            <a:spLocks noChangeArrowheads="1"/>
          </p:cNvSpPr>
          <p:nvPr/>
        </p:nvSpPr>
        <p:spPr bwMode="auto">
          <a:xfrm>
            <a:off x="1258888" y="4652963"/>
            <a:ext cx="75977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spcBef>
                <a:spcPct val="0"/>
              </a:spcBef>
            </a:pPr>
            <a:r>
              <a:rPr lang="zh-CN" altLang="en-US">
                <a:solidFill>
                  <a:srgbClr val="000066"/>
                </a:solidFill>
                <a:latin typeface="黑体" pitchFamily="2" charset="-122"/>
                <a:ea typeface="黑体" pitchFamily="2" charset="-122"/>
              </a:rPr>
              <a:t>如：</a:t>
            </a:r>
            <a:r>
              <a:rPr lang="en-US" altLang="zh-CN" dirty="0">
                <a:solidFill>
                  <a:srgbClr val="000066"/>
                </a:solidFill>
                <a:latin typeface="黑体" pitchFamily="2" charset="-122"/>
                <a:ea typeface="黑体" pitchFamily="2" charset="-122"/>
              </a:rPr>
              <a:t>MOV</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IN/OUT</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ADD</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ADC</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SUB</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SUBB</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CMP</a:t>
            </a:r>
            <a:r>
              <a:rPr lang="zh-CN" altLang="en-US">
                <a:solidFill>
                  <a:srgbClr val="000066"/>
                </a:solidFill>
                <a:latin typeface="黑体" pitchFamily="2" charset="-122"/>
                <a:ea typeface="黑体" pitchFamily="2" charset="-122"/>
              </a:rPr>
              <a:t>、</a:t>
            </a:r>
          </a:p>
          <a:p>
            <a:pPr eaLnBrk="0" hangingPunct="0">
              <a:lnSpc>
                <a:spcPct val="100000"/>
              </a:lnSpc>
              <a:spcBef>
                <a:spcPct val="0"/>
              </a:spcBef>
            </a:pPr>
            <a:r>
              <a:rPr lang="zh-CN" altLang="en-US">
                <a:solidFill>
                  <a:srgbClr val="000066"/>
                </a:solidFill>
                <a:latin typeface="黑体" pitchFamily="2" charset="-122"/>
                <a:ea typeface="黑体" pitchFamily="2" charset="-122"/>
              </a:rPr>
              <a:t>    </a:t>
            </a:r>
            <a:r>
              <a:rPr lang="en-US" altLang="zh-CN" dirty="0">
                <a:solidFill>
                  <a:srgbClr val="000066"/>
                </a:solidFill>
                <a:latin typeface="黑体" pitchFamily="2" charset="-122"/>
                <a:ea typeface="黑体" pitchFamily="2" charset="-122"/>
              </a:rPr>
              <a:t>AND</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OR</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XOR</a:t>
            </a:r>
            <a:r>
              <a:rPr lang="zh-CN" altLang="en-US">
                <a:solidFill>
                  <a:srgbClr val="000066"/>
                </a:solidFill>
                <a:latin typeface="黑体" pitchFamily="2" charset="-122"/>
                <a:ea typeface="黑体" pitchFamily="2" charset="-122"/>
              </a:rPr>
              <a:t>、</a:t>
            </a:r>
            <a:r>
              <a:rPr lang="en-US" altLang="zh-CN" dirty="0">
                <a:solidFill>
                  <a:srgbClr val="000066"/>
                </a:solidFill>
                <a:latin typeface="黑体" pitchFamily="2" charset="-122"/>
                <a:ea typeface="黑体" pitchFamily="2" charset="-122"/>
              </a:rPr>
              <a:t>TEST</a:t>
            </a:r>
            <a:endParaRPr lang="zh-CN" altLang="en-US">
              <a:solidFill>
                <a:srgbClr val="000066"/>
              </a:solidFill>
              <a:latin typeface="黑体" pitchFamily="2" charset="-122"/>
              <a:ea typeface="黑体" pitchFamily="2" charset="-122"/>
            </a:endParaRPr>
          </a:p>
        </p:txBody>
      </p:sp>
      <p:sp>
        <p:nvSpPr>
          <p:cNvPr id="60421" name="Rectangle 4"/>
          <p:cNvSpPr>
            <a:spLocks noChangeArrowheads="1"/>
          </p:cNvSpPr>
          <p:nvPr/>
        </p:nvSpPr>
        <p:spPr bwMode="auto">
          <a:xfrm>
            <a:off x="647700" y="476250"/>
            <a:ext cx="4322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dirty="0">
                <a:solidFill>
                  <a:srgbClr val="CC3300"/>
                </a:solidFill>
                <a:latin typeface="黑体" pitchFamily="2" charset="-122"/>
                <a:ea typeface="黑体" pitchFamily="2" charset="-122"/>
              </a:rPr>
              <a:t>2.</a:t>
            </a:r>
            <a:r>
              <a:rPr lang="zh-CN" altLang="en-US">
                <a:solidFill>
                  <a:srgbClr val="CC3300"/>
                </a:solidFill>
                <a:latin typeface="黑体" pitchFamily="2" charset="-122"/>
                <a:ea typeface="黑体" pitchFamily="2" charset="-122"/>
              </a:rPr>
              <a:t>模型机指令系统及寻址方式 </a:t>
            </a:r>
          </a:p>
        </p:txBody>
      </p:sp>
      <p:graphicFrame>
        <p:nvGraphicFramePr>
          <p:cNvPr id="196775" name="Group 167"/>
          <p:cNvGraphicFramePr>
            <a:graphicFrameLocks noGrp="1"/>
          </p:cNvGraphicFramePr>
          <p:nvPr/>
        </p:nvGraphicFramePr>
        <p:xfrm>
          <a:off x="2051050" y="2420938"/>
          <a:ext cx="6624638" cy="365188"/>
        </p:xfrm>
        <a:graphic>
          <a:graphicData uri="http://schemas.openxmlformats.org/drawingml/2006/table">
            <a:tbl>
              <a:tblPr/>
              <a:tblGrid>
                <a:gridCol w="187325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54038">
                  <a:extLst>
                    <a:ext uri="{9D8B030D-6E8A-4147-A177-3AD203B41FA5}">
                      <a16:colId xmlns:a16="http://schemas.microsoft.com/office/drawing/2014/main" val="20002"/>
                    </a:ext>
                  </a:extLst>
                </a:gridCol>
                <a:gridCol w="468312">
                  <a:extLst>
                    <a:ext uri="{9D8B030D-6E8A-4147-A177-3AD203B41FA5}">
                      <a16:colId xmlns:a16="http://schemas.microsoft.com/office/drawing/2014/main" val="20003"/>
                    </a:ext>
                  </a:extLst>
                </a:gridCol>
                <a:gridCol w="468313">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6725">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tblGrid>
              <a:tr h="365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OP</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不用</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S/D</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0</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0446" name="Rectangle 205"/>
          <p:cNvSpPr>
            <a:spLocks noChangeArrowheads="1"/>
          </p:cNvSpPr>
          <p:nvPr/>
        </p:nvSpPr>
        <p:spPr bwMode="auto">
          <a:xfrm>
            <a:off x="2051050" y="2406650"/>
            <a:ext cx="6624638" cy="365125"/>
          </a:xfrm>
          <a:prstGeom prst="rect">
            <a:avLst/>
          </a:prstGeom>
          <a:noFill/>
          <a:ln w="2857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latin typeface="黑体" pitchFamily="2" charset="-122"/>
              <a:ea typeface="黑体" pitchFamily="2" charset="-122"/>
            </a:endParaRPr>
          </a:p>
        </p:txBody>
      </p:sp>
      <p:sp>
        <p:nvSpPr>
          <p:cNvPr id="60447" name="Text Box 209"/>
          <p:cNvSpPr txBox="1">
            <a:spLocks noChangeArrowheads="1"/>
          </p:cNvSpPr>
          <p:nvPr/>
        </p:nvSpPr>
        <p:spPr bwMode="auto">
          <a:xfrm>
            <a:off x="525463" y="2273300"/>
            <a:ext cx="14319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单字指令：</a:t>
            </a:r>
          </a:p>
        </p:txBody>
      </p:sp>
      <p:sp>
        <p:nvSpPr>
          <p:cNvPr id="60448" name="Text Box 210"/>
          <p:cNvSpPr txBox="1">
            <a:spLocks noChangeArrowheads="1"/>
          </p:cNvSpPr>
          <p:nvPr/>
        </p:nvSpPr>
        <p:spPr bwMode="auto">
          <a:xfrm>
            <a:off x="2003425" y="2022475"/>
            <a:ext cx="64928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15       10 9  8  7  6  5  4  3  2  1  0 </a:t>
            </a:r>
          </a:p>
        </p:txBody>
      </p:sp>
      <p:sp>
        <p:nvSpPr>
          <p:cNvPr id="60449" name="Text Box 211"/>
          <p:cNvSpPr txBox="1">
            <a:spLocks noChangeArrowheads="1"/>
          </p:cNvSpPr>
          <p:nvPr/>
        </p:nvSpPr>
        <p:spPr bwMode="auto">
          <a:xfrm>
            <a:off x="525463" y="3503613"/>
            <a:ext cx="14319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双字指令：</a:t>
            </a:r>
          </a:p>
        </p:txBody>
      </p:sp>
      <p:sp>
        <p:nvSpPr>
          <p:cNvPr id="60450" name="Rectangle 212"/>
          <p:cNvSpPr>
            <a:spLocks noChangeArrowheads="1"/>
          </p:cNvSpPr>
          <p:nvPr/>
        </p:nvSpPr>
        <p:spPr bwMode="auto">
          <a:xfrm>
            <a:off x="2646363" y="4354513"/>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graphicFrame>
        <p:nvGraphicFramePr>
          <p:cNvPr id="196804" name="Group 196"/>
          <p:cNvGraphicFramePr>
            <a:graphicFrameLocks noGrp="1"/>
          </p:cNvGraphicFramePr>
          <p:nvPr/>
        </p:nvGraphicFramePr>
        <p:xfrm>
          <a:off x="2060575" y="3505200"/>
          <a:ext cx="6661150" cy="731838"/>
        </p:xfrm>
        <a:graphic>
          <a:graphicData uri="http://schemas.openxmlformats.org/drawingml/2006/table">
            <a:tbl>
              <a:tblPr/>
              <a:tblGrid>
                <a:gridCol w="1884363">
                  <a:extLst>
                    <a:ext uri="{9D8B030D-6E8A-4147-A177-3AD203B41FA5}">
                      <a16:colId xmlns:a16="http://schemas.microsoft.com/office/drawing/2014/main" val="20000"/>
                    </a:ext>
                  </a:extLst>
                </a:gridCol>
                <a:gridCol w="917575">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73075">
                  <a:extLst>
                    <a:ext uri="{9D8B030D-6E8A-4147-A177-3AD203B41FA5}">
                      <a16:colId xmlns:a16="http://schemas.microsoft.com/office/drawing/2014/main" val="20004"/>
                    </a:ext>
                  </a:extLst>
                </a:gridCol>
                <a:gridCol w="471487">
                  <a:extLst>
                    <a:ext uri="{9D8B030D-6E8A-4147-A177-3AD203B41FA5}">
                      <a16:colId xmlns:a16="http://schemas.microsoft.com/office/drawing/2014/main" val="20005"/>
                    </a:ext>
                  </a:extLst>
                </a:gridCol>
                <a:gridCol w="471488">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71487">
                  <a:extLst>
                    <a:ext uri="{9D8B030D-6E8A-4147-A177-3AD203B41FA5}">
                      <a16:colId xmlns:a16="http://schemas.microsoft.com/office/drawing/2014/main" val="20008"/>
                    </a:ext>
                  </a:extLst>
                </a:gridCol>
                <a:gridCol w="473075">
                  <a:extLst>
                    <a:ext uri="{9D8B030D-6E8A-4147-A177-3AD203B41FA5}">
                      <a16:colId xmlns:a16="http://schemas.microsoft.com/office/drawing/2014/main" val="20009"/>
                    </a:ext>
                  </a:extLst>
                </a:gridCol>
              </a:tblGrid>
              <a:tr h="36563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OP</a:t>
                      </a:r>
                    </a:p>
                  </a:txBody>
                  <a:tcPr marT="45657" marB="45657"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不用</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S/D</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204">
                <a:tc gridSpan="10">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imm </a:t>
                      </a: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或 </a:t>
                      </a: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disp </a:t>
                      </a: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或 </a:t>
                      </a: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addr</a:t>
                      </a:r>
                    </a:p>
                  </a:txBody>
                  <a:tcPr marT="45657" marB="456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0477" name="Rectangle 204"/>
          <p:cNvSpPr>
            <a:spLocks noChangeArrowheads="1"/>
          </p:cNvSpPr>
          <p:nvPr/>
        </p:nvSpPr>
        <p:spPr bwMode="auto">
          <a:xfrm>
            <a:off x="2062163" y="3519488"/>
            <a:ext cx="6659562" cy="717550"/>
          </a:xfrm>
          <a:prstGeom prst="rect">
            <a:avLst/>
          </a:prstGeom>
          <a:noFill/>
          <a:ln w="2857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sp>
        <p:nvSpPr>
          <p:cNvPr id="60478" name="Text Box 208"/>
          <p:cNvSpPr txBox="1">
            <a:spLocks noChangeArrowheads="1"/>
          </p:cNvSpPr>
          <p:nvPr/>
        </p:nvSpPr>
        <p:spPr bwMode="auto">
          <a:xfrm>
            <a:off x="2049463" y="3108325"/>
            <a:ext cx="64928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15       10 9  8  7  6  5  4  3  2  1  0 </a:t>
            </a:r>
          </a:p>
        </p:txBody>
      </p:sp>
    </p:spTree>
  </p:cSld>
  <p:clrMapOvr>
    <a:masterClrMapping/>
  </p:clrMapOvr>
  <p:transition>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1371600" y="4041775"/>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nSpc>
                <a:spcPct val="100000"/>
              </a:lnSpc>
              <a:spcBef>
                <a:spcPct val="0"/>
              </a:spcBef>
            </a:pPr>
            <a:r>
              <a:rPr lang="zh-CN" altLang="en-US" dirty="0">
                <a:latin typeface="黑体" pitchFamily="2" charset="-122"/>
                <a:ea typeface="黑体" pitchFamily="2" charset="-122"/>
              </a:rPr>
              <a:t>如：</a:t>
            </a:r>
            <a:r>
              <a:rPr lang="en-US" altLang="zh-CN" dirty="0">
                <a:latin typeface="黑体" pitchFamily="2" charset="-122"/>
                <a:ea typeface="黑体" pitchFamily="2" charset="-122"/>
              </a:rPr>
              <a:t>PUSH/POP</a:t>
            </a:r>
            <a:r>
              <a:rPr lang="zh-CN" altLang="en-US" dirty="0">
                <a:latin typeface="黑体" pitchFamily="2" charset="-122"/>
                <a:ea typeface="黑体" pitchFamily="2" charset="-122"/>
              </a:rPr>
              <a:t>、</a:t>
            </a:r>
            <a:r>
              <a:rPr lang="en-US" altLang="zh-CN" dirty="0">
                <a:latin typeface="黑体" pitchFamily="2" charset="-122"/>
                <a:ea typeface="黑体" pitchFamily="2" charset="-122"/>
              </a:rPr>
              <a:t>INC/DEC</a:t>
            </a:r>
            <a:r>
              <a:rPr lang="zh-CN" altLang="en-US" dirty="0">
                <a:latin typeface="黑体" pitchFamily="2" charset="-122"/>
                <a:ea typeface="黑体" pitchFamily="2" charset="-122"/>
              </a:rPr>
              <a:t>、</a:t>
            </a:r>
            <a:r>
              <a:rPr lang="en-US" altLang="zh-CN" dirty="0">
                <a:latin typeface="黑体" pitchFamily="2" charset="-122"/>
                <a:ea typeface="黑体" pitchFamily="2" charset="-122"/>
              </a:rPr>
              <a:t>NEG</a:t>
            </a:r>
            <a:r>
              <a:rPr lang="zh-CN" altLang="en-US" dirty="0">
                <a:latin typeface="黑体" pitchFamily="2" charset="-122"/>
                <a:ea typeface="黑体" pitchFamily="2" charset="-122"/>
              </a:rPr>
              <a:t>、</a:t>
            </a:r>
            <a:r>
              <a:rPr lang="en-US" altLang="zh-CN" dirty="0">
                <a:latin typeface="黑体" pitchFamily="2" charset="-122"/>
                <a:ea typeface="黑体" pitchFamily="2" charset="-122"/>
              </a:rPr>
              <a:t>NOT</a:t>
            </a:r>
            <a:r>
              <a:rPr lang="zh-CN" altLang="en-US" dirty="0">
                <a:latin typeface="黑体" pitchFamily="2" charset="-122"/>
                <a:ea typeface="黑体" pitchFamily="2" charset="-122"/>
              </a:rPr>
              <a:t>、</a:t>
            </a:r>
          </a:p>
          <a:p>
            <a:pPr>
              <a:lnSpc>
                <a:spcPct val="100000"/>
              </a:lnSpc>
              <a:spcBef>
                <a:spcPct val="0"/>
              </a:spcBef>
            </a:pPr>
            <a:r>
              <a:rPr lang="en-US" altLang="zh-CN" dirty="0">
                <a:latin typeface="黑体" pitchFamily="2" charset="-122"/>
                <a:ea typeface="黑体" pitchFamily="2" charset="-122"/>
              </a:rPr>
              <a:t>    MUL</a:t>
            </a:r>
            <a:r>
              <a:rPr lang="zh-CN" altLang="en-US" dirty="0">
                <a:latin typeface="黑体" pitchFamily="2" charset="-122"/>
                <a:ea typeface="黑体" pitchFamily="2" charset="-122"/>
              </a:rPr>
              <a:t>、</a:t>
            </a:r>
            <a:r>
              <a:rPr lang="en-US" altLang="zh-CN" dirty="0">
                <a:latin typeface="黑体" pitchFamily="2" charset="-122"/>
                <a:ea typeface="黑体" pitchFamily="2" charset="-122"/>
              </a:rPr>
              <a:t>IMUL</a:t>
            </a:r>
            <a:r>
              <a:rPr lang="zh-CN" altLang="en-US" dirty="0">
                <a:latin typeface="黑体" pitchFamily="2" charset="-122"/>
                <a:ea typeface="黑体" pitchFamily="2" charset="-122"/>
              </a:rPr>
              <a:t>（带符号乘法指令）、</a:t>
            </a:r>
            <a:r>
              <a:rPr lang="en-US" altLang="zh-CN" dirty="0">
                <a:latin typeface="黑体" pitchFamily="2" charset="-122"/>
                <a:ea typeface="黑体" pitchFamily="2" charset="-122"/>
              </a:rPr>
              <a:t>DIV</a:t>
            </a:r>
            <a:r>
              <a:rPr lang="zh-CN" altLang="en-US" dirty="0">
                <a:latin typeface="黑体" pitchFamily="2" charset="-122"/>
                <a:ea typeface="黑体" pitchFamily="2" charset="-122"/>
              </a:rPr>
              <a:t>、</a:t>
            </a:r>
            <a:r>
              <a:rPr lang="en-US" altLang="zh-CN" dirty="0">
                <a:latin typeface="黑体" pitchFamily="2" charset="-122"/>
                <a:ea typeface="黑体" pitchFamily="2" charset="-122"/>
              </a:rPr>
              <a:t>IDIV</a:t>
            </a:r>
            <a:r>
              <a:rPr lang="zh-CN" altLang="en-US" dirty="0">
                <a:latin typeface="黑体" pitchFamily="2" charset="-122"/>
                <a:ea typeface="黑体" pitchFamily="2" charset="-122"/>
              </a:rPr>
              <a:t>、</a:t>
            </a:r>
          </a:p>
          <a:p>
            <a:pPr>
              <a:lnSpc>
                <a:spcPct val="100000"/>
              </a:lnSpc>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SHL(SAL)</a:t>
            </a:r>
            <a:r>
              <a:rPr lang="zh-CN" altLang="en-US" dirty="0">
                <a:latin typeface="黑体" pitchFamily="2" charset="-122"/>
                <a:ea typeface="黑体" pitchFamily="2" charset="-122"/>
              </a:rPr>
              <a:t>、</a:t>
            </a:r>
            <a:r>
              <a:rPr lang="en-US" altLang="zh-CN" dirty="0">
                <a:latin typeface="黑体" pitchFamily="2" charset="-122"/>
                <a:ea typeface="黑体" pitchFamily="2" charset="-122"/>
              </a:rPr>
              <a:t>SHR(SAR)</a:t>
            </a:r>
            <a:r>
              <a:rPr lang="zh-CN" altLang="en-US" dirty="0">
                <a:latin typeface="黑体" pitchFamily="2" charset="-122"/>
                <a:ea typeface="黑体" pitchFamily="2" charset="-122"/>
              </a:rPr>
              <a:t>、</a:t>
            </a:r>
            <a:r>
              <a:rPr lang="en-US" altLang="zh-CN" dirty="0">
                <a:latin typeface="黑体" pitchFamily="2" charset="-122"/>
                <a:ea typeface="黑体" pitchFamily="2" charset="-122"/>
              </a:rPr>
              <a:t>ROL/ROR</a:t>
            </a:r>
            <a:r>
              <a:rPr lang="zh-CN" altLang="en-US" dirty="0">
                <a:latin typeface="黑体" pitchFamily="2" charset="-122"/>
                <a:ea typeface="黑体" pitchFamily="2" charset="-122"/>
              </a:rPr>
              <a:t>、</a:t>
            </a:r>
            <a:r>
              <a:rPr lang="en-US" altLang="zh-CN" dirty="0">
                <a:latin typeface="黑体" pitchFamily="2" charset="-122"/>
                <a:ea typeface="黑体" pitchFamily="2" charset="-122"/>
              </a:rPr>
              <a:t>RCL/RCR</a:t>
            </a:r>
            <a:r>
              <a:rPr lang="zh-CN" altLang="en-US" dirty="0">
                <a:latin typeface="黑体" pitchFamily="2" charset="-122"/>
                <a:ea typeface="黑体" pitchFamily="2" charset="-122"/>
              </a:rPr>
              <a:t>；</a:t>
            </a:r>
          </a:p>
        </p:txBody>
      </p:sp>
      <p:sp>
        <p:nvSpPr>
          <p:cNvPr id="61443" name="Rectangle 4"/>
          <p:cNvSpPr>
            <a:spLocks noChangeArrowheads="1"/>
          </p:cNvSpPr>
          <p:nvPr/>
        </p:nvSpPr>
        <p:spPr bwMode="auto">
          <a:xfrm>
            <a:off x="747713" y="765175"/>
            <a:ext cx="414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latin typeface="黑体" pitchFamily="2" charset="-122"/>
                <a:ea typeface="黑体" pitchFamily="2" charset="-122"/>
              </a:rPr>
              <a:t>②</a:t>
            </a:r>
            <a:r>
              <a:rPr lang="zh-CN" altLang="en-US">
                <a:latin typeface="黑体" pitchFamily="2" charset="-122"/>
                <a:ea typeface="黑体" pitchFamily="2" charset="-122"/>
              </a:rPr>
              <a:t>单操作数指令</a:t>
            </a:r>
          </a:p>
        </p:txBody>
      </p:sp>
      <p:graphicFrame>
        <p:nvGraphicFramePr>
          <p:cNvPr id="197702" name="Group 70"/>
          <p:cNvGraphicFramePr>
            <a:graphicFrameLocks noGrp="1"/>
          </p:cNvGraphicFramePr>
          <p:nvPr/>
        </p:nvGraphicFramePr>
        <p:xfrm>
          <a:off x="2028825" y="1746250"/>
          <a:ext cx="6624638" cy="365188"/>
        </p:xfrm>
        <a:graphic>
          <a:graphicData uri="http://schemas.openxmlformats.org/drawingml/2006/table">
            <a:tbl>
              <a:tblPr/>
              <a:tblGrid>
                <a:gridCol w="1873250">
                  <a:extLst>
                    <a:ext uri="{9D8B030D-6E8A-4147-A177-3AD203B41FA5}">
                      <a16:colId xmlns:a16="http://schemas.microsoft.com/office/drawing/2014/main" val="20000"/>
                    </a:ext>
                  </a:extLst>
                </a:gridCol>
                <a:gridCol w="2874963">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tblGrid>
              <a:tr h="365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0 0 0 0 0 0</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OP</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0</a:t>
                      </a: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434" marB="454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7700" name="Group 68"/>
          <p:cNvGraphicFramePr>
            <a:graphicFrameLocks noGrp="1"/>
          </p:cNvGraphicFramePr>
          <p:nvPr/>
        </p:nvGraphicFramePr>
        <p:xfrm>
          <a:off x="2052638" y="2905125"/>
          <a:ext cx="6661150" cy="731838"/>
        </p:xfrm>
        <a:graphic>
          <a:graphicData uri="http://schemas.openxmlformats.org/drawingml/2006/table">
            <a:tbl>
              <a:tblPr/>
              <a:tblGrid>
                <a:gridCol w="1884362">
                  <a:extLst>
                    <a:ext uri="{9D8B030D-6E8A-4147-A177-3AD203B41FA5}">
                      <a16:colId xmlns:a16="http://schemas.microsoft.com/office/drawing/2014/main" val="20000"/>
                    </a:ext>
                  </a:extLst>
                </a:gridCol>
                <a:gridCol w="2890838">
                  <a:extLst>
                    <a:ext uri="{9D8B030D-6E8A-4147-A177-3AD203B41FA5}">
                      <a16:colId xmlns:a16="http://schemas.microsoft.com/office/drawing/2014/main" val="20001"/>
                    </a:ext>
                  </a:extLst>
                </a:gridCol>
                <a:gridCol w="471487">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71488">
                  <a:extLst>
                    <a:ext uri="{9D8B030D-6E8A-4147-A177-3AD203B41FA5}">
                      <a16:colId xmlns:a16="http://schemas.microsoft.com/office/drawing/2014/main" val="20004"/>
                    </a:ext>
                  </a:extLst>
                </a:gridCol>
                <a:gridCol w="473075">
                  <a:extLst>
                    <a:ext uri="{9D8B030D-6E8A-4147-A177-3AD203B41FA5}">
                      <a16:colId xmlns:a16="http://schemas.microsoft.com/office/drawing/2014/main" val="20005"/>
                    </a:ext>
                  </a:extLst>
                </a:gridCol>
              </a:tblGrid>
              <a:tr h="36563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0 0 0 0 0 0</a:t>
                      </a:r>
                    </a:p>
                  </a:txBody>
                  <a:tcPr marT="45657" marB="45657"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rPr>
                        <a:t>OP</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1</a:t>
                      </a: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T="45657" marB="45657"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204">
                <a:tc gridSpan="6">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imm </a:t>
                      </a: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或 </a:t>
                      </a: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disp </a:t>
                      </a:r>
                      <a:r>
                        <a:rPr kumimoji="0" lang="zh-CN" altLang="en-US"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或 </a:t>
                      </a: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addr</a:t>
                      </a:r>
                    </a:p>
                  </a:txBody>
                  <a:tcPr marT="45657" marB="456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1478" name="Rectangle 56"/>
          <p:cNvSpPr>
            <a:spLocks noChangeArrowheads="1"/>
          </p:cNvSpPr>
          <p:nvPr/>
        </p:nvSpPr>
        <p:spPr bwMode="auto">
          <a:xfrm>
            <a:off x="2054225" y="2905125"/>
            <a:ext cx="6659563" cy="719138"/>
          </a:xfrm>
          <a:prstGeom prst="rect">
            <a:avLst/>
          </a:prstGeom>
          <a:noFill/>
          <a:ln w="2857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sp>
        <p:nvSpPr>
          <p:cNvPr id="61479" name="Rectangle 57"/>
          <p:cNvSpPr>
            <a:spLocks noChangeArrowheads="1"/>
          </p:cNvSpPr>
          <p:nvPr/>
        </p:nvSpPr>
        <p:spPr bwMode="auto">
          <a:xfrm>
            <a:off x="2028825" y="1746250"/>
            <a:ext cx="6624638" cy="360363"/>
          </a:xfrm>
          <a:prstGeom prst="rect">
            <a:avLst/>
          </a:prstGeom>
          <a:noFill/>
          <a:ln w="2857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sp>
        <p:nvSpPr>
          <p:cNvPr id="61480" name="Text Box 60"/>
          <p:cNvSpPr txBox="1">
            <a:spLocks noChangeArrowheads="1"/>
          </p:cNvSpPr>
          <p:nvPr/>
        </p:nvSpPr>
        <p:spPr bwMode="auto">
          <a:xfrm>
            <a:off x="1984375" y="1303338"/>
            <a:ext cx="64928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15       10 9               4  3  2  1  0 </a:t>
            </a:r>
          </a:p>
        </p:txBody>
      </p:sp>
      <p:sp>
        <p:nvSpPr>
          <p:cNvPr id="61481" name="Text Box 61"/>
          <p:cNvSpPr txBox="1">
            <a:spLocks noChangeArrowheads="1"/>
          </p:cNvSpPr>
          <p:nvPr/>
        </p:nvSpPr>
        <p:spPr bwMode="auto">
          <a:xfrm>
            <a:off x="525463" y="1612900"/>
            <a:ext cx="14319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单字指令：</a:t>
            </a:r>
          </a:p>
        </p:txBody>
      </p:sp>
      <p:sp>
        <p:nvSpPr>
          <p:cNvPr id="61482" name="Text Box 62"/>
          <p:cNvSpPr txBox="1">
            <a:spLocks noChangeArrowheads="1"/>
          </p:cNvSpPr>
          <p:nvPr/>
        </p:nvSpPr>
        <p:spPr bwMode="auto">
          <a:xfrm>
            <a:off x="1984375" y="2462213"/>
            <a:ext cx="649287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15       10 9               4  3  2  1  0 </a:t>
            </a:r>
          </a:p>
        </p:txBody>
      </p:sp>
      <p:sp>
        <p:nvSpPr>
          <p:cNvPr id="61483" name="Text Box 63"/>
          <p:cNvSpPr txBox="1">
            <a:spLocks noChangeArrowheads="1"/>
          </p:cNvSpPr>
          <p:nvPr/>
        </p:nvSpPr>
        <p:spPr bwMode="auto">
          <a:xfrm>
            <a:off x="525463" y="2884488"/>
            <a:ext cx="14319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双字指令：</a:t>
            </a:r>
          </a:p>
        </p:txBody>
      </p:sp>
      <p:sp>
        <p:nvSpPr>
          <p:cNvPr id="61484" name="Rectangle 64"/>
          <p:cNvSpPr>
            <a:spLocks noChangeArrowheads="1"/>
          </p:cNvSpPr>
          <p:nvPr/>
        </p:nvSpPr>
        <p:spPr bwMode="auto">
          <a:xfrm>
            <a:off x="2646363" y="3462338"/>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spTree>
  </p:cSld>
  <p:clrMapOvr>
    <a:masterClrMapping/>
  </p:clrMapOvr>
  <p:transition>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ChangeArrowheads="1"/>
          </p:cNvSpPr>
          <p:nvPr/>
        </p:nvSpPr>
        <p:spPr bwMode="auto">
          <a:xfrm>
            <a:off x="719138" y="765175"/>
            <a:ext cx="208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sz="1000" b="0" dirty="0">
                <a:solidFill>
                  <a:srgbClr val="000066"/>
                </a:solidFill>
                <a:latin typeface="黑体" pitchFamily="2" charset="-122"/>
                <a:ea typeface="黑体" pitchFamily="2" charset="-122"/>
                <a:cs typeface="Times New Roman" pitchFamily="18" charset="0"/>
              </a:rPr>
              <a:t> </a:t>
            </a:r>
            <a:r>
              <a:rPr lang="en-US" altLang="zh-CN" dirty="0">
                <a:solidFill>
                  <a:srgbClr val="000066"/>
                </a:solidFill>
                <a:latin typeface="黑体" pitchFamily="2" charset="-122"/>
                <a:ea typeface="黑体" pitchFamily="2" charset="-122"/>
                <a:cs typeface="Times New Roman" pitchFamily="18" charset="0"/>
              </a:rPr>
              <a:t>③</a:t>
            </a:r>
            <a:r>
              <a:rPr lang="zh-CN" altLang="en-US">
                <a:solidFill>
                  <a:srgbClr val="000066"/>
                </a:solidFill>
                <a:latin typeface="黑体" pitchFamily="2" charset="-122"/>
                <a:ea typeface="黑体" pitchFamily="2" charset="-122"/>
                <a:cs typeface="Times New Roman" pitchFamily="18" charset="0"/>
              </a:rPr>
              <a:t>转移类指令</a:t>
            </a:r>
          </a:p>
        </p:txBody>
      </p:sp>
      <p:sp>
        <p:nvSpPr>
          <p:cNvPr id="62467" name="Rectangle 5"/>
          <p:cNvSpPr>
            <a:spLocks noChangeArrowheads="1"/>
          </p:cNvSpPr>
          <p:nvPr/>
        </p:nvSpPr>
        <p:spPr bwMode="auto">
          <a:xfrm>
            <a:off x="1547813" y="2781300"/>
            <a:ext cx="4946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zh-CN" altLang="en-US">
                <a:solidFill>
                  <a:srgbClr val="000066"/>
                </a:solidFill>
                <a:latin typeface="黑体" pitchFamily="2" charset="-122"/>
                <a:ea typeface="黑体" pitchFamily="2" charset="-122"/>
                <a:cs typeface="Times New Roman" pitchFamily="18" charset="0"/>
              </a:rPr>
              <a:t>如：</a:t>
            </a:r>
            <a:r>
              <a:rPr lang="en-US" altLang="zh-CN" dirty="0">
                <a:solidFill>
                  <a:srgbClr val="000066"/>
                </a:solidFill>
                <a:latin typeface="黑体" pitchFamily="2" charset="-122"/>
                <a:ea typeface="黑体" pitchFamily="2" charset="-122"/>
                <a:cs typeface="Times New Roman" pitchFamily="18" charset="0"/>
              </a:rPr>
              <a:t>JMP</a:t>
            </a:r>
            <a:r>
              <a:rPr lang="zh-CN" altLang="en-US">
                <a:solidFill>
                  <a:srgbClr val="000066"/>
                </a:solidFill>
                <a:latin typeface="黑体" pitchFamily="2" charset="-122"/>
                <a:ea typeface="黑体" pitchFamily="2" charset="-122"/>
                <a:cs typeface="Times New Roman" pitchFamily="18" charset="0"/>
              </a:rPr>
              <a:t>、</a:t>
            </a:r>
            <a:r>
              <a:rPr lang="en-US" altLang="zh-CN" dirty="0">
                <a:solidFill>
                  <a:srgbClr val="000066"/>
                </a:solidFill>
                <a:latin typeface="黑体" pitchFamily="2" charset="-122"/>
                <a:ea typeface="黑体" pitchFamily="2" charset="-122"/>
                <a:cs typeface="Times New Roman" pitchFamily="18" charset="0"/>
              </a:rPr>
              <a:t>LOOP</a:t>
            </a:r>
            <a:r>
              <a:rPr lang="zh-CN" altLang="en-US">
                <a:solidFill>
                  <a:srgbClr val="000066"/>
                </a:solidFill>
                <a:latin typeface="黑体" pitchFamily="2" charset="-122"/>
                <a:ea typeface="黑体" pitchFamily="2" charset="-122"/>
                <a:cs typeface="Times New Roman" pitchFamily="18" charset="0"/>
              </a:rPr>
              <a:t>、</a:t>
            </a:r>
            <a:r>
              <a:rPr lang="en-US" altLang="zh-CN" dirty="0">
                <a:solidFill>
                  <a:srgbClr val="000066"/>
                </a:solidFill>
                <a:latin typeface="黑体" pitchFamily="2" charset="-122"/>
                <a:ea typeface="黑体" pitchFamily="2" charset="-122"/>
                <a:cs typeface="Times New Roman" pitchFamily="18" charset="0"/>
              </a:rPr>
              <a:t>JZ/JNZ</a:t>
            </a:r>
            <a:r>
              <a:rPr lang="zh-CN" altLang="en-US">
                <a:solidFill>
                  <a:srgbClr val="000066"/>
                </a:solidFill>
                <a:latin typeface="黑体" pitchFamily="2" charset="-122"/>
                <a:ea typeface="黑体" pitchFamily="2" charset="-122"/>
                <a:cs typeface="Times New Roman" pitchFamily="18" charset="0"/>
              </a:rPr>
              <a:t>、</a:t>
            </a:r>
            <a:r>
              <a:rPr lang="en-US" altLang="zh-CN" dirty="0">
                <a:solidFill>
                  <a:srgbClr val="000066"/>
                </a:solidFill>
                <a:latin typeface="黑体" pitchFamily="2" charset="-122"/>
                <a:ea typeface="黑体" pitchFamily="2" charset="-122"/>
                <a:cs typeface="Times New Roman" pitchFamily="18" charset="0"/>
              </a:rPr>
              <a:t>CALL</a:t>
            </a:r>
            <a:r>
              <a:rPr lang="zh-CN" altLang="en-US">
                <a:solidFill>
                  <a:srgbClr val="000066"/>
                </a:solidFill>
                <a:latin typeface="黑体" pitchFamily="2" charset="-122"/>
                <a:ea typeface="黑体" pitchFamily="2" charset="-122"/>
                <a:cs typeface="Times New Roman" pitchFamily="18" charset="0"/>
              </a:rPr>
              <a:t>等。</a:t>
            </a:r>
          </a:p>
        </p:txBody>
      </p:sp>
      <p:sp>
        <p:nvSpPr>
          <p:cNvPr id="62468" name="Rectangle 7"/>
          <p:cNvSpPr>
            <a:spLocks noChangeArrowheads="1"/>
          </p:cNvSpPr>
          <p:nvPr/>
        </p:nvSpPr>
        <p:spPr bwMode="auto">
          <a:xfrm>
            <a:off x="755650" y="3681413"/>
            <a:ext cx="2392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sz="1000" b="0" dirty="0">
                <a:solidFill>
                  <a:srgbClr val="000066"/>
                </a:solidFill>
                <a:latin typeface="黑体" pitchFamily="2" charset="-122"/>
                <a:ea typeface="黑体" pitchFamily="2" charset="-122"/>
                <a:cs typeface="Times New Roman" pitchFamily="18" charset="0"/>
              </a:rPr>
              <a:t> </a:t>
            </a:r>
            <a:r>
              <a:rPr lang="en-US" altLang="zh-CN" dirty="0">
                <a:solidFill>
                  <a:srgbClr val="000066"/>
                </a:solidFill>
                <a:latin typeface="黑体" pitchFamily="2" charset="-122"/>
                <a:ea typeface="黑体" pitchFamily="2" charset="-122"/>
                <a:cs typeface="Times New Roman" pitchFamily="18" charset="0"/>
              </a:rPr>
              <a:t>④</a:t>
            </a:r>
            <a:r>
              <a:rPr lang="zh-CN" altLang="en-US">
                <a:solidFill>
                  <a:srgbClr val="000066"/>
                </a:solidFill>
                <a:latin typeface="黑体" pitchFamily="2" charset="-122"/>
                <a:ea typeface="黑体" pitchFamily="2" charset="-122"/>
                <a:cs typeface="Times New Roman" pitchFamily="18" charset="0"/>
              </a:rPr>
              <a:t>无操作数指令</a:t>
            </a:r>
          </a:p>
        </p:txBody>
      </p:sp>
      <p:sp>
        <p:nvSpPr>
          <p:cNvPr id="62469" name="Rectangle 9"/>
          <p:cNvSpPr>
            <a:spLocks noChangeArrowheads="1"/>
          </p:cNvSpPr>
          <p:nvPr/>
        </p:nvSpPr>
        <p:spPr bwMode="auto">
          <a:xfrm>
            <a:off x="1511300" y="5084763"/>
            <a:ext cx="2333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zh-CN" altLang="en-US">
                <a:solidFill>
                  <a:srgbClr val="000066"/>
                </a:solidFill>
                <a:latin typeface="黑体" pitchFamily="2" charset="-122"/>
                <a:ea typeface="黑体" pitchFamily="2" charset="-122"/>
                <a:cs typeface="Times New Roman" pitchFamily="18" charset="0"/>
              </a:rPr>
              <a:t>如：</a:t>
            </a:r>
            <a:r>
              <a:rPr lang="en-US" altLang="zh-CN" dirty="0">
                <a:solidFill>
                  <a:srgbClr val="000066"/>
                </a:solidFill>
                <a:latin typeface="黑体" pitchFamily="2" charset="-122"/>
                <a:ea typeface="黑体" pitchFamily="2" charset="-122"/>
                <a:cs typeface="Times New Roman" pitchFamily="18" charset="0"/>
              </a:rPr>
              <a:t>NOP</a:t>
            </a:r>
            <a:r>
              <a:rPr lang="zh-CN" altLang="en-US">
                <a:solidFill>
                  <a:srgbClr val="000066"/>
                </a:solidFill>
                <a:latin typeface="黑体" pitchFamily="2" charset="-122"/>
                <a:ea typeface="黑体" pitchFamily="2" charset="-122"/>
                <a:cs typeface="Times New Roman" pitchFamily="18" charset="0"/>
              </a:rPr>
              <a:t>、</a:t>
            </a:r>
            <a:r>
              <a:rPr lang="en-US" altLang="zh-CN" dirty="0">
                <a:solidFill>
                  <a:srgbClr val="000066"/>
                </a:solidFill>
                <a:latin typeface="黑体" pitchFamily="2" charset="-122"/>
                <a:ea typeface="黑体" pitchFamily="2" charset="-122"/>
                <a:cs typeface="Times New Roman" pitchFamily="18" charset="0"/>
              </a:rPr>
              <a:t>RET</a:t>
            </a:r>
            <a:r>
              <a:rPr lang="zh-CN" altLang="en-US">
                <a:solidFill>
                  <a:srgbClr val="000066"/>
                </a:solidFill>
                <a:latin typeface="黑体" pitchFamily="2" charset="-122"/>
                <a:ea typeface="黑体" pitchFamily="2" charset="-122"/>
                <a:cs typeface="Times New Roman" pitchFamily="18" charset="0"/>
              </a:rPr>
              <a:t>等</a:t>
            </a:r>
          </a:p>
        </p:txBody>
      </p:sp>
      <p:sp>
        <p:nvSpPr>
          <p:cNvPr id="62470" name="Text Box 29"/>
          <p:cNvSpPr txBox="1">
            <a:spLocks noChangeArrowheads="1"/>
          </p:cNvSpPr>
          <p:nvPr/>
        </p:nvSpPr>
        <p:spPr bwMode="auto">
          <a:xfrm>
            <a:off x="2003425" y="1376363"/>
            <a:ext cx="64928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15       10 9  8  7  6  5  4  3  2  1  0 </a:t>
            </a:r>
          </a:p>
        </p:txBody>
      </p:sp>
      <p:sp>
        <p:nvSpPr>
          <p:cNvPr id="62471" name="Rectangle 33"/>
          <p:cNvSpPr>
            <a:spLocks noChangeArrowheads="1"/>
          </p:cNvSpPr>
          <p:nvPr/>
        </p:nvSpPr>
        <p:spPr bwMode="auto">
          <a:xfrm>
            <a:off x="2646363" y="3968750"/>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sp>
        <p:nvSpPr>
          <p:cNvPr id="62472" name="Rectangle 34"/>
          <p:cNvSpPr>
            <a:spLocks noChangeArrowheads="1"/>
          </p:cNvSpPr>
          <p:nvPr/>
        </p:nvSpPr>
        <p:spPr bwMode="auto">
          <a:xfrm>
            <a:off x="3162300" y="2400300"/>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graphicFrame>
        <p:nvGraphicFramePr>
          <p:cNvPr id="198720" name="Group 64"/>
          <p:cNvGraphicFramePr>
            <a:graphicFrameLocks noGrp="1"/>
          </p:cNvGraphicFramePr>
          <p:nvPr/>
        </p:nvGraphicFramePr>
        <p:xfrm>
          <a:off x="2014538" y="1808163"/>
          <a:ext cx="6661150" cy="731838"/>
        </p:xfrm>
        <a:graphic>
          <a:graphicData uri="http://schemas.openxmlformats.org/drawingml/2006/table">
            <a:tbl>
              <a:tblPr/>
              <a:tblGrid>
                <a:gridCol w="1884362">
                  <a:extLst>
                    <a:ext uri="{9D8B030D-6E8A-4147-A177-3AD203B41FA5}">
                      <a16:colId xmlns:a16="http://schemas.microsoft.com/office/drawing/2014/main" val="20000"/>
                    </a:ext>
                  </a:extLst>
                </a:gridCol>
                <a:gridCol w="528638">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471487">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71488">
                  <a:extLst>
                    <a:ext uri="{9D8B030D-6E8A-4147-A177-3AD203B41FA5}">
                      <a16:colId xmlns:a16="http://schemas.microsoft.com/office/drawing/2014/main" val="20005"/>
                    </a:ext>
                  </a:extLst>
                </a:gridCol>
                <a:gridCol w="473075">
                  <a:extLst>
                    <a:ext uri="{9D8B030D-6E8A-4147-A177-3AD203B41FA5}">
                      <a16:colId xmlns:a16="http://schemas.microsoft.com/office/drawing/2014/main" val="20006"/>
                    </a:ext>
                  </a:extLst>
                </a:gridCol>
              </a:tblGrid>
              <a:tr h="365919">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0 0 0 0 0 0</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0</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OP</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66"/>
                          </a:solidFill>
                          <a:effectLst/>
                          <a:latin typeface="黑体" pitchFamily="2" charset="-122"/>
                          <a:ea typeface="黑体" pitchFamily="2" charset="-122"/>
                          <a:cs typeface="Times New Roman" pitchFamily="18" charset="0"/>
                        </a:rPr>
                        <a:t>1</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66"/>
                          </a:solidFill>
                          <a:effectLst/>
                          <a:latin typeface="黑体" pitchFamily="2" charset="-122"/>
                          <a:ea typeface="黑体" pitchFamily="2" charset="-122"/>
                        </a:rPr>
                        <a:t>1</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66"/>
                          </a:solidFill>
                          <a:effectLst/>
                          <a:latin typeface="黑体" pitchFamily="2" charset="-122"/>
                          <a:ea typeface="黑体" pitchFamily="2" charset="-122"/>
                        </a:rPr>
                        <a:t>0</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66"/>
                          </a:solidFill>
                          <a:effectLst/>
                          <a:latin typeface="黑体" pitchFamily="2" charset="-122"/>
                          <a:ea typeface="黑体" pitchFamily="2" charset="-122"/>
                        </a:rPr>
                        <a:t>1</a:t>
                      </a:r>
                    </a:p>
                  </a:txBody>
                  <a:tcPr marT="45740" marB="4574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gridSpan="7">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disp</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2493" name="Text Box 65"/>
          <p:cNvSpPr txBox="1">
            <a:spLocks noChangeArrowheads="1"/>
          </p:cNvSpPr>
          <p:nvPr/>
        </p:nvSpPr>
        <p:spPr bwMode="auto">
          <a:xfrm>
            <a:off x="1968500" y="4041775"/>
            <a:ext cx="64928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r>
              <a:rPr lang="zh-CN" altLang="en-US" sz="1800">
                <a:latin typeface="黑体" pitchFamily="2" charset="-122"/>
                <a:ea typeface="黑体" pitchFamily="2" charset="-122"/>
              </a:rPr>
              <a:t> </a:t>
            </a:r>
            <a:r>
              <a:rPr lang="en-US" altLang="zh-CN" sz="1800" dirty="0">
                <a:latin typeface="黑体" pitchFamily="2" charset="-122"/>
                <a:ea typeface="黑体" pitchFamily="2" charset="-122"/>
              </a:rPr>
              <a:t>15                          4  3  2  1  0 </a:t>
            </a:r>
          </a:p>
        </p:txBody>
      </p:sp>
      <p:sp>
        <p:nvSpPr>
          <p:cNvPr id="62494" name="Rectangle 66"/>
          <p:cNvSpPr>
            <a:spLocks noChangeArrowheads="1"/>
          </p:cNvSpPr>
          <p:nvPr/>
        </p:nvSpPr>
        <p:spPr bwMode="auto">
          <a:xfrm>
            <a:off x="3127375" y="5065713"/>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graphicFrame>
        <p:nvGraphicFramePr>
          <p:cNvPr id="198759" name="Group 103"/>
          <p:cNvGraphicFramePr>
            <a:graphicFrameLocks noGrp="1"/>
          </p:cNvGraphicFramePr>
          <p:nvPr/>
        </p:nvGraphicFramePr>
        <p:xfrm>
          <a:off x="2016125" y="4473575"/>
          <a:ext cx="6624638" cy="365172"/>
        </p:xfrm>
        <a:graphic>
          <a:graphicData uri="http://schemas.openxmlformats.org/drawingml/2006/table">
            <a:tbl>
              <a:tblPr/>
              <a:tblGrid>
                <a:gridCol w="4716463">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3651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800" b="1" i="0" u="none" strike="noStrike" cap="none" normalizeH="0" baseline="0" dirty="0">
                          <a:ln>
                            <a:noFill/>
                          </a:ln>
                          <a:solidFill>
                            <a:srgbClr val="000066"/>
                          </a:solidFill>
                          <a:effectLst/>
                          <a:latin typeface="黑体" pitchFamily="2" charset="-122"/>
                          <a:ea typeface="黑体" pitchFamily="2" charset="-122"/>
                        </a:rPr>
                        <a:t> </a:t>
                      </a:r>
                      <a:r>
                        <a:rPr kumimoji="0" lang="en-US" altLang="zh-CN" sz="1800" b="1" i="0" u="none" strike="noStrike" cap="none" normalizeH="0" baseline="0" dirty="0">
                          <a:ln>
                            <a:noFill/>
                          </a:ln>
                          <a:solidFill>
                            <a:srgbClr val="000066"/>
                          </a:solidFill>
                          <a:effectLst/>
                          <a:latin typeface="黑体" pitchFamily="2" charset="-122"/>
                          <a:ea typeface="黑体" pitchFamily="2" charset="-122"/>
                        </a:rPr>
                        <a:t>0 0 0 0 0 0 0 0 0 0 0 0 </a:t>
                      </a:r>
                      <a:endParaRPr kumimoji="0" lang="zh-CN" altLang="en-US" sz="1800" b="1" i="0" u="none" strike="noStrike" cap="none" normalizeH="0" baseline="0" dirty="0">
                        <a:ln>
                          <a:noFill/>
                        </a:ln>
                        <a:solidFill>
                          <a:srgbClr val="000066"/>
                        </a:solidFill>
                        <a:effectLst/>
                        <a:latin typeface="黑体" pitchFamily="2" charset="-122"/>
                        <a:ea typeface="黑体" pitchFamily="2" charset="-122"/>
                      </a:endParaRPr>
                    </a:p>
                  </a:txBody>
                  <a:tcPr marT="45426" marB="454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1" i="0" u="none" strike="noStrike" cap="none" normalizeH="0" baseline="0" dirty="0">
                          <a:ln>
                            <a:noFill/>
                          </a:ln>
                          <a:solidFill>
                            <a:srgbClr val="000066"/>
                          </a:solidFill>
                          <a:effectLst/>
                          <a:latin typeface="黑体" pitchFamily="2" charset="-122"/>
                          <a:ea typeface="黑体" pitchFamily="2" charset="-122"/>
                        </a:rPr>
                        <a:t>OP</a:t>
                      </a:r>
                    </a:p>
                  </a:txBody>
                  <a:tcPr marT="45426" marB="454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0"/>
          <p:cNvSpPr txBox="1">
            <a:spLocks noChangeArrowheads="1"/>
          </p:cNvSpPr>
          <p:nvPr/>
        </p:nvSpPr>
        <p:spPr bwMode="auto">
          <a:xfrm>
            <a:off x="719138" y="1089025"/>
            <a:ext cx="817403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20000"/>
              </a:lnSpc>
              <a:spcBef>
                <a:spcPct val="0"/>
              </a:spcBef>
            </a:pPr>
            <a:r>
              <a:rPr lang="en-US" altLang="zh-CN" dirty="0">
                <a:latin typeface="黑体" pitchFamily="2" charset="-122"/>
                <a:ea typeface="黑体" pitchFamily="2" charset="-122"/>
              </a:rPr>
              <a:t> (2)</a:t>
            </a:r>
            <a:r>
              <a:rPr lang="zh-CN" altLang="en-US" dirty="0">
                <a:latin typeface="黑体" pitchFamily="2" charset="-122"/>
                <a:ea typeface="黑体" pitchFamily="2" charset="-122"/>
              </a:rPr>
              <a:t>寻址方式及编码</a:t>
            </a:r>
          </a:p>
          <a:p>
            <a:pPr eaLnBrk="1" hangingPunct="1">
              <a:lnSpc>
                <a:spcPct val="120000"/>
              </a:lnSpc>
              <a:spcBef>
                <a:spcPct val="0"/>
              </a:spcBef>
            </a:pPr>
            <a:r>
              <a:rPr lang="zh-CN" altLang="en-US" dirty="0">
                <a:latin typeface="黑体" pitchFamily="2" charset="-122"/>
                <a:ea typeface="黑体" pitchFamily="2" charset="-122"/>
              </a:rPr>
              <a:t>    双操作数指令中，必须有一个操作数来自寄存器（寄存器寻址），用</a:t>
            </a:r>
            <a:r>
              <a:rPr lang="en-US" altLang="zh-CN" dirty="0">
                <a:solidFill>
                  <a:srgbClr val="FF0000"/>
                </a:solidFill>
                <a:latin typeface="黑体" pitchFamily="2" charset="-122"/>
                <a:ea typeface="黑体" pitchFamily="2" charset="-122"/>
              </a:rPr>
              <a:t>Ry</a:t>
            </a:r>
            <a:r>
              <a:rPr lang="zh-CN" altLang="en-US" dirty="0">
                <a:latin typeface="黑体" pitchFamily="2" charset="-122"/>
                <a:ea typeface="黑体" pitchFamily="2" charset="-122"/>
              </a:rPr>
              <a:t>表示（</a:t>
            </a:r>
            <a:r>
              <a:rPr lang="en-US" altLang="zh-CN" dirty="0">
                <a:latin typeface="黑体" pitchFamily="2" charset="-122"/>
                <a:ea typeface="黑体" pitchFamily="2" charset="-122"/>
              </a:rPr>
              <a:t>IR6-4)</a:t>
            </a:r>
            <a:r>
              <a:rPr lang="zh-CN" altLang="en-US" dirty="0">
                <a:latin typeface="黑体" pitchFamily="2" charset="-122"/>
                <a:ea typeface="黑体" pitchFamily="2" charset="-122"/>
              </a:rPr>
              <a:t>。</a:t>
            </a:r>
            <a:r>
              <a:rPr lang="en-US" altLang="zh-CN" dirty="0">
                <a:latin typeface="黑体" pitchFamily="2" charset="-122"/>
                <a:ea typeface="黑体" pitchFamily="2" charset="-122"/>
              </a:rPr>
              <a:t>Ry</a:t>
            </a:r>
            <a:r>
              <a:rPr lang="zh-CN" altLang="en-US" dirty="0">
                <a:latin typeface="黑体" pitchFamily="2" charset="-122"/>
                <a:ea typeface="黑体" pitchFamily="2" charset="-122"/>
              </a:rPr>
              <a:t>可以是源操作数也可以是目的操作数，由</a:t>
            </a:r>
            <a:r>
              <a:rPr lang="en-US" altLang="zh-CN" dirty="0">
                <a:latin typeface="黑体" pitchFamily="2" charset="-122"/>
                <a:ea typeface="黑体" pitchFamily="2" charset="-122"/>
              </a:rPr>
              <a:t>IR7</a:t>
            </a:r>
            <a:r>
              <a:rPr lang="zh-CN" altLang="en-US" dirty="0">
                <a:latin typeface="黑体" pitchFamily="2" charset="-122"/>
                <a:ea typeface="黑体" pitchFamily="2" charset="-122"/>
              </a:rPr>
              <a:t>（</a:t>
            </a:r>
            <a:r>
              <a:rPr lang="en-US" altLang="zh-CN" dirty="0">
                <a:latin typeface="黑体" pitchFamily="2" charset="-122"/>
                <a:ea typeface="黑体" pitchFamily="2" charset="-122"/>
              </a:rPr>
              <a:t>S/D</a:t>
            </a:r>
            <a:r>
              <a:rPr lang="zh-CN" altLang="en-US" dirty="0">
                <a:latin typeface="黑体" pitchFamily="2" charset="-122"/>
                <a:ea typeface="黑体" pitchFamily="2" charset="-122"/>
              </a:rPr>
              <a:t>位）指明。</a:t>
            </a:r>
          </a:p>
          <a:p>
            <a:pPr eaLnBrk="1" hangingPunct="1">
              <a:lnSpc>
                <a:spcPct val="120000"/>
              </a:lnSpc>
              <a:spcBef>
                <a:spcPct val="0"/>
              </a:spcBef>
            </a:pPr>
            <a:r>
              <a:rPr lang="zh-CN" altLang="en-US" dirty="0">
                <a:latin typeface="黑体" pitchFamily="2" charset="-122"/>
                <a:ea typeface="黑体" pitchFamily="2" charset="-122"/>
              </a:rPr>
              <a:t>    双操作数的另一个操作数，其寻址方式由</a:t>
            </a:r>
            <a:r>
              <a:rPr lang="en-US" altLang="zh-CN" dirty="0">
                <a:latin typeface="黑体" pitchFamily="2" charset="-122"/>
                <a:ea typeface="黑体" pitchFamily="2" charset="-122"/>
              </a:rPr>
              <a:t>IR3-0</a:t>
            </a:r>
            <a:r>
              <a:rPr lang="zh-CN" altLang="en-US" dirty="0">
                <a:latin typeface="黑体" pitchFamily="2" charset="-122"/>
                <a:ea typeface="黑体" pitchFamily="2" charset="-122"/>
              </a:rPr>
              <a:t>指明</a:t>
            </a:r>
          </a:p>
        </p:txBody>
      </p:sp>
      <p:sp>
        <p:nvSpPr>
          <p:cNvPr id="63491" name="Rectangle 4"/>
          <p:cNvSpPr>
            <a:spLocks noChangeArrowheads="1"/>
          </p:cNvSpPr>
          <p:nvPr/>
        </p:nvSpPr>
        <p:spPr bwMode="auto">
          <a:xfrm>
            <a:off x="647700" y="476250"/>
            <a:ext cx="4322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dirty="0">
                <a:solidFill>
                  <a:srgbClr val="CC3300"/>
                </a:solidFill>
                <a:latin typeface="黑体" pitchFamily="2" charset="-122"/>
                <a:ea typeface="黑体" pitchFamily="2" charset="-122"/>
              </a:rPr>
              <a:t>2.</a:t>
            </a:r>
            <a:r>
              <a:rPr lang="zh-CN" altLang="en-US">
                <a:solidFill>
                  <a:srgbClr val="CC3300"/>
                </a:solidFill>
                <a:latin typeface="黑体" pitchFamily="2" charset="-122"/>
                <a:ea typeface="黑体" pitchFamily="2" charset="-122"/>
              </a:rPr>
              <a:t>模型机指令系统及寻址方式 </a:t>
            </a:r>
          </a:p>
        </p:txBody>
      </p:sp>
      <p:sp>
        <p:nvSpPr>
          <p:cNvPr id="63492" name="Line 7"/>
          <p:cNvSpPr>
            <a:spLocks noChangeShapeType="1"/>
          </p:cNvSpPr>
          <p:nvPr/>
        </p:nvSpPr>
        <p:spPr bwMode="auto">
          <a:xfrm>
            <a:off x="3743325" y="2565400"/>
            <a:ext cx="144463" cy="0"/>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ChangeArrowheads="1"/>
          </p:cNvSpPr>
          <p:nvPr/>
        </p:nvSpPr>
        <p:spPr bwMode="auto">
          <a:xfrm>
            <a:off x="576263" y="279227"/>
            <a:ext cx="4322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dirty="0">
                <a:solidFill>
                  <a:srgbClr val="CC3300"/>
                </a:solidFill>
                <a:latin typeface="黑体" pitchFamily="2" charset="-122"/>
                <a:ea typeface="黑体" pitchFamily="2" charset="-122"/>
              </a:rPr>
              <a:t>2.</a:t>
            </a:r>
            <a:r>
              <a:rPr lang="zh-CN" altLang="en-US" dirty="0">
                <a:solidFill>
                  <a:srgbClr val="CC3300"/>
                </a:solidFill>
                <a:latin typeface="黑体" pitchFamily="2" charset="-122"/>
                <a:ea typeface="黑体" pitchFamily="2" charset="-122"/>
              </a:rPr>
              <a:t>模型机指令系统及寻址方式 </a:t>
            </a:r>
          </a:p>
        </p:txBody>
      </p:sp>
      <p:sp>
        <p:nvSpPr>
          <p:cNvPr id="64515" name="Rectangle 14"/>
          <p:cNvSpPr>
            <a:spLocks noChangeArrowheads="1"/>
          </p:cNvSpPr>
          <p:nvPr/>
        </p:nvSpPr>
        <p:spPr bwMode="auto">
          <a:xfrm>
            <a:off x="3324225" y="1339746"/>
            <a:ext cx="184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endParaRPr lang="zh-CN" altLang="en-US">
              <a:latin typeface="黑体" pitchFamily="2" charset="-122"/>
              <a:ea typeface="黑体" pitchFamily="2" charset="-122"/>
            </a:endParaRPr>
          </a:p>
        </p:txBody>
      </p:sp>
      <p:grpSp>
        <p:nvGrpSpPr>
          <p:cNvPr id="64516" name="Group 132"/>
          <p:cNvGrpSpPr>
            <a:grpSpLocks/>
          </p:cNvGrpSpPr>
          <p:nvPr/>
        </p:nvGrpSpPr>
        <p:grpSpPr bwMode="auto">
          <a:xfrm>
            <a:off x="4679950" y="709508"/>
            <a:ext cx="3851275" cy="4581525"/>
            <a:chOff x="2948" y="822"/>
            <a:chExt cx="2426" cy="2886"/>
          </a:xfrm>
        </p:grpSpPr>
        <p:sp>
          <p:nvSpPr>
            <p:cNvPr id="64534" name="Rectangle 22"/>
            <p:cNvSpPr>
              <a:spLocks noChangeArrowheads="1"/>
            </p:cNvSpPr>
            <p:nvPr/>
          </p:nvSpPr>
          <p:spPr bwMode="auto">
            <a:xfrm>
              <a:off x="3689" y="1187"/>
              <a:ext cx="1685" cy="2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AX</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BX</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CX</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DX</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[BP]</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[BX]</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[SI]</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[DI]</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imm      </a:t>
              </a:r>
              <a:r>
                <a:rPr lang="zh-CN" altLang="en-US" sz="1600">
                  <a:latin typeface="黑体" pitchFamily="2" charset="-122"/>
                  <a:ea typeface="黑体" pitchFamily="2" charset="-122"/>
                  <a:cs typeface="Times New Roman" pitchFamily="18" charset="0"/>
                </a:rPr>
                <a:t>立即寻址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       </a:t>
              </a:r>
              <a:r>
                <a:rPr lang="zh-CN" altLang="en-US" sz="1600">
                  <a:latin typeface="黑体" pitchFamily="2" charset="-122"/>
                  <a:ea typeface="黑体" pitchFamily="2" charset="-122"/>
                  <a:cs typeface="Times New Roman" pitchFamily="18" charset="0"/>
                </a:rPr>
                <a:t>（无定义）</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Addr     </a:t>
              </a:r>
              <a:r>
                <a:rPr lang="zh-CN" altLang="en-US" sz="1600">
                  <a:latin typeface="黑体" pitchFamily="2" charset="-122"/>
                  <a:ea typeface="黑体" pitchFamily="2" charset="-122"/>
                  <a:cs typeface="Times New Roman" pitchFamily="18" charset="0"/>
                </a:rPr>
                <a:t>直接寻址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[Addr]   </a:t>
              </a:r>
              <a:r>
                <a:rPr lang="zh-CN" altLang="en-US" sz="1600">
                  <a:latin typeface="黑体" pitchFamily="2" charset="-122"/>
                  <a:ea typeface="黑体" pitchFamily="2" charset="-122"/>
                  <a:cs typeface="Times New Roman" pitchFamily="18" charset="0"/>
                </a:rPr>
                <a:t>间接寻址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[BP+disp]  </a:t>
              </a:r>
              <a:r>
                <a:rPr lang="zh-CN" altLang="en-US" sz="1600">
                  <a:latin typeface="黑体" pitchFamily="2" charset="-122"/>
                  <a:ea typeface="黑体" pitchFamily="2" charset="-122"/>
                  <a:cs typeface="Times New Roman" pitchFamily="18" charset="0"/>
                </a:rPr>
                <a:t>基址寻址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[PC+disp]  </a:t>
              </a:r>
              <a:r>
                <a:rPr lang="zh-CN" altLang="en-US" sz="1600">
                  <a:latin typeface="黑体" pitchFamily="2" charset="-122"/>
                  <a:ea typeface="黑体" pitchFamily="2" charset="-122"/>
                  <a:cs typeface="Times New Roman" pitchFamily="18" charset="0"/>
                </a:rPr>
                <a:t>相对寻址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[SI]+Addr  </a:t>
              </a:r>
              <a:r>
                <a:rPr lang="zh-CN" altLang="en-US" sz="1600">
                  <a:latin typeface="黑体" pitchFamily="2" charset="-122"/>
                  <a:ea typeface="黑体" pitchFamily="2" charset="-122"/>
                  <a:cs typeface="Times New Roman" pitchFamily="18" charset="0"/>
                </a:rPr>
                <a:t>源变址寻址</a:t>
              </a:r>
            </a:p>
            <a:p>
              <a:pPr eaLnBrk="0" hangingPunct="0">
                <a:lnSpc>
                  <a:spcPct val="100000"/>
                </a:lnSpc>
                <a:spcBef>
                  <a:spcPct val="0"/>
                </a:spcBef>
              </a:pPr>
              <a:r>
                <a:rPr lang="en-US" altLang="zh-CN" sz="1600">
                  <a:latin typeface="黑体" pitchFamily="2" charset="-122"/>
                  <a:ea typeface="黑体" pitchFamily="2" charset="-122"/>
                  <a:cs typeface="Times New Roman" pitchFamily="18" charset="0"/>
                </a:rPr>
                <a:t>[DI]+Addr  </a:t>
              </a:r>
              <a:r>
                <a:rPr lang="zh-CN" altLang="en-US" sz="1600">
                  <a:latin typeface="黑体" pitchFamily="2" charset="-122"/>
                  <a:ea typeface="黑体" pitchFamily="2" charset="-122"/>
                  <a:cs typeface="Times New Roman" pitchFamily="18" charset="0"/>
                </a:rPr>
                <a:t>目的变址寻址</a:t>
              </a:r>
            </a:p>
          </p:txBody>
        </p:sp>
        <p:sp>
          <p:nvSpPr>
            <p:cNvPr id="64535" name="Rectangle 21"/>
            <p:cNvSpPr>
              <a:spLocks noChangeArrowheads="1"/>
            </p:cNvSpPr>
            <p:nvPr/>
          </p:nvSpPr>
          <p:spPr bwMode="auto">
            <a:xfrm>
              <a:off x="2948" y="1187"/>
              <a:ext cx="741" cy="2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0000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0001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0010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0011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0100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0101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0110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0111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1000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1001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1010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1011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1100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1101</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1110</a:t>
              </a:r>
            </a:p>
            <a:p>
              <a:pPr algn="dist"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1111</a:t>
              </a:r>
            </a:p>
          </p:txBody>
        </p:sp>
        <p:sp>
          <p:nvSpPr>
            <p:cNvPr id="64536" name="Rectangle 20"/>
            <p:cNvSpPr>
              <a:spLocks noChangeArrowheads="1"/>
            </p:cNvSpPr>
            <p:nvPr/>
          </p:nvSpPr>
          <p:spPr bwMode="auto">
            <a:xfrm>
              <a:off x="3689" y="822"/>
              <a:ext cx="168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algn="ctr" eaLnBrk="0" hangingPunct="0">
                <a:lnSpc>
                  <a:spcPct val="100000"/>
                </a:lnSpc>
                <a:spcBef>
                  <a:spcPct val="0"/>
                </a:spcBef>
              </a:pPr>
              <a:r>
                <a:rPr lang="zh-CN" altLang="en-US" sz="1600">
                  <a:latin typeface="Times New Roman" pitchFamily="18" charset="0"/>
                  <a:ea typeface="黑体" pitchFamily="2" charset="-122"/>
                  <a:cs typeface="Times New Roman" pitchFamily="18" charset="0"/>
                </a:rPr>
                <a:t>寻址方式及所用寄存器</a:t>
              </a:r>
            </a:p>
          </p:txBody>
        </p:sp>
        <p:sp>
          <p:nvSpPr>
            <p:cNvPr id="64537" name="Rectangle 19"/>
            <p:cNvSpPr>
              <a:spLocks noChangeArrowheads="1"/>
            </p:cNvSpPr>
            <p:nvPr/>
          </p:nvSpPr>
          <p:spPr bwMode="auto">
            <a:xfrm>
              <a:off x="2948" y="822"/>
              <a:ext cx="74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indent="66675" algn="ctr" eaLnBrk="0" hangingPunct="0">
                <a:lnSpc>
                  <a:spcPct val="100000"/>
                </a:lnSpc>
                <a:spcBef>
                  <a:spcPct val="0"/>
                </a:spcBef>
              </a:pPr>
              <a:r>
                <a:rPr lang="zh-CN" altLang="en-US" sz="1600">
                  <a:latin typeface="Times New Roman" pitchFamily="18" charset="0"/>
                  <a:ea typeface="黑体" pitchFamily="2" charset="-122"/>
                  <a:cs typeface="Times New Roman" pitchFamily="18" charset="0"/>
                </a:rPr>
                <a:t>寻址字段</a:t>
              </a:r>
            </a:p>
            <a:p>
              <a:pPr indent="66675" algn="ctr" eaLnBrk="0" hangingPunct="0">
                <a:lnSpc>
                  <a:spcPct val="100000"/>
                </a:lnSpc>
                <a:spcBef>
                  <a:spcPct val="0"/>
                </a:spcBef>
              </a:pPr>
              <a:r>
                <a:rPr lang="en-US" altLang="zh-CN" sz="1600">
                  <a:latin typeface="Times New Roman" pitchFamily="18" charset="0"/>
                  <a:ea typeface="黑体" pitchFamily="2" charset="-122"/>
                  <a:cs typeface="Times New Roman" pitchFamily="18" charset="0"/>
                </a:rPr>
                <a:t>IR </a:t>
              </a:r>
              <a:r>
                <a:rPr lang="en-US" altLang="zh-CN" sz="1600" baseline="-30000">
                  <a:latin typeface="Times New Roman" pitchFamily="18" charset="0"/>
                  <a:ea typeface="黑体" pitchFamily="2" charset="-122"/>
                  <a:cs typeface="Times New Roman" pitchFamily="18" charset="0"/>
                </a:rPr>
                <a:t>3—0</a:t>
              </a:r>
              <a:endParaRPr lang="en-US" altLang="zh-CN" sz="1600">
                <a:latin typeface="Times New Roman" pitchFamily="18" charset="0"/>
                <a:ea typeface="黑体" pitchFamily="2" charset="-122"/>
                <a:cs typeface="Times New Roman" pitchFamily="18" charset="0"/>
              </a:endParaRPr>
            </a:p>
          </p:txBody>
        </p:sp>
        <p:grpSp>
          <p:nvGrpSpPr>
            <p:cNvPr id="64538" name="Group 131"/>
            <p:cNvGrpSpPr>
              <a:grpSpLocks/>
            </p:cNvGrpSpPr>
            <p:nvPr/>
          </p:nvGrpSpPr>
          <p:grpSpPr bwMode="auto">
            <a:xfrm>
              <a:off x="2948" y="822"/>
              <a:ext cx="2426" cy="2886"/>
              <a:chOff x="2948" y="822"/>
              <a:chExt cx="2426" cy="2886"/>
            </a:xfrm>
          </p:grpSpPr>
          <p:sp>
            <p:nvSpPr>
              <p:cNvPr id="64546" name="Line 23"/>
              <p:cNvSpPr>
                <a:spLocks noChangeShapeType="1"/>
              </p:cNvSpPr>
              <p:nvPr/>
            </p:nvSpPr>
            <p:spPr bwMode="auto">
              <a:xfrm>
                <a:off x="2948" y="822"/>
                <a:ext cx="2426" cy="0"/>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547" name="Line 24"/>
              <p:cNvSpPr>
                <a:spLocks noChangeShapeType="1"/>
              </p:cNvSpPr>
              <p:nvPr/>
            </p:nvSpPr>
            <p:spPr bwMode="auto">
              <a:xfrm>
                <a:off x="2948" y="3708"/>
                <a:ext cx="2426" cy="0"/>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548" name="Line 25"/>
              <p:cNvSpPr>
                <a:spLocks noChangeShapeType="1"/>
              </p:cNvSpPr>
              <p:nvPr/>
            </p:nvSpPr>
            <p:spPr bwMode="auto">
              <a:xfrm>
                <a:off x="2948" y="822"/>
                <a:ext cx="0" cy="2886"/>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549" name="Line 26"/>
              <p:cNvSpPr>
                <a:spLocks noChangeShapeType="1"/>
              </p:cNvSpPr>
              <p:nvPr/>
            </p:nvSpPr>
            <p:spPr bwMode="auto">
              <a:xfrm>
                <a:off x="5374" y="822"/>
                <a:ext cx="0" cy="2886"/>
              </a:xfrm>
              <a:prstGeom prst="line">
                <a:avLst/>
              </a:prstGeom>
              <a:noFill/>
              <a:ln w="28575"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64539" name="Line 29"/>
            <p:cNvSpPr>
              <a:spLocks noChangeShapeType="1"/>
            </p:cNvSpPr>
            <p:nvPr/>
          </p:nvSpPr>
          <p:spPr bwMode="auto">
            <a:xfrm>
              <a:off x="2948" y="1187"/>
              <a:ext cx="2426"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540" name="Line 31"/>
            <p:cNvSpPr>
              <a:spLocks noChangeShapeType="1"/>
            </p:cNvSpPr>
            <p:nvPr/>
          </p:nvSpPr>
          <p:spPr bwMode="auto">
            <a:xfrm>
              <a:off x="3689" y="822"/>
              <a:ext cx="0" cy="288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64541" name="Group 6"/>
            <p:cNvGrpSpPr>
              <a:grpSpLocks/>
            </p:cNvGrpSpPr>
            <p:nvPr/>
          </p:nvGrpSpPr>
          <p:grpSpPr bwMode="auto">
            <a:xfrm>
              <a:off x="4082" y="1270"/>
              <a:ext cx="1285" cy="1111"/>
              <a:chOff x="6943" y="6900"/>
              <a:chExt cx="2013" cy="1674"/>
            </a:xfrm>
          </p:grpSpPr>
          <p:sp>
            <p:nvSpPr>
              <p:cNvPr id="64542" name="AutoShape 10"/>
              <p:cNvSpPr>
                <a:spLocks/>
              </p:cNvSpPr>
              <p:nvPr/>
            </p:nvSpPr>
            <p:spPr bwMode="auto">
              <a:xfrm>
                <a:off x="6943" y="6900"/>
                <a:ext cx="126" cy="744"/>
              </a:xfrm>
              <a:prstGeom prst="rightBrace">
                <a:avLst>
                  <a:gd name="adj1" fmla="val 49206"/>
                  <a:gd name="adj2" fmla="val 50000"/>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43" name="AutoShape 9"/>
              <p:cNvSpPr>
                <a:spLocks/>
              </p:cNvSpPr>
              <p:nvPr/>
            </p:nvSpPr>
            <p:spPr bwMode="auto">
              <a:xfrm>
                <a:off x="6943" y="7830"/>
                <a:ext cx="126" cy="744"/>
              </a:xfrm>
              <a:prstGeom prst="rightBrace">
                <a:avLst>
                  <a:gd name="adj1" fmla="val 49206"/>
                  <a:gd name="adj2" fmla="val 50000"/>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44" name="Text Box 8"/>
              <p:cNvSpPr txBox="1">
                <a:spLocks noChangeArrowheads="1"/>
              </p:cNvSpPr>
              <p:nvPr/>
            </p:nvSpPr>
            <p:spPr bwMode="auto">
              <a:xfrm>
                <a:off x="7195" y="7148"/>
                <a:ext cx="176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nSpc>
                    <a:spcPct val="100000"/>
                  </a:lnSpc>
                  <a:spcBef>
                    <a:spcPct val="0"/>
                  </a:spcBef>
                </a:pPr>
                <a:r>
                  <a:rPr lang="zh-CN" altLang="en-US" sz="1600">
                    <a:latin typeface="黑体" pitchFamily="2" charset="-122"/>
                    <a:ea typeface="黑体" pitchFamily="2" charset="-122"/>
                  </a:rPr>
                  <a:t>寄存器寻址</a:t>
                </a:r>
              </a:p>
            </p:txBody>
          </p:sp>
          <p:sp>
            <p:nvSpPr>
              <p:cNvPr id="64545" name="Text Box 7"/>
              <p:cNvSpPr txBox="1">
                <a:spLocks noChangeArrowheads="1"/>
              </p:cNvSpPr>
              <p:nvPr/>
            </p:nvSpPr>
            <p:spPr bwMode="auto">
              <a:xfrm>
                <a:off x="7195" y="8016"/>
                <a:ext cx="176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nSpc>
                    <a:spcPct val="100000"/>
                  </a:lnSpc>
                  <a:spcBef>
                    <a:spcPct val="0"/>
                  </a:spcBef>
                </a:pPr>
                <a:r>
                  <a:rPr lang="zh-CN" altLang="en-US" sz="1600" dirty="0">
                    <a:latin typeface="黑体" pitchFamily="2" charset="-122"/>
                    <a:ea typeface="黑体" pitchFamily="2" charset="-122"/>
                  </a:rPr>
                  <a:t>寄存器间接寻址</a:t>
                </a:r>
              </a:p>
            </p:txBody>
          </p:sp>
        </p:grpSp>
      </p:grpSp>
      <p:grpSp>
        <p:nvGrpSpPr>
          <p:cNvPr id="64517" name="Group 63"/>
          <p:cNvGrpSpPr>
            <a:grpSpLocks/>
          </p:cNvGrpSpPr>
          <p:nvPr/>
        </p:nvGrpSpPr>
        <p:grpSpPr bwMode="auto">
          <a:xfrm>
            <a:off x="684213" y="780946"/>
            <a:ext cx="3673475" cy="3132137"/>
            <a:chOff x="431" y="867"/>
            <a:chExt cx="2314" cy="1973"/>
          </a:xfrm>
        </p:grpSpPr>
        <p:sp>
          <p:nvSpPr>
            <p:cNvPr id="64519" name="Text Box 47"/>
            <p:cNvSpPr txBox="1">
              <a:spLocks noChangeArrowheads="1"/>
            </p:cNvSpPr>
            <p:nvPr/>
          </p:nvSpPr>
          <p:spPr bwMode="auto">
            <a:xfrm>
              <a:off x="810" y="867"/>
              <a:ext cx="1935" cy="288"/>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endParaRPr lang="zh-CN" altLang="en-US" sz="1800">
                <a:latin typeface="黑体" pitchFamily="2" charset="-122"/>
                <a:ea typeface="黑体" pitchFamily="2" charset="-122"/>
              </a:endParaRPr>
            </a:p>
          </p:txBody>
        </p:sp>
        <p:sp>
          <p:nvSpPr>
            <p:cNvPr id="64520" name="Rectangle 48"/>
            <p:cNvSpPr>
              <a:spLocks noChangeArrowheads="1"/>
            </p:cNvSpPr>
            <p:nvPr/>
          </p:nvSpPr>
          <p:spPr bwMode="auto">
            <a:xfrm>
              <a:off x="1052" y="867"/>
              <a:ext cx="242" cy="288"/>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21" name="Rectangle 49"/>
            <p:cNvSpPr>
              <a:spLocks noChangeArrowheads="1"/>
            </p:cNvSpPr>
            <p:nvPr/>
          </p:nvSpPr>
          <p:spPr bwMode="auto">
            <a:xfrm>
              <a:off x="1536" y="867"/>
              <a:ext cx="242" cy="288"/>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22" name="Rectangle 50"/>
            <p:cNvSpPr>
              <a:spLocks noChangeArrowheads="1"/>
            </p:cNvSpPr>
            <p:nvPr/>
          </p:nvSpPr>
          <p:spPr bwMode="auto">
            <a:xfrm>
              <a:off x="2019" y="867"/>
              <a:ext cx="242" cy="288"/>
            </a:xfrm>
            <a:prstGeom prst="rect">
              <a:avLst/>
            </a:prstGeom>
            <a:noFill/>
            <a:ln w="19050">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23" name="Line 51"/>
            <p:cNvSpPr>
              <a:spLocks noChangeShapeType="1"/>
            </p:cNvSpPr>
            <p:nvPr/>
          </p:nvSpPr>
          <p:spPr bwMode="auto">
            <a:xfrm>
              <a:off x="2503" y="867"/>
              <a:ext cx="0" cy="288"/>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4" name="Text Box 52"/>
            <p:cNvSpPr txBox="1">
              <a:spLocks noChangeArrowheads="1"/>
            </p:cNvSpPr>
            <p:nvPr/>
          </p:nvSpPr>
          <p:spPr bwMode="auto">
            <a:xfrm>
              <a:off x="810" y="867"/>
              <a:ext cx="193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800">
                  <a:latin typeface="黑体" pitchFamily="2" charset="-122"/>
                  <a:ea typeface="黑体" pitchFamily="2" charset="-122"/>
                </a:rPr>
                <a:t>7 6 5 4 3 2 1 0</a:t>
              </a:r>
            </a:p>
          </p:txBody>
        </p:sp>
        <p:sp>
          <p:nvSpPr>
            <p:cNvPr id="64525" name="AutoShape 53"/>
            <p:cNvSpPr>
              <a:spLocks/>
            </p:cNvSpPr>
            <p:nvPr/>
          </p:nvSpPr>
          <p:spPr bwMode="auto">
            <a:xfrm rot="-5400000">
              <a:off x="1320" y="955"/>
              <a:ext cx="164" cy="645"/>
            </a:xfrm>
            <a:prstGeom prst="leftBrace">
              <a:avLst>
                <a:gd name="adj1" fmla="val 32774"/>
                <a:gd name="adj2" fmla="val 50000"/>
              </a:avLst>
            </a:prstGeom>
            <a:noFill/>
            <a:ln w="9525">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26" name="AutoShape 54"/>
            <p:cNvSpPr>
              <a:spLocks/>
            </p:cNvSpPr>
            <p:nvPr/>
          </p:nvSpPr>
          <p:spPr bwMode="auto">
            <a:xfrm rot="-5400000">
              <a:off x="2287" y="955"/>
              <a:ext cx="164" cy="645"/>
            </a:xfrm>
            <a:prstGeom prst="leftBrace">
              <a:avLst>
                <a:gd name="adj1" fmla="val 32774"/>
                <a:gd name="adj2" fmla="val 50000"/>
              </a:avLst>
            </a:prstGeom>
            <a:noFill/>
            <a:ln w="9525">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64527" name="Text Box 55"/>
            <p:cNvSpPr txBox="1">
              <a:spLocks noChangeArrowheads="1"/>
            </p:cNvSpPr>
            <p:nvPr/>
          </p:nvSpPr>
          <p:spPr bwMode="auto">
            <a:xfrm>
              <a:off x="1160" y="1360"/>
              <a:ext cx="537" cy="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spcAft>
                  <a:spcPts val="300"/>
                </a:spcAft>
              </a:pPr>
              <a:r>
                <a:rPr lang="zh-CN" altLang="en-US" sz="1800">
                  <a:latin typeface="黑体" pitchFamily="2" charset="-122"/>
                  <a:ea typeface="黑体" pitchFamily="2" charset="-122"/>
                </a:rPr>
                <a:t>  </a:t>
              </a:r>
              <a:r>
                <a:rPr lang="en-US" altLang="zh-CN" sz="1800">
                  <a:latin typeface="黑体" pitchFamily="2" charset="-122"/>
                  <a:ea typeface="黑体" pitchFamily="2" charset="-122"/>
                </a:rPr>
                <a:t>Ry</a:t>
              </a:r>
            </a:p>
            <a:p>
              <a:pPr algn="just" eaLnBrk="1" hangingPunct="1">
                <a:lnSpc>
                  <a:spcPct val="96000"/>
                </a:lnSpc>
                <a:spcBef>
                  <a:spcPct val="0"/>
                </a:spcBef>
              </a:pPr>
              <a:r>
                <a:rPr lang="en-US" altLang="zh-CN" sz="1800">
                  <a:latin typeface="黑体" pitchFamily="2" charset="-122"/>
                  <a:ea typeface="黑体" pitchFamily="2" charset="-122"/>
                </a:rPr>
                <a:t>000 AX</a:t>
              </a:r>
            </a:p>
            <a:p>
              <a:pPr algn="just" eaLnBrk="1" hangingPunct="1">
                <a:lnSpc>
                  <a:spcPct val="96000"/>
                </a:lnSpc>
                <a:spcBef>
                  <a:spcPct val="0"/>
                </a:spcBef>
              </a:pPr>
              <a:r>
                <a:rPr lang="en-US" altLang="zh-CN" sz="1800">
                  <a:latin typeface="黑体" pitchFamily="2" charset="-122"/>
                  <a:ea typeface="黑体" pitchFamily="2" charset="-122"/>
                </a:rPr>
                <a:t>001 BX</a:t>
              </a:r>
            </a:p>
            <a:p>
              <a:pPr algn="just" eaLnBrk="1" hangingPunct="1">
                <a:lnSpc>
                  <a:spcPct val="96000"/>
                </a:lnSpc>
                <a:spcBef>
                  <a:spcPct val="0"/>
                </a:spcBef>
              </a:pPr>
              <a:r>
                <a:rPr lang="en-US" altLang="zh-CN" sz="1800">
                  <a:latin typeface="黑体" pitchFamily="2" charset="-122"/>
                  <a:ea typeface="黑体" pitchFamily="2" charset="-122"/>
                </a:rPr>
                <a:t>010 CX</a:t>
              </a:r>
            </a:p>
            <a:p>
              <a:pPr algn="just" eaLnBrk="1" hangingPunct="1">
                <a:lnSpc>
                  <a:spcPct val="96000"/>
                </a:lnSpc>
                <a:spcBef>
                  <a:spcPct val="0"/>
                </a:spcBef>
              </a:pPr>
              <a:r>
                <a:rPr lang="en-US" altLang="zh-CN" sz="1800">
                  <a:latin typeface="黑体" pitchFamily="2" charset="-122"/>
                  <a:ea typeface="黑体" pitchFamily="2" charset="-122"/>
                </a:rPr>
                <a:t>011 DX</a:t>
              </a:r>
            </a:p>
            <a:p>
              <a:pPr algn="just" eaLnBrk="1" hangingPunct="1">
                <a:lnSpc>
                  <a:spcPct val="96000"/>
                </a:lnSpc>
                <a:spcBef>
                  <a:spcPct val="0"/>
                </a:spcBef>
              </a:pPr>
              <a:r>
                <a:rPr lang="en-US" altLang="zh-CN" sz="1800">
                  <a:latin typeface="黑体" pitchFamily="2" charset="-122"/>
                  <a:ea typeface="黑体" pitchFamily="2" charset="-122"/>
                </a:rPr>
                <a:t>100 BP</a:t>
              </a:r>
            </a:p>
            <a:p>
              <a:pPr algn="just" eaLnBrk="1" hangingPunct="1">
                <a:lnSpc>
                  <a:spcPct val="96000"/>
                </a:lnSpc>
                <a:spcBef>
                  <a:spcPct val="0"/>
                </a:spcBef>
              </a:pPr>
              <a:r>
                <a:rPr lang="en-US" altLang="zh-CN" sz="1800">
                  <a:latin typeface="黑体" pitchFamily="2" charset="-122"/>
                  <a:ea typeface="黑体" pitchFamily="2" charset="-122"/>
                </a:rPr>
                <a:t>101 SP</a:t>
              </a:r>
            </a:p>
            <a:p>
              <a:pPr algn="just" eaLnBrk="1" hangingPunct="1">
                <a:lnSpc>
                  <a:spcPct val="96000"/>
                </a:lnSpc>
                <a:spcBef>
                  <a:spcPct val="0"/>
                </a:spcBef>
              </a:pPr>
              <a:r>
                <a:rPr lang="en-US" altLang="zh-CN" sz="1800">
                  <a:latin typeface="黑体" pitchFamily="2" charset="-122"/>
                  <a:ea typeface="黑体" pitchFamily="2" charset="-122"/>
                </a:rPr>
                <a:t>110 SI</a:t>
              </a:r>
            </a:p>
            <a:p>
              <a:pPr algn="just" eaLnBrk="1" hangingPunct="1">
                <a:lnSpc>
                  <a:spcPct val="96000"/>
                </a:lnSpc>
                <a:spcBef>
                  <a:spcPct val="0"/>
                </a:spcBef>
              </a:pPr>
              <a:r>
                <a:rPr lang="en-US" altLang="zh-CN" sz="1800">
                  <a:latin typeface="黑体" pitchFamily="2" charset="-122"/>
                  <a:ea typeface="黑体" pitchFamily="2" charset="-122"/>
                </a:rPr>
                <a:t>111 DI</a:t>
              </a:r>
            </a:p>
          </p:txBody>
        </p:sp>
        <p:sp>
          <p:nvSpPr>
            <p:cNvPr id="64528" name="Text Box 56"/>
            <p:cNvSpPr txBox="1">
              <a:spLocks noChangeArrowheads="1"/>
            </p:cNvSpPr>
            <p:nvPr/>
          </p:nvSpPr>
          <p:spPr bwMode="auto">
            <a:xfrm>
              <a:off x="2127" y="1360"/>
              <a:ext cx="53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spcAft>
                  <a:spcPts val="300"/>
                </a:spcAft>
              </a:pPr>
              <a:r>
                <a:rPr lang="zh-CN" altLang="en-US" sz="1800">
                  <a:latin typeface="黑体" pitchFamily="2" charset="-122"/>
                  <a:ea typeface="黑体" pitchFamily="2" charset="-122"/>
                </a:rPr>
                <a:t>  </a:t>
              </a:r>
              <a:r>
                <a:rPr lang="en-US" altLang="zh-CN" sz="1800">
                  <a:latin typeface="黑体" pitchFamily="2" charset="-122"/>
                  <a:ea typeface="黑体" pitchFamily="2" charset="-122"/>
                </a:rPr>
                <a:t>Rx</a:t>
              </a:r>
            </a:p>
          </p:txBody>
        </p:sp>
        <p:grpSp>
          <p:nvGrpSpPr>
            <p:cNvPr id="64529" name="Group 57"/>
            <p:cNvGrpSpPr>
              <a:grpSpLocks/>
            </p:cNvGrpSpPr>
            <p:nvPr/>
          </p:nvGrpSpPr>
          <p:grpSpPr bwMode="auto">
            <a:xfrm>
              <a:off x="703" y="1237"/>
              <a:ext cx="403" cy="205"/>
              <a:chOff x="4045" y="7954"/>
              <a:chExt cx="630" cy="310"/>
            </a:xfrm>
          </p:grpSpPr>
          <p:sp>
            <p:nvSpPr>
              <p:cNvPr id="64532" name="Text Box 58"/>
              <p:cNvSpPr txBox="1">
                <a:spLocks noChangeArrowheads="1"/>
              </p:cNvSpPr>
              <p:nvPr/>
            </p:nvSpPr>
            <p:spPr bwMode="auto">
              <a:xfrm>
                <a:off x="4045" y="7954"/>
                <a:ext cx="6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spcAft>
                    <a:spcPts val="300"/>
                  </a:spcAft>
                </a:pPr>
                <a:r>
                  <a:rPr lang="en-US" altLang="zh-CN" sz="1800">
                    <a:latin typeface="黑体" pitchFamily="2" charset="-122"/>
                    <a:ea typeface="黑体" pitchFamily="2" charset="-122"/>
                  </a:rPr>
                  <a:t>S/D</a:t>
                </a:r>
              </a:p>
            </p:txBody>
          </p:sp>
          <p:sp>
            <p:nvSpPr>
              <p:cNvPr id="64533" name="Line 59"/>
              <p:cNvSpPr>
                <a:spLocks noChangeShapeType="1"/>
              </p:cNvSpPr>
              <p:nvPr/>
            </p:nvSpPr>
            <p:spPr bwMode="auto">
              <a:xfrm>
                <a:off x="4213" y="7954"/>
                <a:ext cx="126" cy="0"/>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530" name="Text Box 60"/>
            <p:cNvSpPr txBox="1">
              <a:spLocks noChangeArrowheads="1"/>
            </p:cNvSpPr>
            <p:nvPr/>
          </p:nvSpPr>
          <p:spPr bwMode="auto">
            <a:xfrm>
              <a:off x="1697" y="1155"/>
              <a:ext cx="323" cy="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zh-CN" altLang="en-US" sz="1800">
                  <a:latin typeface="黑体" pitchFamily="2" charset="-122"/>
                  <a:ea typeface="黑体" pitchFamily="2" charset="-122"/>
                </a:rPr>
                <a:t>← 指令单</a:t>
              </a:r>
              <a:r>
                <a:rPr lang="en-US" altLang="zh-CN" sz="1800">
                  <a:latin typeface="黑体" pitchFamily="2" charset="-122"/>
                  <a:ea typeface="黑体" pitchFamily="2" charset="-122"/>
                </a:rPr>
                <a:t>/</a:t>
              </a:r>
              <a:r>
                <a:rPr lang="zh-CN" altLang="en-US" sz="1800">
                  <a:latin typeface="黑体" pitchFamily="2" charset="-122"/>
                  <a:ea typeface="黑体" pitchFamily="2" charset="-122"/>
                </a:rPr>
                <a:t>双字节指示</a:t>
              </a:r>
            </a:p>
          </p:txBody>
        </p:sp>
        <p:sp>
          <p:nvSpPr>
            <p:cNvPr id="64531" name="Text Box 61"/>
            <p:cNvSpPr txBox="1">
              <a:spLocks noChangeArrowheads="1"/>
            </p:cNvSpPr>
            <p:nvPr/>
          </p:nvSpPr>
          <p:spPr bwMode="auto">
            <a:xfrm>
              <a:off x="431" y="890"/>
              <a:ext cx="3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spcAft>
                  <a:spcPts val="300"/>
                </a:spcAft>
              </a:pPr>
              <a:r>
                <a:rPr lang="en-US" altLang="zh-CN" sz="1800">
                  <a:latin typeface="黑体" pitchFamily="2" charset="-122"/>
                  <a:ea typeface="黑体" pitchFamily="2" charset="-122"/>
                </a:rPr>
                <a:t>IR</a:t>
              </a:r>
            </a:p>
          </p:txBody>
        </p:sp>
      </p:grpSp>
      <p:sp>
        <p:nvSpPr>
          <p:cNvPr id="185477" name="Text Box 4"/>
          <p:cNvSpPr txBox="1">
            <a:spLocks noChangeArrowheads="1"/>
          </p:cNvSpPr>
          <p:nvPr/>
        </p:nvSpPr>
        <p:spPr bwMode="auto">
          <a:xfrm>
            <a:off x="95684" y="4232170"/>
            <a:ext cx="5009056" cy="1889941"/>
          </a:xfrm>
          <a:prstGeom prst="rect">
            <a:avLst/>
          </a:prstGeom>
          <a:solidFill>
            <a:schemeClr val="bg1"/>
          </a:solidFill>
          <a:ln w="28575" algn="ctr">
            <a:solidFill>
              <a:srgbClr val="000066"/>
            </a:solidFill>
            <a:miter lim="800000"/>
            <a:headEnd/>
            <a:tailEnd/>
          </a:ln>
        </p:spPr>
        <p:txBody>
          <a:bodyPr wrap="square" r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20000"/>
              </a:lnSpc>
              <a:spcBef>
                <a:spcPct val="0"/>
              </a:spcBef>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例</a:t>
            </a: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传送指令</a:t>
            </a:r>
          </a:p>
          <a:p>
            <a:pPr eaLnBrk="1" hangingPunct="1">
              <a:lnSpc>
                <a:spcPct val="120000"/>
              </a:lnSpc>
              <a:spcBef>
                <a:spcPct val="0"/>
              </a:spcBef>
            </a:pPr>
            <a:r>
              <a:rPr lang="en-US" altLang="zh-CN" sz="2000" dirty="0">
                <a:latin typeface="黑体" pitchFamily="2" charset="-122"/>
                <a:ea typeface="黑体" pitchFamily="2" charset="-122"/>
              </a:rPr>
              <a:t>MOV </a:t>
            </a:r>
            <a:r>
              <a:rPr lang="en-US" altLang="zh-CN" sz="2000" dirty="0">
                <a:solidFill>
                  <a:srgbClr val="FF0000"/>
                </a:solidFill>
                <a:latin typeface="黑体" pitchFamily="2" charset="-122"/>
                <a:ea typeface="黑体" pitchFamily="2" charset="-122"/>
              </a:rPr>
              <a:t>AX</a:t>
            </a:r>
            <a:r>
              <a:rPr lang="en-US" altLang="zh-CN" sz="2000" dirty="0">
                <a:solidFill>
                  <a:srgbClr val="0000FF"/>
                </a:solidFill>
                <a:latin typeface="黑体" pitchFamily="2" charset="-122"/>
                <a:ea typeface="黑体" pitchFamily="2" charset="-122"/>
              </a:rPr>
              <a:t>,[BX]</a:t>
            </a: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a:t>
            </a:r>
            <a:r>
              <a:rPr lang="en-US" altLang="zh-CN" sz="2000" dirty="0" err="1">
                <a:latin typeface="黑体" pitchFamily="2" charset="-122"/>
                <a:ea typeface="黑体" pitchFamily="2" charset="-122"/>
              </a:rPr>
              <a:t>Ry</a:t>
            </a:r>
            <a:r>
              <a:rPr lang="zh-CN" altLang="en-US" sz="2000" dirty="0">
                <a:latin typeface="黑体" pitchFamily="2" charset="-122"/>
                <a:ea typeface="黑体" pitchFamily="2" charset="-122"/>
              </a:rPr>
              <a:t>即</a:t>
            </a:r>
            <a:r>
              <a:rPr lang="en-US" altLang="zh-CN" sz="2000" dirty="0">
                <a:latin typeface="黑体" pitchFamily="2" charset="-122"/>
                <a:ea typeface="黑体" pitchFamily="2" charset="-122"/>
              </a:rPr>
              <a:t>AX</a:t>
            </a:r>
            <a:r>
              <a:rPr lang="zh-CN" altLang="en-US" sz="2000" dirty="0">
                <a:latin typeface="黑体" pitchFamily="2" charset="-122"/>
                <a:ea typeface="黑体" pitchFamily="2" charset="-122"/>
              </a:rPr>
              <a:t>，是目的操作数；</a:t>
            </a:r>
            <a:endParaRPr lang="en-US" altLang="zh-CN" sz="2000" dirty="0">
              <a:latin typeface="黑体" pitchFamily="2" charset="-122"/>
              <a:ea typeface="黑体" pitchFamily="2" charset="-122"/>
            </a:endParaRPr>
          </a:p>
          <a:p>
            <a:pPr eaLnBrk="1" hangingPunct="1">
              <a:lnSpc>
                <a:spcPct val="120000"/>
              </a:lnSpc>
              <a:spcBef>
                <a:spcPct val="0"/>
              </a:spcBef>
            </a:pPr>
            <a:r>
              <a:rPr lang="zh-CN" altLang="en-US" sz="2000" dirty="0">
                <a:latin typeface="黑体" pitchFamily="2" charset="-122"/>
                <a:ea typeface="黑体" pitchFamily="2" charset="-122"/>
              </a:rPr>
              <a:t>   源操作数是寄存器间址。  </a:t>
            </a:r>
            <a:r>
              <a:rPr lang="en-US" altLang="zh-CN" sz="2000" dirty="0">
                <a:latin typeface="黑体" pitchFamily="2" charset="-122"/>
                <a:ea typeface="黑体" pitchFamily="2" charset="-122"/>
              </a:rPr>
              <a:t>1 </a:t>
            </a:r>
            <a:r>
              <a:rPr lang="en-US" altLang="zh-CN" sz="2000" dirty="0">
                <a:solidFill>
                  <a:srgbClr val="FF0000"/>
                </a:solidFill>
                <a:latin typeface="黑体" pitchFamily="2" charset="-122"/>
                <a:ea typeface="黑体" pitchFamily="2" charset="-122"/>
              </a:rPr>
              <a:t>000</a:t>
            </a:r>
            <a:r>
              <a:rPr lang="en-US" altLang="zh-CN" sz="2000" dirty="0">
                <a:latin typeface="黑体" pitchFamily="2" charset="-122"/>
                <a:ea typeface="黑体" pitchFamily="2" charset="-122"/>
              </a:rPr>
              <a:t> </a:t>
            </a:r>
            <a:r>
              <a:rPr lang="en-US" altLang="zh-CN" sz="2000" dirty="0">
                <a:solidFill>
                  <a:srgbClr val="0000FF"/>
                </a:solidFill>
                <a:latin typeface="黑体" pitchFamily="2" charset="-122"/>
                <a:ea typeface="黑体" pitchFamily="2" charset="-122"/>
              </a:rPr>
              <a:t>0101</a:t>
            </a:r>
          </a:p>
          <a:p>
            <a:pPr eaLnBrk="1" hangingPunct="1">
              <a:lnSpc>
                <a:spcPct val="120000"/>
              </a:lnSpc>
              <a:spcBef>
                <a:spcPct val="0"/>
              </a:spcBef>
            </a:pPr>
            <a:r>
              <a:rPr lang="en-US" altLang="zh-CN" sz="2000" dirty="0">
                <a:latin typeface="黑体" pitchFamily="2" charset="-122"/>
                <a:ea typeface="黑体" pitchFamily="2" charset="-122"/>
              </a:rPr>
              <a:t>MOV </a:t>
            </a:r>
            <a:r>
              <a:rPr lang="en-US" altLang="zh-CN" sz="2000" dirty="0">
                <a:solidFill>
                  <a:srgbClr val="0000FF"/>
                </a:solidFill>
                <a:latin typeface="黑体" pitchFamily="2" charset="-122"/>
                <a:ea typeface="黑体" pitchFamily="2" charset="-122"/>
              </a:rPr>
              <a:t>[BX],</a:t>
            </a:r>
            <a:r>
              <a:rPr lang="en-US" altLang="zh-CN" sz="2000" dirty="0">
                <a:solidFill>
                  <a:srgbClr val="FF0000"/>
                </a:solidFill>
                <a:latin typeface="黑体" pitchFamily="2" charset="-122"/>
                <a:ea typeface="黑体" pitchFamily="2" charset="-122"/>
              </a:rPr>
              <a:t>AX</a:t>
            </a: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a:t>
            </a:r>
            <a:r>
              <a:rPr lang="en-US" altLang="zh-CN" sz="2000" dirty="0" err="1">
                <a:latin typeface="黑体" pitchFamily="2" charset="-122"/>
                <a:ea typeface="黑体" pitchFamily="2" charset="-122"/>
              </a:rPr>
              <a:t>Ry</a:t>
            </a:r>
            <a:r>
              <a:rPr lang="zh-CN" altLang="en-US" sz="2000" dirty="0">
                <a:latin typeface="黑体" pitchFamily="2" charset="-122"/>
                <a:ea typeface="黑体" pitchFamily="2" charset="-122"/>
              </a:rPr>
              <a:t>即</a:t>
            </a:r>
            <a:r>
              <a:rPr lang="en-US" altLang="zh-CN" sz="2000" dirty="0">
                <a:latin typeface="黑体" pitchFamily="2" charset="-122"/>
                <a:ea typeface="黑体" pitchFamily="2" charset="-122"/>
              </a:rPr>
              <a:t>AX</a:t>
            </a:r>
            <a:r>
              <a:rPr lang="zh-CN" altLang="en-US" sz="2000" dirty="0">
                <a:latin typeface="黑体" pitchFamily="2" charset="-122"/>
                <a:ea typeface="黑体" pitchFamily="2" charset="-122"/>
              </a:rPr>
              <a:t>，是源操作数；</a:t>
            </a:r>
            <a:endParaRPr lang="en-US" altLang="zh-CN" sz="2000" dirty="0">
              <a:latin typeface="黑体" pitchFamily="2" charset="-122"/>
              <a:ea typeface="黑体" pitchFamily="2" charset="-122"/>
            </a:endParaRPr>
          </a:p>
          <a:p>
            <a:pPr eaLnBrk="1" hangingPunct="1">
              <a:lnSpc>
                <a:spcPct val="120000"/>
              </a:lnSpc>
              <a:spcBef>
                <a:spcPct val="0"/>
              </a:spcBef>
            </a:pPr>
            <a:r>
              <a:rPr lang="zh-CN" altLang="en-US" sz="2000" dirty="0">
                <a:latin typeface="黑体" pitchFamily="2" charset="-122"/>
                <a:ea typeface="黑体" pitchFamily="2" charset="-122"/>
              </a:rPr>
              <a:t>   目的操作数是寄存器间址。</a:t>
            </a:r>
            <a:r>
              <a:rPr lang="en-US" altLang="zh-CN" sz="2000" dirty="0">
                <a:latin typeface="黑体" pitchFamily="2" charset="-122"/>
                <a:ea typeface="黑体" pitchFamily="2" charset="-122"/>
              </a:rPr>
              <a:t>0 </a:t>
            </a:r>
            <a:r>
              <a:rPr lang="en-US" altLang="zh-CN" sz="2000" dirty="0">
                <a:solidFill>
                  <a:srgbClr val="FF0000"/>
                </a:solidFill>
                <a:latin typeface="黑体" pitchFamily="2" charset="-122"/>
                <a:ea typeface="黑体" pitchFamily="2" charset="-122"/>
              </a:rPr>
              <a:t>000</a:t>
            </a:r>
            <a:r>
              <a:rPr lang="en-US" altLang="zh-CN" sz="2000" dirty="0">
                <a:latin typeface="黑体" pitchFamily="2" charset="-122"/>
                <a:ea typeface="黑体" pitchFamily="2" charset="-122"/>
              </a:rPr>
              <a:t> </a:t>
            </a:r>
            <a:r>
              <a:rPr lang="en-US" altLang="zh-CN" sz="2000" dirty="0">
                <a:solidFill>
                  <a:srgbClr val="0000FF"/>
                </a:solidFill>
                <a:latin typeface="黑体" pitchFamily="2" charset="-122"/>
                <a:ea typeface="黑体" pitchFamily="2" charset="-122"/>
              </a:rPr>
              <a:t>0101</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5477"/>
                                        </p:tgtEl>
                                        <p:attrNameLst>
                                          <p:attrName>style.visibility</p:attrName>
                                        </p:attrNameLst>
                                      </p:cBhvr>
                                      <p:to>
                                        <p:strVal val="visible"/>
                                      </p:to>
                                    </p:set>
                                    <p:animEffect transition="in" filter="wipe(up)">
                                      <p:cBhvr>
                                        <p:cTn id="7" dur="500"/>
                                        <p:tgtEl>
                                          <p:spTgt spid="185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7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6.4.2 </a:t>
            </a:r>
            <a:r>
              <a:rPr lang="zh-CN" altLang="en-US">
                <a:solidFill>
                  <a:srgbClr val="990000"/>
                </a:solidFill>
                <a:latin typeface="黑体" pitchFamily="2" charset="-122"/>
                <a:ea typeface="黑体" pitchFamily="2" charset="-122"/>
              </a:rPr>
              <a:t>模型机时序系统与控制方式</a:t>
            </a:r>
          </a:p>
        </p:txBody>
      </p:sp>
      <p:sp>
        <p:nvSpPr>
          <p:cNvPr id="65539" name="Rectangle 5"/>
          <p:cNvSpPr>
            <a:spLocks noChangeArrowheads="1"/>
          </p:cNvSpPr>
          <p:nvPr/>
        </p:nvSpPr>
        <p:spPr bwMode="auto">
          <a:xfrm>
            <a:off x="611188" y="990600"/>
            <a:ext cx="7162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solidFill>
                  <a:srgbClr val="990000"/>
                </a:solidFill>
                <a:latin typeface="黑体" pitchFamily="2" charset="-122"/>
                <a:ea typeface="黑体" pitchFamily="2" charset="-122"/>
              </a:rPr>
              <a:t>  1.</a:t>
            </a:r>
            <a:r>
              <a:rPr lang="zh-CN" altLang="en-US">
                <a:solidFill>
                  <a:srgbClr val="990000"/>
                </a:solidFill>
                <a:latin typeface="黑体" pitchFamily="2" charset="-122"/>
                <a:ea typeface="黑体" pitchFamily="2" charset="-122"/>
              </a:rPr>
              <a:t>三级时序</a:t>
            </a:r>
            <a:endParaRPr lang="zh-CN" altLang="en-US">
              <a:latin typeface="黑体" pitchFamily="2" charset="-122"/>
              <a:ea typeface="黑体" pitchFamily="2" charset="-122"/>
            </a:endParaRPr>
          </a:p>
        </p:txBody>
      </p:sp>
      <p:sp>
        <p:nvSpPr>
          <p:cNvPr id="65540" name="Text Box 4"/>
          <p:cNvSpPr txBox="1">
            <a:spLocks noChangeArrowheads="1"/>
          </p:cNvSpPr>
          <p:nvPr/>
        </p:nvSpPr>
        <p:spPr bwMode="auto">
          <a:xfrm>
            <a:off x="942975" y="1609725"/>
            <a:ext cx="7896225"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0000"/>
              </a:spcBef>
            </a:pPr>
            <a:r>
              <a:rPr lang="en-US" altLang="zh-CN" dirty="0">
                <a:latin typeface="黑体" pitchFamily="2" charset="-122"/>
                <a:ea typeface="黑体" pitchFamily="2" charset="-122"/>
              </a:rPr>
              <a:t>(1)</a:t>
            </a:r>
            <a:r>
              <a:rPr lang="zh-CN" altLang="en-US">
                <a:latin typeface="黑体" pitchFamily="2" charset="-122"/>
                <a:ea typeface="黑体" pitchFamily="2" charset="-122"/>
              </a:rPr>
              <a:t>工作周期</a:t>
            </a:r>
          </a:p>
          <a:p>
            <a:pPr eaLnBrk="1" hangingPunct="1">
              <a:lnSpc>
                <a:spcPct val="100000"/>
              </a:lnSpc>
              <a:spcBef>
                <a:spcPct val="20000"/>
              </a:spcBef>
            </a:pPr>
            <a:r>
              <a:rPr lang="zh-CN" altLang="en-US">
                <a:latin typeface="黑体" pitchFamily="2" charset="-122"/>
                <a:ea typeface="黑体" pitchFamily="2" charset="-122"/>
              </a:rPr>
              <a:t>    设有</a:t>
            </a:r>
            <a:r>
              <a:rPr lang="en-US" altLang="zh-CN" dirty="0">
                <a:latin typeface="黑体" pitchFamily="2" charset="-122"/>
                <a:ea typeface="黑体" pitchFamily="2" charset="-122"/>
              </a:rPr>
              <a:t>5</a:t>
            </a:r>
            <a:r>
              <a:rPr lang="zh-CN" altLang="en-US">
                <a:latin typeface="黑体" pitchFamily="2" charset="-122"/>
                <a:ea typeface="黑体" pitchFamily="2" charset="-122"/>
              </a:rPr>
              <a:t>个</a:t>
            </a:r>
            <a:r>
              <a:rPr lang="en-US" altLang="zh-CN" dirty="0">
                <a:latin typeface="黑体" pitchFamily="2" charset="-122"/>
                <a:ea typeface="黑体" pitchFamily="2" charset="-122"/>
              </a:rPr>
              <a:t>CPU</a:t>
            </a:r>
            <a:r>
              <a:rPr lang="zh-CN" altLang="en-US">
                <a:latin typeface="黑体" pitchFamily="2" charset="-122"/>
                <a:ea typeface="黑体" pitchFamily="2" charset="-122"/>
              </a:rPr>
              <a:t>工作周期。</a:t>
            </a:r>
          </a:p>
          <a:p>
            <a:pPr eaLnBrk="1" hangingPunct="1">
              <a:lnSpc>
                <a:spcPct val="100000"/>
              </a:lnSpc>
              <a:spcBef>
                <a:spcPct val="20000"/>
              </a:spcBef>
            </a:pPr>
            <a:r>
              <a:rPr lang="zh-CN" altLang="en-US">
                <a:latin typeface="黑体" pitchFamily="2" charset="-122"/>
                <a:ea typeface="黑体" pitchFamily="2" charset="-122"/>
              </a:rPr>
              <a:t>    其中取指</a:t>
            </a:r>
            <a:r>
              <a:rPr lang="en-US" altLang="zh-CN" dirty="0">
                <a:latin typeface="黑体" pitchFamily="2" charset="-122"/>
                <a:ea typeface="黑体" pitchFamily="2" charset="-122"/>
              </a:rPr>
              <a:t>FIC</a:t>
            </a:r>
            <a:r>
              <a:rPr lang="zh-CN" altLang="en-US">
                <a:latin typeface="黑体" pitchFamily="2" charset="-122"/>
                <a:ea typeface="黑体" pitchFamily="2" charset="-122"/>
              </a:rPr>
              <a:t>、取数</a:t>
            </a:r>
            <a:r>
              <a:rPr lang="en-US" altLang="zh-CN" dirty="0">
                <a:latin typeface="黑体" pitchFamily="2" charset="-122"/>
                <a:ea typeface="黑体" pitchFamily="2" charset="-122"/>
              </a:rPr>
              <a:t>FDC</a:t>
            </a:r>
            <a:r>
              <a:rPr lang="zh-CN" altLang="en-US">
                <a:latin typeface="黑体" pitchFamily="2" charset="-122"/>
                <a:ea typeface="黑体" pitchFamily="2" charset="-122"/>
              </a:rPr>
              <a:t>、执行</a:t>
            </a:r>
            <a:r>
              <a:rPr lang="en-US" altLang="zh-CN" dirty="0">
                <a:latin typeface="黑体" pitchFamily="2" charset="-122"/>
                <a:ea typeface="黑体" pitchFamily="2" charset="-122"/>
              </a:rPr>
              <a:t>EXEC</a:t>
            </a:r>
            <a:r>
              <a:rPr lang="zh-CN" altLang="en-US">
                <a:latin typeface="黑体" pitchFamily="2" charset="-122"/>
                <a:ea typeface="黑体" pitchFamily="2" charset="-122"/>
              </a:rPr>
              <a:t>为基本工作周期</a:t>
            </a:r>
            <a:r>
              <a:rPr lang="en-US" altLang="zh-CN" dirty="0">
                <a:latin typeface="黑体" pitchFamily="2" charset="-122"/>
                <a:ea typeface="黑体" pitchFamily="2" charset="-122"/>
              </a:rPr>
              <a:t>.</a:t>
            </a:r>
          </a:p>
        </p:txBody>
      </p:sp>
      <p:grpSp>
        <p:nvGrpSpPr>
          <p:cNvPr id="65541" name="Group 44"/>
          <p:cNvGrpSpPr>
            <a:grpSpLocks/>
          </p:cNvGrpSpPr>
          <p:nvPr/>
        </p:nvGrpSpPr>
        <p:grpSpPr bwMode="auto">
          <a:xfrm>
            <a:off x="1898651" y="3149600"/>
            <a:ext cx="5800725" cy="2706688"/>
            <a:chOff x="1196" y="1900"/>
            <a:chExt cx="3654" cy="1996"/>
          </a:xfrm>
        </p:grpSpPr>
        <p:sp>
          <p:nvSpPr>
            <p:cNvPr id="65542" name="Text Box 9"/>
            <p:cNvSpPr txBox="1">
              <a:spLocks noChangeArrowheads="1"/>
            </p:cNvSpPr>
            <p:nvPr/>
          </p:nvSpPr>
          <p:spPr bwMode="auto">
            <a:xfrm>
              <a:off x="1517" y="2118"/>
              <a:ext cx="1242" cy="327"/>
            </a:xfrm>
            <a:prstGeom prst="rect">
              <a:avLst/>
            </a:prstGeom>
            <a:solidFill>
              <a:srgbClr val="FFFFFF"/>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sz="2000">
                  <a:latin typeface="黑体" pitchFamily="2" charset="-122"/>
                  <a:ea typeface="黑体" pitchFamily="2" charset="-122"/>
                </a:rPr>
                <a:t>取指周期 </a:t>
              </a:r>
              <a:r>
                <a:rPr kumimoji="1" lang="en-US" altLang="zh-CN" sz="2000" dirty="0">
                  <a:latin typeface="黑体" pitchFamily="2" charset="-122"/>
                  <a:ea typeface="黑体" pitchFamily="2" charset="-122"/>
                </a:rPr>
                <a:t>FIC</a:t>
              </a:r>
            </a:p>
          </p:txBody>
        </p:sp>
        <p:sp>
          <p:nvSpPr>
            <p:cNvPr id="65543" name="Text Box 10"/>
            <p:cNvSpPr txBox="1">
              <a:spLocks noChangeArrowheads="1"/>
            </p:cNvSpPr>
            <p:nvPr/>
          </p:nvSpPr>
          <p:spPr bwMode="auto">
            <a:xfrm>
              <a:off x="1517" y="2729"/>
              <a:ext cx="1242" cy="327"/>
            </a:xfrm>
            <a:prstGeom prst="rect">
              <a:avLst/>
            </a:prstGeom>
            <a:solidFill>
              <a:srgbClr val="FFFFFF"/>
            </a:solidFill>
            <a:ln w="28575">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sz="2000">
                  <a:latin typeface="黑体" pitchFamily="2" charset="-122"/>
                  <a:ea typeface="黑体" pitchFamily="2" charset="-122"/>
                </a:rPr>
                <a:t>取数周期 </a:t>
              </a:r>
              <a:r>
                <a:rPr kumimoji="1" lang="en-US" altLang="zh-CN" sz="2000" dirty="0">
                  <a:latin typeface="黑体" pitchFamily="2" charset="-122"/>
                  <a:ea typeface="黑体" pitchFamily="2" charset="-122"/>
                </a:rPr>
                <a:t>FDC</a:t>
              </a:r>
            </a:p>
          </p:txBody>
        </p:sp>
        <p:sp>
          <p:nvSpPr>
            <p:cNvPr id="65544" name="Text Box 11"/>
            <p:cNvSpPr txBox="1">
              <a:spLocks noChangeArrowheads="1"/>
            </p:cNvSpPr>
            <p:nvPr/>
          </p:nvSpPr>
          <p:spPr bwMode="auto">
            <a:xfrm>
              <a:off x="1517" y="3351"/>
              <a:ext cx="1242" cy="327"/>
            </a:xfrm>
            <a:prstGeom prst="rect">
              <a:avLst/>
            </a:prstGeom>
            <a:solidFill>
              <a:srgbClr val="FFFFFF"/>
            </a:solidFill>
            <a:ln w="28575">
              <a:solidFill>
                <a:srgbClr val="00008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sz="2000">
                  <a:latin typeface="黑体" pitchFamily="2" charset="-122"/>
                  <a:ea typeface="黑体" pitchFamily="2" charset="-122"/>
                </a:rPr>
                <a:t>执行周期 </a:t>
              </a:r>
              <a:r>
                <a:rPr kumimoji="1" lang="en-US" altLang="zh-CN" sz="2000" dirty="0">
                  <a:latin typeface="黑体" pitchFamily="2" charset="-122"/>
                  <a:ea typeface="黑体" pitchFamily="2" charset="-122"/>
                </a:rPr>
                <a:t>EXEC</a:t>
              </a:r>
            </a:p>
          </p:txBody>
        </p:sp>
        <p:sp>
          <p:nvSpPr>
            <p:cNvPr id="65545" name="Line 12"/>
            <p:cNvSpPr>
              <a:spLocks noChangeShapeType="1"/>
            </p:cNvSpPr>
            <p:nvPr/>
          </p:nvSpPr>
          <p:spPr bwMode="auto">
            <a:xfrm>
              <a:off x="2126" y="2445"/>
              <a:ext cx="0" cy="284"/>
            </a:xfrm>
            <a:prstGeom prst="line">
              <a:avLst/>
            </a:prstGeom>
            <a:noFill/>
            <a:ln w="19050">
              <a:solidFill>
                <a:srgbClr val="0000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46" name="Line 13"/>
            <p:cNvSpPr>
              <a:spLocks noChangeShapeType="1"/>
            </p:cNvSpPr>
            <p:nvPr/>
          </p:nvSpPr>
          <p:spPr bwMode="auto">
            <a:xfrm>
              <a:off x="2113" y="3056"/>
              <a:ext cx="0" cy="283"/>
            </a:xfrm>
            <a:prstGeom prst="line">
              <a:avLst/>
            </a:prstGeom>
            <a:noFill/>
            <a:ln w="19050">
              <a:solidFill>
                <a:srgbClr val="0000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47" name="Freeform 14"/>
            <p:cNvSpPr>
              <a:spLocks/>
            </p:cNvSpPr>
            <p:nvPr/>
          </p:nvSpPr>
          <p:spPr bwMode="auto">
            <a:xfrm>
              <a:off x="1352" y="2445"/>
              <a:ext cx="558" cy="894"/>
            </a:xfrm>
            <a:custGeom>
              <a:avLst/>
              <a:gdLst>
                <a:gd name="T0" fmla="*/ 45 w 660"/>
                <a:gd name="T1" fmla="*/ 0 h 1230"/>
                <a:gd name="T2" fmla="*/ 45 w 660"/>
                <a:gd name="T3" fmla="*/ 1 h 1230"/>
                <a:gd name="T4" fmla="*/ 0 w 660"/>
                <a:gd name="T5" fmla="*/ 1 h 1230"/>
                <a:gd name="T6" fmla="*/ 0 w 660"/>
                <a:gd name="T7" fmla="*/ 7 h 1230"/>
                <a:gd name="T8" fmla="*/ 45 w 660"/>
                <a:gd name="T9" fmla="*/ 7 h 1230"/>
                <a:gd name="T10" fmla="*/ 45 w 660"/>
                <a:gd name="T11" fmla="*/ 8 h 1230"/>
                <a:gd name="T12" fmla="*/ 0 60000 65536"/>
                <a:gd name="T13" fmla="*/ 0 60000 65536"/>
                <a:gd name="T14" fmla="*/ 0 60000 65536"/>
                <a:gd name="T15" fmla="*/ 0 60000 65536"/>
                <a:gd name="T16" fmla="*/ 0 60000 65536"/>
                <a:gd name="T17" fmla="*/ 0 60000 65536"/>
                <a:gd name="T18" fmla="*/ 0 w 660"/>
                <a:gd name="T19" fmla="*/ 0 h 1230"/>
                <a:gd name="T20" fmla="*/ 660 w 660"/>
                <a:gd name="T21" fmla="*/ 1230 h 1230"/>
              </a:gdLst>
              <a:ahLst/>
              <a:cxnLst>
                <a:cxn ang="T12">
                  <a:pos x="T0" y="T1"/>
                </a:cxn>
                <a:cxn ang="T13">
                  <a:pos x="T2" y="T3"/>
                </a:cxn>
                <a:cxn ang="T14">
                  <a:pos x="T4" y="T5"/>
                </a:cxn>
                <a:cxn ang="T15">
                  <a:pos x="T6" y="T7"/>
                </a:cxn>
                <a:cxn ang="T16">
                  <a:pos x="T8" y="T9"/>
                </a:cxn>
                <a:cxn ang="T17">
                  <a:pos x="T10" y="T11"/>
                </a:cxn>
              </a:cxnLst>
              <a:rect l="T18" t="T19" r="T20" b="T21"/>
              <a:pathLst>
                <a:path w="660" h="1230">
                  <a:moveTo>
                    <a:pt x="660" y="0"/>
                  </a:moveTo>
                  <a:lnTo>
                    <a:pt x="660" y="165"/>
                  </a:lnTo>
                  <a:lnTo>
                    <a:pt x="0" y="165"/>
                  </a:lnTo>
                  <a:lnTo>
                    <a:pt x="0" y="1005"/>
                  </a:lnTo>
                  <a:lnTo>
                    <a:pt x="660" y="1005"/>
                  </a:lnTo>
                  <a:lnTo>
                    <a:pt x="660" y="1230"/>
                  </a:lnTo>
                </a:path>
              </a:pathLst>
            </a:custGeom>
            <a:noFill/>
            <a:ln w="19050" cap="flat" cmpd="sng">
              <a:solidFill>
                <a:srgbClr val="000080"/>
              </a:solidFill>
              <a:prstDash val="solid"/>
              <a:round/>
              <a:headEnd type="none" w="med" len="me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48" name="Line 15"/>
            <p:cNvSpPr>
              <a:spLocks noChangeShapeType="1"/>
            </p:cNvSpPr>
            <p:nvPr/>
          </p:nvSpPr>
          <p:spPr bwMode="auto">
            <a:xfrm>
              <a:off x="2128" y="3678"/>
              <a:ext cx="0" cy="218"/>
            </a:xfrm>
            <a:prstGeom prst="line">
              <a:avLst/>
            </a:prstGeom>
            <a:noFill/>
            <a:ln w="19050">
              <a:solidFill>
                <a:srgbClr val="0000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49" name="Line 16"/>
            <p:cNvSpPr>
              <a:spLocks noChangeShapeType="1"/>
            </p:cNvSpPr>
            <p:nvPr/>
          </p:nvSpPr>
          <p:spPr bwMode="auto">
            <a:xfrm>
              <a:off x="2128" y="1900"/>
              <a:ext cx="0" cy="218"/>
            </a:xfrm>
            <a:prstGeom prst="line">
              <a:avLst/>
            </a:prstGeom>
            <a:noFill/>
            <a:ln w="19050">
              <a:solidFill>
                <a:srgbClr val="0000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50" name="Freeform 17"/>
            <p:cNvSpPr>
              <a:spLocks/>
            </p:cNvSpPr>
            <p:nvPr/>
          </p:nvSpPr>
          <p:spPr bwMode="auto">
            <a:xfrm>
              <a:off x="1196" y="1910"/>
              <a:ext cx="938" cy="1976"/>
            </a:xfrm>
            <a:custGeom>
              <a:avLst/>
              <a:gdLst>
                <a:gd name="T0" fmla="*/ 26 w 1185"/>
                <a:gd name="T1" fmla="*/ 0 h 2670"/>
                <a:gd name="T2" fmla="*/ 0 w 1185"/>
                <a:gd name="T3" fmla="*/ 0 h 2670"/>
                <a:gd name="T4" fmla="*/ 0 w 1185"/>
                <a:gd name="T5" fmla="*/ 22 h 2670"/>
                <a:gd name="T6" fmla="*/ 26 w 1185"/>
                <a:gd name="T7" fmla="*/ 22 h 2670"/>
                <a:gd name="T8" fmla="*/ 0 60000 65536"/>
                <a:gd name="T9" fmla="*/ 0 60000 65536"/>
                <a:gd name="T10" fmla="*/ 0 60000 65536"/>
                <a:gd name="T11" fmla="*/ 0 60000 65536"/>
                <a:gd name="T12" fmla="*/ 0 w 1185"/>
                <a:gd name="T13" fmla="*/ 0 h 2670"/>
                <a:gd name="T14" fmla="*/ 1185 w 1185"/>
                <a:gd name="T15" fmla="*/ 2670 h 2670"/>
              </a:gdLst>
              <a:ahLst/>
              <a:cxnLst>
                <a:cxn ang="T8">
                  <a:pos x="T0" y="T1"/>
                </a:cxn>
                <a:cxn ang="T9">
                  <a:pos x="T2" y="T3"/>
                </a:cxn>
                <a:cxn ang="T10">
                  <a:pos x="T4" y="T5"/>
                </a:cxn>
                <a:cxn ang="T11">
                  <a:pos x="T6" y="T7"/>
                </a:cxn>
              </a:cxnLst>
              <a:rect l="T12" t="T13" r="T14" b="T15"/>
              <a:pathLst>
                <a:path w="1185" h="2670">
                  <a:moveTo>
                    <a:pt x="1185" y="0"/>
                  </a:moveTo>
                  <a:lnTo>
                    <a:pt x="0" y="0"/>
                  </a:lnTo>
                  <a:lnTo>
                    <a:pt x="0" y="2670"/>
                  </a:lnTo>
                  <a:lnTo>
                    <a:pt x="1185" y="2670"/>
                  </a:lnTo>
                </a:path>
              </a:pathLst>
            </a:custGeom>
            <a:noFill/>
            <a:ln w="19050" cap="flat" cmpd="sng">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51" name="Line 18"/>
            <p:cNvSpPr>
              <a:spLocks noChangeShapeType="1"/>
            </p:cNvSpPr>
            <p:nvPr/>
          </p:nvSpPr>
          <p:spPr bwMode="auto">
            <a:xfrm flipH="1" flipV="1">
              <a:off x="2240" y="2521"/>
              <a:ext cx="1267" cy="230"/>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52" name="Line 19"/>
            <p:cNvSpPr>
              <a:spLocks noChangeShapeType="1"/>
            </p:cNvSpPr>
            <p:nvPr/>
          </p:nvSpPr>
          <p:spPr bwMode="auto">
            <a:xfrm flipH="1">
              <a:off x="2809" y="2870"/>
              <a:ext cx="698" cy="56"/>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53" name="Line 20"/>
            <p:cNvSpPr>
              <a:spLocks noChangeShapeType="1"/>
            </p:cNvSpPr>
            <p:nvPr/>
          </p:nvSpPr>
          <p:spPr bwMode="auto">
            <a:xfrm flipH="1">
              <a:off x="2265" y="2980"/>
              <a:ext cx="1279" cy="261"/>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554" name="Text Box 21"/>
            <p:cNvSpPr txBox="1">
              <a:spLocks noChangeArrowheads="1"/>
            </p:cNvSpPr>
            <p:nvPr/>
          </p:nvSpPr>
          <p:spPr bwMode="auto">
            <a:xfrm>
              <a:off x="3519" y="2642"/>
              <a:ext cx="1331" cy="521"/>
            </a:xfrm>
            <a:prstGeom prst="rect">
              <a:avLst/>
            </a:prstGeom>
            <a:solidFill>
              <a:srgbClr val="FFFFFF"/>
            </a:solidFill>
            <a:ln w="28575">
              <a:solidFill>
                <a:srgbClr val="00660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sz="2000">
                  <a:solidFill>
                    <a:srgbClr val="006600"/>
                  </a:solidFill>
                  <a:latin typeface="黑体" pitchFamily="2" charset="-122"/>
                  <a:ea typeface="黑体" pitchFamily="2" charset="-122"/>
                </a:rPr>
                <a:t>可插入</a:t>
              </a:r>
              <a:r>
                <a:rPr kumimoji="1" lang="en-US" altLang="zh-CN" sz="2000" dirty="0">
                  <a:solidFill>
                    <a:srgbClr val="006600"/>
                  </a:solidFill>
                  <a:latin typeface="黑体" pitchFamily="2" charset="-122"/>
                  <a:ea typeface="黑体" pitchFamily="2" charset="-122"/>
                </a:rPr>
                <a:t>DMA</a:t>
              </a:r>
              <a:r>
                <a:rPr kumimoji="1" lang="zh-CN" altLang="en-US" sz="2000">
                  <a:solidFill>
                    <a:srgbClr val="006600"/>
                  </a:solidFill>
                  <a:latin typeface="黑体" pitchFamily="2" charset="-122"/>
                  <a:ea typeface="黑体" pitchFamily="2" charset="-122"/>
                </a:rPr>
                <a:t>周期</a:t>
              </a:r>
            </a:p>
            <a:p>
              <a:pPr algn="ctr">
                <a:lnSpc>
                  <a:spcPct val="100000"/>
                </a:lnSpc>
                <a:spcBef>
                  <a:spcPct val="0"/>
                </a:spcBef>
              </a:pPr>
              <a:r>
                <a:rPr kumimoji="1" lang="en-US" altLang="zh-CN" sz="2000" dirty="0">
                  <a:solidFill>
                    <a:srgbClr val="006600"/>
                  </a:solidFill>
                  <a:latin typeface="黑体" pitchFamily="2" charset="-122"/>
                  <a:ea typeface="黑体" pitchFamily="2" charset="-122"/>
                </a:rPr>
                <a:t>DMAC</a:t>
              </a:r>
            </a:p>
          </p:txBody>
        </p:sp>
        <p:sp>
          <p:nvSpPr>
            <p:cNvPr id="65555" name="Freeform 22"/>
            <p:cNvSpPr>
              <a:spLocks/>
            </p:cNvSpPr>
            <p:nvPr/>
          </p:nvSpPr>
          <p:spPr bwMode="auto">
            <a:xfrm>
              <a:off x="2328" y="3132"/>
              <a:ext cx="1153" cy="612"/>
            </a:xfrm>
            <a:custGeom>
              <a:avLst/>
              <a:gdLst>
                <a:gd name="T0" fmla="*/ 55 w 1410"/>
                <a:gd name="T1" fmla="*/ 0 h 795"/>
                <a:gd name="T2" fmla="*/ 28 w 1410"/>
                <a:gd name="T3" fmla="*/ 12 h 795"/>
                <a:gd name="T4" fmla="*/ 0 w 1410"/>
                <a:gd name="T5" fmla="*/ 13 h 795"/>
                <a:gd name="T6" fmla="*/ 0 60000 65536"/>
                <a:gd name="T7" fmla="*/ 0 60000 65536"/>
                <a:gd name="T8" fmla="*/ 0 60000 65536"/>
                <a:gd name="T9" fmla="*/ 0 w 1410"/>
                <a:gd name="T10" fmla="*/ 0 h 795"/>
                <a:gd name="T11" fmla="*/ 1410 w 1410"/>
                <a:gd name="T12" fmla="*/ 795 h 795"/>
              </a:gdLst>
              <a:ahLst/>
              <a:cxnLst>
                <a:cxn ang="T6">
                  <a:pos x="T0" y="T1"/>
                </a:cxn>
                <a:cxn ang="T7">
                  <a:pos x="T2" y="T3"/>
                </a:cxn>
                <a:cxn ang="T8">
                  <a:pos x="T4" y="T5"/>
                </a:cxn>
              </a:cxnLst>
              <a:rect l="T9" t="T10" r="T11" b="T12"/>
              <a:pathLst>
                <a:path w="1410" h="795">
                  <a:moveTo>
                    <a:pt x="1410" y="0"/>
                  </a:moveTo>
                  <a:lnTo>
                    <a:pt x="720" y="750"/>
                  </a:lnTo>
                  <a:lnTo>
                    <a:pt x="0" y="795"/>
                  </a:lnTo>
                </a:path>
              </a:pathLst>
            </a:custGeom>
            <a:noFill/>
            <a:ln w="19050" cap="flat" cmpd="sng">
              <a:solidFill>
                <a:srgbClr val="006600"/>
              </a:solidFill>
              <a:prstDash val="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56" name="Text Box 23"/>
            <p:cNvSpPr txBox="1">
              <a:spLocks noChangeArrowheads="1"/>
            </p:cNvSpPr>
            <p:nvPr/>
          </p:nvSpPr>
          <p:spPr bwMode="auto">
            <a:xfrm>
              <a:off x="3519" y="3327"/>
              <a:ext cx="1331" cy="503"/>
            </a:xfrm>
            <a:prstGeom prst="rect">
              <a:avLst/>
            </a:prstGeom>
            <a:solidFill>
              <a:srgbClr val="FFFFFF"/>
            </a:solidFill>
            <a:ln w="28575">
              <a:solidFill>
                <a:srgbClr val="00660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0000"/>
                </a:lnSpc>
                <a:spcBef>
                  <a:spcPct val="0"/>
                </a:spcBef>
              </a:pPr>
              <a:r>
                <a:rPr kumimoji="1" lang="zh-CN" altLang="en-US" sz="2000">
                  <a:solidFill>
                    <a:srgbClr val="006600"/>
                  </a:solidFill>
                  <a:latin typeface="黑体" pitchFamily="2" charset="-122"/>
                  <a:ea typeface="黑体" pitchFamily="2" charset="-122"/>
                </a:rPr>
                <a:t>可插入中断周期</a:t>
              </a:r>
            </a:p>
            <a:p>
              <a:pPr algn="ctr">
                <a:lnSpc>
                  <a:spcPct val="100000"/>
                </a:lnSpc>
                <a:spcBef>
                  <a:spcPct val="0"/>
                </a:spcBef>
              </a:pPr>
              <a:r>
                <a:rPr kumimoji="1" lang="en-US" altLang="zh-CN" sz="2000" dirty="0">
                  <a:solidFill>
                    <a:srgbClr val="006600"/>
                  </a:solidFill>
                  <a:latin typeface="黑体" pitchFamily="2" charset="-122"/>
                  <a:ea typeface="黑体" pitchFamily="2" charset="-122"/>
                </a:rPr>
                <a:t>INTC</a:t>
              </a:r>
            </a:p>
          </p:txBody>
        </p:sp>
        <p:sp>
          <p:nvSpPr>
            <p:cNvPr id="65557" name="Line 24"/>
            <p:cNvSpPr>
              <a:spLocks noChangeShapeType="1"/>
            </p:cNvSpPr>
            <p:nvPr/>
          </p:nvSpPr>
          <p:spPr bwMode="auto">
            <a:xfrm flipH="1">
              <a:off x="2328" y="3798"/>
              <a:ext cx="1179" cy="10"/>
            </a:xfrm>
            <a:prstGeom prst="line">
              <a:avLst/>
            </a:prstGeom>
            <a:noFill/>
            <a:ln w="19050">
              <a:solidFill>
                <a:srgbClr val="0066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wipe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6.4.2 </a:t>
            </a:r>
            <a:r>
              <a:rPr lang="zh-CN" altLang="en-US">
                <a:solidFill>
                  <a:srgbClr val="990000"/>
                </a:solidFill>
                <a:latin typeface="黑体" pitchFamily="2" charset="-122"/>
                <a:ea typeface="黑体" pitchFamily="2" charset="-122"/>
              </a:rPr>
              <a:t>模型机时序系统与控制方式</a:t>
            </a:r>
          </a:p>
        </p:txBody>
      </p:sp>
      <p:sp>
        <p:nvSpPr>
          <p:cNvPr id="66563" name="Rectangle 5"/>
          <p:cNvSpPr>
            <a:spLocks noChangeArrowheads="1"/>
          </p:cNvSpPr>
          <p:nvPr/>
        </p:nvSpPr>
        <p:spPr bwMode="auto">
          <a:xfrm>
            <a:off x="611188" y="990600"/>
            <a:ext cx="7162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solidFill>
                  <a:srgbClr val="990000"/>
                </a:solidFill>
                <a:latin typeface="黑体" pitchFamily="2" charset="-122"/>
                <a:ea typeface="黑体" pitchFamily="2" charset="-122"/>
              </a:rPr>
              <a:t>  1.</a:t>
            </a:r>
            <a:r>
              <a:rPr lang="zh-CN" altLang="en-US">
                <a:solidFill>
                  <a:srgbClr val="990000"/>
                </a:solidFill>
                <a:latin typeface="黑体" pitchFamily="2" charset="-122"/>
                <a:ea typeface="黑体" pitchFamily="2" charset="-122"/>
              </a:rPr>
              <a:t>三级时序</a:t>
            </a:r>
            <a:endParaRPr lang="zh-CN" altLang="en-US">
              <a:latin typeface="黑体" pitchFamily="2" charset="-122"/>
              <a:ea typeface="黑体" pitchFamily="2" charset="-122"/>
            </a:endParaRPr>
          </a:p>
        </p:txBody>
      </p:sp>
      <p:sp>
        <p:nvSpPr>
          <p:cNvPr id="66564" name="Text Box 4"/>
          <p:cNvSpPr txBox="1">
            <a:spLocks noChangeArrowheads="1"/>
          </p:cNvSpPr>
          <p:nvPr/>
        </p:nvSpPr>
        <p:spPr bwMode="auto">
          <a:xfrm>
            <a:off x="942975" y="1609725"/>
            <a:ext cx="7896225"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0000"/>
              </a:spcBef>
            </a:pPr>
            <a:r>
              <a:rPr lang="en-US" altLang="zh-CN" dirty="0">
                <a:latin typeface="黑体" pitchFamily="2" charset="-122"/>
                <a:ea typeface="黑体" pitchFamily="2" charset="-122"/>
              </a:rPr>
              <a:t>(1) CPU</a:t>
            </a:r>
            <a:r>
              <a:rPr lang="zh-CN" altLang="en-US">
                <a:latin typeface="黑体" pitchFamily="2" charset="-122"/>
                <a:ea typeface="黑体" pitchFamily="2" charset="-122"/>
              </a:rPr>
              <a:t>工作周期</a:t>
            </a:r>
          </a:p>
          <a:p>
            <a:pPr eaLnBrk="1" hangingPunct="1">
              <a:lnSpc>
                <a:spcPct val="100000"/>
              </a:lnSpc>
              <a:spcBef>
                <a:spcPct val="20000"/>
              </a:spcBef>
            </a:pPr>
            <a:r>
              <a:rPr lang="zh-CN" altLang="en-US">
                <a:latin typeface="黑体" pitchFamily="2" charset="-122"/>
                <a:ea typeface="黑体" pitchFamily="2" charset="-122"/>
              </a:rPr>
              <a:t>    设有</a:t>
            </a:r>
            <a:r>
              <a:rPr lang="en-US" altLang="zh-CN" dirty="0">
                <a:latin typeface="黑体" pitchFamily="2" charset="-122"/>
                <a:ea typeface="黑体" pitchFamily="2" charset="-122"/>
              </a:rPr>
              <a:t>5</a:t>
            </a:r>
            <a:r>
              <a:rPr lang="zh-CN" altLang="en-US">
                <a:latin typeface="黑体" pitchFamily="2" charset="-122"/>
                <a:ea typeface="黑体" pitchFamily="2" charset="-122"/>
              </a:rPr>
              <a:t>个</a:t>
            </a:r>
            <a:r>
              <a:rPr lang="en-US" altLang="zh-CN" dirty="0">
                <a:latin typeface="黑体" pitchFamily="2" charset="-122"/>
                <a:ea typeface="黑体" pitchFamily="2" charset="-122"/>
              </a:rPr>
              <a:t>CPU</a:t>
            </a:r>
            <a:r>
              <a:rPr lang="zh-CN" altLang="en-US">
                <a:latin typeface="黑体" pitchFamily="2" charset="-122"/>
                <a:ea typeface="黑体" pitchFamily="2" charset="-122"/>
              </a:rPr>
              <a:t>工作周期。</a:t>
            </a:r>
          </a:p>
          <a:p>
            <a:pPr eaLnBrk="1" hangingPunct="1">
              <a:lnSpc>
                <a:spcPct val="100000"/>
              </a:lnSpc>
              <a:spcBef>
                <a:spcPct val="20000"/>
              </a:spcBef>
            </a:pPr>
            <a:r>
              <a:rPr lang="zh-CN" altLang="en-US">
                <a:latin typeface="黑体" pitchFamily="2" charset="-122"/>
                <a:ea typeface="黑体" pitchFamily="2" charset="-122"/>
              </a:rPr>
              <a:t>    其中取指</a:t>
            </a:r>
            <a:r>
              <a:rPr lang="en-US" altLang="zh-CN" dirty="0">
                <a:latin typeface="黑体" pitchFamily="2" charset="-122"/>
                <a:ea typeface="黑体" pitchFamily="2" charset="-122"/>
              </a:rPr>
              <a:t>FIC</a:t>
            </a:r>
            <a:r>
              <a:rPr lang="zh-CN" altLang="en-US">
                <a:latin typeface="黑体" pitchFamily="2" charset="-122"/>
                <a:ea typeface="黑体" pitchFamily="2" charset="-122"/>
              </a:rPr>
              <a:t>、取数</a:t>
            </a:r>
            <a:r>
              <a:rPr lang="en-US" altLang="zh-CN" dirty="0">
                <a:latin typeface="黑体" pitchFamily="2" charset="-122"/>
                <a:ea typeface="黑体" pitchFamily="2" charset="-122"/>
              </a:rPr>
              <a:t>FDC</a:t>
            </a:r>
            <a:r>
              <a:rPr lang="zh-CN" altLang="en-US">
                <a:latin typeface="黑体" pitchFamily="2" charset="-122"/>
                <a:ea typeface="黑体" pitchFamily="2" charset="-122"/>
              </a:rPr>
              <a:t>、执行</a:t>
            </a:r>
            <a:r>
              <a:rPr lang="en-US" altLang="zh-CN" dirty="0">
                <a:latin typeface="黑体" pitchFamily="2" charset="-122"/>
                <a:ea typeface="黑体" pitchFamily="2" charset="-122"/>
              </a:rPr>
              <a:t>EXEC</a:t>
            </a:r>
            <a:r>
              <a:rPr lang="zh-CN" altLang="en-US">
                <a:latin typeface="黑体" pitchFamily="2" charset="-122"/>
                <a:ea typeface="黑体" pitchFamily="2" charset="-122"/>
              </a:rPr>
              <a:t>为基本工作周期。</a:t>
            </a:r>
            <a:endParaRPr lang="en-US" altLang="zh-CN" dirty="0">
              <a:latin typeface="黑体" pitchFamily="2" charset="-122"/>
              <a:ea typeface="黑体" pitchFamily="2" charset="-122"/>
            </a:endParaRPr>
          </a:p>
        </p:txBody>
      </p:sp>
      <p:sp>
        <p:nvSpPr>
          <p:cNvPr id="66565" name="Text Box 27"/>
          <p:cNvSpPr txBox="1">
            <a:spLocks noChangeArrowheads="1"/>
          </p:cNvSpPr>
          <p:nvPr/>
        </p:nvSpPr>
        <p:spPr bwMode="auto">
          <a:xfrm>
            <a:off x="942975" y="3143250"/>
            <a:ext cx="8067675"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0000"/>
              </a:spcBef>
            </a:pPr>
            <a:r>
              <a:rPr lang="en-US" altLang="zh-CN" dirty="0">
                <a:latin typeface="黑体" pitchFamily="2" charset="-122"/>
                <a:ea typeface="黑体" pitchFamily="2" charset="-122"/>
              </a:rPr>
              <a:t>(2)</a:t>
            </a:r>
            <a:r>
              <a:rPr lang="zh-CN" altLang="en-US">
                <a:latin typeface="黑体" pitchFamily="2" charset="-122"/>
                <a:ea typeface="黑体" pitchFamily="2" charset="-122"/>
              </a:rPr>
              <a:t>节拍</a:t>
            </a:r>
          </a:p>
          <a:p>
            <a:pPr eaLnBrk="1" hangingPunct="1">
              <a:lnSpc>
                <a:spcPct val="100000"/>
              </a:lnSpc>
              <a:spcBef>
                <a:spcPct val="20000"/>
              </a:spcBef>
            </a:pPr>
            <a:r>
              <a:rPr lang="zh-CN" altLang="en-US">
                <a:latin typeface="黑体" pitchFamily="2" charset="-122"/>
                <a:ea typeface="黑体" pitchFamily="2" charset="-122"/>
              </a:rPr>
              <a:t>    一个</a:t>
            </a:r>
            <a:r>
              <a:rPr lang="en-US" altLang="zh-CN" dirty="0">
                <a:latin typeface="黑体" pitchFamily="2" charset="-122"/>
                <a:ea typeface="黑体" pitchFamily="2" charset="-122"/>
              </a:rPr>
              <a:t>CPU</a:t>
            </a:r>
            <a:r>
              <a:rPr lang="zh-CN" altLang="en-US">
                <a:latin typeface="黑体" pitchFamily="2" charset="-122"/>
                <a:ea typeface="黑体" pitchFamily="2" charset="-122"/>
              </a:rPr>
              <a:t>工作周期最多可有</a:t>
            </a:r>
            <a:r>
              <a:rPr lang="en-US" altLang="zh-CN" dirty="0">
                <a:latin typeface="黑体" pitchFamily="2" charset="-122"/>
                <a:ea typeface="黑体" pitchFamily="2" charset="-122"/>
              </a:rPr>
              <a:t>64</a:t>
            </a:r>
            <a:r>
              <a:rPr lang="zh-CN" altLang="en-US">
                <a:latin typeface="黑体" pitchFamily="2" charset="-122"/>
                <a:ea typeface="黑体" pitchFamily="2" charset="-122"/>
              </a:rPr>
              <a:t>个节拍，每个节拍等长，变长</a:t>
            </a:r>
            <a:r>
              <a:rPr lang="en-US" altLang="zh-CN" dirty="0">
                <a:latin typeface="黑体" pitchFamily="2" charset="-122"/>
                <a:ea typeface="黑体" pitchFamily="2" charset="-122"/>
              </a:rPr>
              <a:t>CPU</a:t>
            </a:r>
            <a:r>
              <a:rPr lang="zh-CN" altLang="en-US">
                <a:latin typeface="黑体" pitchFamily="2" charset="-122"/>
                <a:ea typeface="黑体" pitchFamily="2" charset="-122"/>
              </a:rPr>
              <a:t>工作周期。</a:t>
            </a:r>
          </a:p>
        </p:txBody>
      </p:sp>
      <p:sp>
        <p:nvSpPr>
          <p:cNvPr id="66566" name="Text Box 28"/>
          <p:cNvSpPr txBox="1">
            <a:spLocks noChangeArrowheads="1"/>
          </p:cNvSpPr>
          <p:nvPr/>
        </p:nvSpPr>
        <p:spPr bwMode="auto">
          <a:xfrm>
            <a:off x="942975" y="4657725"/>
            <a:ext cx="80676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0000"/>
              </a:spcBef>
            </a:pPr>
            <a:r>
              <a:rPr lang="en-US" altLang="zh-CN" dirty="0">
                <a:latin typeface="黑体" pitchFamily="2" charset="-122"/>
                <a:ea typeface="黑体" pitchFamily="2" charset="-122"/>
              </a:rPr>
              <a:t>(3)</a:t>
            </a:r>
            <a:r>
              <a:rPr lang="zh-CN" altLang="en-US">
                <a:latin typeface="黑体" pitchFamily="2" charset="-122"/>
                <a:ea typeface="黑体" pitchFamily="2" charset="-122"/>
              </a:rPr>
              <a:t>节拍脉冲</a:t>
            </a:r>
            <a:endParaRPr lang="en-US" altLang="zh-CN" dirty="0">
              <a:latin typeface="黑体" pitchFamily="2" charset="-122"/>
              <a:ea typeface="黑体" pitchFamily="2" charset="-122"/>
            </a:endParaRPr>
          </a:p>
          <a:p>
            <a:pPr eaLnBrk="1" hangingPunct="1">
              <a:lnSpc>
                <a:spcPct val="100000"/>
              </a:lnSpc>
              <a:spcBef>
                <a:spcPct val="20000"/>
              </a:spcBef>
            </a:pPr>
            <a:r>
              <a:rPr lang="zh-CN" altLang="en-US">
                <a:latin typeface="黑体" pitchFamily="2" charset="-122"/>
                <a:ea typeface="黑体" pitchFamily="2" charset="-122"/>
              </a:rPr>
              <a:t>    在每个节拍中有一个对应的节拍脉冲。</a:t>
            </a:r>
          </a:p>
        </p:txBody>
      </p:sp>
    </p:spTree>
  </p:cSld>
  <p:clrMapOvr>
    <a:masterClrMapping/>
  </p:clrMapOvr>
  <p:transition>
    <p:wipe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6.4.2 </a:t>
            </a:r>
            <a:r>
              <a:rPr lang="zh-CN" altLang="en-US">
                <a:solidFill>
                  <a:srgbClr val="990000"/>
                </a:solidFill>
                <a:latin typeface="黑体" pitchFamily="2" charset="-122"/>
                <a:ea typeface="黑体" pitchFamily="2" charset="-122"/>
              </a:rPr>
              <a:t>模型机时序系统与控制方式</a:t>
            </a:r>
          </a:p>
        </p:txBody>
      </p:sp>
      <p:sp>
        <p:nvSpPr>
          <p:cNvPr id="67587" name="Rectangle 5"/>
          <p:cNvSpPr>
            <a:spLocks noChangeArrowheads="1"/>
          </p:cNvSpPr>
          <p:nvPr/>
        </p:nvSpPr>
        <p:spPr bwMode="auto">
          <a:xfrm>
            <a:off x="611188" y="990600"/>
            <a:ext cx="7162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solidFill>
                  <a:srgbClr val="990000"/>
                </a:solidFill>
                <a:latin typeface="黑体" pitchFamily="2" charset="-122"/>
                <a:ea typeface="黑体" pitchFamily="2" charset="-122"/>
              </a:rPr>
              <a:t>  2.</a:t>
            </a:r>
            <a:r>
              <a:rPr lang="zh-CN" altLang="en-US">
                <a:solidFill>
                  <a:srgbClr val="990000"/>
                </a:solidFill>
                <a:latin typeface="黑体" pitchFamily="2" charset="-122"/>
                <a:ea typeface="黑体" pitchFamily="2" charset="-122"/>
              </a:rPr>
              <a:t>时序控制方式</a:t>
            </a:r>
            <a:endParaRPr lang="zh-CN" altLang="en-US">
              <a:latin typeface="黑体" pitchFamily="2" charset="-122"/>
              <a:ea typeface="黑体" pitchFamily="2" charset="-122"/>
            </a:endParaRPr>
          </a:p>
        </p:txBody>
      </p:sp>
      <p:sp>
        <p:nvSpPr>
          <p:cNvPr id="67588" name="Text Box 4"/>
          <p:cNvSpPr txBox="1">
            <a:spLocks noChangeArrowheads="1"/>
          </p:cNvSpPr>
          <p:nvPr/>
        </p:nvSpPr>
        <p:spPr bwMode="auto">
          <a:xfrm>
            <a:off x="800100" y="1695450"/>
            <a:ext cx="78962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0000"/>
              </a:spcBef>
            </a:pPr>
            <a:r>
              <a:rPr lang="en-US" altLang="zh-CN" dirty="0">
                <a:latin typeface="黑体" pitchFamily="2" charset="-122"/>
                <a:ea typeface="黑体" pitchFamily="2" charset="-122"/>
              </a:rPr>
              <a:t>    CPU内采用同步控制；</a:t>
            </a:r>
          </a:p>
          <a:p>
            <a:pPr eaLnBrk="1" hangingPunct="1">
              <a:lnSpc>
                <a:spcPct val="100000"/>
              </a:lnSpc>
              <a:spcBef>
                <a:spcPct val="20000"/>
              </a:spcBef>
            </a:pPr>
            <a:r>
              <a:rPr lang="en-US" altLang="zh-CN" dirty="0">
                <a:latin typeface="黑体" pitchFamily="2" charset="-122"/>
                <a:ea typeface="黑体" pitchFamily="2" charset="-122"/>
              </a:rPr>
              <a:t>    CPU与MM及I/O之间采用准同步。</a:t>
            </a:r>
          </a:p>
        </p:txBody>
      </p:sp>
    </p:spTree>
  </p:cSld>
  <p:clrMapOvr>
    <a:masterClrMapping/>
  </p:clrMapOvr>
  <p:transition>
    <p:wipe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6.4.3 </a:t>
            </a:r>
            <a:r>
              <a:rPr lang="zh-CN" altLang="en-US">
                <a:solidFill>
                  <a:srgbClr val="990000"/>
                </a:solidFill>
                <a:latin typeface="黑体" pitchFamily="2" charset="-122"/>
                <a:ea typeface="黑体" pitchFamily="2" charset="-122"/>
              </a:rPr>
              <a:t>模型机指令的微操作流程</a:t>
            </a:r>
          </a:p>
        </p:txBody>
      </p:sp>
      <p:sp>
        <p:nvSpPr>
          <p:cNvPr id="68611" name="Rectangle 5"/>
          <p:cNvSpPr>
            <a:spLocks noChangeArrowheads="1"/>
          </p:cNvSpPr>
          <p:nvPr/>
        </p:nvSpPr>
        <p:spPr bwMode="auto">
          <a:xfrm>
            <a:off x="611188" y="1066800"/>
            <a:ext cx="771525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solidFill>
                  <a:srgbClr val="990000"/>
                </a:solidFill>
                <a:latin typeface="黑体" pitchFamily="2" charset="-122"/>
                <a:ea typeface="黑体" pitchFamily="2" charset="-122"/>
              </a:rPr>
              <a:t>  1.</a:t>
            </a:r>
            <a:r>
              <a:rPr lang="zh-CN" altLang="en-US">
                <a:solidFill>
                  <a:srgbClr val="990000"/>
                </a:solidFill>
                <a:latin typeface="黑体" pitchFamily="2" charset="-122"/>
                <a:ea typeface="黑体" pitchFamily="2" charset="-122"/>
              </a:rPr>
              <a:t>取指周期</a:t>
            </a:r>
            <a:r>
              <a:rPr lang="en-US" altLang="zh-CN" dirty="0">
                <a:solidFill>
                  <a:srgbClr val="990000"/>
                </a:solidFill>
                <a:latin typeface="黑体" pitchFamily="2" charset="-122"/>
                <a:ea typeface="黑体" pitchFamily="2" charset="-122"/>
              </a:rPr>
              <a:t>FIC</a:t>
            </a: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根据</a:t>
            </a:r>
            <a:r>
              <a:rPr lang="en-US" altLang="zh-CN" dirty="0">
                <a:latin typeface="黑体" pitchFamily="2" charset="-122"/>
                <a:ea typeface="黑体" pitchFamily="2" charset="-122"/>
              </a:rPr>
              <a:t>PC</a:t>
            </a:r>
            <a:r>
              <a:rPr lang="zh-CN" altLang="en-US">
                <a:latin typeface="黑体" pitchFamily="2" charset="-122"/>
                <a:ea typeface="黑体" pitchFamily="2" charset="-122"/>
              </a:rPr>
              <a:t>的值从内存把指令取回到指令寄存器</a:t>
            </a:r>
            <a:r>
              <a:rPr lang="en-US" altLang="zh-CN" dirty="0">
                <a:latin typeface="黑体" pitchFamily="2" charset="-122"/>
                <a:ea typeface="黑体" pitchFamily="2" charset="-122"/>
              </a:rPr>
              <a:t>IR</a:t>
            </a:r>
            <a:r>
              <a:rPr lang="zh-CN" altLang="en-US">
                <a:latin typeface="黑体" pitchFamily="2" charset="-122"/>
                <a:ea typeface="黑体" pitchFamily="2" charset="-122"/>
              </a:rPr>
              <a:t>中；</a:t>
            </a:r>
          </a:p>
          <a:p>
            <a:pPr>
              <a:spcBef>
                <a:spcPct val="0"/>
              </a:spcBef>
            </a:pPr>
            <a:r>
              <a:rPr lang="zh-CN" altLang="en-US">
                <a:latin typeface="黑体" pitchFamily="2" charset="-122"/>
                <a:ea typeface="黑体" pitchFamily="2" charset="-122"/>
              </a:rPr>
              <a:t>    修改</a:t>
            </a:r>
            <a:r>
              <a:rPr lang="en-US" altLang="zh-CN" dirty="0">
                <a:latin typeface="黑体" pitchFamily="2" charset="-122"/>
                <a:ea typeface="黑体" pitchFamily="2" charset="-122"/>
              </a:rPr>
              <a:t>PC</a:t>
            </a:r>
            <a:r>
              <a:rPr lang="zh-CN" altLang="en-US">
                <a:latin typeface="黑体" pitchFamily="2" charset="-122"/>
                <a:ea typeface="黑体" pitchFamily="2" charset="-122"/>
              </a:rPr>
              <a:t>值；</a:t>
            </a:r>
          </a:p>
          <a:p>
            <a:pPr>
              <a:spcBef>
                <a:spcPct val="0"/>
              </a:spcBef>
            </a:pPr>
            <a:r>
              <a:rPr lang="zh-CN" altLang="en-US">
                <a:latin typeface="黑体" pitchFamily="2" charset="-122"/>
                <a:ea typeface="黑体" pitchFamily="2" charset="-122"/>
              </a:rPr>
              <a:t>    转入下一个</a:t>
            </a:r>
            <a:r>
              <a:rPr lang="en-US" altLang="zh-CN" dirty="0">
                <a:latin typeface="黑体" pitchFamily="2" charset="-122"/>
                <a:ea typeface="黑体" pitchFamily="2" charset="-122"/>
              </a:rPr>
              <a:t>CPU</a:t>
            </a:r>
            <a:r>
              <a:rPr lang="zh-CN" altLang="en-US">
                <a:latin typeface="黑体" pitchFamily="2" charset="-122"/>
                <a:ea typeface="黑体" pitchFamily="2" charset="-122"/>
              </a:rPr>
              <a:t>周期。</a:t>
            </a:r>
          </a:p>
        </p:txBody>
      </p:sp>
    </p:spTree>
    <p:extLst>
      <p:ext uri="{BB962C8B-B14F-4D97-AF65-F5344CB8AC3E}">
        <p14:creationId xmlns:p14="http://schemas.microsoft.com/office/powerpoint/2010/main" val="2844850617"/>
      </p:ext>
    </p:extLst>
  </p:cSld>
  <p:clrMapOvr>
    <a:masterClrMapping/>
  </p:clrMapOvr>
  <p:transition>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0" y="1692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endParaRPr lang="zh-CN" altLang="zh-CN" sz="1800" b="0">
              <a:solidFill>
                <a:schemeClr val="tx1"/>
              </a:solidFill>
              <a:latin typeface="Arial" charset="0"/>
              <a:ea typeface="宋体" pitchFamily="2" charset="-122"/>
            </a:endParaRPr>
          </a:p>
        </p:txBody>
      </p:sp>
      <p:sp>
        <p:nvSpPr>
          <p:cNvPr id="69635"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dirty="0">
                <a:solidFill>
                  <a:schemeClr val="bg1"/>
                </a:solidFill>
                <a:latin typeface="宋体" pitchFamily="2" charset="-122"/>
                <a:ea typeface="宋体" pitchFamily="2" charset="-122"/>
              </a:rPr>
              <a:t>对照图</a:t>
            </a:r>
            <a:endParaRPr kumimoji="1" lang="zh-CN" altLang="en-US" sz="1800" u="sng" dirty="0">
              <a:solidFill>
                <a:srgbClr val="008000"/>
              </a:solidFill>
              <a:latin typeface="宋体" pitchFamily="2" charset="-122"/>
              <a:ea typeface="宋体" pitchFamily="2" charset="-122"/>
            </a:endParaRPr>
          </a:p>
        </p:txBody>
      </p:sp>
      <p:grpSp>
        <p:nvGrpSpPr>
          <p:cNvPr id="69636" name="Group 5"/>
          <p:cNvGrpSpPr>
            <a:grpSpLocks/>
          </p:cNvGrpSpPr>
          <p:nvPr/>
        </p:nvGrpSpPr>
        <p:grpSpPr bwMode="auto">
          <a:xfrm>
            <a:off x="539750" y="657225"/>
            <a:ext cx="3384550" cy="4103688"/>
            <a:chOff x="2720" y="2286"/>
            <a:chExt cx="3990" cy="4712"/>
          </a:xfrm>
        </p:grpSpPr>
        <p:sp>
          <p:nvSpPr>
            <p:cNvPr id="69683" name="Freeform 6"/>
            <p:cNvSpPr>
              <a:spLocks/>
            </p:cNvSpPr>
            <p:nvPr/>
          </p:nvSpPr>
          <p:spPr bwMode="auto">
            <a:xfrm>
              <a:off x="3266" y="4704"/>
              <a:ext cx="1890" cy="620"/>
            </a:xfrm>
            <a:custGeom>
              <a:avLst/>
              <a:gdLst>
                <a:gd name="T0" fmla="*/ 2411745 w 1134"/>
                <a:gd name="T1" fmla="*/ 0 h 310"/>
                <a:gd name="T2" fmla="*/ 0 w 1134"/>
                <a:gd name="T3" fmla="*/ 0 h 310"/>
                <a:gd name="T4" fmla="*/ 0 w 1134"/>
                <a:gd name="T5" fmla="*/ 10158080 h 310"/>
                <a:gd name="T6" fmla="*/ 2411745 w 1134"/>
                <a:gd name="T7" fmla="*/ 10158080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28575" cmpd="sng">
              <a:solidFill>
                <a:srgbClr val="000066"/>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84" name="Freeform 7"/>
            <p:cNvSpPr>
              <a:spLocks/>
            </p:cNvSpPr>
            <p:nvPr/>
          </p:nvSpPr>
          <p:spPr bwMode="auto">
            <a:xfrm>
              <a:off x="3266" y="5944"/>
              <a:ext cx="672" cy="868"/>
            </a:xfrm>
            <a:custGeom>
              <a:avLst/>
              <a:gdLst>
                <a:gd name="T0" fmla="*/ 672 w 672"/>
                <a:gd name="T1" fmla="*/ 0 h 992"/>
                <a:gd name="T2" fmla="*/ 0 w 672"/>
                <a:gd name="T3" fmla="*/ 0 h 992"/>
                <a:gd name="T4" fmla="*/ 0 w 672"/>
                <a:gd name="T5" fmla="*/ 134 h 992"/>
                <a:gd name="T6" fmla="*/ 0 60000 65536"/>
                <a:gd name="T7" fmla="*/ 0 60000 65536"/>
                <a:gd name="T8" fmla="*/ 0 60000 65536"/>
                <a:gd name="T9" fmla="*/ 0 w 672"/>
                <a:gd name="T10" fmla="*/ 0 h 992"/>
                <a:gd name="T11" fmla="*/ 672 w 672"/>
                <a:gd name="T12" fmla="*/ 992 h 992"/>
              </a:gdLst>
              <a:ahLst/>
              <a:cxnLst>
                <a:cxn ang="T6">
                  <a:pos x="T0" y="T1"/>
                </a:cxn>
                <a:cxn ang="T7">
                  <a:pos x="T2" y="T3"/>
                </a:cxn>
                <a:cxn ang="T8">
                  <a:pos x="T4" y="T5"/>
                </a:cxn>
              </a:cxnLst>
              <a:rect l="T9" t="T10" r="T11" b="T12"/>
              <a:pathLst>
                <a:path w="672" h="992">
                  <a:moveTo>
                    <a:pt x="672" y="0"/>
                  </a:moveTo>
                  <a:lnTo>
                    <a:pt x="0" y="0"/>
                  </a:lnTo>
                  <a:lnTo>
                    <a:pt x="0" y="992"/>
                  </a:lnTo>
                </a:path>
              </a:pathLst>
            </a:custGeom>
            <a:noFill/>
            <a:ln w="28575" cmpd="sng">
              <a:solidFill>
                <a:srgbClr val="00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85" name="Line 8"/>
            <p:cNvSpPr>
              <a:spLocks noChangeShapeType="1"/>
            </p:cNvSpPr>
            <p:nvPr/>
          </p:nvSpPr>
          <p:spPr bwMode="auto">
            <a:xfrm>
              <a:off x="5156" y="2534"/>
              <a:ext cx="0" cy="4278"/>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6" name="AutoShape 9"/>
            <p:cNvSpPr>
              <a:spLocks noChangeArrowheads="1"/>
            </p:cNvSpPr>
            <p:nvPr/>
          </p:nvSpPr>
          <p:spPr bwMode="auto">
            <a:xfrm>
              <a:off x="4694" y="2286"/>
              <a:ext cx="882" cy="310"/>
            </a:xfrm>
            <a:prstGeom prst="roundRect">
              <a:avLst>
                <a:gd name="adj" fmla="val 43954"/>
              </a:avLst>
            </a:prstGeom>
            <a:solidFill>
              <a:srgbClr val="FFFFFF"/>
            </a:solidFill>
            <a:ln w="28575">
              <a:solidFill>
                <a:srgbClr val="000066"/>
              </a:solidFill>
              <a:round/>
              <a:headEnd/>
              <a:tailEnd/>
            </a:ln>
          </p:spPr>
          <p:txBody>
            <a:bodyPr lIns="0" tIns="0" rIns="0" bIns="0"/>
            <a:lstStyle/>
            <a:p>
              <a:pPr algn="ctr">
                <a:lnSpc>
                  <a:spcPct val="100000"/>
                </a:lnSpc>
                <a:spcBef>
                  <a:spcPct val="0"/>
                </a:spcBef>
              </a:pPr>
              <a:r>
                <a:rPr lang="en-US" altLang="zh-CN" sz="1400" dirty="0">
                  <a:latin typeface="黑体" pitchFamily="2" charset="-122"/>
                  <a:ea typeface="黑体" pitchFamily="2" charset="-122"/>
                </a:rPr>
                <a:t>FIC</a:t>
              </a:r>
            </a:p>
          </p:txBody>
        </p:sp>
        <p:grpSp>
          <p:nvGrpSpPr>
            <p:cNvPr id="69687" name="Group 10"/>
            <p:cNvGrpSpPr>
              <a:grpSpLocks/>
            </p:cNvGrpSpPr>
            <p:nvPr/>
          </p:nvGrpSpPr>
          <p:grpSpPr bwMode="auto">
            <a:xfrm>
              <a:off x="3560" y="2720"/>
              <a:ext cx="3150" cy="682"/>
              <a:chOff x="2048" y="1976"/>
              <a:chExt cx="3150" cy="682"/>
            </a:xfrm>
          </p:grpSpPr>
          <p:sp>
            <p:nvSpPr>
              <p:cNvPr id="69714" name="Text Box 11"/>
              <p:cNvSpPr txBox="1">
                <a:spLocks noChangeArrowheads="1"/>
              </p:cNvSpPr>
              <p:nvPr/>
            </p:nvSpPr>
            <p:spPr bwMode="auto">
              <a:xfrm>
                <a:off x="2048" y="2100"/>
                <a:ext cx="3150" cy="558"/>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400" dirty="0">
                    <a:latin typeface="黑体" pitchFamily="2" charset="-122"/>
                    <a:ea typeface="黑体" pitchFamily="2" charset="-122"/>
                  </a:rPr>
                  <a:t>PC→AR</a:t>
                </a:r>
              </a:p>
              <a:p>
                <a:pPr algn="just" eaLnBrk="1" hangingPunct="1">
                  <a:lnSpc>
                    <a:spcPct val="100000"/>
                  </a:lnSpc>
                  <a:spcBef>
                    <a:spcPct val="0"/>
                  </a:spcBef>
                </a:pPr>
                <a:r>
                  <a:rPr lang="en-US" altLang="zh-CN" sz="1400" dirty="0">
                    <a:latin typeface="黑体" pitchFamily="2" charset="-122"/>
                    <a:ea typeface="黑体" pitchFamily="2" charset="-122"/>
                  </a:rPr>
                  <a:t>AR→AB→MAR, </a:t>
                </a:r>
                <a:r>
                  <a:rPr lang="zh-CN" altLang="en-US" sz="1400">
                    <a:latin typeface="黑体" pitchFamily="2" charset="-122"/>
                    <a:ea typeface="黑体" pitchFamily="2" charset="-122"/>
                  </a:rPr>
                  <a:t>读内存</a:t>
                </a:r>
                <a:r>
                  <a:rPr lang="en-US" altLang="zh-CN" sz="1400" dirty="0">
                    <a:latin typeface="黑体" pitchFamily="2" charset="-122"/>
                    <a:ea typeface="黑体" pitchFamily="2" charset="-122"/>
                  </a:rPr>
                  <a:t>,PC+2→PC</a:t>
                </a:r>
              </a:p>
            </p:txBody>
          </p:sp>
          <p:sp>
            <p:nvSpPr>
              <p:cNvPr id="69715" name="Line 12"/>
              <p:cNvSpPr>
                <a:spLocks noChangeShapeType="1"/>
              </p:cNvSpPr>
              <p:nvPr/>
            </p:nvSpPr>
            <p:spPr bwMode="auto">
              <a:xfrm>
                <a:off x="3644" y="197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88" name="Group 13"/>
            <p:cNvGrpSpPr>
              <a:grpSpLocks/>
            </p:cNvGrpSpPr>
            <p:nvPr/>
          </p:nvGrpSpPr>
          <p:grpSpPr bwMode="auto">
            <a:xfrm>
              <a:off x="3602" y="3526"/>
              <a:ext cx="3066" cy="682"/>
              <a:chOff x="2426" y="2844"/>
              <a:chExt cx="2394" cy="682"/>
            </a:xfrm>
          </p:grpSpPr>
          <p:sp>
            <p:nvSpPr>
              <p:cNvPr id="69712" name="Text Box 14"/>
              <p:cNvSpPr txBox="1">
                <a:spLocks noChangeArrowheads="1"/>
              </p:cNvSpPr>
              <p:nvPr/>
            </p:nvSpPr>
            <p:spPr bwMode="auto">
              <a:xfrm>
                <a:off x="2426" y="2968"/>
                <a:ext cx="2394" cy="558"/>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400" dirty="0">
                    <a:latin typeface="黑体" pitchFamily="2" charset="-122"/>
                    <a:ea typeface="黑体" pitchFamily="2" charset="-122"/>
                  </a:rPr>
                  <a:t>MDR→DB→DR</a:t>
                </a:r>
              </a:p>
              <a:p>
                <a:pPr algn="just" eaLnBrk="1" hangingPunct="1">
                  <a:lnSpc>
                    <a:spcPct val="100000"/>
                  </a:lnSpc>
                  <a:spcBef>
                    <a:spcPct val="0"/>
                  </a:spcBef>
                </a:pPr>
                <a:r>
                  <a:rPr lang="en-US" altLang="zh-CN" sz="1400" dirty="0">
                    <a:latin typeface="黑体" pitchFamily="2" charset="-122"/>
                    <a:ea typeface="黑体" pitchFamily="2" charset="-122"/>
                  </a:rPr>
                  <a:t>DR→IR</a:t>
                </a:r>
              </a:p>
            </p:txBody>
          </p:sp>
          <p:sp>
            <p:nvSpPr>
              <p:cNvPr id="69713" name="Line 15"/>
              <p:cNvSpPr>
                <a:spLocks noChangeShapeType="1"/>
              </p:cNvSpPr>
              <p:nvPr/>
            </p:nvSpPr>
            <p:spPr bwMode="auto">
              <a:xfrm>
                <a:off x="3644" y="2844"/>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89" name="Group 16"/>
            <p:cNvGrpSpPr>
              <a:grpSpLocks/>
            </p:cNvGrpSpPr>
            <p:nvPr/>
          </p:nvGrpSpPr>
          <p:grpSpPr bwMode="auto">
            <a:xfrm>
              <a:off x="2720" y="4766"/>
              <a:ext cx="1092" cy="434"/>
              <a:chOff x="4358" y="4270"/>
              <a:chExt cx="2436" cy="434"/>
            </a:xfrm>
          </p:grpSpPr>
          <p:sp>
            <p:nvSpPr>
              <p:cNvPr id="69710" name="Text Box 17"/>
              <p:cNvSpPr txBox="1">
                <a:spLocks noChangeArrowheads="1"/>
              </p:cNvSpPr>
              <p:nvPr/>
            </p:nvSpPr>
            <p:spPr bwMode="auto">
              <a:xfrm>
                <a:off x="4358" y="4394"/>
                <a:ext cx="2436" cy="310"/>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zh-CN" altLang="en-US" sz="1400">
                    <a:latin typeface="黑体" pitchFamily="2" charset="-122"/>
                    <a:ea typeface="黑体" pitchFamily="2" charset="-122"/>
                  </a:rPr>
                  <a:t>插入</a:t>
                </a:r>
                <a:r>
                  <a:rPr lang="en-US" altLang="zh-CN" sz="1400" dirty="0">
                    <a:latin typeface="黑体" pitchFamily="2" charset="-122"/>
                    <a:ea typeface="黑体" pitchFamily="2" charset="-122"/>
                  </a:rPr>
                  <a:t>DMAC</a:t>
                </a:r>
              </a:p>
            </p:txBody>
          </p:sp>
          <p:sp>
            <p:nvSpPr>
              <p:cNvPr id="69711" name="Line 18"/>
              <p:cNvSpPr>
                <a:spLocks noChangeShapeType="1"/>
              </p:cNvSpPr>
              <p:nvPr/>
            </p:nvSpPr>
            <p:spPr bwMode="auto">
              <a:xfrm>
                <a:off x="5576" y="4270"/>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90" name="Group 19"/>
            <p:cNvGrpSpPr>
              <a:grpSpLocks/>
            </p:cNvGrpSpPr>
            <p:nvPr/>
          </p:nvGrpSpPr>
          <p:grpSpPr bwMode="auto">
            <a:xfrm>
              <a:off x="3938" y="4332"/>
              <a:ext cx="2436" cy="682"/>
              <a:chOff x="2594" y="4022"/>
              <a:chExt cx="2436" cy="682"/>
            </a:xfrm>
          </p:grpSpPr>
          <p:sp>
            <p:nvSpPr>
              <p:cNvPr id="69707" name="Line 20"/>
              <p:cNvSpPr>
                <a:spLocks noChangeShapeType="1"/>
              </p:cNvSpPr>
              <p:nvPr/>
            </p:nvSpPr>
            <p:spPr bwMode="auto">
              <a:xfrm>
                <a:off x="3812" y="4022"/>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708" name="AutoShape 21"/>
              <p:cNvSpPr>
                <a:spLocks noChangeArrowheads="1"/>
              </p:cNvSpPr>
              <p:nvPr/>
            </p:nvSpPr>
            <p:spPr bwMode="auto">
              <a:xfrm>
                <a:off x="2594" y="4146"/>
                <a:ext cx="2394" cy="558"/>
              </a:xfrm>
              <a:prstGeom prst="flowChartDecision">
                <a:avLst/>
              </a:prstGeom>
              <a:solidFill>
                <a:srgbClr val="FFFFFF"/>
              </a:solidFill>
              <a:ln w="28575">
                <a:solidFill>
                  <a:srgbClr val="000066"/>
                </a:solidFill>
                <a:miter lim="800000"/>
                <a:headEnd/>
                <a:tailEnd/>
              </a:ln>
            </p:spPr>
            <p:txBody>
              <a:bodyPr/>
              <a:lstStyle/>
              <a:p>
                <a:endParaRPr lang="zh-CN" altLang="en-US">
                  <a:latin typeface="黑体" pitchFamily="2" charset="-122"/>
                  <a:ea typeface="黑体" pitchFamily="2" charset="-122"/>
                </a:endParaRPr>
              </a:p>
            </p:txBody>
          </p:sp>
          <p:sp>
            <p:nvSpPr>
              <p:cNvPr id="69709" name="Text Box 2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400">
                    <a:latin typeface="黑体" pitchFamily="2" charset="-122"/>
                    <a:ea typeface="黑体" pitchFamily="2" charset="-122"/>
                  </a:rPr>
                  <a:t>有</a:t>
                </a:r>
                <a:r>
                  <a:rPr lang="en-US" altLang="zh-CN" sz="1400" dirty="0">
                    <a:latin typeface="黑体" pitchFamily="2" charset="-122"/>
                    <a:ea typeface="黑体" pitchFamily="2" charset="-122"/>
                  </a:rPr>
                  <a:t>DMAR?</a:t>
                </a:r>
              </a:p>
            </p:txBody>
          </p:sp>
        </p:grpSp>
        <p:grpSp>
          <p:nvGrpSpPr>
            <p:cNvPr id="69691" name="Group 23"/>
            <p:cNvGrpSpPr>
              <a:grpSpLocks/>
            </p:cNvGrpSpPr>
            <p:nvPr/>
          </p:nvGrpSpPr>
          <p:grpSpPr bwMode="auto">
            <a:xfrm>
              <a:off x="3770" y="5448"/>
              <a:ext cx="2772" cy="868"/>
              <a:chOff x="6710" y="2906"/>
              <a:chExt cx="2772" cy="868"/>
            </a:xfrm>
          </p:grpSpPr>
          <p:sp>
            <p:nvSpPr>
              <p:cNvPr id="69704" name="Line 24"/>
              <p:cNvSpPr>
                <a:spLocks noChangeShapeType="1"/>
              </p:cNvSpPr>
              <p:nvPr/>
            </p:nvSpPr>
            <p:spPr bwMode="auto">
              <a:xfrm>
                <a:off x="8096" y="290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705" name="AutoShape 25"/>
              <p:cNvSpPr>
                <a:spLocks noChangeArrowheads="1"/>
              </p:cNvSpPr>
              <p:nvPr/>
            </p:nvSpPr>
            <p:spPr bwMode="auto">
              <a:xfrm>
                <a:off x="6710" y="3030"/>
                <a:ext cx="2772" cy="744"/>
              </a:xfrm>
              <a:prstGeom prst="flowChartDecision">
                <a:avLst/>
              </a:prstGeom>
              <a:solidFill>
                <a:srgbClr val="FFFFFF"/>
              </a:solidFill>
              <a:ln w="28575">
                <a:solidFill>
                  <a:srgbClr val="000066"/>
                </a:solidFill>
                <a:miter lim="800000"/>
                <a:headEnd/>
                <a:tailEnd/>
              </a:ln>
            </p:spPr>
            <p:txBody>
              <a:bodyPr/>
              <a:lstStyle/>
              <a:p>
                <a:endParaRPr lang="zh-CN" altLang="en-US">
                  <a:latin typeface="黑体" pitchFamily="2" charset="-122"/>
                  <a:ea typeface="黑体" pitchFamily="2" charset="-122"/>
                </a:endParaRPr>
              </a:p>
            </p:txBody>
          </p:sp>
          <p:sp>
            <p:nvSpPr>
              <p:cNvPr id="69706" name="Text Box 26"/>
              <p:cNvSpPr txBox="1">
                <a:spLocks noChangeArrowheads="1"/>
              </p:cNvSpPr>
              <p:nvPr/>
            </p:nvSpPr>
            <p:spPr bwMode="auto">
              <a:xfrm>
                <a:off x="6836" y="3154"/>
                <a:ext cx="2436"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400">
                    <a:latin typeface="黑体" pitchFamily="2" charset="-122"/>
                    <a:ea typeface="黑体" pitchFamily="2" charset="-122"/>
                  </a:rPr>
                  <a:t>是无操作数指令</a:t>
                </a:r>
              </a:p>
              <a:p>
                <a:pPr algn="ctr" eaLnBrk="1" hangingPunct="1">
                  <a:lnSpc>
                    <a:spcPct val="100000"/>
                  </a:lnSpc>
                  <a:spcBef>
                    <a:spcPct val="0"/>
                  </a:spcBef>
                </a:pPr>
                <a:r>
                  <a:rPr lang="zh-CN" altLang="en-US" sz="1400">
                    <a:latin typeface="黑体" pitchFamily="2" charset="-122"/>
                    <a:ea typeface="黑体" pitchFamily="2" charset="-122"/>
                  </a:rPr>
                  <a:t>或转移类指令？</a:t>
                </a:r>
              </a:p>
            </p:txBody>
          </p:sp>
        </p:grpSp>
        <p:grpSp>
          <p:nvGrpSpPr>
            <p:cNvPr id="69692" name="Group 27"/>
            <p:cNvGrpSpPr>
              <a:grpSpLocks/>
            </p:cNvGrpSpPr>
            <p:nvPr/>
          </p:nvGrpSpPr>
          <p:grpSpPr bwMode="auto">
            <a:xfrm>
              <a:off x="4652" y="6564"/>
              <a:ext cx="1008" cy="434"/>
              <a:chOff x="7340" y="6006"/>
              <a:chExt cx="1008" cy="434"/>
            </a:xfrm>
          </p:grpSpPr>
          <p:sp>
            <p:nvSpPr>
              <p:cNvPr id="69702" name="Line 28"/>
              <p:cNvSpPr>
                <a:spLocks noChangeShapeType="1"/>
              </p:cNvSpPr>
              <p:nvPr/>
            </p:nvSpPr>
            <p:spPr bwMode="auto">
              <a:xfrm>
                <a:off x="7844" y="600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703" name="AutoShape 29"/>
              <p:cNvSpPr>
                <a:spLocks noChangeArrowheads="1"/>
              </p:cNvSpPr>
              <p:nvPr/>
            </p:nvSpPr>
            <p:spPr bwMode="auto">
              <a:xfrm>
                <a:off x="7340" y="6130"/>
                <a:ext cx="1008" cy="310"/>
              </a:xfrm>
              <a:prstGeom prst="roundRect">
                <a:avLst>
                  <a:gd name="adj" fmla="val 43954"/>
                </a:avLst>
              </a:prstGeom>
              <a:solidFill>
                <a:srgbClr val="FFFFFF"/>
              </a:solidFill>
              <a:ln w="28575" algn="ctr">
                <a:solidFill>
                  <a:srgbClr val="000066"/>
                </a:solidFill>
                <a:round/>
                <a:headEnd/>
                <a:tailEnd/>
              </a:ln>
            </p:spPr>
            <p:txBody>
              <a:bodyPr lIns="0" tIns="0" rIns="0" bIns="0"/>
              <a:lstStyle/>
              <a:p>
                <a:pPr algn="ctr">
                  <a:lnSpc>
                    <a:spcPct val="100000"/>
                  </a:lnSpc>
                  <a:spcBef>
                    <a:spcPct val="0"/>
                  </a:spcBef>
                </a:pPr>
                <a:r>
                  <a:rPr lang="zh-CN" altLang="en-US" sz="1400">
                    <a:latin typeface="黑体" pitchFamily="2" charset="-122"/>
                    <a:ea typeface="黑体" pitchFamily="2" charset="-122"/>
                  </a:rPr>
                  <a:t>转</a:t>
                </a:r>
                <a:r>
                  <a:rPr lang="en-US" altLang="zh-CN" sz="1400" dirty="0">
                    <a:latin typeface="黑体" pitchFamily="2" charset="-122"/>
                    <a:ea typeface="黑体" pitchFamily="2" charset="-122"/>
                  </a:rPr>
                  <a:t>FDC</a:t>
                </a:r>
              </a:p>
            </p:txBody>
          </p:sp>
        </p:grpSp>
        <p:grpSp>
          <p:nvGrpSpPr>
            <p:cNvPr id="69693" name="Group 30"/>
            <p:cNvGrpSpPr>
              <a:grpSpLocks/>
            </p:cNvGrpSpPr>
            <p:nvPr/>
          </p:nvGrpSpPr>
          <p:grpSpPr bwMode="auto">
            <a:xfrm>
              <a:off x="2762" y="6564"/>
              <a:ext cx="1008" cy="434"/>
              <a:chOff x="7340" y="6006"/>
              <a:chExt cx="1008" cy="434"/>
            </a:xfrm>
          </p:grpSpPr>
          <p:sp>
            <p:nvSpPr>
              <p:cNvPr id="69700" name="Line 31"/>
              <p:cNvSpPr>
                <a:spLocks noChangeShapeType="1"/>
              </p:cNvSpPr>
              <p:nvPr/>
            </p:nvSpPr>
            <p:spPr bwMode="auto">
              <a:xfrm>
                <a:off x="7844" y="600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701" name="AutoShape 32"/>
              <p:cNvSpPr>
                <a:spLocks noChangeArrowheads="1"/>
              </p:cNvSpPr>
              <p:nvPr/>
            </p:nvSpPr>
            <p:spPr bwMode="auto">
              <a:xfrm>
                <a:off x="7340" y="6130"/>
                <a:ext cx="1008" cy="310"/>
              </a:xfrm>
              <a:prstGeom prst="roundRect">
                <a:avLst>
                  <a:gd name="adj" fmla="val 43954"/>
                </a:avLst>
              </a:prstGeom>
              <a:solidFill>
                <a:srgbClr val="FFFFFF"/>
              </a:solidFill>
              <a:ln w="28575" algn="ctr">
                <a:solidFill>
                  <a:srgbClr val="000066"/>
                </a:solidFill>
                <a:round/>
                <a:headEnd/>
                <a:tailEnd/>
              </a:ln>
            </p:spPr>
            <p:txBody>
              <a:bodyPr lIns="0" tIns="0" rIns="0" bIns="0"/>
              <a:lstStyle/>
              <a:p>
                <a:pPr algn="ctr">
                  <a:lnSpc>
                    <a:spcPct val="100000"/>
                  </a:lnSpc>
                  <a:spcBef>
                    <a:spcPct val="0"/>
                  </a:spcBef>
                </a:pPr>
                <a:r>
                  <a:rPr lang="zh-CN" altLang="en-US" sz="1400">
                    <a:latin typeface="黑体" pitchFamily="2" charset="-122"/>
                    <a:ea typeface="黑体" pitchFamily="2" charset="-122"/>
                  </a:rPr>
                  <a:t>转</a:t>
                </a:r>
                <a:r>
                  <a:rPr lang="en-US" altLang="zh-CN" sz="1400" dirty="0">
                    <a:latin typeface="黑体" pitchFamily="2" charset="-122"/>
                    <a:ea typeface="黑体" pitchFamily="2" charset="-122"/>
                  </a:rPr>
                  <a:t>EXEC</a:t>
                </a:r>
              </a:p>
            </p:txBody>
          </p:sp>
        </p:grpSp>
        <p:sp>
          <p:nvSpPr>
            <p:cNvPr id="69694" name="Text Box 33"/>
            <p:cNvSpPr txBox="1">
              <a:spLocks noChangeArrowheads="1"/>
            </p:cNvSpPr>
            <p:nvPr/>
          </p:nvSpPr>
          <p:spPr bwMode="auto">
            <a:xfrm>
              <a:off x="3392" y="4394"/>
              <a:ext cx="588"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Y</a:t>
              </a:r>
            </a:p>
          </p:txBody>
        </p:sp>
        <p:sp>
          <p:nvSpPr>
            <p:cNvPr id="69695" name="Text Box 34"/>
            <p:cNvSpPr txBox="1">
              <a:spLocks noChangeArrowheads="1"/>
            </p:cNvSpPr>
            <p:nvPr/>
          </p:nvSpPr>
          <p:spPr bwMode="auto">
            <a:xfrm>
              <a:off x="3266" y="5634"/>
              <a:ext cx="588"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Y</a:t>
              </a:r>
            </a:p>
          </p:txBody>
        </p:sp>
        <p:sp>
          <p:nvSpPr>
            <p:cNvPr id="69696" name="Text Box 35"/>
            <p:cNvSpPr txBox="1">
              <a:spLocks noChangeArrowheads="1"/>
            </p:cNvSpPr>
            <p:nvPr/>
          </p:nvSpPr>
          <p:spPr bwMode="auto">
            <a:xfrm>
              <a:off x="5114" y="5014"/>
              <a:ext cx="588"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N</a:t>
              </a:r>
            </a:p>
          </p:txBody>
        </p:sp>
        <p:sp>
          <p:nvSpPr>
            <p:cNvPr id="69697" name="Text Box 36"/>
            <p:cNvSpPr txBox="1">
              <a:spLocks noChangeArrowheads="1"/>
            </p:cNvSpPr>
            <p:nvPr/>
          </p:nvSpPr>
          <p:spPr bwMode="auto">
            <a:xfrm>
              <a:off x="5282" y="6254"/>
              <a:ext cx="588"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N</a:t>
              </a:r>
            </a:p>
          </p:txBody>
        </p:sp>
        <p:sp>
          <p:nvSpPr>
            <p:cNvPr id="69698" name="Text Box 37"/>
            <p:cNvSpPr txBox="1">
              <a:spLocks noChangeArrowheads="1"/>
            </p:cNvSpPr>
            <p:nvPr/>
          </p:nvSpPr>
          <p:spPr bwMode="auto">
            <a:xfrm>
              <a:off x="2762" y="2844"/>
              <a:ext cx="714"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 T0 </a:t>
              </a:r>
            </a:p>
            <a:p>
              <a:pPr algn="ctr" eaLnBrk="1" hangingPunct="1">
                <a:lnSpc>
                  <a:spcPct val="100000"/>
                </a:lnSpc>
                <a:spcBef>
                  <a:spcPct val="0"/>
                </a:spcBef>
              </a:pPr>
              <a:r>
                <a:rPr lang="en-US" altLang="zh-CN" sz="1400" dirty="0">
                  <a:latin typeface="黑体" pitchFamily="2" charset="-122"/>
                  <a:ea typeface="黑体" pitchFamily="2" charset="-122"/>
                </a:rPr>
                <a:t> T1 </a:t>
              </a:r>
            </a:p>
            <a:p>
              <a:pPr algn="ctr" eaLnBrk="1" hangingPunct="1">
                <a:lnSpc>
                  <a:spcPct val="100000"/>
                </a:lnSpc>
                <a:spcBef>
                  <a:spcPct val="0"/>
                </a:spcBef>
              </a:pPr>
              <a:endParaRPr lang="en-US" altLang="zh-CN" sz="1400" baseline="-25000" dirty="0">
                <a:latin typeface="黑体" pitchFamily="2" charset="-122"/>
                <a:ea typeface="黑体" pitchFamily="2" charset="-122"/>
              </a:endParaRPr>
            </a:p>
            <a:p>
              <a:pPr algn="ctr" eaLnBrk="1" hangingPunct="1">
                <a:lnSpc>
                  <a:spcPct val="100000"/>
                </a:lnSpc>
                <a:spcBef>
                  <a:spcPct val="0"/>
                </a:spcBef>
              </a:pPr>
              <a:r>
                <a:rPr lang="en-US" altLang="zh-CN" sz="1400" baseline="-25000" dirty="0">
                  <a:latin typeface="黑体" pitchFamily="2" charset="-122"/>
                  <a:ea typeface="黑体" pitchFamily="2" charset="-122"/>
                </a:rPr>
                <a:t>   </a:t>
              </a:r>
              <a:endParaRPr lang="en-US" altLang="zh-CN" sz="1400" dirty="0">
                <a:latin typeface="黑体" pitchFamily="2" charset="-122"/>
                <a:ea typeface="黑体" pitchFamily="2" charset="-122"/>
              </a:endParaRPr>
            </a:p>
          </p:txBody>
        </p:sp>
        <p:sp>
          <p:nvSpPr>
            <p:cNvPr id="69699" name="Text Box 38"/>
            <p:cNvSpPr txBox="1">
              <a:spLocks noChangeArrowheads="1"/>
            </p:cNvSpPr>
            <p:nvPr/>
          </p:nvSpPr>
          <p:spPr bwMode="auto">
            <a:xfrm>
              <a:off x="2762" y="3650"/>
              <a:ext cx="714"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 T2 </a:t>
              </a:r>
            </a:p>
            <a:p>
              <a:pPr algn="ctr" eaLnBrk="1" hangingPunct="1">
                <a:lnSpc>
                  <a:spcPct val="100000"/>
                </a:lnSpc>
                <a:spcBef>
                  <a:spcPct val="0"/>
                </a:spcBef>
              </a:pPr>
              <a:r>
                <a:rPr lang="en-US" altLang="zh-CN" sz="1400" dirty="0">
                  <a:latin typeface="黑体" pitchFamily="2" charset="-122"/>
                  <a:ea typeface="黑体" pitchFamily="2" charset="-122"/>
                </a:rPr>
                <a:t> T3 </a:t>
              </a:r>
            </a:p>
            <a:p>
              <a:pPr algn="ctr" eaLnBrk="1" hangingPunct="1">
                <a:lnSpc>
                  <a:spcPct val="100000"/>
                </a:lnSpc>
                <a:spcBef>
                  <a:spcPct val="0"/>
                </a:spcBef>
              </a:pPr>
              <a:endParaRPr lang="en-US" altLang="zh-CN" sz="1400" baseline="-25000" dirty="0">
                <a:latin typeface="黑体" pitchFamily="2" charset="-122"/>
                <a:ea typeface="黑体" pitchFamily="2" charset="-122"/>
              </a:endParaRPr>
            </a:p>
            <a:p>
              <a:pPr algn="ctr" eaLnBrk="1" hangingPunct="1">
                <a:lnSpc>
                  <a:spcPct val="100000"/>
                </a:lnSpc>
                <a:spcBef>
                  <a:spcPct val="0"/>
                </a:spcBef>
              </a:pPr>
              <a:r>
                <a:rPr lang="en-US" altLang="zh-CN" sz="1400" baseline="-25000" dirty="0">
                  <a:latin typeface="黑体" pitchFamily="2" charset="-122"/>
                  <a:ea typeface="黑体" pitchFamily="2" charset="-122"/>
                </a:rPr>
                <a:t>  </a:t>
              </a:r>
              <a:endParaRPr lang="en-US" altLang="zh-CN" sz="1400" dirty="0">
                <a:latin typeface="黑体" pitchFamily="2" charset="-122"/>
                <a:ea typeface="黑体" pitchFamily="2" charset="-122"/>
              </a:endParaRPr>
            </a:p>
          </p:txBody>
        </p:sp>
      </p:grpSp>
      <p:grpSp>
        <p:nvGrpSpPr>
          <p:cNvPr id="69637" name="Group 132"/>
          <p:cNvGrpSpPr>
            <a:grpSpLocks/>
          </p:cNvGrpSpPr>
          <p:nvPr/>
        </p:nvGrpSpPr>
        <p:grpSpPr bwMode="auto">
          <a:xfrm>
            <a:off x="4392613" y="620713"/>
            <a:ext cx="3846512" cy="5148262"/>
            <a:chOff x="2767" y="391"/>
            <a:chExt cx="2423" cy="3243"/>
          </a:xfrm>
        </p:grpSpPr>
        <p:sp>
          <p:nvSpPr>
            <p:cNvPr id="69638" name="Text Box 87"/>
            <p:cNvSpPr txBox="1">
              <a:spLocks noChangeArrowheads="1"/>
            </p:cNvSpPr>
            <p:nvPr/>
          </p:nvSpPr>
          <p:spPr bwMode="auto">
            <a:xfrm>
              <a:off x="2767" y="1911"/>
              <a:ext cx="40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  T2 </a:t>
              </a:r>
            </a:p>
            <a:p>
              <a:pPr algn="ctr" eaLnBrk="1" hangingPunct="1">
                <a:lnSpc>
                  <a:spcPct val="100000"/>
                </a:lnSpc>
                <a:spcBef>
                  <a:spcPct val="0"/>
                </a:spcBef>
              </a:pPr>
              <a:r>
                <a:rPr lang="en-US" altLang="zh-CN" sz="1400" dirty="0">
                  <a:latin typeface="黑体" pitchFamily="2" charset="-122"/>
                  <a:ea typeface="黑体" pitchFamily="2" charset="-122"/>
                </a:rPr>
                <a:t>  T3 </a:t>
              </a:r>
            </a:p>
            <a:p>
              <a:pPr algn="ctr" eaLnBrk="1" hangingPunct="1">
                <a:lnSpc>
                  <a:spcPct val="100000"/>
                </a:lnSpc>
                <a:spcBef>
                  <a:spcPct val="0"/>
                </a:spcBef>
              </a:pPr>
              <a:endParaRPr lang="en-US" altLang="zh-CN" sz="1400" baseline="-25000" dirty="0">
                <a:latin typeface="黑体" pitchFamily="2" charset="-122"/>
                <a:ea typeface="黑体" pitchFamily="2" charset="-122"/>
              </a:endParaRPr>
            </a:p>
            <a:p>
              <a:pPr algn="ctr" eaLnBrk="1" hangingPunct="1">
                <a:lnSpc>
                  <a:spcPct val="100000"/>
                </a:lnSpc>
                <a:spcBef>
                  <a:spcPct val="0"/>
                </a:spcBef>
              </a:pPr>
              <a:r>
                <a:rPr lang="en-US" altLang="zh-CN" sz="1400" baseline="-25000" dirty="0">
                  <a:latin typeface="黑体" pitchFamily="2" charset="-122"/>
                  <a:ea typeface="黑体" pitchFamily="2" charset="-122"/>
                </a:rPr>
                <a:t>  </a:t>
              </a:r>
              <a:endParaRPr lang="en-US" altLang="zh-CN" sz="1400" dirty="0">
                <a:latin typeface="黑体" pitchFamily="2" charset="-122"/>
                <a:ea typeface="黑体" pitchFamily="2" charset="-122"/>
              </a:endParaRPr>
            </a:p>
          </p:txBody>
        </p:sp>
        <p:sp>
          <p:nvSpPr>
            <p:cNvPr id="69639" name="Freeform 88"/>
            <p:cNvSpPr>
              <a:spLocks/>
            </p:cNvSpPr>
            <p:nvPr/>
          </p:nvSpPr>
          <p:spPr bwMode="auto">
            <a:xfrm>
              <a:off x="4178" y="3127"/>
              <a:ext cx="706" cy="406"/>
            </a:xfrm>
            <a:custGeom>
              <a:avLst/>
              <a:gdLst>
                <a:gd name="T0" fmla="*/ 0 w 1260"/>
                <a:gd name="T1" fmla="*/ 0 h 620"/>
                <a:gd name="T2" fmla="*/ 1 w 1260"/>
                <a:gd name="T3" fmla="*/ 0 h 620"/>
                <a:gd name="T4" fmla="*/ 1 w 1260"/>
                <a:gd name="T5" fmla="*/ 1 h 620"/>
                <a:gd name="T6" fmla="*/ 0 60000 65536"/>
                <a:gd name="T7" fmla="*/ 0 60000 65536"/>
                <a:gd name="T8" fmla="*/ 0 60000 65536"/>
                <a:gd name="T9" fmla="*/ 0 w 1260"/>
                <a:gd name="T10" fmla="*/ 0 h 620"/>
                <a:gd name="T11" fmla="*/ 1260 w 1260"/>
                <a:gd name="T12" fmla="*/ 620 h 620"/>
              </a:gdLst>
              <a:ahLst/>
              <a:cxnLst>
                <a:cxn ang="T6">
                  <a:pos x="T0" y="T1"/>
                </a:cxn>
                <a:cxn ang="T7">
                  <a:pos x="T2" y="T3"/>
                </a:cxn>
                <a:cxn ang="T8">
                  <a:pos x="T4" y="T5"/>
                </a:cxn>
              </a:cxnLst>
              <a:rect l="T9" t="T10" r="T11" b="T12"/>
              <a:pathLst>
                <a:path w="1260" h="620">
                  <a:moveTo>
                    <a:pt x="0" y="0"/>
                  </a:moveTo>
                  <a:lnTo>
                    <a:pt x="1260" y="0"/>
                  </a:lnTo>
                  <a:lnTo>
                    <a:pt x="1260" y="620"/>
                  </a:lnTo>
                </a:path>
              </a:pathLst>
            </a:custGeom>
            <a:noFill/>
            <a:ln w="28575" cmpd="sng">
              <a:solidFill>
                <a:srgbClr val="00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0" name="Freeform 89"/>
            <p:cNvSpPr>
              <a:spLocks/>
            </p:cNvSpPr>
            <p:nvPr/>
          </p:nvSpPr>
          <p:spPr bwMode="auto">
            <a:xfrm flipH="1">
              <a:off x="3896" y="1269"/>
              <a:ext cx="847" cy="507"/>
            </a:xfrm>
            <a:custGeom>
              <a:avLst/>
              <a:gdLst>
                <a:gd name="T0" fmla="*/ 14 w 1134"/>
                <a:gd name="T1" fmla="*/ 0 h 310"/>
                <a:gd name="T2" fmla="*/ 0 w 1134"/>
                <a:gd name="T3" fmla="*/ 0 h 310"/>
                <a:gd name="T4" fmla="*/ 0 w 1134"/>
                <a:gd name="T5" fmla="*/ 496768 h 310"/>
                <a:gd name="T6" fmla="*/ 14 w 1134"/>
                <a:gd name="T7" fmla="*/ 496768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28575" cmpd="sng">
              <a:solidFill>
                <a:srgbClr val="000066"/>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1" name="Freeform 90"/>
            <p:cNvSpPr>
              <a:spLocks/>
            </p:cNvSpPr>
            <p:nvPr/>
          </p:nvSpPr>
          <p:spPr bwMode="auto">
            <a:xfrm flipH="1">
              <a:off x="3873" y="2485"/>
              <a:ext cx="1011" cy="338"/>
            </a:xfrm>
            <a:custGeom>
              <a:avLst/>
              <a:gdLst>
                <a:gd name="T0" fmla="*/ 201 w 1134"/>
                <a:gd name="T1" fmla="*/ 0 h 310"/>
                <a:gd name="T2" fmla="*/ 0 w 1134"/>
                <a:gd name="T3" fmla="*/ 0 h 310"/>
                <a:gd name="T4" fmla="*/ 0 w 1134"/>
                <a:gd name="T5" fmla="*/ 1133 h 310"/>
                <a:gd name="T6" fmla="*/ 201 w 1134"/>
                <a:gd name="T7" fmla="*/ 1133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28575" cmpd="sng">
              <a:solidFill>
                <a:srgbClr val="000066"/>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2" name="Line 91"/>
            <p:cNvSpPr>
              <a:spLocks noChangeShapeType="1"/>
            </p:cNvSpPr>
            <p:nvPr/>
          </p:nvSpPr>
          <p:spPr bwMode="auto">
            <a:xfrm>
              <a:off x="3896" y="526"/>
              <a:ext cx="0" cy="3040"/>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3" name="AutoShape 92"/>
            <p:cNvSpPr>
              <a:spLocks noChangeArrowheads="1"/>
            </p:cNvSpPr>
            <p:nvPr/>
          </p:nvSpPr>
          <p:spPr bwMode="auto">
            <a:xfrm>
              <a:off x="3637" y="391"/>
              <a:ext cx="494" cy="169"/>
            </a:xfrm>
            <a:prstGeom prst="roundRect">
              <a:avLst>
                <a:gd name="adj" fmla="val 43954"/>
              </a:avLst>
            </a:prstGeom>
            <a:solidFill>
              <a:srgbClr val="FFFFFF"/>
            </a:solidFill>
            <a:ln w="28575">
              <a:solidFill>
                <a:srgbClr val="000066"/>
              </a:solidFill>
              <a:round/>
              <a:headEnd/>
              <a:tailEnd/>
            </a:ln>
          </p:spPr>
          <p:txBody>
            <a:bodyPr lIns="0" tIns="0" rIns="0" bIns="0"/>
            <a:lstStyle/>
            <a:p>
              <a:pPr algn="ctr">
                <a:lnSpc>
                  <a:spcPct val="100000"/>
                </a:lnSpc>
                <a:spcBef>
                  <a:spcPct val="0"/>
                </a:spcBef>
              </a:pPr>
              <a:r>
                <a:rPr lang="en-US" altLang="zh-CN" sz="1400" dirty="0">
                  <a:latin typeface="黑体" pitchFamily="2" charset="-122"/>
                  <a:ea typeface="黑体" pitchFamily="2" charset="-122"/>
                </a:rPr>
                <a:t>FIC</a:t>
              </a:r>
            </a:p>
          </p:txBody>
        </p:sp>
        <p:grpSp>
          <p:nvGrpSpPr>
            <p:cNvPr id="69644" name="Group 93"/>
            <p:cNvGrpSpPr>
              <a:grpSpLocks/>
            </p:cNvGrpSpPr>
            <p:nvPr/>
          </p:nvGrpSpPr>
          <p:grpSpPr bwMode="auto">
            <a:xfrm>
              <a:off x="3237" y="627"/>
              <a:ext cx="1294" cy="372"/>
              <a:chOff x="2048" y="1976"/>
              <a:chExt cx="3150" cy="682"/>
            </a:xfrm>
          </p:grpSpPr>
          <p:sp>
            <p:nvSpPr>
              <p:cNvPr id="69681" name="Text Box 94"/>
              <p:cNvSpPr txBox="1">
                <a:spLocks noChangeArrowheads="1"/>
              </p:cNvSpPr>
              <p:nvPr/>
            </p:nvSpPr>
            <p:spPr bwMode="auto">
              <a:xfrm>
                <a:off x="2048" y="2100"/>
                <a:ext cx="3150" cy="558"/>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400" dirty="0">
                    <a:latin typeface="黑体" pitchFamily="2" charset="-122"/>
                    <a:ea typeface="黑体" pitchFamily="2" charset="-122"/>
                  </a:rPr>
                  <a:t> PC→IB,  ARin</a:t>
                </a:r>
              </a:p>
              <a:p>
                <a:pPr algn="just" eaLnBrk="1" hangingPunct="1">
                  <a:lnSpc>
                    <a:spcPct val="100000"/>
                  </a:lnSpc>
                  <a:spcBef>
                    <a:spcPct val="0"/>
                  </a:spcBef>
                </a:pPr>
                <a:r>
                  <a:rPr lang="en-US" altLang="zh-CN" sz="1400" dirty="0">
                    <a:latin typeface="黑体" pitchFamily="2" charset="-122"/>
                    <a:ea typeface="黑体" pitchFamily="2" charset="-122"/>
                  </a:rPr>
                  <a:t> AR→AB,  MMRD,  +2PC</a:t>
                </a:r>
              </a:p>
            </p:txBody>
          </p:sp>
          <p:sp>
            <p:nvSpPr>
              <p:cNvPr id="69682" name="Line 95"/>
              <p:cNvSpPr>
                <a:spLocks noChangeShapeType="1"/>
              </p:cNvSpPr>
              <p:nvPr/>
            </p:nvSpPr>
            <p:spPr bwMode="auto">
              <a:xfrm>
                <a:off x="3644" y="197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45" name="Group 96"/>
            <p:cNvGrpSpPr>
              <a:grpSpLocks/>
            </p:cNvGrpSpPr>
            <p:nvPr/>
          </p:nvGrpSpPr>
          <p:grpSpPr bwMode="auto">
            <a:xfrm>
              <a:off x="4578" y="2519"/>
              <a:ext cx="612" cy="237"/>
              <a:chOff x="4358" y="4270"/>
              <a:chExt cx="2436" cy="434"/>
            </a:xfrm>
          </p:grpSpPr>
          <p:sp>
            <p:nvSpPr>
              <p:cNvPr id="69679" name="Text Box 97"/>
              <p:cNvSpPr txBox="1">
                <a:spLocks noChangeArrowheads="1"/>
              </p:cNvSpPr>
              <p:nvPr/>
            </p:nvSpPr>
            <p:spPr bwMode="auto">
              <a:xfrm>
                <a:off x="4358" y="4394"/>
                <a:ext cx="2436" cy="310"/>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1→DMAC</a:t>
                </a:r>
              </a:p>
            </p:txBody>
          </p:sp>
          <p:sp>
            <p:nvSpPr>
              <p:cNvPr id="69680" name="Line 98"/>
              <p:cNvSpPr>
                <a:spLocks noChangeShapeType="1"/>
              </p:cNvSpPr>
              <p:nvPr/>
            </p:nvSpPr>
            <p:spPr bwMode="auto">
              <a:xfrm>
                <a:off x="5576" y="4270"/>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46" name="Group 99"/>
            <p:cNvGrpSpPr>
              <a:grpSpLocks/>
            </p:cNvGrpSpPr>
            <p:nvPr/>
          </p:nvGrpSpPr>
          <p:grpSpPr bwMode="auto">
            <a:xfrm>
              <a:off x="3214" y="1033"/>
              <a:ext cx="1364" cy="371"/>
              <a:chOff x="2594" y="4022"/>
              <a:chExt cx="2436" cy="682"/>
            </a:xfrm>
          </p:grpSpPr>
          <p:sp>
            <p:nvSpPr>
              <p:cNvPr id="69676" name="Line 100"/>
              <p:cNvSpPr>
                <a:spLocks noChangeShapeType="1"/>
              </p:cNvSpPr>
              <p:nvPr/>
            </p:nvSpPr>
            <p:spPr bwMode="auto">
              <a:xfrm>
                <a:off x="3812" y="4022"/>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7" name="AutoShape 101"/>
              <p:cNvSpPr>
                <a:spLocks noChangeArrowheads="1"/>
              </p:cNvSpPr>
              <p:nvPr/>
            </p:nvSpPr>
            <p:spPr bwMode="auto">
              <a:xfrm>
                <a:off x="2594" y="4146"/>
                <a:ext cx="2394" cy="558"/>
              </a:xfrm>
              <a:prstGeom prst="flowChartDecision">
                <a:avLst/>
              </a:prstGeom>
              <a:solidFill>
                <a:srgbClr val="FFFFFF"/>
              </a:solidFill>
              <a:ln w="28575">
                <a:solidFill>
                  <a:srgbClr val="000066"/>
                </a:solidFill>
                <a:miter lim="800000"/>
                <a:headEnd/>
                <a:tailEnd/>
              </a:ln>
            </p:spPr>
            <p:txBody>
              <a:bodyPr/>
              <a:lstStyle/>
              <a:p>
                <a:endParaRPr lang="zh-CN" altLang="en-US">
                  <a:latin typeface="黑体" pitchFamily="2" charset="-122"/>
                  <a:ea typeface="黑体" pitchFamily="2" charset="-122"/>
                </a:endParaRPr>
              </a:p>
            </p:txBody>
          </p:sp>
          <p:sp>
            <p:nvSpPr>
              <p:cNvPr id="69678" name="Text Box 10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Ready=1?</a:t>
                </a:r>
              </a:p>
            </p:txBody>
          </p:sp>
        </p:grpSp>
        <p:grpSp>
          <p:nvGrpSpPr>
            <p:cNvPr id="69647" name="Group 103"/>
            <p:cNvGrpSpPr>
              <a:grpSpLocks/>
            </p:cNvGrpSpPr>
            <p:nvPr/>
          </p:nvGrpSpPr>
          <p:grpSpPr bwMode="auto">
            <a:xfrm>
              <a:off x="4602" y="3398"/>
              <a:ext cx="564" cy="236"/>
              <a:chOff x="7340" y="6006"/>
              <a:chExt cx="1008" cy="434"/>
            </a:xfrm>
          </p:grpSpPr>
          <p:sp>
            <p:nvSpPr>
              <p:cNvPr id="69674" name="Line 104"/>
              <p:cNvSpPr>
                <a:spLocks noChangeShapeType="1"/>
              </p:cNvSpPr>
              <p:nvPr/>
            </p:nvSpPr>
            <p:spPr bwMode="auto">
              <a:xfrm>
                <a:off x="7844" y="600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5" name="AutoShape 105"/>
              <p:cNvSpPr>
                <a:spLocks noChangeArrowheads="1"/>
              </p:cNvSpPr>
              <p:nvPr/>
            </p:nvSpPr>
            <p:spPr bwMode="auto">
              <a:xfrm>
                <a:off x="7340" y="6130"/>
                <a:ext cx="1008" cy="310"/>
              </a:xfrm>
              <a:prstGeom prst="roundRect">
                <a:avLst>
                  <a:gd name="adj" fmla="val 43954"/>
                </a:avLst>
              </a:prstGeom>
              <a:solidFill>
                <a:srgbClr val="FFFFFF"/>
              </a:solidFill>
              <a:ln w="28575" algn="ctr">
                <a:solidFill>
                  <a:srgbClr val="000066"/>
                </a:solidFill>
                <a:round/>
                <a:headEnd/>
                <a:tailEnd/>
              </a:ln>
            </p:spPr>
            <p:txBody>
              <a:bodyPr lIns="0" tIns="0" rIns="0" bIns="0"/>
              <a:lstStyle/>
              <a:p>
                <a:pPr algn="ctr">
                  <a:lnSpc>
                    <a:spcPct val="100000"/>
                  </a:lnSpc>
                  <a:spcBef>
                    <a:spcPct val="0"/>
                  </a:spcBef>
                </a:pPr>
                <a:r>
                  <a:rPr lang="en-US" altLang="zh-CN" sz="1400" dirty="0">
                    <a:latin typeface="黑体" pitchFamily="2" charset="-122"/>
                    <a:ea typeface="黑体" pitchFamily="2" charset="-122"/>
                  </a:rPr>
                  <a:t>1→EXEC</a:t>
                </a:r>
              </a:p>
            </p:txBody>
          </p:sp>
        </p:grpSp>
        <p:grpSp>
          <p:nvGrpSpPr>
            <p:cNvPr id="69648" name="Group 106"/>
            <p:cNvGrpSpPr>
              <a:grpSpLocks/>
            </p:cNvGrpSpPr>
            <p:nvPr/>
          </p:nvGrpSpPr>
          <p:grpSpPr bwMode="auto">
            <a:xfrm>
              <a:off x="3614" y="3398"/>
              <a:ext cx="564" cy="236"/>
              <a:chOff x="7340" y="6006"/>
              <a:chExt cx="1008" cy="434"/>
            </a:xfrm>
          </p:grpSpPr>
          <p:sp>
            <p:nvSpPr>
              <p:cNvPr id="69672" name="Line 107"/>
              <p:cNvSpPr>
                <a:spLocks noChangeShapeType="1"/>
              </p:cNvSpPr>
              <p:nvPr/>
            </p:nvSpPr>
            <p:spPr bwMode="auto">
              <a:xfrm>
                <a:off x="7844" y="600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3" name="AutoShape 108"/>
              <p:cNvSpPr>
                <a:spLocks noChangeArrowheads="1"/>
              </p:cNvSpPr>
              <p:nvPr/>
            </p:nvSpPr>
            <p:spPr bwMode="auto">
              <a:xfrm>
                <a:off x="7340" y="6130"/>
                <a:ext cx="1008" cy="310"/>
              </a:xfrm>
              <a:prstGeom prst="roundRect">
                <a:avLst>
                  <a:gd name="adj" fmla="val 43954"/>
                </a:avLst>
              </a:prstGeom>
              <a:solidFill>
                <a:srgbClr val="FFFFFF"/>
              </a:solidFill>
              <a:ln w="28575" algn="ctr">
                <a:solidFill>
                  <a:srgbClr val="000066"/>
                </a:solidFill>
                <a:round/>
                <a:headEnd/>
                <a:tailEnd/>
              </a:ln>
            </p:spPr>
            <p:txBody>
              <a:bodyPr lIns="0" tIns="0" rIns="0" bIns="0"/>
              <a:lstStyle/>
              <a:p>
                <a:pPr algn="ctr">
                  <a:lnSpc>
                    <a:spcPct val="100000"/>
                  </a:lnSpc>
                  <a:spcBef>
                    <a:spcPct val="0"/>
                  </a:spcBef>
                </a:pPr>
                <a:r>
                  <a:rPr lang="en-US" altLang="zh-CN" sz="1400" dirty="0">
                    <a:latin typeface="黑体" pitchFamily="2" charset="-122"/>
                    <a:ea typeface="黑体" pitchFamily="2" charset="-122"/>
                  </a:rPr>
                  <a:t>1→FDC</a:t>
                </a:r>
              </a:p>
            </p:txBody>
          </p:sp>
        </p:grpSp>
        <p:sp>
          <p:nvSpPr>
            <p:cNvPr id="69649" name="Text Box 109"/>
            <p:cNvSpPr txBox="1">
              <a:spLocks noChangeArrowheads="1"/>
            </p:cNvSpPr>
            <p:nvPr/>
          </p:nvSpPr>
          <p:spPr bwMode="auto">
            <a:xfrm>
              <a:off x="4484" y="1067"/>
              <a:ext cx="33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Y</a:t>
              </a:r>
            </a:p>
          </p:txBody>
        </p:sp>
        <p:sp>
          <p:nvSpPr>
            <p:cNvPr id="69650" name="Text Box 110"/>
            <p:cNvSpPr txBox="1">
              <a:spLocks noChangeArrowheads="1"/>
            </p:cNvSpPr>
            <p:nvPr/>
          </p:nvSpPr>
          <p:spPr bwMode="auto">
            <a:xfrm>
              <a:off x="4461" y="2317"/>
              <a:ext cx="32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Y</a:t>
              </a:r>
            </a:p>
          </p:txBody>
        </p:sp>
        <p:sp>
          <p:nvSpPr>
            <p:cNvPr id="69651" name="Text Box 111"/>
            <p:cNvSpPr txBox="1">
              <a:spLocks noChangeArrowheads="1"/>
            </p:cNvSpPr>
            <p:nvPr/>
          </p:nvSpPr>
          <p:spPr bwMode="auto">
            <a:xfrm>
              <a:off x="3920" y="1371"/>
              <a:ext cx="32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N</a:t>
              </a:r>
            </a:p>
          </p:txBody>
        </p:sp>
        <p:sp>
          <p:nvSpPr>
            <p:cNvPr id="69652" name="Text Box 112"/>
            <p:cNvSpPr txBox="1">
              <a:spLocks noChangeArrowheads="1"/>
            </p:cNvSpPr>
            <p:nvPr/>
          </p:nvSpPr>
          <p:spPr bwMode="auto">
            <a:xfrm>
              <a:off x="3967" y="2621"/>
              <a:ext cx="32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N</a:t>
              </a:r>
            </a:p>
          </p:txBody>
        </p:sp>
        <p:sp>
          <p:nvSpPr>
            <p:cNvPr id="69653" name="Text Box 113"/>
            <p:cNvSpPr txBox="1">
              <a:spLocks noChangeArrowheads="1"/>
            </p:cNvSpPr>
            <p:nvPr/>
          </p:nvSpPr>
          <p:spPr bwMode="auto">
            <a:xfrm>
              <a:off x="2814" y="695"/>
              <a:ext cx="40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 T0   </a:t>
              </a:r>
            </a:p>
            <a:p>
              <a:pPr algn="ctr" eaLnBrk="1" hangingPunct="1">
                <a:lnSpc>
                  <a:spcPct val="100000"/>
                </a:lnSpc>
                <a:spcBef>
                  <a:spcPct val="0"/>
                </a:spcBef>
              </a:pPr>
              <a:r>
                <a:rPr lang="en-US" altLang="zh-CN" sz="1400" dirty="0">
                  <a:latin typeface="黑体" pitchFamily="2" charset="-122"/>
                  <a:ea typeface="黑体" pitchFamily="2" charset="-122"/>
                </a:rPr>
                <a:t> T1 </a:t>
              </a:r>
            </a:p>
            <a:p>
              <a:pPr algn="ctr" eaLnBrk="1" hangingPunct="1">
                <a:lnSpc>
                  <a:spcPct val="100000"/>
                </a:lnSpc>
                <a:spcBef>
                  <a:spcPct val="0"/>
                </a:spcBef>
              </a:pPr>
              <a:endParaRPr lang="en-US" altLang="zh-CN" sz="1400" baseline="-25000" dirty="0">
                <a:latin typeface="黑体" pitchFamily="2" charset="-122"/>
                <a:ea typeface="黑体" pitchFamily="2" charset="-122"/>
              </a:endParaRPr>
            </a:p>
            <a:p>
              <a:pPr algn="ctr" eaLnBrk="1" hangingPunct="1">
                <a:lnSpc>
                  <a:spcPct val="100000"/>
                </a:lnSpc>
                <a:spcBef>
                  <a:spcPct val="0"/>
                </a:spcBef>
              </a:pPr>
              <a:r>
                <a:rPr lang="en-US" altLang="zh-CN" sz="1400" baseline="-25000" dirty="0">
                  <a:latin typeface="黑体" pitchFamily="2" charset="-122"/>
                  <a:ea typeface="黑体" pitchFamily="2" charset="-122"/>
                </a:rPr>
                <a:t>  </a:t>
              </a:r>
              <a:endParaRPr lang="en-US" altLang="zh-CN" sz="1400" dirty="0">
                <a:latin typeface="黑体" pitchFamily="2" charset="-122"/>
                <a:ea typeface="黑体" pitchFamily="2" charset="-122"/>
              </a:endParaRPr>
            </a:p>
          </p:txBody>
        </p:sp>
        <p:grpSp>
          <p:nvGrpSpPr>
            <p:cNvPr id="69654" name="Group 114"/>
            <p:cNvGrpSpPr>
              <a:grpSpLocks/>
            </p:cNvGrpSpPr>
            <p:nvPr/>
          </p:nvGrpSpPr>
          <p:grpSpPr bwMode="auto">
            <a:xfrm>
              <a:off x="3237" y="1844"/>
              <a:ext cx="1294" cy="371"/>
              <a:chOff x="2048" y="1976"/>
              <a:chExt cx="3150" cy="682"/>
            </a:xfrm>
          </p:grpSpPr>
          <p:sp>
            <p:nvSpPr>
              <p:cNvPr id="69670" name="Text Box 115"/>
              <p:cNvSpPr txBox="1">
                <a:spLocks noChangeArrowheads="1"/>
              </p:cNvSpPr>
              <p:nvPr/>
            </p:nvSpPr>
            <p:spPr bwMode="auto">
              <a:xfrm>
                <a:off x="2048" y="2100"/>
                <a:ext cx="3150" cy="558"/>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100000"/>
                  </a:lnSpc>
                  <a:spcBef>
                    <a:spcPct val="0"/>
                  </a:spcBef>
                </a:pPr>
                <a:r>
                  <a:rPr lang="en-US" altLang="zh-CN" sz="1400" dirty="0">
                    <a:latin typeface="黑体" pitchFamily="2" charset="-122"/>
                    <a:ea typeface="黑体" pitchFamily="2" charset="-122"/>
                  </a:rPr>
                  <a:t> DB→DR,  DRin</a:t>
                </a:r>
              </a:p>
              <a:p>
                <a:pPr algn="just" eaLnBrk="1" hangingPunct="1">
                  <a:lnSpc>
                    <a:spcPct val="100000"/>
                  </a:lnSpc>
                  <a:spcBef>
                    <a:spcPct val="0"/>
                  </a:spcBef>
                </a:pPr>
                <a:r>
                  <a:rPr lang="en-US" altLang="zh-CN" sz="1400" dirty="0">
                    <a:latin typeface="黑体" pitchFamily="2" charset="-122"/>
                    <a:ea typeface="黑体" pitchFamily="2" charset="-122"/>
                  </a:rPr>
                  <a:t> DR→IB,  IRin</a:t>
                </a:r>
              </a:p>
            </p:txBody>
          </p:sp>
          <p:sp>
            <p:nvSpPr>
              <p:cNvPr id="69671" name="Line 116"/>
              <p:cNvSpPr>
                <a:spLocks noChangeShapeType="1"/>
              </p:cNvSpPr>
              <p:nvPr/>
            </p:nvSpPr>
            <p:spPr bwMode="auto">
              <a:xfrm>
                <a:off x="3644" y="1976"/>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55" name="Group 117"/>
            <p:cNvGrpSpPr>
              <a:grpSpLocks/>
            </p:cNvGrpSpPr>
            <p:nvPr/>
          </p:nvGrpSpPr>
          <p:grpSpPr bwMode="auto">
            <a:xfrm>
              <a:off x="3214" y="2283"/>
              <a:ext cx="1364" cy="371"/>
              <a:chOff x="2594" y="4022"/>
              <a:chExt cx="2436" cy="682"/>
            </a:xfrm>
          </p:grpSpPr>
          <p:sp>
            <p:nvSpPr>
              <p:cNvPr id="69667" name="Line 118"/>
              <p:cNvSpPr>
                <a:spLocks noChangeShapeType="1"/>
              </p:cNvSpPr>
              <p:nvPr/>
            </p:nvSpPr>
            <p:spPr bwMode="auto">
              <a:xfrm>
                <a:off x="3812" y="4022"/>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8" name="AutoShape 119"/>
              <p:cNvSpPr>
                <a:spLocks noChangeArrowheads="1"/>
              </p:cNvSpPr>
              <p:nvPr/>
            </p:nvSpPr>
            <p:spPr bwMode="auto">
              <a:xfrm>
                <a:off x="2594" y="4146"/>
                <a:ext cx="2394" cy="558"/>
              </a:xfrm>
              <a:prstGeom prst="flowChartDecision">
                <a:avLst/>
              </a:prstGeom>
              <a:solidFill>
                <a:srgbClr val="FFFFFF"/>
              </a:solidFill>
              <a:ln w="28575">
                <a:solidFill>
                  <a:srgbClr val="000066"/>
                </a:solidFill>
                <a:miter lim="800000"/>
                <a:headEnd/>
                <a:tailEnd/>
              </a:ln>
            </p:spPr>
            <p:txBody>
              <a:bodyPr/>
              <a:lstStyle/>
              <a:p>
                <a:endParaRPr lang="zh-CN" altLang="en-US">
                  <a:latin typeface="黑体" pitchFamily="2" charset="-122"/>
                  <a:ea typeface="黑体" pitchFamily="2" charset="-122"/>
                </a:endParaRPr>
              </a:p>
            </p:txBody>
          </p:sp>
          <p:sp>
            <p:nvSpPr>
              <p:cNvPr id="69669" name="Text Box 120"/>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DMAR=1?</a:t>
                </a:r>
              </a:p>
            </p:txBody>
          </p:sp>
        </p:grpSp>
        <p:grpSp>
          <p:nvGrpSpPr>
            <p:cNvPr id="69656" name="Group 121"/>
            <p:cNvGrpSpPr>
              <a:grpSpLocks/>
            </p:cNvGrpSpPr>
            <p:nvPr/>
          </p:nvGrpSpPr>
          <p:grpSpPr bwMode="auto">
            <a:xfrm>
              <a:off x="3590" y="1472"/>
              <a:ext cx="612" cy="236"/>
              <a:chOff x="4358" y="4270"/>
              <a:chExt cx="2436" cy="434"/>
            </a:xfrm>
          </p:grpSpPr>
          <p:sp>
            <p:nvSpPr>
              <p:cNvPr id="69665" name="Text Box 122"/>
              <p:cNvSpPr txBox="1">
                <a:spLocks noChangeArrowheads="1"/>
              </p:cNvSpPr>
              <p:nvPr/>
            </p:nvSpPr>
            <p:spPr bwMode="auto">
              <a:xfrm>
                <a:off x="4358" y="4394"/>
                <a:ext cx="2436" cy="310"/>
              </a:xfrm>
              <a:prstGeom prst="rect">
                <a:avLst/>
              </a:prstGeom>
              <a:solidFill>
                <a:srgbClr val="FFFFFF"/>
              </a:solidFill>
              <a:ln w="28575" algn="ctr">
                <a:solidFill>
                  <a:srgbClr val="000066"/>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WAIT</a:t>
                </a:r>
              </a:p>
            </p:txBody>
          </p:sp>
          <p:sp>
            <p:nvSpPr>
              <p:cNvPr id="69666" name="Line 123"/>
              <p:cNvSpPr>
                <a:spLocks noChangeShapeType="1"/>
              </p:cNvSpPr>
              <p:nvPr/>
            </p:nvSpPr>
            <p:spPr bwMode="auto">
              <a:xfrm>
                <a:off x="5576" y="4270"/>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9657" name="Group 124"/>
            <p:cNvGrpSpPr>
              <a:grpSpLocks/>
            </p:cNvGrpSpPr>
            <p:nvPr/>
          </p:nvGrpSpPr>
          <p:grpSpPr bwMode="auto">
            <a:xfrm>
              <a:off x="3214" y="2891"/>
              <a:ext cx="1364" cy="371"/>
              <a:chOff x="2594" y="4022"/>
              <a:chExt cx="2436" cy="682"/>
            </a:xfrm>
          </p:grpSpPr>
          <p:sp>
            <p:nvSpPr>
              <p:cNvPr id="69662" name="Line 125"/>
              <p:cNvSpPr>
                <a:spLocks noChangeShapeType="1"/>
              </p:cNvSpPr>
              <p:nvPr/>
            </p:nvSpPr>
            <p:spPr bwMode="auto">
              <a:xfrm>
                <a:off x="3812" y="4022"/>
                <a:ext cx="0" cy="12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3" name="AutoShape 126"/>
              <p:cNvSpPr>
                <a:spLocks noChangeArrowheads="1"/>
              </p:cNvSpPr>
              <p:nvPr/>
            </p:nvSpPr>
            <p:spPr bwMode="auto">
              <a:xfrm>
                <a:off x="2594" y="4146"/>
                <a:ext cx="2394" cy="558"/>
              </a:xfrm>
              <a:prstGeom prst="flowChartDecision">
                <a:avLst/>
              </a:prstGeom>
              <a:solidFill>
                <a:srgbClr val="FFFFFF"/>
              </a:solidFill>
              <a:ln w="28575">
                <a:solidFill>
                  <a:srgbClr val="000066"/>
                </a:solidFill>
                <a:miter lim="800000"/>
                <a:headEnd/>
                <a:tailEnd/>
              </a:ln>
            </p:spPr>
            <p:txBody>
              <a:bodyPr/>
              <a:lstStyle/>
              <a:p>
                <a:endParaRPr lang="zh-CN" altLang="en-US">
                  <a:latin typeface="黑体" pitchFamily="2" charset="-122"/>
                  <a:ea typeface="黑体" pitchFamily="2" charset="-122"/>
                </a:endParaRPr>
              </a:p>
            </p:txBody>
          </p:sp>
          <p:sp>
            <p:nvSpPr>
              <p:cNvPr id="69664" name="Text Box 127"/>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IR</a:t>
                </a:r>
                <a:r>
                  <a:rPr lang="en-US" altLang="zh-CN" sz="1400" baseline="-25000" dirty="0">
                    <a:latin typeface="黑体" pitchFamily="2" charset="-122"/>
                    <a:ea typeface="黑体" pitchFamily="2" charset="-122"/>
                  </a:rPr>
                  <a:t>15-9</a:t>
                </a:r>
                <a:r>
                  <a:rPr lang="en-US" altLang="zh-CN" sz="1400" dirty="0">
                    <a:latin typeface="黑体" pitchFamily="2" charset="-122"/>
                    <a:ea typeface="黑体" pitchFamily="2" charset="-122"/>
                  </a:rPr>
                  <a:t>=00</a:t>
                </a:r>
                <a:r>
                  <a:rPr lang="en-US" altLang="zh-CN" sz="1400" dirty="0">
                    <a:latin typeface="Times New Roman" pitchFamily="18" charset="0"/>
                    <a:ea typeface="黑体" pitchFamily="2" charset="-122"/>
                  </a:rPr>
                  <a:t>……</a:t>
                </a:r>
                <a:r>
                  <a:rPr lang="en-US" altLang="zh-CN" sz="1400" dirty="0">
                    <a:latin typeface="黑体" pitchFamily="2" charset="-122"/>
                    <a:ea typeface="黑体" pitchFamily="2" charset="-122"/>
                  </a:rPr>
                  <a:t>0 ?</a:t>
                </a:r>
              </a:p>
            </p:txBody>
          </p:sp>
        </p:grpSp>
        <p:sp>
          <p:nvSpPr>
            <p:cNvPr id="69658" name="Text Box 128"/>
            <p:cNvSpPr txBox="1">
              <a:spLocks noChangeArrowheads="1"/>
            </p:cNvSpPr>
            <p:nvPr/>
          </p:nvSpPr>
          <p:spPr bwMode="auto">
            <a:xfrm>
              <a:off x="4484" y="2958"/>
              <a:ext cx="33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Y</a:t>
              </a:r>
            </a:p>
          </p:txBody>
        </p:sp>
        <p:sp>
          <p:nvSpPr>
            <p:cNvPr id="69659" name="Text Box 129"/>
            <p:cNvSpPr txBox="1">
              <a:spLocks noChangeArrowheads="1"/>
            </p:cNvSpPr>
            <p:nvPr/>
          </p:nvSpPr>
          <p:spPr bwMode="auto">
            <a:xfrm>
              <a:off x="3873" y="3262"/>
              <a:ext cx="32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400" dirty="0">
                  <a:latin typeface="黑体" pitchFamily="2" charset="-122"/>
                  <a:ea typeface="黑体" pitchFamily="2" charset="-122"/>
                </a:rPr>
                <a:t>N</a:t>
              </a:r>
            </a:p>
          </p:txBody>
        </p:sp>
        <p:sp>
          <p:nvSpPr>
            <p:cNvPr id="69660" name="Line 130"/>
            <p:cNvSpPr>
              <a:spLocks noChangeShapeType="1"/>
            </p:cNvSpPr>
            <p:nvPr/>
          </p:nvSpPr>
          <p:spPr bwMode="auto">
            <a:xfrm flipV="1">
              <a:off x="3801" y="845"/>
              <a:ext cx="258" cy="2"/>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1" name="Text Box 131"/>
            <p:cNvSpPr txBox="1">
              <a:spLocks noChangeArrowheads="1"/>
            </p:cNvSpPr>
            <p:nvPr/>
          </p:nvSpPr>
          <p:spPr bwMode="auto">
            <a:xfrm>
              <a:off x="3073" y="1540"/>
              <a:ext cx="40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1400" dirty="0">
                  <a:latin typeface="黑体" pitchFamily="2" charset="-122"/>
                  <a:ea typeface="黑体" pitchFamily="2" charset="-122"/>
                </a:rPr>
                <a:t>Tw </a:t>
              </a:r>
            </a:p>
            <a:p>
              <a:pPr algn="r" eaLnBrk="1" hangingPunct="1">
                <a:lnSpc>
                  <a:spcPct val="100000"/>
                </a:lnSpc>
                <a:spcBef>
                  <a:spcPct val="0"/>
                </a:spcBef>
              </a:pPr>
              <a:endParaRPr lang="en-US" altLang="zh-CN" sz="1400" baseline="-25000" dirty="0">
                <a:latin typeface="黑体" pitchFamily="2" charset="-122"/>
                <a:ea typeface="黑体" pitchFamily="2" charset="-122"/>
              </a:endParaRPr>
            </a:p>
            <a:p>
              <a:pPr algn="r" eaLnBrk="1" hangingPunct="1">
                <a:lnSpc>
                  <a:spcPct val="100000"/>
                </a:lnSpc>
                <a:spcBef>
                  <a:spcPct val="0"/>
                </a:spcBef>
              </a:pPr>
              <a:r>
                <a:rPr lang="en-US" altLang="zh-CN" sz="1400" baseline="-25000" dirty="0">
                  <a:latin typeface="黑体" pitchFamily="2" charset="-122"/>
                  <a:ea typeface="黑体" pitchFamily="2" charset="-122"/>
                </a:rPr>
                <a:t>  </a:t>
              </a:r>
              <a:endParaRPr lang="en-US" altLang="zh-CN" sz="1400" dirty="0">
                <a:latin typeface="黑体" pitchFamily="2" charset="-122"/>
                <a:ea typeface="黑体" pitchFamily="2" charset="-122"/>
              </a:endParaRPr>
            </a:p>
          </p:txBody>
        </p:sp>
      </p:grpSp>
    </p:spTree>
    <p:extLst>
      <p:ext uri="{BB962C8B-B14F-4D97-AF65-F5344CB8AC3E}">
        <p14:creationId xmlns:p14="http://schemas.microsoft.com/office/powerpoint/2010/main" val="3431569010"/>
      </p:ext>
    </p:extLst>
  </p:cSld>
  <p:clrMapOvr>
    <a:masterClrMapping/>
  </p:clrMapOvr>
  <p:transition>
    <p:wipe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ChangeArrowheads="1"/>
          </p:cNvSpPr>
          <p:nvPr/>
        </p:nvSpPr>
        <p:spPr bwMode="auto">
          <a:xfrm>
            <a:off x="723900" y="981075"/>
            <a:ext cx="74676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28600">
              <a:lnSpc>
                <a:spcPct val="12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取操作数周期</a:t>
            </a:r>
            <a:r>
              <a:rPr lang="en-US" altLang="zh-CN" dirty="0">
                <a:solidFill>
                  <a:srgbClr val="990000"/>
                </a:solidFill>
                <a:latin typeface="黑体" pitchFamily="2" charset="-122"/>
                <a:ea typeface="黑体" pitchFamily="2" charset="-122"/>
              </a:rPr>
              <a:t>FDC</a:t>
            </a:r>
          </a:p>
          <a:p>
            <a:pPr indent="228600">
              <a:lnSpc>
                <a:spcPct val="12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把操作数取到</a:t>
            </a:r>
            <a:r>
              <a:rPr lang="en-US" altLang="zh-CN" dirty="0">
                <a:latin typeface="黑体" pitchFamily="2" charset="-122"/>
                <a:ea typeface="黑体" pitchFamily="2" charset="-122"/>
              </a:rPr>
              <a:t>DR</a:t>
            </a:r>
            <a:r>
              <a:rPr lang="zh-CN" altLang="en-US">
                <a:latin typeface="黑体" pitchFamily="2" charset="-122"/>
                <a:ea typeface="黑体" pitchFamily="2" charset="-122"/>
              </a:rPr>
              <a:t>中；</a:t>
            </a:r>
          </a:p>
          <a:p>
            <a:pPr indent="228600">
              <a:lnSpc>
                <a:spcPct val="120000"/>
              </a:lnSpc>
              <a:spcBef>
                <a:spcPct val="0"/>
              </a:spcBef>
            </a:pPr>
            <a:r>
              <a:rPr lang="zh-CN" altLang="en-US">
                <a:latin typeface="黑体" pitchFamily="2" charset="-122"/>
                <a:ea typeface="黑体" pitchFamily="2" charset="-122"/>
              </a:rPr>
              <a:t>   若从内存取数，则内存地址放在</a:t>
            </a:r>
            <a:r>
              <a:rPr lang="en-US" altLang="zh-CN" dirty="0">
                <a:latin typeface="黑体" pitchFamily="2" charset="-122"/>
                <a:ea typeface="黑体" pitchFamily="2" charset="-122"/>
              </a:rPr>
              <a:t>AR</a:t>
            </a:r>
            <a:r>
              <a:rPr lang="zh-CN" altLang="en-US">
                <a:latin typeface="黑体" pitchFamily="2" charset="-122"/>
                <a:ea typeface="黑体" pitchFamily="2" charset="-122"/>
              </a:rPr>
              <a:t>中；</a:t>
            </a:r>
          </a:p>
          <a:p>
            <a:pPr indent="228600">
              <a:lnSpc>
                <a:spcPct val="120000"/>
              </a:lnSpc>
              <a:spcBef>
                <a:spcPct val="0"/>
              </a:spcBef>
            </a:pPr>
            <a:r>
              <a:rPr lang="zh-CN" altLang="en-US">
                <a:latin typeface="黑体" pitchFamily="2" charset="-122"/>
                <a:ea typeface="黑体" pitchFamily="2" charset="-122"/>
              </a:rPr>
              <a:t>   转到相应的执行周期。</a:t>
            </a:r>
          </a:p>
        </p:txBody>
      </p:sp>
      <p:sp>
        <p:nvSpPr>
          <p:cNvPr id="70659" name="Rectangle 5"/>
          <p:cNvSpPr>
            <a:spLocks noChangeArrowheads="1"/>
          </p:cNvSpPr>
          <p:nvPr/>
        </p:nvSpPr>
        <p:spPr bwMode="auto">
          <a:xfrm>
            <a:off x="647700" y="533400"/>
            <a:ext cx="4478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6.4.3 </a:t>
            </a:r>
            <a:r>
              <a:rPr lang="zh-CN" altLang="en-US">
                <a:solidFill>
                  <a:srgbClr val="990000"/>
                </a:solidFill>
                <a:latin typeface="黑体" pitchFamily="2" charset="-122"/>
                <a:ea typeface="黑体" pitchFamily="2" charset="-122"/>
              </a:rPr>
              <a:t>模型机指令的微操作流程</a:t>
            </a:r>
          </a:p>
        </p:txBody>
      </p:sp>
    </p:spTree>
  </p:cSld>
  <p:clrMapOvr>
    <a:masterClrMapping/>
  </p:clrMapOvr>
  <p:transition>
    <p:wipe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93"/>
          <p:cNvSpPr>
            <a:spLocks noChangeArrowheads="1"/>
          </p:cNvSpPr>
          <p:nvPr/>
        </p:nvSpPr>
        <p:spPr bwMode="auto">
          <a:xfrm>
            <a:off x="206375" y="-9525"/>
            <a:ext cx="9144000" cy="718978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p>
        </p:txBody>
      </p:sp>
      <p:sp>
        <p:nvSpPr>
          <p:cNvPr id="77827" name="Rectangle 193"/>
          <p:cNvSpPr>
            <a:spLocks noChangeArrowheads="1"/>
          </p:cNvSpPr>
          <p:nvPr/>
        </p:nvSpPr>
        <p:spPr bwMode="auto">
          <a:xfrm>
            <a:off x="206375" y="3333750"/>
            <a:ext cx="9144000" cy="50323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77828" name="Group 372"/>
          <p:cNvGrpSpPr>
            <a:grpSpLocks/>
          </p:cNvGrpSpPr>
          <p:nvPr/>
        </p:nvGrpSpPr>
        <p:grpSpPr bwMode="auto">
          <a:xfrm>
            <a:off x="539750" y="41275"/>
            <a:ext cx="7680325" cy="7140575"/>
            <a:chOff x="340" y="26"/>
            <a:chExt cx="4838" cy="4498"/>
          </a:xfrm>
        </p:grpSpPr>
        <p:sp>
          <p:nvSpPr>
            <p:cNvPr id="77830" name="Freeform 195"/>
            <p:cNvSpPr>
              <a:spLocks/>
            </p:cNvSpPr>
            <p:nvPr/>
          </p:nvSpPr>
          <p:spPr bwMode="auto">
            <a:xfrm>
              <a:off x="580" y="2208"/>
              <a:ext cx="895" cy="1030"/>
            </a:xfrm>
            <a:custGeom>
              <a:avLst/>
              <a:gdLst>
                <a:gd name="T0" fmla="*/ 32 w 1134"/>
                <a:gd name="T1" fmla="*/ 0 h 310"/>
                <a:gd name="T2" fmla="*/ 0 w 1134"/>
                <a:gd name="T3" fmla="*/ 0 h 310"/>
                <a:gd name="T4" fmla="*/ 0 w 1134"/>
                <a:gd name="T5" fmla="*/ 2147483647 h 310"/>
                <a:gd name="T6" fmla="*/ 32 w 1134"/>
                <a:gd name="T7" fmla="*/ 2147483647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1" name="Line 196"/>
            <p:cNvSpPr>
              <a:spLocks noChangeShapeType="1"/>
            </p:cNvSpPr>
            <p:nvPr/>
          </p:nvSpPr>
          <p:spPr bwMode="auto">
            <a:xfrm>
              <a:off x="4095" y="1601"/>
              <a:ext cx="0" cy="87"/>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2" name="Line 197"/>
            <p:cNvSpPr>
              <a:spLocks noChangeShapeType="1"/>
            </p:cNvSpPr>
            <p:nvPr/>
          </p:nvSpPr>
          <p:spPr bwMode="auto">
            <a:xfrm>
              <a:off x="2720" y="4031"/>
              <a:ext cx="0" cy="38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3" name="Line 198"/>
            <p:cNvSpPr>
              <a:spLocks noChangeShapeType="1"/>
            </p:cNvSpPr>
            <p:nvPr/>
          </p:nvSpPr>
          <p:spPr bwMode="auto">
            <a:xfrm>
              <a:off x="3702" y="1911"/>
              <a:ext cx="0" cy="212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4" name="Line 199"/>
            <p:cNvSpPr>
              <a:spLocks noChangeShapeType="1"/>
            </p:cNvSpPr>
            <p:nvPr/>
          </p:nvSpPr>
          <p:spPr bwMode="auto">
            <a:xfrm>
              <a:off x="1453" y="1936"/>
              <a:ext cx="0" cy="208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5" name="Freeform 200"/>
            <p:cNvSpPr>
              <a:spLocks/>
            </p:cNvSpPr>
            <p:nvPr/>
          </p:nvSpPr>
          <p:spPr bwMode="auto">
            <a:xfrm>
              <a:off x="493" y="1688"/>
              <a:ext cx="2401" cy="2343"/>
            </a:xfrm>
            <a:custGeom>
              <a:avLst/>
              <a:gdLst>
                <a:gd name="T0" fmla="*/ 1 w 4788"/>
                <a:gd name="T1" fmla="*/ 0 h 5859"/>
                <a:gd name="T2" fmla="*/ 1 w 4788"/>
                <a:gd name="T3" fmla="*/ 0 h 5859"/>
                <a:gd name="T4" fmla="*/ 0 w 4788"/>
                <a:gd name="T5" fmla="*/ 0 h 5859"/>
                <a:gd name="T6" fmla="*/ 0 w 4788"/>
                <a:gd name="T7" fmla="*/ 0 h 5859"/>
                <a:gd name="T8" fmla="*/ 0 60000 65536"/>
                <a:gd name="T9" fmla="*/ 0 60000 65536"/>
                <a:gd name="T10" fmla="*/ 0 60000 65536"/>
                <a:gd name="T11" fmla="*/ 0 60000 65536"/>
                <a:gd name="T12" fmla="*/ 0 w 4788"/>
                <a:gd name="T13" fmla="*/ 0 h 5859"/>
                <a:gd name="T14" fmla="*/ 4788 w 4788"/>
                <a:gd name="T15" fmla="*/ 5859 h 5859"/>
              </a:gdLst>
              <a:ahLst/>
              <a:cxnLst>
                <a:cxn ang="T8">
                  <a:pos x="T0" y="T1"/>
                </a:cxn>
                <a:cxn ang="T9">
                  <a:pos x="T2" y="T3"/>
                </a:cxn>
                <a:cxn ang="T10">
                  <a:pos x="T4" y="T5"/>
                </a:cxn>
                <a:cxn ang="T11">
                  <a:pos x="T6" y="T7"/>
                </a:cxn>
              </a:cxnLst>
              <a:rect l="T12" t="T13" r="T14" b="T15"/>
              <a:pathLst>
                <a:path w="4788" h="5859">
                  <a:moveTo>
                    <a:pt x="4788" y="403"/>
                  </a:moveTo>
                  <a:lnTo>
                    <a:pt x="4788" y="0"/>
                  </a:lnTo>
                  <a:lnTo>
                    <a:pt x="0" y="0"/>
                  </a:lnTo>
                  <a:lnTo>
                    <a:pt x="0" y="5859"/>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7836" name="Group 201"/>
            <p:cNvGrpSpPr>
              <a:grpSpLocks/>
            </p:cNvGrpSpPr>
            <p:nvPr/>
          </p:nvGrpSpPr>
          <p:grpSpPr bwMode="auto">
            <a:xfrm>
              <a:off x="1235" y="1688"/>
              <a:ext cx="3297" cy="173"/>
              <a:chOff x="3476" y="5758"/>
              <a:chExt cx="6342" cy="434"/>
            </a:xfrm>
          </p:grpSpPr>
          <p:sp>
            <p:nvSpPr>
              <p:cNvPr id="78000" name="Freeform 202"/>
              <p:cNvSpPr>
                <a:spLocks/>
              </p:cNvSpPr>
              <p:nvPr/>
            </p:nvSpPr>
            <p:spPr bwMode="auto">
              <a:xfrm>
                <a:off x="5198" y="5758"/>
                <a:ext cx="3066" cy="434"/>
              </a:xfrm>
              <a:custGeom>
                <a:avLst/>
                <a:gdLst>
                  <a:gd name="T0" fmla="*/ 0 w 1134"/>
                  <a:gd name="T1" fmla="*/ 12699 h 341"/>
                  <a:gd name="T2" fmla="*/ 0 w 1134"/>
                  <a:gd name="T3" fmla="*/ 0 h 341"/>
                  <a:gd name="T4" fmla="*/ 2147483647 w 1134"/>
                  <a:gd name="T5" fmla="*/ 0 h 341"/>
                  <a:gd name="T6" fmla="*/ 2147483647 w 1134"/>
                  <a:gd name="T7" fmla="*/ 12699 h 341"/>
                  <a:gd name="T8" fmla="*/ 0 60000 65536"/>
                  <a:gd name="T9" fmla="*/ 0 60000 65536"/>
                  <a:gd name="T10" fmla="*/ 0 60000 65536"/>
                  <a:gd name="T11" fmla="*/ 0 60000 65536"/>
                  <a:gd name="T12" fmla="*/ 0 w 1134"/>
                  <a:gd name="T13" fmla="*/ 0 h 341"/>
                  <a:gd name="T14" fmla="*/ 1134 w 1134"/>
                  <a:gd name="T15" fmla="*/ 341 h 341"/>
                </a:gdLst>
                <a:ahLst/>
                <a:cxnLst>
                  <a:cxn ang="T8">
                    <a:pos x="T0" y="T1"/>
                  </a:cxn>
                  <a:cxn ang="T9">
                    <a:pos x="T2" y="T3"/>
                  </a:cxn>
                  <a:cxn ang="T10">
                    <a:pos x="T4" y="T5"/>
                  </a:cxn>
                  <a:cxn ang="T11">
                    <a:pos x="T6" y="T7"/>
                  </a:cxn>
                </a:cxnLst>
                <a:rect l="T12" t="T13" r="T14" b="T15"/>
                <a:pathLst>
                  <a:path w="1134" h="341">
                    <a:moveTo>
                      <a:pt x="0" y="341"/>
                    </a:moveTo>
                    <a:lnTo>
                      <a:pt x="0" y="0"/>
                    </a:lnTo>
                    <a:lnTo>
                      <a:pt x="1134" y="0"/>
                    </a:lnTo>
                    <a:lnTo>
                      <a:pt x="1134" y="341"/>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01" name="Freeform 203"/>
              <p:cNvSpPr>
                <a:spLocks/>
              </p:cNvSpPr>
              <p:nvPr/>
            </p:nvSpPr>
            <p:spPr bwMode="auto">
              <a:xfrm>
                <a:off x="3476" y="5758"/>
                <a:ext cx="6342" cy="434"/>
              </a:xfrm>
              <a:custGeom>
                <a:avLst/>
                <a:gdLst>
                  <a:gd name="T0" fmla="*/ 0 w 1134"/>
                  <a:gd name="T1" fmla="*/ 12699 h 341"/>
                  <a:gd name="T2" fmla="*/ 0 w 1134"/>
                  <a:gd name="T3" fmla="*/ 0 h 341"/>
                  <a:gd name="T4" fmla="*/ 2147483647 w 1134"/>
                  <a:gd name="T5" fmla="*/ 0 h 341"/>
                  <a:gd name="T6" fmla="*/ 2147483647 w 1134"/>
                  <a:gd name="T7" fmla="*/ 12699 h 341"/>
                  <a:gd name="T8" fmla="*/ 0 60000 65536"/>
                  <a:gd name="T9" fmla="*/ 0 60000 65536"/>
                  <a:gd name="T10" fmla="*/ 0 60000 65536"/>
                  <a:gd name="T11" fmla="*/ 0 60000 65536"/>
                  <a:gd name="T12" fmla="*/ 0 w 1134"/>
                  <a:gd name="T13" fmla="*/ 0 h 341"/>
                  <a:gd name="T14" fmla="*/ 1134 w 1134"/>
                  <a:gd name="T15" fmla="*/ 341 h 341"/>
                </a:gdLst>
                <a:ahLst/>
                <a:cxnLst>
                  <a:cxn ang="T8">
                    <a:pos x="T0" y="T1"/>
                  </a:cxn>
                  <a:cxn ang="T9">
                    <a:pos x="T2" y="T3"/>
                  </a:cxn>
                  <a:cxn ang="T10">
                    <a:pos x="T4" y="T5"/>
                  </a:cxn>
                  <a:cxn ang="T11">
                    <a:pos x="T6" y="T7"/>
                  </a:cxn>
                </a:cxnLst>
                <a:rect l="T12" t="T13" r="T14" b="T15"/>
                <a:pathLst>
                  <a:path w="1134" h="341">
                    <a:moveTo>
                      <a:pt x="0" y="341"/>
                    </a:moveTo>
                    <a:lnTo>
                      <a:pt x="0" y="0"/>
                    </a:lnTo>
                    <a:lnTo>
                      <a:pt x="1134" y="0"/>
                    </a:lnTo>
                    <a:lnTo>
                      <a:pt x="1134" y="341"/>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7837" name="Freeform 204"/>
            <p:cNvSpPr>
              <a:spLocks/>
            </p:cNvSpPr>
            <p:nvPr/>
          </p:nvSpPr>
          <p:spPr bwMode="auto">
            <a:xfrm>
              <a:off x="3331" y="869"/>
              <a:ext cx="742" cy="323"/>
            </a:xfrm>
            <a:custGeom>
              <a:avLst/>
              <a:gdLst>
                <a:gd name="T0" fmla="*/ 2 w 1134"/>
                <a:gd name="T1" fmla="*/ 0 h 310"/>
                <a:gd name="T2" fmla="*/ 0 w 1134"/>
                <a:gd name="T3" fmla="*/ 0 h 310"/>
                <a:gd name="T4" fmla="*/ 0 w 1134"/>
                <a:gd name="T5" fmla="*/ 574 h 310"/>
                <a:gd name="T6" fmla="*/ 2 w 1134"/>
                <a:gd name="T7" fmla="*/ 574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8" name="Freeform 205"/>
            <p:cNvSpPr>
              <a:spLocks/>
            </p:cNvSpPr>
            <p:nvPr/>
          </p:nvSpPr>
          <p:spPr bwMode="auto">
            <a:xfrm>
              <a:off x="1388" y="324"/>
              <a:ext cx="2707" cy="1190"/>
            </a:xfrm>
            <a:custGeom>
              <a:avLst/>
              <a:gdLst>
                <a:gd name="T0" fmla="*/ 0 w 252"/>
                <a:gd name="T1" fmla="*/ 2 h 1860"/>
                <a:gd name="T2" fmla="*/ 0 w 252"/>
                <a:gd name="T3" fmla="*/ 0 h 1860"/>
                <a:gd name="T4" fmla="*/ 2147483647 w 252"/>
                <a:gd name="T5" fmla="*/ 0 h 1860"/>
                <a:gd name="T6" fmla="*/ 2147483647 w 252"/>
                <a:gd name="T7" fmla="*/ 2 h 1860"/>
                <a:gd name="T8" fmla="*/ 0 60000 65536"/>
                <a:gd name="T9" fmla="*/ 0 60000 65536"/>
                <a:gd name="T10" fmla="*/ 0 60000 65536"/>
                <a:gd name="T11" fmla="*/ 0 60000 65536"/>
                <a:gd name="T12" fmla="*/ 0 w 252"/>
                <a:gd name="T13" fmla="*/ 0 h 1860"/>
                <a:gd name="T14" fmla="*/ 252 w 252"/>
                <a:gd name="T15" fmla="*/ 1860 h 1860"/>
              </a:gdLst>
              <a:ahLst/>
              <a:cxnLst>
                <a:cxn ang="T8">
                  <a:pos x="T0" y="T1"/>
                </a:cxn>
                <a:cxn ang="T9">
                  <a:pos x="T2" y="T3"/>
                </a:cxn>
                <a:cxn ang="T10">
                  <a:pos x="T4" y="T5"/>
                </a:cxn>
                <a:cxn ang="T11">
                  <a:pos x="T6" y="T7"/>
                </a:cxn>
              </a:cxnLst>
              <a:rect l="T12" t="T13" r="T14" b="T15"/>
              <a:pathLst>
                <a:path w="252" h="1860">
                  <a:moveTo>
                    <a:pt x="0" y="1860"/>
                  </a:moveTo>
                  <a:lnTo>
                    <a:pt x="0" y="0"/>
                  </a:lnTo>
                  <a:lnTo>
                    <a:pt x="252" y="0"/>
                  </a:lnTo>
                  <a:lnTo>
                    <a:pt x="252" y="1860"/>
                  </a:lnTo>
                </a:path>
              </a:pathLst>
            </a:custGeom>
            <a:noFill/>
            <a:ln w="19050" cmpd="sng">
              <a:solidFill>
                <a:srgbClr val="00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9" name="Freeform 206"/>
            <p:cNvSpPr>
              <a:spLocks/>
            </p:cNvSpPr>
            <p:nvPr/>
          </p:nvSpPr>
          <p:spPr bwMode="auto">
            <a:xfrm flipH="1">
              <a:off x="2720" y="4192"/>
              <a:ext cx="1179" cy="124"/>
            </a:xfrm>
            <a:custGeom>
              <a:avLst/>
              <a:gdLst>
                <a:gd name="T0" fmla="*/ 2037 w 1134"/>
                <a:gd name="T1" fmla="*/ 0 h 310"/>
                <a:gd name="T2" fmla="*/ 0 w 1134"/>
                <a:gd name="T3" fmla="*/ 0 h 310"/>
                <a:gd name="T4" fmla="*/ 0 w 1134"/>
                <a:gd name="T5" fmla="*/ 0 h 310"/>
                <a:gd name="T6" fmla="*/ 2037 w 1134"/>
                <a:gd name="T7" fmla="*/ 0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0" name="Line 207"/>
            <p:cNvSpPr>
              <a:spLocks noChangeShapeType="1"/>
            </p:cNvSpPr>
            <p:nvPr/>
          </p:nvSpPr>
          <p:spPr bwMode="auto">
            <a:xfrm>
              <a:off x="2720" y="76"/>
              <a:ext cx="0" cy="148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1" name="AutoShape 208"/>
            <p:cNvSpPr>
              <a:spLocks noChangeArrowheads="1"/>
            </p:cNvSpPr>
            <p:nvPr/>
          </p:nvSpPr>
          <p:spPr bwMode="auto">
            <a:xfrm>
              <a:off x="2480" y="26"/>
              <a:ext cx="458" cy="114"/>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200" dirty="0">
                  <a:latin typeface="黑体" pitchFamily="2" charset="-122"/>
                  <a:ea typeface="黑体" pitchFamily="2" charset="-122"/>
                </a:rPr>
                <a:t>FDC</a:t>
              </a:r>
            </a:p>
          </p:txBody>
        </p:sp>
        <p:grpSp>
          <p:nvGrpSpPr>
            <p:cNvPr id="77842" name="Group 209"/>
            <p:cNvGrpSpPr>
              <a:grpSpLocks/>
            </p:cNvGrpSpPr>
            <p:nvPr/>
          </p:nvGrpSpPr>
          <p:grpSpPr bwMode="auto">
            <a:xfrm>
              <a:off x="2174" y="200"/>
              <a:ext cx="1091" cy="212"/>
              <a:chOff x="2594" y="4022"/>
              <a:chExt cx="2436" cy="682"/>
            </a:xfrm>
          </p:grpSpPr>
          <p:sp>
            <p:nvSpPr>
              <p:cNvPr id="77997" name="Line 210"/>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98" name="AutoShape 211"/>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99" name="Text Box 21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IR</a:t>
                </a:r>
                <a:r>
                  <a:rPr lang="en-US" altLang="zh-CN" sz="900" dirty="0">
                    <a:latin typeface="黑体" pitchFamily="2" charset="-122"/>
                    <a:ea typeface="黑体" pitchFamily="2" charset="-122"/>
                  </a:rPr>
                  <a:t>3-2</a:t>
                </a:r>
                <a:r>
                  <a:rPr lang="en-US" altLang="zh-CN" sz="1200" dirty="0">
                    <a:latin typeface="黑体" pitchFamily="2" charset="-122"/>
                    <a:ea typeface="黑体" pitchFamily="2" charset="-122"/>
                  </a:rPr>
                  <a:t> =?</a:t>
                </a:r>
              </a:p>
            </p:txBody>
          </p:sp>
        </p:grpSp>
        <p:sp>
          <p:nvSpPr>
            <p:cNvPr id="77843" name="Text Box 213"/>
            <p:cNvSpPr txBox="1">
              <a:spLocks noChangeArrowheads="1"/>
            </p:cNvSpPr>
            <p:nvPr/>
          </p:nvSpPr>
          <p:spPr bwMode="auto">
            <a:xfrm>
              <a:off x="405" y="497"/>
              <a:ext cx="37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  T0 </a:t>
              </a:r>
            </a:p>
            <a:p>
              <a:pPr algn="ctr" eaLnBrk="1" hangingPunct="1">
                <a:lnSpc>
                  <a:spcPct val="90000"/>
                </a:lnSpc>
                <a:spcBef>
                  <a:spcPct val="0"/>
                </a:spcBef>
              </a:pPr>
              <a:r>
                <a:rPr lang="en-US" altLang="zh-CN" sz="1200" dirty="0">
                  <a:latin typeface="黑体" pitchFamily="2" charset="-122"/>
                  <a:ea typeface="黑体" pitchFamily="2" charset="-122"/>
                </a:rPr>
                <a:t>  T1 </a:t>
              </a:r>
            </a:p>
            <a:p>
              <a:pPr algn="ctr" eaLnBrk="1" hangingPunct="1">
                <a:lnSpc>
                  <a:spcPct val="90000"/>
                </a:lnSpc>
                <a:spcBef>
                  <a:spcPct val="0"/>
                </a:spcBef>
              </a:pPr>
              <a:endParaRPr lang="en-US" altLang="zh-CN" sz="1200" baseline="-25000" dirty="0">
                <a:latin typeface="黑体" pitchFamily="2" charset="-122"/>
                <a:ea typeface="黑体" pitchFamily="2" charset="-122"/>
              </a:endParaRPr>
            </a:p>
            <a:p>
              <a:pPr algn="ctr" eaLnBrk="1" hangingPunct="1">
                <a:lnSpc>
                  <a:spcPct val="90000"/>
                </a:lnSpc>
                <a:spcBef>
                  <a:spcPct val="0"/>
                </a:spcBef>
              </a:pPr>
              <a:r>
                <a:rPr lang="en-US" altLang="zh-CN" sz="1200" baseline="-25000" dirty="0">
                  <a:latin typeface="黑体" pitchFamily="2" charset="-122"/>
                  <a:ea typeface="黑体" pitchFamily="2" charset="-122"/>
                </a:rPr>
                <a:t>  </a:t>
              </a:r>
              <a:endParaRPr lang="en-US" altLang="zh-CN" sz="1200" dirty="0">
                <a:latin typeface="黑体" pitchFamily="2" charset="-122"/>
                <a:ea typeface="黑体" pitchFamily="2" charset="-122"/>
              </a:endParaRPr>
            </a:p>
          </p:txBody>
        </p:sp>
        <p:sp>
          <p:nvSpPr>
            <p:cNvPr id="77844" name="Text Box 214"/>
            <p:cNvSpPr txBox="1">
              <a:spLocks noChangeArrowheads="1"/>
            </p:cNvSpPr>
            <p:nvPr/>
          </p:nvSpPr>
          <p:spPr bwMode="auto">
            <a:xfrm>
              <a:off x="536" y="1836"/>
              <a:ext cx="26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T3</a:t>
              </a:r>
            </a:p>
            <a:p>
              <a:pPr algn="ctr" eaLnBrk="1" hangingPunct="1">
                <a:lnSpc>
                  <a:spcPct val="90000"/>
                </a:lnSpc>
                <a:spcBef>
                  <a:spcPct val="0"/>
                </a:spcBef>
              </a:pPr>
              <a:r>
                <a:rPr lang="en-US" altLang="zh-CN" sz="1200" dirty="0">
                  <a:latin typeface="黑体" pitchFamily="2" charset="-122"/>
                  <a:ea typeface="黑体" pitchFamily="2" charset="-122"/>
                </a:rPr>
                <a:t>T4</a:t>
              </a:r>
            </a:p>
            <a:p>
              <a:pPr algn="ctr" eaLnBrk="1" hangingPunct="1">
                <a:lnSpc>
                  <a:spcPct val="90000"/>
                </a:lnSpc>
                <a:spcBef>
                  <a:spcPct val="0"/>
                </a:spcBef>
              </a:pPr>
              <a:endParaRPr lang="en-US" altLang="zh-CN" sz="1200" baseline="-25000" dirty="0">
                <a:latin typeface="黑体" pitchFamily="2" charset="-122"/>
                <a:ea typeface="黑体" pitchFamily="2" charset="-122"/>
              </a:endParaRPr>
            </a:p>
            <a:p>
              <a:pPr eaLnBrk="1" hangingPunct="1">
                <a:lnSpc>
                  <a:spcPct val="90000"/>
                </a:lnSpc>
                <a:spcBef>
                  <a:spcPct val="0"/>
                </a:spcBef>
              </a:pPr>
              <a:endParaRPr lang="en-US" altLang="zh-CN" sz="1200" dirty="0">
                <a:latin typeface="黑体" pitchFamily="2" charset="-122"/>
                <a:ea typeface="黑体" pitchFamily="2" charset="-122"/>
              </a:endParaRPr>
            </a:p>
          </p:txBody>
        </p:sp>
        <p:grpSp>
          <p:nvGrpSpPr>
            <p:cNvPr id="77845" name="Group 215"/>
            <p:cNvGrpSpPr>
              <a:grpSpLocks/>
            </p:cNvGrpSpPr>
            <p:nvPr/>
          </p:nvGrpSpPr>
          <p:grpSpPr bwMode="auto">
            <a:xfrm>
              <a:off x="2261" y="495"/>
              <a:ext cx="917" cy="176"/>
              <a:chOff x="5450" y="2715"/>
              <a:chExt cx="1764" cy="439"/>
            </a:xfrm>
          </p:grpSpPr>
          <p:sp>
            <p:nvSpPr>
              <p:cNvPr id="77995" name="Text Box 216"/>
              <p:cNvSpPr txBox="1">
                <a:spLocks noChangeArrowheads="1"/>
              </p:cNvSpPr>
              <p:nvPr/>
            </p:nvSpPr>
            <p:spPr bwMode="auto">
              <a:xfrm>
                <a:off x="5450" y="2829"/>
                <a:ext cx="1764" cy="325"/>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Rx→IB,  DRin</a:t>
                </a:r>
              </a:p>
            </p:txBody>
          </p:sp>
          <p:sp>
            <p:nvSpPr>
              <p:cNvPr id="77996" name="Line 217"/>
              <p:cNvSpPr>
                <a:spLocks noChangeShapeType="1"/>
              </p:cNvSpPr>
              <p:nvPr/>
            </p:nvSpPr>
            <p:spPr bwMode="auto">
              <a:xfrm>
                <a:off x="6344" y="2715"/>
                <a:ext cx="0" cy="11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46" name="Text Box 218"/>
            <p:cNvSpPr txBox="1">
              <a:spLocks noChangeArrowheads="1"/>
            </p:cNvSpPr>
            <p:nvPr/>
          </p:nvSpPr>
          <p:spPr bwMode="auto">
            <a:xfrm>
              <a:off x="3156" y="4068"/>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847" name="Text Box 219"/>
            <p:cNvSpPr txBox="1">
              <a:spLocks noChangeArrowheads="1"/>
            </p:cNvSpPr>
            <p:nvPr/>
          </p:nvSpPr>
          <p:spPr bwMode="auto">
            <a:xfrm>
              <a:off x="2458" y="4254"/>
              <a:ext cx="21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848" name="Group 220"/>
            <p:cNvGrpSpPr>
              <a:grpSpLocks/>
            </p:cNvGrpSpPr>
            <p:nvPr/>
          </p:nvGrpSpPr>
          <p:grpSpPr bwMode="auto">
            <a:xfrm>
              <a:off x="777" y="448"/>
              <a:ext cx="1200" cy="250"/>
              <a:chOff x="2048" y="1976"/>
              <a:chExt cx="3150" cy="682"/>
            </a:xfrm>
          </p:grpSpPr>
          <p:sp>
            <p:nvSpPr>
              <p:cNvPr id="77993" name="Text Box 221"/>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Rx→IB,,  ARin</a:t>
                </a:r>
              </a:p>
              <a:p>
                <a:pPr algn="just" eaLnBrk="1" hangingPunct="1">
                  <a:lnSpc>
                    <a:spcPct val="90000"/>
                  </a:lnSpc>
                  <a:spcBef>
                    <a:spcPct val="0"/>
                  </a:spcBef>
                </a:pPr>
                <a:r>
                  <a:rPr lang="en-US" altLang="zh-CN" sz="1200" dirty="0">
                    <a:latin typeface="黑体" pitchFamily="2" charset="-122"/>
                    <a:ea typeface="黑体" pitchFamily="2" charset="-122"/>
                  </a:rPr>
                  <a:t> AR→AB,  MMRD</a:t>
                </a:r>
              </a:p>
            </p:txBody>
          </p:sp>
          <p:sp>
            <p:nvSpPr>
              <p:cNvPr id="77994" name="Line 222"/>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49" name="Line 223"/>
            <p:cNvSpPr>
              <a:spLocks noChangeShapeType="1"/>
            </p:cNvSpPr>
            <p:nvPr/>
          </p:nvSpPr>
          <p:spPr bwMode="auto">
            <a:xfrm>
              <a:off x="1276" y="609"/>
              <a:ext cx="22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7850" name="Group 224"/>
            <p:cNvGrpSpPr>
              <a:grpSpLocks/>
            </p:cNvGrpSpPr>
            <p:nvPr/>
          </p:nvGrpSpPr>
          <p:grpSpPr bwMode="auto">
            <a:xfrm>
              <a:off x="3484" y="448"/>
              <a:ext cx="1201" cy="250"/>
              <a:chOff x="2048" y="1976"/>
              <a:chExt cx="3150" cy="682"/>
            </a:xfrm>
          </p:grpSpPr>
          <p:sp>
            <p:nvSpPr>
              <p:cNvPr id="77991" name="Text Box 225"/>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PC→IB,,  ARin</a:t>
                </a:r>
              </a:p>
              <a:p>
                <a:pPr algn="just" eaLnBrk="1" hangingPunct="1">
                  <a:lnSpc>
                    <a:spcPct val="90000"/>
                  </a:lnSpc>
                  <a:spcBef>
                    <a:spcPct val="0"/>
                  </a:spcBef>
                </a:pPr>
                <a:r>
                  <a:rPr lang="en-US" altLang="zh-CN" sz="1200" dirty="0">
                    <a:latin typeface="黑体" pitchFamily="2" charset="-122"/>
                    <a:ea typeface="黑体" pitchFamily="2" charset="-122"/>
                  </a:rPr>
                  <a:t> AR→AB,  MMRD, +2PC</a:t>
                </a:r>
              </a:p>
            </p:txBody>
          </p:sp>
          <p:sp>
            <p:nvSpPr>
              <p:cNvPr id="77992" name="Line 226"/>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51" name="Line 227"/>
            <p:cNvSpPr>
              <a:spLocks noChangeShapeType="1"/>
            </p:cNvSpPr>
            <p:nvPr/>
          </p:nvSpPr>
          <p:spPr bwMode="auto">
            <a:xfrm>
              <a:off x="3984" y="609"/>
              <a:ext cx="22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2" name="Text Box 228"/>
            <p:cNvSpPr txBox="1">
              <a:spLocks noChangeArrowheads="1"/>
            </p:cNvSpPr>
            <p:nvPr/>
          </p:nvSpPr>
          <p:spPr bwMode="auto">
            <a:xfrm>
              <a:off x="2774" y="410"/>
              <a:ext cx="67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=00</a:t>
              </a:r>
              <a:r>
                <a:rPr lang="zh-CN" altLang="en-US" sz="1200">
                  <a:solidFill>
                    <a:srgbClr val="FF0000"/>
                  </a:solidFill>
                  <a:latin typeface="黑体" pitchFamily="2" charset="-122"/>
                  <a:ea typeface="黑体" pitchFamily="2" charset="-122"/>
                </a:rPr>
                <a:t>寄存器型</a:t>
              </a:r>
            </a:p>
          </p:txBody>
        </p:sp>
        <p:sp>
          <p:nvSpPr>
            <p:cNvPr id="77853" name="Text Box 229"/>
            <p:cNvSpPr txBox="1">
              <a:spLocks noChangeArrowheads="1"/>
            </p:cNvSpPr>
            <p:nvPr/>
          </p:nvSpPr>
          <p:spPr bwMode="auto">
            <a:xfrm>
              <a:off x="3353" y="212"/>
              <a:ext cx="74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solidFill>
                    <a:srgbClr val="FF0000"/>
                  </a:solidFill>
                  <a:latin typeface="黑体" pitchFamily="2" charset="-122"/>
                  <a:ea typeface="黑体" pitchFamily="2" charset="-122"/>
                </a:rPr>
                <a:t>= 1X </a:t>
              </a:r>
              <a:r>
                <a:rPr lang="zh-CN" altLang="en-US" sz="1200">
                  <a:solidFill>
                    <a:srgbClr val="FF0000"/>
                  </a:solidFill>
                  <a:latin typeface="黑体" pitchFamily="2" charset="-122"/>
                  <a:ea typeface="黑体" pitchFamily="2" charset="-122"/>
                </a:rPr>
                <a:t>双字指令</a:t>
              </a:r>
              <a:endParaRPr lang="en-US" altLang="zh-CN" sz="1200" dirty="0">
                <a:solidFill>
                  <a:srgbClr val="FF0000"/>
                </a:solidFill>
                <a:latin typeface="黑体" pitchFamily="2" charset="-122"/>
                <a:ea typeface="黑体" pitchFamily="2" charset="-122"/>
              </a:endParaRPr>
            </a:p>
          </p:txBody>
        </p:sp>
        <p:sp>
          <p:nvSpPr>
            <p:cNvPr id="77854" name="Text Box 230"/>
            <p:cNvSpPr txBox="1">
              <a:spLocks noChangeArrowheads="1"/>
            </p:cNvSpPr>
            <p:nvPr/>
          </p:nvSpPr>
          <p:spPr bwMode="auto">
            <a:xfrm>
              <a:off x="3134" y="497"/>
              <a:ext cx="37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  T0 </a:t>
              </a:r>
            </a:p>
            <a:p>
              <a:pPr algn="ctr" eaLnBrk="1" hangingPunct="1">
                <a:lnSpc>
                  <a:spcPct val="90000"/>
                </a:lnSpc>
                <a:spcBef>
                  <a:spcPct val="0"/>
                </a:spcBef>
              </a:pPr>
              <a:r>
                <a:rPr lang="en-US" altLang="zh-CN" sz="1200" dirty="0">
                  <a:latin typeface="黑体" pitchFamily="2" charset="-122"/>
                  <a:ea typeface="黑体" pitchFamily="2" charset="-122"/>
                </a:rPr>
                <a:t>  T1 </a:t>
              </a:r>
            </a:p>
            <a:p>
              <a:pPr algn="ctr" eaLnBrk="1" hangingPunct="1">
                <a:lnSpc>
                  <a:spcPct val="90000"/>
                </a:lnSpc>
                <a:spcBef>
                  <a:spcPct val="0"/>
                </a:spcBef>
              </a:pPr>
              <a:endParaRPr lang="en-US" altLang="zh-CN" sz="1200" baseline="-25000" dirty="0">
                <a:latin typeface="黑体" pitchFamily="2" charset="-122"/>
                <a:ea typeface="黑体" pitchFamily="2" charset="-122"/>
              </a:endParaRPr>
            </a:p>
            <a:p>
              <a:pPr algn="ctr" eaLnBrk="1" hangingPunct="1">
                <a:lnSpc>
                  <a:spcPct val="90000"/>
                </a:lnSpc>
                <a:spcBef>
                  <a:spcPct val="0"/>
                </a:spcBef>
              </a:pPr>
              <a:r>
                <a:rPr lang="en-US" altLang="zh-CN" sz="1200" baseline="-25000" dirty="0">
                  <a:latin typeface="黑体" pitchFamily="2" charset="-122"/>
                  <a:ea typeface="黑体" pitchFamily="2" charset="-122"/>
                </a:rPr>
                <a:t>  </a:t>
              </a:r>
              <a:endParaRPr lang="en-US" altLang="zh-CN" sz="1200" dirty="0">
                <a:latin typeface="黑体" pitchFamily="2" charset="-122"/>
                <a:ea typeface="黑体" pitchFamily="2" charset="-122"/>
              </a:endParaRPr>
            </a:p>
          </p:txBody>
        </p:sp>
        <p:sp>
          <p:nvSpPr>
            <p:cNvPr id="77855" name="Text Box 231"/>
            <p:cNvSpPr txBox="1">
              <a:spLocks noChangeArrowheads="1"/>
            </p:cNvSpPr>
            <p:nvPr/>
          </p:nvSpPr>
          <p:spPr bwMode="auto">
            <a:xfrm>
              <a:off x="1912" y="541"/>
              <a:ext cx="37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  T0 </a:t>
              </a:r>
            </a:p>
            <a:p>
              <a:pPr algn="ctr" eaLnBrk="1" hangingPunct="1">
                <a:lnSpc>
                  <a:spcPct val="90000"/>
                </a:lnSpc>
                <a:spcBef>
                  <a:spcPct val="0"/>
                </a:spcBef>
              </a:pPr>
              <a:r>
                <a:rPr lang="en-US" altLang="zh-CN" sz="1200" baseline="-25000" dirty="0">
                  <a:latin typeface="黑体" pitchFamily="2" charset="-122"/>
                  <a:ea typeface="黑体" pitchFamily="2" charset="-122"/>
                </a:rPr>
                <a:t>  </a:t>
              </a:r>
              <a:endParaRPr lang="en-US" altLang="zh-CN" sz="1200" dirty="0">
                <a:latin typeface="黑体" pitchFamily="2" charset="-122"/>
                <a:ea typeface="黑体" pitchFamily="2" charset="-122"/>
              </a:endParaRPr>
            </a:p>
          </p:txBody>
        </p:sp>
        <p:grpSp>
          <p:nvGrpSpPr>
            <p:cNvPr id="77856" name="Group 232"/>
            <p:cNvGrpSpPr>
              <a:grpSpLocks/>
            </p:cNvGrpSpPr>
            <p:nvPr/>
          </p:nvGrpSpPr>
          <p:grpSpPr bwMode="auto">
            <a:xfrm>
              <a:off x="864" y="1206"/>
              <a:ext cx="1048" cy="159"/>
              <a:chOff x="4358" y="4270"/>
              <a:chExt cx="2436" cy="434"/>
            </a:xfrm>
          </p:grpSpPr>
          <p:sp>
            <p:nvSpPr>
              <p:cNvPr id="77989" name="Text Box 233"/>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DB→DR,  DRin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90" name="Line 234"/>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857" name="Group 235"/>
            <p:cNvGrpSpPr>
              <a:grpSpLocks/>
            </p:cNvGrpSpPr>
            <p:nvPr/>
          </p:nvGrpSpPr>
          <p:grpSpPr bwMode="auto">
            <a:xfrm>
              <a:off x="624" y="731"/>
              <a:ext cx="1310" cy="461"/>
              <a:chOff x="2300" y="3366"/>
              <a:chExt cx="2520" cy="1152"/>
            </a:xfrm>
          </p:grpSpPr>
          <p:sp>
            <p:nvSpPr>
              <p:cNvPr id="77978" name="Freeform 236"/>
              <p:cNvSpPr>
                <a:spLocks/>
              </p:cNvSpPr>
              <p:nvPr/>
            </p:nvSpPr>
            <p:spPr bwMode="auto">
              <a:xfrm>
                <a:off x="2300" y="3712"/>
                <a:ext cx="1428" cy="806"/>
              </a:xfrm>
              <a:custGeom>
                <a:avLst/>
                <a:gdLst>
                  <a:gd name="T0" fmla="*/ 36001 w 1134"/>
                  <a:gd name="T1" fmla="*/ 0 h 310"/>
                  <a:gd name="T2" fmla="*/ 0 w 1134"/>
                  <a:gd name="T3" fmla="*/ 0 h 310"/>
                  <a:gd name="T4" fmla="*/ 0 w 1134"/>
                  <a:gd name="T5" fmla="*/ 520086299 h 310"/>
                  <a:gd name="T6" fmla="*/ 36001 w 1134"/>
                  <a:gd name="T7" fmla="*/ 520086299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79" name="Text Box 237"/>
              <p:cNvSpPr txBox="1">
                <a:spLocks noChangeArrowheads="1"/>
              </p:cNvSpPr>
              <p:nvPr/>
            </p:nvSpPr>
            <p:spPr bwMode="auto">
              <a:xfrm>
                <a:off x="2300" y="3433"/>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980" name="Text Box 238"/>
              <p:cNvSpPr txBox="1">
                <a:spLocks noChangeArrowheads="1"/>
              </p:cNvSpPr>
              <p:nvPr/>
            </p:nvSpPr>
            <p:spPr bwMode="auto">
              <a:xfrm>
                <a:off x="3182" y="3836"/>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981" name="Group 239"/>
              <p:cNvGrpSpPr>
                <a:grpSpLocks/>
              </p:cNvGrpSpPr>
              <p:nvPr/>
            </p:nvGrpSpPr>
            <p:grpSpPr bwMode="auto">
              <a:xfrm>
                <a:off x="2720" y="3366"/>
                <a:ext cx="2100" cy="532"/>
                <a:chOff x="2594" y="4022"/>
                <a:chExt cx="2436" cy="682"/>
              </a:xfrm>
            </p:grpSpPr>
            <p:sp>
              <p:nvSpPr>
                <p:cNvPr id="77986" name="Line 240"/>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87" name="AutoShape 241"/>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88" name="Text Box 24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Ready=1?</a:t>
                  </a:r>
                </a:p>
              </p:txBody>
            </p:sp>
          </p:grpSp>
          <p:grpSp>
            <p:nvGrpSpPr>
              <p:cNvPr id="77982" name="Group 243"/>
              <p:cNvGrpSpPr>
                <a:grpSpLocks/>
              </p:cNvGrpSpPr>
              <p:nvPr/>
            </p:nvGrpSpPr>
            <p:grpSpPr bwMode="auto">
              <a:xfrm>
                <a:off x="3308" y="4022"/>
                <a:ext cx="924" cy="397"/>
                <a:chOff x="4358" y="4270"/>
                <a:chExt cx="2436" cy="434"/>
              </a:xfrm>
            </p:grpSpPr>
            <p:sp>
              <p:nvSpPr>
                <p:cNvPr id="77984" name="Text Box 244"/>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WAIT</a:t>
                  </a:r>
                </a:p>
              </p:txBody>
            </p:sp>
            <p:sp>
              <p:nvSpPr>
                <p:cNvPr id="77985" name="Line 245"/>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983" name="Text Box 246"/>
              <p:cNvSpPr txBox="1">
                <a:spLocks noChangeArrowheads="1"/>
              </p:cNvSpPr>
              <p:nvPr/>
            </p:nvSpPr>
            <p:spPr bwMode="auto">
              <a:xfrm>
                <a:off x="2804" y="4084"/>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Tw</a:t>
                </a:r>
              </a:p>
            </p:txBody>
          </p:sp>
        </p:grpSp>
        <p:sp>
          <p:nvSpPr>
            <p:cNvPr id="77858" name="Text Box 247"/>
            <p:cNvSpPr txBox="1">
              <a:spLocks noChangeArrowheads="1"/>
            </p:cNvSpPr>
            <p:nvPr/>
          </p:nvSpPr>
          <p:spPr bwMode="auto">
            <a:xfrm>
              <a:off x="580" y="1241"/>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T2</a:t>
              </a:r>
            </a:p>
          </p:txBody>
        </p:sp>
        <p:sp>
          <p:nvSpPr>
            <p:cNvPr id="77859" name="Text Box 248"/>
            <p:cNvSpPr txBox="1">
              <a:spLocks noChangeArrowheads="1"/>
            </p:cNvSpPr>
            <p:nvPr/>
          </p:nvSpPr>
          <p:spPr bwMode="auto">
            <a:xfrm>
              <a:off x="3331" y="745"/>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860" name="Text Box 249"/>
            <p:cNvSpPr txBox="1">
              <a:spLocks noChangeArrowheads="1"/>
            </p:cNvSpPr>
            <p:nvPr/>
          </p:nvSpPr>
          <p:spPr bwMode="auto">
            <a:xfrm>
              <a:off x="3789" y="919"/>
              <a:ext cx="30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861" name="Group 250"/>
            <p:cNvGrpSpPr>
              <a:grpSpLocks/>
            </p:cNvGrpSpPr>
            <p:nvPr/>
          </p:nvGrpSpPr>
          <p:grpSpPr bwMode="auto">
            <a:xfrm>
              <a:off x="3549" y="731"/>
              <a:ext cx="1092" cy="213"/>
              <a:chOff x="2594" y="4022"/>
              <a:chExt cx="2436" cy="682"/>
            </a:xfrm>
          </p:grpSpPr>
          <p:sp>
            <p:nvSpPr>
              <p:cNvPr id="77975" name="Line 251"/>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76" name="AutoShape 252"/>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77" name="Text Box 253"/>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Ready=1?</a:t>
                </a:r>
              </a:p>
            </p:txBody>
          </p:sp>
        </p:grpSp>
        <p:grpSp>
          <p:nvGrpSpPr>
            <p:cNvPr id="77862" name="Group 254"/>
            <p:cNvGrpSpPr>
              <a:grpSpLocks/>
            </p:cNvGrpSpPr>
            <p:nvPr/>
          </p:nvGrpSpPr>
          <p:grpSpPr bwMode="auto">
            <a:xfrm>
              <a:off x="3855" y="993"/>
              <a:ext cx="480" cy="159"/>
              <a:chOff x="4358" y="4270"/>
              <a:chExt cx="2436" cy="434"/>
            </a:xfrm>
          </p:grpSpPr>
          <p:sp>
            <p:nvSpPr>
              <p:cNvPr id="77973" name="Text Box 255"/>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WAIT</a:t>
                </a:r>
              </a:p>
            </p:txBody>
          </p:sp>
          <p:sp>
            <p:nvSpPr>
              <p:cNvPr id="77974" name="Line 256"/>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863" name="Group 257"/>
            <p:cNvGrpSpPr>
              <a:grpSpLocks/>
            </p:cNvGrpSpPr>
            <p:nvPr/>
          </p:nvGrpSpPr>
          <p:grpSpPr bwMode="auto">
            <a:xfrm>
              <a:off x="3571" y="1206"/>
              <a:ext cx="1048" cy="159"/>
              <a:chOff x="4358" y="4270"/>
              <a:chExt cx="2436" cy="434"/>
            </a:xfrm>
          </p:grpSpPr>
          <p:sp>
            <p:nvSpPr>
              <p:cNvPr id="77971" name="Text Box 258"/>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DB→DR,  DRin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72" name="Line 259"/>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64" name="Text Box 260"/>
            <p:cNvSpPr txBox="1">
              <a:spLocks noChangeArrowheads="1"/>
            </p:cNvSpPr>
            <p:nvPr/>
          </p:nvSpPr>
          <p:spPr bwMode="auto">
            <a:xfrm>
              <a:off x="3593" y="1018"/>
              <a:ext cx="30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Tw</a:t>
              </a:r>
            </a:p>
          </p:txBody>
        </p:sp>
        <p:sp>
          <p:nvSpPr>
            <p:cNvPr id="77865" name="Text Box 261"/>
            <p:cNvSpPr txBox="1">
              <a:spLocks noChangeArrowheads="1"/>
            </p:cNvSpPr>
            <p:nvPr/>
          </p:nvSpPr>
          <p:spPr bwMode="auto">
            <a:xfrm>
              <a:off x="3287" y="1241"/>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T2</a:t>
              </a:r>
            </a:p>
          </p:txBody>
        </p:sp>
        <p:grpSp>
          <p:nvGrpSpPr>
            <p:cNvPr id="77866" name="Group 262"/>
            <p:cNvGrpSpPr>
              <a:grpSpLocks/>
            </p:cNvGrpSpPr>
            <p:nvPr/>
          </p:nvGrpSpPr>
          <p:grpSpPr bwMode="auto">
            <a:xfrm>
              <a:off x="3549" y="1400"/>
              <a:ext cx="1092" cy="213"/>
              <a:chOff x="2594" y="4022"/>
              <a:chExt cx="2436" cy="682"/>
            </a:xfrm>
          </p:grpSpPr>
          <p:sp>
            <p:nvSpPr>
              <p:cNvPr id="77968" name="Line 263"/>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69" name="AutoShape 264"/>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70" name="Text Box 265"/>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IR</a:t>
                </a:r>
                <a:r>
                  <a:rPr lang="en-US" altLang="zh-CN" sz="900" dirty="0">
                    <a:latin typeface="黑体" pitchFamily="2" charset="-122"/>
                    <a:ea typeface="黑体" pitchFamily="2" charset="-122"/>
                  </a:rPr>
                  <a:t>2-0</a:t>
                </a:r>
                <a:r>
                  <a:rPr lang="en-US" altLang="zh-CN" sz="1200" dirty="0">
                    <a:latin typeface="黑体" pitchFamily="2" charset="-122"/>
                    <a:ea typeface="黑体" pitchFamily="2" charset="-122"/>
                  </a:rPr>
                  <a:t> = ?</a:t>
                </a:r>
              </a:p>
              <a:p>
                <a:pPr eaLnBrk="1" hangingPunct="1">
                  <a:lnSpc>
                    <a:spcPct val="90000"/>
                  </a:lnSpc>
                  <a:spcBef>
                    <a:spcPct val="0"/>
                  </a:spcBef>
                </a:pPr>
                <a:endParaRPr lang="en-US" altLang="zh-CN" sz="1200" dirty="0">
                  <a:latin typeface="黑体" pitchFamily="2" charset="-122"/>
                  <a:ea typeface="黑体" pitchFamily="2" charset="-122"/>
                </a:endParaRPr>
              </a:p>
            </p:txBody>
          </p:sp>
        </p:grpSp>
        <p:grpSp>
          <p:nvGrpSpPr>
            <p:cNvPr id="77867" name="Group 266"/>
            <p:cNvGrpSpPr>
              <a:grpSpLocks/>
            </p:cNvGrpSpPr>
            <p:nvPr/>
          </p:nvGrpSpPr>
          <p:grpSpPr bwMode="auto">
            <a:xfrm>
              <a:off x="1781" y="1787"/>
              <a:ext cx="677" cy="159"/>
              <a:chOff x="4358" y="4270"/>
              <a:chExt cx="2436" cy="434"/>
            </a:xfrm>
          </p:grpSpPr>
          <p:sp>
            <p:nvSpPr>
              <p:cNvPr id="77966" name="Text Box 267"/>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BP→IB, Sin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67" name="Line 268"/>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68" name="Text Box 269"/>
            <p:cNvSpPr txBox="1">
              <a:spLocks noChangeArrowheads="1"/>
            </p:cNvSpPr>
            <p:nvPr/>
          </p:nvSpPr>
          <p:spPr bwMode="auto">
            <a:xfrm>
              <a:off x="2169" y="1712"/>
              <a:ext cx="474"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=100</a:t>
              </a:r>
              <a:r>
                <a:rPr lang="zh-CN" altLang="en-US" sz="1200">
                  <a:solidFill>
                    <a:srgbClr val="FF0000"/>
                  </a:solidFill>
                  <a:latin typeface="黑体" pitchFamily="2" charset="-122"/>
                  <a:ea typeface="黑体" pitchFamily="2" charset="-122"/>
                </a:rPr>
                <a:t>基址</a:t>
              </a:r>
              <a:endParaRPr lang="zh-CN" altLang="en-US" sz="1200">
                <a:latin typeface="黑体" pitchFamily="2" charset="-122"/>
                <a:ea typeface="黑体" pitchFamily="2" charset="-122"/>
              </a:endParaRPr>
            </a:p>
          </p:txBody>
        </p:sp>
        <p:grpSp>
          <p:nvGrpSpPr>
            <p:cNvPr id="77869" name="Group 270"/>
            <p:cNvGrpSpPr>
              <a:grpSpLocks/>
            </p:cNvGrpSpPr>
            <p:nvPr/>
          </p:nvGrpSpPr>
          <p:grpSpPr bwMode="auto">
            <a:xfrm>
              <a:off x="2567" y="1777"/>
              <a:ext cx="676" cy="159"/>
              <a:chOff x="4358" y="4270"/>
              <a:chExt cx="2436" cy="434"/>
            </a:xfrm>
          </p:grpSpPr>
          <p:sp>
            <p:nvSpPr>
              <p:cNvPr id="77964" name="Text Box 271"/>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PC→IB, Sin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65" name="Line 272"/>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70" name="Text Box 273"/>
            <p:cNvSpPr txBox="1">
              <a:spLocks noChangeArrowheads="1"/>
            </p:cNvSpPr>
            <p:nvPr/>
          </p:nvSpPr>
          <p:spPr bwMode="auto">
            <a:xfrm>
              <a:off x="2955" y="1702"/>
              <a:ext cx="4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=101</a:t>
              </a:r>
              <a:r>
                <a:rPr lang="zh-CN" altLang="en-US" sz="1200">
                  <a:solidFill>
                    <a:srgbClr val="FF0000"/>
                  </a:solidFill>
                  <a:latin typeface="黑体" pitchFamily="2" charset="-122"/>
                  <a:ea typeface="黑体" pitchFamily="2" charset="-122"/>
                </a:rPr>
                <a:t>相对</a:t>
              </a:r>
              <a:endParaRPr lang="zh-CN" altLang="en-US" sz="1200">
                <a:latin typeface="黑体" pitchFamily="2" charset="-122"/>
                <a:ea typeface="黑体" pitchFamily="2" charset="-122"/>
              </a:endParaRPr>
            </a:p>
          </p:txBody>
        </p:sp>
        <p:grpSp>
          <p:nvGrpSpPr>
            <p:cNvPr id="77871" name="Group 274"/>
            <p:cNvGrpSpPr>
              <a:grpSpLocks/>
            </p:cNvGrpSpPr>
            <p:nvPr/>
          </p:nvGrpSpPr>
          <p:grpSpPr bwMode="auto">
            <a:xfrm>
              <a:off x="3375" y="1777"/>
              <a:ext cx="677" cy="159"/>
              <a:chOff x="4358" y="4270"/>
              <a:chExt cx="2436" cy="434"/>
            </a:xfrm>
          </p:grpSpPr>
          <p:sp>
            <p:nvSpPr>
              <p:cNvPr id="77962" name="Text Box 275"/>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SI→IB, Sin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63" name="Line 276"/>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72" name="Text Box 277"/>
            <p:cNvSpPr txBox="1">
              <a:spLocks noChangeArrowheads="1"/>
            </p:cNvSpPr>
            <p:nvPr/>
          </p:nvSpPr>
          <p:spPr bwMode="auto">
            <a:xfrm>
              <a:off x="3763" y="1702"/>
              <a:ext cx="52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=110</a:t>
              </a:r>
              <a:r>
                <a:rPr lang="zh-CN" altLang="en-US" sz="1200">
                  <a:solidFill>
                    <a:srgbClr val="FF0000"/>
                  </a:solidFill>
                  <a:latin typeface="黑体" pitchFamily="2" charset="-122"/>
                  <a:ea typeface="黑体" pitchFamily="2" charset="-122"/>
                </a:rPr>
                <a:t>源变址</a:t>
              </a:r>
              <a:endParaRPr lang="zh-CN" altLang="en-US" sz="1200">
                <a:latin typeface="黑体" pitchFamily="2" charset="-122"/>
                <a:ea typeface="黑体" pitchFamily="2" charset="-122"/>
              </a:endParaRPr>
            </a:p>
          </p:txBody>
        </p:sp>
        <p:grpSp>
          <p:nvGrpSpPr>
            <p:cNvPr id="77873" name="Group 278"/>
            <p:cNvGrpSpPr>
              <a:grpSpLocks/>
            </p:cNvGrpSpPr>
            <p:nvPr/>
          </p:nvGrpSpPr>
          <p:grpSpPr bwMode="auto">
            <a:xfrm>
              <a:off x="4182" y="1777"/>
              <a:ext cx="677" cy="159"/>
              <a:chOff x="4358" y="4270"/>
              <a:chExt cx="2436" cy="434"/>
            </a:xfrm>
          </p:grpSpPr>
          <p:sp>
            <p:nvSpPr>
              <p:cNvPr id="77960" name="Text Box 279"/>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DI→IB, Sin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61" name="Line 280"/>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74" name="Text Box 281"/>
            <p:cNvSpPr txBox="1">
              <a:spLocks noChangeArrowheads="1"/>
            </p:cNvSpPr>
            <p:nvPr/>
          </p:nvSpPr>
          <p:spPr bwMode="auto">
            <a:xfrm>
              <a:off x="4570" y="1702"/>
              <a:ext cx="60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=111</a:t>
              </a:r>
              <a:r>
                <a:rPr lang="zh-CN" altLang="en-US" sz="1200">
                  <a:solidFill>
                    <a:srgbClr val="FF0000"/>
                  </a:solidFill>
                  <a:latin typeface="黑体" pitchFamily="2" charset="-122"/>
                  <a:ea typeface="黑体" pitchFamily="2" charset="-122"/>
                </a:rPr>
                <a:t>目的变址</a:t>
              </a:r>
              <a:endParaRPr lang="zh-CN" altLang="en-US" sz="1200">
                <a:latin typeface="黑体" pitchFamily="2" charset="-122"/>
                <a:ea typeface="黑体" pitchFamily="2" charset="-122"/>
              </a:endParaRPr>
            </a:p>
          </p:txBody>
        </p:sp>
        <p:grpSp>
          <p:nvGrpSpPr>
            <p:cNvPr id="77875" name="Group 282"/>
            <p:cNvGrpSpPr>
              <a:grpSpLocks/>
            </p:cNvGrpSpPr>
            <p:nvPr/>
          </p:nvGrpSpPr>
          <p:grpSpPr bwMode="auto">
            <a:xfrm>
              <a:off x="777" y="1785"/>
              <a:ext cx="895" cy="250"/>
              <a:chOff x="2048" y="1976"/>
              <a:chExt cx="3150" cy="682"/>
            </a:xfrm>
          </p:grpSpPr>
          <p:sp>
            <p:nvSpPr>
              <p:cNvPr id="77958" name="Text Box 283"/>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DR→IB,  ARin</a:t>
                </a:r>
              </a:p>
              <a:p>
                <a:pPr algn="just" eaLnBrk="1" hangingPunct="1">
                  <a:lnSpc>
                    <a:spcPct val="90000"/>
                  </a:lnSpc>
                  <a:spcBef>
                    <a:spcPct val="0"/>
                  </a:spcBef>
                </a:pPr>
                <a:r>
                  <a:rPr lang="en-US" altLang="zh-CN" sz="1200" dirty="0">
                    <a:latin typeface="黑体" pitchFamily="2" charset="-122"/>
                    <a:ea typeface="黑体" pitchFamily="2" charset="-122"/>
                  </a:rPr>
                  <a:t> AR→AB,  MMRD</a:t>
                </a:r>
              </a:p>
            </p:txBody>
          </p:sp>
          <p:sp>
            <p:nvSpPr>
              <p:cNvPr id="77959" name="Line 284"/>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76" name="Line 285"/>
            <p:cNvSpPr>
              <a:spLocks noChangeShapeType="1"/>
            </p:cNvSpPr>
            <p:nvPr/>
          </p:nvSpPr>
          <p:spPr bwMode="auto">
            <a:xfrm>
              <a:off x="1267" y="1946"/>
              <a:ext cx="22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7" name="Text Box 286"/>
            <p:cNvSpPr txBox="1">
              <a:spLocks noChangeArrowheads="1"/>
            </p:cNvSpPr>
            <p:nvPr/>
          </p:nvSpPr>
          <p:spPr bwMode="auto">
            <a:xfrm>
              <a:off x="1280" y="1712"/>
              <a:ext cx="76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solidFill>
                    <a:srgbClr val="FF0000"/>
                  </a:solidFill>
                  <a:latin typeface="黑体" pitchFamily="2" charset="-122"/>
                  <a:ea typeface="黑体" pitchFamily="2" charset="-122"/>
                </a:rPr>
                <a:t>=01X</a:t>
              </a:r>
              <a:r>
                <a:rPr lang="zh-CN" altLang="en-US" sz="1200">
                  <a:solidFill>
                    <a:srgbClr val="FF0000"/>
                  </a:solidFill>
                  <a:latin typeface="黑体" pitchFamily="2" charset="-122"/>
                  <a:ea typeface="黑体" pitchFamily="2" charset="-122"/>
                </a:rPr>
                <a:t>直接或间接</a:t>
              </a:r>
              <a:endParaRPr lang="zh-CN" altLang="en-US" sz="1200">
                <a:latin typeface="黑体" pitchFamily="2" charset="-122"/>
                <a:ea typeface="黑体" pitchFamily="2" charset="-122"/>
              </a:endParaRPr>
            </a:p>
          </p:txBody>
        </p:sp>
        <p:sp>
          <p:nvSpPr>
            <p:cNvPr id="77878" name="Text Box 287"/>
            <p:cNvSpPr txBox="1">
              <a:spLocks noChangeArrowheads="1"/>
            </p:cNvSpPr>
            <p:nvPr/>
          </p:nvSpPr>
          <p:spPr bwMode="auto">
            <a:xfrm>
              <a:off x="473" y="1699"/>
              <a:ext cx="51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solidFill>
                    <a:srgbClr val="FF0000"/>
                  </a:solidFill>
                  <a:latin typeface="黑体" pitchFamily="2" charset="-122"/>
                  <a:ea typeface="黑体" pitchFamily="2" charset="-122"/>
                </a:rPr>
                <a:t>=000</a:t>
              </a:r>
              <a:r>
                <a:rPr lang="zh-CN" altLang="en-US" sz="1200">
                  <a:solidFill>
                    <a:srgbClr val="FF0000"/>
                  </a:solidFill>
                  <a:latin typeface="黑体" pitchFamily="2" charset="-122"/>
                  <a:ea typeface="黑体" pitchFamily="2" charset="-122"/>
                </a:rPr>
                <a:t>立即</a:t>
              </a:r>
              <a:endParaRPr lang="zh-CN" altLang="en-US" sz="1200">
                <a:latin typeface="黑体" pitchFamily="2" charset="-122"/>
                <a:ea typeface="黑体" pitchFamily="2" charset="-122"/>
              </a:endParaRPr>
            </a:p>
          </p:txBody>
        </p:sp>
        <p:grpSp>
          <p:nvGrpSpPr>
            <p:cNvPr id="77879" name="Group 288"/>
            <p:cNvGrpSpPr>
              <a:grpSpLocks/>
            </p:cNvGrpSpPr>
            <p:nvPr/>
          </p:nvGrpSpPr>
          <p:grpSpPr bwMode="auto">
            <a:xfrm>
              <a:off x="908" y="2084"/>
              <a:ext cx="1091" cy="213"/>
              <a:chOff x="2594" y="4022"/>
              <a:chExt cx="2436" cy="682"/>
            </a:xfrm>
          </p:grpSpPr>
          <p:sp>
            <p:nvSpPr>
              <p:cNvPr id="77955" name="Line 289"/>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56" name="AutoShape 290"/>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57" name="Text Box 291"/>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IR</a:t>
                </a:r>
                <a:r>
                  <a:rPr lang="en-US" altLang="zh-CN" sz="900" dirty="0">
                    <a:latin typeface="黑体" pitchFamily="2" charset="-122"/>
                    <a:ea typeface="黑体" pitchFamily="2" charset="-122"/>
                  </a:rPr>
                  <a:t>0</a:t>
                </a:r>
                <a:r>
                  <a:rPr lang="en-US" altLang="zh-CN" sz="1200" dirty="0">
                    <a:latin typeface="黑体" pitchFamily="2" charset="-122"/>
                    <a:ea typeface="黑体" pitchFamily="2" charset="-122"/>
                  </a:rPr>
                  <a:t>=1?</a:t>
                </a:r>
              </a:p>
            </p:txBody>
          </p:sp>
        </p:grpSp>
        <p:grpSp>
          <p:nvGrpSpPr>
            <p:cNvPr id="77880" name="Group 292"/>
            <p:cNvGrpSpPr>
              <a:grpSpLocks/>
            </p:cNvGrpSpPr>
            <p:nvPr/>
          </p:nvGrpSpPr>
          <p:grpSpPr bwMode="auto">
            <a:xfrm>
              <a:off x="929" y="3771"/>
              <a:ext cx="1048" cy="159"/>
              <a:chOff x="4358" y="4270"/>
              <a:chExt cx="2436" cy="434"/>
            </a:xfrm>
          </p:grpSpPr>
          <p:sp>
            <p:nvSpPr>
              <p:cNvPr id="77953" name="Text Box 293"/>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DB→DR,  DRin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54" name="Line 294"/>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81" name="Text Box 295"/>
            <p:cNvSpPr txBox="1">
              <a:spLocks noChangeArrowheads="1"/>
            </p:cNvSpPr>
            <p:nvPr/>
          </p:nvSpPr>
          <p:spPr bwMode="auto">
            <a:xfrm>
              <a:off x="995" y="2887"/>
              <a:ext cx="895" cy="326"/>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DB→DR,  DRin</a:t>
              </a:r>
            </a:p>
            <a:p>
              <a:pPr algn="just" eaLnBrk="1" hangingPunct="1">
                <a:lnSpc>
                  <a:spcPct val="90000"/>
                </a:lnSpc>
                <a:spcBef>
                  <a:spcPct val="0"/>
                </a:spcBef>
              </a:pPr>
              <a:r>
                <a:rPr lang="en-US" altLang="zh-CN" sz="1200" dirty="0">
                  <a:latin typeface="黑体" pitchFamily="2" charset="-122"/>
                  <a:ea typeface="黑体" pitchFamily="2" charset="-122"/>
                </a:rPr>
                <a:t> DR→IB,  ARin</a:t>
              </a:r>
            </a:p>
            <a:p>
              <a:pPr algn="just" eaLnBrk="1" hangingPunct="1">
                <a:lnSpc>
                  <a:spcPct val="90000"/>
                </a:lnSpc>
                <a:spcBef>
                  <a:spcPct val="0"/>
                </a:spcBef>
              </a:pPr>
              <a:r>
                <a:rPr lang="en-US" altLang="zh-CN" sz="1200" dirty="0">
                  <a:latin typeface="黑体" pitchFamily="2" charset="-122"/>
                  <a:ea typeface="黑体" pitchFamily="2" charset="-122"/>
                </a:rPr>
                <a:t> AR→AB,  MMRD</a:t>
              </a:r>
            </a:p>
          </p:txBody>
        </p:sp>
        <p:sp>
          <p:nvSpPr>
            <p:cNvPr id="77882" name="Line 296"/>
            <p:cNvSpPr>
              <a:spLocks noChangeShapeType="1"/>
            </p:cNvSpPr>
            <p:nvPr/>
          </p:nvSpPr>
          <p:spPr bwMode="auto">
            <a:xfrm>
              <a:off x="1448" y="2841"/>
              <a:ext cx="0" cy="4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83" name="Line 297"/>
            <p:cNvSpPr>
              <a:spLocks noChangeShapeType="1"/>
            </p:cNvSpPr>
            <p:nvPr/>
          </p:nvSpPr>
          <p:spPr bwMode="auto">
            <a:xfrm>
              <a:off x="1497" y="3107"/>
              <a:ext cx="22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4" name="Text Box 298"/>
            <p:cNvSpPr txBox="1">
              <a:spLocks noChangeArrowheads="1"/>
            </p:cNvSpPr>
            <p:nvPr/>
          </p:nvSpPr>
          <p:spPr bwMode="auto">
            <a:xfrm>
              <a:off x="667" y="2903"/>
              <a:ext cx="26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90000"/>
                </a:lnSpc>
                <a:spcBef>
                  <a:spcPct val="0"/>
                </a:spcBef>
              </a:pPr>
              <a:r>
                <a:rPr lang="en-US" altLang="zh-CN" sz="1200" dirty="0">
                  <a:latin typeface="黑体" pitchFamily="2" charset="-122"/>
                  <a:ea typeface="黑体" pitchFamily="2" charset="-122"/>
                </a:rPr>
                <a:t> T5</a:t>
              </a:r>
            </a:p>
            <a:p>
              <a:pPr algn="r" eaLnBrk="1" hangingPunct="1">
                <a:lnSpc>
                  <a:spcPct val="90000"/>
                </a:lnSpc>
                <a:spcBef>
                  <a:spcPct val="0"/>
                </a:spcBef>
              </a:pPr>
              <a:r>
                <a:rPr lang="en-US" altLang="zh-CN" sz="1200" dirty="0">
                  <a:latin typeface="黑体" pitchFamily="2" charset="-122"/>
                  <a:ea typeface="黑体" pitchFamily="2" charset="-122"/>
                </a:rPr>
                <a:t> T6</a:t>
              </a:r>
            </a:p>
            <a:p>
              <a:pPr algn="r" eaLnBrk="1" hangingPunct="1">
                <a:lnSpc>
                  <a:spcPct val="90000"/>
                </a:lnSpc>
                <a:spcBef>
                  <a:spcPct val="0"/>
                </a:spcBef>
              </a:pPr>
              <a:r>
                <a:rPr lang="en-US" altLang="zh-CN" sz="1200" dirty="0">
                  <a:latin typeface="黑体" pitchFamily="2" charset="-122"/>
                  <a:ea typeface="黑体" pitchFamily="2" charset="-122"/>
                </a:rPr>
                <a:t> T7</a:t>
              </a:r>
            </a:p>
          </p:txBody>
        </p:sp>
        <p:sp>
          <p:nvSpPr>
            <p:cNvPr id="77885" name="Text Box 299"/>
            <p:cNvSpPr txBox="1">
              <a:spLocks noChangeArrowheads="1"/>
            </p:cNvSpPr>
            <p:nvPr/>
          </p:nvSpPr>
          <p:spPr bwMode="auto">
            <a:xfrm>
              <a:off x="667" y="3783"/>
              <a:ext cx="28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T8   (T5)</a:t>
              </a:r>
            </a:p>
          </p:txBody>
        </p:sp>
        <p:grpSp>
          <p:nvGrpSpPr>
            <p:cNvPr id="77886" name="Group 300"/>
            <p:cNvGrpSpPr>
              <a:grpSpLocks/>
            </p:cNvGrpSpPr>
            <p:nvPr/>
          </p:nvGrpSpPr>
          <p:grpSpPr bwMode="auto">
            <a:xfrm>
              <a:off x="3178" y="2087"/>
              <a:ext cx="1048" cy="159"/>
              <a:chOff x="4358" y="4270"/>
              <a:chExt cx="2436" cy="434"/>
            </a:xfrm>
          </p:grpSpPr>
          <p:sp>
            <p:nvSpPr>
              <p:cNvPr id="77951" name="Text Box 301"/>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DB→IB, OP,  Tin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52" name="Line 302"/>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887" name="Group 303"/>
            <p:cNvGrpSpPr>
              <a:grpSpLocks/>
            </p:cNvGrpSpPr>
            <p:nvPr/>
          </p:nvGrpSpPr>
          <p:grpSpPr bwMode="auto">
            <a:xfrm>
              <a:off x="3178" y="2285"/>
              <a:ext cx="1048" cy="250"/>
              <a:chOff x="2048" y="1976"/>
              <a:chExt cx="3150" cy="682"/>
            </a:xfrm>
          </p:grpSpPr>
          <p:sp>
            <p:nvSpPr>
              <p:cNvPr id="77949" name="Text Box 304"/>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T→IB,,  ARin</a:t>
                </a:r>
              </a:p>
              <a:p>
                <a:pPr algn="just" eaLnBrk="1" hangingPunct="1">
                  <a:lnSpc>
                    <a:spcPct val="90000"/>
                  </a:lnSpc>
                  <a:spcBef>
                    <a:spcPct val="0"/>
                  </a:spcBef>
                </a:pPr>
                <a:r>
                  <a:rPr lang="en-US" altLang="zh-CN" sz="1200" dirty="0">
                    <a:latin typeface="黑体" pitchFamily="2" charset="-122"/>
                    <a:ea typeface="黑体" pitchFamily="2" charset="-122"/>
                  </a:rPr>
                  <a:t> AR→AB,  MMRD</a:t>
                </a:r>
              </a:p>
            </p:txBody>
          </p:sp>
          <p:sp>
            <p:nvSpPr>
              <p:cNvPr id="77950" name="Line 305"/>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88" name="Line 306"/>
            <p:cNvSpPr>
              <a:spLocks noChangeShapeType="1"/>
            </p:cNvSpPr>
            <p:nvPr/>
          </p:nvSpPr>
          <p:spPr bwMode="auto">
            <a:xfrm>
              <a:off x="3674" y="2446"/>
              <a:ext cx="22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7889" name="Group 307"/>
            <p:cNvGrpSpPr>
              <a:grpSpLocks/>
            </p:cNvGrpSpPr>
            <p:nvPr/>
          </p:nvGrpSpPr>
          <p:grpSpPr bwMode="auto">
            <a:xfrm>
              <a:off x="3178" y="3079"/>
              <a:ext cx="1048" cy="159"/>
              <a:chOff x="4358" y="4270"/>
              <a:chExt cx="2436" cy="434"/>
            </a:xfrm>
          </p:grpSpPr>
          <p:sp>
            <p:nvSpPr>
              <p:cNvPr id="77947" name="Text Box 308"/>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 DB→DR,  DRin</a:t>
                </a: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48" name="Line 309"/>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890" name="Group 310"/>
            <p:cNvGrpSpPr>
              <a:grpSpLocks/>
            </p:cNvGrpSpPr>
            <p:nvPr/>
          </p:nvGrpSpPr>
          <p:grpSpPr bwMode="auto">
            <a:xfrm>
              <a:off x="2174" y="4068"/>
              <a:ext cx="1091" cy="213"/>
              <a:chOff x="2594" y="4022"/>
              <a:chExt cx="2436" cy="682"/>
            </a:xfrm>
          </p:grpSpPr>
          <p:sp>
            <p:nvSpPr>
              <p:cNvPr id="77944" name="Line 311"/>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45" name="AutoShape 312"/>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46" name="Text Box 313"/>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zh-CN" altLang="en-US" sz="1200">
                    <a:latin typeface="黑体" pitchFamily="2" charset="-122"/>
                    <a:ea typeface="黑体" pitchFamily="2" charset="-122"/>
                  </a:rPr>
                  <a:t>有</a:t>
                </a:r>
                <a:r>
                  <a:rPr lang="en-US" altLang="zh-CN" sz="1200" dirty="0">
                    <a:latin typeface="黑体" pitchFamily="2" charset="-122"/>
                    <a:ea typeface="黑体" pitchFamily="2" charset="-122"/>
                  </a:rPr>
                  <a:t>DMAR?</a:t>
                </a:r>
              </a:p>
            </p:txBody>
          </p:sp>
        </p:grpSp>
        <p:grpSp>
          <p:nvGrpSpPr>
            <p:cNvPr id="77891" name="Group 314"/>
            <p:cNvGrpSpPr>
              <a:grpSpLocks/>
            </p:cNvGrpSpPr>
            <p:nvPr/>
          </p:nvGrpSpPr>
          <p:grpSpPr bwMode="auto">
            <a:xfrm>
              <a:off x="3637" y="4128"/>
              <a:ext cx="655" cy="114"/>
              <a:chOff x="8096" y="11792"/>
              <a:chExt cx="1260" cy="284"/>
            </a:xfrm>
          </p:grpSpPr>
          <p:sp>
            <p:nvSpPr>
              <p:cNvPr id="77942" name="Text Box 315"/>
              <p:cNvSpPr txBox="1">
                <a:spLocks noChangeArrowheads="1"/>
              </p:cNvSpPr>
              <p:nvPr/>
            </p:nvSpPr>
            <p:spPr bwMode="auto">
              <a:xfrm>
                <a:off x="8222" y="11792"/>
                <a:ext cx="1134" cy="284"/>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200" dirty="0">
                    <a:latin typeface="黑体" pitchFamily="2" charset="-122"/>
                    <a:ea typeface="黑体" pitchFamily="2" charset="-122"/>
                  </a:rPr>
                  <a:t>1→DMAC</a:t>
                </a:r>
              </a:p>
            </p:txBody>
          </p:sp>
          <p:sp>
            <p:nvSpPr>
              <p:cNvPr id="77943" name="Line 316"/>
              <p:cNvSpPr>
                <a:spLocks noChangeShapeType="1"/>
              </p:cNvSpPr>
              <p:nvPr/>
            </p:nvSpPr>
            <p:spPr bwMode="auto">
              <a:xfrm rot="-5400000">
                <a:off x="8153" y="11901"/>
                <a:ext cx="0" cy="1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92" name="Freeform 320"/>
            <p:cNvSpPr>
              <a:spLocks/>
            </p:cNvSpPr>
            <p:nvPr/>
          </p:nvSpPr>
          <p:spPr bwMode="auto">
            <a:xfrm>
              <a:off x="427" y="1564"/>
              <a:ext cx="2293" cy="2467"/>
            </a:xfrm>
            <a:custGeom>
              <a:avLst/>
              <a:gdLst>
                <a:gd name="T0" fmla="*/ 1 w 4536"/>
                <a:gd name="T1" fmla="*/ 0 h 6169"/>
                <a:gd name="T2" fmla="*/ 0 w 4536"/>
                <a:gd name="T3" fmla="*/ 0 h 6169"/>
                <a:gd name="T4" fmla="*/ 0 w 4536"/>
                <a:gd name="T5" fmla="*/ 0 h 6169"/>
                <a:gd name="T6" fmla="*/ 0 60000 65536"/>
                <a:gd name="T7" fmla="*/ 0 60000 65536"/>
                <a:gd name="T8" fmla="*/ 0 60000 65536"/>
                <a:gd name="T9" fmla="*/ 0 w 4536"/>
                <a:gd name="T10" fmla="*/ 0 h 6169"/>
                <a:gd name="T11" fmla="*/ 4536 w 4536"/>
                <a:gd name="T12" fmla="*/ 6169 h 6169"/>
              </a:gdLst>
              <a:ahLst/>
              <a:cxnLst>
                <a:cxn ang="T6">
                  <a:pos x="T0" y="T1"/>
                </a:cxn>
                <a:cxn ang="T7">
                  <a:pos x="T2" y="T3"/>
                </a:cxn>
                <a:cxn ang="T8">
                  <a:pos x="T4" y="T5"/>
                </a:cxn>
              </a:cxnLst>
              <a:rect l="T9" t="T10" r="T11" b="T12"/>
              <a:pathLst>
                <a:path w="4536" h="6169">
                  <a:moveTo>
                    <a:pt x="4536" y="0"/>
                  </a:moveTo>
                  <a:lnTo>
                    <a:pt x="0" y="0"/>
                  </a:lnTo>
                  <a:lnTo>
                    <a:pt x="0" y="6169"/>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93" name="Freeform 321"/>
            <p:cNvSpPr>
              <a:spLocks/>
            </p:cNvSpPr>
            <p:nvPr/>
          </p:nvSpPr>
          <p:spPr bwMode="auto">
            <a:xfrm>
              <a:off x="362" y="1489"/>
              <a:ext cx="1004" cy="2542"/>
            </a:xfrm>
            <a:custGeom>
              <a:avLst/>
              <a:gdLst>
                <a:gd name="T0" fmla="*/ 0 w 4536"/>
                <a:gd name="T1" fmla="*/ 0 h 6169"/>
                <a:gd name="T2" fmla="*/ 0 w 4536"/>
                <a:gd name="T3" fmla="*/ 0 h 6169"/>
                <a:gd name="T4" fmla="*/ 0 w 4536"/>
                <a:gd name="T5" fmla="*/ 0 h 6169"/>
                <a:gd name="T6" fmla="*/ 0 60000 65536"/>
                <a:gd name="T7" fmla="*/ 0 60000 65536"/>
                <a:gd name="T8" fmla="*/ 0 60000 65536"/>
                <a:gd name="T9" fmla="*/ 0 w 4536"/>
                <a:gd name="T10" fmla="*/ 0 h 6169"/>
                <a:gd name="T11" fmla="*/ 4536 w 4536"/>
                <a:gd name="T12" fmla="*/ 6169 h 6169"/>
              </a:gdLst>
              <a:ahLst/>
              <a:cxnLst>
                <a:cxn ang="T6">
                  <a:pos x="T0" y="T1"/>
                </a:cxn>
                <a:cxn ang="T7">
                  <a:pos x="T2" y="T3"/>
                </a:cxn>
                <a:cxn ang="T8">
                  <a:pos x="T4" y="T5"/>
                </a:cxn>
              </a:cxnLst>
              <a:rect l="T9" t="T10" r="T11" b="T12"/>
              <a:pathLst>
                <a:path w="4536" h="6169">
                  <a:moveTo>
                    <a:pt x="4536" y="0"/>
                  </a:moveTo>
                  <a:lnTo>
                    <a:pt x="0" y="0"/>
                  </a:lnTo>
                  <a:lnTo>
                    <a:pt x="0" y="6169"/>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94" name="Line 322"/>
            <p:cNvSpPr>
              <a:spLocks noChangeShapeType="1"/>
            </p:cNvSpPr>
            <p:nvPr/>
          </p:nvSpPr>
          <p:spPr bwMode="auto">
            <a:xfrm>
              <a:off x="340" y="4031"/>
              <a:ext cx="33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5" name="Line 323"/>
            <p:cNvSpPr>
              <a:spLocks noChangeShapeType="1"/>
            </p:cNvSpPr>
            <p:nvPr/>
          </p:nvSpPr>
          <p:spPr bwMode="auto">
            <a:xfrm>
              <a:off x="2894" y="1948"/>
              <a:ext cx="0" cy="87"/>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96" name="Line 324"/>
            <p:cNvSpPr>
              <a:spLocks noChangeShapeType="1"/>
            </p:cNvSpPr>
            <p:nvPr/>
          </p:nvSpPr>
          <p:spPr bwMode="auto">
            <a:xfrm>
              <a:off x="2108" y="1948"/>
              <a:ext cx="0" cy="87"/>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97" name="Line 325"/>
            <p:cNvSpPr>
              <a:spLocks noChangeShapeType="1"/>
            </p:cNvSpPr>
            <p:nvPr/>
          </p:nvSpPr>
          <p:spPr bwMode="auto">
            <a:xfrm>
              <a:off x="4532" y="1948"/>
              <a:ext cx="0" cy="87"/>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98" name="Line 326"/>
            <p:cNvSpPr>
              <a:spLocks noChangeShapeType="1"/>
            </p:cNvSpPr>
            <p:nvPr/>
          </p:nvSpPr>
          <p:spPr bwMode="auto">
            <a:xfrm>
              <a:off x="2108" y="2035"/>
              <a:ext cx="242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7899" name="Group 327"/>
            <p:cNvGrpSpPr>
              <a:grpSpLocks/>
            </p:cNvGrpSpPr>
            <p:nvPr/>
          </p:nvGrpSpPr>
          <p:grpSpPr bwMode="auto">
            <a:xfrm>
              <a:off x="689" y="2345"/>
              <a:ext cx="1310" cy="461"/>
              <a:chOff x="2300" y="3366"/>
              <a:chExt cx="2520" cy="1152"/>
            </a:xfrm>
          </p:grpSpPr>
          <p:sp>
            <p:nvSpPr>
              <p:cNvPr id="77931" name="Freeform 328"/>
              <p:cNvSpPr>
                <a:spLocks/>
              </p:cNvSpPr>
              <p:nvPr/>
            </p:nvSpPr>
            <p:spPr bwMode="auto">
              <a:xfrm>
                <a:off x="2300" y="3712"/>
                <a:ext cx="1428" cy="806"/>
              </a:xfrm>
              <a:custGeom>
                <a:avLst/>
                <a:gdLst>
                  <a:gd name="T0" fmla="*/ 36001 w 1134"/>
                  <a:gd name="T1" fmla="*/ 0 h 310"/>
                  <a:gd name="T2" fmla="*/ 0 w 1134"/>
                  <a:gd name="T3" fmla="*/ 0 h 310"/>
                  <a:gd name="T4" fmla="*/ 0 w 1134"/>
                  <a:gd name="T5" fmla="*/ 520086299 h 310"/>
                  <a:gd name="T6" fmla="*/ 36001 w 1134"/>
                  <a:gd name="T7" fmla="*/ 520086299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32" name="Text Box 329"/>
              <p:cNvSpPr txBox="1">
                <a:spLocks noChangeArrowheads="1"/>
              </p:cNvSpPr>
              <p:nvPr/>
            </p:nvSpPr>
            <p:spPr bwMode="auto">
              <a:xfrm>
                <a:off x="2300" y="3433"/>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933" name="Text Box 330"/>
              <p:cNvSpPr txBox="1">
                <a:spLocks noChangeArrowheads="1"/>
              </p:cNvSpPr>
              <p:nvPr/>
            </p:nvSpPr>
            <p:spPr bwMode="auto">
              <a:xfrm>
                <a:off x="3182" y="3836"/>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934" name="Group 331"/>
              <p:cNvGrpSpPr>
                <a:grpSpLocks/>
              </p:cNvGrpSpPr>
              <p:nvPr/>
            </p:nvGrpSpPr>
            <p:grpSpPr bwMode="auto">
              <a:xfrm>
                <a:off x="2720" y="3366"/>
                <a:ext cx="2100" cy="532"/>
                <a:chOff x="2594" y="4022"/>
                <a:chExt cx="2436" cy="682"/>
              </a:xfrm>
            </p:grpSpPr>
            <p:sp>
              <p:nvSpPr>
                <p:cNvPr id="77939" name="Line 332"/>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40" name="AutoShape 333"/>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41" name="Text Box 334"/>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Ready=1?</a:t>
                  </a:r>
                </a:p>
              </p:txBody>
            </p:sp>
          </p:grpSp>
          <p:grpSp>
            <p:nvGrpSpPr>
              <p:cNvPr id="77935" name="Group 335"/>
              <p:cNvGrpSpPr>
                <a:grpSpLocks/>
              </p:cNvGrpSpPr>
              <p:nvPr/>
            </p:nvGrpSpPr>
            <p:grpSpPr bwMode="auto">
              <a:xfrm>
                <a:off x="3308" y="4022"/>
                <a:ext cx="924" cy="397"/>
                <a:chOff x="4358" y="4270"/>
                <a:chExt cx="2436" cy="434"/>
              </a:xfrm>
            </p:grpSpPr>
            <p:sp>
              <p:nvSpPr>
                <p:cNvPr id="77937" name="Text Box 336"/>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WAIT</a:t>
                  </a:r>
                </a:p>
              </p:txBody>
            </p:sp>
            <p:sp>
              <p:nvSpPr>
                <p:cNvPr id="77938" name="Line 337"/>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936" name="Text Box 338"/>
              <p:cNvSpPr txBox="1">
                <a:spLocks noChangeArrowheads="1"/>
              </p:cNvSpPr>
              <p:nvPr/>
            </p:nvSpPr>
            <p:spPr bwMode="auto">
              <a:xfrm>
                <a:off x="2804" y="4084"/>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Tw</a:t>
                </a:r>
              </a:p>
            </p:txBody>
          </p:sp>
        </p:grpSp>
        <p:grpSp>
          <p:nvGrpSpPr>
            <p:cNvPr id="77900" name="Group 339"/>
            <p:cNvGrpSpPr>
              <a:grpSpLocks/>
            </p:cNvGrpSpPr>
            <p:nvPr/>
          </p:nvGrpSpPr>
          <p:grpSpPr bwMode="auto">
            <a:xfrm>
              <a:off x="2938" y="2593"/>
              <a:ext cx="1310" cy="461"/>
              <a:chOff x="2300" y="3366"/>
              <a:chExt cx="2520" cy="1152"/>
            </a:xfrm>
          </p:grpSpPr>
          <p:sp>
            <p:nvSpPr>
              <p:cNvPr id="77920" name="Freeform 340"/>
              <p:cNvSpPr>
                <a:spLocks/>
              </p:cNvSpPr>
              <p:nvPr/>
            </p:nvSpPr>
            <p:spPr bwMode="auto">
              <a:xfrm>
                <a:off x="2300" y="3712"/>
                <a:ext cx="1428" cy="806"/>
              </a:xfrm>
              <a:custGeom>
                <a:avLst/>
                <a:gdLst>
                  <a:gd name="T0" fmla="*/ 36001 w 1134"/>
                  <a:gd name="T1" fmla="*/ 0 h 310"/>
                  <a:gd name="T2" fmla="*/ 0 w 1134"/>
                  <a:gd name="T3" fmla="*/ 0 h 310"/>
                  <a:gd name="T4" fmla="*/ 0 w 1134"/>
                  <a:gd name="T5" fmla="*/ 520086299 h 310"/>
                  <a:gd name="T6" fmla="*/ 36001 w 1134"/>
                  <a:gd name="T7" fmla="*/ 520086299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21" name="Text Box 341"/>
              <p:cNvSpPr txBox="1">
                <a:spLocks noChangeArrowheads="1"/>
              </p:cNvSpPr>
              <p:nvPr/>
            </p:nvSpPr>
            <p:spPr bwMode="auto">
              <a:xfrm>
                <a:off x="2300" y="3433"/>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922" name="Text Box 342"/>
              <p:cNvSpPr txBox="1">
                <a:spLocks noChangeArrowheads="1"/>
              </p:cNvSpPr>
              <p:nvPr/>
            </p:nvSpPr>
            <p:spPr bwMode="auto">
              <a:xfrm>
                <a:off x="3182" y="3836"/>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923" name="Group 343"/>
              <p:cNvGrpSpPr>
                <a:grpSpLocks/>
              </p:cNvGrpSpPr>
              <p:nvPr/>
            </p:nvGrpSpPr>
            <p:grpSpPr bwMode="auto">
              <a:xfrm>
                <a:off x="2720" y="3366"/>
                <a:ext cx="2100" cy="532"/>
                <a:chOff x="2594" y="4022"/>
                <a:chExt cx="2436" cy="682"/>
              </a:xfrm>
            </p:grpSpPr>
            <p:sp>
              <p:nvSpPr>
                <p:cNvPr id="77928" name="Line 344"/>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29" name="AutoShape 345"/>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30" name="Text Box 346"/>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Ready=1?</a:t>
                  </a:r>
                </a:p>
              </p:txBody>
            </p:sp>
          </p:grpSp>
          <p:grpSp>
            <p:nvGrpSpPr>
              <p:cNvPr id="77924" name="Group 347"/>
              <p:cNvGrpSpPr>
                <a:grpSpLocks/>
              </p:cNvGrpSpPr>
              <p:nvPr/>
            </p:nvGrpSpPr>
            <p:grpSpPr bwMode="auto">
              <a:xfrm>
                <a:off x="3308" y="4022"/>
                <a:ext cx="924" cy="397"/>
                <a:chOff x="4358" y="4270"/>
                <a:chExt cx="2436" cy="434"/>
              </a:xfrm>
            </p:grpSpPr>
            <p:sp>
              <p:nvSpPr>
                <p:cNvPr id="77926" name="Text Box 348"/>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WAIT</a:t>
                  </a:r>
                </a:p>
              </p:txBody>
            </p:sp>
            <p:sp>
              <p:nvSpPr>
                <p:cNvPr id="77927" name="Line 349"/>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925" name="Text Box 350"/>
              <p:cNvSpPr txBox="1">
                <a:spLocks noChangeArrowheads="1"/>
              </p:cNvSpPr>
              <p:nvPr/>
            </p:nvSpPr>
            <p:spPr bwMode="auto">
              <a:xfrm>
                <a:off x="2804" y="4084"/>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Tw</a:t>
                </a:r>
              </a:p>
            </p:txBody>
          </p:sp>
        </p:grpSp>
        <p:grpSp>
          <p:nvGrpSpPr>
            <p:cNvPr id="77901" name="Group 351"/>
            <p:cNvGrpSpPr>
              <a:grpSpLocks/>
            </p:cNvGrpSpPr>
            <p:nvPr/>
          </p:nvGrpSpPr>
          <p:grpSpPr bwMode="auto">
            <a:xfrm>
              <a:off x="689" y="3262"/>
              <a:ext cx="1310" cy="461"/>
              <a:chOff x="2300" y="3366"/>
              <a:chExt cx="2520" cy="1152"/>
            </a:xfrm>
          </p:grpSpPr>
          <p:sp>
            <p:nvSpPr>
              <p:cNvPr id="77909" name="Freeform 352"/>
              <p:cNvSpPr>
                <a:spLocks/>
              </p:cNvSpPr>
              <p:nvPr/>
            </p:nvSpPr>
            <p:spPr bwMode="auto">
              <a:xfrm>
                <a:off x="2300" y="3712"/>
                <a:ext cx="1428" cy="806"/>
              </a:xfrm>
              <a:custGeom>
                <a:avLst/>
                <a:gdLst>
                  <a:gd name="T0" fmla="*/ 36001 w 1134"/>
                  <a:gd name="T1" fmla="*/ 0 h 310"/>
                  <a:gd name="T2" fmla="*/ 0 w 1134"/>
                  <a:gd name="T3" fmla="*/ 0 h 310"/>
                  <a:gd name="T4" fmla="*/ 0 w 1134"/>
                  <a:gd name="T5" fmla="*/ 520086299 h 310"/>
                  <a:gd name="T6" fmla="*/ 36001 w 1134"/>
                  <a:gd name="T7" fmla="*/ 520086299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10" name="Text Box 353"/>
              <p:cNvSpPr txBox="1">
                <a:spLocks noChangeArrowheads="1"/>
              </p:cNvSpPr>
              <p:nvPr/>
            </p:nvSpPr>
            <p:spPr bwMode="auto">
              <a:xfrm>
                <a:off x="2300" y="3433"/>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p>
            </p:txBody>
          </p:sp>
          <p:sp>
            <p:nvSpPr>
              <p:cNvPr id="77911" name="Text Box 354"/>
              <p:cNvSpPr txBox="1">
                <a:spLocks noChangeArrowheads="1"/>
              </p:cNvSpPr>
              <p:nvPr/>
            </p:nvSpPr>
            <p:spPr bwMode="auto">
              <a:xfrm>
                <a:off x="3182" y="3836"/>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p>
            </p:txBody>
          </p:sp>
          <p:grpSp>
            <p:nvGrpSpPr>
              <p:cNvPr id="77912" name="Group 355"/>
              <p:cNvGrpSpPr>
                <a:grpSpLocks/>
              </p:cNvGrpSpPr>
              <p:nvPr/>
            </p:nvGrpSpPr>
            <p:grpSpPr bwMode="auto">
              <a:xfrm>
                <a:off x="2720" y="3366"/>
                <a:ext cx="2100" cy="532"/>
                <a:chOff x="2594" y="4022"/>
                <a:chExt cx="2436" cy="682"/>
              </a:xfrm>
            </p:grpSpPr>
            <p:sp>
              <p:nvSpPr>
                <p:cNvPr id="77917" name="Line 356"/>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918" name="AutoShape 357"/>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77919" name="Text Box 358"/>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Ready=1?</a:t>
                  </a:r>
                </a:p>
              </p:txBody>
            </p:sp>
          </p:grpSp>
          <p:grpSp>
            <p:nvGrpSpPr>
              <p:cNvPr id="77913" name="Group 359"/>
              <p:cNvGrpSpPr>
                <a:grpSpLocks/>
              </p:cNvGrpSpPr>
              <p:nvPr/>
            </p:nvGrpSpPr>
            <p:grpSpPr bwMode="auto">
              <a:xfrm>
                <a:off x="3308" y="4022"/>
                <a:ext cx="924" cy="397"/>
                <a:chOff x="4358" y="4270"/>
                <a:chExt cx="2436" cy="434"/>
              </a:xfrm>
            </p:grpSpPr>
            <p:sp>
              <p:nvSpPr>
                <p:cNvPr id="77915" name="Text Box 360"/>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WAIT</a:t>
                  </a:r>
                </a:p>
              </p:txBody>
            </p:sp>
            <p:sp>
              <p:nvSpPr>
                <p:cNvPr id="77916" name="Line 361"/>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914" name="Text Box 362"/>
              <p:cNvSpPr txBox="1">
                <a:spLocks noChangeArrowheads="1"/>
              </p:cNvSpPr>
              <p:nvPr/>
            </p:nvSpPr>
            <p:spPr bwMode="auto">
              <a:xfrm>
                <a:off x="2804" y="4084"/>
                <a:ext cx="5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Tw</a:t>
                </a:r>
              </a:p>
            </p:txBody>
          </p:sp>
        </p:grpSp>
        <p:sp>
          <p:nvSpPr>
            <p:cNvPr id="77902" name="Text Box 363"/>
            <p:cNvSpPr txBox="1">
              <a:spLocks noChangeArrowheads="1"/>
            </p:cNvSpPr>
            <p:nvPr/>
          </p:nvSpPr>
          <p:spPr bwMode="auto">
            <a:xfrm>
              <a:off x="2916" y="2122"/>
              <a:ext cx="30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T4</a:t>
              </a:r>
            </a:p>
          </p:txBody>
        </p:sp>
        <p:sp>
          <p:nvSpPr>
            <p:cNvPr id="77903" name="Text Box 364"/>
            <p:cNvSpPr txBox="1">
              <a:spLocks noChangeArrowheads="1"/>
            </p:cNvSpPr>
            <p:nvPr/>
          </p:nvSpPr>
          <p:spPr bwMode="auto">
            <a:xfrm>
              <a:off x="2916" y="2332"/>
              <a:ext cx="26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T5</a:t>
              </a:r>
            </a:p>
            <a:p>
              <a:pPr algn="ctr" eaLnBrk="1" hangingPunct="1">
                <a:lnSpc>
                  <a:spcPct val="90000"/>
                </a:lnSpc>
                <a:spcBef>
                  <a:spcPct val="0"/>
                </a:spcBef>
              </a:pPr>
              <a:r>
                <a:rPr lang="en-US" altLang="zh-CN" sz="1200" dirty="0">
                  <a:latin typeface="黑体" pitchFamily="2" charset="-122"/>
                  <a:ea typeface="黑体" pitchFamily="2" charset="-122"/>
                </a:rPr>
                <a:t>T6</a:t>
              </a:r>
              <a:endParaRPr lang="en-US" altLang="zh-CN" sz="1200" baseline="-25000" dirty="0">
                <a:latin typeface="黑体" pitchFamily="2" charset="-122"/>
                <a:ea typeface="黑体" pitchFamily="2" charset="-122"/>
              </a:endParaRPr>
            </a:p>
            <a:p>
              <a:pPr eaLnBrk="1" hangingPunct="1">
                <a:lnSpc>
                  <a:spcPct val="90000"/>
                </a:lnSpc>
                <a:spcBef>
                  <a:spcPct val="0"/>
                </a:spcBef>
              </a:pPr>
              <a:endParaRPr lang="en-US" altLang="zh-CN" sz="1200" dirty="0">
                <a:latin typeface="黑体" pitchFamily="2" charset="-122"/>
                <a:ea typeface="黑体" pitchFamily="2" charset="-122"/>
              </a:endParaRPr>
            </a:p>
          </p:txBody>
        </p:sp>
        <p:sp>
          <p:nvSpPr>
            <p:cNvPr id="77904" name="Text Box 365"/>
            <p:cNvSpPr txBox="1">
              <a:spLocks noChangeArrowheads="1"/>
            </p:cNvSpPr>
            <p:nvPr/>
          </p:nvSpPr>
          <p:spPr bwMode="auto">
            <a:xfrm>
              <a:off x="2894" y="3114"/>
              <a:ext cx="30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T7</a:t>
              </a:r>
            </a:p>
          </p:txBody>
        </p:sp>
        <p:sp>
          <p:nvSpPr>
            <p:cNvPr id="77905" name="Text Box 366"/>
            <p:cNvSpPr txBox="1">
              <a:spLocks noChangeArrowheads="1"/>
            </p:cNvSpPr>
            <p:nvPr/>
          </p:nvSpPr>
          <p:spPr bwMode="auto">
            <a:xfrm>
              <a:off x="1394" y="197"/>
              <a:ext cx="763"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solidFill>
                    <a:srgbClr val="FF0000"/>
                  </a:solidFill>
                  <a:latin typeface="黑体" pitchFamily="2" charset="-122"/>
                  <a:ea typeface="黑体" pitchFamily="2" charset="-122"/>
                </a:rPr>
                <a:t>=01</a:t>
              </a:r>
              <a:r>
                <a:rPr lang="zh-CN" altLang="en-US" sz="1200">
                  <a:solidFill>
                    <a:srgbClr val="FF0000"/>
                  </a:solidFill>
                  <a:latin typeface="黑体" pitchFamily="2" charset="-122"/>
                  <a:ea typeface="黑体" pitchFamily="2" charset="-122"/>
                </a:rPr>
                <a:t>寄存器间址</a:t>
              </a:r>
              <a:endParaRPr lang="zh-CN" altLang="en-US" sz="1200">
                <a:latin typeface="黑体" pitchFamily="2" charset="-122"/>
                <a:ea typeface="黑体" pitchFamily="2" charset="-122"/>
              </a:endParaRPr>
            </a:p>
          </p:txBody>
        </p:sp>
        <p:sp>
          <p:nvSpPr>
            <p:cNvPr id="77906" name="Text Box 367"/>
            <p:cNvSpPr txBox="1">
              <a:spLocks noChangeArrowheads="1"/>
            </p:cNvSpPr>
            <p:nvPr/>
          </p:nvSpPr>
          <p:spPr bwMode="auto">
            <a:xfrm>
              <a:off x="558" y="2097"/>
              <a:ext cx="35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N</a:t>
              </a:r>
              <a:r>
                <a:rPr lang="zh-CN" altLang="en-US" sz="1200">
                  <a:latin typeface="黑体" pitchFamily="2" charset="-122"/>
                  <a:ea typeface="黑体" pitchFamily="2" charset="-122"/>
                </a:rPr>
                <a:t>直接</a:t>
              </a:r>
              <a:endParaRPr lang="en-US" altLang="zh-CN" sz="1200" dirty="0">
                <a:latin typeface="黑体" pitchFamily="2" charset="-122"/>
                <a:ea typeface="黑体" pitchFamily="2" charset="-122"/>
              </a:endParaRPr>
            </a:p>
          </p:txBody>
        </p:sp>
        <p:sp>
          <p:nvSpPr>
            <p:cNvPr id="77907" name="Text Box 368"/>
            <p:cNvSpPr txBox="1">
              <a:spLocks noChangeArrowheads="1"/>
            </p:cNvSpPr>
            <p:nvPr/>
          </p:nvSpPr>
          <p:spPr bwMode="auto">
            <a:xfrm>
              <a:off x="1606" y="2258"/>
              <a:ext cx="39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200" dirty="0">
                  <a:latin typeface="黑体" pitchFamily="2" charset="-122"/>
                  <a:ea typeface="黑体" pitchFamily="2" charset="-122"/>
                </a:rPr>
                <a:t>Y</a:t>
              </a:r>
              <a:r>
                <a:rPr lang="zh-CN" altLang="en-US" sz="1200">
                  <a:latin typeface="黑体" pitchFamily="2" charset="-122"/>
                  <a:ea typeface="黑体" pitchFamily="2" charset="-122"/>
                </a:rPr>
                <a:t>间接</a:t>
              </a:r>
            </a:p>
          </p:txBody>
        </p:sp>
        <p:sp>
          <p:nvSpPr>
            <p:cNvPr id="77908" name="AutoShape 371"/>
            <p:cNvSpPr>
              <a:spLocks noChangeArrowheads="1"/>
            </p:cNvSpPr>
            <p:nvPr/>
          </p:nvSpPr>
          <p:spPr bwMode="auto">
            <a:xfrm>
              <a:off x="2425" y="4410"/>
              <a:ext cx="585" cy="114"/>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200" dirty="0">
                  <a:latin typeface="黑体" pitchFamily="2" charset="-122"/>
                  <a:ea typeface="黑体" pitchFamily="2" charset="-122"/>
                </a:rPr>
                <a:t>1→EXEC</a:t>
              </a:r>
            </a:p>
          </p:txBody>
        </p:sp>
      </p:grpSp>
      <p:sp>
        <p:nvSpPr>
          <p:cNvPr id="77829" name="AutoShape 6">
            <a:hlinkClick r:id="rId2" action="ppaction://hlinksldjump"/>
          </p:cNvPr>
          <p:cNvSpPr>
            <a:spLocks noChangeArrowheads="1"/>
          </p:cNvSpPr>
          <p:nvPr/>
        </p:nvSpPr>
        <p:spPr bwMode="auto">
          <a:xfrm>
            <a:off x="7648575" y="649288"/>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dirty="0">
                <a:solidFill>
                  <a:schemeClr val="bg1"/>
                </a:solidFill>
                <a:latin typeface="宋体" pitchFamily="2" charset="-122"/>
                <a:ea typeface="宋体" pitchFamily="2" charset="-122"/>
              </a:rPr>
              <a:t>对照图</a:t>
            </a:r>
            <a:endParaRPr kumimoji="1" lang="zh-CN" altLang="en-US" sz="1800" u="sng" dirty="0">
              <a:solidFill>
                <a:srgbClr val="008000"/>
              </a:solidFill>
              <a:latin typeface="宋体" pitchFamily="2" charset="-122"/>
              <a:ea typeface="宋体" pitchFamily="2" charset="-122"/>
            </a:endParaRPr>
          </a:p>
        </p:txBody>
      </p:sp>
    </p:spTree>
  </p:cSld>
  <p:clrMapOvr>
    <a:masterClrMapping/>
  </p:clrMapOvr>
  <p:transition>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ChangeArrowheads="1"/>
          </p:cNvSpPr>
          <p:nvPr/>
        </p:nvSpPr>
        <p:spPr bwMode="auto">
          <a:xfrm>
            <a:off x="714375" y="963613"/>
            <a:ext cx="8229600"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28600">
              <a:lnSpc>
                <a:spcPct val="120000"/>
              </a:lnSpc>
              <a:spcBef>
                <a:spcPct val="0"/>
              </a:spcBef>
            </a:pPr>
            <a:r>
              <a:rPr lang="en-US" altLang="zh-CN" dirty="0">
                <a:solidFill>
                  <a:srgbClr val="990000"/>
                </a:solidFill>
                <a:latin typeface="黑体" pitchFamily="2" charset="-122"/>
                <a:ea typeface="黑体" pitchFamily="2" charset="-122"/>
              </a:rPr>
              <a:t>3.</a:t>
            </a:r>
            <a:r>
              <a:rPr lang="zh-CN" altLang="en-US" dirty="0">
                <a:solidFill>
                  <a:srgbClr val="990000"/>
                </a:solidFill>
                <a:latin typeface="黑体" pitchFamily="2" charset="-122"/>
                <a:ea typeface="黑体" pitchFamily="2" charset="-122"/>
              </a:rPr>
              <a:t>执行周期</a:t>
            </a:r>
            <a:r>
              <a:rPr lang="en-US" altLang="zh-CN" dirty="0">
                <a:solidFill>
                  <a:srgbClr val="990000"/>
                </a:solidFill>
                <a:latin typeface="黑体" pitchFamily="2" charset="-122"/>
                <a:ea typeface="黑体" pitchFamily="2" charset="-122"/>
              </a:rPr>
              <a:t>EXEC</a:t>
            </a:r>
          </a:p>
          <a:p>
            <a:pPr indent="228600">
              <a:lnSpc>
                <a:spcPct val="120000"/>
              </a:lnSpc>
            </a:pPr>
            <a:r>
              <a:rPr lang="en-US" altLang="zh-CN" dirty="0">
                <a:latin typeface="黑体" pitchFamily="2" charset="-122"/>
                <a:ea typeface="黑体" pitchFamily="2" charset="-122"/>
              </a:rPr>
              <a:t> </a:t>
            </a:r>
            <a:r>
              <a:rPr lang="zh-CN" altLang="en-US" dirty="0">
                <a:solidFill>
                  <a:srgbClr val="FF0000"/>
                </a:solidFill>
                <a:latin typeface="黑体" pitchFamily="2" charset="-122"/>
                <a:ea typeface="黑体" pitchFamily="2" charset="-122"/>
              </a:rPr>
              <a:t>例</a:t>
            </a:r>
            <a:r>
              <a:rPr lang="en-US" altLang="zh-CN" dirty="0">
                <a:solidFill>
                  <a:srgbClr val="FF0000"/>
                </a:solidFill>
                <a:latin typeface="黑体" pitchFamily="2" charset="-122"/>
                <a:ea typeface="黑体" pitchFamily="2" charset="-122"/>
              </a:rPr>
              <a:t>1</a:t>
            </a:r>
            <a:r>
              <a:rPr lang="en-US" altLang="zh-CN" dirty="0">
                <a:latin typeface="黑体" pitchFamily="2" charset="-122"/>
                <a:ea typeface="黑体" pitchFamily="2" charset="-122"/>
              </a:rPr>
              <a:t>.</a:t>
            </a:r>
            <a:r>
              <a:rPr lang="zh-CN" altLang="en-US" dirty="0">
                <a:latin typeface="黑体" pitchFamily="2" charset="-122"/>
                <a:ea typeface="黑体" pitchFamily="2" charset="-122"/>
              </a:rPr>
              <a:t>双操作数加法运算指令</a:t>
            </a:r>
          </a:p>
          <a:p>
            <a:pPr indent="228600">
              <a:lnSpc>
                <a:spcPct val="120000"/>
              </a:lnSpc>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ADD AX,Addr    ; AX←(Addr)+(AX)</a:t>
            </a:r>
          </a:p>
          <a:p>
            <a:pPr indent="228600">
              <a:lnSpc>
                <a:spcPct val="120000"/>
              </a:lnSpc>
              <a:spcBef>
                <a:spcPct val="0"/>
              </a:spcBef>
            </a:pPr>
            <a:r>
              <a:rPr lang="en-US" altLang="zh-CN" dirty="0">
                <a:latin typeface="黑体" pitchFamily="2" charset="-122"/>
                <a:ea typeface="黑体" pitchFamily="2" charset="-122"/>
              </a:rPr>
              <a:t>       ADD Addr,AX    ; Addr←(AX)+(Addr)</a:t>
            </a:r>
          </a:p>
        </p:txBody>
      </p:sp>
      <p:sp>
        <p:nvSpPr>
          <p:cNvPr id="78851" name="Rectangle 5"/>
          <p:cNvSpPr>
            <a:spLocks noChangeArrowheads="1"/>
          </p:cNvSpPr>
          <p:nvPr/>
        </p:nvSpPr>
        <p:spPr bwMode="auto">
          <a:xfrm>
            <a:off x="561975" y="495300"/>
            <a:ext cx="4478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6.4.3 </a:t>
            </a:r>
            <a:r>
              <a:rPr lang="zh-CN" altLang="en-US">
                <a:solidFill>
                  <a:srgbClr val="990000"/>
                </a:solidFill>
                <a:latin typeface="黑体" pitchFamily="2" charset="-122"/>
                <a:ea typeface="黑体" pitchFamily="2" charset="-122"/>
              </a:rPr>
              <a:t>模型机指令的微操作流程</a:t>
            </a:r>
          </a:p>
        </p:txBody>
      </p:sp>
    </p:spTree>
  </p:cSld>
  <p:clrMapOvr>
    <a:masterClrMapping/>
  </p:clrMapOvr>
  <p:transition>
    <p:wipe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143"/>
          <p:cNvGrpSpPr>
            <a:grpSpLocks/>
          </p:cNvGrpSpPr>
          <p:nvPr/>
        </p:nvGrpSpPr>
        <p:grpSpPr bwMode="auto">
          <a:xfrm>
            <a:off x="633413" y="446088"/>
            <a:ext cx="7021512" cy="5957887"/>
            <a:chOff x="399" y="281"/>
            <a:chExt cx="4423" cy="3753"/>
          </a:xfrm>
        </p:grpSpPr>
        <p:sp>
          <p:nvSpPr>
            <p:cNvPr id="79875" name="Freeform 129"/>
            <p:cNvSpPr>
              <a:spLocks/>
            </p:cNvSpPr>
            <p:nvPr/>
          </p:nvSpPr>
          <p:spPr bwMode="auto">
            <a:xfrm>
              <a:off x="1668" y="1860"/>
              <a:ext cx="738" cy="1206"/>
            </a:xfrm>
            <a:custGeom>
              <a:avLst/>
              <a:gdLst>
                <a:gd name="T0" fmla="*/ 0 w 738"/>
                <a:gd name="T1" fmla="*/ 0 h 1206"/>
                <a:gd name="T2" fmla="*/ 738 w 738"/>
                <a:gd name="T3" fmla="*/ 0 h 1206"/>
                <a:gd name="T4" fmla="*/ 738 w 738"/>
                <a:gd name="T5" fmla="*/ 1206 h 1206"/>
                <a:gd name="T6" fmla="*/ 0 60000 65536"/>
                <a:gd name="T7" fmla="*/ 0 60000 65536"/>
                <a:gd name="T8" fmla="*/ 0 60000 65536"/>
                <a:gd name="T9" fmla="*/ 0 w 738"/>
                <a:gd name="T10" fmla="*/ 0 h 1206"/>
                <a:gd name="T11" fmla="*/ 738 w 738"/>
                <a:gd name="T12" fmla="*/ 1206 h 1206"/>
              </a:gdLst>
              <a:ahLst/>
              <a:cxnLst>
                <a:cxn ang="T6">
                  <a:pos x="T0" y="T1"/>
                </a:cxn>
                <a:cxn ang="T7">
                  <a:pos x="T2" y="T3"/>
                </a:cxn>
                <a:cxn ang="T8">
                  <a:pos x="T4" y="T5"/>
                </a:cxn>
              </a:cxnLst>
              <a:rect l="T9" t="T10" r="T11" b="T12"/>
              <a:pathLst>
                <a:path w="738" h="1206">
                  <a:moveTo>
                    <a:pt x="0" y="0"/>
                  </a:moveTo>
                  <a:lnTo>
                    <a:pt x="738" y="0"/>
                  </a:lnTo>
                  <a:lnTo>
                    <a:pt x="738" y="1206"/>
                  </a:lnTo>
                </a:path>
              </a:pathLst>
            </a:custGeom>
            <a:noFill/>
            <a:ln w="19050"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79876" name="Line 127"/>
            <p:cNvSpPr>
              <a:spLocks noChangeShapeType="1"/>
            </p:cNvSpPr>
            <p:nvPr/>
          </p:nvSpPr>
          <p:spPr bwMode="auto">
            <a:xfrm flipH="1">
              <a:off x="2766" y="396"/>
              <a:ext cx="6" cy="24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877" name="Line 124"/>
            <p:cNvSpPr>
              <a:spLocks noChangeShapeType="1"/>
            </p:cNvSpPr>
            <p:nvPr/>
          </p:nvSpPr>
          <p:spPr bwMode="auto">
            <a:xfrm flipH="1">
              <a:off x="2989" y="1237"/>
              <a:ext cx="891" cy="0"/>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878" name="Line 125"/>
            <p:cNvSpPr>
              <a:spLocks noChangeShapeType="1"/>
            </p:cNvSpPr>
            <p:nvPr/>
          </p:nvSpPr>
          <p:spPr bwMode="auto">
            <a:xfrm flipH="1">
              <a:off x="2983" y="1541"/>
              <a:ext cx="891" cy="0"/>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879" name="Line 123"/>
            <p:cNvSpPr>
              <a:spLocks noChangeShapeType="1"/>
            </p:cNvSpPr>
            <p:nvPr/>
          </p:nvSpPr>
          <p:spPr bwMode="auto">
            <a:xfrm>
              <a:off x="1746" y="1541"/>
              <a:ext cx="1243" cy="0"/>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880" name="Line 122"/>
            <p:cNvSpPr>
              <a:spLocks noChangeShapeType="1"/>
            </p:cNvSpPr>
            <p:nvPr/>
          </p:nvSpPr>
          <p:spPr bwMode="auto">
            <a:xfrm>
              <a:off x="1758" y="1237"/>
              <a:ext cx="1225" cy="0"/>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881" name="Freeform 52"/>
            <p:cNvSpPr>
              <a:spLocks/>
            </p:cNvSpPr>
            <p:nvPr/>
          </p:nvSpPr>
          <p:spPr bwMode="auto">
            <a:xfrm>
              <a:off x="1353" y="643"/>
              <a:ext cx="2923" cy="2437"/>
            </a:xfrm>
            <a:custGeom>
              <a:avLst/>
              <a:gdLst>
                <a:gd name="T0" fmla="*/ 0 w 576"/>
                <a:gd name="T1" fmla="*/ 389511 h 1649"/>
                <a:gd name="T2" fmla="*/ 0 w 576"/>
                <a:gd name="T3" fmla="*/ 0 h 1649"/>
                <a:gd name="T4" fmla="*/ 2147483647 w 576"/>
                <a:gd name="T5" fmla="*/ 0 h 1649"/>
                <a:gd name="T6" fmla="*/ 2147483647 w 576"/>
                <a:gd name="T7" fmla="*/ 390978 h 1649"/>
                <a:gd name="T8" fmla="*/ 0 60000 65536"/>
                <a:gd name="T9" fmla="*/ 0 60000 65536"/>
                <a:gd name="T10" fmla="*/ 0 60000 65536"/>
                <a:gd name="T11" fmla="*/ 0 60000 65536"/>
                <a:gd name="T12" fmla="*/ 0 w 576"/>
                <a:gd name="T13" fmla="*/ 0 h 1649"/>
                <a:gd name="T14" fmla="*/ 576 w 576"/>
                <a:gd name="T15" fmla="*/ 1649 h 1649"/>
              </a:gdLst>
              <a:ahLst/>
              <a:cxnLst>
                <a:cxn ang="T8">
                  <a:pos x="T0" y="T1"/>
                </a:cxn>
                <a:cxn ang="T9">
                  <a:pos x="T2" y="T3"/>
                </a:cxn>
                <a:cxn ang="T10">
                  <a:pos x="T4" y="T5"/>
                </a:cxn>
                <a:cxn ang="T11">
                  <a:pos x="T6" y="T7"/>
                </a:cxn>
              </a:cxnLst>
              <a:rect l="T12" t="T13" r="T14" b="T15"/>
              <a:pathLst>
                <a:path w="576" h="1649">
                  <a:moveTo>
                    <a:pt x="0" y="1643"/>
                  </a:moveTo>
                  <a:lnTo>
                    <a:pt x="0" y="0"/>
                  </a:lnTo>
                  <a:lnTo>
                    <a:pt x="576" y="0"/>
                  </a:lnTo>
                  <a:lnTo>
                    <a:pt x="576" y="1649"/>
                  </a:lnTo>
                </a:path>
              </a:pathLst>
            </a:custGeom>
            <a:noFill/>
            <a:ln w="19050" cap="flat" cmpd="sng">
              <a:solidFill>
                <a:srgbClr val="000066"/>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79882" name="Line 5"/>
            <p:cNvSpPr>
              <a:spLocks noChangeShapeType="1"/>
            </p:cNvSpPr>
            <p:nvPr/>
          </p:nvSpPr>
          <p:spPr bwMode="auto">
            <a:xfrm flipH="1">
              <a:off x="2994" y="3076"/>
              <a:ext cx="1" cy="830"/>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3" name="Line 6"/>
            <p:cNvSpPr>
              <a:spLocks noChangeShapeType="1"/>
            </p:cNvSpPr>
            <p:nvPr/>
          </p:nvSpPr>
          <p:spPr bwMode="auto">
            <a:xfrm>
              <a:off x="2990" y="1224"/>
              <a:ext cx="7" cy="1851"/>
            </a:xfrm>
            <a:prstGeom prst="line">
              <a:avLst/>
            </a:prstGeom>
            <a:noFill/>
            <a:ln w="1905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4" name="AutoShape 7"/>
            <p:cNvSpPr>
              <a:spLocks noChangeArrowheads="1"/>
            </p:cNvSpPr>
            <p:nvPr/>
          </p:nvSpPr>
          <p:spPr bwMode="auto">
            <a:xfrm>
              <a:off x="2370" y="281"/>
              <a:ext cx="758" cy="159"/>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400" dirty="0"/>
                <a:t>EXEC</a:t>
              </a:r>
            </a:p>
          </p:txBody>
        </p:sp>
        <p:grpSp>
          <p:nvGrpSpPr>
            <p:cNvPr id="79885" name="Group 8"/>
            <p:cNvGrpSpPr>
              <a:grpSpLocks/>
            </p:cNvGrpSpPr>
            <p:nvPr/>
          </p:nvGrpSpPr>
          <p:grpSpPr bwMode="auto">
            <a:xfrm>
              <a:off x="2286" y="507"/>
              <a:ext cx="969" cy="237"/>
              <a:chOff x="2594" y="4022"/>
              <a:chExt cx="2436" cy="682"/>
            </a:xfrm>
          </p:grpSpPr>
          <p:sp>
            <p:nvSpPr>
              <p:cNvPr id="79980" name="Line 9"/>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81" name="AutoShape 10"/>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82" name="Text Box 11"/>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IR</a:t>
                </a:r>
                <a:r>
                  <a:rPr lang="en-US" altLang="zh-CN" sz="1000" dirty="0"/>
                  <a:t>7</a:t>
                </a:r>
                <a:r>
                  <a:rPr lang="en-US" altLang="zh-CN" sz="1400" dirty="0"/>
                  <a:t>=0?</a:t>
                </a:r>
              </a:p>
            </p:txBody>
          </p:sp>
        </p:grpSp>
        <p:sp>
          <p:nvSpPr>
            <p:cNvPr id="79886" name="Text Box 12"/>
            <p:cNvSpPr txBox="1">
              <a:spLocks noChangeArrowheads="1"/>
            </p:cNvSpPr>
            <p:nvPr/>
          </p:nvSpPr>
          <p:spPr bwMode="auto">
            <a:xfrm>
              <a:off x="1358" y="487"/>
              <a:ext cx="79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en-US" altLang="zh-CN" sz="1400" dirty="0">
                  <a:solidFill>
                    <a:srgbClr val="FF0000"/>
                  </a:solidFill>
                  <a:latin typeface="黑体" pitchFamily="2" charset="-122"/>
                  <a:ea typeface="黑体" pitchFamily="2" charset="-122"/>
                </a:rPr>
                <a:t>Ry</a:t>
              </a:r>
              <a:r>
                <a:rPr lang="zh-CN" altLang="en-US" sz="1400" dirty="0">
                  <a:solidFill>
                    <a:srgbClr val="FF0000"/>
                  </a:solidFill>
                  <a:latin typeface="黑体" pitchFamily="2" charset="-122"/>
                  <a:ea typeface="黑体" pitchFamily="2" charset="-122"/>
                </a:rPr>
                <a:t>为源寄存器</a:t>
              </a:r>
              <a:endParaRPr lang="en-US" altLang="zh-CN" sz="1400" dirty="0">
                <a:solidFill>
                  <a:srgbClr val="FF0000"/>
                </a:solidFill>
                <a:latin typeface="黑体" pitchFamily="2" charset="-122"/>
                <a:ea typeface="黑体" pitchFamily="2" charset="-122"/>
              </a:endParaRPr>
            </a:p>
          </p:txBody>
        </p:sp>
        <p:sp>
          <p:nvSpPr>
            <p:cNvPr id="79887" name="Text Box 13"/>
            <p:cNvSpPr txBox="1">
              <a:spLocks noChangeArrowheads="1"/>
            </p:cNvSpPr>
            <p:nvPr/>
          </p:nvSpPr>
          <p:spPr bwMode="auto">
            <a:xfrm>
              <a:off x="3351" y="791"/>
              <a:ext cx="33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  T0 </a:t>
              </a:r>
            </a:p>
            <a:p>
              <a:pPr algn="ctr" eaLnBrk="1" hangingPunct="1">
                <a:lnSpc>
                  <a:spcPct val="90000"/>
                </a:lnSpc>
                <a:spcBef>
                  <a:spcPct val="0"/>
                </a:spcBef>
              </a:pPr>
              <a:r>
                <a:rPr lang="en-US" altLang="zh-CN" sz="1400" dirty="0"/>
                <a:t>  T1</a:t>
              </a:r>
              <a:r>
                <a:rPr lang="en-US" altLang="zh-CN" sz="1400" baseline="-25000" dirty="0"/>
                <a:t> </a:t>
              </a:r>
              <a:endParaRPr lang="en-US" altLang="zh-CN" sz="1400" dirty="0"/>
            </a:p>
          </p:txBody>
        </p:sp>
        <p:sp>
          <p:nvSpPr>
            <p:cNvPr id="79888" name="Text Box 14"/>
            <p:cNvSpPr txBox="1">
              <a:spLocks noChangeArrowheads="1"/>
            </p:cNvSpPr>
            <p:nvPr/>
          </p:nvSpPr>
          <p:spPr bwMode="auto">
            <a:xfrm>
              <a:off x="3535" y="2109"/>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90000"/>
                </a:lnSpc>
                <a:spcBef>
                  <a:spcPct val="0"/>
                </a:spcBef>
              </a:pPr>
              <a:r>
                <a:rPr lang="en-US" altLang="zh-CN" sz="1400" dirty="0"/>
                <a:t>T2</a:t>
              </a:r>
            </a:p>
          </p:txBody>
        </p:sp>
        <p:sp>
          <p:nvSpPr>
            <p:cNvPr id="79889" name="Text Box 26"/>
            <p:cNvSpPr txBox="1">
              <a:spLocks noChangeArrowheads="1"/>
            </p:cNvSpPr>
            <p:nvPr/>
          </p:nvSpPr>
          <p:spPr bwMode="auto">
            <a:xfrm>
              <a:off x="3508" y="490"/>
              <a:ext cx="8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solidFill>
                    <a:srgbClr val="FF0000"/>
                  </a:solidFill>
                  <a:latin typeface="黑体" pitchFamily="2" charset="-122"/>
                  <a:ea typeface="黑体" pitchFamily="2" charset="-122"/>
                </a:rPr>
                <a:t>Ry</a:t>
              </a:r>
              <a:r>
                <a:rPr lang="zh-CN" altLang="en-US" sz="1400" dirty="0">
                  <a:solidFill>
                    <a:srgbClr val="FF0000"/>
                  </a:solidFill>
                  <a:latin typeface="黑体" pitchFamily="2" charset="-122"/>
                  <a:ea typeface="黑体" pitchFamily="2" charset="-122"/>
                </a:rPr>
                <a:t>为目的寄存器</a:t>
              </a:r>
              <a:endParaRPr lang="zh-CN" altLang="en-US" sz="1400" dirty="0">
                <a:latin typeface="黑体" pitchFamily="2" charset="-122"/>
                <a:ea typeface="黑体" pitchFamily="2" charset="-122"/>
              </a:endParaRPr>
            </a:p>
          </p:txBody>
        </p:sp>
        <p:sp>
          <p:nvSpPr>
            <p:cNvPr id="79890" name="Text Box 27"/>
            <p:cNvSpPr txBox="1">
              <a:spLocks noChangeArrowheads="1"/>
            </p:cNvSpPr>
            <p:nvPr/>
          </p:nvSpPr>
          <p:spPr bwMode="auto">
            <a:xfrm>
              <a:off x="2213" y="492"/>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891" name="Text Box 28"/>
            <p:cNvSpPr txBox="1">
              <a:spLocks noChangeArrowheads="1"/>
            </p:cNvSpPr>
            <p:nvPr/>
          </p:nvSpPr>
          <p:spPr bwMode="auto">
            <a:xfrm>
              <a:off x="3218" y="495"/>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892" name="Group 53"/>
            <p:cNvGrpSpPr>
              <a:grpSpLocks/>
            </p:cNvGrpSpPr>
            <p:nvPr/>
          </p:nvGrpSpPr>
          <p:grpSpPr bwMode="auto">
            <a:xfrm>
              <a:off x="675" y="2415"/>
              <a:ext cx="1163" cy="665"/>
              <a:chOff x="3568" y="1632"/>
              <a:chExt cx="1163" cy="665"/>
            </a:xfrm>
          </p:grpSpPr>
          <p:sp>
            <p:nvSpPr>
              <p:cNvPr id="79969" name="Text Box 16"/>
              <p:cNvSpPr txBox="1">
                <a:spLocks noChangeArrowheads="1"/>
              </p:cNvSpPr>
              <p:nvPr/>
            </p:nvSpPr>
            <p:spPr bwMode="auto">
              <a:xfrm>
                <a:off x="3568" y="1668"/>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70" name="Text Box 17"/>
              <p:cNvSpPr txBox="1">
                <a:spLocks noChangeArrowheads="1"/>
              </p:cNvSpPr>
              <p:nvPr/>
            </p:nvSpPr>
            <p:spPr bwMode="auto">
              <a:xfrm>
                <a:off x="3976" y="1876"/>
                <a:ext cx="2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71" name="Group 18"/>
              <p:cNvGrpSpPr>
                <a:grpSpLocks/>
              </p:cNvGrpSpPr>
              <p:nvPr/>
            </p:nvGrpSpPr>
            <p:grpSpPr bwMode="auto">
              <a:xfrm>
                <a:off x="3762" y="1632"/>
                <a:ext cx="969" cy="239"/>
                <a:chOff x="2594" y="4022"/>
                <a:chExt cx="2436" cy="682"/>
              </a:xfrm>
            </p:grpSpPr>
            <p:sp>
              <p:nvSpPr>
                <p:cNvPr id="79977" name="Line 19"/>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78" name="AutoShape 20"/>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79" name="Text Box 21"/>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Ready=1?</a:t>
                  </a:r>
                </a:p>
              </p:txBody>
            </p:sp>
          </p:grpSp>
          <p:grpSp>
            <p:nvGrpSpPr>
              <p:cNvPr id="79972" name="Group 22"/>
              <p:cNvGrpSpPr>
                <a:grpSpLocks/>
              </p:cNvGrpSpPr>
              <p:nvPr/>
            </p:nvGrpSpPr>
            <p:grpSpPr bwMode="auto">
              <a:xfrm>
                <a:off x="4033" y="1984"/>
                <a:ext cx="427" cy="177"/>
                <a:chOff x="4358" y="4270"/>
                <a:chExt cx="2436" cy="434"/>
              </a:xfrm>
            </p:grpSpPr>
            <p:sp>
              <p:nvSpPr>
                <p:cNvPr id="79975" name="Text Box 23"/>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WAIT</a:t>
                  </a:r>
                </a:p>
              </p:txBody>
            </p:sp>
            <p:sp>
              <p:nvSpPr>
                <p:cNvPr id="79976" name="Line 24"/>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973" name="Text Box 25"/>
              <p:cNvSpPr txBox="1">
                <a:spLocks noChangeArrowheads="1"/>
              </p:cNvSpPr>
              <p:nvPr/>
            </p:nvSpPr>
            <p:spPr bwMode="auto">
              <a:xfrm>
                <a:off x="3770" y="2039"/>
                <a:ext cx="2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Tw</a:t>
                </a:r>
              </a:p>
            </p:txBody>
          </p:sp>
          <p:sp>
            <p:nvSpPr>
              <p:cNvPr id="79974" name="Freeform 29"/>
              <p:cNvSpPr>
                <a:spLocks/>
              </p:cNvSpPr>
              <p:nvPr/>
            </p:nvSpPr>
            <p:spPr bwMode="auto">
              <a:xfrm>
                <a:off x="3581" y="1774"/>
                <a:ext cx="194" cy="523"/>
              </a:xfrm>
              <a:custGeom>
                <a:avLst/>
                <a:gdLst>
                  <a:gd name="T0" fmla="*/ 3 w 267"/>
                  <a:gd name="T1" fmla="*/ 0 h 418"/>
                  <a:gd name="T2" fmla="*/ 0 w 267"/>
                  <a:gd name="T3" fmla="*/ 0 h 418"/>
                  <a:gd name="T4" fmla="*/ 0 w 267"/>
                  <a:gd name="T5" fmla="*/ 9620 h 418"/>
                  <a:gd name="T6" fmla="*/ 0 60000 65536"/>
                  <a:gd name="T7" fmla="*/ 0 60000 65536"/>
                  <a:gd name="T8" fmla="*/ 0 60000 65536"/>
                  <a:gd name="T9" fmla="*/ 0 w 267"/>
                  <a:gd name="T10" fmla="*/ 0 h 418"/>
                  <a:gd name="T11" fmla="*/ 267 w 267"/>
                  <a:gd name="T12" fmla="*/ 418 h 418"/>
                </a:gdLst>
                <a:ahLst/>
                <a:cxnLst>
                  <a:cxn ang="T6">
                    <a:pos x="T0" y="T1"/>
                  </a:cxn>
                  <a:cxn ang="T7">
                    <a:pos x="T2" y="T3"/>
                  </a:cxn>
                  <a:cxn ang="T8">
                    <a:pos x="T4" y="T5"/>
                  </a:cxn>
                </a:cxnLst>
                <a:rect l="T9" t="T10" r="T11" b="T12"/>
                <a:pathLst>
                  <a:path w="267" h="418">
                    <a:moveTo>
                      <a:pt x="267" y="0"/>
                    </a:moveTo>
                    <a:lnTo>
                      <a:pt x="0" y="0"/>
                    </a:lnTo>
                    <a:lnTo>
                      <a:pt x="0" y="418"/>
                    </a:lnTo>
                  </a:path>
                </a:pathLst>
              </a:custGeom>
              <a:noFill/>
              <a:ln w="19050"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grpSp>
          <p:nvGrpSpPr>
            <p:cNvPr id="79893" name="Group 30"/>
            <p:cNvGrpSpPr>
              <a:grpSpLocks/>
            </p:cNvGrpSpPr>
            <p:nvPr/>
          </p:nvGrpSpPr>
          <p:grpSpPr bwMode="auto">
            <a:xfrm>
              <a:off x="2004" y="2017"/>
              <a:ext cx="796" cy="227"/>
              <a:chOff x="4358" y="4270"/>
              <a:chExt cx="2436" cy="434"/>
            </a:xfrm>
          </p:grpSpPr>
          <p:sp>
            <p:nvSpPr>
              <p:cNvPr id="79967" name="Text Box 31"/>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T→IB,Rxin</a:t>
                </a:r>
              </a:p>
              <a:p>
                <a:pPr eaLnBrk="1" hangingPunct="1">
                  <a:lnSpc>
                    <a:spcPct val="90000"/>
                  </a:lnSpc>
                  <a:spcBef>
                    <a:spcPct val="0"/>
                  </a:spcBef>
                </a:pPr>
                <a:endParaRPr lang="en-US" altLang="zh-CN" sz="1400" dirty="0"/>
              </a:p>
            </p:txBody>
          </p:sp>
          <p:sp>
            <p:nvSpPr>
              <p:cNvPr id="79968" name="Line 32"/>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894" name="AutoShape 33"/>
            <p:cNvSpPr>
              <a:spLocks noChangeArrowheads="1"/>
            </p:cNvSpPr>
            <p:nvPr/>
          </p:nvSpPr>
          <p:spPr bwMode="auto">
            <a:xfrm>
              <a:off x="2750" y="3906"/>
              <a:ext cx="476" cy="128"/>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400" dirty="0"/>
                <a:t>1→FIC</a:t>
              </a:r>
            </a:p>
          </p:txBody>
        </p:sp>
        <p:grpSp>
          <p:nvGrpSpPr>
            <p:cNvPr id="79895" name="Group 35"/>
            <p:cNvGrpSpPr>
              <a:grpSpLocks/>
            </p:cNvGrpSpPr>
            <p:nvPr/>
          </p:nvGrpSpPr>
          <p:grpSpPr bwMode="auto">
            <a:xfrm>
              <a:off x="3707" y="724"/>
              <a:ext cx="1115" cy="304"/>
              <a:chOff x="2048" y="1976"/>
              <a:chExt cx="3150" cy="682"/>
            </a:xfrm>
          </p:grpSpPr>
          <p:sp>
            <p:nvSpPr>
              <p:cNvPr id="79965" name="Text Box 36"/>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DR→IB, Sin</a:t>
                </a:r>
              </a:p>
              <a:p>
                <a:pPr algn="just" eaLnBrk="1" hangingPunct="1">
                  <a:lnSpc>
                    <a:spcPct val="90000"/>
                  </a:lnSpc>
                  <a:spcBef>
                    <a:spcPct val="0"/>
                  </a:spcBef>
                </a:pPr>
                <a:r>
                  <a:rPr lang="en-US" altLang="zh-CN" sz="1400" dirty="0"/>
                  <a:t> Ry→IB, OP, Tin</a:t>
                </a:r>
              </a:p>
            </p:txBody>
          </p:sp>
          <p:sp>
            <p:nvSpPr>
              <p:cNvPr id="79966" name="Line 37"/>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896" name="Text Box 45"/>
            <p:cNvSpPr txBox="1">
              <a:spLocks noChangeArrowheads="1"/>
            </p:cNvSpPr>
            <p:nvPr/>
          </p:nvSpPr>
          <p:spPr bwMode="auto">
            <a:xfrm>
              <a:off x="3988" y="3265"/>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897" name="Text Box 46"/>
            <p:cNvSpPr txBox="1">
              <a:spLocks noChangeArrowheads="1"/>
            </p:cNvSpPr>
            <p:nvPr/>
          </p:nvSpPr>
          <p:spPr bwMode="auto">
            <a:xfrm>
              <a:off x="1477" y="1937"/>
              <a:ext cx="6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00"/>
                  </a:solidFill>
                  <a:latin typeface="黑体" pitchFamily="2" charset="-122"/>
                  <a:ea typeface="黑体" pitchFamily="2" charset="-122"/>
                </a:rPr>
                <a:t>内存寻址</a:t>
              </a:r>
              <a:endParaRPr lang="en-US" altLang="zh-CN" sz="1400" dirty="0">
                <a:solidFill>
                  <a:srgbClr val="FF0000"/>
                </a:solidFill>
                <a:latin typeface="黑体" pitchFamily="2" charset="-122"/>
                <a:ea typeface="黑体" pitchFamily="2" charset="-122"/>
              </a:endParaRPr>
            </a:p>
          </p:txBody>
        </p:sp>
        <p:grpSp>
          <p:nvGrpSpPr>
            <p:cNvPr id="79898" name="Group 55"/>
            <p:cNvGrpSpPr>
              <a:grpSpLocks/>
            </p:cNvGrpSpPr>
            <p:nvPr/>
          </p:nvGrpSpPr>
          <p:grpSpPr bwMode="auto">
            <a:xfrm>
              <a:off x="789" y="719"/>
              <a:ext cx="1115" cy="304"/>
              <a:chOff x="2048" y="1976"/>
              <a:chExt cx="3150" cy="682"/>
            </a:xfrm>
          </p:grpSpPr>
          <p:sp>
            <p:nvSpPr>
              <p:cNvPr id="79963" name="Text Box 56"/>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Ry→IB, Sin</a:t>
                </a:r>
              </a:p>
              <a:p>
                <a:pPr algn="just" eaLnBrk="1" hangingPunct="1">
                  <a:lnSpc>
                    <a:spcPct val="90000"/>
                  </a:lnSpc>
                  <a:spcBef>
                    <a:spcPct val="0"/>
                  </a:spcBef>
                </a:pPr>
                <a:r>
                  <a:rPr lang="en-US" altLang="zh-CN" sz="1400" dirty="0"/>
                  <a:t> DR→IB, OP, Tin</a:t>
                </a:r>
              </a:p>
            </p:txBody>
          </p:sp>
          <p:sp>
            <p:nvSpPr>
              <p:cNvPr id="79964" name="Line 57"/>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9899" name="Group 59"/>
            <p:cNvGrpSpPr>
              <a:grpSpLocks/>
            </p:cNvGrpSpPr>
            <p:nvPr/>
          </p:nvGrpSpPr>
          <p:grpSpPr bwMode="auto">
            <a:xfrm>
              <a:off x="789" y="2029"/>
              <a:ext cx="1115" cy="304"/>
              <a:chOff x="3445" y="1336"/>
              <a:chExt cx="1115" cy="304"/>
            </a:xfrm>
          </p:grpSpPr>
          <p:grpSp>
            <p:nvGrpSpPr>
              <p:cNvPr id="79959" name="Group 60"/>
              <p:cNvGrpSpPr>
                <a:grpSpLocks/>
              </p:cNvGrpSpPr>
              <p:nvPr/>
            </p:nvGrpSpPr>
            <p:grpSpPr bwMode="auto">
              <a:xfrm>
                <a:off x="3445" y="1336"/>
                <a:ext cx="1115" cy="304"/>
                <a:chOff x="2048" y="1976"/>
                <a:chExt cx="3150" cy="682"/>
              </a:xfrm>
            </p:grpSpPr>
            <p:sp>
              <p:nvSpPr>
                <p:cNvPr id="79961" name="Text Box 61"/>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T→IB, DRin</a:t>
                  </a:r>
                </a:p>
                <a:p>
                  <a:pPr algn="just" eaLnBrk="1" hangingPunct="1">
                    <a:lnSpc>
                      <a:spcPct val="90000"/>
                    </a:lnSpc>
                    <a:spcBef>
                      <a:spcPct val="0"/>
                    </a:spcBef>
                  </a:pPr>
                  <a:r>
                    <a:rPr lang="en-US" altLang="zh-CN" sz="1400" dirty="0"/>
                    <a:t>AR→AB,DR→DB,MMWR</a:t>
                  </a:r>
                </a:p>
              </p:txBody>
            </p:sp>
            <p:sp>
              <p:nvSpPr>
                <p:cNvPr id="79962" name="Line 62"/>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960" name="Line 63"/>
              <p:cNvSpPr>
                <a:spLocks noChangeShapeType="1"/>
              </p:cNvSpPr>
              <p:nvPr/>
            </p:nvSpPr>
            <p:spPr bwMode="auto">
              <a:xfrm>
                <a:off x="4257" y="1522"/>
                <a:ext cx="22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79900" name="Text Box 65"/>
            <p:cNvSpPr txBox="1">
              <a:spLocks noChangeArrowheads="1"/>
            </p:cNvSpPr>
            <p:nvPr/>
          </p:nvSpPr>
          <p:spPr bwMode="auto">
            <a:xfrm>
              <a:off x="410" y="773"/>
              <a:ext cx="33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  T0 </a:t>
              </a:r>
            </a:p>
            <a:p>
              <a:pPr algn="ctr" eaLnBrk="1" hangingPunct="1">
                <a:lnSpc>
                  <a:spcPct val="90000"/>
                </a:lnSpc>
                <a:spcBef>
                  <a:spcPct val="0"/>
                </a:spcBef>
              </a:pPr>
              <a:r>
                <a:rPr lang="en-US" altLang="zh-CN" sz="1400" dirty="0"/>
                <a:t>  T1</a:t>
              </a:r>
              <a:r>
                <a:rPr lang="en-US" altLang="zh-CN" sz="1400" baseline="-25000" dirty="0"/>
                <a:t> </a:t>
              </a:r>
              <a:endParaRPr lang="en-US" altLang="zh-CN" sz="1400" dirty="0"/>
            </a:p>
          </p:txBody>
        </p:sp>
        <p:grpSp>
          <p:nvGrpSpPr>
            <p:cNvPr id="79901" name="Group 66"/>
            <p:cNvGrpSpPr>
              <a:grpSpLocks/>
            </p:cNvGrpSpPr>
            <p:nvPr/>
          </p:nvGrpSpPr>
          <p:grpSpPr bwMode="auto">
            <a:xfrm>
              <a:off x="866" y="1097"/>
              <a:ext cx="969" cy="237"/>
              <a:chOff x="2594" y="4022"/>
              <a:chExt cx="2436" cy="682"/>
            </a:xfrm>
          </p:grpSpPr>
          <p:sp>
            <p:nvSpPr>
              <p:cNvPr id="79956" name="Line 67"/>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57" name="AutoShape 68"/>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58" name="Text Box 69"/>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OP=CMP?</a:t>
                </a:r>
              </a:p>
            </p:txBody>
          </p:sp>
        </p:grpSp>
        <p:sp>
          <p:nvSpPr>
            <p:cNvPr id="79902" name="Text Box 71"/>
            <p:cNvSpPr txBox="1">
              <a:spLocks noChangeArrowheads="1"/>
            </p:cNvSpPr>
            <p:nvPr/>
          </p:nvSpPr>
          <p:spPr bwMode="auto">
            <a:xfrm>
              <a:off x="1802" y="1092"/>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03" name="Text Box 72"/>
            <p:cNvSpPr txBox="1">
              <a:spLocks noChangeArrowheads="1"/>
            </p:cNvSpPr>
            <p:nvPr/>
          </p:nvSpPr>
          <p:spPr bwMode="auto">
            <a:xfrm>
              <a:off x="1038" y="1311"/>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04" name="Group 73"/>
            <p:cNvGrpSpPr>
              <a:grpSpLocks/>
            </p:cNvGrpSpPr>
            <p:nvPr/>
          </p:nvGrpSpPr>
          <p:grpSpPr bwMode="auto">
            <a:xfrm>
              <a:off x="867" y="1404"/>
              <a:ext cx="969" cy="237"/>
              <a:chOff x="2594" y="4022"/>
              <a:chExt cx="2436" cy="682"/>
            </a:xfrm>
          </p:grpSpPr>
          <p:sp>
            <p:nvSpPr>
              <p:cNvPr id="79953" name="Line 74"/>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54" name="AutoShape 75"/>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55" name="Text Box 76"/>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OP=TEST?</a:t>
                </a:r>
              </a:p>
            </p:txBody>
          </p:sp>
        </p:grpSp>
        <p:sp>
          <p:nvSpPr>
            <p:cNvPr id="79905" name="Text Box 77"/>
            <p:cNvSpPr txBox="1">
              <a:spLocks noChangeArrowheads="1"/>
            </p:cNvSpPr>
            <p:nvPr/>
          </p:nvSpPr>
          <p:spPr bwMode="auto">
            <a:xfrm>
              <a:off x="1803" y="1399"/>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06" name="Text Box 78"/>
            <p:cNvSpPr txBox="1">
              <a:spLocks noChangeArrowheads="1"/>
            </p:cNvSpPr>
            <p:nvPr/>
          </p:nvSpPr>
          <p:spPr bwMode="auto">
            <a:xfrm>
              <a:off x="1039" y="1618"/>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07" name="Group 79"/>
            <p:cNvGrpSpPr>
              <a:grpSpLocks/>
            </p:cNvGrpSpPr>
            <p:nvPr/>
          </p:nvGrpSpPr>
          <p:grpSpPr bwMode="auto">
            <a:xfrm>
              <a:off x="868" y="1717"/>
              <a:ext cx="969" cy="237"/>
              <a:chOff x="2594" y="4022"/>
              <a:chExt cx="2436" cy="682"/>
            </a:xfrm>
          </p:grpSpPr>
          <p:sp>
            <p:nvSpPr>
              <p:cNvPr id="79950" name="Line 80"/>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51" name="AutoShape 81"/>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52" name="Text Box 8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IR</a:t>
                </a:r>
                <a:r>
                  <a:rPr lang="en-US" altLang="zh-CN" sz="1000" dirty="0"/>
                  <a:t>3-2</a:t>
                </a:r>
                <a:r>
                  <a:rPr lang="en-US" altLang="zh-CN" sz="1400" dirty="0"/>
                  <a:t>=00?</a:t>
                </a:r>
              </a:p>
            </p:txBody>
          </p:sp>
        </p:grpSp>
        <p:sp>
          <p:nvSpPr>
            <p:cNvPr id="79908" name="Text Box 83"/>
            <p:cNvSpPr txBox="1">
              <a:spLocks noChangeArrowheads="1"/>
            </p:cNvSpPr>
            <p:nvPr/>
          </p:nvSpPr>
          <p:spPr bwMode="auto">
            <a:xfrm>
              <a:off x="1804" y="1718"/>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09" name="Text Box 84"/>
            <p:cNvSpPr txBox="1">
              <a:spLocks noChangeArrowheads="1"/>
            </p:cNvSpPr>
            <p:nvPr/>
          </p:nvSpPr>
          <p:spPr bwMode="auto">
            <a:xfrm>
              <a:off x="1040" y="1943"/>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10" name="Group 85"/>
            <p:cNvGrpSpPr>
              <a:grpSpLocks/>
            </p:cNvGrpSpPr>
            <p:nvPr/>
          </p:nvGrpSpPr>
          <p:grpSpPr bwMode="auto">
            <a:xfrm>
              <a:off x="3879" y="2041"/>
              <a:ext cx="796" cy="227"/>
              <a:chOff x="4358" y="4270"/>
              <a:chExt cx="2436" cy="434"/>
            </a:xfrm>
          </p:grpSpPr>
          <p:sp>
            <p:nvSpPr>
              <p:cNvPr id="79948" name="Text Box 86"/>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T→IB,Ryin</a:t>
                </a:r>
              </a:p>
              <a:p>
                <a:pPr eaLnBrk="1" hangingPunct="1">
                  <a:lnSpc>
                    <a:spcPct val="90000"/>
                  </a:lnSpc>
                  <a:spcBef>
                    <a:spcPct val="0"/>
                  </a:spcBef>
                </a:pPr>
                <a:endParaRPr lang="en-US" altLang="zh-CN" sz="1400" dirty="0"/>
              </a:p>
            </p:txBody>
          </p:sp>
          <p:sp>
            <p:nvSpPr>
              <p:cNvPr id="79949" name="Line 87"/>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9911" name="Group 110"/>
            <p:cNvGrpSpPr>
              <a:grpSpLocks/>
            </p:cNvGrpSpPr>
            <p:nvPr/>
          </p:nvGrpSpPr>
          <p:grpSpPr bwMode="auto">
            <a:xfrm>
              <a:off x="2446" y="3158"/>
              <a:ext cx="2118" cy="371"/>
              <a:chOff x="3265" y="3650"/>
              <a:chExt cx="2118" cy="323"/>
            </a:xfrm>
          </p:grpSpPr>
          <p:sp>
            <p:nvSpPr>
              <p:cNvPr id="79938" name="Freeform 100"/>
              <p:cNvSpPr>
                <a:spLocks/>
              </p:cNvSpPr>
              <p:nvPr/>
            </p:nvSpPr>
            <p:spPr bwMode="auto">
              <a:xfrm flipH="1">
                <a:off x="3811" y="3774"/>
                <a:ext cx="1179" cy="124"/>
              </a:xfrm>
              <a:custGeom>
                <a:avLst/>
                <a:gdLst>
                  <a:gd name="T0" fmla="*/ 1959 w 1134"/>
                  <a:gd name="T1" fmla="*/ 0 h 310"/>
                  <a:gd name="T2" fmla="*/ 0 w 1134"/>
                  <a:gd name="T3" fmla="*/ 0 h 310"/>
                  <a:gd name="T4" fmla="*/ 0 w 1134"/>
                  <a:gd name="T5" fmla="*/ 0 h 310"/>
                  <a:gd name="T6" fmla="*/ 1959 w 1134"/>
                  <a:gd name="T7" fmla="*/ 0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939" name="Text Box 101"/>
              <p:cNvSpPr txBox="1">
                <a:spLocks noChangeArrowheads="1"/>
              </p:cNvSpPr>
              <p:nvPr/>
            </p:nvSpPr>
            <p:spPr bwMode="auto">
              <a:xfrm>
                <a:off x="4247" y="3650"/>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40" name="Text Box 102"/>
              <p:cNvSpPr txBox="1">
                <a:spLocks noChangeArrowheads="1"/>
              </p:cNvSpPr>
              <p:nvPr/>
            </p:nvSpPr>
            <p:spPr bwMode="auto">
              <a:xfrm>
                <a:off x="3549" y="3836"/>
                <a:ext cx="21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41" name="Group 103"/>
              <p:cNvGrpSpPr>
                <a:grpSpLocks/>
              </p:cNvGrpSpPr>
              <p:nvPr/>
            </p:nvGrpSpPr>
            <p:grpSpPr bwMode="auto">
              <a:xfrm>
                <a:off x="3265" y="3650"/>
                <a:ext cx="1091" cy="213"/>
                <a:chOff x="2594" y="4022"/>
                <a:chExt cx="2436" cy="682"/>
              </a:xfrm>
            </p:grpSpPr>
            <p:sp>
              <p:nvSpPr>
                <p:cNvPr id="79945" name="Line 104"/>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46" name="AutoShape 105"/>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47" name="Text Box 106"/>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zh-CN" altLang="en-US" sz="1400">
                      <a:latin typeface="黑体" pitchFamily="2" charset="-122"/>
                      <a:ea typeface="黑体" pitchFamily="2" charset="-122"/>
                    </a:rPr>
                    <a:t>有</a:t>
                  </a:r>
                  <a:r>
                    <a:rPr lang="en-US" altLang="zh-CN" sz="1400" dirty="0"/>
                    <a:t>DMAR?</a:t>
                  </a:r>
                </a:p>
              </p:txBody>
            </p:sp>
          </p:grpSp>
          <p:grpSp>
            <p:nvGrpSpPr>
              <p:cNvPr id="79942" name="Group 107"/>
              <p:cNvGrpSpPr>
                <a:grpSpLocks/>
              </p:cNvGrpSpPr>
              <p:nvPr/>
            </p:nvGrpSpPr>
            <p:grpSpPr bwMode="auto">
              <a:xfrm>
                <a:off x="4728" y="3710"/>
                <a:ext cx="655" cy="114"/>
                <a:chOff x="8096" y="11792"/>
                <a:chExt cx="1260" cy="284"/>
              </a:xfrm>
            </p:grpSpPr>
            <p:sp>
              <p:nvSpPr>
                <p:cNvPr id="79943" name="Text Box 108"/>
                <p:cNvSpPr txBox="1">
                  <a:spLocks noChangeArrowheads="1"/>
                </p:cNvSpPr>
                <p:nvPr/>
              </p:nvSpPr>
              <p:spPr bwMode="auto">
                <a:xfrm>
                  <a:off x="8222" y="11792"/>
                  <a:ext cx="1134" cy="284"/>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1→DMAC</a:t>
                  </a:r>
                </a:p>
              </p:txBody>
            </p:sp>
            <p:sp>
              <p:nvSpPr>
                <p:cNvPr id="79944" name="Line 109"/>
                <p:cNvSpPr>
                  <a:spLocks noChangeShapeType="1"/>
                </p:cNvSpPr>
                <p:nvPr/>
              </p:nvSpPr>
              <p:spPr bwMode="auto">
                <a:xfrm rot="-5400000">
                  <a:off x="8153" y="11901"/>
                  <a:ext cx="0" cy="1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9912" name="Group 111"/>
            <p:cNvGrpSpPr>
              <a:grpSpLocks/>
            </p:cNvGrpSpPr>
            <p:nvPr/>
          </p:nvGrpSpPr>
          <p:grpSpPr bwMode="auto">
            <a:xfrm>
              <a:off x="3789" y="1098"/>
              <a:ext cx="969" cy="237"/>
              <a:chOff x="2594" y="4022"/>
              <a:chExt cx="2436" cy="682"/>
            </a:xfrm>
          </p:grpSpPr>
          <p:sp>
            <p:nvSpPr>
              <p:cNvPr id="79935" name="Line 112"/>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36" name="AutoShape 113"/>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37" name="Text Box 114"/>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OP=CMP?</a:t>
                </a:r>
              </a:p>
            </p:txBody>
          </p:sp>
        </p:grpSp>
        <p:sp>
          <p:nvSpPr>
            <p:cNvPr id="79913" name="Text Box 115"/>
            <p:cNvSpPr txBox="1">
              <a:spLocks noChangeArrowheads="1"/>
            </p:cNvSpPr>
            <p:nvPr/>
          </p:nvSpPr>
          <p:spPr bwMode="auto">
            <a:xfrm>
              <a:off x="3548" y="1111"/>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14" name="Text Box 116"/>
            <p:cNvSpPr txBox="1">
              <a:spLocks noChangeArrowheads="1"/>
            </p:cNvSpPr>
            <p:nvPr/>
          </p:nvSpPr>
          <p:spPr bwMode="auto">
            <a:xfrm>
              <a:off x="3961" y="1312"/>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15" name="Group 117"/>
            <p:cNvGrpSpPr>
              <a:grpSpLocks/>
            </p:cNvGrpSpPr>
            <p:nvPr/>
          </p:nvGrpSpPr>
          <p:grpSpPr bwMode="auto">
            <a:xfrm>
              <a:off x="3790" y="1405"/>
              <a:ext cx="969" cy="237"/>
              <a:chOff x="2594" y="4022"/>
              <a:chExt cx="2436" cy="682"/>
            </a:xfrm>
          </p:grpSpPr>
          <p:sp>
            <p:nvSpPr>
              <p:cNvPr id="79932" name="Line 118"/>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33" name="AutoShape 119"/>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34" name="Text Box 120"/>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OP=TEST?</a:t>
                </a:r>
              </a:p>
            </p:txBody>
          </p:sp>
        </p:grpSp>
        <p:sp>
          <p:nvSpPr>
            <p:cNvPr id="79916" name="Text Box 121"/>
            <p:cNvSpPr txBox="1">
              <a:spLocks noChangeArrowheads="1"/>
            </p:cNvSpPr>
            <p:nvPr/>
          </p:nvSpPr>
          <p:spPr bwMode="auto">
            <a:xfrm>
              <a:off x="3567" y="1400"/>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17" name="Line 126"/>
            <p:cNvSpPr>
              <a:spLocks noChangeShapeType="1"/>
            </p:cNvSpPr>
            <p:nvPr/>
          </p:nvSpPr>
          <p:spPr bwMode="auto">
            <a:xfrm>
              <a:off x="678" y="3072"/>
              <a:ext cx="3606" cy="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9918" name="Text Box 128"/>
            <p:cNvSpPr txBox="1">
              <a:spLocks noChangeArrowheads="1"/>
            </p:cNvSpPr>
            <p:nvPr/>
          </p:nvSpPr>
          <p:spPr bwMode="auto">
            <a:xfrm>
              <a:off x="399" y="2088"/>
              <a:ext cx="33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  T2 </a:t>
              </a:r>
            </a:p>
            <a:p>
              <a:pPr algn="ctr" eaLnBrk="1" hangingPunct="1">
                <a:lnSpc>
                  <a:spcPct val="90000"/>
                </a:lnSpc>
                <a:spcBef>
                  <a:spcPct val="0"/>
                </a:spcBef>
              </a:pPr>
              <a:r>
                <a:rPr lang="en-US" altLang="zh-CN" sz="1400" dirty="0"/>
                <a:t>  T3</a:t>
              </a:r>
              <a:r>
                <a:rPr lang="en-US" altLang="zh-CN" sz="1400" baseline="-25000" dirty="0"/>
                <a:t> </a:t>
              </a:r>
              <a:endParaRPr lang="en-US" altLang="zh-CN" sz="1400" dirty="0"/>
            </a:p>
          </p:txBody>
        </p:sp>
        <p:sp>
          <p:nvSpPr>
            <p:cNvPr id="79919" name="Text Box 130"/>
            <p:cNvSpPr txBox="1">
              <a:spLocks noChangeArrowheads="1"/>
            </p:cNvSpPr>
            <p:nvPr/>
          </p:nvSpPr>
          <p:spPr bwMode="auto">
            <a:xfrm>
              <a:off x="3995" y="3626"/>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grpSp>
          <p:nvGrpSpPr>
            <p:cNvPr id="79920" name="Group 131"/>
            <p:cNvGrpSpPr>
              <a:grpSpLocks/>
            </p:cNvGrpSpPr>
            <p:nvPr/>
          </p:nvGrpSpPr>
          <p:grpSpPr bwMode="auto">
            <a:xfrm>
              <a:off x="2453" y="3519"/>
              <a:ext cx="2118" cy="371"/>
              <a:chOff x="3265" y="3650"/>
              <a:chExt cx="2118" cy="323"/>
            </a:xfrm>
          </p:grpSpPr>
          <p:sp>
            <p:nvSpPr>
              <p:cNvPr id="79922" name="Freeform 132"/>
              <p:cNvSpPr>
                <a:spLocks/>
              </p:cNvSpPr>
              <p:nvPr/>
            </p:nvSpPr>
            <p:spPr bwMode="auto">
              <a:xfrm flipH="1">
                <a:off x="3811" y="3774"/>
                <a:ext cx="1179" cy="124"/>
              </a:xfrm>
              <a:custGeom>
                <a:avLst/>
                <a:gdLst>
                  <a:gd name="T0" fmla="*/ 1959 w 1134"/>
                  <a:gd name="T1" fmla="*/ 0 h 310"/>
                  <a:gd name="T2" fmla="*/ 0 w 1134"/>
                  <a:gd name="T3" fmla="*/ 0 h 310"/>
                  <a:gd name="T4" fmla="*/ 0 w 1134"/>
                  <a:gd name="T5" fmla="*/ 0 h 310"/>
                  <a:gd name="T6" fmla="*/ 1959 w 1134"/>
                  <a:gd name="T7" fmla="*/ 0 h 310"/>
                  <a:gd name="T8" fmla="*/ 0 60000 65536"/>
                  <a:gd name="T9" fmla="*/ 0 60000 65536"/>
                  <a:gd name="T10" fmla="*/ 0 60000 65536"/>
                  <a:gd name="T11" fmla="*/ 0 60000 65536"/>
                  <a:gd name="T12" fmla="*/ 0 w 1134"/>
                  <a:gd name="T13" fmla="*/ 0 h 310"/>
                  <a:gd name="T14" fmla="*/ 1134 w 1134"/>
                  <a:gd name="T15" fmla="*/ 310 h 310"/>
                </a:gdLst>
                <a:ahLst/>
                <a:cxnLst>
                  <a:cxn ang="T8">
                    <a:pos x="T0" y="T1"/>
                  </a:cxn>
                  <a:cxn ang="T9">
                    <a:pos x="T2" y="T3"/>
                  </a:cxn>
                  <a:cxn ang="T10">
                    <a:pos x="T4" y="T5"/>
                  </a:cxn>
                  <a:cxn ang="T11">
                    <a:pos x="T6" y="T7"/>
                  </a:cxn>
                </a:cxnLst>
                <a:rect l="T12" t="T13" r="T14" b="T15"/>
                <a:pathLst>
                  <a:path w="1134" h="310">
                    <a:moveTo>
                      <a:pt x="1134" y="0"/>
                    </a:moveTo>
                    <a:lnTo>
                      <a:pt x="0" y="0"/>
                    </a:lnTo>
                    <a:lnTo>
                      <a:pt x="0" y="310"/>
                    </a:lnTo>
                    <a:lnTo>
                      <a:pt x="1134" y="310"/>
                    </a:ln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923" name="Text Box 133"/>
              <p:cNvSpPr txBox="1">
                <a:spLocks noChangeArrowheads="1"/>
              </p:cNvSpPr>
              <p:nvPr/>
            </p:nvSpPr>
            <p:spPr bwMode="auto">
              <a:xfrm>
                <a:off x="4247" y="3650"/>
                <a:ext cx="30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79924" name="Text Box 134"/>
              <p:cNvSpPr txBox="1">
                <a:spLocks noChangeArrowheads="1"/>
              </p:cNvSpPr>
              <p:nvPr/>
            </p:nvSpPr>
            <p:spPr bwMode="auto">
              <a:xfrm>
                <a:off x="3549" y="3836"/>
                <a:ext cx="21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79925" name="Group 135"/>
              <p:cNvGrpSpPr>
                <a:grpSpLocks/>
              </p:cNvGrpSpPr>
              <p:nvPr/>
            </p:nvGrpSpPr>
            <p:grpSpPr bwMode="auto">
              <a:xfrm>
                <a:off x="3265" y="3650"/>
                <a:ext cx="1091" cy="213"/>
                <a:chOff x="2594" y="4022"/>
                <a:chExt cx="2436" cy="682"/>
              </a:xfrm>
            </p:grpSpPr>
            <p:sp>
              <p:nvSpPr>
                <p:cNvPr id="79929" name="Line 136"/>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30" name="AutoShape 137"/>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79931" name="Text Box 138"/>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zh-CN" altLang="en-US" sz="1400">
                      <a:latin typeface="黑体" pitchFamily="2" charset="-122"/>
                      <a:ea typeface="黑体" pitchFamily="2" charset="-122"/>
                    </a:rPr>
                    <a:t>有</a:t>
                  </a:r>
                  <a:r>
                    <a:rPr lang="en-US" altLang="zh-CN" sz="1400" dirty="0"/>
                    <a:t>INTR?</a:t>
                  </a:r>
                </a:p>
              </p:txBody>
            </p:sp>
          </p:grpSp>
          <p:grpSp>
            <p:nvGrpSpPr>
              <p:cNvPr id="79926" name="Group 139"/>
              <p:cNvGrpSpPr>
                <a:grpSpLocks/>
              </p:cNvGrpSpPr>
              <p:nvPr/>
            </p:nvGrpSpPr>
            <p:grpSpPr bwMode="auto">
              <a:xfrm>
                <a:off x="4728" y="3710"/>
                <a:ext cx="655" cy="114"/>
                <a:chOff x="8096" y="11792"/>
                <a:chExt cx="1260" cy="284"/>
              </a:xfrm>
            </p:grpSpPr>
            <p:sp>
              <p:nvSpPr>
                <p:cNvPr id="79927" name="Text Box 140"/>
                <p:cNvSpPr txBox="1">
                  <a:spLocks noChangeArrowheads="1"/>
                </p:cNvSpPr>
                <p:nvPr/>
              </p:nvSpPr>
              <p:spPr bwMode="auto">
                <a:xfrm>
                  <a:off x="8222" y="11792"/>
                  <a:ext cx="1134" cy="284"/>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1→INTC</a:t>
                  </a:r>
                </a:p>
              </p:txBody>
            </p:sp>
            <p:sp>
              <p:nvSpPr>
                <p:cNvPr id="79928" name="Line 141"/>
                <p:cNvSpPr>
                  <a:spLocks noChangeShapeType="1"/>
                </p:cNvSpPr>
                <p:nvPr/>
              </p:nvSpPr>
              <p:spPr bwMode="auto">
                <a:xfrm rot="-5400000">
                  <a:off x="8153" y="11901"/>
                  <a:ext cx="0" cy="1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9921" name="Text Box 142"/>
            <p:cNvSpPr txBox="1">
              <a:spLocks noChangeArrowheads="1"/>
            </p:cNvSpPr>
            <p:nvPr/>
          </p:nvSpPr>
          <p:spPr bwMode="auto">
            <a:xfrm>
              <a:off x="2067" y="1706"/>
              <a:ext cx="89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en-US" altLang="zh-CN" sz="1400" dirty="0">
                  <a:solidFill>
                    <a:srgbClr val="FF0000"/>
                  </a:solidFill>
                  <a:latin typeface="黑体" pitchFamily="2" charset="-122"/>
                  <a:ea typeface="黑体" pitchFamily="2" charset="-122"/>
                </a:rPr>
                <a:t>Rx</a:t>
              </a:r>
              <a:r>
                <a:rPr lang="zh-CN" altLang="en-US" sz="1400">
                  <a:solidFill>
                    <a:srgbClr val="FF0000"/>
                  </a:solidFill>
                  <a:latin typeface="黑体" pitchFamily="2" charset="-122"/>
                  <a:ea typeface="黑体" pitchFamily="2" charset="-122"/>
                </a:rPr>
                <a:t>为寄存器寻址</a:t>
              </a:r>
              <a:endParaRPr lang="en-US" altLang="zh-CN" sz="1400" dirty="0">
                <a:solidFill>
                  <a:srgbClr val="FF0000"/>
                </a:solidFill>
                <a:latin typeface="黑体" pitchFamily="2" charset="-122"/>
                <a:ea typeface="黑体" pitchFamily="2" charset="-122"/>
              </a:endParaRPr>
            </a:p>
          </p:txBody>
        </p:sp>
      </p:grpSp>
    </p:spTree>
  </p:cSld>
  <p:clrMapOvr>
    <a:masterClrMapping/>
  </p:clrMapOvr>
  <p:transition>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731838" y="477838"/>
            <a:ext cx="25161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zh-CN" altLang="en-US">
                <a:solidFill>
                  <a:srgbClr val="FF0000"/>
                </a:solidFill>
                <a:latin typeface="黑体" pitchFamily="2" charset="-122"/>
                <a:ea typeface="黑体" pitchFamily="2" charset="-122"/>
              </a:rPr>
              <a:t>例</a:t>
            </a:r>
            <a:r>
              <a:rPr lang="en-US" altLang="zh-CN" dirty="0">
                <a:solidFill>
                  <a:srgbClr val="FF0000"/>
                </a:solidFill>
                <a:latin typeface="黑体" pitchFamily="2" charset="-122"/>
                <a:ea typeface="黑体" pitchFamily="2" charset="-122"/>
              </a:rPr>
              <a:t>2.</a:t>
            </a:r>
            <a:r>
              <a:rPr lang="en-US" altLang="zh-CN" dirty="0">
                <a:latin typeface="黑体" pitchFamily="2" charset="-122"/>
                <a:ea typeface="黑体" pitchFamily="2" charset="-122"/>
              </a:rPr>
              <a:t> </a:t>
            </a:r>
            <a:r>
              <a:rPr lang="zh-CN" altLang="en-US">
                <a:latin typeface="黑体" pitchFamily="2" charset="-122"/>
                <a:ea typeface="黑体" pitchFamily="2" charset="-122"/>
              </a:rPr>
              <a:t>传送指令</a:t>
            </a:r>
          </a:p>
          <a:p>
            <a:pPr>
              <a:lnSpc>
                <a:spcPct val="10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MOV AX</a:t>
            </a:r>
            <a:r>
              <a:rPr lang="zh-CN" altLang="en-US">
                <a:latin typeface="黑体" pitchFamily="2" charset="-122"/>
                <a:ea typeface="黑体" pitchFamily="2" charset="-122"/>
              </a:rPr>
              <a:t>，</a:t>
            </a:r>
            <a:r>
              <a:rPr lang="en-US" altLang="zh-CN" dirty="0">
                <a:latin typeface="黑体" pitchFamily="2" charset="-122"/>
                <a:ea typeface="黑体" pitchFamily="2" charset="-122"/>
              </a:rPr>
              <a:t>BX</a:t>
            </a:r>
          </a:p>
        </p:txBody>
      </p:sp>
      <p:sp>
        <p:nvSpPr>
          <p:cNvPr id="80899"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a:solidFill>
                  <a:schemeClr val="bg1"/>
                </a:solidFill>
                <a:latin typeface="宋体" pitchFamily="2" charset="-122"/>
                <a:ea typeface="宋体" pitchFamily="2" charset="-122"/>
              </a:rPr>
              <a:t>对照图</a:t>
            </a:r>
            <a:endParaRPr kumimoji="1" lang="zh-CN" altLang="en-US" sz="1800" u="sng">
              <a:solidFill>
                <a:srgbClr val="008000"/>
              </a:solidFill>
              <a:latin typeface="宋体" pitchFamily="2" charset="-122"/>
              <a:ea typeface="宋体" pitchFamily="2" charset="-122"/>
            </a:endParaRPr>
          </a:p>
        </p:txBody>
      </p:sp>
      <p:grpSp>
        <p:nvGrpSpPr>
          <p:cNvPr id="80900" name="Group 256"/>
          <p:cNvGrpSpPr>
            <a:grpSpLocks/>
          </p:cNvGrpSpPr>
          <p:nvPr/>
        </p:nvGrpSpPr>
        <p:grpSpPr bwMode="auto">
          <a:xfrm>
            <a:off x="1030288" y="1495425"/>
            <a:ext cx="6430962" cy="3629025"/>
            <a:chOff x="649" y="942"/>
            <a:chExt cx="4051" cy="2286"/>
          </a:xfrm>
        </p:grpSpPr>
        <p:sp>
          <p:nvSpPr>
            <p:cNvPr id="80901" name="Freeform 244"/>
            <p:cNvSpPr>
              <a:spLocks/>
            </p:cNvSpPr>
            <p:nvPr/>
          </p:nvSpPr>
          <p:spPr bwMode="auto">
            <a:xfrm>
              <a:off x="1411" y="1301"/>
              <a:ext cx="878" cy="1663"/>
            </a:xfrm>
            <a:custGeom>
              <a:avLst/>
              <a:gdLst>
                <a:gd name="T0" fmla="*/ 2147483647 w 267"/>
                <a:gd name="T1" fmla="*/ 0 h 418"/>
                <a:gd name="T2" fmla="*/ 0 w 267"/>
                <a:gd name="T3" fmla="*/ 0 h 418"/>
                <a:gd name="T4" fmla="*/ 0 w 267"/>
                <a:gd name="T5" fmla="*/ 2147483647 h 418"/>
                <a:gd name="T6" fmla="*/ 0 60000 65536"/>
                <a:gd name="T7" fmla="*/ 0 60000 65536"/>
                <a:gd name="T8" fmla="*/ 0 60000 65536"/>
                <a:gd name="T9" fmla="*/ 0 w 267"/>
                <a:gd name="T10" fmla="*/ 0 h 418"/>
                <a:gd name="T11" fmla="*/ 267 w 267"/>
                <a:gd name="T12" fmla="*/ 418 h 418"/>
              </a:gdLst>
              <a:ahLst/>
              <a:cxnLst>
                <a:cxn ang="T6">
                  <a:pos x="T0" y="T1"/>
                </a:cxn>
                <a:cxn ang="T7">
                  <a:pos x="T2" y="T3"/>
                </a:cxn>
                <a:cxn ang="T8">
                  <a:pos x="T4" y="T5"/>
                </a:cxn>
              </a:cxnLst>
              <a:rect l="T9" t="T10" r="T11" b="T12"/>
              <a:pathLst>
                <a:path w="267" h="418">
                  <a:moveTo>
                    <a:pt x="267" y="0"/>
                  </a:moveTo>
                  <a:lnTo>
                    <a:pt x="0" y="0"/>
                  </a:lnTo>
                  <a:lnTo>
                    <a:pt x="0" y="418"/>
                  </a:lnTo>
                </a:path>
              </a:pathLst>
            </a:custGeom>
            <a:noFill/>
            <a:ln w="19050"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80902" name="Freeform 223"/>
            <p:cNvSpPr>
              <a:spLocks/>
            </p:cNvSpPr>
            <p:nvPr/>
          </p:nvSpPr>
          <p:spPr bwMode="auto">
            <a:xfrm>
              <a:off x="3125" y="1671"/>
              <a:ext cx="1030" cy="1290"/>
            </a:xfrm>
            <a:custGeom>
              <a:avLst/>
              <a:gdLst>
                <a:gd name="T0" fmla="*/ 0 w 521"/>
                <a:gd name="T1" fmla="*/ 0 h 1152"/>
                <a:gd name="T2" fmla="*/ 7257024 w 521"/>
                <a:gd name="T3" fmla="*/ 0 h 1152"/>
                <a:gd name="T4" fmla="*/ 7257024 w 521"/>
                <a:gd name="T5" fmla="*/ 5617 h 1152"/>
                <a:gd name="T6" fmla="*/ 0 60000 65536"/>
                <a:gd name="T7" fmla="*/ 0 60000 65536"/>
                <a:gd name="T8" fmla="*/ 0 60000 65536"/>
                <a:gd name="T9" fmla="*/ 0 w 521"/>
                <a:gd name="T10" fmla="*/ 0 h 1152"/>
                <a:gd name="T11" fmla="*/ 521 w 521"/>
                <a:gd name="T12" fmla="*/ 1152 h 1152"/>
              </a:gdLst>
              <a:ahLst/>
              <a:cxnLst>
                <a:cxn ang="T6">
                  <a:pos x="T0" y="T1"/>
                </a:cxn>
                <a:cxn ang="T7">
                  <a:pos x="T2" y="T3"/>
                </a:cxn>
                <a:cxn ang="T8">
                  <a:pos x="T4" y="T5"/>
                </a:cxn>
              </a:cxnLst>
              <a:rect l="T9" t="T10" r="T11" b="T12"/>
              <a:pathLst>
                <a:path w="521" h="1152">
                  <a:moveTo>
                    <a:pt x="0" y="0"/>
                  </a:moveTo>
                  <a:lnTo>
                    <a:pt x="521" y="0"/>
                  </a:lnTo>
                  <a:lnTo>
                    <a:pt x="521" y="1152"/>
                  </a:lnTo>
                </a:path>
              </a:pathLst>
            </a:custGeom>
            <a:noFill/>
            <a:ln w="19050"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80903" name="Line 11"/>
            <p:cNvSpPr>
              <a:spLocks noChangeShapeType="1"/>
            </p:cNvSpPr>
            <p:nvPr/>
          </p:nvSpPr>
          <p:spPr bwMode="auto">
            <a:xfrm>
              <a:off x="2684" y="2942"/>
              <a:ext cx="5" cy="15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4" name="Line 21"/>
            <p:cNvSpPr>
              <a:spLocks noChangeShapeType="1"/>
            </p:cNvSpPr>
            <p:nvPr/>
          </p:nvSpPr>
          <p:spPr bwMode="auto">
            <a:xfrm>
              <a:off x="2680" y="1029"/>
              <a:ext cx="7" cy="1911"/>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5" name="AutoShape 22"/>
            <p:cNvSpPr>
              <a:spLocks noChangeArrowheads="1"/>
            </p:cNvSpPr>
            <p:nvPr/>
          </p:nvSpPr>
          <p:spPr bwMode="auto">
            <a:xfrm>
              <a:off x="2321" y="942"/>
              <a:ext cx="704" cy="159"/>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400" dirty="0"/>
                <a:t>MOV EXEC</a:t>
              </a:r>
            </a:p>
          </p:txBody>
        </p:sp>
        <p:grpSp>
          <p:nvGrpSpPr>
            <p:cNvPr id="80906" name="Group 23"/>
            <p:cNvGrpSpPr>
              <a:grpSpLocks/>
            </p:cNvGrpSpPr>
            <p:nvPr/>
          </p:nvGrpSpPr>
          <p:grpSpPr bwMode="auto">
            <a:xfrm>
              <a:off x="2195" y="1168"/>
              <a:ext cx="969" cy="237"/>
              <a:chOff x="2594" y="4022"/>
              <a:chExt cx="2436" cy="682"/>
            </a:xfrm>
          </p:grpSpPr>
          <p:sp>
            <p:nvSpPr>
              <p:cNvPr id="80945" name="Line 24"/>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46" name="AutoShape 25"/>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80947" name="Text Box 26"/>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IR</a:t>
                </a:r>
                <a:r>
                  <a:rPr lang="en-US" altLang="zh-CN" sz="1000" dirty="0"/>
                  <a:t>7</a:t>
                </a:r>
                <a:r>
                  <a:rPr lang="en-US" altLang="zh-CN" sz="1400" dirty="0"/>
                  <a:t>=0?</a:t>
                </a:r>
              </a:p>
            </p:txBody>
          </p:sp>
        </p:grpSp>
        <p:sp>
          <p:nvSpPr>
            <p:cNvPr id="80907" name="Text Box 43"/>
            <p:cNvSpPr txBox="1">
              <a:spLocks noChangeArrowheads="1"/>
            </p:cNvSpPr>
            <p:nvPr/>
          </p:nvSpPr>
          <p:spPr bwMode="auto">
            <a:xfrm>
              <a:off x="2789" y="1415"/>
              <a:ext cx="79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en-US" altLang="zh-CN" sz="1400" dirty="0">
                  <a:solidFill>
                    <a:srgbClr val="FF0000"/>
                  </a:solidFill>
                  <a:latin typeface="黑体" pitchFamily="2" charset="-122"/>
                  <a:ea typeface="黑体" pitchFamily="2" charset="-122"/>
                </a:rPr>
                <a:t>Ry</a:t>
              </a:r>
              <a:r>
                <a:rPr lang="zh-CN" altLang="en-US" sz="1400" dirty="0">
                  <a:solidFill>
                    <a:srgbClr val="FF0000"/>
                  </a:solidFill>
                  <a:latin typeface="黑体" pitchFamily="2" charset="-122"/>
                  <a:ea typeface="黑体" pitchFamily="2" charset="-122"/>
                </a:rPr>
                <a:t>为源寄存器</a:t>
              </a:r>
              <a:endParaRPr lang="en-US" altLang="zh-CN" sz="1400" dirty="0">
                <a:solidFill>
                  <a:srgbClr val="FF0000"/>
                </a:solidFill>
                <a:latin typeface="黑体" pitchFamily="2" charset="-122"/>
                <a:ea typeface="黑体" pitchFamily="2" charset="-122"/>
              </a:endParaRPr>
            </a:p>
          </p:txBody>
        </p:sp>
        <p:sp>
          <p:nvSpPr>
            <p:cNvPr id="80908" name="Text Box 44"/>
            <p:cNvSpPr txBox="1">
              <a:spLocks noChangeArrowheads="1"/>
            </p:cNvSpPr>
            <p:nvPr/>
          </p:nvSpPr>
          <p:spPr bwMode="auto">
            <a:xfrm>
              <a:off x="3230" y="1925"/>
              <a:ext cx="33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  T0 </a:t>
              </a:r>
            </a:p>
            <a:p>
              <a:pPr algn="ctr" eaLnBrk="1" hangingPunct="1">
                <a:lnSpc>
                  <a:spcPct val="90000"/>
                </a:lnSpc>
                <a:spcBef>
                  <a:spcPct val="0"/>
                </a:spcBef>
              </a:pPr>
              <a:r>
                <a:rPr lang="en-US" altLang="zh-CN" sz="1400" dirty="0"/>
                <a:t>  T1</a:t>
              </a:r>
              <a:r>
                <a:rPr lang="en-US" altLang="zh-CN" sz="1400" baseline="-25000" dirty="0"/>
                <a:t> </a:t>
              </a:r>
              <a:endParaRPr lang="en-US" altLang="zh-CN" sz="1400" dirty="0"/>
            </a:p>
          </p:txBody>
        </p:sp>
        <p:sp>
          <p:nvSpPr>
            <p:cNvPr id="80909" name="Text Box 75"/>
            <p:cNvSpPr txBox="1">
              <a:spLocks noChangeArrowheads="1"/>
            </p:cNvSpPr>
            <p:nvPr/>
          </p:nvSpPr>
          <p:spPr bwMode="auto">
            <a:xfrm>
              <a:off x="1952" y="1932"/>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T0</a:t>
              </a:r>
            </a:p>
          </p:txBody>
        </p:sp>
        <p:sp>
          <p:nvSpPr>
            <p:cNvPr id="80910" name="Line 140"/>
            <p:cNvSpPr>
              <a:spLocks noChangeShapeType="1"/>
            </p:cNvSpPr>
            <p:nvPr/>
          </p:nvSpPr>
          <p:spPr bwMode="auto">
            <a:xfrm>
              <a:off x="1392" y="2954"/>
              <a:ext cx="2768" cy="0"/>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Text Box 167"/>
            <p:cNvSpPr txBox="1">
              <a:spLocks noChangeArrowheads="1"/>
            </p:cNvSpPr>
            <p:nvPr/>
          </p:nvSpPr>
          <p:spPr bwMode="auto">
            <a:xfrm>
              <a:off x="3477" y="2329"/>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80912" name="Text Box 168"/>
            <p:cNvSpPr txBox="1">
              <a:spLocks noChangeArrowheads="1"/>
            </p:cNvSpPr>
            <p:nvPr/>
          </p:nvSpPr>
          <p:spPr bwMode="auto">
            <a:xfrm>
              <a:off x="3885" y="2537"/>
              <a:ext cx="2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grpSp>
          <p:nvGrpSpPr>
            <p:cNvPr id="80913" name="Group 169"/>
            <p:cNvGrpSpPr>
              <a:grpSpLocks/>
            </p:cNvGrpSpPr>
            <p:nvPr/>
          </p:nvGrpSpPr>
          <p:grpSpPr bwMode="auto">
            <a:xfrm>
              <a:off x="3671" y="2293"/>
              <a:ext cx="969" cy="239"/>
              <a:chOff x="2594" y="4022"/>
              <a:chExt cx="2436" cy="682"/>
            </a:xfrm>
          </p:grpSpPr>
          <p:sp>
            <p:nvSpPr>
              <p:cNvPr id="80942" name="Line 170"/>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43" name="AutoShape 171"/>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80944" name="Text Box 17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Ready=1?</a:t>
                </a:r>
              </a:p>
            </p:txBody>
          </p:sp>
        </p:grpSp>
        <p:grpSp>
          <p:nvGrpSpPr>
            <p:cNvPr id="80914" name="Group 173"/>
            <p:cNvGrpSpPr>
              <a:grpSpLocks/>
            </p:cNvGrpSpPr>
            <p:nvPr/>
          </p:nvGrpSpPr>
          <p:grpSpPr bwMode="auto">
            <a:xfrm>
              <a:off x="3942" y="2645"/>
              <a:ext cx="427" cy="177"/>
              <a:chOff x="4358" y="4270"/>
              <a:chExt cx="2436" cy="434"/>
            </a:xfrm>
          </p:grpSpPr>
          <p:sp>
            <p:nvSpPr>
              <p:cNvPr id="80940" name="Text Box 174"/>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WAIT</a:t>
                </a:r>
              </a:p>
            </p:txBody>
          </p:sp>
          <p:sp>
            <p:nvSpPr>
              <p:cNvPr id="80941" name="Line 175"/>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0915" name="Text Box 176"/>
            <p:cNvSpPr txBox="1">
              <a:spLocks noChangeArrowheads="1"/>
            </p:cNvSpPr>
            <p:nvPr/>
          </p:nvSpPr>
          <p:spPr bwMode="auto">
            <a:xfrm>
              <a:off x="3679" y="2700"/>
              <a:ext cx="2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Tw</a:t>
              </a:r>
            </a:p>
          </p:txBody>
        </p:sp>
        <p:sp>
          <p:nvSpPr>
            <p:cNvPr id="80916" name="Text Box 180"/>
            <p:cNvSpPr txBox="1">
              <a:spLocks noChangeArrowheads="1"/>
            </p:cNvSpPr>
            <p:nvPr/>
          </p:nvSpPr>
          <p:spPr bwMode="auto">
            <a:xfrm>
              <a:off x="1166" y="1145"/>
              <a:ext cx="8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solidFill>
                    <a:srgbClr val="FF0000"/>
                  </a:solidFill>
                  <a:latin typeface="黑体" pitchFamily="2" charset="-122"/>
                  <a:ea typeface="黑体" pitchFamily="2" charset="-122"/>
                </a:rPr>
                <a:t>Ry</a:t>
              </a:r>
              <a:r>
                <a:rPr lang="zh-CN" altLang="en-US" sz="1400" dirty="0">
                  <a:solidFill>
                    <a:srgbClr val="FF0000"/>
                  </a:solidFill>
                  <a:latin typeface="黑体" pitchFamily="2" charset="-122"/>
                  <a:ea typeface="黑体" pitchFamily="2" charset="-122"/>
                </a:rPr>
                <a:t>为目的寄存器</a:t>
              </a:r>
              <a:endParaRPr lang="zh-CN" altLang="en-US" sz="1400" dirty="0">
                <a:latin typeface="黑体" pitchFamily="2" charset="-122"/>
                <a:ea typeface="黑体" pitchFamily="2" charset="-122"/>
              </a:endParaRPr>
            </a:p>
          </p:txBody>
        </p:sp>
        <p:sp>
          <p:nvSpPr>
            <p:cNvPr id="80917" name="Text Box 185"/>
            <p:cNvSpPr txBox="1">
              <a:spLocks noChangeArrowheads="1"/>
            </p:cNvSpPr>
            <p:nvPr/>
          </p:nvSpPr>
          <p:spPr bwMode="auto">
            <a:xfrm>
              <a:off x="2062" y="1153"/>
              <a:ext cx="27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sp>
          <p:nvSpPr>
            <p:cNvPr id="80918" name="Text Box 186"/>
            <p:cNvSpPr txBox="1">
              <a:spLocks noChangeArrowheads="1"/>
            </p:cNvSpPr>
            <p:nvPr/>
          </p:nvSpPr>
          <p:spPr bwMode="auto">
            <a:xfrm>
              <a:off x="2424" y="1410"/>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80919" name="Freeform 222"/>
            <p:cNvSpPr>
              <a:spLocks/>
            </p:cNvSpPr>
            <p:nvPr/>
          </p:nvSpPr>
          <p:spPr bwMode="auto">
            <a:xfrm>
              <a:off x="3490" y="2435"/>
              <a:ext cx="194" cy="523"/>
            </a:xfrm>
            <a:custGeom>
              <a:avLst/>
              <a:gdLst>
                <a:gd name="T0" fmla="*/ 3 w 267"/>
                <a:gd name="T1" fmla="*/ 0 h 418"/>
                <a:gd name="T2" fmla="*/ 0 w 267"/>
                <a:gd name="T3" fmla="*/ 0 h 418"/>
                <a:gd name="T4" fmla="*/ 0 w 267"/>
                <a:gd name="T5" fmla="*/ 9620 h 418"/>
                <a:gd name="T6" fmla="*/ 0 60000 65536"/>
                <a:gd name="T7" fmla="*/ 0 60000 65536"/>
                <a:gd name="T8" fmla="*/ 0 60000 65536"/>
                <a:gd name="T9" fmla="*/ 0 w 267"/>
                <a:gd name="T10" fmla="*/ 0 h 418"/>
                <a:gd name="T11" fmla="*/ 267 w 267"/>
                <a:gd name="T12" fmla="*/ 418 h 418"/>
              </a:gdLst>
              <a:ahLst/>
              <a:cxnLst>
                <a:cxn ang="T6">
                  <a:pos x="T0" y="T1"/>
                </a:cxn>
                <a:cxn ang="T7">
                  <a:pos x="T2" y="T3"/>
                </a:cxn>
                <a:cxn ang="T8">
                  <a:pos x="T4" y="T5"/>
                </a:cxn>
              </a:cxnLst>
              <a:rect l="T9" t="T10" r="T11" b="T12"/>
              <a:pathLst>
                <a:path w="267" h="418">
                  <a:moveTo>
                    <a:pt x="267" y="0"/>
                  </a:moveTo>
                  <a:lnTo>
                    <a:pt x="0" y="0"/>
                  </a:lnTo>
                  <a:lnTo>
                    <a:pt x="0" y="418"/>
                  </a:lnTo>
                </a:path>
              </a:pathLst>
            </a:custGeom>
            <a:noFill/>
            <a:ln w="19050"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nvGrpSpPr>
            <p:cNvPr id="80920" name="Group 71"/>
            <p:cNvGrpSpPr>
              <a:grpSpLocks/>
            </p:cNvGrpSpPr>
            <p:nvPr/>
          </p:nvGrpSpPr>
          <p:grpSpPr bwMode="auto">
            <a:xfrm>
              <a:off x="2193" y="1865"/>
              <a:ext cx="978" cy="227"/>
              <a:chOff x="4358" y="4270"/>
              <a:chExt cx="2436" cy="434"/>
            </a:xfrm>
          </p:grpSpPr>
          <p:sp>
            <p:nvSpPr>
              <p:cNvPr id="80938" name="Text Box 72"/>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Ry→IB,Rxin</a:t>
                </a:r>
              </a:p>
              <a:p>
                <a:pPr eaLnBrk="1" hangingPunct="1">
                  <a:lnSpc>
                    <a:spcPct val="90000"/>
                  </a:lnSpc>
                  <a:spcBef>
                    <a:spcPct val="0"/>
                  </a:spcBef>
                </a:pPr>
                <a:endParaRPr lang="en-US" altLang="zh-CN" sz="1400" dirty="0"/>
              </a:p>
            </p:txBody>
          </p:sp>
          <p:sp>
            <p:nvSpPr>
              <p:cNvPr id="80939" name="Line 73"/>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0921" name="AutoShape 235"/>
            <p:cNvSpPr>
              <a:spLocks noChangeArrowheads="1"/>
            </p:cNvSpPr>
            <p:nvPr/>
          </p:nvSpPr>
          <p:spPr bwMode="auto">
            <a:xfrm>
              <a:off x="2445" y="3100"/>
              <a:ext cx="476" cy="128"/>
            </a:xfrm>
            <a:prstGeom prst="roundRect">
              <a:avLst>
                <a:gd name="adj" fmla="val 43954"/>
              </a:avLst>
            </a:prstGeom>
            <a:solidFill>
              <a:srgbClr val="FFFFFF"/>
            </a:solidFill>
            <a:ln w="19050">
              <a:solidFill>
                <a:srgbClr val="000000"/>
              </a:solidFill>
              <a:round/>
              <a:headEnd/>
              <a:tailEnd/>
            </a:ln>
          </p:spPr>
          <p:txBody>
            <a:bodyPr lIns="0" tIns="0" rIns="0" bIns="0"/>
            <a:lstStyle/>
            <a:p>
              <a:pPr algn="ctr">
                <a:lnSpc>
                  <a:spcPct val="80000"/>
                </a:lnSpc>
                <a:spcBef>
                  <a:spcPct val="0"/>
                </a:spcBef>
              </a:pPr>
              <a:r>
                <a:rPr lang="en-US" altLang="zh-CN" sz="1400" dirty="0"/>
                <a:t>1→FIC</a:t>
              </a:r>
            </a:p>
          </p:txBody>
        </p:sp>
        <p:grpSp>
          <p:nvGrpSpPr>
            <p:cNvPr id="80922" name="Group 243"/>
            <p:cNvGrpSpPr>
              <a:grpSpLocks/>
            </p:cNvGrpSpPr>
            <p:nvPr/>
          </p:nvGrpSpPr>
          <p:grpSpPr bwMode="auto">
            <a:xfrm>
              <a:off x="3585" y="1870"/>
              <a:ext cx="1115" cy="304"/>
              <a:chOff x="3445" y="1336"/>
              <a:chExt cx="1115" cy="304"/>
            </a:xfrm>
          </p:grpSpPr>
          <p:grpSp>
            <p:nvGrpSpPr>
              <p:cNvPr id="80934" name="Group 216"/>
              <p:cNvGrpSpPr>
                <a:grpSpLocks/>
              </p:cNvGrpSpPr>
              <p:nvPr/>
            </p:nvGrpSpPr>
            <p:grpSpPr bwMode="auto">
              <a:xfrm>
                <a:off x="3445" y="1336"/>
                <a:ext cx="1115" cy="304"/>
                <a:chOff x="2048" y="1976"/>
                <a:chExt cx="3150" cy="682"/>
              </a:xfrm>
            </p:grpSpPr>
            <p:sp>
              <p:nvSpPr>
                <p:cNvPr id="80936" name="Text Box 217"/>
                <p:cNvSpPr txBox="1">
                  <a:spLocks noChangeArrowheads="1"/>
                </p:cNvSpPr>
                <p:nvPr/>
              </p:nvSpPr>
              <p:spPr bwMode="auto">
                <a:xfrm>
                  <a:off x="2048" y="2100"/>
                  <a:ext cx="3150" cy="558"/>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Ry→IB, DRin</a:t>
                  </a:r>
                </a:p>
                <a:p>
                  <a:pPr algn="just" eaLnBrk="1" hangingPunct="1">
                    <a:lnSpc>
                      <a:spcPct val="90000"/>
                    </a:lnSpc>
                    <a:spcBef>
                      <a:spcPct val="0"/>
                    </a:spcBef>
                  </a:pPr>
                  <a:r>
                    <a:rPr lang="en-US" altLang="zh-CN" sz="1400" dirty="0"/>
                    <a:t>AR→AB,DR→DB,MMWR</a:t>
                  </a:r>
                </a:p>
              </p:txBody>
            </p:sp>
            <p:sp>
              <p:nvSpPr>
                <p:cNvPr id="80937" name="Line 218"/>
                <p:cNvSpPr>
                  <a:spLocks noChangeShapeType="1"/>
                </p:cNvSpPr>
                <p:nvPr/>
              </p:nvSpPr>
              <p:spPr bwMode="auto">
                <a:xfrm>
                  <a:off x="3644" y="1976"/>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0935" name="Line 237"/>
              <p:cNvSpPr>
                <a:spLocks noChangeShapeType="1"/>
              </p:cNvSpPr>
              <p:nvPr/>
            </p:nvSpPr>
            <p:spPr bwMode="auto">
              <a:xfrm>
                <a:off x="4257" y="1522"/>
                <a:ext cx="22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0923" name="Group 239"/>
            <p:cNvGrpSpPr>
              <a:grpSpLocks/>
            </p:cNvGrpSpPr>
            <p:nvPr/>
          </p:nvGrpSpPr>
          <p:grpSpPr bwMode="auto">
            <a:xfrm>
              <a:off x="2196" y="1535"/>
              <a:ext cx="969" cy="237"/>
              <a:chOff x="2594" y="4022"/>
              <a:chExt cx="2436" cy="682"/>
            </a:xfrm>
          </p:grpSpPr>
          <p:sp>
            <p:nvSpPr>
              <p:cNvPr id="80931" name="Line 240"/>
              <p:cNvSpPr>
                <a:spLocks noChangeShapeType="1"/>
              </p:cNvSpPr>
              <p:nvPr/>
            </p:nvSpPr>
            <p:spPr bwMode="auto">
              <a:xfrm>
                <a:off x="3812" y="4022"/>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32" name="AutoShape 241"/>
              <p:cNvSpPr>
                <a:spLocks noChangeArrowheads="1"/>
              </p:cNvSpPr>
              <p:nvPr/>
            </p:nvSpPr>
            <p:spPr bwMode="auto">
              <a:xfrm>
                <a:off x="2594" y="4146"/>
                <a:ext cx="2394" cy="558"/>
              </a:xfrm>
              <a:prstGeom prst="flowChartDecision">
                <a:avLst/>
              </a:prstGeom>
              <a:solidFill>
                <a:srgbClr val="FFFFFF"/>
              </a:solidFill>
              <a:ln w="19050">
                <a:solidFill>
                  <a:srgbClr val="000000"/>
                </a:solidFill>
                <a:miter lim="800000"/>
                <a:headEnd/>
                <a:tailEnd/>
              </a:ln>
            </p:spPr>
            <p:txBody>
              <a:bodyPr/>
              <a:lstStyle/>
              <a:p>
                <a:endParaRPr lang="zh-CN" altLang="en-US"/>
              </a:p>
            </p:txBody>
          </p:sp>
          <p:sp>
            <p:nvSpPr>
              <p:cNvPr id="80933" name="Text Box 242"/>
              <p:cNvSpPr txBox="1">
                <a:spLocks noChangeArrowheads="1"/>
              </p:cNvSpPr>
              <p:nvPr/>
            </p:nvSpPr>
            <p:spPr bwMode="auto">
              <a:xfrm>
                <a:off x="2594" y="4270"/>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IR</a:t>
                </a:r>
                <a:r>
                  <a:rPr lang="en-US" altLang="zh-CN" sz="1000" dirty="0"/>
                  <a:t>3-2</a:t>
                </a:r>
                <a:r>
                  <a:rPr lang="en-US" altLang="zh-CN" sz="1400" dirty="0"/>
                  <a:t>=00?</a:t>
                </a:r>
              </a:p>
            </p:txBody>
          </p:sp>
        </p:grpSp>
        <p:sp>
          <p:nvSpPr>
            <p:cNvPr id="80924" name="Text Box 245"/>
            <p:cNvSpPr txBox="1">
              <a:spLocks noChangeArrowheads="1"/>
            </p:cNvSpPr>
            <p:nvPr/>
          </p:nvSpPr>
          <p:spPr bwMode="auto">
            <a:xfrm>
              <a:off x="3206" y="1537"/>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N</a:t>
              </a:r>
            </a:p>
          </p:txBody>
        </p:sp>
        <p:sp>
          <p:nvSpPr>
            <p:cNvPr id="80925" name="Text Box 246"/>
            <p:cNvSpPr txBox="1">
              <a:spLocks noChangeArrowheads="1"/>
            </p:cNvSpPr>
            <p:nvPr/>
          </p:nvSpPr>
          <p:spPr bwMode="auto">
            <a:xfrm>
              <a:off x="2678" y="1773"/>
              <a:ext cx="2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Y</a:t>
              </a:r>
            </a:p>
          </p:txBody>
        </p:sp>
        <p:sp>
          <p:nvSpPr>
            <p:cNvPr id="80926" name="Text Box 247"/>
            <p:cNvSpPr txBox="1">
              <a:spLocks noChangeArrowheads="1"/>
            </p:cNvSpPr>
            <p:nvPr/>
          </p:nvSpPr>
          <p:spPr bwMode="auto">
            <a:xfrm>
              <a:off x="3728" y="1500"/>
              <a:ext cx="79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90000"/>
                </a:lnSpc>
                <a:spcBef>
                  <a:spcPct val="0"/>
                </a:spcBef>
              </a:pPr>
              <a:r>
                <a:rPr lang="zh-CN" altLang="en-US" sz="1400">
                  <a:solidFill>
                    <a:srgbClr val="FF0000"/>
                  </a:solidFill>
                  <a:latin typeface="黑体" pitchFamily="2" charset="-122"/>
                  <a:ea typeface="黑体" pitchFamily="2" charset="-122"/>
                </a:rPr>
                <a:t>内存寻址</a:t>
              </a:r>
              <a:endParaRPr lang="en-US" altLang="zh-CN" sz="1400" dirty="0">
                <a:solidFill>
                  <a:srgbClr val="FF0000"/>
                </a:solidFill>
                <a:latin typeface="黑体" pitchFamily="2" charset="-122"/>
                <a:ea typeface="黑体" pitchFamily="2" charset="-122"/>
              </a:endParaRPr>
            </a:p>
          </p:txBody>
        </p:sp>
        <p:sp>
          <p:nvSpPr>
            <p:cNvPr id="80927" name="Text Box 249"/>
            <p:cNvSpPr txBox="1">
              <a:spLocks noChangeArrowheads="1"/>
            </p:cNvSpPr>
            <p:nvPr/>
          </p:nvSpPr>
          <p:spPr bwMode="auto">
            <a:xfrm>
              <a:off x="649" y="1951"/>
              <a:ext cx="2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0000"/>
                </a:lnSpc>
                <a:spcBef>
                  <a:spcPct val="0"/>
                </a:spcBef>
              </a:pPr>
              <a:r>
                <a:rPr lang="en-US" altLang="zh-CN" sz="1400" dirty="0"/>
                <a:t>T0</a:t>
              </a:r>
            </a:p>
          </p:txBody>
        </p:sp>
        <p:grpSp>
          <p:nvGrpSpPr>
            <p:cNvPr id="80928" name="Group 250"/>
            <p:cNvGrpSpPr>
              <a:grpSpLocks/>
            </p:cNvGrpSpPr>
            <p:nvPr/>
          </p:nvGrpSpPr>
          <p:grpSpPr bwMode="auto">
            <a:xfrm>
              <a:off x="926" y="1876"/>
              <a:ext cx="978" cy="227"/>
              <a:chOff x="4358" y="4270"/>
              <a:chExt cx="2436" cy="434"/>
            </a:xfrm>
          </p:grpSpPr>
          <p:sp>
            <p:nvSpPr>
              <p:cNvPr id="80929" name="Text Box 251"/>
              <p:cNvSpPr txBox="1">
                <a:spLocks noChangeArrowheads="1"/>
              </p:cNvSpPr>
              <p:nvPr/>
            </p:nvSpPr>
            <p:spPr bwMode="auto">
              <a:xfrm>
                <a:off x="4358" y="4394"/>
                <a:ext cx="2436" cy="310"/>
              </a:xfrm>
              <a:prstGeom prst="rect">
                <a:avLst/>
              </a:prstGeom>
              <a:solidFill>
                <a:srgbClr val="FFFFFF"/>
              </a:solidFill>
              <a:ln w="19050" algn="ctr">
                <a:solidFill>
                  <a:srgbClr val="000000"/>
                </a:solidFill>
                <a:miter lim="800000"/>
                <a:headEnd/>
                <a:tailEnd/>
              </a:ln>
            </p:spPr>
            <p:txBody>
              <a:bodyPr lIns="3600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en-US" altLang="zh-CN" sz="1400" dirty="0"/>
                  <a:t> DR→IB,Ryin</a:t>
                </a:r>
              </a:p>
              <a:p>
                <a:pPr eaLnBrk="1" hangingPunct="1">
                  <a:lnSpc>
                    <a:spcPct val="90000"/>
                  </a:lnSpc>
                  <a:spcBef>
                    <a:spcPct val="0"/>
                  </a:spcBef>
                </a:pPr>
                <a:endParaRPr lang="en-US" altLang="zh-CN" sz="1400" dirty="0"/>
              </a:p>
            </p:txBody>
          </p:sp>
          <p:sp>
            <p:nvSpPr>
              <p:cNvPr id="80930" name="Line 252"/>
              <p:cNvSpPr>
                <a:spLocks noChangeShapeType="1"/>
              </p:cNvSpPr>
              <p:nvPr/>
            </p:nvSpPr>
            <p:spPr bwMode="auto">
              <a:xfrm>
                <a:off x="5576" y="4270"/>
                <a:ext cx="0" cy="12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666750" y="1333500"/>
            <a:ext cx="84534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nSpc>
                <a:spcPct val="100000"/>
              </a:lnSpc>
              <a:spcBef>
                <a:spcPct val="0"/>
              </a:spcBef>
              <a:spcAft>
                <a:spcPct val="50000"/>
              </a:spcAft>
            </a:pPr>
            <a:r>
              <a:rPr lang="zh-CN" altLang="en-US">
                <a:latin typeface="黑体" pitchFamily="2" charset="-122"/>
                <a:ea typeface="黑体" pitchFamily="2" charset="-122"/>
              </a:rPr>
              <a:t>设计步骤：</a:t>
            </a:r>
          </a:p>
          <a:p>
            <a:pPr>
              <a:lnSpc>
                <a:spcPct val="100000"/>
              </a:lnSpc>
              <a:spcBef>
                <a:spcPct val="0"/>
              </a:spcBef>
            </a:pPr>
            <a:r>
              <a:rPr lang="zh-CN" altLang="en-US">
                <a:latin typeface="黑体" pitchFamily="2" charset="-122"/>
                <a:ea typeface="黑体" pitchFamily="2" charset="-122"/>
              </a:rPr>
              <a:t>    ① 用微操作流程表示各指令的机器周期的处理流程。</a:t>
            </a:r>
          </a:p>
        </p:txBody>
      </p:sp>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6.4.4 </a:t>
            </a:r>
            <a:r>
              <a:rPr lang="zh-CN" altLang="en-US">
                <a:solidFill>
                  <a:srgbClr val="990000"/>
                </a:solidFill>
                <a:latin typeface="黑体" pitchFamily="2" charset="-122"/>
                <a:ea typeface="黑体" pitchFamily="2" charset="-122"/>
              </a:rPr>
              <a:t>组合逻辑控制器的设计</a:t>
            </a:r>
          </a:p>
        </p:txBody>
      </p:sp>
      <p:sp>
        <p:nvSpPr>
          <p:cNvPr id="70661" name="Rectangle 5"/>
          <p:cNvSpPr>
            <a:spLocks noChangeArrowheads="1"/>
          </p:cNvSpPr>
          <p:nvPr/>
        </p:nvSpPr>
        <p:spPr bwMode="auto">
          <a:xfrm>
            <a:off x="685800" y="3309938"/>
            <a:ext cx="8458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00000"/>
              </a:lnSpc>
              <a:spcBef>
                <a:spcPct val="0"/>
              </a:spcBef>
            </a:pPr>
            <a:r>
              <a:rPr lang="en-US" altLang="zh-CN" dirty="0">
                <a:latin typeface="黑体" pitchFamily="2" charset="-122"/>
                <a:ea typeface="黑体" pitchFamily="2" charset="-122"/>
              </a:rPr>
              <a:t>    ③ </a:t>
            </a:r>
            <a:r>
              <a:rPr lang="zh-CN" altLang="en-US">
                <a:latin typeface="黑体" pitchFamily="2" charset="-122"/>
                <a:ea typeface="黑体" pitchFamily="2" charset="-122"/>
              </a:rPr>
              <a:t>在所有指令流程中，找出每一个微操作出现的条件，写出逻辑表达式。</a:t>
            </a:r>
            <a:r>
              <a:rPr lang="zh-CN" altLang="en-US" sz="1800" b="0">
                <a:solidFill>
                  <a:schemeClr val="tx1"/>
                </a:solidFill>
                <a:latin typeface="黑体" pitchFamily="2" charset="-122"/>
                <a:ea typeface="黑体" pitchFamily="2" charset="-122"/>
              </a:rPr>
              <a:t> </a:t>
            </a:r>
          </a:p>
        </p:txBody>
      </p:sp>
      <p:sp>
        <p:nvSpPr>
          <p:cNvPr id="70662" name="Rectangle 6"/>
          <p:cNvSpPr>
            <a:spLocks noChangeArrowheads="1"/>
          </p:cNvSpPr>
          <p:nvPr/>
        </p:nvSpPr>
        <p:spPr bwMode="auto">
          <a:xfrm>
            <a:off x="838200" y="4229100"/>
            <a:ext cx="4897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r>
              <a:rPr lang="en-US" altLang="zh-CN" dirty="0">
                <a:latin typeface="黑体" pitchFamily="2" charset="-122"/>
                <a:ea typeface="黑体" pitchFamily="2" charset="-122"/>
              </a:rPr>
              <a:t>   ④ </a:t>
            </a:r>
            <a:r>
              <a:rPr lang="zh-CN" altLang="en-US">
                <a:latin typeface="黑体" pitchFamily="2" charset="-122"/>
                <a:ea typeface="黑体" pitchFamily="2" charset="-122"/>
              </a:rPr>
              <a:t>按逻辑表达式构造硬件电路</a:t>
            </a:r>
            <a:r>
              <a:rPr lang="zh-CN" altLang="en-US" sz="1800" b="0">
                <a:solidFill>
                  <a:schemeClr val="tx1"/>
                </a:solidFill>
                <a:latin typeface="黑体" pitchFamily="2" charset="-122"/>
                <a:ea typeface="黑体" pitchFamily="2" charset="-122"/>
              </a:rPr>
              <a:t> </a:t>
            </a:r>
          </a:p>
        </p:txBody>
      </p:sp>
      <p:sp>
        <p:nvSpPr>
          <p:cNvPr id="70663" name="Rectangle 7"/>
          <p:cNvSpPr>
            <a:spLocks noChangeArrowheads="1"/>
          </p:cNvSpPr>
          <p:nvPr/>
        </p:nvSpPr>
        <p:spPr bwMode="auto">
          <a:xfrm>
            <a:off x="685800" y="2400300"/>
            <a:ext cx="7848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latin typeface="黑体" pitchFamily="2" charset="-122"/>
                <a:ea typeface="黑体" pitchFamily="2" charset="-122"/>
              </a:rPr>
              <a:t>    ② </a:t>
            </a:r>
            <a:r>
              <a:rPr lang="zh-CN" altLang="en-US">
                <a:latin typeface="黑体" pitchFamily="2" charset="-122"/>
                <a:ea typeface="黑体" pitchFamily="2" charset="-122"/>
              </a:rPr>
              <a:t>对指令流程中各微操作分配操作时间（确定机器周期，节拍周期或节拍脉冲）。</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Effect transition="in" filter="wipe(up)">
                                      <p:cBhvr>
                                        <p:cTn id="7" dur="500"/>
                                        <p:tgtEl>
                                          <p:spTgt spid="706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wipe(up)">
                                      <p:cBhvr>
                                        <p:cTn id="12" dur="500"/>
                                        <p:tgtEl>
                                          <p:spTgt spid="706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wipe(up)">
                                      <p:cBhvr>
                                        <p:cTn id="17" dur="500"/>
                                        <p:tgtEl>
                                          <p:spTgt spid="70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P spid="70662" grpId="0"/>
      <p:bldP spid="7066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9"/>
          <p:cNvSpPr>
            <a:spLocks noChangeArrowheads="1"/>
          </p:cNvSpPr>
          <p:nvPr/>
        </p:nvSpPr>
        <p:spPr bwMode="auto">
          <a:xfrm>
            <a:off x="792163" y="1117600"/>
            <a:ext cx="8351837"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0000"/>
              </a:lnSpc>
              <a:spcBef>
                <a:spcPct val="0"/>
              </a:spcBef>
            </a:pPr>
            <a:r>
              <a:rPr lang="zh-CN" altLang="en-US" sz="2200" dirty="0">
                <a:latin typeface="黑体" pitchFamily="2" charset="-122"/>
                <a:ea typeface="黑体" pitchFamily="2" charset="-122"/>
              </a:rPr>
              <a:t>例如：</a:t>
            </a:r>
          </a:p>
          <a:p>
            <a:pPr>
              <a:lnSpc>
                <a:spcPct val="50000"/>
              </a:lnSpc>
              <a:spcBef>
                <a:spcPct val="0"/>
              </a:spcBef>
            </a:pPr>
            <a:endParaRPr lang="zh-CN" altLang="en-US" sz="2200" dirty="0">
              <a:latin typeface="黑体" pitchFamily="2" charset="-122"/>
              <a:ea typeface="黑体" pitchFamily="2" charset="-122"/>
            </a:endParaRPr>
          </a:p>
          <a:p>
            <a:pPr>
              <a:lnSpc>
                <a:spcPct val="110000"/>
              </a:lnSpc>
              <a:spcBef>
                <a:spcPct val="0"/>
              </a:spcBef>
            </a:pPr>
            <a:r>
              <a:rPr lang="zh-CN" altLang="en-US" sz="2200" dirty="0">
                <a:latin typeface="黑体" pitchFamily="2" charset="-122"/>
                <a:ea typeface="黑体" pitchFamily="2" charset="-122"/>
              </a:rPr>
              <a:t> </a:t>
            </a:r>
            <a:r>
              <a:rPr lang="zh-CN" altLang="en-US" sz="2200" dirty="0">
                <a:latin typeface="宋体" pitchFamily="2" charset="-122"/>
                <a:ea typeface="黑体" pitchFamily="2" charset="-122"/>
              </a:rPr>
              <a:t>“</a:t>
            </a:r>
            <a:r>
              <a:rPr lang="en-US" altLang="zh-CN" sz="2200" dirty="0">
                <a:solidFill>
                  <a:srgbClr val="FF0000"/>
                </a:solidFill>
                <a:latin typeface="黑体" pitchFamily="2" charset="-122"/>
                <a:ea typeface="黑体" pitchFamily="2" charset="-122"/>
              </a:rPr>
              <a:t>PC→IB</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 FIC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T</a:t>
            </a:r>
            <a:r>
              <a:rPr lang="en-US" altLang="zh-CN" sz="1800" dirty="0">
                <a:latin typeface="黑体" pitchFamily="2" charset="-122"/>
                <a:ea typeface="黑体" pitchFamily="2" charset="-122"/>
              </a:rPr>
              <a:t>0</a:t>
            </a:r>
            <a:r>
              <a:rPr lang="en-US" altLang="zh-CN" sz="2200" dirty="0">
                <a:latin typeface="黑体" pitchFamily="2" charset="-122"/>
                <a:ea typeface="黑体" pitchFamily="2" charset="-122"/>
              </a:rPr>
              <a:t>                       </a:t>
            </a:r>
            <a:r>
              <a:rPr lang="zh-CN" altLang="en-US" sz="2200" dirty="0">
                <a:solidFill>
                  <a:srgbClr val="339933"/>
                </a:solidFill>
                <a:latin typeface="黑体" pitchFamily="2" charset="-122"/>
                <a:ea typeface="黑体" pitchFamily="2" charset="-122"/>
              </a:rPr>
              <a:t>（取指周期）</a:t>
            </a:r>
          </a:p>
          <a:p>
            <a:pPr>
              <a:lnSpc>
                <a:spcPct val="110000"/>
              </a:lnSpc>
              <a:spcBef>
                <a:spcPct val="0"/>
              </a:spcBef>
            </a:pPr>
            <a:r>
              <a:rPr lang="zh-CN" altLang="en-US" sz="2200" dirty="0">
                <a:latin typeface="黑体" pitchFamily="2" charset="-122"/>
                <a:ea typeface="黑体" pitchFamily="2" charset="-122"/>
              </a:rPr>
              <a:t>           </a:t>
            </a:r>
            <a:r>
              <a:rPr lang="en-US" altLang="zh-CN" sz="2200" dirty="0">
                <a:latin typeface="黑体" pitchFamily="2" charset="-122"/>
                <a:ea typeface="黑体" pitchFamily="2" charset="-122"/>
              </a:rPr>
              <a:t>+ FDC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3</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T</a:t>
            </a:r>
            <a:r>
              <a:rPr lang="en-US" altLang="zh-CN" sz="1800" dirty="0">
                <a:latin typeface="黑体" pitchFamily="2" charset="-122"/>
                <a:ea typeface="黑体" pitchFamily="2" charset="-122"/>
              </a:rPr>
              <a:t>0</a:t>
            </a:r>
            <a:endParaRPr lang="en-US" altLang="zh-CN" sz="2200" dirty="0">
              <a:latin typeface="黑体" pitchFamily="2" charset="-122"/>
              <a:ea typeface="黑体" pitchFamily="2" charset="-122"/>
            </a:endParaRPr>
          </a:p>
          <a:p>
            <a:pPr>
              <a:lnSpc>
                <a:spcPct val="110000"/>
              </a:lnSpc>
              <a:spcBef>
                <a:spcPct val="0"/>
              </a:spcBef>
            </a:pPr>
            <a:r>
              <a:rPr lang="en-US" altLang="zh-CN" sz="2200" dirty="0">
                <a:latin typeface="黑体" pitchFamily="2" charset="-122"/>
                <a:ea typeface="黑体" pitchFamily="2" charset="-122"/>
              </a:rPr>
              <a:t>           + FDC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3</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2</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1</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0</a:t>
            </a:r>
            <a:r>
              <a:rPr lang="en-US" altLang="zh-CN" sz="2200" dirty="0">
                <a:latin typeface="黑体" pitchFamily="2" charset="-122"/>
                <a:ea typeface="黑体" pitchFamily="2" charset="-122"/>
              </a:rPr>
              <a:t>)</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T</a:t>
            </a:r>
            <a:r>
              <a:rPr lang="en-US" altLang="zh-CN" sz="1800" dirty="0">
                <a:latin typeface="黑体" pitchFamily="2" charset="-122"/>
                <a:ea typeface="黑体" pitchFamily="2" charset="-122"/>
              </a:rPr>
              <a:t>3</a:t>
            </a:r>
            <a:r>
              <a:rPr lang="zh-CN" altLang="en-US" sz="2200" dirty="0">
                <a:solidFill>
                  <a:srgbClr val="339933"/>
                </a:solidFill>
                <a:latin typeface="黑体" pitchFamily="2" charset="-122"/>
                <a:ea typeface="黑体" pitchFamily="2" charset="-122"/>
              </a:rPr>
              <a:t>（取数周期）</a:t>
            </a:r>
          </a:p>
          <a:p>
            <a:pPr>
              <a:lnSpc>
                <a:spcPct val="110000"/>
              </a:lnSpc>
              <a:spcBef>
                <a:spcPct val="0"/>
              </a:spcBef>
            </a:pPr>
            <a:r>
              <a:rPr lang="zh-CN" altLang="en-US" sz="2200" dirty="0">
                <a:latin typeface="黑体" pitchFamily="2" charset="-122"/>
                <a:ea typeface="黑体" pitchFamily="2" charset="-122"/>
              </a:rPr>
              <a:t>           </a:t>
            </a:r>
            <a:r>
              <a:rPr lang="en-US" altLang="zh-CN" sz="2200" dirty="0">
                <a:latin typeface="黑体" pitchFamily="2" charset="-122"/>
                <a:ea typeface="黑体" pitchFamily="2" charset="-122"/>
              </a:rPr>
              <a:t>+ EXEC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15</a:t>
            </a:r>
            <a:r>
              <a:rPr lang="zh-CN" altLang="en-US" sz="1800" dirty="0">
                <a:latin typeface="黑体" pitchFamily="2" charset="-122"/>
                <a:ea typeface="黑体" pitchFamily="2" charset="-122"/>
              </a:rPr>
              <a:t>～</a:t>
            </a:r>
            <a:r>
              <a:rPr lang="en-US" altLang="zh-CN" sz="1800" dirty="0">
                <a:latin typeface="黑体" pitchFamily="2" charset="-122"/>
                <a:ea typeface="黑体" pitchFamily="2" charset="-122"/>
              </a:rPr>
              <a:t>9 </a:t>
            </a:r>
            <a:r>
              <a:rPr lang="en-US" altLang="zh-CN" sz="2200" dirty="0">
                <a:latin typeface="黑体" pitchFamily="2" charset="-122"/>
                <a:ea typeface="黑体" pitchFamily="2" charset="-122"/>
              </a:rPr>
              <a:t>=0000000)</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3</a:t>
            </a:r>
            <a:r>
              <a:rPr lang="zh-CN" altLang="en-US" sz="1800" dirty="0">
                <a:latin typeface="黑体" pitchFamily="2" charset="-122"/>
                <a:ea typeface="黑体" pitchFamily="2" charset="-122"/>
              </a:rPr>
              <a:t>～</a:t>
            </a:r>
            <a:r>
              <a:rPr lang="en-US" altLang="zh-CN" sz="1800" dirty="0">
                <a:latin typeface="黑体" pitchFamily="2" charset="-122"/>
                <a:ea typeface="黑体" pitchFamily="2" charset="-122"/>
              </a:rPr>
              <a:t>0 </a:t>
            </a:r>
            <a:r>
              <a:rPr lang="en-US" altLang="zh-CN" sz="2200" dirty="0">
                <a:latin typeface="黑体" pitchFamily="2" charset="-122"/>
                <a:ea typeface="黑体" pitchFamily="2" charset="-122"/>
              </a:rPr>
              <a:t>=1101)</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T</a:t>
            </a:r>
            <a:r>
              <a:rPr lang="en-US" altLang="zh-CN" sz="1800" dirty="0">
                <a:latin typeface="黑体" pitchFamily="2" charset="-122"/>
                <a:ea typeface="黑体" pitchFamily="2" charset="-122"/>
              </a:rPr>
              <a:t>0</a:t>
            </a:r>
            <a:endParaRPr lang="en-US" altLang="zh-CN" sz="2200" dirty="0">
              <a:latin typeface="黑体" pitchFamily="2" charset="-122"/>
              <a:ea typeface="黑体" pitchFamily="2" charset="-122"/>
            </a:endParaRPr>
          </a:p>
          <a:p>
            <a:pPr>
              <a:lnSpc>
                <a:spcPct val="110000"/>
              </a:lnSpc>
              <a:spcBef>
                <a:spcPct val="0"/>
              </a:spcBef>
            </a:pPr>
            <a:r>
              <a:rPr lang="en-US" altLang="zh-CN" sz="2200" dirty="0">
                <a:latin typeface="黑体" pitchFamily="2" charset="-122"/>
                <a:ea typeface="黑体" pitchFamily="2" charset="-122"/>
              </a:rPr>
              <a:t>                                       </a:t>
            </a:r>
            <a:r>
              <a:rPr lang="zh-CN" altLang="en-US" sz="2200" dirty="0">
                <a:solidFill>
                  <a:srgbClr val="339933"/>
                </a:solidFill>
                <a:latin typeface="黑体" pitchFamily="2" charset="-122"/>
                <a:ea typeface="黑体" pitchFamily="2" charset="-122"/>
              </a:rPr>
              <a:t>（执行转移指令）</a:t>
            </a:r>
          </a:p>
          <a:p>
            <a:pPr>
              <a:lnSpc>
                <a:spcPct val="110000"/>
              </a:lnSpc>
              <a:spcBef>
                <a:spcPct val="0"/>
              </a:spcBef>
            </a:pPr>
            <a:r>
              <a:rPr lang="zh-CN" altLang="en-US" sz="2200" dirty="0">
                <a:latin typeface="黑体" pitchFamily="2" charset="-122"/>
                <a:ea typeface="黑体" pitchFamily="2" charset="-122"/>
              </a:rPr>
              <a:t>           </a:t>
            </a:r>
            <a:r>
              <a:rPr lang="en-US" altLang="zh-CN" sz="2200" dirty="0">
                <a:latin typeface="黑体" pitchFamily="2" charset="-122"/>
                <a:ea typeface="黑体" pitchFamily="2" charset="-122"/>
              </a:rPr>
              <a:t>+ EXEC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 ...</a:t>
            </a:r>
          </a:p>
          <a:p>
            <a:pPr>
              <a:lnSpc>
                <a:spcPct val="110000"/>
              </a:lnSpc>
              <a:spcBef>
                <a:spcPct val="0"/>
              </a:spcBef>
            </a:pPr>
            <a:r>
              <a:rPr lang="en-US" altLang="zh-CN" sz="2200" dirty="0">
                <a:latin typeface="黑体" pitchFamily="2" charset="-122"/>
                <a:ea typeface="黑体" pitchFamily="2" charset="-122"/>
              </a:rPr>
              <a:t>           + ......</a:t>
            </a:r>
          </a:p>
          <a:p>
            <a:pPr>
              <a:lnSpc>
                <a:spcPct val="110000"/>
              </a:lnSpc>
              <a:spcBef>
                <a:spcPct val="0"/>
              </a:spcBef>
            </a:pPr>
            <a:r>
              <a:rPr lang="en-US" altLang="zh-CN" sz="2200" dirty="0">
                <a:latin typeface="黑体" pitchFamily="2" charset="-122"/>
                <a:ea typeface="黑体" pitchFamily="2" charset="-122"/>
              </a:rPr>
              <a:t> </a:t>
            </a:r>
            <a:r>
              <a:rPr lang="en-US" altLang="zh-CN" sz="2200" dirty="0">
                <a:latin typeface="宋体" pitchFamily="2" charset="-122"/>
                <a:ea typeface="黑体" pitchFamily="2" charset="-122"/>
              </a:rPr>
              <a:t>“</a:t>
            </a:r>
            <a:r>
              <a:rPr lang="en-US" altLang="zh-CN" sz="2200" dirty="0">
                <a:solidFill>
                  <a:srgbClr val="FF0000"/>
                </a:solidFill>
                <a:latin typeface="黑体" pitchFamily="2" charset="-122"/>
                <a:ea typeface="黑体" pitchFamily="2" charset="-122"/>
              </a:rPr>
              <a:t>ARin</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   FIC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P</a:t>
            </a:r>
            <a:r>
              <a:rPr lang="en-US" altLang="zh-CN" sz="1800" dirty="0">
                <a:latin typeface="黑体" pitchFamily="2" charset="-122"/>
                <a:ea typeface="黑体" pitchFamily="2" charset="-122"/>
              </a:rPr>
              <a:t>0</a:t>
            </a:r>
            <a:r>
              <a:rPr lang="en-US" altLang="zh-CN" sz="2200" dirty="0">
                <a:latin typeface="黑体" pitchFamily="2" charset="-122"/>
                <a:ea typeface="黑体" pitchFamily="2" charset="-122"/>
              </a:rPr>
              <a:t>              </a:t>
            </a:r>
            <a:r>
              <a:rPr lang="zh-CN" altLang="en-US" sz="2200" dirty="0">
                <a:solidFill>
                  <a:srgbClr val="339933"/>
                </a:solidFill>
                <a:latin typeface="黑体" pitchFamily="2" charset="-122"/>
                <a:ea typeface="黑体" pitchFamily="2" charset="-122"/>
              </a:rPr>
              <a:t>（取指周期）</a:t>
            </a:r>
          </a:p>
          <a:p>
            <a:pPr>
              <a:lnSpc>
                <a:spcPct val="110000"/>
              </a:lnSpc>
              <a:spcBef>
                <a:spcPct val="0"/>
              </a:spcBef>
            </a:pPr>
            <a:r>
              <a:rPr lang="zh-CN" altLang="en-US" sz="2200" dirty="0">
                <a:latin typeface="黑体" pitchFamily="2" charset="-122"/>
                <a:ea typeface="黑体" pitchFamily="2" charset="-122"/>
              </a:rPr>
              <a:t>           </a:t>
            </a:r>
            <a:r>
              <a:rPr lang="en-US" altLang="zh-CN" sz="2200" dirty="0">
                <a:latin typeface="黑体" pitchFamily="2" charset="-122"/>
                <a:ea typeface="黑体" pitchFamily="2" charset="-122"/>
              </a:rPr>
              <a:t>+ FDC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3,2 </a:t>
            </a:r>
            <a:r>
              <a:rPr lang="en-US" altLang="zh-CN" sz="2200" dirty="0">
                <a:latin typeface="黑体" pitchFamily="2" charset="-122"/>
                <a:ea typeface="黑体" pitchFamily="2" charset="-122"/>
              </a:rPr>
              <a:t>=01)</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P</a:t>
            </a:r>
            <a:r>
              <a:rPr lang="en-US" altLang="zh-CN" sz="1800" dirty="0">
                <a:latin typeface="黑体" pitchFamily="2" charset="-122"/>
                <a:ea typeface="黑体" pitchFamily="2" charset="-122"/>
              </a:rPr>
              <a:t>0</a:t>
            </a:r>
            <a:r>
              <a:rPr lang="en-US" altLang="zh-CN" sz="2200" dirty="0">
                <a:latin typeface="黑体" pitchFamily="2" charset="-122"/>
                <a:ea typeface="黑体" pitchFamily="2" charset="-122"/>
              </a:rPr>
              <a:t>   </a:t>
            </a:r>
            <a:r>
              <a:rPr lang="zh-CN" altLang="en-US" sz="2200" dirty="0">
                <a:solidFill>
                  <a:srgbClr val="339933"/>
                </a:solidFill>
                <a:latin typeface="黑体" pitchFamily="2" charset="-122"/>
                <a:ea typeface="黑体" pitchFamily="2" charset="-122"/>
              </a:rPr>
              <a:t>（取数周期）</a:t>
            </a:r>
          </a:p>
          <a:p>
            <a:pPr>
              <a:lnSpc>
                <a:spcPct val="110000"/>
              </a:lnSpc>
              <a:spcBef>
                <a:spcPct val="0"/>
              </a:spcBef>
            </a:pPr>
            <a:r>
              <a:rPr lang="zh-CN" altLang="en-US" sz="2200" dirty="0">
                <a:latin typeface="黑体" pitchFamily="2" charset="-122"/>
                <a:ea typeface="黑体" pitchFamily="2" charset="-122"/>
              </a:rPr>
              <a:t>           </a:t>
            </a:r>
            <a:r>
              <a:rPr lang="en-US" altLang="zh-CN" sz="2200" dirty="0">
                <a:latin typeface="黑体" pitchFamily="2" charset="-122"/>
                <a:ea typeface="黑体" pitchFamily="2" charset="-122"/>
              </a:rPr>
              <a:t>+ FDC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3 </a:t>
            </a:r>
            <a:r>
              <a:rPr lang="en-US" altLang="zh-CN" sz="2200" dirty="0">
                <a:latin typeface="黑体" pitchFamily="2" charset="-122"/>
                <a:ea typeface="黑体" pitchFamily="2" charset="-122"/>
              </a:rPr>
              <a:t>=1)</a:t>
            </a:r>
            <a:r>
              <a:rPr lang="en-US" altLang="zh-CN" sz="2200" dirty="0">
                <a:latin typeface="宋体" pitchFamily="2" charset="-122"/>
                <a:ea typeface="黑体" pitchFamily="2" charset="-122"/>
              </a:rPr>
              <a:t> ·</a:t>
            </a:r>
            <a:r>
              <a:rPr lang="en-US" altLang="zh-CN" sz="2200" dirty="0">
                <a:latin typeface="黑体" pitchFamily="2" charset="-122"/>
                <a:ea typeface="黑体" pitchFamily="2" charset="-122"/>
              </a:rPr>
              <a:t>P</a:t>
            </a:r>
            <a:r>
              <a:rPr lang="en-US" altLang="zh-CN" sz="1800" dirty="0">
                <a:latin typeface="黑体" pitchFamily="2" charset="-122"/>
                <a:ea typeface="黑体" pitchFamily="2" charset="-122"/>
              </a:rPr>
              <a:t>0</a:t>
            </a:r>
            <a:endParaRPr lang="en-US" altLang="zh-CN" sz="2200" dirty="0">
              <a:latin typeface="黑体" pitchFamily="2" charset="-122"/>
              <a:ea typeface="黑体" pitchFamily="2" charset="-122"/>
            </a:endParaRPr>
          </a:p>
          <a:p>
            <a:pPr>
              <a:lnSpc>
                <a:spcPct val="110000"/>
              </a:lnSpc>
              <a:spcBef>
                <a:spcPct val="0"/>
              </a:spcBef>
            </a:pPr>
            <a:r>
              <a:rPr lang="en-US" altLang="zh-CN" sz="2200" dirty="0">
                <a:latin typeface="黑体" pitchFamily="2" charset="-122"/>
                <a:ea typeface="黑体" pitchFamily="2" charset="-122"/>
              </a:rPr>
              <a:t>           + FDC</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IR</a:t>
            </a:r>
            <a:r>
              <a:rPr lang="en-US" altLang="zh-CN" sz="1800" dirty="0">
                <a:latin typeface="黑体" pitchFamily="2" charset="-122"/>
                <a:ea typeface="黑体" pitchFamily="2" charset="-122"/>
              </a:rPr>
              <a:t>2,1 </a:t>
            </a:r>
            <a:r>
              <a:rPr lang="en-US" altLang="zh-CN" sz="2200" dirty="0">
                <a:latin typeface="黑体" pitchFamily="2" charset="-122"/>
                <a:ea typeface="黑体" pitchFamily="2" charset="-122"/>
              </a:rPr>
              <a:t>=01)</a:t>
            </a:r>
            <a:r>
              <a:rPr lang="en-US" altLang="zh-CN" sz="2200" dirty="0">
                <a:latin typeface="宋体" pitchFamily="2" charset="-122"/>
                <a:ea typeface="黑体" pitchFamily="2" charset="-122"/>
              </a:rPr>
              <a:t>·</a:t>
            </a:r>
            <a:r>
              <a:rPr lang="en-US" altLang="zh-CN" sz="2200" dirty="0">
                <a:latin typeface="黑体" pitchFamily="2" charset="-122"/>
                <a:ea typeface="黑体" pitchFamily="2" charset="-122"/>
              </a:rPr>
              <a:t>P</a:t>
            </a:r>
            <a:r>
              <a:rPr lang="en-US" altLang="zh-CN" sz="2000" dirty="0">
                <a:latin typeface="黑体" pitchFamily="2" charset="-122"/>
                <a:ea typeface="黑体" pitchFamily="2" charset="-122"/>
              </a:rPr>
              <a:t>3</a:t>
            </a:r>
            <a:endParaRPr lang="en-US" altLang="zh-CN" sz="2200" dirty="0">
              <a:latin typeface="黑体" pitchFamily="2" charset="-122"/>
              <a:ea typeface="黑体" pitchFamily="2" charset="-122"/>
            </a:endParaRPr>
          </a:p>
          <a:p>
            <a:pPr>
              <a:lnSpc>
                <a:spcPct val="110000"/>
              </a:lnSpc>
              <a:spcBef>
                <a:spcPct val="0"/>
              </a:spcBef>
            </a:pPr>
            <a:r>
              <a:rPr lang="en-US" altLang="zh-CN" sz="2200" dirty="0">
                <a:latin typeface="黑体" pitchFamily="2" charset="-122"/>
                <a:ea typeface="黑体" pitchFamily="2" charset="-122"/>
              </a:rPr>
              <a:t>           + ......</a:t>
            </a:r>
          </a:p>
        </p:txBody>
      </p:sp>
      <p:sp>
        <p:nvSpPr>
          <p:cNvPr id="82947" name="Rectangle 10"/>
          <p:cNvSpPr>
            <a:spLocks noChangeArrowheads="1"/>
          </p:cNvSpPr>
          <p:nvPr/>
        </p:nvSpPr>
        <p:spPr bwMode="auto">
          <a:xfrm>
            <a:off x="541338" y="550863"/>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6.4.4 </a:t>
            </a:r>
            <a:r>
              <a:rPr lang="zh-CN" altLang="en-US">
                <a:solidFill>
                  <a:srgbClr val="990000"/>
                </a:solidFill>
                <a:latin typeface="黑体" pitchFamily="2" charset="-122"/>
                <a:ea typeface="黑体" pitchFamily="2" charset="-122"/>
              </a:rPr>
              <a:t>组合逻辑控制器的设计</a:t>
            </a:r>
          </a:p>
        </p:txBody>
      </p:sp>
    </p:spTree>
  </p:cSld>
  <p:clrMapOvr>
    <a:masterClrMapping/>
  </p:clrMapOvr>
  <p:transition>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1"/>
          <p:cNvSpPr>
            <a:spLocks noChangeArrowheads="1"/>
          </p:cNvSpPr>
          <p:nvPr/>
        </p:nvSpPr>
        <p:spPr bwMode="auto">
          <a:xfrm>
            <a:off x="0" y="2609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00000"/>
              </a:lnSpc>
              <a:spcBef>
                <a:spcPct val="0"/>
              </a:spcBef>
            </a:pPr>
            <a:endParaRPr lang="zh-CN" altLang="zh-CN" sz="1800" b="0">
              <a:solidFill>
                <a:schemeClr val="tx1"/>
              </a:solidFill>
              <a:latin typeface="Arial" charset="0"/>
              <a:ea typeface="宋体" pitchFamily="2" charset="-122"/>
            </a:endParaRPr>
          </a:p>
        </p:txBody>
      </p:sp>
      <p:sp>
        <p:nvSpPr>
          <p:cNvPr id="83971" name="Rectangle 32"/>
          <p:cNvSpPr>
            <a:spLocks noChangeArrowheads="1"/>
          </p:cNvSpPr>
          <p:nvPr/>
        </p:nvSpPr>
        <p:spPr bwMode="auto">
          <a:xfrm>
            <a:off x="1139825" y="455613"/>
            <a:ext cx="72278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0"/>
              </a:spcBef>
            </a:pPr>
            <a:r>
              <a:rPr lang="zh-CN" altLang="en-US">
                <a:latin typeface="黑体" pitchFamily="2" charset="-122"/>
                <a:ea typeface="黑体" pitchFamily="2" charset="-122"/>
              </a:rPr>
              <a:t>输入：</a:t>
            </a:r>
            <a:r>
              <a:rPr lang="en-US" altLang="zh-CN" dirty="0">
                <a:latin typeface="黑体" pitchFamily="2" charset="-122"/>
                <a:ea typeface="黑体" pitchFamily="2" charset="-122"/>
              </a:rPr>
              <a:t>IR</a:t>
            </a:r>
            <a:r>
              <a:rPr lang="zh-CN" altLang="en-US">
                <a:latin typeface="黑体" pitchFamily="2" charset="-122"/>
                <a:ea typeface="黑体" pitchFamily="2" charset="-122"/>
              </a:rPr>
              <a:t>的信号、时序信号、状态字寄存器</a:t>
            </a:r>
            <a:r>
              <a:rPr lang="en-US" altLang="zh-CN" dirty="0">
                <a:latin typeface="黑体" pitchFamily="2" charset="-122"/>
                <a:ea typeface="黑体" pitchFamily="2" charset="-122"/>
              </a:rPr>
              <a:t>PSW</a:t>
            </a:r>
            <a:r>
              <a:rPr lang="zh-CN" altLang="en-US">
                <a:latin typeface="黑体" pitchFamily="2" charset="-122"/>
                <a:ea typeface="黑体" pitchFamily="2" charset="-122"/>
              </a:rPr>
              <a:t>等；</a:t>
            </a:r>
          </a:p>
          <a:p>
            <a:pPr>
              <a:lnSpc>
                <a:spcPct val="120000"/>
              </a:lnSpc>
              <a:spcBef>
                <a:spcPct val="0"/>
              </a:spcBef>
            </a:pPr>
            <a:r>
              <a:rPr lang="zh-CN" altLang="en-US">
                <a:latin typeface="黑体" pitchFamily="2" charset="-122"/>
                <a:ea typeface="黑体" pitchFamily="2" charset="-122"/>
              </a:rPr>
              <a:t>输出：微操作控制信号。</a:t>
            </a:r>
          </a:p>
        </p:txBody>
      </p:sp>
      <p:grpSp>
        <p:nvGrpSpPr>
          <p:cNvPr id="83972" name="Group 55"/>
          <p:cNvGrpSpPr>
            <a:grpSpLocks/>
          </p:cNvGrpSpPr>
          <p:nvPr/>
        </p:nvGrpSpPr>
        <p:grpSpPr bwMode="auto">
          <a:xfrm>
            <a:off x="1517650" y="1809750"/>
            <a:ext cx="6711950" cy="2601913"/>
            <a:chOff x="944" y="1280"/>
            <a:chExt cx="3679" cy="1476"/>
          </a:xfrm>
        </p:grpSpPr>
        <p:sp>
          <p:nvSpPr>
            <p:cNvPr id="83973" name="Text Box 8"/>
            <p:cNvSpPr txBox="1">
              <a:spLocks noChangeArrowheads="1"/>
            </p:cNvSpPr>
            <p:nvPr/>
          </p:nvSpPr>
          <p:spPr bwMode="auto">
            <a:xfrm>
              <a:off x="2347" y="1744"/>
              <a:ext cx="1718" cy="523"/>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104000"/>
                </a:lnSpc>
                <a:spcBef>
                  <a:spcPct val="0"/>
                </a:spcBef>
              </a:pPr>
              <a:r>
                <a:rPr kumimoji="1" lang="zh-CN" altLang="en-US" sz="2000">
                  <a:latin typeface="黑体" pitchFamily="2" charset="-122"/>
                  <a:ea typeface="黑体" pitchFamily="2" charset="-122"/>
                </a:rPr>
                <a:t>微操作信号发生器</a:t>
              </a:r>
            </a:p>
            <a:p>
              <a:pPr algn="ctr">
                <a:lnSpc>
                  <a:spcPct val="104000"/>
                </a:lnSpc>
              </a:pPr>
              <a:r>
                <a:rPr kumimoji="1" lang="en-US" altLang="zh-CN" sz="1800" dirty="0">
                  <a:latin typeface="黑体" pitchFamily="2" charset="-122"/>
                  <a:ea typeface="黑体" pitchFamily="2" charset="-122"/>
                </a:rPr>
                <a:t>(</a:t>
              </a:r>
              <a:r>
                <a:rPr kumimoji="1" lang="zh-CN" altLang="en-US" sz="1800">
                  <a:latin typeface="黑体" pitchFamily="2" charset="-122"/>
                  <a:ea typeface="黑体" pitchFamily="2" charset="-122"/>
                </a:rPr>
                <a:t>逻辑</a:t>
              </a:r>
              <a:r>
                <a:rPr kumimoji="1" lang="zh-CN" altLang="en-US" sz="1800">
                  <a:latin typeface="Times New Roman" pitchFamily="18" charset="0"/>
                  <a:ea typeface="黑体" pitchFamily="2" charset="-122"/>
                </a:rPr>
                <a:t>“</a:t>
              </a:r>
              <a:r>
                <a:rPr kumimoji="1" lang="zh-CN" altLang="en-US" sz="1800">
                  <a:latin typeface="黑体" pitchFamily="2" charset="-122"/>
                  <a:ea typeface="黑体" pitchFamily="2" charset="-122"/>
                </a:rPr>
                <a:t>与</a:t>
              </a:r>
              <a:r>
                <a:rPr kumimoji="1" lang="zh-CN" altLang="en-US" sz="1800">
                  <a:latin typeface="Times New Roman" pitchFamily="18" charset="0"/>
                  <a:ea typeface="黑体" pitchFamily="2" charset="-122"/>
                </a:rPr>
                <a:t>”</a:t>
              </a:r>
              <a:r>
                <a:rPr kumimoji="1" lang="zh-CN" altLang="en-US" sz="1800">
                  <a:latin typeface="黑体" pitchFamily="2" charset="-122"/>
                  <a:ea typeface="黑体" pitchFamily="2" charset="-122"/>
                </a:rPr>
                <a:t>和</a:t>
              </a:r>
              <a:r>
                <a:rPr kumimoji="1" lang="zh-CN" altLang="en-US" sz="1800">
                  <a:latin typeface="Times New Roman" pitchFamily="18" charset="0"/>
                  <a:ea typeface="黑体" pitchFamily="2" charset="-122"/>
                </a:rPr>
                <a:t>“</a:t>
              </a:r>
              <a:r>
                <a:rPr kumimoji="1" lang="zh-CN" altLang="en-US" sz="1800">
                  <a:latin typeface="黑体" pitchFamily="2" charset="-122"/>
                  <a:ea typeface="黑体" pitchFamily="2" charset="-122"/>
                </a:rPr>
                <a:t>或</a:t>
              </a:r>
              <a:r>
                <a:rPr kumimoji="1" lang="zh-CN" altLang="en-US" sz="1800">
                  <a:latin typeface="Times New Roman" pitchFamily="18" charset="0"/>
                  <a:ea typeface="黑体" pitchFamily="2" charset="-122"/>
                </a:rPr>
                <a:t>”</a:t>
              </a:r>
              <a:r>
                <a:rPr kumimoji="1" lang="zh-CN" altLang="en-US" sz="1800">
                  <a:latin typeface="黑体" pitchFamily="2" charset="-122"/>
                  <a:ea typeface="黑体" pitchFamily="2" charset="-122"/>
                </a:rPr>
                <a:t>阵列</a:t>
              </a:r>
              <a:r>
                <a:rPr kumimoji="1" lang="en-US" altLang="zh-CN" sz="1800" dirty="0">
                  <a:latin typeface="黑体" pitchFamily="2" charset="-122"/>
                  <a:ea typeface="黑体" pitchFamily="2" charset="-122"/>
                </a:rPr>
                <a:t>)</a:t>
              </a:r>
            </a:p>
          </p:txBody>
        </p:sp>
        <p:sp>
          <p:nvSpPr>
            <p:cNvPr id="83974" name="Text Box 9"/>
            <p:cNvSpPr txBox="1">
              <a:spLocks noChangeArrowheads="1"/>
            </p:cNvSpPr>
            <p:nvPr/>
          </p:nvSpPr>
          <p:spPr bwMode="auto">
            <a:xfrm>
              <a:off x="2347" y="2472"/>
              <a:ext cx="710" cy="267"/>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90000"/>
                </a:lnSpc>
                <a:spcBef>
                  <a:spcPct val="0"/>
                </a:spcBef>
              </a:pPr>
              <a:r>
                <a:rPr kumimoji="1" lang="zh-CN" altLang="en-US" sz="2000">
                  <a:latin typeface="黑体" pitchFamily="2" charset="-122"/>
                  <a:ea typeface="黑体" pitchFamily="2" charset="-122"/>
                </a:rPr>
                <a:t>时序</a:t>
              </a:r>
            </a:p>
          </p:txBody>
        </p:sp>
        <p:sp>
          <p:nvSpPr>
            <p:cNvPr id="83975" name="Text Box 11"/>
            <p:cNvSpPr txBox="1">
              <a:spLocks noChangeArrowheads="1"/>
            </p:cNvSpPr>
            <p:nvPr/>
          </p:nvSpPr>
          <p:spPr bwMode="auto">
            <a:xfrm>
              <a:off x="3314" y="2476"/>
              <a:ext cx="1309" cy="265"/>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90000"/>
                </a:lnSpc>
                <a:spcBef>
                  <a:spcPct val="0"/>
                </a:spcBef>
              </a:pPr>
              <a:r>
                <a:rPr kumimoji="1" lang="en-US" altLang="zh-CN" sz="2000" dirty="0">
                  <a:latin typeface="黑体" pitchFamily="2" charset="-122"/>
                  <a:ea typeface="黑体" pitchFamily="2" charset="-122"/>
                </a:rPr>
                <a:t>IR</a:t>
              </a:r>
            </a:p>
          </p:txBody>
        </p:sp>
        <p:sp>
          <p:nvSpPr>
            <p:cNvPr id="83976" name="Text Box 12"/>
            <p:cNvSpPr txBox="1">
              <a:spLocks noChangeArrowheads="1"/>
            </p:cNvSpPr>
            <p:nvPr/>
          </p:nvSpPr>
          <p:spPr bwMode="auto">
            <a:xfrm>
              <a:off x="1011" y="2489"/>
              <a:ext cx="1055" cy="267"/>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tIns="18000" bIns="18000"/>
            <a:lstStyle>
              <a:lvl1pPr indent="266700"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90000"/>
                </a:lnSpc>
                <a:spcBef>
                  <a:spcPct val="0"/>
                </a:spcBef>
              </a:pPr>
              <a:r>
                <a:rPr kumimoji="1" lang="en-US" altLang="zh-CN" sz="2000" dirty="0">
                  <a:latin typeface="黑体" pitchFamily="2" charset="-122"/>
                  <a:ea typeface="黑体" pitchFamily="2" charset="-122"/>
                </a:rPr>
                <a:t>PSW</a:t>
              </a:r>
            </a:p>
          </p:txBody>
        </p:sp>
        <p:sp>
          <p:nvSpPr>
            <p:cNvPr id="83977" name="Line 17"/>
            <p:cNvSpPr>
              <a:spLocks noChangeShapeType="1"/>
            </p:cNvSpPr>
            <p:nvPr/>
          </p:nvSpPr>
          <p:spPr bwMode="auto">
            <a:xfrm flipV="1">
              <a:off x="2711" y="1491"/>
              <a:ext cx="0" cy="24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8" name="Line 18"/>
            <p:cNvSpPr>
              <a:spLocks noChangeShapeType="1"/>
            </p:cNvSpPr>
            <p:nvPr/>
          </p:nvSpPr>
          <p:spPr bwMode="auto">
            <a:xfrm flipV="1">
              <a:off x="3667" y="1491"/>
              <a:ext cx="0" cy="24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9" name="Text Box 19"/>
            <p:cNvSpPr txBox="1">
              <a:spLocks noChangeArrowheads="1"/>
            </p:cNvSpPr>
            <p:nvPr/>
          </p:nvSpPr>
          <p:spPr bwMode="auto">
            <a:xfrm>
              <a:off x="2711" y="1520"/>
              <a:ext cx="99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90000"/>
                </a:lnSpc>
                <a:spcBef>
                  <a:spcPct val="0"/>
                </a:spcBef>
              </a:pPr>
              <a:r>
                <a:rPr kumimoji="1" lang="en-US" altLang="zh-CN" sz="2000" dirty="0">
                  <a:solidFill>
                    <a:srgbClr val="FF0000"/>
                  </a:solidFill>
                  <a:latin typeface="Times New Roman" pitchFamily="18" charset="0"/>
                  <a:ea typeface="黑体" pitchFamily="2" charset="-122"/>
                </a:rPr>
                <a:t>……</a:t>
              </a:r>
              <a:endParaRPr kumimoji="1" lang="en-US" altLang="zh-CN" sz="2000" dirty="0">
                <a:latin typeface="黑体" pitchFamily="2" charset="-122"/>
                <a:ea typeface="黑体" pitchFamily="2" charset="-122"/>
              </a:endParaRPr>
            </a:p>
            <a:p>
              <a:pPr algn="ctr">
                <a:lnSpc>
                  <a:spcPct val="90000"/>
                </a:lnSpc>
                <a:spcBef>
                  <a:spcPct val="0"/>
                </a:spcBef>
              </a:pPr>
              <a:endParaRPr kumimoji="1" lang="en-US" altLang="zh-CN" sz="2000" dirty="0">
                <a:latin typeface="黑体" pitchFamily="2" charset="-122"/>
                <a:ea typeface="黑体" pitchFamily="2" charset="-122"/>
              </a:endParaRPr>
            </a:p>
          </p:txBody>
        </p:sp>
        <p:sp>
          <p:nvSpPr>
            <p:cNvPr id="83980" name="Freeform 24"/>
            <p:cNvSpPr>
              <a:spLocks/>
            </p:cNvSpPr>
            <p:nvPr/>
          </p:nvSpPr>
          <p:spPr bwMode="auto">
            <a:xfrm>
              <a:off x="1538" y="2204"/>
              <a:ext cx="793" cy="285"/>
            </a:xfrm>
            <a:custGeom>
              <a:avLst/>
              <a:gdLst>
                <a:gd name="T0" fmla="*/ 0 w 1008"/>
                <a:gd name="T1" fmla="*/ 1 h 558"/>
                <a:gd name="T2" fmla="*/ 0 w 1008"/>
                <a:gd name="T3" fmla="*/ 0 h 558"/>
                <a:gd name="T4" fmla="*/ 28 w 1008"/>
                <a:gd name="T5" fmla="*/ 0 h 558"/>
                <a:gd name="T6" fmla="*/ 0 60000 65536"/>
                <a:gd name="T7" fmla="*/ 0 60000 65536"/>
                <a:gd name="T8" fmla="*/ 0 60000 65536"/>
                <a:gd name="T9" fmla="*/ 0 w 1008"/>
                <a:gd name="T10" fmla="*/ 0 h 558"/>
                <a:gd name="T11" fmla="*/ 1008 w 1008"/>
                <a:gd name="T12" fmla="*/ 558 h 558"/>
              </a:gdLst>
              <a:ahLst/>
              <a:cxnLst>
                <a:cxn ang="T6">
                  <a:pos x="T0" y="T1"/>
                </a:cxn>
                <a:cxn ang="T7">
                  <a:pos x="T2" y="T3"/>
                </a:cxn>
                <a:cxn ang="T8">
                  <a:pos x="T4" y="T5"/>
                </a:cxn>
              </a:cxnLst>
              <a:rect l="T9" t="T10" r="T11" b="T12"/>
              <a:pathLst>
                <a:path w="1008" h="558">
                  <a:moveTo>
                    <a:pt x="0" y="558"/>
                  </a:moveTo>
                  <a:lnTo>
                    <a:pt x="0" y="0"/>
                  </a:lnTo>
                  <a:lnTo>
                    <a:pt x="1008"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3981" name="Group 54"/>
            <p:cNvGrpSpPr>
              <a:grpSpLocks/>
            </p:cNvGrpSpPr>
            <p:nvPr/>
          </p:nvGrpSpPr>
          <p:grpSpPr bwMode="auto">
            <a:xfrm>
              <a:off x="1198" y="1827"/>
              <a:ext cx="1133" cy="190"/>
              <a:chOff x="1538" y="1827"/>
              <a:chExt cx="793" cy="190"/>
            </a:xfrm>
          </p:grpSpPr>
          <p:sp>
            <p:nvSpPr>
              <p:cNvPr id="83988" name="Line 25"/>
              <p:cNvSpPr>
                <a:spLocks noChangeShapeType="1"/>
              </p:cNvSpPr>
              <p:nvPr/>
            </p:nvSpPr>
            <p:spPr bwMode="auto">
              <a:xfrm>
                <a:off x="1538" y="2017"/>
                <a:ext cx="793"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9" name="Line 26"/>
              <p:cNvSpPr>
                <a:spLocks noChangeShapeType="1"/>
              </p:cNvSpPr>
              <p:nvPr/>
            </p:nvSpPr>
            <p:spPr bwMode="auto">
              <a:xfrm>
                <a:off x="1538" y="1827"/>
                <a:ext cx="793"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3982" name="Line 27"/>
            <p:cNvSpPr>
              <a:spLocks noChangeShapeType="1"/>
            </p:cNvSpPr>
            <p:nvPr/>
          </p:nvSpPr>
          <p:spPr bwMode="auto">
            <a:xfrm flipV="1">
              <a:off x="2695" y="2267"/>
              <a:ext cx="0" cy="20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3" name="Text Box 32"/>
            <p:cNvSpPr txBox="1">
              <a:spLocks noChangeArrowheads="1"/>
            </p:cNvSpPr>
            <p:nvPr/>
          </p:nvSpPr>
          <p:spPr bwMode="auto">
            <a:xfrm>
              <a:off x="2561" y="1280"/>
              <a:ext cx="1355"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a:lnSpc>
                  <a:spcPct val="90000"/>
                </a:lnSpc>
                <a:spcBef>
                  <a:spcPct val="0"/>
                </a:spcBef>
              </a:pPr>
              <a:r>
                <a:rPr kumimoji="1" lang="zh-CN" altLang="en-US" sz="2000">
                  <a:solidFill>
                    <a:srgbClr val="FF0000"/>
                  </a:solidFill>
                  <a:latin typeface="黑体" pitchFamily="2" charset="-122"/>
                  <a:ea typeface="黑体" pitchFamily="2" charset="-122"/>
                </a:rPr>
                <a:t>微操作命令序列</a:t>
              </a:r>
            </a:p>
          </p:txBody>
        </p:sp>
        <p:sp>
          <p:nvSpPr>
            <p:cNvPr id="83984" name="Text Box 33"/>
            <p:cNvSpPr txBox="1">
              <a:spLocks noChangeArrowheads="1"/>
            </p:cNvSpPr>
            <p:nvPr/>
          </p:nvSpPr>
          <p:spPr bwMode="auto">
            <a:xfrm>
              <a:off x="944" y="1616"/>
              <a:ext cx="11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indent="266700"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a:lnSpc>
                  <a:spcPct val="90000"/>
                </a:lnSpc>
                <a:spcBef>
                  <a:spcPct val="0"/>
                </a:spcBef>
              </a:pPr>
              <a:r>
                <a:rPr kumimoji="1" lang="en-US" altLang="zh-CN" sz="2000" dirty="0">
                  <a:latin typeface="黑体" pitchFamily="2" charset="-122"/>
                  <a:ea typeface="黑体" pitchFamily="2" charset="-122"/>
                </a:rPr>
                <a:t>I/O</a:t>
              </a:r>
              <a:r>
                <a:rPr kumimoji="1" lang="zh-CN" altLang="en-US" sz="2000">
                  <a:latin typeface="黑体" pitchFamily="2" charset="-122"/>
                  <a:ea typeface="黑体" pitchFamily="2" charset="-122"/>
                </a:rPr>
                <a:t>状态</a:t>
              </a:r>
            </a:p>
          </p:txBody>
        </p:sp>
        <p:sp>
          <p:nvSpPr>
            <p:cNvPr id="83985" name="Text Box 34"/>
            <p:cNvSpPr txBox="1">
              <a:spLocks noChangeArrowheads="1"/>
            </p:cNvSpPr>
            <p:nvPr/>
          </p:nvSpPr>
          <p:spPr bwMode="auto">
            <a:xfrm>
              <a:off x="944" y="1827"/>
              <a:ext cx="11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indent="266700"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a:lnSpc>
                  <a:spcPct val="90000"/>
                </a:lnSpc>
                <a:spcBef>
                  <a:spcPct val="0"/>
                </a:spcBef>
              </a:pPr>
              <a:r>
                <a:rPr kumimoji="1" lang="zh-CN" altLang="en-US" sz="2000">
                  <a:latin typeface="黑体" pitchFamily="2" charset="-122"/>
                  <a:ea typeface="黑体" pitchFamily="2" charset="-122"/>
                </a:rPr>
                <a:t>控制台信息</a:t>
              </a:r>
            </a:p>
          </p:txBody>
        </p:sp>
        <p:sp>
          <p:nvSpPr>
            <p:cNvPr id="83986" name="Text Box 35"/>
            <p:cNvSpPr txBox="1">
              <a:spLocks noChangeArrowheads="1"/>
            </p:cNvSpPr>
            <p:nvPr/>
          </p:nvSpPr>
          <p:spPr bwMode="auto">
            <a:xfrm>
              <a:off x="944" y="2017"/>
              <a:ext cx="11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indent="266700"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a:lnSpc>
                  <a:spcPct val="90000"/>
                </a:lnSpc>
                <a:spcBef>
                  <a:spcPct val="0"/>
                </a:spcBef>
              </a:pPr>
              <a:r>
                <a:rPr kumimoji="1" lang="zh-CN" altLang="en-US" sz="2000">
                  <a:latin typeface="黑体" pitchFamily="2" charset="-122"/>
                  <a:ea typeface="黑体" pitchFamily="2" charset="-122"/>
                </a:rPr>
                <a:t>运行状态</a:t>
              </a:r>
            </a:p>
          </p:txBody>
        </p:sp>
        <p:sp>
          <p:nvSpPr>
            <p:cNvPr id="83987" name="Line 48"/>
            <p:cNvSpPr>
              <a:spLocks noChangeShapeType="1"/>
            </p:cNvSpPr>
            <p:nvPr/>
          </p:nvSpPr>
          <p:spPr bwMode="auto">
            <a:xfrm flipH="1" flipV="1">
              <a:off x="3908" y="2257"/>
              <a:ext cx="0" cy="21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wipe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5639978F-D5BD-1F5B-7C54-7DD5E60202A4}"/>
              </a:ext>
            </a:extLst>
          </p:cNvPr>
          <p:cNvPicPr>
            <a:picLocks noChangeAspect="1"/>
          </p:cNvPicPr>
          <p:nvPr/>
        </p:nvPicPr>
        <p:blipFill>
          <a:blip r:embed="rId2"/>
          <a:stretch>
            <a:fillRect/>
          </a:stretch>
        </p:blipFill>
        <p:spPr>
          <a:xfrm>
            <a:off x="141668" y="957658"/>
            <a:ext cx="9002332" cy="5021709"/>
          </a:xfrm>
          <a:prstGeom prst="rect">
            <a:avLst/>
          </a:prstGeom>
        </p:spPr>
      </p:pic>
    </p:spTree>
  </p:cSld>
  <p:clrMapOvr>
    <a:masterClrMapping/>
  </p:clrMapOvr>
  <p:transition>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6394F4A1-095F-2995-8CC6-E5ED43A79A5D}"/>
              </a:ext>
            </a:extLst>
          </p:cNvPr>
          <p:cNvPicPr>
            <a:picLocks noChangeAspect="1"/>
          </p:cNvPicPr>
          <p:nvPr/>
        </p:nvPicPr>
        <p:blipFill>
          <a:blip r:embed="rId2"/>
          <a:stretch>
            <a:fillRect/>
          </a:stretch>
        </p:blipFill>
        <p:spPr>
          <a:xfrm>
            <a:off x="0" y="1068019"/>
            <a:ext cx="9144000" cy="4902266"/>
          </a:xfrm>
          <a:prstGeom prst="rect">
            <a:avLst/>
          </a:prstGeom>
        </p:spPr>
      </p:pic>
    </p:spTree>
    <p:extLst>
      <p:ext uri="{BB962C8B-B14F-4D97-AF65-F5344CB8AC3E}">
        <p14:creationId xmlns:p14="http://schemas.microsoft.com/office/powerpoint/2010/main" val="956669573"/>
      </p:ext>
    </p:extLst>
  </p:cSld>
  <p:clrMapOvr>
    <a:masterClrMapping/>
  </p:clrMapOvr>
  <p:transition>
    <p:wipe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169F5C3F-E03E-326B-5365-D739658CA6B5}"/>
              </a:ext>
            </a:extLst>
          </p:cNvPr>
          <p:cNvPicPr>
            <a:picLocks noChangeAspect="1"/>
          </p:cNvPicPr>
          <p:nvPr/>
        </p:nvPicPr>
        <p:blipFill>
          <a:blip r:embed="rId2"/>
          <a:stretch>
            <a:fillRect/>
          </a:stretch>
        </p:blipFill>
        <p:spPr>
          <a:xfrm>
            <a:off x="0" y="1301151"/>
            <a:ext cx="9144000" cy="4255698"/>
          </a:xfrm>
          <a:prstGeom prst="rect">
            <a:avLst/>
          </a:prstGeom>
        </p:spPr>
      </p:pic>
    </p:spTree>
    <p:extLst>
      <p:ext uri="{BB962C8B-B14F-4D97-AF65-F5344CB8AC3E}">
        <p14:creationId xmlns:p14="http://schemas.microsoft.com/office/powerpoint/2010/main" val="2196871319"/>
      </p:ext>
    </p:extLst>
  </p:cSld>
  <p:clrMapOvr>
    <a:masterClrMapping/>
  </p:clrMapOvr>
  <p:transition>
    <p:wipe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ChangeArrowheads="1"/>
          </p:cNvSpPr>
          <p:nvPr/>
        </p:nvSpPr>
        <p:spPr bwMode="auto">
          <a:xfrm>
            <a:off x="611188" y="533400"/>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72594C1F-8D1C-CEF2-8604-70EB5E038829}"/>
              </a:ext>
            </a:extLst>
          </p:cNvPr>
          <p:cNvPicPr>
            <a:picLocks noChangeAspect="1"/>
          </p:cNvPicPr>
          <p:nvPr/>
        </p:nvPicPr>
        <p:blipFill>
          <a:blip r:embed="rId2"/>
          <a:stretch>
            <a:fillRect/>
          </a:stretch>
        </p:blipFill>
        <p:spPr>
          <a:xfrm>
            <a:off x="123058" y="1288574"/>
            <a:ext cx="8897883" cy="4165629"/>
          </a:xfrm>
          <a:prstGeom prst="rect">
            <a:avLst/>
          </a:prstGeom>
        </p:spPr>
      </p:pic>
    </p:spTree>
    <p:extLst>
      <p:ext uri="{BB962C8B-B14F-4D97-AF65-F5344CB8AC3E}">
        <p14:creationId xmlns:p14="http://schemas.microsoft.com/office/powerpoint/2010/main" val="3245450087"/>
      </p:ext>
    </p:extLst>
  </p:cSld>
  <p:clrMapOvr>
    <a:masterClrMapping/>
  </p:clrMapOvr>
  <p:transition>
    <p:wipe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5"/>
          <p:cNvSpPr>
            <a:spLocks noChangeArrowheads="1"/>
          </p:cNvSpPr>
          <p:nvPr/>
        </p:nvSpPr>
        <p:spPr bwMode="auto">
          <a:xfrm>
            <a:off x="647700" y="533400"/>
            <a:ext cx="4830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grpSp>
        <p:nvGrpSpPr>
          <p:cNvPr id="9" name="组合 8">
            <a:extLst>
              <a:ext uri="{FF2B5EF4-FFF2-40B4-BE49-F238E27FC236}">
                <a16:creationId xmlns:a16="http://schemas.microsoft.com/office/drawing/2014/main" id="{F16D02AA-A61E-36D1-FA27-57690D2AFCF6}"/>
              </a:ext>
            </a:extLst>
          </p:cNvPr>
          <p:cNvGrpSpPr/>
          <p:nvPr/>
        </p:nvGrpSpPr>
        <p:grpSpPr>
          <a:xfrm>
            <a:off x="0" y="1322109"/>
            <a:ext cx="9144000" cy="4213781"/>
            <a:chOff x="0" y="1322109"/>
            <a:chExt cx="9144000" cy="4213781"/>
          </a:xfrm>
        </p:grpSpPr>
        <p:pic>
          <p:nvPicPr>
            <p:cNvPr id="3" name="图片 2">
              <a:extLst>
                <a:ext uri="{FF2B5EF4-FFF2-40B4-BE49-F238E27FC236}">
                  <a16:creationId xmlns:a16="http://schemas.microsoft.com/office/drawing/2014/main" id="{7FBC0CDC-1D2B-7A4F-DD8D-2B0E2C5DFF16}"/>
                </a:ext>
              </a:extLst>
            </p:cNvPr>
            <p:cNvPicPr>
              <a:picLocks noChangeAspect="1"/>
            </p:cNvPicPr>
            <p:nvPr/>
          </p:nvPicPr>
          <p:blipFill>
            <a:blip r:embed="rId2"/>
            <a:stretch>
              <a:fillRect/>
            </a:stretch>
          </p:blipFill>
          <p:spPr>
            <a:xfrm>
              <a:off x="0" y="1322109"/>
              <a:ext cx="9144000" cy="4213781"/>
            </a:xfrm>
            <a:prstGeom prst="rect">
              <a:avLst/>
            </a:prstGeom>
          </p:spPr>
        </p:pic>
        <p:pic>
          <p:nvPicPr>
            <p:cNvPr id="8" name="图片 7">
              <a:extLst>
                <a:ext uri="{FF2B5EF4-FFF2-40B4-BE49-F238E27FC236}">
                  <a16:creationId xmlns:a16="http://schemas.microsoft.com/office/drawing/2014/main" id="{CFB2ED58-E489-4E89-EEE8-202916241ABC}"/>
                </a:ext>
              </a:extLst>
            </p:cNvPr>
            <p:cNvPicPr>
              <a:picLocks noChangeAspect="1"/>
            </p:cNvPicPr>
            <p:nvPr/>
          </p:nvPicPr>
          <p:blipFill>
            <a:blip r:embed="rId3"/>
            <a:stretch>
              <a:fillRect/>
            </a:stretch>
          </p:blipFill>
          <p:spPr>
            <a:xfrm>
              <a:off x="419100" y="1322109"/>
              <a:ext cx="457200" cy="409575"/>
            </a:xfrm>
            <a:prstGeom prst="rect">
              <a:avLst/>
            </a:prstGeom>
          </p:spPr>
        </p:pic>
      </p:grpSp>
    </p:spTree>
  </p:cSld>
  <p:clrMapOvr>
    <a:masterClrMapping/>
  </p:clrMapOvr>
  <p:transition>
    <p:wipe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5"/>
          <p:cNvSpPr>
            <a:spLocks noChangeArrowheads="1"/>
          </p:cNvSpPr>
          <p:nvPr/>
        </p:nvSpPr>
        <p:spPr bwMode="auto">
          <a:xfrm>
            <a:off x="561975" y="495300"/>
            <a:ext cx="4830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2203A939-CC2A-ACCB-4781-3C4CFA431435}"/>
              </a:ext>
            </a:extLst>
          </p:cNvPr>
          <p:cNvPicPr>
            <a:picLocks noChangeAspect="1"/>
          </p:cNvPicPr>
          <p:nvPr/>
        </p:nvPicPr>
        <p:blipFill>
          <a:blip r:embed="rId2"/>
          <a:stretch>
            <a:fillRect/>
          </a:stretch>
        </p:blipFill>
        <p:spPr>
          <a:xfrm>
            <a:off x="23812" y="1343025"/>
            <a:ext cx="9096375" cy="4171950"/>
          </a:xfrm>
          <a:prstGeom prst="rect">
            <a:avLst/>
          </a:prstGeom>
        </p:spPr>
      </p:pic>
    </p:spTree>
  </p:cSld>
  <p:clrMapOvr>
    <a:masterClrMapping/>
  </p:clrMapOvr>
  <p:transition>
    <p:wipe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5"/>
          <p:cNvSpPr>
            <a:spLocks noChangeArrowheads="1"/>
          </p:cNvSpPr>
          <p:nvPr/>
        </p:nvSpPr>
        <p:spPr bwMode="auto">
          <a:xfrm>
            <a:off x="561975" y="495300"/>
            <a:ext cx="4830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grpSp>
        <p:nvGrpSpPr>
          <p:cNvPr id="6" name="组合 5">
            <a:extLst>
              <a:ext uri="{FF2B5EF4-FFF2-40B4-BE49-F238E27FC236}">
                <a16:creationId xmlns:a16="http://schemas.microsoft.com/office/drawing/2014/main" id="{B9FAA23F-5C4A-C5A5-7030-46A4CE1BF03C}"/>
              </a:ext>
            </a:extLst>
          </p:cNvPr>
          <p:cNvGrpSpPr/>
          <p:nvPr/>
        </p:nvGrpSpPr>
        <p:grpSpPr>
          <a:xfrm>
            <a:off x="0" y="1314450"/>
            <a:ext cx="9144000" cy="4229100"/>
            <a:chOff x="0" y="1314450"/>
            <a:chExt cx="9144000" cy="4229100"/>
          </a:xfrm>
        </p:grpSpPr>
        <p:pic>
          <p:nvPicPr>
            <p:cNvPr id="3" name="图片 2">
              <a:extLst>
                <a:ext uri="{FF2B5EF4-FFF2-40B4-BE49-F238E27FC236}">
                  <a16:creationId xmlns:a16="http://schemas.microsoft.com/office/drawing/2014/main" id="{DE7DF387-DBB5-7BB0-D650-DC55CEBEFDDD}"/>
                </a:ext>
              </a:extLst>
            </p:cNvPr>
            <p:cNvPicPr>
              <a:picLocks noChangeAspect="1"/>
            </p:cNvPicPr>
            <p:nvPr/>
          </p:nvPicPr>
          <p:blipFill>
            <a:blip r:embed="rId2"/>
            <a:stretch>
              <a:fillRect/>
            </a:stretch>
          </p:blipFill>
          <p:spPr>
            <a:xfrm>
              <a:off x="0" y="1314450"/>
              <a:ext cx="9144000" cy="4229100"/>
            </a:xfrm>
            <a:prstGeom prst="rect">
              <a:avLst/>
            </a:prstGeom>
          </p:spPr>
        </p:pic>
        <p:pic>
          <p:nvPicPr>
            <p:cNvPr id="5" name="图片 4">
              <a:extLst>
                <a:ext uri="{FF2B5EF4-FFF2-40B4-BE49-F238E27FC236}">
                  <a16:creationId xmlns:a16="http://schemas.microsoft.com/office/drawing/2014/main" id="{901D9E2D-3591-69BD-B06F-9DFFA25F009A}"/>
                </a:ext>
              </a:extLst>
            </p:cNvPr>
            <p:cNvPicPr>
              <a:picLocks noChangeAspect="1"/>
            </p:cNvPicPr>
            <p:nvPr/>
          </p:nvPicPr>
          <p:blipFill>
            <a:blip r:embed="rId3"/>
            <a:stretch>
              <a:fillRect/>
            </a:stretch>
          </p:blipFill>
          <p:spPr>
            <a:xfrm>
              <a:off x="333375" y="1314450"/>
              <a:ext cx="457200" cy="409575"/>
            </a:xfrm>
            <a:prstGeom prst="rect">
              <a:avLst/>
            </a:prstGeom>
          </p:spPr>
        </p:pic>
      </p:grpSp>
    </p:spTree>
    <p:extLst>
      <p:ext uri="{BB962C8B-B14F-4D97-AF65-F5344CB8AC3E}">
        <p14:creationId xmlns:p14="http://schemas.microsoft.com/office/powerpoint/2010/main" val="2118556583"/>
      </p:ext>
    </p:extLst>
  </p:cSld>
  <p:clrMapOvr>
    <a:masterClrMapping/>
  </p:clrMapOvr>
  <p:transition>
    <p:wipe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5"/>
          <p:cNvSpPr>
            <a:spLocks noChangeArrowheads="1"/>
          </p:cNvSpPr>
          <p:nvPr/>
        </p:nvSpPr>
        <p:spPr bwMode="auto">
          <a:xfrm>
            <a:off x="561975" y="495300"/>
            <a:ext cx="4830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grpSp>
        <p:nvGrpSpPr>
          <p:cNvPr id="6" name="组合 5">
            <a:extLst>
              <a:ext uri="{FF2B5EF4-FFF2-40B4-BE49-F238E27FC236}">
                <a16:creationId xmlns:a16="http://schemas.microsoft.com/office/drawing/2014/main" id="{EFEC3182-AD3C-CA5A-F538-DDF4BC812E98}"/>
              </a:ext>
            </a:extLst>
          </p:cNvPr>
          <p:cNvGrpSpPr/>
          <p:nvPr/>
        </p:nvGrpSpPr>
        <p:grpSpPr>
          <a:xfrm>
            <a:off x="42862" y="1314450"/>
            <a:ext cx="9058275" cy="4229100"/>
            <a:chOff x="42862" y="1314450"/>
            <a:chExt cx="9058275" cy="4229100"/>
          </a:xfrm>
        </p:grpSpPr>
        <p:pic>
          <p:nvPicPr>
            <p:cNvPr id="3" name="图片 2">
              <a:extLst>
                <a:ext uri="{FF2B5EF4-FFF2-40B4-BE49-F238E27FC236}">
                  <a16:creationId xmlns:a16="http://schemas.microsoft.com/office/drawing/2014/main" id="{164F2497-EA1C-246A-68B4-3CBBD4F46769}"/>
                </a:ext>
              </a:extLst>
            </p:cNvPr>
            <p:cNvPicPr>
              <a:picLocks noChangeAspect="1"/>
            </p:cNvPicPr>
            <p:nvPr/>
          </p:nvPicPr>
          <p:blipFill>
            <a:blip r:embed="rId2"/>
            <a:stretch>
              <a:fillRect/>
            </a:stretch>
          </p:blipFill>
          <p:spPr>
            <a:xfrm>
              <a:off x="42862" y="1314450"/>
              <a:ext cx="9058275" cy="4229100"/>
            </a:xfrm>
            <a:prstGeom prst="rect">
              <a:avLst/>
            </a:prstGeom>
          </p:spPr>
        </p:pic>
        <p:pic>
          <p:nvPicPr>
            <p:cNvPr id="5" name="图片 4">
              <a:extLst>
                <a:ext uri="{FF2B5EF4-FFF2-40B4-BE49-F238E27FC236}">
                  <a16:creationId xmlns:a16="http://schemas.microsoft.com/office/drawing/2014/main" id="{B1985721-E198-4568-D322-30D5DE231578}"/>
                </a:ext>
              </a:extLst>
            </p:cNvPr>
            <p:cNvPicPr>
              <a:picLocks noChangeAspect="1"/>
            </p:cNvPicPr>
            <p:nvPr/>
          </p:nvPicPr>
          <p:blipFill>
            <a:blip r:embed="rId3"/>
            <a:stretch>
              <a:fillRect/>
            </a:stretch>
          </p:blipFill>
          <p:spPr>
            <a:xfrm>
              <a:off x="273676" y="1314450"/>
              <a:ext cx="457200" cy="409575"/>
            </a:xfrm>
            <a:prstGeom prst="rect">
              <a:avLst/>
            </a:prstGeom>
          </p:spPr>
        </p:pic>
      </p:grpSp>
    </p:spTree>
    <p:extLst>
      <p:ext uri="{BB962C8B-B14F-4D97-AF65-F5344CB8AC3E}">
        <p14:creationId xmlns:p14="http://schemas.microsoft.com/office/powerpoint/2010/main" val="3025833432"/>
      </p:ext>
    </p:extLst>
  </p:cSld>
  <p:clrMapOvr>
    <a:masterClrMapping/>
  </p:clrMapOvr>
  <p:transition>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AC61D912-F679-AD43-501A-3EA4EE34198B}"/>
              </a:ext>
            </a:extLst>
          </p:cNvPr>
          <p:cNvPicPr>
            <a:picLocks noChangeAspect="1"/>
          </p:cNvPicPr>
          <p:nvPr/>
        </p:nvPicPr>
        <p:blipFill>
          <a:blip r:embed="rId2"/>
          <a:stretch>
            <a:fillRect/>
          </a:stretch>
        </p:blipFill>
        <p:spPr>
          <a:xfrm>
            <a:off x="152400" y="1271587"/>
            <a:ext cx="8839200" cy="4314825"/>
          </a:xfrm>
          <a:prstGeom prst="rect">
            <a:avLst/>
          </a:prstGeom>
        </p:spPr>
      </p:pic>
    </p:spTree>
    <p:extLst>
      <p:ext uri="{BB962C8B-B14F-4D97-AF65-F5344CB8AC3E}">
        <p14:creationId xmlns:p14="http://schemas.microsoft.com/office/powerpoint/2010/main" val="3480744533"/>
      </p:ext>
    </p:extLst>
  </p:cSld>
  <p:clrMapOvr>
    <a:masterClrMapping/>
  </p:clrMapOvr>
  <p:transition>
    <p:wipe di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p>
        </p:txBody>
      </p:sp>
      <p:pic>
        <p:nvPicPr>
          <p:cNvPr id="3" name="图片 2">
            <a:extLst>
              <a:ext uri="{FF2B5EF4-FFF2-40B4-BE49-F238E27FC236}">
                <a16:creationId xmlns:a16="http://schemas.microsoft.com/office/drawing/2014/main" id="{51E8BE61-3812-3B6F-F4E1-2C7B4128EB61}"/>
              </a:ext>
            </a:extLst>
          </p:cNvPr>
          <p:cNvPicPr>
            <a:picLocks noChangeAspect="1"/>
          </p:cNvPicPr>
          <p:nvPr/>
        </p:nvPicPr>
        <p:blipFill>
          <a:blip r:embed="rId2"/>
          <a:stretch>
            <a:fillRect/>
          </a:stretch>
        </p:blipFill>
        <p:spPr>
          <a:xfrm>
            <a:off x="180975" y="1152525"/>
            <a:ext cx="8782050" cy="4552950"/>
          </a:xfrm>
          <a:prstGeom prst="rect">
            <a:avLst/>
          </a:prstGeom>
        </p:spPr>
      </p:pic>
    </p:spTree>
    <p:extLst>
      <p:ext uri="{BB962C8B-B14F-4D97-AF65-F5344CB8AC3E}">
        <p14:creationId xmlns:p14="http://schemas.microsoft.com/office/powerpoint/2010/main" val="1605204607"/>
      </p:ext>
    </p:extLst>
  </p:cSld>
  <p:clrMapOvr>
    <a:masterClrMapping/>
  </p:clrMapOvr>
  <p:transition>
    <p:wipe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66943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2C711873-B5D0-473A-64F9-879F8BAEF5CD}"/>
              </a:ext>
            </a:extLst>
          </p:cNvPr>
          <p:cNvPicPr>
            <a:picLocks noChangeAspect="1"/>
          </p:cNvPicPr>
          <p:nvPr/>
        </p:nvPicPr>
        <p:blipFill>
          <a:blip r:embed="rId2"/>
          <a:stretch>
            <a:fillRect/>
          </a:stretch>
        </p:blipFill>
        <p:spPr>
          <a:xfrm>
            <a:off x="28575" y="1157287"/>
            <a:ext cx="9086850" cy="4543425"/>
          </a:xfrm>
          <a:prstGeom prst="rect">
            <a:avLst/>
          </a:prstGeom>
        </p:spPr>
      </p:pic>
    </p:spTree>
    <p:extLst>
      <p:ext uri="{BB962C8B-B14F-4D97-AF65-F5344CB8AC3E}">
        <p14:creationId xmlns:p14="http://schemas.microsoft.com/office/powerpoint/2010/main" val="1718227471"/>
      </p:ext>
    </p:extLst>
  </p:cSld>
  <p:clrMapOvr>
    <a:masterClrMapping/>
  </p:clrMapOvr>
  <p:transition>
    <p:wipe di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45DFA242-59D4-7521-FE3B-1F9089F131A7}"/>
              </a:ext>
            </a:extLst>
          </p:cNvPr>
          <p:cNvPicPr>
            <a:picLocks noChangeAspect="1"/>
          </p:cNvPicPr>
          <p:nvPr/>
        </p:nvPicPr>
        <p:blipFill>
          <a:blip r:embed="rId2"/>
          <a:stretch>
            <a:fillRect/>
          </a:stretch>
        </p:blipFill>
        <p:spPr>
          <a:xfrm>
            <a:off x="209550" y="1243012"/>
            <a:ext cx="8724900" cy="4371975"/>
          </a:xfrm>
          <a:prstGeom prst="rect">
            <a:avLst/>
          </a:prstGeom>
        </p:spPr>
      </p:pic>
    </p:spTree>
    <p:extLst>
      <p:ext uri="{BB962C8B-B14F-4D97-AF65-F5344CB8AC3E}">
        <p14:creationId xmlns:p14="http://schemas.microsoft.com/office/powerpoint/2010/main" val="1100530650"/>
      </p:ext>
    </p:extLst>
  </p:cSld>
  <p:clrMapOvr>
    <a:masterClrMapping/>
  </p:clrMapOvr>
  <p:transition>
    <p:wipe di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AEC0E181-60E0-EE5A-24ED-BE8B55B2F7ED}"/>
              </a:ext>
            </a:extLst>
          </p:cNvPr>
          <p:cNvPicPr>
            <a:picLocks noChangeAspect="1"/>
          </p:cNvPicPr>
          <p:nvPr/>
        </p:nvPicPr>
        <p:blipFill>
          <a:blip r:embed="rId2"/>
          <a:stretch>
            <a:fillRect/>
          </a:stretch>
        </p:blipFill>
        <p:spPr>
          <a:xfrm>
            <a:off x="0" y="1305953"/>
            <a:ext cx="9144000" cy="4246094"/>
          </a:xfrm>
          <a:prstGeom prst="rect">
            <a:avLst/>
          </a:prstGeom>
        </p:spPr>
      </p:pic>
    </p:spTree>
    <p:extLst>
      <p:ext uri="{BB962C8B-B14F-4D97-AF65-F5344CB8AC3E}">
        <p14:creationId xmlns:p14="http://schemas.microsoft.com/office/powerpoint/2010/main" val="2364505800"/>
      </p:ext>
    </p:extLst>
  </p:cSld>
  <p:clrMapOvr>
    <a:masterClrMapping/>
  </p:clrMapOvr>
  <p:transition>
    <p:wipe di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5D0D2620-3AF1-5912-6CF2-56DEBA22AA8C}"/>
              </a:ext>
            </a:extLst>
          </p:cNvPr>
          <p:cNvPicPr>
            <a:picLocks noChangeAspect="1"/>
          </p:cNvPicPr>
          <p:nvPr/>
        </p:nvPicPr>
        <p:blipFill>
          <a:blip r:embed="rId2"/>
          <a:stretch>
            <a:fillRect/>
          </a:stretch>
        </p:blipFill>
        <p:spPr>
          <a:xfrm>
            <a:off x="228600" y="1138237"/>
            <a:ext cx="8686800" cy="4581525"/>
          </a:xfrm>
          <a:prstGeom prst="rect">
            <a:avLst/>
          </a:prstGeom>
        </p:spPr>
      </p:pic>
    </p:spTree>
    <p:extLst>
      <p:ext uri="{BB962C8B-B14F-4D97-AF65-F5344CB8AC3E}">
        <p14:creationId xmlns:p14="http://schemas.microsoft.com/office/powerpoint/2010/main" val="3438391762"/>
      </p:ext>
    </p:extLst>
  </p:cSld>
  <p:clrMapOvr>
    <a:masterClrMapping/>
  </p:clrMapOvr>
  <p:transition>
    <p:wipe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4" name="图片 3">
            <a:extLst>
              <a:ext uri="{FF2B5EF4-FFF2-40B4-BE49-F238E27FC236}">
                <a16:creationId xmlns:a16="http://schemas.microsoft.com/office/drawing/2014/main" id="{C79C84E6-12E9-3834-A8EF-07DA1D6DD443}"/>
              </a:ext>
            </a:extLst>
          </p:cNvPr>
          <p:cNvPicPr>
            <a:picLocks noChangeAspect="1"/>
          </p:cNvPicPr>
          <p:nvPr/>
        </p:nvPicPr>
        <p:blipFill>
          <a:blip r:embed="rId2"/>
          <a:stretch>
            <a:fillRect/>
          </a:stretch>
        </p:blipFill>
        <p:spPr>
          <a:xfrm>
            <a:off x="0" y="1210716"/>
            <a:ext cx="9144000" cy="4436568"/>
          </a:xfrm>
          <a:prstGeom prst="rect">
            <a:avLst/>
          </a:prstGeom>
        </p:spPr>
      </p:pic>
    </p:spTree>
    <p:extLst>
      <p:ext uri="{BB962C8B-B14F-4D97-AF65-F5344CB8AC3E}">
        <p14:creationId xmlns:p14="http://schemas.microsoft.com/office/powerpoint/2010/main" val="4258448044"/>
      </p:ext>
    </p:extLst>
  </p:cSld>
  <p:clrMapOvr>
    <a:masterClrMapping/>
  </p:clrMapOvr>
  <p:transition>
    <p:wipe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50E006DC-8F9A-783E-A9EC-E0438A8382B7}"/>
              </a:ext>
            </a:extLst>
          </p:cNvPr>
          <p:cNvPicPr>
            <a:picLocks noChangeAspect="1"/>
          </p:cNvPicPr>
          <p:nvPr/>
        </p:nvPicPr>
        <p:blipFill>
          <a:blip r:embed="rId2"/>
          <a:stretch>
            <a:fillRect/>
          </a:stretch>
        </p:blipFill>
        <p:spPr>
          <a:xfrm>
            <a:off x="541338" y="1508263"/>
            <a:ext cx="8143875" cy="3543300"/>
          </a:xfrm>
          <a:prstGeom prst="rect">
            <a:avLst/>
          </a:prstGeom>
        </p:spPr>
      </p:pic>
    </p:spTree>
    <p:extLst>
      <p:ext uri="{BB962C8B-B14F-4D97-AF65-F5344CB8AC3E}">
        <p14:creationId xmlns:p14="http://schemas.microsoft.com/office/powerpoint/2010/main" val="621557721"/>
      </p:ext>
    </p:extLst>
  </p:cSld>
  <p:clrMapOvr>
    <a:masterClrMapping/>
  </p:clrMapOvr>
  <p:transition>
    <p:wipe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904CCAC7-57C2-188F-8576-AAC3C26FDA39}"/>
              </a:ext>
            </a:extLst>
          </p:cNvPr>
          <p:cNvPicPr>
            <a:picLocks noChangeAspect="1"/>
          </p:cNvPicPr>
          <p:nvPr/>
        </p:nvPicPr>
        <p:blipFill>
          <a:blip r:embed="rId2"/>
          <a:stretch>
            <a:fillRect/>
          </a:stretch>
        </p:blipFill>
        <p:spPr>
          <a:xfrm>
            <a:off x="0" y="1173732"/>
            <a:ext cx="9144000" cy="4510536"/>
          </a:xfrm>
          <a:prstGeom prst="rect">
            <a:avLst/>
          </a:prstGeom>
        </p:spPr>
      </p:pic>
    </p:spTree>
  </p:cSld>
  <p:clrMapOvr>
    <a:masterClrMapping/>
  </p:clrMapOvr>
  <p:transition>
    <p:wipe dir="d"/>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289D0E13-2C9A-18E1-B0E2-7A0D8041A863}"/>
              </a:ext>
            </a:extLst>
          </p:cNvPr>
          <p:cNvPicPr>
            <a:picLocks noChangeAspect="1"/>
          </p:cNvPicPr>
          <p:nvPr/>
        </p:nvPicPr>
        <p:blipFill>
          <a:blip r:embed="rId2"/>
          <a:stretch>
            <a:fillRect/>
          </a:stretch>
        </p:blipFill>
        <p:spPr>
          <a:xfrm>
            <a:off x="223837" y="1185862"/>
            <a:ext cx="8696325" cy="4486275"/>
          </a:xfrm>
          <a:prstGeom prst="rect">
            <a:avLst/>
          </a:prstGeom>
        </p:spPr>
      </p:pic>
    </p:spTree>
    <p:extLst>
      <p:ext uri="{BB962C8B-B14F-4D97-AF65-F5344CB8AC3E}">
        <p14:creationId xmlns:p14="http://schemas.microsoft.com/office/powerpoint/2010/main" val="2832054334"/>
      </p:ext>
    </p:extLst>
  </p:cSld>
  <p:clrMapOvr>
    <a:masterClrMapping/>
  </p:clrMapOvr>
  <p:transition>
    <p:wipe dir="d"/>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DE1E395A-1595-AE11-6291-23FAD9644E36}"/>
              </a:ext>
            </a:extLst>
          </p:cNvPr>
          <p:cNvPicPr>
            <a:picLocks noChangeAspect="1"/>
          </p:cNvPicPr>
          <p:nvPr/>
        </p:nvPicPr>
        <p:blipFill>
          <a:blip r:embed="rId2"/>
          <a:stretch>
            <a:fillRect/>
          </a:stretch>
        </p:blipFill>
        <p:spPr>
          <a:xfrm>
            <a:off x="357187" y="1085850"/>
            <a:ext cx="8429625" cy="4686300"/>
          </a:xfrm>
          <a:prstGeom prst="rect">
            <a:avLst/>
          </a:prstGeom>
        </p:spPr>
      </p:pic>
    </p:spTree>
    <p:extLst>
      <p:ext uri="{BB962C8B-B14F-4D97-AF65-F5344CB8AC3E}">
        <p14:creationId xmlns:p14="http://schemas.microsoft.com/office/powerpoint/2010/main" val="1608911242"/>
      </p:ext>
    </p:extLst>
  </p:cSld>
  <p:clrMapOvr>
    <a:masterClrMapping/>
  </p:clrMapOvr>
  <p:transition>
    <p:wipe di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E7FC1546-328A-B7C7-FCB0-0E385F5F5AE1}"/>
              </a:ext>
            </a:extLst>
          </p:cNvPr>
          <p:cNvPicPr>
            <a:picLocks noChangeAspect="1"/>
          </p:cNvPicPr>
          <p:nvPr/>
        </p:nvPicPr>
        <p:blipFill>
          <a:blip r:embed="rId2"/>
          <a:stretch>
            <a:fillRect/>
          </a:stretch>
        </p:blipFill>
        <p:spPr>
          <a:xfrm>
            <a:off x="623887" y="1200150"/>
            <a:ext cx="7896225" cy="4457700"/>
          </a:xfrm>
          <a:prstGeom prst="rect">
            <a:avLst/>
          </a:prstGeom>
        </p:spPr>
      </p:pic>
    </p:spTree>
    <p:extLst>
      <p:ext uri="{BB962C8B-B14F-4D97-AF65-F5344CB8AC3E}">
        <p14:creationId xmlns:p14="http://schemas.microsoft.com/office/powerpoint/2010/main" val="2305963335"/>
      </p:ext>
    </p:extLst>
  </p:cSld>
  <p:clrMapOvr>
    <a:masterClrMapping/>
  </p:clrMapOvr>
  <p:transition>
    <p:wipe di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6C08A36E-45E2-F9FC-1EF8-20F72A67930E}"/>
              </a:ext>
            </a:extLst>
          </p:cNvPr>
          <p:cNvPicPr>
            <a:picLocks noChangeAspect="1"/>
          </p:cNvPicPr>
          <p:nvPr/>
        </p:nvPicPr>
        <p:blipFill>
          <a:blip r:embed="rId2"/>
          <a:stretch>
            <a:fillRect/>
          </a:stretch>
        </p:blipFill>
        <p:spPr>
          <a:xfrm>
            <a:off x="123825" y="1366837"/>
            <a:ext cx="8896350" cy="4124325"/>
          </a:xfrm>
          <a:prstGeom prst="rect">
            <a:avLst/>
          </a:prstGeom>
        </p:spPr>
      </p:pic>
    </p:spTree>
    <p:extLst>
      <p:ext uri="{BB962C8B-B14F-4D97-AF65-F5344CB8AC3E}">
        <p14:creationId xmlns:p14="http://schemas.microsoft.com/office/powerpoint/2010/main" val="1688445480"/>
      </p:ext>
    </p:extLst>
  </p:cSld>
  <p:clrMapOvr>
    <a:masterClrMapping/>
  </p:clrMapOvr>
  <p:transition>
    <p:wipe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4"/>
          <p:cNvSpPr>
            <a:spLocks noChangeArrowheads="1"/>
          </p:cNvSpPr>
          <p:nvPr/>
        </p:nvSpPr>
        <p:spPr bwMode="auto">
          <a:xfrm>
            <a:off x="541338" y="552450"/>
            <a:ext cx="529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6.4.5 </a:t>
            </a:r>
            <a:r>
              <a:rPr lang="zh-CN" altLang="en-US" dirty="0">
                <a:solidFill>
                  <a:srgbClr val="990000"/>
                </a:solidFill>
                <a:latin typeface="黑体" pitchFamily="2" charset="-122"/>
                <a:ea typeface="黑体" pitchFamily="2" charset="-122"/>
              </a:rPr>
              <a:t>组合逻辑控制器的设计举例（</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p>
        </p:txBody>
      </p:sp>
      <p:pic>
        <p:nvPicPr>
          <p:cNvPr id="3" name="图片 2">
            <a:extLst>
              <a:ext uri="{FF2B5EF4-FFF2-40B4-BE49-F238E27FC236}">
                <a16:creationId xmlns:a16="http://schemas.microsoft.com/office/drawing/2014/main" id="{EFEBC14B-9486-8A8A-378C-635DABD2EDD9}"/>
              </a:ext>
            </a:extLst>
          </p:cNvPr>
          <p:cNvPicPr>
            <a:picLocks noChangeAspect="1"/>
          </p:cNvPicPr>
          <p:nvPr/>
        </p:nvPicPr>
        <p:blipFill>
          <a:blip r:embed="rId2"/>
          <a:stretch>
            <a:fillRect/>
          </a:stretch>
        </p:blipFill>
        <p:spPr>
          <a:xfrm>
            <a:off x="0" y="1341984"/>
            <a:ext cx="9144000" cy="4174032"/>
          </a:xfrm>
          <a:prstGeom prst="rect">
            <a:avLst/>
          </a:prstGeom>
        </p:spPr>
      </p:pic>
    </p:spTree>
    <p:extLst>
      <p:ext uri="{BB962C8B-B14F-4D97-AF65-F5344CB8AC3E}">
        <p14:creationId xmlns:p14="http://schemas.microsoft.com/office/powerpoint/2010/main" val="586528945"/>
      </p:ext>
    </p:extLst>
  </p:cSld>
  <p:clrMapOvr>
    <a:masterClrMapping/>
  </p:clrMapOvr>
  <p:transition>
    <p:wipe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ChangeArrowheads="1"/>
          </p:cNvSpPr>
          <p:nvPr/>
        </p:nvSpPr>
        <p:spPr bwMode="auto">
          <a:xfrm>
            <a:off x="0" y="446088"/>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6.5 </a:t>
            </a:r>
            <a:r>
              <a:rPr lang="zh-CN" altLang="en-US" sz="2800">
                <a:solidFill>
                  <a:srgbClr val="990000"/>
                </a:solidFill>
                <a:latin typeface="黑体" pitchFamily="2" charset="-122"/>
                <a:ea typeface="黑体" pitchFamily="2" charset="-122"/>
              </a:rPr>
              <a:t>微程序控制原理</a:t>
            </a:r>
          </a:p>
        </p:txBody>
      </p:sp>
      <p:pic>
        <p:nvPicPr>
          <p:cNvPr id="3" name="图片 2">
            <a:extLst>
              <a:ext uri="{FF2B5EF4-FFF2-40B4-BE49-F238E27FC236}">
                <a16:creationId xmlns:a16="http://schemas.microsoft.com/office/drawing/2014/main" id="{657C6646-C178-86AC-ADDB-978730AB8117}"/>
              </a:ext>
            </a:extLst>
          </p:cNvPr>
          <p:cNvPicPr>
            <a:picLocks noChangeAspect="1"/>
          </p:cNvPicPr>
          <p:nvPr/>
        </p:nvPicPr>
        <p:blipFill>
          <a:blip r:embed="rId2"/>
          <a:stretch>
            <a:fillRect/>
          </a:stretch>
        </p:blipFill>
        <p:spPr>
          <a:xfrm>
            <a:off x="114300" y="1524000"/>
            <a:ext cx="8915400" cy="3810000"/>
          </a:xfrm>
          <a:prstGeom prst="rect">
            <a:avLst/>
          </a:prstGeom>
        </p:spPr>
      </p:pic>
    </p:spTree>
    <p:extLst>
      <p:ext uri="{BB962C8B-B14F-4D97-AF65-F5344CB8AC3E}">
        <p14:creationId xmlns:p14="http://schemas.microsoft.com/office/powerpoint/2010/main" val="901956037"/>
      </p:ext>
    </p:extLst>
  </p:cSld>
  <p:clrMapOvr>
    <a:masterClrMapping/>
  </p:clrMapOvr>
  <p:transition>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ChangeArrowheads="1"/>
          </p:cNvSpPr>
          <p:nvPr/>
        </p:nvSpPr>
        <p:spPr bwMode="auto">
          <a:xfrm>
            <a:off x="838200" y="1246919"/>
            <a:ext cx="739140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a:spcBef>
                <a:spcPct val="0"/>
              </a:spcBef>
            </a:pPr>
            <a:r>
              <a:rPr lang="zh-CN" altLang="en-US" dirty="0">
                <a:latin typeface="黑体" pitchFamily="2" charset="-122"/>
                <a:ea typeface="黑体" pitchFamily="2" charset="-122"/>
              </a:rPr>
              <a:t>用</a:t>
            </a:r>
            <a:r>
              <a:rPr lang="zh-CN" altLang="en-US" dirty="0">
                <a:solidFill>
                  <a:srgbClr val="FF0000"/>
                </a:solidFill>
                <a:latin typeface="黑体" pitchFamily="2" charset="-122"/>
                <a:ea typeface="黑体" pitchFamily="2" charset="-122"/>
              </a:rPr>
              <a:t>微程序设计技术</a:t>
            </a:r>
            <a:r>
              <a:rPr lang="zh-CN" altLang="en-US" dirty="0">
                <a:latin typeface="黑体" pitchFamily="2" charset="-122"/>
                <a:ea typeface="黑体" pitchFamily="2" charset="-122"/>
              </a:rPr>
              <a:t>来设计</a:t>
            </a:r>
            <a:r>
              <a:rPr lang="zh-CN" altLang="en-US" u="heavy" dirty="0">
                <a:uFill>
                  <a:solidFill>
                    <a:srgbClr val="3333FF"/>
                  </a:solidFill>
                </a:uFill>
                <a:latin typeface="黑体" pitchFamily="2" charset="-122"/>
                <a:ea typeface="黑体" pitchFamily="2" charset="-122"/>
              </a:rPr>
              <a:t>微操作信号发生器</a:t>
            </a:r>
            <a:r>
              <a:rPr lang="zh-CN" altLang="en-US" dirty="0">
                <a:latin typeface="黑体" pitchFamily="2" charset="-122"/>
                <a:ea typeface="黑体" pitchFamily="2" charset="-122"/>
              </a:rPr>
              <a:t>。</a:t>
            </a:r>
            <a:endParaRPr lang="en-US" altLang="zh-CN" dirty="0">
              <a:latin typeface="黑体" pitchFamily="2" charset="-122"/>
              <a:ea typeface="黑体" pitchFamily="2" charset="-122"/>
            </a:endParaRPr>
          </a:p>
          <a:p>
            <a:pPr>
              <a:spcBef>
                <a:spcPct val="0"/>
              </a:spcBef>
            </a:pPr>
            <a:r>
              <a:rPr lang="zh-CN" altLang="en-US" dirty="0">
                <a:latin typeface="黑体" pitchFamily="2" charset="-122"/>
                <a:ea typeface="黑体" pitchFamily="2" charset="-122"/>
              </a:rPr>
              <a:t>  实质：程序设计技术 </a:t>
            </a:r>
            <a:r>
              <a:rPr lang="en-US" altLang="zh-CN" dirty="0">
                <a:latin typeface="黑体" pitchFamily="2" charset="-122"/>
                <a:ea typeface="黑体" pitchFamily="2" charset="-122"/>
              </a:rPr>
              <a:t>+ </a:t>
            </a:r>
            <a:r>
              <a:rPr lang="zh-CN" altLang="en-US" dirty="0">
                <a:latin typeface="黑体" pitchFamily="2" charset="-122"/>
                <a:ea typeface="黑体" pitchFamily="2" charset="-122"/>
              </a:rPr>
              <a:t>存储技术。</a:t>
            </a:r>
          </a:p>
        </p:txBody>
      </p:sp>
      <p:sp>
        <p:nvSpPr>
          <p:cNvPr id="84995" name="Rectangle 2"/>
          <p:cNvSpPr>
            <a:spLocks noChangeArrowheads="1"/>
          </p:cNvSpPr>
          <p:nvPr/>
        </p:nvSpPr>
        <p:spPr bwMode="auto">
          <a:xfrm>
            <a:off x="0" y="446088"/>
            <a:ext cx="91440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6.5 </a:t>
            </a:r>
            <a:r>
              <a:rPr lang="zh-CN" altLang="en-US" sz="2800">
                <a:solidFill>
                  <a:srgbClr val="990000"/>
                </a:solidFill>
                <a:latin typeface="黑体" pitchFamily="2" charset="-122"/>
                <a:ea typeface="黑体" pitchFamily="2" charset="-122"/>
              </a:rPr>
              <a:t>微程序控制原理</a:t>
            </a:r>
          </a:p>
        </p:txBody>
      </p:sp>
      <p:sp>
        <p:nvSpPr>
          <p:cNvPr id="4" name="Rectangle 3"/>
          <p:cNvSpPr>
            <a:spLocks noChangeArrowheads="1"/>
          </p:cNvSpPr>
          <p:nvPr/>
        </p:nvSpPr>
        <p:spPr bwMode="auto">
          <a:xfrm>
            <a:off x="838199" y="2441233"/>
            <a:ext cx="772390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spAutoFit/>
          </a:bodyPr>
          <a:lstStyle/>
          <a:p>
            <a:pPr>
              <a:spcBef>
                <a:spcPct val="0"/>
              </a:spcBef>
            </a:pPr>
            <a:r>
              <a:rPr lang="zh-CN" altLang="en-US" dirty="0">
                <a:solidFill>
                  <a:srgbClr val="FF0000"/>
                </a:solidFill>
                <a:latin typeface="黑体" pitchFamily="2" charset="-122"/>
                <a:ea typeface="黑体" pitchFamily="2" charset="-122"/>
              </a:rPr>
              <a:t>具体做法：</a:t>
            </a:r>
            <a:endParaRPr lang="en-US" altLang="zh-CN" dirty="0">
              <a:solidFill>
                <a:srgbClr val="FF0000"/>
              </a:solidFill>
              <a:latin typeface="黑体" pitchFamily="2" charset="-122"/>
              <a:ea typeface="黑体" pitchFamily="2" charset="-122"/>
            </a:endParaRPr>
          </a:p>
          <a:p>
            <a:pPr>
              <a:spcBef>
                <a:spcPct val="0"/>
              </a:spcBef>
            </a:pPr>
            <a:r>
              <a:rPr lang="zh-CN" altLang="en-US" dirty="0">
                <a:latin typeface="黑体" pitchFamily="2" charset="-122"/>
                <a:ea typeface="黑体" pitchFamily="2" charset="-122"/>
              </a:rPr>
              <a:t>    将微操作控制信号按一定规则进行信息编码（代码化），形成</a:t>
            </a:r>
            <a:r>
              <a:rPr lang="zh-CN" altLang="en-US" dirty="0">
                <a:solidFill>
                  <a:srgbClr val="FF0000"/>
                </a:solidFill>
                <a:latin typeface="黑体" pitchFamily="2" charset="-122"/>
                <a:ea typeface="黑体" pitchFamily="2" charset="-122"/>
              </a:rPr>
              <a:t>控制字（微指令）</a:t>
            </a:r>
            <a:r>
              <a:rPr lang="zh-CN" altLang="en-US" dirty="0">
                <a:latin typeface="黑体" pitchFamily="2" charset="-122"/>
                <a:ea typeface="黑体" pitchFamily="2" charset="-122"/>
              </a:rPr>
              <a:t>；</a:t>
            </a:r>
            <a:endParaRPr lang="en-US" altLang="zh-CN" dirty="0">
              <a:latin typeface="黑体" pitchFamily="2" charset="-122"/>
              <a:ea typeface="黑体" pitchFamily="2" charset="-122"/>
            </a:endParaRPr>
          </a:p>
          <a:p>
            <a:pPr algn="just">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再把这些微指令按时间先后排列起来构成</a:t>
            </a:r>
            <a:r>
              <a:rPr lang="zh-CN" altLang="en-US" dirty="0">
                <a:solidFill>
                  <a:srgbClr val="FF0000"/>
                </a:solidFill>
                <a:latin typeface="黑体" pitchFamily="2" charset="-122"/>
                <a:ea typeface="黑体" pitchFamily="2" charset="-122"/>
              </a:rPr>
              <a:t>微程序</a:t>
            </a:r>
            <a:r>
              <a:rPr lang="zh-CN" altLang="en-US" dirty="0">
                <a:latin typeface="黑体" pitchFamily="2" charset="-122"/>
                <a:ea typeface="黑体" pitchFamily="2" charset="-122"/>
              </a:rPr>
              <a:t>，存放在一个只读的</a:t>
            </a:r>
            <a:r>
              <a:rPr lang="zh-CN" altLang="en-US" dirty="0">
                <a:solidFill>
                  <a:srgbClr val="FF0000"/>
                </a:solidFill>
                <a:latin typeface="黑体" pitchFamily="2" charset="-122"/>
                <a:ea typeface="黑体" pitchFamily="2" charset="-122"/>
              </a:rPr>
              <a:t>控制存储器</a:t>
            </a:r>
            <a:r>
              <a:rPr lang="zh-CN" altLang="en-US" dirty="0">
                <a:latin typeface="黑体" pitchFamily="2" charset="-122"/>
                <a:ea typeface="黑体" pitchFamily="2" charset="-122"/>
              </a:rPr>
              <a:t>中。</a:t>
            </a:r>
          </a:p>
        </p:txBody>
      </p:sp>
      <p:pic>
        <p:nvPicPr>
          <p:cNvPr id="3" name="图片 2">
            <a:extLst>
              <a:ext uri="{FF2B5EF4-FFF2-40B4-BE49-F238E27FC236}">
                <a16:creationId xmlns:a16="http://schemas.microsoft.com/office/drawing/2014/main" id="{3F6FA8C8-570B-9287-E94D-A0A83E921F64}"/>
              </a:ext>
            </a:extLst>
          </p:cNvPr>
          <p:cNvPicPr>
            <a:picLocks noChangeAspect="1"/>
          </p:cNvPicPr>
          <p:nvPr/>
        </p:nvPicPr>
        <p:blipFill>
          <a:blip r:embed="rId2"/>
          <a:stretch>
            <a:fillRect/>
          </a:stretch>
        </p:blipFill>
        <p:spPr>
          <a:xfrm>
            <a:off x="1256886" y="4934223"/>
            <a:ext cx="7524750" cy="85725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sp>
        <p:nvSpPr>
          <p:cNvPr id="88067" name="Text Box 6"/>
          <p:cNvSpPr txBox="1">
            <a:spLocks noChangeArrowheads="1"/>
          </p:cNvSpPr>
          <p:nvPr/>
        </p:nvSpPr>
        <p:spPr bwMode="auto">
          <a:xfrm>
            <a:off x="695325" y="1098550"/>
            <a:ext cx="7642225"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  1</a:t>
            </a:r>
            <a:r>
              <a:rPr lang="zh-CN" altLang="en-US" dirty="0">
                <a:solidFill>
                  <a:srgbClr val="990000"/>
                </a:solidFill>
                <a:latin typeface="黑体" pitchFamily="2" charset="-122"/>
                <a:ea typeface="黑体" pitchFamily="2" charset="-122"/>
              </a:rPr>
              <a:t>．微命令和微操作</a:t>
            </a:r>
          </a:p>
          <a:p>
            <a:pPr eaLnBrk="1" hangingPunct="1">
              <a:spcBef>
                <a:spcPct val="0"/>
              </a:spcBef>
            </a:pPr>
            <a:r>
              <a:rPr lang="zh-CN" altLang="en-US" dirty="0">
                <a:latin typeface="黑体" pitchFamily="2" charset="-122"/>
                <a:ea typeface="黑体" pitchFamily="2" charset="-122"/>
              </a:rPr>
              <a:t>    </a:t>
            </a:r>
            <a:r>
              <a:rPr lang="zh-CN" altLang="en-US" dirty="0">
                <a:solidFill>
                  <a:srgbClr val="FF0000"/>
                </a:solidFill>
                <a:latin typeface="黑体" pitchFamily="2" charset="-122"/>
                <a:ea typeface="黑体" pitchFamily="2" charset="-122"/>
              </a:rPr>
              <a:t>微命令是</a:t>
            </a:r>
            <a:r>
              <a:rPr lang="zh-CN" altLang="en-US" dirty="0">
                <a:latin typeface="黑体" pitchFamily="2" charset="-122"/>
                <a:ea typeface="黑体" pitchFamily="2" charset="-122"/>
              </a:rPr>
              <a:t>控制计算机某个部件完成某个基本微操作的命令。微命令和微操作是一一对应的。</a:t>
            </a:r>
          </a:p>
          <a:p>
            <a:pPr eaLnBrk="1" hangingPunct="1"/>
            <a:r>
              <a:rPr lang="zh-CN"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．微指令、微地址</a:t>
            </a:r>
          </a:p>
          <a:p>
            <a:pPr eaLnBrk="1" hangingPunct="1">
              <a:spcBef>
                <a:spcPct val="0"/>
              </a:spcBef>
            </a:pPr>
            <a:r>
              <a:rPr lang="zh-CN" altLang="en-US" dirty="0">
                <a:latin typeface="黑体" pitchFamily="2" charset="-122"/>
                <a:ea typeface="黑体" pitchFamily="2" charset="-122"/>
              </a:rPr>
              <a:t>    把一个节拍内所完成的微操作集合起来，用二进制的编码方式表示，形成一条</a:t>
            </a:r>
            <a:r>
              <a:rPr lang="zh-CN" altLang="en-US" dirty="0">
                <a:solidFill>
                  <a:srgbClr val="FF0000"/>
                </a:solidFill>
                <a:latin typeface="黑体" pitchFamily="2" charset="-122"/>
                <a:ea typeface="黑体" pitchFamily="2" charset="-122"/>
              </a:rPr>
              <a:t>微指令</a:t>
            </a:r>
            <a:r>
              <a:rPr lang="zh-CN" altLang="en-US" dirty="0">
                <a:latin typeface="黑体" pitchFamily="2" charset="-122"/>
                <a:ea typeface="黑体" pitchFamily="2" charset="-122"/>
              </a:rPr>
              <a:t>。</a:t>
            </a:r>
          </a:p>
          <a:p>
            <a:pPr eaLnBrk="1" hangingPunct="1">
              <a:spcBef>
                <a:spcPct val="0"/>
              </a:spcBef>
            </a:pPr>
            <a:endParaRPr lang="zh-CN" altLang="en-US" dirty="0">
              <a:latin typeface="黑体" pitchFamily="2" charset="-122"/>
              <a:ea typeface="黑体" pitchFamily="2" charset="-122"/>
            </a:endParaRPr>
          </a:p>
          <a:p>
            <a:pPr eaLnBrk="1" hangingPunct="1">
              <a:spcBef>
                <a:spcPct val="0"/>
              </a:spcBef>
            </a:pPr>
            <a:endParaRPr lang="zh-CN" altLang="en-US" dirty="0">
              <a:latin typeface="黑体" pitchFamily="2" charset="-122"/>
              <a:ea typeface="黑体" pitchFamily="2" charset="-122"/>
            </a:endParaRPr>
          </a:p>
          <a:p>
            <a:pPr eaLnBrk="1" hangingPunct="1">
              <a:spcBef>
                <a:spcPct val="0"/>
              </a:spcBef>
            </a:pPr>
            <a:r>
              <a:rPr lang="zh-CN" altLang="en-US" dirty="0">
                <a:latin typeface="黑体" pitchFamily="2" charset="-122"/>
                <a:ea typeface="黑体" pitchFamily="2" charset="-122"/>
              </a:rPr>
              <a:t>    存放微指令的控制存储器的单元地址就称为</a:t>
            </a:r>
            <a:r>
              <a:rPr lang="zh-CN" altLang="en-US" dirty="0">
                <a:solidFill>
                  <a:srgbClr val="FF0000"/>
                </a:solidFill>
                <a:latin typeface="黑体" pitchFamily="2" charset="-122"/>
                <a:ea typeface="黑体" pitchFamily="2" charset="-122"/>
              </a:rPr>
              <a:t>微地址</a:t>
            </a:r>
            <a:r>
              <a:rPr lang="zh-CN" altLang="en-US" dirty="0">
                <a:latin typeface="黑体" pitchFamily="2" charset="-122"/>
                <a:ea typeface="黑体" pitchFamily="2" charset="-122"/>
              </a:rPr>
              <a:t>。</a:t>
            </a:r>
          </a:p>
        </p:txBody>
      </p:sp>
      <p:grpSp>
        <p:nvGrpSpPr>
          <p:cNvPr id="88068" name="Group 11"/>
          <p:cNvGrpSpPr>
            <a:grpSpLocks/>
          </p:cNvGrpSpPr>
          <p:nvPr/>
        </p:nvGrpSpPr>
        <p:grpSpPr bwMode="auto">
          <a:xfrm>
            <a:off x="1147763" y="4438650"/>
            <a:ext cx="6130925" cy="495300"/>
            <a:chOff x="764" y="3238"/>
            <a:chExt cx="3862" cy="312"/>
          </a:xfrm>
        </p:grpSpPr>
        <p:sp>
          <p:nvSpPr>
            <p:cNvPr id="88069" name="Text Box 8"/>
            <p:cNvSpPr txBox="1">
              <a:spLocks noChangeArrowheads="1"/>
            </p:cNvSpPr>
            <p:nvPr/>
          </p:nvSpPr>
          <p:spPr bwMode="auto">
            <a:xfrm>
              <a:off x="764" y="3262"/>
              <a:ext cx="6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a:latin typeface="黑体" pitchFamily="2" charset="-122"/>
                  <a:ea typeface="黑体" pitchFamily="2" charset="-122"/>
                </a:rPr>
                <a:t>uIR</a:t>
              </a:r>
            </a:p>
          </p:txBody>
        </p:sp>
        <p:sp>
          <p:nvSpPr>
            <p:cNvPr id="88070" name="Text Box 9"/>
            <p:cNvSpPr txBox="1">
              <a:spLocks noChangeArrowheads="1"/>
            </p:cNvSpPr>
            <p:nvPr/>
          </p:nvSpPr>
          <p:spPr bwMode="auto">
            <a:xfrm>
              <a:off x="1504" y="3238"/>
              <a:ext cx="1563" cy="291"/>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solidFill>
                    <a:srgbClr val="000066"/>
                  </a:solidFill>
                  <a:latin typeface="黑体" pitchFamily="2" charset="-122"/>
                  <a:ea typeface="黑体" pitchFamily="2" charset="-122"/>
                </a:rPr>
                <a:t>操作控制字段</a:t>
              </a:r>
              <a:endParaRPr lang="en-US" altLang="zh-CN">
                <a:solidFill>
                  <a:srgbClr val="000066"/>
                </a:solidFill>
                <a:latin typeface="黑体" pitchFamily="2" charset="-122"/>
                <a:ea typeface="黑体" pitchFamily="2" charset="-122"/>
              </a:endParaRPr>
            </a:p>
          </p:txBody>
        </p:sp>
        <p:sp>
          <p:nvSpPr>
            <p:cNvPr id="88071" name="Text Box 10"/>
            <p:cNvSpPr txBox="1">
              <a:spLocks noChangeArrowheads="1"/>
            </p:cNvSpPr>
            <p:nvPr/>
          </p:nvSpPr>
          <p:spPr bwMode="auto">
            <a:xfrm>
              <a:off x="3063" y="3238"/>
              <a:ext cx="1563" cy="291"/>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solidFill>
                    <a:srgbClr val="000066"/>
                  </a:solidFill>
                  <a:latin typeface="黑体" pitchFamily="2" charset="-122"/>
                  <a:ea typeface="黑体" pitchFamily="2" charset="-122"/>
                </a:rPr>
                <a:t>顺序控制字段</a:t>
              </a:r>
              <a:endParaRPr lang="en-US" altLang="zh-CN">
                <a:solidFill>
                  <a:srgbClr val="000066"/>
                </a:solidFill>
                <a:latin typeface="黑体" pitchFamily="2" charset="-122"/>
                <a:ea typeface="黑体" pitchFamily="2" charset="-122"/>
              </a:endParaRPr>
            </a:p>
          </p:txBody>
        </p:sp>
      </p:grpSp>
    </p:spTree>
  </p:cSld>
  <p:clrMapOvr>
    <a:masterClrMapping/>
  </p:clrMapOvr>
  <p:transition>
    <p:wipe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sp>
        <p:nvSpPr>
          <p:cNvPr id="89091" name="Text Box 3"/>
          <p:cNvSpPr txBox="1">
            <a:spLocks noChangeArrowheads="1"/>
          </p:cNvSpPr>
          <p:nvPr/>
        </p:nvSpPr>
        <p:spPr bwMode="auto">
          <a:xfrm>
            <a:off x="657225" y="1098550"/>
            <a:ext cx="7488238"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dirty="0">
                <a:solidFill>
                  <a:srgbClr val="990000"/>
                </a:solidFill>
                <a:latin typeface="黑体" pitchFamily="2" charset="-122"/>
                <a:ea typeface="黑体" pitchFamily="2" charset="-122"/>
              </a:rPr>
              <a:t>  </a:t>
            </a:r>
            <a:r>
              <a:rPr lang="en-US" altLang="en-US" dirty="0">
                <a:solidFill>
                  <a:srgbClr val="990000"/>
                </a:solidFill>
                <a:latin typeface="黑体" pitchFamily="2" charset="-122"/>
                <a:ea typeface="黑体" pitchFamily="2" charset="-122"/>
              </a:rPr>
              <a:t>3．微周期</a:t>
            </a:r>
          </a:p>
          <a:p>
            <a:pPr eaLnBrk="1" hangingPunct="1">
              <a:spcBef>
                <a:spcPct val="0"/>
              </a:spcBef>
            </a:pPr>
            <a:r>
              <a:rPr lang="zh-CN" altLang="en-US" dirty="0">
                <a:latin typeface="黑体" pitchFamily="2" charset="-122"/>
                <a:ea typeface="黑体" pitchFamily="2" charset="-122"/>
              </a:rPr>
              <a:t>    从控制存储器中读取一条微指令并执行相应的微命令所需的全部时间称为</a:t>
            </a:r>
            <a:r>
              <a:rPr lang="zh-CN" altLang="en-US" dirty="0">
                <a:solidFill>
                  <a:srgbClr val="FF0000"/>
                </a:solidFill>
                <a:latin typeface="黑体" pitchFamily="2" charset="-122"/>
                <a:ea typeface="黑体" pitchFamily="2" charset="-122"/>
              </a:rPr>
              <a:t>微周期</a:t>
            </a:r>
            <a:r>
              <a:rPr lang="zh-CN" altLang="en-US" dirty="0">
                <a:latin typeface="黑体" pitchFamily="2" charset="-122"/>
                <a:ea typeface="黑体" pitchFamily="2" charset="-122"/>
              </a:rPr>
              <a:t>。</a:t>
            </a:r>
          </a:p>
        </p:txBody>
      </p:sp>
      <p:grpSp>
        <p:nvGrpSpPr>
          <p:cNvPr id="89092" name="Group 46"/>
          <p:cNvGrpSpPr>
            <a:grpSpLocks/>
          </p:cNvGrpSpPr>
          <p:nvPr/>
        </p:nvGrpSpPr>
        <p:grpSpPr bwMode="auto">
          <a:xfrm>
            <a:off x="860425" y="2714625"/>
            <a:ext cx="6959600" cy="2900363"/>
            <a:chOff x="542" y="1710"/>
            <a:chExt cx="4384" cy="1827"/>
          </a:xfrm>
        </p:grpSpPr>
        <p:grpSp>
          <p:nvGrpSpPr>
            <p:cNvPr id="89093" name="Group 27"/>
            <p:cNvGrpSpPr>
              <a:grpSpLocks/>
            </p:cNvGrpSpPr>
            <p:nvPr/>
          </p:nvGrpSpPr>
          <p:grpSpPr bwMode="auto">
            <a:xfrm>
              <a:off x="1750" y="2229"/>
              <a:ext cx="3174" cy="196"/>
              <a:chOff x="1078" y="1859"/>
              <a:chExt cx="2354" cy="196"/>
            </a:xfrm>
          </p:grpSpPr>
          <p:sp>
            <p:nvSpPr>
              <p:cNvPr id="89113" name="Freeform 11"/>
              <p:cNvSpPr>
                <a:spLocks/>
              </p:cNvSpPr>
              <p:nvPr/>
            </p:nvSpPr>
            <p:spPr bwMode="auto">
              <a:xfrm>
                <a:off x="1078" y="1861"/>
                <a:ext cx="1893" cy="194"/>
              </a:xfrm>
              <a:custGeom>
                <a:avLst/>
                <a:gdLst>
                  <a:gd name="T0" fmla="*/ 0 w 1886"/>
                  <a:gd name="T1" fmla="*/ 971 h 182"/>
                  <a:gd name="T2" fmla="*/ 194 w 1886"/>
                  <a:gd name="T3" fmla="*/ 971 h 182"/>
                  <a:gd name="T4" fmla="*/ 194 w 1886"/>
                  <a:gd name="T5" fmla="*/ 0 h 182"/>
                  <a:gd name="T6" fmla="*/ 364 w 1886"/>
                  <a:gd name="T7" fmla="*/ 0 h 182"/>
                  <a:gd name="T8" fmla="*/ 366 w 1886"/>
                  <a:gd name="T9" fmla="*/ 971 h 182"/>
                  <a:gd name="T10" fmla="*/ 1886 w 1886"/>
                  <a:gd name="T11" fmla="*/ 971 h 182"/>
                  <a:gd name="T12" fmla="*/ 0 60000 65536"/>
                  <a:gd name="T13" fmla="*/ 0 60000 65536"/>
                  <a:gd name="T14" fmla="*/ 0 60000 65536"/>
                  <a:gd name="T15" fmla="*/ 0 60000 65536"/>
                  <a:gd name="T16" fmla="*/ 0 60000 65536"/>
                  <a:gd name="T17" fmla="*/ 0 60000 65536"/>
                  <a:gd name="T18" fmla="*/ 0 w 1886"/>
                  <a:gd name="T19" fmla="*/ 0 h 182"/>
                  <a:gd name="T20" fmla="*/ 1886 w 1886"/>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886" h="182">
                    <a:moveTo>
                      <a:pt x="0" y="182"/>
                    </a:moveTo>
                    <a:lnTo>
                      <a:pt x="194" y="182"/>
                    </a:lnTo>
                    <a:lnTo>
                      <a:pt x="194" y="0"/>
                    </a:lnTo>
                    <a:lnTo>
                      <a:pt x="364" y="0"/>
                    </a:lnTo>
                    <a:lnTo>
                      <a:pt x="366" y="182"/>
                    </a:lnTo>
                    <a:lnTo>
                      <a:pt x="1886" y="182"/>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sp>
            <p:nvSpPr>
              <p:cNvPr id="89114" name="Freeform 12"/>
              <p:cNvSpPr>
                <a:spLocks/>
              </p:cNvSpPr>
              <p:nvPr/>
            </p:nvSpPr>
            <p:spPr bwMode="auto">
              <a:xfrm>
                <a:off x="2845" y="1859"/>
                <a:ext cx="587" cy="196"/>
              </a:xfrm>
              <a:custGeom>
                <a:avLst/>
                <a:gdLst>
                  <a:gd name="T0" fmla="*/ 0 w 576"/>
                  <a:gd name="T1" fmla="*/ 971 h 182"/>
                  <a:gd name="T2" fmla="*/ 194 w 576"/>
                  <a:gd name="T3" fmla="*/ 971 h 182"/>
                  <a:gd name="T4" fmla="*/ 194 w 576"/>
                  <a:gd name="T5" fmla="*/ 0 h 182"/>
                  <a:gd name="T6" fmla="*/ 364 w 576"/>
                  <a:gd name="T7" fmla="*/ 0 h 182"/>
                  <a:gd name="T8" fmla="*/ 366 w 576"/>
                  <a:gd name="T9" fmla="*/ 971 h 182"/>
                  <a:gd name="T10" fmla="*/ 576 w 576"/>
                  <a:gd name="T11" fmla="*/ 964 h 182"/>
                  <a:gd name="T12" fmla="*/ 0 60000 65536"/>
                  <a:gd name="T13" fmla="*/ 0 60000 65536"/>
                  <a:gd name="T14" fmla="*/ 0 60000 65536"/>
                  <a:gd name="T15" fmla="*/ 0 60000 65536"/>
                  <a:gd name="T16" fmla="*/ 0 60000 65536"/>
                  <a:gd name="T17" fmla="*/ 0 60000 65536"/>
                  <a:gd name="T18" fmla="*/ 0 w 576"/>
                  <a:gd name="T19" fmla="*/ 0 h 182"/>
                  <a:gd name="T20" fmla="*/ 576 w 576"/>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576" h="182">
                    <a:moveTo>
                      <a:pt x="0" y="182"/>
                    </a:moveTo>
                    <a:lnTo>
                      <a:pt x="194" y="182"/>
                    </a:lnTo>
                    <a:lnTo>
                      <a:pt x="194" y="0"/>
                    </a:lnTo>
                    <a:lnTo>
                      <a:pt x="364" y="0"/>
                    </a:lnTo>
                    <a:lnTo>
                      <a:pt x="366" y="182"/>
                    </a:lnTo>
                    <a:lnTo>
                      <a:pt x="576" y="181"/>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grpSp>
        <p:sp>
          <p:nvSpPr>
            <p:cNvPr id="89094" name="Freeform 18"/>
            <p:cNvSpPr>
              <a:spLocks/>
            </p:cNvSpPr>
            <p:nvPr/>
          </p:nvSpPr>
          <p:spPr bwMode="auto">
            <a:xfrm>
              <a:off x="1764" y="2569"/>
              <a:ext cx="3162" cy="194"/>
            </a:xfrm>
            <a:custGeom>
              <a:avLst/>
              <a:gdLst>
                <a:gd name="T0" fmla="*/ 0 w 2336"/>
                <a:gd name="T1" fmla="*/ 961 h 182"/>
                <a:gd name="T2" fmla="*/ 57055 w 2336"/>
                <a:gd name="T3" fmla="*/ 971 h 182"/>
                <a:gd name="T4" fmla="*/ 57055 w 2336"/>
                <a:gd name="T5" fmla="*/ 0 h 182"/>
                <a:gd name="T6" fmla="*/ 72175 w 2336"/>
                <a:gd name="T7" fmla="*/ 0 h 182"/>
                <a:gd name="T8" fmla="*/ 72292 w 2336"/>
                <a:gd name="T9" fmla="*/ 971 h 182"/>
                <a:gd name="T10" fmla="*/ 207033 w 2336"/>
                <a:gd name="T11" fmla="*/ 971 h 182"/>
                <a:gd name="T12" fmla="*/ 0 60000 65536"/>
                <a:gd name="T13" fmla="*/ 0 60000 65536"/>
                <a:gd name="T14" fmla="*/ 0 60000 65536"/>
                <a:gd name="T15" fmla="*/ 0 60000 65536"/>
                <a:gd name="T16" fmla="*/ 0 60000 65536"/>
                <a:gd name="T17" fmla="*/ 0 60000 65536"/>
                <a:gd name="T18" fmla="*/ 0 w 2336"/>
                <a:gd name="T19" fmla="*/ 0 h 182"/>
                <a:gd name="T20" fmla="*/ 2336 w 2336"/>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2336" h="182">
                  <a:moveTo>
                    <a:pt x="0" y="180"/>
                  </a:moveTo>
                  <a:lnTo>
                    <a:pt x="644" y="182"/>
                  </a:lnTo>
                  <a:lnTo>
                    <a:pt x="644" y="0"/>
                  </a:lnTo>
                  <a:lnTo>
                    <a:pt x="814" y="0"/>
                  </a:lnTo>
                  <a:lnTo>
                    <a:pt x="816" y="182"/>
                  </a:lnTo>
                  <a:lnTo>
                    <a:pt x="2336" y="182"/>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sp>
          <p:nvSpPr>
            <p:cNvPr id="89095" name="Freeform 22"/>
            <p:cNvSpPr>
              <a:spLocks/>
            </p:cNvSpPr>
            <p:nvPr/>
          </p:nvSpPr>
          <p:spPr bwMode="auto">
            <a:xfrm>
              <a:off x="1760" y="3310"/>
              <a:ext cx="3153" cy="194"/>
            </a:xfrm>
            <a:custGeom>
              <a:avLst/>
              <a:gdLst>
                <a:gd name="T0" fmla="*/ 206845 w 2329"/>
                <a:gd name="T1" fmla="*/ 951 h 183"/>
                <a:gd name="T2" fmla="*/ 173207 w 2329"/>
                <a:gd name="T3" fmla="*/ 954 h 183"/>
                <a:gd name="T4" fmla="*/ 173207 w 2329"/>
                <a:gd name="T5" fmla="*/ 0 h 183"/>
                <a:gd name="T6" fmla="*/ 158136 w 2329"/>
                <a:gd name="T7" fmla="*/ 0 h 183"/>
                <a:gd name="T8" fmla="*/ 157931 w 2329"/>
                <a:gd name="T9" fmla="*/ 954 h 183"/>
                <a:gd name="T10" fmla="*/ 0 w 2329"/>
                <a:gd name="T11" fmla="*/ 961 h 183"/>
                <a:gd name="T12" fmla="*/ 0 60000 65536"/>
                <a:gd name="T13" fmla="*/ 0 60000 65536"/>
                <a:gd name="T14" fmla="*/ 0 60000 65536"/>
                <a:gd name="T15" fmla="*/ 0 60000 65536"/>
                <a:gd name="T16" fmla="*/ 0 60000 65536"/>
                <a:gd name="T17" fmla="*/ 0 60000 65536"/>
                <a:gd name="T18" fmla="*/ 0 w 2329"/>
                <a:gd name="T19" fmla="*/ 0 h 183"/>
                <a:gd name="T20" fmla="*/ 2329 w 2329"/>
                <a:gd name="T21" fmla="*/ 183 h 183"/>
              </a:gdLst>
              <a:ahLst/>
              <a:cxnLst>
                <a:cxn ang="T12">
                  <a:pos x="T0" y="T1"/>
                </a:cxn>
                <a:cxn ang="T13">
                  <a:pos x="T2" y="T3"/>
                </a:cxn>
                <a:cxn ang="T14">
                  <a:pos x="T4" y="T5"/>
                </a:cxn>
                <a:cxn ang="T15">
                  <a:pos x="T6" y="T7"/>
                </a:cxn>
                <a:cxn ang="T16">
                  <a:pos x="T8" y="T9"/>
                </a:cxn>
                <a:cxn ang="T17">
                  <a:pos x="T10" y="T11"/>
                </a:cxn>
              </a:cxnLst>
              <a:rect l="T18" t="T19" r="T20" b="T21"/>
              <a:pathLst>
                <a:path w="2329" h="183">
                  <a:moveTo>
                    <a:pt x="2329" y="181"/>
                  </a:moveTo>
                  <a:lnTo>
                    <a:pt x="1950" y="182"/>
                  </a:lnTo>
                  <a:lnTo>
                    <a:pt x="1950" y="0"/>
                  </a:lnTo>
                  <a:lnTo>
                    <a:pt x="1780" y="0"/>
                  </a:lnTo>
                  <a:lnTo>
                    <a:pt x="1778" y="182"/>
                  </a:lnTo>
                  <a:lnTo>
                    <a:pt x="0" y="183"/>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sp>
          <p:nvSpPr>
            <p:cNvPr id="89096" name="Freeform 26"/>
            <p:cNvSpPr>
              <a:spLocks/>
            </p:cNvSpPr>
            <p:nvPr/>
          </p:nvSpPr>
          <p:spPr bwMode="auto">
            <a:xfrm>
              <a:off x="1773" y="2928"/>
              <a:ext cx="3126" cy="194"/>
            </a:xfrm>
            <a:custGeom>
              <a:avLst/>
              <a:gdLst>
                <a:gd name="T0" fmla="*/ 0 w 2309"/>
                <a:gd name="T1" fmla="*/ 961 h 183"/>
                <a:gd name="T2" fmla="*/ 55879 w 2309"/>
                <a:gd name="T3" fmla="*/ 961 h 183"/>
                <a:gd name="T4" fmla="*/ 55879 w 2309"/>
                <a:gd name="T5" fmla="*/ 0 h 183"/>
                <a:gd name="T6" fmla="*/ 172198 w 2309"/>
                <a:gd name="T7" fmla="*/ 0 h 183"/>
                <a:gd name="T8" fmla="*/ 172650 w 2309"/>
                <a:gd name="T9" fmla="*/ 961 h 183"/>
                <a:gd name="T10" fmla="*/ 205059 w 2309"/>
                <a:gd name="T11" fmla="*/ 961 h 183"/>
                <a:gd name="T12" fmla="*/ 0 60000 65536"/>
                <a:gd name="T13" fmla="*/ 0 60000 65536"/>
                <a:gd name="T14" fmla="*/ 0 60000 65536"/>
                <a:gd name="T15" fmla="*/ 0 60000 65536"/>
                <a:gd name="T16" fmla="*/ 0 60000 65536"/>
                <a:gd name="T17" fmla="*/ 0 60000 65536"/>
                <a:gd name="T18" fmla="*/ 0 w 2309"/>
                <a:gd name="T19" fmla="*/ 0 h 183"/>
                <a:gd name="T20" fmla="*/ 2309 w 2309"/>
                <a:gd name="T21" fmla="*/ 183 h 183"/>
              </a:gdLst>
              <a:ahLst/>
              <a:cxnLst>
                <a:cxn ang="T12">
                  <a:pos x="T0" y="T1"/>
                </a:cxn>
                <a:cxn ang="T13">
                  <a:pos x="T2" y="T3"/>
                </a:cxn>
                <a:cxn ang="T14">
                  <a:pos x="T4" y="T5"/>
                </a:cxn>
                <a:cxn ang="T15">
                  <a:pos x="T6" y="T7"/>
                </a:cxn>
                <a:cxn ang="T16">
                  <a:pos x="T8" y="T9"/>
                </a:cxn>
                <a:cxn ang="T17">
                  <a:pos x="T10" y="T11"/>
                </a:cxn>
              </a:cxnLst>
              <a:rect l="T18" t="T19" r="T20" b="T21"/>
              <a:pathLst>
                <a:path w="2309" h="183">
                  <a:moveTo>
                    <a:pt x="0" y="183"/>
                  </a:moveTo>
                  <a:lnTo>
                    <a:pt x="629" y="183"/>
                  </a:lnTo>
                  <a:lnTo>
                    <a:pt x="629" y="0"/>
                  </a:lnTo>
                  <a:lnTo>
                    <a:pt x="1939" y="0"/>
                  </a:lnTo>
                  <a:lnTo>
                    <a:pt x="1944" y="183"/>
                  </a:lnTo>
                  <a:lnTo>
                    <a:pt x="2309" y="183"/>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grpSp>
          <p:nvGrpSpPr>
            <p:cNvPr id="89097" name="Group 30"/>
            <p:cNvGrpSpPr>
              <a:grpSpLocks/>
            </p:cNvGrpSpPr>
            <p:nvPr/>
          </p:nvGrpSpPr>
          <p:grpSpPr bwMode="auto">
            <a:xfrm>
              <a:off x="2025" y="1754"/>
              <a:ext cx="2389" cy="1783"/>
              <a:chOff x="1282" y="1618"/>
              <a:chExt cx="1771" cy="1742"/>
            </a:xfrm>
          </p:grpSpPr>
          <p:sp>
            <p:nvSpPr>
              <p:cNvPr id="89111" name="Line 28"/>
              <p:cNvSpPr>
                <a:spLocks noChangeShapeType="1"/>
              </p:cNvSpPr>
              <p:nvPr/>
            </p:nvSpPr>
            <p:spPr bwMode="auto">
              <a:xfrm flipH="1">
                <a:off x="1282" y="1618"/>
                <a:ext cx="5" cy="1742"/>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2" name="Line 29"/>
              <p:cNvSpPr>
                <a:spLocks noChangeShapeType="1"/>
              </p:cNvSpPr>
              <p:nvPr/>
            </p:nvSpPr>
            <p:spPr bwMode="auto">
              <a:xfrm flipH="1">
                <a:off x="3048" y="1618"/>
                <a:ext cx="5" cy="1742"/>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9098" name="Line 31"/>
            <p:cNvSpPr>
              <a:spLocks noChangeShapeType="1"/>
            </p:cNvSpPr>
            <p:nvPr/>
          </p:nvSpPr>
          <p:spPr bwMode="auto">
            <a:xfrm flipV="1">
              <a:off x="2031" y="1811"/>
              <a:ext cx="2337" cy="0"/>
            </a:xfrm>
            <a:prstGeom prst="line">
              <a:avLst/>
            </a:prstGeom>
            <a:noFill/>
            <a:ln w="1270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099" name="Text Box 32"/>
            <p:cNvSpPr txBox="1">
              <a:spLocks noChangeArrowheads="1"/>
            </p:cNvSpPr>
            <p:nvPr/>
          </p:nvSpPr>
          <p:spPr bwMode="auto">
            <a:xfrm>
              <a:off x="2647" y="1710"/>
              <a:ext cx="1107"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100000"/>
                </a:spcBef>
              </a:pPr>
              <a:r>
                <a:rPr lang="en-US" altLang="zh-CN" sz="1800">
                  <a:latin typeface="黑体" pitchFamily="2" charset="-122"/>
                  <a:ea typeface="黑体" pitchFamily="2" charset="-122"/>
                </a:rPr>
                <a:t>1</a:t>
              </a:r>
              <a:r>
                <a:rPr lang="zh-CN" altLang="en-US" sz="1800">
                  <a:latin typeface="黑体" pitchFamily="2" charset="-122"/>
                  <a:ea typeface="黑体" pitchFamily="2" charset="-122"/>
                </a:rPr>
                <a:t>个微周期</a:t>
              </a:r>
            </a:p>
          </p:txBody>
        </p:sp>
        <p:sp>
          <p:nvSpPr>
            <p:cNvPr id="89100" name="Line 33"/>
            <p:cNvSpPr>
              <a:spLocks noChangeShapeType="1"/>
            </p:cNvSpPr>
            <p:nvPr/>
          </p:nvSpPr>
          <p:spPr bwMode="auto">
            <a:xfrm flipV="1">
              <a:off x="2050" y="2132"/>
              <a:ext cx="582" cy="0"/>
            </a:xfrm>
            <a:prstGeom prst="line">
              <a:avLst/>
            </a:prstGeom>
            <a:noFill/>
            <a:ln w="1270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01" name="Line 34"/>
            <p:cNvSpPr>
              <a:spLocks noChangeShapeType="1"/>
            </p:cNvSpPr>
            <p:nvPr/>
          </p:nvSpPr>
          <p:spPr bwMode="auto">
            <a:xfrm flipV="1">
              <a:off x="2632" y="2131"/>
              <a:ext cx="1761" cy="0"/>
            </a:xfrm>
            <a:prstGeom prst="line">
              <a:avLst/>
            </a:prstGeom>
            <a:noFill/>
            <a:ln w="1270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02" name="Line 35"/>
            <p:cNvSpPr>
              <a:spLocks noChangeShapeType="1"/>
            </p:cNvSpPr>
            <p:nvPr/>
          </p:nvSpPr>
          <p:spPr bwMode="auto">
            <a:xfrm>
              <a:off x="2634" y="1992"/>
              <a:ext cx="0" cy="922"/>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03" name="Text Box 36"/>
            <p:cNvSpPr txBox="1">
              <a:spLocks noChangeArrowheads="1"/>
            </p:cNvSpPr>
            <p:nvPr/>
          </p:nvSpPr>
          <p:spPr bwMode="auto">
            <a:xfrm>
              <a:off x="1934" y="1914"/>
              <a:ext cx="8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100000"/>
                </a:spcBef>
              </a:pPr>
              <a:r>
                <a:rPr lang="zh-CN" altLang="en-US" sz="1800">
                  <a:latin typeface="黑体" pitchFamily="2" charset="-122"/>
                  <a:ea typeface="黑体" pitchFamily="2" charset="-122"/>
                </a:rPr>
                <a:t>取微指令</a:t>
              </a:r>
            </a:p>
          </p:txBody>
        </p:sp>
        <p:sp>
          <p:nvSpPr>
            <p:cNvPr id="89104" name="Text Box 37"/>
            <p:cNvSpPr txBox="1">
              <a:spLocks noChangeArrowheads="1"/>
            </p:cNvSpPr>
            <p:nvPr/>
          </p:nvSpPr>
          <p:spPr bwMode="auto">
            <a:xfrm>
              <a:off x="3049" y="1929"/>
              <a:ext cx="108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100000"/>
                </a:spcBef>
              </a:pPr>
              <a:r>
                <a:rPr lang="zh-CN" altLang="en-US" sz="1800">
                  <a:latin typeface="黑体" pitchFamily="2" charset="-122"/>
                  <a:ea typeface="黑体" pitchFamily="2" charset="-122"/>
                </a:rPr>
                <a:t>执行微指令</a:t>
              </a:r>
            </a:p>
          </p:txBody>
        </p:sp>
        <p:sp>
          <p:nvSpPr>
            <p:cNvPr id="89105" name="Text Box 38"/>
            <p:cNvSpPr txBox="1">
              <a:spLocks noChangeArrowheads="1"/>
            </p:cNvSpPr>
            <p:nvPr/>
          </p:nvSpPr>
          <p:spPr bwMode="auto">
            <a:xfrm>
              <a:off x="821" y="2147"/>
              <a:ext cx="8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置</a:t>
              </a:r>
              <a:r>
                <a:rPr lang="en-US" altLang="zh-CN" sz="1800">
                  <a:latin typeface="黑体" pitchFamily="2" charset="-122"/>
                  <a:ea typeface="黑体" pitchFamily="2" charset="-122"/>
                </a:rPr>
                <a:t>uMAR</a:t>
              </a:r>
            </a:p>
            <a:p>
              <a:pPr algn="r" eaLnBrk="1" hangingPunct="1">
                <a:lnSpc>
                  <a:spcPct val="100000"/>
                </a:lnSpc>
                <a:spcBef>
                  <a:spcPct val="0"/>
                </a:spcBef>
              </a:pPr>
              <a:r>
                <a:rPr lang="zh-CN" altLang="en-US" sz="1800">
                  <a:latin typeface="黑体" pitchFamily="2" charset="-122"/>
                  <a:ea typeface="黑体" pitchFamily="2" charset="-122"/>
                </a:rPr>
                <a:t>启动</a:t>
              </a:r>
              <a:r>
                <a:rPr lang="en-US" altLang="zh-CN" sz="1800">
                  <a:latin typeface="黑体" pitchFamily="2" charset="-122"/>
                  <a:ea typeface="黑体" pitchFamily="2" charset="-122"/>
                </a:rPr>
                <a:t>CM</a:t>
              </a:r>
            </a:p>
          </p:txBody>
        </p:sp>
        <p:sp>
          <p:nvSpPr>
            <p:cNvPr id="89106" name="Text Box 39"/>
            <p:cNvSpPr txBox="1">
              <a:spLocks noChangeArrowheads="1"/>
            </p:cNvSpPr>
            <p:nvPr/>
          </p:nvSpPr>
          <p:spPr bwMode="auto">
            <a:xfrm>
              <a:off x="542" y="2598"/>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微命令→</a:t>
              </a:r>
              <a:r>
                <a:rPr lang="en-US" altLang="zh-CN" sz="1800">
                  <a:latin typeface="黑体" pitchFamily="2" charset="-122"/>
                  <a:ea typeface="黑体" pitchFamily="2" charset="-122"/>
                </a:rPr>
                <a:t>uIR</a:t>
              </a:r>
            </a:p>
          </p:txBody>
        </p:sp>
        <p:sp>
          <p:nvSpPr>
            <p:cNvPr id="89107" name="Text Box 40"/>
            <p:cNvSpPr txBox="1">
              <a:spLocks noChangeArrowheads="1"/>
            </p:cNvSpPr>
            <p:nvPr/>
          </p:nvSpPr>
          <p:spPr bwMode="auto">
            <a:xfrm>
              <a:off x="557" y="2958"/>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微命令执行</a:t>
              </a:r>
              <a:endParaRPr lang="en-US" altLang="zh-CN" sz="1800">
                <a:latin typeface="黑体" pitchFamily="2" charset="-122"/>
                <a:ea typeface="黑体" pitchFamily="2" charset="-122"/>
              </a:endParaRPr>
            </a:p>
          </p:txBody>
        </p:sp>
        <p:sp>
          <p:nvSpPr>
            <p:cNvPr id="89108" name="Text Box 41"/>
            <p:cNvSpPr txBox="1">
              <a:spLocks noChangeArrowheads="1"/>
            </p:cNvSpPr>
            <p:nvPr/>
          </p:nvSpPr>
          <p:spPr bwMode="auto">
            <a:xfrm>
              <a:off x="576" y="3341"/>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zh-CN" altLang="en-US" sz="1800">
                  <a:latin typeface="黑体" pitchFamily="2" charset="-122"/>
                  <a:ea typeface="黑体" pitchFamily="2" charset="-122"/>
                </a:rPr>
                <a:t>置执行结果</a:t>
              </a:r>
              <a:endParaRPr lang="en-US" altLang="zh-CN" sz="1800">
                <a:latin typeface="黑体" pitchFamily="2" charset="-122"/>
                <a:ea typeface="黑体" pitchFamily="2" charset="-122"/>
              </a:endParaRPr>
            </a:p>
          </p:txBody>
        </p:sp>
        <p:sp>
          <p:nvSpPr>
            <p:cNvPr id="89109" name="Line 42"/>
            <p:cNvSpPr>
              <a:spLocks noChangeShapeType="1"/>
            </p:cNvSpPr>
            <p:nvPr/>
          </p:nvSpPr>
          <p:spPr bwMode="auto">
            <a:xfrm>
              <a:off x="2640" y="2933"/>
              <a:ext cx="1753"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0" name="Line 43"/>
            <p:cNvSpPr>
              <a:spLocks noChangeShapeType="1"/>
            </p:cNvSpPr>
            <p:nvPr/>
          </p:nvSpPr>
          <p:spPr bwMode="auto">
            <a:xfrm flipV="1">
              <a:off x="4167" y="3312"/>
              <a:ext cx="0" cy="192"/>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wipe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sp>
        <p:nvSpPr>
          <p:cNvPr id="90115" name="Text Box 3"/>
          <p:cNvSpPr txBox="1">
            <a:spLocks noChangeArrowheads="1"/>
          </p:cNvSpPr>
          <p:nvPr/>
        </p:nvSpPr>
        <p:spPr bwMode="auto">
          <a:xfrm>
            <a:off x="657225" y="1098550"/>
            <a:ext cx="748823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en-US" altLang="zh-CN">
                <a:solidFill>
                  <a:srgbClr val="990000"/>
                </a:solidFill>
                <a:latin typeface="黑体" pitchFamily="2" charset="-122"/>
                <a:ea typeface="黑体" pitchFamily="2" charset="-122"/>
              </a:rPr>
              <a:t>  </a:t>
            </a:r>
            <a:r>
              <a:rPr lang="en-US" altLang="en-US">
                <a:solidFill>
                  <a:srgbClr val="990000"/>
                </a:solidFill>
                <a:latin typeface="黑体" pitchFamily="2" charset="-122"/>
                <a:ea typeface="黑体" pitchFamily="2" charset="-122"/>
              </a:rPr>
              <a:t>4．微程序</a:t>
            </a:r>
            <a:endParaRPr lang="en-US" altLang="zh-CN">
              <a:solidFill>
                <a:srgbClr val="990000"/>
              </a:solidFill>
              <a:latin typeface="黑体" pitchFamily="2" charset="-122"/>
              <a:ea typeface="黑体" pitchFamily="2" charset="-122"/>
            </a:endParaRPr>
          </a:p>
          <a:p>
            <a:pPr eaLnBrk="1" hangingPunct="1">
              <a:spcBef>
                <a:spcPct val="0"/>
              </a:spcBef>
            </a:pPr>
            <a:r>
              <a:rPr lang="zh-CN" altLang="en-US">
                <a:latin typeface="黑体" pitchFamily="2" charset="-122"/>
                <a:ea typeface="黑体" pitchFamily="2" charset="-122"/>
              </a:rPr>
              <a:t>    一系列微指令的有序集合就是</a:t>
            </a:r>
            <a:r>
              <a:rPr lang="zh-CN" altLang="en-US">
                <a:solidFill>
                  <a:srgbClr val="FF0000"/>
                </a:solidFill>
                <a:latin typeface="黑体" pitchFamily="2" charset="-122"/>
                <a:ea typeface="黑体" pitchFamily="2" charset="-122"/>
              </a:rPr>
              <a:t>微程序</a:t>
            </a:r>
            <a:r>
              <a:rPr lang="zh-CN" altLang="en-US">
                <a:latin typeface="黑体" pitchFamily="2" charset="-122"/>
                <a:ea typeface="黑体" pitchFamily="2" charset="-122"/>
              </a:rPr>
              <a:t>。每一条机器指令都对应一个微程序。</a:t>
            </a:r>
          </a:p>
        </p:txBody>
      </p:sp>
      <p:sp>
        <p:nvSpPr>
          <p:cNvPr id="90116" name="Text Box 27"/>
          <p:cNvSpPr txBox="1">
            <a:spLocks noChangeArrowheads="1"/>
          </p:cNvSpPr>
          <p:nvPr/>
        </p:nvSpPr>
        <p:spPr bwMode="auto">
          <a:xfrm>
            <a:off x="615950" y="2954338"/>
            <a:ext cx="77200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a:latin typeface="黑体" pitchFamily="2" charset="-122"/>
                <a:ea typeface="黑体" pitchFamily="2" charset="-122"/>
              </a:rPr>
              <a:t>    微程序存放在控制存储器</a:t>
            </a:r>
            <a:r>
              <a:rPr lang="en-US" altLang="zh-CN">
                <a:latin typeface="黑体" pitchFamily="2" charset="-122"/>
                <a:ea typeface="黑体" pitchFamily="2" charset="-122"/>
              </a:rPr>
              <a:t>CM</a:t>
            </a:r>
            <a:r>
              <a:rPr lang="zh-CN" altLang="en-US">
                <a:latin typeface="黑体" pitchFamily="2" charset="-122"/>
                <a:ea typeface="黑体" pitchFamily="2" charset="-122"/>
              </a:rPr>
              <a:t>中。</a:t>
            </a:r>
          </a:p>
        </p:txBody>
      </p:sp>
      <p:pic>
        <p:nvPicPr>
          <p:cNvPr id="3" name="图片 2">
            <a:extLst>
              <a:ext uri="{FF2B5EF4-FFF2-40B4-BE49-F238E27FC236}">
                <a16:creationId xmlns:a16="http://schemas.microsoft.com/office/drawing/2014/main" id="{C55E3E6C-9025-672C-E4ED-D5E5E617A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21" y="3671397"/>
            <a:ext cx="7720014" cy="1317702"/>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grpSp>
        <p:nvGrpSpPr>
          <p:cNvPr id="6" name="组合 5">
            <a:extLst>
              <a:ext uri="{FF2B5EF4-FFF2-40B4-BE49-F238E27FC236}">
                <a16:creationId xmlns:a16="http://schemas.microsoft.com/office/drawing/2014/main" id="{AEE56275-4898-48E8-8A05-72AD22D47E1C}"/>
              </a:ext>
            </a:extLst>
          </p:cNvPr>
          <p:cNvGrpSpPr/>
          <p:nvPr/>
        </p:nvGrpSpPr>
        <p:grpSpPr>
          <a:xfrm>
            <a:off x="80962" y="1157287"/>
            <a:ext cx="8982075" cy="4543425"/>
            <a:chOff x="80962" y="1157287"/>
            <a:chExt cx="8982075" cy="4543425"/>
          </a:xfrm>
        </p:grpSpPr>
        <p:pic>
          <p:nvPicPr>
            <p:cNvPr id="4" name="图片 3">
              <a:extLst>
                <a:ext uri="{FF2B5EF4-FFF2-40B4-BE49-F238E27FC236}">
                  <a16:creationId xmlns:a16="http://schemas.microsoft.com/office/drawing/2014/main" id="{7EC332EB-4BD4-68CE-1FBD-8B1320CE0BD2}"/>
                </a:ext>
              </a:extLst>
            </p:cNvPr>
            <p:cNvPicPr>
              <a:picLocks noChangeAspect="1"/>
            </p:cNvPicPr>
            <p:nvPr/>
          </p:nvPicPr>
          <p:blipFill>
            <a:blip r:embed="rId2"/>
            <a:stretch>
              <a:fillRect/>
            </a:stretch>
          </p:blipFill>
          <p:spPr>
            <a:xfrm>
              <a:off x="80962" y="1157287"/>
              <a:ext cx="8982075" cy="4543425"/>
            </a:xfrm>
            <a:prstGeom prst="rect">
              <a:avLst/>
            </a:prstGeom>
          </p:spPr>
        </p:pic>
        <p:sp>
          <p:nvSpPr>
            <p:cNvPr id="5" name="文本框 4">
              <a:extLst>
                <a:ext uri="{FF2B5EF4-FFF2-40B4-BE49-F238E27FC236}">
                  <a16:creationId xmlns:a16="http://schemas.microsoft.com/office/drawing/2014/main" id="{CA3CD54C-2FCD-7B01-57D4-8DDB15480767}"/>
                </a:ext>
              </a:extLst>
            </p:cNvPr>
            <p:cNvSpPr txBox="1"/>
            <p:nvPr/>
          </p:nvSpPr>
          <p:spPr>
            <a:xfrm>
              <a:off x="221381" y="1157287"/>
              <a:ext cx="519764" cy="662171"/>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3337678436"/>
      </p:ext>
    </p:extLst>
  </p:cSld>
  <p:clrMapOvr>
    <a:masterClrMapping/>
  </p:clrMapOvr>
  <p:transition>
    <p:wipe dir="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pic>
        <p:nvPicPr>
          <p:cNvPr id="3" name="图片 2">
            <a:extLst>
              <a:ext uri="{FF2B5EF4-FFF2-40B4-BE49-F238E27FC236}">
                <a16:creationId xmlns:a16="http://schemas.microsoft.com/office/drawing/2014/main" id="{0E4A501F-6A3F-C677-FDCA-801BF81FADBA}"/>
              </a:ext>
            </a:extLst>
          </p:cNvPr>
          <p:cNvPicPr>
            <a:picLocks noChangeAspect="1"/>
          </p:cNvPicPr>
          <p:nvPr/>
        </p:nvPicPr>
        <p:blipFill>
          <a:blip r:embed="rId2"/>
          <a:stretch>
            <a:fillRect/>
          </a:stretch>
        </p:blipFill>
        <p:spPr>
          <a:xfrm>
            <a:off x="495300" y="1171575"/>
            <a:ext cx="8153400" cy="4514850"/>
          </a:xfrm>
          <a:prstGeom prst="rect">
            <a:avLst/>
          </a:prstGeom>
        </p:spPr>
      </p:pic>
    </p:spTree>
    <p:extLst>
      <p:ext uri="{BB962C8B-B14F-4D97-AF65-F5344CB8AC3E}">
        <p14:creationId xmlns:p14="http://schemas.microsoft.com/office/powerpoint/2010/main" val="2819308085"/>
      </p:ext>
    </p:extLst>
  </p:cSld>
  <p:clrMapOvr>
    <a:masterClrMapping/>
  </p:clrMapOvr>
  <p:transition>
    <p:wipe di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6.5.1 </a:t>
            </a:r>
            <a:r>
              <a:rPr lang="zh-CN" altLang="en-US" dirty="0">
                <a:solidFill>
                  <a:srgbClr val="990000"/>
                </a:solidFill>
                <a:latin typeface="黑体" pitchFamily="2" charset="-122"/>
                <a:ea typeface="黑体" pitchFamily="2" charset="-122"/>
              </a:rPr>
              <a:t>微程序控制的基本概念</a:t>
            </a:r>
          </a:p>
        </p:txBody>
      </p:sp>
      <p:grpSp>
        <p:nvGrpSpPr>
          <p:cNvPr id="6" name="组合 5">
            <a:extLst>
              <a:ext uri="{FF2B5EF4-FFF2-40B4-BE49-F238E27FC236}">
                <a16:creationId xmlns:a16="http://schemas.microsoft.com/office/drawing/2014/main" id="{9BA0BCB9-7716-55CC-A4C6-1C72C3CCF1EE}"/>
              </a:ext>
            </a:extLst>
          </p:cNvPr>
          <p:cNvGrpSpPr/>
          <p:nvPr/>
        </p:nvGrpSpPr>
        <p:grpSpPr>
          <a:xfrm>
            <a:off x="366712" y="1066800"/>
            <a:ext cx="8410575" cy="4724400"/>
            <a:chOff x="366712" y="1066800"/>
            <a:chExt cx="8410575" cy="4724400"/>
          </a:xfrm>
        </p:grpSpPr>
        <p:pic>
          <p:nvPicPr>
            <p:cNvPr id="4" name="图片 3">
              <a:extLst>
                <a:ext uri="{FF2B5EF4-FFF2-40B4-BE49-F238E27FC236}">
                  <a16:creationId xmlns:a16="http://schemas.microsoft.com/office/drawing/2014/main" id="{B6567EEF-CAD4-CDF7-F328-DEEEFF18DD6F}"/>
                </a:ext>
              </a:extLst>
            </p:cNvPr>
            <p:cNvPicPr>
              <a:picLocks noChangeAspect="1"/>
            </p:cNvPicPr>
            <p:nvPr/>
          </p:nvPicPr>
          <p:blipFill>
            <a:blip r:embed="rId2"/>
            <a:stretch>
              <a:fillRect/>
            </a:stretch>
          </p:blipFill>
          <p:spPr>
            <a:xfrm>
              <a:off x="366712" y="1066800"/>
              <a:ext cx="8410575" cy="4724400"/>
            </a:xfrm>
            <a:prstGeom prst="rect">
              <a:avLst/>
            </a:prstGeom>
          </p:spPr>
        </p:pic>
        <p:sp>
          <p:nvSpPr>
            <p:cNvPr id="5" name="文本框 4">
              <a:extLst>
                <a:ext uri="{FF2B5EF4-FFF2-40B4-BE49-F238E27FC236}">
                  <a16:creationId xmlns:a16="http://schemas.microsoft.com/office/drawing/2014/main" id="{880C6BBF-6864-FE63-4BAE-C34EF4A3CE60}"/>
                </a:ext>
              </a:extLst>
            </p:cNvPr>
            <p:cNvSpPr txBox="1"/>
            <p:nvPr/>
          </p:nvSpPr>
          <p:spPr>
            <a:xfrm>
              <a:off x="366712" y="1183907"/>
              <a:ext cx="412934"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3707903706"/>
      </p:ext>
    </p:extLst>
  </p:cSld>
  <p:clrMapOvr>
    <a:masterClrMapping/>
  </p:clrMapOvr>
  <p:transition>
    <p:wipe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6.5.2 </a:t>
            </a:r>
            <a:r>
              <a:rPr lang="zh-CN" altLang="en-US" dirty="0">
                <a:solidFill>
                  <a:srgbClr val="990000"/>
                </a:solidFill>
                <a:latin typeface="黑体" pitchFamily="2" charset="-122"/>
                <a:ea typeface="黑体" pitchFamily="2" charset="-122"/>
              </a:rPr>
              <a:t>微程序控制的基本组成</a:t>
            </a:r>
          </a:p>
        </p:txBody>
      </p:sp>
      <p:sp>
        <p:nvSpPr>
          <p:cNvPr id="86019" name="Text Box 9"/>
          <p:cNvSpPr txBox="1">
            <a:spLocks noChangeArrowheads="1"/>
          </p:cNvSpPr>
          <p:nvPr/>
        </p:nvSpPr>
        <p:spPr bwMode="auto">
          <a:xfrm>
            <a:off x="209535" y="1859314"/>
            <a:ext cx="380365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en-US" altLang="zh-CN" dirty="0">
                <a:latin typeface="黑体" pitchFamily="2" charset="-122"/>
                <a:ea typeface="黑体" pitchFamily="2" charset="-122"/>
              </a:rPr>
              <a:t>① </a:t>
            </a:r>
            <a:r>
              <a:rPr lang="zh-CN" altLang="en-US" dirty="0">
                <a:latin typeface="黑体" pitchFamily="2" charset="-122"/>
                <a:ea typeface="黑体" pitchFamily="2" charset="-122"/>
              </a:rPr>
              <a:t>控制存储器（</a:t>
            </a:r>
            <a:r>
              <a:rPr lang="en-US" altLang="zh-CN" dirty="0">
                <a:latin typeface="黑体" pitchFamily="2" charset="-122"/>
                <a:ea typeface="黑体" pitchFamily="2" charset="-122"/>
              </a:rPr>
              <a:t>CM</a:t>
            </a:r>
            <a:r>
              <a:rPr lang="zh-CN" altLang="en-US" dirty="0">
                <a:latin typeface="黑体" pitchFamily="2" charset="-122"/>
                <a:ea typeface="黑体" pitchFamily="2" charset="-122"/>
              </a:rPr>
              <a:t>）</a:t>
            </a:r>
          </a:p>
          <a:p>
            <a:pPr eaLnBrk="1" hangingPunct="1">
              <a:spcBef>
                <a:spcPct val="0"/>
              </a:spcBef>
            </a:pPr>
            <a:r>
              <a:rPr lang="en-US" altLang="zh-CN" dirty="0">
                <a:latin typeface="黑体" pitchFamily="2" charset="-122"/>
                <a:ea typeface="黑体" pitchFamily="2" charset="-122"/>
              </a:rPr>
              <a:t>② </a:t>
            </a:r>
            <a:r>
              <a:rPr lang="zh-CN" altLang="en-US" dirty="0">
                <a:latin typeface="黑体" pitchFamily="2" charset="-122"/>
                <a:ea typeface="黑体" pitchFamily="2" charset="-122"/>
              </a:rPr>
              <a:t>微指令寄存器（</a:t>
            </a:r>
            <a:r>
              <a:rPr lang="zh-CN" altLang="en-US" dirty="0">
                <a:latin typeface="黑体" pitchFamily="2" charset="-122"/>
                <a:ea typeface="黑体" pitchFamily="2" charset="-122"/>
                <a:sym typeface="Symbol" pitchFamily="18" charset="2"/>
              </a:rPr>
              <a:t></a:t>
            </a:r>
            <a:r>
              <a:rPr lang="en-US" altLang="zh-CN" dirty="0">
                <a:latin typeface="黑体" pitchFamily="2" charset="-122"/>
                <a:ea typeface="黑体" pitchFamily="2" charset="-122"/>
              </a:rPr>
              <a:t>IR</a:t>
            </a:r>
            <a:r>
              <a:rPr lang="zh-CN" altLang="en-US" dirty="0">
                <a:latin typeface="黑体" pitchFamily="2" charset="-122"/>
                <a:ea typeface="黑体" pitchFamily="2" charset="-122"/>
                <a:sym typeface="Symbol" pitchFamily="18" charset="2"/>
              </a:rPr>
              <a:t>）</a:t>
            </a:r>
          </a:p>
          <a:p>
            <a:pPr eaLnBrk="1" hangingPunct="1">
              <a:spcBef>
                <a:spcPct val="0"/>
              </a:spcBef>
            </a:pPr>
            <a:r>
              <a:rPr lang="en-US" altLang="zh-CN" dirty="0">
                <a:latin typeface="黑体" pitchFamily="2" charset="-122"/>
                <a:ea typeface="黑体" pitchFamily="2" charset="-122"/>
              </a:rPr>
              <a:t>③ </a:t>
            </a:r>
            <a:r>
              <a:rPr lang="zh-CN" altLang="en-US" dirty="0">
                <a:latin typeface="黑体" pitchFamily="2" charset="-122"/>
                <a:ea typeface="黑体" pitchFamily="2" charset="-122"/>
                <a:sym typeface="Symbol" pitchFamily="18" charset="2"/>
              </a:rPr>
              <a:t>微地址形成部件</a:t>
            </a:r>
          </a:p>
          <a:p>
            <a:pPr eaLnBrk="1" hangingPunct="1">
              <a:spcBef>
                <a:spcPct val="0"/>
              </a:spcBef>
            </a:pPr>
            <a:r>
              <a:rPr lang="en-US" altLang="zh-CN" dirty="0">
                <a:latin typeface="黑体" pitchFamily="2" charset="-122"/>
                <a:ea typeface="黑体" pitchFamily="2" charset="-122"/>
              </a:rPr>
              <a:t>④ </a:t>
            </a:r>
            <a:r>
              <a:rPr lang="zh-CN" altLang="en-US" dirty="0">
                <a:latin typeface="黑体" pitchFamily="2" charset="-122"/>
                <a:ea typeface="黑体" pitchFamily="2" charset="-122"/>
                <a:sym typeface="Symbol" pitchFamily="18" charset="2"/>
              </a:rPr>
              <a:t>微地址寄存器（</a:t>
            </a:r>
            <a:r>
              <a:rPr lang="en-US" altLang="zh-CN" dirty="0">
                <a:latin typeface="黑体" pitchFamily="2" charset="-122"/>
                <a:ea typeface="黑体" pitchFamily="2" charset="-122"/>
              </a:rPr>
              <a:t>MAR</a:t>
            </a:r>
            <a:r>
              <a:rPr lang="zh-CN" altLang="en-US" dirty="0">
                <a:latin typeface="黑体" pitchFamily="2" charset="-122"/>
                <a:ea typeface="黑体" pitchFamily="2" charset="-122"/>
                <a:sym typeface="Symbol" pitchFamily="18" charset="2"/>
              </a:rPr>
              <a:t>）</a:t>
            </a:r>
          </a:p>
        </p:txBody>
      </p:sp>
      <p:sp>
        <p:nvSpPr>
          <p:cNvPr id="2" name="Text Box 9">
            <a:extLst>
              <a:ext uri="{FF2B5EF4-FFF2-40B4-BE49-F238E27FC236}">
                <a16:creationId xmlns:a16="http://schemas.microsoft.com/office/drawing/2014/main" id="{79502CCD-E7A3-10C1-04B3-8621E11F5EF4}"/>
              </a:ext>
            </a:extLst>
          </p:cNvPr>
          <p:cNvSpPr txBox="1">
            <a:spLocks noChangeArrowheads="1"/>
          </p:cNvSpPr>
          <p:nvPr/>
        </p:nvSpPr>
        <p:spPr bwMode="auto">
          <a:xfrm>
            <a:off x="374083" y="4103139"/>
            <a:ext cx="3183491"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spcBef>
                <a:spcPct val="0"/>
              </a:spcBef>
            </a:pPr>
            <a:r>
              <a:rPr lang="zh-CN" altLang="en-US" dirty="0">
                <a:solidFill>
                  <a:srgbClr val="FF0000"/>
                </a:solidFill>
                <a:latin typeface="黑体" pitchFamily="2" charset="-122"/>
                <a:ea typeface="黑体" pitchFamily="2" charset="-122"/>
              </a:rPr>
              <a:t>注：</a:t>
            </a:r>
            <a:r>
              <a:rPr lang="zh-CN" altLang="en-US" dirty="0">
                <a:latin typeface="黑体" pitchFamily="2" charset="-122"/>
                <a:ea typeface="黑体" pitchFamily="2" charset="-122"/>
              </a:rPr>
              <a:t>控制存储器（</a:t>
            </a:r>
            <a:r>
              <a:rPr lang="en-US" altLang="zh-CN" dirty="0">
                <a:latin typeface="黑体" pitchFamily="2" charset="-122"/>
                <a:ea typeface="黑体" pitchFamily="2" charset="-122"/>
              </a:rPr>
              <a:t>CM</a:t>
            </a:r>
            <a:r>
              <a:rPr lang="zh-CN" altLang="en-US" dirty="0">
                <a:latin typeface="黑体" pitchFamily="2" charset="-122"/>
                <a:ea typeface="黑体" pitchFamily="2" charset="-122"/>
              </a:rPr>
              <a:t>）不属于存储系统 ，而是</a:t>
            </a:r>
            <a:r>
              <a:rPr lang="en-US" altLang="zh-CN" dirty="0">
                <a:latin typeface="黑体" pitchFamily="2" charset="-122"/>
                <a:ea typeface="黑体" pitchFamily="2" charset="-122"/>
              </a:rPr>
              <a:t>CPU</a:t>
            </a:r>
            <a:r>
              <a:rPr lang="zh-CN" altLang="en-US" dirty="0">
                <a:latin typeface="黑体" pitchFamily="2" charset="-122"/>
                <a:ea typeface="黑体" pitchFamily="2" charset="-122"/>
              </a:rPr>
              <a:t>的一部分。</a:t>
            </a:r>
            <a:endParaRPr lang="zh-CN" altLang="en-US" dirty="0">
              <a:latin typeface="黑体" pitchFamily="2" charset="-122"/>
              <a:ea typeface="黑体" pitchFamily="2" charset="-122"/>
              <a:sym typeface="Symbol" pitchFamily="18" charset="2"/>
            </a:endParaRPr>
          </a:p>
        </p:txBody>
      </p:sp>
      <p:grpSp>
        <p:nvGrpSpPr>
          <p:cNvPr id="33" name="Group 36">
            <a:extLst>
              <a:ext uri="{FF2B5EF4-FFF2-40B4-BE49-F238E27FC236}">
                <a16:creationId xmlns:a16="http://schemas.microsoft.com/office/drawing/2014/main" id="{C53ED70C-E206-B781-0A8E-D10AD797A6B6}"/>
              </a:ext>
            </a:extLst>
          </p:cNvPr>
          <p:cNvGrpSpPr>
            <a:grpSpLocks/>
          </p:cNvGrpSpPr>
          <p:nvPr/>
        </p:nvGrpSpPr>
        <p:grpSpPr bwMode="auto">
          <a:xfrm>
            <a:off x="3713146" y="909786"/>
            <a:ext cx="5226050" cy="4897437"/>
            <a:chOff x="910" y="782"/>
            <a:chExt cx="3292" cy="2855"/>
          </a:xfrm>
        </p:grpSpPr>
        <p:sp>
          <p:nvSpPr>
            <p:cNvPr id="34" name="Text Box 5">
              <a:extLst>
                <a:ext uri="{FF2B5EF4-FFF2-40B4-BE49-F238E27FC236}">
                  <a16:creationId xmlns:a16="http://schemas.microsoft.com/office/drawing/2014/main" id="{5FED6AB3-93BE-61F0-CB82-B04465730718}"/>
                </a:ext>
              </a:extLst>
            </p:cNvPr>
            <p:cNvSpPr txBox="1">
              <a:spLocks noChangeArrowheads="1"/>
            </p:cNvSpPr>
            <p:nvPr/>
          </p:nvSpPr>
          <p:spPr bwMode="auto">
            <a:xfrm>
              <a:off x="928" y="1200"/>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1800"/>
                <a:t>uIR</a:t>
              </a:r>
            </a:p>
          </p:txBody>
        </p:sp>
        <p:sp>
          <p:nvSpPr>
            <p:cNvPr id="35" name="Text Box 6">
              <a:extLst>
                <a:ext uri="{FF2B5EF4-FFF2-40B4-BE49-F238E27FC236}">
                  <a16:creationId xmlns:a16="http://schemas.microsoft.com/office/drawing/2014/main" id="{52A014A4-8AA3-9B08-4658-AD4AC39328A2}"/>
                </a:ext>
              </a:extLst>
            </p:cNvPr>
            <p:cNvSpPr txBox="1">
              <a:spLocks noChangeArrowheads="1"/>
            </p:cNvSpPr>
            <p:nvPr/>
          </p:nvSpPr>
          <p:spPr bwMode="auto">
            <a:xfrm>
              <a:off x="1511" y="1212"/>
              <a:ext cx="1232" cy="215"/>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000066"/>
                  </a:solidFill>
                  <a:latin typeface="黑体" pitchFamily="2" charset="-122"/>
                  <a:ea typeface="黑体" pitchFamily="2" charset="-122"/>
                </a:rPr>
                <a:t>操作控制字段</a:t>
              </a:r>
              <a:endParaRPr lang="en-US" altLang="zh-CN" sz="1800">
                <a:solidFill>
                  <a:srgbClr val="000066"/>
                </a:solidFill>
                <a:latin typeface="黑体" pitchFamily="2" charset="-122"/>
                <a:ea typeface="黑体" pitchFamily="2" charset="-122"/>
              </a:endParaRPr>
            </a:p>
          </p:txBody>
        </p:sp>
        <p:sp>
          <p:nvSpPr>
            <p:cNvPr id="36" name="Text Box 7">
              <a:extLst>
                <a:ext uri="{FF2B5EF4-FFF2-40B4-BE49-F238E27FC236}">
                  <a16:creationId xmlns:a16="http://schemas.microsoft.com/office/drawing/2014/main" id="{B325BF99-6BC7-B920-D73B-CCB456619C37}"/>
                </a:ext>
              </a:extLst>
            </p:cNvPr>
            <p:cNvSpPr txBox="1">
              <a:spLocks noChangeArrowheads="1"/>
            </p:cNvSpPr>
            <p:nvPr/>
          </p:nvSpPr>
          <p:spPr bwMode="auto">
            <a:xfrm>
              <a:off x="2739" y="1212"/>
              <a:ext cx="1232" cy="215"/>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dirty="0">
                  <a:solidFill>
                    <a:srgbClr val="000066"/>
                  </a:solidFill>
                  <a:latin typeface="黑体" pitchFamily="2" charset="-122"/>
                  <a:ea typeface="黑体" pitchFamily="2" charset="-122"/>
                </a:rPr>
                <a:t>顺序控制字段</a:t>
              </a:r>
              <a:endParaRPr lang="en-US" altLang="zh-CN" sz="1800" dirty="0">
                <a:solidFill>
                  <a:srgbClr val="000066"/>
                </a:solidFill>
                <a:latin typeface="黑体" pitchFamily="2" charset="-122"/>
                <a:ea typeface="黑体" pitchFamily="2" charset="-122"/>
              </a:endParaRPr>
            </a:p>
          </p:txBody>
        </p:sp>
        <p:sp>
          <p:nvSpPr>
            <p:cNvPr id="37" name="Text Box 8">
              <a:extLst>
                <a:ext uri="{FF2B5EF4-FFF2-40B4-BE49-F238E27FC236}">
                  <a16:creationId xmlns:a16="http://schemas.microsoft.com/office/drawing/2014/main" id="{D349EDA4-292F-E8CD-D717-4F6B7A66C7FC}"/>
                </a:ext>
              </a:extLst>
            </p:cNvPr>
            <p:cNvSpPr txBox="1">
              <a:spLocks noChangeArrowheads="1"/>
            </p:cNvSpPr>
            <p:nvPr/>
          </p:nvSpPr>
          <p:spPr bwMode="auto">
            <a:xfrm>
              <a:off x="1517" y="1648"/>
              <a:ext cx="2457" cy="680"/>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endParaRPr lang="zh-CN" altLang="en-US" sz="1800">
                <a:solidFill>
                  <a:srgbClr val="000066"/>
                </a:solidFill>
                <a:latin typeface="黑体" pitchFamily="2" charset="-122"/>
                <a:ea typeface="黑体" pitchFamily="2" charset="-122"/>
              </a:endParaRPr>
            </a:p>
            <a:p>
              <a:pPr algn="ctr" eaLnBrk="1" hangingPunct="1">
                <a:lnSpc>
                  <a:spcPct val="100000"/>
                </a:lnSpc>
                <a:spcBef>
                  <a:spcPct val="0"/>
                </a:spcBef>
              </a:pPr>
              <a:r>
                <a:rPr lang="zh-CN" altLang="en-US" sz="1800">
                  <a:solidFill>
                    <a:srgbClr val="000066"/>
                  </a:solidFill>
                  <a:latin typeface="黑体" pitchFamily="2" charset="-122"/>
                  <a:ea typeface="黑体" pitchFamily="2" charset="-122"/>
                </a:rPr>
                <a:t>控制存储器</a:t>
              </a:r>
            </a:p>
            <a:p>
              <a:pPr algn="ctr" eaLnBrk="1" hangingPunct="1">
                <a:lnSpc>
                  <a:spcPct val="100000"/>
                </a:lnSpc>
                <a:spcBef>
                  <a:spcPct val="0"/>
                </a:spcBef>
              </a:pPr>
              <a:r>
                <a:rPr lang="en-US" altLang="zh-CN" sz="1800">
                  <a:solidFill>
                    <a:srgbClr val="000066"/>
                  </a:solidFill>
                  <a:latin typeface="黑体" pitchFamily="2" charset="-122"/>
                  <a:ea typeface="黑体" pitchFamily="2" charset="-122"/>
                </a:rPr>
                <a:t>CM</a:t>
              </a:r>
            </a:p>
          </p:txBody>
        </p:sp>
        <p:sp>
          <p:nvSpPr>
            <p:cNvPr id="38" name="Text Box 9">
              <a:extLst>
                <a:ext uri="{FF2B5EF4-FFF2-40B4-BE49-F238E27FC236}">
                  <a16:creationId xmlns:a16="http://schemas.microsoft.com/office/drawing/2014/main" id="{1718AF61-0ACB-8272-680C-5E268BA06DBA}"/>
                </a:ext>
              </a:extLst>
            </p:cNvPr>
            <p:cNvSpPr txBox="1">
              <a:spLocks noChangeArrowheads="1"/>
            </p:cNvSpPr>
            <p:nvPr/>
          </p:nvSpPr>
          <p:spPr bwMode="auto">
            <a:xfrm>
              <a:off x="1517" y="2509"/>
              <a:ext cx="2457"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a:solidFill>
                    <a:srgbClr val="000066"/>
                  </a:solidFill>
                </a:rPr>
                <a:t>uMAR</a:t>
              </a:r>
            </a:p>
          </p:txBody>
        </p:sp>
        <p:sp>
          <p:nvSpPr>
            <p:cNvPr id="39" name="Text Box 10">
              <a:extLst>
                <a:ext uri="{FF2B5EF4-FFF2-40B4-BE49-F238E27FC236}">
                  <a16:creationId xmlns:a16="http://schemas.microsoft.com/office/drawing/2014/main" id="{761C5502-87E5-BF74-F753-D52C6CD7D43D}"/>
                </a:ext>
              </a:extLst>
            </p:cNvPr>
            <p:cNvSpPr txBox="1">
              <a:spLocks noChangeArrowheads="1"/>
            </p:cNvSpPr>
            <p:nvPr/>
          </p:nvSpPr>
          <p:spPr bwMode="auto">
            <a:xfrm>
              <a:off x="1511" y="2946"/>
              <a:ext cx="2457"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000066"/>
                  </a:solidFill>
                  <a:latin typeface="黑体" pitchFamily="2" charset="-122"/>
                  <a:ea typeface="黑体" pitchFamily="2" charset="-122"/>
                </a:rPr>
                <a:t>微地址形成部件</a:t>
              </a:r>
            </a:p>
          </p:txBody>
        </p:sp>
        <p:sp>
          <p:nvSpPr>
            <p:cNvPr id="40" name="Text Box 12">
              <a:extLst>
                <a:ext uri="{FF2B5EF4-FFF2-40B4-BE49-F238E27FC236}">
                  <a16:creationId xmlns:a16="http://schemas.microsoft.com/office/drawing/2014/main" id="{8EC33AAC-8294-BB38-E78E-8C05D8055D64}"/>
                </a:ext>
              </a:extLst>
            </p:cNvPr>
            <p:cNvSpPr txBox="1">
              <a:spLocks noChangeArrowheads="1"/>
            </p:cNvSpPr>
            <p:nvPr/>
          </p:nvSpPr>
          <p:spPr bwMode="auto">
            <a:xfrm>
              <a:off x="910" y="3383"/>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1800"/>
                <a:t> IR</a:t>
              </a:r>
            </a:p>
          </p:txBody>
        </p:sp>
        <p:grpSp>
          <p:nvGrpSpPr>
            <p:cNvPr id="41" name="Group 29">
              <a:extLst>
                <a:ext uri="{FF2B5EF4-FFF2-40B4-BE49-F238E27FC236}">
                  <a16:creationId xmlns:a16="http://schemas.microsoft.com/office/drawing/2014/main" id="{9FF32C01-0EDE-ED89-8CD9-35AD14708D97}"/>
                </a:ext>
              </a:extLst>
            </p:cNvPr>
            <p:cNvGrpSpPr>
              <a:grpSpLocks/>
            </p:cNvGrpSpPr>
            <p:nvPr/>
          </p:nvGrpSpPr>
          <p:grpSpPr bwMode="auto">
            <a:xfrm>
              <a:off x="1511" y="3395"/>
              <a:ext cx="1666" cy="242"/>
              <a:chOff x="1511" y="3239"/>
              <a:chExt cx="1666" cy="249"/>
            </a:xfrm>
          </p:grpSpPr>
          <p:sp>
            <p:nvSpPr>
              <p:cNvPr id="61" name="Text Box 13">
                <a:extLst>
                  <a:ext uri="{FF2B5EF4-FFF2-40B4-BE49-F238E27FC236}">
                    <a16:creationId xmlns:a16="http://schemas.microsoft.com/office/drawing/2014/main" id="{3FEA17E6-4FD6-66F2-BBEA-87EA3CBD4EF3}"/>
                  </a:ext>
                </a:extLst>
              </p:cNvPr>
              <p:cNvSpPr txBox="1">
                <a:spLocks noChangeArrowheads="1"/>
              </p:cNvSpPr>
              <p:nvPr/>
            </p:nvSpPr>
            <p:spPr bwMode="auto">
              <a:xfrm>
                <a:off x="1511" y="3239"/>
                <a:ext cx="704"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a:solidFill>
                      <a:srgbClr val="000066"/>
                    </a:solidFill>
                  </a:rPr>
                  <a:t>OP</a:t>
                </a:r>
              </a:p>
            </p:txBody>
          </p:sp>
          <p:sp>
            <p:nvSpPr>
              <p:cNvPr id="62" name="Text Box 14">
                <a:extLst>
                  <a:ext uri="{FF2B5EF4-FFF2-40B4-BE49-F238E27FC236}">
                    <a16:creationId xmlns:a16="http://schemas.microsoft.com/office/drawing/2014/main" id="{943DDA6A-6405-8253-6B63-B8B782B5F4A6}"/>
                  </a:ext>
                </a:extLst>
              </p:cNvPr>
              <p:cNvSpPr txBox="1">
                <a:spLocks noChangeArrowheads="1"/>
              </p:cNvSpPr>
              <p:nvPr/>
            </p:nvSpPr>
            <p:spPr bwMode="auto">
              <a:xfrm>
                <a:off x="2218" y="3239"/>
                <a:ext cx="959"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a:solidFill>
                      <a:srgbClr val="000066"/>
                    </a:solidFill>
                  </a:rPr>
                  <a:t>A</a:t>
                </a:r>
              </a:p>
            </p:txBody>
          </p:sp>
        </p:grpSp>
        <p:sp>
          <p:nvSpPr>
            <p:cNvPr id="42" name="Line 16">
              <a:extLst>
                <a:ext uri="{FF2B5EF4-FFF2-40B4-BE49-F238E27FC236}">
                  <a16:creationId xmlns:a16="http://schemas.microsoft.com/office/drawing/2014/main" id="{5A423558-C7B8-E7F2-4DDE-173CE5D4567C}"/>
                </a:ext>
              </a:extLst>
            </p:cNvPr>
            <p:cNvSpPr>
              <a:spLocks noChangeShapeType="1"/>
            </p:cNvSpPr>
            <p:nvPr/>
          </p:nvSpPr>
          <p:spPr bwMode="auto">
            <a:xfrm flipV="1">
              <a:off x="1880" y="3200"/>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3" name="Group 20">
              <a:extLst>
                <a:ext uri="{FF2B5EF4-FFF2-40B4-BE49-F238E27FC236}">
                  <a16:creationId xmlns:a16="http://schemas.microsoft.com/office/drawing/2014/main" id="{1EEDD64A-75FC-0ED1-91C7-5843DAE6B723}"/>
                </a:ext>
              </a:extLst>
            </p:cNvPr>
            <p:cNvGrpSpPr>
              <a:grpSpLocks/>
            </p:cNvGrpSpPr>
            <p:nvPr/>
          </p:nvGrpSpPr>
          <p:grpSpPr bwMode="auto">
            <a:xfrm>
              <a:off x="1819" y="2685"/>
              <a:ext cx="1922" cy="267"/>
              <a:chOff x="1819" y="2529"/>
              <a:chExt cx="1922" cy="267"/>
            </a:xfrm>
          </p:grpSpPr>
          <p:sp>
            <p:nvSpPr>
              <p:cNvPr id="58" name="Line 17">
                <a:extLst>
                  <a:ext uri="{FF2B5EF4-FFF2-40B4-BE49-F238E27FC236}">
                    <a16:creationId xmlns:a16="http://schemas.microsoft.com/office/drawing/2014/main" id="{30DEC7F4-AAFD-BDF8-4151-C7B648496460}"/>
                  </a:ext>
                </a:extLst>
              </p:cNvPr>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9" name="Line 18">
                <a:extLst>
                  <a:ext uri="{FF2B5EF4-FFF2-40B4-BE49-F238E27FC236}">
                    <a16:creationId xmlns:a16="http://schemas.microsoft.com/office/drawing/2014/main" id="{C069AEFC-41D0-C40D-7EA1-7FBCC1B66667}"/>
                  </a:ext>
                </a:extLst>
              </p:cNvPr>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0" name="Text Box 19">
                <a:extLst>
                  <a:ext uri="{FF2B5EF4-FFF2-40B4-BE49-F238E27FC236}">
                    <a16:creationId xmlns:a16="http://schemas.microsoft.com/office/drawing/2014/main" id="{7A2AA2CF-4991-9AEC-2401-CC4C25B40264}"/>
                  </a:ext>
                </a:extLst>
              </p:cNvPr>
              <p:cNvSpPr txBox="1">
                <a:spLocks noChangeArrowheads="1"/>
              </p:cNvSpPr>
              <p:nvPr/>
            </p:nvSpPr>
            <p:spPr bwMode="auto">
              <a:xfrm>
                <a:off x="2164" y="2529"/>
                <a:ext cx="12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66"/>
                    </a:solidFill>
                    <a:latin typeface="Times New Roman" pitchFamily="18" charset="0"/>
                  </a:rPr>
                  <a:t>……</a:t>
                </a:r>
                <a:endParaRPr lang="en-US" altLang="zh-CN" sz="2000">
                  <a:solidFill>
                    <a:srgbClr val="000066"/>
                  </a:solidFill>
                </a:endParaRPr>
              </a:p>
            </p:txBody>
          </p:sp>
        </p:grpSp>
        <p:grpSp>
          <p:nvGrpSpPr>
            <p:cNvPr id="44" name="Group 21">
              <a:extLst>
                <a:ext uri="{FF2B5EF4-FFF2-40B4-BE49-F238E27FC236}">
                  <a16:creationId xmlns:a16="http://schemas.microsoft.com/office/drawing/2014/main" id="{A56C5E82-6284-E713-F97A-C04E75DF6BD8}"/>
                </a:ext>
              </a:extLst>
            </p:cNvPr>
            <p:cNvGrpSpPr>
              <a:grpSpLocks/>
            </p:cNvGrpSpPr>
            <p:nvPr/>
          </p:nvGrpSpPr>
          <p:grpSpPr bwMode="auto">
            <a:xfrm>
              <a:off x="1795" y="2242"/>
              <a:ext cx="1922" cy="267"/>
              <a:chOff x="1819" y="2529"/>
              <a:chExt cx="1922" cy="267"/>
            </a:xfrm>
          </p:grpSpPr>
          <p:sp>
            <p:nvSpPr>
              <p:cNvPr id="55" name="Line 22">
                <a:extLst>
                  <a:ext uri="{FF2B5EF4-FFF2-40B4-BE49-F238E27FC236}">
                    <a16:creationId xmlns:a16="http://schemas.microsoft.com/office/drawing/2014/main" id="{DB685A47-F864-90E0-DF5F-02467453E81E}"/>
                  </a:ext>
                </a:extLst>
              </p:cNvPr>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6" name="Line 23">
                <a:extLst>
                  <a:ext uri="{FF2B5EF4-FFF2-40B4-BE49-F238E27FC236}">
                    <a16:creationId xmlns:a16="http://schemas.microsoft.com/office/drawing/2014/main" id="{88235608-DA27-1EF1-6E1C-5B8330653EEF}"/>
                  </a:ext>
                </a:extLst>
              </p:cNvPr>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7" name="Text Box 24">
                <a:extLst>
                  <a:ext uri="{FF2B5EF4-FFF2-40B4-BE49-F238E27FC236}">
                    <a16:creationId xmlns:a16="http://schemas.microsoft.com/office/drawing/2014/main" id="{B81544A2-B5C1-8DEB-0BEE-BB2D71D57996}"/>
                  </a:ext>
                </a:extLst>
              </p:cNvPr>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66"/>
                    </a:solidFill>
                    <a:latin typeface="Times New Roman" pitchFamily="18" charset="0"/>
                  </a:rPr>
                  <a:t>……</a:t>
                </a:r>
                <a:endParaRPr lang="en-US" altLang="zh-CN" sz="2000">
                  <a:solidFill>
                    <a:srgbClr val="000066"/>
                  </a:solidFill>
                </a:endParaRPr>
              </a:p>
            </p:txBody>
          </p:sp>
        </p:grpSp>
        <p:grpSp>
          <p:nvGrpSpPr>
            <p:cNvPr id="45" name="Group 25">
              <a:extLst>
                <a:ext uri="{FF2B5EF4-FFF2-40B4-BE49-F238E27FC236}">
                  <a16:creationId xmlns:a16="http://schemas.microsoft.com/office/drawing/2014/main" id="{3F768414-AA74-C0CE-D838-6A14F466D9BC}"/>
                </a:ext>
              </a:extLst>
            </p:cNvPr>
            <p:cNvGrpSpPr>
              <a:grpSpLocks/>
            </p:cNvGrpSpPr>
            <p:nvPr/>
          </p:nvGrpSpPr>
          <p:grpSpPr bwMode="auto">
            <a:xfrm>
              <a:off x="1776" y="1388"/>
              <a:ext cx="1922" cy="267"/>
              <a:chOff x="1819" y="2529"/>
              <a:chExt cx="1922" cy="267"/>
            </a:xfrm>
          </p:grpSpPr>
          <p:sp>
            <p:nvSpPr>
              <p:cNvPr id="52" name="Line 26">
                <a:extLst>
                  <a:ext uri="{FF2B5EF4-FFF2-40B4-BE49-F238E27FC236}">
                    <a16:creationId xmlns:a16="http://schemas.microsoft.com/office/drawing/2014/main" id="{8CEEF237-3C6A-964F-5FF8-236F7E61DA72}"/>
                  </a:ext>
                </a:extLst>
              </p:cNvPr>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3" name="Line 27">
                <a:extLst>
                  <a:ext uri="{FF2B5EF4-FFF2-40B4-BE49-F238E27FC236}">
                    <a16:creationId xmlns:a16="http://schemas.microsoft.com/office/drawing/2014/main" id="{7777FC44-7231-8278-F186-37B86B6E9EF8}"/>
                  </a:ext>
                </a:extLst>
              </p:cNvPr>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 name="Text Box 28">
                <a:extLst>
                  <a:ext uri="{FF2B5EF4-FFF2-40B4-BE49-F238E27FC236}">
                    <a16:creationId xmlns:a16="http://schemas.microsoft.com/office/drawing/2014/main" id="{A9CAED47-56EA-E4B1-F51F-ED20613EE4E4}"/>
                  </a:ext>
                </a:extLst>
              </p:cNvPr>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66"/>
                    </a:solidFill>
                    <a:latin typeface="Times New Roman" pitchFamily="18" charset="0"/>
                  </a:rPr>
                  <a:t>……</a:t>
                </a:r>
                <a:endParaRPr lang="en-US" altLang="zh-CN" sz="2000">
                  <a:solidFill>
                    <a:srgbClr val="000066"/>
                  </a:solidFill>
                </a:endParaRPr>
              </a:p>
            </p:txBody>
          </p:sp>
        </p:grpSp>
        <p:grpSp>
          <p:nvGrpSpPr>
            <p:cNvPr id="46" name="Group 30">
              <a:extLst>
                <a:ext uri="{FF2B5EF4-FFF2-40B4-BE49-F238E27FC236}">
                  <a16:creationId xmlns:a16="http://schemas.microsoft.com/office/drawing/2014/main" id="{DB2EEACB-C815-F5E8-EAD8-388FDB31D215}"/>
                </a:ext>
              </a:extLst>
            </p:cNvPr>
            <p:cNvGrpSpPr>
              <a:grpSpLocks/>
            </p:cNvGrpSpPr>
            <p:nvPr/>
          </p:nvGrpSpPr>
          <p:grpSpPr bwMode="auto">
            <a:xfrm>
              <a:off x="1734" y="939"/>
              <a:ext cx="819" cy="267"/>
              <a:chOff x="1819" y="2529"/>
              <a:chExt cx="1922" cy="267"/>
            </a:xfrm>
          </p:grpSpPr>
          <p:sp>
            <p:nvSpPr>
              <p:cNvPr id="49" name="Line 31">
                <a:extLst>
                  <a:ext uri="{FF2B5EF4-FFF2-40B4-BE49-F238E27FC236}">
                    <a16:creationId xmlns:a16="http://schemas.microsoft.com/office/drawing/2014/main" id="{3C98093C-EC60-BDE8-4BD3-124B01A01AD6}"/>
                  </a:ext>
                </a:extLst>
              </p:cNvPr>
              <p:cNvSpPr>
                <a:spLocks noChangeShapeType="1"/>
              </p:cNvSpPr>
              <p:nvPr/>
            </p:nvSpPr>
            <p:spPr bwMode="auto">
              <a:xfrm flipV="1">
                <a:off x="1819" y="2608"/>
                <a:ext cx="0" cy="1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 name="Line 32">
                <a:extLst>
                  <a:ext uri="{FF2B5EF4-FFF2-40B4-BE49-F238E27FC236}">
                    <a16:creationId xmlns:a16="http://schemas.microsoft.com/office/drawing/2014/main" id="{F3E5CF58-AD23-EE3A-5F70-ACE10C7D0C7F}"/>
                  </a:ext>
                </a:extLst>
              </p:cNvPr>
              <p:cNvSpPr>
                <a:spLocks noChangeShapeType="1"/>
              </p:cNvSpPr>
              <p:nvPr/>
            </p:nvSpPr>
            <p:spPr bwMode="auto">
              <a:xfrm flipV="1">
                <a:off x="3741" y="2596"/>
                <a:ext cx="0" cy="1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 name="Text Box 33">
                <a:extLst>
                  <a:ext uri="{FF2B5EF4-FFF2-40B4-BE49-F238E27FC236}">
                    <a16:creationId xmlns:a16="http://schemas.microsoft.com/office/drawing/2014/main" id="{BF747611-B4E5-8C49-C3D9-04D05100F5CF}"/>
                  </a:ext>
                </a:extLst>
              </p:cNvPr>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FF0000"/>
                    </a:solidFill>
                    <a:latin typeface="Times New Roman" pitchFamily="18" charset="0"/>
                  </a:rPr>
                  <a:t>…</a:t>
                </a:r>
                <a:endParaRPr lang="en-US" altLang="zh-CN" sz="2000">
                  <a:solidFill>
                    <a:srgbClr val="FF0000"/>
                  </a:solidFill>
                </a:endParaRPr>
              </a:p>
            </p:txBody>
          </p:sp>
        </p:grpSp>
        <p:sp>
          <p:nvSpPr>
            <p:cNvPr id="47" name="Text Box 34">
              <a:extLst>
                <a:ext uri="{FF2B5EF4-FFF2-40B4-BE49-F238E27FC236}">
                  <a16:creationId xmlns:a16="http://schemas.microsoft.com/office/drawing/2014/main" id="{0A71E902-8CA4-4C4F-BF2C-1A76F66E8157}"/>
                </a:ext>
              </a:extLst>
            </p:cNvPr>
            <p:cNvSpPr txBox="1">
              <a:spLocks noChangeArrowheads="1"/>
            </p:cNvSpPr>
            <p:nvPr/>
          </p:nvSpPr>
          <p:spPr bwMode="auto">
            <a:xfrm>
              <a:off x="1668" y="782"/>
              <a:ext cx="103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FF0000"/>
                  </a:solidFill>
                  <a:latin typeface="黑体" pitchFamily="2" charset="-122"/>
                  <a:ea typeface="黑体" pitchFamily="2" charset="-122"/>
                </a:rPr>
                <a:t>微命令</a:t>
              </a:r>
            </a:p>
          </p:txBody>
        </p:sp>
        <p:sp>
          <p:nvSpPr>
            <p:cNvPr id="48" name="Freeform 35">
              <a:extLst>
                <a:ext uri="{FF2B5EF4-FFF2-40B4-BE49-F238E27FC236}">
                  <a16:creationId xmlns:a16="http://schemas.microsoft.com/office/drawing/2014/main" id="{51ADC140-662F-F36C-98F5-D680014EFCC3}"/>
                </a:ext>
              </a:extLst>
            </p:cNvPr>
            <p:cNvSpPr>
              <a:spLocks/>
            </p:cNvSpPr>
            <p:nvPr/>
          </p:nvSpPr>
          <p:spPr bwMode="auto">
            <a:xfrm>
              <a:off x="3377" y="1025"/>
              <a:ext cx="825" cy="2364"/>
            </a:xfrm>
            <a:custGeom>
              <a:avLst/>
              <a:gdLst>
                <a:gd name="T0" fmla="*/ 0 w 825"/>
                <a:gd name="T1" fmla="*/ 182 h 2364"/>
                <a:gd name="T2" fmla="*/ 0 w 825"/>
                <a:gd name="T3" fmla="*/ 0 h 2364"/>
                <a:gd name="T4" fmla="*/ 819 w 825"/>
                <a:gd name="T5" fmla="*/ 0 h 2364"/>
                <a:gd name="T6" fmla="*/ 825 w 825"/>
                <a:gd name="T7" fmla="*/ 2364 h 2364"/>
                <a:gd name="T8" fmla="*/ 267 w 825"/>
                <a:gd name="T9" fmla="*/ 2364 h 2364"/>
                <a:gd name="T10" fmla="*/ 267 w 825"/>
                <a:gd name="T11" fmla="*/ 2170 h 2364"/>
                <a:gd name="T12" fmla="*/ 0 60000 65536"/>
                <a:gd name="T13" fmla="*/ 0 60000 65536"/>
                <a:gd name="T14" fmla="*/ 0 60000 65536"/>
                <a:gd name="T15" fmla="*/ 0 60000 65536"/>
                <a:gd name="T16" fmla="*/ 0 60000 65536"/>
                <a:gd name="T17" fmla="*/ 0 60000 65536"/>
                <a:gd name="T18" fmla="*/ 0 w 825"/>
                <a:gd name="T19" fmla="*/ 0 h 2364"/>
                <a:gd name="T20" fmla="*/ 825 w 825"/>
                <a:gd name="T21" fmla="*/ 2364 h 2364"/>
              </a:gdLst>
              <a:ahLst/>
              <a:cxnLst>
                <a:cxn ang="T12">
                  <a:pos x="T0" y="T1"/>
                </a:cxn>
                <a:cxn ang="T13">
                  <a:pos x="T2" y="T3"/>
                </a:cxn>
                <a:cxn ang="T14">
                  <a:pos x="T4" y="T5"/>
                </a:cxn>
                <a:cxn ang="T15">
                  <a:pos x="T6" y="T7"/>
                </a:cxn>
                <a:cxn ang="T16">
                  <a:pos x="T8" y="T9"/>
                </a:cxn>
                <a:cxn ang="T17">
                  <a:pos x="T10" y="T11"/>
                </a:cxn>
              </a:cxnLst>
              <a:rect l="T18" t="T19" r="T20" b="T21"/>
              <a:pathLst>
                <a:path w="825" h="2364">
                  <a:moveTo>
                    <a:pt x="0" y="182"/>
                  </a:moveTo>
                  <a:lnTo>
                    <a:pt x="0" y="0"/>
                  </a:lnTo>
                  <a:lnTo>
                    <a:pt x="819" y="0"/>
                  </a:lnTo>
                  <a:lnTo>
                    <a:pt x="825" y="2364"/>
                  </a:lnTo>
                  <a:lnTo>
                    <a:pt x="267" y="2364"/>
                  </a:lnTo>
                  <a:lnTo>
                    <a:pt x="267" y="2170"/>
                  </a:lnTo>
                </a:path>
              </a:pathLst>
            </a:custGeom>
            <a:noFill/>
            <a:ln w="28575"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Tree>
    <p:extLst>
      <p:ext uri="{BB962C8B-B14F-4D97-AF65-F5344CB8AC3E}">
        <p14:creationId xmlns:p14="http://schemas.microsoft.com/office/powerpoint/2010/main" val="23061156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6.5.2 </a:t>
            </a:r>
            <a:r>
              <a:rPr lang="zh-CN" altLang="en-US" dirty="0">
                <a:solidFill>
                  <a:srgbClr val="990000"/>
                </a:solidFill>
                <a:latin typeface="黑体" pitchFamily="2" charset="-122"/>
                <a:ea typeface="黑体" pitchFamily="2" charset="-122"/>
              </a:rPr>
              <a:t>微程序控制的基本组成</a:t>
            </a:r>
          </a:p>
        </p:txBody>
      </p:sp>
      <p:grpSp>
        <p:nvGrpSpPr>
          <p:cNvPr id="6" name="组合 5">
            <a:extLst>
              <a:ext uri="{FF2B5EF4-FFF2-40B4-BE49-F238E27FC236}">
                <a16:creationId xmlns:a16="http://schemas.microsoft.com/office/drawing/2014/main" id="{0BD7AE8D-EAAF-1FCF-3AFC-53A0AE0E260D}"/>
              </a:ext>
            </a:extLst>
          </p:cNvPr>
          <p:cNvGrpSpPr/>
          <p:nvPr/>
        </p:nvGrpSpPr>
        <p:grpSpPr>
          <a:xfrm>
            <a:off x="228600" y="1209675"/>
            <a:ext cx="8686800" cy="4438650"/>
            <a:chOff x="228600" y="1209675"/>
            <a:chExt cx="8686800" cy="4438650"/>
          </a:xfrm>
        </p:grpSpPr>
        <p:pic>
          <p:nvPicPr>
            <p:cNvPr id="4" name="图片 3">
              <a:extLst>
                <a:ext uri="{FF2B5EF4-FFF2-40B4-BE49-F238E27FC236}">
                  <a16:creationId xmlns:a16="http://schemas.microsoft.com/office/drawing/2014/main" id="{1D4F9A21-5D42-CC28-1E61-A0CCF6C097F3}"/>
                </a:ext>
              </a:extLst>
            </p:cNvPr>
            <p:cNvPicPr>
              <a:picLocks noChangeAspect="1"/>
            </p:cNvPicPr>
            <p:nvPr/>
          </p:nvPicPr>
          <p:blipFill>
            <a:blip r:embed="rId2"/>
            <a:stretch>
              <a:fillRect/>
            </a:stretch>
          </p:blipFill>
          <p:spPr>
            <a:xfrm>
              <a:off x="228600" y="1209675"/>
              <a:ext cx="8686800" cy="4438650"/>
            </a:xfrm>
            <a:prstGeom prst="rect">
              <a:avLst/>
            </a:prstGeom>
          </p:spPr>
        </p:pic>
        <p:sp>
          <p:nvSpPr>
            <p:cNvPr id="5" name="文本框 4">
              <a:extLst>
                <a:ext uri="{FF2B5EF4-FFF2-40B4-BE49-F238E27FC236}">
                  <a16:creationId xmlns:a16="http://schemas.microsoft.com/office/drawing/2014/main" id="{0829E481-3F0D-2906-C7C0-DF77EDF9B4F5}"/>
                </a:ext>
              </a:extLst>
            </p:cNvPr>
            <p:cNvSpPr txBox="1"/>
            <p:nvPr/>
          </p:nvSpPr>
          <p:spPr>
            <a:xfrm>
              <a:off x="423512" y="1209675"/>
              <a:ext cx="462012"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1212375918"/>
      </p:ext>
    </p:extLst>
  </p:cSld>
  <p:clrMapOvr>
    <a:masterClrMapping/>
  </p:clrMapOvr>
  <p:transition>
    <p:wipe di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
          <p:cNvSpPr>
            <a:spLocks noChangeArrowheads="1"/>
          </p:cNvSpPr>
          <p:nvPr/>
        </p:nvSpPr>
        <p:spPr bwMode="auto">
          <a:xfrm>
            <a:off x="665163" y="574675"/>
            <a:ext cx="417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6.5.2 </a:t>
            </a:r>
            <a:r>
              <a:rPr lang="zh-CN" altLang="en-US" dirty="0">
                <a:solidFill>
                  <a:srgbClr val="990000"/>
                </a:solidFill>
                <a:latin typeface="黑体" pitchFamily="2" charset="-122"/>
                <a:ea typeface="黑体" pitchFamily="2" charset="-122"/>
              </a:rPr>
              <a:t>微程序控制的基本组成</a:t>
            </a:r>
          </a:p>
        </p:txBody>
      </p:sp>
      <p:pic>
        <p:nvPicPr>
          <p:cNvPr id="3" name="图片 2">
            <a:extLst>
              <a:ext uri="{FF2B5EF4-FFF2-40B4-BE49-F238E27FC236}">
                <a16:creationId xmlns:a16="http://schemas.microsoft.com/office/drawing/2014/main" id="{04A6AB1B-660E-9FA9-4BAB-6AC2CA221DA4}"/>
              </a:ext>
            </a:extLst>
          </p:cNvPr>
          <p:cNvPicPr>
            <a:picLocks noChangeAspect="1"/>
          </p:cNvPicPr>
          <p:nvPr/>
        </p:nvPicPr>
        <p:blipFill>
          <a:blip r:embed="rId2"/>
          <a:stretch>
            <a:fillRect/>
          </a:stretch>
        </p:blipFill>
        <p:spPr>
          <a:xfrm>
            <a:off x="1006792" y="1451058"/>
            <a:ext cx="7496175" cy="3667125"/>
          </a:xfrm>
          <a:prstGeom prst="rect">
            <a:avLst/>
          </a:prstGeom>
        </p:spPr>
      </p:pic>
    </p:spTree>
    <p:extLst>
      <p:ext uri="{BB962C8B-B14F-4D97-AF65-F5344CB8AC3E}">
        <p14:creationId xmlns:p14="http://schemas.microsoft.com/office/powerpoint/2010/main" val="553522959"/>
      </p:ext>
    </p:extLst>
  </p:cSld>
  <p:clrMapOvr>
    <a:masterClrMapping/>
  </p:clrMapOvr>
  <p:transition>
    <p:wipe di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952749E6-2619-0291-094B-6E57BC9AA2D0}"/>
              </a:ext>
            </a:extLst>
          </p:cNvPr>
          <p:cNvPicPr>
            <a:picLocks noChangeAspect="1"/>
          </p:cNvPicPr>
          <p:nvPr/>
        </p:nvPicPr>
        <p:blipFill>
          <a:blip r:embed="rId2"/>
          <a:stretch>
            <a:fillRect/>
          </a:stretch>
        </p:blipFill>
        <p:spPr>
          <a:xfrm>
            <a:off x="881062" y="1266825"/>
            <a:ext cx="7381875" cy="4324350"/>
          </a:xfrm>
          <a:prstGeom prst="rect">
            <a:avLst/>
          </a:prstGeom>
        </p:spPr>
      </p:pic>
    </p:spTree>
    <p:extLst>
      <p:ext uri="{BB962C8B-B14F-4D97-AF65-F5344CB8AC3E}">
        <p14:creationId xmlns:p14="http://schemas.microsoft.com/office/powerpoint/2010/main" val="3714787936"/>
      </p:ext>
    </p:extLst>
  </p:cSld>
  <p:clrMapOvr>
    <a:masterClrMapping/>
  </p:clrMapOvr>
  <p:transition>
    <p:wipe di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grpSp>
        <p:nvGrpSpPr>
          <p:cNvPr id="5" name="组合 4">
            <a:extLst>
              <a:ext uri="{FF2B5EF4-FFF2-40B4-BE49-F238E27FC236}">
                <a16:creationId xmlns:a16="http://schemas.microsoft.com/office/drawing/2014/main" id="{86AB345C-7D75-1883-F6D1-EBEC3A874CDE}"/>
              </a:ext>
            </a:extLst>
          </p:cNvPr>
          <p:cNvGrpSpPr/>
          <p:nvPr/>
        </p:nvGrpSpPr>
        <p:grpSpPr>
          <a:xfrm>
            <a:off x="14287" y="1295400"/>
            <a:ext cx="9115425" cy="4267200"/>
            <a:chOff x="14287" y="1295400"/>
            <a:chExt cx="9115425" cy="4267200"/>
          </a:xfrm>
        </p:grpSpPr>
        <p:pic>
          <p:nvPicPr>
            <p:cNvPr id="3" name="图片 2">
              <a:extLst>
                <a:ext uri="{FF2B5EF4-FFF2-40B4-BE49-F238E27FC236}">
                  <a16:creationId xmlns:a16="http://schemas.microsoft.com/office/drawing/2014/main" id="{4CFB7487-852D-08BB-C834-3DE1F266D388}"/>
                </a:ext>
              </a:extLst>
            </p:cNvPr>
            <p:cNvPicPr>
              <a:picLocks noChangeAspect="1"/>
            </p:cNvPicPr>
            <p:nvPr/>
          </p:nvPicPr>
          <p:blipFill>
            <a:blip r:embed="rId2"/>
            <a:stretch>
              <a:fillRect/>
            </a:stretch>
          </p:blipFill>
          <p:spPr>
            <a:xfrm>
              <a:off x="14287" y="1295400"/>
              <a:ext cx="9115425" cy="4267200"/>
            </a:xfrm>
            <a:prstGeom prst="rect">
              <a:avLst/>
            </a:prstGeom>
          </p:spPr>
        </p:pic>
        <p:sp>
          <p:nvSpPr>
            <p:cNvPr id="4" name="文本框 3">
              <a:extLst>
                <a:ext uri="{FF2B5EF4-FFF2-40B4-BE49-F238E27FC236}">
                  <a16:creationId xmlns:a16="http://schemas.microsoft.com/office/drawing/2014/main" id="{E8810886-C963-65B5-7961-7DFE52F4983D}"/>
                </a:ext>
              </a:extLst>
            </p:cNvPr>
            <p:cNvSpPr txBox="1"/>
            <p:nvPr/>
          </p:nvSpPr>
          <p:spPr>
            <a:xfrm>
              <a:off x="288758" y="1295400"/>
              <a:ext cx="462013"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820225164"/>
      </p:ext>
    </p:extLst>
  </p:cSld>
  <p:clrMapOvr>
    <a:masterClrMapping/>
  </p:clrMapOvr>
  <p:transition>
    <p:wipe di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4EC0A6EB-56B2-DCF2-5621-144E43D3157D}"/>
              </a:ext>
            </a:extLst>
          </p:cNvPr>
          <p:cNvPicPr>
            <a:picLocks noChangeAspect="1"/>
          </p:cNvPicPr>
          <p:nvPr/>
        </p:nvPicPr>
        <p:blipFill>
          <a:blip r:embed="rId2"/>
          <a:stretch>
            <a:fillRect/>
          </a:stretch>
        </p:blipFill>
        <p:spPr>
          <a:xfrm>
            <a:off x="849313" y="1155081"/>
            <a:ext cx="2695575" cy="466725"/>
          </a:xfrm>
          <a:prstGeom prst="rect">
            <a:avLst/>
          </a:prstGeom>
        </p:spPr>
      </p:pic>
      <p:pic>
        <p:nvPicPr>
          <p:cNvPr id="5" name="图片 4">
            <a:extLst>
              <a:ext uri="{FF2B5EF4-FFF2-40B4-BE49-F238E27FC236}">
                <a16:creationId xmlns:a16="http://schemas.microsoft.com/office/drawing/2014/main" id="{F5B82571-96F2-4AB2-7169-189FD02D7744}"/>
              </a:ext>
            </a:extLst>
          </p:cNvPr>
          <p:cNvPicPr>
            <a:picLocks noChangeAspect="1"/>
          </p:cNvPicPr>
          <p:nvPr/>
        </p:nvPicPr>
        <p:blipFill>
          <a:blip r:embed="rId3"/>
          <a:stretch>
            <a:fillRect/>
          </a:stretch>
        </p:blipFill>
        <p:spPr>
          <a:xfrm>
            <a:off x="4230687" y="357187"/>
            <a:ext cx="4314825" cy="1343025"/>
          </a:xfrm>
          <a:prstGeom prst="rect">
            <a:avLst/>
          </a:prstGeom>
        </p:spPr>
      </p:pic>
      <p:pic>
        <p:nvPicPr>
          <p:cNvPr id="7" name="图片 6">
            <a:extLst>
              <a:ext uri="{FF2B5EF4-FFF2-40B4-BE49-F238E27FC236}">
                <a16:creationId xmlns:a16="http://schemas.microsoft.com/office/drawing/2014/main" id="{65865239-664B-A50D-6DD5-3839E3C371F5}"/>
              </a:ext>
            </a:extLst>
          </p:cNvPr>
          <p:cNvPicPr>
            <a:picLocks noChangeAspect="1"/>
          </p:cNvPicPr>
          <p:nvPr/>
        </p:nvPicPr>
        <p:blipFill>
          <a:blip r:embed="rId4"/>
          <a:stretch>
            <a:fillRect/>
          </a:stretch>
        </p:blipFill>
        <p:spPr>
          <a:xfrm>
            <a:off x="516743" y="1936983"/>
            <a:ext cx="8340264" cy="3765935"/>
          </a:xfrm>
          <a:prstGeom prst="rect">
            <a:avLst/>
          </a:prstGeom>
        </p:spPr>
      </p:pic>
    </p:spTree>
    <p:extLst>
      <p:ext uri="{BB962C8B-B14F-4D97-AF65-F5344CB8AC3E}">
        <p14:creationId xmlns:p14="http://schemas.microsoft.com/office/powerpoint/2010/main" val="99197485"/>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grpSp>
        <p:nvGrpSpPr>
          <p:cNvPr id="7" name="组合 6">
            <a:extLst>
              <a:ext uri="{FF2B5EF4-FFF2-40B4-BE49-F238E27FC236}">
                <a16:creationId xmlns:a16="http://schemas.microsoft.com/office/drawing/2014/main" id="{C4728FD6-3AB9-1595-1B99-0B4675227348}"/>
              </a:ext>
            </a:extLst>
          </p:cNvPr>
          <p:cNvGrpSpPr/>
          <p:nvPr/>
        </p:nvGrpSpPr>
        <p:grpSpPr>
          <a:xfrm>
            <a:off x="14287" y="1281112"/>
            <a:ext cx="9115425" cy="4295775"/>
            <a:chOff x="14287" y="1281112"/>
            <a:chExt cx="9115425" cy="4295775"/>
          </a:xfrm>
        </p:grpSpPr>
        <p:pic>
          <p:nvPicPr>
            <p:cNvPr id="5" name="图片 4">
              <a:extLst>
                <a:ext uri="{FF2B5EF4-FFF2-40B4-BE49-F238E27FC236}">
                  <a16:creationId xmlns:a16="http://schemas.microsoft.com/office/drawing/2014/main" id="{1482B1E6-4B85-E007-FC48-7A5EDD6F22DD}"/>
                </a:ext>
              </a:extLst>
            </p:cNvPr>
            <p:cNvPicPr>
              <a:picLocks noChangeAspect="1"/>
            </p:cNvPicPr>
            <p:nvPr/>
          </p:nvPicPr>
          <p:blipFill>
            <a:blip r:embed="rId2"/>
            <a:stretch>
              <a:fillRect/>
            </a:stretch>
          </p:blipFill>
          <p:spPr>
            <a:xfrm>
              <a:off x="14287" y="1281112"/>
              <a:ext cx="9115425" cy="4295775"/>
            </a:xfrm>
            <a:prstGeom prst="rect">
              <a:avLst/>
            </a:prstGeom>
          </p:spPr>
        </p:pic>
        <p:sp>
          <p:nvSpPr>
            <p:cNvPr id="6" name="文本框 5">
              <a:extLst>
                <a:ext uri="{FF2B5EF4-FFF2-40B4-BE49-F238E27FC236}">
                  <a16:creationId xmlns:a16="http://schemas.microsoft.com/office/drawing/2014/main" id="{B917978D-18B0-8850-EC06-4DCC2CCD9E2B}"/>
                </a:ext>
              </a:extLst>
            </p:cNvPr>
            <p:cNvSpPr txBox="1"/>
            <p:nvPr/>
          </p:nvSpPr>
          <p:spPr>
            <a:xfrm>
              <a:off x="288758" y="1281112"/>
              <a:ext cx="433137"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2595957680"/>
      </p:ext>
    </p:extLst>
  </p:cSld>
  <p:clrMapOvr>
    <a:masterClrMapping/>
  </p:clrMapOvr>
  <p:transition>
    <p:wipe di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4535ADFF-6158-5BC4-11BC-DD562DFFBBF5}"/>
              </a:ext>
            </a:extLst>
          </p:cNvPr>
          <p:cNvPicPr>
            <a:picLocks noChangeAspect="1"/>
          </p:cNvPicPr>
          <p:nvPr/>
        </p:nvPicPr>
        <p:blipFill>
          <a:blip r:embed="rId2"/>
          <a:stretch>
            <a:fillRect/>
          </a:stretch>
        </p:blipFill>
        <p:spPr>
          <a:xfrm>
            <a:off x="962275" y="1028700"/>
            <a:ext cx="2695575" cy="581025"/>
          </a:xfrm>
          <a:prstGeom prst="rect">
            <a:avLst/>
          </a:prstGeom>
        </p:spPr>
      </p:pic>
      <p:pic>
        <p:nvPicPr>
          <p:cNvPr id="5" name="图片 4">
            <a:extLst>
              <a:ext uri="{FF2B5EF4-FFF2-40B4-BE49-F238E27FC236}">
                <a16:creationId xmlns:a16="http://schemas.microsoft.com/office/drawing/2014/main" id="{254C6FF1-F3B3-FAEC-93D7-64B2D4FC7B70}"/>
              </a:ext>
            </a:extLst>
          </p:cNvPr>
          <p:cNvPicPr>
            <a:picLocks noChangeAspect="1"/>
          </p:cNvPicPr>
          <p:nvPr/>
        </p:nvPicPr>
        <p:blipFill>
          <a:blip r:embed="rId3"/>
          <a:stretch>
            <a:fillRect/>
          </a:stretch>
        </p:blipFill>
        <p:spPr>
          <a:xfrm>
            <a:off x="4354128" y="338137"/>
            <a:ext cx="4324350" cy="1381125"/>
          </a:xfrm>
          <a:prstGeom prst="rect">
            <a:avLst/>
          </a:prstGeom>
        </p:spPr>
      </p:pic>
      <p:pic>
        <p:nvPicPr>
          <p:cNvPr id="7" name="图片 6">
            <a:extLst>
              <a:ext uri="{FF2B5EF4-FFF2-40B4-BE49-F238E27FC236}">
                <a16:creationId xmlns:a16="http://schemas.microsoft.com/office/drawing/2014/main" id="{2481B346-BB18-EB7B-0683-284BD8CF80E2}"/>
              </a:ext>
            </a:extLst>
          </p:cNvPr>
          <p:cNvPicPr>
            <a:picLocks noChangeAspect="1"/>
          </p:cNvPicPr>
          <p:nvPr/>
        </p:nvPicPr>
        <p:blipFill>
          <a:blip r:embed="rId4"/>
          <a:stretch>
            <a:fillRect/>
          </a:stretch>
        </p:blipFill>
        <p:spPr>
          <a:xfrm>
            <a:off x="620328" y="2066925"/>
            <a:ext cx="8058150" cy="3495675"/>
          </a:xfrm>
          <a:prstGeom prst="rect">
            <a:avLst/>
          </a:prstGeom>
        </p:spPr>
      </p:pic>
    </p:spTree>
    <p:extLst>
      <p:ext uri="{BB962C8B-B14F-4D97-AF65-F5344CB8AC3E}">
        <p14:creationId xmlns:p14="http://schemas.microsoft.com/office/powerpoint/2010/main" val="1957646399"/>
      </p:ext>
    </p:extLst>
  </p:cSld>
  <p:clrMapOvr>
    <a:masterClrMapping/>
  </p:clrMapOvr>
  <p:transition>
    <p:wipe di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3938D9B5-7BA3-A5A6-0068-A49064EFFB3B}"/>
              </a:ext>
            </a:extLst>
          </p:cNvPr>
          <p:cNvPicPr>
            <a:picLocks noChangeAspect="1"/>
          </p:cNvPicPr>
          <p:nvPr/>
        </p:nvPicPr>
        <p:blipFill>
          <a:blip r:embed="rId2"/>
          <a:stretch>
            <a:fillRect/>
          </a:stretch>
        </p:blipFill>
        <p:spPr>
          <a:xfrm>
            <a:off x="820738" y="1208171"/>
            <a:ext cx="2724150" cy="495300"/>
          </a:xfrm>
          <a:prstGeom prst="rect">
            <a:avLst/>
          </a:prstGeom>
        </p:spPr>
      </p:pic>
      <p:pic>
        <p:nvPicPr>
          <p:cNvPr id="5" name="图片 4">
            <a:extLst>
              <a:ext uri="{FF2B5EF4-FFF2-40B4-BE49-F238E27FC236}">
                <a16:creationId xmlns:a16="http://schemas.microsoft.com/office/drawing/2014/main" id="{2F8AAA20-0B09-81A1-0E12-99B82DA608B9}"/>
              </a:ext>
            </a:extLst>
          </p:cNvPr>
          <p:cNvPicPr>
            <a:picLocks noChangeAspect="1"/>
          </p:cNvPicPr>
          <p:nvPr/>
        </p:nvPicPr>
        <p:blipFill>
          <a:blip r:embed="rId3"/>
          <a:stretch>
            <a:fillRect/>
          </a:stretch>
        </p:blipFill>
        <p:spPr>
          <a:xfrm>
            <a:off x="65434" y="2391928"/>
            <a:ext cx="9013132" cy="1544804"/>
          </a:xfrm>
          <a:prstGeom prst="rect">
            <a:avLst/>
          </a:prstGeom>
        </p:spPr>
      </p:pic>
    </p:spTree>
    <p:extLst>
      <p:ext uri="{BB962C8B-B14F-4D97-AF65-F5344CB8AC3E}">
        <p14:creationId xmlns:p14="http://schemas.microsoft.com/office/powerpoint/2010/main" val="3810029263"/>
      </p:ext>
    </p:extLst>
  </p:cSld>
  <p:clrMapOvr>
    <a:masterClrMapping/>
  </p:clrMapOvr>
  <p:transition>
    <p:wipe di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21C703B8-E316-4028-E566-43E5D7676272}"/>
              </a:ext>
            </a:extLst>
          </p:cNvPr>
          <p:cNvPicPr>
            <a:picLocks noChangeAspect="1"/>
          </p:cNvPicPr>
          <p:nvPr/>
        </p:nvPicPr>
        <p:blipFill>
          <a:blip r:embed="rId2"/>
          <a:stretch>
            <a:fillRect/>
          </a:stretch>
        </p:blipFill>
        <p:spPr>
          <a:xfrm>
            <a:off x="598488" y="1421982"/>
            <a:ext cx="8285899" cy="3785285"/>
          </a:xfrm>
          <a:prstGeom prst="rect">
            <a:avLst/>
          </a:prstGeom>
        </p:spPr>
      </p:pic>
    </p:spTree>
    <p:extLst>
      <p:ext uri="{BB962C8B-B14F-4D97-AF65-F5344CB8AC3E}">
        <p14:creationId xmlns:p14="http://schemas.microsoft.com/office/powerpoint/2010/main" val="3912214641"/>
      </p:ext>
    </p:extLst>
  </p:cSld>
  <p:clrMapOvr>
    <a:masterClrMapping/>
  </p:clrMapOvr>
  <p:transition>
    <p:wipe dir="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4FADB61E-AF3A-A9DB-F559-1F5235BA8FB3}"/>
              </a:ext>
            </a:extLst>
          </p:cNvPr>
          <p:cNvPicPr>
            <a:picLocks noChangeAspect="1"/>
          </p:cNvPicPr>
          <p:nvPr/>
        </p:nvPicPr>
        <p:blipFill>
          <a:blip r:embed="rId2"/>
          <a:stretch>
            <a:fillRect/>
          </a:stretch>
        </p:blipFill>
        <p:spPr>
          <a:xfrm>
            <a:off x="595312" y="1223962"/>
            <a:ext cx="8351101" cy="3670484"/>
          </a:xfrm>
          <a:prstGeom prst="rect">
            <a:avLst/>
          </a:prstGeom>
        </p:spPr>
      </p:pic>
    </p:spTree>
    <p:extLst>
      <p:ext uri="{BB962C8B-B14F-4D97-AF65-F5344CB8AC3E}">
        <p14:creationId xmlns:p14="http://schemas.microsoft.com/office/powerpoint/2010/main" val="1887936227"/>
      </p:ext>
    </p:extLst>
  </p:cSld>
  <p:clrMapOvr>
    <a:masterClrMapping/>
  </p:clrMapOvr>
  <p:transition>
    <p:wipe di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931AAE33-D900-0B23-F375-3149478C7417}"/>
              </a:ext>
            </a:extLst>
          </p:cNvPr>
          <p:cNvPicPr>
            <a:picLocks noChangeAspect="1"/>
          </p:cNvPicPr>
          <p:nvPr/>
        </p:nvPicPr>
        <p:blipFill>
          <a:blip r:embed="rId2"/>
          <a:stretch>
            <a:fillRect/>
          </a:stretch>
        </p:blipFill>
        <p:spPr>
          <a:xfrm>
            <a:off x="623887" y="1616192"/>
            <a:ext cx="8268769" cy="2224289"/>
          </a:xfrm>
          <a:prstGeom prst="rect">
            <a:avLst/>
          </a:prstGeom>
        </p:spPr>
      </p:pic>
    </p:spTree>
    <p:extLst>
      <p:ext uri="{BB962C8B-B14F-4D97-AF65-F5344CB8AC3E}">
        <p14:creationId xmlns:p14="http://schemas.microsoft.com/office/powerpoint/2010/main" val="723292484"/>
      </p:ext>
    </p:extLst>
  </p:cSld>
  <p:clrMapOvr>
    <a:masterClrMapping/>
  </p:clrMapOvr>
  <p:transition>
    <p:wipe di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grpSp>
        <p:nvGrpSpPr>
          <p:cNvPr id="5" name="组合 4">
            <a:extLst>
              <a:ext uri="{FF2B5EF4-FFF2-40B4-BE49-F238E27FC236}">
                <a16:creationId xmlns:a16="http://schemas.microsoft.com/office/drawing/2014/main" id="{90DF6CFC-0631-AD48-B801-95A5B7AD6096}"/>
              </a:ext>
            </a:extLst>
          </p:cNvPr>
          <p:cNvGrpSpPr/>
          <p:nvPr/>
        </p:nvGrpSpPr>
        <p:grpSpPr>
          <a:xfrm>
            <a:off x="14287" y="1195387"/>
            <a:ext cx="9115425" cy="4467225"/>
            <a:chOff x="14287" y="1195387"/>
            <a:chExt cx="9115425" cy="4467225"/>
          </a:xfrm>
        </p:grpSpPr>
        <p:pic>
          <p:nvPicPr>
            <p:cNvPr id="3" name="图片 2">
              <a:extLst>
                <a:ext uri="{FF2B5EF4-FFF2-40B4-BE49-F238E27FC236}">
                  <a16:creationId xmlns:a16="http://schemas.microsoft.com/office/drawing/2014/main" id="{EC457E35-9212-B765-A3FF-214F38782193}"/>
                </a:ext>
              </a:extLst>
            </p:cNvPr>
            <p:cNvPicPr>
              <a:picLocks noChangeAspect="1"/>
            </p:cNvPicPr>
            <p:nvPr/>
          </p:nvPicPr>
          <p:blipFill>
            <a:blip r:embed="rId2"/>
            <a:stretch>
              <a:fillRect/>
            </a:stretch>
          </p:blipFill>
          <p:spPr>
            <a:xfrm>
              <a:off x="14287" y="1195387"/>
              <a:ext cx="9115425" cy="4467225"/>
            </a:xfrm>
            <a:prstGeom prst="rect">
              <a:avLst/>
            </a:prstGeom>
          </p:spPr>
        </p:pic>
        <p:sp>
          <p:nvSpPr>
            <p:cNvPr id="4" name="文本框 3">
              <a:extLst>
                <a:ext uri="{FF2B5EF4-FFF2-40B4-BE49-F238E27FC236}">
                  <a16:creationId xmlns:a16="http://schemas.microsoft.com/office/drawing/2014/main" id="{AFD5D717-EADE-0D0C-E0D3-9BF9508C4133}"/>
                </a:ext>
              </a:extLst>
            </p:cNvPr>
            <p:cNvSpPr txBox="1"/>
            <p:nvPr/>
          </p:nvSpPr>
          <p:spPr>
            <a:xfrm>
              <a:off x="288758" y="1195387"/>
              <a:ext cx="413886"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230828257"/>
      </p:ext>
    </p:extLst>
  </p:cSld>
  <p:clrMapOvr>
    <a:masterClrMapping/>
  </p:clrMapOvr>
  <p:transition>
    <p:wipe dir="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6" name="图片 5">
            <a:extLst>
              <a:ext uri="{FF2B5EF4-FFF2-40B4-BE49-F238E27FC236}">
                <a16:creationId xmlns:a16="http://schemas.microsoft.com/office/drawing/2014/main" id="{7DEABBA9-5E24-F678-4459-0EE60CDB40E8}"/>
              </a:ext>
            </a:extLst>
          </p:cNvPr>
          <p:cNvPicPr>
            <a:picLocks noChangeAspect="1"/>
          </p:cNvPicPr>
          <p:nvPr/>
        </p:nvPicPr>
        <p:blipFill>
          <a:blip r:embed="rId2"/>
          <a:stretch>
            <a:fillRect/>
          </a:stretch>
        </p:blipFill>
        <p:spPr>
          <a:xfrm>
            <a:off x="857249" y="1380472"/>
            <a:ext cx="7755115" cy="3191528"/>
          </a:xfrm>
          <a:prstGeom prst="rect">
            <a:avLst/>
          </a:prstGeom>
        </p:spPr>
      </p:pic>
    </p:spTree>
    <p:extLst>
      <p:ext uri="{BB962C8B-B14F-4D97-AF65-F5344CB8AC3E}">
        <p14:creationId xmlns:p14="http://schemas.microsoft.com/office/powerpoint/2010/main" val="1427101180"/>
      </p:ext>
    </p:extLst>
  </p:cSld>
  <p:clrMapOvr>
    <a:masterClrMapping/>
  </p:clrMapOvr>
  <p:transition>
    <p:wipe dir="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340493"/>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sp>
        <p:nvSpPr>
          <p:cNvPr id="91139" name="Rectangle 5"/>
          <p:cNvSpPr>
            <a:spLocks noChangeArrowheads="1"/>
          </p:cNvSpPr>
          <p:nvPr/>
        </p:nvSpPr>
        <p:spPr bwMode="auto">
          <a:xfrm>
            <a:off x="471638" y="767531"/>
            <a:ext cx="8453287" cy="104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40000"/>
              </a:lnSpc>
              <a:spcBef>
                <a:spcPct val="0"/>
              </a:spcBef>
            </a:pPr>
            <a:r>
              <a:rPr lang="en-US" altLang="zh-CN" dirty="0">
                <a:solidFill>
                  <a:srgbClr val="990000"/>
                </a:solidFill>
                <a:latin typeface="黑体" pitchFamily="2" charset="-122"/>
                <a:ea typeface="黑体" pitchFamily="2" charset="-122"/>
              </a:rPr>
              <a:t>1</a:t>
            </a:r>
            <a:r>
              <a:rPr lang="zh-CN" altLang="en-US" dirty="0">
                <a:solidFill>
                  <a:srgbClr val="990000"/>
                </a:solidFill>
                <a:latin typeface="黑体" pitchFamily="2" charset="-122"/>
                <a:ea typeface="黑体" pitchFamily="2" charset="-122"/>
              </a:rPr>
              <a:t>．直接控制法（不译码法）</a:t>
            </a:r>
          </a:p>
          <a:p>
            <a:pPr>
              <a:lnSpc>
                <a:spcPct val="140000"/>
              </a:lnSpc>
              <a:spcBef>
                <a:spcPct val="0"/>
              </a:spcBef>
            </a:pPr>
            <a:r>
              <a:rPr lang="zh-CN" altLang="en-US" dirty="0">
                <a:solidFill>
                  <a:srgbClr val="00007E"/>
                </a:solidFill>
                <a:latin typeface="黑体" pitchFamily="2" charset="-122"/>
                <a:ea typeface="黑体" pitchFamily="2" charset="-122"/>
              </a:rPr>
              <a:t>指令操作控制字段中的各位分别可以直接控制计算机的部件。</a:t>
            </a:r>
          </a:p>
        </p:txBody>
      </p:sp>
      <p:pic>
        <p:nvPicPr>
          <p:cNvPr id="3" name="图片 2">
            <a:extLst>
              <a:ext uri="{FF2B5EF4-FFF2-40B4-BE49-F238E27FC236}">
                <a16:creationId xmlns:a16="http://schemas.microsoft.com/office/drawing/2014/main" id="{16167C4C-21F0-1214-1C71-2C5382F56589}"/>
              </a:ext>
            </a:extLst>
          </p:cNvPr>
          <p:cNvPicPr>
            <a:picLocks noChangeAspect="1"/>
          </p:cNvPicPr>
          <p:nvPr/>
        </p:nvPicPr>
        <p:blipFill>
          <a:blip r:embed="rId2"/>
          <a:stretch>
            <a:fillRect/>
          </a:stretch>
        </p:blipFill>
        <p:spPr>
          <a:xfrm>
            <a:off x="1027497" y="1816664"/>
            <a:ext cx="7437922" cy="1869811"/>
          </a:xfrm>
          <a:prstGeom prst="rect">
            <a:avLst/>
          </a:prstGeom>
        </p:spPr>
      </p:pic>
      <p:sp>
        <p:nvSpPr>
          <p:cNvPr id="4" name="Rectangle 5">
            <a:extLst>
              <a:ext uri="{FF2B5EF4-FFF2-40B4-BE49-F238E27FC236}">
                <a16:creationId xmlns:a16="http://schemas.microsoft.com/office/drawing/2014/main" id="{BE6F7D91-8216-A07F-B903-E14E1FBB2D54}"/>
              </a:ext>
            </a:extLst>
          </p:cNvPr>
          <p:cNvSpPr>
            <a:spLocks noChangeArrowheads="1"/>
          </p:cNvSpPr>
          <p:nvPr/>
        </p:nvSpPr>
        <p:spPr bwMode="auto">
          <a:xfrm>
            <a:off x="471637" y="3656313"/>
            <a:ext cx="8453287"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40000"/>
              </a:lnSpc>
              <a:spcBef>
                <a:spcPct val="0"/>
              </a:spcBef>
            </a:pPr>
            <a:r>
              <a:rPr lang="zh-CN" altLang="en-US" dirty="0">
                <a:solidFill>
                  <a:srgbClr val="FF0000"/>
                </a:solidFill>
                <a:latin typeface="黑体" pitchFamily="2" charset="-122"/>
                <a:ea typeface="黑体" pitchFamily="2" charset="-122"/>
              </a:rPr>
              <a:t>特点：</a:t>
            </a:r>
            <a:r>
              <a:rPr lang="zh-CN" altLang="en-US" dirty="0">
                <a:solidFill>
                  <a:srgbClr val="00007E"/>
                </a:solidFill>
                <a:latin typeface="黑体" pitchFamily="2" charset="-122"/>
                <a:ea typeface="黑体" pitchFamily="2" charset="-122"/>
              </a:rPr>
              <a:t>结构简单，并行性强，操作速度快</a:t>
            </a:r>
            <a:r>
              <a:rPr lang="en-US" altLang="zh-CN" dirty="0">
                <a:solidFill>
                  <a:srgbClr val="00007E"/>
                </a:solidFill>
                <a:latin typeface="黑体" pitchFamily="2" charset="-122"/>
                <a:ea typeface="黑体" pitchFamily="2" charset="-122"/>
              </a:rPr>
              <a:t>;</a:t>
            </a:r>
            <a:r>
              <a:rPr lang="zh-CN" altLang="en-US" dirty="0">
                <a:solidFill>
                  <a:srgbClr val="00007E"/>
                </a:solidFill>
                <a:latin typeface="黑体" pitchFamily="2" charset="-122"/>
                <a:ea typeface="黑体" pitchFamily="2" charset="-122"/>
              </a:rPr>
              <a:t>但是微指令字太长。</a:t>
            </a:r>
          </a:p>
        </p:txBody>
      </p:sp>
      <p:pic>
        <p:nvPicPr>
          <p:cNvPr id="6" name="图片 5">
            <a:extLst>
              <a:ext uri="{FF2B5EF4-FFF2-40B4-BE49-F238E27FC236}">
                <a16:creationId xmlns:a16="http://schemas.microsoft.com/office/drawing/2014/main" id="{B76DE394-BA8D-42C6-DD27-8F024DBC9B19}"/>
              </a:ext>
            </a:extLst>
          </p:cNvPr>
          <p:cNvPicPr>
            <a:picLocks noChangeAspect="1"/>
          </p:cNvPicPr>
          <p:nvPr/>
        </p:nvPicPr>
        <p:blipFill>
          <a:blip r:embed="rId3"/>
          <a:stretch>
            <a:fillRect/>
          </a:stretch>
        </p:blipFill>
        <p:spPr>
          <a:xfrm>
            <a:off x="1203158" y="4369096"/>
            <a:ext cx="3543300" cy="285750"/>
          </a:xfrm>
          <a:prstGeom prst="rect">
            <a:avLst/>
          </a:prstGeom>
        </p:spPr>
      </p:pic>
      <p:pic>
        <p:nvPicPr>
          <p:cNvPr id="8" name="图片 7">
            <a:extLst>
              <a:ext uri="{FF2B5EF4-FFF2-40B4-BE49-F238E27FC236}">
                <a16:creationId xmlns:a16="http://schemas.microsoft.com/office/drawing/2014/main" id="{DB6B16B1-78EC-119F-D495-1D2FB144BC5D}"/>
              </a:ext>
            </a:extLst>
          </p:cNvPr>
          <p:cNvPicPr>
            <a:picLocks noChangeAspect="1"/>
          </p:cNvPicPr>
          <p:nvPr/>
        </p:nvPicPr>
        <p:blipFill>
          <a:blip r:embed="rId4"/>
          <a:stretch>
            <a:fillRect/>
          </a:stretch>
        </p:blipFill>
        <p:spPr>
          <a:xfrm>
            <a:off x="1135330" y="4835561"/>
            <a:ext cx="6315075" cy="1381125"/>
          </a:xfrm>
          <a:prstGeom prst="rect">
            <a:avLst/>
          </a:prstGeom>
        </p:spPr>
      </p:pic>
    </p:spTree>
    <p:extLst>
      <p:ext uri="{BB962C8B-B14F-4D97-AF65-F5344CB8AC3E}">
        <p14:creationId xmlns:p14="http://schemas.microsoft.com/office/powerpoint/2010/main" val="1621155637"/>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ChangeArrowheads="1"/>
          </p:cNvSpPr>
          <p:nvPr/>
        </p:nvSpPr>
        <p:spPr bwMode="auto">
          <a:xfrm>
            <a:off x="828675" y="1028700"/>
            <a:ext cx="7620000"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spcBef>
                <a:spcPct val="0"/>
              </a:spcBef>
            </a:pP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．最短编码法</a:t>
            </a:r>
          </a:p>
          <a:p>
            <a:pPr>
              <a:lnSpc>
                <a:spcPct val="140000"/>
              </a:lnSpc>
              <a:spcBef>
                <a:spcPct val="0"/>
              </a:spcBef>
            </a:pPr>
            <a:r>
              <a:rPr lang="zh-CN" altLang="en-US" dirty="0">
                <a:solidFill>
                  <a:srgbClr val="00007E"/>
                </a:solidFill>
                <a:latin typeface="黑体" pitchFamily="2" charset="-122"/>
                <a:ea typeface="黑体" pitchFamily="2" charset="-122"/>
              </a:rPr>
              <a:t>    这种方法将所有的微命令统一编码，每条微指令只定义一个微命令。若微命令的总数为</a:t>
            </a:r>
            <a:r>
              <a:rPr lang="en-US" altLang="zh-CN" dirty="0">
                <a:solidFill>
                  <a:srgbClr val="00007E"/>
                </a:solidFill>
                <a:latin typeface="黑体" pitchFamily="2" charset="-122"/>
                <a:ea typeface="黑体" pitchFamily="2" charset="-122"/>
              </a:rPr>
              <a:t>N</a:t>
            </a:r>
            <a:r>
              <a:rPr lang="zh-CN" altLang="en-US" dirty="0">
                <a:solidFill>
                  <a:srgbClr val="00007E"/>
                </a:solidFill>
                <a:latin typeface="黑体" pitchFamily="2" charset="-122"/>
                <a:ea typeface="黑体" pitchFamily="2" charset="-122"/>
              </a:rPr>
              <a:t>，操作控制字段的长度为</a:t>
            </a:r>
            <a:r>
              <a:rPr lang="en-US" altLang="zh-CN" dirty="0">
                <a:solidFill>
                  <a:srgbClr val="00007E"/>
                </a:solidFill>
                <a:latin typeface="黑体" pitchFamily="2" charset="-122"/>
                <a:ea typeface="黑体" pitchFamily="2" charset="-122"/>
              </a:rPr>
              <a:t>L</a:t>
            </a:r>
            <a:r>
              <a:rPr lang="zh-CN" altLang="en-US" dirty="0">
                <a:solidFill>
                  <a:srgbClr val="00007E"/>
                </a:solidFill>
                <a:latin typeface="黑体" pitchFamily="2" charset="-122"/>
                <a:ea typeface="黑体" pitchFamily="2" charset="-122"/>
              </a:rPr>
              <a:t>，则最短编码法应满足下列关系式：</a:t>
            </a:r>
            <a:r>
              <a:rPr lang="en-US" altLang="zh-CN" dirty="0">
                <a:solidFill>
                  <a:srgbClr val="00007E"/>
                </a:solidFill>
                <a:latin typeface="黑体" pitchFamily="2" charset="-122"/>
                <a:ea typeface="黑体" pitchFamily="2" charset="-122"/>
              </a:rPr>
              <a:t>L≥log</a:t>
            </a:r>
            <a:r>
              <a:rPr lang="en-US" altLang="zh-CN" baseline="-25000" dirty="0">
                <a:solidFill>
                  <a:srgbClr val="00007E"/>
                </a:solidFill>
                <a:latin typeface="黑体" pitchFamily="2" charset="-122"/>
                <a:ea typeface="黑体" pitchFamily="2" charset="-122"/>
              </a:rPr>
              <a:t>2</a:t>
            </a:r>
            <a:r>
              <a:rPr lang="en-US" altLang="zh-CN" dirty="0">
                <a:solidFill>
                  <a:srgbClr val="00007E"/>
                </a:solidFill>
                <a:latin typeface="黑体" pitchFamily="2" charset="-122"/>
                <a:ea typeface="黑体" pitchFamily="2" charset="-122"/>
              </a:rPr>
              <a:t>N</a:t>
            </a:r>
          </a:p>
          <a:p>
            <a:pPr>
              <a:lnSpc>
                <a:spcPct val="140000"/>
              </a:lnSpc>
              <a:spcBef>
                <a:spcPct val="0"/>
              </a:spcBef>
            </a:pPr>
            <a:r>
              <a:rPr lang="en-US" altLang="zh-CN" dirty="0">
                <a:solidFill>
                  <a:srgbClr val="00007E"/>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特点</a:t>
            </a:r>
            <a:r>
              <a:rPr lang="zh-CN" altLang="en-US" dirty="0">
                <a:solidFill>
                  <a:srgbClr val="00007E"/>
                </a:solidFill>
                <a:latin typeface="黑体" pitchFamily="2" charset="-122"/>
                <a:ea typeface="黑体" pitchFamily="2" charset="-122"/>
              </a:rPr>
              <a:t>：微指令字长最短，译码器复杂，不能充分利用机器硬件所具有的并行性。</a:t>
            </a:r>
          </a:p>
        </p:txBody>
      </p:sp>
      <p:sp>
        <p:nvSpPr>
          <p:cNvPr id="92163"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spTree>
  </p:cSld>
  <p:clrMapOvr>
    <a:masterClrMapping/>
  </p:clrMapOvr>
  <p:transition>
    <p:wipe dir="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ChangeArrowheads="1"/>
          </p:cNvSpPr>
          <p:nvPr/>
        </p:nvSpPr>
        <p:spPr bwMode="auto">
          <a:xfrm>
            <a:off x="598488" y="1339792"/>
            <a:ext cx="7924800"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lnSpc>
                <a:spcPct val="120000"/>
              </a:lnSpc>
              <a:spcBef>
                <a:spcPct val="0"/>
              </a:spcBef>
            </a:pPr>
            <a:r>
              <a:rPr lang="en-US" altLang="zh-CN" dirty="0">
                <a:solidFill>
                  <a:srgbClr val="00007E"/>
                </a:solidFill>
                <a:latin typeface="黑体" pitchFamily="2" charset="-122"/>
                <a:ea typeface="黑体" pitchFamily="2" charset="-122"/>
              </a:rPr>
              <a:t>  </a:t>
            </a:r>
            <a:r>
              <a:rPr lang="zh-CN" altLang="en-US" dirty="0">
                <a:solidFill>
                  <a:srgbClr val="00007E"/>
                </a:solidFill>
                <a:latin typeface="黑体" pitchFamily="2" charset="-122"/>
                <a:ea typeface="黑体" pitchFamily="2" charset="-122"/>
              </a:rPr>
              <a:t>将操作控制字段分为若干个小段，每段内采用</a:t>
            </a:r>
            <a:r>
              <a:rPr lang="zh-CN" altLang="en-US" dirty="0">
                <a:solidFill>
                  <a:srgbClr val="FF0000"/>
                </a:solidFill>
                <a:latin typeface="黑体" pitchFamily="2" charset="-122"/>
                <a:ea typeface="黑体" pitchFamily="2" charset="-122"/>
              </a:rPr>
              <a:t>最短</a:t>
            </a:r>
            <a:r>
              <a:rPr lang="zh-CN" altLang="en-US" dirty="0">
                <a:solidFill>
                  <a:srgbClr val="00007E"/>
                </a:solidFill>
                <a:latin typeface="黑体" pitchFamily="2" charset="-122"/>
                <a:ea typeface="黑体" pitchFamily="2" charset="-122"/>
              </a:rPr>
              <a:t>编码法，段与段之间采用</a:t>
            </a:r>
            <a:r>
              <a:rPr lang="zh-CN" altLang="en-US" dirty="0">
                <a:solidFill>
                  <a:srgbClr val="FF0000"/>
                </a:solidFill>
                <a:latin typeface="黑体" pitchFamily="2" charset="-122"/>
                <a:ea typeface="黑体" pitchFamily="2" charset="-122"/>
              </a:rPr>
              <a:t>直接控制</a:t>
            </a:r>
            <a:r>
              <a:rPr lang="zh-CN" altLang="en-US" dirty="0">
                <a:solidFill>
                  <a:srgbClr val="00007E"/>
                </a:solidFill>
                <a:latin typeface="黑体" pitchFamily="2" charset="-122"/>
                <a:ea typeface="黑体" pitchFamily="2" charset="-122"/>
              </a:rPr>
              <a:t>法。</a:t>
            </a:r>
          </a:p>
          <a:p>
            <a:pPr indent="266700">
              <a:lnSpc>
                <a:spcPct val="60000"/>
              </a:lnSpc>
              <a:spcBef>
                <a:spcPct val="0"/>
              </a:spcBef>
            </a:pPr>
            <a:endParaRPr lang="zh-CN" altLang="en-US" dirty="0">
              <a:solidFill>
                <a:srgbClr val="00007E"/>
              </a:solidFill>
              <a:latin typeface="黑体" pitchFamily="2" charset="-122"/>
              <a:ea typeface="黑体" pitchFamily="2" charset="-122"/>
            </a:endParaRPr>
          </a:p>
          <a:p>
            <a:pPr indent="266700">
              <a:spcBef>
                <a:spcPct val="0"/>
              </a:spcBef>
            </a:pPr>
            <a:r>
              <a:rPr lang="zh-CN" altLang="en-US" dirty="0">
                <a:solidFill>
                  <a:srgbClr val="00007E"/>
                </a:solidFill>
                <a:latin typeface="黑体" pitchFamily="2" charset="-122"/>
                <a:ea typeface="黑体" pitchFamily="2" charset="-122"/>
              </a:rPr>
              <a:t>  ⑴ 字段直接编码法</a:t>
            </a:r>
          </a:p>
          <a:p>
            <a:pPr indent="266700">
              <a:lnSpc>
                <a:spcPct val="120000"/>
              </a:lnSpc>
              <a:spcBef>
                <a:spcPct val="0"/>
              </a:spcBef>
            </a:pPr>
            <a:r>
              <a:rPr lang="zh-CN" altLang="en-US" dirty="0">
                <a:solidFill>
                  <a:srgbClr val="00007E"/>
                </a:solidFill>
                <a:latin typeface="黑体" pitchFamily="2" charset="-122"/>
                <a:ea typeface="黑体" pitchFamily="2" charset="-122"/>
              </a:rPr>
              <a:t>  各字段都可以独立地定义本字段的微命令，而和其他字段无关。又称为显式编码或单重定义编码方法。 </a:t>
            </a:r>
          </a:p>
        </p:txBody>
      </p:sp>
      <p:sp>
        <p:nvSpPr>
          <p:cNvPr id="93187" name="Rectangle 4"/>
          <p:cNvSpPr>
            <a:spLocks noChangeArrowheads="1"/>
          </p:cNvSpPr>
          <p:nvPr/>
        </p:nvSpPr>
        <p:spPr bwMode="auto">
          <a:xfrm>
            <a:off x="838994" y="922230"/>
            <a:ext cx="2176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3</a:t>
            </a:r>
            <a:r>
              <a:rPr lang="zh-CN" altLang="en-US" dirty="0">
                <a:solidFill>
                  <a:srgbClr val="990000"/>
                </a:solidFill>
                <a:latin typeface="黑体" pitchFamily="2" charset="-122"/>
                <a:ea typeface="黑体" pitchFamily="2" charset="-122"/>
              </a:rPr>
              <a:t>．字段编码法</a:t>
            </a:r>
          </a:p>
        </p:txBody>
      </p:sp>
      <p:sp>
        <p:nvSpPr>
          <p:cNvPr id="93188" name="Rectangle 4"/>
          <p:cNvSpPr>
            <a:spLocks noChangeArrowheads="1"/>
          </p:cNvSpPr>
          <p:nvPr/>
        </p:nvSpPr>
        <p:spPr bwMode="auto">
          <a:xfrm>
            <a:off x="598488" y="356562"/>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dirty="0">
                <a:solidFill>
                  <a:srgbClr val="990000"/>
                </a:solidFill>
                <a:latin typeface="黑体" pitchFamily="2" charset="-122"/>
                <a:ea typeface="黑体" pitchFamily="2" charset="-122"/>
              </a:rPr>
              <a:t>微指令编码法</a:t>
            </a:r>
          </a:p>
        </p:txBody>
      </p:sp>
      <p:grpSp>
        <p:nvGrpSpPr>
          <p:cNvPr id="2" name="Group 43">
            <a:extLst>
              <a:ext uri="{FF2B5EF4-FFF2-40B4-BE49-F238E27FC236}">
                <a16:creationId xmlns:a16="http://schemas.microsoft.com/office/drawing/2014/main" id="{05D5FFB2-D9B4-002F-3048-05C48900717E}"/>
              </a:ext>
            </a:extLst>
          </p:cNvPr>
          <p:cNvGrpSpPr>
            <a:grpSpLocks/>
          </p:cNvGrpSpPr>
          <p:nvPr/>
        </p:nvGrpSpPr>
        <p:grpSpPr bwMode="auto">
          <a:xfrm>
            <a:off x="620712" y="3843963"/>
            <a:ext cx="6889750" cy="2667000"/>
            <a:chOff x="450" y="1057"/>
            <a:chExt cx="4340" cy="1680"/>
          </a:xfrm>
        </p:grpSpPr>
        <p:sp>
          <p:nvSpPr>
            <p:cNvPr id="3" name="Rectangle 11">
              <a:extLst>
                <a:ext uri="{FF2B5EF4-FFF2-40B4-BE49-F238E27FC236}">
                  <a16:creationId xmlns:a16="http://schemas.microsoft.com/office/drawing/2014/main" id="{647E6274-A789-7003-31AA-AFC5CA8086D3}"/>
                </a:ext>
              </a:extLst>
            </p:cNvPr>
            <p:cNvSpPr>
              <a:spLocks noChangeArrowheads="1"/>
            </p:cNvSpPr>
            <p:nvPr/>
          </p:nvSpPr>
          <p:spPr bwMode="auto">
            <a:xfrm>
              <a:off x="1098" y="2049"/>
              <a:ext cx="2407" cy="273"/>
            </a:xfrm>
            <a:prstGeom prst="rect">
              <a:avLst/>
            </a:prstGeom>
            <a:solidFill>
              <a:srgbClr val="FFFFCC"/>
            </a:solidFill>
            <a:ln w="28575" algn="ctr">
              <a:solidFill>
                <a:srgbClr val="000099"/>
              </a:solidFill>
              <a:miter lim="800000"/>
              <a:headEnd/>
              <a:tailEnd/>
            </a:ln>
          </p:spPr>
          <p:txBody>
            <a:bodyPr anchor="ctr">
              <a:spAutoFit/>
            </a:bodyPr>
            <a:lstStyle/>
            <a:p>
              <a:endParaRPr lang="zh-CN" altLang="en-US"/>
            </a:p>
          </p:txBody>
        </p:sp>
        <p:sp>
          <p:nvSpPr>
            <p:cNvPr id="4" name="Rectangle 12">
              <a:extLst>
                <a:ext uri="{FF2B5EF4-FFF2-40B4-BE49-F238E27FC236}">
                  <a16:creationId xmlns:a16="http://schemas.microsoft.com/office/drawing/2014/main" id="{E93D7A4F-D929-45CA-0EF8-9CF887F3CBF9}"/>
                </a:ext>
              </a:extLst>
            </p:cNvPr>
            <p:cNvSpPr>
              <a:spLocks noChangeArrowheads="1"/>
            </p:cNvSpPr>
            <p:nvPr/>
          </p:nvSpPr>
          <p:spPr bwMode="auto">
            <a:xfrm>
              <a:off x="3505" y="2049"/>
              <a:ext cx="1194" cy="273"/>
            </a:xfrm>
            <a:prstGeom prst="rect">
              <a:avLst/>
            </a:prstGeom>
            <a:solidFill>
              <a:srgbClr val="FFFFCC"/>
            </a:solidFill>
            <a:ln w="28575" algn="ctr">
              <a:solidFill>
                <a:srgbClr val="000099"/>
              </a:solidFill>
              <a:miter lim="800000"/>
              <a:headEnd/>
              <a:tailEnd/>
            </a:ln>
          </p:spPr>
          <p:txBody>
            <a:bodyPr anchor="ctr">
              <a:spAutoFit/>
            </a:bodyPr>
            <a:lstStyle/>
            <a:p>
              <a:endParaRPr lang="zh-CN" altLang="en-US"/>
            </a:p>
          </p:txBody>
        </p:sp>
        <p:sp>
          <p:nvSpPr>
            <p:cNvPr id="5" name="AutoShape 13">
              <a:extLst>
                <a:ext uri="{FF2B5EF4-FFF2-40B4-BE49-F238E27FC236}">
                  <a16:creationId xmlns:a16="http://schemas.microsoft.com/office/drawing/2014/main" id="{A879AA94-5C3E-5B7C-0E20-B4D1C7901CAD}"/>
                </a:ext>
              </a:extLst>
            </p:cNvPr>
            <p:cNvSpPr>
              <a:spLocks/>
            </p:cNvSpPr>
            <p:nvPr/>
          </p:nvSpPr>
          <p:spPr bwMode="auto">
            <a:xfrm rot="-5400000">
              <a:off x="2247" y="1251"/>
              <a:ext cx="98" cy="2353"/>
            </a:xfrm>
            <a:prstGeom prst="leftBrace">
              <a:avLst>
                <a:gd name="adj1" fmla="val 200085"/>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 name="AutoShape 14">
              <a:extLst>
                <a:ext uri="{FF2B5EF4-FFF2-40B4-BE49-F238E27FC236}">
                  <a16:creationId xmlns:a16="http://schemas.microsoft.com/office/drawing/2014/main" id="{BBB0F285-0169-E0A0-EA18-ADEE4587AA6E}"/>
                </a:ext>
              </a:extLst>
            </p:cNvPr>
            <p:cNvSpPr>
              <a:spLocks/>
            </p:cNvSpPr>
            <p:nvPr/>
          </p:nvSpPr>
          <p:spPr bwMode="auto">
            <a:xfrm rot="-5400000">
              <a:off x="4066" y="1859"/>
              <a:ext cx="92" cy="1134"/>
            </a:xfrm>
            <a:prstGeom prst="leftBrace">
              <a:avLst>
                <a:gd name="adj1" fmla="val 102717"/>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7" name="Text Box 15">
              <a:extLst>
                <a:ext uri="{FF2B5EF4-FFF2-40B4-BE49-F238E27FC236}">
                  <a16:creationId xmlns:a16="http://schemas.microsoft.com/office/drawing/2014/main" id="{D84864EF-40DC-9F29-E0DA-3C93EBF2FFC9}"/>
                </a:ext>
              </a:extLst>
            </p:cNvPr>
            <p:cNvSpPr txBox="1">
              <a:spLocks noChangeArrowheads="1"/>
            </p:cNvSpPr>
            <p:nvPr/>
          </p:nvSpPr>
          <p:spPr bwMode="auto">
            <a:xfrm>
              <a:off x="1505" y="2504"/>
              <a:ext cx="1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latin typeface="黑体" pitchFamily="2" charset="-122"/>
                  <a:ea typeface="黑体" pitchFamily="2" charset="-122"/>
                </a:rPr>
                <a:t>操作控制字段</a:t>
              </a:r>
            </a:p>
          </p:txBody>
        </p:sp>
        <p:sp>
          <p:nvSpPr>
            <p:cNvPr id="8" name="Text Box 16">
              <a:extLst>
                <a:ext uri="{FF2B5EF4-FFF2-40B4-BE49-F238E27FC236}">
                  <a16:creationId xmlns:a16="http://schemas.microsoft.com/office/drawing/2014/main" id="{B87215DA-7473-30DC-D888-6D1CD0B4B221}"/>
                </a:ext>
              </a:extLst>
            </p:cNvPr>
            <p:cNvSpPr txBox="1">
              <a:spLocks noChangeArrowheads="1"/>
            </p:cNvSpPr>
            <p:nvPr/>
          </p:nvSpPr>
          <p:spPr bwMode="auto">
            <a:xfrm>
              <a:off x="3208" y="2486"/>
              <a:ext cx="1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latin typeface="黑体" pitchFamily="2" charset="-122"/>
                  <a:ea typeface="黑体" pitchFamily="2" charset="-122"/>
                </a:rPr>
                <a:t>顺序控制字段</a:t>
              </a:r>
            </a:p>
          </p:txBody>
        </p:sp>
        <p:sp>
          <p:nvSpPr>
            <p:cNvPr id="9" name="Text Box 17">
              <a:extLst>
                <a:ext uri="{FF2B5EF4-FFF2-40B4-BE49-F238E27FC236}">
                  <a16:creationId xmlns:a16="http://schemas.microsoft.com/office/drawing/2014/main" id="{8C868585-753F-04BA-7700-AD472BEC12BC}"/>
                </a:ext>
              </a:extLst>
            </p:cNvPr>
            <p:cNvSpPr txBox="1">
              <a:spLocks noChangeArrowheads="1"/>
            </p:cNvSpPr>
            <p:nvPr/>
          </p:nvSpPr>
          <p:spPr bwMode="auto">
            <a:xfrm>
              <a:off x="450" y="2055"/>
              <a:ext cx="56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a:t>uIR</a:t>
              </a:r>
            </a:p>
          </p:txBody>
        </p:sp>
        <p:sp>
          <p:nvSpPr>
            <p:cNvPr id="10" name="Line 18">
              <a:extLst>
                <a:ext uri="{FF2B5EF4-FFF2-40B4-BE49-F238E27FC236}">
                  <a16:creationId xmlns:a16="http://schemas.microsoft.com/office/drawing/2014/main" id="{6B83A994-E406-61D0-CA09-0BE9049CACE8}"/>
                </a:ext>
              </a:extLst>
            </p:cNvPr>
            <p:cNvSpPr>
              <a:spLocks noChangeShapeType="1"/>
            </p:cNvSpPr>
            <p:nvPr/>
          </p:nvSpPr>
          <p:spPr bwMode="auto">
            <a:xfrm>
              <a:off x="1674" y="2049"/>
              <a:ext cx="0" cy="273"/>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 name="Line 19">
              <a:extLst>
                <a:ext uri="{FF2B5EF4-FFF2-40B4-BE49-F238E27FC236}">
                  <a16:creationId xmlns:a16="http://schemas.microsoft.com/office/drawing/2014/main" id="{E1826CC1-DBBA-9545-40F6-7AF5B2B5418A}"/>
                </a:ext>
              </a:extLst>
            </p:cNvPr>
            <p:cNvSpPr>
              <a:spLocks noChangeShapeType="1"/>
            </p:cNvSpPr>
            <p:nvPr/>
          </p:nvSpPr>
          <p:spPr bwMode="auto">
            <a:xfrm>
              <a:off x="2323" y="2049"/>
              <a:ext cx="0" cy="273"/>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 name="Line 20">
              <a:extLst>
                <a:ext uri="{FF2B5EF4-FFF2-40B4-BE49-F238E27FC236}">
                  <a16:creationId xmlns:a16="http://schemas.microsoft.com/office/drawing/2014/main" id="{A01B5500-3251-79C7-A9B1-2274A5FBCC95}"/>
                </a:ext>
              </a:extLst>
            </p:cNvPr>
            <p:cNvSpPr>
              <a:spLocks noChangeShapeType="1"/>
            </p:cNvSpPr>
            <p:nvPr/>
          </p:nvSpPr>
          <p:spPr bwMode="auto">
            <a:xfrm>
              <a:off x="3014" y="2049"/>
              <a:ext cx="0" cy="273"/>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 name="Text Box 21">
              <a:extLst>
                <a:ext uri="{FF2B5EF4-FFF2-40B4-BE49-F238E27FC236}">
                  <a16:creationId xmlns:a16="http://schemas.microsoft.com/office/drawing/2014/main" id="{374D1998-F067-5A1E-EA7C-DAFB1C29F5E7}"/>
                </a:ext>
              </a:extLst>
            </p:cNvPr>
            <p:cNvSpPr txBox="1">
              <a:spLocks noChangeArrowheads="1"/>
            </p:cNvSpPr>
            <p:nvPr/>
          </p:nvSpPr>
          <p:spPr bwMode="auto">
            <a:xfrm>
              <a:off x="2263" y="2049"/>
              <a:ext cx="7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latin typeface="Times New Roman" pitchFamily="18" charset="0"/>
                </a:rPr>
                <a:t>…</a:t>
              </a:r>
              <a:endParaRPr lang="en-US" altLang="zh-CN"/>
            </a:p>
          </p:txBody>
        </p:sp>
        <p:grpSp>
          <p:nvGrpSpPr>
            <p:cNvPr id="14" name="Group 28">
              <a:extLst>
                <a:ext uri="{FF2B5EF4-FFF2-40B4-BE49-F238E27FC236}">
                  <a16:creationId xmlns:a16="http://schemas.microsoft.com/office/drawing/2014/main" id="{DD3F9E22-F66E-9B0D-4F5D-AD272D8E17E3}"/>
                </a:ext>
              </a:extLst>
            </p:cNvPr>
            <p:cNvGrpSpPr>
              <a:grpSpLocks/>
            </p:cNvGrpSpPr>
            <p:nvPr/>
          </p:nvGrpSpPr>
          <p:grpSpPr bwMode="auto">
            <a:xfrm>
              <a:off x="1019" y="1057"/>
              <a:ext cx="700" cy="992"/>
              <a:chOff x="1043" y="1057"/>
              <a:chExt cx="700" cy="992"/>
            </a:xfrm>
          </p:grpSpPr>
          <p:sp>
            <p:nvSpPr>
              <p:cNvPr id="29" name="Line 7">
                <a:extLst>
                  <a:ext uri="{FF2B5EF4-FFF2-40B4-BE49-F238E27FC236}">
                    <a16:creationId xmlns:a16="http://schemas.microsoft.com/office/drawing/2014/main" id="{801E71DD-D8A1-FB7E-009A-830364F8D0C1}"/>
                  </a:ext>
                </a:extLst>
              </p:cNvPr>
              <p:cNvSpPr>
                <a:spLocks noChangeShapeType="1"/>
              </p:cNvSpPr>
              <p:nvPr/>
            </p:nvSpPr>
            <p:spPr bwMode="auto">
              <a:xfrm flipV="1">
                <a:off x="1212"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0" name="Line 8">
                <a:extLst>
                  <a:ext uri="{FF2B5EF4-FFF2-40B4-BE49-F238E27FC236}">
                    <a16:creationId xmlns:a16="http://schemas.microsoft.com/office/drawing/2014/main" id="{29C4FC57-1E88-CAE8-EACE-B202B81A14BB}"/>
                  </a:ext>
                </a:extLst>
              </p:cNvPr>
              <p:cNvSpPr>
                <a:spLocks noChangeShapeType="1"/>
              </p:cNvSpPr>
              <p:nvPr/>
            </p:nvSpPr>
            <p:spPr bwMode="auto">
              <a:xfrm flipV="1">
                <a:off x="1521"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1" name="Text Box 22">
                <a:extLst>
                  <a:ext uri="{FF2B5EF4-FFF2-40B4-BE49-F238E27FC236}">
                    <a16:creationId xmlns:a16="http://schemas.microsoft.com/office/drawing/2014/main" id="{BFD4AE00-4F2F-FD5A-6637-398CCE9C1635}"/>
                  </a:ext>
                </a:extLst>
              </p:cNvPr>
              <p:cNvSpPr txBox="1">
                <a:spLocks noChangeArrowheads="1"/>
              </p:cNvSpPr>
              <p:nvPr/>
            </p:nvSpPr>
            <p:spPr bwMode="auto">
              <a:xfrm>
                <a:off x="1127" y="1351"/>
                <a:ext cx="52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solidFill>
                      <a:srgbClr val="FF0000"/>
                    </a:solidFill>
                    <a:latin typeface="Times New Roman" pitchFamily="18" charset="0"/>
                  </a:rPr>
                  <a:t>…</a:t>
                </a:r>
                <a:endParaRPr lang="en-US" altLang="zh-CN">
                  <a:solidFill>
                    <a:srgbClr val="FF0000"/>
                  </a:solidFill>
                </a:endParaRPr>
              </a:p>
            </p:txBody>
          </p:sp>
          <p:sp>
            <p:nvSpPr>
              <p:cNvPr id="32" name="Text Box 23">
                <a:extLst>
                  <a:ext uri="{FF2B5EF4-FFF2-40B4-BE49-F238E27FC236}">
                    <a16:creationId xmlns:a16="http://schemas.microsoft.com/office/drawing/2014/main" id="{EFEE38DD-0A3C-20B2-4D36-22B7567F5C40}"/>
                  </a:ext>
                </a:extLst>
              </p:cNvPr>
              <p:cNvSpPr txBox="1">
                <a:spLocks noChangeArrowheads="1"/>
              </p:cNvSpPr>
              <p:nvPr/>
            </p:nvSpPr>
            <p:spPr bwMode="auto">
              <a:xfrm>
                <a:off x="1043" y="1057"/>
                <a:ext cx="7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solidFill>
                      <a:srgbClr val="FF0000"/>
                    </a:solidFill>
                    <a:latin typeface="黑体" pitchFamily="2" charset="-122"/>
                    <a:ea typeface="黑体" pitchFamily="2" charset="-122"/>
                  </a:rPr>
                  <a:t>微命令</a:t>
                </a:r>
                <a:endParaRPr lang="en-US" altLang="zh-CN">
                  <a:solidFill>
                    <a:srgbClr val="FF0000"/>
                  </a:solidFill>
                  <a:latin typeface="黑体" pitchFamily="2" charset="-122"/>
                  <a:ea typeface="黑体" pitchFamily="2" charset="-122"/>
                </a:endParaRPr>
              </a:p>
            </p:txBody>
          </p:sp>
          <p:sp>
            <p:nvSpPr>
              <p:cNvPr id="33" name="Text Box 24">
                <a:extLst>
                  <a:ext uri="{FF2B5EF4-FFF2-40B4-BE49-F238E27FC236}">
                    <a16:creationId xmlns:a16="http://schemas.microsoft.com/office/drawing/2014/main" id="{39094407-78ED-F077-E144-D3B459186160}"/>
                  </a:ext>
                </a:extLst>
              </p:cNvPr>
              <p:cNvSpPr txBox="1">
                <a:spLocks noChangeArrowheads="1"/>
              </p:cNvSpPr>
              <p:nvPr/>
            </p:nvSpPr>
            <p:spPr bwMode="auto">
              <a:xfrm>
                <a:off x="1119" y="1624"/>
                <a:ext cx="528" cy="194"/>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solidFill>
                      <a:srgbClr val="000099"/>
                    </a:solidFill>
                    <a:latin typeface="黑体" pitchFamily="2" charset="-122"/>
                    <a:ea typeface="黑体" pitchFamily="2" charset="-122"/>
                  </a:rPr>
                  <a:t>译码器</a:t>
                </a:r>
              </a:p>
            </p:txBody>
          </p:sp>
          <p:sp>
            <p:nvSpPr>
              <p:cNvPr id="34" name="Line 27">
                <a:extLst>
                  <a:ext uri="{FF2B5EF4-FFF2-40B4-BE49-F238E27FC236}">
                    <a16:creationId xmlns:a16="http://schemas.microsoft.com/office/drawing/2014/main" id="{1D2CA9D7-F62F-742A-127E-C3CB77B13A95}"/>
                  </a:ext>
                </a:extLst>
              </p:cNvPr>
              <p:cNvSpPr>
                <a:spLocks noChangeShapeType="1"/>
              </p:cNvSpPr>
              <p:nvPr/>
            </p:nvSpPr>
            <p:spPr bwMode="auto">
              <a:xfrm flipV="1">
                <a:off x="1382" y="1834"/>
                <a:ext cx="0" cy="215"/>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5" name="Group 29">
              <a:extLst>
                <a:ext uri="{FF2B5EF4-FFF2-40B4-BE49-F238E27FC236}">
                  <a16:creationId xmlns:a16="http://schemas.microsoft.com/office/drawing/2014/main" id="{8645247B-3373-B6CE-3594-7612F850ACDF}"/>
                </a:ext>
              </a:extLst>
            </p:cNvPr>
            <p:cNvGrpSpPr>
              <a:grpSpLocks/>
            </p:cNvGrpSpPr>
            <p:nvPr/>
          </p:nvGrpSpPr>
          <p:grpSpPr bwMode="auto">
            <a:xfrm>
              <a:off x="1647" y="1063"/>
              <a:ext cx="700" cy="992"/>
              <a:chOff x="1043" y="1057"/>
              <a:chExt cx="700" cy="992"/>
            </a:xfrm>
          </p:grpSpPr>
          <p:sp>
            <p:nvSpPr>
              <p:cNvPr id="23" name="Line 30">
                <a:extLst>
                  <a:ext uri="{FF2B5EF4-FFF2-40B4-BE49-F238E27FC236}">
                    <a16:creationId xmlns:a16="http://schemas.microsoft.com/office/drawing/2014/main" id="{1D99A9A5-B4B5-CE5F-48C5-089A735D364C}"/>
                  </a:ext>
                </a:extLst>
              </p:cNvPr>
              <p:cNvSpPr>
                <a:spLocks noChangeShapeType="1"/>
              </p:cNvSpPr>
              <p:nvPr/>
            </p:nvSpPr>
            <p:spPr bwMode="auto">
              <a:xfrm flipV="1">
                <a:off x="1212"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 name="Line 31">
                <a:extLst>
                  <a:ext uri="{FF2B5EF4-FFF2-40B4-BE49-F238E27FC236}">
                    <a16:creationId xmlns:a16="http://schemas.microsoft.com/office/drawing/2014/main" id="{A1A27C20-2ED7-6EB5-E67D-45CE6F16428A}"/>
                  </a:ext>
                </a:extLst>
              </p:cNvPr>
              <p:cNvSpPr>
                <a:spLocks noChangeShapeType="1"/>
              </p:cNvSpPr>
              <p:nvPr/>
            </p:nvSpPr>
            <p:spPr bwMode="auto">
              <a:xfrm flipV="1">
                <a:off x="1521"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5" name="Text Box 32">
                <a:extLst>
                  <a:ext uri="{FF2B5EF4-FFF2-40B4-BE49-F238E27FC236}">
                    <a16:creationId xmlns:a16="http://schemas.microsoft.com/office/drawing/2014/main" id="{8F28A4C5-47A3-C4A4-C918-309019D45A20}"/>
                  </a:ext>
                </a:extLst>
              </p:cNvPr>
              <p:cNvSpPr txBox="1">
                <a:spLocks noChangeArrowheads="1"/>
              </p:cNvSpPr>
              <p:nvPr/>
            </p:nvSpPr>
            <p:spPr bwMode="auto">
              <a:xfrm>
                <a:off x="1127" y="1351"/>
                <a:ext cx="52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solidFill>
                      <a:srgbClr val="FF0000"/>
                    </a:solidFill>
                    <a:latin typeface="Times New Roman" pitchFamily="18" charset="0"/>
                  </a:rPr>
                  <a:t>…</a:t>
                </a:r>
                <a:endParaRPr lang="en-US" altLang="zh-CN">
                  <a:solidFill>
                    <a:srgbClr val="FF0000"/>
                  </a:solidFill>
                </a:endParaRPr>
              </a:p>
            </p:txBody>
          </p:sp>
          <p:sp>
            <p:nvSpPr>
              <p:cNvPr id="26" name="Text Box 33">
                <a:extLst>
                  <a:ext uri="{FF2B5EF4-FFF2-40B4-BE49-F238E27FC236}">
                    <a16:creationId xmlns:a16="http://schemas.microsoft.com/office/drawing/2014/main" id="{16C891F2-C73D-49CC-1639-04C1566D0E67}"/>
                  </a:ext>
                </a:extLst>
              </p:cNvPr>
              <p:cNvSpPr txBox="1">
                <a:spLocks noChangeArrowheads="1"/>
              </p:cNvSpPr>
              <p:nvPr/>
            </p:nvSpPr>
            <p:spPr bwMode="auto">
              <a:xfrm>
                <a:off x="1043" y="1057"/>
                <a:ext cx="7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solidFill>
                      <a:srgbClr val="FF0000"/>
                    </a:solidFill>
                    <a:latin typeface="黑体" pitchFamily="2" charset="-122"/>
                    <a:ea typeface="黑体" pitchFamily="2" charset="-122"/>
                  </a:rPr>
                  <a:t>微命令</a:t>
                </a:r>
                <a:endParaRPr lang="en-US" altLang="zh-CN">
                  <a:solidFill>
                    <a:srgbClr val="FF0000"/>
                  </a:solidFill>
                  <a:latin typeface="黑体" pitchFamily="2" charset="-122"/>
                  <a:ea typeface="黑体" pitchFamily="2" charset="-122"/>
                </a:endParaRPr>
              </a:p>
            </p:txBody>
          </p:sp>
          <p:sp>
            <p:nvSpPr>
              <p:cNvPr id="27" name="Text Box 34">
                <a:extLst>
                  <a:ext uri="{FF2B5EF4-FFF2-40B4-BE49-F238E27FC236}">
                    <a16:creationId xmlns:a16="http://schemas.microsoft.com/office/drawing/2014/main" id="{A355E9CC-2002-5C0E-1339-6AB445FB276F}"/>
                  </a:ext>
                </a:extLst>
              </p:cNvPr>
              <p:cNvSpPr txBox="1">
                <a:spLocks noChangeArrowheads="1"/>
              </p:cNvSpPr>
              <p:nvPr/>
            </p:nvSpPr>
            <p:spPr bwMode="auto">
              <a:xfrm>
                <a:off x="1119" y="1624"/>
                <a:ext cx="528" cy="194"/>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a:solidFill>
                      <a:srgbClr val="000099"/>
                    </a:solidFill>
                    <a:latin typeface="黑体" pitchFamily="2" charset="-122"/>
                    <a:ea typeface="黑体" pitchFamily="2" charset="-122"/>
                  </a:rPr>
                  <a:t>译码器</a:t>
                </a:r>
              </a:p>
            </p:txBody>
          </p:sp>
          <p:sp>
            <p:nvSpPr>
              <p:cNvPr id="28" name="Line 35">
                <a:extLst>
                  <a:ext uri="{FF2B5EF4-FFF2-40B4-BE49-F238E27FC236}">
                    <a16:creationId xmlns:a16="http://schemas.microsoft.com/office/drawing/2014/main" id="{9B423618-685B-F35F-D31F-D816ED618841}"/>
                  </a:ext>
                </a:extLst>
              </p:cNvPr>
              <p:cNvSpPr>
                <a:spLocks noChangeShapeType="1"/>
              </p:cNvSpPr>
              <p:nvPr/>
            </p:nvSpPr>
            <p:spPr bwMode="auto">
              <a:xfrm flipV="1">
                <a:off x="1382" y="1834"/>
                <a:ext cx="0" cy="215"/>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6" name="Group 36">
              <a:extLst>
                <a:ext uri="{FF2B5EF4-FFF2-40B4-BE49-F238E27FC236}">
                  <a16:creationId xmlns:a16="http://schemas.microsoft.com/office/drawing/2014/main" id="{BD39CE61-F461-A243-5A2C-10E2A5B8E4AB}"/>
                </a:ext>
              </a:extLst>
            </p:cNvPr>
            <p:cNvGrpSpPr>
              <a:grpSpLocks/>
            </p:cNvGrpSpPr>
            <p:nvPr/>
          </p:nvGrpSpPr>
          <p:grpSpPr bwMode="auto">
            <a:xfrm>
              <a:off x="2858" y="1057"/>
              <a:ext cx="700" cy="992"/>
              <a:chOff x="1043" y="1057"/>
              <a:chExt cx="700" cy="992"/>
            </a:xfrm>
          </p:grpSpPr>
          <p:sp>
            <p:nvSpPr>
              <p:cNvPr id="17" name="Line 37">
                <a:extLst>
                  <a:ext uri="{FF2B5EF4-FFF2-40B4-BE49-F238E27FC236}">
                    <a16:creationId xmlns:a16="http://schemas.microsoft.com/office/drawing/2014/main" id="{BC29EAAB-3538-4D7D-2F99-F2A5BE57477F}"/>
                  </a:ext>
                </a:extLst>
              </p:cNvPr>
              <p:cNvSpPr>
                <a:spLocks noChangeShapeType="1"/>
              </p:cNvSpPr>
              <p:nvPr/>
            </p:nvSpPr>
            <p:spPr bwMode="auto">
              <a:xfrm flipV="1">
                <a:off x="1212"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8" name="Line 38">
                <a:extLst>
                  <a:ext uri="{FF2B5EF4-FFF2-40B4-BE49-F238E27FC236}">
                    <a16:creationId xmlns:a16="http://schemas.microsoft.com/office/drawing/2014/main" id="{62980A74-DB7E-DB32-89D6-2177D3A945E9}"/>
                  </a:ext>
                </a:extLst>
              </p:cNvPr>
              <p:cNvSpPr>
                <a:spLocks noChangeShapeType="1"/>
              </p:cNvSpPr>
              <p:nvPr/>
            </p:nvSpPr>
            <p:spPr bwMode="auto">
              <a:xfrm flipV="1">
                <a:off x="1521" y="1357"/>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9" name="Text Box 39">
                <a:extLst>
                  <a:ext uri="{FF2B5EF4-FFF2-40B4-BE49-F238E27FC236}">
                    <a16:creationId xmlns:a16="http://schemas.microsoft.com/office/drawing/2014/main" id="{76F0C3D7-AACA-0D88-4878-A2B9FB24F0CF}"/>
                  </a:ext>
                </a:extLst>
              </p:cNvPr>
              <p:cNvSpPr txBox="1">
                <a:spLocks noChangeArrowheads="1"/>
              </p:cNvSpPr>
              <p:nvPr/>
            </p:nvSpPr>
            <p:spPr bwMode="auto">
              <a:xfrm>
                <a:off x="1127" y="1351"/>
                <a:ext cx="52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solidFill>
                      <a:srgbClr val="FF0000"/>
                    </a:solidFill>
                    <a:latin typeface="Times New Roman" pitchFamily="18" charset="0"/>
                  </a:rPr>
                  <a:t>…</a:t>
                </a:r>
                <a:endParaRPr lang="en-US" altLang="zh-CN">
                  <a:solidFill>
                    <a:srgbClr val="FF0000"/>
                  </a:solidFill>
                </a:endParaRPr>
              </a:p>
            </p:txBody>
          </p:sp>
          <p:sp>
            <p:nvSpPr>
              <p:cNvPr id="20" name="Text Box 40">
                <a:extLst>
                  <a:ext uri="{FF2B5EF4-FFF2-40B4-BE49-F238E27FC236}">
                    <a16:creationId xmlns:a16="http://schemas.microsoft.com/office/drawing/2014/main" id="{CCDDABF9-17C9-84A5-54D9-11874FB213B3}"/>
                  </a:ext>
                </a:extLst>
              </p:cNvPr>
              <p:cNvSpPr txBox="1">
                <a:spLocks noChangeArrowheads="1"/>
              </p:cNvSpPr>
              <p:nvPr/>
            </p:nvSpPr>
            <p:spPr bwMode="auto">
              <a:xfrm>
                <a:off x="1043" y="1057"/>
                <a:ext cx="7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a:solidFill>
                      <a:srgbClr val="FF0000"/>
                    </a:solidFill>
                    <a:latin typeface="黑体" pitchFamily="2" charset="-122"/>
                    <a:ea typeface="黑体" pitchFamily="2" charset="-122"/>
                  </a:rPr>
                  <a:t>微命令</a:t>
                </a:r>
                <a:endParaRPr lang="en-US" altLang="zh-CN">
                  <a:solidFill>
                    <a:srgbClr val="FF0000"/>
                  </a:solidFill>
                  <a:latin typeface="黑体" pitchFamily="2" charset="-122"/>
                  <a:ea typeface="黑体" pitchFamily="2" charset="-122"/>
                </a:endParaRPr>
              </a:p>
            </p:txBody>
          </p:sp>
          <p:sp>
            <p:nvSpPr>
              <p:cNvPr id="21" name="Text Box 41">
                <a:extLst>
                  <a:ext uri="{FF2B5EF4-FFF2-40B4-BE49-F238E27FC236}">
                    <a16:creationId xmlns:a16="http://schemas.microsoft.com/office/drawing/2014/main" id="{02BD93CE-28F9-FFD7-D4FB-55B439DD9178}"/>
                  </a:ext>
                </a:extLst>
              </p:cNvPr>
              <p:cNvSpPr txBox="1">
                <a:spLocks noChangeArrowheads="1"/>
              </p:cNvSpPr>
              <p:nvPr/>
            </p:nvSpPr>
            <p:spPr bwMode="auto">
              <a:xfrm>
                <a:off x="1119" y="1624"/>
                <a:ext cx="528" cy="194"/>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a:solidFill>
                      <a:srgbClr val="000099"/>
                    </a:solidFill>
                    <a:latin typeface="黑体" pitchFamily="2" charset="-122"/>
                    <a:ea typeface="黑体" pitchFamily="2" charset="-122"/>
                  </a:rPr>
                  <a:t>译码器</a:t>
                </a:r>
              </a:p>
            </p:txBody>
          </p:sp>
          <p:sp>
            <p:nvSpPr>
              <p:cNvPr id="22" name="Line 42">
                <a:extLst>
                  <a:ext uri="{FF2B5EF4-FFF2-40B4-BE49-F238E27FC236}">
                    <a16:creationId xmlns:a16="http://schemas.microsoft.com/office/drawing/2014/main" id="{DD957B48-A4A1-E6B9-E989-ACC9CA01BF02}"/>
                  </a:ext>
                </a:extLst>
              </p:cNvPr>
              <p:cNvSpPr>
                <a:spLocks noChangeShapeType="1"/>
              </p:cNvSpPr>
              <p:nvPr/>
            </p:nvSpPr>
            <p:spPr bwMode="auto">
              <a:xfrm flipV="1">
                <a:off x="1382" y="1834"/>
                <a:ext cx="0" cy="215"/>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ChangeArrowheads="1"/>
          </p:cNvSpPr>
          <p:nvPr/>
        </p:nvSpPr>
        <p:spPr bwMode="auto">
          <a:xfrm>
            <a:off x="0" y="5942013"/>
            <a:ext cx="84359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lgn="ctr">
              <a:lnSpc>
                <a:spcPct val="100000"/>
              </a:lnSpc>
              <a:spcBef>
                <a:spcPct val="0"/>
              </a:spcBef>
            </a:pPr>
            <a:endParaRPr lang="en-US" altLang="zh-CN" sz="1800" b="0">
              <a:solidFill>
                <a:schemeClr val="tx1"/>
              </a:solidFill>
              <a:latin typeface="Arial" charset="0"/>
              <a:ea typeface="宋体" pitchFamily="2" charset="-122"/>
            </a:endParaRPr>
          </a:p>
          <a:p>
            <a:pPr indent="266700" algn="ctr">
              <a:lnSpc>
                <a:spcPct val="100000"/>
              </a:lnSpc>
              <a:spcBef>
                <a:spcPct val="0"/>
              </a:spcBef>
            </a:pPr>
            <a:endParaRPr lang="en-US" altLang="zh-CN" sz="1800" b="0">
              <a:solidFill>
                <a:schemeClr val="tx1"/>
              </a:solidFill>
              <a:latin typeface="Arial" charset="0"/>
              <a:ea typeface="宋体" pitchFamily="2" charset="-122"/>
            </a:endParaRPr>
          </a:p>
          <a:p>
            <a:pPr indent="266700" algn="ctr" eaLnBrk="0" hangingPunct="0">
              <a:lnSpc>
                <a:spcPct val="100000"/>
              </a:lnSpc>
              <a:spcBef>
                <a:spcPct val="0"/>
              </a:spcBef>
            </a:pPr>
            <a:endParaRPr lang="en-US" altLang="zh-CN" sz="1800" b="0">
              <a:solidFill>
                <a:schemeClr val="tx1"/>
              </a:solidFill>
              <a:latin typeface="Arial" charset="0"/>
              <a:ea typeface="宋体" pitchFamily="2" charset="-122"/>
            </a:endParaRPr>
          </a:p>
        </p:txBody>
      </p:sp>
      <p:sp>
        <p:nvSpPr>
          <p:cNvPr id="95235" name="Rectangle 4"/>
          <p:cNvSpPr>
            <a:spLocks noChangeArrowheads="1"/>
          </p:cNvSpPr>
          <p:nvPr/>
        </p:nvSpPr>
        <p:spPr bwMode="auto">
          <a:xfrm>
            <a:off x="435456" y="676944"/>
            <a:ext cx="340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00007E"/>
                </a:solidFill>
                <a:latin typeface="黑体" pitchFamily="2" charset="-122"/>
                <a:ea typeface="黑体" pitchFamily="2" charset="-122"/>
              </a:rPr>
              <a:t>    ⑵ </a:t>
            </a:r>
            <a:r>
              <a:rPr lang="zh-CN" altLang="en-US" dirty="0">
                <a:solidFill>
                  <a:srgbClr val="00007E"/>
                </a:solidFill>
                <a:latin typeface="黑体" pitchFamily="2" charset="-122"/>
                <a:ea typeface="黑体" pitchFamily="2" charset="-122"/>
              </a:rPr>
              <a:t>字段间接编码法</a:t>
            </a:r>
          </a:p>
        </p:txBody>
      </p:sp>
      <p:sp>
        <p:nvSpPr>
          <p:cNvPr id="95236" name="Rectangle 5"/>
          <p:cNvSpPr>
            <a:spLocks noChangeArrowheads="1"/>
          </p:cNvSpPr>
          <p:nvPr/>
        </p:nvSpPr>
        <p:spPr bwMode="auto">
          <a:xfrm>
            <a:off x="429418" y="1061119"/>
            <a:ext cx="75771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zh-CN" altLang="en-US" dirty="0">
                <a:solidFill>
                  <a:srgbClr val="00007E"/>
                </a:solidFill>
                <a:latin typeface="黑体" pitchFamily="2" charset="-122"/>
                <a:ea typeface="黑体" pitchFamily="2" charset="-122"/>
              </a:rPr>
              <a:t>    字段间接编码法是在字段直接编码法的基础上，用来进一步缩短微指令字长的方法。</a:t>
            </a:r>
            <a:endParaRPr lang="en-US" altLang="zh-CN" dirty="0">
              <a:solidFill>
                <a:srgbClr val="00007E"/>
              </a:solidFill>
              <a:latin typeface="黑体" pitchFamily="2" charset="-122"/>
              <a:ea typeface="黑体" pitchFamily="2" charset="-122"/>
            </a:endParaRPr>
          </a:p>
          <a:p>
            <a:pPr>
              <a:lnSpc>
                <a:spcPct val="120000"/>
              </a:lnSpc>
              <a:spcBef>
                <a:spcPct val="0"/>
              </a:spcBef>
            </a:pPr>
            <a:r>
              <a:rPr lang="en-US" altLang="zh-CN" dirty="0">
                <a:solidFill>
                  <a:srgbClr val="00007E"/>
                </a:solidFill>
                <a:latin typeface="黑体" pitchFamily="2" charset="-122"/>
                <a:ea typeface="黑体" pitchFamily="2" charset="-122"/>
              </a:rPr>
              <a:t>    </a:t>
            </a:r>
            <a:r>
              <a:rPr lang="zh-CN" altLang="en-US" dirty="0">
                <a:solidFill>
                  <a:srgbClr val="00007E"/>
                </a:solidFill>
                <a:latin typeface="黑体" pitchFamily="2" charset="-122"/>
                <a:ea typeface="黑体" pitchFamily="2" charset="-122"/>
              </a:rPr>
              <a:t>间接编码的含义是，一个字段的某些编码</a:t>
            </a:r>
            <a:r>
              <a:rPr lang="zh-CN" altLang="en-US" dirty="0">
                <a:solidFill>
                  <a:srgbClr val="FF0000"/>
                </a:solidFill>
                <a:latin typeface="黑体" pitchFamily="2" charset="-122"/>
                <a:ea typeface="黑体" pitchFamily="2" charset="-122"/>
              </a:rPr>
              <a:t>不能独立</a:t>
            </a:r>
            <a:r>
              <a:rPr lang="zh-CN" altLang="en-US" dirty="0">
                <a:solidFill>
                  <a:srgbClr val="00007E"/>
                </a:solidFill>
                <a:latin typeface="黑体" pitchFamily="2" charset="-122"/>
                <a:ea typeface="黑体" pitchFamily="2" charset="-122"/>
              </a:rPr>
              <a:t>地定义某些微命令，而需要与其他字段的编码来</a:t>
            </a:r>
            <a:r>
              <a:rPr lang="zh-CN" altLang="en-US" dirty="0">
                <a:solidFill>
                  <a:srgbClr val="FF0000"/>
                </a:solidFill>
                <a:latin typeface="黑体" pitchFamily="2" charset="-122"/>
                <a:ea typeface="黑体" pitchFamily="2" charset="-122"/>
              </a:rPr>
              <a:t>联合</a:t>
            </a:r>
            <a:r>
              <a:rPr lang="zh-CN" altLang="en-US" dirty="0">
                <a:solidFill>
                  <a:srgbClr val="00007E"/>
                </a:solidFill>
                <a:latin typeface="黑体" pitchFamily="2" charset="-122"/>
                <a:ea typeface="黑体" pitchFamily="2" charset="-122"/>
              </a:rPr>
              <a:t>定义，因此又称为</a:t>
            </a:r>
            <a:r>
              <a:rPr lang="zh-CN" altLang="en-US" dirty="0">
                <a:solidFill>
                  <a:srgbClr val="FF0000"/>
                </a:solidFill>
                <a:latin typeface="黑体" pitchFamily="2" charset="-122"/>
                <a:ea typeface="黑体" pitchFamily="2" charset="-122"/>
              </a:rPr>
              <a:t>隐式编码</a:t>
            </a:r>
            <a:r>
              <a:rPr lang="zh-CN" altLang="en-US" dirty="0">
                <a:solidFill>
                  <a:srgbClr val="00007E"/>
                </a:solidFill>
                <a:latin typeface="黑体" pitchFamily="2" charset="-122"/>
                <a:ea typeface="黑体" pitchFamily="2" charset="-122"/>
              </a:rPr>
              <a:t>或多重定义编码方法。</a:t>
            </a:r>
          </a:p>
        </p:txBody>
      </p:sp>
      <p:sp>
        <p:nvSpPr>
          <p:cNvPr id="95237" name="Rectangle 4"/>
          <p:cNvSpPr>
            <a:spLocks noChangeArrowheads="1"/>
          </p:cNvSpPr>
          <p:nvPr/>
        </p:nvSpPr>
        <p:spPr bwMode="auto">
          <a:xfrm>
            <a:off x="435456" y="257844"/>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dirty="0">
                <a:solidFill>
                  <a:srgbClr val="990000"/>
                </a:solidFill>
                <a:latin typeface="黑体" pitchFamily="2" charset="-122"/>
                <a:ea typeface="黑体" pitchFamily="2" charset="-122"/>
              </a:rPr>
              <a:t>微指令编码法</a:t>
            </a:r>
          </a:p>
        </p:txBody>
      </p:sp>
      <p:grpSp>
        <p:nvGrpSpPr>
          <p:cNvPr id="2" name="Group 75">
            <a:extLst>
              <a:ext uri="{FF2B5EF4-FFF2-40B4-BE49-F238E27FC236}">
                <a16:creationId xmlns:a16="http://schemas.microsoft.com/office/drawing/2014/main" id="{E1269D31-ADB8-44C4-971A-B351745E033D}"/>
              </a:ext>
            </a:extLst>
          </p:cNvPr>
          <p:cNvGrpSpPr>
            <a:grpSpLocks/>
          </p:cNvGrpSpPr>
          <p:nvPr/>
        </p:nvGrpSpPr>
        <p:grpSpPr bwMode="auto">
          <a:xfrm>
            <a:off x="938673" y="3252942"/>
            <a:ext cx="6617697" cy="3222411"/>
            <a:chOff x="485" y="1026"/>
            <a:chExt cx="4340" cy="2335"/>
          </a:xfrm>
        </p:grpSpPr>
        <p:sp>
          <p:nvSpPr>
            <p:cNvPr id="3" name="Line 62">
              <a:extLst>
                <a:ext uri="{FF2B5EF4-FFF2-40B4-BE49-F238E27FC236}">
                  <a16:creationId xmlns:a16="http://schemas.microsoft.com/office/drawing/2014/main" id="{97BEBB9A-B4BA-F429-7F28-90AE1FD0BF82}"/>
                </a:ext>
              </a:extLst>
            </p:cNvPr>
            <p:cNvSpPr>
              <a:spLocks noChangeShapeType="1"/>
            </p:cNvSpPr>
            <p:nvPr/>
          </p:nvSpPr>
          <p:spPr bwMode="auto">
            <a:xfrm>
              <a:off x="1679" y="1677"/>
              <a:ext cx="0" cy="32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 name="Rectangle 7">
              <a:extLst>
                <a:ext uri="{FF2B5EF4-FFF2-40B4-BE49-F238E27FC236}">
                  <a16:creationId xmlns:a16="http://schemas.microsoft.com/office/drawing/2014/main" id="{763000CF-8B79-2DDD-37CC-C2C9BA851A93}"/>
                </a:ext>
              </a:extLst>
            </p:cNvPr>
            <p:cNvSpPr>
              <a:spLocks noChangeArrowheads="1"/>
            </p:cNvSpPr>
            <p:nvPr/>
          </p:nvSpPr>
          <p:spPr bwMode="auto">
            <a:xfrm>
              <a:off x="1133" y="2683"/>
              <a:ext cx="2407" cy="273"/>
            </a:xfrm>
            <a:prstGeom prst="rect">
              <a:avLst/>
            </a:prstGeom>
            <a:solidFill>
              <a:srgbClr val="FFFFCC"/>
            </a:solidFill>
            <a:ln w="28575" algn="ctr">
              <a:solidFill>
                <a:srgbClr val="000099"/>
              </a:solidFill>
              <a:miter lim="800000"/>
              <a:headEnd/>
              <a:tailEnd/>
            </a:ln>
          </p:spPr>
          <p:txBody>
            <a:bodyPr anchor="ctr">
              <a:spAutoFit/>
            </a:bodyPr>
            <a:lstStyle/>
            <a:p>
              <a:endParaRPr lang="zh-CN" altLang="en-US"/>
            </a:p>
          </p:txBody>
        </p:sp>
        <p:sp>
          <p:nvSpPr>
            <p:cNvPr id="5" name="Rectangle 8">
              <a:extLst>
                <a:ext uri="{FF2B5EF4-FFF2-40B4-BE49-F238E27FC236}">
                  <a16:creationId xmlns:a16="http://schemas.microsoft.com/office/drawing/2014/main" id="{A1DAAC9B-4A3F-4B1E-093A-770D4A082C20}"/>
                </a:ext>
              </a:extLst>
            </p:cNvPr>
            <p:cNvSpPr>
              <a:spLocks noChangeArrowheads="1"/>
            </p:cNvSpPr>
            <p:nvPr/>
          </p:nvSpPr>
          <p:spPr bwMode="auto">
            <a:xfrm>
              <a:off x="3540" y="2683"/>
              <a:ext cx="1194" cy="273"/>
            </a:xfrm>
            <a:prstGeom prst="rect">
              <a:avLst/>
            </a:prstGeom>
            <a:solidFill>
              <a:srgbClr val="FFFFCC"/>
            </a:solidFill>
            <a:ln w="28575" algn="ctr">
              <a:solidFill>
                <a:srgbClr val="000099"/>
              </a:solidFill>
              <a:miter lim="800000"/>
              <a:headEnd/>
              <a:tailEnd/>
            </a:ln>
          </p:spPr>
          <p:txBody>
            <a:bodyPr anchor="ctr">
              <a:spAutoFit/>
            </a:bodyPr>
            <a:lstStyle/>
            <a:p>
              <a:endParaRPr lang="zh-CN" altLang="en-US"/>
            </a:p>
          </p:txBody>
        </p:sp>
        <p:sp>
          <p:nvSpPr>
            <p:cNvPr id="6" name="AutoShape 9">
              <a:extLst>
                <a:ext uri="{FF2B5EF4-FFF2-40B4-BE49-F238E27FC236}">
                  <a16:creationId xmlns:a16="http://schemas.microsoft.com/office/drawing/2014/main" id="{431D7243-8C89-4C08-010F-1D6AA93C9C7A}"/>
                </a:ext>
              </a:extLst>
            </p:cNvPr>
            <p:cNvSpPr>
              <a:spLocks/>
            </p:cNvSpPr>
            <p:nvPr/>
          </p:nvSpPr>
          <p:spPr bwMode="auto">
            <a:xfrm rot="16200000">
              <a:off x="2282" y="1885"/>
              <a:ext cx="98" cy="2353"/>
            </a:xfrm>
            <a:prstGeom prst="leftBrace">
              <a:avLst>
                <a:gd name="adj1" fmla="val 200085"/>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7" name="AutoShape 10">
              <a:extLst>
                <a:ext uri="{FF2B5EF4-FFF2-40B4-BE49-F238E27FC236}">
                  <a16:creationId xmlns:a16="http://schemas.microsoft.com/office/drawing/2014/main" id="{BB6E2485-197C-682D-D71F-90F34BD48E2D}"/>
                </a:ext>
              </a:extLst>
            </p:cNvPr>
            <p:cNvSpPr>
              <a:spLocks/>
            </p:cNvSpPr>
            <p:nvPr/>
          </p:nvSpPr>
          <p:spPr bwMode="auto">
            <a:xfrm rot="16200000">
              <a:off x="4101" y="2493"/>
              <a:ext cx="92" cy="1134"/>
            </a:xfrm>
            <a:prstGeom prst="leftBrace">
              <a:avLst>
                <a:gd name="adj1" fmla="val 102717"/>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8" name="Text Box 11">
              <a:extLst>
                <a:ext uri="{FF2B5EF4-FFF2-40B4-BE49-F238E27FC236}">
                  <a16:creationId xmlns:a16="http://schemas.microsoft.com/office/drawing/2014/main" id="{63B27DD8-462C-9EE6-15BE-668B155D429F}"/>
                </a:ext>
              </a:extLst>
            </p:cNvPr>
            <p:cNvSpPr txBox="1">
              <a:spLocks noChangeArrowheads="1"/>
            </p:cNvSpPr>
            <p:nvPr/>
          </p:nvSpPr>
          <p:spPr bwMode="auto">
            <a:xfrm>
              <a:off x="1540" y="3138"/>
              <a:ext cx="158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latin typeface="黑体" pitchFamily="2" charset="-122"/>
                  <a:ea typeface="黑体" pitchFamily="2" charset="-122"/>
                </a:rPr>
                <a:t>操作控制字段</a:t>
              </a:r>
            </a:p>
          </p:txBody>
        </p:sp>
        <p:sp>
          <p:nvSpPr>
            <p:cNvPr id="9" name="Text Box 12">
              <a:extLst>
                <a:ext uri="{FF2B5EF4-FFF2-40B4-BE49-F238E27FC236}">
                  <a16:creationId xmlns:a16="http://schemas.microsoft.com/office/drawing/2014/main" id="{85169ABC-8BDF-FFDF-6CA5-FF0640BEFE20}"/>
                </a:ext>
              </a:extLst>
            </p:cNvPr>
            <p:cNvSpPr txBox="1">
              <a:spLocks noChangeArrowheads="1"/>
            </p:cNvSpPr>
            <p:nvPr/>
          </p:nvSpPr>
          <p:spPr bwMode="auto">
            <a:xfrm>
              <a:off x="3243" y="3120"/>
              <a:ext cx="158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latin typeface="黑体" pitchFamily="2" charset="-122"/>
                  <a:ea typeface="黑体" pitchFamily="2" charset="-122"/>
                </a:rPr>
                <a:t>顺序控制字段</a:t>
              </a:r>
            </a:p>
          </p:txBody>
        </p:sp>
        <p:sp>
          <p:nvSpPr>
            <p:cNvPr id="10" name="Text Box 13">
              <a:extLst>
                <a:ext uri="{FF2B5EF4-FFF2-40B4-BE49-F238E27FC236}">
                  <a16:creationId xmlns:a16="http://schemas.microsoft.com/office/drawing/2014/main" id="{69FAFEA0-F47B-A2B8-CC55-D50877DA9008}"/>
                </a:ext>
              </a:extLst>
            </p:cNvPr>
            <p:cNvSpPr txBox="1">
              <a:spLocks noChangeArrowheads="1"/>
            </p:cNvSpPr>
            <p:nvPr/>
          </p:nvSpPr>
          <p:spPr bwMode="auto">
            <a:xfrm>
              <a:off x="485" y="2689"/>
              <a:ext cx="56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2000" dirty="0" err="1"/>
                <a:t>uIR</a:t>
              </a:r>
              <a:endParaRPr lang="en-US" altLang="zh-CN" sz="2000" dirty="0"/>
            </a:p>
          </p:txBody>
        </p:sp>
        <p:sp>
          <p:nvSpPr>
            <p:cNvPr id="11" name="Line 14">
              <a:extLst>
                <a:ext uri="{FF2B5EF4-FFF2-40B4-BE49-F238E27FC236}">
                  <a16:creationId xmlns:a16="http://schemas.microsoft.com/office/drawing/2014/main" id="{70D4806C-BF7C-5968-1B31-D7806D3EDE1A}"/>
                </a:ext>
              </a:extLst>
            </p:cNvPr>
            <p:cNvSpPr>
              <a:spLocks noChangeShapeType="1"/>
            </p:cNvSpPr>
            <p:nvPr/>
          </p:nvSpPr>
          <p:spPr bwMode="auto">
            <a:xfrm>
              <a:off x="2057" y="2683"/>
              <a:ext cx="0" cy="273"/>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 name="Line 16">
              <a:extLst>
                <a:ext uri="{FF2B5EF4-FFF2-40B4-BE49-F238E27FC236}">
                  <a16:creationId xmlns:a16="http://schemas.microsoft.com/office/drawing/2014/main" id="{AEB7E4FF-6AF2-CC95-7FA5-778DA1827641}"/>
                </a:ext>
              </a:extLst>
            </p:cNvPr>
            <p:cNvSpPr>
              <a:spLocks noChangeShapeType="1"/>
            </p:cNvSpPr>
            <p:nvPr/>
          </p:nvSpPr>
          <p:spPr bwMode="auto">
            <a:xfrm>
              <a:off x="2797" y="2683"/>
              <a:ext cx="0" cy="273"/>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 name="Text Box 17">
              <a:extLst>
                <a:ext uri="{FF2B5EF4-FFF2-40B4-BE49-F238E27FC236}">
                  <a16:creationId xmlns:a16="http://schemas.microsoft.com/office/drawing/2014/main" id="{D64A2CC7-952D-FF8C-7423-B3E3EAC5E51F}"/>
                </a:ext>
              </a:extLst>
            </p:cNvPr>
            <p:cNvSpPr txBox="1">
              <a:spLocks noChangeArrowheads="1"/>
            </p:cNvSpPr>
            <p:nvPr/>
          </p:nvSpPr>
          <p:spPr bwMode="auto">
            <a:xfrm>
              <a:off x="2088" y="2683"/>
              <a:ext cx="7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latin typeface="Times New Roman" pitchFamily="18" charset="0"/>
                </a:rPr>
                <a:t>…</a:t>
              </a:r>
              <a:endParaRPr lang="en-US" altLang="zh-CN"/>
            </a:p>
          </p:txBody>
        </p:sp>
        <p:sp>
          <p:nvSpPr>
            <p:cNvPr id="14" name="Line 19">
              <a:extLst>
                <a:ext uri="{FF2B5EF4-FFF2-40B4-BE49-F238E27FC236}">
                  <a16:creationId xmlns:a16="http://schemas.microsoft.com/office/drawing/2014/main" id="{9ABAC0B6-0123-7D7D-819D-BD39F4393255}"/>
                </a:ext>
              </a:extLst>
            </p:cNvPr>
            <p:cNvSpPr>
              <a:spLocks noChangeShapeType="1"/>
            </p:cNvSpPr>
            <p:nvPr/>
          </p:nvSpPr>
          <p:spPr bwMode="auto">
            <a:xfrm flipV="1">
              <a:off x="1373" y="1212"/>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5" name="Line 20">
              <a:extLst>
                <a:ext uri="{FF2B5EF4-FFF2-40B4-BE49-F238E27FC236}">
                  <a16:creationId xmlns:a16="http://schemas.microsoft.com/office/drawing/2014/main" id="{A311800E-FF1B-D370-D5C5-D738E8CA13C8}"/>
                </a:ext>
              </a:extLst>
            </p:cNvPr>
            <p:cNvSpPr>
              <a:spLocks noChangeShapeType="1"/>
            </p:cNvSpPr>
            <p:nvPr/>
          </p:nvSpPr>
          <p:spPr bwMode="auto">
            <a:xfrm flipV="1">
              <a:off x="1741" y="1212"/>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 name="Text Box 22">
              <a:extLst>
                <a:ext uri="{FF2B5EF4-FFF2-40B4-BE49-F238E27FC236}">
                  <a16:creationId xmlns:a16="http://schemas.microsoft.com/office/drawing/2014/main" id="{6B5A70A4-5E3C-C61B-4337-17A3FAFFD3E5}"/>
                </a:ext>
              </a:extLst>
            </p:cNvPr>
            <p:cNvSpPr txBox="1">
              <a:spLocks noChangeArrowheads="1"/>
            </p:cNvSpPr>
            <p:nvPr/>
          </p:nvSpPr>
          <p:spPr bwMode="auto">
            <a:xfrm>
              <a:off x="1511" y="1026"/>
              <a:ext cx="70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solidFill>
                    <a:srgbClr val="FF0000"/>
                  </a:solidFill>
                  <a:latin typeface="黑体" pitchFamily="2" charset="-122"/>
                  <a:ea typeface="黑体" pitchFamily="2" charset="-122"/>
                </a:rPr>
                <a:t>微命令</a:t>
              </a:r>
              <a:endParaRPr lang="en-US" altLang="zh-CN" sz="2000" dirty="0">
                <a:solidFill>
                  <a:srgbClr val="FF0000"/>
                </a:solidFill>
                <a:latin typeface="黑体" pitchFamily="2" charset="-122"/>
                <a:ea typeface="黑体" pitchFamily="2" charset="-122"/>
              </a:endParaRPr>
            </a:p>
          </p:txBody>
        </p:sp>
        <p:sp>
          <p:nvSpPr>
            <p:cNvPr id="17" name="Text Box 23">
              <a:extLst>
                <a:ext uri="{FF2B5EF4-FFF2-40B4-BE49-F238E27FC236}">
                  <a16:creationId xmlns:a16="http://schemas.microsoft.com/office/drawing/2014/main" id="{36E3DBC6-AE10-9A1E-F990-F95583DDBC98}"/>
                </a:ext>
              </a:extLst>
            </p:cNvPr>
            <p:cNvSpPr txBox="1">
              <a:spLocks noChangeArrowheads="1"/>
            </p:cNvSpPr>
            <p:nvPr/>
          </p:nvSpPr>
          <p:spPr bwMode="auto">
            <a:xfrm>
              <a:off x="1202" y="2258"/>
              <a:ext cx="747" cy="194"/>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solidFill>
                    <a:srgbClr val="000099"/>
                  </a:solidFill>
                  <a:latin typeface="黑体" pitchFamily="2" charset="-122"/>
                  <a:ea typeface="黑体" pitchFamily="2" charset="-122"/>
                </a:rPr>
                <a:t>译码器</a:t>
              </a:r>
            </a:p>
          </p:txBody>
        </p:sp>
        <p:sp>
          <p:nvSpPr>
            <p:cNvPr id="18" name="Line 24">
              <a:extLst>
                <a:ext uri="{FF2B5EF4-FFF2-40B4-BE49-F238E27FC236}">
                  <a16:creationId xmlns:a16="http://schemas.microsoft.com/office/drawing/2014/main" id="{C8B71353-4CE1-568A-7B7C-9C694E6EA1EF}"/>
                </a:ext>
              </a:extLst>
            </p:cNvPr>
            <p:cNvSpPr>
              <a:spLocks noChangeShapeType="1"/>
            </p:cNvSpPr>
            <p:nvPr/>
          </p:nvSpPr>
          <p:spPr bwMode="auto">
            <a:xfrm flipV="1">
              <a:off x="1591" y="2468"/>
              <a:ext cx="0" cy="215"/>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9" name="Text Box 36">
              <a:extLst>
                <a:ext uri="{FF2B5EF4-FFF2-40B4-BE49-F238E27FC236}">
                  <a16:creationId xmlns:a16="http://schemas.microsoft.com/office/drawing/2014/main" id="{B179296C-6989-4620-15BA-30F564583399}"/>
                </a:ext>
              </a:extLst>
            </p:cNvPr>
            <p:cNvSpPr txBox="1">
              <a:spLocks noChangeArrowheads="1"/>
            </p:cNvSpPr>
            <p:nvPr/>
          </p:nvSpPr>
          <p:spPr bwMode="auto">
            <a:xfrm>
              <a:off x="3204" y="1046"/>
              <a:ext cx="70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dirty="0">
                  <a:solidFill>
                    <a:srgbClr val="FF0000"/>
                  </a:solidFill>
                  <a:latin typeface="黑体" pitchFamily="2" charset="-122"/>
                  <a:ea typeface="黑体" pitchFamily="2" charset="-122"/>
                </a:rPr>
                <a:t>微命令</a:t>
              </a:r>
              <a:endParaRPr lang="en-US" altLang="zh-CN" sz="2000" dirty="0">
                <a:solidFill>
                  <a:srgbClr val="FF0000"/>
                </a:solidFill>
                <a:latin typeface="黑体" pitchFamily="2" charset="-122"/>
                <a:ea typeface="黑体" pitchFamily="2" charset="-122"/>
              </a:endParaRPr>
            </a:p>
          </p:txBody>
        </p:sp>
        <p:sp>
          <p:nvSpPr>
            <p:cNvPr id="20" name="Text Box 37">
              <a:extLst>
                <a:ext uri="{FF2B5EF4-FFF2-40B4-BE49-F238E27FC236}">
                  <a16:creationId xmlns:a16="http://schemas.microsoft.com/office/drawing/2014/main" id="{45B8DE87-EC42-C5C9-710C-1498DE797CB5}"/>
                </a:ext>
              </a:extLst>
            </p:cNvPr>
            <p:cNvSpPr txBox="1">
              <a:spLocks noChangeArrowheads="1"/>
            </p:cNvSpPr>
            <p:nvPr/>
          </p:nvSpPr>
          <p:spPr bwMode="auto">
            <a:xfrm>
              <a:off x="2887" y="2258"/>
              <a:ext cx="771" cy="194"/>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2000">
                  <a:solidFill>
                    <a:srgbClr val="000099"/>
                  </a:solidFill>
                  <a:latin typeface="黑体" pitchFamily="2" charset="-122"/>
                  <a:ea typeface="黑体" pitchFamily="2" charset="-122"/>
                </a:rPr>
                <a:t>译码器</a:t>
              </a:r>
            </a:p>
          </p:txBody>
        </p:sp>
        <p:sp>
          <p:nvSpPr>
            <p:cNvPr id="21" name="Line 38">
              <a:extLst>
                <a:ext uri="{FF2B5EF4-FFF2-40B4-BE49-F238E27FC236}">
                  <a16:creationId xmlns:a16="http://schemas.microsoft.com/office/drawing/2014/main" id="{10E0BDEF-6097-BA94-2951-5963A3695288}"/>
                </a:ext>
              </a:extLst>
            </p:cNvPr>
            <p:cNvSpPr>
              <a:spLocks noChangeShapeType="1"/>
            </p:cNvSpPr>
            <p:nvPr/>
          </p:nvSpPr>
          <p:spPr bwMode="auto">
            <a:xfrm flipV="1">
              <a:off x="3232" y="2468"/>
              <a:ext cx="0" cy="215"/>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 name="Text Box 39">
              <a:extLst>
                <a:ext uri="{FF2B5EF4-FFF2-40B4-BE49-F238E27FC236}">
                  <a16:creationId xmlns:a16="http://schemas.microsoft.com/office/drawing/2014/main" id="{5A3E9196-3D18-BBC5-B7B8-8574D6C66FD2}"/>
                </a:ext>
              </a:extLst>
            </p:cNvPr>
            <p:cNvSpPr txBox="1">
              <a:spLocks noChangeArrowheads="1"/>
            </p:cNvSpPr>
            <p:nvPr/>
          </p:nvSpPr>
          <p:spPr bwMode="auto">
            <a:xfrm>
              <a:off x="1223" y="2689"/>
              <a:ext cx="7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t>A</a:t>
              </a:r>
            </a:p>
          </p:txBody>
        </p:sp>
        <p:sp>
          <p:nvSpPr>
            <p:cNvPr id="23" name="Text Box 40">
              <a:extLst>
                <a:ext uri="{FF2B5EF4-FFF2-40B4-BE49-F238E27FC236}">
                  <a16:creationId xmlns:a16="http://schemas.microsoft.com/office/drawing/2014/main" id="{383EF064-525F-F9BE-19F0-897B7A8DBCCE}"/>
                </a:ext>
              </a:extLst>
            </p:cNvPr>
            <p:cNvSpPr txBox="1">
              <a:spLocks noChangeArrowheads="1"/>
            </p:cNvSpPr>
            <p:nvPr/>
          </p:nvSpPr>
          <p:spPr bwMode="auto">
            <a:xfrm>
              <a:off x="2809" y="2689"/>
              <a:ext cx="7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a:t>B</a:t>
              </a:r>
            </a:p>
          </p:txBody>
        </p:sp>
        <p:sp>
          <p:nvSpPr>
            <p:cNvPr id="24" name="Text Box 41">
              <a:extLst>
                <a:ext uri="{FF2B5EF4-FFF2-40B4-BE49-F238E27FC236}">
                  <a16:creationId xmlns:a16="http://schemas.microsoft.com/office/drawing/2014/main" id="{C45461A8-D9DB-894C-E327-DA611DBC82A6}"/>
                </a:ext>
              </a:extLst>
            </p:cNvPr>
            <p:cNvSpPr txBox="1">
              <a:spLocks noChangeArrowheads="1"/>
            </p:cNvSpPr>
            <p:nvPr/>
          </p:nvSpPr>
          <p:spPr bwMode="auto">
            <a:xfrm>
              <a:off x="1223"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25" name="Text Box 42">
              <a:extLst>
                <a:ext uri="{FF2B5EF4-FFF2-40B4-BE49-F238E27FC236}">
                  <a16:creationId xmlns:a16="http://schemas.microsoft.com/office/drawing/2014/main" id="{57722C8E-8A13-B3DB-A46C-2D069EBABB2E}"/>
                </a:ext>
              </a:extLst>
            </p:cNvPr>
            <p:cNvSpPr txBox="1">
              <a:spLocks noChangeArrowheads="1"/>
            </p:cNvSpPr>
            <p:nvPr/>
          </p:nvSpPr>
          <p:spPr bwMode="auto">
            <a:xfrm>
              <a:off x="1591"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26" name="Text Box 43">
              <a:extLst>
                <a:ext uri="{FF2B5EF4-FFF2-40B4-BE49-F238E27FC236}">
                  <a16:creationId xmlns:a16="http://schemas.microsoft.com/office/drawing/2014/main" id="{9993E3FC-ED17-05A1-7A84-4D23BA3D3C97}"/>
                </a:ext>
              </a:extLst>
            </p:cNvPr>
            <p:cNvSpPr txBox="1">
              <a:spLocks noChangeArrowheads="1"/>
            </p:cNvSpPr>
            <p:nvPr/>
          </p:nvSpPr>
          <p:spPr bwMode="auto">
            <a:xfrm>
              <a:off x="2197"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27" name="Text Box 44">
              <a:extLst>
                <a:ext uri="{FF2B5EF4-FFF2-40B4-BE49-F238E27FC236}">
                  <a16:creationId xmlns:a16="http://schemas.microsoft.com/office/drawing/2014/main" id="{4C43CA21-F966-F0AD-D06D-1A6A4BDC71F4}"/>
                </a:ext>
              </a:extLst>
            </p:cNvPr>
            <p:cNvSpPr txBox="1">
              <a:spLocks noChangeArrowheads="1"/>
            </p:cNvSpPr>
            <p:nvPr/>
          </p:nvSpPr>
          <p:spPr bwMode="auto">
            <a:xfrm>
              <a:off x="3009"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28" name="Text Box 45">
              <a:extLst>
                <a:ext uri="{FF2B5EF4-FFF2-40B4-BE49-F238E27FC236}">
                  <a16:creationId xmlns:a16="http://schemas.microsoft.com/office/drawing/2014/main" id="{8C6FBDD9-0C15-A02B-9CE5-6CDE3BE1D2F7}"/>
                </a:ext>
              </a:extLst>
            </p:cNvPr>
            <p:cNvSpPr txBox="1">
              <a:spLocks noChangeArrowheads="1"/>
            </p:cNvSpPr>
            <p:nvPr/>
          </p:nvSpPr>
          <p:spPr bwMode="auto">
            <a:xfrm>
              <a:off x="3375"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29" name="Text Box 46">
              <a:extLst>
                <a:ext uri="{FF2B5EF4-FFF2-40B4-BE49-F238E27FC236}">
                  <a16:creationId xmlns:a16="http://schemas.microsoft.com/office/drawing/2014/main" id="{80F4FCF6-3F28-A409-7291-AB9B09A25095}"/>
                </a:ext>
              </a:extLst>
            </p:cNvPr>
            <p:cNvSpPr txBox="1">
              <a:spLocks noChangeArrowheads="1"/>
            </p:cNvSpPr>
            <p:nvPr/>
          </p:nvSpPr>
          <p:spPr bwMode="auto">
            <a:xfrm>
              <a:off x="3929" y="1492"/>
              <a:ext cx="256" cy="210"/>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solidFill>
                    <a:srgbClr val="000099"/>
                  </a:solidFill>
                </a:rPr>
                <a:t>&amp;</a:t>
              </a:r>
            </a:p>
          </p:txBody>
        </p:sp>
        <p:sp>
          <p:nvSpPr>
            <p:cNvPr id="30" name="Line 47">
              <a:extLst>
                <a:ext uri="{FF2B5EF4-FFF2-40B4-BE49-F238E27FC236}">
                  <a16:creationId xmlns:a16="http://schemas.microsoft.com/office/drawing/2014/main" id="{D892F56F-05F1-A666-BD70-4A78F829531D}"/>
                </a:ext>
              </a:extLst>
            </p:cNvPr>
            <p:cNvSpPr>
              <a:spLocks noChangeShapeType="1"/>
            </p:cNvSpPr>
            <p:nvPr/>
          </p:nvSpPr>
          <p:spPr bwMode="auto">
            <a:xfrm>
              <a:off x="1298" y="1702"/>
              <a:ext cx="0" cy="556"/>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1" name="Freeform 48">
              <a:extLst>
                <a:ext uri="{FF2B5EF4-FFF2-40B4-BE49-F238E27FC236}">
                  <a16:creationId xmlns:a16="http://schemas.microsoft.com/office/drawing/2014/main" id="{6BD885FA-018C-D9DB-BBEF-ECE755F2528D}"/>
                </a:ext>
              </a:extLst>
            </p:cNvPr>
            <p:cNvSpPr>
              <a:spLocks/>
            </p:cNvSpPr>
            <p:nvPr/>
          </p:nvSpPr>
          <p:spPr bwMode="auto">
            <a:xfrm>
              <a:off x="1413" y="1712"/>
              <a:ext cx="1564" cy="546"/>
            </a:xfrm>
            <a:custGeom>
              <a:avLst/>
              <a:gdLst>
                <a:gd name="T0" fmla="*/ 0 w 1564"/>
                <a:gd name="T1" fmla="*/ 0 h 546"/>
                <a:gd name="T2" fmla="*/ 0 w 1564"/>
                <a:gd name="T3" fmla="*/ 145 h 546"/>
                <a:gd name="T4" fmla="*/ 1564 w 1564"/>
                <a:gd name="T5" fmla="*/ 145 h 546"/>
                <a:gd name="T6" fmla="*/ 1564 w 1564"/>
                <a:gd name="T7" fmla="*/ 546 h 546"/>
                <a:gd name="T8" fmla="*/ 0 60000 65536"/>
                <a:gd name="T9" fmla="*/ 0 60000 65536"/>
                <a:gd name="T10" fmla="*/ 0 60000 65536"/>
                <a:gd name="T11" fmla="*/ 0 60000 65536"/>
                <a:gd name="T12" fmla="*/ 0 w 1564"/>
                <a:gd name="T13" fmla="*/ 0 h 546"/>
                <a:gd name="T14" fmla="*/ 1564 w 1564"/>
                <a:gd name="T15" fmla="*/ 546 h 546"/>
              </a:gdLst>
              <a:ahLst/>
              <a:cxnLst>
                <a:cxn ang="T8">
                  <a:pos x="T0" y="T1"/>
                </a:cxn>
                <a:cxn ang="T9">
                  <a:pos x="T2" y="T3"/>
                </a:cxn>
                <a:cxn ang="T10">
                  <a:pos x="T4" y="T5"/>
                </a:cxn>
                <a:cxn ang="T11">
                  <a:pos x="T6" y="T7"/>
                </a:cxn>
              </a:cxnLst>
              <a:rect l="T12" t="T13" r="T14" b="T15"/>
              <a:pathLst>
                <a:path w="1564" h="546">
                  <a:moveTo>
                    <a:pt x="0" y="0"/>
                  </a:moveTo>
                  <a:lnTo>
                    <a:pt x="0" y="145"/>
                  </a:lnTo>
                  <a:lnTo>
                    <a:pt x="1564" y="145"/>
                  </a:lnTo>
                  <a:lnTo>
                    <a:pt x="1564" y="546"/>
                  </a:lnTo>
                </a:path>
              </a:pathLst>
            </a:custGeom>
            <a:noFill/>
            <a:ln w="19050" cap="flat" cmpd="sng">
              <a:solidFill>
                <a:srgbClr val="FF00FF"/>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2" name="Oval 49">
              <a:extLst>
                <a:ext uri="{FF2B5EF4-FFF2-40B4-BE49-F238E27FC236}">
                  <a16:creationId xmlns:a16="http://schemas.microsoft.com/office/drawing/2014/main" id="{B6CB3CB2-9FDE-8250-18D5-D4C59695CA64}"/>
                </a:ext>
              </a:extLst>
            </p:cNvPr>
            <p:cNvSpPr>
              <a:spLocks noChangeArrowheads="1"/>
            </p:cNvSpPr>
            <p:nvPr/>
          </p:nvSpPr>
          <p:spPr bwMode="auto">
            <a:xfrm>
              <a:off x="1763" y="1832"/>
              <a:ext cx="56" cy="56"/>
            </a:xfrm>
            <a:prstGeom prst="ellipse">
              <a:avLst/>
            </a:prstGeom>
            <a:solidFill>
              <a:srgbClr val="FF00FF"/>
            </a:solidFill>
            <a:ln w="9525" algn="ctr">
              <a:solidFill>
                <a:srgbClr val="000099"/>
              </a:solidFill>
              <a:round/>
              <a:headEnd/>
              <a:tailEnd/>
            </a:ln>
          </p:spPr>
          <p:txBody>
            <a:bodyPr wrap="none" anchor="ctr">
              <a:spAutoFit/>
            </a:bodyPr>
            <a:lstStyle/>
            <a:p>
              <a:endParaRPr lang="zh-CN" altLang="en-US"/>
            </a:p>
          </p:txBody>
        </p:sp>
        <p:sp>
          <p:nvSpPr>
            <p:cNvPr id="33" name="Oval 50">
              <a:extLst>
                <a:ext uri="{FF2B5EF4-FFF2-40B4-BE49-F238E27FC236}">
                  <a16:creationId xmlns:a16="http://schemas.microsoft.com/office/drawing/2014/main" id="{04046BE2-FC5F-7181-66EF-BE40B9129B48}"/>
                </a:ext>
              </a:extLst>
            </p:cNvPr>
            <p:cNvSpPr>
              <a:spLocks noChangeArrowheads="1"/>
            </p:cNvSpPr>
            <p:nvPr/>
          </p:nvSpPr>
          <p:spPr bwMode="auto">
            <a:xfrm>
              <a:off x="2361" y="1828"/>
              <a:ext cx="56" cy="56"/>
            </a:xfrm>
            <a:prstGeom prst="ellipse">
              <a:avLst/>
            </a:prstGeom>
            <a:solidFill>
              <a:srgbClr val="FF00FF"/>
            </a:solidFill>
            <a:ln w="9525" algn="ctr">
              <a:solidFill>
                <a:srgbClr val="000099"/>
              </a:solidFill>
              <a:round/>
              <a:headEnd/>
              <a:tailEnd/>
            </a:ln>
          </p:spPr>
          <p:txBody>
            <a:bodyPr wrap="none" anchor="ctr">
              <a:spAutoFit/>
            </a:bodyPr>
            <a:lstStyle/>
            <a:p>
              <a:endParaRPr lang="zh-CN" altLang="en-US"/>
            </a:p>
          </p:txBody>
        </p:sp>
        <p:sp>
          <p:nvSpPr>
            <p:cNvPr id="34" name="Oval 51">
              <a:extLst>
                <a:ext uri="{FF2B5EF4-FFF2-40B4-BE49-F238E27FC236}">
                  <a16:creationId xmlns:a16="http://schemas.microsoft.com/office/drawing/2014/main" id="{B396DC41-CDDB-B4DD-568D-8DB77FC3630C}"/>
                </a:ext>
              </a:extLst>
            </p:cNvPr>
            <p:cNvSpPr>
              <a:spLocks noChangeArrowheads="1"/>
            </p:cNvSpPr>
            <p:nvPr/>
          </p:nvSpPr>
          <p:spPr bwMode="auto">
            <a:xfrm>
              <a:off x="2234" y="2044"/>
              <a:ext cx="56" cy="56"/>
            </a:xfrm>
            <a:prstGeom prst="ellipse">
              <a:avLst/>
            </a:prstGeom>
            <a:solidFill>
              <a:srgbClr val="000099"/>
            </a:solidFill>
            <a:ln w="9525" algn="ctr">
              <a:solidFill>
                <a:srgbClr val="000099"/>
              </a:solidFill>
              <a:round/>
              <a:headEnd/>
              <a:tailEnd/>
            </a:ln>
          </p:spPr>
          <p:txBody>
            <a:bodyPr wrap="none" anchor="ctr">
              <a:spAutoFit/>
            </a:bodyPr>
            <a:lstStyle/>
            <a:p>
              <a:endParaRPr lang="zh-CN" altLang="en-US"/>
            </a:p>
          </p:txBody>
        </p:sp>
        <p:sp>
          <p:nvSpPr>
            <p:cNvPr id="35" name="Line 52">
              <a:extLst>
                <a:ext uri="{FF2B5EF4-FFF2-40B4-BE49-F238E27FC236}">
                  <a16:creationId xmlns:a16="http://schemas.microsoft.com/office/drawing/2014/main" id="{7FF2DAE0-5F9B-3FAC-7CAF-E31C9B2C6461}"/>
                </a:ext>
              </a:extLst>
            </p:cNvPr>
            <p:cNvSpPr>
              <a:spLocks noChangeShapeType="1"/>
            </p:cNvSpPr>
            <p:nvPr/>
          </p:nvSpPr>
          <p:spPr bwMode="auto">
            <a:xfrm>
              <a:off x="1793" y="1712"/>
              <a:ext cx="0" cy="126"/>
            </a:xfrm>
            <a:prstGeom prst="line">
              <a:avLst/>
            </a:prstGeom>
            <a:noFill/>
            <a:ln w="1905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6" name="Line 53">
              <a:extLst>
                <a:ext uri="{FF2B5EF4-FFF2-40B4-BE49-F238E27FC236}">
                  <a16:creationId xmlns:a16="http://schemas.microsoft.com/office/drawing/2014/main" id="{5C6F8A86-7FF8-1F1F-EE3E-9FA1318EC819}"/>
                </a:ext>
              </a:extLst>
            </p:cNvPr>
            <p:cNvSpPr>
              <a:spLocks noChangeShapeType="1"/>
            </p:cNvSpPr>
            <p:nvPr/>
          </p:nvSpPr>
          <p:spPr bwMode="auto">
            <a:xfrm>
              <a:off x="2391" y="1707"/>
              <a:ext cx="0" cy="126"/>
            </a:xfrm>
            <a:prstGeom prst="line">
              <a:avLst/>
            </a:prstGeom>
            <a:noFill/>
            <a:ln w="1905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 name="Freeform 54">
              <a:extLst>
                <a:ext uri="{FF2B5EF4-FFF2-40B4-BE49-F238E27FC236}">
                  <a16:creationId xmlns:a16="http://schemas.microsoft.com/office/drawing/2014/main" id="{42298D25-E719-5894-F0DA-34D67AEF1AC2}"/>
                </a:ext>
              </a:extLst>
            </p:cNvPr>
            <p:cNvSpPr>
              <a:spLocks/>
            </p:cNvSpPr>
            <p:nvPr/>
          </p:nvSpPr>
          <p:spPr bwMode="auto">
            <a:xfrm>
              <a:off x="1298" y="1700"/>
              <a:ext cx="1770" cy="236"/>
            </a:xfrm>
            <a:custGeom>
              <a:avLst/>
              <a:gdLst>
                <a:gd name="T0" fmla="*/ 0 w 1770"/>
                <a:gd name="T1" fmla="*/ 663 h 218"/>
                <a:gd name="T2" fmla="*/ 1770 w 1770"/>
                <a:gd name="T3" fmla="*/ 663 h 218"/>
                <a:gd name="T4" fmla="*/ 1770 w 1770"/>
                <a:gd name="T5" fmla="*/ 0 h 218"/>
                <a:gd name="T6" fmla="*/ 0 60000 65536"/>
                <a:gd name="T7" fmla="*/ 0 60000 65536"/>
                <a:gd name="T8" fmla="*/ 0 60000 65536"/>
                <a:gd name="T9" fmla="*/ 0 w 1770"/>
                <a:gd name="T10" fmla="*/ 0 h 218"/>
                <a:gd name="T11" fmla="*/ 1770 w 1770"/>
                <a:gd name="T12" fmla="*/ 218 h 218"/>
              </a:gdLst>
              <a:ahLst/>
              <a:cxnLst>
                <a:cxn ang="T6">
                  <a:pos x="T0" y="T1"/>
                </a:cxn>
                <a:cxn ang="T7">
                  <a:pos x="T2" y="T3"/>
                </a:cxn>
                <a:cxn ang="T8">
                  <a:pos x="T4" y="T5"/>
                </a:cxn>
              </a:cxnLst>
              <a:rect l="T9" t="T10" r="T11" b="T12"/>
              <a:pathLst>
                <a:path w="1770" h="218">
                  <a:moveTo>
                    <a:pt x="0" y="218"/>
                  </a:moveTo>
                  <a:lnTo>
                    <a:pt x="1770" y="218"/>
                  </a:lnTo>
                  <a:lnTo>
                    <a:pt x="1770" y="0"/>
                  </a:lnTo>
                </a:path>
              </a:pathLst>
            </a:custGeom>
            <a:noFill/>
            <a:ln w="1905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8" name="Oval 55">
              <a:extLst>
                <a:ext uri="{FF2B5EF4-FFF2-40B4-BE49-F238E27FC236}">
                  <a16:creationId xmlns:a16="http://schemas.microsoft.com/office/drawing/2014/main" id="{C3078C77-705B-1004-5EED-65EA4E086EBC}"/>
                </a:ext>
              </a:extLst>
            </p:cNvPr>
            <p:cNvSpPr>
              <a:spLocks noChangeArrowheads="1"/>
            </p:cNvSpPr>
            <p:nvPr/>
          </p:nvSpPr>
          <p:spPr bwMode="auto">
            <a:xfrm>
              <a:off x="3161" y="1828"/>
              <a:ext cx="56" cy="56"/>
            </a:xfrm>
            <a:prstGeom prst="ellipse">
              <a:avLst/>
            </a:prstGeom>
            <a:solidFill>
              <a:srgbClr val="000099"/>
            </a:solidFill>
            <a:ln w="9525" algn="ctr">
              <a:solidFill>
                <a:srgbClr val="000099"/>
              </a:solidFill>
              <a:round/>
              <a:headEnd/>
              <a:tailEnd/>
            </a:ln>
          </p:spPr>
          <p:txBody>
            <a:bodyPr wrap="none" anchor="ctr">
              <a:spAutoFit/>
            </a:bodyPr>
            <a:lstStyle/>
            <a:p>
              <a:endParaRPr lang="zh-CN" altLang="en-US"/>
            </a:p>
          </p:txBody>
        </p:sp>
        <p:sp>
          <p:nvSpPr>
            <p:cNvPr id="39" name="Oval 56">
              <a:extLst>
                <a:ext uri="{FF2B5EF4-FFF2-40B4-BE49-F238E27FC236}">
                  <a16:creationId xmlns:a16="http://schemas.microsoft.com/office/drawing/2014/main" id="{E9C3BF2B-7EBB-98C9-2528-9E5ADF9D48AA}"/>
                </a:ext>
              </a:extLst>
            </p:cNvPr>
            <p:cNvSpPr>
              <a:spLocks noChangeArrowheads="1"/>
            </p:cNvSpPr>
            <p:nvPr/>
          </p:nvSpPr>
          <p:spPr bwMode="auto">
            <a:xfrm>
              <a:off x="1651" y="1980"/>
              <a:ext cx="56" cy="56"/>
            </a:xfrm>
            <a:prstGeom prst="ellipse">
              <a:avLst/>
            </a:prstGeom>
            <a:solidFill>
              <a:srgbClr val="000099"/>
            </a:solidFill>
            <a:ln w="9525" algn="ctr">
              <a:solidFill>
                <a:srgbClr val="000099"/>
              </a:solidFill>
              <a:round/>
              <a:headEnd/>
              <a:tailEnd/>
            </a:ln>
          </p:spPr>
          <p:txBody>
            <a:bodyPr wrap="none" anchor="ctr">
              <a:spAutoFit/>
            </a:bodyPr>
            <a:lstStyle/>
            <a:p>
              <a:endParaRPr lang="zh-CN" altLang="en-US"/>
            </a:p>
          </p:txBody>
        </p:sp>
        <p:sp>
          <p:nvSpPr>
            <p:cNvPr id="40" name="Oval 57">
              <a:extLst>
                <a:ext uri="{FF2B5EF4-FFF2-40B4-BE49-F238E27FC236}">
                  <a16:creationId xmlns:a16="http://schemas.microsoft.com/office/drawing/2014/main" id="{3C83AB39-49A1-A1DB-A6D3-F205E644980B}"/>
                </a:ext>
              </a:extLst>
            </p:cNvPr>
            <p:cNvSpPr>
              <a:spLocks noChangeArrowheads="1"/>
            </p:cNvSpPr>
            <p:nvPr/>
          </p:nvSpPr>
          <p:spPr bwMode="auto">
            <a:xfrm>
              <a:off x="1267" y="1906"/>
              <a:ext cx="56" cy="56"/>
            </a:xfrm>
            <a:prstGeom prst="ellipse">
              <a:avLst/>
            </a:prstGeom>
            <a:solidFill>
              <a:srgbClr val="000099"/>
            </a:solidFill>
            <a:ln w="9525" algn="ctr">
              <a:solidFill>
                <a:srgbClr val="000099"/>
              </a:solidFill>
              <a:round/>
              <a:headEnd/>
              <a:tailEnd/>
            </a:ln>
          </p:spPr>
          <p:txBody>
            <a:bodyPr wrap="none" anchor="ctr">
              <a:spAutoFit/>
            </a:bodyPr>
            <a:lstStyle/>
            <a:p>
              <a:endParaRPr lang="zh-CN" altLang="en-US"/>
            </a:p>
          </p:txBody>
        </p:sp>
        <p:sp>
          <p:nvSpPr>
            <p:cNvPr id="41" name="Freeform 58">
              <a:extLst>
                <a:ext uri="{FF2B5EF4-FFF2-40B4-BE49-F238E27FC236}">
                  <a16:creationId xmlns:a16="http://schemas.microsoft.com/office/drawing/2014/main" id="{7FB55B5A-9367-3C65-0863-72C95643EA17}"/>
                </a:ext>
              </a:extLst>
            </p:cNvPr>
            <p:cNvSpPr>
              <a:spLocks/>
            </p:cNvSpPr>
            <p:nvPr/>
          </p:nvSpPr>
          <p:spPr bwMode="auto">
            <a:xfrm>
              <a:off x="3189" y="1700"/>
              <a:ext cx="946" cy="157"/>
            </a:xfrm>
            <a:custGeom>
              <a:avLst/>
              <a:gdLst>
                <a:gd name="T0" fmla="*/ 0 w 946"/>
                <a:gd name="T1" fmla="*/ 6 h 157"/>
                <a:gd name="T2" fmla="*/ 0 w 946"/>
                <a:gd name="T3" fmla="*/ 157 h 157"/>
                <a:gd name="T4" fmla="*/ 946 w 946"/>
                <a:gd name="T5" fmla="*/ 157 h 157"/>
                <a:gd name="T6" fmla="*/ 946 w 946"/>
                <a:gd name="T7" fmla="*/ 0 h 157"/>
                <a:gd name="T8" fmla="*/ 0 60000 65536"/>
                <a:gd name="T9" fmla="*/ 0 60000 65536"/>
                <a:gd name="T10" fmla="*/ 0 60000 65536"/>
                <a:gd name="T11" fmla="*/ 0 60000 65536"/>
                <a:gd name="T12" fmla="*/ 0 w 946"/>
                <a:gd name="T13" fmla="*/ 0 h 157"/>
                <a:gd name="T14" fmla="*/ 946 w 946"/>
                <a:gd name="T15" fmla="*/ 157 h 157"/>
              </a:gdLst>
              <a:ahLst/>
              <a:cxnLst>
                <a:cxn ang="T8">
                  <a:pos x="T0" y="T1"/>
                </a:cxn>
                <a:cxn ang="T9">
                  <a:pos x="T2" y="T3"/>
                </a:cxn>
                <a:cxn ang="T10">
                  <a:pos x="T4" y="T5"/>
                </a:cxn>
                <a:cxn ang="T11">
                  <a:pos x="T6" y="T7"/>
                </a:cxn>
              </a:cxnLst>
              <a:rect l="T12" t="T13" r="T14" b="T15"/>
              <a:pathLst>
                <a:path w="946" h="157">
                  <a:moveTo>
                    <a:pt x="0" y="6"/>
                  </a:moveTo>
                  <a:lnTo>
                    <a:pt x="0" y="157"/>
                  </a:lnTo>
                  <a:lnTo>
                    <a:pt x="946" y="157"/>
                  </a:lnTo>
                  <a:lnTo>
                    <a:pt x="946" y="0"/>
                  </a:lnTo>
                </a:path>
              </a:pathLst>
            </a:custGeom>
            <a:noFill/>
            <a:ln w="1905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42" name="Oval 59">
              <a:extLst>
                <a:ext uri="{FF2B5EF4-FFF2-40B4-BE49-F238E27FC236}">
                  <a16:creationId xmlns:a16="http://schemas.microsoft.com/office/drawing/2014/main" id="{1696B643-DE99-C5F6-EF0D-7B93919CE09A}"/>
                </a:ext>
              </a:extLst>
            </p:cNvPr>
            <p:cNvSpPr>
              <a:spLocks noChangeArrowheads="1"/>
            </p:cNvSpPr>
            <p:nvPr/>
          </p:nvSpPr>
          <p:spPr bwMode="auto">
            <a:xfrm>
              <a:off x="3537" y="1827"/>
              <a:ext cx="56" cy="56"/>
            </a:xfrm>
            <a:prstGeom prst="ellipse">
              <a:avLst/>
            </a:prstGeom>
            <a:solidFill>
              <a:srgbClr val="000099"/>
            </a:solidFill>
            <a:ln w="9525" algn="ctr">
              <a:solidFill>
                <a:srgbClr val="000099"/>
              </a:solidFill>
              <a:round/>
              <a:headEnd/>
              <a:tailEnd/>
            </a:ln>
          </p:spPr>
          <p:txBody>
            <a:bodyPr wrap="none" anchor="ctr">
              <a:spAutoFit/>
            </a:bodyPr>
            <a:lstStyle/>
            <a:p>
              <a:endParaRPr lang="zh-CN" altLang="en-US"/>
            </a:p>
          </p:txBody>
        </p:sp>
        <p:sp>
          <p:nvSpPr>
            <p:cNvPr id="43" name="Line 60">
              <a:extLst>
                <a:ext uri="{FF2B5EF4-FFF2-40B4-BE49-F238E27FC236}">
                  <a16:creationId xmlns:a16="http://schemas.microsoft.com/office/drawing/2014/main" id="{304BB407-4ABF-F87D-8F11-A40B3FB958A1}"/>
                </a:ext>
              </a:extLst>
            </p:cNvPr>
            <p:cNvSpPr>
              <a:spLocks noChangeShapeType="1"/>
            </p:cNvSpPr>
            <p:nvPr/>
          </p:nvSpPr>
          <p:spPr bwMode="auto">
            <a:xfrm>
              <a:off x="3567" y="1700"/>
              <a:ext cx="0" cy="126"/>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 name="Freeform 61">
              <a:extLst>
                <a:ext uri="{FF2B5EF4-FFF2-40B4-BE49-F238E27FC236}">
                  <a16:creationId xmlns:a16="http://schemas.microsoft.com/office/drawing/2014/main" id="{B3F45A23-76F6-524B-55C0-5AAF7DE14B94}"/>
                </a:ext>
              </a:extLst>
            </p:cNvPr>
            <p:cNvSpPr>
              <a:spLocks/>
            </p:cNvSpPr>
            <p:nvPr/>
          </p:nvSpPr>
          <p:spPr bwMode="auto">
            <a:xfrm>
              <a:off x="1431" y="1694"/>
              <a:ext cx="2019" cy="551"/>
            </a:xfrm>
            <a:custGeom>
              <a:avLst/>
              <a:gdLst>
                <a:gd name="T0" fmla="*/ 0 w 2019"/>
                <a:gd name="T1" fmla="*/ 551 h 551"/>
                <a:gd name="T2" fmla="*/ 0 w 2019"/>
                <a:gd name="T3" fmla="*/ 315 h 551"/>
                <a:gd name="T4" fmla="*/ 2019 w 2019"/>
                <a:gd name="T5" fmla="*/ 315 h 551"/>
                <a:gd name="T6" fmla="*/ 2019 w 2019"/>
                <a:gd name="T7" fmla="*/ 0 h 551"/>
                <a:gd name="T8" fmla="*/ 0 60000 65536"/>
                <a:gd name="T9" fmla="*/ 0 60000 65536"/>
                <a:gd name="T10" fmla="*/ 0 60000 65536"/>
                <a:gd name="T11" fmla="*/ 0 60000 65536"/>
                <a:gd name="T12" fmla="*/ 0 w 2019"/>
                <a:gd name="T13" fmla="*/ 0 h 551"/>
                <a:gd name="T14" fmla="*/ 2019 w 2019"/>
                <a:gd name="T15" fmla="*/ 551 h 551"/>
              </a:gdLst>
              <a:ahLst/>
              <a:cxnLst>
                <a:cxn ang="T8">
                  <a:pos x="T0" y="T1"/>
                </a:cxn>
                <a:cxn ang="T9">
                  <a:pos x="T2" y="T3"/>
                </a:cxn>
                <a:cxn ang="T10">
                  <a:pos x="T4" y="T5"/>
                </a:cxn>
                <a:cxn ang="T11">
                  <a:pos x="T6" y="T7"/>
                </a:cxn>
              </a:cxnLst>
              <a:rect l="T12" t="T13" r="T14" b="T15"/>
              <a:pathLst>
                <a:path w="2019" h="551">
                  <a:moveTo>
                    <a:pt x="0" y="551"/>
                  </a:moveTo>
                  <a:lnTo>
                    <a:pt x="0" y="315"/>
                  </a:lnTo>
                  <a:lnTo>
                    <a:pt x="2019" y="315"/>
                  </a:lnTo>
                  <a:lnTo>
                    <a:pt x="2019" y="0"/>
                  </a:lnTo>
                </a:path>
              </a:pathLst>
            </a:custGeom>
            <a:noFill/>
            <a:ln w="1905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45" name="Text Box 63">
              <a:extLst>
                <a:ext uri="{FF2B5EF4-FFF2-40B4-BE49-F238E27FC236}">
                  <a16:creationId xmlns:a16="http://schemas.microsoft.com/office/drawing/2014/main" id="{A85962F4-0331-2F22-A754-E2CE322E643E}"/>
                </a:ext>
              </a:extLst>
            </p:cNvPr>
            <p:cNvSpPr txBox="1">
              <a:spLocks noChangeArrowheads="1"/>
            </p:cNvSpPr>
            <p:nvPr/>
          </p:nvSpPr>
          <p:spPr bwMode="auto">
            <a:xfrm>
              <a:off x="1433" y="2066"/>
              <a:ext cx="3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latin typeface="Times New Roman" pitchFamily="18" charset="0"/>
                </a:rPr>
                <a:t>…</a:t>
              </a:r>
              <a:endParaRPr lang="en-US" altLang="zh-CN" sz="2000"/>
            </a:p>
          </p:txBody>
        </p:sp>
        <p:sp>
          <p:nvSpPr>
            <p:cNvPr id="46" name="Text Box 64">
              <a:extLst>
                <a:ext uri="{FF2B5EF4-FFF2-40B4-BE49-F238E27FC236}">
                  <a16:creationId xmlns:a16="http://schemas.microsoft.com/office/drawing/2014/main" id="{DF375322-9402-07F6-486F-44C94FA124D5}"/>
                </a:ext>
              </a:extLst>
            </p:cNvPr>
            <p:cNvSpPr txBox="1">
              <a:spLocks noChangeArrowheads="1"/>
            </p:cNvSpPr>
            <p:nvPr/>
          </p:nvSpPr>
          <p:spPr bwMode="auto">
            <a:xfrm>
              <a:off x="1864" y="1492"/>
              <a:ext cx="3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latin typeface="Times New Roman" pitchFamily="18" charset="0"/>
                </a:rPr>
                <a:t>…</a:t>
              </a:r>
              <a:endParaRPr lang="en-US" altLang="zh-CN" sz="2000"/>
            </a:p>
          </p:txBody>
        </p:sp>
        <p:sp>
          <p:nvSpPr>
            <p:cNvPr id="47" name="Text Box 65">
              <a:extLst>
                <a:ext uri="{FF2B5EF4-FFF2-40B4-BE49-F238E27FC236}">
                  <a16:creationId xmlns:a16="http://schemas.microsoft.com/office/drawing/2014/main" id="{00813E42-EBC9-1422-5316-87D922F04156}"/>
                </a:ext>
              </a:extLst>
            </p:cNvPr>
            <p:cNvSpPr txBox="1">
              <a:spLocks noChangeArrowheads="1"/>
            </p:cNvSpPr>
            <p:nvPr/>
          </p:nvSpPr>
          <p:spPr bwMode="auto">
            <a:xfrm>
              <a:off x="3593" y="1502"/>
              <a:ext cx="3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latin typeface="Times New Roman" pitchFamily="18" charset="0"/>
                </a:rPr>
                <a:t>…</a:t>
              </a:r>
              <a:endParaRPr lang="en-US" altLang="zh-CN" sz="2000"/>
            </a:p>
          </p:txBody>
        </p:sp>
        <p:sp>
          <p:nvSpPr>
            <p:cNvPr id="48" name="Text Box 66">
              <a:extLst>
                <a:ext uri="{FF2B5EF4-FFF2-40B4-BE49-F238E27FC236}">
                  <a16:creationId xmlns:a16="http://schemas.microsoft.com/office/drawing/2014/main" id="{CD6FFE8C-E961-95D3-150B-DDCB818CBD04}"/>
                </a:ext>
              </a:extLst>
            </p:cNvPr>
            <p:cNvSpPr txBox="1">
              <a:spLocks noChangeArrowheads="1"/>
            </p:cNvSpPr>
            <p:nvPr/>
          </p:nvSpPr>
          <p:spPr bwMode="auto">
            <a:xfrm>
              <a:off x="2525" y="1485"/>
              <a:ext cx="3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latin typeface="Times New Roman" pitchFamily="18" charset="0"/>
                </a:rPr>
                <a:t>…</a:t>
              </a:r>
              <a:endParaRPr lang="en-US" altLang="zh-CN" sz="2000"/>
            </a:p>
          </p:txBody>
        </p:sp>
        <p:sp>
          <p:nvSpPr>
            <p:cNvPr id="49" name="Line 67">
              <a:extLst>
                <a:ext uri="{FF2B5EF4-FFF2-40B4-BE49-F238E27FC236}">
                  <a16:creationId xmlns:a16="http://schemas.microsoft.com/office/drawing/2014/main" id="{0875779F-C438-33C7-E02E-E55C1BF453F6}"/>
                </a:ext>
              </a:extLst>
            </p:cNvPr>
            <p:cNvSpPr>
              <a:spLocks noChangeShapeType="1"/>
            </p:cNvSpPr>
            <p:nvPr/>
          </p:nvSpPr>
          <p:spPr bwMode="auto">
            <a:xfrm>
              <a:off x="3189" y="1857"/>
              <a:ext cx="0" cy="401"/>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 name="Freeform 68">
              <a:extLst>
                <a:ext uri="{FF2B5EF4-FFF2-40B4-BE49-F238E27FC236}">
                  <a16:creationId xmlns:a16="http://schemas.microsoft.com/office/drawing/2014/main" id="{5096C3EC-9FAA-0519-6EFE-1E3F474B38BB}"/>
                </a:ext>
              </a:extLst>
            </p:cNvPr>
            <p:cNvSpPr>
              <a:spLocks/>
            </p:cNvSpPr>
            <p:nvPr/>
          </p:nvSpPr>
          <p:spPr bwMode="auto">
            <a:xfrm>
              <a:off x="1843" y="1700"/>
              <a:ext cx="2171" cy="552"/>
            </a:xfrm>
            <a:custGeom>
              <a:avLst/>
              <a:gdLst>
                <a:gd name="T0" fmla="*/ 0 w 2171"/>
                <a:gd name="T1" fmla="*/ 552 h 552"/>
                <a:gd name="T2" fmla="*/ 0 w 2171"/>
                <a:gd name="T3" fmla="*/ 376 h 552"/>
                <a:gd name="T4" fmla="*/ 2171 w 2171"/>
                <a:gd name="T5" fmla="*/ 376 h 552"/>
                <a:gd name="T6" fmla="*/ 2171 w 2171"/>
                <a:gd name="T7" fmla="*/ 0 h 552"/>
                <a:gd name="T8" fmla="*/ 0 60000 65536"/>
                <a:gd name="T9" fmla="*/ 0 60000 65536"/>
                <a:gd name="T10" fmla="*/ 0 60000 65536"/>
                <a:gd name="T11" fmla="*/ 0 60000 65536"/>
                <a:gd name="T12" fmla="*/ 0 w 2171"/>
                <a:gd name="T13" fmla="*/ 0 h 552"/>
                <a:gd name="T14" fmla="*/ 2171 w 2171"/>
                <a:gd name="T15" fmla="*/ 552 h 552"/>
              </a:gdLst>
              <a:ahLst/>
              <a:cxnLst>
                <a:cxn ang="T8">
                  <a:pos x="T0" y="T1"/>
                </a:cxn>
                <a:cxn ang="T9">
                  <a:pos x="T2" y="T3"/>
                </a:cxn>
                <a:cxn ang="T10">
                  <a:pos x="T4" y="T5"/>
                </a:cxn>
                <a:cxn ang="T11">
                  <a:pos x="T6" y="T7"/>
                </a:cxn>
              </a:cxnLst>
              <a:rect l="T12" t="T13" r="T14" b="T15"/>
              <a:pathLst>
                <a:path w="2171" h="552">
                  <a:moveTo>
                    <a:pt x="0" y="552"/>
                  </a:moveTo>
                  <a:lnTo>
                    <a:pt x="0" y="376"/>
                  </a:lnTo>
                  <a:lnTo>
                    <a:pt x="2171" y="376"/>
                  </a:lnTo>
                  <a:lnTo>
                    <a:pt x="2171" y="0"/>
                  </a:lnTo>
                </a:path>
              </a:pathLst>
            </a:custGeom>
            <a:noFill/>
            <a:ln w="1905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51" name="Line 69">
              <a:extLst>
                <a:ext uri="{FF2B5EF4-FFF2-40B4-BE49-F238E27FC236}">
                  <a16:creationId xmlns:a16="http://schemas.microsoft.com/office/drawing/2014/main" id="{30869D36-2357-8DB8-2CFD-65761E6EC5A9}"/>
                </a:ext>
              </a:extLst>
            </p:cNvPr>
            <p:cNvSpPr>
              <a:spLocks noChangeShapeType="1"/>
            </p:cNvSpPr>
            <p:nvPr/>
          </p:nvSpPr>
          <p:spPr bwMode="auto">
            <a:xfrm>
              <a:off x="2262" y="1700"/>
              <a:ext cx="0" cy="366"/>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2" name="Text Box 70">
              <a:extLst>
                <a:ext uri="{FF2B5EF4-FFF2-40B4-BE49-F238E27FC236}">
                  <a16:creationId xmlns:a16="http://schemas.microsoft.com/office/drawing/2014/main" id="{A0D8A0E8-1930-D1AD-AB63-4E98A57E3DFD}"/>
                </a:ext>
              </a:extLst>
            </p:cNvPr>
            <p:cNvSpPr txBox="1">
              <a:spLocks noChangeArrowheads="1"/>
            </p:cNvSpPr>
            <p:nvPr/>
          </p:nvSpPr>
          <p:spPr bwMode="auto">
            <a:xfrm>
              <a:off x="3272" y="2052"/>
              <a:ext cx="3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a:latin typeface="Times New Roman" pitchFamily="18" charset="0"/>
                </a:rPr>
                <a:t>…</a:t>
              </a:r>
              <a:endParaRPr lang="en-US" altLang="zh-CN" sz="2000"/>
            </a:p>
          </p:txBody>
        </p:sp>
        <p:sp>
          <p:nvSpPr>
            <p:cNvPr id="53" name="Line 71">
              <a:extLst>
                <a:ext uri="{FF2B5EF4-FFF2-40B4-BE49-F238E27FC236}">
                  <a16:creationId xmlns:a16="http://schemas.microsoft.com/office/drawing/2014/main" id="{18A89BBF-FBEA-2D23-5E55-12497E6054BB}"/>
                </a:ext>
              </a:extLst>
            </p:cNvPr>
            <p:cNvSpPr>
              <a:spLocks noChangeShapeType="1"/>
            </p:cNvSpPr>
            <p:nvPr/>
          </p:nvSpPr>
          <p:spPr bwMode="auto">
            <a:xfrm flipV="1">
              <a:off x="2337" y="1216"/>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 name="Line 72">
              <a:extLst>
                <a:ext uri="{FF2B5EF4-FFF2-40B4-BE49-F238E27FC236}">
                  <a16:creationId xmlns:a16="http://schemas.microsoft.com/office/drawing/2014/main" id="{BD3A5582-2CB0-7FF6-5824-404ADBF984B9}"/>
                </a:ext>
              </a:extLst>
            </p:cNvPr>
            <p:cNvSpPr>
              <a:spLocks noChangeShapeType="1"/>
            </p:cNvSpPr>
            <p:nvPr/>
          </p:nvSpPr>
          <p:spPr bwMode="auto">
            <a:xfrm flipV="1">
              <a:off x="3138" y="1208"/>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5" name="Line 73">
              <a:extLst>
                <a:ext uri="{FF2B5EF4-FFF2-40B4-BE49-F238E27FC236}">
                  <a16:creationId xmlns:a16="http://schemas.microsoft.com/office/drawing/2014/main" id="{2EDBB92A-35BF-6AB5-536F-533CC8C2ADB3}"/>
                </a:ext>
              </a:extLst>
            </p:cNvPr>
            <p:cNvSpPr>
              <a:spLocks noChangeShapeType="1"/>
            </p:cNvSpPr>
            <p:nvPr/>
          </p:nvSpPr>
          <p:spPr bwMode="auto">
            <a:xfrm flipV="1">
              <a:off x="3506" y="1208"/>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6" name="Line 74">
              <a:extLst>
                <a:ext uri="{FF2B5EF4-FFF2-40B4-BE49-F238E27FC236}">
                  <a16:creationId xmlns:a16="http://schemas.microsoft.com/office/drawing/2014/main" id="{FF89F14F-F6A1-6DE8-9CAA-7C71B56672E3}"/>
                </a:ext>
              </a:extLst>
            </p:cNvPr>
            <p:cNvSpPr>
              <a:spLocks noChangeShapeType="1"/>
            </p:cNvSpPr>
            <p:nvPr/>
          </p:nvSpPr>
          <p:spPr bwMode="auto">
            <a:xfrm flipV="1">
              <a:off x="4066" y="1212"/>
              <a:ext cx="0" cy="267"/>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ChangeArrowheads="1"/>
          </p:cNvSpPr>
          <p:nvPr/>
        </p:nvSpPr>
        <p:spPr bwMode="auto">
          <a:xfrm>
            <a:off x="828675" y="1733550"/>
            <a:ext cx="73152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spcBef>
                <a:spcPct val="0"/>
              </a:spcBef>
            </a:pPr>
            <a:r>
              <a:rPr lang="en-US" altLang="zh-CN" dirty="0">
                <a:solidFill>
                  <a:srgbClr val="00007E"/>
                </a:solidFill>
                <a:latin typeface="黑体" pitchFamily="2" charset="-122"/>
                <a:ea typeface="黑体" pitchFamily="2" charset="-122"/>
              </a:rPr>
              <a:t>  ①</a:t>
            </a:r>
            <a:r>
              <a:rPr lang="zh-CN" altLang="en-US" dirty="0">
                <a:solidFill>
                  <a:srgbClr val="00007E"/>
                </a:solidFill>
                <a:latin typeface="黑体" pitchFamily="2" charset="-122"/>
                <a:ea typeface="黑体" pitchFamily="2" charset="-122"/>
              </a:rPr>
              <a:t>把</a:t>
            </a:r>
            <a:r>
              <a:rPr lang="zh-CN" altLang="en-US" dirty="0">
                <a:solidFill>
                  <a:srgbClr val="CC3300"/>
                </a:solidFill>
                <a:latin typeface="黑体" pitchFamily="2" charset="-122"/>
                <a:ea typeface="黑体" pitchFamily="2" charset="-122"/>
              </a:rPr>
              <a:t>互斥性</a:t>
            </a:r>
            <a:r>
              <a:rPr lang="zh-CN" altLang="en-US" dirty="0">
                <a:solidFill>
                  <a:srgbClr val="00007E"/>
                </a:solidFill>
                <a:latin typeface="黑体" pitchFamily="2" charset="-122"/>
                <a:ea typeface="黑体" pitchFamily="2" charset="-122"/>
              </a:rPr>
              <a:t>的微命令分在同一段内，相容性的微命令分在</a:t>
            </a:r>
            <a:r>
              <a:rPr lang="zh-CN" altLang="en-US" dirty="0">
                <a:solidFill>
                  <a:srgbClr val="FF0000"/>
                </a:solidFill>
                <a:latin typeface="黑体" pitchFamily="2" charset="-122"/>
                <a:ea typeface="黑体" pitchFamily="2" charset="-122"/>
              </a:rPr>
              <a:t>不同段</a:t>
            </a:r>
            <a:r>
              <a:rPr lang="zh-CN" altLang="en-US" dirty="0">
                <a:solidFill>
                  <a:srgbClr val="00007E"/>
                </a:solidFill>
                <a:latin typeface="黑体" pitchFamily="2" charset="-122"/>
                <a:ea typeface="黑体" pitchFamily="2" charset="-122"/>
              </a:rPr>
              <a:t>内。</a:t>
            </a:r>
          </a:p>
          <a:p>
            <a:pPr indent="266700">
              <a:spcBef>
                <a:spcPct val="0"/>
              </a:spcBef>
            </a:pPr>
            <a:r>
              <a:rPr lang="zh-CN" altLang="en-US" dirty="0">
                <a:solidFill>
                  <a:srgbClr val="00007E"/>
                </a:solidFill>
                <a:latin typeface="黑体" pitchFamily="2" charset="-122"/>
                <a:ea typeface="黑体" pitchFamily="2" charset="-122"/>
              </a:rPr>
              <a:t>  ②应与数据通路结构相适应。</a:t>
            </a:r>
          </a:p>
          <a:p>
            <a:pPr indent="266700">
              <a:spcBef>
                <a:spcPct val="0"/>
              </a:spcBef>
            </a:pPr>
            <a:r>
              <a:rPr lang="zh-CN" altLang="en-US" dirty="0">
                <a:solidFill>
                  <a:srgbClr val="00007E"/>
                </a:solidFill>
                <a:latin typeface="黑体" pitchFamily="2" charset="-122"/>
                <a:ea typeface="黑体" pitchFamily="2" charset="-122"/>
              </a:rPr>
              <a:t>  ③每个小段中包含的信息位不能太多，否则将增加译码线路的复杂性和译码时间。</a:t>
            </a:r>
          </a:p>
          <a:p>
            <a:pPr indent="266700">
              <a:spcBef>
                <a:spcPct val="0"/>
              </a:spcBef>
            </a:pPr>
            <a:r>
              <a:rPr lang="zh-CN" altLang="en-US" dirty="0">
                <a:solidFill>
                  <a:srgbClr val="00007E"/>
                </a:solidFill>
                <a:latin typeface="黑体" pitchFamily="2" charset="-122"/>
                <a:ea typeface="黑体" pitchFamily="2" charset="-122"/>
              </a:rPr>
              <a:t>  ④一般每个小段还要留出一个状态，表示本字段不发出任何微命令。</a:t>
            </a:r>
          </a:p>
        </p:txBody>
      </p:sp>
      <p:sp>
        <p:nvSpPr>
          <p:cNvPr id="97283" name="Rectangle 4"/>
          <p:cNvSpPr>
            <a:spLocks noChangeArrowheads="1"/>
          </p:cNvSpPr>
          <p:nvPr/>
        </p:nvSpPr>
        <p:spPr bwMode="auto">
          <a:xfrm>
            <a:off x="904875" y="129540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字段编码法中操作控制字段的分段原则</a:t>
            </a:r>
          </a:p>
        </p:txBody>
      </p:sp>
      <p:sp>
        <p:nvSpPr>
          <p:cNvPr id="97284"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up)">
                                      <p:cBhvr>
                                        <p:cTn id="7" dur="500"/>
                                        <p:tgtEl>
                                          <p:spTgt spid="91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up)">
                                      <p:cBhvr>
                                        <p:cTn id="12" dur="500"/>
                                        <p:tgtEl>
                                          <p:spTgt spid="91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1139">
                                            <p:txEl>
                                              <p:pRg st="2" end="2"/>
                                            </p:txEl>
                                          </p:spTgt>
                                        </p:tgtEl>
                                        <p:attrNameLst>
                                          <p:attrName>style.visibility</p:attrName>
                                        </p:attrNameLst>
                                      </p:cBhvr>
                                      <p:to>
                                        <p:strVal val="visible"/>
                                      </p:to>
                                    </p:set>
                                    <p:animEffect transition="in" filter="wipe(up)">
                                      <p:cBhvr>
                                        <p:cTn id="17" dur="500"/>
                                        <p:tgtEl>
                                          <p:spTgt spid="911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1139">
                                            <p:txEl>
                                              <p:pRg st="3" end="3"/>
                                            </p:txEl>
                                          </p:spTgt>
                                        </p:tgtEl>
                                        <p:attrNameLst>
                                          <p:attrName>style.visibility</p:attrName>
                                        </p:attrNameLst>
                                      </p:cBhvr>
                                      <p:to>
                                        <p:strVal val="visible"/>
                                      </p:to>
                                    </p:set>
                                    <p:animEffect transition="in" filter="wipe(up)">
                                      <p:cBhvr>
                                        <p:cTn id="22" dur="500"/>
                                        <p:tgtEl>
                                          <p:spTgt spid="911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9F563637-3770-BF9B-27E0-F3C4E36CB110}"/>
              </a:ext>
            </a:extLst>
          </p:cNvPr>
          <p:cNvPicPr>
            <a:picLocks noChangeAspect="1"/>
          </p:cNvPicPr>
          <p:nvPr/>
        </p:nvPicPr>
        <p:blipFill>
          <a:blip r:embed="rId2"/>
          <a:stretch>
            <a:fillRect/>
          </a:stretch>
        </p:blipFill>
        <p:spPr>
          <a:xfrm>
            <a:off x="409575" y="1166812"/>
            <a:ext cx="8324850" cy="4524375"/>
          </a:xfrm>
          <a:prstGeom prst="rect">
            <a:avLst/>
          </a:prstGeom>
        </p:spPr>
      </p:pic>
    </p:spTree>
    <p:extLst>
      <p:ext uri="{BB962C8B-B14F-4D97-AF65-F5344CB8AC3E}">
        <p14:creationId xmlns:p14="http://schemas.microsoft.com/office/powerpoint/2010/main" val="581982169"/>
      </p:ext>
    </p:extLst>
  </p:cSld>
  <p:clrMapOvr>
    <a:masterClrMapping/>
  </p:clrMapOvr>
  <p:transition>
    <p:wipe dir="d"/>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ABCE541D-4ADC-06FF-E710-702C8B997F50}"/>
              </a:ext>
            </a:extLst>
          </p:cNvPr>
          <p:cNvPicPr>
            <a:picLocks noChangeAspect="1"/>
          </p:cNvPicPr>
          <p:nvPr/>
        </p:nvPicPr>
        <p:blipFill>
          <a:blip r:embed="rId2"/>
          <a:stretch>
            <a:fillRect/>
          </a:stretch>
        </p:blipFill>
        <p:spPr>
          <a:xfrm>
            <a:off x="1005539" y="1111919"/>
            <a:ext cx="2686050" cy="495300"/>
          </a:xfrm>
          <a:prstGeom prst="rect">
            <a:avLst/>
          </a:prstGeom>
        </p:spPr>
      </p:pic>
      <p:pic>
        <p:nvPicPr>
          <p:cNvPr id="5" name="图片 4">
            <a:extLst>
              <a:ext uri="{FF2B5EF4-FFF2-40B4-BE49-F238E27FC236}">
                <a16:creationId xmlns:a16="http://schemas.microsoft.com/office/drawing/2014/main" id="{192B085C-56FE-1A4E-A29D-FAFF59C7981D}"/>
              </a:ext>
            </a:extLst>
          </p:cNvPr>
          <p:cNvPicPr>
            <a:picLocks noChangeAspect="1"/>
          </p:cNvPicPr>
          <p:nvPr/>
        </p:nvPicPr>
        <p:blipFill>
          <a:blip r:embed="rId3"/>
          <a:stretch>
            <a:fillRect/>
          </a:stretch>
        </p:blipFill>
        <p:spPr>
          <a:xfrm>
            <a:off x="269934" y="1873166"/>
            <a:ext cx="8604131" cy="3526607"/>
          </a:xfrm>
          <a:prstGeom prst="rect">
            <a:avLst/>
          </a:prstGeom>
        </p:spPr>
      </p:pic>
    </p:spTree>
    <p:extLst>
      <p:ext uri="{BB962C8B-B14F-4D97-AF65-F5344CB8AC3E}">
        <p14:creationId xmlns:p14="http://schemas.microsoft.com/office/powerpoint/2010/main" val="2029612166"/>
      </p:ext>
    </p:extLst>
  </p:cSld>
  <p:clrMapOvr>
    <a:masterClrMapping/>
  </p:clrMapOvr>
  <p:transition>
    <p:wipe di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7F3E671E-FF58-AD30-350A-27546C00B56B}"/>
              </a:ext>
            </a:extLst>
          </p:cNvPr>
          <p:cNvPicPr>
            <a:picLocks noChangeAspect="1"/>
          </p:cNvPicPr>
          <p:nvPr/>
        </p:nvPicPr>
        <p:blipFill>
          <a:blip r:embed="rId2"/>
          <a:stretch>
            <a:fillRect/>
          </a:stretch>
        </p:blipFill>
        <p:spPr>
          <a:xfrm>
            <a:off x="814137" y="1112018"/>
            <a:ext cx="2895600" cy="514350"/>
          </a:xfrm>
          <a:prstGeom prst="rect">
            <a:avLst/>
          </a:prstGeom>
        </p:spPr>
      </p:pic>
      <p:pic>
        <p:nvPicPr>
          <p:cNvPr id="5" name="图片 4">
            <a:extLst>
              <a:ext uri="{FF2B5EF4-FFF2-40B4-BE49-F238E27FC236}">
                <a16:creationId xmlns:a16="http://schemas.microsoft.com/office/drawing/2014/main" id="{1C602B70-38B7-64FD-36D3-6FBBE15377E0}"/>
              </a:ext>
            </a:extLst>
          </p:cNvPr>
          <p:cNvPicPr>
            <a:picLocks noChangeAspect="1"/>
          </p:cNvPicPr>
          <p:nvPr/>
        </p:nvPicPr>
        <p:blipFill>
          <a:blip r:embed="rId3"/>
          <a:stretch>
            <a:fillRect/>
          </a:stretch>
        </p:blipFill>
        <p:spPr>
          <a:xfrm>
            <a:off x="350287" y="1626368"/>
            <a:ext cx="8443426" cy="4168002"/>
          </a:xfrm>
          <a:prstGeom prst="rect">
            <a:avLst/>
          </a:prstGeom>
        </p:spPr>
      </p:pic>
    </p:spTree>
    <p:extLst>
      <p:ext uri="{BB962C8B-B14F-4D97-AF65-F5344CB8AC3E}">
        <p14:creationId xmlns:p14="http://schemas.microsoft.com/office/powerpoint/2010/main" val="2792038887"/>
      </p:ext>
    </p:extLst>
  </p:cSld>
  <p:clrMapOvr>
    <a:masterClrMapping/>
  </p:clrMapOvr>
  <p:transition>
    <p:wipe dir="d"/>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grpSp>
        <p:nvGrpSpPr>
          <p:cNvPr id="5" name="组合 4">
            <a:extLst>
              <a:ext uri="{FF2B5EF4-FFF2-40B4-BE49-F238E27FC236}">
                <a16:creationId xmlns:a16="http://schemas.microsoft.com/office/drawing/2014/main" id="{38D7148A-0EE1-34B0-197B-1616C1B976D7}"/>
              </a:ext>
            </a:extLst>
          </p:cNvPr>
          <p:cNvGrpSpPr/>
          <p:nvPr/>
        </p:nvGrpSpPr>
        <p:grpSpPr>
          <a:xfrm>
            <a:off x="84429" y="1143977"/>
            <a:ext cx="8975141" cy="4570045"/>
            <a:chOff x="84429" y="1143977"/>
            <a:chExt cx="8975141" cy="4570045"/>
          </a:xfrm>
        </p:grpSpPr>
        <p:pic>
          <p:nvPicPr>
            <p:cNvPr id="3" name="图片 2">
              <a:extLst>
                <a:ext uri="{FF2B5EF4-FFF2-40B4-BE49-F238E27FC236}">
                  <a16:creationId xmlns:a16="http://schemas.microsoft.com/office/drawing/2014/main" id="{F59E222D-91CA-6ADE-4906-EA79DC393824}"/>
                </a:ext>
              </a:extLst>
            </p:cNvPr>
            <p:cNvPicPr>
              <a:picLocks noChangeAspect="1"/>
            </p:cNvPicPr>
            <p:nvPr/>
          </p:nvPicPr>
          <p:blipFill>
            <a:blip r:embed="rId2"/>
            <a:stretch>
              <a:fillRect/>
            </a:stretch>
          </p:blipFill>
          <p:spPr>
            <a:xfrm>
              <a:off x="84429" y="1143977"/>
              <a:ext cx="8975141" cy="4570045"/>
            </a:xfrm>
            <a:prstGeom prst="rect">
              <a:avLst/>
            </a:prstGeom>
          </p:spPr>
        </p:pic>
        <p:sp>
          <p:nvSpPr>
            <p:cNvPr id="4" name="文本框 3">
              <a:extLst>
                <a:ext uri="{FF2B5EF4-FFF2-40B4-BE49-F238E27FC236}">
                  <a16:creationId xmlns:a16="http://schemas.microsoft.com/office/drawing/2014/main" id="{3E45405C-2ADA-CD32-6322-4B7DF1AC546D}"/>
                </a:ext>
              </a:extLst>
            </p:cNvPr>
            <p:cNvSpPr txBox="1"/>
            <p:nvPr/>
          </p:nvSpPr>
          <p:spPr>
            <a:xfrm>
              <a:off x="154004" y="1143977"/>
              <a:ext cx="444484" cy="525657"/>
            </a:xfrm>
            <a:prstGeom prst="rect">
              <a:avLst/>
            </a:prstGeom>
            <a:solidFill>
              <a:schemeClr val="accent3"/>
            </a:solidFill>
          </p:spPr>
          <p:txBody>
            <a:bodyPr wrap="square" rtlCol="0">
              <a:spAutoFit/>
            </a:bodyPr>
            <a:lstStyle/>
            <a:p>
              <a:endParaRPr lang="zh-CN" altLang="en-US" dirty="0"/>
            </a:p>
          </p:txBody>
        </p:sp>
      </p:grpSp>
    </p:spTree>
    <p:extLst>
      <p:ext uri="{BB962C8B-B14F-4D97-AF65-F5344CB8AC3E}">
        <p14:creationId xmlns:p14="http://schemas.microsoft.com/office/powerpoint/2010/main" val="3590137769"/>
      </p:ext>
    </p:extLst>
  </p:cSld>
  <p:clrMapOvr>
    <a:masterClrMapping/>
  </p:clrMapOvr>
  <p:transition>
    <p:wipe di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767A31BD-2D65-17B8-1AC7-0078DC13AC9E}"/>
              </a:ext>
            </a:extLst>
          </p:cNvPr>
          <p:cNvPicPr>
            <a:picLocks noChangeAspect="1"/>
          </p:cNvPicPr>
          <p:nvPr/>
        </p:nvPicPr>
        <p:blipFill>
          <a:blip r:embed="rId2"/>
          <a:stretch>
            <a:fillRect/>
          </a:stretch>
        </p:blipFill>
        <p:spPr>
          <a:xfrm>
            <a:off x="57150" y="1209675"/>
            <a:ext cx="9029700" cy="4438650"/>
          </a:xfrm>
          <a:prstGeom prst="rect">
            <a:avLst/>
          </a:prstGeom>
        </p:spPr>
      </p:pic>
      <p:sp>
        <p:nvSpPr>
          <p:cNvPr id="4" name="文本框 3">
            <a:extLst>
              <a:ext uri="{FF2B5EF4-FFF2-40B4-BE49-F238E27FC236}">
                <a16:creationId xmlns:a16="http://schemas.microsoft.com/office/drawing/2014/main" id="{14DD1CAB-8ED8-E82E-82DE-939CC0A17CDE}"/>
              </a:ext>
            </a:extLst>
          </p:cNvPr>
          <p:cNvSpPr txBox="1"/>
          <p:nvPr/>
        </p:nvSpPr>
        <p:spPr>
          <a:xfrm>
            <a:off x="163629" y="1209675"/>
            <a:ext cx="434859" cy="525657"/>
          </a:xfrm>
          <a:prstGeom prst="rect">
            <a:avLst/>
          </a:prstGeom>
          <a:solidFill>
            <a:schemeClr val="accent3"/>
          </a:solidFill>
        </p:spPr>
        <p:txBody>
          <a:bodyPr wrap="square" rtlCol="0">
            <a:spAutoFit/>
          </a:bodyPr>
          <a:lstStyle/>
          <a:p>
            <a:endParaRPr lang="zh-CN" altLang="en-US" dirty="0"/>
          </a:p>
        </p:txBody>
      </p:sp>
    </p:spTree>
    <p:extLst>
      <p:ext uri="{BB962C8B-B14F-4D97-AF65-F5344CB8AC3E}">
        <p14:creationId xmlns:p14="http://schemas.microsoft.com/office/powerpoint/2010/main" val="2034816566"/>
      </p:ext>
    </p:extLst>
  </p:cSld>
  <p:clrMapOvr>
    <a:masterClrMapping/>
  </p:clrMapOvr>
  <p:transition>
    <p:wipe dir="d"/>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ChangeArrowheads="1"/>
          </p:cNvSpPr>
          <p:nvPr/>
        </p:nvSpPr>
        <p:spPr bwMode="auto">
          <a:xfrm>
            <a:off x="598488" y="5715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dirty="0">
                <a:solidFill>
                  <a:srgbClr val="990000"/>
                </a:solidFill>
                <a:latin typeface="黑体" pitchFamily="2" charset="-122"/>
                <a:ea typeface="黑体" pitchFamily="2" charset="-122"/>
              </a:rPr>
              <a:t>6.5.3 </a:t>
            </a:r>
            <a:r>
              <a:rPr lang="zh-CN" altLang="en-US">
                <a:solidFill>
                  <a:srgbClr val="990000"/>
                </a:solidFill>
                <a:latin typeface="黑体" pitchFamily="2" charset="-122"/>
                <a:ea typeface="黑体" pitchFamily="2" charset="-122"/>
              </a:rPr>
              <a:t>微指令编码法</a:t>
            </a:r>
          </a:p>
        </p:txBody>
      </p:sp>
      <p:pic>
        <p:nvPicPr>
          <p:cNvPr id="3" name="图片 2">
            <a:extLst>
              <a:ext uri="{FF2B5EF4-FFF2-40B4-BE49-F238E27FC236}">
                <a16:creationId xmlns:a16="http://schemas.microsoft.com/office/drawing/2014/main" id="{11623292-0DA3-BD0B-8F7C-BA602EF7B618}"/>
              </a:ext>
            </a:extLst>
          </p:cNvPr>
          <p:cNvPicPr>
            <a:picLocks noChangeAspect="1"/>
          </p:cNvPicPr>
          <p:nvPr/>
        </p:nvPicPr>
        <p:blipFill>
          <a:blip r:embed="rId2"/>
          <a:stretch>
            <a:fillRect/>
          </a:stretch>
        </p:blipFill>
        <p:spPr>
          <a:xfrm>
            <a:off x="877302" y="1294498"/>
            <a:ext cx="5928721" cy="4220778"/>
          </a:xfrm>
          <a:prstGeom prst="rect">
            <a:avLst/>
          </a:prstGeom>
        </p:spPr>
      </p:pic>
    </p:spTree>
    <p:extLst>
      <p:ext uri="{BB962C8B-B14F-4D97-AF65-F5344CB8AC3E}">
        <p14:creationId xmlns:p14="http://schemas.microsoft.com/office/powerpoint/2010/main" val="1732913011"/>
      </p:ext>
    </p:extLst>
  </p:cSld>
  <p:clrMapOvr>
    <a:masterClrMapping/>
  </p:clrMapOvr>
  <p:transition>
    <p:wipe dir="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4"/>
          <p:cNvSpPr>
            <a:spLocks noChangeArrowheads="1"/>
          </p:cNvSpPr>
          <p:nvPr/>
        </p:nvSpPr>
        <p:spPr bwMode="auto">
          <a:xfrm>
            <a:off x="425302" y="780170"/>
            <a:ext cx="8718698" cy="402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0"/>
              </a:spcBef>
            </a:pPr>
            <a:r>
              <a:rPr lang="en-US" altLang="zh-CN" dirty="0">
                <a:solidFill>
                  <a:srgbClr val="00007E"/>
                </a:solidFill>
                <a:latin typeface="黑体" pitchFamily="2" charset="-122"/>
                <a:ea typeface="黑体" pitchFamily="2" charset="-122"/>
              </a:rPr>
              <a:t>1.</a:t>
            </a:r>
            <a:r>
              <a:rPr lang="zh-CN" altLang="en-US" dirty="0">
                <a:solidFill>
                  <a:srgbClr val="00007E"/>
                </a:solidFill>
                <a:latin typeface="黑体" pitchFamily="2" charset="-122"/>
                <a:ea typeface="黑体" pitchFamily="2" charset="-122"/>
              </a:rPr>
              <a:t>当公用的取指微程序从主存中取出机器指令之后，由下列寄存器中，汇编程序员可见的是（ ） </a:t>
            </a:r>
            <a:endParaRPr lang="en-US" altLang="zh-CN" dirty="0">
              <a:solidFill>
                <a:srgbClr val="00007E"/>
              </a:solidFill>
              <a:latin typeface="黑体" pitchFamily="2" charset="-122"/>
              <a:ea typeface="黑体" pitchFamily="2" charset="-122"/>
            </a:endParaRPr>
          </a:p>
          <a:p>
            <a:pPr>
              <a:lnSpc>
                <a:spcPct val="120000"/>
              </a:lnSpc>
              <a:spcBef>
                <a:spcPct val="0"/>
              </a:spcBef>
            </a:pPr>
            <a:r>
              <a:rPr lang="en-US" altLang="zh-CN" dirty="0">
                <a:solidFill>
                  <a:srgbClr val="00007E"/>
                </a:solidFill>
                <a:latin typeface="黑体" pitchFamily="2" charset="-122"/>
                <a:ea typeface="黑体" pitchFamily="2" charset="-122"/>
              </a:rPr>
              <a:t>   A.MAR   B. PC   C. MDR   D. IR </a:t>
            </a:r>
          </a:p>
          <a:p>
            <a:pPr>
              <a:lnSpc>
                <a:spcPct val="120000"/>
              </a:lnSpc>
              <a:spcBef>
                <a:spcPct val="0"/>
              </a:spcBef>
            </a:pPr>
            <a:r>
              <a:rPr lang="en-US" altLang="zh-CN" dirty="0">
                <a:solidFill>
                  <a:srgbClr val="00007E"/>
                </a:solidFill>
                <a:latin typeface="黑体" pitchFamily="2" charset="-122"/>
                <a:ea typeface="黑体" pitchFamily="2" charset="-122"/>
              </a:rPr>
              <a:t>2.</a:t>
            </a:r>
            <a:r>
              <a:rPr lang="zh-CN" altLang="en-US" dirty="0">
                <a:solidFill>
                  <a:srgbClr val="00007E"/>
                </a:solidFill>
                <a:latin typeface="黑体" pitchFamily="2" charset="-122"/>
                <a:ea typeface="黑体" pitchFamily="2" charset="-122"/>
              </a:rPr>
              <a:t>在一条无条件转移指令的指令周期内，</a:t>
            </a:r>
            <a:r>
              <a:rPr lang="en-US" altLang="zh-CN" dirty="0">
                <a:solidFill>
                  <a:srgbClr val="00007E"/>
                </a:solidFill>
                <a:latin typeface="黑体" pitchFamily="2" charset="-122"/>
                <a:ea typeface="黑体" pitchFamily="2" charset="-122"/>
              </a:rPr>
              <a:t>PC</a:t>
            </a:r>
            <a:r>
              <a:rPr lang="zh-CN" altLang="en-US" dirty="0">
                <a:solidFill>
                  <a:srgbClr val="00007E"/>
                </a:solidFill>
                <a:latin typeface="黑体" pitchFamily="2" charset="-122"/>
                <a:ea typeface="黑体" pitchFamily="2" charset="-122"/>
              </a:rPr>
              <a:t>的值被修改（ ）次 </a:t>
            </a:r>
            <a:endParaRPr lang="en-US" altLang="zh-CN" dirty="0">
              <a:solidFill>
                <a:srgbClr val="00007E"/>
              </a:solidFill>
              <a:latin typeface="黑体" pitchFamily="2" charset="-122"/>
              <a:ea typeface="黑体" pitchFamily="2" charset="-122"/>
            </a:endParaRPr>
          </a:p>
          <a:p>
            <a:pPr>
              <a:lnSpc>
                <a:spcPct val="120000"/>
              </a:lnSpc>
              <a:spcBef>
                <a:spcPct val="0"/>
              </a:spcBef>
            </a:pPr>
            <a:r>
              <a:rPr lang="en-US" altLang="zh-CN" dirty="0">
                <a:solidFill>
                  <a:srgbClr val="00007E"/>
                </a:solidFill>
                <a:latin typeface="黑体" pitchFamily="2" charset="-122"/>
                <a:ea typeface="黑体" pitchFamily="2" charset="-122"/>
              </a:rPr>
              <a:t>   A.1     B.2     C. 3     D. </a:t>
            </a:r>
            <a:r>
              <a:rPr lang="zh-CN" altLang="en-US" dirty="0">
                <a:solidFill>
                  <a:srgbClr val="00007E"/>
                </a:solidFill>
                <a:latin typeface="黑体" pitchFamily="2" charset="-122"/>
                <a:ea typeface="黑体" pitchFamily="2" charset="-122"/>
              </a:rPr>
              <a:t>无法确定 </a:t>
            </a:r>
            <a:endParaRPr lang="en-US" altLang="zh-CN" dirty="0">
              <a:solidFill>
                <a:srgbClr val="00007E"/>
              </a:solidFill>
              <a:latin typeface="黑体" pitchFamily="2" charset="-122"/>
              <a:ea typeface="黑体" pitchFamily="2" charset="-122"/>
            </a:endParaRPr>
          </a:p>
          <a:p>
            <a:pPr>
              <a:lnSpc>
                <a:spcPct val="120000"/>
              </a:lnSpc>
              <a:spcBef>
                <a:spcPct val="0"/>
              </a:spcBef>
            </a:pPr>
            <a:r>
              <a:rPr lang="en-US" altLang="zh-CN" dirty="0">
                <a:solidFill>
                  <a:srgbClr val="00007E"/>
                </a:solidFill>
                <a:latin typeface="黑体" pitchFamily="2" charset="-122"/>
                <a:ea typeface="黑体" pitchFamily="2" charset="-122"/>
              </a:rPr>
              <a:t>3.</a:t>
            </a:r>
            <a:r>
              <a:rPr lang="zh-CN" altLang="en-US" dirty="0">
                <a:solidFill>
                  <a:srgbClr val="00007E"/>
                </a:solidFill>
                <a:latin typeface="黑体" pitchFamily="2" charset="-122"/>
                <a:ea typeface="黑体" pitchFamily="2" charset="-122"/>
              </a:rPr>
              <a:t>某计算机采用微程序控制方式，微指令中 的操作控制字段采用字段直接编码法，共有</a:t>
            </a:r>
            <a:r>
              <a:rPr lang="en-US" altLang="zh-CN" dirty="0">
                <a:solidFill>
                  <a:srgbClr val="00007E"/>
                </a:solidFill>
                <a:latin typeface="黑体" pitchFamily="2" charset="-122"/>
                <a:ea typeface="黑体" pitchFamily="2" charset="-122"/>
              </a:rPr>
              <a:t>33</a:t>
            </a:r>
            <a:r>
              <a:rPr lang="zh-CN" altLang="en-US" dirty="0">
                <a:solidFill>
                  <a:srgbClr val="00007E"/>
                </a:solidFill>
                <a:latin typeface="黑体" pitchFamily="2" charset="-122"/>
                <a:ea typeface="黑体" pitchFamily="2" charset="-122"/>
              </a:rPr>
              <a:t>个微命令，构成</a:t>
            </a:r>
            <a:r>
              <a:rPr lang="en-US" altLang="zh-CN" dirty="0">
                <a:solidFill>
                  <a:srgbClr val="00007E"/>
                </a:solidFill>
                <a:latin typeface="黑体" pitchFamily="2" charset="-122"/>
                <a:ea typeface="黑体" pitchFamily="2" charset="-122"/>
              </a:rPr>
              <a:t>5</a:t>
            </a:r>
            <a:r>
              <a:rPr lang="zh-CN" altLang="en-US" dirty="0">
                <a:solidFill>
                  <a:srgbClr val="00007E"/>
                </a:solidFill>
                <a:latin typeface="黑体" pitchFamily="2" charset="-122"/>
                <a:ea typeface="黑体" pitchFamily="2" charset="-122"/>
              </a:rPr>
              <a:t>个互斥类，分别包含</a:t>
            </a:r>
            <a:r>
              <a:rPr lang="en-US" altLang="zh-CN" dirty="0">
                <a:solidFill>
                  <a:srgbClr val="00007E"/>
                </a:solidFill>
                <a:latin typeface="黑体" pitchFamily="2" charset="-122"/>
                <a:ea typeface="黑体" pitchFamily="2" charset="-122"/>
              </a:rPr>
              <a:t>7</a:t>
            </a:r>
            <a:r>
              <a:rPr lang="zh-CN" altLang="en-US" dirty="0">
                <a:solidFill>
                  <a:srgbClr val="00007E"/>
                </a:solidFill>
                <a:latin typeface="黑体" pitchFamily="2" charset="-122"/>
                <a:ea typeface="黑体" pitchFamily="2" charset="-122"/>
              </a:rPr>
              <a:t>、</a:t>
            </a:r>
            <a:r>
              <a:rPr lang="en-US" altLang="zh-CN" dirty="0">
                <a:solidFill>
                  <a:srgbClr val="00007E"/>
                </a:solidFill>
                <a:latin typeface="黑体" pitchFamily="2" charset="-122"/>
                <a:ea typeface="黑体" pitchFamily="2" charset="-122"/>
              </a:rPr>
              <a:t>3</a:t>
            </a:r>
            <a:r>
              <a:rPr lang="zh-CN" altLang="en-US" dirty="0">
                <a:solidFill>
                  <a:srgbClr val="00007E"/>
                </a:solidFill>
                <a:latin typeface="黑体" pitchFamily="2" charset="-122"/>
                <a:ea typeface="黑体" pitchFamily="2" charset="-122"/>
              </a:rPr>
              <a:t>、</a:t>
            </a:r>
            <a:r>
              <a:rPr lang="en-US" altLang="zh-CN" dirty="0">
                <a:solidFill>
                  <a:srgbClr val="00007E"/>
                </a:solidFill>
                <a:latin typeface="黑体" pitchFamily="2" charset="-122"/>
                <a:ea typeface="黑体" pitchFamily="2" charset="-122"/>
              </a:rPr>
              <a:t>12</a:t>
            </a:r>
            <a:r>
              <a:rPr lang="zh-CN" altLang="en-US" dirty="0">
                <a:solidFill>
                  <a:srgbClr val="00007E"/>
                </a:solidFill>
                <a:latin typeface="黑体" pitchFamily="2" charset="-122"/>
                <a:ea typeface="黑体" pitchFamily="2" charset="-122"/>
              </a:rPr>
              <a:t>、</a:t>
            </a:r>
            <a:r>
              <a:rPr lang="en-US" altLang="zh-CN" dirty="0">
                <a:solidFill>
                  <a:srgbClr val="00007E"/>
                </a:solidFill>
                <a:latin typeface="黑体" pitchFamily="2" charset="-122"/>
                <a:ea typeface="黑体" pitchFamily="2" charset="-122"/>
              </a:rPr>
              <a:t>5</a:t>
            </a:r>
            <a:r>
              <a:rPr lang="zh-CN" altLang="en-US" dirty="0">
                <a:solidFill>
                  <a:srgbClr val="00007E"/>
                </a:solidFill>
                <a:latin typeface="黑体" pitchFamily="2" charset="-122"/>
                <a:ea typeface="黑体" pitchFamily="2" charset="-122"/>
              </a:rPr>
              <a:t>和</a:t>
            </a:r>
            <a:r>
              <a:rPr lang="en-US" altLang="zh-CN" dirty="0">
                <a:solidFill>
                  <a:srgbClr val="00007E"/>
                </a:solidFill>
                <a:latin typeface="黑体" pitchFamily="2" charset="-122"/>
                <a:ea typeface="黑体" pitchFamily="2" charset="-122"/>
              </a:rPr>
              <a:t>6</a:t>
            </a:r>
            <a:r>
              <a:rPr lang="zh-CN" altLang="en-US" dirty="0">
                <a:solidFill>
                  <a:srgbClr val="00007E"/>
                </a:solidFill>
                <a:latin typeface="黑体" pitchFamily="2" charset="-122"/>
                <a:ea typeface="黑体" pitchFamily="2" charset="-122"/>
              </a:rPr>
              <a:t>个微命令，则 操作控制字段至少有</a:t>
            </a:r>
            <a:r>
              <a:rPr lang="en-US" altLang="zh-CN" dirty="0">
                <a:solidFill>
                  <a:srgbClr val="00007E"/>
                </a:solidFill>
                <a:latin typeface="黑体" pitchFamily="2" charset="-122"/>
                <a:ea typeface="黑体" pitchFamily="2" charset="-122"/>
              </a:rPr>
              <a:t>( ) </a:t>
            </a:r>
          </a:p>
          <a:p>
            <a:pPr>
              <a:lnSpc>
                <a:spcPct val="120000"/>
              </a:lnSpc>
              <a:spcBef>
                <a:spcPct val="0"/>
              </a:spcBef>
            </a:pPr>
            <a:r>
              <a:rPr lang="en-US" altLang="zh-CN" dirty="0">
                <a:solidFill>
                  <a:srgbClr val="00007E"/>
                </a:solidFill>
                <a:latin typeface="黑体" pitchFamily="2" charset="-122"/>
                <a:ea typeface="黑体" pitchFamily="2" charset="-122"/>
              </a:rPr>
              <a:t>   A.5</a:t>
            </a:r>
            <a:r>
              <a:rPr lang="zh-CN" altLang="en-US" dirty="0">
                <a:solidFill>
                  <a:srgbClr val="00007E"/>
                </a:solidFill>
                <a:latin typeface="黑体" pitchFamily="2" charset="-122"/>
                <a:ea typeface="黑体" pitchFamily="2" charset="-122"/>
              </a:rPr>
              <a:t>位   </a:t>
            </a:r>
            <a:r>
              <a:rPr lang="en-US" altLang="zh-CN" dirty="0">
                <a:solidFill>
                  <a:srgbClr val="00007E"/>
                </a:solidFill>
                <a:latin typeface="黑体" pitchFamily="2" charset="-122"/>
                <a:ea typeface="黑体" pitchFamily="2" charset="-122"/>
              </a:rPr>
              <a:t>B.6</a:t>
            </a:r>
            <a:r>
              <a:rPr lang="zh-CN" altLang="en-US" dirty="0">
                <a:solidFill>
                  <a:srgbClr val="00007E"/>
                </a:solidFill>
                <a:latin typeface="黑体" pitchFamily="2" charset="-122"/>
                <a:ea typeface="黑体" pitchFamily="2" charset="-122"/>
              </a:rPr>
              <a:t>位   </a:t>
            </a:r>
            <a:r>
              <a:rPr lang="en-US" altLang="zh-CN" dirty="0">
                <a:solidFill>
                  <a:srgbClr val="00007E"/>
                </a:solidFill>
                <a:latin typeface="黑体" pitchFamily="2" charset="-122"/>
                <a:ea typeface="黑体" pitchFamily="2" charset="-122"/>
              </a:rPr>
              <a:t>C. 15</a:t>
            </a:r>
            <a:r>
              <a:rPr lang="zh-CN" altLang="en-US" dirty="0">
                <a:solidFill>
                  <a:srgbClr val="00007E"/>
                </a:solidFill>
                <a:latin typeface="黑体" pitchFamily="2" charset="-122"/>
                <a:ea typeface="黑体" pitchFamily="2" charset="-122"/>
              </a:rPr>
              <a:t>位    </a:t>
            </a:r>
            <a:r>
              <a:rPr lang="en-US" altLang="zh-CN" dirty="0">
                <a:solidFill>
                  <a:srgbClr val="00007E"/>
                </a:solidFill>
                <a:latin typeface="黑体" pitchFamily="2" charset="-122"/>
                <a:ea typeface="黑体" pitchFamily="2" charset="-122"/>
              </a:rPr>
              <a:t>D. 33  </a:t>
            </a:r>
            <a:endParaRPr lang="zh-CN" altLang="en-US" dirty="0">
              <a:solidFill>
                <a:srgbClr val="00007E"/>
              </a:solidFill>
              <a:latin typeface="黑体" pitchFamily="2" charset="-122"/>
              <a:ea typeface="黑体" pitchFamily="2" charset="-122"/>
            </a:endParaRPr>
          </a:p>
        </p:txBody>
      </p:sp>
      <p:pic>
        <p:nvPicPr>
          <p:cNvPr id="3" name="图片 2">
            <a:extLst>
              <a:ext uri="{FF2B5EF4-FFF2-40B4-BE49-F238E27FC236}">
                <a16:creationId xmlns:a16="http://schemas.microsoft.com/office/drawing/2014/main" id="{6B578BDA-3E49-AC1F-494E-A9EFDFF15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360" y="2527819"/>
            <a:ext cx="4196095" cy="2190706"/>
          </a:xfrm>
          <a:prstGeom prst="rect">
            <a:avLst/>
          </a:prstGeom>
        </p:spPr>
      </p:pic>
      <p:sp>
        <p:nvSpPr>
          <p:cNvPr id="7" name="文本框 6">
            <a:extLst>
              <a:ext uri="{FF2B5EF4-FFF2-40B4-BE49-F238E27FC236}">
                <a16:creationId xmlns:a16="http://schemas.microsoft.com/office/drawing/2014/main" id="{4582B9CF-49DD-01E3-6509-7DA88BB880C9}"/>
              </a:ext>
            </a:extLst>
          </p:cNvPr>
          <p:cNvSpPr txBox="1"/>
          <p:nvPr/>
        </p:nvSpPr>
        <p:spPr>
          <a:xfrm>
            <a:off x="351143" y="5004435"/>
            <a:ext cx="7991650" cy="1323439"/>
          </a:xfrm>
          <a:prstGeom prst="rect">
            <a:avLst/>
          </a:prstGeom>
          <a:noFill/>
        </p:spPr>
        <p:txBody>
          <a:bodyPr wrap="square">
            <a:spAutoFit/>
          </a:bodyPr>
          <a:lstStyle/>
          <a:p>
            <a:pPr>
              <a:lnSpc>
                <a:spcPct val="100000"/>
              </a:lnSpc>
            </a:pPr>
            <a:r>
              <a:rPr lang="zh-CN" altLang="en-US" sz="2000" b="0" i="0" dirty="0">
                <a:solidFill>
                  <a:srgbClr val="000000"/>
                </a:solidFill>
                <a:effectLst/>
                <a:latin typeface="Helvetica Neue"/>
              </a:rPr>
              <a:t>一条无条件跳转指令的指令周期内，</a:t>
            </a:r>
            <a:r>
              <a:rPr lang="en-US" altLang="zh-CN" sz="2000" b="0" i="0" dirty="0">
                <a:solidFill>
                  <a:srgbClr val="000000"/>
                </a:solidFill>
                <a:effectLst/>
                <a:latin typeface="Helvetica Neue"/>
              </a:rPr>
              <a:t>PC</a:t>
            </a:r>
            <a:r>
              <a:rPr lang="zh-CN" altLang="en-US" sz="2000" b="0" i="0" dirty="0">
                <a:solidFill>
                  <a:srgbClr val="000000"/>
                </a:solidFill>
                <a:effectLst/>
                <a:latin typeface="Helvetica Neue"/>
              </a:rPr>
              <a:t>的值被修改了</a:t>
            </a:r>
            <a:r>
              <a:rPr lang="en-US" altLang="zh-CN" sz="2000" b="0" i="0" dirty="0">
                <a:solidFill>
                  <a:srgbClr val="000000"/>
                </a:solidFill>
                <a:effectLst/>
                <a:latin typeface="Helvetica Neue"/>
              </a:rPr>
              <a:t>2</a:t>
            </a:r>
            <a:r>
              <a:rPr lang="zh-CN" altLang="en-US" sz="2000" b="0" i="0" dirty="0">
                <a:solidFill>
                  <a:srgbClr val="000000"/>
                </a:solidFill>
                <a:effectLst/>
                <a:latin typeface="Helvetica Neue"/>
              </a:rPr>
              <a:t>次。</a:t>
            </a:r>
            <a:endParaRPr lang="en-US" altLang="zh-CN" sz="2000" b="0" i="0" dirty="0">
              <a:solidFill>
                <a:srgbClr val="000000"/>
              </a:solidFill>
              <a:effectLst/>
              <a:latin typeface="Helvetica Neue"/>
            </a:endParaRPr>
          </a:p>
          <a:p>
            <a:pPr>
              <a:lnSpc>
                <a:spcPct val="100000"/>
              </a:lnSpc>
            </a:pPr>
            <a:r>
              <a:rPr lang="zh-CN" altLang="en-US" sz="2000" b="0" i="0" dirty="0">
                <a:solidFill>
                  <a:srgbClr val="000000"/>
                </a:solidFill>
                <a:effectLst/>
                <a:latin typeface="Helvetica Neue"/>
              </a:rPr>
              <a:t>取指周期结束后，</a:t>
            </a:r>
            <a:r>
              <a:rPr lang="en-US" altLang="zh-CN" sz="2000" b="0" i="0" dirty="0">
                <a:solidFill>
                  <a:srgbClr val="000000"/>
                </a:solidFill>
                <a:effectLst/>
                <a:latin typeface="Helvetica Neue"/>
              </a:rPr>
              <a:t>PC</a:t>
            </a:r>
            <a:r>
              <a:rPr lang="zh-CN" altLang="en-US" sz="2000" b="0" i="0" dirty="0">
                <a:solidFill>
                  <a:srgbClr val="000000"/>
                </a:solidFill>
                <a:effectLst/>
                <a:latin typeface="Helvetica Neue"/>
              </a:rPr>
              <a:t>值自动加</a:t>
            </a:r>
            <a:r>
              <a:rPr lang="en-US" altLang="zh-CN" sz="2000" b="0" i="0" dirty="0">
                <a:solidFill>
                  <a:srgbClr val="000000"/>
                </a:solidFill>
                <a:effectLst/>
                <a:latin typeface="Helvetica Neue"/>
              </a:rPr>
              <a:t>1</a:t>
            </a:r>
            <a:r>
              <a:rPr lang="zh-CN" altLang="en-US" sz="2000" b="0" i="0" dirty="0">
                <a:solidFill>
                  <a:srgbClr val="000000"/>
                </a:solidFill>
                <a:effectLst/>
                <a:latin typeface="Helvetica Neue"/>
              </a:rPr>
              <a:t>；</a:t>
            </a:r>
            <a:endParaRPr lang="en-US" altLang="zh-CN" sz="2000" b="0" i="0" dirty="0">
              <a:solidFill>
                <a:srgbClr val="000000"/>
              </a:solidFill>
              <a:effectLst/>
              <a:latin typeface="Helvetica Neue"/>
            </a:endParaRPr>
          </a:p>
          <a:p>
            <a:pPr>
              <a:lnSpc>
                <a:spcPct val="100000"/>
              </a:lnSpc>
            </a:pPr>
            <a:r>
              <a:rPr lang="zh-CN" altLang="en-US" sz="2000" b="0" i="0" dirty="0">
                <a:solidFill>
                  <a:srgbClr val="000000"/>
                </a:solidFill>
                <a:effectLst/>
                <a:latin typeface="Helvetica Neue"/>
              </a:rPr>
              <a:t>执行周期中，</a:t>
            </a:r>
            <a:r>
              <a:rPr lang="en-US" altLang="zh-CN" sz="2000" b="0" i="0" dirty="0">
                <a:solidFill>
                  <a:srgbClr val="000000"/>
                </a:solidFill>
                <a:effectLst/>
                <a:latin typeface="Helvetica Neue"/>
              </a:rPr>
              <a:t>PC</a:t>
            </a:r>
            <a:r>
              <a:rPr lang="zh-CN" altLang="en-US" sz="2000" b="0" i="0" dirty="0">
                <a:solidFill>
                  <a:srgbClr val="000000"/>
                </a:solidFill>
                <a:effectLst/>
                <a:latin typeface="Helvetica Neue"/>
              </a:rPr>
              <a:t>值修改为要跳转的地址。</a:t>
            </a:r>
            <a:endParaRPr lang="zh-CN" altLang="en-US" sz="2000" dirty="0"/>
          </a:p>
        </p:txBody>
      </p:sp>
      <p:sp>
        <p:nvSpPr>
          <p:cNvPr id="9" name="文本框 8">
            <a:extLst>
              <a:ext uri="{FF2B5EF4-FFF2-40B4-BE49-F238E27FC236}">
                <a16:creationId xmlns:a16="http://schemas.microsoft.com/office/drawing/2014/main" id="{FAE6B970-3A11-F683-5ED4-BDEB16581549}"/>
              </a:ext>
            </a:extLst>
          </p:cNvPr>
          <p:cNvSpPr txBox="1"/>
          <p:nvPr/>
        </p:nvSpPr>
        <p:spPr>
          <a:xfrm>
            <a:off x="301137" y="4836632"/>
            <a:ext cx="8718698" cy="1659044"/>
          </a:xfrm>
          <a:prstGeom prst="rect">
            <a:avLst/>
          </a:prstGeom>
          <a:noFill/>
        </p:spPr>
        <p:txBody>
          <a:bodyPr wrap="square">
            <a:spAutoFit/>
          </a:bodyPr>
          <a:lstStyle/>
          <a:p>
            <a:r>
              <a:rPr lang="zh-CN" altLang="en-US" sz="2000" b="0" i="0" dirty="0">
                <a:solidFill>
                  <a:srgbClr val="4D4D4D"/>
                </a:solidFill>
                <a:effectLst/>
                <a:latin typeface="-apple-system"/>
              </a:rPr>
              <a:t>字段直接编码就是把微命令多个段，段的数目等于互斥类的数目。因此这里分为</a:t>
            </a:r>
            <a:r>
              <a:rPr lang="en-US" altLang="zh-CN" sz="2000" b="0" i="0" dirty="0">
                <a:solidFill>
                  <a:srgbClr val="4D4D4D"/>
                </a:solidFill>
                <a:effectLst/>
                <a:latin typeface="-apple-system"/>
              </a:rPr>
              <a:t>5</a:t>
            </a:r>
            <a:r>
              <a:rPr lang="zh-CN" altLang="en-US" sz="2000" b="0" i="0" dirty="0">
                <a:solidFill>
                  <a:srgbClr val="4D4D4D"/>
                </a:solidFill>
                <a:effectLst/>
                <a:latin typeface="-apple-system"/>
              </a:rPr>
              <a:t>个段，每段里要</a:t>
            </a:r>
            <a:r>
              <a:rPr lang="zh-CN" altLang="en-US" sz="2000" b="1" i="0" dirty="0">
                <a:solidFill>
                  <a:srgbClr val="4D4D4D"/>
                </a:solidFill>
                <a:effectLst/>
                <a:latin typeface="-apple-system"/>
              </a:rPr>
              <a:t>留一个离散状态表示自己没命令</a:t>
            </a:r>
            <a:r>
              <a:rPr lang="zh-CN" altLang="en-US" sz="2000" b="0" i="0" dirty="0">
                <a:solidFill>
                  <a:srgbClr val="4D4D4D"/>
                </a:solidFill>
                <a:effectLst/>
                <a:latin typeface="-apple-system"/>
              </a:rPr>
              <a:t>。所以</a:t>
            </a:r>
            <a:r>
              <a:rPr lang="en-US" altLang="zh-CN" sz="2000" b="0" i="0" dirty="0">
                <a:solidFill>
                  <a:srgbClr val="4D4D4D"/>
                </a:solidFill>
                <a:effectLst/>
                <a:latin typeface="-apple-system"/>
              </a:rPr>
              <a:t>7</a:t>
            </a:r>
            <a:r>
              <a:rPr lang="zh-CN" altLang="en-US" sz="2000" b="0" i="0" dirty="0">
                <a:solidFill>
                  <a:srgbClr val="4D4D4D"/>
                </a:solidFill>
                <a:effectLst/>
                <a:latin typeface="-apple-system"/>
              </a:rPr>
              <a:t>个微命令对应</a:t>
            </a:r>
            <a:r>
              <a:rPr lang="en-US" altLang="zh-CN" sz="2000" b="1" i="0" dirty="0">
                <a:solidFill>
                  <a:srgbClr val="4D4D4D"/>
                </a:solidFill>
                <a:effectLst/>
                <a:latin typeface="-apple-system"/>
              </a:rPr>
              <a:t>3</a:t>
            </a:r>
            <a:r>
              <a:rPr lang="zh-CN" altLang="en-US" sz="2000" b="0" i="0" dirty="0">
                <a:solidFill>
                  <a:srgbClr val="4D4D4D"/>
                </a:solidFill>
                <a:effectLst/>
                <a:latin typeface="-apple-system"/>
              </a:rPr>
              <a:t>位，</a:t>
            </a:r>
            <a:r>
              <a:rPr lang="en-US" altLang="zh-CN" sz="2000" b="0" i="0" dirty="0">
                <a:solidFill>
                  <a:srgbClr val="4D4D4D"/>
                </a:solidFill>
                <a:effectLst/>
                <a:latin typeface="-apple-system"/>
              </a:rPr>
              <a:t>3</a:t>
            </a:r>
            <a:r>
              <a:rPr lang="zh-CN" altLang="en-US" sz="2000" b="0" i="0" dirty="0">
                <a:solidFill>
                  <a:srgbClr val="4D4D4D"/>
                </a:solidFill>
                <a:effectLst/>
                <a:latin typeface="-apple-system"/>
              </a:rPr>
              <a:t>个微命令对应</a:t>
            </a:r>
            <a:r>
              <a:rPr lang="en-US" altLang="zh-CN" sz="2000" b="1" i="0" dirty="0">
                <a:solidFill>
                  <a:srgbClr val="4D4D4D"/>
                </a:solidFill>
                <a:effectLst/>
                <a:latin typeface="-apple-system"/>
              </a:rPr>
              <a:t>2</a:t>
            </a:r>
            <a:r>
              <a:rPr lang="zh-CN" altLang="en-US" sz="2000" b="0" i="0" dirty="0">
                <a:solidFill>
                  <a:srgbClr val="4D4D4D"/>
                </a:solidFill>
                <a:effectLst/>
                <a:latin typeface="-apple-system"/>
              </a:rPr>
              <a:t>位，</a:t>
            </a:r>
            <a:r>
              <a:rPr lang="en-US" altLang="zh-CN" sz="2000" b="0" i="0" dirty="0">
                <a:solidFill>
                  <a:srgbClr val="4D4D4D"/>
                </a:solidFill>
                <a:effectLst/>
                <a:latin typeface="-apple-system"/>
              </a:rPr>
              <a:t>12</a:t>
            </a:r>
            <a:r>
              <a:rPr lang="zh-CN" altLang="en-US" sz="2000" b="0" i="0" dirty="0">
                <a:solidFill>
                  <a:srgbClr val="4D4D4D"/>
                </a:solidFill>
                <a:effectLst/>
                <a:latin typeface="-apple-system"/>
              </a:rPr>
              <a:t>个微命令对应</a:t>
            </a:r>
            <a:r>
              <a:rPr lang="en-US" altLang="zh-CN" sz="2000" b="1" i="0" dirty="0">
                <a:solidFill>
                  <a:srgbClr val="4D4D4D"/>
                </a:solidFill>
                <a:effectLst/>
                <a:latin typeface="-apple-system"/>
              </a:rPr>
              <a:t>4</a:t>
            </a:r>
            <a:r>
              <a:rPr lang="zh-CN" altLang="en-US" sz="2000" b="0" i="0" dirty="0">
                <a:solidFill>
                  <a:srgbClr val="4D4D4D"/>
                </a:solidFill>
                <a:effectLst/>
                <a:latin typeface="-apple-system"/>
              </a:rPr>
              <a:t>位，</a:t>
            </a:r>
            <a:r>
              <a:rPr lang="en-US" altLang="zh-CN" sz="2000" b="0" i="0" dirty="0">
                <a:solidFill>
                  <a:srgbClr val="4D4D4D"/>
                </a:solidFill>
                <a:effectLst/>
                <a:latin typeface="-apple-system"/>
              </a:rPr>
              <a:t>5</a:t>
            </a:r>
            <a:r>
              <a:rPr lang="zh-CN" altLang="en-US" sz="2000" b="0" i="0" dirty="0">
                <a:solidFill>
                  <a:srgbClr val="4D4D4D"/>
                </a:solidFill>
                <a:effectLst/>
                <a:latin typeface="-apple-system"/>
              </a:rPr>
              <a:t>个微命令对应</a:t>
            </a:r>
            <a:r>
              <a:rPr lang="en-US" altLang="zh-CN" sz="2000" b="1" i="0" dirty="0">
                <a:solidFill>
                  <a:srgbClr val="4D4D4D"/>
                </a:solidFill>
                <a:effectLst/>
                <a:latin typeface="-apple-system"/>
              </a:rPr>
              <a:t>3</a:t>
            </a:r>
            <a:r>
              <a:rPr lang="zh-CN" altLang="en-US" sz="2000" b="0" i="0" dirty="0">
                <a:solidFill>
                  <a:srgbClr val="4D4D4D"/>
                </a:solidFill>
                <a:effectLst/>
                <a:latin typeface="-apple-system"/>
              </a:rPr>
              <a:t>位，</a:t>
            </a:r>
            <a:r>
              <a:rPr lang="en-US" altLang="zh-CN" sz="2000" b="0" i="0" dirty="0">
                <a:solidFill>
                  <a:srgbClr val="4D4D4D"/>
                </a:solidFill>
                <a:effectLst/>
                <a:latin typeface="-apple-system"/>
              </a:rPr>
              <a:t>6</a:t>
            </a:r>
            <a:r>
              <a:rPr lang="zh-CN" altLang="en-US" sz="2000" b="0" i="0" dirty="0">
                <a:solidFill>
                  <a:srgbClr val="4D4D4D"/>
                </a:solidFill>
                <a:effectLst/>
                <a:latin typeface="-apple-system"/>
              </a:rPr>
              <a:t>个微命令对应</a:t>
            </a:r>
            <a:r>
              <a:rPr lang="en-US" altLang="zh-CN" sz="2000" b="1" i="0" dirty="0">
                <a:solidFill>
                  <a:srgbClr val="4D4D4D"/>
                </a:solidFill>
                <a:effectLst/>
                <a:latin typeface="-apple-system"/>
              </a:rPr>
              <a:t>3</a:t>
            </a:r>
            <a:r>
              <a:rPr lang="zh-CN" altLang="en-US" sz="2000" b="0" i="0" dirty="0">
                <a:solidFill>
                  <a:srgbClr val="4D4D4D"/>
                </a:solidFill>
                <a:effectLst/>
                <a:latin typeface="-apple-system"/>
              </a:rPr>
              <a:t>位，共</a:t>
            </a:r>
            <a:r>
              <a:rPr lang="en-US" altLang="zh-CN" sz="2000" b="0" i="0" dirty="0">
                <a:solidFill>
                  <a:srgbClr val="4D4D4D"/>
                </a:solidFill>
                <a:effectLst/>
                <a:latin typeface="-apple-system"/>
              </a:rPr>
              <a:t>15</a:t>
            </a:r>
            <a:r>
              <a:rPr lang="zh-CN" altLang="en-US" sz="2000" b="0" i="0" dirty="0">
                <a:solidFill>
                  <a:srgbClr val="4D4D4D"/>
                </a:solidFill>
                <a:effectLst/>
                <a:latin typeface="-apple-system"/>
              </a:rPr>
              <a:t>位。</a:t>
            </a:r>
            <a:endParaRPr lang="zh-CN" alt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431800" y="2493963"/>
            <a:ext cx="80645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spAutoFit/>
          </a:bodyPr>
          <a:lstStyle/>
          <a:p>
            <a:pPr indent="228600" algn="just">
              <a:lnSpc>
                <a:spcPct val="120000"/>
              </a:lnSpc>
              <a:spcBef>
                <a:spcPct val="0"/>
              </a:spcBef>
            </a:pPr>
            <a:r>
              <a:rPr lang="en-US" altLang="zh-CN" dirty="0">
                <a:latin typeface="黑体" pitchFamily="2" charset="-122"/>
                <a:ea typeface="黑体" pitchFamily="2" charset="-122"/>
              </a:rPr>
              <a:t>  </a:t>
            </a:r>
            <a:r>
              <a:rPr lang="en-US" altLang="zh-CN" dirty="0">
                <a:solidFill>
                  <a:srgbClr val="00007E"/>
                </a:solidFill>
                <a:latin typeface="黑体" pitchFamily="2" charset="-122"/>
                <a:ea typeface="黑体" pitchFamily="2" charset="-122"/>
              </a:rPr>
              <a:t>1)</a:t>
            </a:r>
            <a:r>
              <a:rPr lang="zh-CN" altLang="en-US">
                <a:solidFill>
                  <a:srgbClr val="00007E"/>
                </a:solidFill>
                <a:latin typeface="黑体" pitchFamily="2" charset="-122"/>
                <a:ea typeface="黑体" pitchFamily="2" charset="-122"/>
              </a:rPr>
              <a:t>一级功能转换</a:t>
            </a:r>
          </a:p>
          <a:p>
            <a:pPr indent="228600" algn="just">
              <a:lnSpc>
                <a:spcPct val="120000"/>
              </a:lnSpc>
              <a:spcBef>
                <a:spcPct val="0"/>
              </a:spcBef>
            </a:pPr>
            <a:r>
              <a:rPr lang="zh-CN" altLang="en-US">
                <a:solidFill>
                  <a:srgbClr val="00007E"/>
                </a:solidFill>
                <a:latin typeface="黑体" pitchFamily="2" charset="-122"/>
                <a:ea typeface="黑体" pitchFamily="2" charset="-122"/>
              </a:rPr>
              <a:t>  直接使操作码与入口地址码的部分位相对应。也可用</a:t>
            </a:r>
            <a:r>
              <a:rPr lang="en-US" altLang="zh-CN" dirty="0">
                <a:solidFill>
                  <a:srgbClr val="00007E"/>
                </a:solidFill>
                <a:latin typeface="黑体" pitchFamily="2" charset="-122"/>
                <a:ea typeface="黑体" pitchFamily="2" charset="-122"/>
              </a:rPr>
              <a:t>PLA </a:t>
            </a:r>
            <a:r>
              <a:rPr lang="zh-CN" altLang="en-US">
                <a:solidFill>
                  <a:srgbClr val="00007E"/>
                </a:solidFill>
                <a:latin typeface="黑体" pitchFamily="2" charset="-122"/>
                <a:ea typeface="黑体" pitchFamily="2" charset="-122"/>
              </a:rPr>
              <a:t>电路实现。</a:t>
            </a:r>
          </a:p>
          <a:p>
            <a:pPr indent="228600" algn="just">
              <a:lnSpc>
                <a:spcPct val="50000"/>
              </a:lnSpc>
              <a:spcBef>
                <a:spcPct val="0"/>
              </a:spcBef>
            </a:pPr>
            <a:endParaRPr lang="zh-CN" altLang="en-US">
              <a:solidFill>
                <a:srgbClr val="00007E"/>
              </a:solidFill>
              <a:latin typeface="黑体" pitchFamily="2" charset="-122"/>
              <a:ea typeface="黑体" pitchFamily="2" charset="-122"/>
            </a:endParaRPr>
          </a:p>
          <a:p>
            <a:pPr indent="228600" algn="just">
              <a:lnSpc>
                <a:spcPct val="120000"/>
              </a:lnSpc>
              <a:spcBef>
                <a:spcPct val="0"/>
              </a:spcBef>
            </a:pPr>
            <a:r>
              <a:rPr lang="zh-CN" altLang="en-US">
                <a:solidFill>
                  <a:srgbClr val="00007E"/>
                </a:solidFill>
                <a:latin typeface="黑体" pitchFamily="2" charset="-122"/>
                <a:ea typeface="黑体" pitchFamily="2" charset="-122"/>
              </a:rPr>
              <a:t>  </a:t>
            </a:r>
            <a:r>
              <a:rPr lang="en-US" altLang="zh-CN" dirty="0">
                <a:solidFill>
                  <a:srgbClr val="00007E"/>
                </a:solidFill>
                <a:latin typeface="黑体" pitchFamily="2" charset="-122"/>
                <a:ea typeface="黑体" pitchFamily="2" charset="-122"/>
              </a:rPr>
              <a:t>2)</a:t>
            </a:r>
            <a:r>
              <a:rPr lang="zh-CN" altLang="en-US">
                <a:solidFill>
                  <a:srgbClr val="00007E"/>
                </a:solidFill>
                <a:latin typeface="黑体" pitchFamily="2" charset="-122"/>
                <a:ea typeface="黑体" pitchFamily="2" charset="-122"/>
              </a:rPr>
              <a:t>二级功能转换</a:t>
            </a:r>
          </a:p>
          <a:p>
            <a:pPr indent="228600" algn="just">
              <a:lnSpc>
                <a:spcPct val="120000"/>
              </a:lnSpc>
              <a:spcBef>
                <a:spcPct val="0"/>
              </a:spcBef>
            </a:pPr>
            <a:r>
              <a:rPr lang="zh-CN" altLang="en-US">
                <a:solidFill>
                  <a:srgbClr val="00007E"/>
                </a:solidFill>
                <a:latin typeface="黑体" pitchFamily="2" charset="-122"/>
                <a:ea typeface="黑体" pitchFamily="2" charset="-122"/>
              </a:rPr>
              <a:t>  第一次先按指令类型标志转移，以区分出指令属于哪一类，第二次即可按操作码区分出具体是哪条指令，找出相应微程序的入口微地址。</a:t>
            </a:r>
          </a:p>
        </p:txBody>
      </p:sp>
      <p:sp>
        <p:nvSpPr>
          <p:cNvPr id="98307" name="Rectangle 3"/>
          <p:cNvSpPr>
            <a:spLocks noChangeArrowheads="1"/>
          </p:cNvSpPr>
          <p:nvPr/>
        </p:nvSpPr>
        <p:spPr bwMode="auto">
          <a:xfrm>
            <a:off x="595313" y="561975"/>
            <a:ext cx="4999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6.5.4 </a:t>
            </a:r>
            <a:r>
              <a:rPr lang="zh-CN" altLang="en-US">
                <a:solidFill>
                  <a:srgbClr val="990000"/>
                </a:solidFill>
                <a:latin typeface="黑体" pitchFamily="2" charset="-122"/>
                <a:ea typeface="黑体" pitchFamily="2" charset="-122"/>
              </a:rPr>
              <a:t>微程序入口地址的形成</a:t>
            </a:r>
          </a:p>
        </p:txBody>
      </p:sp>
      <p:sp>
        <p:nvSpPr>
          <p:cNvPr id="98308" name="Rectangle 4"/>
          <p:cNvSpPr>
            <a:spLocks noChangeArrowheads="1"/>
          </p:cNvSpPr>
          <p:nvPr/>
        </p:nvSpPr>
        <p:spPr bwMode="auto">
          <a:xfrm>
            <a:off x="684213" y="1025525"/>
            <a:ext cx="7883525"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solidFill>
                  <a:srgbClr val="00007E"/>
                </a:solidFill>
                <a:latin typeface="黑体" pitchFamily="2" charset="-122"/>
                <a:ea typeface="黑体" pitchFamily="2" charset="-122"/>
              </a:rPr>
              <a:t>    </a:t>
            </a:r>
            <a:r>
              <a:rPr lang="zh-CN" altLang="en-US">
                <a:solidFill>
                  <a:srgbClr val="00007E"/>
                </a:solidFill>
                <a:latin typeface="黑体" pitchFamily="2" charset="-122"/>
                <a:ea typeface="黑体" pitchFamily="2" charset="-122"/>
              </a:rPr>
              <a:t>当公用的取指微程序从主存中取出机器指令之后，由机器指令的操作码字段指出各个微程序的入口地址（初始微地址）。主要方式有：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3778">
                                            <p:txEl>
                                              <p:pRg st="0" end="0"/>
                                            </p:txEl>
                                          </p:spTgt>
                                        </p:tgtEl>
                                        <p:attrNameLst>
                                          <p:attrName>style.visibility</p:attrName>
                                        </p:attrNameLst>
                                      </p:cBhvr>
                                      <p:to>
                                        <p:strVal val="visible"/>
                                      </p:to>
                                    </p:set>
                                    <p:animEffect transition="in" filter="wipe(up)">
                                      <p:cBhvr>
                                        <p:cTn id="7" dur="500"/>
                                        <p:tgtEl>
                                          <p:spTgt spid="2037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03778">
                                            <p:txEl>
                                              <p:pRg st="1" end="1"/>
                                            </p:txEl>
                                          </p:spTgt>
                                        </p:tgtEl>
                                        <p:attrNameLst>
                                          <p:attrName>style.visibility</p:attrName>
                                        </p:attrNameLst>
                                      </p:cBhvr>
                                      <p:to>
                                        <p:strVal val="visible"/>
                                      </p:to>
                                    </p:set>
                                    <p:animEffect transition="in" filter="wipe(up)">
                                      <p:cBhvr>
                                        <p:cTn id="12" dur="500"/>
                                        <p:tgtEl>
                                          <p:spTgt spid="2037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03778">
                                            <p:txEl>
                                              <p:pRg st="3" end="3"/>
                                            </p:txEl>
                                          </p:spTgt>
                                        </p:tgtEl>
                                        <p:attrNameLst>
                                          <p:attrName>style.visibility</p:attrName>
                                        </p:attrNameLst>
                                      </p:cBhvr>
                                      <p:to>
                                        <p:strVal val="visible"/>
                                      </p:to>
                                    </p:set>
                                    <p:animEffect transition="in" filter="wipe(up)">
                                      <p:cBhvr>
                                        <p:cTn id="17" dur="500"/>
                                        <p:tgtEl>
                                          <p:spTgt spid="203778">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03778">
                                            <p:txEl>
                                              <p:pRg st="4" end="4"/>
                                            </p:txEl>
                                          </p:spTgt>
                                        </p:tgtEl>
                                        <p:attrNameLst>
                                          <p:attrName>style.visibility</p:attrName>
                                        </p:attrNameLst>
                                      </p:cBhvr>
                                      <p:to>
                                        <p:strVal val="visible"/>
                                      </p:to>
                                    </p:set>
                                    <p:animEffect transition="in" filter="wipe(up)">
                                      <p:cBhvr>
                                        <p:cTn id="22" dur="500"/>
                                        <p:tgtEl>
                                          <p:spTgt spid="2037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595313" y="561975"/>
            <a:ext cx="4999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6.5.4 </a:t>
            </a:r>
            <a:r>
              <a:rPr lang="zh-CN" altLang="en-US">
                <a:solidFill>
                  <a:srgbClr val="990000"/>
                </a:solidFill>
                <a:latin typeface="黑体" pitchFamily="2" charset="-122"/>
                <a:ea typeface="黑体" pitchFamily="2" charset="-122"/>
              </a:rPr>
              <a:t>微程序入口地址的形成</a:t>
            </a:r>
          </a:p>
        </p:txBody>
      </p:sp>
      <p:sp>
        <p:nvSpPr>
          <p:cNvPr id="99331" name="Text Box 44"/>
          <p:cNvSpPr txBox="1">
            <a:spLocks noChangeArrowheads="1"/>
          </p:cNvSpPr>
          <p:nvPr/>
        </p:nvSpPr>
        <p:spPr bwMode="auto">
          <a:xfrm>
            <a:off x="1963738" y="5524500"/>
            <a:ext cx="48037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zh-CN" altLang="en-US">
                <a:latin typeface="黑体" pitchFamily="2" charset="-122"/>
                <a:ea typeface="黑体" pitchFamily="2" charset="-122"/>
              </a:rPr>
              <a:t>一级功能转移示意图</a:t>
            </a:r>
          </a:p>
        </p:txBody>
      </p:sp>
      <p:grpSp>
        <p:nvGrpSpPr>
          <p:cNvPr id="99332" name="Group 43"/>
          <p:cNvGrpSpPr>
            <a:grpSpLocks/>
          </p:cNvGrpSpPr>
          <p:nvPr/>
        </p:nvGrpSpPr>
        <p:grpSpPr bwMode="auto">
          <a:xfrm>
            <a:off x="1973263" y="1287463"/>
            <a:ext cx="4167187" cy="3946525"/>
            <a:chOff x="1019" y="774"/>
            <a:chExt cx="2625" cy="2486"/>
          </a:xfrm>
        </p:grpSpPr>
        <p:grpSp>
          <p:nvGrpSpPr>
            <p:cNvPr id="99333" name="Group 34"/>
            <p:cNvGrpSpPr>
              <a:grpSpLocks/>
            </p:cNvGrpSpPr>
            <p:nvPr/>
          </p:nvGrpSpPr>
          <p:grpSpPr bwMode="auto">
            <a:xfrm>
              <a:off x="2353" y="1042"/>
              <a:ext cx="425" cy="607"/>
              <a:chOff x="2353" y="1000"/>
              <a:chExt cx="425" cy="607"/>
            </a:xfrm>
          </p:grpSpPr>
          <p:sp>
            <p:nvSpPr>
              <p:cNvPr id="99364" name="Rectangle 6"/>
              <p:cNvSpPr>
                <a:spLocks noChangeArrowheads="1"/>
              </p:cNvSpPr>
              <p:nvPr/>
            </p:nvSpPr>
            <p:spPr bwMode="auto">
              <a:xfrm>
                <a:off x="2353" y="1000"/>
                <a:ext cx="425" cy="607"/>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9365" name="Text Box 7"/>
              <p:cNvSpPr txBox="1">
                <a:spLocks noChangeArrowheads="1"/>
              </p:cNvSpPr>
              <p:nvPr/>
            </p:nvSpPr>
            <p:spPr bwMode="auto">
              <a:xfrm>
                <a:off x="2477" y="1078"/>
                <a:ext cx="22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r>
                  <a:rPr lang="zh-CN" altLang="en-US" sz="1800">
                    <a:latin typeface="黑体" pitchFamily="2" charset="-122"/>
                    <a:ea typeface="黑体" pitchFamily="2" charset="-122"/>
                  </a:rPr>
                  <a:t>公用段</a:t>
                </a:r>
              </a:p>
            </p:txBody>
          </p:sp>
        </p:grpSp>
        <p:grpSp>
          <p:nvGrpSpPr>
            <p:cNvPr id="99334" name="Group 11"/>
            <p:cNvGrpSpPr>
              <a:grpSpLocks/>
            </p:cNvGrpSpPr>
            <p:nvPr/>
          </p:nvGrpSpPr>
          <p:grpSpPr bwMode="auto">
            <a:xfrm>
              <a:off x="1449" y="2159"/>
              <a:ext cx="425" cy="607"/>
              <a:chOff x="1449" y="2159"/>
              <a:chExt cx="425" cy="607"/>
            </a:xfrm>
          </p:grpSpPr>
          <p:sp>
            <p:nvSpPr>
              <p:cNvPr id="99361" name="Rectangle 8"/>
              <p:cNvSpPr>
                <a:spLocks noChangeArrowheads="1"/>
              </p:cNvSpPr>
              <p:nvPr/>
            </p:nvSpPr>
            <p:spPr bwMode="auto">
              <a:xfrm>
                <a:off x="1449" y="2159"/>
                <a:ext cx="425" cy="607"/>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9362" name="Text Box 9"/>
              <p:cNvSpPr txBox="1">
                <a:spLocks noChangeArrowheads="1"/>
              </p:cNvSpPr>
              <p:nvPr/>
            </p:nvSpPr>
            <p:spPr bwMode="auto">
              <a:xfrm>
                <a:off x="1561" y="2202"/>
                <a:ext cx="22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指令</a:t>
                </a:r>
              </a:p>
            </p:txBody>
          </p:sp>
          <p:sp>
            <p:nvSpPr>
              <p:cNvPr id="99363" name="Text Box 10"/>
              <p:cNvSpPr txBox="1">
                <a:spLocks noChangeArrowheads="1"/>
              </p:cNvSpPr>
              <p:nvPr/>
            </p:nvSpPr>
            <p:spPr bwMode="auto">
              <a:xfrm>
                <a:off x="1449" y="2159"/>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MOV</a:t>
                </a:r>
              </a:p>
            </p:txBody>
          </p:sp>
        </p:grpSp>
        <p:grpSp>
          <p:nvGrpSpPr>
            <p:cNvPr id="99335" name="Group 12"/>
            <p:cNvGrpSpPr>
              <a:grpSpLocks/>
            </p:cNvGrpSpPr>
            <p:nvPr/>
          </p:nvGrpSpPr>
          <p:grpSpPr bwMode="auto">
            <a:xfrm>
              <a:off x="2134" y="2153"/>
              <a:ext cx="425" cy="607"/>
              <a:chOff x="1449" y="2159"/>
              <a:chExt cx="425" cy="607"/>
            </a:xfrm>
          </p:grpSpPr>
          <p:sp>
            <p:nvSpPr>
              <p:cNvPr id="99358" name="Rectangle 13"/>
              <p:cNvSpPr>
                <a:spLocks noChangeArrowheads="1"/>
              </p:cNvSpPr>
              <p:nvPr/>
            </p:nvSpPr>
            <p:spPr bwMode="auto">
              <a:xfrm>
                <a:off x="1449" y="2159"/>
                <a:ext cx="425" cy="607"/>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9359" name="Text Box 14"/>
              <p:cNvSpPr txBox="1">
                <a:spLocks noChangeArrowheads="1"/>
              </p:cNvSpPr>
              <p:nvPr/>
            </p:nvSpPr>
            <p:spPr bwMode="auto">
              <a:xfrm>
                <a:off x="1561" y="2202"/>
                <a:ext cx="22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指令</a:t>
                </a:r>
              </a:p>
            </p:txBody>
          </p:sp>
          <p:sp>
            <p:nvSpPr>
              <p:cNvPr id="99360" name="Text Box 15"/>
              <p:cNvSpPr txBox="1">
                <a:spLocks noChangeArrowheads="1"/>
              </p:cNvSpPr>
              <p:nvPr/>
            </p:nvSpPr>
            <p:spPr bwMode="auto">
              <a:xfrm>
                <a:off x="1449" y="2159"/>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ADD</a:t>
                </a:r>
              </a:p>
            </p:txBody>
          </p:sp>
        </p:grpSp>
        <p:grpSp>
          <p:nvGrpSpPr>
            <p:cNvPr id="99336" name="Group 16"/>
            <p:cNvGrpSpPr>
              <a:grpSpLocks/>
            </p:cNvGrpSpPr>
            <p:nvPr/>
          </p:nvGrpSpPr>
          <p:grpSpPr bwMode="auto">
            <a:xfrm>
              <a:off x="3219" y="2148"/>
              <a:ext cx="425" cy="607"/>
              <a:chOff x="1449" y="2159"/>
              <a:chExt cx="425" cy="607"/>
            </a:xfrm>
          </p:grpSpPr>
          <p:sp>
            <p:nvSpPr>
              <p:cNvPr id="99355" name="Rectangle 17"/>
              <p:cNvSpPr>
                <a:spLocks noChangeArrowheads="1"/>
              </p:cNvSpPr>
              <p:nvPr/>
            </p:nvSpPr>
            <p:spPr bwMode="auto">
              <a:xfrm>
                <a:off x="1449" y="2159"/>
                <a:ext cx="425" cy="607"/>
              </a:xfrm>
              <a:prstGeom prst="rect">
                <a:avLst/>
              </a:prstGeom>
              <a:noFill/>
              <a:ln w="28575" algn="ctr">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9356" name="Text Box 18"/>
              <p:cNvSpPr txBox="1">
                <a:spLocks noChangeArrowheads="1"/>
              </p:cNvSpPr>
              <p:nvPr/>
            </p:nvSpPr>
            <p:spPr bwMode="auto">
              <a:xfrm>
                <a:off x="1561" y="2202"/>
                <a:ext cx="22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r>
                  <a:rPr lang="zh-CN" altLang="en-US" sz="1800">
                    <a:latin typeface="黑体" pitchFamily="2" charset="-122"/>
                    <a:ea typeface="黑体" pitchFamily="2" charset="-122"/>
                  </a:rPr>
                  <a:t>指令</a:t>
                </a:r>
              </a:p>
            </p:txBody>
          </p:sp>
          <p:sp>
            <p:nvSpPr>
              <p:cNvPr id="99357" name="Text Box 19"/>
              <p:cNvSpPr txBox="1">
                <a:spLocks noChangeArrowheads="1"/>
              </p:cNvSpPr>
              <p:nvPr/>
            </p:nvSpPr>
            <p:spPr bwMode="auto">
              <a:xfrm>
                <a:off x="1449" y="2159"/>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XXX</a:t>
                </a:r>
              </a:p>
            </p:txBody>
          </p:sp>
        </p:grpSp>
        <p:grpSp>
          <p:nvGrpSpPr>
            <p:cNvPr id="99337" name="Group 23"/>
            <p:cNvGrpSpPr>
              <a:grpSpLocks/>
            </p:cNvGrpSpPr>
            <p:nvPr/>
          </p:nvGrpSpPr>
          <p:grpSpPr bwMode="auto">
            <a:xfrm>
              <a:off x="1649" y="1915"/>
              <a:ext cx="1777" cy="244"/>
              <a:chOff x="1649" y="1904"/>
              <a:chExt cx="1777" cy="255"/>
            </a:xfrm>
          </p:grpSpPr>
          <p:sp>
            <p:nvSpPr>
              <p:cNvPr id="99352" name="Line 20"/>
              <p:cNvSpPr>
                <a:spLocks noChangeShapeType="1"/>
              </p:cNvSpPr>
              <p:nvPr/>
            </p:nvSpPr>
            <p:spPr bwMode="auto">
              <a:xfrm>
                <a:off x="1649" y="1904"/>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53" name="Line 21"/>
              <p:cNvSpPr>
                <a:spLocks noChangeShapeType="1"/>
              </p:cNvSpPr>
              <p:nvPr/>
            </p:nvSpPr>
            <p:spPr bwMode="auto">
              <a:xfrm>
                <a:off x="2353" y="1915"/>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54" name="Line 22"/>
              <p:cNvSpPr>
                <a:spLocks noChangeShapeType="1"/>
              </p:cNvSpPr>
              <p:nvPr/>
            </p:nvSpPr>
            <p:spPr bwMode="auto">
              <a:xfrm>
                <a:off x="3426" y="1909"/>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99338" name="Group 24"/>
            <p:cNvGrpSpPr>
              <a:grpSpLocks/>
            </p:cNvGrpSpPr>
            <p:nvPr/>
          </p:nvGrpSpPr>
          <p:grpSpPr bwMode="auto">
            <a:xfrm>
              <a:off x="1649" y="2755"/>
              <a:ext cx="1777" cy="244"/>
              <a:chOff x="1649" y="1904"/>
              <a:chExt cx="1777" cy="255"/>
            </a:xfrm>
          </p:grpSpPr>
          <p:sp>
            <p:nvSpPr>
              <p:cNvPr id="99349" name="Line 25"/>
              <p:cNvSpPr>
                <a:spLocks noChangeShapeType="1"/>
              </p:cNvSpPr>
              <p:nvPr/>
            </p:nvSpPr>
            <p:spPr bwMode="auto">
              <a:xfrm>
                <a:off x="1649" y="1904"/>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50" name="Line 26"/>
              <p:cNvSpPr>
                <a:spLocks noChangeShapeType="1"/>
              </p:cNvSpPr>
              <p:nvPr/>
            </p:nvSpPr>
            <p:spPr bwMode="auto">
              <a:xfrm>
                <a:off x="2353" y="1915"/>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51" name="Line 27"/>
              <p:cNvSpPr>
                <a:spLocks noChangeShapeType="1"/>
              </p:cNvSpPr>
              <p:nvPr/>
            </p:nvSpPr>
            <p:spPr bwMode="auto">
              <a:xfrm>
                <a:off x="3426" y="1909"/>
                <a:ext cx="0" cy="244"/>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99339" name="Line 28"/>
            <p:cNvSpPr>
              <a:spLocks noChangeShapeType="1"/>
            </p:cNvSpPr>
            <p:nvPr/>
          </p:nvSpPr>
          <p:spPr bwMode="auto">
            <a:xfrm>
              <a:off x="1649" y="1915"/>
              <a:ext cx="177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40" name="Line 29"/>
            <p:cNvSpPr>
              <a:spLocks noChangeShapeType="1"/>
            </p:cNvSpPr>
            <p:nvPr/>
          </p:nvSpPr>
          <p:spPr bwMode="auto">
            <a:xfrm>
              <a:off x="1646" y="2999"/>
              <a:ext cx="177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41" name="Text Box 33"/>
            <p:cNvSpPr txBox="1">
              <a:spLocks noChangeArrowheads="1"/>
            </p:cNvSpPr>
            <p:nvPr/>
          </p:nvSpPr>
          <p:spPr bwMode="auto">
            <a:xfrm>
              <a:off x="2035" y="817"/>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00H</a:t>
              </a:r>
            </a:p>
          </p:txBody>
        </p:sp>
        <p:sp>
          <p:nvSpPr>
            <p:cNvPr id="99342" name="Text Box 35"/>
            <p:cNvSpPr txBox="1">
              <a:spLocks noChangeArrowheads="1"/>
            </p:cNvSpPr>
            <p:nvPr/>
          </p:nvSpPr>
          <p:spPr bwMode="auto">
            <a:xfrm>
              <a:off x="1224" y="1920"/>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03H</a:t>
              </a:r>
            </a:p>
          </p:txBody>
        </p:sp>
        <p:sp>
          <p:nvSpPr>
            <p:cNvPr id="99343" name="Text Box 36"/>
            <p:cNvSpPr txBox="1">
              <a:spLocks noChangeArrowheads="1"/>
            </p:cNvSpPr>
            <p:nvPr/>
          </p:nvSpPr>
          <p:spPr bwMode="auto">
            <a:xfrm>
              <a:off x="1949" y="1910"/>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07H</a:t>
              </a:r>
            </a:p>
          </p:txBody>
        </p:sp>
        <p:sp>
          <p:nvSpPr>
            <p:cNvPr id="99344" name="Text Box 37"/>
            <p:cNvSpPr txBox="1">
              <a:spLocks noChangeArrowheads="1"/>
            </p:cNvSpPr>
            <p:nvPr/>
          </p:nvSpPr>
          <p:spPr bwMode="auto">
            <a:xfrm>
              <a:off x="3016" y="1904"/>
              <a:ext cx="4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r>
                <a:rPr lang="en-US" altLang="zh-CN" sz="1800" dirty="0"/>
                <a:t>3FH</a:t>
              </a:r>
            </a:p>
          </p:txBody>
        </p:sp>
        <p:sp>
          <p:nvSpPr>
            <p:cNvPr id="99345" name="Line 38"/>
            <p:cNvSpPr>
              <a:spLocks noChangeShapeType="1"/>
            </p:cNvSpPr>
            <p:nvPr/>
          </p:nvSpPr>
          <p:spPr bwMode="auto">
            <a:xfrm>
              <a:off x="2559" y="1649"/>
              <a:ext cx="0" cy="261"/>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46" name="Line 39"/>
            <p:cNvSpPr>
              <a:spLocks noChangeShapeType="1"/>
            </p:cNvSpPr>
            <p:nvPr/>
          </p:nvSpPr>
          <p:spPr bwMode="auto">
            <a:xfrm>
              <a:off x="2559" y="2999"/>
              <a:ext cx="0" cy="261"/>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47" name="Line 41"/>
            <p:cNvSpPr>
              <a:spLocks noChangeShapeType="1"/>
            </p:cNvSpPr>
            <p:nvPr/>
          </p:nvSpPr>
          <p:spPr bwMode="auto">
            <a:xfrm>
              <a:off x="2553" y="774"/>
              <a:ext cx="0" cy="261"/>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9348" name="Freeform 42"/>
            <p:cNvSpPr>
              <a:spLocks/>
            </p:cNvSpPr>
            <p:nvPr/>
          </p:nvSpPr>
          <p:spPr bwMode="auto">
            <a:xfrm>
              <a:off x="1019" y="782"/>
              <a:ext cx="1546" cy="2474"/>
            </a:xfrm>
            <a:custGeom>
              <a:avLst/>
              <a:gdLst>
                <a:gd name="T0" fmla="*/ 1546 w 1546"/>
                <a:gd name="T1" fmla="*/ 2898 h 2444"/>
                <a:gd name="T2" fmla="*/ 0 w 1546"/>
                <a:gd name="T3" fmla="*/ 2898 h 2444"/>
                <a:gd name="T4" fmla="*/ 0 w 1546"/>
                <a:gd name="T5" fmla="*/ 0 h 2444"/>
                <a:gd name="T6" fmla="*/ 1528 w 1546"/>
                <a:gd name="T7" fmla="*/ 0 h 2444"/>
                <a:gd name="T8" fmla="*/ 0 60000 65536"/>
                <a:gd name="T9" fmla="*/ 0 60000 65536"/>
                <a:gd name="T10" fmla="*/ 0 60000 65536"/>
                <a:gd name="T11" fmla="*/ 0 60000 65536"/>
                <a:gd name="T12" fmla="*/ 0 w 1546"/>
                <a:gd name="T13" fmla="*/ 0 h 2444"/>
                <a:gd name="T14" fmla="*/ 1546 w 1546"/>
                <a:gd name="T15" fmla="*/ 2444 h 2444"/>
              </a:gdLst>
              <a:ahLst/>
              <a:cxnLst>
                <a:cxn ang="T8">
                  <a:pos x="T0" y="T1"/>
                </a:cxn>
                <a:cxn ang="T9">
                  <a:pos x="T2" y="T3"/>
                </a:cxn>
                <a:cxn ang="T10">
                  <a:pos x="T4" y="T5"/>
                </a:cxn>
                <a:cxn ang="T11">
                  <a:pos x="T6" y="T7"/>
                </a:cxn>
              </a:cxnLst>
              <a:rect l="T12" t="T13" r="T14" b="T15"/>
              <a:pathLst>
                <a:path w="1546" h="2444">
                  <a:moveTo>
                    <a:pt x="1546" y="2444"/>
                  </a:moveTo>
                  <a:lnTo>
                    <a:pt x="0" y="2444"/>
                  </a:lnTo>
                  <a:lnTo>
                    <a:pt x="0" y="0"/>
                  </a:lnTo>
                  <a:lnTo>
                    <a:pt x="1528" y="0"/>
                  </a:lnTo>
                </a:path>
              </a:pathLst>
            </a:custGeom>
            <a:noFill/>
            <a:ln w="19050" cap="flat"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Tree>
  </p:cSld>
  <p:clrMapOvr>
    <a:masterClrMapping/>
  </p:clrMapOvr>
  <p:transition>
    <p:wipe dir="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ChangeArrowheads="1"/>
          </p:cNvSpPr>
          <p:nvPr/>
        </p:nvSpPr>
        <p:spPr bwMode="auto">
          <a:xfrm>
            <a:off x="684213" y="1196975"/>
            <a:ext cx="788352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solidFill>
                  <a:srgbClr val="00007E"/>
                </a:solidFill>
                <a:latin typeface="黑体" pitchFamily="2" charset="-122"/>
                <a:ea typeface="黑体" pitchFamily="2" charset="-122"/>
              </a:rPr>
              <a:t>    </a:t>
            </a:r>
            <a:r>
              <a:rPr lang="zh-CN" altLang="en-US">
                <a:solidFill>
                  <a:srgbClr val="00007E"/>
                </a:solidFill>
                <a:latin typeface="黑体" pitchFamily="2" charset="-122"/>
                <a:ea typeface="黑体" pitchFamily="2" charset="-122"/>
              </a:rPr>
              <a:t>微程序转移频繁，所以微指令中用次地址部分来指明下一条要执行的微指令的地址。</a:t>
            </a:r>
          </a:p>
          <a:p>
            <a:pPr>
              <a:lnSpc>
                <a:spcPct val="60000"/>
              </a:lnSpc>
              <a:spcBef>
                <a:spcPct val="0"/>
              </a:spcBef>
            </a:pPr>
            <a:endParaRPr lang="zh-CN" altLang="en-US">
              <a:solidFill>
                <a:srgbClr val="00007E"/>
              </a:solidFill>
              <a:latin typeface="黑体" pitchFamily="2" charset="-122"/>
              <a:ea typeface="黑体" pitchFamily="2" charset="-122"/>
            </a:endParaRPr>
          </a:p>
          <a:p>
            <a:pPr>
              <a:lnSpc>
                <a:spcPct val="100000"/>
              </a:lnSpc>
              <a:spcBef>
                <a:spcPct val="0"/>
              </a:spcBef>
            </a:pPr>
            <a:r>
              <a:rPr lang="zh-CN" altLang="en-US">
                <a:latin typeface="黑体" pitchFamily="2" charset="-122"/>
                <a:ea typeface="黑体" pitchFamily="2" charset="-122"/>
              </a:rPr>
              <a:t>    </a:t>
            </a:r>
            <a:r>
              <a:rPr lang="zh-CN" altLang="en-US">
                <a:solidFill>
                  <a:srgbClr val="FF0000"/>
                </a:solidFill>
                <a:latin typeface="黑体" pitchFamily="2" charset="-122"/>
                <a:ea typeface="黑体" pitchFamily="2" charset="-122"/>
              </a:rPr>
              <a:t>断定法</a:t>
            </a:r>
            <a:r>
              <a:rPr lang="zh-CN" altLang="en-US">
                <a:latin typeface="黑体" pitchFamily="2" charset="-122"/>
                <a:ea typeface="黑体" pitchFamily="2" charset="-122"/>
              </a:rPr>
              <a:t>是最常用的后继微地址形成方法，它把微指令的次地址部分又分为两个部分：</a:t>
            </a:r>
          </a:p>
          <a:p>
            <a:pPr>
              <a:lnSpc>
                <a:spcPct val="40000"/>
              </a:lnSpc>
              <a:spcBef>
                <a:spcPct val="0"/>
              </a:spcBef>
            </a:pPr>
            <a:endParaRPr lang="zh-CN" altLang="en-US">
              <a:latin typeface="黑体" pitchFamily="2" charset="-122"/>
              <a:ea typeface="黑体" pitchFamily="2" charset="-122"/>
            </a:endParaRPr>
          </a:p>
          <a:p>
            <a:pPr>
              <a:lnSpc>
                <a:spcPct val="10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(1) NAC: </a:t>
            </a:r>
            <a:r>
              <a:rPr lang="zh-CN" altLang="en-US">
                <a:latin typeface="黑体" pitchFamily="2" charset="-122"/>
                <a:ea typeface="黑体" pitchFamily="2" charset="-122"/>
              </a:rPr>
              <a:t>次地址控制字段</a:t>
            </a:r>
          </a:p>
          <a:p>
            <a:pPr>
              <a:lnSpc>
                <a:spcPct val="100000"/>
              </a:lnSpc>
              <a:spcBef>
                <a:spcPct val="0"/>
              </a:spcBef>
            </a:pPr>
            <a:r>
              <a:rPr lang="zh-CN" altLang="en-US">
                <a:latin typeface="黑体" pitchFamily="2" charset="-122"/>
                <a:ea typeface="黑体" pitchFamily="2" charset="-122"/>
              </a:rPr>
              <a:t>            （指示下一微地址的产生方式）；</a:t>
            </a:r>
          </a:p>
          <a:p>
            <a:pPr>
              <a:lnSpc>
                <a:spcPct val="40000"/>
              </a:lnSpc>
              <a:spcBef>
                <a:spcPct val="0"/>
              </a:spcBef>
            </a:pPr>
            <a:endParaRPr lang="zh-CN" altLang="en-US">
              <a:latin typeface="黑体" pitchFamily="2" charset="-122"/>
              <a:ea typeface="黑体" pitchFamily="2" charset="-122"/>
            </a:endParaRPr>
          </a:p>
          <a:p>
            <a:pPr>
              <a:lnSpc>
                <a:spcPct val="100000"/>
              </a:lnSpc>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(2) NA:  </a:t>
            </a:r>
            <a:r>
              <a:rPr lang="zh-CN" altLang="en-US">
                <a:latin typeface="黑体" pitchFamily="2" charset="-122"/>
                <a:ea typeface="黑体" pitchFamily="2" charset="-122"/>
              </a:rPr>
              <a:t>次地址字段</a:t>
            </a:r>
          </a:p>
          <a:p>
            <a:pPr>
              <a:lnSpc>
                <a:spcPct val="100000"/>
              </a:lnSpc>
              <a:spcBef>
                <a:spcPct val="0"/>
              </a:spcBef>
            </a:pPr>
            <a:r>
              <a:rPr lang="zh-CN" altLang="en-US">
                <a:latin typeface="黑体" pitchFamily="2" charset="-122"/>
                <a:ea typeface="黑体" pitchFamily="2" charset="-122"/>
              </a:rPr>
              <a:t>            （微程序转移时的后继微地址）。</a:t>
            </a:r>
            <a:endParaRPr lang="zh-CN" altLang="en-US">
              <a:solidFill>
                <a:srgbClr val="00007E"/>
              </a:solidFill>
              <a:latin typeface="黑体" pitchFamily="2" charset="-122"/>
              <a:ea typeface="黑体" pitchFamily="2" charset="-122"/>
            </a:endParaRPr>
          </a:p>
          <a:p>
            <a:pPr>
              <a:lnSpc>
                <a:spcPct val="120000"/>
              </a:lnSpc>
              <a:spcBef>
                <a:spcPct val="0"/>
              </a:spcBef>
            </a:pPr>
            <a:endParaRPr lang="zh-CN" altLang="en-US">
              <a:solidFill>
                <a:srgbClr val="00007E"/>
              </a:solidFill>
              <a:latin typeface="黑体" pitchFamily="2" charset="-122"/>
              <a:ea typeface="黑体" pitchFamily="2" charset="-122"/>
            </a:endParaRPr>
          </a:p>
          <a:p>
            <a:pPr>
              <a:lnSpc>
                <a:spcPct val="120000"/>
              </a:lnSpc>
              <a:spcBef>
                <a:spcPct val="0"/>
              </a:spcBef>
            </a:pPr>
            <a:endParaRPr lang="zh-CN" altLang="en-US">
              <a:solidFill>
                <a:srgbClr val="00007E"/>
              </a:solidFill>
              <a:latin typeface="黑体" pitchFamily="2" charset="-122"/>
              <a:ea typeface="黑体" pitchFamily="2" charset="-122"/>
            </a:endParaRPr>
          </a:p>
          <a:p>
            <a:pPr>
              <a:lnSpc>
                <a:spcPct val="120000"/>
              </a:lnSpc>
              <a:spcBef>
                <a:spcPct val="0"/>
              </a:spcBef>
            </a:pPr>
            <a:endParaRPr lang="en-US" altLang="zh-CN" dirty="0">
              <a:solidFill>
                <a:srgbClr val="00007E"/>
              </a:solidFill>
              <a:latin typeface="黑体" pitchFamily="2" charset="-122"/>
              <a:ea typeface="黑体" pitchFamily="2" charset="-122"/>
            </a:endParaRPr>
          </a:p>
        </p:txBody>
      </p:sp>
      <p:sp>
        <p:nvSpPr>
          <p:cNvPr id="100355" name="Rectangle 3"/>
          <p:cNvSpPr>
            <a:spLocks noChangeArrowheads="1"/>
          </p:cNvSpPr>
          <p:nvPr/>
        </p:nvSpPr>
        <p:spPr bwMode="auto">
          <a:xfrm>
            <a:off x="595313" y="561975"/>
            <a:ext cx="4999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6.5.5 </a:t>
            </a:r>
            <a:r>
              <a:rPr lang="zh-CN" altLang="en-US">
                <a:solidFill>
                  <a:srgbClr val="990000"/>
                </a:solidFill>
                <a:latin typeface="黑体" pitchFamily="2" charset="-122"/>
                <a:ea typeface="黑体" pitchFamily="2" charset="-122"/>
              </a:rPr>
              <a:t>后继微地址的形成</a:t>
            </a:r>
          </a:p>
        </p:txBody>
      </p:sp>
    </p:spTree>
  </p:cSld>
  <p:clrMapOvr>
    <a:masterClrMapping/>
  </p:clrMapOvr>
  <p:transition>
    <p:wipe dir="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8" name="Group 11"/>
          <p:cNvGrpSpPr>
            <a:grpSpLocks/>
          </p:cNvGrpSpPr>
          <p:nvPr/>
        </p:nvGrpSpPr>
        <p:grpSpPr bwMode="auto">
          <a:xfrm>
            <a:off x="1338263" y="719138"/>
            <a:ext cx="5226050" cy="4897437"/>
            <a:chOff x="910" y="782"/>
            <a:chExt cx="3292" cy="2855"/>
          </a:xfrm>
        </p:grpSpPr>
        <p:sp>
          <p:nvSpPr>
            <p:cNvPr id="101382" name="Text Box 12"/>
            <p:cNvSpPr txBox="1">
              <a:spLocks noChangeArrowheads="1"/>
            </p:cNvSpPr>
            <p:nvPr/>
          </p:nvSpPr>
          <p:spPr bwMode="auto">
            <a:xfrm>
              <a:off x="928" y="1200"/>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1800" dirty="0"/>
                <a:t>uIR</a:t>
              </a:r>
            </a:p>
          </p:txBody>
        </p:sp>
        <p:sp>
          <p:nvSpPr>
            <p:cNvPr id="101383" name="Text Box 13"/>
            <p:cNvSpPr txBox="1">
              <a:spLocks noChangeArrowheads="1"/>
            </p:cNvSpPr>
            <p:nvPr/>
          </p:nvSpPr>
          <p:spPr bwMode="auto">
            <a:xfrm>
              <a:off x="1511" y="1212"/>
              <a:ext cx="1232" cy="215"/>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000066"/>
                  </a:solidFill>
                  <a:latin typeface="黑体" pitchFamily="2" charset="-122"/>
                  <a:ea typeface="黑体" pitchFamily="2" charset="-122"/>
                </a:rPr>
                <a:t>操作控制字段</a:t>
              </a:r>
              <a:endParaRPr lang="en-US" altLang="zh-CN" sz="1800" dirty="0">
                <a:solidFill>
                  <a:srgbClr val="000066"/>
                </a:solidFill>
                <a:latin typeface="黑体" pitchFamily="2" charset="-122"/>
                <a:ea typeface="黑体" pitchFamily="2" charset="-122"/>
              </a:endParaRPr>
            </a:p>
          </p:txBody>
        </p:sp>
        <p:sp>
          <p:nvSpPr>
            <p:cNvPr id="101384" name="Text Box 14"/>
            <p:cNvSpPr txBox="1">
              <a:spLocks noChangeArrowheads="1"/>
            </p:cNvSpPr>
            <p:nvPr/>
          </p:nvSpPr>
          <p:spPr bwMode="auto">
            <a:xfrm>
              <a:off x="2739" y="1212"/>
              <a:ext cx="1232" cy="231"/>
            </a:xfrm>
            <a:prstGeom prst="rect">
              <a:avLst/>
            </a:prstGeom>
            <a:solidFill>
              <a:srgbClr val="FFFFCC"/>
            </a:solidFill>
            <a:ln w="28575" algn="ctr">
              <a:solidFill>
                <a:srgbClr val="000066"/>
              </a:solidFill>
              <a:miter lim="800000"/>
              <a:headEnd/>
              <a:tailEnd/>
            </a:ln>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000066"/>
                  </a:solidFill>
                </a:rPr>
                <a:t>顺序控制字段</a:t>
              </a:r>
              <a:endParaRPr lang="en-US" altLang="zh-CN" sz="1800" dirty="0">
                <a:solidFill>
                  <a:srgbClr val="000066"/>
                </a:solidFill>
              </a:endParaRPr>
            </a:p>
          </p:txBody>
        </p:sp>
        <p:sp>
          <p:nvSpPr>
            <p:cNvPr id="101385" name="Text Box 15"/>
            <p:cNvSpPr txBox="1">
              <a:spLocks noChangeArrowheads="1"/>
            </p:cNvSpPr>
            <p:nvPr/>
          </p:nvSpPr>
          <p:spPr bwMode="auto">
            <a:xfrm>
              <a:off x="1517" y="1648"/>
              <a:ext cx="2457" cy="680"/>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endParaRPr lang="zh-CN" altLang="en-US" sz="1800">
                <a:solidFill>
                  <a:srgbClr val="000066"/>
                </a:solidFill>
                <a:latin typeface="黑体" pitchFamily="2" charset="-122"/>
                <a:ea typeface="黑体" pitchFamily="2" charset="-122"/>
              </a:endParaRPr>
            </a:p>
            <a:p>
              <a:pPr algn="ctr" eaLnBrk="1" hangingPunct="1">
                <a:lnSpc>
                  <a:spcPct val="100000"/>
                </a:lnSpc>
                <a:spcBef>
                  <a:spcPct val="0"/>
                </a:spcBef>
              </a:pPr>
              <a:r>
                <a:rPr lang="zh-CN" altLang="en-US" sz="1800">
                  <a:solidFill>
                    <a:srgbClr val="000066"/>
                  </a:solidFill>
                  <a:latin typeface="黑体" pitchFamily="2" charset="-122"/>
                  <a:ea typeface="黑体" pitchFamily="2" charset="-122"/>
                </a:rPr>
                <a:t>控制存储器</a:t>
              </a:r>
            </a:p>
            <a:p>
              <a:pPr algn="ctr" eaLnBrk="1" hangingPunct="1">
                <a:lnSpc>
                  <a:spcPct val="100000"/>
                </a:lnSpc>
                <a:spcBef>
                  <a:spcPct val="0"/>
                </a:spcBef>
              </a:pPr>
              <a:r>
                <a:rPr lang="en-US" altLang="zh-CN" sz="1800" dirty="0">
                  <a:solidFill>
                    <a:srgbClr val="000066"/>
                  </a:solidFill>
                  <a:latin typeface="黑体" pitchFamily="2" charset="-122"/>
                  <a:ea typeface="黑体" pitchFamily="2" charset="-122"/>
                </a:rPr>
                <a:t>CM</a:t>
              </a:r>
            </a:p>
          </p:txBody>
        </p:sp>
        <p:sp>
          <p:nvSpPr>
            <p:cNvPr id="101386" name="Text Box 16"/>
            <p:cNvSpPr txBox="1">
              <a:spLocks noChangeArrowheads="1"/>
            </p:cNvSpPr>
            <p:nvPr/>
          </p:nvSpPr>
          <p:spPr bwMode="auto">
            <a:xfrm>
              <a:off x="1517" y="2509"/>
              <a:ext cx="2457"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000066"/>
                  </a:solidFill>
                </a:rPr>
                <a:t>uMAR</a:t>
              </a:r>
            </a:p>
          </p:txBody>
        </p:sp>
        <p:sp>
          <p:nvSpPr>
            <p:cNvPr id="101387" name="Text Box 17"/>
            <p:cNvSpPr txBox="1">
              <a:spLocks noChangeArrowheads="1"/>
            </p:cNvSpPr>
            <p:nvPr/>
          </p:nvSpPr>
          <p:spPr bwMode="auto">
            <a:xfrm>
              <a:off x="1511" y="2946"/>
              <a:ext cx="2457"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000066"/>
                  </a:solidFill>
                  <a:latin typeface="黑体" pitchFamily="2" charset="-122"/>
                  <a:ea typeface="黑体" pitchFamily="2" charset="-122"/>
                </a:rPr>
                <a:t>微地址形成部件</a:t>
              </a:r>
            </a:p>
          </p:txBody>
        </p:sp>
        <p:sp>
          <p:nvSpPr>
            <p:cNvPr id="101388" name="Text Box 18"/>
            <p:cNvSpPr txBox="1">
              <a:spLocks noChangeArrowheads="1"/>
            </p:cNvSpPr>
            <p:nvPr/>
          </p:nvSpPr>
          <p:spPr bwMode="auto">
            <a:xfrm>
              <a:off x="910" y="3383"/>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lnSpc>
                  <a:spcPct val="100000"/>
                </a:lnSpc>
                <a:spcBef>
                  <a:spcPct val="0"/>
                </a:spcBef>
              </a:pPr>
              <a:r>
                <a:rPr lang="en-US" altLang="zh-CN" sz="1800" dirty="0"/>
                <a:t> IR</a:t>
              </a:r>
            </a:p>
          </p:txBody>
        </p:sp>
        <p:grpSp>
          <p:nvGrpSpPr>
            <p:cNvPr id="101389" name="Group 19"/>
            <p:cNvGrpSpPr>
              <a:grpSpLocks/>
            </p:cNvGrpSpPr>
            <p:nvPr/>
          </p:nvGrpSpPr>
          <p:grpSpPr bwMode="auto">
            <a:xfrm>
              <a:off x="1511" y="3395"/>
              <a:ext cx="1666" cy="242"/>
              <a:chOff x="1511" y="3239"/>
              <a:chExt cx="1666" cy="249"/>
            </a:xfrm>
          </p:grpSpPr>
          <p:sp>
            <p:nvSpPr>
              <p:cNvPr id="101409" name="Text Box 20"/>
              <p:cNvSpPr txBox="1">
                <a:spLocks noChangeArrowheads="1"/>
              </p:cNvSpPr>
              <p:nvPr/>
            </p:nvSpPr>
            <p:spPr bwMode="auto">
              <a:xfrm>
                <a:off x="1511" y="3239"/>
                <a:ext cx="704"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000066"/>
                    </a:solidFill>
                  </a:rPr>
                  <a:t>OP</a:t>
                </a:r>
              </a:p>
            </p:txBody>
          </p:sp>
          <p:sp>
            <p:nvSpPr>
              <p:cNvPr id="101410" name="Text Box 21"/>
              <p:cNvSpPr txBox="1">
                <a:spLocks noChangeArrowheads="1"/>
              </p:cNvSpPr>
              <p:nvPr/>
            </p:nvSpPr>
            <p:spPr bwMode="auto">
              <a:xfrm>
                <a:off x="2218" y="3239"/>
                <a:ext cx="959" cy="249"/>
              </a:xfrm>
              <a:prstGeom prst="rect">
                <a:avLst/>
              </a:prstGeom>
              <a:solidFill>
                <a:srgbClr val="FFFFCC"/>
              </a:solidFill>
              <a:ln w="28575" algn="ctr">
                <a:solidFill>
                  <a:srgbClr val="000066"/>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800" dirty="0">
                    <a:solidFill>
                      <a:srgbClr val="000066"/>
                    </a:solidFill>
                  </a:rPr>
                  <a:t>A</a:t>
                </a:r>
              </a:p>
            </p:txBody>
          </p:sp>
        </p:grpSp>
        <p:sp>
          <p:nvSpPr>
            <p:cNvPr id="101390" name="Line 22"/>
            <p:cNvSpPr>
              <a:spLocks noChangeShapeType="1"/>
            </p:cNvSpPr>
            <p:nvPr/>
          </p:nvSpPr>
          <p:spPr bwMode="auto">
            <a:xfrm flipV="1">
              <a:off x="1880" y="3200"/>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01391" name="Group 23"/>
            <p:cNvGrpSpPr>
              <a:grpSpLocks/>
            </p:cNvGrpSpPr>
            <p:nvPr/>
          </p:nvGrpSpPr>
          <p:grpSpPr bwMode="auto">
            <a:xfrm>
              <a:off x="1819" y="2685"/>
              <a:ext cx="1922" cy="267"/>
              <a:chOff x="1819" y="2529"/>
              <a:chExt cx="1922" cy="267"/>
            </a:xfrm>
          </p:grpSpPr>
          <p:sp>
            <p:nvSpPr>
              <p:cNvPr id="101406" name="Line 24"/>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7" name="Line 25"/>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8" name="Text Box 26"/>
              <p:cNvSpPr txBox="1">
                <a:spLocks noChangeArrowheads="1"/>
              </p:cNvSpPr>
              <p:nvPr/>
            </p:nvSpPr>
            <p:spPr bwMode="auto">
              <a:xfrm>
                <a:off x="2164" y="2529"/>
                <a:ext cx="12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dirty="0">
                    <a:solidFill>
                      <a:srgbClr val="000066"/>
                    </a:solidFill>
                    <a:latin typeface="Times New Roman" pitchFamily="18" charset="0"/>
                  </a:rPr>
                  <a:t>……</a:t>
                </a:r>
                <a:endParaRPr lang="en-US" altLang="zh-CN" sz="2000" dirty="0">
                  <a:solidFill>
                    <a:srgbClr val="000066"/>
                  </a:solidFill>
                </a:endParaRPr>
              </a:p>
            </p:txBody>
          </p:sp>
        </p:grpSp>
        <p:grpSp>
          <p:nvGrpSpPr>
            <p:cNvPr id="101392" name="Group 27"/>
            <p:cNvGrpSpPr>
              <a:grpSpLocks/>
            </p:cNvGrpSpPr>
            <p:nvPr/>
          </p:nvGrpSpPr>
          <p:grpSpPr bwMode="auto">
            <a:xfrm>
              <a:off x="1795" y="2242"/>
              <a:ext cx="1922" cy="267"/>
              <a:chOff x="1819" y="2529"/>
              <a:chExt cx="1922" cy="267"/>
            </a:xfrm>
          </p:grpSpPr>
          <p:sp>
            <p:nvSpPr>
              <p:cNvPr id="101403" name="Line 28"/>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4" name="Line 29"/>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5" name="Text Box 30"/>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dirty="0">
                    <a:solidFill>
                      <a:srgbClr val="000066"/>
                    </a:solidFill>
                    <a:latin typeface="Times New Roman" pitchFamily="18" charset="0"/>
                  </a:rPr>
                  <a:t>……</a:t>
                </a:r>
                <a:endParaRPr lang="en-US" altLang="zh-CN" sz="2000" dirty="0">
                  <a:solidFill>
                    <a:srgbClr val="000066"/>
                  </a:solidFill>
                </a:endParaRPr>
              </a:p>
            </p:txBody>
          </p:sp>
        </p:grpSp>
        <p:grpSp>
          <p:nvGrpSpPr>
            <p:cNvPr id="101393" name="Group 31"/>
            <p:cNvGrpSpPr>
              <a:grpSpLocks/>
            </p:cNvGrpSpPr>
            <p:nvPr/>
          </p:nvGrpSpPr>
          <p:grpSpPr bwMode="auto">
            <a:xfrm>
              <a:off x="1776" y="1388"/>
              <a:ext cx="1922" cy="267"/>
              <a:chOff x="1819" y="2529"/>
              <a:chExt cx="1922" cy="267"/>
            </a:xfrm>
          </p:grpSpPr>
          <p:sp>
            <p:nvSpPr>
              <p:cNvPr id="101400" name="Line 32"/>
              <p:cNvSpPr>
                <a:spLocks noChangeShapeType="1"/>
              </p:cNvSpPr>
              <p:nvPr/>
            </p:nvSpPr>
            <p:spPr bwMode="auto">
              <a:xfrm flipV="1">
                <a:off x="1819" y="2608"/>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1" name="Line 33"/>
              <p:cNvSpPr>
                <a:spLocks noChangeShapeType="1"/>
              </p:cNvSpPr>
              <p:nvPr/>
            </p:nvSpPr>
            <p:spPr bwMode="auto">
              <a:xfrm flipV="1">
                <a:off x="3741" y="2596"/>
                <a:ext cx="0" cy="18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402" name="Text Box 34"/>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dirty="0">
                    <a:solidFill>
                      <a:srgbClr val="000066"/>
                    </a:solidFill>
                    <a:latin typeface="Times New Roman" pitchFamily="18" charset="0"/>
                  </a:rPr>
                  <a:t>……</a:t>
                </a:r>
                <a:endParaRPr lang="en-US" altLang="zh-CN" sz="2000" dirty="0">
                  <a:solidFill>
                    <a:srgbClr val="000066"/>
                  </a:solidFill>
                </a:endParaRPr>
              </a:p>
            </p:txBody>
          </p:sp>
        </p:grpSp>
        <p:grpSp>
          <p:nvGrpSpPr>
            <p:cNvPr id="101394" name="Group 35"/>
            <p:cNvGrpSpPr>
              <a:grpSpLocks/>
            </p:cNvGrpSpPr>
            <p:nvPr/>
          </p:nvGrpSpPr>
          <p:grpSpPr bwMode="auto">
            <a:xfrm>
              <a:off x="1734" y="939"/>
              <a:ext cx="819" cy="267"/>
              <a:chOff x="1819" y="2529"/>
              <a:chExt cx="1922" cy="267"/>
            </a:xfrm>
          </p:grpSpPr>
          <p:sp>
            <p:nvSpPr>
              <p:cNvPr id="101397" name="Line 36"/>
              <p:cNvSpPr>
                <a:spLocks noChangeShapeType="1"/>
              </p:cNvSpPr>
              <p:nvPr/>
            </p:nvSpPr>
            <p:spPr bwMode="auto">
              <a:xfrm flipV="1">
                <a:off x="1819" y="2608"/>
                <a:ext cx="0" cy="1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398" name="Line 37"/>
              <p:cNvSpPr>
                <a:spLocks noChangeShapeType="1"/>
              </p:cNvSpPr>
              <p:nvPr/>
            </p:nvSpPr>
            <p:spPr bwMode="auto">
              <a:xfrm flipV="1">
                <a:off x="3741" y="2596"/>
                <a:ext cx="0" cy="1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1399" name="Text Box 38"/>
              <p:cNvSpPr txBox="1">
                <a:spLocks noChangeArrowheads="1"/>
              </p:cNvSpPr>
              <p:nvPr/>
            </p:nvSpPr>
            <p:spPr bwMode="auto">
              <a:xfrm>
                <a:off x="2164" y="2529"/>
                <a:ext cx="1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2000" dirty="0">
                    <a:solidFill>
                      <a:srgbClr val="FF0000"/>
                    </a:solidFill>
                    <a:latin typeface="Times New Roman" pitchFamily="18" charset="0"/>
                  </a:rPr>
                  <a:t>…</a:t>
                </a:r>
                <a:endParaRPr lang="en-US" altLang="zh-CN" sz="2000" dirty="0">
                  <a:solidFill>
                    <a:srgbClr val="FF0000"/>
                  </a:solidFill>
                </a:endParaRPr>
              </a:p>
            </p:txBody>
          </p:sp>
        </p:grpSp>
        <p:sp>
          <p:nvSpPr>
            <p:cNvPr id="101395" name="Text Box 39"/>
            <p:cNvSpPr txBox="1">
              <a:spLocks noChangeArrowheads="1"/>
            </p:cNvSpPr>
            <p:nvPr/>
          </p:nvSpPr>
          <p:spPr bwMode="auto">
            <a:xfrm>
              <a:off x="1668" y="782"/>
              <a:ext cx="103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a:solidFill>
                    <a:srgbClr val="FF0000"/>
                  </a:solidFill>
                  <a:latin typeface="黑体" pitchFamily="2" charset="-122"/>
                  <a:ea typeface="黑体" pitchFamily="2" charset="-122"/>
                </a:rPr>
                <a:t>微命令</a:t>
              </a:r>
            </a:p>
          </p:txBody>
        </p:sp>
        <p:sp>
          <p:nvSpPr>
            <p:cNvPr id="101396" name="Freeform 40"/>
            <p:cNvSpPr>
              <a:spLocks/>
            </p:cNvSpPr>
            <p:nvPr/>
          </p:nvSpPr>
          <p:spPr bwMode="auto">
            <a:xfrm>
              <a:off x="3377" y="1025"/>
              <a:ext cx="825" cy="2364"/>
            </a:xfrm>
            <a:custGeom>
              <a:avLst/>
              <a:gdLst>
                <a:gd name="T0" fmla="*/ 0 w 825"/>
                <a:gd name="T1" fmla="*/ 182 h 2364"/>
                <a:gd name="T2" fmla="*/ 0 w 825"/>
                <a:gd name="T3" fmla="*/ 0 h 2364"/>
                <a:gd name="T4" fmla="*/ 819 w 825"/>
                <a:gd name="T5" fmla="*/ 0 h 2364"/>
                <a:gd name="T6" fmla="*/ 825 w 825"/>
                <a:gd name="T7" fmla="*/ 2364 h 2364"/>
                <a:gd name="T8" fmla="*/ 267 w 825"/>
                <a:gd name="T9" fmla="*/ 2364 h 2364"/>
                <a:gd name="T10" fmla="*/ 267 w 825"/>
                <a:gd name="T11" fmla="*/ 2170 h 2364"/>
                <a:gd name="T12" fmla="*/ 0 60000 65536"/>
                <a:gd name="T13" fmla="*/ 0 60000 65536"/>
                <a:gd name="T14" fmla="*/ 0 60000 65536"/>
                <a:gd name="T15" fmla="*/ 0 60000 65536"/>
                <a:gd name="T16" fmla="*/ 0 60000 65536"/>
                <a:gd name="T17" fmla="*/ 0 60000 65536"/>
                <a:gd name="T18" fmla="*/ 0 w 825"/>
                <a:gd name="T19" fmla="*/ 0 h 2364"/>
                <a:gd name="T20" fmla="*/ 825 w 825"/>
                <a:gd name="T21" fmla="*/ 2364 h 2364"/>
              </a:gdLst>
              <a:ahLst/>
              <a:cxnLst>
                <a:cxn ang="T12">
                  <a:pos x="T0" y="T1"/>
                </a:cxn>
                <a:cxn ang="T13">
                  <a:pos x="T2" y="T3"/>
                </a:cxn>
                <a:cxn ang="T14">
                  <a:pos x="T4" y="T5"/>
                </a:cxn>
                <a:cxn ang="T15">
                  <a:pos x="T6" y="T7"/>
                </a:cxn>
                <a:cxn ang="T16">
                  <a:pos x="T8" y="T9"/>
                </a:cxn>
                <a:cxn ang="T17">
                  <a:pos x="T10" y="T11"/>
                </a:cxn>
              </a:cxnLst>
              <a:rect l="T18" t="T19" r="T20" b="T21"/>
              <a:pathLst>
                <a:path w="825" h="2364">
                  <a:moveTo>
                    <a:pt x="0" y="182"/>
                  </a:moveTo>
                  <a:lnTo>
                    <a:pt x="0" y="0"/>
                  </a:lnTo>
                  <a:lnTo>
                    <a:pt x="819" y="0"/>
                  </a:lnTo>
                  <a:lnTo>
                    <a:pt x="825" y="2364"/>
                  </a:lnTo>
                  <a:lnTo>
                    <a:pt x="267" y="2364"/>
                  </a:lnTo>
                  <a:lnTo>
                    <a:pt x="267" y="2170"/>
                  </a:lnTo>
                </a:path>
              </a:pathLst>
            </a:custGeom>
            <a:noFill/>
            <a:ln w="28575" cap="flat" cmpd="sng">
              <a:solidFill>
                <a:srgbClr val="00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grpSp>
        <p:nvGrpSpPr>
          <p:cNvPr id="65" name="Group 46"/>
          <p:cNvGrpSpPr>
            <a:grpSpLocks/>
          </p:cNvGrpSpPr>
          <p:nvPr/>
        </p:nvGrpSpPr>
        <p:grpSpPr bwMode="auto">
          <a:xfrm>
            <a:off x="4283075" y="1487488"/>
            <a:ext cx="1876425" cy="334962"/>
            <a:chOff x="2698" y="1133"/>
            <a:chExt cx="1182" cy="211"/>
          </a:xfrm>
        </p:grpSpPr>
        <p:sp>
          <p:nvSpPr>
            <p:cNvPr id="101380" name="Text Box 44"/>
            <p:cNvSpPr txBox="1">
              <a:spLocks noChangeArrowheads="1"/>
            </p:cNvSpPr>
            <p:nvPr/>
          </p:nvSpPr>
          <p:spPr bwMode="auto">
            <a:xfrm>
              <a:off x="2698" y="1133"/>
              <a:ext cx="612" cy="211"/>
            </a:xfrm>
            <a:prstGeom prst="rect">
              <a:avLst/>
            </a:prstGeom>
            <a:solidFill>
              <a:srgbClr val="FF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dirty="0">
                  <a:solidFill>
                    <a:schemeClr val="bg1"/>
                  </a:solidFill>
                </a:rPr>
                <a:t>NA</a:t>
              </a:r>
            </a:p>
          </p:txBody>
        </p:sp>
        <p:sp>
          <p:nvSpPr>
            <p:cNvPr id="101381" name="Text Box 45"/>
            <p:cNvSpPr txBox="1">
              <a:spLocks noChangeArrowheads="1"/>
            </p:cNvSpPr>
            <p:nvPr/>
          </p:nvSpPr>
          <p:spPr bwMode="auto">
            <a:xfrm>
              <a:off x="3316" y="1133"/>
              <a:ext cx="564" cy="211"/>
            </a:xfrm>
            <a:prstGeom prst="rect">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dirty="0">
                  <a:solidFill>
                    <a:schemeClr val="bg1"/>
                  </a:solidFill>
                </a:rPr>
                <a:t>NAC</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up)">
                                      <p:cBhvr>
                                        <p:cTn id="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809625" y="1855788"/>
            <a:ext cx="8334375"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spcBef>
                <a:spcPct val="0"/>
              </a:spcBef>
            </a:pPr>
            <a:r>
              <a:rPr lang="en-US" altLang="zh-CN" dirty="0">
                <a:latin typeface="黑体" pitchFamily="2" charset="-122"/>
                <a:ea typeface="黑体" pitchFamily="2" charset="-122"/>
              </a:rPr>
              <a:t>1</a:t>
            </a:r>
            <a:r>
              <a:rPr lang="zh-CN" altLang="en-US" dirty="0">
                <a:latin typeface="黑体" pitchFamily="2" charset="-122"/>
                <a:ea typeface="黑体" pitchFamily="2" charset="-122"/>
              </a:rPr>
              <a:t>）顺序方式</a:t>
            </a:r>
            <a:r>
              <a:rPr lang="en-US" altLang="zh-CN" dirty="0">
                <a:latin typeface="宋体" pitchFamily="2" charset="-122"/>
                <a:ea typeface="黑体" pitchFamily="2" charset="-122"/>
              </a:rPr>
              <a:t>——</a:t>
            </a:r>
            <a:r>
              <a:rPr lang="en-US" altLang="zh-CN" dirty="0">
                <a:latin typeface="黑体" pitchFamily="2" charset="-122"/>
                <a:ea typeface="黑体" pitchFamily="2" charset="-122"/>
              </a:rPr>
              <a:t> uAR</a:t>
            </a:r>
            <a:r>
              <a:rPr lang="zh-CN" altLang="en-US" dirty="0">
                <a:latin typeface="黑体" pitchFamily="2" charset="-122"/>
                <a:ea typeface="黑体" pitchFamily="2" charset="-122"/>
              </a:rPr>
              <a:t>递增。</a:t>
            </a:r>
          </a:p>
          <a:p>
            <a:pPr indent="266700">
              <a:spcBef>
                <a:spcPct val="0"/>
              </a:spcBef>
            </a:pPr>
            <a:r>
              <a:rPr lang="en-US" altLang="zh-CN" dirty="0">
                <a:latin typeface="黑体" pitchFamily="2" charset="-122"/>
                <a:ea typeface="黑体" pitchFamily="2" charset="-122"/>
              </a:rPr>
              <a:t>2</a:t>
            </a:r>
            <a:r>
              <a:rPr lang="zh-CN" altLang="en-US" dirty="0">
                <a:latin typeface="黑体" pitchFamily="2" charset="-122"/>
                <a:ea typeface="黑体" pitchFamily="2" charset="-122"/>
              </a:rPr>
              <a:t>）无条件转移</a:t>
            </a:r>
            <a:r>
              <a:rPr lang="en-US" altLang="zh-CN" dirty="0">
                <a:latin typeface="宋体" pitchFamily="2" charset="-122"/>
                <a:ea typeface="黑体" pitchFamily="2" charset="-122"/>
              </a:rPr>
              <a:t>——</a:t>
            </a:r>
            <a:r>
              <a:rPr lang="en-US" altLang="zh-CN" dirty="0">
                <a:latin typeface="黑体" pitchFamily="2" charset="-122"/>
                <a:ea typeface="黑体" pitchFamily="2" charset="-122"/>
              </a:rPr>
              <a:t>uMAR←NA</a:t>
            </a:r>
          </a:p>
          <a:p>
            <a:pPr indent="266700">
              <a:spcBef>
                <a:spcPct val="0"/>
              </a:spcBef>
            </a:pPr>
            <a:r>
              <a:rPr lang="en-US" altLang="zh-CN" dirty="0">
                <a:latin typeface="黑体" pitchFamily="2" charset="-122"/>
                <a:ea typeface="黑体" pitchFamily="2" charset="-122"/>
              </a:rPr>
              <a:t>3</a:t>
            </a:r>
            <a:r>
              <a:rPr lang="zh-CN" altLang="en-US" dirty="0">
                <a:latin typeface="黑体" pitchFamily="2" charset="-122"/>
                <a:ea typeface="黑体" pitchFamily="2" charset="-122"/>
              </a:rPr>
              <a:t>）条件转移</a:t>
            </a:r>
            <a:r>
              <a:rPr lang="en-US" altLang="zh-CN" dirty="0">
                <a:latin typeface="宋体" pitchFamily="2" charset="-122"/>
                <a:ea typeface="黑体" pitchFamily="2" charset="-122"/>
              </a:rPr>
              <a:t>——</a:t>
            </a:r>
            <a:r>
              <a:rPr lang="en-US" altLang="zh-CN" dirty="0">
                <a:latin typeface="黑体" pitchFamily="2" charset="-122"/>
                <a:ea typeface="黑体" pitchFamily="2" charset="-122"/>
              </a:rPr>
              <a:t>uMAR←uMAR+1</a:t>
            </a:r>
            <a:r>
              <a:rPr lang="zh-CN" altLang="en-US" dirty="0">
                <a:latin typeface="黑体" pitchFamily="2" charset="-122"/>
                <a:ea typeface="黑体" pitchFamily="2" charset="-122"/>
              </a:rPr>
              <a:t>，或 </a:t>
            </a:r>
            <a:r>
              <a:rPr lang="en-US" altLang="zh-CN" dirty="0">
                <a:latin typeface="黑体" pitchFamily="2" charset="-122"/>
                <a:ea typeface="黑体" pitchFamily="2" charset="-122"/>
              </a:rPr>
              <a:t>uMAR←NA</a:t>
            </a:r>
          </a:p>
          <a:p>
            <a:pPr indent="266700">
              <a:spcBef>
                <a:spcPct val="0"/>
              </a:spcBef>
            </a:pPr>
            <a:r>
              <a:rPr lang="en-US" altLang="zh-CN" dirty="0">
                <a:latin typeface="黑体" pitchFamily="2" charset="-122"/>
                <a:ea typeface="黑体" pitchFamily="2" charset="-122"/>
              </a:rPr>
              <a:t>4</a:t>
            </a:r>
            <a:r>
              <a:rPr lang="zh-CN" altLang="en-US" dirty="0">
                <a:latin typeface="黑体" pitchFamily="2" charset="-122"/>
                <a:ea typeface="黑体" pitchFamily="2" charset="-122"/>
              </a:rPr>
              <a:t>）多分支转移</a:t>
            </a:r>
          </a:p>
          <a:p>
            <a:pPr indent="266700">
              <a:spcBef>
                <a:spcPct val="0"/>
              </a:spcBef>
            </a:pPr>
            <a:r>
              <a:rPr lang="zh-CN" altLang="en-US" dirty="0">
                <a:latin typeface="黑体" pitchFamily="2" charset="-122"/>
                <a:ea typeface="黑体" pitchFamily="2" charset="-122"/>
              </a:rPr>
              <a:t>   例如根据机器指令的操作码或寻址方式进行分支。</a:t>
            </a:r>
          </a:p>
          <a:p>
            <a:pPr indent="266700">
              <a:spcBef>
                <a:spcPct val="0"/>
              </a:spcBef>
            </a:pPr>
            <a:r>
              <a:rPr lang="en-US" altLang="zh-CN" dirty="0">
                <a:latin typeface="黑体" pitchFamily="2" charset="-122"/>
                <a:ea typeface="黑体" pitchFamily="2" charset="-122"/>
              </a:rPr>
              <a:t>5</a:t>
            </a:r>
            <a:r>
              <a:rPr lang="zh-CN" altLang="en-US" dirty="0">
                <a:latin typeface="黑体" pitchFamily="2" charset="-122"/>
                <a:ea typeface="黑体" pitchFamily="2" charset="-122"/>
              </a:rPr>
              <a:t>）微地址寄存器首地址的产生</a:t>
            </a:r>
          </a:p>
          <a:p>
            <a:pPr indent="266700">
              <a:spcBef>
                <a:spcPct val="0"/>
              </a:spcBef>
            </a:pPr>
            <a:r>
              <a:rPr lang="zh-CN" altLang="en-US" dirty="0">
                <a:latin typeface="黑体" pitchFamily="2" charset="-122"/>
                <a:ea typeface="黑体" pitchFamily="2" charset="-122"/>
              </a:rPr>
              <a:t>   从取指入口开始，</a:t>
            </a:r>
            <a:r>
              <a:rPr lang="en-US" altLang="zh-CN" dirty="0">
                <a:latin typeface="黑体" pitchFamily="2" charset="-122"/>
                <a:ea typeface="黑体" pitchFamily="2" charset="-122"/>
              </a:rPr>
              <a:t>CPU</a:t>
            </a:r>
            <a:r>
              <a:rPr lang="zh-CN" altLang="en-US" dirty="0">
                <a:latin typeface="黑体" pitchFamily="2" charset="-122"/>
                <a:ea typeface="黑体" pitchFamily="2" charset="-122"/>
              </a:rPr>
              <a:t>被</a:t>
            </a:r>
            <a:r>
              <a:rPr lang="en-US" altLang="zh-CN" dirty="0">
                <a:latin typeface="黑体" pitchFamily="2" charset="-122"/>
                <a:ea typeface="黑体" pitchFamily="2" charset="-122"/>
              </a:rPr>
              <a:t>RESET</a:t>
            </a:r>
            <a:r>
              <a:rPr lang="zh-CN" altLang="en-US" dirty="0">
                <a:latin typeface="黑体" pitchFamily="2" charset="-122"/>
                <a:ea typeface="黑体" pitchFamily="2" charset="-122"/>
              </a:rPr>
              <a:t>时，</a:t>
            </a:r>
            <a:r>
              <a:rPr lang="en-US" altLang="zh-CN" dirty="0">
                <a:latin typeface="黑体" pitchFamily="2" charset="-122"/>
                <a:ea typeface="黑体" pitchFamily="2" charset="-122"/>
              </a:rPr>
              <a:t>uMAR</a:t>
            </a:r>
            <a:r>
              <a:rPr lang="zh-CN" altLang="en-US" dirty="0">
                <a:latin typeface="黑体" pitchFamily="2" charset="-122"/>
                <a:ea typeface="黑体" pitchFamily="2" charset="-122"/>
              </a:rPr>
              <a:t>也指向该入口。</a:t>
            </a:r>
            <a:endParaRPr lang="en-US" altLang="zh-CN" dirty="0">
              <a:latin typeface="黑体" pitchFamily="2" charset="-122"/>
              <a:ea typeface="黑体" pitchFamily="2" charset="-122"/>
            </a:endParaRPr>
          </a:p>
        </p:txBody>
      </p:sp>
      <p:sp>
        <p:nvSpPr>
          <p:cNvPr id="102403" name="Rectangle 3"/>
          <p:cNvSpPr>
            <a:spLocks noChangeArrowheads="1"/>
          </p:cNvSpPr>
          <p:nvPr/>
        </p:nvSpPr>
        <p:spPr bwMode="auto">
          <a:xfrm>
            <a:off x="414338" y="836613"/>
            <a:ext cx="8199437"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0"/>
              </a:spcBef>
            </a:pPr>
            <a:r>
              <a:rPr lang="en-US" altLang="zh-CN" dirty="0">
                <a:solidFill>
                  <a:srgbClr val="00007E"/>
                </a:solidFill>
                <a:latin typeface="黑体" pitchFamily="2" charset="-122"/>
                <a:ea typeface="黑体" pitchFamily="2" charset="-122"/>
              </a:rPr>
              <a:t>    </a:t>
            </a:r>
            <a:r>
              <a:rPr lang="zh-CN" altLang="en-US">
                <a:solidFill>
                  <a:srgbClr val="00007E"/>
                </a:solidFill>
                <a:latin typeface="黑体" pitchFamily="2" charset="-122"/>
                <a:ea typeface="黑体" pitchFamily="2" charset="-122"/>
              </a:rPr>
              <a:t>例如，根据</a:t>
            </a:r>
            <a:r>
              <a:rPr lang="en-US" altLang="zh-CN" dirty="0">
                <a:solidFill>
                  <a:srgbClr val="00007E"/>
                </a:solidFill>
                <a:latin typeface="黑体" pitchFamily="2" charset="-122"/>
                <a:ea typeface="黑体" pitchFamily="2" charset="-122"/>
              </a:rPr>
              <a:t>NAC</a:t>
            </a:r>
            <a:r>
              <a:rPr lang="zh-CN" altLang="en-US">
                <a:solidFill>
                  <a:srgbClr val="00007E"/>
                </a:solidFill>
                <a:latin typeface="黑体" pitchFamily="2" charset="-122"/>
                <a:ea typeface="黑体" pitchFamily="2" charset="-122"/>
              </a:rPr>
              <a:t>的编码可以按如下方式中的一种来确定后继微地址：</a:t>
            </a:r>
          </a:p>
        </p:txBody>
      </p:sp>
    </p:spTree>
  </p:cSld>
  <p:clrMapOvr>
    <a:masterClrMapping/>
  </p:clrMapOvr>
  <p:transition>
    <p:wipe dir="d"/>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9"/>
          <p:cNvSpPr>
            <a:spLocks noChangeArrowheads="1"/>
          </p:cNvSpPr>
          <p:nvPr/>
        </p:nvSpPr>
        <p:spPr bwMode="auto">
          <a:xfrm>
            <a:off x="647700" y="457200"/>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6.5.6 </a:t>
            </a:r>
            <a:r>
              <a:rPr lang="zh-CN" altLang="en-US">
                <a:solidFill>
                  <a:srgbClr val="990000"/>
                </a:solidFill>
                <a:latin typeface="黑体" pitchFamily="2" charset="-122"/>
                <a:ea typeface="黑体" pitchFamily="2" charset="-122"/>
              </a:rPr>
              <a:t>模型机微程序控制器举例</a:t>
            </a:r>
            <a:r>
              <a:rPr lang="zh-CN" altLang="en-US">
                <a:latin typeface="黑体" pitchFamily="2" charset="-122"/>
                <a:ea typeface="黑体" pitchFamily="2" charset="-122"/>
              </a:rPr>
              <a:t> </a:t>
            </a:r>
          </a:p>
        </p:txBody>
      </p:sp>
      <p:sp>
        <p:nvSpPr>
          <p:cNvPr id="103427" name="Rectangle 12"/>
          <p:cNvSpPr>
            <a:spLocks noChangeArrowheads="1"/>
          </p:cNvSpPr>
          <p:nvPr/>
        </p:nvSpPr>
        <p:spPr bwMode="auto">
          <a:xfrm>
            <a:off x="817563" y="1066800"/>
            <a:ext cx="2122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微指令格式</a:t>
            </a:r>
            <a:r>
              <a:rPr lang="zh-CN" altLang="en-US">
                <a:latin typeface="黑体" pitchFamily="2" charset="-122"/>
                <a:ea typeface="黑体" pitchFamily="2" charset="-122"/>
              </a:rPr>
              <a:t> </a:t>
            </a:r>
          </a:p>
        </p:txBody>
      </p:sp>
      <p:sp>
        <p:nvSpPr>
          <p:cNvPr id="103428" name="Text Box 9"/>
          <p:cNvSpPr txBox="1">
            <a:spLocks noChangeArrowheads="1"/>
          </p:cNvSpPr>
          <p:nvPr/>
        </p:nvSpPr>
        <p:spPr bwMode="auto">
          <a:xfrm>
            <a:off x="1504950" y="1852613"/>
            <a:ext cx="11588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1:XX→IB</a:t>
            </a:r>
            <a:endParaRPr lang="en-US" altLang="en-US" sz="1600" dirty="0">
              <a:latin typeface="黑体" pitchFamily="2" charset="-122"/>
              <a:ea typeface="黑体" pitchFamily="2" charset="-122"/>
            </a:endParaRPr>
          </a:p>
        </p:txBody>
      </p:sp>
      <p:sp>
        <p:nvSpPr>
          <p:cNvPr id="103429" name="Text Box 10"/>
          <p:cNvSpPr txBox="1">
            <a:spLocks noChangeArrowheads="1"/>
          </p:cNvSpPr>
          <p:nvPr/>
        </p:nvSpPr>
        <p:spPr bwMode="auto">
          <a:xfrm>
            <a:off x="2663825" y="1852613"/>
            <a:ext cx="11588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2:XXin</a:t>
            </a:r>
          </a:p>
        </p:txBody>
      </p:sp>
      <p:sp>
        <p:nvSpPr>
          <p:cNvPr id="103430" name="Text Box 11"/>
          <p:cNvSpPr txBox="1">
            <a:spLocks noChangeArrowheads="1"/>
          </p:cNvSpPr>
          <p:nvPr/>
        </p:nvSpPr>
        <p:spPr bwMode="auto">
          <a:xfrm>
            <a:off x="3822700" y="1852613"/>
            <a:ext cx="1122363"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3:DR</a:t>
            </a:r>
            <a:endParaRPr lang="en-US" altLang="en-US" sz="1600" dirty="0">
              <a:latin typeface="黑体" pitchFamily="2" charset="-122"/>
              <a:ea typeface="黑体" pitchFamily="2" charset="-122"/>
            </a:endParaRPr>
          </a:p>
        </p:txBody>
      </p:sp>
      <p:sp>
        <p:nvSpPr>
          <p:cNvPr id="103431" name="Text Box 12"/>
          <p:cNvSpPr txBox="1">
            <a:spLocks noChangeArrowheads="1"/>
          </p:cNvSpPr>
          <p:nvPr/>
        </p:nvSpPr>
        <p:spPr bwMode="auto">
          <a:xfrm>
            <a:off x="4945063" y="1852613"/>
            <a:ext cx="1030287"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4:AR</a:t>
            </a:r>
            <a:endParaRPr lang="en-US" altLang="en-US" sz="1600" dirty="0">
              <a:latin typeface="黑体" pitchFamily="2" charset="-122"/>
              <a:ea typeface="黑体" pitchFamily="2" charset="-122"/>
            </a:endParaRPr>
          </a:p>
        </p:txBody>
      </p:sp>
      <p:sp>
        <p:nvSpPr>
          <p:cNvPr id="103432" name="Text Box 13"/>
          <p:cNvSpPr txBox="1">
            <a:spLocks noChangeArrowheads="1"/>
          </p:cNvSpPr>
          <p:nvPr/>
        </p:nvSpPr>
        <p:spPr bwMode="auto">
          <a:xfrm>
            <a:off x="5975350" y="1852613"/>
            <a:ext cx="13239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5:</a:t>
            </a:r>
            <a:r>
              <a:rPr lang="zh-CN" altLang="en-US" sz="1600">
                <a:latin typeface="黑体" pitchFamily="2" charset="-122"/>
                <a:ea typeface="黑体" pitchFamily="2" charset="-122"/>
              </a:rPr>
              <a:t>算逻操作</a:t>
            </a:r>
            <a:endParaRPr lang="en-US" altLang="en-US" sz="1600" dirty="0">
              <a:latin typeface="黑体" pitchFamily="2" charset="-122"/>
              <a:ea typeface="黑体" pitchFamily="2" charset="-122"/>
            </a:endParaRPr>
          </a:p>
        </p:txBody>
      </p:sp>
      <p:sp>
        <p:nvSpPr>
          <p:cNvPr id="103433" name="Text Box 14"/>
          <p:cNvSpPr txBox="1">
            <a:spLocks noChangeArrowheads="1"/>
          </p:cNvSpPr>
          <p:nvPr/>
        </p:nvSpPr>
        <p:spPr bwMode="auto">
          <a:xfrm>
            <a:off x="7299325" y="1852613"/>
            <a:ext cx="11588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6:</a:t>
            </a:r>
            <a:r>
              <a:rPr lang="zh-CN" altLang="en-US" sz="1600">
                <a:latin typeface="黑体" pitchFamily="2" charset="-122"/>
                <a:ea typeface="黑体" pitchFamily="2" charset="-122"/>
              </a:rPr>
              <a:t>计数</a:t>
            </a:r>
          </a:p>
        </p:txBody>
      </p:sp>
      <p:sp>
        <p:nvSpPr>
          <p:cNvPr id="103434" name="Text Box 15"/>
          <p:cNvSpPr txBox="1">
            <a:spLocks noChangeArrowheads="1"/>
          </p:cNvSpPr>
          <p:nvPr/>
        </p:nvSpPr>
        <p:spPr bwMode="auto">
          <a:xfrm>
            <a:off x="1504950" y="1562100"/>
            <a:ext cx="11588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3435" name="Text Box 16"/>
          <p:cNvSpPr txBox="1">
            <a:spLocks noChangeArrowheads="1"/>
          </p:cNvSpPr>
          <p:nvPr/>
        </p:nvSpPr>
        <p:spPr bwMode="auto">
          <a:xfrm>
            <a:off x="2663825" y="1562100"/>
            <a:ext cx="11588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3436" name="Text Box 17"/>
          <p:cNvSpPr txBox="1">
            <a:spLocks noChangeArrowheads="1"/>
          </p:cNvSpPr>
          <p:nvPr/>
        </p:nvSpPr>
        <p:spPr bwMode="auto">
          <a:xfrm>
            <a:off x="3822700" y="1562100"/>
            <a:ext cx="11223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2</a:t>
            </a:r>
            <a:r>
              <a:rPr lang="zh-CN" altLang="en-US" sz="1600">
                <a:latin typeface="黑体" pitchFamily="2" charset="-122"/>
                <a:ea typeface="黑体" pitchFamily="2" charset="-122"/>
              </a:rPr>
              <a:t>位</a:t>
            </a:r>
          </a:p>
        </p:txBody>
      </p:sp>
      <p:sp>
        <p:nvSpPr>
          <p:cNvPr id="103437" name="Text Box 18"/>
          <p:cNvSpPr txBox="1">
            <a:spLocks noChangeArrowheads="1"/>
          </p:cNvSpPr>
          <p:nvPr/>
        </p:nvSpPr>
        <p:spPr bwMode="auto">
          <a:xfrm>
            <a:off x="4945063" y="1562100"/>
            <a:ext cx="1030287"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2</a:t>
            </a:r>
            <a:r>
              <a:rPr lang="zh-CN" altLang="en-US" sz="1600">
                <a:latin typeface="黑体" pitchFamily="2" charset="-122"/>
                <a:ea typeface="黑体" pitchFamily="2" charset="-122"/>
              </a:rPr>
              <a:t>位</a:t>
            </a:r>
          </a:p>
        </p:txBody>
      </p:sp>
      <p:sp>
        <p:nvSpPr>
          <p:cNvPr id="103438" name="Text Box 19"/>
          <p:cNvSpPr txBox="1">
            <a:spLocks noChangeArrowheads="1"/>
          </p:cNvSpPr>
          <p:nvPr/>
        </p:nvSpPr>
        <p:spPr bwMode="auto">
          <a:xfrm>
            <a:off x="5975350" y="1562100"/>
            <a:ext cx="1323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5</a:t>
            </a:r>
            <a:r>
              <a:rPr lang="zh-CN" altLang="en-US" sz="1600">
                <a:latin typeface="黑体" pitchFamily="2" charset="-122"/>
                <a:ea typeface="黑体" pitchFamily="2" charset="-122"/>
              </a:rPr>
              <a:t>位</a:t>
            </a:r>
          </a:p>
        </p:txBody>
      </p:sp>
      <p:sp>
        <p:nvSpPr>
          <p:cNvPr id="103439" name="Text Box 20"/>
          <p:cNvSpPr txBox="1">
            <a:spLocks noChangeArrowheads="1"/>
          </p:cNvSpPr>
          <p:nvPr/>
        </p:nvSpPr>
        <p:spPr bwMode="auto">
          <a:xfrm>
            <a:off x="7299325" y="1562100"/>
            <a:ext cx="11588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3440" name="Text Box 22"/>
          <p:cNvSpPr txBox="1">
            <a:spLocks noChangeArrowheads="1"/>
          </p:cNvSpPr>
          <p:nvPr/>
        </p:nvSpPr>
        <p:spPr bwMode="auto">
          <a:xfrm>
            <a:off x="1646238"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1:AX→IB</a:t>
            </a:r>
          </a:p>
          <a:p>
            <a:pPr eaLnBrk="1" hangingPunct="1">
              <a:lnSpc>
                <a:spcPct val="100000"/>
              </a:lnSpc>
              <a:spcBef>
                <a:spcPct val="0"/>
              </a:spcBef>
            </a:pPr>
            <a:r>
              <a:rPr lang="en-US" altLang="zh-CN" sz="1600" dirty="0">
                <a:latin typeface="黑体" pitchFamily="2" charset="-122"/>
                <a:ea typeface="黑体" pitchFamily="2" charset="-122"/>
              </a:rPr>
              <a:t>2:BX→IB</a:t>
            </a:r>
          </a:p>
          <a:p>
            <a:pPr eaLnBrk="1" hangingPunct="1">
              <a:lnSpc>
                <a:spcPct val="100000"/>
              </a:lnSpc>
              <a:spcBef>
                <a:spcPct val="0"/>
              </a:spcBef>
            </a:pPr>
            <a:r>
              <a:rPr lang="en-US" altLang="zh-CN" sz="1600" dirty="0">
                <a:latin typeface="黑体" pitchFamily="2" charset="-122"/>
                <a:ea typeface="黑体" pitchFamily="2" charset="-122"/>
              </a:rPr>
              <a:t>3:CX→IB</a:t>
            </a:r>
          </a:p>
          <a:p>
            <a:pPr eaLnBrk="1" hangingPunct="1">
              <a:lnSpc>
                <a:spcPct val="100000"/>
              </a:lnSpc>
              <a:spcBef>
                <a:spcPct val="0"/>
              </a:spcBef>
            </a:pPr>
            <a:r>
              <a:rPr lang="en-US" altLang="zh-CN" sz="1600" dirty="0">
                <a:latin typeface="黑体" pitchFamily="2" charset="-122"/>
                <a:ea typeface="黑体" pitchFamily="2" charset="-122"/>
              </a:rPr>
              <a:t>4:DX→IB</a:t>
            </a:r>
          </a:p>
          <a:p>
            <a:pPr eaLnBrk="1" hangingPunct="1">
              <a:lnSpc>
                <a:spcPct val="100000"/>
              </a:lnSpc>
              <a:spcBef>
                <a:spcPct val="0"/>
              </a:spcBef>
            </a:pPr>
            <a:r>
              <a:rPr lang="en-US" altLang="zh-CN" sz="1600" dirty="0">
                <a:latin typeface="黑体" pitchFamily="2" charset="-122"/>
                <a:ea typeface="黑体" pitchFamily="2" charset="-122"/>
              </a:rPr>
              <a:t>5:SI→IB</a:t>
            </a:r>
          </a:p>
          <a:p>
            <a:pPr eaLnBrk="1" hangingPunct="1">
              <a:lnSpc>
                <a:spcPct val="100000"/>
              </a:lnSpc>
              <a:spcBef>
                <a:spcPct val="0"/>
              </a:spcBef>
            </a:pPr>
            <a:r>
              <a:rPr lang="en-US" altLang="zh-CN" sz="1600" dirty="0">
                <a:latin typeface="黑体" pitchFamily="2" charset="-122"/>
                <a:ea typeface="黑体" pitchFamily="2" charset="-122"/>
              </a:rPr>
              <a:t>6:DI→IB</a:t>
            </a:r>
          </a:p>
          <a:p>
            <a:pPr eaLnBrk="1" hangingPunct="1">
              <a:lnSpc>
                <a:spcPct val="100000"/>
              </a:lnSpc>
              <a:spcBef>
                <a:spcPct val="0"/>
              </a:spcBef>
            </a:pPr>
            <a:r>
              <a:rPr lang="en-US" altLang="zh-CN" sz="1600" dirty="0">
                <a:latin typeface="黑体" pitchFamily="2" charset="-122"/>
                <a:ea typeface="黑体" pitchFamily="2" charset="-122"/>
              </a:rPr>
              <a:t>7:BP→IB</a:t>
            </a:r>
          </a:p>
          <a:p>
            <a:pPr eaLnBrk="1" hangingPunct="1">
              <a:lnSpc>
                <a:spcPct val="100000"/>
              </a:lnSpc>
              <a:spcBef>
                <a:spcPct val="0"/>
              </a:spcBef>
            </a:pPr>
            <a:r>
              <a:rPr lang="en-US" altLang="zh-CN" sz="1600" dirty="0">
                <a:latin typeface="黑体" pitchFamily="2" charset="-122"/>
                <a:ea typeface="黑体" pitchFamily="2" charset="-122"/>
              </a:rPr>
              <a:t>8:SP→IB</a:t>
            </a:r>
          </a:p>
          <a:p>
            <a:pPr eaLnBrk="1" hangingPunct="1">
              <a:lnSpc>
                <a:spcPct val="100000"/>
              </a:lnSpc>
              <a:spcBef>
                <a:spcPct val="0"/>
              </a:spcBef>
            </a:pPr>
            <a:r>
              <a:rPr lang="en-US" altLang="zh-CN" sz="1600" dirty="0">
                <a:latin typeface="黑体" pitchFamily="2" charset="-122"/>
                <a:ea typeface="黑体" pitchFamily="2" charset="-122"/>
              </a:rPr>
              <a:t>9:S→IB</a:t>
            </a:r>
          </a:p>
          <a:p>
            <a:pPr eaLnBrk="1" hangingPunct="1">
              <a:lnSpc>
                <a:spcPct val="100000"/>
              </a:lnSpc>
              <a:spcBef>
                <a:spcPct val="0"/>
              </a:spcBef>
            </a:pPr>
            <a:r>
              <a:rPr lang="en-US" altLang="zh-CN" sz="1600" dirty="0">
                <a:latin typeface="黑体" pitchFamily="2" charset="-122"/>
                <a:ea typeface="黑体" pitchFamily="2" charset="-122"/>
              </a:rPr>
              <a:t>A:T→IB B:PC→IB</a:t>
            </a:r>
          </a:p>
          <a:p>
            <a:pPr eaLnBrk="1" hangingPunct="1">
              <a:lnSpc>
                <a:spcPct val="100000"/>
              </a:lnSpc>
              <a:spcBef>
                <a:spcPct val="0"/>
              </a:spcBef>
            </a:pPr>
            <a:r>
              <a:rPr lang="en-US" altLang="zh-CN" sz="1600" dirty="0">
                <a:latin typeface="黑体" pitchFamily="2" charset="-122"/>
                <a:ea typeface="黑体" pitchFamily="2" charset="-122"/>
              </a:rPr>
              <a:t>C:PSW→IB D:DR→IB</a:t>
            </a:r>
          </a:p>
          <a:p>
            <a:pPr eaLnBrk="1" hangingPunct="1">
              <a:lnSpc>
                <a:spcPct val="100000"/>
              </a:lnSpc>
              <a:spcBef>
                <a:spcPct val="0"/>
              </a:spcBef>
            </a:pPr>
            <a:r>
              <a:rPr lang="en-US" altLang="zh-CN" sz="1600" dirty="0">
                <a:latin typeface="黑体" pitchFamily="2" charset="-122"/>
                <a:ea typeface="黑体" pitchFamily="2" charset="-122"/>
              </a:rPr>
              <a:t>E:Rx→IB</a:t>
            </a:r>
          </a:p>
          <a:p>
            <a:pPr eaLnBrk="1" hangingPunct="1">
              <a:lnSpc>
                <a:spcPct val="100000"/>
              </a:lnSpc>
              <a:spcBef>
                <a:spcPct val="0"/>
              </a:spcBef>
            </a:pPr>
            <a:r>
              <a:rPr lang="en-US" altLang="zh-CN" sz="1600" dirty="0">
                <a:latin typeface="黑体" pitchFamily="2" charset="-122"/>
                <a:ea typeface="黑体" pitchFamily="2" charset="-122"/>
              </a:rPr>
              <a:t>F:Ry→IB</a:t>
            </a: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3441" name="Text Box 28"/>
          <p:cNvSpPr txBox="1">
            <a:spLocks noChangeArrowheads="1"/>
          </p:cNvSpPr>
          <p:nvPr/>
        </p:nvSpPr>
        <p:spPr bwMode="auto">
          <a:xfrm>
            <a:off x="2921000"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1:AXin</a:t>
            </a:r>
          </a:p>
          <a:p>
            <a:pPr eaLnBrk="1" hangingPunct="1">
              <a:lnSpc>
                <a:spcPct val="100000"/>
              </a:lnSpc>
              <a:spcBef>
                <a:spcPct val="0"/>
              </a:spcBef>
            </a:pPr>
            <a:r>
              <a:rPr lang="en-US" altLang="zh-CN" sz="1600" dirty="0">
                <a:latin typeface="黑体" pitchFamily="2" charset="-122"/>
                <a:ea typeface="黑体" pitchFamily="2" charset="-122"/>
              </a:rPr>
              <a:t>2:BXin</a:t>
            </a:r>
          </a:p>
          <a:p>
            <a:pPr eaLnBrk="1" hangingPunct="1">
              <a:lnSpc>
                <a:spcPct val="100000"/>
              </a:lnSpc>
              <a:spcBef>
                <a:spcPct val="0"/>
              </a:spcBef>
            </a:pPr>
            <a:r>
              <a:rPr lang="en-US" altLang="zh-CN" sz="1600" dirty="0">
                <a:latin typeface="黑体" pitchFamily="2" charset="-122"/>
                <a:ea typeface="黑体" pitchFamily="2" charset="-122"/>
              </a:rPr>
              <a:t>3:CXin</a:t>
            </a:r>
          </a:p>
          <a:p>
            <a:pPr eaLnBrk="1" hangingPunct="1">
              <a:lnSpc>
                <a:spcPct val="100000"/>
              </a:lnSpc>
              <a:spcBef>
                <a:spcPct val="0"/>
              </a:spcBef>
            </a:pPr>
            <a:r>
              <a:rPr lang="en-US" altLang="zh-CN" sz="1600" dirty="0">
                <a:latin typeface="黑体" pitchFamily="2" charset="-122"/>
                <a:ea typeface="黑体" pitchFamily="2" charset="-122"/>
              </a:rPr>
              <a:t>4:DXin</a:t>
            </a:r>
          </a:p>
          <a:p>
            <a:pPr eaLnBrk="1" hangingPunct="1">
              <a:lnSpc>
                <a:spcPct val="100000"/>
              </a:lnSpc>
              <a:spcBef>
                <a:spcPct val="0"/>
              </a:spcBef>
            </a:pPr>
            <a:r>
              <a:rPr lang="en-US" altLang="zh-CN" sz="1600" dirty="0">
                <a:latin typeface="黑体" pitchFamily="2" charset="-122"/>
                <a:ea typeface="黑体" pitchFamily="2" charset="-122"/>
              </a:rPr>
              <a:t>5:SIin</a:t>
            </a:r>
          </a:p>
          <a:p>
            <a:pPr eaLnBrk="1" hangingPunct="1">
              <a:lnSpc>
                <a:spcPct val="100000"/>
              </a:lnSpc>
              <a:spcBef>
                <a:spcPct val="0"/>
              </a:spcBef>
            </a:pPr>
            <a:r>
              <a:rPr lang="en-US" altLang="zh-CN" sz="1600" dirty="0">
                <a:latin typeface="黑体" pitchFamily="2" charset="-122"/>
                <a:ea typeface="黑体" pitchFamily="2" charset="-122"/>
              </a:rPr>
              <a:t>6:DIin</a:t>
            </a:r>
          </a:p>
          <a:p>
            <a:pPr eaLnBrk="1" hangingPunct="1">
              <a:lnSpc>
                <a:spcPct val="100000"/>
              </a:lnSpc>
              <a:spcBef>
                <a:spcPct val="0"/>
              </a:spcBef>
            </a:pPr>
            <a:r>
              <a:rPr lang="en-US" altLang="zh-CN" sz="1600" dirty="0">
                <a:latin typeface="黑体" pitchFamily="2" charset="-122"/>
                <a:ea typeface="黑体" pitchFamily="2" charset="-122"/>
              </a:rPr>
              <a:t>7:BPin</a:t>
            </a:r>
          </a:p>
          <a:p>
            <a:pPr eaLnBrk="1" hangingPunct="1">
              <a:lnSpc>
                <a:spcPct val="100000"/>
              </a:lnSpc>
              <a:spcBef>
                <a:spcPct val="0"/>
              </a:spcBef>
            </a:pPr>
            <a:r>
              <a:rPr lang="en-US" altLang="zh-CN" sz="1600" dirty="0">
                <a:latin typeface="黑体" pitchFamily="2" charset="-122"/>
                <a:ea typeface="黑体" pitchFamily="2" charset="-122"/>
              </a:rPr>
              <a:t>8:SPin</a:t>
            </a:r>
          </a:p>
          <a:p>
            <a:pPr eaLnBrk="1" hangingPunct="1">
              <a:lnSpc>
                <a:spcPct val="100000"/>
              </a:lnSpc>
              <a:spcBef>
                <a:spcPct val="0"/>
              </a:spcBef>
            </a:pPr>
            <a:r>
              <a:rPr lang="en-US" altLang="zh-CN" sz="1600" dirty="0">
                <a:latin typeface="黑体" pitchFamily="2" charset="-122"/>
                <a:ea typeface="黑体" pitchFamily="2" charset="-122"/>
              </a:rPr>
              <a:t>9:Sin</a:t>
            </a:r>
          </a:p>
          <a:p>
            <a:pPr eaLnBrk="1" hangingPunct="1">
              <a:lnSpc>
                <a:spcPct val="100000"/>
              </a:lnSpc>
              <a:spcBef>
                <a:spcPct val="0"/>
              </a:spcBef>
            </a:pPr>
            <a:r>
              <a:rPr lang="en-US" altLang="zh-CN" sz="1600" dirty="0">
                <a:latin typeface="黑体" pitchFamily="2" charset="-122"/>
                <a:ea typeface="黑体" pitchFamily="2" charset="-122"/>
              </a:rPr>
              <a:t>A:Tin B:PCin</a:t>
            </a:r>
          </a:p>
          <a:p>
            <a:pPr eaLnBrk="1" hangingPunct="1">
              <a:lnSpc>
                <a:spcPct val="100000"/>
              </a:lnSpc>
              <a:spcBef>
                <a:spcPct val="0"/>
              </a:spcBef>
            </a:pPr>
            <a:r>
              <a:rPr lang="en-US" altLang="zh-CN" sz="1600" dirty="0">
                <a:latin typeface="黑体" pitchFamily="2" charset="-122"/>
                <a:ea typeface="黑体" pitchFamily="2" charset="-122"/>
              </a:rPr>
              <a:t>C:PSWin D:DRin</a:t>
            </a:r>
          </a:p>
          <a:p>
            <a:pPr eaLnBrk="1" hangingPunct="1">
              <a:lnSpc>
                <a:spcPct val="100000"/>
              </a:lnSpc>
              <a:spcBef>
                <a:spcPct val="0"/>
              </a:spcBef>
            </a:pPr>
            <a:r>
              <a:rPr lang="en-US" altLang="zh-CN" sz="1600" dirty="0">
                <a:latin typeface="黑体" pitchFamily="2" charset="-122"/>
                <a:ea typeface="黑体" pitchFamily="2" charset="-122"/>
              </a:rPr>
              <a:t>E:Rxin</a:t>
            </a:r>
          </a:p>
          <a:p>
            <a:pPr eaLnBrk="1" hangingPunct="1">
              <a:lnSpc>
                <a:spcPct val="100000"/>
              </a:lnSpc>
              <a:spcBef>
                <a:spcPct val="0"/>
              </a:spcBef>
            </a:pPr>
            <a:r>
              <a:rPr lang="en-US" altLang="zh-CN" sz="1600" dirty="0">
                <a:latin typeface="黑体" pitchFamily="2" charset="-122"/>
                <a:ea typeface="黑体" pitchFamily="2" charset="-122"/>
              </a:rPr>
              <a:t>F:Ryin</a:t>
            </a: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3442" name="Text Box 29"/>
          <p:cNvSpPr txBox="1">
            <a:spLocks noChangeArrowheads="1"/>
          </p:cNvSpPr>
          <p:nvPr/>
        </p:nvSpPr>
        <p:spPr bwMode="auto">
          <a:xfrm>
            <a:off x="4041775"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1:DR→DB</a:t>
            </a:r>
          </a:p>
          <a:p>
            <a:pPr eaLnBrk="1" hangingPunct="1">
              <a:lnSpc>
                <a:spcPct val="100000"/>
              </a:lnSpc>
              <a:spcBef>
                <a:spcPct val="0"/>
              </a:spcBef>
            </a:pPr>
            <a:r>
              <a:rPr lang="en-US" altLang="zh-CN" sz="1600" dirty="0">
                <a:latin typeface="黑体" pitchFamily="2" charset="-122"/>
                <a:ea typeface="黑体" pitchFamily="2" charset="-122"/>
              </a:rPr>
              <a:t>2:DB→DR</a:t>
            </a: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3443" name="Text Box 30"/>
          <p:cNvSpPr txBox="1">
            <a:spLocks noChangeArrowheads="1"/>
          </p:cNvSpPr>
          <p:nvPr/>
        </p:nvSpPr>
        <p:spPr bwMode="auto">
          <a:xfrm>
            <a:off x="5172075"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1:AR→AB</a:t>
            </a:r>
          </a:p>
          <a:p>
            <a:pPr eaLnBrk="1" hangingPunct="1">
              <a:lnSpc>
                <a:spcPct val="100000"/>
              </a:lnSpc>
              <a:spcBef>
                <a:spcPct val="0"/>
              </a:spcBef>
            </a:pPr>
            <a:r>
              <a:rPr lang="en-US" altLang="zh-CN" sz="1600" dirty="0">
                <a:latin typeface="黑体" pitchFamily="2" charset="-122"/>
                <a:ea typeface="黑体" pitchFamily="2" charset="-122"/>
              </a:rPr>
              <a:t>2:ARin</a:t>
            </a:r>
          </a:p>
          <a:p>
            <a:pPr eaLnBrk="1" hangingPunct="1">
              <a:lnSpc>
                <a:spcPct val="100000"/>
              </a:lnSpc>
              <a:spcBef>
                <a:spcPct val="0"/>
              </a:spcBef>
            </a:pPr>
            <a:r>
              <a:rPr lang="en-US" altLang="zh-CN" sz="1600" dirty="0">
                <a:latin typeface="黑体" pitchFamily="2" charset="-122"/>
                <a:ea typeface="黑体" pitchFamily="2" charset="-122"/>
              </a:rPr>
              <a:t>3:DRin</a:t>
            </a: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3444" name="Text Box 31"/>
          <p:cNvSpPr txBox="1">
            <a:spLocks noChangeArrowheads="1"/>
          </p:cNvSpPr>
          <p:nvPr/>
        </p:nvSpPr>
        <p:spPr bwMode="auto">
          <a:xfrm>
            <a:off x="6281738"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01:ADD</a:t>
            </a:r>
          </a:p>
          <a:p>
            <a:pPr eaLnBrk="1" hangingPunct="1">
              <a:lnSpc>
                <a:spcPct val="100000"/>
              </a:lnSpc>
              <a:spcBef>
                <a:spcPct val="0"/>
              </a:spcBef>
            </a:pPr>
            <a:r>
              <a:rPr lang="en-US" altLang="zh-CN" sz="1600" dirty="0">
                <a:latin typeface="黑体" pitchFamily="2" charset="-122"/>
                <a:ea typeface="黑体" pitchFamily="2" charset="-122"/>
              </a:rPr>
              <a:t>02:ADC</a:t>
            </a:r>
          </a:p>
          <a:p>
            <a:pPr eaLnBrk="1" hangingPunct="1">
              <a:lnSpc>
                <a:spcPct val="100000"/>
              </a:lnSpc>
              <a:spcBef>
                <a:spcPct val="0"/>
              </a:spcBef>
            </a:pPr>
            <a:r>
              <a:rPr lang="en-US" altLang="zh-CN" sz="1600" dirty="0">
                <a:latin typeface="黑体" pitchFamily="2" charset="-122"/>
                <a:ea typeface="黑体" pitchFamily="2" charset="-122"/>
              </a:rPr>
              <a:t>03:SUB</a:t>
            </a:r>
          </a:p>
          <a:p>
            <a:pPr eaLnBrk="1" hangingPunct="1">
              <a:lnSpc>
                <a:spcPct val="100000"/>
              </a:lnSpc>
              <a:spcBef>
                <a:spcPct val="0"/>
              </a:spcBef>
            </a:pPr>
            <a:r>
              <a:rPr lang="en-US" altLang="zh-CN" sz="1600" dirty="0">
                <a:latin typeface="黑体" pitchFamily="2" charset="-122"/>
                <a:ea typeface="黑体" pitchFamily="2" charset="-122"/>
              </a:rPr>
              <a:t>04:SUBB</a:t>
            </a:r>
          </a:p>
          <a:p>
            <a:pPr eaLnBrk="1" hangingPunct="1">
              <a:lnSpc>
                <a:spcPct val="100000"/>
              </a:lnSpc>
              <a:spcBef>
                <a:spcPct val="0"/>
              </a:spcBef>
            </a:pPr>
            <a:r>
              <a:rPr lang="en-US" altLang="zh-CN" sz="1600" dirty="0">
                <a:latin typeface="黑体" pitchFamily="2" charset="-122"/>
                <a:ea typeface="黑体" pitchFamily="2" charset="-122"/>
              </a:rPr>
              <a:t>05:AND</a:t>
            </a:r>
          </a:p>
          <a:p>
            <a:pPr eaLnBrk="1" hangingPunct="1">
              <a:lnSpc>
                <a:spcPct val="100000"/>
              </a:lnSpc>
              <a:spcBef>
                <a:spcPct val="0"/>
              </a:spcBef>
            </a:pPr>
            <a:r>
              <a:rPr lang="en-US" altLang="zh-CN" sz="1600" dirty="0">
                <a:latin typeface="黑体" pitchFamily="2" charset="-122"/>
                <a:ea typeface="黑体" pitchFamily="2" charset="-122"/>
              </a:rPr>
              <a:t>06:OR</a:t>
            </a:r>
          </a:p>
          <a:p>
            <a:pPr eaLnBrk="1" hangingPunct="1">
              <a:lnSpc>
                <a:spcPct val="100000"/>
              </a:lnSpc>
              <a:spcBef>
                <a:spcPct val="0"/>
              </a:spcBef>
            </a:pPr>
            <a:r>
              <a:rPr lang="en-US" altLang="zh-CN" sz="1600" dirty="0">
                <a:latin typeface="黑体" pitchFamily="2" charset="-122"/>
                <a:ea typeface="黑体" pitchFamily="2" charset="-122"/>
              </a:rPr>
              <a:t>07:XOR</a:t>
            </a:r>
          </a:p>
          <a:p>
            <a:pPr eaLnBrk="1" hangingPunct="1">
              <a:lnSpc>
                <a:spcPct val="100000"/>
              </a:lnSpc>
              <a:spcBef>
                <a:spcPct val="0"/>
              </a:spcBef>
            </a:pPr>
            <a:r>
              <a:rPr lang="en-US" altLang="zh-CN" sz="1600" dirty="0">
                <a:latin typeface="黑体" pitchFamily="2" charset="-122"/>
                <a:ea typeface="黑体" pitchFamily="2" charset="-122"/>
              </a:rPr>
              <a:t>08:SAL</a:t>
            </a:r>
          </a:p>
          <a:p>
            <a:pPr eaLnBrk="1" hangingPunct="1">
              <a:lnSpc>
                <a:spcPct val="100000"/>
              </a:lnSpc>
              <a:spcBef>
                <a:spcPct val="0"/>
              </a:spcBef>
            </a:pPr>
            <a:r>
              <a:rPr lang="en-US" altLang="zh-CN" sz="1600" dirty="0">
                <a:latin typeface="黑体" pitchFamily="2" charset="-122"/>
                <a:ea typeface="黑体" pitchFamily="2" charset="-122"/>
              </a:rPr>
              <a:t>09:SAR</a:t>
            </a:r>
          </a:p>
          <a:p>
            <a:pPr eaLnBrk="1" hangingPunct="1">
              <a:lnSpc>
                <a:spcPct val="100000"/>
              </a:lnSpc>
              <a:spcBef>
                <a:spcPct val="0"/>
              </a:spcBef>
            </a:pPr>
            <a:r>
              <a:rPr lang="en-US" altLang="zh-CN" sz="1600" dirty="0">
                <a:latin typeface="黑体" pitchFamily="2" charset="-122"/>
                <a:ea typeface="黑体" pitchFamily="2" charset="-122"/>
              </a:rPr>
              <a:t>0A:SHR 0B:ROL</a:t>
            </a:r>
          </a:p>
          <a:p>
            <a:pPr eaLnBrk="1" hangingPunct="1">
              <a:lnSpc>
                <a:spcPct val="100000"/>
              </a:lnSpc>
              <a:spcBef>
                <a:spcPct val="0"/>
              </a:spcBef>
            </a:pPr>
            <a:r>
              <a:rPr lang="en-US" altLang="zh-CN" sz="1600" dirty="0">
                <a:latin typeface="黑体" pitchFamily="2" charset="-122"/>
                <a:ea typeface="黑体" pitchFamily="2" charset="-122"/>
              </a:rPr>
              <a:t>0C:ROR 0D:RCL</a:t>
            </a:r>
          </a:p>
          <a:p>
            <a:pPr eaLnBrk="1" hangingPunct="1">
              <a:lnSpc>
                <a:spcPct val="100000"/>
              </a:lnSpc>
              <a:spcBef>
                <a:spcPct val="0"/>
              </a:spcBef>
            </a:pPr>
            <a:r>
              <a:rPr lang="en-US" altLang="zh-CN" sz="1600" dirty="0">
                <a:latin typeface="黑体" pitchFamily="2" charset="-122"/>
                <a:ea typeface="黑体" pitchFamily="2" charset="-122"/>
              </a:rPr>
              <a:t>0E:RCR</a:t>
            </a:r>
          </a:p>
          <a:p>
            <a:pPr eaLnBrk="1" hangingPunct="1">
              <a:lnSpc>
                <a:spcPct val="100000"/>
              </a:lnSpc>
              <a:spcBef>
                <a:spcPct val="0"/>
              </a:spcBef>
            </a:pPr>
            <a:r>
              <a:rPr lang="en-US" altLang="zh-CN" sz="1600" dirty="0">
                <a:latin typeface="黑体" pitchFamily="2" charset="-122"/>
                <a:ea typeface="黑体" pitchFamily="2" charset="-122"/>
              </a:rPr>
              <a:t> </a:t>
            </a: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3445" name="Text Box 32"/>
          <p:cNvSpPr txBox="1">
            <a:spLocks noChangeArrowheads="1"/>
          </p:cNvSpPr>
          <p:nvPr/>
        </p:nvSpPr>
        <p:spPr bwMode="auto">
          <a:xfrm>
            <a:off x="7440613" y="2208213"/>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1:+2DI</a:t>
            </a:r>
          </a:p>
          <a:p>
            <a:pPr eaLnBrk="1" hangingPunct="1">
              <a:lnSpc>
                <a:spcPct val="100000"/>
              </a:lnSpc>
              <a:spcBef>
                <a:spcPct val="0"/>
              </a:spcBef>
            </a:pPr>
            <a:r>
              <a:rPr lang="en-US" altLang="zh-CN" sz="1600" dirty="0">
                <a:latin typeface="黑体" pitchFamily="2" charset="-122"/>
                <a:ea typeface="黑体" pitchFamily="2" charset="-122"/>
              </a:rPr>
              <a:t>2:-2DI</a:t>
            </a:r>
          </a:p>
          <a:p>
            <a:pPr eaLnBrk="1" hangingPunct="1">
              <a:lnSpc>
                <a:spcPct val="100000"/>
              </a:lnSpc>
              <a:spcBef>
                <a:spcPct val="0"/>
              </a:spcBef>
            </a:pPr>
            <a:r>
              <a:rPr lang="en-US" altLang="zh-CN" sz="1600" dirty="0">
                <a:latin typeface="黑体" pitchFamily="2" charset="-122"/>
                <a:ea typeface="黑体" pitchFamily="2" charset="-122"/>
              </a:rPr>
              <a:t>3:+2SP</a:t>
            </a:r>
          </a:p>
          <a:p>
            <a:pPr eaLnBrk="1" hangingPunct="1">
              <a:lnSpc>
                <a:spcPct val="100000"/>
              </a:lnSpc>
              <a:spcBef>
                <a:spcPct val="0"/>
              </a:spcBef>
            </a:pPr>
            <a:r>
              <a:rPr lang="en-US" altLang="zh-CN" sz="1600" dirty="0">
                <a:latin typeface="黑体" pitchFamily="2" charset="-122"/>
                <a:ea typeface="黑体" pitchFamily="2" charset="-122"/>
              </a:rPr>
              <a:t>4:-2SP</a:t>
            </a:r>
          </a:p>
          <a:p>
            <a:pPr eaLnBrk="1" hangingPunct="1">
              <a:lnSpc>
                <a:spcPct val="100000"/>
              </a:lnSpc>
              <a:spcBef>
                <a:spcPct val="0"/>
              </a:spcBef>
            </a:pPr>
            <a:r>
              <a:rPr lang="en-US" altLang="zh-CN" sz="1600" dirty="0">
                <a:latin typeface="黑体" pitchFamily="2" charset="-122"/>
                <a:ea typeface="黑体" pitchFamily="2" charset="-122"/>
              </a:rPr>
              <a:t>5:+2PC</a:t>
            </a:r>
          </a:p>
          <a:p>
            <a:pPr eaLnBrk="1" hangingPunct="1">
              <a:lnSpc>
                <a:spcPct val="100000"/>
              </a:lnSpc>
              <a:spcBef>
                <a:spcPct val="0"/>
              </a:spcBef>
            </a:pPr>
            <a:r>
              <a:rPr lang="en-US" altLang="zh-CN" sz="1600" dirty="0">
                <a:latin typeface="黑体" pitchFamily="2" charset="-122"/>
                <a:ea typeface="黑体" pitchFamily="2" charset="-122"/>
              </a:rPr>
              <a:t>6:0→PC</a:t>
            </a:r>
          </a:p>
          <a:p>
            <a:pPr eaLnBrk="1" hangingPunct="1">
              <a:lnSpc>
                <a:spcPct val="100000"/>
              </a:lnSpc>
              <a:spcBef>
                <a:spcPct val="0"/>
              </a:spcBef>
            </a:pPr>
            <a:r>
              <a:rPr lang="en-US" altLang="zh-CN" sz="1600" dirty="0">
                <a:latin typeface="黑体" pitchFamily="2" charset="-122"/>
                <a:ea typeface="黑体" pitchFamily="2" charset="-122"/>
              </a:rPr>
              <a:t>7:-1CT</a:t>
            </a:r>
          </a:p>
          <a:p>
            <a:pPr eaLnBrk="1" hangingPunct="1">
              <a:lnSpc>
                <a:spcPct val="100000"/>
              </a:lnSpc>
              <a:spcBef>
                <a:spcPct val="0"/>
              </a:spcBef>
            </a:pPr>
            <a:r>
              <a:rPr lang="en-US" altLang="zh-CN" sz="1600" dirty="0">
                <a:latin typeface="黑体" pitchFamily="2" charset="-122"/>
                <a:ea typeface="黑体" pitchFamily="2" charset="-122"/>
              </a:rPr>
              <a:t>8:+1CT</a:t>
            </a:r>
          </a:p>
          <a:p>
            <a:pPr eaLnBrk="1" hangingPunct="1">
              <a:lnSpc>
                <a:spcPct val="100000"/>
              </a:lnSpc>
              <a:spcBef>
                <a:spcPct val="0"/>
              </a:spcBef>
            </a:pPr>
            <a:r>
              <a:rPr lang="en-US" altLang="zh-CN" sz="1600" dirty="0">
                <a:latin typeface="黑体" pitchFamily="2" charset="-122"/>
                <a:ea typeface="黑体" pitchFamily="2" charset="-122"/>
              </a:rPr>
              <a:t>9:0→CT</a:t>
            </a:r>
          </a:p>
        </p:txBody>
      </p:sp>
      <p:sp>
        <p:nvSpPr>
          <p:cNvPr id="103446"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a:solidFill>
                  <a:schemeClr val="bg1"/>
                </a:solidFill>
                <a:latin typeface="宋体" pitchFamily="2" charset="-122"/>
                <a:ea typeface="宋体" pitchFamily="2" charset="-122"/>
              </a:rPr>
              <a:t>对照图</a:t>
            </a:r>
            <a:endParaRPr kumimoji="1" lang="zh-CN" altLang="en-US" sz="1800" u="sng">
              <a:solidFill>
                <a:srgbClr val="008000"/>
              </a:solidFill>
              <a:latin typeface="宋体" pitchFamily="2" charset="-122"/>
              <a:ea typeface="宋体" pitchFamily="2" charset="-122"/>
            </a:endParaRPr>
          </a:p>
        </p:txBody>
      </p:sp>
    </p:spTree>
  </p:cSld>
  <p:clrMapOvr>
    <a:masterClrMapping/>
  </p:clrMapOvr>
  <p:transition>
    <p:wipe dir="d"/>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9"/>
          <p:cNvSpPr>
            <a:spLocks noChangeArrowheads="1"/>
          </p:cNvSpPr>
          <p:nvPr/>
        </p:nvSpPr>
        <p:spPr bwMode="auto">
          <a:xfrm>
            <a:off x="647700" y="457200"/>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6.5.6 </a:t>
            </a:r>
            <a:r>
              <a:rPr lang="zh-CN" altLang="en-US">
                <a:solidFill>
                  <a:srgbClr val="990000"/>
                </a:solidFill>
                <a:latin typeface="黑体" pitchFamily="2" charset="-122"/>
                <a:ea typeface="黑体" pitchFamily="2" charset="-122"/>
              </a:rPr>
              <a:t>模型机微程序控制器举例</a:t>
            </a:r>
            <a:r>
              <a:rPr lang="zh-CN" altLang="en-US">
                <a:latin typeface="黑体" pitchFamily="2" charset="-122"/>
                <a:ea typeface="黑体" pitchFamily="2" charset="-122"/>
              </a:rPr>
              <a:t> </a:t>
            </a:r>
          </a:p>
        </p:txBody>
      </p:sp>
      <p:sp>
        <p:nvSpPr>
          <p:cNvPr id="104451" name="Text Box 9"/>
          <p:cNvSpPr txBox="1">
            <a:spLocks noChangeArrowheads="1"/>
          </p:cNvSpPr>
          <p:nvPr/>
        </p:nvSpPr>
        <p:spPr bwMode="auto">
          <a:xfrm>
            <a:off x="1600200" y="1938338"/>
            <a:ext cx="11588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7:</a:t>
            </a:r>
            <a:r>
              <a:rPr lang="zh-CN" altLang="en-US" sz="1600">
                <a:latin typeface="黑体" pitchFamily="2" charset="-122"/>
                <a:ea typeface="黑体" pitchFamily="2" charset="-122"/>
              </a:rPr>
              <a:t>其它</a:t>
            </a:r>
            <a:endParaRPr lang="en-US" altLang="en-US" sz="1600" dirty="0">
              <a:latin typeface="黑体" pitchFamily="2" charset="-122"/>
              <a:ea typeface="黑体" pitchFamily="2" charset="-122"/>
            </a:endParaRPr>
          </a:p>
        </p:txBody>
      </p:sp>
      <p:sp>
        <p:nvSpPr>
          <p:cNvPr id="104452" name="Text Box 10"/>
          <p:cNvSpPr txBox="1">
            <a:spLocks noChangeArrowheads="1"/>
          </p:cNvSpPr>
          <p:nvPr/>
        </p:nvSpPr>
        <p:spPr bwMode="auto">
          <a:xfrm>
            <a:off x="2759075" y="1938338"/>
            <a:ext cx="1882775"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8:</a:t>
            </a:r>
            <a:r>
              <a:rPr lang="zh-CN" altLang="en-US" sz="1600">
                <a:latin typeface="黑体" pitchFamily="2" charset="-122"/>
                <a:ea typeface="黑体" pitchFamily="2" charset="-122"/>
              </a:rPr>
              <a:t>次地址 </a:t>
            </a:r>
            <a:r>
              <a:rPr lang="en-US" altLang="zh-CN" sz="1600" dirty="0">
                <a:latin typeface="黑体" pitchFamily="2" charset="-122"/>
                <a:ea typeface="黑体" pitchFamily="2" charset="-122"/>
              </a:rPr>
              <a:t>NA</a:t>
            </a:r>
          </a:p>
        </p:txBody>
      </p:sp>
      <p:sp>
        <p:nvSpPr>
          <p:cNvPr id="104453" name="Text Box 11"/>
          <p:cNvSpPr txBox="1">
            <a:spLocks noChangeArrowheads="1"/>
          </p:cNvSpPr>
          <p:nvPr/>
        </p:nvSpPr>
        <p:spPr bwMode="auto">
          <a:xfrm>
            <a:off x="4641850" y="1938338"/>
            <a:ext cx="1238250" cy="252412"/>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9:NAC</a:t>
            </a:r>
            <a:endParaRPr lang="en-US" altLang="en-US" sz="1600" dirty="0">
              <a:latin typeface="黑体" pitchFamily="2" charset="-122"/>
              <a:ea typeface="黑体" pitchFamily="2" charset="-122"/>
            </a:endParaRPr>
          </a:p>
        </p:txBody>
      </p:sp>
      <p:sp>
        <p:nvSpPr>
          <p:cNvPr id="104454" name="Text Box 15"/>
          <p:cNvSpPr txBox="1">
            <a:spLocks noChangeArrowheads="1"/>
          </p:cNvSpPr>
          <p:nvPr/>
        </p:nvSpPr>
        <p:spPr bwMode="auto">
          <a:xfrm>
            <a:off x="1600200" y="1647825"/>
            <a:ext cx="11588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4455" name="Text Box 16"/>
          <p:cNvSpPr txBox="1">
            <a:spLocks noChangeArrowheads="1"/>
          </p:cNvSpPr>
          <p:nvPr/>
        </p:nvSpPr>
        <p:spPr bwMode="auto">
          <a:xfrm>
            <a:off x="2759075" y="1647825"/>
            <a:ext cx="18827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9</a:t>
            </a:r>
            <a:r>
              <a:rPr lang="zh-CN" altLang="en-US" sz="1600">
                <a:latin typeface="黑体" pitchFamily="2" charset="-122"/>
                <a:ea typeface="黑体" pitchFamily="2" charset="-122"/>
              </a:rPr>
              <a:t>位</a:t>
            </a:r>
          </a:p>
        </p:txBody>
      </p:sp>
      <p:sp>
        <p:nvSpPr>
          <p:cNvPr id="104456" name="Text Box 17"/>
          <p:cNvSpPr txBox="1">
            <a:spLocks noChangeArrowheads="1"/>
          </p:cNvSpPr>
          <p:nvPr/>
        </p:nvSpPr>
        <p:spPr bwMode="auto">
          <a:xfrm>
            <a:off x="4641850" y="1647825"/>
            <a:ext cx="123825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4457" name="Text Box 21"/>
          <p:cNvSpPr txBox="1">
            <a:spLocks noChangeArrowheads="1"/>
          </p:cNvSpPr>
          <p:nvPr/>
        </p:nvSpPr>
        <p:spPr bwMode="auto">
          <a:xfrm>
            <a:off x="1741488" y="2293938"/>
            <a:ext cx="11588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1:MMRD</a:t>
            </a:r>
          </a:p>
          <a:p>
            <a:pPr eaLnBrk="1" hangingPunct="1">
              <a:lnSpc>
                <a:spcPct val="100000"/>
              </a:lnSpc>
              <a:spcBef>
                <a:spcPct val="0"/>
              </a:spcBef>
            </a:pPr>
            <a:r>
              <a:rPr lang="en-US" altLang="zh-CN" sz="1600" dirty="0">
                <a:latin typeface="黑体" pitchFamily="2" charset="-122"/>
                <a:ea typeface="黑体" pitchFamily="2" charset="-122"/>
              </a:rPr>
              <a:t>2:MMWR</a:t>
            </a:r>
          </a:p>
          <a:p>
            <a:pPr eaLnBrk="1" hangingPunct="1">
              <a:lnSpc>
                <a:spcPct val="100000"/>
              </a:lnSpc>
              <a:spcBef>
                <a:spcPct val="0"/>
              </a:spcBef>
            </a:pPr>
            <a:r>
              <a:rPr lang="en-US" altLang="zh-CN" sz="1600" dirty="0">
                <a:latin typeface="黑体" pitchFamily="2" charset="-122"/>
                <a:ea typeface="黑体" pitchFamily="2" charset="-122"/>
              </a:rPr>
              <a:t>3:IORD</a:t>
            </a:r>
          </a:p>
          <a:p>
            <a:pPr eaLnBrk="1" hangingPunct="1">
              <a:lnSpc>
                <a:spcPct val="100000"/>
              </a:lnSpc>
              <a:spcBef>
                <a:spcPct val="0"/>
              </a:spcBef>
            </a:pPr>
            <a:r>
              <a:rPr lang="en-US" altLang="zh-CN" sz="1600" dirty="0">
                <a:latin typeface="黑体" pitchFamily="2" charset="-122"/>
                <a:ea typeface="黑体" pitchFamily="2" charset="-122"/>
              </a:rPr>
              <a:t>4:IOWR</a:t>
            </a:r>
          </a:p>
          <a:p>
            <a:pPr eaLnBrk="1" hangingPunct="1">
              <a:lnSpc>
                <a:spcPct val="100000"/>
              </a:lnSpc>
              <a:spcBef>
                <a:spcPct val="0"/>
              </a:spcBef>
            </a:pPr>
            <a:r>
              <a:rPr lang="en-US" altLang="zh-CN" sz="1600" dirty="0">
                <a:latin typeface="黑体" pitchFamily="2" charset="-122"/>
                <a:ea typeface="黑体" pitchFamily="2" charset="-122"/>
              </a:rPr>
              <a:t>5:INTA</a:t>
            </a:r>
          </a:p>
          <a:p>
            <a:pPr eaLnBrk="1" hangingPunct="1">
              <a:lnSpc>
                <a:spcPct val="100000"/>
              </a:lnSpc>
              <a:spcBef>
                <a:spcPct val="0"/>
              </a:spcBef>
            </a:pPr>
            <a:r>
              <a:rPr lang="en-US" altLang="zh-CN" sz="1600" dirty="0">
                <a:latin typeface="黑体" pitchFamily="2" charset="-122"/>
                <a:ea typeface="黑体" pitchFamily="2" charset="-122"/>
              </a:rPr>
              <a:t>6:DMAA</a:t>
            </a:r>
          </a:p>
          <a:p>
            <a:pPr eaLnBrk="1" hangingPunct="1">
              <a:lnSpc>
                <a:spcPct val="100000"/>
              </a:lnSpc>
              <a:spcBef>
                <a:spcPct val="0"/>
              </a:spcBef>
            </a:pPr>
            <a:r>
              <a:rPr lang="en-US" altLang="zh-CN" sz="1600" dirty="0">
                <a:latin typeface="黑体" pitchFamily="2" charset="-122"/>
                <a:ea typeface="黑体" pitchFamily="2" charset="-122"/>
              </a:rPr>
              <a:t>7:0→AX</a:t>
            </a:r>
          </a:p>
          <a:p>
            <a:pPr eaLnBrk="1" hangingPunct="1">
              <a:lnSpc>
                <a:spcPct val="100000"/>
              </a:lnSpc>
              <a:spcBef>
                <a:spcPct val="0"/>
              </a:spcBef>
            </a:pPr>
            <a:r>
              <a:rPr lang="en-US" altLang="zh-CN" sz="1600" dirty="0">
                <a:latin typeface="黑体" pitchFamily="2" charset="-122"/>
                <a:ea typeface="黑体" pitchFamily="2" charset="-122"/>
              </a:rPr>
              <a:t>8:1→AX</a:t>
            </a:r>
          </a:p>
        </p:txBody>
      </p:sp>
      <p:sp>
        <p:nvSpPr>
          <p:cNvPr id="104458" name="Text Box 24"/>
          <p:cNvSpPr txBox="1">
            <a:spLocks noChangeArrowheads="1"/>
          </p:cNvSpPr>
          <p:nvPr/>
        </p:nvSpPr>
        <p:spPr bwMode="auto">
          <a:xfrm>
            <a:off x="4968875" y="2293938"/>
            <a:ext cx="14700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a:t>
            </a:r>
            <a:r>
              <a:rPr lang="zh-CN" altLang="en-US" sz="1600">
                <a:latin typeface="黑体" pitchFamily="2" charset="-122"/>
                <a:ea typeface="黑体" pitchFamily="2" charset="-122"/>
              </a:rPr>
              <a:t>顺序</a:t>
            </a:r>
            <a:endParaRPr lang="zh-CN" altLang="en-US">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t>
            </a:r>
            <a:r>
              <a:rPr lang="zh-CN" altLang="en-US" sz="1600">
                <a:latin typeface="黑体" pitchFamily="2" charset="-122"/>
                <a:ea typeface="黑体" pitchFamily="2" charset="-122"/>
              </a:rPr>
              <a:t>无条件转移</a:t>
            </a:r>
          </a:p>
          <a:p>
            <a:pPr eaLnBrk="1" hangingPunct="1">
              <a:lnSpc>
                <a:spcPct val="100000"/>
              </a:lnSpc>
              <a:spcBef>
                <a:spcPct val="0"/>
              </a:spcBef>
            </a:pPr>
            <a:r>
              <a:rPr lang="en-US" altLang="zh-CN" sz="1600" dirty="0">
                <a:latin typeface="黑体" pitchFamily="2" charset="-122"/>
                <a:ea typeface="黑体" pitchFamily="2" charset="-122"/>
              </a:rPr>
              <a:t>  </a:t>
            </a: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grpSp>
        <p:nvGrpSpPr>
          <p:cNvPr id="104459" name="Group 31"/>
          <p:cNvGrpSpPr>
            <a:grpSpLocks/>
          </p:cNvGrpSpPr>
          <p:nvPr/>
        </p:nvGrpSpPr>
        <p:grpSpPr bwMode="auto">
          <a:xfrm>
            <a:off x="1943100" y="2565400"/>
            <a:ext cx="449263" cy="739775"/>
            <a:chOff x="1134" y="1562"/>
            <a:chExt cx="343" cy="466"/>
          </a:xfrm>
        </p:grpSpPr>
        <p:sp>
          <p:nvSpPr>
            <p:cNvPr id="104462" name="Line 27"/>
            <p:cNvSpPr>
              <a:spLocks noChangeShapeType="1"/>
            </p:cNvSpPr>
            <p:nvPr/>
          </p:nvSpPr>
          <p:spPr bwMode="auto">
            <a:xfrm>
              <a:off x="1134" y="1562"/>
              <a:ext cx="32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4463" name="Line 28"/>
            <p:cNvSpPr>
              <a:spLocks noChangeShapeType="1"/>
            </p:cNvSpPr>
            <p:nvPr/>
          </p:nvSpPr>
          <p:spPr bwMode="auto">
            <a:xfrm>
              <a:off x="1139" y="1723"/>
              <a:ext cx="32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4464" name="Line 29"/>
            <p:cNvSpPr>
              <a:spLocks noChangeShapeType="1"/>
            </p:cNvSpPr>
            <p:nvPr/>
          </p:nvSpPr>
          <p:spPr bwMode="auto">
            <a:xfrm>
              <a:off x="1145" y="1873"/>
              <a:ext cx="32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4465" name="Line 30"/>
            <p:cNvSpPr>
              <a:spLocks noChangeShapeType="1"/>
            </p:cNvSpPr>
            <p:nvPr/>
          </p:nvSpPr>
          <p:spPr bwMode="auto">
            <a:xfrm>
              <a:off x="1150" y="2028"/>
              <a:ext cx="32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04460" name="Rectangle 12"/>
          <p:cNvSpPr>
            <a:spLocks noChangeArrowheads="1"/>
          </p:cNvSpPr>
          <p:nvPr/>
        </p:nvSpPr>
        <p:spPr bwMode="auto">
          <a:xfrm>
            <a:off x="817563" y="1066800"/>
            <a:ext cx="2122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微指令格式</a:t>
            </a:r>
            <a:r>
              <a:rPr lang="zh-CN" altLang="en-US">
                <a:latin typeface="黑体" pitchFamily="2" charset="-122"/>
                <a:ea typeface="黑体" pitchFamily="2" charset="-122"/>
              </a:rPr>
              <a:t> </a:t>
            </a:r>
          </a:p>
        </p:txBody>
      </p:sp>
      <p:sp>
        <p:nvSpPr>
          <p:cNvPr id="104461"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a:solidFill>
                  <a:schemeClr val="bg1"/>
                </a:solidFill>
                <a:latin typeface="宋体" pitchFamily="2" charset="-122"/>
                <a:ea typeface="宋体" pitchFamily="2" charset="-122"/>
              </a:rPr>
              <a:t>对照图</a:t>
            </a:r>
            <a:endParaRPr kumimoji="1" lang="zh-CN" altLang="en-US" sz="1800" u="sng">
              <a:solidFill>
                <a:srgbClr val="008000"/>
              </a:solidFill>
              <a:latin typeface="宋体" pitchFamily="2" charset="-122"/>
              <a:ea typeface="宋体" pitchFamily="2" charset="-122"/>
            </a:endParaRPr>
          </a:p>
        </p:txBody>
      </p:sp>
    </p:spTree>
  </p:cSld>
  <p:clrMapOvr>
    <a:masterClrMapping/>
  </p:clrMapOvr>
  <p:transition>
    <p:wipe dir="d"/>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9"/>
          <p:cNvSpPr>
            <a:spLocks noChangeArrowheads="1"/>
          </p:cNvSpPr>
          <p:nvPr/>
        </p:nvSpPr>
        <p:spPr bwMode="auto">
          <a:xfrm>
            <a:off x="647700" y="457200"/>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6.5.6 </a:t>
            </a:r>
            <a:r>
              <a:rPr lang="zh-CN" altLang="en-US">
                <a:solidFill>
                  <a:srgbClr val="990000"/>
                </a:solidFill>
                <a:latin typeface="黑体" pitchFamily="2" charset="-122"/>
                <a:ea typeface="黑体" pitchFamily="2" charset="-122"/>
              </a:rPr>
              <a:t>模型机微程序控制器举例</a:t>
            </a:r>
            <a:r>
              <a:rPr lang="zh-CN" altLang="en-US">
                <a:latin typeface="黑体" pitchFamily="2" charset="-122"/>
                <a:ea typeface="黑体" pitchFamily="2" charset="-122"/>
              </a:rPr>
              <a:t> </a:t>
            </a:r>
          </a:p>
        </p:txBody>
      </p:sp>
      <p:sp>
        <p:nvSpPr>
          <p:cNvPr id="105475" name="Rectangle 12"/>
          <p:cNvSpPr>
            <a:spLocks noChangeArrowheads="1"/>
          </p:cNvSpPr>
          <p:nvPr/>
        </p:nvSpPr>
        <p:spPr bwMode="auto">
          <a:xfrm>
            <a:off x="817563" y="1066800"/>
            <a:ext cx="2836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微指令格式</a:t>
            </a:r>
            <a:r>
              <a:rPr lang="zh-CN" altLang="en-US">
                <a:latin typeface="黑体" pitchFamily="2" charset="-122"/>
                <a:ea typeface="黑体" pitchFamily="2" charset="-122"/>
              </a:rPr>
              <a:t> </a:t>
            </a:r>
          </a:p>
        </p:txBody>
      </p:sp>
      <p:sp>
        <p:nvSpPr>
          <p:cNvPr id="105476" name="Rectangle 40"/>
          <p:cNvSpPr>
            <a:spLocks noChangeArrowheads="1"/>
          </p:cNvSpPr>
          <p:nvPr/>
        </p:nvSpPr>
        <p:spPr bwMode="auto">
          <a:xfrm>
            <a:off x="1003300" y="1654175"/>
            <a:ext cx="80232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rIns="36000" anchor="ctr">
            <a:spAutoFit/>
          </a:bodyPr>
          <a:lstStyle/>
          <a:p>
            <a:pPr>
              <a:lnSpc>
                <a:spcPct val="100000"/>
              </a:lnSpc>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例如：</a:t>
            </a:r>
          </a:p>
          <a:p>
            <a:pPr>
              <a:lnSpc>
                <a:spcPct val="100000"/>
              </a:lnSpc>
              <a:spcBef>
                <a:spcPct val="0"/>
              </a:spcBef>
            </a:pPr>
            <a:r>
              <a:rPr lang="zh-CN" altLang="en-US" dirty="0">
                <a:latin typeface="黑体" pitchFamily="2" charset="-122"/>
                <a:ea typeface="黑体" pitchFamily="2" charset="-122"/>
              </a:rPr>
              <a:t>     </a:t>
            </a:r>
            <a:r>
              <a:rPr lang="zh-CN" altLang="en-US" dirty="0">
                <a:latin typeface="宋体" pitchFamily="2" charset="-122"/>
                <a:ea typeface="黑体" pitchFamily="2" charset="-122"/>
              </a:rPr>
              <a:t>“</a:t>
            </a:r>
            <a:r>
              <a:rPr lang="en-US" altLang="zh-CN" dirty="0">
                <a:solidFill>
                  <a:srgbClr val="FF0000"/>
                </a:solidFill>
                <a:latin typeface="黑体" pitchFamily="2" charset="-122"/>
                <a:ea typeface="黑体" pitchFamily="2" charset="-122"/>
              </a:rPr>
              <a:t>PC</a:t>
            </a:r>
            <a:r>
              <a:rPr lang="en-US" altLang="zh-CN" dirty="0">
                <a:solidFill>
                  <a:srgbClr val="FF0000"/>
                </a:solidFill>
                <a:latin typeface="黑体" pitchFamily="2" charset="-122"/>
                <a:ea typeface="黑体" pitchFamily="2" charset="-122"/>
                <a:sym typeface="Symbol" pitchFamily="18" charset="2"/>
              </a:rPr>
              <a:t></a:t>
            </a:r>
            <a:r>
              <a:rPr lang="en-US" altLang="zh-CN" dirty="0">
                <a:solidFill>
                  <a:srgbClr val="FF0000"/>
                </a:solidFill>
                <a:latin typeface="黑体" pitchFamily="2" charset="-122"/>
                <a:ea typeface="黑体" pitchFamily="2" charset="-122"/>
              </a:rPr>
              <a:t>IB</a:t>
            </a:r>
            <a:r>
              <a:rPr lang="zh-CN" altLang="en-US" dirty="0">
                <a:solidFill>
                  <a:srgbClr val="FF0000"/>
                </a:solidFill>
                <a:latin typeface="黑体" pitchFamily="2" charset="-122"/>
                <a:ea typeface="黑体" pitchFamily="2" charset="-122"/>
                <a:sym typeface="Symbol" pitchFamily="18" charset="2"/>
              </a:rPr>
              <a:t>，</a:t>
            </a:r>
            <a:r>
              <a:rPr lang="en-US" altLang="zh-CN" dirty="0">
                <a:solidFill>
                  <a:srgbClr val="FF0000"/>
                </a:solidFill>
                <a:latin typeface="黑体" pitchFamily="2" charset="-122"/>
                <a:ea typeface="黑体" pitchFamily="2" charset="-122"/>
                <a:sym typeface="Symbol" pitchFamily="18" charset="2"/>
              </a:rPr>
              <a:t>ARin</a:t>
            </a:r>
            <a:r>
              <a:rPr lang="en-US" altLang="zh-CN" dirty="0">
                <a:latin typeface="宋体" pitchFamily="2" charset="-122"/>
                <a:ea typeface="黑体" pitchFamily="2" charset="-122"/>
                <a:sym typeface="Symbol" pitchFamily="18" charset="2"/>
              </a:rPr>
              <a:t>”</a:t>
            </a:r>
            <a:r>
              <a:rPr lang="zh-CN" altLang="en-US" dirty="0">
                <a:latin typeface="黑体" pitchFamily="2" charset="-122"/>
                <a:ea typeface="黑体" pitchFamily="2" charset="-122"/>
                <a:sym typeface="Symbol" pitchFamily="18" charset="2"/>
              </a:rPr>
              <a:t>微操作，其微指令的前面部分为：</a:t>
            </a:r>
          </a:p>
        </p:txBody>
      </p:sp>
      <p:grpSp>
        <p:nvGrpSpPr>
          <p:cNvPr id="105477" name="Group 44"/>
          <p:cNvGrpSpPr>
            <a:grpSpLocks/>
          </p:cNvGrpSpPr>
          <p:nvPr/>
        </p:nvGrpSpPr>
        <p:grpSpPr bwMode="auto">
          <a:xfrm>
            <a:off x="1504950" y="2741613"/>
            <a:ext cx="6953250" cy="928687"/>
            <a:chOff x="948" y="1637"/>
            <a:chExt cx="4380" cy="585"/>
          </a:xfrm>
        </p:grpSpPr>
        <p:grpSp>
          <p:nvGrpSpPr>
            <p:cNvPr id="105479" name="Group 37"/>
            <p:cNvGrpSpPr>
              <a:grpSpLocks/>
            </p:cNvGrpSpPr>
            <p:nvPr/>
          </p:nvGrpSpPr>
          <p:grpSpPr bwMode="auto">
            <a:xfrm>
              <a:off x="948" y="1637"/>
              <a:ext cx="4380" cy="342"/>
              <a:chOff x="948" y="984"/>
              <a:chExt cx="4380" cy="342"/>
            </a:xfrm>
          </p:grpSpPr>
          <p:sp>
            <p:nvSpPr>
              <p:cNvPr id="105485" name="Text Box 25"/>
              <p:cNvSpPr txBox="1">
                <a:spLocks noChangeArrowheads="1"/>
              </p:cNvSpPr>
              <p:nvPr/>
            </p:nvSpPr>
            <p:spPr bwMode="auto">
              <a:xfrm>
                <a:off x="948" y="1167"/>
                <a:ext cx="730"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solidFill>
                      <a:srgbClr val="FF0000"/>
                    </a:solidFill>
                    <a:latin typeface="黑体" pitchFamily="2" charset="-122"/>
                    <a:ea typeface="黑体" pitchFamily="2" charset="-122"/>
                  </a:rPr>
                  <a:t>B</a:t>
                </a:r>
              </a:p>
            </p:txBody>
          </p:sp>
          <p:sp>
            <p:nvSpPr>
              <p:cNvPr id="105486" name="Text Box 26"/>
              <p:cNvSpPr txBox="1">
                <a:spLocks noChangeArrowheads="1"/>
              </p:cNvSpPr>
              <p:nvPr/>
            </p:nvSpPr>
            <p:spPr bwMode="auto">
              <a:xfrm>
                <a:off x="1678" y="1167"/>
                <a:ext cx="730"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0</a:t>
                </a:r>
              </a:p>
            </p:txBody>
          </p:sp>
          <p:sp>
            <p:nvSpPr>
              <p:cNvPr id="105487" name="Text Box 27"/>
              <p:cNvSpPr txBox="1">
                <a:spLocks noChangeArrowheads="1"/>
              </p:cNvSpPr>
              <p:nvPr/>
            </p:nvSpPr>
            <p:spPr bwMode="auto">
              <a:xfrm>
                <a:off x="2408" y="1167"/>
                <a:ext cx="707"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0</a:t>
                </a:r>
              </a:p>
            </p:txBody>
          </p:sp>
          <p:sp>
            <p:nvSpPr>
              <p:cNvPr id="105488" name="Text Box 28"/>
              <p:cNvSpPr txBox="1">
                <a:spLocks noChangeArrowheads="1"/>
              </p:cNvSpPr>
              <p:nvPr/>
            </p:nvSpPr>
            <p:spPr bwMode="auto">
              <a:xfrm>
                <a:off x="3115" y="1167"/>
                <a:ext cx="649"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solidFill>
                      <a:srgbClr val="FF0000"/>
                    </a:solidFill>
                    <a:latin typeface="黑体" pitchFamily="2" charset="-122"/>
                    <a:ea typeface="黑体" pitchFamily="2" charset="-122"/>
                  </a:rPr>
                  <a:t>2</a:t>
                </a:r>
                <a:endParaRPr lang="en-US" altLang="en-US" sz="1600" dirty="0">
                  <a:solidFill>
                    <a:srgbClr val="FF0000"/>
                  </a:solidFill>
                  <a:latin typeface="黑体" pitchFamily="2" charset="-122"/>
                  <a:ea typeface="黑体" pitchFamily="2" charset="-122"/>
                </a:endParaRPr>
              </a:p>
            </p:txBody>
          </p:sp>
          <p:sp>
            <p:nvSpPr>
              <p:cNvPr id="105489" name="Text Box 29"/>
              <p:cNvSpPr txBox="1">
                <a:spLocks noChangeArrowheads="1"/>
              </p:cNvSpPr>
              <p:nvPr/>
            </p:nvSpPr>
            <p:spPr bwMode="auto">
              <a:xfrm>
                <a:off x="3764" y="1167"/>
                <a:ext cx="834"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00</a:t>
                </a:r>
              </a:p>
            </p:txBody>
          </p:sp>
          <p:sp>
            <p:nvSpPr>
              <p:cNvPr id="105490" name="Text Box 30"/>
              <p:cNvSpPr txBox="1">
                <a:spLocks noChangeArrowheads="1"/>
              </p:cNvSpPr>
              <p:nvPr/>
            </p:nvSpPr>
            <p:spPr bwMode="auto">
              <a:xfrm>
                <a:off x="4598" y="1167"/>
                <a:ext cx="730" cy="159"/>
              </a:xfrm>
              <a:prstGeom prst="rect">
                <a:avLst/>
              </a:prstGeom>
              <a:solidFill>
                <a:srgbClr val="FFFFCC"/>
              </a:solidFill>
              <a:ln w="19050" algn="ctr">
                <a:solidFill>
                  <a:srgbClr val="000099"/>
                </a:solidFill>
                <a:miter lim="800000"/>
                <a:headEnd/>
                <a:tailEnd/>
              </a:ln>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Times New Roman" pitchFamily="18" charset="0"/>
                    <a:ea typeface="黑体" pitchFamily="2" charset="-122"/>
                  </a:rPr>
                  <a:t>…</a:t>
                </a:r>
                <a:endParaRPr lang="zh-CN" altLang="en-US" sz="1600">
                  <a:latin typeface="黑体" pitchFamily="2" charset="-122"/>
                  <a:ea typeface="黑体" pitchFamily="2" charset="-122"/>
                </a:endParaRPr>
              </a:p>
            </p:txBody>
          </p:sp>
          <p:sp>
            <p:nvSpPr>
              <p:cNvPr id="105491" name="Text Box 31"/>
              <p:cNvSpPr txBox="1">
                <a:spLocks noChangeArrowheads="1"/>
              </p:cNvSpPr>
              <p:nvPr/>
            </p:nvSpPr>
            <p:spPr bwMode="auto">
              <a:xfrm>
                <a:off x="948" y="984"/>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5492" name="Text Box 32"/>
              <p:cNvSpPr txBox="1">
                <a:spLocks noChangeArrowheads="1"/>
              </p:cNvSpPr>
              <p:nvPr/>
            </p:nvSpPr>
            <p:spPr bwMode="auto">
              <a:xfrm>
                <a:off x="1678" y="984"/>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4</a:t>
                </a:r>
                <a:r>
                  <a:rPr lang="zh-CN" altLang="en-US" sz="1600">
                    <a:latin typeface="黑体" pitchFamily="2" charset="-122"/>
                    <a:ea typeface="黑体" pitchFamily="2" charset="-122"/>
                  </a:rPr>
                  <a:t>位</a:t>
                </a:r>
              </a:p>
            </p:txBody>
          </p:sp>
          <p:sp>
            <p:nvSpPr>
              <p:cNvPr id="105493" name="Text Box 33"/>
              <p:cNvSpPr txBox="1">
                <a:spLocks noChangeArrowheads="1"/>
              </p:cNvSpPr>
              <p:nvPr/>
            </p:nvSpPr>
            <p:spPr bwMode="auto">
              <a:xfrm>
                <a:off x="2408" y="984"/>
                <a:ext cx="707"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2</a:t>
                </a:r>
                <a:r>
                  <a:rPr lang="zh-CN" altLang="en-US" sz="1600">
                    <a:latin typeface="黑体" pitchFamily="2" charset="-122"/>
                    <a:ea typeface="黑体" pitchFamily="2" charset="-122"/>
                  </a:rPr>
                  <a:t>位</a:t>
                </a:r>
              </a:p>
            </p:txBody>
          </p:sp>
          <p:sp>
            <p:nvSpPr>
              <p:cNvPr id="105494" name="Text Box 34"/>
              <p:cNvSpPr txBox="1">
                <a:spLocks noChangeArrowheads="1"/>
              </p:cNvSpPr>
              <p:nvPr/>
            </p:nvSpPr>
            <p:spPr bwMode="auto">
              <a:xfrm>
                <a:off x="3115" y="984"/>
                <a:ext cx="649"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2</a:t>
                </a:r>
                <a:r>
                  <a:rPr lang="zh-CN" altLang="en-US" sz="1600">
                    <a:latin typeface="黑体" pitchFamily="2" charset="-122"/>
                    <a:ea typeface="黑体" pitchFamily="2" charset="-122"/>
                  </a:rPr>
                  <a:t>位</a:t>
                </a:r>
              </a:p>
            </p:txBody>
          </p:sp>
          <p:sp>
            <p:nvSpPr>
              <p:cNvPr id="105495" name="Text Box 35"/>
              <p:cNvSpPr txBox="1">
                <a:spLocks noChangeArrowheads="1"/>
              </p:cNvSpPr>
              <p:nvPr/>
            </p:nvSpPr>
            <p:spPr bwMode="auto">
              <a:xfrm>
                <a:off x="3764" y="984"/>
                <a:ext cx="834"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黑体" pitchFamily="2" charset="-122"/>
                    <a:ea typeface="黑体" pitchFamily="2" charset="-122"/>
                  </a:rPr>
                  <a:t>5</a:t>
                </a:r>
                <a:r>
                  <a:rPr lang="zh-CN" altLang="en-US" sz="1600">
                    <a:latin typeface="黑体" pitchFamily="2" charset="-122"/>
                    <a:ea typeface="黑体" pitchFamily="2" charset="-122"/>
                  </a:rPr>
                  <a:t>位</a:t>
                </a:r>
              </a:p>
            </p:txBody>
          </p:sp>
          <p:sp>
            <p:nvSpPr>
              <p:cNvPr id="105496" name="Text Box 36"/>
              <p:cNvSpPr txBox="1">
                <a:spLocks noChangeArrowheads="1"/>
              </p:cNvSpPr>
              <p:nvPr/>
            </p:nvSpPr>
            <p:spPr bwMode="auto">
              <a:xfrm>
                <a:off x="4598" y="984"/>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p:txBody>
          </p:sp>
        </p:grpSp>
        <p:sp>
          <p:nvSpPr>
            <p:cNvPr id="105480" name="Text Box 39"/>
            <p:cNvSpPr txBox="1">
              <a:spLocks noChangeArrowheads="1"/>
            </p:cNvSpPr>
            <p:nvPr/>
          </p:nvSpPr>
          <p:spPr bwMode="auto">
            <a:xfrm>
              <a:off x="1073" y="2063"/>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1:AX→IB</a:t>
              </a:r>
            </a:p>
            <a:p>
              <a:pPr eaLnBrk="1" hangingPunct="1">
                <a:lnSpc>
                  <a:spcPct val="100000"/>
                </a:lnSpc>
                <a:spcBef>
                  <a:spcPct val="0"/>
                </a:spcBef>
              </a:pPr>
              <a:r>
                <a:rPr lang="en-US" altLang="zh-CN" sz="1600" dirty="0">
                  <a:latin typeface="Times New Roman" pitchFamily="18" charset="0"/>
                  <a:ea typeface="黑体" pitchFamily="2" charset="-122"/>
                </a:rPr>
                <a:t>……</a:t>
              </a:r>
              <a:r>
                <a:rPr lang="en-US" altLang="zh-CN" sz="1600" dirty="0">
                  <a:latin typeface="黑体" pitchFamily="2" charset="-122"/>
                  <a:ea typeface="黑体" pitchFamily="2" charset="-122"/>
                </a:rPr>
                <a:t> </a:t>
              </a:r>
              <a:r>
                <a:rPr lang="en-US" altLang="zh-CN" sz="1600" dirty="0">
                  <a:solidFill>
                    <a:srgbClr val="FF0000"/>
                  </a:solidFill>
                  <a:latin typeface="黑体" pitchFamily="2" charset="-122"/>
                  <a:ea typeface="黑体" pitchFamily="2" charset="-122"/>
                </a:rPr>
                <a:t>B:PC→IB</a:t>
              </a:r>
            </a:p>
            <a:p>
              <a:pPr eaLnBrk="1" hangingPunct="1">
                <a:lnSpc>
                  <a:spcPct val="100000"/>
                </a:lnSpc>
                <a:spcBef>
                  <a:spcPct val="0"/>
                </a:spcBef>
              </a:pP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5481" name="Text Box 40"/>
            <p:cNvSpPr txBox="1">
              <a:spLocks noChangeArrowheads="1"/>
            </p:cNvSpPr>
            <p:nvPr/>
          </p:nvSpPr>
          <p:spPr bwMode="auto">
            <a:xfrm>
              <a:off x="1876" y="2063"/>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1:AXin</a:t>
              </a:r>
            </a:p>
            <a:p>
              <a:pPr eaLnBrk="1" hangingPunct="1">
                <a:lnSpc>
                  <a:spcPct val="100000"/>
                </a:lnSpc>
                <a:spcBef>
                  <a:spcPct val="0"/>
                </a:spcBef>
              </a:pPr>
              <a:r>
                <a:rPr lang="en-US" altLang="zh-CN" sz="1600" dirty="0">
                  <a:latin typeface="黑体" pitchFamily="2" charset="-122"/>
                  <a:ea typeface="黑体" pitchFamily="2" charset="-122"/>
                </a:rPr>
                <a:t> </a:t>
              </a: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5482" name="Text Box 41"/>
            <p:cNvSpPr txBox="1">
              <a:spLocks noChangeArrowheads="1"/>
            </p:cNvSpPr>
            <p:nvPr/>
          </p:nvSpPr>
          <p:spPr bwMode="auto">
            <a:xfrm>
              <a:off x="2582" y="2063"/>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1:DR→DB</a:t>
              </a:r>
            </a:p>
            <a:p>
              <a:pPr eaLnBrk="1" hangingPunct="1">
                <a:lnSpc>
                  <a:spcPct val="100000"/>
                </a:lnSpc>
                <a:spcBef>
                  <a:spcPct val="0"/>
                </a:spcBef>
              </a:pPr>
              <a:r>
                <a:rPr lang="en-US" altLang="zh-CN" sz="1600" dirty="0">
                  <a:latin typeface="黑体" pitchFamily="2" charset="-122"/>
                  <a:ea typeface="黑体" pitchFamily="2" charset="-122"/>
                </a:rPr>
                <a:t> </a:t>
              </a: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5483" name="Text Box 42"/>
            <p:cNvSpPr txBox="1">
              <a:spLocks noChangeArrowheads="1"/>
            </p:cNvSpPr>
            <p:nvPr/>
          </p:nvSpPr>
          <p:spPr bwMode="auto">
            <a:xfrm>
              <a:off x="3294" y="2063"/>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1:AR→AB</a:t>
              </a:r>
            </a:p>
            <a:p>
              <a:pPr eaLnBrk="1" hangingPunct="1">
                <a:lnSpc>
                  <a:spcPct val="100000"/>
                </a:lnSpc>
                <a:spcBef>
                  <a:spcPct val="0"/>
                </a:spcBef>
              </a:pPr>
              <a:r>
                <a:rPr lang="en-US" altLang="zh-CN" sz="1600" dirty="0">
                  <a:solidFill>
                    <a:srgbClr val="FF0000"/>
                  </a:solidFill>
                  <a:latin typeface="黑体" pitchFamily="2" charset="-122"/>
                  <a:ea typeface="黑体" pitchFamily="2" charset="-122"/>
                </a:rPr>
                <a:t>2:ARin</a:t>
              </a:r>
            </a:p>
            <a:p>
              <a:pPr eaLnBrk="1" hangingPunct="1">
                <a:lnSpc>
                  <a:spcPct val="100000"/>
                </a:lnSpc>
                <a:spcBef>
                  <a:spcPct val="0"/>
                </a:spcBef>
              </a:pPr>
              <a:r>
                <a:rPr lang="en-US" altLang="zh-CN" sz="1600" dirty="0">
                  <a:latin typeface="黑体" pitchFamily="2" charset="-122"/>
                  <a:ea typeface="黑体" pitchFamily="2" charset="-122"/>
                </a:rPr>
                <a:t>3:DRin</a:t>
              </a:r>
            </a:p>
            <a:p>
              <a:pPr eaLnBrk="1" hangingPunct="1">
                <a:lnSpc>
                  <a:spcPct val="100000"/>
                </a:lnSpc>
                <a:spcBef>
                  <a:spcPct val="0"/>
                </a:spcBef>
              </a:pPr>
              <a:endParaRPr lang="en-US" altLang="zh-CN" sz="1600" dirty="0">
                <a:latin typeface="黑体" pitchFamily="2" charset="-122"/>
                <a:ea typeface="黑体" pitchFamily="2" charset="-122"/>
              </a:endParaRPr>
            </a:p>
          </p:txBody>
        </p:sp>
        <p:sp>
          <p:nvSpPr>
            <p:cNvPr id="105484" name="Text Box 43"/>
            <p:cNvSpPr txBox="1">
              <a:spLocks noChangeArrowheads="1"/>
            </p:cNvSpPr>
            <p:nvPr/>
          </p:nvSpPr>
          <p:spPr bwMode="auto">
            <a:xfrm>
              <a:off x="3993" y="2063"/>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0"/>
                </a:spcBef>
              </a:pPr>
              <a:r>
                <a:rPr lang="en-US" altLang="zh-CN" sz="1600" dirty="0">
                  <a:latin typeface="黑体" pitchFamily="2" charset="-122"/>
                  <a:ea typeface="黑体" pitchFamily="2" charset="-122"/>
                </a:rPr>
                <a:t>00:NOP</a:t>
              </a:r>
              <a:endParaRPr lang="en-US" altLang="zh-CN" dirty="0">
                <a:latin typeface="黑体" pitchFamily="2" charset="-122"/>
                <a:ea typeface="黑体" pitchFamily="2" charset="-122"/>
              </a:endParaRPr>
            </a:p>
            <a:p>
              <a:pPr eaLnBrk="1" hangingPunct="1">
                <a:lnSpc>
                  <a:spcPct val="100000"/>
                </a:lnSpc>
                <a:spcBef>
                  <a:spcPct val="0"/>
                </a:spcBef>
              </a:pPr>
              <a:r>
                <a:rPr lang="en-US" altLang="zh-CN" sz="1600" dirty="0">
                  <a:latin typeface="黑体" pitchFamily="2" charset="-122"/>
                  <a:ea typeface="黑体" pitchFamily="2" charset="-122"/>
                </a:rPr>
                <a:t>01:ADD</a:t>
              </a:r>
            </a:p>
            <a:p>
              <a:pPr eaLnBrk="1" hangingPunct="1">
                <a:lnSpc>
                  <a:spcPct val="100000"/>
                </a:lnSpc>
                <a:spcBef>
                  <a:spcPct val="0"/>
                </a:spcBef>
              </a:pPr>
              <a:r>
                <a:rPr lang="en-US" altLang="zh-CN" sz="1600" dirty="0">
                  <a:latin typeface="黑体" pitchFamily="2" charset="-122"/>
                  <a:ea typeface="黑体" pitchFamily="2" charset="-122"/>
                </a:rPr>
                <a:t>02:ADC</a:t>
              </a:r>
            </a:p>
            <a:p>
              <a:pPr eaLnBrk="1" hangingPunct="1">
                <a:lnSpc>
                  <a:spcPct val="100000"/>
                </a:lnSpc>
                <a:spcBef>
                  <a:spcPct val="0"/>
                </a:spcBef>
              </a:pPr>
              <a:r>
                <a:rPr lang="en-US" altLang="zh-CN" sz="1600" dirty="0">
                  <a:latin typeface="黑体" pitchFamily="2" charset="-122"/>
                  <a:ea typeface="黑体" pitchFamily="2" charset="-122"/>
                </a:rPr>
                <a:t> </a:t>
              </a:r>
              <a:r>
                <a:rPr lang="en-US" altLang="zh-CN" sz="1600" dirty="0">
                  <a:latin typeface="Times New Roman" pitchFamily="18" charset="0"/>
                  <a:ea typeface="黑体" pitchFamily="2" charset="-122"/>
                </a:rPr>
                <a:t>……</a:t>
              </a:r>
              <a:endParaRPr lang="en-US" altLang="zh-CN" sz="1600" dirty="0">
                <a:latin typeface="黑体" pitchFamily="2" charset="-122"/>
                <a:ea typeface="黑体" pitchFamily="2" charset="-122"/>
              </a:endParaRPr>
            </a:p>
            <a:p>
              <a:pPr eaLnBrk="1" hangingPunct="1">
                <a:lnSpc>
                  <a:spcPct val="100000"/>
                </a:lnSpc>
                <a:spcBef>
                  <a:spcPct val="0"/>
                </a:spcBef>
              </a:pPr>
              <a:endParaRPr lang="en-US" altLang="zh-CN" sz="1600" dirty="0">
                <a:latin typeface="黑体" pitchFamily="2" charset="-122"/>
                <a:ea typeface="黑体" pitchFamily="2" charset="-122"/>
              </a:endParaRPr>
            </a:p>
          </p:txBody>
        </p:sp>
      </p:grpSp>
      <p:sp>
        <p:nvSpPr>
          <p:cNvPr id="105478" name="AutoShape 6">
            <a:hlinkClick r:id="rId2" action="ppaction://hlinksldjump"/>
          </p:cNvPr>
          <p:cNvSpPr>
            <a:spLocks noChangeArrowheads="1"/>
          </p:cNvSpPr>
          <p:nvPr/>
        </p:nvSpPr>
        <p:spPr bwMode="auto">
          <a:xfrm>
            <a:off x="7315200" y="533400"/>
            <a:ext cx="1143000" cy="533400"/>
          </a:xfrm>
          <a:prstGeom prst="rightArrow">
            <a:avLst>
              <a:gd name="adj1" fmla="val 50000"/>
              <a:gd name="adj2" fmla="val 53571"/>
            </a:avLst>
          </a:prstGeom>
          <a:solidFill>
            <a:srgbClr val="CC33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pPr>
            <a:r>
              <a:rPr kumimoji="1" lang="zh-CN" altLang="en-US" sz="1800">
                <a:solidFill>
                  <a:schemeClr val="bg1"/>
                </a:solidFill>
                <a:latin typeface="宋体" pitchFamily="2" charset="-122"/>
                <a:ea typeface="宋体" pitchFamily="2" charset="-122"/>
              </a:rPr>
              <a:t>对照图</a:t>
            </a:r>
            <a:endParaRPr kumimoji="1" lang="zh-CN" altLang="en-US" sz="1800" u="sng">
              <a:solidFill>
                <a:srgbClr val="008000"/>
              </a:solidFill>
              <a:latin typeface="宋体" pitchFamily="2" charset="-122"/>
              <a:ea typeface="宋体" pitchFamily="2" charset="-122"/>
            </a:endParaRPr>
          </a:p>
        </p:txBody>
      </p:sp>
    </p:spTree>
  </p:cSld>
  <p:clrMapOvr>
    <a:masterClrMapping/>
  </p:clrMapOvr>
  <p:transition>
    <p:wipe dir="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4"/>
          <p:cNvSpPr txBox="1">
            <a:spLocks noChangeArrowheads="1"/>
          </p:cNvSpPr>
          <p:nvPr/>
        </p:nvSpPr>
        <p:spPr bwMode="auto">
          <a:xfrm>
            <a:off x="611188" y="584200"/>
            <a:ext cx="853281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pPr>
            <a:r>
              <a:rPr lang="zh-CN" altLang="en-US" dirty="0">
                <a:solidFill>
                  <a:srgbClr val="CC3300"/>
                </a:solidFill>
                <a:latin typeface="黑体" pitchFamily="2" charset="-122"/>
                <a:ea typeface="黑体" pitchFamily="2" charset="-122"/>
              </a:rPr>
              <a:t>习题：  </a:t>
            </a:r>
            <a:r>
              <a:rPr lang="en-US" altLang="zh-CN" dirty="0">
                <a:latin typeface="黑体" pitchFamily="2" charset="-122"/>
                <a:ea typeface="黑体" pitchFamily="2" charset="-122"/>
              </a:rPr>
              <a:t>P215  6-14</a:t>
            </a:r>
          </a:p>
          <a:p>
            <a:pPr eaLnBrk="1" hangingPunct="1">
              <a:lnSpc>
                <a:spcPct val="100000"/>
              </a:lnSpc>
            </a:pPr>
            <a:endParaRPr lang="en-US" altLang="zh-CN" dirty="0">
              <a:latin typeface="黑体" pitchFamily="2" charset="-122"/>
              <a:ea typeface="黑体" pitchFamily="2" charset="-122"/>
            </a:endParaRPr>
          </a:p>
          <a:p>
            <a:pPr eaLnBrk="1" hangingPunct="1">
              <a:lnSpc>
                <a:spcPct val="100000"/>
              </a:lnSpc>
            </a:pPr>
            <a:r>
              <a:rPr lang="zh-CN" altLang="en-US" dirty="0">
                <a:solidFill>
                  <a:srgbClr val="CC3300"/>
                </a:solidFill>
                <a:latin typeface="黑体" pitchFamily="2" charset="-122"/>
                <a:ea typeface="黑体" pitchFamily="2" charset="-122"/>
              </a:rPr>
              <a:t>复习：练习自测题</a:t>
            </a:r>
            <a:r>
              <a:rPr lang="zh-CN" altLang="en-US" dirty="0">
                <a:latin typeface="黑体" pitchFamily="2" charset="-122"/>
                <a:ea typeface="黑体" pitchFamily="2" charset="-122"/>
              </a:rPr>
              <a:t>第</a:t>
            </a:r>
            <a:r>
              <a:rPr lang="en-US" altLang="zh-CN" dirty="0">
                <a:latin typeface="黑体" pitchFamily="2" charset="-122"/>
                <a:ea typeface="黑体" pitchFamily="2" charset="-122"/>
              </a:rPr>
              <a:t>6</a:t>
            </a:r>
            <a:r>
              <a:rPr lang="zh-CN" altLang="en-US" dirty="0">
                <a:latin typeface="黑体" pitchFamily="2" charset="-122"/>
                <a:ea typeface="黑体" pitchFamily="2" charset="-122"/>
              </a:rPr>
              <a:t>章。</a:t>
            </a:r>
          </a:p>
          <a:p>
            <a:pPr eaLnBrk="1" hangingPunct="1">
              <a:lnSpc>
                <a:spcPct val="100000"/>
              </a:lnSpc>
            </a:pPr>
            <a:endParaRPr lang="en-US" altLang="zh-CN" dirty="0">
              <a:latin typeface="黑体" pitchFamily="2" charset="-122"/>
              <a:ea typeface="黑体" pitchFamily="2" charset="-122"/>
            </a:endParaRPr>
          </a:p>
        </p:txBody>
      </p:sp>
    </p:spTree>
  </p:cSld>
  <p:clrMapOvr>
    <a:masterClrMapping/>
  </p:clrMapOvr>
  <p:transition>
    <p:wipe dir="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792163" y="1314450"/>
            <a:ext cx="8064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一条指令的执行过程包括：取指、分析和取数、执行。</a:t>
            </a:r>
            <a:endParaRPr lang="en-US" altLang="zh-CN" dirty="0">
              <a:latin typeface="黑体" pitchFamily="2" charset="-122"/>
              <a:ea typeface="黑体" pitchFamily="2" charset="-122"/>
            </a:endParaRPr>
          </a:p>
        </p:txBody>
      </p:sp>
      <p:sp>
        <p:nvSpPr>
          <p:cNvPr id="107523" name="Rectangle 4"/>
          <p:cNvSpPr>
            <a:spLocks noChangeArrowheads="1"/>
          </p:cNvSpPr>
          <p:nvPr/>
        </p:nvSpPr>
        <p:spPr bwMode="auto">
          <a:xfrm>
            <a:off x="0" y="5715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pPr>
            <a:r>
              <a:rPr kumimoji="1" lang="zh-CN" altLang="en-US" sz="2800">
                <a:solidFill>
                  <a:srgbClr val="80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6.6 </a:t>
            </a:r>
            <a:r>
              <a:rPr lang="zh-CN" altLang="en-US" sz="2800">
                <a:solidFill>
                  <a:srgbClr val="990000"/>
                </a:solidFill>
                <a:latin typeface="黑体" pitchFamily="2" charset="-122"/>
                <a:ea typeface="黑体" pitchFamily="2" charset="-122"/>
              </a:rPr>
              <a:t>流水线技术</a:t>
            </a:r>
          </a:p>
        </p:txBody>
      </p:sp>
      <p:sp>
        <p:nvSpPr>
          <p:cNvPr id="107524" name="Rectangle 2"/>
          <p:cNvSpPr>
            <a:spLocks noChangeArrowheads="1"/>
          </p:cNvSpPr>
          <p:nvPr/>
        </p:nvSpPr>
        <p:spPr bwMode="auto">
          <a:xfrm>
            <a:off x="792163" y="1900238"/>
            <a:ext cx="8064500"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指令执行过程的几种控制方式：</a:t>
            </a:r>
            <a:endParaRPr lang="en-US" altLang="zh-CN" dirty="0">
              <a:latin typeface="黑体" pitchFamily="2" charset="-122"/>
              <a:ea typeface="黑体" pitchFamily="2" charset="-122"/>
            </a:endParaRPr>
          </a:p>
          <a:p>
            <a:pPr>
              <a:spcBef>
                <a:spcPct val="0"/>
              </a:spcBef>
            </a:pPr>
            <a:r>
              <a:rPr lang="zh-CN" altLang="en-US">
                <a:latin typeface="黑体" pitchFamily="2" charset="-122"/>
                <a:ea typeface="黑体" pitchFamily="2" charset="-122"/>
              </a:rPr>
              <a:t>    顺序方式</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重叠方式</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先行控制        并行处理</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流水线控制</a:t>
            </a:r>
            <a:endParaRPr lang="en-US" altLang="zh-CN" dirty="0">
              <a:latin typeface="黑体" pitchFamily="2" charset="-122"/>
              <a:ea typeface="黑体" pitchFamily="2" charset="-122"/>
            </a:endParaRPr>
          </a:p>
        </p:txBody>
      </p:sp>
      <p:sp>
        <p:nvSpPr>
          <p:cNvPr id="107525" name="右大括号 1"/>
          <p:cNvSpPr>
            <a:spLocks/>
          </p:cNvSpPr>
          <p:nvPr/>
        </p:nvSpPr>
        <p:spPr bwMode="auto">
          <a:xfrm>
            <a:off x="3235325" y="3228975"/>
            <a:ext cx="269875" cy="838200"/>
          </a:xfrm>
          <a:prstGeom prst="rightBrace">
            <a:avLst>
              <a:gd name="adj1" fmla="val 8325"/>
              <a:gd name="adj2" fmla="val 50000"/>
            </a:avLst>
          </a:prstGeom>
          <a:noFill/>
          <a:ln w="28575" algn="ctr">
            <a:solidFill>
              <a:srgbClr val="000080"/>
            </a:solidFill>
            <a:round/>
            <a:headEnd/>
            <a:tailEnd/>
          </a:ln>
          <a:extLst>
            <a:ext uri="{909E8E84-426E-40DD-AFC4-6F175D3DCCD1}">
              <a14:hiddenFill xmlns:a14="http://schemas.microsoft.com/office/drawing/2010/main">
                <a:solidFill>
                  <a:srgbClr val="FFFFFF"/>
                </a:solidFill>
              </a14:hiddenFill>
            </a:ext>
          </a:extLst>
        </p:spPr>
        <p:txBody>
          <a:bodyPr rIns="36000">
            <a:spAutoFit/>
          </a:bodyPr>
          <a:lstStyle/>
          <a:p>
            <a:pPr>
              <a:lnSpc>
                <a:spcPct val="100000"/>
              </a:lnSpc>
              <a:spcBef>
                <a:spcPct val="0"/>
              </a:spcBef>
            </a:pPr>
            <a:endParaRPr lang="zh-CN" altLang="en-US">
              <a:latin typeface="宋体" pitchFamily="2" charset="-122"/>
              <a:ea typeface="宋体" pitchFamily="2" charset="-122"/>
            </a:endParaRPr>
          </a:p>
        </p:txBody>
      </p:sp>
      <p:sp>
        <p:nvSpPr>
          <p:cNvPr id="107526" name="Rectangle 2"/>
          <p:cNvSpPr>
            <a:spLocks noChangeArrowheads="1"/>
          </p:cNvSpPr>
          <p:nvPr/>
        </p:nvSpPr>
        <p:spPr bwMode="auto">
          <a:xfrm>
            <a:off x="792163" y="4535488"/>
            <a:ext cx="80645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并行处理方式也可分为：</a:t>
            </a:r>
            <a:endParaRPr lang="en-US" altLang="zh-CN" dirty="0">
              <a:latin typeface="黑体" pitchFamily="2" charset="-122"/>
              <a:ea typeface="黑体" pitchFamily="2" charset="-122"/>
            </a:endParaRPr>
          </a:p>
          <a:p>
            <a:pPr>
              <a:spcBef>
                <a:spcPct val="0"/>
              </a:spcBef>
            </a:pPr>
            <a:r>
              <a:rPr lang="zh-CN" altLang="en-US">
                <a:latin typeface="黑体" pitchFamily="2" charset="-122"/>
                <a:ea typeface="黑体" pitchFamily="2" charset="-122"/>
              </a:rPr>
              <a:t>    时间并行（重叠）</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空间并行（资源重复）</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以及二者结合的方式</a:t>
            </a:r>
            <a:endParaRPr lang="en-US" altLang="zh-CN" dirty="0">
              <a:latin typeface="黑体" pitchFamily="2" charset="-122"/>
              <a:ea typeface="黑体" pitchFamily="2" charset="-122"/>
            </a:endParaRPr>
          </a:p>
        </p:txBody>
      </p:sp>
    </p:spTree>
  </p:cSld>
  <p:clrMapOvr>
    <a:masterClrMapping/>
  </p:clrMapOvr>
  <p:transition>
    <p:wipe dir="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647700" y="1071563"/>
            <a:ext cx="80645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    </a:t>
            </a:r>
            <a:r>
              <a:rPr lang="zh-CN" altLang="zh-CN">
                <a:latin typeface="黑体" pitchFamily="2" charset="-122"/>
                <a:ea typeface="黑体" pitchFamily="2" charset="-122"/>
              </a:rPr>
              <a:t>让多个处理过程在时间上相互错开，轮流使用同一套硬件设备的各个部件，以加快硬件周转而赢得速度。</a:t>
            </a:r>
            <a:endParaRPr lang="zh-CN" altLang="en-US">
              <a:latin typeface="黑体" pitchFamily="2" charset="-122"/>
              <a:ea typeface="黑体" pitchFamily="2" charset="-122"/>
            </a:endParaRPr>
          </a:p>
        </p:txBody>
      </p:sp>
      <p:sp>
        <p:nvSpPr>
          <p:cNvPr id="108547" name="Rectangle 9"/>
          <p:cNvSpPr>
            <a:spLocks noChangeArrowheads="1"/>
          </p:cNvSpPr>
          <p:nvPr/>
        </p:nvSpPr>
        <p:spPr bwMode="auto">
          <a:xfrm>
            <a:off x="647700" y="504825"/>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6.6.1 </a:t>
            </a:r>
            <a:r>
              <a:rPr lang="zh-CN" altLang="en-US">
                <a:solidFill>
                  <a:srgbClr val="990000"/>
                </a:solidFill>
                <a:latin typeface="黑体" pitchFamily="2" charset="-122"/>
                <a:ea typeface="黑体" pitchFamily="2" charset="-122"/>
              </a:rPr>
              <a:t>重叠控制</a:t>
            </a:r>
          </a:p>
        </p:txBody>
      </p:sp>
      <p:pic>
        <p:nvPicPr>
          <p:cNvPr id="108548" name="Picture 8"/>
          <p:cNvPicPr>
            <a:picLocks noChangeAspect="1" noChangeArrowheads="1"/>
          </p:cNvPicPr>
          <p:nvPr/>
        </p:nvPicPr>
        <p:blipFill>
          <a:blip r:embed="rId2">
            <a:extLst>
              <a:ext uri="{28A0092B-C50C-407E-A947-70E740481C1C}">
                <a14:useLocalDpi xmlns:a14="http://schemas.microsoft.com/office/drawing/2010/main" val="0"/>
              </a:ext>
            </a:extLst>
          </a:blip>
          <a:srcRect b="41841"/>
          <a:stretch>
            <a:fillRect/>
          </a:stretch>
        </p:blipFill>
        <p:spPr bwMode="auto">
          <a:xfrm>
            <a:off x="3478213" y="2336800"/>
            <a:ext cx="54483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Rectangle 9"/>
          <p:cNvSpPr>
            <a:spLocks noChangeArrowheads="1"/>
          </p:cNvSpPr>
          <p:nvPr/>
        </p:nvSpPr>
        <p:spPr bwMode="auto">
          <a:xfrm>
            <a:off x="792163" y="2444750"/>
            <a:ext cx="305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a:solidFill>
                  <a:srgbClr val="FF0000"/>
                </a:solidFill>
                <a:latin typeface="黑体" pitchFamily="2" charset="-122"/>
                <a:ea typeface="黑体" pitchFamily="2" charset="-122"/>
              </a:rPr>
              <a:t>顺序执行方式：</a:t>
            </a:r>
          </a:p>
        </p:txBody>
      </p:sp>
      <p:sp>
        <p:nvSpPr>
          <p:cNvPr id="108550" name="Rectangle 10"/>
          <p:cNvSpPr>
            <a:spLocks noChangeArrowheads="1"/>
          </p:cNvSpPr>
          <p:nvPr/>
        </p:nvSpPr>
        <p:spPr bwMode="auto">
          <a:xfrm>
            <a:off x="762000" y="3443288"/>
            <a:ext cx="402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a:solidFill>
                  <a:srgbClr val="FF0000"/>
                </a:solidFill>
                <a:latin typeface="黑体" pitchFamily="2" charset="-122"/>
                <a:ea typeface="黑体" pitchFamily="2" charset="-122"/>
              </a:rPr>
              <a:t>一次重叠执行方式：</a:t>
            </a:r>
          </a:p>
        </p:txBody>
      </p:sp>
      <p:pic>
        <p:nvPicPr>
          <p:cNvPr id="108551" name="Picture 8"/>
          <p:cNvPicPr>
            <a:picLocks noChangeAspect="1" noChangeArrowheads="1"/>
          </p:cNvPicPr>
          <p:nvPr/>
        </p:nvPicPr>
        <p:blipFill>
          <a:blip r:embed="rId2">
            <a:extLst>
              <a:ext uri="{28A0092B-C50C-407E-A947-70E740481C1C}">
                <a14:useLocalDpi xmlns:a14="http://schemas.microsoft.com/office/drawing/2010/main" val="0"/>
              </a:ext>
            </a:extLst>
          </a:blip>
          <a:srcRect t="61148" r="18762"/>
          <a:stretch>
            <a:fillRect/>
          </a:stretch>
        </p:blipFill>
        <p:spPr bwMode="auto">
          <a:xfrm>
            <a:off x="3478213" y="4468813"/>
            <a:ext cx="4352925"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2" name="Rectangle 11"/>
          <p:cNvSpPr>
            <a:spLocks noChangeArrowheads="1"/>
          </p:cNvSpPr>
          <p:nvPr/>
        </p:nvSpPr>
        <p:spPr bwMode="auto">
          <a:xfrm>
            <a:off x="779463" y="4549775"/>
            <a:ext cx="402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a:solidFill>
                  <a:srgbClr val="FF0000"/>
                </a:solidFill>
                <a:latin typeface="黑体" pitchFamily="2" charset="-122"/>
                <a:ea typeface="黑体" pitchFamily="2" charset="-122"/>
              </a:rPr>
              <a:t>二次重叠执行方式</a:t>
            </a:r>
            <a:r>
              <a:rPr lang="zh-CN" altLang="en-US">
                <a:solidFill>
                  <a:srgbClr val="FF0066"/>
                </a:solidFill>
                <a:latin typeface="黑体" pitchFamily="2" charset="-122"/>
                <a:ea typeface="黑体" pitchFamily="2" charset="-122"/>
              </a:rPr>
              <a:t>：</a:t>
            </a:r>
          </a:p>
        </p:txBody>
      </p:sp>
    </p:spTree>
  </p:cSld>
  <p:clrMapOvr>
    <a:masterClrMapping/>
  </p:clrMapOvr>
  <p:transition>
    <p:wipe dir="d"/>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9"/>
          <p:cNvSpPr>
            <a:spLocks noChangeArrowheads="1"/>
          </p:cNvSpPr>
          <p:nvPr/>
        </p:nvSpPr>
        <p:spPr bwMode="auto">
          <a:xfrm>
            <a:off x="647700" y="504825"/>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6.6.1 </a:t>
            </a:r>
            <a:r>
              <a:rPr lang="zh-CN" altLang="en-US">
                <a:solidFill>
                  <a:srgbClr val="990000"/>
                </a:solidFill>
                <a:latin typeface="黑体" pitchFamily="2" charset="-122"/>
                <a:ea typeface="黑体" pitchFamily="2" charset="-122"/>
              </a:rPr>
              <a:t>重叠控制</a:t>
            </a:r>
          </a:p>
        </p:txBody>
      </p:sp>
      <p:pic>
        <p:nvPicPr>
          <p:cNvPr id="109571" name="Picture 8"/>
          <p:cNvPicPr>
            <a:picLocks noChangeAspect="1" noChangeArrowheads="1"/>
          </p:cNvPicPr>
          <p:nvPr/>
        </p:nvPicPr>
        <p:blipFill>
          <a:blip r:embed="rId2">
            <a:extLst>
              <a:ext uri="{28A0092B-C50C-407E-A947-70E740481C1C}">
                <a14:useLocalDpi xmlns:a14="http://schemas.microsoft.com/office/drawing/2010/main" val="0"/>
              </a:ext>
            </a:extLst>
          </a:blip>
          <a:srcRect t="61148" r="18762" b="9137"/>
          <a:stretch>
            <a:fillRect/>
          </a:stretch>
        </p:blipFill>
        <p:spPr bwMode="auto">
          <a:xfrm>
            <a:off x="1770063" y="1689100"/>
            <a:ext cx="461010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Rectangle 11"/>
          <p:cNvSpPr>
            <a:spLocks noChangeArrowheads="1"/>
          </p:cNvSpPr>
          <p:nvPr/>
        </p:nvSpPr>
        <p:spPr bwMode="auto">
          <a:xfrm>
            <a:off x="647700" y="1090613"/>
            <a:ext cx="4533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a:solidFill>
                  <a:srgbClr val="FF0000"/>
                </a:solidFill>
                <a:latin typeface="黑体" pitchFamily="2" charset="-122"/>
                <a:ea typeface="黑体" pitchFamily="2" charset="-122"/>
              </a:rPr>
              <a:t>以二次重叠执行方式为例：</a:t>
            </a:r>
            <a:r>
              <a:rPr lang="zh-CN" altLang="en-US">
                <a:solidFill>
                  <a:srgbClr val="FF0066"/>
                </a:solidFill>
                <a:latin typeface="黑体" pitchFamily="2" charset="-122"/>
                <a:ea typeface="黑体" pitchFamily="2" charset="-122"/>
              </a:rPr>
              <a:t>   </a:t>
            </a:r>
          </a:p>
        </p:txBody>
      </p:sp>
      <p:sp>
        <p:nvSpPr>
          <p:cNvPr id="109573" name="Rectangle 2"/>
          <p:cNvSpPr>
            <a:spLocks noChangeArrowheads="1"/>
          </p:cNvSpPr>
          <p:nvPr/>
        </p:nvSpPr>
        <p:spPr bwMode="auto">
          <a:xfrm>
            <a:off x="647700" y="2994025"/>
            <a:ext cx="80645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    控制器必须能够同时发出</a:t>
            </a:r>
            <a:r>
              <a:rPr lang="en-US" altLang="zh-CN" dirty="0">
                <a:latin typeface="黑体" pitchFamily="2" charset="-122"/>
                <a:ea typeface="黑体" pitchFamily="2" charset="-122"/>
              </a:rPr>
              <a:t>3</a:t>
            </a:r>
            <a:r>
              <a:rPr lang="zh-CN" altLang="en-US">
                <a:latin typeface="黑体" pitchFamily="2" charset="-122"/>
                <a:ea typeface="黑体" pitchFamily="2" charset="-122"/>
              </a:rPr>
              <a:t>个指令执行阶段所需的控制信号。为此，</a:t>
            </a:r>
            <a:r>
              <a:rPr lang="en-US" altLang="zh-CN" dirty="0">
                <a:latin typeface="黑体" pitchFamily="2" charset="-122"/>
                <a:ea typeface="黑体" pitchFamily="2" charset="-122"/>
              </a:rPr>
              <a:t>CPU</a:t>
            </a:r>
            <a:r>
              <a:rPr lang="zh-CN" altLang="en-US">
                <a:latin typeface="黑体" pitchFamily="2" charset="-122"/>
                <a:ea typeface="黑体" pitchFamily="2" charset="-122"/>
              </a:rPr>
              <a:t>应把原来的集中控制器分解为</a:t>
            </a:r>
            <a:r>
              <a:rPr lang="zh-CN" altLang="en-US" u="sng">
                <a:latin typeface="黑体" pitchFamily="2" charset="-122"/>
                <a:ea typeface="黑体" pitchFamily="2" charset="-122"/>
              </a:rPr>
              <a:t>存储控制器</a:t>
            </a:r>
            <a:r>
              <a:rPr lang="zh-CN" altLang="en-US">
                <a:latin typeface="黑体" pitchFamily="2" charset="-122"/>
                <a:ea typeface="黑体" pitchFamily="2" charset="-122"/>
              </a:rPr>
              <a:t>、</a:t>
            </a:r>
            <a:r>
              <a:rPr lang="zh-CN" altLang="en-US" u="sng">
                <a:latin typeface="黑体" pitchFamily="2" charset="-122"/>
                <a:ea typeface="黑体" pitchFamily="2" charset="-122"/>
              </a:rPr>
              <a:t>指令控制器</a:t>
            </a:r>
            <a:r>
              <a:rPr lang="zh-CN" altLang="en-US">
                <a:latin typeface="黑体" pitchFamily="2" charset="-122"/>
                <a:ea typeface="黑体" pitchFamily="2" charset="-122"/>
              </a:rPr>
              <a:t>和</a:t>
            </a:r>
            <a:r>
              <a:rPr lang="zh-CN" altLang="en-US" u="sng">
                <a:latin typeface="黑体" pitchFamily="2" charset="-122"/>
                <a:ea typeface="黑体" pitchFamily="2" charset="-122"/>
              </a:rPr>
              <a:t>运算控制器</a:t>
            </a:r>
            <a:r>
              <a:rPr lang="zh-CN" altLang="en-US">
                <a:latin typeface="黑体" pitchFamily="2" charset="-122"/>
                <a:ea typeface="黑体" pitchFamily="2" charset="-122"/>
              </a:rPr>
              <a:t>。</a:t>
            </a:r>
            <a:endParaRPr lang="en-US" altLang="zh-CN" dirty="0">
              <a:latin typeface="黑体" pitchFamily="2" charset="-122"/>
              <a:ea typeface="黑体" pitchFamily="2" charset="-122"/>
            </a:endParaRPr>
          </a:p>
        </p:txBody>
      </p:sp>
      <p:sp>
        <p:nvSpPr>
          <p:cNvPr id="109574" name="Rectangle 2"/>
          <p:cNvSpPr>
            <a:spLocks noChangeArrowheads="1"/>
          </p:cNvSpPr>
          <p:nvPr/>
        </p:nvSpPr>
        <p:spPr bwMode="auto">
          <a:xfrm>
            <a:off x="647700" y="4845050"/>
            <a:ext cx="80645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   但在遇到程序分支（如条件转移、中断等）或者相邻指令之间有数据相关的情况下，重叠执行会失败。</a:t>
            </a:r>
            <a:endParaRPr lang="en-US" altLang="zh-CN" dirty="0">
              <a:latin typeface="黑体" pitchFamily="2" charset="-122"/>
              <a:ea typeface="黑体" pitchFamily="2" charset="-122"/>
            </a:endParaRPr>
          </a:p>
        </p:txBody>
      </p:sp>
      <p:sp>
        <p:nvSpPr>
          <p:cNvPr id="109575" name="椭圆 1"/>
          <p:cNvSpPr>
            <a:spLocks noChangeArrowheads="1"/>
          </p:cNvSpPr>
          <p:nvPr/>
        </p:nvSpPr>
        <p:spPr bwMode="auto">
          <a:xfrm>
            <a:off x="3786188" y="1552575"/>
            <a:ext cx="750887" cy="1441450"/>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rIns="36000">
            <a:spAutoFit/>
          </a:bodyPr>
          <a:lstStyle/>
          <a:p>
            <a:pPr>
              <a:lnSpc>
                <a:spcPct val="100000"/>
              </a:lnSpc>
              <a:spcBef>
                <a:spcPct val="0"/>
              </a:spcBef>
            </a:pPr>
            <a:endParaRPr lang="zh-CN" altLang="en-US">
              <a:latin typeface="宋体" pitchFamily="2" charset="-122"/>
              <a:ea typeface="宋体" pitchFamily="2" charset="-122"/>
            </a:endParaRPr>
          </a:p>
        </p:txBody>
      </p:sp>
    </p:spTree>
  </p:cSld>
  <p:clrMapOvr>
    <a:masterClrMapping/>
  </p:clrMapOvr>
  <p:transition>
    <p:wipe dir="d"/>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1"/>
          <p:cNvGraphicFramePr>
            <a:graphicFrameLocks noChangeAspect="1"/>
          </p:cNvGraphicFramePr>
          <p:nvPr/>
        </p:nvGraphicFramePr>
        <p:xfrm>
          <a:off x="1701800" y="1633538"/>
          <a:ext cx="6013450" cy="2103437"/>
        </p:xfrm>
        <a:graphic>
          <a:graphicData uri="http://schemas.openxmlformats.org/presentationml/2006/ole">
            <mc:AlternateContent xmlns:mc="http://schemas.openxmlformats.org/markup-compatibility/2006">
              <mc:Choice xmlns:v="urn:schemas-microsoft-com:vml" Requires="v">
                <p:oleObj r:id="rId2" imgW="3434080" imgH="1203960" progId="Visio.Drawing.6">
                  <p:embed/>
                </p:oleObj>
              </mc:Choice>
              <mc:Fallback>
                <p:oleObj r:id="rId2" imgW="3434080" imgH="1203960" progId="Visio.Drawing.6">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800" y="1633538"/>
                        <a:ext cx="6013450" cy="210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595" name="Rectangle 5"/>
          <p:cNvSpPr>
            <a:spLocks noChangeArrowheads="1"/>
          </p:cNvSpPr>
          <p:nvPr/>
        </p:nvSpPr>
        <p:spPr bwMode="auto">
          <a:xfrm>
            <a:off x="622300" y="1165225"/>
            <a:ext cx="7772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 </a:t>
            </a:r>
            <a:r>
              <a:rPr lang="zh-CN" altLang="zh-CN">
                <a:latin typeface="宋体" pitchFamily="2" charset="-122"/>
                <a:ea typeface="黑体" pitchFamily="2" charset="-122"/>
              </a:rPr>
              <a:t>“</a:t>
            </a:r>
            <a:r>
              <a:rPr lang="zh-CN" altLang="zh-CN">
                <a:latin typeface="黑体" pitchFamily="2" charset="-122"/>
                <a:ea typeface="黑体" pitchFamily="2" charset="-122"/>
              </a:rPr>
              <a:t>分析</a:t>
            </a:r>
            <a:r>
              <a:rPr lang="zh-CN" altLang="zh-CN">
                <a:latin typeface="宋体" pitchFamily="2" charset="-122"/>
                <a:ea typeface="黑体" pitchFamily="2" charset="-122"/>
              </a:rPr>
              <a:t>”</a:t>
            </a:r>
            <a:r>
              <a:rPr lang="zh-CN" altLang="zh-CN">
                <a:latin typeface="黑体" pitchFamily="2" charset="-122"/>
                <a:ea typeface="黑体" pitchFamily="2" charset="-122"/>
              </a:rPr>
              <a:t>和</a:t>
            </a:r>
            <a:r>
              <a:rPr lang="zh-CN" altLang="zh-CN">
                <a:latin typeface="宋体" pitchFamily="2" charset="-122"/>
                <a:ea typeface="黑体" pitchFamily="2" charset="-122"/>
              </a:rPr>
              <a:t>“</a:t>
            </a:r>
            <a:r>
              <a:rPr lang="zh-CN" altLang="zh-CN">
                <a:latin typeface="黑体" pitchFamily="2" charset="-122"/>
                <a:ea typeface="黑体" pitchFamily="2" charset="-122"/>
              </a:rPr>
              <a:t>执行</a:t>
            </a:r>
            <a:r>
              <a:rPr lang="zh-CN" altLang="zh-CN">
                <a:latin typeface="宋体" pitchFamily="2" charset="-122"/>
                <a:ea typeface="黑体" pitchFamily="2" charset="-122"/>
              </a:rPr>
              <a:t>”</a:t>
            </a:r>
            <a:r>
              <a:rPr lang="zh-CN" altLang="zh-CN">
                <a:latin typeface="黑体" pitchFamily="2" charset="-122"/>
                <a:ea typeface="黑体" pitchFamily="2" charset="-122"/>
              </a:rPr>
              <a:t>时间不等的重叠</a:t>
            </a:r>
            <a:r>
              <a:rPr lang="zh-CN" altLang="en-US">
                <a:latin typeface="黑体" pitchFamily="2" charset="-122"/>
                <a:ea typeface="黑体" pitchFamily="2" charset="-122"/>
              </a:rPr>
              <a:t>：</a:t>
            </a:r>
            <a:endParaRPr lang="zh-CN" altLang="en-US">
              <a:solidFill>
                <a:srgbClr val="CC0066"/>
              </a:solidFill>
              <a:latin typeface="黑体" pitchFamily="2" charset="-122"/>
              <a:ea typeface="黑体" pitchFamily="2" charset="-122"/>
            </a:endParaRPr>
          </a:p>
        </p:txBody>
      </p:sp>
      <p:sp>
        <p:nvSpPr>
          <p:cNvPr id="110596" name="Rectangle 5"/>
          <p:cNvSpPr>
            <a:spLocks noChangeArrowheads="1"/>
          </p:cNvSpPr>
          <p:nvPr/>
        </p:nvSpPr>
        <p:spPr bwMode="auto">
          <a:xfrm>
            <a:off x="684213" y="3644900"/>
            <a:ext cx="7772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0"/>
              </a:spcBef>
            </a:pPr>
            <a:r>
              <a:rPr lang="en-US" altLang="zh-CN" dirty="0">
                <a:latin typeface="黑体" pitchFamily="2" charset="-122"/>
                <a:ea typeface="黑体" pitchFamily="2" charset="-122"/>
              </a:rPr>
              <a:t> </a:t>
            </a:r>
            <a:r>
              <a:rPr lang="zh-CN" altLang="en-US">
                <a:latin typeface="黑体" pitchFamily="2" charset="-122"/>
                <a:ea typeface="黑体" pitchFamily="2" charset="-122"/>
              </a:rPr>
              <a:t>先行控制方式：</a:t>
            </a:r>
            <a:endParaRPr lang="zh-CN" altLang="en-US">
              <a:solidFill>
                <a:srgbClr val="CC0066"/>
              </a:solidFill>
              <a:latin typeface="黑体" pitchFamily="2" charset="-122"/>
              <a:ea typeface="黑体" pitchFamily="2" charset="-122"/>
            </a:endParaRPr>
          </a:p>
        </p:txBody>
      </p:sp>
      <p:graphicFrame>
        <p:nvGraphicFramePr>
          <p:cNvPr id="110597" name="Object 3"/>
          <p:cNvGraphicFramePr>
            <a:graphicFrameLocks noChangeAspect="1"/>
          </p:cNvGraphicFramePr>
          <p:nvPr/>
        </p:nvGraphicFramePr>
        <p:xfrm>
          <a:off x="1800225" y="4149725"/>
          <a:ext cx="5616575" cy="2038350"/>
        </p:xfrm>
        <a:graphic>
          <a:graphicData uri="http://schemas.openxmlformats.org/presentationml/2006/ole">
            <mc:AlternateContent xmlns:mc="http://schemas.openxmlformats.org/markup-compatibility/2006">
              <mc:Choice xmlns:v="urn:schemas-microsoft-com:vml" Requires="v">
                <p:oleObj r:id="rId4" imgW="3233420" imgH="1170940" progId="Visio.Drawing.6">
                  <p:embed/>
                </p:oleObj>
              </mc:Choice>
              <mc:Fallback>
                <p:oleObj r:id="rId4" imgW="3233420" imgH="1170940" progId="Visio.Drawing.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0225" y="4149725"/>
                        <a:ext cx="5616575"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598" name="Rectangle 9"/>
          <p:cNvSpPr>
            <a:spLocks noChangeArrowheads="1"/>
          </p:cNvSpPr>
          <p:nvPr/>
        </p:nvSpPr>
        <p:spPr bwMode="auto">
          <a:xfrm>
            <a:off x="647700" y="504825"/>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6.6.2 </a:t>
            </a:r>
            <a:r>
              <a:rPr lang="zh-CN" altLang="en-US">
                <a:solidFill>
                  <a:srgbClr val="990000"/>
                </a:solidFill>
                <a:latin typeface="黑体" pitchFamily="2" charset="-122"/>
                <a:ea typeface="黑体" pitchFamily="2" charset="-122"/>
              </a:rPr>
              <a:t>先行控制原理</a:t>
            </a:r>
          </a:p>
        </p:txBody>
      </p:sp>
    </p:spTree>
  </p:cSld>
  <p:clrMapOvr>
    <a:masterClrMapping/>
  </p:clrMapOvr>
  <p:transition>
    <p:wipe dir="d"/>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9"/>
          <p:cNvSpPr>
            <a:spLocks noChangeArrowheads="1"/>
          </p:cNvSpPr>
          <p:nvPr/>
        </p:nvSpPr>
        <p:spPr bwMode="auto">
          <a:xfrm>
            <a:off x="647700" y="512763"/>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6.6.3 </a:t>
            </a:r>
            <a:r>
              <a:rPr lang="zh-CN" altLang="en-US">
                <a:solidFill>
                  <a:srgbClr val="990000"/>
                </a:solidFill>
                <a:latin typeface="黑体" pitchFamily="2" charset="-122"/>
                <a:ea typeface="黑体" pitchFamily="2" charset="-122"/>
              </a:rPr>
              <a:t>流水工作原理</a:t>
            </a:r>
          </a:p>
        </p:txBody>
      </p:sp>
      <p:sp>
        <p:nvSpPr>
          <p:cNvPr id="111619" name="Rectangle 12"/>
          <p:cNvSpPr>
            <a:spLocks noChangeArrowheads="1"/>
          </p:cNvSpPr>
          <p:nvPr/>
        </p:nvSpPr>
        <p:spPr bwMode="auto">
          <a:xfrm>
            <a:off x="817563" y="233838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流水线</a:t>
            </a:r>
          </a:p>
        </p:txBody>
      </p:sp>
      <p:sp>
        <p:nvSpPr>
          <p:cNvPr id="111620" name="Rectangle 2"/>
          <p:cNvSpPr>
            <a:spLocks noChangeArrowheads="1"/>
          </p:cNvSpPr>
          <p:nvPr/>
        </p:nvSpPr>
        <p:spPr bwMode="auto">
          <a:xfrm>
            <a:off x="647700" y="1076325"/>
            <a:ext cx="8208963"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流水处理技术是在重叠、先行控制方式的基础上发展起来的，它基于重叠的原理，但却是在更高程度上的重叠。</a:t>
            </a:r>
          </a:p>
        </p:txBody>
      </p:sp>
      <p:sp>
        <p:nvSpPr>
          <p:cNvPr id="111621" name="Rectangle 2"/>
          <p:cNvSpPr>
            <a:spLocks noChangeArrowheads="1"/>
          </p:cNvSpPr>
          <p:nvPr/>
        </p:nvSpPr>
        <p:spPr bwMode="auto">
          <a:xfrm>
            <a:off x="647700" y="2795588"/>
            <a:ext cx="8208963"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流水线是将一个较复杂的处理过程分成m个复杂程度相当、处理时间大致相等的子过程，每个子过程由一个独立的功能部件来完成，处理对象在各子过程连成的线路上连续流动。在同一时间，m个部件同时进行不同的操作，完成对不同子过程的处理。</a:t>
            </a:r>
          </a:p>
        </p:txBody>
      </p:sp>
    </p:spTree>
  </p:cSld>
  <p:clrMapOvr>
    <a:masterClrMapping/>
  </p:clrMapOvr>
  <p:transition>
    <p:wipe dir="d"/>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8"/>
          <p:cNvSpPr>
            <a:spLocks noChangeArrowheads="1"/>
          </p:cNvSpPr>
          <p:nvPr/>
        </p:nvSpPr>
        <p:spPr bwMode="auto">
          <a:xfrm>
            <a:off x="1008063" y="1006475"/>
            <a:ext cx="77724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spcBef>
                <a:spcPct val="0"/>
              </a:spcBef>
            </a:pPr>
            <a:r>
              <a:rPr lang="en-US" altLang="zh-CN" dirty="0">
                <a:latin typeface="黑体" pitchFamily="2" charset="-122"/>
                <a:ea typeface="黑体" pitchFamily="2" charset="-122"/>
              </a:rPr>
              <a:t>    </a:t>
            </a:r>
          </a:p>
          <a:p>
            <a:pPr>
              <a:lnSpc>
                <a:spcPct val="120000"/>
              </a:lnSpc>
              <a:spcBef>
                <a:spcPct val="0"/>
              </a:spcBef>
            </a:pPr>
            <a:r>
              <a:rPr lang="zh-CN" altLang="en-US">
                <a:latin typeface="黑体" pitchFamily="2" charset="-122"/>
                <a:ea typeface="黑体" pitchFamily="2" charset="-122"/>
              </a:rPr>
              <a:t>四个子过程的流水线处理：</a:t>
            </a:r>
          </a:p>
        </p:txBody>
      </p:sp>
      <p:graphicFrame>
        <p:nvGraphicFramePr>
          <p:cNvPr id="112643" name="Object 1"/>
          <p:cNvGraphicFramePr>
            <a:graphicFrameLocks noChangeAspect="1"/>
          </p:cNvGraphicFramePr>
          <p:nvPr/>
        </p:nvGraphicFramePr>
        <p:xfrm>
          <a:off x="1150938" y="1762125"/>
          <a:ext cx="7002462" cy="4356100"/>
        </p:xfrm>
        <a:graphic>
          <a:graphicData uri="http://schemas.openxmlformats.org/presentationml/2006/ole">
            <mc:AlternateContent xmlns:mc="http://schemas.openxmlformats.org/markup-compatibility/2006">
              <mc:Choice xmlns:v="urn:schemas-microsoft-com:vml" Requires="v">
                <p:oleObj r:id="rId2" imgW="2799080" imgH="1790700" progId="Visio.Drawing.6">
                  <p:embed/>
                </p:oleObj>
              </mc:Choice>
              <mc:Fallback>
                <p:oleObj r:id="rId2" imgW="2799080" imgH="1790700" progId="Visio.Drawing.6">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762125"/>
                        <a:ext cx="7002462"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d"/>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2"/>
          <p:cNvSpPr>
            <a:spLocks noChangeArrowheads="1"/>
          </p:cNvSpPr>
          <p:nvPr/>
        </p:nvSpPr>
        <p:spPr bwMode="auto">
          <a:xfrm>
            <a:off x="571500" y="54133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流水线分类</a:t>
            </a:r>
          </a:p>
        </p:txBody>
      </p:sp>
      <p:sp>
        <p:nvSpPr>
          <p:cNvPr id="113667" name="Rectangle 2"/>
          <p:cNvSpPr>
            <a:spLocks noChangeArrowheads="1"/>
          </p:cNvSpPr>
          <p:nvPr/>
        </p:nvSpPr>
        <p:spPr bwMode="auto">
          <a:xfrm>
            <a:off x="846138" y="1042988"/>
            <a:ext cx="7764462"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zh-CN">
                <a:solidFill>
                  <a:srgbClr val="990000"/>
                </a:solidFill>
                <a:latin typeface="黑体" pitchFamily="2" charset="-122"/>
                <a:ea typeface="黑体" pitchFamily="2" charset="-122"/>
              </a:rPr>
              <a:t>按处理级别分类：</a:t>
            </a:r>
            <a:r>
              <a:rPr lang="zh-CN" altLang="zh-CN">
                <a:latin typeface="黑体" pitchFamily="2" charset="-122"/>
                <a:ea typeface="黑体" pitchFamily="2" charset="-122"/>
              </a:rPr>
              <a:t>  </a:t>
            </a:r>
            <a:endParaRPr lang="zh-CN" altLang="en-US">
              <a:latin typeface="黑体" pitchFamily="2" charset="-122"/>
              <a:ea typeface="黑体" pitchFamily="2" charset="-122"/>
            </a:endParaRP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操作部件级 / 指令级/处理机级</a:t>
            </a:r>
          </a:p>
          <a:p>
            <a:pPr>
              <a:spcBef>
                <a:spcPct val="0"/>
              </a:spcBef>
            </a:pPr>
            <a:r>
              <a:rPr lang="zh-CN" altLang="zh-CN">
                <a:solidFill>
                  <a:srgbClr val="990000"/>
                </a:solidFill>
                <a:latin typeface="黑体" pitchFamily="2" charset="-122"/>
                <a:ea typeface="黑体" pitchFamily="2" charset="-122"/>
              </a:rPr>
              <a:t>按功能分类：</a:t>
            </a:r>
            <a:r>
              <a:rPr lang="zh-CN" altLang="zh-CN">
                <a:latin typeface="黑体" pitchFamily="2" charset="-122"/>
                <a:ea typeface="黑体" pitchFamily="2" charset="-122"/>
              </a:rPr>
              <a:t>      </a:t>
            </a:r>
            <a:endParaRPr lang="zh-CN" altLang="en-US">
              <a:latin typeface="黑体" pitchFamily="2" charset="-122"/>
              <a:ea typeface="黑体" pitchFamily="2" charset="-122"/>
            </a:endParaRP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单功能 / 多功能（可有多种连接方式）</a:t>
            </a:r>
          </a:p>
          <a:p>
            <a:pPr>
              <a:spcBef>
                <a:spcPct val="0"/>
              </a:spcBef>
            </a:pPr>
            <a:r>
              <a:rPr lang="zh-CN" altLang="zh-CN">
                <a:solidFill>
                  <a:srgbClr val="990000"/>
                </a:solidFill>
                <a:latin typeface="黑体" pitchFamily="2" charset="-122"/>
                <a:ea typeface="黑体" pitchFamily="2" charset="-122"/>
              </a:rPr>
              <a:t>按工作方式分类：</a:t>
            </a:r>
            <a:r>
              <a:rPr lang="zh-CN" altLang="zh-CN">
                <a:latin typeface="黑体" pitchFamily="2" charset="-122"/>
                <a:ea typeface="黑体" pitchFamily="2" charset="-122"/>
              </a:rPr>
              <a:t>  </a:t>
            </a:r>
            <a:endParaRPr lang="zh-CN" altLang="en-US">
              <a:latin typeface="黑体" pitchFamily="2" charset="-122"/>
              <a:ea typeface="黑体" pitchFamily="2" charset="-122"/>
            </a:endParaRP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静态流水线 / 动态流水线</a:t>
            </a:r>
            <a:endParaRPr lang="zh-CN" altLang="en-US">
              <a:latin typeface="黑体" pitchFamily="2" charset="-122"/>
              <a:ea typeface="黑体" pitchFamily="2" charset="-122"/>
            </a:endParaRP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（允许同一时间内连成不同的功能）</a:t>
            </a:r>
          </a:p>
          <a:p>
            <a:pPr>
              <a:spcBef>
                <a:spcPct val="0"/>
              </a:spcBef>
            </a:pPr>
            <a:r>
              <a:rPr lang="zh-CN" altLang="zh-CN">
                <a:solidFill>
                  <a:srgbClr val="990000"/>
                </a:solidFill>
                <a:latin typeface="黑体" pitchFamily="2" charset="-122"/>
                <a:ea typeface="黑体" pitchFamily="2" charset="-122"/>
              </a:rPr>
              <a:t>按流水线结构分类：</a:t>
            </a:r>
            <a:endParaRPr lang="zh-CN" altLang="en-US">
              <a:solidFill>
                <a:srgbClr val="990000"/>
              </a:solidFill>
              <a:latin typeface="黑体" pitchFamily="2" charset="-122"/>
              <a:ea typeface="黑体" pitchFamily="2" charset="-122"/>
            </a:endParaRP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线性流水 / 非线性流水（含反馈回路）</a:t>
            </a:r>
          </a:p>
          <a:p>
            <a:pPr>
              <a:spcBef>
                <a:spcPct val="0"/>
              </a:spcBef>
            </a:pPr>
            <a:endParaRPr lang="zh-CN" altLang="zh-CN">
              <a:latin typeface="黑体" pitchFamily="2" charset="-122"/>
              <a:ea typeface="黑体" pitchFamily="2" charset="-122"/>
            </a:endParaRPr>
          </a:p>
        </p:txBody>
      </p:sp>
    </p:spTree>
  </p:cSld>
  <p:clrMapOvr>
    <a:masterClrMapping/>
  </p:clrMapOvr>
  <p:transition>
    <p:wipe dir="d"/>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2"/>
          <p:cNvSpPr>
            <a:spLocks noChangeArrowheads="1"/>
          </p:cNvSpPr>
          <p:nvPr/>
        </p:nvSpPr>
        <p:spPr bwMode="auto">
          <a:xfrm>
            <a:off x="512763" y="54133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指令流水线的相关性</a:t>
            </a:r>
          </a:p>
        </p:txBody>
      </p:sp>
      <p:sp>
        <p:nvSpPr>
          <p:cNvPr id="114691" name="Rectangle 2"/>
          <p:cNvSpPr>
            <a:spLocks noChangeArrowheads="1"/>
          </p:cNvSpPr>
          <p:nvPr/>
        </p:nvSpPr>
        <p:spPr bwMode="auto">
          <a:xfrm>
            <a:off x="787400" y="1042988"/>
            <a:ext cx="7764463"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）结构相关 （资源相关）</a:t>
            </a:r>
            <a:endParaRPr lang="en-US" altLang="zh-CN" dirty="0">
              <a:solidFill>
                <a:srgbClr val="990000"/>
              </a:solidFill>
              <a:latin typeface="黑体" pitchFamily="2" charset="-122"/>
              <a:ea typeface="黑体" pitchFamily="2" charset="-122"/>
            </a:endParaRPr>
          </a:p>
          <a:p>
            <a:pPr>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）数据相关</a:t>
            </a:r>
            <a:r>
              <a:rPr lang="zh-CN" altLang="zh-CN">
                <a:latin typeface="黑体" pitchFamily="2" charset="-122"/>
                <a:ea typeface="黑体" pitchFamily="2" charset="-122"/>
              </a:rPr>
              <a:t>      </a:t>
            </a:r>
            <a:endParaRPr lang="zh-CN" altLang="en-US">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RAW</a:t>
            </a:r>
            <a:r>
              <a:rPr lang="zh-CN" altLang="en-US">
                <a:latin typeface="黑体" pitchFamily="2" charset="-122"/>
                <a:ea typeface="黑体" pitchFamily="2" charset="-122"/>
              </a:rPr>
              <a:t>：写后读相关</a:t>
            </a:r>
            <a:r>
              <a:rPr lang="en-US" altLang="zh-CN" dirty="0">
                <a:latin typeface="黑体" pitchFamily="2" charset="-122"/>
                <a:ea typeface="黑体" pitchFamily="2" charset="-122"/>
              </a:rPr>
              <a:t> </a:t>
            </a:r>
            <a:r>
              <a:rPr lang="zh-CN" altLang="en-US" sz="1600">
                <a:latin typeface="黑体" pitchFamily="2" charset="-122"/>
                <a:ea typeface="黑体" pitchFamily="2" charset="-122"/>
              </a:rPr>
              <a:t>后面指令试图在前面指令写入寄存器前读取该数据。 </a:t>
            </a:r>
            <a:endParaRPr lang="zh-CN" altLang="en-US" sz="140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WAR</a:t>
            </a:r>
            <a:r>
              <a:rPr lang="zh-CN" altLang="en-US">
                <a:latin typeface="黑体" pitchFamily="2" charset="-122"/>
                <a:ea typeface="黑体" pitchFamily="2" charset="-122"/>
              </a:rPr>
              <a:t>：读后写相关</a:t>
            </a:r>
          </a:p>
          <a:p>
            <a:pPr>
              <a:spcBef>
                <a:spcPct val="0"/>
              </a:spcBef>
            </a:pPr>
            <a:r>
              <a:rPr lang="zh-CN" altLang="en-US">
                <a:latin typeface="黑体" pitchFamily="2" charset="-122"/>
                <a:ea typeface="黑体" pitchFamily="2" charset="-122"/>
              </a:rPr>
              <a:t>    </a:t>
            </a:r>
            <a:r>
              <a:rPr lang="en-US" altLang="zh-CN" dirty="0">
                <a:latin typeface="黑体" pitchFamily="2" charset="-122"/>
                <a:ea typeface="黑体" pitchFamily="2" charset="-122"/>
              </a:rPr>
              <a:t>WAW</a:t>
            </a:r>
            <a:r>
              <a:rPr lang="zh-CN" altLang="en-US">
                <a:latin typeface="黑体" pitchFamily="2" charset="-122"/>
                <a:ea typeface="黑体" pitchFamily="2" charset="-122"/>
              </a:rPr>
              <a:t>：写后写相关</a:t>
            </a:r>
            <a:endParaRPr lang="en-US" altLang="zh-CN" dirty="0">
              <a:latin typeface="黑体" pitchFamily="2" charset="-122"/>
              <a:ea typeface="黑体" pitchFamily="2" charset="-122"/>
            </a:endParaRPr>
          </a:p>
          <a:p>
            <a:pPr>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）控制相关</a:t>
            </a:r>
            <a:r>
              <a:rPr lang="zh-CN" altLang="zh-CN">
                <a:latin typeface="黑体" pitchFamily="2" charset="-122"/>
                <a:ea typeface="黑体" pitchFamily="2" charset="-122"/>
              </a:rPr>
              <a:t>  </a:t>
            </a:r>
            <a:endParaRPr lang="zh-CN" altLang="en-US">
              <a:latin typeface="黑体" pitchFamily="2" charset="-122"/>
              <a:ea typeface="黑体" pitchFamily="2" charset="-122"/>
            </a:endParaRPr>
          </a:p>
          <a:p>
            <a:pPr>
              <a:spcBef>
                <a:spcPct val="0"/>
              </a:spcBef>
            </a:pPr>
            <a:r>
              <a:rPr lang="zh-CN" altLang="en-US">
                <a:latin typeface="黑体" pitchFamily="2" charset="-122"/>
                <a:ea typeface="黑体" pitchFamily="2" charset="-122"/>
              </a:rPr>
              <a:t>    由条件转移指令等引起的。用延迟转移等来解决。</a:t>
            </a:r>
            <a:endParaRPr lang="en-US" altLang="zh-CN" dirty="0">
              <a:latin typeface="黑体" pitchFamily="2" charset="-122"/>
              <a:ea typeface="黑体" pitchFamily="2" charset="-122"/>
            </a:endParaRPr>
          </a:p>
          <a:p>
            <a:pPr>
              <a:spcBef>
                <a:spcPct val="0"/>
              </a:spcBef>
            </a:pPr>
            <a:endParaRPr lang="en-US" altLang="zh-CN" dirty="0">
              <a:latin typeface="黑体" pitchFamily="2" charset="-122"/>
              <a:ea typeface="黑体" pitchFamily="2" charset="-122"/>
            </a:endParaRPr>
          </a:p>
          <a:p>
            <a:pPr>
              <a:spcBef>
                <a:spcPct val="0"/>
              </a:spcBef>
            </a:pPr>
            <a:r>
              <a:rPr lang="zh-CN" altLang="en-US">
                <a:solidFill>
                  <a:srgbClr val="FF0000"/>
                </a:solidFill>
                <a:latin typeface="黑体" pitchFamily="2" charset="-122"/>
                <a:ea typeface="黑体" pitchFamily="2" charset="-122"/>
              </a:rPr>
              <a:t>相关性会使流水线断流。应采取相应的措施。</a:t>
            </a:r>
            <a:endParaRPr lang="zh-CN" altLang="zh-CN">
              <a:solidFill>
                <a:srgbClr val="FF0000"/>
              </a:solidFill>
              <a:latin typeface="黑体" pitchFamily="2" charset="-122"/>
              <a:ea typeface="黑体" pitchFamily="2" charset="-122"/>
            </a:endParaRPr>
          </a:p>
          <a:p>
            <a:pPr>
              <a:spcBef>
                <a:spcPct val="0"/>
              </a:spcBef>
            </a:pPr>
            <a:endParaRPr lang="zh-CN" altLang="zh-CN">
              <a:latin typeface="黑体" pitchFamily="2" charset="-122"/>
              <a:ea typeface="黑体" pitchFamily="2" charset="-122"/>
            </a:endParaRPr>
          </a:p>
        </p:txBody>
      </p:sp>
    </p:spTree>
  </p:cSld>
  <p:clrMapOvr>
    <a:masterClrMapping/>
  </p:clrMapOvr>
  <p:transition>
    <p:wipe dir="d"/>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9"/>
          <p:cNvSpPr>
            <a:spLocks noChangeArrowheads="1"/>
          </p:cNvSpPr>
          <p:nvPr/>
        </p:nvSpPr>
        <p:spPr bwMode="auto">
          <a:xfrm>
            <a:off x="577850" y="512763"/>
            <a:ext cx="849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dirty="0">
                <a:solidFill>
                  <a:srgbClr val="990000"/>
                </a:solidFill>
                <a:latin typeface="黑体" pitchFamily="2" charset="-122"/>
                <a:ea typeface="黑体" pitchFamily="2" charset="-122"/>
              </a:rPr>
              <a:t>4. </a:t>
            </a:r>
            <a:r>
              <a:rPr lang="zh-CN" altLang="en-US">
                <a:solidFill>
                  <a:srgbClr val="990000"/>
                </a:solidFill>
                <a:latin typeface="黑体" pitchFamily="2" charset="-122"/>
                <a:ea typeface="黑体" pitchFamily="2" charset="-122"/>
              </a:rPr>
              <a:t>流水线的性能</a:t>
            </a:r>
          </a:p>
        </p:txBody>
      </p:sp>
      <p:sp>
        <p:nvSpPr>
          <p:cNvPr id="115715" name="Rectangle 2"/>
          <p:cNvSpPr>
            <a:spLocks noChangeArrowheads="1"/>
          </p:cNvSpPr>
          <p:nvPr/>
        </p:nvSpPr>
        <p:spPr bwMode="auto">
          <a:xfrm>
            <a:off x="647700" y="1096963"/>
            <a:ext cx="8496300" cy="456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1</a:t>
            </a:r>
            <a:r>
              <a:rPr lang="zh-CN" altLang="en-US">
                <a:solidFill>
                  <a:srgbClr val="990000"/>
                </a:solidFill>
                <a:latin typeface="黑体" pitchFamily="2" charset="-122"/>
                <a:ea typeface="黑体" pitchFamily="2" charset="-122"/>
              </a:rPr>
              <a:t>）</a:t>
            </a:r>
            <a:r>
              <a:rPr lang="zh-CN" altLang="zh-CN">
                <a:solidFill>
                  <a:srgbClr val="990000"/>
                </a:solidFill>
                <a:latin typeface="黑体" pitchFamily="2" charset="-122"/>
                <a:ea typeface="黑体" pitchFamily="2" charset="-122"/>
              </a:rPr>
              <a:t>吞吐率</a:t>
            </a: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指单位时间内流水线所完成指令或输出结果的数量。</a:t>
            </a:r>
          </a:p>
          <a:p>
            <a:pPr>
              <a:spcBef>
                <a:spcPct val="0"/>
              </a:spcBef>
            </a:pPr>
            <a:r>
              <a:rPr lang="zh-CN" altLang="zh-CN">
                <a:latin typeface="黑体" pitchFamily="2" charset="-122"/>
                <a:ea typeface="黑体" pitchFamily="2" charset="-122"/>
              </a:rPr>
              <a:t>最大吞吐率、实际吞吐率。</a:t>
            </a:r>
          </a:p>
          <a:p>
            <a:pPr>
              <a:lnSpc>
                <a:spcPct val="150000"/>
              </a:lnSpc>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2</a:t>
            </a:r>
            <a:r>
              <a:rPr lang="zh-CN" altLang="en-US">
                <a:solidFill>
                  <a:srgbClr val="990000"/>
                </a:solidFill>
                <a:latin typeface="黑体" pitchFamily="2" charset="-122"/>
                <a:ea typeface="黑体" pitchFamily="2" charset="-122"/>
              </a:rPr>
              <a:t>）</a:t>
            </a:r>
            <a:r>
              <a:rPr lang="zh-CN" altLang="zh-CN">
                <a:solidFill>
                  <a:srgbClr val="990000"/>
                </a:solidFill>
                <a:latin typeface="黑体" pitchFamily="2" charset="-122"/>
                <a:ea typeface="黑体" pitchFamily="2" charset="-122"/>
              </a:rPr>
              <a:t>加速比  Sp</a:t>
            </a:r>
            <a:r>
              <a:rPr lang="zh-CN" altLang="zh-CN">
                <a:latin typeface="黑体" pitchFamily="2" charset="-122"/>
                <a:ea typeface="黑体" pitchFamily="2" charset="-122"/>
              </a:rPr>
              <a:t> </a:t>
            </a: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指m 段的流水线的速度与等功能的非流水线的速度之比。</a:t>
            </a:r>
          </a:p>
          <a:p>
            <a:pPr>
              <a:lnSpc>
                <a:spcPct val="150000"/>
              </a:lnSpc>
              <a:spcBef>
                <a:spcPct val="0"/>
              </a:spcBef>
            </a:pPr>
            <a:r>
              <a:rPr lang="zh-CN" altLang="en-US">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3</a:t>
            </a:r>
            <a:r>
              <a:rPr lang="zh-CN" altLang="en-US">
                <a:solidFill>
                  <a:srgbClr val="990000"/>
                </a:solidFill>
                <a:latin typeface="黑体" pitchFamily="2" charset="-122"/>
                <a:ea typeface="黑体" pitchFamily="2" charset="-122"/>
              </a:rPr>
              <a:t>）</a:t>
            </a:r>
            <a:r>
              <a:rPr lang="zh-CN" altLang="zh-CN">
                <a:solidFill>
                  <a:srgbClr val="990000"/>
                </a:solidFill>
                <a:latin typeface="黑体" pitchFamily="2" charset="-122"/>
                <a:ea typeface="黑体" pitchFamily="2" charset="-122"/>
              </a:rPr>
              <a:t>效率</a:t>
            </a: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指流水线中各功能段的利用率。</a:t>
            </a:r>
          </a:p>
          <a:p>
            <a:pPr>
              <a:spcBef>
                <a:spcPct val="0"/>
              </a:spcBef>
            </a:pPr>
            <a:r>
              <a:rPr lang="zh-CN" altLang="en-US">
                <a:latin typeface="黑体" pitchFamily="2" charset="-122"/>
                <a:ea typeface="黑体" pitchFamily="2" charset="-122"/>
              </a:rPr>
              <a:t>    </a:t>
            </a:r>
            <a:r>
              <a:rPr lang="zh-CN" altLang="zh-CN">
                <a:latin typeface="黑体" pitchFamily="2" charset="-122"/>
                <a:ea typeface="黑体" pitchFamily="2" charset="-122"/>
              </a:rPr>
              <a:t>由于流水线有建立时间和排空时间，因此各功能段的设备不可能一直处于工作状态 。</a:t>
            </a:r>
          </a:p>
        </p:txBody>
      </p:sp>
    </p:spTree>
  </p:cSld>
  <p:clrMapOvr>
    <a:masterClrMapping/>
  </p:clrMapOvr>
  <p:transition>
    <p:wipe dir="d"/>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792163" y="1266825"/>
            <a:ext cx="8064500" cy="4413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en-US" altLang="zh-CN" dirty="0">
                <a:latin typeface="黑体" pitchFamily="2" charset="-122"/>
                <a:ea typeface="黑体" pitchFamily="2" charset="-122"/>
              </a:rPr>
              <a:t>(1) </a:t>
            </a:r>
            <a:r>
              <a:rPr lang="zh-CN" altLang="en-US" dirty="0">
                <a:latin typeface="黑体" pitchFamily="2" charset="-122"/>
                <a:ea typeface="黑体" pitchFamily="2" charset="-122"/>
              </a:rPr>
              <a:t>流水线上每个阶段的执行时间不一样</a:t>
            </a:r>
          </a:p>
          <a:p>
            <a:pPr>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  </a:t>
            </a:r>
            <a:r>
              <a:rPr lang="zh-CN" altLang="en-US" dirty="0">
                <a:latin typeface="黑体" pitchFamily="2" charset="-122"/>
                <a:ea typeface="黑体" pitchFamily="2" charset="-122"/>
              </a:rPr>
              <a:t>解决办法：采用先行控制方式</a:t>
            </a:r>
          </a:p>
          <a:p>
            <a:pPr>
              <a:spcBef>
                <a:spcPct val="0"/>
              </a:spcBef>
            </a:pPr>
            <a:r>
              <a:rPr lang="en-US" altLang="zh-CN" dirty="0">
                <a:latin typeface="黑体" pitchFamily="2" charset="-122"/>
                <a:ea typeface="黑体" pitchFamily="2" charset="-122"/>
              </a:rPr>
              <a:t>(2) </a:t>
            </a:r>
            <a:r>
              <a:rPr lang="zh-CN" altLang="en-US" dirty="0">
                <a:latin typeface="黑体" pitchFamily="2" charset="-122"/>
                <a:ea typeface="黑体" pitchFamily="2" charset="-122"/>
              </a:rPr>
              <a:t>条件转移的影响</a:t>
            </a:r>
          </a:p>
          <a:p>
            <a:pPr>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  </a:t>
            </a:r>
            <a:r>
              <a:rPr lang="zh-CN" altLang="en-US" dirty="0">
                <a:latin typeface="黑体" pitchFamily="2" charset="-122"/>
                <a:ea typeface="黑体" pitchFamily="2" charset="-122"/>
              </a:rPr>
              <a:t>解决办法：猜测法预取。</a:t>
            </a:r>
          </a:p>
          <a:p>
            <a:pPr>
              <a:spcBef>
                <a:spcPct val="0"/>
              </a:spcBef>
            </a:pPr>
            <a:r>
              <a:rPr lang="en-US" altLang="zh-CN" dirty="0">
                <a:latin typeface="黑体" pitchFamily="2" charset="-122"/>
                <a:ea typeface="黑体" pitchFamily="2" charset="-122"/>
              </a:rPr>
              <a:t>(3) </a:t>
            </a:r>
            <a:r>
              <a:rPr lang="zh-CN" altLang="en-US" dirty="0">
                <a:latin typeface="黑体" pitchFamily="2" charset="-122"/>
                <a:ea typeface="黑体" pitchFamily="2" charset="-122"/>
              </a:rPr>
              <a:t>相近指令之间出现某种关联</a:t>
            </a:r>
          </a:p>
          <a:p>
            <a:pPr>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1</a:t>
            </a:r>
            <a:r>
              <a:rPr lang="zh-CN" altLang="en-US" dirty="0">
                <a:latin typeface="黑体" pitchFamily="2" charset="-122"/>
                <a:ea typeface="黑体" pitchFamily="2" charset="-122"/>
              </a:rPr>
              <a:t>）结构相关</a:t>
            </a:r>
          </a:p>
          <a:p>
            <a:pPr>
              <a:spcBef>
                <a:spcPct val="0"/>
              </a:spcBef>
            </a:pPr>
            <a:r>
              <a:rPr lang="zh-CN" altLang="en-US" dirty="0">
                <a:latin typeface="黑体" pitchFamily="2" charset="-122"/>
                <a:ea typeface="黑体" pitchFamily="2" charset="-122"/>
              </a:rPr>
              <a:t>       解决办法：停顿</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或采用哈弗结构的存储器、指令预取技术</a:t>
            </a:r>
          </a:p>
          <a:p>
            <a:pPr>
              <a:spcBef>
                <a:spcPct val="0"/>
              </a:spcBef>
            </a:pPr>
            <a:r>
              <a:rPr lang="zh-CN" altLang="en-US" dirty="0">
                <a:latin typeface="黑体" pitchFamily="2" charset="-122"/>
                <a:ea typeface="黑体" pitchFamily="2" charset="-122"/>
              </a:rPr>
              <a:t>             （适用于访存周期短的情况）</a:t>
            </a:r>
            <a:endParaRPr lang="zh-CN" altLang="zh-CN" dirty="0">
              <a:latin typeface="黑体" pitchFamily="2" charset="-122"/>
              <a:ea typeface="黑体" pitchFamily="2" charset="-122"/>
            </a:endParaRPr>
          </a:p>
        </p:txBody>
      </p:sp>
      <p:sp>
        <p:nvSpPr>
          <p:cNvPr id="116739" name="Rectangle 12"/>
          <p:cNvSpPr>
            <a:spLocks noChangeArrowheads="1"/>
          </p:cNvSpPr>
          <p:nvPr/>
        </p:nvSpPr>
        <p:spPr bwMode="auto">
          <a:xfrm>
            <a:off x="560388" y="64928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5.</a:t>
            </a:r>
            <a:r>
              <a:rPr lang="zh-CN" altLang="en-US" dirty="0">
                <a:solidFill>
                  <a:srgbClr val="990000"/>
                </a:solidFill>
                <a:latin typeface="黑体" pitchFamily="2" charset="-122"/>
                <a:ea typeface="黑体" pitchFamily="2" charset="-122"/>
              </a:rPr>
              <a:t>影响指令流水性能的因素</a:t>
            </a:r>
          </a:p>
        </p:txBody>
      </p:sp>
    </p:spTree>
    <p:extLst>
      <p:ext uri="{BB962C8B-B14F-4D97-AF65-F5344CB8AC3E}">
        <p14:creationId xmlns:p14="http://schemas.microsoft.com/office/powerpoint/2010/main" val="850285244"/>
      </p:ext>
    </p:extLst>
  </p:cSld>
  <p:clrMapOvr>
    <a:masterClrMapping/>
  </p:clrMapOvr>
  <p:transition>
    <p:wipe dir="d"/>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792162" y="1170569"/>
            <a:ext cx="8351837" cy="537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0"/>
              </a:spcBef>
            </a:pPr>
            <a:r>
              <a:rPr lang="en-US" altLang="zh-CN" dirty="0">
                <a:latin typeface="黑体" pitchFamily="2" charset="-122"/>
                <a:ea typeface="黑体" pitchFamily="2" charset="-122"/>
              </a:rPr>
              <a:t>(1) </a:t>
            </a:r>
            <a:r>
              <a:rPr lang="zh-CN" altLang="en-US" dirty="0">
                <a:latin typeface="黑体" pitchFamily="2" charset="-122"/>
                <a:ea typeface="黑体" pitchFamily="2" charset="-122"/>
              </a:rPr>
              <a:t>流水线上每个阶段的执行时间不一样</a:t>
            </a:r>
          </a:p>
          <a:p>
            <a:pPr>
              <a:spcBef>
                <a:spcPct val="0"/>
              </a:spcBef>
            </a:pPr>
            <a:r>
              <a:rPr lang="en-US" altLang="zh-CN" dirty="0">
                <a:latin typeface="黑体" pitchFamily="2" charset="-122"/>
                <a:ea typeface="黑体" pitchFamily="2" charset="-122"/>
              </a:rPr>
              <a:t>(2) </a:t>
            </a:r>
            <a:r>
              <a:rPr lang="zh-CN" altLang="en-US" dirty="0">
                <a:latin typeface="黑体" pitchFamily="2" charset="-122"/>
                <a:ea typeface="黑体" pitchFamily="2" charset="-122"/>
              </a:rPr>
              <a:t>条件转移的影响</a:t>
            </a:r>
          </a:p>
          <a:p>
            <a:pPr>
              <a:spcBef>
                <a:spcPct val="0"/>
              </a:spcBef>
            </a:pPr>
            <a:r>
              <a:rPr lang="en-US" altLang="zh-CN" dirty="0">
                <a:latin typeface="黑体" pitchFamily="2" charset="-122"/>
                <a:ea typeface="黑体" pitchFamily="2" charset="-122"/>
              </a:rPr>
              <a:t>(3) </a:t>
            </a:r>
            <a:r>
              <a:rPr lang="zh-CN" altLang="en-US" dirty="0">
                <a:latin typeface="黑体" pitchFamily="2" charset="-122"/>
                <a:ea typeface="黑体" pitchFamily="2" charset="-122"/>
              </a:rPr>
              <a:t>相近指令之间出现某种关联</a:t>
            </a:r>
          </a:p>
          <a:p>
            <a:pPr>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1</a:t>
            </a:r>
            <a:r>
              <a:rPr lang="zh-CN" altLang="en-US" dirty="0">
                <a:latin typeface="黑体" pitchFamily="2" charset="-122"/>
                <a:ea typeface="黑体" pitchFamily="2" charset="-122"/>
              </a:rPr>
              <a:t>）结构相关</a:t>
            </a:r>
            <a:endParaRPr lang="en-US" altLang="zh-CN" dirty="0">
              <a:latin typeface="黑体" pitchFamily="2" charset="-122"/>
              <a:ea typeface="黑体" pitchFamily="2" charset="-122"/>
            </a:endParaRPr>
          </a:p>
          <a:p>
            <a:pPr>
              <a:spcBef>
                <a:spcPct val="0"/>
              </a:spcBef>
            </a:pPr>
            <a:r>
              <a:rPr lang="zh-CN" altLang="en-US" dirty="0">
                <a:latin typeface="黑体" pitchFamily="2" charset="-122"/>
                <a:ea typeface="黑体" pitchFamily="2" charset="-122"/>
              </a:rPr>
              <a:t>         解决办法：停顿</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a:t>
            </a:r>
            <a:r>
              <a:rPr lang="zh-CN" altLang="en-US" dirty="0">
                <a:latin typeface="黑体" pitchFamily="2" charset="-122"/>
                <a:ea typeface="黑体" pitchFamily="2" charset="-122"/>
              </a:rPr>
              <a:t>或采用哈弗结构的存储器、指令预取技术</a:t>
            </a:r>
          </a:p>
          <a:p>
            <a:pPr>
              <a:spcBef>
                <a:spcPct val="0"/>
              </a:spcBef>
            </a:pPr>
            <a:r>
              <a:rPr lang="zh-CN" altLang="en-US" dirty="0">
                <a:latin typeface="黑体" pitchFamily="2" charset="-122"/>
                <a:ea typeface="黑体" pitchFamily="2" charset="-122"/>
              </a:rPr>
              <a:t>             （适用于访存周期短的情况）</a:t>
            </a:r>
            <a:endParaRPr lang="en-US" altLang="zh-CN" dirty="0">
              <a:latin typeface="黑体" pitchFamily="2" charset="-122"/>
              <a:ea typeface="黑体" pitchFamily="2" charset="-122"/>
            </a:endParaRPr>
          </a:p>
          <a:p>
            <a:pPr>
              <a:spcBef>
                <a:spcPct val="0"/>
              </a:spcBef>
            </a:pPr>
            <a:r>
              <a:rPr lang="en-US" altLang="zh-CN" dirty="0">
                <a:latin typeface="黑体" pitchFamily="2" charset="-122"/>
                <a:ea typeface="黑体" pitchFamily="2" charset="-122"/>
              </a:rPr>
              <a:t>    2</a:t>
            </a:r>
            <a:r>
              <a:rPr lang="zh-CN" altLang="en-US" dirty="0">
                <a:latin typeface="黑体" pitchFamily="2" charset="-122"/>
                <a:ea typeface="黑体" pitchFamily="2" charset="-122"/>
              </a:rPr>
              <a:t>）数据相关 </a:t>
            </a:r>
          </a:p>
          <a:p>
            <a:pPr>
              <a:spcBef>
                <a:spcPct val="0"/>
              </a:spcBef>
            </a:pPr>
            <a:r>
              <a:rPr lang="zh-CN" altLang="en-US" dirty="0">
                <a:latin typeface="黑体" pitchFamily="2" charset="-122"/>
                <a:ea typeface="黑体" pitchFamily="2" charset="-122"/>
              </a:rPr>
              <a:t>         在</a:t>
            </a:r>
            <a:r>
              <a:rPr lang="en-US" altLang="zh-CN" dirty="0">
                <a:latin typeface="黑体" pitchFamily="2" charset="-122"/>
                <a:ea typeface="黑体" pitchFamily="2" charset="-122"/>
              </a:rPr>
              <a:t>CPU</a:t>
            </a:r>
            <a:r>
              <a:rPr lang="zh-CN" altLang="en-US" dirty="0">
                <a:latin typeface="黑体" pitchFamily="2" charset="-122"/>
                <a:ea typeface="黑体" pitchFamily="2" charset="-122"/>
              </a:rPr>
              <a:t>中增加暂存寄存器等可解决部分相关问题。</a:t>
            </a:r>
          </a:p>
          <a:p>
            <a:pPr>
              <a:spcBef>
                <a:spcPct val="0"/>
              </a:spcBef>
            </a:pPr>
            <a:r>
              <a:rPr lang="en-US" altLang="zh-CN" dirty="0">
                <a:latin typeface="黑体" pitchFamily="2" charset="-122"/>
                <a:ea typeface="黑体" pitchFamily="2" charset="-122"/>
              </a:rPr>
              <a:t>    3</a:t>
            </a:r>
            <a:r>
              <a:rPr lang="zh-CN" altLang="en-US" dirty="0">
                <a:latin typeface="黑体" pitchFamily="2" charset="-122"/>
                <a:ea typeface="黑体" pitchFamily="2" charset="-122"/>
              </a:rPr>
              <a:t>）控制相关</a:t>
            </a:r>
          </a:p>
          <a:p>
            <a:pPr>
              <a:spcBef>
                <a:spcPct val="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    </a:t>
            </a:r>
            <a:r>
              <a:rPr lang="zh-CN" altLang="en-US" dirty="0">
                <a:latin typeface="黑体" pitchFamily="2" charset="-122"/>
                <a:ea typeface="黑体" pitchFamily="2" charset="-122"/>
              </a:rPr>
              <a:t>采用优化编译技术，比如插入空指令来延迟转移。</a:t>
            </a:r>
          </a:p>
        </p:txBody>
      </p:sp>
      <p:sp>
        <p:nvSpPr>
          <p:cNvPr id="116739" name="Rectangle 12"/>
          <p:cNvSpPr>
            <a:spLocks noChangeArrowheads="1"/>
          </p:cNvSpPr>
          <p:nvPr/>
        </p:nvSpPr>
        <p:spPr bwMode="auto">
          <a:xfrm>
            <a:off x="560388" y="64928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5.</a:t>
            </a:r>
            <a:r>
              <a:rPr lang="zh-CN" altLang="en-US" dirty="0">
                <a:solidFill>
                  <a:srgbClr val="990000"/>
                </a:solidFill>
                <a:latin typeface="黑体" pitchFamily="2" charset="-122"/>
                <a:ea typeface="黑体" pitchFamily="2" charset="-122"/>
              </a:rPr>
              <a:t>影响指令流水性能的因素</a:t>
            </a:r>
          </a:p>
        </p:txBody>
      </p:sp>
    </p:spTree>
    <p:extLst>
      <p:ext uri="{BB962C8B-B14F-4D97-AF65-F5344CB8AC3E}">
        <p14:creationId xmlns:p14="http://schemas.microsoft.com/office/powerpoint/2010/main" val="3724237894"/>
      </p:ext>
    </p:extLst>
  </p:cSld>
  <p:clrMapOvr>
    <a:masterClrMapping/>
  </p:clrMapOvr>
  <p:transition>
    <p:wipe dir="d"/>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792163" y="1266825"/>
            <a:ext cx="80645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zh-CN" dirty="0">
                <a:latin typeface="黑体" pitchFamily="2" charset="-122"/>
                <a:ea typeface="黑体" pitchFamily="2" charset="-122"/>
              </a:rPr>
              <a:t>流水计算机的系统组成：</a:t>
            </a:r>
          </a:p>
          <a:p>
            <a:pPr>
              <a:spcBef>
                <a:spcPct val="0"/>
              </a:spcBef>
            </a:pPr>
            <a:r>
              <a:rPr lang="zh-CN" altLang="zh-CN" dirty="0">
                <a:latin typeface="黑体" pitchFamily="2" charset="-122"/>
                <a:ea typeface="黑体" pitchFamily="2" charset="-122"/>
              </a:rPr>
              <a:t>(1)存储体系</a:t>
            </a:r>
          </a:p>
          <a:p>
            <a:pPr>
              <a:spcBef>
                <a:spcPct val="0"/>
              </a:spcBef>
            </a:pPr>
            <a:r>
              <a:rPr lang="zh-CN" altLang="en-US" dirty="0">
                <a:latin typeface="黑体" pitchFamily="2" charset="-122"/>
                <a:ea typeface="黑体" pitchFamily="2" charset="-122"/>
              </a:rPr>
              <a:t>    </a:t>
            </a:r>
            <a:r>
              <a:rPr lang="zh-CN" altLang="zh-CN" dirty="0">
                <a:latin typeface="黑体" pitchFamily="2" charset="-122"/>
                <a:ea typeface="黑体" pitchFamily="2" charset="-122"/>
              </a:rPr>
              <a:t>主存采用多体交叉存储器</a:t>
            </a:r>
          </a:p>
          <a:p>
            <a:pPr>
              <a:spcBef>
                <a:spcPct val="0"/>
              </a:spcBef>
            </a:pPr>
            <a:r>
              <a:rPr lang="zh-CN" altLang="en-US" dirty="0">
                <a:latin typeface="黑体" pitchFamily="2" charset="-122"/>
                <a:ea typeface="黑体" pitchFamily="2" charset="-122"/>
              </a:rPr>
              <a:t>    </a:t>
            </a:r>
            <a:r>
              <a:rPr lang="zh-CN" altLang="zh-CN" dirty="0">
                <a:latin typeface="黑体" pitchFamily="2" charset="-122"/>
                <a:ea typeface="黑体" pitchFamily="2" charset="-122"/>
              </a:rPr>
              <a:t>Cache.</a:t>
            </a:r>
          </a:p>
        </p:txBody>
      </p:sp>
      <p:sp>
        <p:nvSpPr>
          <p:cNvPr id="116739" name="Rectangle 12"/>
          <p:cNvSpPr>
            <a:spLocks noChangeArrowheads="1"/>
          </p:cNvSpPr>
          <p:nvPr/>
        </p:nvSpPr>
        <p:spPr bwMode="auto">
          <a:xfrm>
            <a:off x="560388" y="64928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nchor="ctr">
            <a:spAutoFit/>
          </a:bodyPr>
          <a:lstStyle/>
          <a:p>
            <a:pPr>
              <a:lnSpc>
                <a:spcPct val="100000"/>
              </a:lnSpc>
              <a:spcBef>
                <a:spcPct val="0"/>
              </a:spcBef>
            </a:pPr>
            <a:r>
              <a:rPr lang="en-US" altLang="zh-CN" dirty="0">
                <a:solidFill>
                  <a:srgbClr val="990000"/>
                </a:solidFill>
                <a:latin typeface="黑体" pitchFamily="2" charset="-122"/>
                <a:ea typeface="黑体" pitchFamily="2" charset="-122"/>
              </a:rPr>
              <a:t>6.6.4.</a:t>
            </a:r>
            <a:r>
              <a:rPr lang="zh-CN" altLang="en-US" dirty="0">
                <a:solidFill>
                  <a:srgbClr val="990000"/>
                </a:solidFill>
                <a:latin typeface="黑体" pitchFamily="2" charset="-122"/>
                <a:ea typeface="黑体" pitchFamily="2" charset="-122"/>
              </a:rPr>
              <a:t>流水</a:t>
            </a:r>
            <a:r>
              <a:rPr lang="en-US" altLang="zh-CN" dirty="0">
                <a:solidFill>
                  <a:srgbClr val="990000"/>
                </a:solidFill>
                <a:latin typeface="黑体" pitchFamily="2" charset="-122"/>
                <a:ea typeface="黑体" pitchFamily="2" charset="-122"/>
              </a:rPr>
              <a:t>CPU</a:t>
            </a:r>
            <a:r>
              <a:rPr lang="zh-CN" altLang="en-US" dirty="0">
                <a:solidFill>
                  <a:srgbClr val="990000"/>
                </a:solidFill>
                <a:latin typeface="黑体" pitchFamily="2" charset="-122"/>
                <a:ea typeface="黑体" pitchFamily="2" charset="-122"/>
              </a:rPr>
              <a:t>的结构</a:t>
            </a:r>
          </a:p>
        </p:txBody>
      </p:sp>
      <p:sp>
        <p:nvSpPr>
          <p:cNvPr id="116740" name="Rectangle 2"/>
          <p:cNvSpPr>
            <a:spLocks noChangeArrowheads="1"/>
          </p:cNvSpPr>
          <p:nvPr/>
        </p:nvSpPr>
        <p:spPr bwMode="auto">
          <a:xfrm>
            <a:off x="792163" y="3257550"/>
            <a:ext cx="7718425"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327275" indent="-2327275">
              <a:spcBef>
                <a:spcPct val="0"/>
              </a:spcBef>
            </a:pPr>
            <a:r>
              <a:rPr lang="zh-CN" altLang="zh-CN" dirty="0">
                <a:latin typeface="黑体" pitchFamily="2" charset="-122"/>
                <a:ea typeface="黑体" pitchFamily="2" charset="-122"/>
              </a:rPr>
              <a:t>(2)流水方式CPU</a:t>
            </a:r>
          </a:p>
          <a:p>
            <a:pPr marL="2327275" indent="-2327275">
              <a:spcBef>
                <a:spcPct val="0"/>
              </a:spcBef>
            </a:pPr>
            <a:r>
              <a:rPr lang="zh-CN" altLang="zh-CN" dirty="0">
                <a:latin typeface="黑体" pitchFamily="2" charset="-122"/>
                <a:ea typeface="黑体" pitchFamily="2" charset="-122"/>
              </a:rPr>
              <a:t>    </a:t>
            </a:r>
            <a:r>
              <a:rPr lang="zh-CN" altLang="en-US" dirty="0">
                <a:latin typeface="黑体" pitchFamily="2" charset="-122"/>
                <a:ea typeface="黑体" pitchFamily="2" charset="-122"/>
              </a:rPr>
              <a:t> </a:t>
            </a:r>
            <a:r>
              <a:rPr lang="zh-CN" altLang="zh-CN" dirty="0">
                <a:latin typeface="黑体" pitchFamily="2" charset="-122"/>
                <a:ea typeface="黑体" pitchFamily="2" charset="-122"/>
              </a:rPr>
              <a:t>指令流水线</a:t>
            </a:r>
          </a:p>
          <a:p>
            <a:pPr marL="2327275" indent="-2327275">
              <a:spcBef>
                <a:spcPct val="0"/>
              </a:spcBef>
            </a:pPr>
            <a:r>
              <a:rPr lang="zh-CN" altLang="zh-CN" dirty="0">
                <a:latin typeface="黑体" pitchFamily="2" charset="-122"/>
                <a:ea typeface="黑体" pitchFamily="2" charset="-122"/>
              </a:rPr>
              <a:t>     指令队列: FIFO</a:t>
            </a:r>
          </a:p>
          <a:p>
            <a:pPr marL="2327275" indent="-2327275">
              <a:spcBef>
                <a:spcPct val="0"/>
              </a:spcBef>
            </a:pPr>
            <a:r>
              <a:rPr lang="zh-CN" altLang="zh-CN" dirty="0">
                <a:latin typeface="黑体" pitchFamily="2" charset="-122"/>
                <a:ea typeface="黑体" pitchFamily="2" charset="-122"/>
              </a:rPr>
              <a:t>     执行部件：可以有多个采用流水线方式构成的算术逻辑部件构成，可以将定点运算部件和浮点运算部件分开。</a:t>
            </a:r>
          </a:p>
        </p:txBody>
      </p:sp>
    </p:spTree>
  </p:cSld>
  <p:clrMapOvr>
    <a:masterClrMapping/>
  </p:clrMapOvr>
  <p:transition>
    <p:wipe dir="d"/>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4" name="Group 6"/>
          <p:cNvGrpSpPr>
            <a:grpSpLocks/>
          </p:cNvGrpSpPr>
          <p:nvPr/>
        </p:nvGrpSpPr>
        <p:grpSpPr bwMode="auto">
          <a:xfrm>
            <a:off x="1226344" y="593165"/>
            <a:ext cx="7196137" cy="4632325"/>
            <a:chOff x="2869" y="8512"/>
            <a:chExt cx="5250" cy="4402"/>
          </a:xfrm>
        </p:grpSpPr>
        <p:sp>
          <p:nvSpPr>
            <p:cNvPr id="117765" name="Line 7"/>
            <p:cNvSpPr>
              <a:spLocks noChangeShapeType="1"/>
            </p:cNvSpPr>
            <p:nvPr/>
          </p:nvSpPr>
          <p:spPr bwMode="auto">
            <a:xfrm>
              <a:off x="4801" y="8645"/>
              <a:ext cx="0" cy="3602"/>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66" name="Text Box 8"/>
            <p:cNvSpPr txBox="1">
              <a:spLocks noChangeArrowheads="1"/>
            </p:cNvSpPr>
            <p:nvPr/>
          </p:nvSpPr>
          <p:spPr bwMode="auto">
            <a:xfrm>
              <a:off x="3919" y="8512"/>
              <a:ext cx="1785" cy="400"/>
            </a:xfrm>
            <a:prstGeom prst="rect">
              <a:avLst/>
            </a:prstGeom>
            <a:solidFill>
              <a:srgbClr val="FFFFFF"/>
            </a:solidFill>
            <a:ln w="19050">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a:latin typeface="黑体" pitchFamily="2" charset="-122"/>
                  <a:ea typeface="黑体" pitchFamily="2" charset="-122"/>
                </a:rPr>
                <a:t>多体交叉存储器</a:t>
              </a:r>
            </a:p>
          </p:txBody>
        </p:sp>
        <p:sp>
          <p:nvSpPr>
            <p:cNvPr id="117767" name="Text Box 9"/>
            <p:cNvSpPr txBox="1">
              <a:spLocks noChangeArrowheads="1"/>
            </p:cNvSpPr>
            <p:nvPr/>
          </p:nvSpPr>
          <p:spPr bwMode="auto">
            <a:xfrm>
              <a:off x="4234" y="9179"/>
              <a:ext cx="1155" cy="400"/>
            </a:xfrm>
            <a:prstGeom prst="rect">
              <a:avLst/>
            </a:prstGeom>
            <a:solidFill>
              <a:srgbClr val="FFFFFF"/>
            </a:solidFill>
            <a:ln w="19050" algn="ctr">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en-US" altLang="zh-CN" sz="1800" dirty="0">
                  <a:latin typeface="黑体" pitchFamily="2" charset="-122"/>
                  <a:ea typeface="黑体" pitchFamily="2" charset="-122"/>
                </a:rPr>
                <a:t>Cache</a:t>
              </a:r>
            </a:p>
          </p:txBody>
        </p:sp>
        <p:sp>
          <p:nvSpPr>
            <p:cNvPr id="117768" name="Text Box 10"/>
            <p:cNvSpPr txBox="1">
              <a:spLocks noChangeArrowheads="1"/>
            </p:cNvSpPr>
            <p:nvPr/>
          </p:nvSpPr>
          <p:spPr bwMode="auto">
            <a:xfrm>
              <a:off x="3919" y="9846"/>
              <a:ext cx="1785" cy="667"/>
            </a:xfrm>
            <a:prstGeom prst="rect">
              <a:avLst/>
            </a:prstGeom>
            <a:solidFill>
              <a:srgbClr val="FFFFFF"/>
            </a:solidFill>
            <a:ln w="19050" algn="ctr">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a:latin typeface="黑体" pitchFamily="2" charset="-122"/>
                  <a:ea typeface="黑体" pitchFamily="2" charset="-122"/>
                </a:rPr>
                <a:t>指令部件</a:t>
              </a:r>
            </a:p>
            <a:p>
              <a:pPr algn="ctr" eaLnBrk="1" hangingPunct="1">
                <a:lnSpc>
                  <a:spcPct val="66000"/>
                </a:lnSpc>
              </a:pPr>
              <a:r>
                <a:rPr lang="zh-CN" altLang="en-US" sz="1800">
                  <a:latin typeface="黑体" pitchFamily="2" charset="-122"/>
                  <a:ea typeface="黑体" pitchFamily="2" charset="-122"/>
                </a:rPr>
                <a:t>（指令</a:t>
              </a:r>
              <a:r>
                <a:rPr lang="en-US" altLang="zh-CN" sz="1800" dirty="0">
                  <a:latin typeface="黑体" pitchFamily="2" charset="-122"/>
                  <a:ea typeface="黑体" pitchFamily="2" charset="-122"/>
                </a:rPr>
                <a:t>I+k+1</a:t>
              </a:r>
              <a:r>
                <a:rPr lang="zh-CN" altLang="en-US" sz="1800">
                  <a:latin typeface="黑体" pitchFamily="2" charset="-122"/>
                  <a:ea typeface="黑体" pitchFamily="2" charset="-122"/>
                </a:rPr>
                <a:t>）</a:t>
              </a:r>
            </a:p>
          </p:txBody>
        </p:sp>
        <p:sp>
          <p:nvSpPr>
            <p:cNvPr id="117769" name="Text Box 11"/>
            <p:cNvSpPr txBox="1">
              <a:spLocks noChangeArrowheads="1"/>
            </p:cNvSpPr>
            <p:nvPr/>
          </p:nvSpPr>
          <p:spPr bwMode="auto">
            <a:xfrm>
              <a:off x="3919" y="10780"/>
              <a:ext cx="1785" cy="1200"/>
            </a:xfrm>
            <a:prstGeom prst="rect">
              <a:avLst/>
            </a:prstGeom>
            <a:solidFill>
              <a:srgbClr val="FFFFFF"/>
            </a:solidFill>
            <a:ln w="19050" algn="ctr">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dirty="0">
                  <a:latin typeface="黑体" pitchFamily="2" charset="-122"/>
                  <a:ea typeface="黑体" pitchFamily="2" charset="-122"/>
                </a:rPr>
                <a:t>（指令</a:t>
              </a:r>
              <a:r>
                <a:rPr lang="en-US" altLang="zh-CN" sz="1800" dirty="0" err="1">
                  <a:latin typeface="黑体" pitchFamily="2" charset="-122"/>
                  <a:ea typeface="黑体" pitchFamily="2" charset="-122"/>
                </a:rPr>
                <a:t>I+k</a:t>
              </a:r>
              <a:r>
                <a:rPr lang="zh-CN" altLang="en-US" sz="1800" dirty="0">
                  <a:latin typeface="黑体" pitchFamily="2" charset="-122"/>
                  <a:ea typeface="黑体" pitchFamily="2" charset="-122"/>
                </a:rPr>
                <a:t>）</a:t>
              </a:r>
            </a:p>
            <a:p>
              <a:pPr algn="ctr" eaLnBrk="1" hangingPunct="1">
                <a:lnSpc>
                  <a:spcPct val="66000"/>
                </a:lnSpc>
              </a:pPr>
              <a:r>
                <a:rPr lang="en-US" altLang="zh-CN" sz="1800" dirty="0">
                  <a:latin typeface="Times New Roman" pitchFamily="18" charset="0"/>
                  <a:ea typeface="黑体" pitchFamily="2" charset="-122"/>
                </a:rPr>
                <a:t>……</a:t>
              </a:r>
              <a:endParaRPr lang="en-US" altLang="zh-CN" sz="1800" dirty="0">
                <a:latin typeface="黑体" pitchFamily="2" charset="-122"/>
                <a:ea typeface="黑体" pitchFamily="2" charset="-122"/>
              </a:endParaRPr>
            </a:p>
            <a:p>
              <a:pPr algn="ctr" eaLnBrk="1" hangingPunct="1">
                <a:lnSpc>
                  <a:spcPct val="66000"/>
                </a:lnSpc>
              </a:pPr>
              <a:r>
                <a:rPr lang="zh-CN" altLang="en-US" sz="1800" dirty="0">
                  <a:latin typeface="黑体" pitchFamily="2" charset="-122"/>
                  <a:ea typeface="黑体" pitchFamily="2" charset="-122"/>
                </a:rPr>
                <a:t>（指令</a:t>
              </a:r>
              <a:r>
                <a:rPr lang="en-US" altLang="zh-CN" sz="1800" dirty="0">
                  <a:latin typeface="黑体" pitchFamily="2" charset="-122"/>
                  <a:ea typeface="黑体" pitchFamily="2" charset="-122"/>
                </a:rPr>
                <a:t>I+2</a:t>
              </a:r>
              <a:r>
                <a:rPr lang="zh-CN" altLang="en-US" sz="1800" dirty="0">
                  <a:latin typeface="黑体" pitchFamily="2" charset="-122"/>
                  <a:ea typeface="黑体" pitchFamily="2" charset="-122"/>
                </a:rPr>
                <a:t>）</a:t>
              </a:r>
            </a:p>
            <a:p>
              <a:pPr algn="ctr" eaLnBrk="1" hangingPunct="1">
                <a:lnSpc>
                  <a:spcPct val="66000"/>
                </a:lnSpc>
              </a:pPr>
              <a:r>
                <a:rPr lang="zh-CN" altLang="en-US" sz="1800" dirty="0">
                  <a:latin typeface="黑体" pitchFamily="2" charset="-122"/>
                  <a:ea typeface="黑体" pitchFamily="2" charset="-122"/>
                </a:rPr>
                <a:t>（指令</a:t>
              </a:r>
              <a:r>
                <a:rPr lang="en-US" altLang="zh-CN" sz="1800" dirty="0">
                  <a:latin typeface="黑体" pitchFamily="2" charset="-122"/>
                  <a:ea typeface="黑体" pitchFamily="2" charset="-122"/>
                </a:rPr>
                <a:t>I+1</a:t>
              </a:r>
              <a:r>
                <a:rPr lang="zh-CN" altLang="en-US" sz="1800" dirty="0">
                  <a:latin typeface="黑体" pitchFamily="2" charset="-122"/>
                  <a:ea typeface="黑体" pitchFamily="2" charset="-122"/>
                </a:rPr>
                <a:t>）</a:t>
              </a:r>
            </a:p>
          </p:txBody>
        </p:sp>
        <p:sp>
          <p:nvSpPr>
            <p:cNvPr id="117770" name="Text Box 12"/>
            <p:cNvSpPr txBox="1">
              <a:spLocks noChangeArrowheads="1"/>
            </p:cNvSpPr>
            <p:nvPr/>
          </p:nvSpPr>
          <p:spPr bwMode="auto">
            <a:xfrm>
              <a:off x="3919" y="12247"/>
              <a:ext cx="1785" cy="667"/>
            </a:xfrm>
            <a:prstGeom prst="rect">
              <a:avLst/>
            </a:prstGeom>
            <a:solidFill>
              <a:srgbClr val="FFFFFF"/>
            </a:solidFill>
            <a:ln w="19050" algn="ctr">
              <a:solidFill>
                <a:srgbClr val="000080"/>
              </a:solidFill>
              <a:miter lim="800000"/>
              <a:headEnd/>
              <a:tailEnd/>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a:latin typeface="黑体" pitchFamily="2" charset="-122"/>
                  <a:ea typeface="黑体" pitchFamily="2" charset="-122"/>
                </a:rPr>
                <a:t>执行部件</a:t>
              </a:r>
            </a:p>
            <a:p>
              <a:pPr algn="ctr" eaLnBrk="1" hangingPunct="1">
                <a:lnSpc>
                  <a:spcPct val="66000"/>
                </a:lnSpc>
              </a:pPr>
              <a:r>
                <a:rPr lang="zh-CN" altLang="en-US" sz="1800">
                  <a:latin typeface="黑体" pitchFamily="2" charset="-122"/>
                  <a:ea typeface="黑体" pitchFamily="2" charset="-122"/>
                </a:rPr>
                <a:t>（指令</a:t>
              </a:r>
              <a:r>
                <a:rPr lang="en-US" altLang="zh-CN" sz="1800" dirty="0">
                  <a:latin typeface="黑体" pitchFamily="2" charset="-122"/>
                  <a:ea typeface="黑体" pitchFamily="2" charset="-122"/>
                </a:rPr>
                <a:t>I</a:t>
              </a:r>
              <a:r>
                <a:rPr lang="zh-CN" altLang="en-US" sz="1800">
                  <a:latin typeface="黑体" pitchFamily="2" charset="-122"/>
                  <a:ea typeface="黑体" pitchFamily="2" charset="-122"/>
                </a:rPr>
                <a:t>）</a:t>
              </a:r>
            </a:p>
          </p:txBody>
        </p:sp>
        <p:sp>
          <p:nvSpPr>
            <p:cNvPr id="117771" name="Text Box 13"/>
            <p:cNvSpPr txBox="1">
              <a:spLocks noChangeArrowheads="1"/>
            </p:cNvSpPr>
            <p:nvPr/>
          </p:nvSpPr>
          <p:spPr bwMode="auto">
            <a:xfrm>
              <a:off x="5809" y="9566"/>
              <a:ext cx="2205" cy="1178"/>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46000"/>
                </a:lnSpc>
              </a:pPr>
              <a:r>
                <a:rPr lang="zh-CN" altLang="en-US" sz="1800">
                  <a:latin typeface="黑体" pitchFamily="2" charset="-122"/>
                  <a:ea typeface="黑体" pitchFamily="2" charset="-122"/>
                </a:rPr>
                <a:t>取指令</a:t>
              </a:r>
            </a:p>
            <a:p>
              <a:pPr algn="just" eaLnBrk="1" hangingPunct="1">
                <a:lnSpc>
                  <a:spcPct val="46000"/>
                </a:lnSpc>
              </a:pPr>
              <a:r>
                <a:rPr lang="zh-CN" altLang="en-US" sz="1800">
                  <a:latin typeface="黑体" pitchFamily="2" charset="-122"/>
                  <a:ea typeface="黑体" pitchFamily="2" charset="-122"/>
                </a:rPr>
                <a:t>指令译码</a:t>
              </a:r>
            </a:p>
            <a:p>
              <a:pPr algn="just" eaLnBrk="1" hangingPunct="1">
                <a:lnSpc>
                  <a:spcPct val="46000"/>
                </a:lnSpc>
              </a:pPr>
              <a:r>
                <a:rPr lang="zh-CN" altLang="en-US" sz="1800">
                  <a:latin typeface="黑体" pitchFamily="2" charset="-122"/>
                  <a:ea typeface="黑体" pitchFamily="2" charset="-122"/>
                </a:rPr>
                <a:t>计算操作数地址</a:t>
              </a:r>
            </a:p>
            <a:p>
              <a:pPr algn="just" eaLnBrk="1" hangingPunct="1">
                <a:lnSpc>
                  <a:spcPct val="46000"/>
                </a:lnSpc>
              </a:pPr>
              <a:r>
                <a:rPr lang="zh-CN" altLang="en-US" sz="1800">
                  <a:latin typeface="黑体" pitchFamily="2" charset="-122"/>
                  <a:ea typeface="黑体" pitchFamily="2" charset="-122"/>
                </a:rPr>
                <a:t>取操作数</a:t>
              </a:r>
            </a:p>
          </p:txBody>
        </p:sp>
        <p:sp>
          <p:nvSpPr>
            <p:cNvPr id="117772" name="Text Box 14"/>
            <p:cNvSpPr txBox="1">
              <a:spLocks noChangeArrowheads="1"/>
            </p:cNvSpPr>
            <p:nvPr/>
          </p:nvSpPr>
          <p:spPr bwMode="auto">
            <a:xfrm>
              <a:off x="5809" y="11046"/>
              <a:ext cx="2205" cy="534"/>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66000"/>
                </a:lnSpc>
              </a:pPr>
              <a:r>
                <a:rPr lang="en-US" altLang="zh-CN" sz="1800" dirty="0">
                  <a:latin typeface="黑体" pitchFamily="2" charset="-122"/>
                  <a:ea typeface="黑体" pitchFamily="2" charset="-122"/>
                </a:rPr>
                <a:t>FIFO</a:t>
              </a:r>
              <a:r>
                <a:rPr lang="zh-CN" altLang="en-US" sz="1800">
                  <a:latin typeface="黑体" pitchFamily="2" charset="-122"/>
                  <a:ea typeface="黑体" pitchFamily="2" charset="-122"/>
                </a:rPr>
                <a:t>指令队列</a:t>
              </a:r>
            </a:p>
          </p:txBody>
        </p:sp>
        <p:sp>
          <p:nvSpPr>
            <p:cNvPr id="117773" name="Text Box 15"/>
            <p:cNvSpPr txBox="1">
              <a:spLocks noChangeArrowheads="1"/>
            </p:cNvSpPr>
            <p:nvPr/>
          </p:nvSpPr>
          <p:spPr bwMode="auto">
            <a:xfrm>
              <a:off x="5809" y="12247"/>
              <a:ext cx="2310" cy="534"/>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66000"/>
                </a:lnSpc>
              </a:pPr>
              <a:r>
                <a:rPr lang="zh-CN" altLang="en-US" sz="1800">
                  <a:latin typeface="黑体" pitchFamily="2" charset="-122"/>
                  <a:ea typeface="黑体" pitchFamily="2" charset="-122"/>
                </a:rPr>
                <a:t>算术逻辑运算流水线</a:t>
              </a:r>
            </a:p>
          </p:txBody>
        </p:sp>
        <p:sp>
          <p:nvSpPr>
            <p:cNvPr id="117774" name="AutoShape 16"/>
            <p:cNvSpPr>
              <a:spLocks/>
            </p:cNvSpPr>
            <p:nvPr/>
          </p:nvSpPr>
          <p:spPr bwMode="auto">
            <a:xfrm>
              <a:off x="3457" y="9846"/>
              <a:ext cx="210" cy="3068"/>
            </a:xfrm>
            <a:prstGeom prst="leftBrace">
              <a:avLst>
                <a:gd name="adj1" fmla="val 121746"/>
                <a:gd name="adj2" fmla="val 50000"/>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17775" name="AutoShape 17"/>
            <p:cNvSpPr>
              <a:spLocks/>
            </p:cNvSpPr>
            <p:nvPr/>
          </p:nvSpPr>
          <p:spPr bwMode="auto">
            <a:xfrm>
              <a:off x="3457" y="8512"/>
              <a:ext cx="210" cy="1067"/>
            </a:xfrm>
            <a:prstGeom prst="leftBrace">
              <a:avLst>
                <a:gd name="adj1" fmla="val 42341"/>
                <a:gd name="adj2" fmla="val 50000"/>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17776" name="Text Box 18"/>
            <p:cNvSpPr txBox="1">
              <a:spLocks noChangeArrowheads="1"/>
            </p:cNvSpPr>
            <p:nvPr/>
          </p:nvSpPr>
          <p:spPr bwMode="auto">
            <a:xfrm>
              <a:off x="2869" y="8512"/>
              <a:ext cx="525" cy="12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36000" tIns="18000" rIns="36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a:latin typeface="黑体" pitchFamily="2" charset="-122"/>
                  <a:ea typeface="黑体" pitchFamily="2" charset="-122"/>
                </a:rPr>
                <a:t>存储器体系</a:t>
              </a:r>
            </a:p>
          </p:txBody>
        </p:sp>
        <p:sp>
          <p:nvSpPr>
            <p:cNvPr id="117777" name="Text Box 19"/>
            <p:cNvSpPr txBox="1">
              <a:spLocks noChangeArrowheads="1"/>
            </p:cNvSpPr>
            <p:nvPr/>
          </p:nvSpPr>
          <p:spPr bwMode="auto">
            <a:xfrm>
              <a:off x="2869" y="10380"/>
              <a:ext cx="525" cy="21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36000" tIns="18000" rIns="36000" bIns="180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66000"/>
                </a:lnSpc>
              </a:pPr>
              <a:r>
                <a:rPr lang="zh-CN" altLang="en-US" sz="1800">
                  <a:latin typeface="黑体" pitchFamily="2" charset="-122"/>
                  <a:ea typeface="黑体" pitchFamily="2" charset="-122"/>
                </a:rPr>
                <a:t>流水的中央处理器</a:t>
              </a:r>
            </a:p>
          </p:txBody>
        </p:sp>
      </p:grpSp>
      <p:sp>
        <p:nvSpPr>
          <p:cNvPr id="18" name="Rectangle 2"/>
          <p:cNvSpPr>
            <a:spLocks noChangeArrowheads="1"/>
          </p:cNvSpPr>
          <p:nvPr/>
        </p:nvSpPr>
        <p:spPr bwMode="auto">
          <a:xfrm>
            <a:off x="792163" y="5474086"/>
            <a:ext cx="806450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pPr>
            <a:r>
              <a:rPr lang="zh-CN" altLang="en-US" dirty="0">
                <a:latin typeface="黑体" pitchFamily="2" charset="-122"/>
                <a:ea typeface="黑体" pitchFamily="2" charset="-122"/>
              </a:rPr>
              <a:t>    流水线有建立时间和排空时间，因此各功能段的设备不可能一直处于工作状态 。</a:t>
            </a:r>
            <a:endParaRPr lang="zh-CN" altLang="zh-CN" dirty="0">
              <a:latin typeface="黑体" pitchFamily="2" charset="-122"/>
              <a:ea typeface="黑体" pitchFamily="2" charset="-122"/>
            </a:endParaRPr>
          </a:p>
        </p:txBody>
      </p:sp>
    </p:spTree>
  </p:cSld>
  <p:clrMapOvr>
    <a:masterClrMapping/>
  </p:clrMapOvr>
  <p:transition>
    <p:wipe dir="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4251325" y="3048000"/>
            <a:ext cx="184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endParaRPr lang="zh-CN" altLang="zh-CN" sz="4400" b="0">
              <a:solidFill>
                <a:schemeClr val="tx2"/>
              </a:solidFill>
              <a:latin typeface="Arial" charset="0"/>
              <a:ea typeface="宋体" pitchFamily="2" charset="-122"/>
            </a:endParaRPr>
          </a:p>
        </p:txBody>
      </p:sp>
      <p:sp>
        <p:nvSpPr>
          <p:cNvPr id="118787" name="Rectangle 3"/>
          <p:cNvSpPr>
            <a:spLocks noChangeArrowheads="1"/>
          </p:cNvSpPr>
          <p:nvPr/>
        </p:nvSpPr>
        <p:spPr bwMode="auto">
          <a:xfrm>
            <a:off x="0" y="531813"/>
            <a:ext cx="914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pPr>
            <a:r>
              <a:rPr lang="zh-CN" altLang="en-US" sz="2800">
                <a:solidFill>
                  <a:srgbClr val="990000"/>
                </a:solidFill>
                <a:latin typeface="黑体" pitchFamily="2" charset="-122"/>
                <a:ea typeface="黑体" pitchFamily="2" charset="-122"/>
              </a:rPr>
              <a:t>§</a:t>
            </a:r>
            <a:r>
              <a:rPr lang="en-US" altLang="zh-CN" sz="2800" dirty="0">
                <a:solidFill>
                  <a:srgbClr val="990000"/>
                </a:solidFill>
                <a:latin typeface="黑体" pitchFamily="2" charset="-122"/>
                <a:ea typeface="黑体" pitchFamily="2" charset="-122"/>
              </a:rPr>
              <a:t>6.7 </a:t>
            </a:r>
            <a:r>
              <a:rPr lang="zh-CN" altLang="en-US" sz="2800">
                <a:solidFill>
                  <a:srgbClr val="990000"/>
                </a:solidFill>
                <a:latin typeface="黑体" pitchFamily="2" charset="-122"/>
                <a:ea typeface="黑体" pitchFamily="2" charset="-122"/>
              </a:rPr>
              <a:t>微处理器中的新技术（教材</a:t>
            </a:r>
            <a:r>
              <a:rPr lang="en-US" altLang="zh-CN" sz="2800" dirty="0">
                <a:solidFill>
                  <a:srgbClr val="990000"/>
                </a:solidFill>
                <a:latin typeface="黑体" pitchFamily="2" charset="-122"/>
                <a:ea typeface="黑体" pitchFamily="2" charset="-122"/>
              </a:rPr>
              <a:t>P230</a:t>
            </a:r>
            <a:r>
              <a:rPr lang="zh-CN" altLang="en-US" sz="2800">
                <a:solidFill>
                  <a:srgbClr val="990000"/>
                </a:solidFill>
                <a:latin typeface="黑体" pitchFamily="2" charset="-122"/>
                <a:ea typeface="黑体" pitchFamily="2" charset="-122"/>
              </a:rPr>
              <a:t>，自学）</a:t>
            </a:r>
          </a:p>
        </p:txBody>
      </p:sp>
      <p:sp>
        <p:nvSpPr>
          <p:cNvPr id="118788" name="Text Box 4"/>
          <p:cNvSpPr txBox="1">
            <a:spLocks noChangeArrowheads="1"/>
          </p:cNvSpPr>
          <p:nvPr/>
        </p:nvSpPr>
        <p:spPr bwMode="auto">
          <a:xfrm>
            <a:off x="719138" y="1268413"/>
            <a:ext cx="78136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5000"/>
              </a:spcBef>
            </a:pPr>
            <a:r>
              <a:rPr lang="en-US" altLang="zh-CN" dirty="0">
                <a:solidFill>
                  <a:srgbClr val="990000"/>
                </a:solidFill>
                <a:latin typeface="黑体" pitchFamily="2" charset="-122"/>
                <a:ea typeface="黑体" pitchFamily="2" charset="-122"/>
              </a:rPr>
              <a:t>    1</a:t>
            </a:r>
            <a:r>
              <a:rPr lang="zh-CN" altLang="en-US" dirty="0">
                <a:solidFill>
                  <a:srgbClr val="990000"/>
                </a:solidFill>
                <a:latin typeface="黑体" pitchFamily="2" charset="-122"/>
                <a:ea typeface="黑体" pitchFamily="2" charset="-122"/>
              </a:rPr>
              <a:t>．超标量和超流水线技术</a:t>
            </a:r>
          </a:p>
          <a:p>
            <a:pPr eaLnBrk="1" hangingPunct="1">
              <a:lnSpc>
                <a:spcPct val="100000"/>
              </a:lnSpc>
              <a:spcBef>
                <a:spcPct val="25000"/>
              </a:spcBef>
            </a:pPr>
            <a:r>
              <a:rPr lang="zh-CN" altLang="en-US" dirty="0">
                <a:latin typeface="黑体" pitchFamily="2" charset="-122"/>
                <a:ea typeface="黑体" pitchFamily="2" charset="-122"/>
              </a:rPr>
              <a:t>    通过重复设置多个功能部件，使得计算机在每个时钟周期里可以解释多条指令。</a:t>
            </a:r>
          </a:p>
          <a:p>
            <a:pPr eaLnBrk="1" hangingPunct="1">
              <a:lnSpc>
                <a:spcPct val="100000"/>
              </a:lnSpc>
              <a:spcBef>
                <a:spcPct val="25000"/>
              </a:spcBef>
            </a:pPr>
            <a:r>
              <a:rPr lang="zh-CN"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2</a:t>
            </a:r>
            <a:r>
              <a:rPr lang="zh-CN" altLang="en-US" dirty="0">
                <a:solidFill>
                  <a:srgbClr val="990000"/>
                </a:solidFill>
                <a:latin typeface="黑体" pitchFamily="2" charset="-122"/>
                <a:ea typeface="黑体" pitchFamily="2" charset="-122"/>
              </a:rPr>
              <a:t>．</a:t>
            </a:r>
            <a:r>
              <a:rPr lang="en-US" altLang="zh-CN" dirty="0">
                <a:solidFill>
                  <a:srgbClr val="990000"/>
                </a:solidFill>
                <a:latin typeface="黑体" pitchFamily="2" charset="-122"/>
                <a:ea typeface="黑体" pitchFamily="2" charset="-122"/>
              </a:rPr>
              <a:t>EPIC</a:t>
            </a:r>
            <a:r>
              <a:rPr lang="zh-CN" altLang="en-US" dirty="0">
                <a:solidFill>
                  <a:srgbClr val="990000"/>
                </a:solidFill>
                <a:latin typeface="黑体" pitchFamily="2" charset="-122"/>
                <a:ea typeface="黑体" pitchFamily="2" charset="-122"/>
              </a:rPr>
              <a:t>的指令级并行处理</a:t>
            </a:r>
          </a:p>
          <a:p>
            <a:pPr eaLnBrk="1" hangingPunct="1">
              <a:lnSpc>
                <a:spcPct val="100000"/>
              </a:lnSpc>
              <a:spcBef>
                <a:spcPct val="25000"/>
              </a:spcBef>
            </a:pPr>
            <a:r>
              <a:rPr lang="zh-CN" altLang="en-US" dirty="0">
                <a:latin typeface="黑体" pitchFamily="2" charset="-122"/>
                <a:ea typeface="黑体" pitchFamily="2" charset="-122"/>
              </a:rPr>
              <a:t>   由编译器分析指令之间的依赖关系，将无依赖关系的</a:t>
            </a:r>
            <a:r>
              <a:rPr lang="en-US" altLang="zh-CN" dirty="0">
                <a:latin typeface="黑体" pitchFamily="2" charset="-122"/>
                <a:ea typeface="黑体" pitchFamily="2" charset="-122"/>
              </a:rPr>
              <a:t>3</a:t>
            </a:r>
            <a:r>
              <a:rPr lang="zh-CN" altLang="en-US" dirty="0">
                <a:latin typeface="黑体" pitchFamily="2" charset="-122"/>
                <a:ea typeface="黑体" pitchFamily="2" charset="-122"/>
              </a:rPr>
              <a:t>条指令组合成一个指令束。</a:t>
            </a:r>
          </a:p>
          <a:p>
            <a:pPr eaLnBrk="1" hangingPunct="1">
              <a:lnSpc>
                <a:spcPct val="100000"/>
              </a:lnSpc>
              <a:spcBef>
                <a:spcPct val="25000"/>
              </a:spcBef>
            </a:pPr>
            <a:r>
              <a:rPr lang="zh-CN"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3</a:t>
            </a:r>
            <a:r>
              <a:rPr lang="zh-CN" altLang="en-US" dirty="0">
                <a:solidFill>
                  <a:srgbClr val="990000"/>
                </a:solidFill>
                <a:latin typeface="黑体" pitchFamily="2" charset="-122"/>
                <a:ea typeface="黑体" pitchFamily="2" charset="-122"/>
              </a:rPr>
              <a:t>．超线程技术</a:t>
            </a:r>
          </a:p>
          <a:p>
            <a:pPr eaLnBrk="1" hangingPunct="1">
              <a:lnSpc>
                <a:spcPct val="100000"/>
              </a:lnSpc>
              <a:spcBef>
                <a:spcPct val="25000"/>
              </a:spcBef>
            </a:pPr>
            <a:r>
              <a:rPr lang="zh-CN" altLang="en-US" dirty="0">
                <a:latin typeface="黑体" pitchFamily="2" charset="-122"/>
                <a:ea typeface="黑体" pitchFamily="2" charset="-122"/>
              </a:rPr>
              <a:t>   将一个物理</a:t>
            </a:r>
            <a:r>
              <a:rPr lang="en-US" altLang="zh-CN" dirty="0">
                <a:latin typeface="黑体" pitchFamily="2" charset="-122"/>
                <a:ea typeface="黑体" pitchFamily="2" charset="-122"/>
              </a:rPr>
              <a:t>CPU</a:t>
            </a:r>
            <a:r>
              <a:rPr lang="zh-CN" altLang="en-US" dirty="0">
                <a:latin typeface="黑体" pitchFamily="2" charset="-122"/>
                <a:ea typeface="黑体" pitchFamily="2" charset="-122"/>
              </a:rPr>
              <a:t>当作多个逻辑</a:t>
            </a:r>
            <a:r>
              <a:rPr lang="en-US" altLang="zh-CN" dirty="0">
                <a:latin typeface="黑体" pitchFamily="2" charset="-122"/>
                <a:ea typeface="黑体" pitchFamily="2" charset="-122"/>
              </a:rPr>
              <a:t>CPU</a:t>
            </a:r>
            <a:r>
              <a:rPr lang="zh-CN" altLang="en-US" dirty="0">
                <a:latin typeface="黑体" pitchFamily="2" charset="-122"/>
                <a:ea typeface="黑体" pitchFamily="2" charset="-122"/>
              </a:rPr>
              <a:t>使用，同时执行多重线程，以提高各部件使用效率。</a:t>
            </a:r>
          </a:p>
          <a:p>
            <a:pPr eaLnBrk="1" hangingPunct="1">
              <a:lnSpc>
                <a:spcPct val="100000"/>
              </a:lnSpc>
              <a:spcBef>
                <a:spcPct val="25000"/>
              </a:spcBef>
            </a:pPr>
            <a:r>
              <a:rPr lang="zh-CN" altLang="en-US" dirty="0">
                <a:solidFill>
                  <a:srgbClr val="990000"/>
                </a:solidFill>
                <a:latin typeface="黑体" pitchFamily="2" charset="-122"/>
                <a:ea typeface="黑体" pitchFamily="2" charset="-122"/>
              </a:rPr>
              <a:t>    </a:t>
            </a:r>
            <a:r>
              <a:rPr lang="en-US" altLang="zh-CN" dirty="0">
                <a:solidFill>
                  <a:srgbClr val="990000"/>
                </a:solidFill>
                <a:latin typeface="黑体" pitchFamily="2" charset="-122"/>
                <a:ea typeface="黑体" pitchFamily="2" charset="-122"/>
              </a:rPr>
              <a:t>4</a:t>
            </a:r>
            <a:r>
              <a:rPr lang="zh-CN" altLang="en-US" dirty="0">
                <a:solidFill>
                  <a:srgbClr val="990000"/>
                </a:solidFill>
                <a:latin typeface="黑体" pitchFamily="2" charset="-122"/>
                <a:ea typeface="黑体" pitchFamily="2" charset="-122"/>
              </a:rPr>
              <a:t>．双核与多核技术</a:t>
            </a:r>
          </a:p>
          <a:p>
            <a:pPr eaLnBrk="1" hangingPunct="1">
              <a:lnSpc>
                <a:spcPct val="100000"/>
              </a:lnSpc>
              <a:spcBef>
                <a:spcPct val="25000"/>
              </a:spcBef>
            </a:pPr>
            <a:r>
              <a:rPr lang="zh-CN" altLang="en-US" dirty="0">
                <a:latin typeface="黑体" pitchFamily="2" charset="-122"/>
                <a:ea typeface="黑体" pitchFamily="2" charset="-122"/>
              </a:rPr>
              <a:t>   在一个</a:t>
            </a:r>
            <a:r>
              <a:rPr lang="en-US" altLang="zh-CN" dirty="0">
                <a:latin typeface="黑体" pitchFamily="2" charset="-122"/>
                <a:ea typeface="黑体" pitchFamily="2" charset="-122"/>
              </a:rPr>
              <a:t>CPU</a:t>
            </a:r>
            <a:r>
              <a:rPr lang="zh-CN" altLang="en-US" dirty="0">
                <a:latin typeface="黑体" pitchFamily="2" charset="-122"/>
                <a:ea typeface="黑体" pitchFamily="2" charset="-122"/>
              </a:rPr>
              <a:t>芯片上集成多个</a:t>
            </a:r>
            <a:r>
              <a:rPr lang="en-US" altLang="zh-CN" dirty="0">
                <a:latin typeface="黑体" pitchFamily="2" charset="-122"/>
                <a:ea typeface="黑体" pitchFamily="2" charset="-122"/>
              </a:rPr>
              <a:t>CPU</a:t>
            </a:r>
            <a:r>
              <a:rPr lang="zh-CN" altLang="en-US" dirty="0">
                <a:latin typeface="黑体" pitchFamily="2" charset="-122"/>
                <a:ea typeface="黑体" pitchFamily="2" charset="-122"/>
              </a:rPr>
              <a:t>核。</a:t>
            </a:r>
          </a:p>
        </p:txBody>
      </p:sp>
    </p:spTree>
  </p:cSld>
  <p:clrMapOvr>
    <a:masterClrMapping/>
  </p:clrMapOvr>
  <p:transition>
    <p:wipe dir="d"/>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621601" y="573469"/>
            <a:ext cx="8522399" cy="5832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rIns="36000">
            <a:spAutoFit/>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eaLnBrk="1" hangingPunct="1">
              <a:lnSpc>
                <a:spcPct val="100000"/>
              </a:lnSpc>
              <a:spcBef>
                <a:spcPct val="25000"/>
              </a:spcBef>
              <a:spcAft>
                <a:spcPts val="600"/>
              </a:spcAft>
            </a:pPr>
            <a:r>
              <a:rPr lang="zh-CN" altLang="en-US" dirty="0">
                <a:solidFill>
                  <a:srgbClr val="FF0000"/>
                </a:solidFill>
                <a:latin typeface="黑体" pitchFamily="2" charset="-122"/>
                <a:ea typeface="黑体" pitchFamily="2" charset="-122"/>
              </a:rPr>
              <a:t>课外阅读：</a:t>
            </a:r>
            <a:endParaRPr lang="en-US" altLang="zh-CN" dirty="0">
              <a:solidFill>
                <a:srgbClr val="FF0000"/>
              </a:solidFill>
              <a:latin typeface="黑体" pitchFamily="2" charset="-122"/>
              <a:ea typeface="黑体" pitchFamily="2" charset="-122"/>
            </a:endParaRPr>
          </a:p>
          <a:p>
            <a:pPr eaLnBrk="1" hangingPunct="1">
              <a:lnSpc>
                <a:spcPct val="100000"/>
              </a:lnSpc>
              <a:spcBef>
                <a:spcPct val="25000"/>
              </a:spcBef>
            </a:pPr>
            <a:r>
              <a:rPr lang="zh-CN" altLang="en-US" dirty="0">
                <a:latin typeface="黑体" pitchFamily="2" charset="-122"/>
                <a:ea typeface="黑体" pitchFamily="2" charset="-122"/>
              </a:rPr>
              <a:t>    </a:t>
            </a:r>
            <a:r>
              <a:rPr lang="en-US" altLang="zh-CN" dirty="0">
                <a:latin typeface="黑体" pitchFamily="2" charset="-122"/>
                <a:ea typeface="黑体" pitchFamily="2" charset="-122"/>
              </a:rPr>
              <a:t>1. </a:t>
            </a:r>
            <a:r>
              <a:rPr lang="zh-CN" altLang="en-US" dirty="0">
                <a:latin typeface="黑体" pitchFamily="2" charset="-122"/>
                <a:ea typeface="黑体" pitchFamily="2" charset="-122"/>
              </a:rPr>
              <a:t>“计算机组成原理”第</a:t>
            </a:r>
            <a:r>
              <a:rPr lang="en-US" altLang="zh-CN" dirty="0">
                <a:latin typeface="黑体" pitchFamily="2" charset="-122"/>
                <a:ea typeface="黑体" pitchFamily="2" charset="-122"/>
              </a:rPr>
              <a:t>3</a:t>
            </a:r>
            <a:r>
              <a:rPr lang="zh-CN" altLang="en-US" dirty="0">
                <a:latin typeface="黑体" pitchFamily="2" charset="-122"/>
                <a:ea typeface="黑体" pitchFamily="2" charset="-122"/>
              </a:rPr>
              <a:t>章课外读物（泛读）</a:t>
            </a:r>
            <a:r>
              <a:rPr lang="en-US" altLang="zh-CN" dirty="0">
                <a:latin typeface="黑体" pitchFamily="2" charset="-122"/>
                <a:ea typeface="黑体" pitchFamily="2" charset="-122"/>
              </a:rPr>
              <a:t>.doc</a:t>
            </a:r>
            <a:r>
              <a:rPr lang="zh-CN" altLang="en-US" dirty="0">
                <a:latin typeface="黑体" pitchFamily="2" charset="-122"/>
                <a:ea typeface="黑体" pitchFamily="2" charset="-122"/>
              </a:rPr>
              <a:t> ”        </a:t>
            </a:r>
            <a:endParaRPr lang="en-US" altLang="zh-CN" dirty="0">
              <a:latin typeface="黑体" pitchFamily="2" charset="-122"/>
              <a:ea typeface="黑体" pitchFamily="2" charset="-122"/>
            </a:endParaRPr>
          </a:p>
          <a:p>
            <a:pPr eaLnBrk="1" hangingPunct="1">
              <a:lnSpc>
                <a:spcPct val="100000"/>
              </a:lnSpc>
              <a:spcBef>
                <a:spcPct val="25000"/>
              </a:spcBef>
            </a:pPr>
            <a:r>
              <a:rPr lang="zh-CN" altLang="en-US" sz="2000" dirty="0">
                <a:latin typeface="黑体" pitchFamily="2" charset="-122"/>
                <a:ea typeface="黑体" pitchFamily="2" charset="-122"/>
              </a:rPr>
              <a:t>         主要内容：</a:t>
            </a:r>
            <a:r>
              <a:rPr lang="en-US" altLang="zh-CN" sz="2000" dirty="0">
                <a:latin typeface="黑体" pitchFamily="2" charset="-122"/>
                <a:ea typeface="黑体" pitchFamily="2" charset="-122"/>
              </a:rPr>
              <a:t>x86,amd64,x86-64,x64</a:t>
            </a:r>
            <a:r>
              <a:rPr lang="zh-CN" altLang="en-US" sz="2000" dirty="0">
                <a:latin typeface="黑体" pitchFamily="2" charset="-122"/>
                <a:ea typeface="黑体" pitchFamily="2" charset="-122"/>
              </a:rPr>
              <a:t>区别</a:t>
            </a:r>
            <a:endParaRPr lang="en-US" altLang="zh-CN" sz="2000" dirty="0">
              <a:latin typeface="黑体" pitchFamily="2" charset="-122"/>
              <a:ea typeface="黑体" pitchFamily="2" charset="-122"/>
            </a:endParaRPr>
          </a:p>
          <a:p>
            <a:pPr eaLnBrk="1" hangingPunct="1">
              <a:lnSpc>
                <a:spcPct val="100000"/>
              </a:lnSpc>
              <a:spcBef>
                <a:spcPct val="25000"/>
              </a:spcBef>
            </a:pPr>
            <a:r>
              <a:rPr lang="en-US" altLang="zh-CN" sz="2000" dirty="0">
                <a:latin typeface="黑体" pitchFamily="2" charset="-122"/>
                <a:ea typeface="黑体" pitchFamily="2" charset="-122"/>
              </a:rPr>
              <a:t>                   x86-64</a:t>
            </a:r>
            <a:r>
              <a:rPr lang="zh-CN" altLang="en-US" sz="2000" dirty="0">
                <a:latin typeface="黑体" pitchFamily="2" charset="-122"/>
                <a:ea typeface="黑体" pitchFamily="2" charset="-122"/>
              </a:rPr>
              <a:t>的指令系统概述、过程调用</a:t>
            </a:r>
            <a:endParaRPr lang="en-US" altLang="zh-CN" sz="2000" dirty="0">
              <a:latin typeface="黑体" pitchFamily="2" charset="-122"/>
              <a:ea typeface="黑体" pitchFamily="2" charset="-122"/>
            </a:endParaRPr>
          </a:p>
          <a:p>
            <a:pPr eaLnBrk="1" hangingPunct="1">
              <a:lnSpc>
                <a:spcPct val="100000"/>
              </a:lnSpc>
              <a:spcBef>
                <a:spcPts val="1200"/>
              </a:spcBef>
            </a:pPr>
            <a:r>
              <a:rPr lang="en-US" altLang="zh-CN" dirty="0">
                <a:latin typeface="黑体" pitchFamily="2" charset="-122"/>
                <a:ea typeface="黑体" pitchFamily="2" charset="-122"/>
              </a:rPr>
              <a:t>    2. </a:t>
            </a:r>
            <a:r>
              <a:rPr lang="zh-CN" altLang="en-US" dirty="0">
                <a:latin typeface="黑体" pitchFamily="2" charset="-122"/>
                <a:ea typeface="黑体" pitchFamily="2" charset="-122"/>
              </a:rPr>
              <a:t>纪禄平等，</a:t>
            </a:r>
            <a:r>
              <a:rPr lang="en-US" altLang="zh-CN" dirty="0">
                <a:latin typeface="黑体" pitchFamily="2" charset="-122"/>
                <a:ea typeface="黑体" pitchFamily="2" charset="-122"/>
              </a:rPr>
              <a:t>《</a:t>
            </a:r>
            <a:r>
              <a:rPr lang="zh-CN" altLang="en-US" dirty="0">
                <a:latin typeface="黑体" pitchFamily="2" charset="-122"/>
                <a:ea typeface="黑体" pitchFamily="2" charset="-122"/>
              </a:rPr>
              <a:t>计算机组成原理</a:t>
            </a:r>
            <a:r>
              <a:rPr lang="en-US" altLang="zh-CN" dirty="0">
                <a:latin typeface="黑体" pitchFamily="2" charset="-122"/>
                <a:ea typeface="黑体" pitchFamily="2" charset="-122"/>
              </a:rPr>
              <a:t>(</a:t>
            </a:r>
            <a:r>
              <a:rPr lang="zh-CN" altLang="en-US" dirty="0">
                <a:latin typeface="黑体" pitchFamily="2" charset="-122"/>
                <a:ea typeface="黑体" pitchFamily="2" charset="-122"/>
              </a:rPr>
              <a:t>第</a:t>
            </a:r>
            <a:r>
              <a:rPr lang="en-US" altLang="zh-CN" dirty="0">
                <a:latin typeface="黑体" pitchFamily="2" charset="-122"/>
                <a:ea typeface="黑体" pitchFamily="2" charset="-122"/>
              </a:rPr>
              <a:t>5</a:t>
            </a:r>
            <a:r>
              <a:rPr lang="zh-CN" altLang="en-US" dirty="0">
                <a:latin typeface="黑体" pitchFamily="2" charset="-122"/>
                <a:ea typeface="黑体" pitchFamily="2" charset="-122"/>
              </a:rPr>
              <a:t>版</a:t>
            </a:r>
            <a:r>
              <a:rPr lang="en-US" altLang="zh-CN" dirty="0">
                <a:latin typeface="黑体" pitchFamily="2" charset="-122"/>
                <a:ea typeface="黑体" pitchFamily="2" charset="-122"/>
              </a:rPr>
              <a:t>)》</a:t>
            </a:r>
          </a:p>
          <a:p>
            <a:pPr eaLnBrk="1" hangingPunct="1">
              <a:lnSpc>
                <a:spcPct val="100000"/>
              </a:lnSpc>
              <a:spcBef>
                <a:spcPts val="600"/>
              </a:spcBef>
            </a:pPr>
            <a:r>
              <a:rPr lang="en-US" altLang="zh-CN" sz="2000" dirty="0">
                <a:latin typeface="黑体" pitchFamily="2" charset="-122"/>
                <a:ea typeface="黑体" pitchFamily="2" charset="-122"/>
              </a:rPr>
              <a:t>         3.5.1 MIPS32</a:t>
            </a:r>
            <a:r>
              <a:rPr lang="zh-CN" altLang="en-US" sz="2000" dirty="0">
                <a:latin typeface="黑体" pitchFamily="2" charset="-122"/>
                <a:ea typeface="黑体" pitchFamily="2" charset="-122"/>
              </a:rPr>
              <a:t>指令架构</a:t>
            </a:r>
            <a:endParaRPr lang="en-US" altLang="zh-CN" sz="2000" dirty="0">
              <a:latin typeface="黑体" pitchFamily="2" charset="-122"/>
              <a:ea typeface="黑体" pitchFamily="2" charset="-122"/>
            </a:endParaRPr>
          </a:p>
          <a:p>
            <a:pPr eaLnBrk="1" hangingPunct="1">
              <a:lnSpc>
                <a:spcPct val="100000"/>
              </a:lnSpc>
              <a:spcBef>
                <a:spcPts val="600"/>
              </a:spcBef>
            </a:pPr>
            <a:r>
              <a:rPr lang="en-US" altLang="zh-CN" sz="2000" dirty="0">
                <a:latin typeface="黑体" pitchFamily="2" charset="-122"/>
                <a:ea typeface="黑体" pitchFamily="2" charset="-122"/>
              </a:rPr>
              <a:t>         3.5.2 </a:t>
            </a:r>
            <a:r>
              <a:rPr lang="zh-CN" altLang="en-US" sz="2000" dirty="0">
                <a:latin typeface="黑体" pitchFamily="2" charset="-122"/>
                <a:ea typeface="黑体" pitchFamily="2" charset="-122"/>
              </a:rPr>
              <a:t>基本的组成部件</a:t>
            </a:r>
            <a:endParaRPr lang="en-US" altLang="zh-CN" sz="2000" dirty="0">
              <a:latin typeface="黑体" pitchFamily="2" charset="-122"/>
              <a:ea typeface="黑体" pitchFamily="2" charset="-122"/>
            </a:endParaRPr>
          </a:p>
          <a:p>
            <a:pPr eaLnBrk="1" hangingPunct="1">
              <a:lnSpc>
                <a:spcPct val="100000"/>
              </a:lnSpc>
              <a:spcBef>
                <a:spcPts val="600"/>
              </a:spcBef>
            </a:pPr>
            <a:r>
              <a:rPr lang="en-US" altLang="zh-CN" sz="2000" dirty="0">
                <a:latin typeface="黑体" pitchFamily="2" charset="-122"/>
                <a:ea typeface="黑体" pitchFamily="2" charset="-122"/>
              </a:rPr>
              <a:t>         3.5.3 </a:t>
            </a:r>
            <a:r>
              <a:rPr lang="zh-CN" altLang="en-US" sz="2000" dirty="0">
                <a:solidFill>
                  <a:srgbClr val="FF0000"/>
                </a:solidFill>
                <a:latin typeface="黑体" pitchFamily="2" charset="-122"/>
                <a:ea typeface="黑体" pitchFamily="2" charset="-122"/>
              </a:rPr>
              <a:t>单周期模式</a:t>
            </a:r>
            <a:endParaRPr lang="en-US" altLang="zh-CN" sz="2000" dirty="0">
              <a:solidFill>
                <a:srgbClr val="FF0000"/>
              </a:solidFill>
              <a:latin typeface="黑体" pitchFamily="2" charset="-122"/>
              <a:ea typeface="黑体" pitchFamily="2" charset="-122"/>
            </a:endParaRPr>
          </a:p>
          <a:p>
            <a:pPr eaLnBrk="1" hangingPunct="1">
              <a:lnSpc>
                <a:spcPct val="100000"/>
              </a:lnSpc>
              <a:spcBef>
                <a:spcPts val="600"/>
              </a:spcBef>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在线阅读：</a:t>
            </a:r>
            <a:r>
              <a:rPr lang="en-US" altLang="zh-CN" sz="1600" dirty="0">
                <a:solidFill>
                  <a:srgbClr val="3333FF"/>
                </a:solidFill>
                <a:latin typeface="黑体" pitchFamily="2" charset="-122"/>
                <a:ea typeface="黑体" pitchFamily="2" charset="-122"/>
                <a:hlinkClick r:id="rId2"/>
              </a:rPr>
              <a:t>https://sxxnjd.chineseall.cn/v3/book/read/qOyOg/PDF/188#</a:t>
            </a:r>
            <a:endParaRPr lang="en-US" altLang="zh-CN" sz="1600" dirty="0">
              <a:solidFill>
                <a:srgbClr val="3333FF"/>
              </a:solidFill>
              <a:latin typeface="黑体" pitchFamily="2" charset="-122"/>
              <a:ea typeface="黑体" pitchFamily="2" charset="-122"/>
            </a:endParaRPr>
          </a:p>
          <a:p>
            <a:pPr eaLnBrk="1" hangingPunct="1">
              <a:lnSpc>
                <a:spcPct val="100000"/>
              </a:lnSpc>
              <a:spcBef>
                <a:spcPts val="600"/>
              </a:spcBef>
            </a:pPr>
            <a:r>
              <a:rPr lang="zh-CN" altLang="en-US" sz="1600" dirty="0">
                <a:solidFill>
                  <a:srgbClr val="3333FF"/>
                </a:solidFill>
                <a:latin typeface="黑体" pitchFamily="2" charset="-122"/>
                <a:ea typeface="黑体" pitchFamily="2" charset="-122"/>
              </a:rPr>
              <a:t>                  </a:t>
            </a:r>
            <a:r>
              <a:rPr lang="zh-CN" altLang="en-US" sz="1600" dirty="0">
                <a:solidFill>
                  <a:srgbClr val="002060"/>
                </a:solidFill>
                <a:latin typeface="黑体" pitchFamily="2" charset="-122"/>
                <a:ea typeface="黑体" pitchFamily="2" charset="-122"/>
              </a:rPr>
              <a:t>或</a:t>
            </a:r>
            <a:r>
              <a:rPr lang="zh-CN" altLang="en-US" sz="1600" dirty="0">
                <a:solidFill>
                  <a:srgbClr val="3333FF"/>
                </a:solidFill>
                <a:latin typeface="黑体" pitchFamily="2" charset="-122"/>
                <a:ea typeface="黑体" pitchFamily="2" charset="-122"/>
              </a:rPr>
              <a:t> </a:t>
            </a:r>
            <a:r>
              <a:rPr lang="en-US" altLang="zh-CN" sz="1600" dirty="0">
                <a:solidFill>
                  <a:srgbClr val="3333FF"/>
                </a:solidFill>
                <a:latin typeface="黑体" pitchFamily="2" charset="-122"/>
                <a:ea typeface="黑体" pitchFamily="2" charset="-122"/>
                <a:hlinkClick r:id="rId3"/>
              </a:rPr>
              <a:t>http://www.lib.swjtu.edu.cn/asset/detail/0/101119035264</a:t>
            </a:r>
            <a:r>
              <a:rPr lang="en-US" altLang="zh-CN" sz="1600" dirty="0">
                <a:solidFill>
                  <a:srgbClr val="3333FF"/>
                </a:solidFill>
                <a:latin typeface="黑体" pitchFamily="2" charset="-122"/>
                <a:ea typeface="黑体" pitchFamily="2" charset="-122"/>
              </a:rPr>
              <a:t> </a:t>
            </a:r>
          </a:p>
          <a:p>
            <a:pPr eaLnBrk="1" hangingPunct="1">
              <a:lnSpc>
                <a:spcPct val="100000"/>
              </a:lnSpc>
              <a:spcBef>
                <a:spcPts val="600"/>
              </a:spcBef>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或</a:t>
            </a:r>
            <a:r>
              <a:rPr lang="en-US" altLang="zh-CN" sz="2000" dirty="0">
                <a:latin typeface="黑体" pitchFamily="2" charset="-122"/>
                <a:ea typeface="黑体" pitchFamily="2" charset="-122"/>
              </a:rPr>
              <a:t>MOOC</a:t>
            </a:r>
            <a:r>
              <a:rPr lang="zh-CN" altLang="en-US" sz="2000" dirty="0">
                <a:latin typeface="黑体" pitchFamily="2" charset="-122"/>
                <a:ea typeface="黑体" pitchFamily="2" charset="-122"/>
              </a:rPr>
              <a:t>课程配套</a:t>
            </a:r>
            <a:r>
              <a:rPr lang="en-US" altLang="zh-CN" sz="2000" dirty="0">
                <a:latin typeface="黑体" pitchFamily="2" charset="-122"/>
                <a:ea typeface="黑体" pitchFamily="2" charset="-122"/>
              </a:rPr>
              <a:t>PPT</a:t>
            </a:r>
            <a:r>
              <a:rPr lang="zh-CN" altLang="en-US" sz="2000" dirty="0">
                <a:latin typeface="黑体" pitchFamily="2" charset="-122"/>
                <a:ea typeface="黑体" pitchFamily="2" charset="-122"/>
              </a:rPr>
              <a:t>的对应章节：</a:t>
            </a:r>
            <a:endParaRPr lang="en-US" altLang="zh-CN" sz="2000" dirty="0">
              <a:latin typeface="黑体" pitchFamily="2" charset="-122"/>
              <a:ea typeface="黑体" pitchFamily="2" charset="-122"/>
            </a:endParaRPr>
          </a:p>
          <a:p>
            <a:pPr eaLnBrk="1" hangingPunct="1">
              <a:lnSpc>
                <a:spcPct val="100000"/>
              </a:lnSpc>
              <a:spcBef>
                <a:spcPts val="600"/>
              </a:spcBef>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百度云盘：</a:t>
            </a:r>
            <a:r>
              <a:rPr lang="en-US" altLang="zh-CN" sz="1600" dirty="0">
                <a:latin typeface="黑体" pitchFamily="2" charset="-122"/>
                <a:ea typeface="黑体" pitchFamily="2" charset="-122"/>
                <a:hlinkClick r:id="rId4"/>
              </a:rPr>
              <a:t>https://pan.baidu.com/s/1oKL3yX9gT53Sim3vQBSgVg</a:t>
            </a:r>
            <a:endParaRPr lang="en-US" altLang="zh-CN" sz="1600" dirty="0">
              <a:latin typeface="黑体" pitchFamily="2" charset="-122"/>
              <a:ea typeface="黑体" pitchFamily="2" charset="-122"/>
            </a:endParaRPr>
          </a:p>
          <a:p>
            <a:pPr eaLnBrk="1" hangingPunct="1">
              <a:lnSpc>
                <a:spcPct val="100000"/>
              </a:lnSpc>
              <a:spcBef>
                <a:spcPts val="600"/>
              </a:spcBef>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提取码：</a:t>
            </a:r>
            <a:r>
              <a:rPr lang="en-US" altLang="zh-CN" sz="2000" dirty="0">
                <a:latin typeface="黑体" pitchFamily="2" charset="-122"/>
                <a:ea typeface="黑体" pitchFamily="2" charset="-122"/>
              </a:rPr>
              <a:t>aqe8</a:t>
            </a:r>
          </a:p>
          <a:p>
            <a:pPr eaLnBrk="1" hangingPunct="1">
              <a:lnSpc>
                <a:spcPct val="100000"/>
              </a:lnSpc>
              <a:spcBef>
                <a:spcPts val="1200"/>
              </a:spcBef>
            </a:pPr>
            <a:r>
              <a:rPr lang="en-US" altLang="zh-CN" dirty="0">
                <a:latin typeface="黑体" pitchFamily="2" charset="-122"/>
                <a:ea typeface="黑体" pitchFamily="2" charset="-122"/>
              </a:rPr>
              <a:t>     </a:t>
            </a:r>
            <a:r>
              <a:rPr lang="zh-CN" altLang="en-US" dirty="0">
                <a:solidFill>
                  <a:srgbClr val="FF0000"/>
                </a:solidFill>
                <a:latin typeface="黑体" pitchFamily="2" charset="-122"/>
                <a:ea typeface="黑体" pitchFamily="2" charset="-122"/>
              </a:rPr>
              <a:t>思考：</a:t>
            </a:r>
            <a:r>
              <a:rPr lang="zh-CN" altLang="en-US" dirty="0">
                <a:latin typeface="黑体" pitchFamily="2" charset="-122"/>
                <a:ea typeface="黑体" pitchFamily="2" charset="-122"/>
              </a:rPr>
              <a:t>单周期模式的实现是由哪些要素来支撑的？</a:t>
            </a:r>
            <a:endParaRPr lang="en-US" altLang="zh-CN" dirty="0">
              <a:latin typeface="黑体" pitchFamily="2" charset="-122"/>
              <a:ea typeface="黑体" pitchFamily="2" charset="-122"/>
            </a:endParaRPr>
          </a:p>
        </p:txBody>
      </p:sp>
    </p:spTree>
    <p:extLst>
      <p:ext uri="{BB962C8B-B14F-4D97-AF65-F5344CB8AC3E}">
        <p14:creationId xmlns:p14="http://schemas.microsoft.com/office/powerpoint/2010/main" val="2300253790"/>
      </p:ext>
    </p:extLst>
  </p:cSld>
  <p:clrMapOvr>
    <a:masterClrMapping/>
  </p:clrMapOvr>
  <p:transition>
    <p:wipe dir="d"/>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5"/>
          <p:cNvSpPr>
            <a:spLocks noChangeArrowheads="1"/>
          </p:cNvSpPr>
          <p:nvPr/>
        </p:nvSpPr>
        <p:spPr bwMode="auto">
          <a:xfrm>
            <a:off x="0" y="-892175"/>
            <a:ext cx="9144000" cy="80295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p>
        </p:txBody>
      </p:sp>
      <p:grpSp>
        <p:nvGrpSpPr>
          <p:cNvPr id="119811" name="Group 253"/>
          <p:cNvGrpSpPr>
            <a:grpSpLocks/>
          </p:cNvGrpSpPr>
          <p:nvPr/>
        </p:nvGrpSpPr>
        <p:grpSpPr bwMode="auto">
          <a:xfrm>
            <a:off x="0" y="-855663"/>
            <a:ext cx="9144000" cy="7991476"/>
            <a:chOff x="0" y="-539"/>
            <a:chExt cx="5760" cy="5034"/>
          </a:xfrm>
        </p:grpSpPr>
        <p:sp>
          <p:nvSpPr>
            <p:cNvPr id="119813" name="Rectangle 5"/>
            <p:cNvSpPr>
              <a:spLocks noChangeArrowheads="1"/>
            </p:cNvSpPr>
            <p:nvPr/>
          </p:nvSpPr>
          <p:spPr bwMode="auto">
            <a:xfrm>
              <a:off x="0" y="1808"/>
              <a:ext cx="5760" cy="31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119814" name="Group 6"/>
            <p:cNvGrpSpPr>
              <a:grpSpLocks/>
            </p:cNvGrpSpPr>
            <p:nvPr/>
          </p:nvGrpSpPr>
          <p:grpSpPr bwMode="auto">
            <a:xfrm>
              <a:off x="544" y="-539"/>
              <a:ext cx="4808" cy="5034"/>
              <a:chOff x="589" y="255"/>
              <a:chExt cx="4808" cy="5034"/>
            </a:xfrm>
          </p:grpSpPr>
          <p:grpSp>
            <p:nvGrpSpPr>
              <p:cNvPr id="119815" name="Group 7"/>
              <p:cNvGrpSpPr>
                <a:grpSpLocks/>
              </p:cNvGrpSpPr>
              <p:nvPr/>
            </p:nvGrpSpPr>
            <p:grpSpPr bwMode="auto">
              <a:xfrm>
                <a:off x="733" y="278"/>
                <a:ext cx="4664" cy="4874"/>
                <a:chOff x="756" y="255"/>
                <a:chExt cx="4664" cy="4874"/>
              </a:xfrm>
            </p:grpSpPr>
            <p:grpSp>
              <p:nvGrpSpPr>
                <p:cNvPr id="119941" name="Group 8"/>
                <p:cNvGrpSpPr>
                  <a:grpSpLocks/>
                </p:cNvGrpSpPr>
                <p:nvPr/>
              </p:nvGrpSpPr>
              <p:grpSpPr bwMode="auto">
                <a:xfrm>
                  <a:off x="756" y="255"/>
                  <a:ext cx="4236" cy="4874"/>
                  <a:chOff x="1040" y="1418"/>
                  <a:chExt cx="8862" cy="13206"/>
                </a:xfrm>
              </p:grpSpPr>
              <p:sp>
                <p:nvSpPr>
                  <p:cNvPr id="120010" name="Line 9"/>
                  <p:cNvSpPr>
                    <a:spLocks noChangeShapeType="1"/>
                  </p:cNvSpPr>
                  <p:nvPr/>
                </p:nvSpPr>
                <p:spPr bwMode="auto">
                  <a:xfrm rot="5400000">
                    <a:off x="2006" y="8394"/>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11" name="Line 10"/>
                  <p:cNvSpPr>
                    <a:spLocks noChangeShapeType="1"/>
                  </p:cNvSpPr>
                  <p:nvPr/>
                </p:nvSpPr>
                <p:spPr bwMode="auto">
                  <a:xfrm rot="16200000" flipH="1">
                    <a:off x="2006" y="7960"/>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12" name="Line 11"/>
                  <p:cNvSpPr>
                    <a:spLocks noChangeShapeType="1"/>
                  </p:cNvSpPr>
                  <p:nvPr/>
                </p:nvSpPr>
                <p:spPr bwMode="auto">
                  <a:xfrm rot="16200000" flipH="1">
                    <a:off x="1922" y="9178"/>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20013" name="Group 12"/>
                  <p:cNvGrpSpPr>
                    <a:grpSpLocks/>
                  </p:cNvGrpSpPr>
                  <p:nvPr/>
                </p:nvGrpSpPr>
                <p:grpSpPr bwMode="auto">
                  <a:xfrm>
                    <a:off x="1040" y="1418"/>
                    <a:ext cx="378" cy="13206"/>
                    <a:chOff x="1040" y="1542"/>
                    <a:chExt cx="378" cy="13082"/>
                  </a:xfrm>
                </p:grpSpPr>
                <p:sp>
                  <p:nvSpPr>
                    <p:cNvPr id="120058" name="Line 13"/>
                    <p:cNvSpPr>
                      <a:spLocks noChangeShapeType="1"/>
                    </p:cNvSpPr>
                    <p:nvPr/>
                  </p:nvSpPr>
                  <p:spPr bwMode="auto">
                    <a:xfrm>
                      <a:off x="1040" y="1542"/>
                      <a:ext cx="0" cy="13082"/>
                    </a:xfrm>
                    <a:prstGeom prst="line">
                      <a:avLst/>
                    </a:prstGeom>
                    <a:noFill/>
                    <a:ln w="38100" cmpd="dbl">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059" name="Line 14"/>
                    <p:cNvSpPr>
                      <a:spLocks noChangeShapeType="1"/>
                    </p:cNvSpPr>
                    <p:nvPr/>
                  </p:nvSpPr>
                  <p:spPr bwMode="auto">
                    <a:xfrm>
                      <a:off x="1418" y="1542"/>
                      <a:ext cx="0" cy="13082"/>
                    </a:xfrm>
                    <a:prstGeom prst="line">
                      <a:avLst/>
                    </a:prstGeom>
                    <a:noFill/>
                    <a:ln w="38100" cmpd="dbl">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060" name="Line 15"/>
                    <p:cNvSpPr>
                      <a:spLocks noChangeShapeType="1"/>
                    </p:cNvSpPr>
                    <p:nvPr/>
                  </p:nvSpPr>
                  <p:spPr bwMode="auto">
                    <a:xfrm>
                      <a:off x="1250" y="1542"/>
                      <a:ext cx="0" cy="13082"/>
                    </a:xfrm>
                    <a:prstGeom prst="line">
                      <a:avLst/>
                    </a:prstGeom>
                    <a:noFill/>
                    <a:ln w="38100" cmpd="dbl">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014" name="Freeform 16"/>
                  <p:cNvSpPr>
                    <a:spLocks/>
                  </p:cNvSpPr>
                  <p:nvPr/>
                </p:nvSpPr>
                <p:spPr bwMode="auto">
                  <a:xfrm>
                    <a:off x="3770" y="6998"/>
                    <a:ext cx="6132" cy="5642"/>
                  </a:xfrm>
                  <a:custGeom>
                    <a:avLst/>
                    <a:gdLst>
                      <a:gd name="T0" fmla="*/ 0 w 5590"/>
                      <a:gd name="T1" fmla="*/ 6586 h 5580"/>
                      <a:gd name="T2" fmla="*/ 0 w 5590"/>
                      <a:gd name="T3" fmla="*/ 0 h 5580"/>
                      <a:gd name="T4" fmla="*/ 22387 w 5590"/>
                      <a:gd name="T5" fmla="*/ 0 h 5580"/>
                      <a:gd name="T6" fmla="*/ 22400 w 5590"/>
                      <a:gd name="T7" fmla="*/ 3459 h 5580"/>
                      <a:gd name="T8" fmla="*/ 0 60000 65536"/>
                      <a:gd name="T9" fmla="*/ 0 60000 65536"/>
                      <a:gd name="T10" fmla="*/ 0 60000 65536"/>
                      <a:gd name="T11" fmla="*/ 0 60000 65536"/>
                      <a:gd name="T12" fmla="*/ 0 w 5590"/>
                      <a:gd name="T13" fmla="*/ 0 h 5580"/>
                      <a:gd name="T14" fmla="*/ 5590 w 5590"/>
                      <a:gd name="T15" fmla="*/ 5580 h 5580"/>
                    </a:gdLst>
                    <a:ahLst/>
                    <a:cxnLst>
                      <a:cxn ang="T8">
                        <a:pos x="T0" y="T1"/>
                      </a:cxn>
                      <a:cxn ang="T9">
                        <a:pos x="T2" y="T3"/>
                      </a:cxn>
                      <a:cxn ang="T10">
                        <a:pos x="T4" y="T5"/>
                      </a:cxn>
                      <a:cxn ang="T11">
                        <a:pos x="T6" y="T7"/>
                      </a:cxn>
                    </a:cxnLst>
                    <a:rect l="T12" t="T13" r="T14" b="T15"/>
                    <a:pathLst>
                      <a:path w="5590" h="5580">
                        <a:moveTo>
                          <a:pt x="0" y="5580"/>
                        </a:moveTo>
                        <a:lnTo>
                          <a:pt x="0" y="0"/>
                        </a:lnTo>
                        <a:lnTo>
                          <a:pt x="5586" y="0"/>
                        </a:lnTo>
                        <a:lnTo>
                          <a:pt x="5590" y="2930"/>
                        </a:ln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0015" name="Line 17"/>
                  <p:cNvSpPr>
                    <a:spLocks noChangeShapeType="1"/>
                  </p:cNvSpPr>
                  <p:nvPr/>
                </p:nvSpPr>
                <p:spPr bwMode="auto">
                  <a:xfrm>
                    <a:off x="4736"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16" name="Line 18"/>
                  <p:cNvSpPr>
                    <a:spLocks noChangeShapeType="1"/>
                  </p:cNvSpPr>
                  <p:nvPr/>
                </p:nvSpPr>
                <p:spPr bwMode="auto">
                  <a:xfrm>
                    <a:off x="6080"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17" name="Line 19"/>
                  <p:cNvSpPr>
                    <a:spLocks noChangeShapeType="1"/>
                  </p:cNvSpPr>
                  <p:nvPr/>
                </p:nvSpPr>
                <p:spPr bwMode="auto">
                  <a:xfrm>
                    <a:off x="7508"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18" name="Line 20"/>
                  <p:cNvSpPr>
                    <a:spLocks noChangeShapeType="1"/>
                  </p:cNvSpPr>
                  <p:nvPr/>
                </p:nvSpPr>
                <p:spPr bwMode="auto">
                  <a:xfrm>
                    <a:off x="8894"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19" name="Line 21"/>
                  <p:cNvSpPr>
                    <a:spLocks noChangeShapeType="1"/>
                  </p:cNvSpPr>
                  <p:nvPr/>
                </p:nvSpPr>
                <p:spPr bwMode="auto">
                  <a:xfrm>
                    <a:off x="4736"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0" name="Line 22"/>
                  <p:cNvSpPr>
                    <a:spLocks noChangeShapeType="1"/>
                  </p:cNvSpPr>
                  <p:nvPr/>
                </p:nvSpPr>
                <p:spPr bwMode="auto">
                  <a:xfrm>
                    <a:off x="6080"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1" name="Line 23"/>
                  <p:cNvSpPr>
                    <a:spLocks noChangeShapeType="1"/>
                  </p:cNvSpPr>
                  <p:nvPr/>
                </p:nvSpPr>
                <p:spPr bwMode="auto">
                  <a:xfrm>
                    <a:off x="7508"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2" name="Line 24"/>
                  <p:cNvSpPr>
                    <a:spLocks noChangeShapeType="1"/>
                  </p:cNvSpPr>
                  <p:nvPr/>
                </p:nvSpPr>
                <p:spPr bwMode="auto">
                  <a:xfrm>
                    <a:off x="8894"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3" name="Line 25"/>
                  <p:cNvSpPr>
                    <a:spLocks noChangeShapeType="1"/>
                  </p:cNvSpPr>
                  <p:nvPr/>
                </p:nvSpPr>
                <p:spPr bwMode="auto">
                  <a:xfrm rot="5400000">
                    <a:off x="9125" y="8495"/>
                    <a:ext cx="0" cy="147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4" name="Line 26"/>
                  <p:cNvSpPr>
                    <a:spLocks noChangeShapeType="1"/>
                  </p:cNvSpPr>
                  <p:nvPr/>
                </p:nvSpPr>
                <p:spPr bwMode="auto">
                  <a:xfrm rot="5400000">
                    <a:off x="3413" y="8315"/>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5" name="Line 27"/>
                  <p:cNvSpPr>
                    <a:spLocks noChangeShapeType="1"/>
                  </p:cNvSpPr>
                  <p:nvPr/>
                </p:nvSpPr>
                <p:spPr bwMode="auto">
                  <a:xfrm rot="5400000">
                    <a:off x="4316" y="10730"/>
                    <a:ext cx="0" cy="109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6" name="Line 28"/>
                  <p:cNvSpPr>
                    <a:spLocks noChangeShapeType="1"/>
                  </p:cNvSpPr>
                  <p:nvPr/>
                </p:nvSpPr>
                <p:spPr bwMode="auto">
                  <a:xfrm rot="5400000">
                    <a:off x="1985" y="3641"/>
                    <a:ext cx="0" cy="11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7" name="Line 29"/>
                  <p:cNvSpPr>
                    <a:spLocks noChangeShapeType="1"/>
                  </p:cNvSpPr>
                  <p:nvPr/>
                </p:nvSpPr>
                <p:spPr bwMode="auto">
                  <a:xfrm rot="5400000">
                    <a:off x="6101" y="2301"/>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8" name="Line 30"/>
                  <p:cNvSpPr>
                    <a:spLocks noChangeShapeType="1"/>
                  </p:cNvSpPr>
                  <p:nvPr/>
                </p:nvSpPr>
                <p:spPr bwMode="auto">
                  <a:xfrm rot="5400000">
                    <a:off x="2363" y="1589"/>
                    <a:ext cx="0" cy="189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29" name="Line 31"/>
                  <p:cNvSpPr>
                    <a:spLocks noChangeShapeType="1"/>
                  </p:cNvSpPr>
                  <p:nvPr/>
                </p:nvSpPr>
                <p:spPr bwMode="auto">
                  <a:xfrm rot="16200000" flipH="1">
                    <a:off x="8600" y="8672"/>
                    <a:ext cx="0" cy="260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0" name="Line 32"/>
                  <p:cNvSpPr>
                    <a:spLocks noChangeShapeType="1"/>
                  </p:cNvSpPr>
                  <p:nvPr/>
                </p:nvSpPr>
                <p:spPr bwMode="auto">
                  <a:xfrm rot="16200000" flipH="1">
                    <a:off x="7615" y="8913"/>
                    <a:ext cx="8" cy="64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1" name="Line 33"/>
                  <p:cNvSpPr>
                    <a:spLocks noChangeShapeType="1"/>
                  </p:cNvSpPr>
                  <p:nvPr/>
                </p:nvSpPr>
                <p:spPr bwMode="auto">
                  <a:xfrm rot="16200000" flipH="1">
                    <a:off x="5723" y="8701"/>
                    <a:ext cx="0" cy="155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2" name="Line 34"/>
                  <p:cNvSpPr>
                    <a:spLocks noChangeShapeType="1"/>
                  </p:cNvSpPr>
                  <p:nvPr/>
                </p:nvSpPr>
                <p:spPr bwMode="auto">
                  <a:xfrm rot="16200000" flipH="1">
                    <a:off x="4127" y="912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3" name="Line 35"/>
                  <p:cNvSpPr>
                    <a:spLocks noChangeShapeType="1"/>
                  </p:cNvSpPr>
                  <p:nvPr/>
                </p:nvSpPr>
                <p:spPr bwMode="auto">
                  <a:xfrm rot="16200000" flipH="1">
                    <a:off x="3413" y="943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4" name="Line 36"/>
                  <p:cNvSpPr>
                    <a:spLocks noChangeShapeType="1"/>
                  </p:cNvSpPr>
                  <p:nvPr/>
                </p:nvSpPr>
                <p:spPr bwMode="auto">
                  <a:xfrm rot="16200000" flipH="1">
                    <a:off x="1817" y="4423"/>
                    <a:ext cx="0" cy="1554"/>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5" name="Line 37"/>
                  <p:cNvSpPr>
                    <a:spLocks noChangeShapeType="1"/>
                  </p:cNvSpPr>
                  <p:nvPr/>
                </p:nvSpPr>
                <p:spPr bwMode="auto">
                  <a:xfrm rot="5400000">
                    <a:off x="1922" y="4900"/>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6" name="Line 38"/>
                  <p:cNvSpPr>
                    <a:spLocks noChangeShapeType="1"/>
                  </p:cNvSpPr>
                  <p:nvPr/>
                </p:nvSpPr>
                <p:spPr bwMode="auto">
                  <a:xfrm rot="16200000" flipH="1">
                    <a:off x="2174" y="718"/>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7" name="Line 39"/>
                  <p:cNvSpPr>
                    <a:spLocks noChangeShapeType="1"/>
                  </p:cNvSpPr>
                  <p:nvPr/>
                </p:nvSpPr>
                <p:spPr bwMode="auto">
                  <a:xfrm rot="16200000" flipH="1">
                    <a:off x="2174" y="532"/>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8" name="Line 40"/>
                  <p:cNvSpPr>
                    <a:spLocks noChangeShapeType="1"/>
                  </p:cNvSpPr>
                  <p:nvPr/>
                </p:nvSpPr>
                <p:spPr bwMode="auto">
                  <a:xfrm rot="5400000">
                    <a:off x="2174" y="904"/>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39" name="Line 41"/>
                  <p:cNvSpPr>
                    <a:spLocks noChangeShapeType="1"/>
                  </p:cNvSpPr>
                  <p:nvPr/>
                </p:nvSpPr>
                <p:spPr bwMode="auto">
                  <a:xfrm rot="5400000">
                    <a:off x="2195" y="2395"/>
                    <a:ext cx="0" cy="189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40" name="Line 42"/>
                  <p:cNvSpPr>
                    <a:spLocks noChangeShapeType="1"/>
                  </p:cNvSpPr>
                  <p:nvPr/>
                </p:nvSpPr>
                <p:spPr bwMode="auto">
                  <a:xfrm rot="16200000" flipH="1">
                    <a:off x="7928" y="11168"/>
                    <a:ext cx="0" cy="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41" name="Line 43"/>
                  <p:cNvSpPr>
                    <a:spLocks noChangeShapeType="1"/>
                  </p:cNvSpPr>
                  <p:nvPr/>
                </p:nvSpPr>
                <p:spPr bwMode="auto">
                  <a:xfrm rot="5400000">
                    <a:off x="4316" y="12094"/>
                    <a:ext cx="0" cy="109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0042" name="Freeform 44"/>
                  <p:cNvSpPr>
                    <a:spLocks/>
                  </p:cNvSpPr>
                  <p:nvPr/>
                </p:nvSpPr>
                <p:spPr bwMode="auto">
                  <a:xfrm>
                    <a:off x="6248" y="9664"/>
                    <a:ext cx="252" cy="1426"/>
                  </a:xfrm>
                  <a:custGeom>
                    <a:avLst/>
                    <a:gdLst>
                      <a:gd name="T0" fmla="*/ 73601 w 168"/>
                      <a:gd name="T1" fmla="*/ 0 h 1426"/>
                      <a:gd name="T2" fmla="*/ 0 w 168"/>
                      <a:gd name="T3" fmla="*/ 0 h 1426"/>
                      <a:gd name="T4" fmla="*/ 0 w 168"/>
                      <a:gd name="T5" fmla="*/ 1426 h 1426"/>
                      <a:gd name="T6" fmla="*/ 0 60000 65536"/>
                      <a:gd name="T7" fmla="*/ 0 60000 65536"/>
                      <a:gd name="T8" fmla="*/ 0 60000 65536"/>
                      <a:gd name="T9" fmla="*/ 0 w 168"/>
                      <a:gd name="T10" fmla="*/ 0 h 1426"/>
                      <a:gd name="T11" fmla="*/ 168 w 168"/>
                      <a:gd name="T12" fmla="*/ 1426 h 1426"/>
                    </a:gdLst>
                    <a:ahLst/>
                    <a:cxnLst>
                      <a:cxn ang="T6">
                        <a:pos x="T0" y="T1"/>
                      </a:cxn>
                      <a:cxn ang="T7">
                        <a:pos x="T2" y="T3"/>
                      </a:cxn>
                      <a:cxn ang="T8">
                        <a:pos x="T4" y="T5"/>
                      </a:cxn>
                    </a:cxnLst>
                    <a:rect l="T9" t="T10" r="T11" b="T12"/>
                    <a:pathLst>
                      <a:path w="168" h="1426">
                        <a:moveTo>
                          <a:pt x="168" y="0"/>
                        </a:moveTo>
                        <a:lnTo>
                          <a:pt x="0" y="0"/>
                        </a:lnTo>
                        <a:lnTo>
                          <a:pt x="0" y="1426"/>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0043" name="Line 45"/>
                  <p:cNvSpPr>
                    <a:spLocks noChangeShapeType="1"/>
                  </p:cNvSpPr>
                  <p:nvPr/>
                </p:nvSpPr>
                <p:spPr bwMode="auto">
                  <a:xfrm>
                    <a:off x="4694" y="8300"/>
                    <a:ext cx="0" cy="68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44" name="Line 46"/>
                  <p:cNvSpPr>
                    <a:spLocks noChangeShapeType="1"/>
                  </p:cNvSpPr>
                  <p:nvPr/>
                </p:nvSpPr>
                <p:spPr bwMode="auto">
                  <a:xfrm rot="5400000">
                    <a:off x="3455" y="10721"/>
                    <a:ext cx="0" cy="483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20045" name="Group 47"/>
                  <p:cNvGrpSpPr>
                    <a:grpSpLocks/>
                  </p:cNvGrpSpPr>
                  <p:nvPr/>
                </p:nvGrpSpPr>
                <p:grpSpPr bwMode="auto">
                  <a:xfrm>
                    <a:off x="5996" y="11834"/>
                    <a:ext cx="336" cy="310"/>
                    <a:chOff x="5996" y="11834"/>
                    <a:chExt cx="336" cy="310"/>
                  </a:xfrm>
                </p:grpSpPr>
                <p:sp>
                  <p:nvSpPr>
                    <p:cNvPr id="120056" name="Line 48"/>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57" name="Line 49"/>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046" name="Group 50"/>
                  <p:cNvGrpSpPr>
                    <a:grpSpLocks/>
                  </p:cNvGrpSpPr>
                  <p:nvPr/>
                </p:nvGrpSpPr>
                <p:grpSpPr bwMode="auto">
                  <a:xfrm>
                    <a:off x="6962" y="11834"/>
                    <a:ext cx="504" cy="310"/>
                    <a:chOff x="5996" y="11834"/>
                    <a:chExt cx="336" cy="310"/>
                  </a:xfrm>
                </p:grpSpPr>
                <p:sp>
                  <p:nvSpPr>
                    <p:cNvPr id="120054" name="Line 51"/>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55" name="Line 52"/>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047" name="Group 53"/>
                  <p:cNvGrpSpPr>
                    <a:grpSpLocks/>
                  </p:cNvGrpSpPr>
                  <p:nvPr/>
                </p:nvGrpSpPr>
                <p:grpSpPr bwMode="auto">
                  <a:xfrm rot="-5400000">
                    <a:off x="5380" y="12336"/>
                    <a:ext cx="434" cy="546"/>
                    <a:chOff x="5996" y="11834"/>
                    <a:chExt cx="336" cy="310"/>
                  </a:xfrm>
                </p:grpSpPr>
                <p:sp>
                  <p:nvSpPr>
                    <p:cNvPr id="120052" name="Line 54"/>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053" name="Line 55"/>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0048" name="Freeform 56"/>
                  <p:cNvSpPr>
                    <a:spLocks/>
                  </p:cNvSpPr>
                  <p:nvPr/>
                </p:nvSpPr>
                <p:spPr bwMode="auto">
                  <a:xfrm>
                    <a:off x="3770" y="10594"/>
                    <a:ext cx="2100" cy="682"/>
                  </a:xfrm>
                  <a:custGeom>
                    <a:avLst/>
                    <a:gdLst>
                      <a:gd name="T0" fmla="*/ 2100 w 2100"/>
                      <a:gd name="T1" fmla="*/ 682 h 682"/>
                      <a:gd name="T2" fmla="*/ 1722 w 2100"/>
                      <a:gd name="T3" fmla="*/ 682 h 682"/>
                      <a:gd name="T4" fmla="*/ 1722 w 2100"/>
                      <a:gd name="T5" fmla="*/ 0 h 682"/>
                      <a:gd name="T6" fmla="*/ 0 w 2100"/>
                      <a:gd name="T7" fmla="*/ 0 h 682"/>
                      <a:gd name="T8" fmla="*/ 0 60000 65536"/>
                      <a:gd name="T9" fmla="*/ 0 60000 65536"/>
                      <a:gd name="T10" fmla="*/ 0 60000 65536"/>
                      <a:gd name="T11" fmla="*/ 0 60000 65536"/>
                      <a:gd name="T12" fmla="*/ 0 w 2100"/>
                      <a:gd name="T13" fmla="*/ 0 h 682"/>
                      <a:gd name="T14" fmla="*/ 2100 w 2100"/>
                      <a:gd name="T15" fmla="*/ 682 h 682"/>
                    </a:gdLst>
                    <a:ahLst/>
                    <a:cxnLst>
                      <a:cxn ang="T8">
                        <a:pos x="T0" y="T1"/>
                      </a:cxn>
                      <a:cxn ang="T9">
                        <a:pos x="T2" y="T3"/>
                      </a:cxn>
                      <a:cxn ang="T10">
                        <a:pos x="T4" y="T5"/>
                      </a:cxn>
                      <a:cxn ang="T11">
                        <a:pos x="T6" y="T7"/>
                      </a:cxn>
                    </a:cxnLst>
                    <a:rect l="T12" t="T13" r="T14" b="T15"/>
                    <a:pathLst>
                      <a:path w="2100" h="682">
                        <a:moveTo>
                          <a:pt x="2100" y="682"/>
                        </a:moveTo>
                        <a:lnTo>
                          <a:pt x="1722" y="682"/>
                        </a:lnTo>
                        <a:lnTo>
                          <a:pt x="1722" y="0"/>
                        </a:lnTo>
                        <a:lnTo>
                          <a:pt x="0" y="0"/>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0049" name="Text Box 57"/>
                  <p:cNvSpPr txBox="1">
                    <a:spLocks noChangeArrowheads="1"/>
                  </p:cNvSpPr>
                  <p:nvPr/>
                </p:nvSpPr>
                <p:spPr bwMode="auto">
                  <a:xfrm>
                    <a:off x="5450" y="12392"/>
                    <a:ext cx="291"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120050" name="Text Box 58"/>
                  <p:cNvSpPr txBox="1">
                    <a:spLocks noChangeArrowheads="1"/>
                  </p:cNvSpPr>
                  <p:nvPr/>
                </p:nvSpPr>
                <p:spPr bwMode="auto">
                  <a:xfrm>
                    <a:off x="595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120051" name="Text Box 59"/>
                  <p:cNvSpPr txBox="1">
                    <a:spLocks noChangeArrowheads="1"/>
                  </p:cNvSpPr>
                  <p:nvPr/>
                </p:nvSpPr>
                <p:spPr bwMode="auto">
                  <a:xfrm>
                    <a:off x="700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b="0" dirty="0">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grpSp>
            <p:grpSp>
              <p:nvGrpSpPr>
                <p:cNvPr id="119942" name="Group 60"/>
                <p:cNvGrpSpPr>
                  <a:grpSpLocks/>
                </p:cNvGrpSpPr>
                <p:nvPr/>
              </p:nvGrpSpPr>
              <p:grpSpPr bwMode="auto">
                <a:xfrm>
                  <a:off x="1003" y="1308"/>
                  <a:ext cx="4417" cy="3706"/>
                  <a:chOff x="2024" y="4750"/>
                  <a:chExt cx="9240" cy="10044"/>
                </a:xfrm>
              </p:grpSpPr>
              <p:sp>
                <p:nvSpPr>
                  <p:cNvPr id="119943" name="Text Box 61"/>
                  <p:cNvSpPr txBox="1">
                    <a:spLocks noChangeArrowheads="1"/>
                  </p:cNvSpPr>
                  <p:nvPr/>
                </p:nvSpPr>
                <p:spPr bwMode="auto">
                  <a:xfrm>
                    <a:off x="10592" y="6734"/>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+1CT</a:t>
                    </a:r>
                  </a:p>
                </p:txBody>
              </p:sp>
              <p:sp>
                <p:nvSpPr>
                  <p:cNvPr id="119944" name="Text Box 62"/>
                  <p:cNvSpPr txBox="1">
                    <a:spLocks noChangeArrowheads="1"/>
                  </p:cNvSpPr>
                  <p:nvPr/>
                </p:nvSpPr>
                <p:spPr bwMode="auto">
                  <a:xfrm>
                    <a:off x="10592" y="7850"/>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0→CT</a:t>
                    </a:r>
                  </a:p>
                </p:txBody>
              </p:sp>
              <p:grpSp>
                <p:nvGrpSpPr>
                  <p:cNvPr id="119945" name="Group 63"/>
                  <p:cNvGrpSpPr>
                    <a:grpSpLocks/>
                  </p:cNvGrpSpPr>
                  <p:nvPr/>
                </p:nvGrpSpPr>
                <p:grpSpPr bwMode="auto">
                  <a:xfrm>
                    <a:off x="2024" y="4750"/>
                    <a:ext cx="840" cy="620"/>
                    <a:chOff x="1544" y="4270"/>
                    <a:chExt cx="882" cy="620"/>
                  </a:xfrm>
                </p:grpSpPr>
                <p:sp>
                  <p:nvSpPr>
                    <p:cNvPr id="120008" name="Text Box 64"/>
                    <p:cNvSpPr txBox="1">
                      <a:spLocks noChangeArrowheads="1"/>
                    </p:cNvSpPr>
                    <p:nvPr/>
                  </p:nvSpPr>
                  <p:spPr bwMode="auto">
                    <a:xfrm>
                      <a:off x="1544" y="427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/MMRD</a:t>
                      </a:r>
                    </a:p>
                  </p:txBody>
                </p:sp>
                <p:sp>
                  <p:nvSpPr>
                    <p:cNvPr id="120009" name="Text Box 65"/>
                    <p:cNvSpPr txBox="1">
                      <a:spLocks noChangeArrowheads="1"/>
                    </p:cNvSpPr>
                    <p:nvPr/>
                  </p:nvSpPr>
                  <p:spPr bwMode="auto">
                    <a:xfrm>
                      <a:off x="1544" y="458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/MMWR</a:t>
                      </a:r>
                    </a:p>
                  </p:txBody>
                </p:sp>
              </p:grpSp>
              <p:grpSp>
                <p:nvGrpSpPr>
                  <p:cNvPr id="119946" name="Group 66"/>
                  <p:cNvGrpSpPr>
                    <a:grpSpLocks/>
                  </p:cNvGrpSpPr>
                  <p:nvPr/>
                </p:nvGrpSpPr>
                <p:grpSpPr bwMode="auto">
                  <a:xfrm>
                    <a:off x="5636" y="5928"/>
                    <a:ext cx="756" cy="1240"/>
                    <a:chOff x="5114" y="5510"/>
                    <a:chExt cx="798" cy="1240"/>
                  </a:xfrm>
                </p:grpSpPr>
                <p:sp>
                  <p:nvSpPr>
                    <p:cNvPr id="120004" name="Text Box 67"/>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120005" name="Text Box 68"/>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-2SP</a:t>
                      </a:r>
                    </a:p>
                  </p:txBody>
                </p:sp>
                <p:sp>
                  <p:nvSpPr>
                    <p:cNvPr id="120006" name="Text Box 69"/>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SPin</a:t>
                      </a:r>
                    </a:p>
                  </p:txBody>
                </p:sp>
                <p:sp>
                  <p:nvSpPr>
                    <p:cNvPr id="120007" name="Text Box 70"/>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SP→IB</a:t>
                      </a:r>
                    </a:p>
                  </p:txBody>
                </p:sp>
              </p:grpSp>
              <p:sp>
                <p:nvSpPr>
                  <p:cNvPr id="119947" name="Text Box 71"/>
                  <p:cNvSpPr txBox="1">
                    <a:spLocks noChangeArrowheads="1"/>
                  </p:cNvSpPr>
                  <p:nvPr/>
                </p:nvSpPr>
                <p:spPr bwMode="auto">
                  <a:xfrm>
                    <a:off x="6980" y="611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BPin</a:t>
                    </a:r>
                  </a:p>
                </p:txBody>
              </p:sp>
              <p:sp>
                <p:nvSpPr>
                  <p:cNvPr id="119948" name="Text Box 72"/>
                  <p:cNvSpPr txBox="1">
                    <a:spLocks noChangeArrowheads="1"/>
                  </p:cNvSpPr>
                  <p:nvPr/>
                </p:nvSpPr>
                <p:spPr bwMode="auto">
                  <a:xfrm>
                    <a:off x="6980" y="64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BP→IB</a:t>
                    </a:r>
                  </a:p>
                </p:txBody>
              </p:sp>
              <p:grpSp>
                <p:nvGrpSpPr>
                  <p:cNvPr id="119949" name="Group 73"/>
                  <p:cNvGrpSpPr>
                    <a:grpSpLocks/>
                  </p:cNvGrpSpPr>
                  <p:nvPr/>
                </p:nvGrpSpPr>
                <p:grpSpPr bwMode="auto">
                  <a:xfrm>
                    <a:off x="8408" y="5928"/>
                    <a:ext cx="756" cy="1240"/>
                    <a:chOff x="5114" y="5510"/>
                    <a:chExt cx="798" cy="1240"/>
                  </a:xfrm>
                </p:grpSpPr>
                <p:sp>
                  <p:nvSpPr>
                    <p:cNvPr id="120000" name="Text Box 74"/>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120001" name="Text Box 75"/>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-2DI</a:t>
                      </a:r>
                    </a:p>
                  </p:txBody>
                </p:sp>
                <p:sp>
                  <p:nvSpPr>
                    <p:cNvPr id="120002" name="Text Box 76"/>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DIin</a:t>
                      </a:r>
                    </a:p>
                  </p:txBody>
                </p:sp>
                <p:sp>
                  <p:nvSpPr>
                    <p:cNvPr id="120003" name="Text Box 77"/>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DI→IB</a:t>
                      </a:r>
                    </a:p>
                  </p:txBody>
                </p:sp>
              </p:grpSp>
              <p:grpSp>
                <p:nvGrpSpPr>
                  <p:cNvPr id="119950" name="Group 78"/>
                  <p:cNvGrpSpPr>
                    <a:grpSpLocks/>
                  </p:cNvGrpSpPr>
                  <p:nvPr/>
                </p:nvGrpSpPr>
                <p:grpSpPr bwMode="auto">
                  <a:xfrm>
                    <a:off x="9794" y="5928"/>
                    <a:ext cx="756" cy="1240"/>
                    <a:chOff x="5114" y="5510"/>
                    <a:chExt cx="798" cy="1240"/>
                  </a:xfrm>
                </p:grpSpPr>
                <p:sp>
                  <p:nvSpPr>
                    <p:cNvPr id="119996" name="Text Box 79"/>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119997" name="Text Box 80"/>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-2SI</a:t>
                      </a:r>
                    </a:p>
                  </p:txBody>
                </p:sp>
                <p:sp>
                  <p:nvSpPr>
                    <p:cNvPr id="119998" name="Text Box 81"/>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SIin</a:t>
                      </a:r>
                    </a:p>
                  </p:txBody>
                </p:sp>
                <p:sp>
                  <p:nvSpPr>
                    <p:cNvPr id="119999" name="Text Box 82"/>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SI→IB</a:t>
                      </a:r>
                    </a:p>
                  </p:txBody>
                </p:sp>
              </p:grpSp>
              <p:grpSp>
                <p:nvGrpSpPr>
                  <p:cNvPr id="119951" name="Group 83"/>
                  <p:cNvGrpSpPr>
                    <a:grpSpLocks/>
                  </p:cNvGrpSpPr>
                  <p:nvPr/>
                </p:nvGrpSpPr>
                <p:grpSpPr bwMode="auto">
                  <a:xfrm>
                    <a:off x="5594" y="7788"/>
                    <a:ext cx="756" cy="620"/>
                    <a:chOff x="5114" y="7308"/>
                    <a:chExt cx="756" cy="620"/>
                  </a:xfrm>
                </p:grpSpPr>
                <p:sp>
                  <p:nvSpPr>
                    <p:cNvPr id="119994" name="Text Box 84"/>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AXin</a:t>
                      </a:r>
                    </a:p>
                  </p:txBody>
                </p:sp>
                <p:sp>
                  <p:nvSpPr>
                    <p:cNvPr id="119995" name="Text Box 85"/>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AX→IB</a:t>
                      </a:r>
                    </a:p>
                  </p:txBody>
                </p:sp>
              </p:grpSp>
              <p:grpSp>
                <p:nvGrpSpPr>
                  <p:cNvPr id="119952" name="Group 86"/>
                  <p:cNvGrpSpPr>
                    <a:grpSpLocks/>
                  </p:cNvGrpSpPr>
                  <p:nvPr/>
                </p:nvGrpSpPr>
                <p:grpSpPr bwMode="auto">
                  <a:xfrm>
                    <a:off x="6980" y="7788"/>
                    <a:ext cx="756" cy="620"/>
                    <a:chOff x="5114" y="7308"/>
                    <a:chExt cx="756" cy="620"/>
                  </a:xfrm>
                </p:grpSpPr>
                <p:sp>
                  <p:nvSpPr>
                    <p:cNvPr id="119992" name="Text Box 87"/>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BXin</a:t>
                      </a:r>
                    </a:p>
                  </p:txBody>
                </p:sp>
                <p:sp>
                  <p:nvSpPr>
                    <p:cNvPr id="119993" name="Text Box 88"/>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BX→IB</a:t>
                      </a:r>
                    </a:p>
                  </p:txBody>
                </p:sp>
              </p:grpSp>
              <p:grpSp>
                <p:nvGrpSpPr>
                  <p:cNvPr id="119953" name="Group 89"/>
                  <p:cNvGrpSpPr>
                    <a:grpSpLocks/>
                  </p:cNvGrpSpPr>
                  <p:nvPr/>
                </p:nvGrpSpPr>
                <p:grpSpPr bwMode="auto">
                  <a:xfrm>
                    <a:off x="9710" y="7788"/>
                    <a:ext cx="756" cy="620"/>
                    <a:chOff x="5114" y="7308"/>
                    <a:chExt cx="756" cy="620"/>
                  </a:xfrm>
                </p:grpSpPr>
                <p:sp>
                  <p:nvSpPr>
                    <p:cNvPr id="119990" name="Text Box 90"/>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DXin</a:t>
                      </a:r>
                    </a:p>
                  </p:txBody>
                </p:sp>
                <p:sp>
                  <p:nvSpPr>
                    <p:cNvPr id="119991" name="Text Box 91"/>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DX→IB</a:t>
                      </a:r>
                    </a:p>
                  </p:txBody>
                </p:sp>
              </p:grpSp>
              <p:sp>
                <p:nvSpPr>
                  <p:cNvPr id="119954" name="Text Box 92"/>
                  <p:cNvSpPr txBox="1">
                    <a:spLocks noChangeArrowheads="1"/>
                  </p:cNvSpPr>
                  <p:nvPr/>
                </p:nvSpPr>
                <p:spPr bwMode="auto">
                  <a:xfrm>
                    <a:off x="8366" y="809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CXin</a:t>
                    </a:r>
                  </a:p>
                </p:txBody>
              </p:sp>
              <p:sp>
                <p:nvSpPr>
                  <p:cNvPr id="119955" name="Text Box 93"/>
                  <p:cNvSpPr txBox="1">
                    <a:spLocks noChangeArrowheads="1"/>
                  </p:cNvSpPr>
                  <p:nvPr/>
                </p:nvSpPr>
                <p:spPr bwMode="auto">
                  <a:xfrm>
                    <a:off x="8366" y="778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CX→IB</a:t>
                    </a:r>
                  </a:p>
                </p:txBody>
              </p:sp>
              <p:sp>
                <p:nvSpPr>
                  <p:cNvPr id="119956" name="Text Box 94"/>
                  <p:cNvSpPr txBox="1">
                    <a:spLocks noChangeArrowheads="1"/>
                  </p:cNvSpPr>
                  <p:nvPr/>
                </p:nvSpPr>
                <p:spPr bwMode="auto">
                  <a:xfrm>
                    <a:off x="8324" y="8408"/>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-1CX</a:t>
                    </a:r>
                  </a:p>
                </p:txBody>
              </p:sp>
              <p:sp>
                <p:nvSpPr>
                  <p:cNvPr id="119957" name="Text Box 95"/>
                  <p:cNvSpPr txBox="1">
                    <a:spLocks noChangeArrowheads="1"/>
                  </p:cNvSpPr>
                  <p:nvPr/>
                </p:nvSpPr>
                <p:spPr bwMode="auto">
                  <a:xfrm>
                    <a:off x="3620" y="853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DRin</a:t>
                    </a:r>
                  </a:p>
                </p:txBody>
              </p:sp>
              <p:sp>
                <p:nvSpPr>
                  <p:cNvPr id="119958" name="Text Box 96"/>
                  <p:cNvSpPr txBox="1">
                    <a:spLocks noChangeArrowheads="1"/>
                  </p:cNvSpPr>
                  <p:nvPr/>
                </p:nvSpPr>
                <p:spPr bwMode="auto">
                  <a:xfrm>
                    <a:off x="3578" y="940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DR→IB</a:t>
                    </a:r>
                  </a:p>
                </p:txBody>
              </p:sp>
              <p:sp>
                <p:nvSpPr>
                  <p:cNvPr id="119959" name="Text Box 97"/>
                  <p:cNvSpPr txBox="1">
                    <a:spLocks noChangeArrowheads="1"/>
                  </p:cNvSpPr>
                  <p:nvPr/>
                </p:nvSpPr>
                <p:spPr bwMode="auto">
                  <a:xfrm>
                    <a:off x="4376" y="1138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PC→IB</a:t>
                    </a:r>
                  </a:p>
                </p:txBody>
              </p:sp>
              <p:sp>
                <p:nvSpPr>
                  <p:cNvPr id="119960" name="Text Box 98"/>
                  <p:cNvSpPr txBox="1">
                    <a:spLocks noChangeArrowheads="1"/>
                  </p:cNvSpPr>
                  <p:nvPr/>
                </p:nvSpPr>
                <p:spPr bwMode="auto">
                  <a:xfrm>
                    <a:off x="4376" y="118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0→PC</a:t>
                    </a:r>
                  </a:p>
                </p:txBody>
              </p:sp>
              <p:sp>
                <p:nvSpPr>
                  <p:cNvPr id="119961" name="Text Box 99"/>
                  <p:cNvSpPr txBox="1">
                    <a:spLocks noChangeArrowheads="1"/>
                  </p:cNvSpPr>
                  <p:nvPr/>
                </p:nvSpPr>
                <p:spPr bwMode="auto">
                  <a:xfrm>
                    <a:off x="4376" y="1212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+2PC</a:t>
                    </a:r>
                  </a:p>
                </p:txBody>
              </p:sp>
              <p:sp>
                <p:nvSpPr>
                  <p:cNvPr id="119962" name="Text Box 100"/>
                  <p:cNvSpPr txBox="1">
                    <a:spLocks noChangeArrowheads="1"/>
                  </p:cNvSpPr>
                  <p:nvPr/>
                </p:nvSpPr>
                <p:spPr bwMode="auto">
                  <a:xfrm>
                    <a:off x="4376" y="1107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PCin</a:t>
                    </a:r>
                  </a:p>
                </p:txBody>
              </p:sp>
              <p:sp>
                <p:nvSpPr>
                  <p:cNvPr id="119963" name="Text Box 101"/>
                  <p:cNvSpPr txBox="1">
                    <a:spLocks noChangeArrowheads="1"/>
                  </p:cNvSpPr>
                  <p:nvPr/>
                </p:nvSpPr>
                <p:spPr bwMode="auto">
                  <a:xfrm>
                    <a:off x="4376" y="126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IRin</a:t>
                    </a:r>
                  </a:p>
                </p:txBody>
              </p:sp>
              <p:sp>
                <p:nvSpPr>
                  <p:cNvPr id="119964" name="Text Box 102"/>
                  <p:cNvSpPr txBox="1">
                    <a:spLocks noChangeArrowheads="1"/>
                  </p:cNvSpPr>
                  <p:nvPr/>
                </p:nvSpPr>
                <p:spPr bwMode="auto">
                  <a:xfrm>
                    <a:off x="5384" y="12190"/>
                    <a:ext cx="9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PSW→IB</a:t>
                    </a:r>
                  </a:p>
                </p:txBody>
              </p:sp>
              <p:sp>
                <p:nvSpPr>
                  <p:cNvPr id="119965" name="Text Box 103"/>
                  <p:cNvSpPr txBox="1">
                    <a:spLocks noChangeArrowheads="1"/>
                  </p:cNvSpPr>
                  <p:nvPr/>
                </p:nvSpPr>
                <p:spPr bwMode="auto">
                  <a:xfrm>
                    <a:off x="5846" y="11074"/>
                    <a:ext cx="8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PSWin</a:t>
                    </a:r>
                  </a:p>
                </p:txBody>
              </p:sp>
              <p:sp>
                <p:nvSpPr>
                  <p:cNvPr id="119966" name="Text Box 104"/>
                  <p:cNvSpPr txBox="1">
                    <a:spLocks noChangeArrowheads="1"/>
                  </p:cNvSpPr>
                  <p:nvPr/>
                </p:nvSpPr>
                <p:spPr bwMode="auto">
                  <a:xfrm>
                    <a:off x="3620" y="1045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ARin</a:t>
                    </a:r>
                  </a:p>
                </p:txBody>
              </p:sp>
              <p:sp>
                <p:nvSpPr>
                  <p:cNvPr id="119967" name="Text Box 105"/>
                  <p:cNvSpPr txBox="1">
                    <a:spLocks noChangeArrowheads="1"/>
                  </p:cNvSpPr>
                  <p:nvPr/>
                </p:nvSpPr>
                <p:spPr bwMode="auto">
                  <a:xfrm>
                    <a:off x="2192" y="8470"/>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DR→DB</a:t>
                    </a:r>
                  </a:p>
                </p:txBody>
              </p:sp>
              <p:sp>
                <p:nvSpPr>
                  <p:cNvPr id="119968" name="Text Box 106"/>
                  <p:cNvSpPr txBox="1">
                    <a:spLocks noChangeArrowheads="1"/>
                  </p:cNvSpPr>
                  <p:nvPr/>
                </p:nvSpPr>
                <p:spPr bwMode="auto">
                  <a:xfrm>
                    <a:off x="2192" y="9648"/>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DB→DR</a:t>
                    </a:r>
                  </a:p>
                </p:txBody>
              </p:sp>
              <p:sp>
                <p:nvSpPr>
                  <p:cNvPr id="119969" name="Text Box 107"/>
                  <p:cNvSpPr txBox="1">
                    <a:spLocks noChangeArrowheads="1"/>
                  </p:cNvSpPr>
                  <p:nvPr/>
                </p:nvSpPr>
                <p:spPr bwMode="auto">
                  <a:xfrm>
                    <a:off x="2192" y="10516"/>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AR→AB</a:t>
                    </a:r>
                  </a:p>
                </p:txBody>
              </p:sp>
              <p:grpSp>
                <p:nvGrpSpPr>
                  <p:cNvPr id="119970" name="Group 108"/>
                  <p:cNvGrpSpPr>
                    <a:grpSpLocks/>
                  </p:cNvGrpSpPr>
                  <p:nvPr/>
                </p:nvGrpSpPr>
                <p:grpSpPr bwMode="auto">
                  <a:xfrm>
                    <a:off x="5678" y="9214"/>
                    <a:ext cx="756" cy="620"/>
                    <a:chOff x="5114" y="7308"/>
                    <a:chExt cx="756" cy="620"/>
                  </a:xfrm>
                </p:grpSpPr>
                <p:sp>
                  <p:nvSpPr>
                    <p:cNvPr id="119988" name="Text Box 109"/>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Tin</a:t>
                      </a:r>
                    </a:p>
                  </p:txBody>
                </p:sp>
                <p:sp>
                  <p:nvSpPr>
                    <p:cNvPr id="119989" name="Text Box 110"/>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T→IB</a:t>
                      </a:r>
                    </a:p>
                  </p:txBody>
                </p:sp>
              </p:grpSp>
              <p:sp>
                <p:nvSpPr>
                  <p:cNvPr id="119971" name="Text Box 111"/>
                  <p:cNvSpPr txBox="1">
                    <a:spLocks noChangeArrowheads="1"/>
                  </p:cNvSpPr>
                  <p:nvPr/>
                </p:nvSpPr>
                <p:spPr bwMode="auto">
                  <a:xfrm>
                    <a:off x="5678" y="1008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0→T</a:t>
                    </a:r>
                  </a:p>
                </p:txBody>
              </p:sp>
              <p:sp>
                <p:nvSpPr>
                  <p:cNvPr id="119972" name="Text Box 112"/>
                  <p:cNvSpPr txBox="1">
                    <a:spLocks noChangeArrowheads="1"/>
                  </p:cNvSpPr>
                  <p:nvPr/>
                </p:nvSpPr>
                <p:spPr bwMode="auto">
                  <a:xfrm>
                    <a:off x="4712" y="8966"/>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SAR  RCR</a:t>
                    </a:r>
                  </a:p>
                </p:txBody>
              </p:sp>
              <p:sp>
                <p:nvSpPr>
                  <p:cNvPr id="119973" name="Text Box 113"/>
                  <p:cNvSpPr txBox="1">
                    <a:spLocks noChangeArrowheads="1"/>
                  </p:cNvSpPr>
                  <p:nvPr/>
                </p:nvSpPr>
                <p:spPr bwMode="auto">
                  <a:xfrm>
                    <a:off x="4712" y="10454"/>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SAL  RCL</a:t>
                    </a:r>
                  </a:p>
                </p:txBody>
              </p:sp>
              <p:sp>
                <p:nvSpPr>
                  <p:cNvPr id="119974" name="Text Box 114"/>
                  <p:cNvSpPr txBox="1">
                    <a:spLocks noChangeArrowheads="1"/>
                  </p:cNvSpPr>
                  <p:nvPr/>
                </p:nvSpPr>
                <p:spPr bwMode="auto">
                  <a:xfrm>
                    <a:off x="8072" y="8780"/>
                    <a:ext cx="11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NEG  NOT</a:t>
                    </a:r>
                  </a:p>
                </p:txBody>
              </p:sp>
              <p:sp>
                <p:nvSpPr>
                  <p:cNvPr id="119975" name="Text Box 115"/>
                  <p:cNvSpPr txBox="1">
                    <a:spLocks noChangeArrowheads="1"/>
                  </p:cNvSpPr>
                  <p:nvPr/>
                </p:nvSpPr>
                <p:spPr bwMode="auto">
                  <a:xfrm>
                    <a:off x="7820" y="10082"/>
                    <a:ext cx="15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+1S      -1S</a:t>
                    </a:r>
                  </a:p>
                </p:txBody>
              </p:sp>
              <p:sp>
                <p:nvSpPr>
                  <p:cNvPr id="119976" name="Text Box 116"/>
                  <p:cNvSpPr txBox="1">
                    <a:spLocks noChangeArrowheads="1"/>
                  </p:cNvSpPr>
                  <p:nvPr/>
                </p:nvSpPr>
                <p:spPr bwMode="auto">
                  <a:xfrm>
                    <a:off x="9122" y="977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Sin</a:t>
                    </a:r>
                  </a:p>
                </p:txBody>
              </p:sp>
              <p:sp>
                <p:nvSpPr>
                  <p:cNvPr id="119977" name="Text Box 117"/>
                  <p:cNvSpPr txBox="1">
                    <a:spLocks noChangeArrowheads="1"/>
                  </p:cNvSpPr>
                  <p:nvPr/>
                </p:nvSpPr>
                <p:spPr bwMode="auto">
                  <a:xfrm>
                    <a:off x="9122" y="9276"/>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S→IB</a:t>
                    </a:r>
                  </a:p>
                </p:txBody>
              </p:sp>
              <p:sp>
                <p:nvSpPr>
                  <p:cNvPr id="119978" name="Text Box 118"/>
                  <p:cNvSpPr txBox="1">
                    <a:spLocks noChangeArrowheads="1"/>
                  </p:cNvSpPr>
                  <p:nvPr/>
                </p:nvSpPr>
                <p:spPr bwMode="auto">
                  <a:xfrm>
                    <a:off x="6686"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ADD</a:t>
                    </a:r>
                  </a:p>
                </p:txBody>
              </p:sp>
              <p:sp>
                <p:nvSpPr>
                  <p:cNvPr id="119979" name="Text Box 119"/>
                  <p:cNvSpPr txBox="1">
                    <a:spLocks noChangeArrowheads="1"/>
                  </p:cNvSpPr>
                  <p:nvPr/>
                </p:nvSpPr>
                <p:spPr bwMode="auto">
                  <a:xfrm>
                    <a:off x="6926" y="10702"/>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SUB</a:t>
                    </a:r>
                  </a:p>
                </p:txBody>
              </p:sp>
              <p:sp>
                <p:nvSpPr>
                  <p:cNvPr id="119980" name="Text Box 120"/>
                  <p:cNvSpPr txBox="1">
                    <a:spLocks noChangeArrowheads="1"/>
                  </p:cNvSpPr>
                  <p:nvPr/>
                </p:nvSpPr>
                <p:spPr bwMode="auto">
                  <a:xfrm>
                    <a:off x="7400" y="1088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chemeClr val="tx1"/>
                        </a:solidFill>
                        <a:latin typeface="Times New Roman" pitchFamily="18" charset="0"/>
                        <a:ea typeface="黑体" pitchFamily="2" charset="-122"/>
                      </a:rPr>
                      <a:t>XOR</a:t>
                    </a:r>
                  </a:p>
                </p:txBody>
              </p:sp>
              <p:sp>
                <p:nvSpPr>
                  <p:cNvPr id="119981" name="Text Box 121"/>
                  <p:cNvSpPr txBox="1">
                    <a:spLocks noChangeArrowheads="1"/>
                  </p:cNvSpPr>
                  <p:nvPr/>
                </p:nvSpPr>
                <p:spPr bwMode="auto">
                  <a:xfrm>
                    <a:off x="7148"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119982" name="Text Box 122"/>
                  <p:cNvSpPr txBox="1">
                    <a:spLocks noChangeArrowheads="1"/>
                  </p:cNvSpPr>
                  <p:nvPr/>
                </p:nvSpPr>
                <p:spPr bwMode="auto">
                  <a:xfrm>
                    <a:off x="6938" y="1367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chemeClr val="tx1"/>
                        </a:solidFill>
                        <a:latin typeface="Times New Roman" pitchFamily="18" charset="0"/>
                        <a:ea typeface="黑体" pitchFamily="2" charset="-122"/>
                      </a:rPr>
                      <a:t>…</a:t>
                    </a:r>
                  </a:p>
                </p:txBody>
              </p:sp>
              <p:sp>
                <p:nvSpPr>
                  <p:cNvPr id="119983" name="Text Box 123"/>
                  <p:cNvSpPr txBox="1">
                    <a:spLocks noChangeArrowheads="1"/>
                  </p:cNvSpPr>
                  <p:nvPr/>
                </p:nvSpPr>
                <p:spPr bwMode="auto">
                  <a:xfrm>
                    <a:off x="8198" y="13058"/>
                    <a:ext cx="33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solidFill>
                          <a:schemeClr val="tx1"/>
                        </a:solidFill>
                        <a:latin typeface="Times New Roman" pitchFamily="18" charset="0"/>
                        <a:ea typeface="黑体" pitchFamily="2" charset="-122"/>
                      </a:rPr>
                      <a:t>…</a:t>
                    </a:r>
                  </a:p>
                </p:txBody>
              </p:sp>
              <p:sp>
                <p:nvSpPr>
                  <p:cNvPr id="119984" name="Text Box 124"/>
                  <p:cNvSpPr txBox="1">
                    <a:spLocks noChangeArrowheads="1"/>
                  </p:cNvSpPr>
                  <p:nvPr/>
                </p:nvSpPr>
                <p:spPr bwMode="auto">
                  <a:xfrm>
                    <a:off x="8912" y="12810"/>
                    <a:ext cx="184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a:t>
                    </a:r>
                    <a:r>
                      <a:rPr lang="en-US" altLang="zh-CN" sz="1000" dirty="0">
                        <a:solidFill>
                          <a:schemeClr val="tx1"/>
                        </a:solidFill>
                        <a:latin typeface="Times New Roman" pitchFamily="18" charset="0"/>
                        <a:ea typeface="黑体" pitchFamily="2" charset="-122"/>
                      </a:rPr>
                      <a:t>CPU</a:t>
                    </a:r>
                    <a:r>
                      <a:rPr lang="zh-CN" altLang="en-US" sz="1000">
                        <a:solidFill>
                          <a:schemeClr val="tx1"/>
                        </a:solidFill>
                        <a:latin typeface="Times New Roman" pitchFamily="18" charset="0"/>
                        <a:ea typeface="黑体" pitchFamily="2" charset="-122"/>
                      </a:rPr>
                      <a:t>内部各部件的控制信号</a:t>
                    </a:r>
                  </a:p>
                </p:txBody>
              </p:sp>
              <p:sp>
                <p:nvSpPr>
                  <p:cNvPr id="119985" name="Text Box 125"/>
                  <p:cNvSpPr txBox="1">
                    <a:spLocks noChangeArrowheads="1"/>
                  </p:cNvSpPr>
                  <p:nvPr/>
                </p:nvSpPr>
                <p:spPr bwMode="auto">
                  <a:xfrm>
                    <a:off x="7526" y="14236"/>
                    <a:ext cx="1302"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chemeClr val="tx1"/>
                        </a:solidFill>
                        <a:latin typeface="Times New Roman" pitchFamily="18" charset="0"/>
                        <a:ea typeface="黑体" pitchFamily="2" charset="-122"/>
                      </a:rPr>
                      <a:t>送往系统总线的控制信号</a:t>
                    </a:r>
                  </a:p>
                </p:txBody>
              </p:sp>
              <p:sp>
                <p:nvSpPr>
                  <p:cNvPr id="119986" name="Text Box 126"/>
                  <p:cNvSpPr txBox="1">
                    <a:spLocks noChangeArrowheads="1"/>
                  </p:cNvSpPr>
                  <p:nvPr/>
                </p:nvSpPr>
                <p:spPr bwMode="auto">
                  <a:xfrm>
                    <a:off x="2444" y="14112"/>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/MMRD,  /IORD,  INTA</a:t>
                    </a:r>
                  </a:p>
                </p:txBody>
              </p:sp>
              <p:sp>
                <p:nvSpPr>
                  <p:cNvPr id="119987" name="Text Box 127"/>
                  <p:cNvSpPr txBox="1">
                    <a:spLocks noChangeArrowheads="1"/>
                  </p:cNvSpPr>
                  <p:nvPr/>
                </p:nvSpPr>
                <p:spPr bwMode="auto">
                  <a:xfrm>
                    <a:off x="2444" y="14484"/>
                    <a:ext cx="351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/MMWR,  /IOWR,  DMAA</a:t>
                    </a:r>
                  </a:p>
                </p:txBody>
              </p:sp>
            </p:grpSp>
          </p:grpSp>
          <p:grpSp>
            <p:nvGrpSpPr>
              <p:cNvPr id="119816" name="Group 128"/>
              <p:cNvGrpSpPr>
                <a:grpSpLocks/>
              </p:cNvGrpSpPr>
              <p:nvPr/>
            </p:nvGrpSpPr>
            <p:grpSpPr bwMode="auto">
              <a:xfrm>
                <a:off x="733" y="1445"/>
                <a:ext cx="4437" cy="3478"/>
                <a:chOff x="1040" y="4580"/>
                <a:chExt cx="9282" cy="9424"/>
              </a:xfrm>
            </p:grpSpPr>
            <p:grpSp>
              <p:nvGrpSpPr>
                <p:cNvPr id="119860" name="Group 129"/>
                <p:cNvGrpSpPr>
                  <a:grpSpLocks/>
                </p:cNvGrpSpPr>
                <p:nvPr/>
              </p:nvGrpSpPr>
              <p:grpSpPr bwMode="auto">
                <a:xfrm>
                  <a:off x="4946" y="5758"/>
                  <a:ext cx="168" cy="248"/>
                  <a:chOff x="4316" y="5882"/>
                  <a:chExt cx="168" cy="310"/>
                </a:xfrm>
              </p:grpSpPr>
              <p:sp>
                <p:nvSpPr>
                  <p:cNvPr id="119939" name="Line 13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40" name="Line 13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61" name="Line 132"/>
                <p:cNvSpPr>
                  <a:spLocks noChangeShapeType="1"/>
                </p:cNvSpPr>
                <p:nvPr/>
              </p:nvSpPr>
              <p:spPr bwMode="auto">
                <a:xfrm>
                  <a:off x="5702" y="1164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9862" name="Group 133"/>
                <p:cNvGrpSpPr>
                  <a:grpSpLocks/>
                </p:cNvGrpSpPr>
                <p:nvPr/>
              </p:nvGrpSpPr>
              <p:grpSpPr bwMode="auto">
                <a:xfrm>
                  <a:off x="6332" y="5944"/>
                  <a:ext cx="168" cy="310"/>
                  <a:chOff x="4316" y="5882"/>
                  <a:chExt cx="168" cy="310"/>
                </a:xfrm>
              </p:grpSpPr>
              <p:sp>
                <p:nvSpPr>
                  <p:cNvPr id="119937" name="Line 13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38" name="Line 13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63" name="Group 136"/>
                <p:cNvGrpSpPr>
                  <a:grpSpLocks/>
                </p:cNvGrpSpPr>
                <p:nvPr/>
              </p:nvGrpSpPr>
              <p:grpSpPr bwMode="auto">
                <a:xfrm rot="-5400000">
                  <a:off x="8067" y="8539"/>
                  <a:ext cx="168" cy="310"/>
                  <a:chOff x="4316" y="5882"/>
                  <a:chExt cx="168" cy="310"/>
                </a:xfrm>
              </p:grpSpPr>
              <p:sp>
                <p:nvSpPr>
                  <p:cNvPr id="119935" name="Line 13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36" name="Line 13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64" name="Group 139"/>
                <p:cNvGrpSpPr>
                  <a:grpSpLocks/>
                </p:cNvGrpSpPr>
                <p:nvPr/>
              </p:nvGrpSpPr>
              <p:grpSpPr bwMode="auto">
                <a:xfrm rot="-5400000">
                  <a:off x="8083" y="9611"/>
                  <a:ext cx="168" cy="310"/>
                  <a:chOff x="4316" y="5882"/>
                  <a:chExt cx="168" cy="310"/>
                </a:xfrm>
              </p:grpSpPr>
              <p:sp>
                <p:nvSpPr>
                  <p:cNvPr id="119933" name="Line 14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34" name="Line 14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65" name="Group 142"/>
                <p:cNvGrpSpPr>
                  <a:grpSpLocks/>
                </p:cNvGrpSpPr>
                <p:nvPr/>
              </p:nvGrpSpPr>
              <p:grpSpPr bwMode="auto">
                <a:xfrm rot="-5400000">
                  <a:off x="4623" y="8725"/>
                  <a:ext cx="168" cy="310"/>
                  <a:chOff x="4316" y="5882"/>
                  <a:chExt cx="168" cy="310"/>
                </a:xfrm>
              </p:grpSpPr>
              <p:sp>
                <p:nvSpPr>
                  <p:cNvPr id="119931" name="Line 14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32" name="Line 14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66" name="Group 145"/>
                <p:cNvGrpSpPr>
                  <a:grpSpLocks/>
                </p:cNvGrpSpPr>
                <p:nvPr/>
              </p:nvGrpSpPr>
              <p:grpSpPr bwMode="auto">
                <a:xfrm>
                  <a:off x="4694" y="10904"/>
                  <a:ext cx="168" cy="186"/>
                  <a:chOff x="4316" y="5882"/>
                  <a:chExt cx="168" cy="310"/>
                </a:xfrm>
              </p:grpSpPr>
              <p:sp>
                <p:nvSpPr>
                  <p:cNvPr id="119929" name="Line 14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30" name="Line 14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67" name="Group 148"/>
                <p:cNvGrpSpPr>
                  <a:grpSpLocks/>
                </p:cNvGrpSpPr>
                <p:nvPr/>
              </p:nvGrpSpPr>
              <p:grpSpPr bwMode="auto">
                <a:xfrm>
                  <a:off x="4694" y="11462"/>
                  <a:ext cx="168" cy="186"/>
                  <a:chOff x="4316" y="5882"/>
                  <a:chExt cx="168" cy="310"/>
                </a:xfrm>
              </p:grpSpPr>
              <p:sp>
                <p:nvSpPr>
                  <p:cNvPr id="119927" name="Line 14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28" name="Line 15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68" name="Line 151"/>
                <p:cNvSpPr>
                  <a:spLocks noChangeShapeType="1"/>
                </p:cNvSpPr>
                <p:nvPr/>
              </p:nvSpPr>
              <p:spPr bwMode="auto">
                <a:xfrm>
                  <a:off x="2090" y="8300"/>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69" name="Line 152"/>
                <p:cNvSpPr>
                  <a:spLocks noChangeShapeType="1"/>
                </p:cNvSpPr>
                <p:nvPr/>
              </p:nvSpPr>
              <p:spPr bwMode="auto">
                <a:xfrm>
                  <a:off x="2090" y="9044"/>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0" name="Line 153"/>
                <p:cNvSpPr>
                  <a:spLocks noChangeShapeType="1"/>
                </p:cNvSpPr>
                <p:nvPr/>
              </p:nvSpPr>
              <p:spPr bwMode="auto">
                <a:xfrm>
                  <a:off x="2090" y="9912"/>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1" name="Line 154"/>
                <p:cNvSpPr>
                  <a:spLocks noChangeShapeType="1"/>
                </p:cNvSpPr>
                <p:nvPr/>
              </p:nvSpPr>
              <p:spPr bwMode="auto">
                <a:xfrm>
                  <a:off x="4694" y="123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2" name="Line 155"/>
                <p:cNvSpPr>
                  <a:spLocks noChangeShapeType="1"/>
                </p:cNvSpPr>
                <p:nvPr/>
              </p:nvSpPr>
              <p:spPr bwMode="auto">
                <a:xfrm rot="-5400000">
                  <a:off x="5912" y="1098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9873" name="Group 156"/>
                <p:cNvGrpSpPr>
                  <a:grpSpLocks/>
                </p:cNvGrpSpPr>
                <p:nvPr/>
              </p:nvGrpSpPr>
              <p:grpSpPr bwMode="auto">
                <a:xfrm rot="-5400000">
                  <a:off x="4639" y="9779"/>
                  <a:ext cx="168" cy="310"/>
                  <a:chOff x="4316" y="5882"/>
                  <a:chExt cx="168" cy="310"/>
                </a:xfrm>
              </p:grpSpPr>
              <p:sp>
                <p:nvSpPr>
                  <p:cNvPr id="119925" name="Line 15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26" name="Line 15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74" name="Line 159"/>
                <p:cNvSpPr>
                  <a:spLocks noChangeShapeType="1"/>
                </p:cNvSpPr>
                <p:nvPr/>
              </p:nvSpPr>
              <p:spPr bwMode="auto">
                <a:xfrm>
                  <a:off x="4946" y="904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9875" name="Group 160"/>
                <p:cNvGrpSpPr>
                  <a:grpSpLocks/>
                </p:cNvGrpSpPr>
                <p:nvPr/>
              </p:nvGrpSpPr>
              <p:grpSpPr bwMode="auto">
                <a:xfrm>
                  <a:off x="8390" y="8982"/>
                  <a:ext cx="168" cy="496"/>
                  <a:chOff x="4316" y="5882"/>
                  <a:chExt cx="168" cy="310"/>
                </a:xfrm>
              </p:grpSpPr>
              <p:sp>
                <p:nvSpPr>
                  <p:cNvPr id="119923" name="Line 16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24" name="Line 16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76" name="Line 163"/>
                <p:cNvSpPr>
                  <a:spLocks noChangeShapeType="1"/>
                </p:cNvSpPr>
                <p:nvPr/>
              </p:nvSpPr>
              <p:spPr bwMode="auto">
                <a:xfrm rot="-5400000">
                  <a:off x="10238" y="666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7" name="Line 164"/>
                <p:cNvSpPr>
                  <a:spLocks noChangeShapeType="1"/>
                </p:cNvSpPr>
                <p:nvPr/>
              </p:nvSpPr>
              <p:spPr bwMode="auto">
                <a:xfrm>
                  <a:off x="4946" y="92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8" name="Line 165"/>
                <p:cNvSpPr>
                  <a:spLocks noChangeShapeType="1"/>
                </p:cNvSpPr>
                <p:nvPr/>
              </p:nvSpPr>
              <p:spPr bwMode="auto">
                <a:xfrm rot="-5400000">
                  <a:off x="6575" y="10005"/>
                  <a:ext cx="1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9" name="Line 166"/>
                <p:cNvSpPr>
                  <a:spLocks noChangeShapeType="1"/>
                </p:cNvSpPr>
                <p:nvPr/>
              </p:nvSpPr>
              <p:spPr bwMode="auto">
                <a:xfrm rot="-5400000">
                  <a:off x="6670" y="10098"/>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80" name="Line 167"/>
                <p:cNvSpPr>
                  <a:spLocks noChangeShapeType="1"/>
                </p:cNvSpPr>
                <p:nvPr/>
              </p:nvSpPr>
              <p:spPr bwMode="auto">
                <a:xfrm rot="-5400000">
                  <a:off x="6964" y="10222"/>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81" name="Line 168"/>
                <p:cNvSpPr>
                  <a:spLocks noChangeShapeType="1"/>
                </p:cNvSpPr>
                <p:nvPr/>
              </p:nvSpPr>
              <p:spPr bwMode="auto">
                <a:xfrm>
                  <a:off x="7763" y="12330"/>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82" name="Line 169"/>
                <p:cNvSpPr>
                  <a:spLocks noChangeShapeType="1"/>
                </p:cNvSpPr>
                <p:nvPr/>
              </p:nvSpPr>
              <p:spPr bwMode="auto">
                <a:xfrm>
                  <a:off x="7760" y="13074"/>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83" name="Line 170"/>
                <p:cNvSpPr>
                  <a:spLocks noChangeShapeType="1"/>
                </p:cNvSpPr>
                <p:nvPr/>
              </p:nvSpPr>
              <p:spPr bwMode="auto">
                <a:xfrm rot="5400000">
                  <a:off x="7319" y="13348"/>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84" name="Line 171"/>
                <p:cNvSpPr>
                  <a:spLocks noChangeShapeType="1"/>
                </p:cNvSpPr>
                <p:nvPr/>
              </p:nvSpPr>
              <p:spPr bwMode="auto">
                <a:xfrm rot="5400000">
                  <a:off x="6017"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9885" name="Group 172"/>
                <p:cNvGrpSpPr>
                  <a:grpSpLocks/>
                </p:cNvGrpSpPr>
                <p:nvPr/>
              </p:nvGrpSpPr>
              <p:grpSpPr bwMode="auto">
                <a:xfrm>
                  <a:off x="3056" y="8362"/>
                  <a:ext cx="210" cy="558"/>
                  <a:chOff x="4316" y="5882"/>
                  <a:chExt cx="168" cy="310"/>
                </a:xfrm>
              </p:grpSpPr>
              <p:sp>
                <p:nvSpPr>
                  <p:cNvPr id="119921" name="Line 17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22" name="Line 17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86" name="Line 175"/>
                <p:cNvSpPr>
                  <a:spLocks noChangeShapeType="1"/>
                </p:cNvSpPr>
                <p:nvPr/>
              </p:nvSpPr>
              <p:spPr bwMode="auto">
                <a:xfrm>
                  <a:off x="3056" y="997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87" name="Line 176"/>
                <p:cNvSpPr>
                  <a:spLocks noChangeShapeType="1"/>
                </p:cNvSpPr>
                <p:nvPr/>
              </p:nvSpPr>
              <p:spPr bwMode="auto">
                <a:xfrm>
                  <a:off x="1040" y="458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88" name="Line 177"/>
                <p:cNvSpPr>
                  <a:spLocks noChangeShapeType="1"/>
                </p:cNvSpPr>
                <p:nvPr/>
              </p:nvSpPr>
              <p:spPr bwMode="auto">
                <a:xfrm>
                  <a:off x="1040" y="489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89" name="AutoShape 178"/>
                <p:cNvSpPr>
                  <a:spLocks/>
                </p:cNvSpPr>
                <p:nvPr/>
              </p:nvSpPr>
              <p:spPr bwMode="auto">
                <a:xfrm>
                  <a:off x="8180" y="12330"/>
                  <a:ext cx="126" cy="744"/>
                </a:xfrm>
                <a:prstGeom prst="rightBrace">
                  <a:avLst>
                    <a:gd name="adj1" fmla="val 4920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19890" name="AutoShape 179"/>
                <p:cNvSpPr>
                  <a:spLocks/>
                </p:cNvSpPr>
                <p:nvPr/>
              </p:nvSpPr>
              <p:spPr bwMode="auto">
                <a:xfrm rot="5400000">
                  <a:off x="6722" y="13012"/>
                  <a:ext cx="186" cy="1302"/>
                </a:xfrm>
                <a:prstGeom prst="rightBrace">
                  <a:avLst>
                    <a:gd name="adj1" fmla="val 5833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19891" name="Freeform 180"/>
                <p:cNvSpPr>
                  <a:spLocks/>
                </p:cNvSpPr>
                <p:nvPr/>
              </p:nvSpPr>
              <p:spPr bwMode="auto">
                <a:xfrm>
                  <a:off x="1040" y="13818"/>
                  <a:ext cx="5796" cy="186"/>
                </a:xfrm>
                <a:custGeom>
                  <a:avLst/>
                  <a:gdLst>
                    <a:gd name="T0" fmla="*/ 5796 w 5796"/>
                    <a:gd name="T1" fmla="*/ 0 h 248"/>
                    <a:gd name="T2" fmla="*/ 5796 w 5796"/>
                    <a:gd name="T3" fmla="*/ 4 h 248"/>
                    <a:gd name="T4" fmla="*/ 0 w 5796"/>
                    <a:gd name="T5" fmla="*/ 4 h 248"/>
                    <a:gd name="T6" fmla="*/ 0 60000 65536"/>
                    <a:gd name="T7" fmla="*/ 0 60000 65536"/>
                    <a:gd name="T8" fmla="*/ 0 60000 65536"/>
                    <a:gd name="T9" fmla="*/ 0 w 5796"/>
                    <a:gd name="T10" fmla="*/ 0 h 248"/>
                    <a:gd name="T11" fmla="*/ 5796 w 5796"/>
                    <a:gd name="T12" fmla="*/ 248 h 248"/>
                  </a:gdLst>
                  <a:ahLst/>
                  <a:cxnLst>
                    <a:cxn ang="T6">
                      <a:pos x="T0" y="T1"/>
                    </a:cxn>
                    <a:cxn ang="T7">
                      <a:pos x="T2" y="T3"/>
                    </a:cxn>
                    <a:cxn ang="T8">
                      <a:pos x="T4" y="T5"/>
                    </a:cxn>
                  </a:cxnLst>
                  <a:rect l="T9" t="T10" r="T11" b="T12"/>
                  <a:pathLst>
                    <a:path w="5796" h="248">
                      <a:moveTo>
                        <a:pt x="5796" y="0"/>
                      </a:moveTo>
                      <a:lnTo>
                        <a:pt x="5796" y="248"/>
                      </a:lnTo>
                      <a:lnTo>
                        <a:pt x="0" y="24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9892" name="Group 181"/>
                <p:cNvGrpSpPr>
                  <a:grpSpLocks/>
                </p:cNvGrpSpPr>
                <p:nvPr/>
              </p:nvGrpSpPr>
              <p:grpSpPr bwMode="auto">
                <a:xfrm>
                  <a:off x="4946" y="6254"/>
                  <a:ext cx="168" cy="248"/>
                  <a:chOff x="4316" y="5882"/>
                  <a:chExt cx="168" cy="310"/>
                </a:xfrm>
              </p:grpSpPr>
              <p:sp>
                <p:nvSpPr>
                  <p:cNvPr id="119919" name="Line 18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20" name="Line 18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93" name="Group 184"/>
                <p:cNvGrpSpPr>
                  <a:grpSpLocks/>
                </p:cNvGrpSpPr>
                <p:nvPr/>
              </p:nvGrpSpPr>
              <p:grpSpPr bwMode="auto">
                <a:xfrm>
                  <a:off x="7718" y="5758"/>
                  <a:ext cx="168" cy="744"/>
                  <a:chOff x="7760" y="5758"/>
                  <a:chExt cx="168" cy="744"/>
                </a:xfrm>
              </p:grpSpPr>
              <p:sp>
                <p:nvSpPr>
                  <p:cNvPr id="119915" name="Line 185"/>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6" name="Line 186"/>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7" name="Line 187"/>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8" name="Line 188"/>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94" name="Group 189"/>
                <p:cNvGrpSpPr>
                  <a:grpSpLocks/>
                </p:cNvGrpSpPr>
                <p:nvPr/>
              </p:nvGrpSpPr>
              <p:grpSpPr bwMode="auto">
                <a:xfrm>
                  <a:off x="9104" y="5758"/>
                  <a:ext cx="168" cy="744"/>
                  <a:chOff x="7760" y="5758"/>
                  <a:chExt cx="168" cy="744"/>
                </a:xfrm>
              </p:grpSpPr>
              <p:sp>
                <p:nvSpPr>
                  <p:cNvPr id="119911" name="Line 190"/>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2" name="Line 191"/>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3" name="Line 192"/>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4" name="Line 193"/>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95" name="Group 194"/>
                <p:cNvGrpSpPr>
                  <a:grpSpLocks/>
                </p:cNvGrpSpPr>
                <p:nvPr/>
              </p:nvGrpSpPr>
              <p:grpSpPr bwMode="auto">
                <a:xfrm>
                  <a:off x="4946" y="7618"/>
                  <a:ext cx="168" cy="310"/>
                  <a:chOff x="4316" y="5882"/>
                  <a:chExt cx="168" cy="310"/>
                </a:xfrm>
              </p:grpSpPr>
              <p:sp>
                <p:nvSpPr>
                  <p:cNvPr id="119909" name="Line 19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10" name="Line 19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96" name="Group 197"/>
                <p:cNvGrpSpPr>
                  <a:grpSpLocks/>
                </p:cNvGrpSpPr>
                <p:nvPr/>
              </p:nvGrpSpPr>
              <p:grpSpPr bwMode="auto">
                <a:xfrm>
                  <a:off x="6332" y="7618"/>
                  <a:ext cx="168" cy="310"/>
                  <a:chOff x="4316" y="5882"/>
                  <a:chExt cx="168" cy="310"/>
                </a:xfrm>
              </p:grpSpPr>
              <p:sp>
                <p:nvSpPr>
                  <p:cNvPr id="119907" name="Line 19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8" name="Line 19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9897" name="Group 200"/>
                <p:cNvGrpSpPr>
                  <a:grpSpLocks/>
                </p:cNvGrpSpPr>
                <p:nvPr/>
              </p:nvGrpSpPr>
              <p:grpSpPr bwMode="auto">
                <a:xfrm>
                  <a:off x="9104" y="7618"/>
                  <a:ext cx="168" cy="310"/>
                  <a:chOff x="4316" y="5882"/>
                  <a:chExt cx="168" cy="310"/>
                </a:xfrm>
              </p:grpSpPr>
              <p:sp>
                <p:nvSpPr>
                  <p:cNvPr id="119905" name="Line 20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6" name="Line 20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898" name="Line 203"/>
                <p:cNvSpPr>
                  <a:spLocks noChangeShapeType="1"/>
                </p:cNvSpPr>
                <p:nvPr/>
              </p:nvSpPr>
              <p:spPr bwMode="auto">
                <a:xfrm>
                  <a:off x="7718" y="761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99" name="Line 204"/>
                <p:cNvSpPr>
                  <a:spLocks noChangeShapeType="1"/>
                </p:cNvSpPr>
                <p:nvPr/>
              </p:nvSpPr>
              <p:spPr bwMode="auto">
                <a:xfrm>
                  <a:off x="7718" y="792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0" name="Line 205"/>
                <p:cNvSpPr>
                  <a:spLocks noChangeShapeType="1"/>
                </p:cNvSpPr>
                <p:nvPr/>
              </p:nvSpPr>
              <p:spPr bwMode="auto">
                <a:xfrm>
                  <a:off x="7718" y="817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1" name="Line 206"/>
                <p:cNvSpPr>
                  <a:spLocks noChangeShapeType="1"/>
                </p:cNvSpPr>
                <p:nvPr/>
              </p:nvSpPr>
              <p:spPr bwMode="auto">
                <a:xfrm>
                  <a:off x="4946" y="972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2" name="Line 207"/>
                <p:cNvSpPr>
                  <a:spLocks noChangeShapeType="1"/>
                </p:cNvSpPr>
                <p:nvPr/>
              </p:nvSpPr>
              <p:spPr bwMode="auto">
                <a:xfrm rot="-5400000">
                  <a:off x="10238" y="728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3" name="Line 208"/>
                <p:cNvSpPr>
                  <a:spLocks noChangeShapeType="1"/>
                </p:cNvSpPr>
                <p:nvPr/>
              </p:nvSpPr>
              <p:spPr bwMode="auto">
                <a:xfrm>
                  <a:off x="7760" y="12516"/>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904" name="Line 209"/>
                <p:cNvSpPr>
                  <a:spLocks noChangeShapeType="1"/>
                </p:cNvSpPr>
                <p:nvPr/>
              </p:nvSpPr>
              <p:spPr bwMode="auto">
                <a:xfrm rot="5400000">
                  <a:off x="6185"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9817" name="Group 210"/>
              <p:cNvGrpSpPr>
                <a:grpSpLocks/>
              </p:cNvGrpSpPr>
              <p:nvPr/>
            </p:nvGrpSpPr>
            <p:grpSpPr bwMode="auto">
              <a:xfrm>
                <a:off x="1186" y="301"/>
                <a:ext cx="4136" cy="4324"/>
                <a:chOff x="1964" y="1480"/>
                <a:chExt cx="8652" cy="11718"/>
              </a:xfrm>
            </p:grpSpPr>
            <p:sp>
              <p:nvSpPr>
                <p:cNvPr id="119827" name="Rectangle 211"/>
                <p:cNvSpPr>
                  <a:spLocks noChangeArrowheads="1"/>
                </p:cNvSpPr>
                <p:nvPr/>
              </p:nvSpPr>
              <p:spPr bwMode="auto">
                <a:xfrm>
                  <a:off x="3140" y="1480"/>
                  <a:ext cx="2604" cy="2232"/>
                </a:xfrm>
                <a:prstGeom prst="rect">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19828" name="Text Box 212"/>
                <p:cNvSpPr txBox="1">
                  <a:spLocks noChangeArrowheads="1"/>
                </p:cNvSpPr>
                <p:nvPr/>
              </p:nvSpPr>
              <p:spPr bwMode="auto">
                <a:xfrm>
                  <a:off x="6458" y="2472"/>
                  <a:ext cx="1049"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设备</a:t>
                  </a:r>
                </a:p>
              </p:txBody>
            </p:sp>
            <p:sp>
              <p:nvSpPr>
                <p:cNvPr id="119829" name="Text Box 213"/>
                <p:cNvSpPr txBox="1">
                  <a:spLocks noChangeArrowheads="1"/>
                </p:cNvSpPr>
                <p:nvPr/>
              </p:nvSpPr>
              <p:spPr bwMode="auto">
                <a:xfrm>
                  <a:off x="3311" y="1604"/>
                  <a:ext cx="1049" cy="437"/>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控制逻辑</a:t>
                  </a:r>
                </a:p>
              </p:txBody>
            </p:sp>
            <p:sp>
              <p:nvSpPr>
                <p:cNvPr id="119830" name="Text Box 214"/>
                <p:cNvSpPr txBox="1">
                  <a:spLocks noChangeArrowheads="1"/>
                </p:cNvSpPr>
                <p:nvPr/>
              </p:nvSpPr>
              <p:spPr bwMode="auto">
                <a:xfrm>
                  <a:off x="3308" y="3154"/>
                  <a:ext cx="1050" cy="43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地址识别</a:t>
                  </a:r>
                </a:p>
              </p:txBody>
            </p:sp>
            <p:sp>
              <p:nvSpPr>
                <p:cNvPr id="119831" name="Text Box 215"/>
                <p:cNvSpPr txBox="1">
                  <a:spLocks noChangeArrowheads="1"/>
                </p:cNvSpPr>
                <p:nvPr/>
              </p:nvSpPr>
              <p:spPr bwMode="auto">
                <a:xfrm>
                  <a:off x="3308" y="2162"/>
                  <a:ext cx="1722" cy="868"/>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中断控制逻辑</a:t>
                  </a:r>
                </a:p>
                <a:p>
                  <a:pPr algn="just" eaLnBrk="1" hangingPunct="1">
                    <a:lnSpc>
                      <a:spcPct val="96000"/>
                    </a:lnSpc>
                    <a:spcBef>
                      <a:spcPct val="0"/>
                    </a:spcBef>
                  </a:pPr>
                  <a:r>
                    <a:rPr lang="zh-CN" altLang="en-US" sz="1000">
                      <a:latin typeface="Times New Roman" pitchFamily="18" charset="0"/>
                      <a:ea typeface="黑体" pitchFamily="2" charset="-122"/>
                    </a:rPr>
                    <a:t>命令</a:t>
                  </a:r>
                  <a:r>
                    <a:rPr lang="en-US" altLang="zh-CN" sz="1000" dirty="0">
                      <a:latin typeface="Times New Roman" pitchFamily="18" charset="0"/>
                      <a:ea typeface="黑体" pitchFamily="2" charset="-122"/>
                    </a:rPr>
                    <a:t>/</a:t>
                  </a:r>
                  <a:r>
                    <a:rPr lang="zh-CN" altLang="en-US" sz="1000">
                      <a:latin typeface="Times New Roman" pitchFamily="18" charset="0"/>
                      <a:ea typeface="黑体" pitchFamily="2" charset="-122"/>
                    </a:rPr>
                    <a:t>状态寄存器</a:t>
                  </a:r>
                </a:p>
                <a:p>
                  <a:pPr algn="just" eaLnBrk="1" hangingPunct="1">
                    <a:lnSpc>
                      <a:spcPct val="96000"/>
                    </a:lnSpc>
                    <a:spcBef>
                      <a:spcPct val="0"/>
                    </a:spcBef>
                  </a:pPr>
                  <a:r>
                    <a:rPr lang="zh-CN" altLang="en-US" sz="1000">
                      <a:latin typeface="Times New Roman" pitchFamily="18" charset="0"/>
                      <a:ea typeface="黑体" pitchFamily="2" charset="-122"/>
                    </a:rPr>
                    <a:t>数据寄存器</a:t>
                  </a:r>
                </a:p>
              </p:txBody>
            </p:sp>
            <p:sp>
              <p:nvSpPr>
                <p:cNvPr id="119832" name="Text Box 216"/>
                <p:cNvSpPr txBox="1">
                  <a:spLocks noChangeArrowheads="1"/>
                </p:cNvSpPr>
                <p:nvPr/>
              </p:nvSpPr>
              <p:spPr bwMode="auto">
                <a:xfrm>
                  <a:off x="4484"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SP</a:t>
                  </a:r>
                </a:p>
              </p:txBody>
            </p:sp>
            <p:sp>
              <p:nvSpPr>
                <p:cNvPr id="119833" name="Text Box 217"/>
                <p:cNvSpPr txBox="1">
                  <a:spLocks noChangeArrowheads="1"/>
                </p:cNvSpPr>
                <p:nvPr/>
              </p:nvSpPr>
              <p:spPr bwMode="auto">
                <a:xfrm>
                  <a:off x="5870"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BP</a:t>
                  </a:r>
                </a:p>
              </p:txBody>
            </p:sp>
            <p:sp>
              <p:nvSpPr>
                <p:cNvPr id="119834" name="Text Box 218"/>
                <p:cNvSpPr txBox="1">
                  <a:spLocks noChangeArrowheads="1"/>
                </p:cNvSpPr>
                <p:nvPr/>
              </p:nvSpPr>
              <p:spPr bwMode="auto">
                <a:xfrm>
                  <a:off x="7256"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DI</a:t>
                  </a:r>
                </a:p>
              </p:txBody>
            </p:sp>
            <p:sp>
              <p:nvSpPr>
                <p:cNvPr id="119835" name="Text Box 219"/>
                <p:cNvSpPr txBox="1">
                  <a:spLocks noChangeArrowheads="1"/>
                </p:cNvSpPr>
                <p:nvPr/>
              </p:nvSpPr>
              <p:spPr bwMode="auto">
                <a:xfrm>
                  <a:off x="8642"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SI</a:t>
                  </a:r>
                </a:p>
              </p:txBody>
            </p:sp>
            <p:sp>
              <p:nvSpPr>
                <p:cNvPr id="119836" name="Text Box 220"/>
                <p:cNvSpPr txBox="1">
                  <a:spLocks noChangeArrowheads="1"/>
                </p:cNvSpPr>
                <p:nvPr/>
              </p:nvSpPr>
              <p:spPr bwMode="auto">
                <a:xfrm>
                  <a:off x="4484"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AX</a:t>
                  </a:r>
                </a:p>
              </p:txBody>
            </p:sp>
            <p:sp>
              <p:nvSpPr>
                <p:cNvPr id="119837" name="Text Box 221"/>
                <p:cNvSpPr txBox="1">
                  <a:spLocks noChangeArrowheads="1"/>
                </p:cNvSpPr>
                <p:nvPr/>
              </p:nvSpPr>
              <p:spPr bwMode="auto">
                <a:xfrm>
                  <a:off x="5870"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BX</a:t>
                  </a:r>
                </a:p>
              </p:txBody>
            </p:sp>
            <p:sp>
              <p:nvSpPr>
                <p:cNvPr id="119838" name="Text Box 222"/>
                <p:cNvSpPr txBox="1">
                  <a:spLocks noChangeArrowheads="1"/>
                </p:cNvSpPr>
                <p:nvPr/>
              </p:nvSpPr>
              <p:spPr bwMode="auto">
                <a:xfrm>
                  <a:off x="7256"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CX</a:t>
                  </a:r>
                </a:p>
              </p:txBody>
            </p:sp>
            <p:sp>
              <p:nvSpPr>
                <p:cNvPr id="119839" name="Text Box 223"/>
                <p:cNvSpPr txBox="1">
                  <a:spLocks noChangeArrowheads="1"/>
                </p:cNvSpPr>
                <p:nvPr/>
              </p:nvSpPr>
              <p:spPr bwMode="auto">
                <a:xfrm>
                  <a:off x="8642"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DX</a:t>
                  </a:r>
                </a:p>
              </p:txBody>
            </p:sp>
            <p:sp>
              <p:nvSpPr>
                <p:cNvPr id="119840" name="Text Box 224"/>
                <p:cNvSpPr txBox="1">
                  <a:spLocks noChangeArrowheads="1"/>
                </p:cNvSpPr>
                <p:nvPr/>
              </p:nvSpPr>
              <p:spPr bwMode="auto">
                <a:xfrm>
                  <a:off x="4484" y="898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T</a:t>
                  </a:r>
                </a:p>
              </p:txBody>
            </p:sp>
            <p:grpSp>
              <p:nvGrpSpPr>
                <p:cNvPr id="119841" name="Group 225"/>
                <p:cNvGrpSpPr>
                  <a:grpSpLocks/>
                </p:cNvGrpSpPr>
                <p:nvPr/>
              </p:nvGrpSpPr>
              <p:grpSpPr bwMode="auto">
                <a:xfrm>
                  <a:off x="2594" y="4022"/>
                  <a:ext cx="1260" cy="1736"/>
                  <a:chOff x="2468" y="4642"/>
                  <a:chExt cx="1050" cy="1612"/>
                </a:xfrm>
              </p:grpSpPr>
              <p:sp>
                <p:nvSpPr>
                  <p:cNvPr id="119856" name="Text Box 226"/>
                  <p:cNvSpPr txBox="1">
                    <a:spLocks noChangeArrowheads="1"/>
                  </p:cNvSpPr>
                  <p:nvPr/>
                </p:nvSpPr>
                <p:spPr bwMode="auto">
                  <a:xfrm>
                    <a:off x="2468" y="4642"/>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MDR</a:t>
                    </a:r>
                  </a:p>
                </p:txBody>
              </p:sp>
              <p:sp>
                <p:nvSpPr>
                  <p:cNvPr id="119857" name="Text Box 227"/>
                  <p:cNvSpPr txBox="1">
                    <a:spLocks noChangeArrowheads="1"/>
                  </p:cNvSpPr>
                  <p:nvPr/>
                </p:nvSpPr>
                <p:spPr bwMode="auto">
                  <a:xfrm>
                    <a:off x="2468" y="5944"/>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MAR</a:t>
                    </a:r>
                  </a:p>
                </p:txBody>
              </p:sp>
              <p:sp>
                <p:nvSpPr>
                  <p:cNvPr id="119858" name="Text Box 228"/>
                  <p:cNvSpPr txBox="1">
                    <a:spLocks noChangeArrowheads="1"/>
                  </p:cNvSpPr>
                  <p:nvPr/>
                </p:nvSpPr>
                <p:spPr bwMode="auto">
                  <a:xfrm>
                    <a:off x="2468" y="4952"/>
                    <a:ext cx="378" cy="992"/>
                  </a:xfrm>
                  <a:prstGeom prst="rect">
                    <a:avLst/>
                  </a:prstGeom>
                  <a:solidFill>
                    <a:srgbClr val="FFFF99"/>
                  </a:solidFill>
                  <a:ln w="19050">
                    <a:solidFill>
                      <a:srgbClr val="000000"/>
                    </a:solidFill>
                    <a:miter lim="800000"/>
                    <a:headEnd/>
                    <a:tailEnd/>
                  </a:ln>
                </p:spPr>
                <p:txBody>
                  <a:bodyPr vert="eaVert" lIns="0" tIns="0" rIns="360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000">
                        <a:latin typeface="Times New Roman" pitchFamily="18" charset="0"/>
                        <a:ea typeface="黑体" pitchFamily="2" charset="-122"/>
                      </a:rPr>
                      <a:t>控制逻辑</a:t>
                    </a:r>
                  </a:p>
                </p:txBody>
              </p:sp>
              <p:sp>
                <p:nvSpPr>
                  <p:cNvPr id="119859" name="Text Box 229"/>
                  <p:cNvSpPr txBox="1">
                    <a:spLocks noChangeArrowheads="1"/>
                  </p:cNvSpPr>
                  <p:nvPr/>
                </p:nvSpPr>
                <p:spPr bwMode="auto">
                  <a:xfrm>
                    <a:off x="2846" y="4952"/>
                    <a:ext cx="672" cy="992"/>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主存</a:t>
                    </a:r>
                  </a:p>
                  <a:p>
                    <a:pPr algn="ctr" eaLnBrk="1" hangingPunct="1">
                      <a:lnSpc>
                        <a:spcPct val="96000"/>
                      </a:lnSpc>
                      <a:spcBef>
                        <a:spcPct val="0"/>
                      </a:spcBef>
                    </a:pPr>
                    <a:r>
                      <a:rPr lang="en-US" altLang="zh-CN" sz="1000" dirty="0">
                        <a:latin typeface="Times New Roman" pitchFamily="18" charset="0"/>
                        <a:ea typeface="黑体" pitchFamily="2" charset="-122"/>
                      </a:rPr>
                      <a:t>MM</a:t>
                    </a:r>
                  </a:p>
                </p:txBody>
              </p:sp>
            </p:grpSp>
            <p:sp>
              <p:nvSpPr>
                <p:cNvPr id="119842" name="Text Box 230"/>
                <p:cNvSpPr txBox="1">
                  <a:spLocks noChangeArrowheads="1"/>
                </p:cNvSpPr>
                <p:nvPr/>
              </p:nvSpPr>
              <p:spPr bwMode="auto">
                <a:xfrm>
                  <a:off x="2594" y="8238"/>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DR</a:t>
                  </a:r>
                </a:p>
              </p:txBody>
            </p:sp>
            <p:sp>
              <p:nvSpPr>
                <p:cNvPr id="119843" name="Text Box 231"/>
                <p:cNvSpPr txBox="1">
                  <a:spLocks noChangeArrowheads="1"/>
                </p:cNvSpPr>
                <p:nvPr/>
              </p:nvSpPr>
              <p:spPr bwMode="auto">
                <a:xfrm>
                  <a:off x="2594" y="9416"/>
                  <a:ext cx="462" cy="806"/>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AR</a:t>
                  </a:r>
                </a:p>
              </p:txBody>
            </p:sp>
            <p:sp>
              <p:nvSpPr>
                <p:cNvPr id="119844" name="Text Box 232"/>
                <p:cNvSpPr txBox="1">
                  <a:spLocks noChangeArrowheads="1"/>
                </p:cNvSpPr>
                <p:nvPr/>
              </p:nvSpPr>
              <p:spPr bwMode="auto">
                <a:xfrm>
                  <a:off x="7928" y="87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a:t>
                  </a:r>
                </a:p>
              </p:txBody>
            </p:sp>
            <p:sp>
              <p:nvSpPr>
                <p:cNvPr id="119845" name="Text Box 233"/>
                <p:cNvSpPr txBox="1">
                  <a:spLocks noChangeArrowheads="1"/>
                </p:cNvSpPr>
                <p:nvPr/>
              </p:nvSpPr>
              <p:spPr bwMode="auto">
                <a:xfrm>
                  <a:off x="4862" y="1084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PC</a:t>
                  </a:r>
                </a:p>
              </p:txBody>
            </p:sp>
            <p:sp>
              <p:nvSpPr>
                <p:cNvPr id="119846" name="Text Box 234"/>
                <p:cNvSpPr txBox="1">
                  <a:spLocks noChangeArrowheads="1"/>
                </p:cNvSpPr>
                <p:nvPr/>
              </p:nvSpPr>
              <p:spPr bwMode="auto">
                <a:xfrm>
                  <a:off x="4862" y="1220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IR</a:t>
                  </a:r>
                </a:p>
              </p:txBody>
            </p:sp>
            <p:sp>
              <p:nvSpPr>
                <p:cNvPr id="119847" name="Text Box 235"/>
                <p:cNvSpPr txBox="1">
                  <a:spLocks noChangeArrowheads="1"/>
                </p:cNvSpPr>
                <p:nvPr/>
              </p:nvSpPr>
              <p:spPr bwMode="auto">
                <a:xfrm>
                  <a:off x="5870" y="11090"/>
                  <a:ext cx="546" cy="744"/>
                </a:xfrm>
                <a:prstGeom prst="rect">
                  <a:avLst/>
                </a:prstGeom>
                <a:solidFill>
                  <a:srgbClr val="FFFF99"/>
                </a:solidFill>
                <a:ln w="19050">
                  <a:solidFill>
                    <a:srgbClr val="00000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PSW</a:t>
                  </a:r>
                </a:p>
              </p:txBody>
            </p:sp>
            <p:sp>
              <p:nvSpPr>
                <p:cNvPr id="119848" name="Text Box 236"/>
                <p:cNvSpPr txBox="1">
                  <a:spLocks noChangeArrowheads="1"/>
                </p:cNvSpPr>
                <p:nvPr/>
              </p:nvSpPr>
              <p:spPr bwMode="auto">
                <a:xfrm>
                  <a:off x="5870" y="12144"/>
                  <a:ext cx="1890" cy="105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微操作</a:t>
                  </a:r>
                </a:p>
                <a:p>
                  <a:pPr algn="ctr" eaLnBrk="1" hangingPunct="1">
                    <a:lnSpc>
                      <a:spcPct val="96000"/>
                    </a:lnSpc>
                    <a:spcBef>
                      <a:spcPct val="0"/>
                    </a:spcBef>
                  </a:pPr>
                  <a:r>
                    <a:rPr lang="zh-CN" altLang="en-US" sz="1000">
                      <a:latin typeface="Times New Roman" pitchFamily="18" charset="0"/>
                      <a:ea typeface="黑体" pitchFamily="2" charset="-122"/>
                    </a:rPr>
                    <a:t>信号发生器</a:t>
                  </a:r>
                </a:p>
              </p:txBody>
            </p:sp>
            <p:sp>
              <p:nvSpPr>
                <p:cNvPr id="119849" name="Text Box 237"/>
                <p:cNvSpPr txBox="1">
                  <a:spLocks noChangeArrowheads="1"/>
                </p:cNvSpPr>
                <p:nvPr/>
              </p:nvSpPr>
              <p:spPr bwMode="auto">
                <a:xfrm>
                  <a:off x="6794" y="11090"/>
                  <a:ext cx="840"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时序</a:t>
                  </a:r>
                </a:p>
                <a:p>
                  <a:pPr algn="ctr" eaLnBrk="1" hangingPunct="1">
                    <a:lnSpc>
                      <a:spcPct val="96000"/>
                    </a:lnSpc>
                    <a:spcBef>
                      <a:spcPct val="0"/>
                    </a:spcBef>
                  </a:pPr>
                  <a:r>
                    <a:rPr lang="zh-CN" altLang="en-US" sz="1000">
                      <a:latin typeface="Times New Roman" pitchFamily="18" charset="0"/>
                      <a:ea typeface="黑体" pitchFamily="2" charset="-122"/>
                    </a:rPr>
                    <a:t>部件</a:t>
                  </a:r>
                </a:p>
              </p:txBody>
            </p:sp>
            <p:sp>
              <p:nvSpPr>
                <p:cNvPr id="119850" name="Text Box 238"/>
                <p:cNvSpPr txBox="1">
                  <a:spLocks noChangeArrowheads="1"/>
                </p:cNvSpPr>
                <p:nvPr/>
              </p:nvSpPr>
              <p:spPr bwMode="auto">
                <a:xfrm>
                  <a:off x="10028" y="6750"/>
                  <a:ext cx="588"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CT</a:t>
                  </a:r>
                </a:p>
              </p:txBody>
            </p:sp>
            <p:sp>
              <p:nvSpPr>
                <p:cNvPr id="119851" name="AutoShape 239"/>
                <p:cNvSpPr>
                  <a:spLocks noChangeArrowheads="1"/>
                </p:cNvSpPr>
                <p:nvPr/>
              </p:nvSpPr>
              <p:spPr bwMode="auto">
                <a:xfrm rot="-5400000">
                  <a:off x="1935" y="9693"/>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19852" name="AutoShape 240"/>
                <p:cNvSpPr>
                  <a:spLocks noChangeArrowheads="1"/>
                </p:cNvSpPr>
                <p:nvPr/>
              </p:nvSpPr>
              <p:spPr bwMode="auto">
                <a:xfrm rot="5400000" flipH="1">
                  <a:off x="1956" y="8846"/>
                  <a:ext cx="310" cy="210"/>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19853" name="AutoShape 241"/>
                <p:cNvSpPr>
                  <a:spLocks noChangeArrowheads="1"/>
                </p:cNvSpPr>
                <p:nvPr/>
              </p:nvSpPr>
              <p:spPr bwMode="auto">
                <a:xfrm rot="-5400000">
                  <a:off x="1935" y="8391"/>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19854" name="AutoShape 242"/>
                <p:cNvSpPr>
                  <a:spLocks noChangeArrowheads="1"/>
                </p:cNvSpPr>
                <p:nvPr/>
              </p:nvSpPr>
              <p:spPr bwMode="auto">
                <a:xfrm rot="5400000">
                  <a:off x="6217" y="9079"/>
                  <a:ext cx="1364" cy="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81 w 21600"/>
                    <a:gd name="T13" fmla="*/ 4195 h 21600"/>
                    <a:gd name="T14" fmla="*/ 17419 w 21600"/>
                    <a:gd name="T15" fmla="*/ 17405 h 21600"/>
                  </a:gdLst>
                  <a:ahLst/>
                  <a:cxnLst>
                    <a:cxn ang="T8">
                      <a:pos x="T0" y="T1"/>
                    </a:cxn>
                    <a:cxn ang="T9">
                      <a:pos x="T2" y="T3"/>
                    </a:cxn>
                    <a:cxn ang="T10">
                      <a:pos x="T4" y="T5"/>
                    </a:cxn>
                    <a:cxn ang="T11">
                      <a:pos x="T6" y="T7"/>
                    </a:cxn>
                  </a:cxnLst>
                  <a:rect l="T12" t="T13" r="T14" b="T15"/>
                  <a:pathLst>
                    <a:path w="21600" h="21600">
                      <a:moveTo>
                        <a:pt x="0" y="0"/>
                      </a:moveTo>
                      <a:lnTo>
                        <a:pt x="4767" y="21600"/>
                      </a:lnTo>
                      <a:lnTo>
                        <a:pt x="16833" y="21600"/>
                      </a:lnTo>
                      <a:lnTo>
                        <a:pt x="21600" y="0"/>
                      </a:lnTo>
                      <a:lnTo>
                        <a:pt x="0" y="0"/>
                      </a:lnTo>
                      <a:close/>
                    </a:path>
                  </a:pathLst>
                </a:custGeom>
                <a:solidFill>
                  <a:srgbClr val="FFFF99"/>
                </a:solidFill>
                <a:ln w="19050">
                  <a:solidFill>
                    <a:srgbClr val="000000"/>
                  </a:solidFill>
                  <a:miter lim="800000"/>
                  <a:headEnd/>
                  <a:tailEnd/>
                </a:ln>
              </p:spPr>
              <p:txBody>
                <a:bodyPr lIns="0" tIns="0" rIns="0" bIns="0"/>
                <a:lstStyle/>
                <a:p>
                  <a:pPr algn="just">
                    <a:lnSpc>
                      <a:spcPct val="96000"/>
                    </a:lnSpc>
                    <a:spcBef>
                      <a:spcPct val="0"/>
                    </a:spcBef>
                  </a:pPr>
                  <a:endParaRPr lang="zh-CN" altLang="en-US" sz="1000">
                    <a:latin typeface="Times New Roman" pitchFamily="18" charset="0"/>
                    <a:ea typeface="黑体" pitchFamily="2" charset="-122"/>
                  </a:endParaRPr>
                </a:p>
                <a:p>
                  <a:pPr algn="just">
                    <a:lnSpc>
                      <a:spcPct val="96000"/>
                    </a:lnSpc>
                    <a:spcBef>
                      <a:spcPct val="0"/>
                    </a:spcBef>
                  </a:pPr>
                  <a:r>
                    <a:rPr lang="en-US" altLang="zh-CN" sz="1000" dirty="0">
                      <a:latin typeface="Times New Roman" pitchFamily="18" charset="0"/>
                      <a:ea typeface="黑体" pitchFamily="2" charset="-122"/>
                    </a:rPr>
                    <a:t>ALU</a:t>
                  </a:r>
                </a:p>
                <a:p>
                  <a:pPr>
                    <a:spcBef>
                      <a:spcPct val="0"/>
                    </a:spcBef>
                  </a:pPr>
                  <a:endParaRPr lang="en-US" altLang="zh-CN" sz="1000" dirty="0">
                    <a:latin typeface="Times New Roman" pitchFamily="18" charset="0"/>
                    <a:ea typeface="黑体" pitchFamily="2" charset="-122"/>
                  </a:endParaRPr>
                </a:p>
              </p:txBody>
            </p:sp>
            <p:sp>
              <p:nvSpPr>
                <p:cNvPr id="119855" name="Text Box 243"/>
                <p:cNvSpPr txBox="1">
                  <a:spLocks noChangeArrowheads="1"/>
                </p:cNvSpPr>
                <p:nvPr/>
              </p:nvSpPr>
              <p:spPr bwMode="auto">
                <a:xfrm>
                  <a:off x="8222" y="11090"/>
                  <a:ext cx="378"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a:t>
                  </a:r>
                </a:p>
                <a:p>
                  <a:pPr algn="ctr" eaLnBrk="1" hangingPunct="1">
                    <a:lnSpc>
                      <a:spcPct val="96000"/>
                    </a:lnSpc>
                    <a:spcBef>
                      <a:spcPct val="0"/>
                    </a:spcBef>
                  </a:pPr>
                  <a:r>
                    <a:rPr lang="zh-CN" altLang="en-US" sz="1000">
                      <a:latin typeface="Times New Roman" pitchFamily="18" charset="0"/>
                      <a:ea typeface="黑体" pitchFamily="2" charset="-122"/>
                    </a:rPr>
                    <a:t>钟</a:t>
                  </a:r>
                </a:p>
              </p:txBody>
            </p:sp>
          </p:grpSp>
          <p:grpSp>
            <p:nvGrpSpPr>
              <p:cNvPr id="119818" name="Group 244"/>
              <p:cNvGrpSpPr>
                <a:grpSpLocks/>
              </p:cNvGrpSpPr>
              <p:nvPr/>
            </p:nvGrpSpPr>
            <p:grpSpPr bwMode="auto">
              <a:xfrm>
                <a:off x="589" y="255"/>
                <a:ext cx="2369" cy="5034"/>
                <a:chOff x="746" y="1356"/>
                <a:chExt cx="4956" cy="13640"/>
              </a:xfrm>
            </p:grpSpPr>
            <p:sp>
              <p:nvSpPr>
                <p:cNvPr id="119819" name="Text Box 245"/>
                <p:cNvSpPr txBox="1">
                  <a:spLocks noChangeArrowheads="1"/>
                </p:cNvSpPr>
                <p:nvPr/>
              </p:nvSpPr>
              <p:spPr bwMode="auto">
                <a:xfrm>
                  <a:off x="1712" y="135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DMAR, INTR</a:t>
                  </a:r>
                </a:p>
              </p:txBody>
            </p:sp>
            <p:sp>
              <p:nvSpPr>
                <p:cNvPr id="119820" name="Text Box 246"/>
                <p:cNvSpPr txBox="1">
                  <a:spLocks noChangeArrowheads="1"/>
                </p:cNvSpPr>
                <p:nvPr/>
              </p:nvSpPr>
              <p:spPr bwMode="auto">
                <a:xfrm>
                  <a:off x="1712" y="1604"/>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119821" name="Text Box 247"/>
                <p:cNvSpPr txBox="1">
                  <a:spLocks noChangeArrowheads="1"/>
                </p:cNvSpPr>
                <p:nvPr/>
              </p:nvSpPr>
              <p:spPr bwMode="auto">
                <a:xfrm>
                  <a:off x="1712" y="4952"/>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119822" name="Text Box 248"/>
                <p:cNvSpPr txBox="1">
                  <a:spLocks noChangeArrowheads="1"/>
                </p:cNvSpPr>
                <p:nvPr/>
              </p:nvSpPr>
              <p:spPr bwMode="auto">
                <a:xfrm>
                  <a:off x="1712" y="197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IORD, IOWR</a:t>
                  </a:r>
                </a:p>
              </p:txBody>
            </p:sp>
            <p:sp>
              <p:nvSpPr>
                <p:cNvPr id="119823" name="Text Box 249"/>
                <p:cNvSpPr txBox="1">
                  <a:spLocks noChangeArrowheads="1"/>
                </p:cNvSpPr>
                <p:nvPr/>
              </p:nvSpPr>
              <p:spPr bwMode="auto">
                <a:xfrm>
                  <a:off x="4610" y="1604"/>
                  <a:ext cx="109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接口</a:t>
                  </a:r>
                </a:p>
              </p:txBody>
            </p:sp>
            <p:sp>
              <p:nvSpPr>
                <p:cNvPr id="119824" name="Text Box 250"/>
                <p:cNvSpPr txBox="1">
                  <a:spLocks noChangeArrowheads="1"/>
                </p:cNvSpPr>
                <p:nvPr/>
              </p:nvSpPr>
              <p:spPr bwMode="auto">
                <a:xfrm>
                  <a:off x="1922" y="12826"/>
                  <a:ext cx="273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INTR,  DMAR, Ready</a:t>
                  </a:r>
                </a:p>
              </p:txBody>
            </p:sp>
            <p:sp>
              <p:nvSpPr>
                <p:cNvPr id="119825" name="Text Box 251"/>
                <p:cNvSpPr txBox="1">
                  <a:spLocks noChangeArrowheads="1"/>
                </p:cNvSpPr>
                <p:nvPr/>
              </p:nvSpPr>
              <p:spPr bwMode="auto">
                <a:xfrm>
                  <a:off x="746" y="14624"/>
                  <a:ext cx="10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000" dirty="0">
                      <a:latin typeface="Times New Roman" pitchFamily="18" charset="0"/>
                      <a:ea typeface="黑体" pitchFamily="2" charset="-122"/>
                    </a:rPr>
                    <a:t>CB AB DB</a:t>
                  </a:r>
                </a:p>
              </p:txBody>
            </p:sp>
            <p:sp>
              <p:nvSpPr>
                <p:cNvPr id="119826" name="Text Box 252"/>
                <p:cNvSpPr txBox="1">
                  <a:spLocks noChangeArrowheads="1"/>
                </p:cNvSpPr>
                <p:nvPr/>
              </p:nvSpPr>
              <p:spPr bwMode="auto">
                <a:xfrm>
                  <a:off x="2174" y="6998"/>
                  <a:ext cx="151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200">
                      <a:solidFill>
                        <a:srgbClr val="0000FF"/>
                      </a:solidFill>
                      <a:latin typeface="Times New Roman" pitchFamily="18" charset="0"/>
                      <a:ea typeface="黑体" pitchFamily="2" charset="-122"/>
                    </a:rPr>
                    <a:t>内部总线 </a:t>
                  </a:r>
                  <a:r>
                    <a:rPr lang="en-US" altLang="zh-CN" sz="1200" dirty="0">
                      <a:solidFill>
                        <a:srgbClr val="0000FF"/>
                      </a:solidFill>
                      <a:latin typeface="Times New Roman" pitchFamily="18" charset="0"/>
                      <a:ea typeface="黑体" pitchFamily="2" charset="-122"/>
                    </a:rPr>
                    <a:t>IB</a:t>
                  </a:r>
                  <a:endParaRPr lang="en-US" altLang="zh-CN" sz="1200" dirty="0">
                    <a:latin typeface="Times New Roman" pitchFamily="18" charset="0"/>
                    <a:ea typeface="黑体" pitchFamily="2" charset="-122"/>
                  </a:endParaRPr>
                </a:p>
              </p:txBody>
            </p:sp>
          </p:grpSp>
        </p:grpSp>
      </p:grpSp>
      <p:sp>
        <p:nvSpPr>
          <p:cNvPr id="119812" name="AutoShape 3">
            <a:hlinkClick r:id="" action="ppaction://hlinkshowjump?jump=lastslideviewed"/>
          </p:cNvPr>
          <p:cNvSpPr>
            <a:spLocks noChangeArrowheads="1"/>
          </p:cNvSpPr>
          <p:nvPr/>
        </p:nvSpPr>
        <p:spPr bwMode="auto">
          <a:xfrm>
            <a:off x="7848600" y="685800"/>
            <a:ext cx="893763" cy="533400"/>
          </a:xfrm>
          <a:prstGeom prst="leftArrow">
            <a:avLst>
              <a:gd name="adj1" fmla="val 50000"/>
              <a:gd name="adj2" fmla="val 41890"/>
            </a:avLst>
          </a:prstGeom>
          <a:solidFill>
            <a:srgbClr val="CC3300">
              <a:alpha val="50195"/>
            </a:srgbClr>
          </a:solidFill>
          <a:ln w="9525">
            <a:solidFill>
              <a:srgbClr val="CC3300"/>
            </a:solidFill>
            <a:miter lim="800000"/>
            <a:headEnd/>
            <a:tailEnd/>
          </a:ln>
        </p:spPr>
        <p:txBody>
          <a:bodyPr wrap="none" rIns="0" anchor="ctr"/>
          <a:lstStyle/>
          <a:p>
            <a:pPr algn="ctr">
              <a:lnSpc>
                <a:spcPct val="100000"/>
              </a:lnSpc>
              <a:spcBef>
                <a:spcPct val="0"/>
              </a:spcBef>
            </a:pPr>
            <a:r>
              <a:rPr kumimoji="1" lang="zh-CN" altLang="en-US" sz="1600">
                <a:solidFill>
                  <a:schemeClr val="bg1"/>
                </a:solidFill>
                <a:latin typeface="Times New Roman" pitchFamily="18" charset="0"/>
                <a:ea typeface="黑体" pitchFamily="2" charset="-122"/>
              </a:rPr>
              <a:t>返回</a:t>
            </a:r>
          </a:p>
        </p:txBody>
      </p:sp>
    </p:spTree>
  </p:cSld>
  <p:clrMapOvr>
    <a:masterClrMapping/>
  </p:clrMapOvr>
  <p:transition>
    <p:wipe dir="d"/>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5"/>
          <p:cNvSpPr>
            <a:spLocks noChangeArrowheads="1"/>
          </p:cNvSpPr>
          <p:nvPr/>
        </p:nvSpPr>
        <p:spPr bwMode="auto">
          <a:xfrm>
            <a:off x="0" y="-892175"/>
            <a:ext cx="9144000" cy="80295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p>
        </p:txBody>
      </p:sp>
      <p:sp>
        <p:nvSpPr>
          <p:cNvPr id="120835" name="Rectangle 3"/>
          <p:cNvSpPr>
            <a:spLocks noChangeArrowheads="1"/>
          </p:cNvSpPr>
          <p:nvPr/>
        </p:nvSpPr>
        <p:spPr bwMode="auto">
          <a:xfrm>
            <a:off x="0" y="2870200"/>
            <a:ext cx="9144000" cy="50482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120836" name="Group 252"/>
          <p:cNvGrpSpPr>
            <a:grpSpLocks/>
          </p:cNvGrpSpPr>
          <p:nvPr/>
        </p:nvGrpSpPr>
        <p:grpSpPr bwMode="auto">
          <a:xfrm>
            <a:off x="827088" y="-855663"/>
            <a:ext cx="7669212" cy="8001001"/>
            <a:chOff x="408" y="978"/>
            <a:chExt cx="4672" cy="3316"/>
          </a:xfrm>
        </p:grpSpPr>
        <p:sp>
          <p:nvSpPr>
            <p:cNvPr id="120838" name="Rectangle 253"/>
            <p:cNvSpPr>
              <a:spLocks noChangeArrowheads="1"/>
            </p:cNvSpPr>
            <p:nvPr/>
          </p:nvSpPr>
          <p:spPr bwMode="auto">
            <a:xfrm>
              <a:off x="408" y="2548"/>
              <a:ext cx="4672" cy="209"/>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endParaRPr lang="zh-CN" altLang="en-US">
                <a:latin typeface="黑体" pitchFamily="2" charset="-122"/>
                <a:ea typeface="黑体" pitchFamily="2" charset="-122"/>
              </a:endParaRPr>
            </a:p>
          </p:txBody>
        </p:sp>
        <p:grpSp>
          <p:nvGrpSpPr>
            <p:cNvPr id="120839" name="Group 254"/>
            <p:cNvGrpSpPr>
              <a:grpSpLocks/>
            </p:cNvGrpSpPr>
            <p:nvPr/>
          </p:nvGrpSpPr>
          <p:grpSpPr bwMode="auto">
            <a:xfrm>
              <a:off x="430" y="978"/>
              <a:ext cx="4650" cy="3316"/>
              <a:chOff x="727" y="2032"/>
              <a:chExt cx="9240" cy="12586"/>
            </a:xfrm>
          </p:grpSpPr>
          <p:grpSp>
            <p:nvGrpSpPr>
              <p:cNvPr id="120840" name="Group 255"/>
              <p:cNvGrpSpPr>
                <a:grpSpLocks/>
              </p:cNvGrpSpPr>
              <p:nvPr/>
            </p:nvGrpSpPr>
            <p:grpSpPr bwMode="auto">
              <a:xfrm>
                <a:off x="1004" y="2089"/>
                <a:ext cx="8141" cy="12186"/>
                <a:chOff x="1040" y="1418"/>
                <a:chExt cx="8862" cy="13206"/>
              </a:xfrm>
            </p:grpSpPr>
            <p:sp>
              <p:nvSpPr>
                <p:cNvPr id="121034" name="Line 256"/>
                <p:cNvSpPr>
                  <a:spLocks noChangeShapeType="1"/>
                </p:cNvSpPr>
                <p:nvPr/>
              </p:nvSpPr>
              <p:spPr bwMode="auto">
                <a:xfrm rot="5400000">
                  <a:off x="2006" y="8394"/>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35" name="Line 257"/>
                <p:cNvSpPr>
                  <a:spLocks noChangeShapeType="1"/>
                </p:cNvSpPr>
                <p:nvPr/>
              </p:nvSpPr>
              <p:spPr bwMode="auto">
                <a:xfrm rot="16200000" flipH="1">
                  <a:off x="2006" y="7960"/>
                  <a:ext cx="0" cy="1176"/>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36" name="Line 258"/>
                <p:cNvSpPr>
                  <a:spLocks noChangeShapeType="1"/>
                </p:cNvSpPr>
                <p:nvPr/>
              </p:nvSpPr>
              <p:spPr bwMode="auto">
                <a:xfrm rot="16200000" flipH="1">
                  <a:off x="1922" y="9178"/>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21037" name="Group 259"/>
                <p:cNvGrpSpPr>
                  <a:grpSpLocks/>
                </p:cNvGrpSpPr>
                <p:nvPr/>
              </p:nvGrpSpPr>
              <p:grpSpPr bwMode="auto">
                <a:xfrm>
                  <a:off x="1040" y="1418"/>
                  <a:ext cx="378" cy="13206"/>
                  <a:chOff x="1040" y="1542"/>
                  <a:chExt cx="378" cy="13082"/>
                </a:xfrm>
              </p:grpSpPr>
              <p:sp>
                <p:nvSpPr>
                  <p:cNvPr id="121082" name="Line 260"/>
                  <p:cNvSpPr>
                    <a:spLocks noChangeShapeType="1"/>
                  </p:cNvSpPr>
                  <p:nvPr/>
                </p:nvSpPr>
                <p:spPr bwMode="auto">
                  <a:xfrm>
                    <a:off x="1040" y="1542"/>
                    <a:ext cx="0" cy="13082"/>
                  </a:xfrm>
                  <a:prstGeom prst="line">
                    <a:avLst/>
                  </a:prstGeom>
                  <a:noFill/>
                  <a:ln w="38100" cmpd="dbl">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83" name="Line 261"/>
                  <p:cNvSpPr>
                    <a:spLocks noChangeShapeType="1"/>
                  </p:cNvSpPr>
                  <p:nvPr/>
                </p:nvSpPr>
                <p:spPr bwMode="auto">
                  <a:xfrm>
                    <a:off x="1418" y="1542"/>
                    <a:ext cx="0" cy="13082"/>
                  </a:xfrm>
                  <a:prstGeom prst="line">
                    <a:avLst/>
                  </a:prstGeom>
                  <a:noFill/>
                  <a:ln w="38100" cmpd="dbl">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84" name="Line 262"/>
                  <p:cNvSpPr>
                    <a:spLocks noChangeShapeType="1"/>
                  </p:cNvSpPr>
                  <p:nvPr/>
                </p:nvSpPr>
                <p:spPr bwMode="auto">
                  <a:xfrm>
                    <a:off x="1250" y="1542"/>
                    <a:ext cx="0" cy="13082"/>
                  </a:xfrm>
                  <a:prstGeom prst="line">
                    <a:avLst/>
                  </a:prstGeom>
                  <a:noFill/>
                  <a:ln w="38100" cmpd="dbl">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1038" name="Freeform 263"/>
                <p:cNvSpPr>
                  <a:spLocks/>
                </p:cNvSpPr>
                <p:nvPr/>
              </p:nvSpPr>
              <p:spPr bwMode="auto">
                <a:xfrm>
                  <a:off x="3770" y="6998"/>
                  <a:ext cx="6132" cy="5642"/>
                </a:xfrm>
                <a:custGeom>
                  <a:avLst/>
                  <a:gdLst>
                    <a:gd name="T0" fmla="*/ 0 w 5590"/>
                    <a:gd name="T1" fmla="*/ 6586 h 5580"/>
                    <a:gd name="T2" fmla="*/ 0 w 5590"/>
                    <a:gd name="T3" fmla="*/ 0 h 5580"/>
                    <a:gd name="T4" fmla="*/ 22387 w 5590"/>
                    <a:gd name="T5" fmla="*/ 0 h 5580"/>
                    <a:gd name="T6" fmla="*/ 22400 w 5590"/>
                    <a:gd name="T7" fmla="*/ 3459 h 5580"/>
                    <a:gd name="T8" fmla="*/ 0 60000 65536"/>
                    <a:gd name="T9" fmla="*/ 0 60000 65536"/>
                    <a:gd name="T10" fmla="*/ 0 60000 65536"/>
                    <a:gd name="T11" fmla="*/ 0 60000 65536"/>
                    <a:gd name="T12" fmla="*/ 0 w 5590"/>
                    <a:gd name="T13" fmla="*/ 0 h 5580"/>
                    <a:gd name="T14" fmla="*/ 5590 w 5590"/>
                    <a:gd name="T15" fmla="*/ 5580 h 5580"/>
                  </a:gdLst>
                  <a:ahLst/>
                  <a:cxnLst>
                    <a:cxn ang="T8">
                      <a:pos x="T0" y="T1"/>
                    </a:cxn>
                    <a:cxn ang="T9">
                      <a:pos x="T2" y="T3"/>
                    </a:cxn>
                    <a:cxn ang="T10">
                      <a:pos x="T4" y="T5"/>
                    </a:cxn>
                    <a:cxn ang="T11">
                      <a:pos x="T6" y="T7"/>
                    </a:cxn>
                  </a:cxnLst>
                  <a:rect l="T12" t="T13" r="T14" b="T15"/>
                  <a:pathLst>
                    <a:path w="5590" h="5580">
                      <a:moveTo>
                        <a:pt x="0" y="5580"/>
                      </a:moveTo>
                      <a:lnTo>
                        <a:pt x="0" y="0"/>
                      </a:lnTo>
                      <a:lnTo>
                        <a:pt x="5586" y="0"/>
                      </a:lnTo>
                      <a:lnTo>
                        <a:pt x="5590" y="2930"/>
                      </a:ln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039" name="Line 264"/>
                <p:cNvSpPr>
                  <a:spLocks noChangeShapeType="1"/>
                </p:cNvSpPr>
                <p:nvPr/>
              </p:nvSpPr>
              <p:spPr bwMode="auto">
                <a:xfrm>
                  <a:off x="4736"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0" name="Line 265"/>
                <p:cNvSpPr>
                  <a:spLocks noChangeShapeType="1"/>
                </p:cNvSpPr>
                <p:nvPr/>
              </p:nvSpPr>
              <p:spPr bwMode="auto">
                <a:xfrm>
                  <a:off x="6080"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1" name="Line 266"/>
                <p:cNvSpPr>
                  <a:spLocks noChangeShapeType="1"/>
                </p:cNvSpPr>
                <p:nvPr/>
              </p:nvSpPr>
              <p:spPr bwMode="auto">
                <a:xfrm>
                  <a:off x="7508"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2" name="Line 267"/>
                <p:cNvSpPr>
                  <a:spLocks noChangeShapeType="1"/>
                </p:cNvSpPr>
                <p:nvPr/>
              </p:nvSpPr>
              <p:spPr bwMode="auto">
                <a:xfrm>
                  <a:off x="8894" y="6564"/>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3" name="Line 268"/>
                <p:cNvSpPr>
                  <a:spLocks noChangeShapeType="1"/>
                </p:cNvSpPr>
                <p:nvPr/>
              </p:nvSpPr>
              <p:spPr bwMode="auto">
                <a:xfrm>
                  <a:off x="4736"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4" name="Line 269"/>
                <p:cNvSpPr>
                  <a:spLocks noChangeShapeType="1"/>
                </p:cNvSpPr>
                <p:nvPr/>
              </p:nvSpPr>
              <p:spPr bwMode="auto">
                <a:xfrm>
                  <a:off x="6080"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5" name="Line 270"/>
                <p:cNvSpPr>
                  <a:spLocks noChangeShapeType="1"/>
                </p:cNvSpPr>
                <p:nvPr/>
              </p:nvSpPr>
              <p:spPr bwMode="auto">
                <a:xfrm>
                  <a:off x="7508"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6" name="Line 271"/>
                <p:cNvSpPr>
                  <a:spLocks noChangeShapeType="1"/>
                </p:cNvSpPr>
                <p:nvPr/>
              </p:nvSpPr>
              <p:spPr bwMode="auto">
                <a:xfrm>
                  <a:off x="8894" y="6998"/>
                  <a:ext cx="0" cy="4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7" name="Line 272"/>
                <p:cNvSpPr>
                  <a:spLocks noChangeShapeType="1"/>
                </p:cNvSpPr>
                <p:nvPr/>
              </p:nvSpPr>
              <p:spPr bwMode="auto">
                <a:xfrm rot="5400000">
                  <a:off x="9125" y="8495"/>
                  <a:ext cx="0" cy="147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8" name="Line 273"/>
                <p:cNvSpPr>
                  <a:spLocks noChangeShapeType="1"/>
                </p:cNvSpPr>
                <p:nvPr/>
              </p:nvSpPr>
              <p:spPr bwMode="auto">
                <a:xfrm rot="5400000">
                  <a:off x="3413" y="8315"/>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49" name="Line 274"/>
                <p:cNvSpPr>
                  <a:spLocks noChangeShapeType="1"/>
                </p:cNvSpPr>
                <p:nvPr/>
              </p:nvSpPr>
              <p:spPr bwMode="auto">
                <a:xfrm rot="5400000">
                  <a:off x="4316" y="10730"/>
                  <a:ext cx="0" cy="109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50" name="Line 275"/>
                <p:cNvSpPr>
                  <a:spLocks noChangeShapeType="1"/>
                </p:cNvSpPr>
                <p:nvPr/>
              </p:nvSpPr>
              <p:spPr bwMode="auto">
                <a:xfrm rot="5400000">
                  <a:off x="1985" y="3641"/>
                  <a:ext cx="0" cy="113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51" name="Line 276"/>
                <p:cNvSpPr>
                  <a:spLocks noChangeShapeType="1"/>
                </p:cNvSpPr>
                <p:nvPr/>
              </p:nvSpPr>
              <p:spPr bwMode="auto">
                <a:xfrm rot="5400000">
                  <a:off x="6101" y="2301"/>
                  <a:ext cx="0" cy="714"/>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52" name="Line 277"/>
                <p:cNvSpPr>
                  <a:spLocks noChangeShapeType="1"/>
                </p:cNvSpPr>
                <p:nvPr/>
              </p:nvSpPr>
              <p:spPr bwMode="auto">
                <a:xfrm rot="5400000">
                  <a:off x="2363" y="1589"/>
                  <a:ext cx="0" cy="189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53" name="Line 278"/>
                <p:cNvSpPr>
                  <a:spLocks noChangeShapeType="1"/>
                </p:cNvSpPr>
                <p:nvPr/>
              </p:nvSpPr>
              <p:spPr bwMode="auto">
                <a:xfrm rot="16200000" flipH="1">
                  <a:off x="8600" y="8672"/>
                  <a:ext cx="0" cy="260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4" name="Line 279"/>
                <p:cNvSpPr>
                  <a:spLocks noChangeShapeType="1"/>
                </p:cNvSpPr>
                <p:nvPr/>
              </p:nvSpPr>
              <p:spPr bwMode="auto">
                <a:xfrm rot="16200000" flipH="1">
                  <a:off x="7615" y="8913"/>
                  <a:ext cx="8" cy="64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5" name="Line 280"/>
                <p:cNvSpPr>
                  <a:spLocks noChangeShapeType="1"/>
                </p:cNvSpPr>
                <p:nvPr/>
              </p:nvSpPr>
              <p:spPr bwMode="auto">
                <a:xfrm rot="16200000" flipH="1">
                  <a:off x="5723" y="8701"/>
                  <a:ext cx="0" cy="155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6" name="Line 281"/>
                <p:cNvSpPr>
                  <a:spLocks noChangeShapeType="1"/>
                </p:cNvSpPr>
                <p:nvPr/>
              </p:nvSpPr>
              <p:spPr bwMode="auto">
                <a:xfrm rot="16200000" flipH="1">
                  <a:off x="4127" y="912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7" name="Line 282"/>
                <p:cNvSpPr>
                  <a:spLocks noChangeShapeType="1"/>
                </p:cNvSpPr>
                <p:nvPr/>
              </p:nvSpPr>
              <p:spPr bwMode="auto">
                <a:xfrm rot="16200000" flipH="1">
                  <a:off x="3413" y="9431"/>
                  <a:ext cx="0" cy="71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8" name="Line 283"/>
                <p:cNvSpPr>
                  <a:spLocks noChangeShapeType="1"/>
                </p:cNvSpPr>
                <p:nvPr/>
              </p:nvSpPr>
              <p:spPr bwMode="auto">
                <a:xfrm rot="16200000" flipH="1">
                  <a:off x="1817" y="4423"/>
                  <a:ext cx="0" cy="1554"/>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59" name="Line 284"/>
                <p:cNvSpPr>
                  <a:spLocks noChangeShapeType="1"/>
                </p:cNvSpPr>
                <p:nvPr/>
              </p:nvSpPr>
              <p:spPr bwMode="auto">
                <a:xfrm rot="5400000">
                  <a:off x="1922" y="4900"/>
                  <a:ext cx="0" cy="1344"/>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0" name="Line 285"/>
                <p:cNvSpPr>
                  <a:spLocks noChangeShapeType="1"/>
                </p:cNvSpPr>
                <p:nvPr/>
              </p:nvSpPr>
              <p:spPr bwMode="auto">
                <a:xfrm rot="16200000" flipH="1">
                  <a:off x="2174" y="718"/>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1" name="Line 286"/>
                <p:cNvSpPr>
                  <a:spLocks noChangeShapeType="1"/>
                </p:cNvSpPr>
                <p:nvPr/>
              </p:nvSpPr>
              <p:spPr bwMode="auto">
                <a:xfrm rot="16200000" flipH="1">
                  <a:off x="2174" y="532"/>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2" name="Line 287"/>
                <p:cNvSpPr>
                  <a:spLocks noChangeShapeType="1"/>
                </p:cNvSpPr>
                <p:nvPr/>
              </p:nvSpPr>
              <p:spPr bwMode="auto">
                <a:xfrm rot="5400000">
                  <a:off x="2174" y="904"/>
                  <a:ext cx="0" cy="226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3" name="Line 288"/>
                <p:cNvSpPr>
                  <a:spLocks noChangeShapeType="1"/>
                </p:cNvSpPr>
                <p:nvPr/>
              </p:nvSpPr>
              <p:spPr bwMode="auto">
                <a:xfrm rot="5400000">
                  <a:off x="2195" y="2395"/>
                  <a:ext cx="0" cy="189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4" name="Line 289"/>
                <p:cNvSpPr>
                  <a:spLocks noChangeShapeType="1"/>
                </p:cNvSpPr>
                <p:nvPr/>
              </p:nvSpPr>
              <p:spPr bwMode="auto">
                <a:xfrm rot="16200000" flipH="1">
                  <a:off x="7928" y="11168"/>
                  <a:ext cx="0" cy="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5" name="Line 290"/>
                <p:cNvSpPr>
                  <a:spLocks noChangeShapeType="1"/>
                </p:cNvSpPr>
                <p:nvPr/>
              </p:nvSpPr>
              <p:spPr bwMode="auto">
                <a:xfrm rot="5400000">
                  <a:off x="4316" y="12094"/>
                  <a:ext cx="0" cy="1092"/>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066" name="Freeform 291"/>
                <p:cNvSpPr>
                  <a:spLocks/>
                </p:cNvSpPr>
                <p:nvPr/>
              </p:nvSpPr>
              <p:spPr bwMode="auto">
                <a:xfrm>
                  <a:off x="6248" y="9664"/>
                  <a:ext cx="252" cy="1426"/>
                </a:xfrm>
                <a:custGeom>
                  <a:avLst/>
                  <a:gdLst>
                    <a:gd name="T0" fmla="*/ 73601 w 168"/>
                    <a:gd name="T1" fmla="*/ 0 h 1426"/>
                    <a:gd name="T2" fmla="*/ 0 w 168"/>
                    <a:gd name="T3" fmla="*/ 0 h 1426"/>
                    <a:gd name="T4" fmla="*/ 0 w 168"/>
                    <a:gd name="T5" fmla="*/ 1426 h 1426"/>
                    <a:gd name="T6" fmla="*/ 0 60000 65536"/>
                    <a:gd name="T7" fmla="*/ 0 60000 65536"/>
                    <a:gd name="T8" fmla="*/ 0 60000 65536"/>
                    <a:gd name="T9" fmla="*/ 0 w 168"/>
                    <a:gd name="T10" fmla="*/ 0 h 1426"/>
                    <a:gd name="T11" fmla="*/ 168 w 168"/>
                    <a:gd name="T12" fmla="*/ 1426 h 1426"/>
                  </a:gdLst>
                  <a:ahLst/>
                  <a:cxnLst>
                    <a:cxn ang="T6">
                      <a:pos x="T0" y="T1"/>
                    </a:cxn>
                    <a:cxn ang="T7">
                      <a:pos x="T2" y="T3"/>
                    </a:cxn>
                    <a:cxn ang="T8">
                      <a:pos x="T4" y="T5"/>
                    </a:cxn>
                  </a:cxnLst>
                  <a:rect l="T9" t="T10" r="T11" b="T12"/>
                  <a:pathLst>
                    <a:path w="168" h="1426">
                      <a:moveTo>
                        <a:pt x="168" y="0"/>
                      </a:moveTo>
                      <a:lnTo>
                        <a:pt x="0" y="0"/>
                      </a:lnTo>
                      <a:lnTo>
                        <a:pt x="0" y="1426"/>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067" name="Line 292"/>
                <p:cNvSpPr>
                  <a:spLocks noChangeShapeType="1"/>
                </p:cNvSpPr>
                <p:nvPr/>
              </p:nvSpPr>
              <p:spPr bwMode="auto">
                <a:xfrm>
                  <a:off x="4694" y="8300"/>
                  <a:ext cx="0" cy="68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68" name="Line 293"/>
                <p:cNvSpPr>
                  <a:spLocks noChangeShapeType="1"/>
                </p:cNvSpPr>
                <p:nvPr/>
              </p:nvSpPr>
              <p:spPr bwMode="auto">
                <a:xfrm rot="5400000">
                  <a:off x="3455" y="10721"/>
                  <a:ext cx="0" cy="483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21069" name="Group 294"/>
                <p:cNvGrpSpPr>
                  <a:grpSpLocks/>
                </p:cNvGrpSpPr>
                <p:nvPr/>
              </p:nvGrpSpPr>
              <p:grpSpPr bwMode="auto">
                <a:xfrm>
                  <a:off x="5996" y="11834"/>
                  <a:ext cx="336" cy="310"/>
                  <a:chOff x="5996" y="11834"/>
                  <a:chExt cx="336" cy="310"/>
                </a:xfrm>
              </p:grpSpPr>
              <p:sp>
                <p:nvSpPr>
                  <p:cNvPr id="121080" name="Line 295"/>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81" name="Line 296"/>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1070" name="Group 297"/>
                <p:cNvGrpSpPr>
                  <a:grpSpLocks/>
                </p:cNvGrpSpPr>
                <p:nvPr/>
              </p:nvGrpSpPr>
              <p:grpSpPr bwMode="auto">
                <a:xfrm>
                  <a:off x="6962" y="11834"/>
                  <a:ext cx="504" cy="310"/>
                  <a:chOff x="5996" y="11834"/>
                  <a:chExt cx="336" cy="310"/>
                </a:xfrm>
              </p:grpSpPr>
              <p:sp>
                <p:nvSpPr>
                  <p:cNvPr id="121078" name="Line 298"/>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79" name="Line 299"/>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1071" name="Group 300"/>
                <p:cNvGrpSpPr>
                  <a:grpSpLocks/>
                </p:cNvGrpSpPr>
                <p:nvPr/>
              </p:nvGrpSpPr>
              <p:grpSpPr bwMode="auto">
                <a:xfrm rot="-5400000">
                  <a:off x="5380" y="12336"/>
                  <a:ext cx="434" cy="546"/>
                  <a:chOff x="5996" y="11834"/>
                  <a:chExt cx="336" cy="310"/>
                </a:xfrm>
              </p:grpSpPr>
              <p:sp>
                <p:nvSpPr>
                  <p:cNvPr id="121076" name="Line 301"/>
                  <p:cNvSpPr>
                    <a:spLocks noChangeShapeType="1"/>
                  </p:cNvSpPr>
                  <p:nvPr/>
                </p:nvSpPr>
                <p:spPr bwMode="auto">
                  <a:xfrm>
                    <a:off x="5996"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077" name="Line 302"/>
                  <p:cNvSpPr>
                    <a:spLocks noChangeShapeType="1"/>
                  </p:cNvSpPr>
                  <p:nvPr/>
                </p:nvSpPr>
                <p:spPr bwMode="auto">
                  <a:xfrm>
                    <a:off x="6332" y="11834"/>
                    <a:ext cx="0" cy="31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1072" name="Freeform 303"/>
                <p:cNvSpPr>
                  <a:spLocks/>
                </p:cNvSpPr>
                <p:nvPr/>
              </p:nvSpPr>
              <p:spPr bwMode="auto">
                <a:xfrm>
                  <a:off x="3770" y="10594"/>
                  <a:ext cx="2100" cy="682"/>
                </a:xfrm>
                <a:custGeom>
                  <a:avLst/>
                  <a:gdLst>
                    <a:gd name="T0" fmla="*/ 2100 w 2100"/>
                    <a:gd name="T1" fmla="*/ 682 h 682"/>
                    <a:gd name="T2" fmla="*/ 1722 w 2100"/>
                    <a:gd name="T3" fmla="*/ 682 h 682"/>
                    <a:gd name="T4" fmla="*/ 1722 w 2100"/>
                    <a:gd name="T5" fmla="*/ 0 h 682"/>
                    <a:gd name="T6" fmla="*/ 0 w 2100"/>
                    <a:gd name="T7" fmla="*/ 0 h 682"/>
                    <a:gd name="T8" fmla="*/ 0 60000 65536"/>
                    <a:gd name="T9" fmla="*/ 0 60000 65536"/>
                    <a:gd name="T10" fmla="*/ 0 60000 65536"/>
                    <a:gd name="T11" fmla="*/ 0 60000 65536"/>
                    <a:gd name="T12" fmla="*/ 0 w 2100"/>
                    <a:gd name="T13" fmla="*/ 0 h 682"/>
                    <a:gd name="T14" fmla="*/ 2100 w 2100"/>
                    <a:gd name="T15" fmla="*/ 682 h 682"/>
                  </a:gdLst>
                  <a:ahLst/>
                  <a:cxnLst>
                    <a:cxn ang="T8">
                      <a:pos x="T0" y="T1"/>
                    </a:cxn>
                    <a:cxn ang="T9">
                      <a:pos x="T2" y="T3"/>
                    </a:cxn>
                    <a:cxn ang="T10">
                      <a:pos x="T4" y="T5"/>
                    </a:cxn>
                    <a:cxn ang="T11">
                      <a:pos x="T6" y="T7"/>
                    </a:cxn>
                  </a:cxnLst>
                  <a:rect l="T12" t="T13" r="T14" b="T15"/>
                  <a:pathLst>
                    <a:path w="2100" h="682">
                      <a:moveTo>
                        <a:pt x="2100" y="682"/>
                      </a:moveTo>
                      <a:lnTo>
                        <a:pt x="1722" y="682"/>
                      </a:lnTo>
                      <a:lnTo>
                        <a:pt x="1722" y="0"/>
                      </a:lnTo>
                      <a:lnTo>
                        <a:pt x="0" y="0"/>
                      </a:lnTo>
                    </a:path>
                  </a:pathLst>
                </a:custGeom>
                <a:noFill/>
                <a:ln w="1905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073" name="Text Box 304"/>
                <p:cNvSpPr txBox="1">
                  <a:spLocks noChangeArrowheads="1"/>
                </p:cNvSpPr>
                <p:nvPr/>
              </p:nvSpPr>
              <p:spPr bwMode="auto">
                <a:xfrm>
                  <a:off x="5450" y="12392"/>
                  <a:ext cx="291"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121074" name="Text Box 305"/>
                <p:cNvSpPr txBox="1">
                  <a:spLocks noChangeArrowheads="1"/>
                </p:cNvSpPr>
                <p:nvPr/>
              </p:nvSpPr>
              <p:spPr bwMode="auto">
                <a:xfrm>
                  <a:off x="595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sp>
              <p:nvSpPr>
                <p:cNvPr id="121075" name="Text Box 306"/>
                <p:cNvSpPr txBox="1">
                  <a:spLocks noChangeArrowheads="1"/>
                </p:cNvSpPr>
                <p:nvPr/>
              </p:nvSpPr>
              <p:spPr bwMode="auto">
                <a:xfrm>
                  <a:off x="7004" y="11834"/>
                  <a:ext cx="42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t>
                  </a:r>
                </a:p>
              </p:txBody>
            </p:sp>
          </p:grpSp>
          <p:grpSp>
            <p:nvGrpSpPr>
              <p:cNvPr id="120841" name="Group 307"/>
              <p:cNvGrpSpPr>
                <a:grpSpLocks/>
              </p:cNvGrpSpPr>
              <p:nvPr/>
            </p:nvGrpSpPr>
            <p:grpSpPr bwMode="auto">
              <a:xfrm>
                <a:off x="1004" y="5007"/>
                <a:ext cx="8527" cy="8696"/>
                <a:chOff x="1040" y="4580"/>
                <a:chExt cx="9282" cy="9424"/>
              </a:xfrm>
            </p:grpSpPr>
            <p:grpSp>
              <p:nvGrpSpPr>
                <p:cNvPr id="120953" name="Group 308"/>
                <p:cNvGrpSpPr>
                  <a:grpSpLocks/>
                </p:cNvGrpSpPr>
                <p:nvPr/>
              </p:nvGrpSpPr>
              <p:grpSpPr bwMode="auto">
                <a:xfrm>
                  <a:off x="4946" y="5758"/>
                  <a:ext cx="168" cy="248"/>
                  <a:chOff x="4316" y="5882"/>
                  <a:chExt cx="168" cy="310"/>
                </a:xfrm>
              </p:grpSpPr>
              <p:sp>
                <p:nvSpPr>
                  <p:cNvPr id="121032" name="Line 30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33" name="Line 31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54" name="Line 311"/>
                <p:cNvSpPr>
                  <a:spLocks noChangeShapeType="1"/>
                </p:cNvSpPr>
                <p:nvPr/>
              </p:nvSpPr>
              <p:spPr bwMode="auto">
                <a:xfrm>
                  <a:off x="5702" y="1164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0955" name="Group 312"/>
                <p:cNvGrpSpPr>
                  <a:grpSpLocks/>
                </p:cNvGrpSpPr>
                <p:nvPr/>
              </p:nvGrpSpPr>
              <p:grpSpPr bwMode="auto">
                <a:xfrm>
                  <a:off x="6332" y="5944"/>
                  <a:ext cx="168" cy="310"/>
                  <a:chOff x="4316" y="5882"/>
                  <a:chExt cx="168" cy="310"/>
                </a:xfrm>
              </p:grpSpPr>
              <p:sp>
                <p:nvSpPr>
                  <p:cNvPr id="121030" name="Line 313"/>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31" name="Line 314"/>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56" name="Group 315"/>
                <p:cNvGrpSpPr>
                  <a:grpSpLocks/>
                </p:cNvGrpSpPr>
                <p:nvPr/>
              </p:nvGrpSpPr>
              <p:grpSpPr bwMode="auto">
                <a:xfrm rot="-5400000">
                  <a:off x="8067" y="8539"/>
                  <a:ext cx="168" cy="310"/>
                  <a:chOff x="4316" y="5882"/>
                  <a:chExt cx="168" cy="310"/>
                </a:xfrm>
              </p:grpSpPr>
              <p:sp>
                <p:nvSpPr>
                  <p:cNvPr id="121028" name="Line 31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29" name="Line 31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57" name="Group 318"/>
                <p:cNvGrpSpPr>
                  <a:grpSpLocks/>
                </p:cNvGrpSpPr>
                <p:nvPr/>
              </p:nvGrpSpPr>
              <p:grpSpPr bwMode="auto">
                <a:xfrm rot="-5400000">
                  <a:off x="8083" y="9611"/>
                  <a:ext cx="168" cy="310"/>
                  <a:chOff x="4316" y="5882"/>
                  <a:chExt cx="168" cy="310"/>
                </a:xfrm>
              </p:grpSpPr>
              <p:sp>
                <p:nvSpPr>
                  <p:cNvPr id="121026" name="Line 319"/>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27" name="Line 320"/>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58" name="Group 321"/>
                <p:cNvGrpSpPr>
                  <a:grpSpLocks/>
                </p:cNvGrpSpPr>
                <p:nvPr/>
              </p:nvGrpSpPr>
              <p:grpSpPr bwMode="auto">
                <a:xfrm rot="-5400000">
                  <a:off x="4623" y="8725"/>
                  <a:ext cx="168" cy="310"/>
                  <a:chOff x="4316" y="5882"/>
                  <a:chExt cx="168" cy="310"/>
                </a:xfrm>
              </p:grpSpPr>
              <p:sp>
                <p:nvSpPr>
                  <p:cNvPr id="121024" name="Line 32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25" name="Line 32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59" name="Group 324"/>
                <p:cNvGrpSpPr>
                  <a:grpSpLocks/>
                </p:cNvGrpSpPr>
                <p:nvPr/>
              </p:nvGrpSpPr>
              <p:grpSpPr bwMode="auto">
                <a:xfrm>
                  <a:off x="4694" y="10904"/>
                  <a:ext cx="168" cy="186"/>
                  <a:chOff x="4316" y="5882"/>
                  <a:chExt cx="168" cy="310"/>
                </a:xfrm>
              </p:grpSpPr>
              <p:sp>
                <p:nvSpPr>
                  <p:cNvPr id="121022" name="Line 325"/>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23" name="Line 326"/>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60" name="Group 327"/>
                <p:cNvGrpSpPr>
                  <a:grpSpLocks/>
                </p:cNvGrpSpPr>
                <p:nvPr/>
              </p:nvGrpSpPr>
              <p:grpSpPr bwMode="auto">
                <a:xfrm>
                  <a:off x="4694" y="11462"/>
                  <a:ext cx="168" cy="186"/>
                  <a:chOff x="4316" y="5882"/>
                  <a:chExt cx="168" cy="310"/>
                </a:xfrm>
              </p:grpSpPr>
              <p:sp>
                <p:nvSpPr>
                  <p:cNvPr id="121020" name="Line 328"/>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21" name="Line 329"/>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61" name="Line 330"/>
                <p:cNvSpPr>
                  <a:spLocks noChangeShapeType="1"/>
                </p:cNvSpPr>
                <p:nvPr/>
              </p:nvSpPr>
              <p:spPr bwMode="auto">
                <a:xfrm>
                  <a:off x="2090" y="8300"/>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62" name="Line 331"/>
                <p:cNvSpPr>
                  <a:spLocks noChangeShapeType="1"/>
                </p:cNvSpPr>
                <p:nvPr/>
              </p:nvSpPr>
              <p:spPr bwMode="auto">
                <a:xfrm>
                  <a:off x="2090" y="9044"/>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63" name="Line 332"/>
                <p:cNvSpPr>
                  <a:spLocks noChangeShapeType="1"/>
                </p:cNvSpPr>
                <p:nvPr/>
              </p:nvSpPr>
              <p:spPr bwMode="auto">
                <a:xfrm>
                  <a:off x="2090" y="9912"/>
                  <a:ext cx="0" cy="1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64" name="Line 333"/>
                <p:cNvSpPr>
                  <a:spLocks noChangeShapeType="1"/>
                </p:cNvSpPr>
                <p:nvPr/>
              </p:nvSpPr>
              <p:spPr bwMode="auto">
                <a:xfrm>
                  <a:off x="4694" y="123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65" name="Line 334"/>
                <p:cNvSpPr>
                  <a:spLocks noChangeShapeType="1"/>
                </p:cNvSpPr>
                <p:nvPr/>
              </p:nvSpPr>
              <p:spPr bwMode="auto">
                <a:xfrm rot="-5400000">
                  <a:off x="5912" y="1098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0966" name="Group 335"/>
                <p:cNvGrpSpPr>
                  <a:grpSpLocks/>
                </p:cNvGrpSpPr>
                <p:nvPr/>
              </p:nvGrpSpPr>
              <p:grpSpPr bwMode="auto">
                <a:xfrm rot="-5400000">
                  <a:off x="4639" y="9779"/>
                  <a:ext cx="168" cy="310"/>
                  <a:chOff x="4316" y="5882"/>
                  <a:chExt cx="168" cy="310"/>
                </a:xfrm>
              </p:grpSpPr>
              <p:sp>
                <p:nvSpPr>
                  <p:cNvPr id="121018" name="Line 336"/>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9" name="Line 337"/>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67" name="Line 338"/>
                <p:cNvSpPr>
                  <a:spLocks noChangeShapeType="1"/>
                </p:cNvSpPr>
                <p:nvPr/>
              </p:nvSpPr>
              <p:spPr bwMode="auto">
                <a:xfrm>
                  <a:off x="4946" y="904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0968" name="Group 339"/>
                <p:cNvGrpSpPr>
                  <a:grpSpLocks/>
                </p:cNvGrpSpPr>
                <p:nvPr/>
              </p:nvGrpSpPr>
              <p:grpSpPr bwMode="auto">
                <a:xfrm>
                  <a:off x="8390" y="8982"/>
                  <a:ext cx="168" cy="496"/>
                  <a:chOff x="4316" y="5882"/>
                  <a:chExt cx="168" cy="310"/>
                </a:xfrm>
              </p:grpSpPr>
              <p:sp>
                <p:nvSpPr>
                  <p:cNvPr id="121016" name="Line 34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7" name="Line 34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69" name="Line 342"/>
                <p:cNvSpPr>
                  <a:spLocks noChangeShapeType="1"/>
                </p:cNvSpPr>
                <p:nvPr/>
              </p:nvSpPr>
              <p:spPr bwMode="auto">
                <a:xfrm rot="-5400000">
                  <a:off x="10238" y="666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70" name="Line 343"/>
                <p:cNvSpPr>
                  <a:spLocks noChangeShapeType="1"/>
                </p:cNvSpPr>
                <p:nvPr/>
              </p:nvSpPr>
              <p:spPr bwMode="auto">
                <a:xfrm>
                  <a:off x="4946" y="92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71" name="Line 344"/>
                <p:cNvSpPr>
                  <a:spLocks noChangeShapeType="1"/>
                </p:cNvSpPr>
                <p:nvPr/>
              </p:nvSpPr>
              <p:spPr bwMode="auto">
                <a:xfrm rot="-5400000">
                  <a:off x="6575" y="10005"/>
                  <a:ext cx="1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72" name="Line 345"/>
                <p:cNvSpPr>
                  <a:spLocks noChangeShapeType="1"/>
                </p:cNvSpPr>
                <p:nvPr/>
              </p:nvSpPr>
              <p:spPr bwMode="auto">
                <a:xfrm rot="-5400000">
                  <a:off x="6670" y="10098"/>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73" name="Line 346"/>
                <p:cNvSpPr>
                  <a:spLocks noChangeShapeType="1"/>
                </p:cNvSpPr>
                <p:nvPr/>
              </p:nvSpPr>
              <p:spPr bwMode="auto">
                <a:xfrm rot="-5400000">
                  <a:off x="6964" y="10222"/>
                  <a:ext cx="24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74" name="Line 347"/>
                <p:cNvSpPr>
                  <a:spLocks noChangeShapeType="1"/>
                </p:cNvSpPr>
                <p:nvPr/>
              </p:nvSpPr>
              <p:spPr bwMode="auto">
                <a:xfrm>
                  <a:off x="7763" y="12330"/>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75" name="Line 348"/>
                <p:cNvSpPr>
                  <a:spLocks noChangeShapeType="1"/>
                </p:cNvSpPr>
                <p:nvPr/>
              </p:nvSpPr>
              <p:spPr bwMode="auto">
                <a:xfrm>
                  <a:off x="7760" y="13074"/>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76" name="Line 349"/>
                <p:cNvSpPr>
                  <a:spLocks noChangeShapeType="1"/>
                </p:cNvSpPr>
                <p:nvPr/>
              </p:nvSpPr>
              <p:spPr bwMode="auto">
                <a:xfrm rot="5400000">
                  <a:off x="7319" y="13348"/>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77" name="Line 350"/>
                <p:cNvSpPr>
                  <a:spLocks noChangeShapeType="1"/>
                </p:cNvSpPr>
                <p:nvPr/>
              </p:nvSpPr>
              <p:spPr bwMode="auto">
                <a:xfrm rot="5400000">
                  <a:off x="6017"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0978" name="Group 351"/>
                <p:cNvGrpSpPr>
                  <a:grpSpLocks/>
                </p:cNvGrpSpPr>
                <p:nvPr/>
              </p:nvGrpSpPr>
              <p:grpSpPr bwMode="auto">
                <a:xfrm>
                  <a:off x="3056" y="8362"/>
                  <a:ext cx="210" cy="558"/>
                  <a:chOff x="4316" y="5882"/>
                  <a:chExt cx="168" cy="310"/>
                </a:xfrm>
              </p:grpSpPr>
              <p:sp>
                <p:nvSpPr>
                  <p:cNvPr id="121014" name="Line 352"/>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5" name="Line 353"/>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79" name="Line 354"/>
                <p:cNvSpPr>
                  <a:spLocks noChangeShapeType="1"/>
                </p:cNvSpPr>
                <p:nvPr/>
              </p:nvSpPr>
              <p:spPr bwMode="auto">
                <a:xfrm>
                  <a:off x="3056" y="997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80" name="Line 355"/>
                <p:cNvSpPr>
                  <a:spLocks noChangeShapeType="1"/>
                </p:cNvSpPr>
                <p:nvPr/>
              </p:nvSpPr>
              <p:spPr bwMode="auto">
                <a:xfrm>
                  <a:off x="1040" y="458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81" name="Line 356"/>
                <p:cNvSpPr>
                  <a:spLocks noChangeShapeType="1"/>
                </p:cNvSpPr>
                <p:nvPr/>
              </p:nvSpPr>
              <p:spPr bwMode="auto">
                <a:xfrm>
                  <a:off x="1040" y="4890"/>
                  <a:ext cx="155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82" name="AutoShape 357"/>
                <p:cNvSpPr>
                  <a:spLocks/>
                </p:cNvSpPr>
                <p:nvPr/>
              </p:nvSpPr>
              <p:spPr bwMode="auto">
                <a:xfrm>
                  <a:off x="8180" y="12330"/>
                  <a:ext cx="126" cy="744"/>
                </a:xfrm>
                <a:prstGeom prst="rightBrace">
                  <a:avLst>
                    <a:gd name="adj1" fmla="val 49206"/>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20983" name="AutoShape 358"/>
                <p:cNvSpPr>
                  <a:spLocks/>
                </p:cNvSpPr>
                <p:nvPr/>
              </p:nvSpPr>
              <p:spPr bwMode="auto">
                <a:xfrm rot="5400000">
                  <a:off x="6722" y="13012"/>
                  <a:ext cx="186" cy="1302"/>
                </a:xfrm>
                <a:prstGeom prst="rightBrace">
                  <a:avLst>
                    <a:gd name="adj1" fmla="val 5833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120984" name="Freeform 359"/>
                <p:cNvSpPr>
                  <a:spLocks/>
                </p:cNvSpPr>
                <p:nvPr/>
              </p:nvSpPr>
              <p:spPr bwMode="auto">
                <a:xfrm>
                  <a:off x="1040" y="13818"/>
                  <a:ext cx="5796" cy="186"/>
                </a:xfrm>
                <a:custGeom>
                  <a:avLst/>
                  <a:gdLst>
                    <a:gd name="T0" fmla="*/ 5796 w 5796"/>
                    <a:gd name="T1" fmla="*/ 0 h 248"/>
                    <a:gd name="T2" fmla="*/ 5796 w 5796"/>
                    <a:gd name="T3" fmla="*/ 4 h 248"/>
                    <a:gd name="T4" fmla="*/ 0 w 5796"/>
                    <a:gd name="T5" fmla="*/ 4 h 248"/>
                    <a:gd name="T6" fmla="*/ 0 60000 65536"/>
                    <a:gd name="T7" fmla="*/ 0 60000 65536"/>
                    <a:gd name="T8" fmla="*/ 0 60000 65536"/>
                    <a:gd name="T9" fmla="*/ 0 w 5796"/>
                    <a:gd name="T10" fmla="*/ 0 h 248"/>
                    <a:gd name="T11" fmla="*/ 5796 w 5796"/>
                    <a:gd name="T12" fmla="*/ 248 h 248"/>
                  </a:gdLst>
                  <a:ahLst/>
                  <a:cxnLst>
                    <a:cxn ang="T6">
                      <a:pos x="T0" y="T1"/>
                    </a:cxn>
                    <a:cxn ang="T7">
                      <a:pos x="T2" y="T3"/>
                    </a:cxn>
                    <a:cxn ang="T8">
                      <a:pos x="T4" y="T5"/>
                    </a:cxn>
                  </a:cxnLst>
                  <a:rect l="T9" t="T10" r="T11" b="T12"/>
                  <a:pathLst>
                    <a:path w="5796" h="248">
                      <a:moveTo>
                        <a:pt x="5796" y="0"/>
                      </a:moveTo>
                      <a:lnTo>
                        <a:pt x="5796" y="248"/>
                      </a:lnTo>
                      <a:lnTo>
                        <a:pt x="0" y="24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20985" name="Group 360"/>
                <p:cNvGrpSpPr>
                  <a:grpSpLocks/>
                </p:cNvGrpSpPr>
                <p:nvPr/>
              </p:nvGrpSpPr>
              <p:grpSpPr bwMode="auto">
                <a:xfrm>
                  <a:off x="4946" y="6254"/>
                  <a:ext cx="168" cy="248"/>
                  <a:chOff x="4316" y="5882"/>
                  <a:chExt cx="168" cy="310"/>
                </a:xfrm>
              </p:grpSpPr>
              <p:sp>
                <p:nvSpPr>
                  <p:cNvPr id="121012" name="Line 361"/>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3" name="Line 362"/>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86" name="Group 363"/>
                <p:cNvGrpSpPr>
                  <a:grpSpLocks/>
                </p:cNvGrpSpPr>
                <p:nvPr/>
              </p:nvGrpSpPr>
              <p:grpSpPr bwMode="auto">
                <a:xfrm>
                  <a:off x="7718" y="5758"/>
                  <a:ext cx="168" cy="744"/>
                  <a:chOff x="7760" y="5758"/>
                  <a:chExt cx="168" cy="744"/>
                </a:xfrm>
              </p:grpSpPr>
              <p:sp>
                <p:nvSpPr>
                  <p:cNvPr id="121008" name="Line 364"/>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9" name="Line 365"/>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0" name="Line 366"/>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11" name="Line 367"/>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87" name="Group 368"/>
                <p:cNvGrpSpPr>
                  <a:grpSpLocks/>
                </p:cNvGrpSpPr>
                <p:nvPr/>
              </p:nvGrpSpPr>
              <p:grpSpPr bwMode="auto">
                <a:xfrm>
                  <a:off x="9104" y="5758"/>
                  <a:ext cx="168" cy="744"/>
                  <a:chOff x="7760" y="5758"/>
                  <a:chExt cx="168" cy="744"/>
                </a:xfrm>
              </p:grpSpPr>
              <p:sp>
                <p:nvSpPr>
                  <p:cNvPr id="121004" name="Line 369"/>
                  <p:cNvSpPr>
                    <a:spLocks noChangeShapeType="1"/>
                  </p:cNvSpPr>
                  <p:nvPr/>
                </p:nvSpPr>
                <p:spPr bwMode="auto">
                  <a:xfrm>
                    <a:off x="7760" y="575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5" name="Line 370"/>
                  <p:cNvSpPr>
                    <a:spLocks noChangeShapeType="1"/>
                  </p:cNvSpPr>
                  <p:nvPr/>
                </p:nvSpPr>
                <p:spPr bwMode="auto">
                  <a:xfrm>
                    <a:off x="7760" y="600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6" name="Line 371"/>
                  <p:cNvSpPr>
                    <a:spLocks noChangeShapeType="1"/>
                  </p:cNvSpPr>
                  <p:nvPr/>
                </p:nvSpPr>
                <p:spPr bwMode="auto">
                  <a:xfrm>
                    <a:off x="7760" y="6254"/>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7" name="Line 372"/>
                  <p:cNvSpPr>
                    <a:spLocks noChangeShapeType="1"/>
                  </p:cNvSpPr>
                  <p:nvPr/>
                </p:nvSpPr>
                <p:spPr bwMode="auto">
                  <a:xfrm>
                    <a:off x="7760" y="650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88" name="Group 373"/>
                <p:cNvGrpSpPr>
                  <a:grpSpLocks/>
                </p:cNvGrpSpPr>
                <p:nvPr/>
              </p:nvGrpSpPr>
              <p:grpSpPr bwMode="auto">
                <a:xfrm>
                  <a:off x="4946" y="7618"/>
                  <a:ext cx="168" cy="310"/>
                  <a:chOff x="4316" y="5882"/>
                  <a:chExt cx="168" cy="310"/>
                </a:xfrm>
              </p:grpSpPr>
              <p:sp>
                <p:nvSpPr>
                  <p:cNvPr id="121002" name="Line 374"/>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3" name="Line 375"/>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89" name="Group 376"/>
                <p:cNvGrpSpPr>
                  <a:grpSpLocks/>
                </p:cNvGrpSpPr>
                <p:nvPr/>
              </p:nvGrpSpPr>
              <p:grpSpPr bwMode="auto">
                <a:xfrm>
                  <a:off x="6332" y="7618"/>
                  <a:ext cx="168" cy="310"/>
                  <a:chOff x="4316" y="5882"/>
                  <a:chExt cx="168" cy="310"/>
                </a:xfrm>
              </p:grpSpPr>
              <p:sp>
                <p:nvSpPr>
                  <p:cNvPr id="121000" name="Line 377"/>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001" name="Line 378"/>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0990" name="Group 379"/>
                <p:cNvGrpSpPr>
                  <a:grpSpLocks/>
                </p:cNvGrpSpPr>
                <p:nvPr/>
              </p:nvGrpSpPr>
              <p:grpSpPr bwMode="auto">
                <a:xfrm>
                  <a:off x="9104" y="7618"/>
                  <a:ext cx="168" cy="310"/>
                  <a:chOff x="4316" y="5882"/>
                  <a:chExt cx="168" cy="310"/>
                </a:xfrm>
              </p:grpSpPr>
              <p:sp>
                <p:nvSpPr>
                  <p:cNvPr id="120998" name="Line 380"/>
                  <p:cNvSpPr>
                    <a:spLocks noChangeShapeType="1"/>
                  </p:cNvSpPr>
                  <p:nvPr/>
                </p:nvSpPr>
                <p:spPr bwMode="auto">
                  <a:xfrm>
                    <a:off x="4316" y="588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9" name="Line 381"/>
                  <p:cNvSpPr>
                    <a:spLocks noChangeShapeType="1"/>
                  </p:cNvSpPr>
                  <p:nvPr/>
                </p:nvSpPr>
                <p:spPr bwMode="auto">
                  <a:xfrm>
                    <a:off x="4316" y="6192"/>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0991" name="Line 382"/>
                <p:cNvSpPr>
                  <a:spLocks noChangeShapeType="1"/>
                </p:cNvSpPr>
                <p:nvPr/>
              </p:nvSpPr>
              <p:spPr bwMode="auto">
                <a:xfrm>
                  <a:off x="7718" y="761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2" name="Line 383"/>
                <p:cNvSpPr>
                  <a:spLocks noChangeShapeType="1"/>
                </p:cNvSpPr>
                <p:nvPr/>
              </p:nvSpPr>
              <p:spPr bwMode="auto">
                <a:xfrm>
                  <a:off x="7718" y="7928"/>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3" name="Line 384"/>
                <p:cNvSpPr>
                  <a:spLocks noChangeShapeType="1"/>
                </p:cNvSpPr>
                <p:nvPr/>
              </p:nvSpPr>
              <p:spPr bwMode="auto">
                <a:xfrm>
                  <a:off x="7718" y="817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4" name="Line 385"/>
                <p:cNvSpPr>
                  <a:spLocks noChangeShapeType="1"/>
                </p:cNvSpPr>
                <p:nvPr/>
              </p:nvSpPr>
              <p:spPr bwMode="auto">
                <a:xfrm>
                  <a:off x="4946" y="972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5" name="Line 386"/>
                <p:cNvSpPr>
                  <a:spLocks noChangeShapeType="1"/>
                </p:cNvSpPr>
                <p:nvPr/>
              </p:nvSpPr>
              <p:spPr bwMode="auto">
                <a:xfrm rot="-5400000">
                  <a:off x="10238" y="7286"/>
                  <a:ext cx="1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996" name="Line 387"/>
                <p:cNvSpPr>
                  <a:spLocks noChangeShapeType="1"/>
                </p:cNvSpPr>
                <p:nvPr/>
              </p:nvSpPr>
              <p:spPr bwMode="auto">
                <a:xfrm>
                  <a:off x="7760" y="12516"/>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0997" name="Line 388"/>
                <p:cNvSpPr>
                  <a:spLocks noChangeShapeType="1"/>
                </p:cNvSpPr>
                <p:nvPr/>
              </p:nvSpPr>
              <p:spPr bwMode="auto">
                <a:xfrm rot="5400000">
                  <a:off x="6185" y="13345"/>
                  <a:ext cx="29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842" name="Group 389"/>
              <p:cNvGrpSpPr>
                <a:grpSpLocks/>
              </p:cNvGrpSpPr>
              <p:nvPr/>
            </p:nvGrpSpPr>
            <p:grpSpPr bwMode="auto">
              <a:xfrm>
                <a:off x="1874" y="2146"/>
                <a:ext cx="7948" cy="10813"/>
                <a:chOff x="1964" y="1480"/>
                <a:chExt cx="8652" cy="11718"/>
              </a:xfrm>
            </p:grpSpPr>
            <p:sp>
              <p:nvSpPr>
                <p:cNvPr id="120920" name="Rectangle 390"/>
                <p:cNvSpPr>
                  <a:spLocks noChangeArrowheads="1"/>
                </p:cNvSpPr>
                <p:nvPr/>
              </p:nvSpPr>
              <p:spPr bwMode="auto">
                <a:xfrm>
                  <a:off x="3140" y="1480"/>
                  <a:ext cx="2604" cy="2232"/>
                </a:xfrm>
                <a:prstGeom prst="rect">
                  <a:avLst/>
                </a:prstGeom>
                <a:solidFill>
                  <a:srgbClr val="FFFF99"/>
                </a:solidFill>
                <a:ln w="19050">
                  <a:solidFill>
                    <a:srgbClr val="000000"/>
                  </a:solidFill>
                  <a:miter lim="800000"/>
                  <a:headEnd/>
                  <a:tailEnd/>
                </a:ln>
              </p:spPr>
              <p:txBody>
                <a:bodyPr/>
                <a:lstStyle/>
                <a:p>
                  <a:pPr>
                    <a:spcBef>
                      <a:spcPct val="0"/>
                    </a:spcBef>
                  </a:pPr>
                  <a:endParaRPr lang="zh-CN" altLang="en-US" sz="1000">
                    <a:latin typeface="Times New Roman" pitchFamily="18" charset="0"/>
                    <a:ea typeface="黑体" pitchFamily="2" charset="-122"/>
                  </a:endParaRPr>
                </a:p>
              </p:txBody>
            </p:sp>
            <p:sp>
              <p:nvSpPr>
                <p:cNvPr id="120921" name="Text Box 391"/>
                <p:cNvSpPr txBox="1">
                  <a:spLocks noChangeArrowheads="1"/>
                </p:cNvSpPr>
                <p:nvPr/>
              </p:nvSpPr>
              <p:spPr bwMode="auto">
                <a:xfrm>
                  <a:off x="6458" y="2472"/>
                  <a:ext cx="1049" cy="43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设备</a:t>
                  </a:r>
                </a:p>
              </p:txBody>
            </p:sp>
            <p:sp>
              <p:nvSpPr>
                <p:cNvPr id="120922" name="Text Box 392"/>
                <p:cNvSpPr txBox="1">
                  <a:spLocks noChangeArrowheads="1"/>
                </p:cNvSpPr>
                <p:nvPr/>
              </p:nvSpPr>
              <p:spPr bwMode="auto">
                <a:xfrm>
                  <a:off x="3311" y="1604"/>
                  <a:ext cx="1049" cy="437"/>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控制逻辑</a:t>
                  </a:r>
                </a:p>
              </p:txBody>
            </p:sp>
            <p:sp>
              <p:nvSpPr>
                <p:cNvPr id="120923" name="Text Box 393"/>
                <p:cNvSpPr txBox="1">
                  <a:spLocks noChangeArrowheads="1"/>
                </p:cNvSpPr>
                <p:nvPr/>
              </p:nvSpPr>
              <p:spPr bwMode="auto">
                <a:xfrm>
                  <a:off x="3308" y="3154"/>
                  <a:ext cx="1050" cy="43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latin typeface="Times New Roman" pitchFamily="18" charset="0"/>
                      <a:ea typeface="黑体" pitchFamily="2" charset="-122"/>
                    </a:rPr>
                    <a:t>地址识别</a:t>
                  </a:r>
                </a:p>
              </p:txBody>
            </p:sp>
            <p:sp>
              <p:nvSpPr>
                <p:cNvPr id="120924" name="Text Box 394"/>
                <p:cNvSpPr txBox="1">
                  <a:spLocks noChangeArrowheads="1"/>
                </p:cNvSpPr>
                <p:nvPr/>
              </p:nvSpPr>
              <p:spPr bwMode="auto">
                <a:xfrm>
                  <a:off x="3308" y="2162"/>
                  <a:ext cx="1722" cy="868"/>
                </a:xfrm>
                <a:prstGeom prst="rect">
                  <a:avLst/>
                </a:prstGeom>
                <a:solidFill>
                  <a:srgbClr val="FFFF99"/>
                </a:solidFill>
                <a:ln w="19050" algn="ctr">
                  <a:solidFill>
                    <a:srgbClr val="000000"/>
                  </a:solidFill>
                  <a:miter lim="800000"/>
                  <a:headEnd/>
                  <a:tailEnd/>
                </a:ln>
              </p:spPr>
              <p:txBody>
                <a:bodyPr lIns="36000" tIns="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0000"/>
                    </a:lnSpc>
                    <a:spcBef>
                      <a:spcPct val="0"/>
                    </a:spcBef>
                  </a:pPr>
                  <a:r>
                    <a:rPr lang="zh-CN" altLang="en-US" sz="1000" dirty="0">
                      <a:latin typeface="Times New Roman" pitchFamily="18" charset="0"/>
                      <a:ea typeface="黑体" pitchFamily="2" charset="-122"/>
                    </a:rPr>
                    <a:t>中断控制逻辑</a:t>
                  </a:r>
                </a:p>
                <a:p>
                  <a:pPr algn="just" eaLnBrk="1" hangingPunct="1">
                    <a:lnSpc>
                      <a:spcPct val="90000"/>
                    </a:lnSpc>
                    <a:spcBef>
                      <a:spcPct val="0"/>
                    </a:spcBef>
                  </a:pPr>
                  <a:r>
                    <a:rPr lang="zh-CN" altLang="en-US" sz="1000" dirty="0">
                      <a:latin typeface="Times New Roman" pitchFamily="18" charset="0"/>
                      <a:ea typeface="黑体" pitchFamily="2" charset="-122"/>
                    </a:rPr>
                    <a:t>命令</a:t>
                  </a:r>
                  <a:r>
                    <a:rPr lang="en-US" altLang="zh-CN" sz="1000" dirty="0">
                      <a:latin typeface="Times New Roman" pitchFamily="18" charset="0"/>
                      <a:ea typeface="黑体" pitchFamily="2" charset="-122"/>
                    </a:rPr>
                    <a:t>/</a:t>
                  </a:r>
                  <a:r>
                    <a:rPr lang="zh-CN" altLang="en-US" sz="1000" dirty="0">
                      <a:latin typeface="Times New Roman" pitchFamily="18" charset="0"/>
                      <a:ea typeface="黑体" pitchFamily="2" charset="-122"/>
                    </a:rPr>
                    <a:t>状态寄存器</a:t>
                  </a:r>
                </a:p>
                <a:p>
                  <a:pPr algn="just" eaLnBrk="1" hangingPunct="1">
                    <a:lnSpc>
                      <a:spcPct val="90000"/>
                    </a:lnSpc>
                    <a:spcBef>
                      <a:spcPct val="0"/>
                    </a:spcBef>
                  </a:pPr>
                  <a:r>
                    <a:rPr lang="zh-CN" altLang="en-US" sz="1000" dirty="0">
                      <a:latin typeface="Times New Roman" pitchFamily="18" charset="0"/>
                      <a:ea typeface="黑体" pitchFamily="2" charset="-122"/>
                    </a:rPr>
                    <a:t>数据寄存器</a:t>
                  </a:r>
                </a:p>
              </p:txBody>
            </p:sp>
            <p:sp>
              <p:nvSpPr>
                <p:cNvPr id="120925" name="Text Box 395"/>
                <p:cNvSpPr txBox="1">
                  <a:spLocks noChangeArrowheads="1"/>
                </p:cNvSpPr>
                <p:nvPr/>
              </p:nvSpPr>
              <p:spPr bwMode="auto">
                <a:xfrm>
                  <a:off x="4484"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SP</a:t>
                  </a:r>
                </a:p>
              </p:txBody>
            </p:sp>
            <p:sp>
              <p:nvSpPr>
                <p:cNvPr id="120926" name="Text Box 396"/>
                <p:cNvSpPr txBox="1">
                  <a:spLocks noChangeArrowheads="1"/>
                </p:cNvSpPr>
                <p:nvPr/>
              </p:nvSpPr>
              <p:spPr bwMode="auto">
                <a:xfrm>
                  <a:off x="5870"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BP</a:t>
                  </a:r>
                </a:p>
              </p:txBody>
            </p:sp>
            <p:sp>
              <p:nvSpPr>
                <p:cNvPr id="120927" name="Text Box 397"/>
                <p:cNvSpPr txBox="1">
                  <a:spLocks noChangeArrowheads="1"/>
                </p:cNvSpPr>
                <p:nvPr/>
              </p:nvSpPr>
              <p:spPr bwMode="auto">
                <a:xfrm>
                  <a:off x="7256"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DI</a:t>
                  </a:r>
                </a:p>
              </p:txBody>
            </p:sp>
            <p:sp>
              <p:nvSpPr>
                <p:cNvPr id="120928" name="Text Box 398"/>
                <p:cNvSpPr txBox="1">
                  <a:spLocks noChangeArrowheads="1"/>
                </p:cNvSpPr>
                <p:nvPr/>
              </p:nvSpPr>
              <p:spPr bwMode="auto">
                <a:xfrm>
                  <a:off x="8642" y="56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SI</a:t>
                  </a:r>
                </a:p>
              </p:txBody>
            </p:sp>
            <p:sp>
              <p:nvSpPr>
                <p:cNvPr id="120929" name="Text Box 399"/>
                <p:cNvSpPr txBox="1">
                  <a:spLocks noChangeArrowheads="1"/>
                </p:cNvSpPr>
                <p:nvPr/>
              </p:nvSpPr>
              <p:spPr bwMode="auto">
                <a:xfrm>
                  <a:off x="4484"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AX</a:t>
                  </a:r>
                </a:p>
              </p:txBody>
            </p:sp>
            <p:sp>
              <p:nvSpPr>
                <p:cNvPr id="120930" name="Text Box 400"/>
                <p:cNvSpPr txBox="1">
                  <a:spLocks noChangeArrowheads="1"/>
                </p:cNvSpPr>
                <p:nvPr/>
              </p:nvSpPr>
              <p:spPr bwMode="auto">
                <a:xfrm>
                  <a:off x="5870"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BX</a:t>
                  </a:r>
                </a:p>
              </p:txBody>
            </p:sp>
            <p:sp>
              <p:nvSpPr>
                <p:cNvPr id="120931" name="Text Box 401"/>
                <p:cNvSpPr txBox="1">
                  <a:spLocks noChangeArrowheads="1"/>
                </p:cNvSpPr>
                <p:nvPr/>
              </p:nvSpPr>
              <p:spPr bwMode="auto">
                <a:xfrm>
                  <a:off x="7256"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CX</a:t>
                  </a:r>
                </a:p>
              </p:txBody>
            </p:sp>
            <p:sp>
              <p:nvSpPr>
                <p:cNvPr id="120932" name="Text Box 402"/>
                <p:cNvSpPr txBox="1">
                  <a:spLocks noChangeArrowheads="1"/>
                </p:cNvSpPr>
                <p:nvPr/>
              </p:nvSpPr>
              <p:spPr bwMode="auto">
                <a:xfrm>
                  <a:off x="8642" y="743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DX</a:t>
                  </a:r>
                </a:p>
              </p:txBody>
            </p:sp>
            <p:sp>
              <p:nvSpPr>
                <p:cNvPr id="120933" name="Text Box 403"/>
                <p:cNvSpPr txBox="1">
                  <a:spLocks noChangeArrowheads="1"/>
                </p:cNvSpPr>
                <p:nvPr/>
              </p:nvSpPr>
              <p:spPr bwMode="auto">
                <a:xfrm>
                  <a:off x="4484" y="898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T</a:t>
                  </a:r>
                </a:p>
              </p:txBody>
            </p:sp>
            <p:grpSp>
              <p:nvGrpSpPr>
                <p:cNvPr id="120934" name="Group 404"/>
                <p:cNvGrpSpPr>
                  <a:grpSpLocks/>
                </p:cNvGrpSpPr>
                <p:nvPr/>
              </p:nvGrpSpPr>
              <p:grpSpPr bwMode="auto">
                <a:xfrm>
                  <a:off x="2594" y="4022"/>
                  <a:ext cx="1260" cy="1736"/>
                  <a:chOff x="2468" y="4642"/>
                  <a:chExt cx="1050" cy="1612"/>
                </a:xfrm>
              </p:grpSpPr>
              <p:sp>
                <p:nvSpPr>
                  <p:cNvPr id="120949" name="Text Box 405"/>
                  <p:cNvSpPr txBox="1">
                    <a:spLocks noChangeArrowheads="1"/>
                  </p:cNvSpPr>
                  <p:nvPr/>
                </p:nvSpPr>
                <p:spPr bwMode="auto">
                  <a:xfrm>
                    <a:off x="2468" y="4642"/>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MDR</a:t>
                    </a:r>
                  </a:p>
                </p:txBody>
              </p:sp>
              <p:sp>
                <p:nvSpPr>
                  <p:cNvPr id="120950" name="Text Box 406"/>
                  <p:cNvSpPr txBox="1">
                    <a:spLocks noChangeArrowheads="1"/>
                  </p:cNvSpPr>
                  <p:nvPr/>
                </p:nvSpPr>
                <p:spPr bwMode="auto">
                  <a:xfrm>
                    <a:off x="2468" y="5944"/>
                    <a:ext cx="1050" cy="310"/>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latin typeface="Times New Roman" pitchFamily="18" charset="0"/>
                        <a:ea typeface="黑体" pitchFamily="2" charset="-122"/>
                      </a:rPr>
                      <a:t>MAR</a:t>
                    </a:r>
                  </a:p>
                </p:txBody>
              </p:sp>
              <p:sp>
                <p:nvSpPr>
                  <p:cNvPr id="120951" name="Text Box 407"/>
                  <p:cNvSpPr txBox="1">
                    <a:spLocks noChangeArrowheads="1"/>
                  </p:cNvSpPr>
                  <p:nvPr/>
                </p:nvSpPr>
                <p:spPr bwMode="auto">
                  <a:xfrm>
                    <a:off x="2468" y="4952"/>
                    <a:ext cx="378" cy="992"/>
                  </a:xfrm>
                  <a:prstGeom prst="rect">
                    <a:avLst/>
                  </a:prstGeom>
                  <a:solidFill>
                    <a:srgbClr val="FFFF99"/>
                  </a:solidFill>
                  <a:ln w="19050">
                    <a:solidFill>
                      <a:srgbClr val="000000"/>
                    </a:solidFill>
                    <a:miter lim="800000"/>
                    <a:headEnd/>
                    <a:tailEnd/>
                  </a:ln>
                </p:spPr>
                <p:txBody>
                  <a:bodyPr vert="eaVert" lIns="0" tIns="0" rIns="360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zh-CN" altLang="en-US" sz="1000">
                        <a:latin typeface="Times New Roman" pitchFamily="18" charset="0"/>
                        <a:ea typeface="黑体" pitchFamily="2" charset="-122"/>
                      </a:rPr>
                      <a:t>控制逻辑</a:t>
                    </a:r>
                  </a:p>
                </p:txBody>
              </p:sp>
              <p:sp>
                <p:nvSpPr>
                  <p:cNvPr id="120952" name="Text Box 408"/>
                  <p:cNvSpPr txBox="1">
                    <a:spLocks noChangeArrowheads="1"/>
                  </p:cNvSpPr>
                  <p:nvPr/>
                </p:nvSpPr>
                <p:spPr bwMode="auto">
                  <a:xfrm>
                    <a:off x="2846" y="4952"/>
                    <a:ext cx="672" cy="992"/>
                  </a:xfrm>
                  <a:prstGeom prst="rect">
                    <a:avLst/>
                  </a:prstGeom>
                  <a:solidFill>
                    <a:srgbClr val="FFFF99"/>
                  </a:solidFill>
                  <a:ln w="19050">
                    <a:solidFill>
                      <a:srgbClr val="000000"/>
                    </a:solidFill>
                    <a:miter lim="800000"/>
                    <a:headEnd/>
                    <a:tailEnd/>
                  </a:ln>
                </p:spPr>
                <p:txBody>
                  <a:bodyPr lIns="36000" tIns="18000" rIns="720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主存</a:t>
                    </a:r>
                  </a:p>
                  <a:p>
                    <a:pPr algn="ctr" eaLnBrk="1" hangingPunct="1">
                      <a:lnSpc>
                        <a:spcPct val="96000"/>
                      </a:lnSpc>
                      <a:spcBef>
                        <a:spcPct val="0"/>
                      </a:spcBef>
                    </a:pPr>
                    <a:r>
                      <a:rPr lang="en-US" altLang="zh-CN" sz="1000" dirty="0">
                        <a:latin typeface="Times New Roman" pitchFamily="18" charset="0"/>
                        <a:ea typeface="黑体" pitchFamily="2" charset="-122"/>
                      </a:rPr>
                      <a:t>MM</a:t>
                    </a:r>
                  </a:p>
                </p:txBody>
              </p:sp>
            </p:grpSp>
            <p:sp>
              <p:nvSpPr>
                <p:cNvPr id="120935" name="Text Box 409"/>
                <p:cNvSpPr txBox="1">
                  <a:spLocks noChangeArrowheads="1"/>
                </p:cNvSpPr>
                <p:nvPr/>
              </p:nvSpPr>
              <p:spPr bwMode="auto">
                <a:xfrm>
                  <a:off x="2594" y="8238"/>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DR</a:t>
                  </a:r>
                </a:p>
              </p:txBody>
            </p:sp>
            <p:sp>
              <p:nvSpPr>
                <p:cNvPr id="120936" name="Text Box 410"/>
                <p:cNvSpPr txBox="1">
                  <a:spLocks noChangeArrowheads="1"/>
                </p:cNvSpPr>
                <p:nvPr/>
              </p:nvSpPr>
              <p:spPr bwMode="auto">
                <a:xfrm>
                  <a:off x="2594" y="9416"/>
                  <a:ext cx="462" cy="806"/>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AR</a:t>
                  </a:r>
                </a:p>
              </p:txBody>
            </p:sp>
            <p:sp>
              <p:nvSpPr>
                <p:cNvPr id="120937" name="Text Box 411"/>
                <p:cNvSpPr txBox="1">
                  <a:spLocks noChangeArrowheads="1"/>
                </p:cNvSpPr>
                <p:nvPr/>
              </p:nvSpPr>
              <p:spPr bwMode="auto">
                <a:xfrm>
                  <a:off x="7928" y="879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S</a:t>
                  </a:r>
                </a:p>
              </p:txBody>
            </p:sp>
            <p:sp>
              <p:nvSpPr>
                <p:cNvPr id="120938" name="Text Box 412"/>
                <p:cNvSpPr txBox="1">
                  <a:spLocks noChangeArrowheads="1"/>
                </p:cNvSpPr>
                <p:nvPr/>
              </p:nvSpPr>
              <p:spPr bwMode="auto">
                <a:xfrm>
                  <a:off x="4862" y="10842"/>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PC</a:t>
                  </a:r>
                </a:p>
              </p:txBody>
            </p:sp>
            <p:sp>
              <p:nvSpPr>
                <p:cNvPr id="120939" name="Text Box 413"/>
                <p:cNvSpPr txBox="1">
                  <a:spLocks noChangeArrowheads="1"/>
                </p:cNvSpPr>
                <p:nvPr/>
              </p:nvSpPr>
              <p:spPr bwMode="auto">
                <a:xfrm>
                  <a:off x="4862" y="12206"/>
                  <a:ext cx="462" cy="868"/>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IR</a:t>
                  </a:r>
                </a:p>
              </p:txBody>
            </p:sp>
            <p:sp>
              <p:nvSpPr>
                <p:cNvPr id="120940" name="Text Box 414"/>
                <p:cNvSpPr txBox="1">
                  <a:spLocks noChangeArrowheads="1"/>
                </p:cNvSpPr>
                <p:nvPr/>
              </p:nvSpPr>
              <p:spPr bwMode="auto">
                <a:xfrm>
                  <a:off x="5870" y="11090"/>
                  <a:ext cx="546" cy="744"/>
                </a:xfrm>
                <a:prstGeom prst="rect">
                  <a:avLst/>
                </a:prstGeom>
                <a:solidFill>
                  <a:srgbClr val="FFFF99"/>
                </a:solidFill>
                <a:ln w="19050">
                  <a:solidFill>
                    <a:srgbClr val="000000"/>
                  </a:solidFill>
                  <a:miter lim="800000"/>
                  <a:headEnd/>
                  <a:tailEnd/>
                </a:ln>
              </p:spPr>
              <p:txBody>
                <a:bodyPr lIns="0" r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PSW</a:t>
                  </a:r>
                </a:p>
              </p:txBody>
            </p:sp>
            <p:sp>
              <p:nvSpPr>
                <p:cNvPr id="120941" name="Text Box 415"/>
                <p:cNvSpPr txBox="1">
                  <a:spLocks noChangeArrowheads="1"/>
                </p:cNvSpPr>
                <p:nvPr/>
              </p:nvSpPr>
              <p:spPr bwMode="auto">
                <a:xfrm>
                  <a:off x="5870" y="12144"/>
                  <a:ext cx="1890" cy="1054"/>
                </a:xfrm>
                <a:prstGeom prst="rect">
                  <a:avLst/>
                </a:prstGeom>
                <a:solidFill>
                  <a:srgbClr val="FFFF99"/>
                </a:solidFill>
                <a:ln w="19050" algn="ctr">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endParaRPr lang="zh-CN" altLang="en-US" sz="1000">
                    <a:latin typeface="Times New Roman" pitchFamily="18" charset="0"/>
                    <a:ea typeface="黑体" pitchFamily="2" charset="-122"/>
                  </a:endParaRPr>
                </a:p>
                <a:p>
                  <a:pPr algn="ctr" eaLnBrk="1" hangingPunct="1">
                    <a:lnSpc>
                      <a:spcPct val="96000"/>
                    </a:lnSpc>
                    <a:spcBef>
                      <a:spcPct val="0"/>
                    </a:spcBef>
                  </a:pPr>
                  <a:r>
                    <a:rPr lang="zh-CN" altLang="en-US" sz="1000">
                      <a:latin typeface="Times New Roman" pitchFamily="18" charset="0"/>
                      <a:ea typeface="黑体" pitchFamily="2" charset="-122"/>
                    </a:rPr>
                    <a:t>微操作</a:t>
                  </a:r>
                </a:p>
                <a:p>
                  <a:pPr algn="ctr" eaLnBrk="1" hangingPunct="1">
                    <a:lnSpc>
                      <a:spcPct val="96000"/>
                    </a:lnSpc>
                    <a:spcBef>
                      <a:spcPct val="0"/>
                    </a:spcBef>
                  </a:pPr>
                  <a:r>
                    <a:rPr lang="zh-CN" altLang="en-US" sz="1000">
                      <a:latin typeface="Times New Roman" pitchFamily="18" charset="0"/>
                      <a:ea typeface="黑体" pitchFamily="2" charset="-122"/>
                    </a:rPr>
                    <a:t>信号发生器</a:t>
                  </a:r>
                </a:p>
              </p:txBody>
            </p:sp>
            <p:sp>
              <p:nvSpPr>
                <p:cNvPr id="120942" name="Text Box 416"/>
                <p:cNvSpPr txBox="1">
                  <a:spLocks noChangeArrowheads="1"/>
                </p:cNvSpPr>
                <p:nvPr/>
              </p:nvSpPr>
              <p:spPr bwMode="auto">
                <a:xfrm>
                  <a:off x="6794" y="11090"/>
                  <a:ext cx="840"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时序</a:t>
                  </a:r>
                </a:p>
                <a:p>
                  <a:pPr algn="ctr" eaLnBrk="1" hangingPunct="1">
                    <a:lnSpc>
                      <a:spcPct val="96000"/>
                    </a:lnSpc>
                    <a:spcBef>
                      <a:spcPct val="0"/>
                    </a:spcBef>
                  </a:pPr>
                  <a:r>
                    <a:rPr lang="zh-CN" altLang="en-US" sz="1000">
                      <a:latin typeface="Times New Roman" pitchFamily="18" charset="0"/>
                      <a:ea typeface="黑体" pitchFamily="2" charset="-122"/>
                    </a:rPr>
                    <a:t>部件</a:t>
                  </a:r>
                </a:p>
              </p:txBody>
            </p:sp>
            <p:sp>
              <p:nvSpPr>
                <p:cNvPr id="120943" name="Text Box 417"/>
                <p:cNvSpPr txBox="1">
                  <a:spLocks noChangeArrowheads="1"/>
                </p:cNvSpPr>
                <p:nvPr/>
              </p:nvSpPr>
              <p:spPr bwMode="auto">
                <a:xfrm>
                  <a:off x="10028" y="6750"/>
                  <a:ext cx="588" cy="434"/>
                </a:xfrm>
                <a:prstGeom prst="rect">
                  <a:avLst/>
                </a:prstGeom>
                <a:solidFill>
                  <a:srgbClr val="FFFF99"/>
                </a:solidFill>
                <a:ln w="19050">
                  <a:solidFill>
                    <a:srgbClr val="000000"/>
                  </a:solidFill>
                  <a:miter lim="800000"/>
                  <a:headEnd/>
                  <a:tailEnd/>
                </a:ln>
              </p:spPr>
              <p:txBody>
                <a:bodyPr lIns="36000" tIns="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CT</a:t>
                  </a:r>
                </a:p>
              </p:txBody>
            </p:sp>
            <p:sp>
              <p:nvSpPr>
                <p:cNvPr id="120944" name="AutoShape 418"/>
                <p:cNvSpPr>
                  <a:spLocks noChangeArrowheads="1"/>
                </p:cNvSpPr>
                <p:nvPr/>
              </p:nvSpPr>
              <p:spPr bwMode="auto">
                <a:xfrm rot="-5400000">
                  <a:off x="1935" y="9693"/>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20945" name="AutoShape 419"/>
                <p:cNvSpPr>
                  <a:spLocks noChangeArrowheads="1"/>
                </p:cNvSpPr>
                <p:nvPr/>
              </p:nvSpPr>
              <p:spPr bwMode="auto">
                <a:xfrm rot="5400000" flipH="1">
                  <a:off x="1956" y="8846"/>
                  <a:ext cx="310" cy="210"/>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20946" name="AutoShape 420"/>
                <p:cNvSpPr>
                  <a:spLocks noChangeArrowheads="1"/>
                </p:cNvSpPr>
                <p:nvPr/>
              </p:nvSpPr>
              <p:spPr bwMode="auto">
                <a:xfrm rot="-5400000">
                  <a:off x="1935" y="8391"/>
                  <a:ext cx="310" cy="252"/>
                </a:xfrm>
                <a:prstGeom prst="triangle">
                  <a:avLst>
                    <a:gd name="adj" fmla="val 50000"/>
                  </a:avLst>
                </a:prstGeom>
                <a:solidFill>
                  <a:srgbClr val="FFFF99"/>
                </a:solidFill>
                <a:ln w="19050">
                  <a:solidFill>
                    <a:srgbClr val="000000"/>
                  </a:solidFill>
                  <a:miter lim="800000"/>
                  <a:headEnd/>
                  <a:tailEnd/>
                </a:ln>
              </p:spPr>
              <p:txBody>
                <a:bodyPr/>
                <a:lstStyle/>
                <a:p>
                  <a:endParaRPr lang="zh-CN" altLang="en-US">
                    <a:latin typeface="黑体" pitchFamily="2" charset="-122"/>
                    <a:ea typeface="黑体" pitchFamily="2" charset="-122"/>
                  </a:endParaRPr>
                </a:p>
              </p:txBody>
            </p:sp>
            <p:sp>
              <p:nvSpPr>
                <p:cNvPr id="120947" name="AutoShape 421"/>
                <p:cNvSpPr>
                  <a:spLocks noChangeArrowheads="1"/>
                </p:cNvSpPr>
                <p:nvPr/>
              </p:nvSpPr>
              <p:spPr bwMode="auto">
                <a:xfrm rot="5400000">
                  <a:off x="6217" y="9079"/>
                  <a:ext cx="1364" cy="7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81 w 21600"/>
                    <a:gd name="T13" fmla="*/ 4195 h 21600"/>
                    <a:gd name="T14" fmla="*/ 17419 w 21600"/>
                    <a:gd name="T15" fmla="*/ 17405 h 21600"/>
                  </a:gdLst>
                  <a:ahLst/>
                  <a:cxnLst>
                    <a:cxn ang="T8">
                      <a:pos x="T0" y="T1"/>
                    </a:cxn>
                    <a:cxn ang="T9">
                      <a:pos x="T2" y="T3"/>
                    </a:cxn>
                    <a:cxn ang="T10">
                      <a:pos x="T4" y="T5"/>
                    </a:cxn>
                    <a:cxn ang="T11">
                      <a:pos x="T6" y="T7"/>
                    </a:cxn>
                  </a:cxnLst>
                  <a:rect l="T12" t="T13" r="T14" b="T15"/>
                  <a:pathLst>
                    <a:path w="21600" h="21600">
                      <a:moveTo>
                        <a:pt x="0" y="0"/>
                      </a:moveTo>
                      <a:lnTo>
                        <a:pt x="4767" y="21600"/>
                      </a:lnTo>
                      <a:lnTo>
                        <a:pt x="16833" y="21600"/>
                      </a:lnTo>
                      <a:lnTo>
                        <a:pt x="21600" y="0"/>
                      </a:lnTo>
                      <a:lnTo>
                        <a:pt x="0" y="0"/>
                      </a:lnTo>
                      <a:close/>
                    </a:path>
                  </a:pathLst>
                </a:custGeom>
                <a:solidFill>
                  <a:srgbClr val="FFFF99"/>
                </a:solidFill>
                <a:ln w="19050">
                  <a:solidFill>
                    <a:srgbClr val="000000"/>
                  </a:solidFill>
                  <a:miter lim="800000"/>
                  <a:headEnd/>
                  <a:tailEnd/>
                </a:ln>
              </p:spPr>
              <p:txBody>
                <a:bodyPr lIns="0" tIns="0" rIns="0" bIns="0"/>
                <a:lstStyle/>
                <a:p>
                  <a:pPr algn="just">
                    <a:lnSpc>
                      <a:spcPct val="96000"/>
                    </a:lnSpc>
                    <a:spcBef>
                      <a:spcPct val="0"/>
                    </a:spcBef>
                  </a:pPr>
                  <a:endParaRPr lang="zh-CN" altLang="en-US" sz="1000">
                    <a:latin typeface="Times New Roman" pitchFamily="18" charset="0"/>
                    <a:ea typeface="黑体" pitchFamily="2" charset="-122"/>
                  </a:endParaRPr>
                </a:p>
                <a:p>
                  <a:pPr algn="just">
                    <a:lnSpc>
                      <a:spcPct val="96000"/>
                    </a:lnSpc>
                    <a:spcBef>
                      <a:spcPct val="0"/>
                    </a:spcBef>
                  </a:pPr>
                  <a:r>
                    <a:rPr lang="en-US" altLang="zh-CN" sz="1000" dirty="0">
                      <a:latin typeface="Times New Roman" pitchFamily="18" charset="0"/>
                      <a:ea typeface="黑体" pitchFamily="2" charset="-122"/>
                    </a:rPr>
                    <a:t>ALU</a:t>
                  </a:r>
                </a:p>
                <a:p>
                  <a:pPr>
                    <a:spcBef>
                      <a:spcPct val="0"/>
                    </a:spcBef>
                  </a:pPr>
                  <a:endParaRPr lang="en-US" altLang="zh-CN" sz="1000" dirty="0">
                    <a:latin typeface="Times New Roman" pitchFamily="18" charset="0"/>
                    <a:ea typeface="黑体" pitchFamily="2" charset="-122"/>
                  </a:endParaRPr>
                </a:p>
              </p:txBody>
            </p:sp>
            <p:sp>
              <p:nvSpPr>
                <p:cNvPr id="120948" name="Text Box 422"/>
                <p:cNvSpPr txBox="1">
                  <a:spLocks noChangeArrowheads="1"/>
                </p:cNvSpPr>
                <p:nvPr/>
              </p:nvSpPr>
              <p:spPr bwMode="auto">
                <a:xfrm>
                  <a:off x="8222" y="11090"/>
                  <a:ext cx="378" cy="744"/>
                </a:xfrm>
                <a:prstGeom prst="rect">
                  <a:avLst/>
                </a:prstGeom>
                <a:solidFill>
                  <a:srgbClr val="FFFF99"/>
                </a:solidFill>
                <a:ln w="19050">
                  <a:solidFill>
                    <a:srgbClr val="000000"/>
                  </a:solidFill>
                  <a:miter lim="800000"/>
                  <a:headEnd/>
                  <a:tailEnd/>
                </a:ln>
              </p:spPr>
              <p:txBody>
                <a:bodyPr lIns="36000" rIns="720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zh-CN" altLang="en-US" sz="1000">
                      <a:latin typeface="Times New Roman" pitchFamily="18" charset="0"/>
                      <a:ea typeface="黑体" pitchFamily="2" charset="-122"/>
                    </a:rPr>
                    <a:t>时</a:t>
                  </a:r>
                </a:p>
                <a:p>
                  <a:pPr algn="ctr" eaLnBrk="1" hangingPunct="1">
                    <a:lnSpc>
                      <a:spcPct val="96000"/>
                    </a:lnSpc>
                    <a:spcBef>
                      <a:spcPct val="0"/>
                    </a:spcBef>
                  </a:pPr>
                  <a:r>
                    <a:rPr lang="zh-CN" altLang="en-US" sz="1000">
                      <a:latin typeface="Times New Roman" pitchFamily="18" charset="0"/>
                      <a:ea typeface="黑体" pitchFamily="2" charset="-122"/>
                    </a:rPr>
                    <a:t>钟</a:t>
                  </a:r>
                </a:p>
              </p:txBody>
            </p:sp>
          </p:grpSp>
          <p:grpSp>
            <p:nvGrpSpPr>
              <p:cNvPr id="120843" name="Group 423"/>
              <p:cNvGrpSpPr>
                <a:grpSpLocks/>
              </p:cNvGrpSpPr>
              <p:nvPr/>
            </p:nvGrpSpPr>
            <p:grpSpPr bwMode="auto">
              <a:xfrm>
                <a:off x="1478" y="4721"/>
                <a:ext cx="8489" cy="9268"/>
                <a:chOff x="2024" y="4750"/>
                <a:chExt cx="9240" cy="10044"/>
              </a:xfrm>
            </p:grpSpPr>
            <p:sp>
              <p:nvSpPr>
                <p:cNvPr id="120853" name="Text Box 424"/>
                <p:cNvSpPr txBox="1">
                  <a:spLocks noChangeArrowheads="1"/>
                </p:cNvSpPr>
                <p:nvPr/>
              </p:nvSpPr>
              <p:spPr bwMode="auto">
                <a:xfrm>
                  <a:off x="10592" y="6734"/>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+1CT</a:t>
                  </a:r>
                  <a:endParaRPr lang="en-US" altLang="zh-CN" sz="1000" dirty="0">
                    <a:latin typeface="Times New Roman" pitchFamily="18" charset="0"/>
                    <a:ea typeface="黑体" pitchFamily="2" charset="-122"/>
                  </a:endParaRPr>
                </a:p>
              </p:txBody>
            </p:sp>
            <p:sp>
              <p:nvSpPr>
                <p:cNvPr id="120854" name="Text Box 425"/>
                <p:cNvSpPr txBox="1">
                  <a:spLocks noChangeArrowheads="1"/>
                </p:cNvSpPr>
                <p:nvPr/>
              </p:nvSpPr>
              <p:spPr bwMode="auto">
                <a:xfrm>
                  <a:off x="10592" y="7850"/>
                  <a:ext cx="6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0→CT</a:t>
                  </a:r>
                  <a:endParaRPr lang="en-US" altLang="zh-CN" sz="1000" dirty="0">
                    <a:latin typeface="Times New Roman" pitchFamily="18" charset="0"/>
                    <a:ea typeface="黑体" pitchFamily="2" charset="-122"/>
                  </a:endParaRPr>
                </a:p>
              </p:txBody>
            </p:sp>
            <p:grpSp>
              <p:nvGrpSpPr>
                <p:cNvPr id="120855" name="Group 426"/>
                <p:cNvGrpSpPr>
                  <a:grpSpLocks/>
                </p:cNvGrpSpPr>
                <p:nvPr/>
              </p:nvGrpSpPr>
              <p:grpSpPr bwMode="auto">
                <a:xfrm>
                  <a:off x="2024" y="4750"/>
                  <a:ext cx="840" cy="620"/>
                  <a:chOff x="1544" y="4270"/>
                  <a:chExt cx="882" cy="620"/>
                </a:xfrm>
              </p:grpSpPr>
              <p:sp>
                <p:nvSpPr>
                  <p:cNvPr id="120918" name="Text Box 427"/>
                  <p:cNvSpPr txBox="1">
                    <a:spLocks noChangeArrowheads="1"/>
                  </p:cNvSpPr>
                  <p:nvPr/>
                </p:nvSpPr>
                <p:spPr bwMode="auto">
                  <a:xfrm>
                    <a:off x="1544" y="427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/MMRD</a:t>
                    </a:r>
                    <a:endParaRPr lang="en-US" altLang="zh-CN" sz="1000" dirty="0">
                      <a:latin typeface="Times New Roman" pitchFamily="18" charset="0"/>
                      <a:ea typeface="黑体" pitchFamily="2" charset="-122"/>
                    </a:endParaRPr>
                  </a:p>
                </p:txBody>
              </p:sp>
              <p:sp>
                <p:nvSpPr>
                  <p:cNvPr id="120919" name="Text Box 428"/>
                  <p:cNvSpPr txBox="1">
                    <a:spLocks noChangeArrowheads="1"/>
                  </p:cNvSpPr>
                  <p:nvPr/>
                </p:nvSpPr>
                <p:spPr bwMode="auto">
                  <a:xfrm>
                    <a:off x="1544" y="4580"/>
                    <a:ext cx="88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/MMWR</a:t>
                    </a:r>
                    <a:endParaRPr lang="en-US" altLang="zh-CN" sz="1000" dirty="0">
                      <a:latin typeface="Times New Roman" pitchFamily="18" charset="0"/>
                      <a:ea typeface="黑体" pitchFamily="2" charset="-122"/>
                    </a:endParaRPr>
                  </a:p>
                </p:txBody>
              </p:sp>
            </p:grpSp>
            <p:grpSp>
              <p:nvGrpSpPr>
                <p:cNvPr id="120856" name="Group 429"/>
                <p:cNvGrpSpPr>
                  <a:grpSpLocks/>
                </p:cNvGrpSpPr>
                <p:nvPr/>
              </p:nvGrpSpPr>
              <p:grpSpPr bwMode="auto">
                <a:xfrm>
                  <a:off x="5636" y="5928"/>
                  <a:ext cx="756" cy="1240"/>
                  <a:chOff x="5114" y="5510"/>
                  <a:chExt cx="798" cy="1240"/>
                </a:xfrm>
              </p:grpSpPr>
              <p:sp>
                <p:nvSpPr>
                  <p:cNvPr id="120914" name="Text Box 430"/>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+2SP</a:t>
                    </a:r>
                    <a:endParaRPr lang="en-US" altLang="zh-CN" sz="1000" dirty="0">
                      <a:latin typeface="Times New Roman" pitchFamily="18" charset="0"/>
                      <a:ea typeface="黑体" pitchFamily="2" charset="-122"/>
                    </a:endParaRPr>
                  </a:p>
                </p:txBody>
              </p:sp>
              <p:sp>
                <p:nvSpPr>
                  <p:cNvPr id="120915" name="Text Box 431"/>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-2SP</a:t>
                    </a:r>
                    <a:endParaRPr lang="en-US" altLang="zh-CN" sz="1000" dirty="0">
                      <a:latin typeface="Times New Roman" pitchFamily="18" charset="0"/>
                      <a:ea typeface="黑体" pitchFamily="2" charset="-122"/>
                    </a:endParaRPr>
                  </a:p>
                </p:txBody>
              </p:sp>
              <p:sp>
                <p:nvSpPr>
                  <p:cNvPr id="120916" name="Text Box 432"/>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SPin</a:t>
                    </a:r>
                    <a:endParaRPr lang="en-US" altLang="zh-CN" sz="1000" dirty="0">
                      <a:latin typeface="Times New Roman" pitchFamily="18" charset="0"/>
                      <a:ea typeface="黑体" pitchFamily="2" charset="-122"/>
                    </a:endParaRPr>
                  </a:p>
                </p:txBody>
              </p:sp>
              <p:sp>
                <p:nvSpPr>
                  <p:cNvPr id="120917" name="Text Box 433"/>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SP→IB</a:t>
                    </a:r>
                    <a:endParaRPr lang="en-US" altLang="zh-CN" sz="1000" dirty="0">
                      <a:latin typeface="Times New Roman" pitchFamily="18" charset="0"/>
                      <a:ea typeface="黑体" pitchFamily="2" charset="-122"/>
                    </a:endParaRPr>
                  </a:p>
                </p:txBody>
              </p:sp>
            </p:grpSp>
            <p:sp>
              <p:nvSpPr>
                <p:cNvPr id="120857" name="Text Box 434"/>
                <p:cNvSpPr txBox="1">
                  <a:spLocks noChangeArrowheads="1"/>
                </p:cNvSpPr>
                <p:nvPr/>
              </p:nvSpPr>
              <p:spPr bwMode="auto">
                <a:xfrm>
                  <a:off x="6980" y="611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BPin</a:t>
                  </a:r>
                  <a:endParaRPr lang="en-US" altLang="zh-CN" sz="1000" dirty="0">
                    <a:latin typeface="Times New Roman" pitchFamily="18" charset="0"/>
                    <a:ea typeface="黑体" pitchFamily="2" charset="-122"/>
                  </a:endParaRPr>
                </a:p>
              </p:txBody>
            </p:sp>
            <p:sp>
              <p:nvSpPr>
                <p:cNvPr id="120858" name="Text Box 435"/>
                <p:cNvSpPr txBox="1">
                  <a:spLocks noChangeArrowheads="1"/>
                </p:cNvSpPr>
                <p:nvPr/>
              </p:nvSpPr>
              <p:spPr bwMode="auto">
                <a:xfrm>
                  <a:off x="6980" y="64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BP→IB</a:t>
                  </a:r>
                  <a:endParaRPr lang="en-US" altLang="zh-CN" sz="1000" dirty="0">
                    <a:latin typeface="Times New Roman" pitchFamily="18" charset="0"/>
                    <a:ea typeface="黑体" pitchFamily="2" charset="-122"/>
                  </a:endParaRPr>
                </a:p>
              </p:txBody>
            </p:sp>
            <p:grpSp>
              <p:nvGrpSpPr>
                <p:cNvPr id="120859" name="Group 436"/>
                <p:cNvGrpSpPr>
                  <a:grpSpLocks/>
                </p:cNvGrpSpPr>
                <p:nvPr/>
              </p:nvGrpSpPr>
              <p:grpSpPr bwMode="auto">
                <a:xfrm>
                  <a:off x="8408" y="5928"/>
                  <a:ext cx="756" cy="1240"/>
                  <a:chOff x="5114" y="5510"/>
                  <a:chExt cx="798" cy="1240"/>
                </a:xfrm>
              </p:grpSpPr>
              <p:sp>
                <p:nvSpPr>
                  <p:cNvPr id="120910" name="Text Box 437"/>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+2DI</a:t>
                    </a:r>
                    <a:endParaRPr lang="en-US" altLang="zh-CN" sz="1000" dirty="0">
                      <a:latin typeface="Times New Roman" pitchFamily="18" charset="0"/>
                      <a:ea typeface="黑体" pitchFamily="2" charset="-122"/>
                    </a:endParaRPr>
                  </a:p>
                </p:txBody>
              </p:sp>
              <p:sp>
                <p:nvSpPr>
                  <p:cNvPr id="120911" name="Text Box 438"/>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-2DI</a:t>
                    </a:r>
                    <a:endParaRPr lang="en-US" altLang="zh-CN" sz="1000" dirty="0">
                      <a:latin typeface="Times New Roman" pitchFamily="18" charset="0"/>
                      <a:ea typeface="黑体" pitchFamily="2" charset="-122"/>
                    </a:endParaRPr>
                  </a:p>
                </p:txBody>
              </p:sp>
              <p:sp>
                <p:nvSpPr>
                  <p:cNvPr id="120912" name="Text Box 439"/>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DIin</a:t>
                    </a:r>
                    <a:endParaRPr lang="en-US" altLang="zh-CN" sz="1000" dirty="0">
                      <a:latin typeface="Times New Roman" pitchFamily="18" charset="0"/>
                      <a:ea typeface="黑体" pitchFamily="2" charset="-122"/>
                    </a:endParaRPr>
                  </a:p>
                </p:txBody>
              </p:sp>
              <p:sp>
                <p:nvSpPr>
                  <p:cNvPr id="120913" name="Text Box 440"/>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DI→IB</a:t>
                    </a:r>
                    <a:endParaRPr lang="en-US" altLang="zh-CN" sz="1000" dirty="0">
                      <a:latin typeface="Times New Roman" pitchFamily="18" charset="0"/>
                      <a:ea typeface="黑体" pitchFamily="2" charset="-122"/>
                    </a:endParaRPr>
                  </a:p>
                </p:txBody>
              </p:sp>
            </p:grpSp>
            <p:grpSp>
              <p:nvGrpSpPr>
                <p:cNvPr id="120860" name="Group 441"/>
                <p:cNvGrpSpPr>
                  <a:grpSpLocks/>
                </p:cNvGrpSpPr>
                <p:nvPr/>
              </p:nvGrpSpPr>
              <p:grpSpPr bwMode="auto">
                <a:xfrm>
                  <a:off x="9794" y="5928"/>
                  <a:ext cx="756" cy="1240"/>
                  <a:chOff x="5114" y="5510"/>
                  <a:chExt cx="798" cy="1240"/>
                </a:xfrm>
              </p:grpSpPr>
              <p:sp>
                <p:nvSpPr>
                  <p:cNvPr id="120906" name="Text Box 442"/>
                  <p:cNvSpPr txBox="1">
                    <a:spLocks noChangeArrowheads="1"/>
                  </p:cNvSpPr>
                  <p:nvPr/>
                </p:nvSpPr>
                <p:spPr bwMode="auto">
                  <a:xfrm>
                    <a:off x="5114" y="551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+2SI</a:t>
                    </a:r>
                    <a:endParaRPr lang="en-US" altLang="zh-CN" sz="1000" dirty="0">
                      <a:latin typeface="Times New Roman" pitchFamily="18" charset="0"/>
                      <a:ea typeface="黑体" pitchFamily="2" charset="-122"/>
                    </a:endParaRPr>
                  </a:p>
                </p:txBody>
              </p:sp>
              <p:sp>
                <p:nvSpPr>
                  <p:cNvPr id="120907" name="Text Box 443"/>
                  <p:cNvSpPr txBox="1">
                    <a:spLocks noChangeArrowheads="1"/>
                  </p:cNvSpPr>
                  <p:nvPr/>
                </p:nvSpPr>
                <p:spPr bwMode="auto">
                  <a:xfrm>
                    <a:off x="5114" y="582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-2SI</a:t>
                    </a:r>
                    <a:endParaRPr lang="en-US" altLang="zh-CN" sz="1000" dirty="0">
                      <a:latin typeface="Times New Roman" pitchFamily="18" charset="0"/>
                      <a:ea typeface="黑体" pitchFamily="2" charset="-122"/>
                    </a:endParaRPr>
                  </a:p>
                </p:txBody>
              </p:sp>
              <p:sp>
                <p:nvSpPr>
                  <p:cNvPr id="120908" name="Text Box 444"/>
                  <p:cNvSpPr txBox="1">
                    <a:spLocks noChangeArrowheads="1"/>
                  </p:cNvSpPr>
                  <p:nvPr/>
                </p:nvSpPr>
                <p:spPr bwMode="auto">
                  <a:xfrm>
                    <a:off x="5114" y="613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SIin</a:t>
                    </a:r>
                    <a:endParaRPr lang="en-US" altLang="zh-CN" sz="1000" dirty="0">
                      <a:latin typeface="Times New Roman" pitchFamily="18" charset="0"/>
                      <a:ea typeface="黑体" pitchFamily="2" charset="-122"/>
                    </a:endParaRPr>
                  </a:p>
                </p:txBody>
              </p:sp>
              <p:sp>
                <p:nvSpPr>
                  <p:cNvPr id="120909" name="Text Box 445"/>
                  <p:cNvSpPr txBox="1">
                    <a:spLocks noChangeArrowheads="1"/>
                  </p:cNvSpPr>
                  <p:nvPr/>
                </p:nvSpPr>
                <p:spPr bwMode="auto">
                  <a:xfrm>
                    <a:off x="5114" y="6440"/>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SI→IB</a:t>
                    </a:r>
                    <a:endParaRPr lang="en-US" altLang="zh-CN" sz="1000" dirty="0">
                      <a:latin typeface="Times New Roman" pitchFamily="18" charset="0"/>
                      <a:ea typeface="黑体" pitchFamily="2" charset="-122"/>
                    </a:endParaRPr>
                  </a:p>
                </p:txBody>
              </p:sp>
            </p:grpSp>
            <p:grpSp>
              <p:nvGrpSpPr>
                <p:cNvPr id="120861" name="Group 446"/>
                <p:cNvGrpSpPr>
                  <a:grpSpLocks/>
                </p:cNvGrpSpPr>
                <p:nvPr/>
              </p:nvGrpSpPr>
              <p:grpSpPr bwMode="auto">
                <a:xfrm>
                  <a:off x="5594" y="7788"/>
                  <a:ext cx="756" cy="620"/>
                  <a:chOff x="5114" y="7308"/>
                  <a:chExt cx="756" cy="620"/>
                </a:xfrm>
              </p:grpSpPr>
              <p:sp>
                <p:nvSpPr>
                  <p:cNvPr id="120904" name="Text Box 447"/>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AXin</a:t>
                    </a:r>
                    <a:endParaRPr lang="en-US" altLang="zh-CN" sz="1000" dirty="0">
                      <a:latin typeface="Times New Roman" pitchFamily="18" charset="0"/>
                      <a:ea typeface="黑体" pitchFamily="2" charset="-122"/>
                    </a:endParaRPr>
                  </a:p>
                </p:txBody>
              </p:sp>
              <p:sp>
                <p:nvSpPr>
                  <p:cNvPr id="120905" name="Text Box 448"/>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AX→IB</a:t>
                    </a:r>
                    <a:endParaRPr lang="en-US" altLang="zh-CN" sz="1000" dirty="0">
                      <a:latin typeface="Times New Roman" pitchFamily="18" charset="0"/>
                      <a:ea typeface="黑体" pitchFamily="2" charset="-122"/>
                    </a:endParaRPr>
                  </a:p>
                </p:txBody>
              </p:sp>
            </p:grpSp>
            <p:grpSp>
              <p:nvGrpSpPr>
                <p:cNvPr id="120862" name="Group 449"/>
                <p:cNvGrpSpPr>
                  <a:grpSpLocks/>
                </p:cNvGrpSpPr>
                <p:nvPr/>
              </p:nvGrpSpPr>
              <p:grpSpPr bwMode="auto">
                <a:xfrm>
                  <a:off x="6980" y="7788"/>
                  <a:ext cx="756" cy="620"/>
                  <a:chOff x="5114" y="7308"/>
                  <a:chExt cx="756" cy="620"/>
                </a:xfrm>
              </p:grpSpPr>
              <p:sp>
                <p:nvSpPr>
                  <p:cNvPr id="120902" name="Text Box 450"/>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BXin</a:t>
                    </a:r>
                    <a:endParaRPr lang="en-US" altLang="zh-CN" sz="1000" dirty="0">
                      <a:latin typeface="Times New Roman" pitchFamily="18" charset="0"/>
                      <a:ea typeface="黑体" pitchFamily="2" charset="-122"/>
                    </a:endParaRPr>
                  </a:p>
                </p:txBody>
              </p:sp>
              <p:sp>
                <p:nvSpPr>
                  <p:cNvPr id="120903" name="Text Box 451"/>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BX→IB</a:t>
                    </a:r>
                    <a:endParaRPr lang="en-US" altLang="zh-CN" sz="1000" dirty="0">
                      <a:latin typeface="Times New Roman" pitchFamily="18" charset="0"/>
                      <a:ea typeface="黑体" pitchFamily="2" charset="-122"/>
                    </a:endParaRPr>
                  </a:p>
                </p:txBody>
              </p:sp>
            </p:grpSp>
            <p:grpSp>
              <p:nvGrpSpPr>
                <p:cNvPr id="120863" name="Group 452"/>
                <p:cNvGrpSpPr>
                  <a:grpSpLocks/>
                </p:cNvGrpSpPr>
                <p:nvPr/>
              </p:nvGrpSpPr>
              <p:grpSpPr bwMode="auto">
                <a:xfrm>
                  <a:off x="9710" y="7788"/>
                  <a:ext cx="756" cy="620"/>
                  <a:chOff x="5114" y="7308"/>
                  <a:chExt cx="756" cy="620"/>
                </a:xfrm>
              </p:grpSpPr>
              <p:sp>
                <p:nvSpPr>
                  <p:cNvPr id="120900" name="Text Box 453"/>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DXin</a:t>
                    </a:r>
                    <a:endParaRPr lang="en-US" altLang="zh-CN" sz="1000" dirty="0">
                      <a:latin typeface="Times New Roman" pitchFamily="18" charset="0"/>
                      <a:ea typeface="黑体" pitchFamily="2" charset="-122"/>
                    </a:endParaRPr>
                  </a:p>
                </p:txBody>
              </p:sp>
              <p:sp>
                <p:nvSpPr>
                  <p:cNvPr id="120901" name="Text Box 454"/>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DX→IB</a:t>
                    </a:r>
                    <a:endParaRPr lang="en-US" altLang="zh-CN" sz="1000" dirty="0">
                      <a:latin typeface="Times New Roman" pitchFamily="18" charset="0"/>
                      <a:ea typeface="黑体" pitchFamily="2" charset="-122"/>
                    </a:endParaRPr>
                  </a:p>
                </p:txBody>
              </p:sp>
            </p:grpSp>
            <p:sp>
              <p:nvSpPr>
                <p:cNvPr id="120864" name="Text Box 455"/>
                <p:cNvSpPr txBox="1">
                  <a:spLocks noChangeArrowheads="1"/>
                </p:cNvSpPr>
                <p:nvPr/>
              </p:nvSpPr>
              <p:spPr bwMode="auto">
                <a:xfrm>
                  <a:off x="8366" y="809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CXin</a:t>
                  </a:r>
                  <a:endParaRPr lang="en-US" altLang="zh-CN" sz="1000" dirty="0">
                    <a:latin typeface="Times New Roman" pitchFamily="18" charset="0"/>
                    <a:ea typeface="黑体" pitchFamily="2" charset="-122"/>
                  </a:endParaRPr>
                </a:p>
              </p:txBody>
            </p:sp>
            <p:sp>
              <p:nvSpPr>
                <p:cNvPr id="120865" name="Text Box 456"/>
                <p:cNvSpPr txBox="1">
                  <a:spLocks noChangeArrowheads="1"/>
                </p:cNvSpPr>
                <p:nvPr/>
              </p:nvSpPr>
              <p:spPr bwMode="auto">
                <a:xfrm>
                  <a:off x="8366" y="778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CX→IB</a:t>
                  </a:r>
                  <a:endParaRPr lang="en-US" altLang="zh-CN" sz="1000" dirty="0">
                    <a:latin typeface="Times New Roman" pitchFamily="18" charset="0"/>
                    <a:ea typeface="黑体" pitchFamily="2" charset="-122"/>
                  </a:endParaRPr>
                </a:p>
              </p:txBody>
            </p:sp>
            <p:sp>
              <p:nvSpPr>
                <p:cNvPr id="120866" name="Text Box 457"/>
                <p:cNvSpPr txBox="1">
                  <a:spLocks noChangeArrowheads="1"/>
                </p:cNvSpPr>
                <p:nvPr/>
              </p:nvSpPr>
              <p:spPr bwMode="auto">
                <a:xfrm>
                  <a:off x="8324" y="8408"/>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-1CX</a:t>
                  </a:r>
                  <a:endParaRPr lang="en-US" altLang="zh-CN" sz="1000" dirty="0">
                    <a:latin typeface="Times New Roman" pitchFamily="18" charset="0"/>
                    <a:ea typeface="黑体" pitchFamily="2" charset="-122"/>
                  </a:endParaRPr>
                </a:p>
              </p:txBody>
            </p:sp>
            <p:sp>
              <p:nvSpPr>
                <p:cNvPr id="120867" name="Text Box 458"/>
                <p:cNvSpPr txBox="1">
                  <a:spLocks noChangeArrowheads="1"/>
                </p:cNvSpPr>
                <p:nvPr/>
              </p:nvSpPr>
              <p:spPr bwMode="auto">
                <a:xfrm>
                  <a:off x="3620" y="853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DRin</a:t>
                  </a:r>
                  <a:endParaRPr lang="en-US" altLang="zh-CN" sz="1000" dirty="0">
                    <a:latin typeface="Times New Roman" pitchFamily="18" charset="0"/>
                    <a:ea typeface="黑体" pitchFamily="2" charset="-122"/>
                  </a:endParaRPr>
                </a:p>
              </p:txBody>
            </p:sp>
            <p:sp>
              <p:nvSpPr>
                <p:cNvPr id="120868" name="Text Box 459"/>
                <p:cNvSpPr txBox="1">
                  <a:spLocks noChangeArrowheads="1"/>
                </p:cNvSpPr>
                <p:nvPr/>
              </p:nvSpPr>
              <p:spPr bwMode="auto">
                <a:xfrm>
                  <a:off x="3578" y="9400"/>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DR→IB</a:t>
                  </a:r>
                  <a:endParaRPr lang="en-US" altLang="zh-CN" sz="1000" dirty="0">
                    <a:latin typeface="Times New Roman" pitchFamily="18" charset="0"/>
                    <a:ea typeface="黑体" pitchFamily="2" charset="-122"/>
                  </a:endParaRPr>
                </a:p>
              </p:txBody>
            </p:sp>
            <p:sp>
              <p:nvSpPr>
                <p:cNvPr id="120869" name="Text Box 460"/>
                <p:cNvSpPr txBox="1">
                  <a:spLocks noChangeArrowheads="1"/>
                </p:cNvSpPr>
                <p:nvPr/>
              </p:nvSpPr>
              <p:spPr bwMode="auto">
                <a:xfrm>
                  <a:off x="4376" y="1138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PC→IB</a:t>
                  </a:r>
                  <a:endParaRPr lang="en-US" altLang="zh-CN" sz="1000" dirty="0">
                    <a:latin typeface="Times New Roman" pitchFamily="18" charset="0"/>
                    <a:ea typeface="黑体" pitchFamily="2" charset="-122"/>
                  </a:endParaRPr>
                </a:p>
              </p:txBody>
            </p:sp>
            <p:sp>
              <p:nvSpPr>
                <p:cNvPr id="120870" name="Text Box 461"/>
                <p:cNvSpPr txBox="1">
                  <a:spLocks noChangeArrowheads="1"/>
                </p:cNvSpPr>
                <p:nvPr/>
              </p:nvSpPr>
              <p:spPr bwMode="auto">
                <a:xfrm>
                  <a:off x="4376" y="118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0→PC</a:t>
                  </a:r>
                  <a:endParaRPr lang="en-US" altLang="zh-CN" sz="1000" dirty="0">
                    <a:latin typeface="Times New Roman" pitchFamily="18" charset="0"/>
                    <a:ea typeface="黑体" pitchFamily="2" charset="-122"/>
                  </a:endParaRPr>
                </a:p>
              </p:txBody>
            </p:sp>
            <p:sp>
              <p:nvSpPr>
                <p:cNvPr id="120871" name="Text Box 462"/>
                <p:cNvSpPr txBox="1">
                  <a:spLocks noChangeArrowheads="1"/>
                </p:cNvSpPr>
                <p:nvPr/>
              </p:nvSpPr>
              <p:spPr bwMode="auto">
                <a:xfrm>
                  <a:off x="4376" y="1212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+2PC</a:t>
                  </a:r>
                  <a:endParaRPr lang="en-US" altLang="zh-CN" sz="1000" dirty="0">
                    <a:latin typeface="Times New Roman" pitchFamily="18" charset="0"/>
                    <a:ea typeface="黑体" pitchFamily="2" charset="-122"/>
                  </a:endParaRPr>
                </a:p>
              </p:txBody>
            </p:sp>
            <p:sp>
              <p:nvSpPr>
                <p:cNvPr id="120872" name="Text Box 463"/>
                <p:cNvSpPr txBox="1">
                  <a:spLocks noChangeArrowheads="1"/>
                </p:cNvSpPr>
                <p:nvPr/>
              </p:nvSpPr>
              <p:spPr bwMode="auto">
                <a:xfrm>
                  <a:off x="4376" y="1107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PCin</a:t>
                  </a:r>
                  <a:endParaRPr lang="en-US" altLang="zh-CN" sz="1000" dirty="0">
                    <a:latin typeface="Times New Roman" pitchFamily="18" charset="0"/>
                    <a:ea typeface="黑体" pitchFamily="2" charset="-122"/>
                  </a:endParaRPr>
                </a:p>
              </p:txBody>
            </p:sp>
            <p:sp>
              <p:nvSpPr>
                <p:cNvPr id="120873" name="Text Box 464"/>
                <p:cNvSpPr txBox="1">
                  <a:spLocks noChangeArrowheads="1"/>
                </p:cNvSpPr>
                <p:nvPr/>
              </p:nvSpPr>
              <p:spPr bwMode="auto">
                <a:xfrm>
                  <a:off x="4376" y="1262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IRin</a:t>
                  </a:r>
                  <a:endParaRPr lang="en-US" altLang="zh-CN" sz="1000" dirty="0">
                    <a:latin typeface="Times New Roman" pitchFamily="18" charset="0"/>
                    <a:ea typeface="黑体" pitchFamily="2" charset="-122"/>
                  </a:endParaRPr>
                </a:p>
              </p:txBody>
            </p:sp>
            <p:sp>
              <p:nvSpPr>
                <p:cNvPr id="120874" name="Text Box 465"/>
                <p:cNvSpPr txBox="1">
                  <a:spLocks noChangeArrowheads="1"/>
                </p:cNvSpPr>
                <p:nvPr/>
              </p:nvSpPr>
              <p:spPr bwMode="auto">
                <a:xfrm>
                  <a:off x="5384" y="12190"/>
                  <a:ext cx="9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PSW→IB</a:t>
                  </a:r>
                  <a:endParaRPr lang="en-US" altLang="zh-CN" sz="1000" dirty="0">
                    <a:latin typeface="Times New Roman" pitchFamily="18" charset="0"/>
                    <a:ea typeface="黑体" pitchFamily="2" charset="-122"/>
                  </a:endParaRPr>
                </a:p>
              </p:txBody>
            </p:sp>
            <p:sp>
              <p:nvSpPr>
                <p:cNvPr id="120875" name="Text Box 466"/>
                <p:cNvSpPr txBox="1">
                  <a:spLocks noChangeArrowheads="1"/>
                </p:cNvSpPr>
                <p:nvPr/>
              </p:nvSpPr>
              <p:spPr bwMode="auto">
                <a:xfrm>
                  <a:off x="5846" y="11074"/>
                  <a:ext cx="8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PSWin</a:t>
                  </a:r>
                  <a:endParaRPr lang="en-US" altLang="zh-CN" sz="1000" dirty="0">
                    <a:latin typeface="Times New Roman" pitchFamily="18" charset="0"/>
                    <a:ea typeface="黑体" pitchFamily="2" charset="-122"/>
                  </a:endParaRPr>
                </a:p>
              </p:txBody>
            </p:sp>
            <p:sp>
              <p:nvSpPr>
                <p:cNvPr id="120876" name="Text Box 467"/>
                <p:cNvSpPr txBox="1">
                  <a:spLocks noChangeArrowheads="1"/>
                </p:cNvSpPr>
                <p:nvPr/>
              </p:nvSpPr>
              <p:spPr bwMode="auto">
                <a:xfrm>
                  <a:off x="3620" y="10454"/>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ARin</a:t>
                  </a:r>
                  <a:endParaRPr lang="en-US" altLang="zh-CN" sz="1000" dirty="0">
                    <a:latin typeface="Times New Roman" pitchFamily="18" charset="0"/>
                    <a:ea typeface="黑体" pitchFamily="2" charset="-122"/>
                  </a:endParaRPr>
                </a:p>
              </p:txBody>
            </p:sp>
            <p:sp>
              <p:nvSpPr>
                <p:cNvPr id="120877" name="Text Box 468"/>
                <p:cNvSpPr txBox="1">
                  <a:spLocks noChangeArrowheads="1"/>
                </p:cNvSpPr>
                <p:nvPr/>
              </p:nvSpPr>
              <p:spPr bwMode="auto">
                <a:xfrm>
                  <a:off x="2192" y="8470"/>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DR→DB</a:t>
                  </a:r>
                  <a:endParaRPr lang="en-US" altLang="zh-CN" sz="1000" dirty="0">
                    <a:latin typeface="Times New Roman" pitchFamily="18" charset="0"/>
                    <a:ea typeface="黑体" pitchFamily="2" charset="-122"/>
                  </a:endParaRPr>
                </a:p>
              </p:txBody>
            </p:sp>
            <p:sp>
              <p:nvSpPr>
                <p:cNvPr id="120878" name="Text Box 469"/>
                <p:cNvSpPr txBox="1">
                  <a:spLocks noChangeArrowheads="1"/>
                </p:cNvSpPr>
                <p:nvPr/>
              </p:nvSpPr>
              <p:spPr bwMode="auto">
                <a:xfrm>
                  <a:off x="2192" y="9648"/>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DB→DR</a:t>
                  </a:r>
                  <a:endParaRPr lang="en-US" altLang="zh-CN" sz="1000" dirty="0">
                    <a:latin typeface="Times New Roman" pitchFamily="18" charset="0"/>
                    <a:ea typeface="黑体" pitchFamily="2" charset="-122"/>
                  </a:endParaRPr>
                </a:p>
              </p:txBody>
            </p:sp>
            <p:sp>
              <p:nvSpPr>
                <p:cNvPr id="120879" name="Text Box 470"/>
                <p:cNvSpPr txBox="1">
                  <a:spLocks noChangeArrowheads="1"/>
                </p:cNvSpPr>
                <p:nvPr/>
              </p:nvSpPr>
              <p:spPr bwMode="auto">
                <a:xfrm>
                  <a:off x="2192" y="10516"/>
                  <a:ext cx="9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AR→AB</a:t>
                  </a:r>
                  <a:endParaRPr lang="en-US" altLang="zh-CN" sz="1000" dirty="0">
                    <a:latin typeface="Times New Roman" pitchFamily="18" charset="0"/>
                    <a:ea typeface="黑体" pitchFamily="2" charset="-122"/>
                  </a:endParaRPr>
                </a:p>
              </p:txBody>
            </p:sp>
            <p:grpSp>
              <p:nvGrpSpPr>
                <p:cNvPr id="120880" name="Group 471"/>
                <p:cNvGrpSpPr>
                  <a:grpSpLocks/>
                </p:cNvGrpSpPr>
                <p:nvPr/>
              </p:nvGrpSpPr>
              <p:grpSpPr bwMode="auto">
                <a:xfrm>
                  <a:off x="5678" y="9214"/>
                  <a:ext cx="756" cy="620"/>
                  <a:chOff x="5114" y="7308"/>
                  <a:chExt cx="756" cy="620"/>
                </a:xfrm>
              </p:grpSpPr>
              <p:sp>
                <p:nvSpPr>
                  <p:cNvPr id="120898" name="Text Box 472"/>
                  <p:cNvSpPr txBox="1">
                    <a:spLocks noChangeArrowheads="1"/>
                  </p:cNvSpPr>
                  <p:nvPr/>
                </p:nvSpPr>
                <p:spPr bwMode="auto">
                  <a:xfrm>
                    <a:off x="5114" y="761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Tin</a:t>
                    </a:r>
                    <a:endParaRPr lang="en-US" altLang="zh-CN" sz="1000" dirty="0">
                      <a:latin typeface="Times New Roman" pitchFamily="18" charset="0"/>
                      <a:ea typeface="黑体" pitchFamily="2" charset="-122"/>
                    </a:endParaRPr>
                  </a:p>
                </p:txBody>
              </p:sp>
              <p:sp>
                <p:nvSpPr>
                  <p:cNvPr id="120899" name="Text Box 473"/>
                  <p:cNvSpPr txBox="1">
                    <a:spLocks noChangeArrowheads="1"/>
                  </p:cNvSpPr>
                  <p:nvPr/>
                </p:nvSpPr>
                <p:spPr bwMode="auto">
                  <a:xfrm>
                    <a:off x="5114" y="7308"/>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T→IB</a:t>
                    </a:r>
                    <a:endParaRPr lang="en-US" altLang="zh-CN" sz="1000" dirty="0">
                      <a:latin typeface="Times New Roman" pitchFamily="18" charset="0"/>
                      <a:ea typeface="黑体" pitchFamily="2" charset="-122"/>
                    </a:endParaRPr>
                  </a:p>
                </p:txBody>
              </p:sp>
            </p:grpSp>
            <p:sp>
              <p:nvSpPr>
                <p:cNvPr id="120881" name="Text Box 474"/>
                <p:cNvSpPr txBox="1">
                  <a:spLocks noChangeArrowheads="1"/>
                </p:cNvSpPr>
                <p:nvPr/>
              </p:nvSpPr>
              <p:spPr bwMode="auto">
                <a:xfrm>
                  <a:off x="5678" y="1008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0→T</a:t>
                  </a:r>
                  <a:endParaRPr lang="en-US" altLang="zh-CN" sz="1000" dirty="0">
                    <a:latin typeface="Times New Roman" pitchFamily="18" charset="0"/>
                    <a:ea typeface="黑体" pitchFamily="2" charset="-122"/>
                  </a:endParaRPr>
                </a:p>
              </p:txBody>
            </p:sp>
            <p:sp>
              <p:nvSpPr>
                <p:cNvPr id="120882" name="Text Box 475"/>
                <p:cNvSpPr txBox="1">
                  <a:spLocks noChangeArrowheads="1"/>
                </p:cNvSpPr>
                <p:nvPr/>
              </p:nvSpPr>
              <p:spPr bwMode="auto">
                <a:xfrm>
                  <a:off x="4712" y="8966"/>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SAR  RCR</a:t>
                  </a:r>
                  <a:endParaRPr lang="en-US" altLang="zh-CN" sz="1000" dirty="0">
                    <a:latin typeface="Times New Roman" pitchFamily="18" charset="0"/>
                    <a:ea typeface="黑体" pitchFamily="2" charset="-122"/>
                  </a:endParaRPr>
                </a:p>
              </p:txBody>
            </p:sp>
            <p:sp>
              <p:nvSpPr>
                <p:cNvPr id="120883" name="Text Box 476"/>
                <p:cNvSpPr txBox="1">
                  <a:spLocks noChangeArrowheads="1"/>
                </p:cNvSpPr>
                <p:nvPr/>
              </p:nvSpPr>
              <p:spPr bwMode="auto">
                <a:xfrm>
                  <a:off x="4712" y="10454"/>
                  <a:ext cx="9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SAL  RCL</a:t>
                  </a:r>
                  <a:endParaRPr lang="en-US" altLang="zh-CN" sz="1000" dirty="0">
                    <a:latin typeface="Times New Roman" pitchFamily="18" charset="0"/>
                    <a:ea typeface="黑体" pitchFamily="2" charset="-122"/>
                  </a:endParaRPr>
                </a:p>
              </p:txBody>
            </p:sp>
            <p:sp>
              <p:nvSpPr>
                <p:cNvPr id="120884" name="Text Box 477"/>
                <p:cNvSpPr txBox="1">
                  <a:spLocks noChangeArrowheads="1"/>
                </p:cNvSpPr>
                <p:nvPr/>
              </p:nvSpPr>
              <p:spPr bwMode="auto">
                <a:xfrm>
                  <a:off x="8072" y="8780"/>
                  <a:ext cx="11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NEG  NOT</a:t>
                  </a:r>
                  <a:endParaRPr lang="en-US" altLang="zh-CN" sz="1000" dirty="0">
                    <a:latin typeface="Times New Roman" pitchFamily="18" charset="0"/>
                    <a:ea typeface="黑体" pitchFamily="2" charset="-122"/>
                  </a:endParaRPr>
                </a:p>
              </p:txBody>
            </p:sp>
            <p:sp>
              <p:nvSpPr>
                <p:cNvPr id="120885" name="Text Box 478"/>
                <p:cNvSpPr txBox="1">
                  <a:spLocks noChangeArrowheads="1"/>
                </p:cNvSpPr>
                <p:nvPr/>
              </p:nvSpPr>
              <p:spPr bwMode="auto">
                <a:xfrm>
                  <a:off x="7820" y="10082"/>
                  <a:ext cx="15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+1S      -1S</a:t>
                  </a:r>
                  <a:endParaRPr lang="en-US" altLang="zh-CN" sz="1000" dirty="0">
                    <a:latin typeface="Times New Roman" pitchFamily="18" charset="0"/>
                    <a:ea typeface="黑体" pitchFamily="2" charset="-122"/>
                  </a:endParaRPr>
                </a:p>
              </p:txBody>
            </p:sp>
            <p:sp>
              <p:nvSpPr>
                <p:cNvPr id="120886" name="Text Box 479"/>
                <p:cNvSpPr txBox="1">
                  <a:spLocks noChangeArrowheads="1"/>
                </p:cNvSpPr>
                <p:nvPr/>
              </p:nvSpPr>
              <p:spPr bwMode="auto">
                <a:xfrm>
                  <a:off x="9122" y="9772"/>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Sin</a:t>
                  </a:r>
                  <a:endParaRPr lang="en-US" altLang="zh-CN" sz="1000" dirty="0">
                    <a:latin typeface="Times New Roman" pitchFamily="18" charset="0"/>
                    <a:ea typeface="黑体" pitchFamily="2" charset="-122"/>
                  </a:endParaRPr>
                </a:p>
              </p:txBody>
            </p:sp>
            <p:sp>
              <p:nvSpPr>
                <p:cNvPr id="120887" name="Text Box 480"/>
                <p:cNvSpPr txBox="1">
                  <a:spLocks noChangeArrowheads="1"/>
                </p:cNvSpPr>
                <p:nvPr/>
              </p:nvSpPr>
              <p:spPr bwMode="auto">
                <a:xfrm>
                  <a:off x="9122" y="9276"/>
                  <a:ext cx="7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S→IB</a:t>
                  </a:r>
                  <a:endParaRPr lang="en-US" altLang="zh-CN" sz="1000" dirty="0">
                    <a:latin typeface="Times New Roman" pitchFamily="18" charset="0"/>
                    <a:ea typeface="黑体" pitchFamily="2" charset="-122"/>
                  </a:endParaRPr>
                </a:p>
              </p:txBody>
            </p:sp>
            <p:sp>
              <p:nvSpPr>
                <p:cNvPr id="120888" name="Text Box 481"/>
                <p:cNvSpPr txBox="1">
                  <a:spLocks noChangeArrowheads="1"/>
                </p:cNvSpPr>
                <p:nvPr/>
              </p:nvSpPr>
              <p:spPr bwMode="auto">
                <a:xfrm>
                  <a:off x="6686"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ADD</a:t>
                  </a:r>
                  <a:endParaRPr lang="en-US" altLang="zh-CN" sz="1000" dirty="0">
                    <a:latin typeface="Times New Roman" pitchFamily="18" charset="0"/>
                    <a:ea typeface="黑体" pitchFamily="2" charset="-122"/>
                  </a:endParaRPr>
                </a:p>
              </p:txBody>
            </p:sp>
            <p:sp>
              <p:nvSpPr>
                <p:cNvPr id="120889" name="Text Box 482"/>
                <p:cNvSpPr txBox="1">
                  <a:spLocks noChangeArrowheads="1"/>
                </p:cNvSpPr>
                <p:nvPr/>
              </p:nvSpPr>
              <p:spPr bwMode="auto">
                <a:xfrm>
                  <a:off x="6926" y="10702"/>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SUB</a:t>
                  </a:r>
                  <a:endParaRPr lang="en-US" altLang="zh-CN" sz="1000" dirty="0">
                    <a:latin typeface="Times New Roman" pitchFamily="18" charset="0"/>
                    <a:ea typeface="黑体" pitchFamily="2" charset="-122"/>
                  </a:endParaRPr>
                </a:p>
              </p:txBody>
            </p:sp>
            <p:sp>
              <p:nvSpPr>
                <p:cNvPr id="120890" name="Text Box 483"/>
                <p:cNvSpPr txBox="1">
                  <a:spLocks noChangeArrowheads="1"/>
                </p:cNvSpPr>
                <p:nvPr/>
              </p:nvSpPr>
              <p:spPr bwMode="auto">
                <a:xfrm>
                  <a:off x="7400" y="1088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en-US" altLang="zh-CN" sz="1000" dirty="0">
                      <a:solidFill>
                        <a:srgbClr val="FF0000"/>
                      </a:solidFill>
                      <a:latin typeface="Times New Roman" pitchFamily="18" charset="0"/>
                      <a:ea typeface="黑体" pitchFamily="2" charset="-122"/>
                    </a:rPr>
                    <a:t>XOR</a:t>
                  </a:r>
                  <a:endParaRPr lang="en-US" altLang="zh-CN" sz="1000" dirty="0">
                    <a:latin typeface="Times New Roman" pitchFamily="18" charset="0"/>
                    <a:ea typeface="黑体" pitchFamily="2" charset="-122"/>
                  </a:endParaRPr>
                </a:p>
              </p:txBody>
            </p:sp>
            <p:sp>
              <p:nvSpPr>
                <p:cNvPr id="120891" name="Text Box 484"/>
                <p:cNvSpPr txBox="1">
                  <a:spLocks noChangeArrowheads="1"/>
                </p:cNvSpPr>
                <p:nvPr/>
              </p:nvSpPr>
              <p:spPr bwMode="auto">
                <a:xfrm>
                  <a:off x="7148" y="10516"/>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120892" name="Text Box 485"/>
                <p:cNvSpPr txBox="1">
                  <a:spLocks noChangeArrowheads="1"/>
                </p:cNvSpPr>
                <p:nvPr/>
              </p:nvSpPr>
              <p:spPr bwMode="auto">
                <a:xfrm>
                  <a:off x="6938" y="13678"/>
                  <a:ext cx="5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120893" name="Text Box 486"/>
                <p:cNvSpPr txBox="1">
                  <a:spLocks noChangeArrowheads="1"/>
                </p:cNvSpPr>
                <p:nvPr/>
              </p:nvSpPr>
              <p:spPr bwMode="auto">
                <a:xfrm>
                  <a:off x="8198" y="13058"/>
                  <a:ext cx="33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96000"/>
                    </a:lnSpc>
                    <a:spcBef>
                      <a:spcPct val="0"/>
                    </a:spcBef>
                  </a:pPr>
                  <a:r>
                    <a:rPr lang="en-US" altLang="zh-CN" sz="1000" dirty="0">
                      <a:solidFill>
                        <a:srgbClr val="FF0000"/>
                      </a:solidFill>
                      <a:latin typeface="Times New Roman" pitchFamily="18" charset="0"/>
                      <a:ea typeface="黑体" pitchFamily="2" charset="-122"/>
                    </a:rPr>
                    <a:t>…</a:t>
                  </a:r>
                  <a:endParaRPr lang="en-US" altLang="zh-CN" sz="1000" dirty="0">
                    <a:latin typeface="Times New Roman" pitchFamily="18" charset="0"/>
                    <a:ea typeface="黑体" pitchFamily="2" charset="-122"/>
                  </a:endParaRPr>
                </a:p>
              </p:txBody>
            </p:sp>
            <p:sp>
              <p:nvSpPr>
                <p:cNvPr id="120894" name="Text Box 487"/>
                <p:cNvSpPr txBox="1">
                  <a:spLocks noChangeArrowheads="1"/>
                </p:cNvSpPr>
                <p:nvPr/>
              </p:nvSpPr>
              <p:spPr bwMode="auto">
                <a:xfrm>
                  <a:off x="8912" y="12810"/>
                  <a:ext cx="1848"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rgbClr val="FF0000"/>
                      </a:solidFill>
                      <a:latin typeface="Times New Roman" pitchFamily="18" charset="0"/>
                      <a:ea typeface="黑体" pitchFamily="2" charset="-122"/>
                    </a:rPr>
                    <a:t>送往</a:t>
                  </a:r>
                  <a:r>
                    <a:rPr lang="en-US" altLang="zh-CN" sz="1000" dirty="0">
                      <a:solidFill>
                        <a:srgbClr val="FF0000"/>
                      </a:solidFill>
                      <a:latin typeface="Times New Roman" pitchFamily="18" charset="0"/>
                      <a:ea typeface="黑体" pitchFamily="2" charset="-122"/>
                    </a:rPr>
                    <a:t>CPU</a:t>
                  </a:r>
                  <a:r>
                    <a:rPr lang="zh-CN" altLang="en-US" sz="1000">
                      <a:solidFill>
                        <a:srgbClr val="FF0000"/>
                      </a:solidFill>
                      <a:latin typeface="Times New Roman" pitchFamily="18" charset="0"/>
                      <a:ea typeface="黑体" pitchFamily="2" charset="-122"/>
                    </a:rPr>
                    <a:t>内部各部件的控制信号</a:t>
                  </a:r>
                  <a:endParaRPr lang="zh-CN" altLang="en-US" sz="1000">
                    <a:latin typeface="Times New Roman" pitchFamily="18" charset="0"/>
                    <a:ea typeface="黑体" pitchFamily="2" charset="-122"/>
                  </a:endParaRPr>
                </a:p>
              </p:txBody>
            </p:sp>
            <p:sp>
              <p:nvSpPr>
                <p:cNvPr id="120895" name="Text Box 488"/>
                <p:cNvSpPr txBox="1">
                  <a:spLocks noChangeArrowheads="1"/>
                </p:cNvSpPr>
                <p:nvPr/>
              </p:nvSpPr>
              <p:spPr bwMode="auto">
                <a:xfrm>
                  <a:off x="7526" y="14236"/>
                  <a:ext cx="1302"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lnSpc>
                      <a:spcPct val="96000"/>
                    </a:lnSpc>
                    <a:spcBef>
                      <a:spcPct val="0"/>
                    </a:spcBef>
                  </a:pPr>
                  <a:r>
                    <a:rPr lang="zh-CN" altLang="en-US" sz="1000">
                      <a:solidFill>
                        <a:srgbClr val="FF0000"/>
                      </a:solidFill>
                      <a:latin typeface="Times New Roman" pitchFamily="18" charset="0"/>
                      <a:ea typeface="黑体" pitchFamily="2" charset="-122"/>
                    </a:rPr>
                    <a:t>送往系统总线的控制信号</a:t>
                  </a:r>
                  <a:endParaRPr lang="zh-CN" altLang="en-US" sz="1000">
                    <a:latin typeface="Times New Roman" pitchFamily="18" charset="0"/>
                    <a:ea typeface="黑体" pitchFamily="2" charset="-122"/>
                  </a:endParaRPr>
                </a:p>
              </p:txBody>
            </p:sp>
            <p:sp>
              <p:nvSpPr>
                <p:cNvPr id="120896" name="Text Box 489"/>
                <p:cNvSpPr txBox="1">
                  <a:spLocks noChangeArrowheads="1"/>
                </p:cNvSpPr>
                <p:nvPr/>
              </p:nvSpPr>
              <p:spPr bwMode="auto">
                <a:xfrm>
                  <a:off x="2444" y="14112"/>
                  <a:ext cx="24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/MMRD,  /IORD,  INTA</a:t>
                  </a:r>
                  <a:endParaRPr lang="en-US" altLang="zh-CN" sz="1000" dirty="0">
                    <a:latin typeface="Times New Roman" pitchFamily="18" charset="0"/>
                    <a:ea typeface="黑体" pitchFamily="2" charset="-122"/>
                  </a:endParaRPr>
                </a:p>
              </p:txBody>
            </p:sp>
            <p:sp>
              <p:nvSpPr>
                <p:cNvPr id="120897" name="Text Box 490"/>
                <p:cNvSpPr txBox="1">
                  <a:spLocks noChangeArrowheads="1"/>
                </p:cNvSpPr>
                <p:nvPr/>
              </p:nvSpPr>
              <p:spPr bwMode="auto">
                <a:xfrm>
                  <a:off x="2444" y="14484"/>
                  <a:ext cx="351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rgbClr val="FF0000"/>
                      </a:solidFill>
                      <a:latin typeface="Times New Roman" pitchFamily="18" charset="0"/>
                      <a:ea typeface="黑体" pitchFamily="2" charset="-122"/>
                    </a:rPr>
                    <a:t>/MMWR,  /IOWR,  DMAA</a:t>
                  </a:r>
                  <a:endParaRPr lang="en-US" altLang="zh-CN" sz="1000" dirty="0">
                    <a:latin typeface="Times New Roman" pitchFamily="18" charset="0"/>
                    <a:ea typeface="黑体" pitchFamily="2" charset="-122"/>
                  </a:endParaRPr>
                </a:p>
              </p:txBody>
            </p:sp>
          </p:grpSp>
          <p:grpSp>
            <p:nvGrpSpPr>
              <p:cNvPr id="120844" name="Group 491"/>
              <p:cNvGrpSpPr>
                <a:grpSpLocks/>
              </p:cNvGrpSpPr>
              <p:nvPr/>
            </p:nvGrpSpPr>
            <p:grpSpPr bwMode="auto">
              <a:xfrm>
                <a:off x="727" y="2032"/>
                <a:ext cx="4553" cy="12586"/>
                <a:chOff x="746" y="1356"/>
                <a:chExt cx="4956" cy="13640"/>
              </a:xfrm>
            </p:grpSpPr>
            <p:sp>
              <p:nvSpPr>
                <p:cNvPr id="120845" name="Text Box 492"/>
                <p:cNvSpPr txBox="1">
                  <a:spLocks noChangeArrowheads="1"/>
                </p:cNvSpPr>
                <p:nvPr/>
              </p:nvSpPr>
              <p:spPr bwMode="auto">
                <a:xfrm>
                  <a:off x="1712" y="135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DMAR, INTR</a:t>
                  </a:r>
                </a:p>
              </p:txBody>
            </p:sp>
            <p:sp>
              <p:nvSpPr>
                <p:cNvPr id="120846" name="Text Box 493"/>
                <p:cNvSpPr txBox="1">
                  <a:spLocks noChangeArrowheads="1"/>
                </p:cNvSpPr>
                <p:nvPr/>
              </p:nvSpPr>
              <p:spPr bwMode="auto">
                <a:xfrm>
                  <a:off x="1712" y="1604"/>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120847" name="Text Box 494"/>
                <p:cNvSpPr txBox="1">
                  <a:spLocks noChangeArrowheads="1"/>
                </p:cNvSpPr>
                <p:nvPr/>
              </p:nvSpPr>
              <p:spPr bwMode="auto">
                <a:xfrm>
                  <a:off x="1712" y="4952"/>
                  <a:ext cx="7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Ready</a:t>
                  </a:r>
                </a:p>
              </p:txBody>
            </p:sp>
            <p:sp>
              <p:nvSpPr>
                <p:cNvPr id="120848" name="Text Box 495"/>
                <p:cNvSpPr txBox="1">
                  <a:spLocks noChangeArrowheads="1"/>
                </p:cNvSpPr>
                <p:nvPr/>
              </p:nvSpPr>
              <p:spPr bwMode="auto">
                <a:xfrm>
                  <a:off x="1712" y="1976"/>
                  <a:ext cx="13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latin typeface="Times New Roman" pitchFamily="18" charset="0"/>
                      <a:ea typeface="黑体" pitchFamily="2" charset="-122"/>
                    </a:rPr>
                    <a:t>IORD, IOWR</a:t>
                  </a:r>
                </a:p>
              </p:txBody>
            </p:sp>
            <p:sp>
              <p:nvSpPr>
                <p:cNvPr id="120849" name="Text Box 496"/>
                <p:cNvSpPr txBox="1">
                  <a:spLocks noChangeArrowheads="1"/>
                </p:cNvSpPr>
                <p:nvPr/>
              </p:nvSpPr>
              <p:spPr bwMode="auto">
                <a:xfrm>
                  <a:off x="4610" y="1604"/>
                  <a:ext cx="109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spcBef>
                      <a:spcPct val="0"/>
                    </a:spcBef>
                  </a:pPr>
                  <a:r>
                    <a:rPr lang="en-US" altLang="zh-CN" sz="1000" dirty="0">
                      <a:latin typeface="Times New Roman" pitchFamily="18" charset="0"/>
                      <a:ea typeface="黑体" pitchFamily="2" charset="-122"/>
                    </a:rPr>
                    <a:t>I/O</a:t>
                  </a:r>
                  <a:r>
                    <a:rPr lang="zh-CN" altLang="en-US" sz="1000">
                      <a:latin typeface="Times New Roman" pitchFamily="18" charset="0"/>
                      <a:ea typeface="黑体" pitchFamily="2" charset="-122"/>
                    </a:rPr>
                    <a:t>接口</a:t>
                  </a:r>
                </a:p>
              </p:txBody>
            </p:sp>
            <p:sp>
              <p:nvSpPr>
                <p:cNvPr id="120850" name="Text Box 497"/>
                <p:cNvSpPr txBox="1">
                  <a:spLocks noChangeArrowheads="1"/>
                </p:cNvSpPr>
                <p:nvPr/>
              </p:nvSpPr>
              <p:spPr bwMode="auto">
                <a:xfrm>
                  <a:off x="1922" y="12826"/>
                  <a:ext cx="273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just" eaLnBrk="1" hangingPunct="1">
                    <a:spcBef>
                      <a:spcPct val="0"/>
                    </a:spcBef>
                  </a:pPr>
                  <a:r>
                    <a:rPr lang="en-US" altLang="zh-CN" sz="1000" dirty="0">
                      <a:solidFill>
                        <a:schemeClr val="tx1"/>
                      </a:solidFill>
                      <a:latin typeface="Times New Roman" pitchFamily="18" charset="0"/>
                      <a:ea typeface="黑体" pitchFamily="2" charset="-122"/>
                    </a:rPr>
                    <a:t>INTR,  DMAR, Ready</a:t>
                  </a:r>
                </a:p>
              </p:txBody>
            </p:sp>
            <p:sp>
              <p:nvSpPr>
                <p:cNvPr id="120851" name="Text Box 498"/>
                <p:cNvSpPr txBox="1">
                  <a:spLocks noChangeArrowheads="1"/>
                </p:cNvSpPr>
                <p:nvPr/>
              </p:nvSpPr>
              <p:spPr bwMode="auto">
                <a:xfrm>
                  <a:off x="746" y="14624"/>
                  <a:ext cx="10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dist" eaLnBrk="1" hangingPunct="1">
                    <a:spcBef>
                      <a:spcPct val="0"/>
                    </a:spcBef>
                  </a:pPr>
                  <a:r>
                    <a:rPr lang="en-US" altLang="zh-CN" sz="1000" dirty="0">
                      <a:latin typeface="Times New Roman" pitchFamily="18" charset="0"/>
                      <a:ea typeface="黑体" pitchFamily="2" charset="-122"/>
                    </a:rPr>
                    <a:t>CB AB DB</a:t>
                  </a:r>
                </a:p>
              </p:txBody>
            </p:sp>
            <p:sp>
              <p:nvSpPr>
                <p:cNvPr id="120852" name="Text Box 499"/>
                <p:cNvSpPr txBox="1">
                  <a:spLocks noChangeArrowheads="1"/>
                </p:cNvSpPr>
                <p:nvPr/>
              </p:nvSpPr>
              <p:spPr bwMode="auto">
                <a:xfrm>
                  <a:off x="2174" y="6998"/>
                  <a:ext cx="151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r" eaLnBrk="1" hangingPunct="1">
                    <a:spcBef>
                      <a:spcPct val="0"/>
                    </a:spcBef>
                  </a:pPr>
                  <a:r>
                    <a:rPr lang="zh-CN" altLang="en-US" sz="1200">
                      <a:solidFill>
                        <a:srgbClr val="0000FF"/>
                      </a:solidFill>
                      <a:latin typeface="Times New Roman" pitchFamily="18" charset="0"/>
                      <a:ea typeface="黑体" pitchFamily="2" charset="-122"/>
                    </a:rPr>
                    <a:t>内部总线 </a:t>
                  </a:r>
                  <a:r>
                    <a:rPr lang="en-US" altLang="zh-CN" sz="1200" dirty="0">
                      <a:solidFill>
                        <a:srgbClr val="0000FF"/>
                      </a:solidFill>
                      <a:latin typeface="Times New Roman" pitchFamily="18" charset="0"/>
                      <a:ea typeface="黑体" pitchFamily="2" charset="-122"/>
                    </a:rPr>
                    <a:t>IB</a:t>
                  </a:r>
                  <a:endParaRPr lang="en-US" altLang="zh-CN" sz="1200" dirty="0">
                    <a:latin typeface="Times New Roman" pitchFamily="18" charset="0"/>
                    <a:ea typeface="黑体" pitchFamily="2" charset="-122"/>
                  </a:endParaRPr>
                </a:p>
              </p:txBody>
            </p:sp>
          </p:grpSp>
        </p:grpSp>
      </p:grpSp>
      <p:sp>
        <p:nvSpPr>
          <p:cNvPr id="120837" name="AutoShape 3">
            <a:hlinkClick r:id="" action="ppaction://hlinkshowjump?jump=lastslideviewed"/>
          </p:cNvPr>
          <p:cNvSpPr>
            <a:spLocks noChangeArrowheads="1"/>
          </p:cNvSpPr>
          <p:nvPr/>
        </p:nvSpPr>
        <p:spPr bwMode="auto">
          <a:xfrm>
            <a:off x="7848600" y="685800"/>
            <a:ext cx="893763" cy="533400"/>
          </a:xfrm>
          <a:prstGeom prst="leftArrow">
            <a:avLst>
              <a:gd name="adj1" fmla="val 50000"/>
              <a:gd name="adj2" fmla="val 41890"/>
            </a:avLst>
          </a:prstGeom>
          <a:solidFill>
            <a:srgbClr val="CC3300">
              <a:alpha val="50195"/>
            </a:srgbClr>
          </a:solidFill>
          <a:ln w="9525">
            <a:solidFill>
              <a:srgbClr val="CC3300"/>
            </a:solidFill>
            <a:miter lim="800000"/>
            <a:headEnd/>
            <a:tailEnd/>
          </a:ln>
        </p:spPr>
        <p:txBody>
          <a:bodyPr wrap="none" rIns="0" anchor="ctr"/>
          <a:lstStyle/>
          <a:p>
            <a:pPr algn="ctr">
              <a:lnSpc>
                <a:spcPct val="100000"/>
              </a:lnSpc>
              <a:spcBef>
                <a:spcPct val="0"/>
              </a:spcBef>
            </a:pPr>
            <a:r>
              <a:rPr kumimoji="1" lang="zh-CN" altLang="en-US" sz="1600">
                <a:solidFill>
                  <a:schemeClr val="bg1"/>
                </a:solidFill>
                <a:latin typeface="Times New Roman" pitchFamily="18" charset="0"/>
                <a:ea typeface="黑体" pitchFamily="2" charset="-122"/>
              </a:rPr>
              <a:t>返回</a:t>
            </a:r>
          </a:p>
        </p:txBody>
      </p:sp>
    </p:spTree>
  </p:cSld>
  <p:clrMapOvr>
    <a:masterClrMapping/>
  </p:clrMapOvr>
  <p:transition>
    <p:wipe dir="d"/>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36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rgbClr val="000080"/>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3600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rgbClr val="000080"/>
            </a:solidFill>
            <a:effectLst/>
            <a:latin typeface="宋体" pitchFamily="2" charset="-122"/>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5366</TotalTime>
  <Words>10571</Words>
  <Application>Microsoft Office PowerPoint</Application>
  <PresentationFormat>全屏显示(4:3)</PresentationFormat>
  <Paragraphs>2545</Paragraphs>
  <Slides>173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173</vt:i4>
      </vt:variant>
    </vt:vector>
  </HeadingPairs>
  <TitlesOfParts>
    <vt:vector size="183" baseType="lpstr">
      <vt:lpstr>-apple-system</vt:lpstr>
      <vt:lpstr>Helvetica Neue</vt:lpstr>
      <vt:lpstr>黑体</vt:lpstr>
      <vt:lpstr>楷体_GB2312</vt:lpstr>
      <vt:lpstr>宋体</vt:lpstr>
      <vt:lpstr>Arial</vt:lpstr>
      <vt:lpstr>Times New Roman</vt:lpstr>
      <vt:lpstr>Wingdings</vt:lpstr>
      <vt:lpstr>默认设计模板</vt:lpstr>
      <vt:lpstr>Visio.Drawing.6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Jingdong Sun</cp:lastModifiedBy>
  <cp:revision>301</cp:revision>
  <cp:lastPrinted>1601-01-01T00:00:00Z</cp:lastPrinted>
  <dcterms:created xsi:type="dcterms:W3CDTF">1601-01-01T00:00:00Z</dcterms:created>
  <dcterms:modified xsi:type="dcterms:W3CDTF">2024-05-21T18:57:59Z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