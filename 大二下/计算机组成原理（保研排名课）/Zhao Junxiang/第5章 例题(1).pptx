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7" r:id="rId1"/>
  </p:sldMasterIdLst>
  <p:notesMasterIdLst>
    <p:notesMasterId r:id="rId33"/>
  </p:notesMasterIdLst>
  <p:handoutMasterIdLst>
    <p:handoutMasterId r:id="rId34"/>
  </p:handoutMasterIdLst>
  <p:sldIdLst>
    <p:sldId id="533" r:id="rId2"/>
    <p:sldId id="361" r:id="rId3"/>
    <p:sldId id="657" r:id="rId4"/>
    <p:sldId id="645" r:id="rId5"/>
    <p:sldId id="482" r:id="rId6"/>
    <p:sldId id="484" r:id="rId7"/>
    <p:sldId id="646" r:id="rId8"/>
    <p:sldId id="485" r:id="rId9"/>
    <p:sldId id="644" r:id="rId10"/>
    <p:sldId id="641" r:id="rId11"/>
    <p:sldId id="642" r:id="rId12"/>
    <p:sldId id="647" r:id="rId13"/>
    <p:sldId id="605" r:id="rId14"/>
    <p:sldId id="603" r:id="rId15"/>
    <p:sldId id="658" r:id="rId16"/>
    <p:sldId id="660" r:id="rId17"/>
    <p:sldId id="659" r:id="rId18"/>
    <p:sldId id="661" r:id="rId19"/>
    <p:sldId id="662" r:id="rId20"/>
    <p:sldId id="663" r:id="rId21"/>
    <p:sldId id="664" r:id="rId22"/>
    <p:sldId id="665" r:id="rId23"/>
    <p:sldId id="666" r:id="rId24"/>
    <p:sldId id="667" r:id="rId25"/>
    <p:sldId id="668" r:id="rId26"/>
    <p:sldId id="669" r:id="rId27"/>
    <p:sldId id="670" r:id="rId28"/>
    <p:sldId id="671" r:id="rId29"/>
    <p:sldId id="674" r:id="rId30"/>
    <p:sldId id="672" r:id="rId31"/>
    <p:sldId id="673" r:id="rId32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3300"/>
    <a:srgbClr val="000099"/>
    <a:srgbClr val="FFCCCC"/>
    <a:srgbClr val="FF9999"/>
    <a:srgbClr val="FF00FF"/>
    <a:srgbClr val="000066"/>
    <a:srgbClr val="CCECFF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73" autoAdjust="0"/>
    <p:restoredTop sz="94549" autoAdjust="0"/>
  </p:normalViewPr>
  <p:slideViewPr>
    <p:cSldViewPr snapToGrid="0">
      <p:cViewPr varScale="1">
        <p:scale>
          <a:sx n="99" d="100"/>
          <a:sy n="99" d="100"/>
        </p:scale>
        <p:origin x="94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-1818" y="-84"/>
      </p:cViewPr>
      <p:guideLst>
        <p:guide orient="horz" pos="3224"/>
        <p:guide pos="22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A170D9E8-23F8-4CEF-AA13-FA6EA9736C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10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9688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910CC6FE-52FA-4CD5-A191-210CB3CFEE6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66906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565640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 txBox="1">
            <a:spLocks noGrp="1"/>
          </p:cNvSpPr>
          <p:nvPr userDrawn="1"/>
        </p:nvSpPr>
        <p:spPr bwMode="auto">
          <a:xfrm>
            <a:off x="7920038" y="6513513"/>
            <a:ext cx="9906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="b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30000"/>
              </a:lnSpc>
              <a:spcBef>
                <a:spcPct val="5000"/>
              </a:spcBef>
              <a:defRPr/>
            </a:pPr>
            <a:fld id="{2E02988E-99D1-48D5-8BA2-411B52333166}" type="slidenum">
              <a:rPr kumimoji="0" lang="zh-CN" altLang="en-US" sz="1400" smtClean="0">
                <a:solidFill>
                  <a:srgbClr val="000099"/>
                </a:solidFill>
                <a:latin typeface="Tahoma" pitchFamily="34" charset="0"/>
                <a:ea typeface="宋体" charset="-122"/>
              </a:rPr>
              <a:pPr algn="r" eaLnBrk="1" hangingPunct="1">
                <a:lnSpc>
                  <a:spcPct val="130000"/>
                </a:lnSpc>
                <a:spcBef>
                  <a:spcPct val="5000"/>
                </a:spcBef>
                <a:defRPr/>
              </a:pPr>
              <a:t>‹#›</a:t>
            </a:fld>
            <a:endParaRPr kumimoji="0" lang="en-US" altLang="zh-CN" sz="1400">
              <a:solidFill>
                <a:srgbClr val="000099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3" name="Rectangle 33"/>
          <p:cNvSpPr>
            <a:spLocks noChangeArrowheads="1"/>
          </p:cNvSpPr>
          <p:nvPr userDrawn="1"/>
        </p:nvSpPr>
        <p:spPr bwMode="auto">
          <a:xfrm flipH="1">
            <a:off x="0" y="6513513"/>
            <a:ext cx="9144000" cy="344487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EED0E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5000"/>
              </a:spcBef>
            </a:pPr>
            <a:r>
              <a:rPr kumimoji="0" lang="zh-CN" altLang="en-US" sz="1600" i="1" dirty="0">
                <a:solidFill>
                  <a:srgbClr val="5F5F5F"/>
                </a:solidFill>
                <a:latin typeface="Arial" charset="0"/>
                <a:ea typeface="宋体" charset="-122"/>
              </a:rPr>
              <a:t>            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西南交通大学信息科学与技术学院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Arial" charset="0"/>
                <a:ea typeface="黑体" pitchFamily="2" charset="-122"/>
              </a:rPr>
              <a:t>“</a:t>
            </a:r>
            <a:r>
              <a:rPr kumimoji="0" lang="zh-CN" altLang="en-US" sz="1600" i="1" dirty="0">
                <a:solidFill>
                  <a:srgbClr val="333333"/>
                </a:solidFill>
                <a:latin typeface="Times New Roman" pitchFamily="18" charset="0"/>
                <a:ea typeface="黑体" pitchFamily="2" charset="-122"/>
              </a:rPr>
              <a:t>计算机组成</a:t>
            </a: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原理</a:t>
            </a:r>
            <a:r>
              <a:rPr kumimoji="0" lang="en-US" altLang="zh-CN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”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教案</a:t>
            </a:r>
          </a:p>
        </p:txBody>
      </p:sp>
      <p:pic>
        <p:nvPicPr>
          <p:cNvPr id="4" name="Picture 34" descr="gm_clip_image00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516688"/>
            <a:ext cx="312738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 txBox="1">
            <a:spLocks noGrp="1"/>
          </p:cNvSpPr>
          <p:nvPr userDrawn="1"/>
        </p:nvSpPr>
        <p:spPr bwMode="auto">
          <a:xfrm>
            <a:off x="7920038" y="6513513"/>
            <a:ext cx="9906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="b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30000"/>
              </a:lnSpc>
              <a:spcBef>
                <a:spcPct val="5000"/>
              </a:spcBef>
              <a:defRPr/>
            </a:pPr>
            <a:fld id="{7A2A9A21-B528-4C79-80EE-7F863BBFB2D4}" type="slidenum">
              <a:rPr kumimoji="0" lang="zh-CN" altLang="en-US" sz="1800" smtClean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pPr algn="r" eaLnBrk="1" hangingPunct="1">
                <a:lnSpc>
                  <a:spcPct val="130000"/>
                </a:lnSpc>
                <a:spcBef>
                  <a:spcPct val="5000"/>
                </a:spcBef>
                <a:defRPr/>
              </a:pPr>
              <a:t>‹#›</a:t>
            </a:fld>
            <a:endParaRPr kumimoji="0" lang="en-US" altLang="zh-CN" sz="180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6405353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 txBox="1">
            <a:spLocks noGrp="1"/>
          </p:cNvSpPr>
          <p:nvPr userDrawn="1"/>
        </p:nvSpPr>
        <p:spPr bwMode="auto">
          <a:xfrm>
            <a:off x="7920038" y="6513513"/>
            <a:ext cx="9906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="b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30000"/>
              </a:lnSpc>
              <a:spcBef>
                <a:spcPct val="5000"/>
              </a:spcBef>
              <a:defRPr/>
            </a:pPr>
            <a:fld id="{BA977AF0-FD2E-4DBC-A803-CECD1BA6EB71}" type="slidenum">
              <a:rPr kumimoji="0" lang="zh-CN" altLang="en-US" sz="1400" smtClean="0">
                <a:solidFill>
                  <a:srgbClr val="000099"/>
                </a:solidFill>
                <a:latin typeface="Tahoma" pitchFamily="34" charset="0"/>
                <a:ea typeface="宋体" charset="-122"/>
              </a:rPr>
              <a:pPr algn="r" eaLnBrk="1" hangingPunct="1">
                <a:lnSpc>
                  <a:spcPct val="130000"/>
                </a:lnSpc>
                <a:spcBef>
                  <a:spcPct val="5000"/>
                </a:spcBef>
                <a:defRPr/>
              </a:pPr>
              <a:t>‹#›</a:t>
            </a:fld>
            <a:endParaRPr kumimoji="0" lang="en-US" altLang="zh-CN" sz="1400">
              <a:solidFill>
                <a:srgbClr val="000099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3" name="Rectangle 33"/>
          <p:cNvSpPr>
            <a:spLocks noChangeArrowheads="1"/>
          </p:cNvSpPr>
          <p:nvPr userDrawn="1"/>
        </p:nvSpPr>
        <p:spPr bwMode="auto">
          <a:xfrm flipH="1">
            <a:off x="0" y="6513513"/>
            <a:ext cx="9144000" cy="344487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EED0E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5000"/>
              </a:spcBef>
            </a:pPr>
            <a:r>
              <a:rPr kumimoji="0" lang="zh-CN" altLang="en-US" sz="1600" i="1" dirty="0">
                <a:solidFill>
                  <a:srgbClr val="5F5F5F"/>
                </a:solidFill>
                <a:latin typeface="Arial" charset="0"/>
                <a:ea typeface="宋体" charset="-122"/>
              </a:rPr>
              <a:t>            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西南交通大学信息科学与技术学院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Arial" charset="0"/>
                <a:ea typeface="黑体" pitchFamily="2" charset="-122"/>
              </a:rPr>
              <a:t>“</a:t>
            </a:r>
            <a:r>
              <a:rPr kumimoji="0" lang="zh-CN" altLang="en-US" sz="1600" i="1" dirty="0">
                <a:solidFill>
                  <a:srgbClr val="333333"/>
                </a:solidFill>
                <a:latin typeface="Times New Roman" pitchFamily="18" charset="0"/>
                <a:ea typeface="黑体" pitchFamily="2" charset="-122"/>
              </a:rPr>
              <a:t>计算机组成</a:t>
            </a: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原理</a:t>
            </a:r>
            <a:r>
              <a:rPr kumimoji="0" lang="en-US" altLang="zh-CN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”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教案</a:t>
            </a:r>
          </a:p>
        </p:txBody>
      </p:sp>
      <p:pic>
        <p:nvPicPr>
          <p:cNvPr id="4" name="Picture 34" descr="gm_clip_image00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516688"/>
            <a:ext cx="312738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 txBox="1">
            <a:spLocks noGrp="1"/>
          </p:cNvSpPr>
          <p:nvPr userDrawn="1"/>
        </p:nvSpPr>
        <p:spPr bwMode="auto">
          <a:xfrm>
            <a:off x="7920038" y="6513513"/>
            <a:ext cx="9906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="b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30000"/>
              </a:lnSpc>
              <a:spcBef>
                <a:spcPct val="5000"/>
              </a:spcBef>
              <a:defRPr/>
            </a:pPr>
            <a:fld id="{04F2356A-CF8D-4186-8A7D-CD77A7B3F9F7}" type="slidenum">
              <a:rPr kumimoji="0" lang="zh-CN" altLang="en-US" sz="1800" smtClean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pPr algn="r" eaLnBrk="1" hangingPunct="1">
                <a:lnSpc>
                  <a:spcPct val="130000"/>
                </a:lnSpc>
                <a:spcBef>
                  <a:spcPct val="5000"/>
                </a:spcBef>
                <a:defRPr/>
              </a:pPr>
              <a:t>‹#›</a:t>
            </a:fld>
            <a:endParaRPr kumimoji="0" lang="en-US" altLang="zh-CN" sz="180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Text Box 3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1328"/>
          </a:xfrm>
          <a:prstGeom prst="rect">
            <a:avLst/>
          </a:prstGeom>
          <a:gradFill rotWithShape="0">
            <a:gsLst>
              <a:gs pos="0">
                <a:srgbClr val="F8F0F7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kumimoji="0" lang="zh-CN" altLang="en-US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                                                 第</a:t>
            </a:r>
            <a:r>
              <a:rPr kumimoji="0" lang="en-US" altLang="zh-CN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kumimoji="0" lang="zh-CN" altLang="en-US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章  存储系统和结构</a:t>
            </a:r>
          </a:p>
        </p:txBody>
      </p:sp>
    </p:spTree>
    <p:extLst>
      <p:ext uri="{BB962C8B-B14F-4D97-AF65-F5344CB8AC3E}">
        <p14:creationId xmlns:p14="http://schemas.microsoft.com/office/powerpoint/2010/main" val="239470386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" descr="gm_clip_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5029200"/>
            <a:ext cx="982663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619375" y="911225"/>
            <a:ext cx="3841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lnSpc>
                <a:spcPct val="130000"/>
              </a:lnSpc>
              <a:spcBef>
                <a:spcPct val="5000"/>
              </a:spcBef>
              <a:defRPr/>
            </a:pPr>
            <a:r>
              <a:rPr lang="zh-CN" altLang="en-US" sz="360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rPr>
              <a:t>计算机组成原理</a:t>
            </a:r>
            <a:r>
              <a:rPr lang="en-US" altLang="zh-CN" sz="1100">
                <a:solidFill>
                  <a:schemeClr val="tx2"/>
                </a:solidFill>
                <a:latin typeface="Arial" charset="0"/>
                <a:ea typeface="宋体" pitchFamily="2" charset="-122"/>
              </a:rPr>
              <a:t> </a:t>
            </a:r>
            <a:endParaRPr lang="en-US" altLang="zh-CN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076" name="Rectangle 6"/>
          <p:cNvSpPr>
            <a:spLocks noChangeArrowheads="1"/>
          </p:cNvSpPr>
          <p:nvPr/>
        </p:nvSpPr>
        <p:spPr bwMode="auto">
          <a:xfrm>
            <a:off x="2895600" y="2286000"/>
            <a:ext cx="339883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algn="dist" defTabSz="762000">
              <a:lnSpc>
                <a:spcPct val="125000"/>
              </a:lnSpc>
              <a:spcBef>
                <a:spcPct val="20000"/>
              </a:spcBef>
            </a:pPr>
            <a:r>
              <a:rPr lang="zh-CN" altLang="en-US" sz="2600" dirty="0">
                <a:latin typeface="黑体" pitchFamily="2" charset="-122"/>
                <a:ea typeface="黑体" pitchFamily="2" charset="-122"/>
              </a:rPr>
              <a:t>西 南 交 通 大 学</a:t>
            </a:r>
          </a:p>
          <a:p>
            <a:pPr algn="dist" defTabSz="762000">
              <a:lnSpc>
                <a:spcPct val="125000"/>
              </a:lnSpc>
              <a:spcBef>
                <a:spcPct val="20000"/>
              </a:spcBef>
            </a:pPr>
            <a:r>
              <a:rPr lang="zh-CN" altLang="en-US" sz="2600" dirty="0">
                <a:latin typeface="黑体" pitchFamily="2" charset="-122"/>
                <a:ea typeface="黑体" pitchFamily="2" charset="-122"/>
              </a:rPr>
              <a:t>信息科学与技术学院</a:t>
            </a:r>
          </a:p>
        </p:txBody>
      </p:sp>
      <p:sp>
        <p:nvSpPr>
          <p:cNvPr id="3077" name="Rectangle 7"/>
          <p:cNvSpPr>
            <a:spLocks noChangeArrowheads="1"/>
          </p:cNvSpPr>
          <p:nvPr/>
        </p:nvSpPr>
        <p:spPr bwMode="auto">
          <a:xfrm>
            <a:off x="2943225" y="4603750"/>
            <a:ext cx="33988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algn="ctr" defTabSz="762000">
              <a:lnSpc>
                <a:spcPct val="125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20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年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9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月修订</a:t>
            </a:r>
          </a:p>
        </p:txBody>
      </p:sp>
      <p:grpSp>
        <p:nvGrpSpPr>
          <p:cNvPr id="3078" name="Group 13"/>
          <p:cNvGrpSpPr>
            <a:grpSpLocks/>
          </p:cNvGrpSpPr>
          <p:nvPr/>
        </p:nvGrpSpPr>
        <p:grpSpPr bwMode="auto">
          <a:xfrm>
            <a:off x="457200" y="838200"/>
            <a:ext cx="7781925" cy="1052513"/>
            <a:chOff x="288" y="528"/>
            <a:chExt cx="4902" cy="663"/>
          </a:xfrm>
        </p:grpSpPr>
        <p:sp>
          <p:nvSpPr>
            <p:cNvPr id="3079" name="Rectangle 14"/>
            <p:cNvSpPr>
              <a:spLocks noChangeArrowheads="1"/>
            </p:cNvSpPr>
            <p:nvPr/>
          </p:nvSpPr>
          <p:spPr bwMode="auto">
            <a:xfrm>
              <a:off x="457" y="596"/>
              <a:ext cx="25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0" name="Rectangle 15"/>
            <p:cNvSpPr>
              <a:spLocks noChangeArrowheads="1"/>
            </p:cNvSpPr>
            <p:nvPr/>
          </p:nvSpPr>
          <p:spPr bwMode="auto">
            <a:xfrm>
              <a:off x="681" y="596"/>
              <a:ext cx="191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1" name="Rectangle 16"/>
            <p:cNvSpPr>
              <a:spLocks noChangeArrowheads="1"/>
            </p:cNvSpPr>
            <p:nvPr/>
          </p:nvSpPr>
          <p:spPr bwMode="auto">
            <a:xfrm>
              <a:off x="530" y="862"/>
              <a:ext cx="24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2" name="Rectangle 17"/>
            <p:cNvSpPr>
              <a:spLocks noChangeArrowheads="1"/>
            </p:cNvSpPr>
            <p:nvPr/>
          </p:nvSpPr>
          <p:spPr bwMode="auto">
            <a:xfrm>
              <a:off x="746" y="862"/>
              <a:ext cx="215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3" name="Rectangle 18"/>
            <p:cNvSpPr>
              <a:spLocks noChangeArrowheads="1"/>
            </p:cNvSpPr>
            <p:nvPr/>
          </p:nvSpPr>
          <p:spPr bwMode="auto">
            <a:xfrm>
              <a:off x="288" y="816"/>
              <a:ext cx="327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4" name="Rectangle 19"/>
            <p:cNvSpPr>
              <a:spLocks noChangeArrowheads="1"/>
            </p:cNvSpPr>
            <p:nvPr/>
          </p:nvSpPr>
          <p:spPr bwMode="auto">
            <a:xfrm>
              <a:off x="659" y="528"/>
              <a:ext cx="18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5" name="Rectangle 20"/>
            <p:cNvSpPr>
              <a:spLocks noChangeArrowheads="1"/>
            </p:cNvSpPr>
            <p:nvPr/>
          </p:nvSpPr>
          <p:spPr bwMode="auto">
            <a:xfrm flipV="1">
              <a:off x="384" y="1056"/>
              <a:ext cx="4806" cy="2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rgbClr val="B8B8E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8"/>
          <p:cNvSpPr>
            <a:spLocks noChangeArrowheads="1"/>
          </p:cNvSpPr>
          <p:nvPr/>
        </p:nvSpPr>
        <p:spPr bwMode="auto">
          <a:xfrm>
            <a:off x="503238" y="424870"/>
            <a:ext cx="49672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位静态存储器设计举例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3" name="Rectangle 9"/>
          <p:cNvSpPr>
            <a:spLocks noChangeArrowheads="1"/>
          </p:cNvSpPr>
          <p:nvPr/>
        </p:nvSpPr>
        <p:spPr bwMode="auto">
          <a:xfrm>
            <a:off x="719138" y="861377"/>
            <a:ext cx="7993062" cy="1818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1】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2K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8/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 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2K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4/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 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SRAM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芯片，组成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8K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的内存储器（其中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2KB 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6KB 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）。系统提供的控制信号有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/RD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（为低时读）、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/WR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（为低时写）、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/MEM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（为低时表示访问内存）。</a:t>
            </a:r>
          </a:p>
        </p:txBody>
      </p:sp>
      <p:grpSp>
        <p:nvGrpSpPr>
          <p:cNvPr id="92164" name="Group 11"/>
          <p:cNvGrpSpPr>
            <a:grpSpLocks/>
          </p:cNvGrpSpPr>
          <p:nvPr/>
        </p:nvGrpSpPr>
        <p:grpSpPr bwMode="auto">
          <a:xfrm>
            <a:off x="1779588" y="3125788"/>
            <a:ext cx="1174750" cy="2189162"/>
            <a:chOff x="768" y="1632"/>
            <a:chExt cx="432" cy="1008"/>
          </a:xfrm>
        </p:grpSpPr>
        <p:sp>
          <p:nvSpPr>
            <p:cNvPr id="92237" name="Rectangle 12"/>
            <p:cNvSpPr>
              <a:spLocks noChangeArrowheads="1"/>
            </p:cNvSpPr>
            <p:nvPr/>
          </p:nvSpPr>
          <p:spPr bwMode="auto">
            <a:xfrm>
              <a:off x="768" y="1632"/>
              <a:ext cx="432" cy="1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2238" name="Freeform 13"/>
            <p:cNvSpPr>
              <a:spLocks/>
            </p:cNvSpPr>
            <p:nvPr/>
          </p:nvSpPr>
          <p:spPr bwMode="auto">
            <a:xfrm>
              <a:off x="768" y="1632"/>
              <a:ext cx="432" cy="1008"/>
            </a:xfrm>
            <a:custGeom>
              <a:avLst/>
              <a:gdLst>
                <a:gd name="T0" fmla="*/ 0 w 624"/>
                <a:gd name="T1" fmla="*/ 0 h 1008"/>
                <a:gd name="T2" fmla="*/ 1 w 624"/>
                <a:gd name="T3" fmla="*/ 0 h 1008"/>
                <a:gd name="T4" fmla="*/ 1 w 624"/>
                <a:gd name="T5" fmla="*/ 1008 h 1008"/>
                <a:gd name="T6" fmla="*/ 0 w 624"/>
                <a:gd name="T7" fmla="*/ 1008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008"/>
                <a:gd name="T14" fmla="*/ 624 w 62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008">
                  <a:moveTo>
                    <a:pt x="0" y="0"/>
                  </a:moveTo>
                  <a:lnTo>
                    <a:pt x="624" y="0"/>
                  </a:lnTo>
                  <a:lnTo>
                    <a:pt x="624" y="1008"/>
                  </a:lnTo>
                  <a:lnTo>
                    <a:pt x="0" y="100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2239" name="Text Box 14"/>
            <p:cNvSpPr txBox="1">
              <a:spLocks noChangeArrowheads="1"/>
            </p:cNvSpPr>
            <p:nvPr/>
          </p:nvSpPr>
          <p:spPr bwMode="auto">
            <a:xfrm>
              <a:off x="994" y="1728"/>
              <a:ext cx="15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zh-CN" altLang="en-US" sz="16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外部电路</a:t>
              </a:r>
            </a:p>
          </p:txBody>
        </p:sp>
      </p:grpSp>
      <p:grpSp>
        <p:nvGrpSpPr>
          <p:cNvPr id="92165" name="Group 15"/>
          <p:cNvGrpSpPr>
            <a:grpSpLocks/>
          </p:cNvGrpSpPr>
          <p:nvPr/>
        </p:nvGrpSpPr>
        <p:grpSpPr bwMode="auto">
          <a:xfrm>
            <a:off x="4521200" y="3125788"/>
            <a:ext cx="2643188" cy="2189162"/>
            <a:chOff x="2112" y="1632"/>
            <a:chExt cx="1296" cy="1008"/>
          </a:xfrm>
        </p:grpSpPr>
        <p:sp>
          <p:nvSpPr>
            <p:cNvPr id="92229" name="Rectangle 16"/>
            <p:cNvSpPr>
              <a:spLocks noChangeArrowheads="1"/>
            </p:cNvSpPr>
            <p:nvPr/>
          </p:nvSpPr>
          <p:spPr bwMode="auto">
            <a:xfrm>
              <a:off x="2112" y="1632"/>
              <a:ext cx="1200" cy="1008"/>
            </a:xfrm>
            <a:prstGeom prst="rect">
              <a:avLst/>
            </a:prstGeom>
            <a:solidFill>
              <a:srgbClr val="33CCFF"/>
            </a:solidFill>
            <a:ln w="2857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2230" name="Group 17"/>
            <p:cNvGrpSpPr>
              <a:grpSpLocks/>
            </p:cNvGrpSpPr>
            <p:nvPr/>
          </p:nvGrpSpPr>
          <p:grpSpPr bwMode="auto">
            <a:xfrm>
              <a:off x="2267" y="1632"/>
              <a:ext cx="1141" cy="966"/>
              <a:chOff x="3204" y="5067"/>
              <a:chExt cx="3013" cy="2944"/>
            </a:xfrm>
          </p:grpSpPr>
          <p:sp>
            <p:nvSpPr>
              <p:cNvPr id="92231" name="Text Box 18"/>
              <p:cNvSpPr txBox="1">
                <a:spLocks noChangeArrowheads="1"/>
              </p:cNvSpPr>
              <p:nvPr/>
            </p:nvSpPr>
            <p:spPr bwMode="auto">
              <a:xfrm>
                <a:off x="3204" y="5205"/>
                <a:ext cx="1909" cy="269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2K ROM</a:t>
                </a: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6K RAM</a:t>
                </a: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232" name="Line 19"/>
              <p:cNvSpPr>
                <a:spLocks noChangeShapeType="1"/>
              </p:cNvSpPr>
              <p:nvPr/>
            </p:nvSpPr>
            <p:spPr bwMode="auto">
              <a:xfrm>
                <a:off x="3204" y="6171"/>
                <a:ext cx="1886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233" name="Text Box 20"/>
              <p:cNvSpPr txBox="1">
                <a:spLocks noChangeArrowheads="1"/>
              </p:cNvSpPr>
              <p:nvPr/>
            </p:nvSpPr>
            <p:spPr bwMode="auto">
              <a:xfrm>
                <a:off x="4906" y="5067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0000 H</a:t>
                </a:r>
              </a:p>
            </p:txBody>
          </p:sp>
          <p:sp>
            <p:nvSpPr>
              <p:cNvPr id="92234" name="Text Box 21"/>
              <p:cNvSpPr txBox="1">
                <a:spLocks noChangeArrowheads="1"/>
              </p:cNvSpPr>
              <p:nvPr/>
            </p:nvSpPr>
            <p:spPr bwMode="auto">
              <a:xfrm>
                <a:off x="4929" y="5780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07FF H</a:t>
                </a:r>
              </a:p>
            </p:txBody>
          </p:sp>
          <p:sp>
            <p:nvSpPr>
              <p:cNvPr id="92235" name="Text Box 22"/>
              <p:cNvSpPr txBox="1">
                <a:spLocks noChangeArrowheads="1"/>
              </p:cNvSpPr>
              <p:nvPr/>
            </p:nvSpPr>
            <p:spPr bwMode="auto">
              <a:xfrm>
                <a:off x="4906" y="6125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1000 H</a:t>
                </a:r>
              </a:p>
            </p:txBody>
          </p:sp>
          <p:sp>
            <p:nvSpPr>
              <p:cNvPr id="92236" name="Text Box 23"/>
              <p:cNvSpPr txBox="1">
                <a:spLocks noChangeArrowheads="1"/>
              </p:cNvSpPr>
              <p:nvPr/>
            </p:nvSpPr>
            <p:spPr bwMode="auto">
              <a:xfrm>
                <a:off x="4906" y="7482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1FFF H</a:t>
                </a:r>
              </a:p>
            </p:txBody>
          </p:sp>
        </p:grpSp>
      </p:grpSp>
      <p:sp>
        <p:nvSpPr>
          <p:cNvPr id="92166" name="Line 24"/>
          <p:cNvSpPr>
            <a:spLocks noChangeShapeType="1"/>
          </p:cNvSpPr>
          <p:nvPr/>
        </p:nvSpPr>
        <p:spPr bwMode="auto">
          <a:xfrm>
            <a:off x="2954338" y="3563938"/>
            <a:ext cx="1566862" cy="0"/>
          </a:xfrm>
          <a:prstGeom prst="line">
            <a:avLst/>
          </a:prstGeom>
          <a:noFill/>
          <a:ln w="7620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7" name="Line 25"/>
          <p:cNvSpPr>
            <a:spLocks noChangeShapeType="1"/>
          </p:cNvSpPr>
          <p:nvPr/>
        </p:nvSpPr>
        <p:spPr bwMode="auto">
          <a:xfrm>
            <a:off x="2954338" y="4002088"/>
            <a:ext cx="1566862" cy="0"/>
          </a:xfrm>
          <a:prstGeom prst="line">
            <a:avLst/>
          </a:prstGeom>
          <a:noFill/>
          <a:ln w="76200">
            <a:solidFill>
              <a:srgbClr val="00009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8" name="Line 26"/>
          <p:cNvSpPr>
            <a:spLocks noChangeShapeType="1"/>
          </p:cNvSpPr>
          <p:nvPr/>
        </p:nvSpPr>
        <p:spPr bwMode="auto">
          <a:xfrm>
            <a:off x="2954338" y="4438650"/>
            <a:ext cx="1566862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9" name="Line 27"/>
          <p:cNvSpPr>
            <a:spLocks noChangeShapeType="1"/>
          </p:cNvSpPr>
          <p:nvPr/>
        </p:nvSpPr>
        <p:spPr bwMode="auto">
          <a:xfrm>
            <a:off x="2954338" y="5227638"/>
            <a:ext cx="1566862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70" name="Text Box 28"/>
          <p:cNvSpPr txBox="1">
            <a:spLocks noChangeArrowheads="1"/>
          </p:cNvSpPr>
          <p:nvPr/>
        </p:nvSpPr>
        <p:spPr bwMode="auto">
          <a:xfrm>
            <a:off x="3149600" y="3176588"/>
            <a:ext cx="1273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15</a:t>
            </a: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-A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</a:t>
            </a:r>
            <a:endParaRPr lang="en-US" altLang="zh-CN" sz="1600" dirty="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71" name="Text Box 29"/>
          <p:cNvSpPr txBox="1">
            <a:spLocks noChangeArrowheads="1"/>
          </p:cNvSpPr>
          <p:nvPr/>
        </p:nvSpPr>
        <p:spPr bwMode="auto">
          <a:xfrm>
            <a:off x="3248025" y="3614738"/>
            <a:ext cx="1076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7</a:t>
            </a: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-D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</a:t>
            </a:r>
            <a:endParaRPr lang="en-US" altLang="zh-CN" sz="1600" dirty="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72" name="Line 33"/>
          <p:cNvSpPr>
            <a:spLocks noChangeShapeType="1"/>
          </p:cNvSpPr>
          <p:nvPr/>
        </p:nvSpPr>
        <p:spPr bwMode="auto">
          <a:xfrm>
            <a:off x="2954338" y="4846638"/>
            <a:ext cx="1566862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2173" name="Group 81"/>
          <p:cNvGrpSpPr>
            <a:grpSpLocks/>
          </p:cNvGrpSpPr>
          <p:nvPr/>
        </p:nvGrpSpPr>
        <p:grpSpPr bwMode="auto">
          <a:xfrm>
            <a:off x="3248025" y="4135437"/>
            <a:ext cx="639763" cy="1092200"/>
            <a:chOff x="2046" y="2685"/>
            <a:chExt cx="678" cy="688"/>
          </a:xfrm>
        </p:grpSpPr>
        <p:grpSp>
          <p:nvGrpSpPr>
            <p:cNvPr id="92220" name="Group 30"/>
            <p:cNvGrpSpPr>
              <a:grpSpLocks/>
            </p:cNvGrpSpPr>
            <p:nvPr/>
          </p:nvGrpSpPr>
          <p:grpSpPr bwMode="auto">
            <a:xfrm>
              <a:off x="2046" y="2685"/>
              <a:ext cx="678" cy="213"/>
              <a:chOff x="96" y="1680"/>
              <a:chExt cx="528" cy="186"/>
            </a:xfrm>
          </p:grpSpPr>
          <p:sp>
            <p:nvSpPr>
              <p:cNvPr id="92227" name="Text Box 31"/>
              <p:cNvSpPr txBox="1">
                <a:spLocks noChangeArrowheads="1"/>
              </p:cNvSpPr>
              <p:nvPr/>
            </p:nvSpPr>
            <p:spPr bwMode="auto">
              <a:xfrm>
                <a:off x="96" y="1680"/>
                <a:ext cx="528" cy="1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US" altLang="zh-CN" sz="16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MEM</a:t>
                </a:r>
              </a:p>
            </p:txBody>
          </p:sp>
          <p:sp>
            <p:nvSpPr>
              <p:cNvPr id="92228" name="Line 32"/>
              <p:cNvSpPr>
                <a:spLocks noChangeShapeType="1"/>
              </p:cNvSpPr>
              <p:nvPr/>
            </p:nvSpPr>
            <p:spPr bwMode="auto">
              <a:xfrm>
                <a:off x="144" y="1728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2221" name="Group 34"/>
            <p:cNvGrpSpPr>
              <a:grpSpLocks/>
            </p:cNvGrpSpPr>
            <p:nvPr/>
          </p:nvGrpSpPr>
          <p:grpSpPr bwMode="auto">
            <a:xfrm>
              <a:off x="2108" y="2922"/>
              <a:ext cx="616" cy="212"/>
              <a:chOff x="1488" y="1977"/>
              <a:chExt cx="480" cy="184"/>
            </a:xfrm>
          </p:grpSpPr>
          <p:sp>
            <p:nvSpPr>
              <p:cNvPr id="92225" name="Text Box 35"/>
              <p:cNvSpPr txBox="1">
                <a:spLocks noChangeArrowheads="1"/>
              </p:cNvSpPr>
              <p:nvPr/>
            </p:nvSpPr>
            <p:spPr bwMode="auto">
              <a:xfrm>
                <a:off x="1488" y="1977"/>
                <a:ext cx="480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US" altLang="zh-CN" sz="16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RD</a:t>
                </a:r>
              </a:p>
            </p:txBody>
          </p:sp>
          <p:sp>
            <p:nvSpPr>
              <p:cNvPr id="92226" name="Line 36"/>
              <p:cNvSpPr>
                <a:spLocks noChangeShapeType="1"/>
              </p:cNvSpPr>
              <p:nvPr/>
            </p:nvSpPr>
            <p:spPr bwMode="auto">
              <a:xfrm>
                <a:off x="1584" y="2025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2222" name="Group 37"/>
            <p:cNvGrpSpPr>
              <a:grpSpLocks/>
            </p:cNvGrpSpPr>
            <p:nvPr/>
          </p:nvGrpSpPr>
          <p:grpSpPr bwMode="auto">
            <a:xfrm>
              <a:off x="2108" y="3160"/>
              <a:ext cx="616" cy="213"/>
              <a:chOff x="1488" y="1977"/>
              <a:chExt cx="480" cy="186"/>
            </a:xfrm>
          </p:grpSpPr>
          <p:sp>
            <p:nvSpPr>
              <p:cNvPr id="92223" name="Text Box 38"/>
              <p:cNvSpPr txBox="1">
                <a:spLocks noChangeArrowheads="1"/>
              </p:cNvSpPr>
              <p:nvPr/>
            </p:nvSpPr>
            <p:spPr bwMode="auto">
              <a:xfrm>
                <a:off x="1488" y="1977"/>
                <a:ext cx="480" cy="1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US" altLang="zh-CN" sz="16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WR</a:t>
                </a:r>
              </a:p>
            </p:txBody>
          </p:sp>
          <p:sp>
            <p:nvSpPr>
              <p:cNvPr id="92224" name="Line 39"/>
              <p:cNvSpPr>
                <a:spLocks noChangeShapeType="1"/>
              </p:cNvSpPr>
              <p:nvPr/>
            </p:nvSpPr>
            <p:spPr bwMode="auto">
              <a:xfrm>
                <a:off x="1584" y="2025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9" name="Group 40"/>
          <p:cNvGrpSpPr>
            <a:grpSpLocks/>
          </p:cNvGrpSpPr>
          <p:nvPr/>
        </p:nvGrpSpPr>
        <p:grpSpPr bwMode="auto">
          <a:xfrm>
            <a:off x="4500563" y="2870200"/>
            <a:ext cx="2663825" cy="3087688"/>
            <a:chOff x="2096" y="848"/>
            <a:chExt cx="1440" cy="1722"/>
          </a:xfrm>
        </p:grpSpPr>
        <p:grpSp>
          <p:nvGrpSpPr>
            <p:cNvPr id="92175" name="Group 41"/>
            <p:cNvGrpSpPr>
              <a:grpSpLocks/>
            </p:cNvGrpSpPr>
            <p:nvPr/>
          </p:nvGrpSpPr>
          <p:grpSpPr bwMode="auto">
            <a:xfrm>
              <a:off x="2096" y="848"/>
              <a:ext cx="1440" cy="1722"/>
              <a:chOff x="1992" y="880"/>
              <a:chExt cx="1440" cy="1722"/>
            </a:xfrm>
          </p:grpSpPr>
          <p:sp>
            <p:nvSpPr>
              <p:cNvPr id="92218" name="AutoShape 42"/>
              <p:cNvSpPr>
                <a:spLocks noChangeArrowheads="1"/>
              </p:cNvSpPr>
              <p:nvPr/>
            </p:nvSpPr>
            <p:spPr bwMode="auto">
              <a:xfrm>
                <a:off x="1992" y="880"/>
                <a:ext cx="1440" cy="1520"/>
              </a:xfrm>
              <a:prstGeom prst="roundRect">
                <a:avLst>
                  <a:gd name="adj" fmla="val 16667"/>
                </a:avLst>
              </a:prstGeom>
              <a:solidFill>
                <a:srgbClr val="CCECFF"/>
              </a:solidFill>
              <a:ln w="19050">
                <a:solidFill>
                  <a:srgbClr val="CC33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219" name="Text Box 43"/>
              <p:cNvSpPr txBox="1">
                <a:spLocks noChangeArrowheads="1"/>
              </p:cNvSpPr>
              <p:nvPr/>
            </p:nvSpPr>
            <p:spPr bwMode="auto">
              <a:xfrm>
                <a:off x="2322" y="2414"/>
                <a:ext cx="764" cy="188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zh-CN" altLang="en-US" sz="1600" dirty="0">
                    <a:solidFill>
                      <a:srgbClr val="CC3300"/>
                    </a:solidFill>
                    <a:latin typeface="黑体" pitchFamily="2" charset="-122"/>
                    <a:ea typeface="黑体" pitchFamily="2" charset="-122"/>
                  </a:rPr>
                  <a:t>待设计的部分</a:t>
                </a:r>
              </a:p>
            </p:txBody>
          </p:sp>
        </p:grpSp>
        <p:grpSp>
          <p:nvGrpSpPr>
            <p:cNvPr id="92176" name="Group 44"/>
            <p:cNvGrpSpPr>
              <a:grpSpLocks/>
            </p:cNvGrpSpPr>
            <p:nvPr/>
          </p:nvGrpSpPr>
          <p:grpSpPr bwMode="auto">
            <a:xfrm>
              <a:off x="2165" y="1608"/>
              <a:ext cx="1194" cy="704"/>
              <a:chOff x="2165" y="1608"/>
              <a:chExt cx="1194" cy="704"/>
            </a:xfrm>
          </p:grpSpPr>
          <p:sp>
            <p:nvSpPr>
              <p:cNvPr id="92198" name="Text Box 64"/>
              <p:cNvSpPr txBox="1">
                <a:spLocks noChangeArrowheads="1"/>
              </p:cNvSpPr>
              <p:nvPr/>
            </p:nvSpPr>
            <p:spPr bwMode="auto">
              <a:xfrm>
                <a:off x="2969" y="1785"/>
                <a:ext cx="390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D</a:t>
                </a:r>
                <a:r>
                  <a:rPr lang="en-US" altLang="zh-CN" sz="1600" baseline="-25000" dirty="0">
                    <a:latin typeface="黑体" pitchFamily="2" charset="-122"/>
                    <a:ea typeface="黑体" pitchFamily="2" charset="-122"/>
                  </a:rPr>
                  <a:t>1-4</a:t>
                </a:r>
                <a:endParaRPr lang="en-US" altLang="zh-CN" sz="1600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91" name="Rectangle 45"/>
              <p:cNvSpPr>
                <a:spLocks noChangeArrowheads="1"/>
              </p:cNvSpPr>
              <p:nvPr/>
            </p:nvSpPr>
            <p:spPr bwMode="auto">
              <a:xfrm>
                <a:off x="2615" y="1608"/>
                <a:ext cx="378" cy="682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92" name="Text Box 46"/>
              <p:cNvSpPr txBox="1">
                <a:spLocks noChangeArrowheads="1"/>
              </p:cNvSpPr>
              <p:nvPr/>
            </p:nvSpPr>
            <p:spPr bwMode="auto">
              <a:xfrm>
                <a:off x="2531" y="1768"/>
                <a:ext cx="516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2K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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4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latin typeface="黑体" pitchFamily="2" charset="-122"/>
                  <a:ea typeface="黑体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RAM</a:t>
                </a:r>
              </a:p>
            </p:txBody>
          </p:sp>
          <p:sp>
            <p:nvSpPr>
              <p:cNvPr id="92193" name="Line 47"/>
              <p:cNvSpPr>
                <a:spLocks noChangeShapeType="1"/>
              </p:cNvSpPr>
              <p:nvPr/>
            </p:nvSpPr>
            <p:spPr bwMode="auto">
              <a:xfrm flipV="1">
                <a:off x="2471" y="1718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94" name="Line 48"/>
              <p:cNvSpPr>
                <a:spLocks noChangeShapeType="1"/>
              </p:cNvSpPr>
              <p:nvPr/>
            </p:nvSpPr>
            <p:spPr bwMode="auto">
              <a:xfrm flipV="1">
                <a:off x="2999" y="1960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95" name="Text Box 49"/>
              <p:cNvSpPr txBox="1">
                <a:spLocks noChangeArrowheads="1"/>
              </p:cNvSpPr>
              <p:nvPr/>
            </p:nvSpPr>
            <p:spPr bwMode="auto">
              <a:xfrm>
                <a:off x="2165" y="1630"/>
                <a:ext cx="39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A</a:t>
                </a:r>
                <a:r>
                  <a:rPr lang="en-US" altLang="zh-CN" sz="1600" baseline="-25000" dirty="0">
                    <a:latin typeface="黑体" pitchFamily="2" charset="-122"/>
                    <a:ea typeface="黑体" pitchFamily="2" charset="-122"/>
                  </a:rPr>
                  <a:t>10-0</a:t>
                </a:r>
                <a:endParaRPr lang="en-US" altLang="zh-CN" sz="1600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2196" name="Group 50"/>
              <p:cNvGrpSpPr>
                <a:grpSpLocks/>
              </p:cNvGrpSpPr>
              <p:nvPr/>
            </p:nvGrpSpPr>
            <p:grpSpPr bwMode="auto">
              <a:xfrm>
                <a:off x="2201" y="1834"/>
                <a:ext cx="414" cy="220"/>
                <a:chOff x="1125" y="3920"/>
                <a:chExt cx="1035" cy="600"/>
              </a:xfrm>
            </p:grpSpPr>
            <p:grpSp>
              <p:nvGrpSpPr>
                <p:cNvPr id="92212" name="Group 51"/>
                <p:cNvGrpSpPr>
                  <a:grpSpLocks/>
                </p:cNvGrpSpPr>
                <p:nvPr/>
              </p:nvGrpSpPr>
              <p:grpSpPr bwMode="auto">
                <a:xfrm>
                  <a:off x="1845" y="4040"/>
                  <a:ext cx="315" cy="119"/>
                  <a:chOff x="1890" y="12015"/>
                  <a:chExt cx="315" cy="119"/>
                </a:xfrm>
              </p:grpSpPr>
              <p:sp>
                <p:nvSpPr>
                  <p:cNvPr id="92216" name="Oval 52"/>
                  <p:cNvSpPr>
                    <a:spLocks noChangeArrowheads="1"/>
                  </p:cNvSpPr>
                  <p:nvPr/>
                </p:nvSpPr>
                <p:spPr bwMode="auto">
                  <a:xfrm>
                    <a:off x="2085" y="12015"/>
                    <a:ext cx="120" cy="11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 dirty="0">
                      <a:solidFill>
                        <a:schemeClr val="tx2"/>
                      </a:solidFill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92217" name="Line 5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0" y="12075"/>
                    <a:ext cx="1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92213" name="Group 54"/>
                <p:cNvGrpSpPr>
                  <a:grpSpLocks/>
                </p:cNvGrpSpPr>
                <p:nvPr/>
              </p:nvGrpSpPr>
              <p:grpSpPr bwMode="auto">
                <a:xfrm>
                  <a:off x="1125" y="3920"/>
                  <a:ext cx="975" cy="600"/>
                  <a:chOff x="5070" y="11325"/>
                  <a:chExt cx="975" cy="600"/>
                </a:xfrm>
              </p:grpSpPr>
              <p:sp>
                <p:nvSpPr>
                  <p:cNvPr id="92214" name="Text Box 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70" y="11325"/>
                    <a:ext cx="975" cy="6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latin typeface="黑体" pitchFamily="2" charset="-122"/>
                        <a:ea typeface="黑体" pitchFamily="2" charset="-122"/>
                      </a:rPr>
                      <a:t>CS</a:t>
                    </a:r>
                  </a:p>
                </p:txBody>
              </p:sp>
              <p:sp>
                <p:nvSpPr>
                  <p:cNvPr id="92215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5415" y="11400"/>
                    <a:ext cx="34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92197" name="Group 57"/>
              <p:cNvGrpSpPr>
                <a:grpSpLocks/>
              </p:cNvGrpSpPr>
              <p:nvPr/>
            </p:nvGrpSpPr>
            <p:grpSpPr bwMode="auto">
              <a:xfrm>
                <a:off x="2201" y="1966"/>
                <a:ext cx="414" cy="220"/>
                <a:chOff x="1125" y="4460"/>
                <a:chExt cx="1035" cy="600"/>
              </a:xfrm>
            </p:grpSpPr>
            <p:grpSp>
              <p:nvGrpSpPr>
                <p:cNvPr id="92206" name="Group 58"/>
                <p:cNvGrpSpPr>
                  <a:grpSpLocks/>
                </p:cNvGrpSpPr>
                <p:nvPr/>
              </p:nvGrpSpPr>
              <p:grpSpPr bwMode="auto">
                <a:xfrm>
                  <a:off x="1845" y="4580"/>
                  <a:ext cx="315" cy="119"/>
                  <a:chOff x="1890" y="12405"/>
                  <a:chExt cx="315" cy="119"/>
                </a:xfrm>
              </p:grpSpPr>
              <p:sp>
                <p:nvSpPr>
                  <p:cNvPr id="92210" name="Oval 59"/>
                  <p:cNvSpPr>
                    <a:spLocks noChangeArrowheads="1"/>
                  </p:cNvSpPr>
                  <p:nvPr/>
                </p:nvSpPr>
                <p:spPr bwMode="auto">
                  <a:xfrm>
                    <a:off x="2085" y="12405"/>
                    <a:ext cx="120" cy="11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 dirty="0">
                      <a:solidFill>
                        <a:schemeClr val="tx2"/>
                      </a:solidFill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92211" name="Line 6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0" y="12465"/>
                    <a:ext cx="1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92207" name="Group 61"/>
                <p:cNvGrpSpPr>
                  <a:grpSpLocks/>
                </p:cNvGrpSpPr>
                <p:nvPr/>
              </p:nvGrpSpPr>
              <p:grpSpPr bwMode="auto">
                <a:xfrm>
                  <a:off x="1125" y="4460"/>
                  <a:ext cx="975" cy="600"/>
                  <a:chOff x="5070" y="11325"/>
                  <a:chExt cx="975" cy="600"/>
                </a:xfrm>
              </p:grpSpPr>
              <p:sp>
                <p:nvSpPr>
                  <p:cNvPr id="92208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70" y="11325"/>
                    <a:ext cx="975" cy="6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latin typeface="黑体" pitchFamily="2" charset="-122"/>
                        <a:ea typeface="黑体" pitchFamily="2" charset="-122"/>
                      </a:rPr>
                      <a:t>RD</a:t>
                    </a:r>
                  </a:p>
                </p:txBody>
              </p:sp>
              <p:sp>
                <p:nvSpPr>
                  <p:cNvPr id="92209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5415" y="11400"/>
                    <a:ext cx="34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92199" name="Group 65"/>
              <p:cNvGrpSpPr>
                <a:grpSpLocks/>
              </p:cNvGrpSpPr>
              <p:nvPr/>
            </p:nvGrpSpPr>
            <p:grpSpPr bwMode="auto">
              <a:xfrm>
                <a:off x="2207" y="2092"/>
                <a:ext cx="414" cy="220"/>
                <a:chOff x="1125" y="4460"/>
                <a:chExt cx="1035" cy="600"/>
              </a:xfrm>
            </p:grpSpPr>
            <p:grpSp>
              <p:nvGrpSpPr>
                <p:cNvPr id="92200" name="Group 66"/>
                <p:cNvGrpSpPr>
                  <a:grpSpLocks/>
                </p:cNvGrpSpPr>
                <p:nvPr/>
              </p:nvGrpSpPr>
              <p:grpSpPr bwMode="auto">
                <a:xfrm>
                  <a:off x="1845" y="4580"/>
                  <a:ext cx="315" cy="119"/>
                  <a:chOff x="1890" y="12405"/>
                  <a:chExt cx="315" cy="119"/>
                </a:xfrm>
              </p:grpSpPr>
              <p:sp>
                <p:nvSpPr>
                  <p:cNvPr id="92204" name="Oval 67"/>
                  <p:cNvSpPr>
                    <a:spLocks noChangeArrowheads="1"/>
                  </p:cNvSpPr>
                  <p:nvPr/>
                </p:nvSpPr>
                <p:spPr bwMode="auto">
                  <a:xfrm>
                    <a:off x="2085" y="12405"/>
                    <a:ext cx="120" cy="11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 dirty="0">
                      <a:solidFill>
                        <a:schemeClr val="tx2"/>
                      </a:solidFill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92205" name="Line 6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0" y="12465"/>
                    <a:ext cx="1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92201" name="Group 69"/>
                <p:cNvGrpSpPr>
                  <a:grpSpLocks/>
                </p:cNvGrpSpPr>
                <p:nvPr/>
              </p:nvGrpSpPr>
              <p:grpSpPr bwMode="auto">
                <a:xfrm>
                  <a:off x="1125" y="4460"/>
                  <a:ext cx="975" cy="600"/>
                  <a:chOff x="5070" y="11325"/>
                  <a:chExt cx="975" cy="600"/>
                </a:xfrm>
              </p:grpSpPr>
              <p:sp>
                <p:nvSpPr>
                  <p:cNvPr id="92202" name="Text Box 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70" y="11325"/>
                    <a:ext cx="975" cy="6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latin typeface="黑体" pitchFamily="2" charset="-122"/>
                        <a:ea typeface="黑体" pitchFamily="2" charset="-122"/>
                      </a:rPr>
                      <a:t>WR</a:t>
                    </a:r>
                  </a:p>
                </p:txBody>
              </p:sp>
              <p:sp>
                <p:nvSpPr>
                  <p:cNvPr id="92203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5415" y="11400"/>
                    <a:ext cx="34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</p:grpSp>
        <p:grpSp>
          <p:nvGrpSpPr>
            <p:cNvPr id="92177" name="Group 72"/>
            <p:cNvGrpSpPr>
              <a:grpSpLocks/>
            </p:cNvGrpSpPr>
            <p:nvPr/>
          </p:nvGrpSpPr>
          <p:grpSpPr bwMode="auto">
            <a:xfrm>
              <a:off x="2157" y="896"/>
              <a:ext cx="1124" cy="634"/>
              <a:chOff x="2157" y="896"/>
              <a:chExt cx="1124" cy="634"/>
            </a:xfrm>
          </p:grpSpPr>
          <p:sp>
            <p:nvSpPr>
              <p:cNvPr id="92178" name="Text Box 73"/>
              <p:cNvSpPr txBox="1">
                <a:spLocks noChangeArrowheads="1"/>
              </p:cNvSpPr>
              <p:nvPr/>
            </p:nvSpPr>
            <p:spPr bwMode="auto">
              <a:xfrm>
                <a:off x="2607" y="896"/>
                <a:ext cx="384" cy="634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79" name="Text Box 74"/>
              <p:cNvSpPr txBox="1">
                <a:spLocks noChangeArrowheads="1"/>
              </p:cNvSpPr>
              <p:nvPr/>
            </p:nvSpPr>
            <p:spPr bwMode="auto">
              <a:xfrm>
                <a:off x="2989" y="1076"/>
                <a:ext cx="292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D</a:t>
                </a:r>
                <a:r>
                  <a:rPr lang="en-US" altLang="zh-CN" sz="1600" baseline="-25000" dirty="0">
                    <a:latin typeface="黑体" pitchFamily="2" charset="-122"/>
                    <a:ea typeface="黑体" pitchFamily="2" charset="-122"/>
                  </a:rPr>
                  <a:t>7-0</a:t>
                </a:r>
              </a:p>
            </p:txBody>
          </p:sp>
          <p:sp>
            <p:nvSpPr>
              <p:cNvPr id="92180" name="Text Box 75"/>
              <p:cNvSpPr txBox="1">
                <a:spLocks noChangeArrowheads="1"/>
              </p:cNvSpPr>
              <p:nvPr/>
            </p:nvSpPr>
            <p:spPr bwMode="auto">
              <a:xfrm>
                <a:off x="2553" y="1028"/>
                <a:ext cx="516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2K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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8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latin typeface="黑体" pitchFamily="2" charset="-122"/>
                  <a:ea typeface="黑体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ROM</a:t>
                </a:r>
              </a:p>
            </p:txBody>
          </p:sp>
          <p:sp>
            <p:nvSpPr>
              <p:cNvPr id="92181" name="Line 76"/>
              <p:cNvSpPr>
                <a:spLocks noChangeShapeType="1"/>
              </p:cNvSpPr>
              <p:nvPr/>
            </p:nvSpPr>
            <p:spPr bwMode="auto">
              <a:xfrm flipV="1">
                <a:off x="2463" y="990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82" name="Text Box 77"/>
              <p:cNvSpPr txBox="1">
                <a:spLocks noChangeArrowheads="1"/>
              </p:cNvSpPr>
              <p:nvPr/>
            </p:nvSpPr>
            <p:spPr bwMode="auto">
              <a:xfrm>
                <a:off x="2157" y="902"/>
                <a:ext cx="39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A</a:t>
                </a:r>
                <a:r>
                  <a:rPr lang="en-US" altLang="zh-CN" sz="1600" baseline="-25000" dirty="0">
                    <a:latin typeface="黑体" pitchFamily="2" charset="-122"/>
                    <a:ea typeface="黑体" pitchFamily="2" charset="-122"/>
                  </a:rPr>
                  <a:t>10-0</a:t>
                </a:r>
                <a:endParaRPr lang="en-US" altLang="zh-CN" sz="1600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83" name="Line 78"/>
              <p:cNvSpPr>
                <a:spLocks noChangeShapeType="1"/>
              </p:cNvSpPr>
              <p:nvPr/>
            </p:nvSpPr>
            <p:spPr bwMode="auto">
              <a:xfrm flipV="1">
                <a:off x="2983" y="1246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2184" name="Group 79"/>
              <p:cNvGrpSpPr>
                <a:grpSpLocks/>
              </p:cNvGrpSpPr>
              <p:nvPr/>
            </p:nvGrpSpPr>
            <p:grpSpPr bwMode="auto">
              <a:xfrm>
                <a:off x="2210" y="1234"/>
                <a:ext cx="414" cy="220"/>
                <a:chOff x="1125" y="3920"/>
                <a:chExt cx="1035" cy="600"/>
              </a:xfrm>
            </p:grpSpPr>
            <p:grpSp>
              <p:nvGrpSpPr>
                <p:cNvPr id="92185" name="Group 80"/>
                <p:cNvGrpSpPr>
                  <a:grpSpLocks/>
                </p:cNvGrpSpPr>
                <p:nvPr/>
              </p:nvGrpSpPr>
              <p:grpSpPr bwMode="auto">
                <a:xfrm>
                  <a:off x="1845" y="4040"/>
                  <a:ext cx="315" cy="119"/>
                  <a:chOff x="1890" y="12015"/>
                  <a:chExt cx="315" cy="119"/>
                </a:xfrm>
              </p:grpSpPr>
              <p:sp>
                <p:nvSpPr>
                  <p:cNvPr id="92189" name="Oval 81"/>
                  <p:cNvSpPr>
                    <a:spLocks noChangeArrowheads="1"/>
                  </p:cNvSpPr>
                  <p:nvPr/>
                </p:nvSpPr>
                <p:spPr bwMode="auto">
                  <a:xfrm>
                    <a:off x="2085" y="12015"/>
                    <a:ext cx="120" cy="11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 dirty="0">
                      <a:solidFill>
                        <a:schemeClr val="tx2"/>
                      </a:solidFill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92190" name="Line 8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0" y="12075"/>
                    <a:ext cx="1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92186" name="Group 83"/>
                <p:cNvGrpSpPr>
                  <a:grpSpLocks/>
                </p:cNvGrpSpPr>
                <p:nvPr/>
              </p:nvGrpSpPr>
              <p:grpSpPr bwMode="auto">
                <a:xfrm>
                  <a:off x="1125" y="3920"/>
                  <a:ext cx="975" cy="600"/>
                  <a:chOff x="5070" y="11325"/>
                  <a:chExt cx="975" cy="600"/>
                </a:xfrm>
              </p:grpSpPr>
              <p:sp>
                <p:nvSpPr>
                  <p:cNvPr id="92187" name="Text Box 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70" y="11325"/>
                    <a:ext cx="975" cy="6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latin typeface="黑体" pitchFamily="2" charset="-122"/>
                        <a:ea typeface="黑体" pitchFamily="2" charset="-122"/>
                      </a:rPr>
                      <a:t>CS</a:t>
                    </a:r>
                  </a:p>
                </p:txBody>
              </p:sp>
              <p:sp>
                <p:nvSpPr>
                  <p:cNvPr id="92188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5415" y="11400"/>
                    <a:ext cx="34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9"/>
          <p:cNvSpPr>
            <a:spLocks noChangeArrowheads="1"/>
          </p:cNvSpPr>
          <p:nvPr/>
        </p:nvSpPr>
        <p:spPr bwMode="auto">
          <a:xfrm>
            <a:off x="719138" y="861377"/>
            <a:ext cx="7993062" cy="1818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2K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8/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 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2K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4/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 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SRAM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芯片，组成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8K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的内存储器（其中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2KB 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6KB 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）。系统提供的控制信号有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/RD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（为低时读）、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/WR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（为低时写）、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/MEM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（为低时表示访问内存）。</a:t>
            </a:r>
          </a:p>
        </p:txBody>
      </p:sp>
      <p:sp>
        <p:nvSpPr>
          <p:cNvPr id="80" name="Rectangle 9"/>
          <p:cNvSpPr>
            <a:spLocks noChangeArrowheads="1"/>
          </p:cNvSpPr>
          <p:nvPr/>
        </p:nvSpPr>
        <p:spPr bwMode="auto">
          <a:xfrm>
            <a:off x="503238" y="2968552"/>
            <a:ext cx="7993062" cy="2705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buClrTx/>
              <a:buFont typeface="Arial" pitchFamily="34" charset="0"/>
              <a:buChar char="•"/>
              <a:tabLst>
                <a:tab pos="355600" algn="l"/>
              </a:tabLst>
            </a:pP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使用</a:t>
            </a:r>
            <a:r>
              <a:rPr kumimoji="0"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芯片</a:t>
            </a:r>
            <a:r>
              <a:rPr kumimoji="0"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片构成</a:t>
            </a:r>
            <a:r>
              <a:rPr kumimoji="0" lang="en-US" altLang="zh-CN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2KB ROM</a:t>
            </a:r>
            <a:r>
              <a:rPr kumimoji="0"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;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buClrTx/>
              <a:buFont typeface="Arial" pitchFamily="34" charset="0"/>
              <a:buChar char="•"/>
              <a:tabLst>
                <a:tab pos="355600" algn="l"/>
              </a:tabLst>
            </a:pP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进行字位扩展，需</a:t>
            </a:r>
            <a:r>
              <a:rPr kumimoji="0"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2K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4/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 的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SRAM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6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片；其中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6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RAM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按每两片一组完成位扩展，共</a:t>
            </a:r>
            <a:r>
              <a:rPr lang="zh-CN" altLang="en-US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三组构成</a:t>
            </a:r>
            <a:r>
              <a:rPr lang="en-US" altLang="zh-CN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6KB RAM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;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buClrTx/>
              <a:buFont typeface="Arial" pitchFamily="34" charset="0"/>
              <a:buChar char="•"/>
              <a:tabLst>
                <a:tab pos="355600" algn="l"/>
              </a:tabLst>
            </a:pP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系统提供的</a:t>
            </a:r>
            <a:r>
              <a:rPr lang="en-US" altLang="zh-CN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10-0</a:t>
            </a:r>
            <a:r>
              <a:rPr lang="zh-CN" altLang="en-US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作为低位地址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，与芯片内的地址线连接；</a:t>
            </a:r>
            <a:endParaRPr lang="en-US" altLang="zh-CN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buClrTx/>
              <a:buFont typeface="Arial" pitchFamily="34" charset="0"/>
              <a:buChar char="•"/>
              <a:tabLst>
                <a:tab pos="355600" algn="l"/>
              </a:tabLst>
            </a:pP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系统提供的</a:t>
            </a:r>
            <a:r>
              <a:rPr lang="en-US" altLang="zh-CN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15-11</a:t>
            </a:r>
            <a:r>
              <a:rPr lang="zh-CN" altLang="en-US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作为高位地址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，采用部分译码产生片选。</a:t>
            </a:r>
          </a:p>
        </p:txBody>
      </p:sp>
    </p:spTree>
    <p:extLst>
      <p:ext uri="{BB962C8B-B14F-4D97-AF65-F5344CB8AC3E}">
        <p14:creationId xmlns:p14="http://schemas.microsoft.com/office/powerpoint/2010/main" val="1452007160"/>
      </p:ext>
    </p:extLst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5"/>
          <p:cNvSpPr>
            <a:spLocks noChangeArrowheads="1"/>
          </p:cNvSpPr>
          <p:nvPr/>
        </p:nvSpPr>
        <p:spPr bwMode="auto">
          <a:xfrm>
            <a:off x="611188" y="509588"/>
            <a:ext cx="8532812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步：确定芯片数目、芯片工作的地址区域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使用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片、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片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每两片组成位扩展（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U5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U6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63600" y="2446278"/>
            <a:ext cx="7272338" cy="3538597"/>
            <a:chOff x="863600" y="2446278"/>
            <a:chExt cx="7272338" cy="3538597"/>
          </a:xfrm>
        </p:grpSpPr>
        <p:sp>
          <p:nvSpPr>
            <p:cNvPr id="93187" name="Text Box 7"/>
            <p:cNvSpPr txBox="1">
              <a:spLocks noChangeArrowheads="1"/>
            </p:cNvSpPr>
            <p:nvPr/>
          </p:nvSpPr>
          <p:spPr bwMode="auto">
            <a:xfrm>
              <a:off x="2225675" y="3157538"/>
              <a:ext cx="3686175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b="0">
                  <a:latin typeface="宋体" charset="-122"/>
                  <a:ea typeface="宋体" charset="-122"/>
                </a:rPr>
                <a:t>           </a:t>
              </a:r>
              <a:r>
                <a:rPr lang="en-US" altLang="zh-CN" sz="1600" b="0">
                  <a:latin typeface="宋体" charset="-122"/>
                  <a:ea typeface="宋体" charset="-122"/>
                </a:rPr>
                <a:t>......</a:t>
              </a:r>
            </a:p>
          </p:txBody>
        </p:sp>
        <p:grpSp>
          <p:nvGrpSpPr>
            <p:cNvPr id="93188" name="Group 8"/>
            <p:cNvGrpSpPr>
              <a:grpSpLocks/>
            </p:cNvGrpSpPr>
            <p:nvPr/>
          </p:nvGrpSpPr>
          <p:grpSpPr bwMode="auto">
            <a:xfrm>
              <a:off x="5583238" y="2825750"/>
              <a:ext cx="2552700" cy="3159125"/>
              <a:chOff x="4065" y="10317"/>
              <a:chExt cx="2670" cy="3408"/>
            </a:xfrm>
          </p:grpSpPr>
          <p:sp>
            <p:nvSpPr>
              <p:cNvPr id="93224" name="Text Box 9"/>
              <p:cNvSpPr txBox="1">
                <a:spLocks noChangeArrowheads="1"/>
              </p:cNvSpPr>
              <p:nvPr/>
            </p:nvSpPr>
            <p:spPr bwMode="auto">
              <a:xfrm>
                <a:off x="4800" y="10317"/>
                <a:ext cx="1935" cy="6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D</a:t>
                </a:r>
                <a:r>
                  <a:rPr lang="en-US" altLang="zh-CN" sz="1600" baseline="-25000">
                    <a:latin typeface="宋体" charset="-122"/>
                    <a:ea typeface="宋体" charset="-122"/>
                  </a:rPr>
                  <a:t>7  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   D</a:t>
                </a:r>
                <a:r>
                  <a:rPr lang="en-US" altLang="zh-CN" sz="1600" baseline="-25000">
                    <a:latin typeface="宋体" charset="-122"/>
                    <a:ea typeface="宋体" charset="-122"/>
                  </a:rPr>
                  <a:t>4 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D</a:t>
                </a:r>
                <a:r>
                  <a:rPr lang="en-US" altLang="zh-CN" sz="1600" baseline="-25000">
                    <a:latin typeface="宋体" charset="-122"/>
                    <a:ea typeface="宋体" charset="-122"/>
                  </a:rPr>
                  <a:t>3    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 D</a:t>
                </a:r>
                <a:r>
                  <a:rPr lang="en-US" altLang="zh-CN" sz="1600" baseline="-25000">
                    <a:latin typeface="宋体" charset="-122"/>
                    <a:ea typeface="宋体" charset="-122"/>
                  </a:rPr>
                  <a:t>0</a:t>
                </a:r>
                <a:endParaRPr lang="en-US" altLang="zh-CN" sz="1600"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3225" name="Rectangle 10"/>
              <p:cNvSpPr>
                <a:spLocks noChangeArrowheads="1"/>
              </p:cNvSpPr>
              <p:nvPr/>
            </p:nvSpPr>
            <p:spPr bwMode="auto">
              <a:xfrm>
                <a:off x="4815" y="10730"/>
                <a:ext cx="1875" cy="275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3226" name="Group 11"/>
              <p:cNvGrpSpPr>
                <a:grpSpLocks/>
              </p:cNvGrpSpPr>
              <p:nvPr/>
            </p:nvGrpSpPr>
            <p:grpSpPr bwMode="auto">
              <a:xfrm>
                <a:off x="4065" y="10654"/>
                <a:ext cx="840" cy="1016"/>
                <a:chOff x="1920" y="10729"/>
                <a:chExt cx="840" cy="1031"/>
              </a:xfrm>
            </p:grpSpPr>
            <p:sp>
              <p:nvSpPr>
                <p:cNvPr id="93246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0000H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07FFH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3247" name="Freeform 13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93227" name="Text Box 14"/>
              <p:cNvSpPr txBox="1">
                <a:spLocks noChangeArrowheads="1"/>
              </p:cNvSpPr>
              <p:nvPr/>
            </p:nvSpPr>
            <p:spPr bwMode="auto">
              <a:xfrm>
                <a:off x="4890" y="10775"/>
                <a:ext cx="1725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8 ROM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U0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3228" name="Group 15"/>
              <p:cNvGrpSpPr>
                <a:grpSpLocks/>
              </p:cNvGrpSpPr>
              <p:nvPr/>
            </p:nvGrpSpPr>
            <p:grpSpPr bwMode="auto">
              <a:xfrm>
                <a:off x="4065" y="11329"/>
                <a:ext cx="2550" cy="1016"/>
                <a:chOff x="4065" y="11314"/>
                <a:chExt cx="2550" cy="1016"/>
              </a:xfrm>
            </p:grpSpPr>
            <p:sp>
              <p:nvSpPr>
                <p:cNvPr id="93241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5775" y="11436"/>
                  <a:ext cx="840" cy="5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2K</a:t>
                  </a:r>
                  <a:r>
                    <a:rPr lang="en-US" altLang="zh-CN" sz="1600">
                      <a:latin typeface="宋体" charset="-122"/>
                      <a:ea typeface="宋体" charset="-122"/>
                      <a:sym typeface="Symbol" pitchFamily="18" charset="2"/>
                    </a:rPr>
                    <a:t></a:t>
                  </a:r>
                  <a:r>
                    <a:rPr lang="en-US" altLang="zh-CN" sz="1600">
                      <a:latin typeface="宋体" charset="-122"/>
                      <a:ea typeface="宋体" charset="-122"/>
                    </a:rPr>
                    <a:t>4 </a:t>
                  </a:r>
                </a:p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U1</a:t>
                  </a:r>
                  <a:endParaRPr lang="en-US" altLang="zh-CN" sz="1600" b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9324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890" y="11436"/>
                  <a:ext cx="840" cy="5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2K</a:t>
                  </a:r>
                  <a:r>
                    <a:rPr lang="en-US" altLang="zh-CN" sz="1600">
                      <a:latin typeface="宋体" charset="-122"/>
                      <a:ea typeface="宋体" charset="-122"/>
                      <a:sym typeface="Symbol" pitchFamily="18" charset="2"/>
                    </a:rPr>
                    <a:t></a:t>
                  </a:r>
                  <a:r>
                    <a:rPr lang="en-US" altLang="zh-CN" sz="1600">
                      <a:latin typeface="宋体" charset="-122"/>
                      <a:ea typeface="宋体" charset="-122"/>
                    </a:rPr>
                    <a:t>4 </a:t>
                  </a:r>
                </a:p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U2</a:t>
                  </a:r>
                  <a:endParaRPr lang="en-US" altLang="zh-CN" sz="1600" b="0">
                    <a:latin typeface="Times New Roman" pitchFamily="18" charset="0"/>
                    <a:ea typeface="宋体" charset="-122"/>
                  </a:endParaRPr>
                </a:p>
              </p:txBody>
            </p:sp>
            <p:grpSp>
              <p:nvGrpSpPr>
                <p:cNvPr id="93243" name="Group 18"/>
                <p:cNvGrpSpPr>
                  <a:grpSpLocks/>
                </p:cNvGrpSpPr>
                <p:nvPr/>
              </p:nvGrpSpPr>
              <p:grpSpPr bwMode="auto">
                <a:xfrm>
                  <a:off x="4065" y="11314"/>
                  <a:ext cx="840" cy="1016"/>
                  <a:chOff x="1920" y="10729"/>
                  <a:chExt cx="840" cy="1031"/>
                </a:xfrm>
              </p:grpSpPr>
              <p:sp>
                <p:nvSpPr>
                  <p:cNvPr id="93244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0" y="10729"/>
                    <a:ext cx="840" cy="10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just">
                      <a:lnSpc>
                        <a:spcPct val="128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>
                        <a:latin typeface="宋体" charset="-122"/>
                        <a:ea typeface="宋体" charset="-122"/>
                      </a:rPr>
                      <a:t>0800H</a:t>
                    </a:r>
                  </a:p>
                  <a:p>
                    <a:pPr algn="just">
                      <a:lnSpc>
                        <a:spcPct val="128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>
                        <a:latin typeface="宋体" charset="-122"/>
                        <a:ea typeface="宋体" charset="-122"/>
                      </a:rPr>
                      <a:t>0FFFH</a:t>
                    </a:r>
                    <a:endParaRPr lang="en-US" altLang="zh-CN" sz="1600" b="0">
                      <a:latin typeface="宋体" charset="-122"/>
                      <a:ea typeface="宋体" charset="-122"/>
                    </a:endParaRPr>
                  </a:p>
                </p:txBody>
              </p:sp>
              <p:sp>
                <p:nvSpPr>
                  <p:cNvPr id="93245" name="Freeform 20"/>
                  <p:cNvSpPr>
                    <a:spLocks/>
                  </p:cNvSpPr>
                  <p:nvPr/>
                </p:nvSpPr>
                <p:spPr bwMode="auto">
                  <a:xfrm>
                    <a:off x="2285" y="11013"/>
                    <a:ext cx="117" cy="215"/>
                  </a:xfrm>
                  <a:custGeom>
                    <a:avLst/>
                    <a:gdLst>
                      <a:gd name="T0" fmla="*/ 8 w 132"/>
                      <a:gd name="T1" fmla="*/ 0 h 345"/>
                      <a:gd name="T2" fmla="*/ 4 w 132"/>
                      <a:gd name="T3" fmla="*/ 1 h 345"/>
                      <a:gd name="T4" fmla="*/ 13 w 132"/>
                      <a:gd name="T5" fmla="*/ 1 h 345"/>
                      <a:gd name="T6" fmla="*/ 4 w 132"/>
                      <a:gd name="T7" fmla="*/ 1 h 34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32"/>
                      <a:gd name="T13" fmla="*/ 0 h 345"/>
                      <a:gd name="T14" fmla="*/ 132 w 132"/>
                      <a:gd name="T15" fmla="*/ 345 h 34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32" h="345">
                        <a:moveTo>
                          <a:pt x="70" y="0"/>
                        </a:moveTo>
                        <a:cubicBezTo>
                          <a:pt x="35" y="44"/>
                          <a:pt x="0" y="88"/>
                          <a:pt x="10" y="120"/>
                        </a:cubicBezTo>
                        <a:cubicBezTo>
                          <a:pt x="20" y="152"/>
                          <a:pt x="128" y="158"/>
                          <a:pt x="130" y="195"/>
                        </a:cubicBezTo>
                        <a:cubicBezTo>
                          <a:pt x="132" y="232"/>
                          <a:pt x="78" y="288"/>
                          <a:pt x="25" y="345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93229" name="Group 21"/>
              <p:cNvGrpSpPr>
                <a:grpSpLocks/>
              </p:cNvGrpSpPr>
              <p:nvPr/>
            </p:nvGrpSpPr>
            <p:grpSpPr bwMode="auto">
              <a:xfrm>
                <a:off x="4065" y="12019"/>
                <a:ext cx="2550" cy="1016"/>
                <a:chOff x="4065" y="11314"/>
                <a:chExt cx="2550" cy="1016"/>
              </a:xfrm>
            </p:grpSpPr>
            <p:sp>
              <p:nvSpPr>
                <p:cNvPr id="93236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5775" y="11436"/>
                  <a:ext cx="840" cy="5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2K</a:t>
                  </a:r>
                  <a:r>
                    <a:rPr lang="en-US" altLang="zh-CN" sz="1600">
                      <a:latin typeface="宋体" charset="-122"/>
                      <a:ea typeface="宋体" charset="-122"/>
                      <a:sym typeface="Symbol" pitchFamily="18" charset="2"/>
                    </a:rPr>
                    <a:t></a:t>
                  </a:r>
                  <a:r>
                    <a:rPr lang="en-US" altLang="zh-CN" sz="1600">
                      <a:latin typeface="宋体" charset="-122"/>
                      <a:ea typeface="宋体" charset="-122"/>
                    </a:rPr>
                    <a:t>4 </a:t>
                  </a:r>
                </a:p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U3</a:t>
                  </a:r>
                  <a:endParaRPr lang="en-US" altLang="zh-CN" sz="1600" b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93237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890" y="11436"/>
                  <a:ext cx="840" cy="5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2K</a:t>
                  </a:r>
                  <a:r>
                    <a:rPr lang="en-US" altLang="zh-CN" sz="1600">
                      <a:latin typeface="宋体" charset="-122"/>
                      <a:ea typeface="宋体" charset="-122"/>
                      <a:sym typeface="Symbol" pitchFamily="18" charset="2"/>
                    </a:rPr>
                    <a:t></a:t>
                  </a:r>
                  <a:r>
                    <a:rPr lang="en-US" altLang="zh-CN" sz="1600">
                      <a:latin typeface="宋体" charset="-122"/>
                      <a:ea typeface="宋体" charset="-122"/>
                    </a:rPr>
                    <a:t>4 </a:t>
                  </a:r>
                </a:p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U4</a:t>
                  </a:r>
                  <a:endParaRPr lang="en-US" altLang="zh-CN" sz="1600" b="0">
                    <a:latin typeface="Times New Roman" pitchFamily="18" charset="0"/>
                    <a:ea typeface="宋体" charset="-122"/>
                  </a:endParaRPr>
                </a:p>
              </p:txBody>
            </p:sp>
            <p:grpSp>
              <p:nvGrpSpPr>
                <p:cNvPr id="93238" name="Group 24"/>
                <p:cNvGrpSpPr>
                  <a:grpSpLocks/>
                </p:cNvGrpSpPr>
                <p:nvPr/>
              </p:nvGrpSpPr>
              <p:grpSpPr bwMode="auto">
                <a:xfrm>
                  <a:off x="4065" y="11314"/>
                  <a:ext cx="840" cy="1016"/>
                  <a:chOff x="1920" y="10729"/>
                  <a:chExt cx="840" cy="1031"/>
                </a:xfrm>
              </p:grpSpPr>
              <p:sp>
                <p:nvSpPr>
                  <p:cNvPr id="93239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0" y="10729"/>
                    <a:ext cx="840" cy="10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just">
                      <a:lnSpc>
                        <a:spcPct val="128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>
                        <a:latin typeface="宋体" charset="-122"/>
                        <a:ea typeface="宋体" charset="-122"/>
                      </a:rPr>
                      <a:t>1000H</a:t>
                    </a:r>
                  </a:p>
                  <a:p>
                    <a:pPr algn="just">
                      <a:lnSpc>
                        <a:spcPct val="128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>
                        <a:latin typeface="宋体" charset="-122"/>
                        <a:ea typeface="宋体" charset="-122"/>
                      </a:rPr>
                      <a:t>17FFH</a:t>
                    </a:r>
                    <a:endParaRPr lang="en-US" altLang="zh-CN" sz="1600" b="0">
                      <a:latin typeface="宋体" charset="-122"/>
                      <a:ea typeface="宋体" charset="-122"/>
                    </a:endParaRPr>
                  </a:p>
                </p:txBody>
              </p:sp>
              <p:sp>
                <p:nvSpPr>
                  <p:cNvPr id="93240" name="Freeform 26"/>
                  <p:cNvSpPr>
                    <a:spLocks/>
                  </p:cNvSpPr>
                  <p:nvPr/>
                </p:nvSpPr>
                <p:spPr bwMode="auto">
                  <a:xfrm>
                    <a:off x="2285" y="11013"/>
                    <a:ext cx="117" cy="215"/>
                  </a:xfrm>
                  <a:custGeom>
                    <a:avLst/>
                    <a:gdLst>
                      <a:gd name="T0" fmla="*/ 8 w 132"/>
                      <a:gd name="T1" fmla="*/ 0 h 345"/>
                      <a:gd name="T2" fmla="*/ 4 w 132"/>
                      <a:gd name="T3" fmla="*/ 1 h 345"/>
                      <a:gd name="T4" fmla="*/ 13 w 132"/>
                      <a:gd name="T5" fmla="*/ 1 h 345"/>
                      <a:gd name="T6" fmla="*/ 4 w 132"/>
                      <a:gd name="T7" fmla="*/ 1 h 34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32"/>
                      <a:gd name="T13" fmla="*/ 0 h 345"/>
                      <a:gd name="T14" fmla="*/ 132 w 132"/>
                      <a:gd name="T15" fmla="*/ 345 h 34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32" h="345">
                        <a:moveTo>
                          <a:pt x="70" y="0"/>
                        </a:moveTo>
                        <a:cubicBezTo>
                          <a:pt x="35" y="44"/>
                          <a:pt x="0" y="88"/>
                          <a:pt x="10" y="120"/>
                        </a:cubicBezTo>
                        <a:cubicBezTo>
                          <a:pt x="20" y="152"/>
                          <a:pt x="128" y="158"/>
                          <a:pt x="130" y="195"/>
                        </a:cubicBezTo>
                        <a:cubicBezTo>
                          <a:pt x="132" y="232"/>
                          <a:pt x="78" y="288"/>
                          <a:pt x="25" y="345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93230" name="Group 27"/>
              <p:cNvGrpSpPr>
                <a:grpSpLocks/>
              </p:cNvGrpSpPr>
              <p:nvPr/>
            </p:nvGrpSpPr>
            <p:grpSpPr bwMode="auto">
              <a:xfrm>
                <a:off x="4065" y="12709"/>
                <a:ext cx="2550" cy="1016"/>
                <a:chOff x="4065" y="11314"/>
                <a:chExt cx="2550" cy="1016"/>
              </a:xfrm>
            </p:grpSpPr>
            <p:sp>
              <p:nvSpPr>
                <p:cNvPr id="93231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5775" y="11436"/>
                  <a:ext cx="840" cy="5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2K</a:t>
                  </a:r>
                  <a:r>
                    <a:rPr lang="en-US" altLang="zh-CN" sz="1600">
                      <a:latin typeface="宋体" charset="-122"/>
                      <a:ea typeface="宋体" charset="-122"/>
                      <a:sym typeface="Symbol" pitchFamily="18" charset="2"/>
                    </a:rPr>
                    <a:t></a:t>
                  </a:r>
                  <a:r>
                    <a:rPr lang="en-US" altLang="zh-CN" sz="1600">
                      <a:latin typeface="宋体" charset="-122"/>
                      <a:ea typeface="宋体" charset="-122"/>
                    </a:rPr>
                    <a:t>4 </a:t>
                  </a:r>
                </a:p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U5</a:t>
                  </a:r>
                  <a:endParaRPr lang="en-US" altLang="zh-CN" sz="1600" b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93232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890" y="11436"/>
                  <a:ext cx="840" cy="5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2K</a:t>
                  </a:r>
                  <a:r>
                    <a:rPr lang="en-US" altLang="zh-CN" sz="1600">
                      <a:latin typeface="宋体" charset="-122"/>
                      <a:ea typeface="宋体" charset="-122"/>
                      <a:sym typeface="Symbol" pitchFamily="18" charset="2"/>
                    </a:rPr>
                    <a:t></a:t>
                  </a:r>
                  <a:r>
                    <a:rPr lang="en-US" altLang="zh-CN" sz="1600">
                      <a:latin typeface="宋体" charset="-122"/>
                      <a:ea typeface="宋体" charset="-122"/>
                    </a:rPr>
                    <a:t>4 </a:t>
                  </a:r>
                </a:p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U6</a:t>
                  </a:r>
                  <a:endParaRPr lang="en-US" altLang="zh-CN" sz="1600" b="0">
                    <a:latin typeface="Times New Roman" pitchFamily="18" charset="0"/>
                    <a:ea typeface="宋体" charset="-122"/>
                  </a:endParaRPr>
                </a:p>
              </p:txBody>
            </p:sp>
            <p:grpSp>
              <p:nvGrpSpPr>
                <p:cNvPr id="93233" name="Group 30"/>
                <p:cNvGrpSpPr>
                  <a:grpSpLocks/>
                </p:cNvGrpSpPr>
                <p:nvPr/>
              </p:nvGrpSpPr>
              <p:grpSpPr bwMode="auto">
                <a:xfrm>
                  <a:off x="4065" y="11314"/>
                  <a:ext cx="840" cy="1016"/>
                  <a:chOff x="1920" y="10729"/>
                  <a:chExt cx="840" cy="1031"/>
                </a:xfrm>
              </p:grpSpPr>
              <p:sp>
                <p:nvSpPr>
                  <p:cNvPr id="93234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0" y="10729"/>
                    <a:ext cx="840" cy="10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just">
                      <a:lnSpc>
                        <a:spcPct val="128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>
                        <a:latin typeface="宋体" charset="-122"/>
                        <a:ea typeface="宋体" charset="-122"/>
                      </a:rPr>
                      <a:t>1800H</a:t>
                    </a:r>
                  </a:p>
                  <a:p>
                    <a:pPr algn="just">
                      <a:lnSpc>
                        <a:spcPct val="128000"/>
                      </a:lnSpc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>
                        <a:latin typeface="宋体" charset="-122"/>
                        <a:ea typeface="宋体" charset="-122"/>
                      </a:rPr>
                      <a:t>1FFFH</a:t>
                    </a:r>
                    <a:endParaRPr lang="en-US" altLang="zh-CN" sz="1600" b="0">
                      <a:latin typeface="宋体" charset="-122"/>
                      <a:ea typeface="宋体" charset="-122"/>
                    </a:endParaRPr>
                  </a:p>
                </p:txBody>
              </p:sp>
              <p:sp>
                <p:nvSpPr>
                  <p:cNvPr id="93235" name="Freeform 32"/>
                  <p:cNvSpPr>
                    <a:spLocks/>
                  </p:cNvSpPr>
                  <p:nvPr/>
                </p:nvSpPr>
                <p:spPr bwMode="auto">
                  <a:xfrm>
                    <a:off x="2285" y="11013"/>
                    <a:ext cx="117" cy="215"/>
                  </a:xfrm>
                  <a:custGeom>
                    <a:avLst/>
                    <a:gdLst>
                      <a:gd name="T0" fmla="*/ 8 w 132"/>
                      <a:gd name="T1" fmla="*/ 0 h 345"/>
                      <a:gd name="T2" fmla="*/ 4 w 132"/>
                      <a:gd name="T3" fmla="*/ 1 h 345"/>
                      <a:gd name="T4" fmla="*/ 13 w 132"/>
                      <a:gd name="T5" fmla="*/ 1 h 345"/>
                      <a:gd name="T6" fmla="*/ 4 w 132"/>
                      <a:gd name="T7" fmla="*/ 1 h 34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32"/>
                      <a:gd name="T13" fmla="*/ 0 h 345"/>
                      <a:gd name="T14" fmla="*/ 132 w 132"/>
                      <a:gd name="T15" fmla="*/ 345 h 34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32" h="345">
                        <a:moveTo>
                          <a:pt x="70" y="0"/>
                        </a:moveTo>
                        <a:cubicBezTo>
                          <a:pt x="35" y="44"/>
                          <a:pt x="0" y="88"/>
                          <a:pt x="10" y="120"/>
                        </a:cubicBezTo>
                        <a:cubicBezTo>
                          <a:pt x="20" y="152"/>
                          <a:pt x="128" y="158"/>
                          <a:pt x="130" y="195"/>
                        </a:cubicBezTo>
                        <a:cubicBezTo>
                          <a:pt x="132" y="232"/>
                          <a:pt x="78" y="288"/>
                          <a:pt x="25" y="345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</p:grpSp>
        <p:grpSp>
          <p:nvGrpSpPr>
            <p:cNvPr id="93189" name="Group 33"/>
            <p:cNvGrpSpPr>
              <a:grpSpLocks/>
            </p:cNvGrpSpPr>
            <p:nvPr/>
          </p:nvGrpSpPr>
          <p:grpSpPr bwMode="auto">
            <a:xfrm>
              <a:off x="1795463" y="2816225"/>
              <a:ext cx="2992437" cy="419100"/>
              <a:chOff x="1380" y="6420"/>
              <a:chExt cx="3915" cy="480"/>
            </a:xfrm>
          </p:grpSpPr>
          <p:sp>
            <p:nvSpPr>
              <p:cNvPr id="93221" name="Text Box 34"/>
              <p:cNvSpPr txBox="1">
                <a:spLocks noChangeArrowheads="1"/>
              </p:cNvSpPr>
              <p:nvPr/>
            </p:nvSpPr>
            <p:spPr bwMode="auto">
              <a:xfrm>
                <a:off x="1380" y="6420"/>
                <a:ext cx="750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600" baseline="-25000">
                    <a:latin typeface="Times New Roman" pitchFamily="18" charset="0"/>
                    <a:ea typeface="宋体" charset="-122"/>
                  </a:rPr>
                  <a:t>15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3222" name="Text Box 35"/>
              <p:cNvSpPr txBox="1">
                <a:spLocks noChangeArrowheads="1"/>
              </p:cNvSpPr>
              <p:nvPr/>
            </p:nvSpPr>
            <p:spPr bwMode="auto">
              <a:xfrm>
                <a:off x="4545" y="6435"/>
                <a:ext cx="750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600" baseline="-25000">
                    <a:latin typeface="Times New Roman" pitchFamily="18" charset="0"/>
                    <a:ea typeface="宋体" charset="-122"/>
                  </a:rPr>
                  <a:t>0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3223" name="Text Box 36"/>
              <p:cNvSpPr txBox="1">
                <a:spLocks noChangeArrowheads="1"/>
              </p:cNvSpPr>
              <p:nvPr/>
            </p:nvSpPr>
            <p:spPr bwMode="auto">
              <a:xfrm>
                <a:off x="2445" y="6435"/>
                <a:ext cx="750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600" baseline="-25000">
                    <a:latin typeface="Times New Roman" pitchFamily="18" charset="0"/>
                    <a:ea typeface="宋体" charset="-122"/>
                  </a:rPr>
                  <a:t>10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93190" name="Group 37"/>
            <p:cNvGrpSpPr>
              <a:grpSpLocks/>
            </p:cNvGrpSpPr>
            <p:nvPr/>
          </p:nvGrpSpPr>
          <p:grpSpPr bwMode="auto">
            <a:xfrm>
              <a:off x="1624013" y="3163888"/>
              <a:ext cx="4660900" cy="735012"/>
              <a:chOff x="1995" y="6207"/>
              <a:chExt cx="4875" cy="843"/>
            </a:xfrm>
          </p:grpSpPr>
          <p:grpSp>
            <p:nvGrpSpPr>
              <p:cNvPr id="93217" name="Group 38"/>
              <p:cNvGrpSpPr>
                <a:grpSpLocks/>
              </p:cNvGrpSpPr>
              <p:nvPr/>
            </p:nvGrpSpPr>
            <p:grpSpPr bwMode="auto">
              <a:xfrm>
                <a:off x="2280" y="6207"/>
                <a:ext cx="3870" cy="843"/>
                <a:chOff x="2280" y="6207"/>
                <a:chExt cx="3870" cy="843"/>
              </a:xfrm>
            </p:grpSpPr>
            <p:sp>
              <p:nvSpPr>
                <p:cNvPr id="9321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2280" y="620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0 0 0 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0  0</a:t>
                  </a: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 dirty="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0 0 0  0 0 0 0  0 0 0 0</a:t>
                  </a:r>
                  <a:endParaRPr lang="en-US" altLang="zh-CN" sz="1600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93220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2295" y="656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0 0 0 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0  0</a:t>
                  </a: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 dirty="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1 1 1  1 1 1 1  1 1 1 1</a:t>
                  </a:r>
                  <a:endParaRPr lang="en-US" altLang="zh-CN" sz="16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3218" name="Line 41"/>
              <p:cNvSpPr>
                <a:spLocks noChangeShapeType="1"/>
              </p:cNvSpPr>
              <p:nvPr/>
            </p:nvSpPr>
            <p:spPr bwMode="auto">
              <a:xfrm>
                <a:off x="1995" y="6990"/>
                <a:ext cx="487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3191" name="Group 42"/>
            <p:cNvGrpSpPr>
              <a:grpSpLocks/>
            </p:cNvGrpSpPr>
            <p:nvPr/>
          </p:nvGrpSpPr>
          <p:grpSpPr bwMode="auto">
            <a:xfrm>
              <a:off x="1638300" y="3832225"/>
              <a:ext cx="4660900" cy="735013"/>
              <a:chOff x="1995" y="6207"/>
              <a:chExt cx="4875" cy="843"/>
            </a:xfrm>
          </p:grpSpPr>
          <p:grpSp>
            <p:nvGrpSpPr>
              <p:cNvPr id="93213" name="Group 43"/>
              <p:cNvGrpSpPr>
                <a:grpSpLocks/>
              </p:cNvGrpSpPr>
              <p:nvPr/>
            </p:nvGrpSpPr>
            <p:grpSpPr bwMode="auto">
              <a:xfrm>
                <a:off x="2280" y="6207"/>
                <a:ext cx="3870" cy="843"/>
                <a:chOff x="2280" y="6207"/>
                <a:chExt cx="3870" cy="843"/>
              </a:xfrm>
            </p:grpSpPr>
            <p:sp>
              <p:nvSpPr>
                <p:cNvPr id="93215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280" y="620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0 0 0 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0  1</a:t>
                  </a: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 dirty="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0 0 0  0 0 0 0  0 0 0 0</a:t>
                  </a:r>
                  <a:endParaRPr lang="en-US" altLang="zh-CN" sz="1600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93216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2295" y="656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Times New Roman" pitchFamily="18" charset="0"/>
                      <a:ea typeface="宋体" charset="-122"/>
                    </a:rPr>
                    <a:t>0 0 0 </a:t>
                  </a:r>
                  <a:r>
                    <a:rPr lang="en-US" altLang="zh-CN" sz="16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0  1</a:t>
                  </a:r>
                  <a:r>
                    <a:rPr lang="en-US" altLang="zh-CN" sz="160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1 1 1  1 1 1 1  1 1 1 1</a:t>
                  </a:r>
                  <a:endParaRPr lang="en-US" altLang="zh-CN" sz="16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3214" name="Line 46"/>
              <p:cNvSpPr>
                <a:spLocks noChangeShapeType="1"/>
              </p:cNvSpPr>
              <p:nvPr/>
            </p:nvSpPr>
            <p:spPr bwMode="auto">
              <a:xfrm>
                <a:off x="1995" y="6990"/>
                <a:ext cx="487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3192" name="Group 47"/>
            <p:cNvGrpSpPr>
              <a:grpSpLocks/>
            </p:cNvGrpSpPr>
            <p:nvPr/>
          </p:nvGrpSpPr>
          <p:grpSpPr bwMode="auto">
            <a:xfrm>
              <a:off x="1652588" y="4433888"/>
              <a:ext cx="4660900" cy="736600"/>
              <a:chOff x="1995" y="6207"/>
              <a:chExt cx="4875" cy="843"/>
            </a:xfrm>
          </p:grpSpPr>
          <p:grpSp>
            <p:nvGrpSpPr>
              <p:cNvPr id="93209" name="Group 48"/>
              <p:cNvGrpSpPr>
                <a:grpSpLocks/>
              </p:cNvGrpSpPr>
              <p:nvPr/>
            </p:nvGrpSpPr>
            <p:grpSpPr bwMode="auto">
              <a:xfrm>
                <a:off x="2280" y="6207"/>
                <a:ext cx="3870" cy="843"/>
                <a:chOff x="2280" y="6207"/>
                <a:chExt cx="3870" cy="843"/>
              </a:xfrm>
            </p:grpSpPr>
            <p:sp>
              <p:nvSpPr>
                <p:cNvPr id="93211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280" y="620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Times New Roman" pitchFamily="18" charset="0"/>
                      <a:ea typeface="宋体" charset="-122"/>
                    </a:rPr>
                    <a:t>0 0 0 </a:t>
                  </a:r>
                  <a:r>
                    <a:rPr lang="en-US" altLang="zh-CN" sz="16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1  0</a:t>
                  </a:r>
                  <a:r>
                    <a:rPr lang="en-US" altLang="zh-CN" sz="160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0 0 0  0 0 0 0  0 0 0 0</a:t>
                  </a:r>
                </a:p>
              </p:txBody>
            </p:sp>
            <p:sp>
              <p:nvSpPr>
                <p:cNvPr id="93212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295" y="656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Times New Roman" pitchFamily="18" charset="0"/>
                      <a:ea typeface="宋体" charset="-122"/>
                    </a:rPr>
                    <a:t>0 0 0 </a:t>
                  </a:r>
                  <a:r>
                    <a:rPr lang="en-US" altLang="zh-CN" sz="16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1  0</a:t>
                  </a:r>
                  <a:r>
                    <a:rPr lang="en-US" altLang="zh-CN" sz="160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1 1 1  1 1 1 1  1 1 1 1</a:t>
                  </a:r>
                  <a:endParaRPr lang="en-US" altLang="zh-CN" sz="16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3210" name="Line 51"/>
              <p:cNvSpPr>
                <a:spLocks noChangeShapeType="1"/>
              </p:cNvSpPr>
              <p:nvPr/>
            </p:nvSpPr>
            <p:spPr bwMode="auto">
              <a:xfrm>
                <a:off x="1995" y="6990"/>
                <a:ext cx="487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3193" name="Group 52"/>
            <p:cNvGrpSpPr>
              <a:grpSpLocks/>
            </p:cNvGrpSpPr>
            <p:nvPr/>
          </p:nvGrpSpPr>
          <p:grpSpPr bwMode="auto">
            <a:xfrm>
              <a:off x="1925638" y="5076825"/>
              <a:ext cx="3700462" cy="735013"/>
              <a:chOff x="2280" y="6207"/>
              <a:chExt cx="3870" cy="843"/>
            </a:xfrm>
          </p:grpSpPr>
          <p:sp>
            <p:nvSpPr>
              <p:cNvPr id="93207" name="Text Box 53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1  1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</a:p>
            </p:txBody>
          </p:sp>
          <p:sp>
            <p:nvSpPr>
              <p:cNvPr id="93208" name="Text Box 54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1  1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3194" name="Line 55"/>
            <p:cNvSpPr>
              <a:spLocks noChangeShapeType="1"/>
            </p:cNvSpPr>
            <p:nvPr/>
          </p:nvSpPr>
          <p:spPr bwMode="auto">
            <a:xfrm>
              <a:off x="2794000" y="3178175"/>
              <a:ext cx="14288" cy="267335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3195" name="Group 56"/>
            <p:cNvGrpSpPr>
              <a:grpSpLocks/>
            </p:cNvGrpSpPr>
            <p:nvPr/>
          </p:nvGrpSpPr>
          <p:grpSpPr bwMode="auto">
            <a:xfrm>
              <a:off x="892175" y="5305425"/>
              <a:ext cx="960438" cy="433388"/>
              <a:chOff x="919" y="1559"/>
              <a:chExt cx="1005" cy="495"/>
            </a:xfrm>
          </p:grpSpPr>
          <p:sp>
            <p:nvSpPr>
              <p:cNvPr id="93205" name="Text Box 57"/>
              <p:cNvSpPr txBox="1">
                <a:spLocks noChangeArrowheads="1"/>
              </p:cNvSpPr>
              <p:nvPr/>
            </p:nvSpPr>
            <p:spPr bwMode="auto">
              <a:xfrm>
                <a:off x="919" y="1559"/>
                <a:ext cx="1005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CS3</a:t>
                </a:r>
              </a:p>
            </p:txBody>
          </p:sp>
          <p:sp>
            <p:nvSpPr>
              <p:cNvPr id="93206" name="Line 58"/>
              <p:cNvSpPr>
                <a:spLocks noChangeShapeType="1"/>
              </p:cNvSpPr>
              <p:nvPr/>
            </p:nvSpPr>
            <p:spPr bwMode="auto">
              <a:xfrm>
                <a:off x="1215" y="1635"/>
                <a:ext cx="40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3196" name="Group 59"/>
            <p:cNvGrpSpPr>
              <a:grpSpLocks/>
            </p:cNvGrpSpPr>
            <p:nvPr/>
          </p:nvGrpSpPr>
          <p:grpSpPr bwMode="auto">
            <a:xfrm>
              <a:off x="892175" y="4676775"/>
              <a:ext cx="960438" cy="431800"/>
              <a:chOff x="919" y="1559"/>
              <a:chExt cx="1005" cy="495"/>
            </a:xfrm>
          </p:grpSpPr>
          <p:sp>
            <p:nvSpPr>
              <p:cNvPr id="93203" name="Text Box 60"/>
              <p:cNvSpPr txBox="1">
                <a:spLocks noChangeArrowheads="1"/>
              </p:cNvSpPr>
              <p:nvPr/>
            </p:nvSpPr>
            <p:spPr bwMode="auto">
              <a:xfrm>
                <a:off x="919" y="1559"/>
                <a:ext cx="1005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CS2</a:t>
                </a:r>
              </a:p>
            </p:txBody>
          </p:sp>
          <p:sp>
            <p:nvSpPr>
              <p:cNvPr id="93204" name="Line 61"/>
              <p:cNvSpPr>
                <a:spLocks noChangeShapeType="1"/>
              </p:cNvSpPr>
              <p:nvPr/>
            </p:nvSpPr>
            <p:spPr bwMode="auto">
              <a:xfrm>
                <a:off x="1215" y="1635"/>
                <a:ext cx="40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3197" name="Group 62"/>
            <p:cNvGrpSpPr>
              <a:grpSpLocks/>
            </p:cNvGrpSpPr>
            <p:nvPr/>
          </p:nvGrpSpPr>
          <p:grpSpPr bwMode="auto">
            <a:xfrm>
              <a:off x="892175" y="3943350"/>
              <a:ext cx="960438" cy="431800"/>
              <a:chOff x="919" y="1559"/>
              <a:chExt cx="1005" cy="495"/>
            </a:xfrm>
          </p:grpSpPr>
          <p:sp>
            <p:nvSpPr>
              <p:cNvPr id="93201" name="Text Box 63"/>
              <p:cNvSpPr txBox="1">
                <a:spLocks noChangeArrowheads="1"/>
              </p:cNvSpPr>
              <p:nvPr/>
            </p:nvSpPr>
            <p:spPr bwMode="auto">
              <a:xfrm>
                <a:off x="919" y="1559"/>
                <a:ext cx="1005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CS1</a:t>
                </a:r>
              </a:p>
            </p:txBody>
          </p:sp>
          <p:sp>
            <p:nvSpPr>
              <p:cNvPr id="93202" name="Line 64"/>
              <p:cNvSpPr>
                <a:spLocks noChangeShapeType="1"/>
              </p:cNvSpPr>
              <p:nvPr/>
            </p:nvSpPr>
            <p:spPr bwMode="auto">
              <a:xfrm>
                <a:off x="1215" y="1635"/>
                <a:ext cx="40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3198" name="Group 65"/>
            <p:cNvGrpSpPr>
              <a:grpSpLocks/>
            </p:cNvGrpSpPr>
            <p:nvPr/>
          </p:nvGrpSpPr>
          <p:grpSpPr bwMode="auto">
            <a:xfrm>
              <a:off x="863600" y="3205163"/>
              <a:ext cx="960438" cy="431800"/>
              <a:chOff x="919" y="1559"/>
              <a:chExt cx="1005" cy="495"/>
            </a:xfrm>
          </p:grpSpPr>
          <p:sp>
            <p:nvSpPr>
              <p:cNvPr id="93199" name="Text Box 66"/>
              <p:cNvSpPr txBox="1">
                <a:spLocks noChangeArrowheads="1"/>
              </p:cNvSpPr>
              <p:nvPr/>
            </p:nvSpPr>
            <p:spPr bwMode="auto">
              <a:xfrm>
                <a:off x="919" y="1559"/>
                <a:ext cx="1005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CS0</a:t>
                </a:r>
              </a:p>
            </p:txBody>
          </p:sp>
          <p:sp>
            <p:nvSpPr>
              <p:cNvPr id="93200" name="Line 67"/>
              <p:cNvSpPr>
                <a:spLocks noChangeShapeType="1"/>
              </p:cNvSpPr>
              <p:nvPr/>
            </p:nvSpPr>
            <p:spPr bwMode="auto">
              <a:xfrm>
                <a:off x="1215" y="1635"/>
                <a:ext cx="40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64" name="TextBox 63"/>
            <p:cNvSpPr txBox="1"/>
            <p:nvPr/>
          </p:nvSpPr>
          <p:spPr>
            <a:xfrm>
              <a:off x="956460" y="2446278"/>
              <a:ext cx="70896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itchFamily="2" charset="2"/>
                <a:buChar char="l"/>
              </a:pPr>
              <a:r>
                <a:rPr lang="zh-CN" altLang="en-US" sz="2000" dirty="0"/>
                <a:t>存储芯片的地址分配                 存储器组成结构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5"/>
          <p:cNvSpPr>
            <a:spLocks noChangeArrowheads="1"/>
          </p:cNvSpPr>
          <p:nvPr/>
        </p:nvSpPr>
        <p:spPr bwMode="auto">
          <a:xfrm>
            <a:off x="611188" y="509588"/>
            <a:ext cx="8532812" cy="1449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步：确定芯片数目、芯片工作的地址区域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步：确定各芯片的片选信号逻辑</a:t>
            </a:r>
          </a:p>
        </p:txBody>
      </p:sp>
      <p:sp>
        <p:nvSpPr>
          <p:cNvPr id="94211" name="Text Box 7"/>
          <p:cNvSpPr txBox="1">
            <a:spLocks noChangeArrowheads="1"/>
          </p:cNvSpPr>
          <p:nvPr/>
        </p:nvSpPr>
        <p:spPr bwMode="auto">
          <a:xfrm>
            <a:off x="2225675" y="3157538"/>
            <a:ext cx="36861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latin typeface="宋体" charset="-122"/>
                <a:ea typeface="宋体" charset="-122"/>
              </a:rPr>
              <a:t>           </a:t>
            </a:r>
            <a:r>
              <a:rPr lang="en-US" altLang="zh-CN" sz="1600" b="0">
                <a:latin typeface="宋体" charset="-122"/>
                <a:ea typeface="宋体" charset="-122"/>
              </a:rPr>
              <a:t>......</a:t>
            </a:r>
          </a:p>
        </p:txBody>
      </p:sp>
      <p:grpSp>
        <p:nvGrpSpPr>
          <p:cNvPr id="94212" name="Group 8"/>
          <p:cNvGrpSpPr>
            <a:grpSpLocks/>
          </p:cNvGrpSpPr>
          <p:nvPr/>
        </p:nvGrpSpPr>
        <p:grpSpPr bwMode="auto">
          <a:xfrm>
            <a:off x="5583238" y="2825750"/>
            <a:ext cx="2552700" cy="3159125"/>
            <a:chOff x="4065" y="10317"/>
            <a:chExt cx="2670" cy="3408"/>
          </a:xfrm>
        </p:grpSpPr>
        <p:sp>
          <p:nvSpPr>
            <p:cNvPr id="94248" name="Text Box 9"/>
            <p:cNvSpPr txBox="1">
              <a:spLocks noChangeArrowheads="1"/>
            </p:cNvSpPr>
            <p:nvPr/>
          </p:nvSpPr>
          <p:spPr bwMode="auto">
            <a:xfrm>
              <a:off x="4800" y="10317"/>
              <a:ext cx="1935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宋体" charset="-122"/>
                  <a:ea typeface="宋体" charset="-122"/>
                </a:rPr>
                <a:t>D</a:t>
              </a:r>
              <a:r>
                <a:rPr lang="en-US" altLang="zh-CN" sz="1600" baseline="-25000">
                  <a:latin typeface="宋体" charset="-122"/>
                  <a:ea typeface="宋体" charset="-122"/>
                </a:rPr>
                <a:t>7  </a:t>
              </a:r>
              <a:r>
                <a:rPr lang="en-US" altLang="zh-CN" sz="1600">
                  <a:latin typeface="宋体" charset="-122"/>
                  <a:ea typeface="宋体" charset="-122"/>
                </a:rPr>
                <a:t>   D</a:t>
              </a:r>
              <a:r>
                <a:rPr lang="en-US" altLang="zh-CN" sz="1600" baseline="-25000">
                  <a:latin typeface="宋体" charset="-122"/>
                  <a:ea typeface="宋体" charset="-122"/>
                </a:rPr>
                <a:t>4 </a:t>
              </a:r>
              <a:r>
                <a:rPr lang="en-US" altLang="zh-CN" sz="1600">
                  <a:latin typeface="宋体" charset="-122"/>
                  <a:ea typeface="宋体" charset="-122"/>
                </a:rPr>
                <a:t>D</a:t>
              </a:r>
              <a:r>
                <a:rPr lang="en-US" altLang="zh-CN" sz="1600" baseline="-25000">
                  <a:latin typeface="宋体" charset="-122"/>
                  <a:ea typeface="宋体" charset="-122"/>
                </a:rPr>
                <a:t>3    </a:t>
              </a:r>
              <a:r>
                <a:rPr lang="en-US" altLang="zh-CN" sz="1600">
                  <a:latin typeface="宋体" charset="-122"/>
                  <a:ea typeface="宋体" charset="-122"/>
                </a:rPr>
                <a:t> D</a:t>
              </a:r>
              <a:r>
                <a:rPr lang="en-US" altLang="zh-CN" sz="1600" baseline="-25000">
                  <a:latin typeface="宋体" charset="-122"/>
                  <a:ea typeface="宋体" charset="-122"/>
                </a:rPr>
                <a:t>0</a:t>
              </a:r>
              <a:endParaRPr lang="en-US" altLang="zh-CN" sz="1600">
                <a:latin typeface="宋体" charset="-122"/>
                <a:ea typeface="宋体" charset="-122"/>
              </a:endParaRPr>
            </a:p>
          </p:txBody>
        </p:sp>
        <p:sp>
          <p:nvSpPr>
            <p:cNvPr id="94249" name="Rectangle 10"/>
            <p:cNvSpPr>
              <a:spLocks noChangeArrowheads="1"/>
            </p:cNvSpPr>
            <p:nvPr/>
          </p:nvSpPr>
          <p:spPr bwMode="auto">
            <a:xfrm>
              <a:off x="4815" y="10730"/>
              <a:ext cx="1875" cy="27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grpSp>
          <p:nvGrpSpPr>
            <p:cNvPr id="94250" name="Group 11"/>
            <p:cNvGrpSpPr>
              <a:grpSpLocks/>
            </p:cNvGrpSpPr>
            <p:nvPr/>
          </p:nvGrpSpPr>
          <p:grpSpPr bwMode="auto">
            <a:xfrm>
              <a:off x="4065" y="10654"/>
              <a:ext cx="840" cy="1016"/>
              <a:chOff x="1920" y="10729"/>
              <a:chExt cx="840" cy="1031"/>
            </a:xfrm>
          </p:grpSpPr>
          <p:sp>
            <p:nvSpPr>
              <p:cNvPr id="94270" name="Text Box 12"/>
              <p:cNvSpPr txBox="1">
                <a:spLocks noChangeArrowheads="1"/>
              </p:cNvSpPr>
              <p:nvPr/>
            </p:nvSpPr>
            <p:spPr bwMode="auto">
              <a:xfrm>
                <a:off x="1920" y="10729"/>
                <a:ext cx="840" cy="1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0000H</a:t>
                </a:r>
              </a:p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07FFH</a:t>
                </a:r>
                <a:endParaRPr lang="en-US" altLang="zh-CN" sz="1600" b="0"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4271" name="Freeform 13"/>
              <p:cNvSpPr>
                <a:spLocks/>
              </p:cNvSpPr>
              <p:nvPr/>
            </p:nvSpPr>
            <p:spPr bwMode="auto">
              <a:xfrm>
                <a:off x="2285" y="11013"/>
                <a:ext cx="117" cy="215"/>
              </a:xfrm>
              <a:custGeom>
                <a:avLst/>
                <a:gdLst>
                  <a:gd name="T0" fmla="*/ 8 w 132"/>
                  <a:gd name="T1" fmla="*/ 0 h 345"/>
                  <a:gd name="T2" fmla="*/ 4 w 132"/>
                  <a:gd name="T3" fmla="*/ 1 h 345"/>
                  <a:gd name="T4" fmla="*/ 13 w 132"/>
                  <a:gd name="T5" fmla="*/ 1 h 345"/>
                  <a:gd name="T6" fmla="*/ 4 w 132"/>
                  <a:gd name="T7" fmla="*/ 1 h 3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"/>
                  <a:gd name="T13" fmla="*/ 0 h 345"/>
                  <a:gd name="T14" fmla="*/ 132 w 132"/>
                  <a:gd name="T15" fmla="*/ 345 h 3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" h="345">
                    <a:moveTo>
                      <a:pt x="70" y="0"/>
                    </a:moveTo>
                    <a:cubicBezTo>
                      <a:pt x="35" y="44"/>
                      <a:pt x="0" y="88"/>
                      <a:pt x="10" y="120"/>
                    </a:cubicBezTo>
                    <a:cubicBezTo>
                      <a:pt x="20" y="152"/>
                      <a:pt x="128" y="158"/>
                      <a:pt x="130" y="195"/>
                    </a:cubicBezTo>
                    <a:cubicBezTo>
                      <a:pt x="132" y="232"/>
                      <a:pt x="78" y="288"/>
                      <a:pt x="25" y="34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4251" name="Text Box 14"/>
            <p:cNvSpPr txBox="1">
              <a:spLocks noChangeArrowheads="1"/>
            </p:cNvSpPr>
            <p:nvPr/>
          </p:nvSpPr>
          <p:spPr bwMode="auto">
            <a:xfrm>
              <a:off x="4890" y="10775"/>
              <a:ext cx="1725" cy="5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宋体" charset="-122"/>
                  <a:ea typeface="宋体" charset="-122"/>
                </a:rPr>
                <a:t>2K</a:t>
              </a:r>
              <a:r>
                <a:rPr lang="en-US" altLang="zh-CN" sz="1600">
                  <a:latin typeface="宋体" charset="-122"/>
                  <a:ea typeface="宋体" charset="-122"/>
                  <a:sym typeface="Symbol" pitchFamily="18" charset="2"/>
                </a:rPr>
                <a:t></a:t>
              </a:r>
              <a:r>
                <a:rPr lang="en-US" altLang="zh-CN" sz="1600">
                  <a:latin typeface="宋体" charset="-122"/>
                  <a:ea typeface="宋体" charset="-122"/>
                </a:rPr>
                <a:t>8 ROM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宋体" charset="-122"/>
                  <a:ea typeface="宋体" charset="-122"/>
                </a:rPr>
                <a:t>U0</a:t>
              </a:r>
              <a:endParaRPr lang="en-US" altLang="zh-CN" sz="1600" b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4252" name="Group 15"/>
            <p:cNvGrpSpPr>
              <a:grpSpLocks/>
            </p:cNvGrpSpPr>
            <p:nvPr/>
          </p:nvGrpSpPr>
          <p:grpSpPr bwMode="auto">
            <a:xfrm>
              <a:off x="4065" y="11329"/>
              <a:ext cx="2550" cy="1016"/>
              <a:chOff x="4065" y="11314"/>
              <a:chExt cx="2550" cy="1016"/>
            </a:xfrm>
          </p:grpSpPr>
          <p:sp>
            <p:nvSpPr>
              <p:cNvPr id="94265" name="Text Box 16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U1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4266" name="Text Box 17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U2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4267" name="Group 18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4268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0800H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0FFFH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4269" name="Freeform 20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4253" name="Group 21"/>
            <p:cNvGrpSpPr>
              <a:grpSpLocks/>
            </p:cNvGrpSpPr>
            <p:nvPr/>
          </p:nvGrpSpPr>
          <p:grpSpPr bwMode="auto">
            <a:xfrm>
              <a:off x="4065" y="12019"/>
              <a:ext cx="2550" cy="1016"/>
              <a:chOff x="4065" y="11314"/>
              <a:chExt cx="2550" cy="1016"/>
            </a:xfrm>
          </p:grpSpPr>
          <p:sp>
            <p:nvSpPr>
              <p:cNvPr id="94260" name="Text Box 22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U3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4261" name="Text Box 23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U4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4262" name="Group 24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4263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1000H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17FFH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4264" name="Freeform 26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4254" name="Group 27"/>
            <p:cNvGrpSpPr>
              <a:grpSpLocks/>
            </p:cNvGrpSpPr>
            <p:nvPr/>
          </p:nvGrpSpPr>
          <p:grpSpPr bwMode="auto">
            <a:xfrm>
              <a:off x="4065" y="12709"/>
              <a:ext cx="2550" cy="1016"/>
              <a:chOff x="4065" y="11314"/>
              <a:chExt cx="2550" cy="1016"/>
            </a:xfrm>
          </p:grpSpPr>
          <p:sp>
            <p:nvSpPr>
              <p:cNvPr id="94255" name="Text Box 28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U5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4256" name="Text Box 29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U6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4257" name="Group 30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4258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1FFFH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4259" name="Freeform 32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94213" name="Group 33"/>
          <p:cNvGrpSpPr>
            <a:grpSpLocks/>
          </p:cNvGrpSpPr>
          <p:nvPr/>
        </p:nvGrpSpPr>
        <p:grpSpPr bwMode="auto">
          <a:xfrm>
            <a:off x="1795463" y="2816225"/>
            <a:ext cx="2992437" cy="419100"/>
            <a:chOff x="1380" y="6420"/>
            <a:chExt cx="3915" cy="480"/>
          </a:xfrm>
        </p:grpSpPr>
        <p:sp>
          <p:nvSpPr>
            <p:cNvPr id="94245" name="Text Box 34"/>
            <p:cNvSpPr txBox="1">
              <a:spLocks noChangeArrowheads="1"/>
            </p:cNvSpPr>
            <p:nvPr/>
          </p:nvSpPr>
          <p:spPr bwMode="auto">
            <a:xfrm>
              <a:off x="1380" y="6420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>
                  <a:latin typeface="Times New Roman" pitchFamily="18" charset="0"/>
                  <a:ea typeface="宋体" charset="-122"/>
                </a:rPr>
                <a:t>15</a:t>
              </a:r>
              <a:endParaRPr lang="en-US" altLang="zh-CN" sz="160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4246" name="Text Box 35"/>
            <p:cNvSpPr txBox="1">
              <a:spLocks noChangeArrowheads="1"/>
            </p:cNvSpPr>
            <p:nvPr/>
          </p:nvSpPr>
          <p:spPr bwMode="auto">
            <a:xfrm>
              <a:off x="45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160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4247" name="Text Box 36"/>
            <p:cNvSpPr txBox="1">
              <a:spLocks noChangeArrowheads="1"/>
            </p:cNvSpPr>
            <p:nvPr/>
          </p:nvSpPr>
          <p:spPr bwMode="auto">
            <a:xfrm>
              <a:off x="24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>
                  <a:latin typeface="Times New Roman" pitchFamily="18" charset="0"/>
                  <a:ea typeface="宋体" charset="-122"/>
                </a:rPr>
                <a:t>10</a:t>
              </a:r>
              <a:endParaRPr lang="en-US" altLang="zh-CN" sz="160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4214" name="Group 37"/>
          <p:cNvGrpSpPr>
            <a:grpSpLocks/>
          </p:cNvGrpSpPr>
          <p:nvPr/>
        </p:nvGrpSpPr>
        <p:grpSpPr bwMode="auto">
          <a:xfrm>
            <a:off x="1624013" y="3163888"/>
            <a:ext cx="4660900" cy="735012"/>
            <a:chOff x="1995" y="6207"/>
            <a:chExt cx="4875" cy="843"/>
          </a:xfrm>
        </p:grpSpPr>
        <p:grpSp>
          <p:nvGrpSpPr>
            <p:cNvPr id="94241" name="Group 38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4243" name="Text Box 39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4244" name="Text Box 40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4242" name="Line 41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15" name="Group 42"/>
          <p:cNvGrpSpPr>
            <a:grpSpLocks/>
          </p:cNvGrpSpPr>
          <p:nvPr/>
        </p:nvGrpSpPr>
        <p:grpSpPr bwMode="auto">
          <a:xfrm>
            <a:off x="1638300" y="3832225"/>
            <a:ext cx="4660900" cy="735013"/>
            <a:chOff x="1995" y="6207"/>
            <a:chExt cx="4875" cy="843"/>
          </a:xfrm>
        </p:grpSpPr>
        <p:grpSp>
          <p:nvGrpSpPr>
            <p:cNvPr id="94237" name="Group 43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4239" name="Text Box 44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4240" name="Text Box 45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4238" name="Line 46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16" name="Group 47"/>
          <p:cNvGrpSpPr>
            <a:grpSpLocks/>
          </p:cNvGrpSpPr>
          <p:nvPr/>
        </p:nvGrpSpPr>
        <p:grpSpPr bwMode="auto">
          <a:xfrm>
            <a:off x="1652588" y="4433888"/>
            <a:ext cx="4660900" cy="736600"/>
            <a:chOff x="1995" y="6207"/>
            <a:chExt cx="4875" cy="843"/>
          </a:xfrm>
        </p:grpSpPr>
        <p:grpSp>
          <p:nvGrpSpPr>
            <p:cNvPr id="94233" name="Group 48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4235" name="Text Box 49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</a:p>
            </p:txBody>
          </p:sp>
          <p:sp>
            <p:nvSpPr>
              <p:cNvPr id="94236" name="Text Box 50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4234" name="Line 51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17" name="Group 52"/>
          <p:cNvGrpSpPr>
            <a:grpSpLocks/>
          </p:cNvGrpSpPr>
          <p:nvPr/>
        </p:nvGrpSpPr>
        <p:grpSpPr bwMode="auto">
          <a:xfrm>
            <a:off x="1925638" y="5076825"/>
            <a:ext cx="3700462" cy="735013"/>
            <a:chOff x="2280" y="6207"/>
            <a:chExt cx="3870" cy="843"/>
          </a:xfrm>
        </p:grpSpPr>
        <p:sp>
          <p:nvSpPr>
            <p:cNvPr id="94231" name="Text Box 53"/>
            <p:cNvSpPr txBox="1">
              <a:spLocks noChangeArrowheads="1"/>
            </p:cNvSpPr>
            <p:nvPr/>
          </p:nvSpPr>
          <p:spPr bwMode="auto">
            <a:xfrm>
              <a:off x="2280" y="620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0 0 0  0 0 0 0  0 0 0 0</a:t>
              </a:r>
            </a:p>
          </p:txBody>
        </p:sp>
        <p:sp>
          <p:nvSpPr>
            <p:cNvPr id="94232" name="Text Box 54"/>
            <p:cNvSpPr txBox="1">
              <a:spLocks noChangeArrowheads="1"/>
            </p:cNvSpPr>
            <p:nvPr/>
          </p:nvSpPr>
          <p:spPr bwMode="auto">
            <a:xfrm>
              <a:off x="2295" y="656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1 1 1  1 1 1 1  1 1 1 1</a:t>
              </a:r>
              <a:endParaRPr lang="en-US" altLang="zh-CN" sz="160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94218" name="Line 55"/>
          <p:cNvSpPr>
            <a:spLocks noChangeShapeType="1"/>
          </p:cNvSpPr>
          <p:nvPr/>
        </p:nvSpPr>
        <p:spPr bwMode="auto">
          <a:xfrm>
            <a:off x="2794000" y="3178175"/>
            <a:ext cx="14288" cy="26733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4219" name="Group 56"/>
          <p:cNvGrpSpPr>
            <a:grpSpLocks/>
          </p:cNvGrpSpPr>
          <p:nvPr/>
        </p:nvGrpSpPr>
        <p:grpSpPr bwMode="auto">
          <a:xfrm>
            <a:off x="892175" y="5305425"/>
            <a:ext cx="960438" cy="433388"/>
            <a:chOff x="919" y="1559"/>
            <a:chExt cx="1005" cy="495"/>
          </a:xfrm>
        </p:grpSpPr>
        <p:sp>
          <p:nvSpPr>
            <p:cNvPr id="94229" name="Text Box 57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CS3</a:t>
              </a:r>
            </a:p>
          </p:txBody>
        </p:sp>
        <p:sp>
          <p:nvSpPr>
            <p:cNvPr id="94230" name="Line 58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20" name="Group 59"/>
          <p:cNvGrpSpPr>
            <a:grpSpLocks/>
          </p:cNvGrpSpPr>
          <p:nvPr/>
        </p:nvGrpSpPr>
        <p:grpSpPr bwMode="auto">
          <a:xfrm>
            <a:off x="892175" y="4676775"/>
            <a:ext cx="960438" cy="431800"/>
            <a:chOff x="919" y="1559"/>
            <a:chExt cx="1005" cy="495"/>
          </a:xfrm>
        </p:grpSpPr>
        <p:sp>
          <p:nvSpPr>
            <p:cNvPr id="94227" name="Text Box 60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CS2</a:t>
              </a:r>
            </a:p>
          </p:txBody>
        </p:sp>
        <p:sp>
          <p:nvSpPr>
            <p:cNvPr id="94228" name="Line 61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21" name="Group 62"/>
          <p:cNvGrpSpPr>
            <a:grpSpLocks/>
          </p:cNvGrpSpPr>
          <p:nvPr/>
        </p:nvGrpSpPr>
        <p:grpSpPr bwMode="auto">
          <a:xfrm>
            <a:off x="892175" y="3943350"/>
            <a:ext cx="960438" cy="431800"/>
            <a:chOff x="919" y="1559"/>
            <a:chExt cx="1005" cy="495"/>
          </a:xfrm>
        </p:grpSpPr>
        <p:sp>
          <p:nvSpPr>
            <p:cNvPr id="94225" name="Text Box 63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CS1</a:t>
              </a:r>
            </a:p>
          </p:txBody>
        </p:sp>
        <p:sp>
          <p:nvSpPr>
            <p:cNvPr id="94226" name="Line 64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22" name="Group 65"/>
          <p:cNvGrpSpPr>
            <a:grpSpLocks/>
          </p:cNvGrpSpPr>
          <p:nvPr/>
        </p:nvGrpSpPr>
        <p:grpSpPr bwMode="auto">
          <a:xfrm>
            <a:off x="863600" y="3205163"/>
            <a:ext cx="960438" cy="431800"/>
            <a:chOff x="919" y="1559"/>
            <a:chExt cx="1005" cy="495"/>
          </a:xfrm>
        </p:grpSpPr>
        <p:sp>
          <p:nvSpPr>
            <p:cNvPr id="94223" name="Text Box 66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CS0</a:t>
              </a:r>
            </a:p>
          </p:txBody>
        </p:sp>
        <p:sp>
          <p:nvSpPr>
            <p:cNvPr id="94224" name="Line 67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3"/>
          <p:cNvSpPr txBox="1">
            <a:spLocks noChangeArrowheads="1"/>
          </p:cNvSpPr>
          <p:nvPr/>
        </p:nvSpPr>
        <p:spPr bwMode="auto">
          <a:xfrm>
            <a:off x="2262188" y="746125"/>
            <a:ext cx="36861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latin typeface="宋体" charset="-122"/>
                <a:ea typeface="宋体" charset="-122"/>
              </a:rPr>
              <a:t>           </a:t>
            </a:r>
            <a:r>
              <a:rPr lang="en-US" altLang="zh-CN" sz="1600" b="0">
                <a:latin typeface="宋体" charset="-122"/>
                <a:ea typeface="宋体" charset="-122"/>
              </a:rPr>
              <a:t>......</a:t>
            </a:r>
          </a:p>
        </p:txBody>
      </p:sp>
      <p:grpSp>
        <p:nvGrpSpPr>
          <p:cNvPr id="95235" name="Group 4"/>
          <p:cNvGrpSpPr>
            <a:grpSpLocks/>
          </p:cNvGrpSpPr>
          <p:nvPr/>
        </p:nvGrpSpPr>
        <p:grpSpPr bwMode="auto">
          <a:xfrm>
            <a:off x="5619750" y="414338"/>
            <a:ext cx="2552700" cy="3159125"/>
            <a:chOff x="4065" y="10317"/>
            <a:chExt cx="2670" cy="3408"/>
          </a:xfrm>
        </p:grpSpPr>
        <p:sp>
          <p:nvSpPr>
            <p:cNvPr id="95298" name="Text Box 5"/>
            <p:cNvSpPr txBox="1">
              <a:spLocks noChangeArrowheads="1"/>
            </p:cNvSpPr>
            <p:nvPr/>
          </p:nvSpPr>
          <p:spPr bwMode="auto">
            <a:xfrm>
              <a:off x="4800" y="10317"/>
              <a:ext cx="1935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>
                  <a:latin typeface="宋体" charset="-122"/>
                  <a:ea typeface="宋体" charset="-122"/>
                </a:rPr>
                <a:t>7 </a:t>
              </a:r>
              <a:r>
                <a:rPr lang="en-US" altLang="zh-CN" sz="1800">
                  <a:latin typeface="宋体" charset="-122"/>
                  <a:ea typeface="宋体" charset="-122"/>
                </a:rPr>
                <a:t>  D</a:t>
              </a:r>
              <a:r>
                <a:rPr lang="en-US" altLang="zh-CN" sz="1800" baseline="-25000">
                  <a:latin typeface="宋体" charset="-122"/>
                  <a:ea typeface="宋体" charset="-122"/>
                </a:rPr>
                <a:t>4  </a:t>
              </a:r>
              <a:r>
                <a:rPr lang="en-US" altLang="zh-CN" sz="180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>
                  <a:latin typeface="宋体" charset="-122"/>
                  <a:ea typeface="宋体" charset="-122"/>
                </a:rPr>
                <a:t>3   </a:t>
              </a:r>
              <a:r>
                <a:rPr lang="en-US" altLang="zh-CN" sz="1800">
                  <a:latin typeface="宋体" charset="-122"/>
                  <a:ea typeface="宋体" charset="-122"/>
                </a:rPr>
                <a:t> D</a:t>
              </a:r>
              <a:r>
                <a:rPr lang="en-US" altLang="zh-CN" sz="1800" baseline="-25000">
                  <a:latin typeface="宋体" charset="-122"/>
                  <a:ea typeface="宋体" charset="-122"/>
                </a:rPr>
                <a:t>0</a:t>
              </a:r>
              <a:endParaRPr lang="en-US" altLang="zh-CN" sz="1800">
                <a:latin typeface="宋体" charset="-122"/>
                <a:ea typeface="宋体" charset="-122"/>
              </a:endParaRPr>
            </a:p>
          </p:txBody>
        </p:sp>
        <p:sp>
          <p:nvSpPr>
            <p:cNvPr id="95299" name="Rectangle 6"/>
            <p:cNvSpPr>
              <a:spLocks noChangeArrowheads="1"/>
            </p:cNvSpPr>
            <p:nvPr/>
          </p:nvSpPr>
          <p:spPr bwMode="auto">
            <a:xfrm>
              <a:off x="4815" y="10730"/>
              <a:ext cx="1875" cy="27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grpSp>
          <p:nvGrpSpPr>
            <p:cNvPr id="95300" name="Group 7"/>
            <p:cNvGrpSpPr>
              <a:grpSpLocks/>
            </p:cNvGrpSpPr>
            <p:nvPr/>
          </p:nvGrpSpPr>
          <p:grpSpPr bwMode="auto">
            <a:xfrm>
              <a:off x="4065" y="10654"/>
              <a:ext cx="840" cy="1016"/>
              <a:chOff x="1920" y="10729"/>
              <a:chExt cx="840" cy="1031"/>
            </a:xfrm>
          </p:grpSpPr>
          <p:sp>
            <p:nvSpPr>
              <p:cNvPr id="95320" name="Text Box 8"/>
              <p:cNvSpPr txBox="1">
                <a:spLocks noChangeArrowheads="1"/>
              </p:cNvSpPr>
              <p:nvPr/>
            </p:nvSpPr>
            <p:spPr bwMode="auto">
              <a:xfrm>
                <a:off x="1920" y="10729"/>
                <a:ext cx="840" cy="1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0000H</a:t>
                </a:r>
              </a:p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07FFH</a:t>
                </a:r>
                <a:endParaRPr lang="en-US" altLang="zh-CN" sz="1600" b="0"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5321" name="Freeform 9"/>
              <p:cNvSpPr>
                <a:spLocks/>
              </p:cNvSpPr>
              <p:nvPr/>
            </p:nvSpPr>
            <p:spPr bwMode="auto">
              <a:xfrm>
                <a:off x="2285" y="11013"/>
                <a:ext cx="117" cy="215"/>
              </a:xfrm>
              <a:custGeom>
                <a:avLst/>
                <a:gdLst>
                  <a:gd name="T0" fmla="*/ 8 w 132"/>
                  <a:gd name="T1" fmla="*/ 0 h 345"/>
                  <a:gd name="T2" fmla="*/ 4 w 132"/>
                  <a:gd name="T3" fmla="*/ 1 h 345"/>
                  <a:gd name="T4" fmla="*/ 13 w 132"/>
                  <a:gd name="T5" fmla="*/ 1 h 345"/>
                  <a:gd name="T6" fmla="*/ 4 w 132"/>
                  <a:gd name="T7" fmla="*/ 1 h 3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"/>
                  <a:gd name="T13" fmla="*/ 0 h 345"/>
                  <a:gd name="T14" fmla="*/ 132 w 132"/>
                  <a:gd name="T15" fmla="*/ 345 h 3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" h="345">
                    <a:moveTo>
                      <a:pt x="70" y="0"/>
                    </a:moveTo>
                    <a:cubicBezTo>
                      <a:pt x="35" y="44"/>
                      <a:pt x="0" y="88"/>
                      <a:pt x="10" y="120"/>
                    </a:cubicBezTo>
                    <a:cubicBezTo>
                      <a:pt x="20" y="152"/>
                      <a:pt x="128" y="158"/>
                      <a:pt x="130" y="195"/>
                    </a:cubicBezTo>
                    <a:cubicBezTo>
                      <a:pt x="132" y="232"/>
                      <a:pt x="78" y="288"/>
                      <a:pt x="25" y="34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5301" name="Text Box 10"/>
            <p:cNvSpPr txBox="1">
              <a:spLocks noChangeArrowheads="1"/>
            </p:cNvSpPr>
            <p:nvPr/>
          </p:nvSpPr>
          <p:spPr bwMode="auto">
            <a:xfrm>
              <a:off x="4890" y="10775"/>
              <a:ext cx="1725" cy="5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宋体" charset="-122"/>
                  <a:ea typeface="宋体" charset="-122"/>
                </a:rPr>
                <a:t>2K</a:t>
              </a:r>
              <a:r>
                <a:rPr lang="en-US" altLang="zh-CN" sz="1600">
                  <a:latin typeface="宋体" charset="-122"/>
                  <a:ea typeface="宋体" charset="-122"/>
                  <a:sym typeface="Symbol" pitchFamily="18" charset="2"/>
                </a:rPr>
                <a:t></a:t>
              </a:r>
              <a:r>
                <a:rPr lang="en-US" altLang="zh-CN" sz="1600">
                  <a:latin typeface="宋体" charset="-122"/>
                  <a:ea typeface="宋体" charset="-122"/>
                </a:rPr>
                <a:t>8 ROM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宋体" charset="-122"/>
                  <a:ea typeface="宋体" charset="-122"/>
                </a:rPr>
                <a:t>U0</a:t>
              </a:r>
              <a:endParaRPr lang="en-US" altLang="zh-CN" sz="1600" b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5302" name="Group 11"/>
            <p:cNvGrpSpPr>
              <a:grpSpLocks/>
            </p:cNvGrpSpPr>
            <p:nvPr/>
          </p:nvGrpSpPr>
          <p:grpSpPr bwMode="auto">
            <a:xfrm>
              <a:off x="4065" y="11329"/>
              <a:ext cx="2550" cy="1016"/>
              <a:chOff x="4065" y="11314"/>
              <a:chExt cx="2550" cy="1016"/>
            </a:xfrm>
          </p:grpSpPr>
          <p:sp>
            <p:nvSpPr>
              <p:cNvPr id="95315" name="Text Box 12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U1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16" name="Text Box 13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U2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17" name="Group 14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18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0800H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0FFFH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19" name="Freeform 16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5303" name="Group 17"/>
            <p:cNvGrpSpPr>
              <a:grpSpLocks/>
            </p:cNvGrpSpPr>
            <p:nvPr/>
          </p:nvGrpSpPr>
          <p:grpSpPr bwMode="auto">
            <a:xfrm>
              <a:off x="4065" y="12019"/>
              <a:ext cx="2550" cy="1016"/>
              <a:chOff x="4065" y="11314"/>
              <a:chExt cx="2550" cy="1016"/>
            </a:xfrm>
          </p:grpSpPr>
          <p:sp>
            <p:nvSpPr>
              <p:cNvPr id="95310" name="Text Box 18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U3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11" name="Text Box 19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U4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12" name="Group 20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1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1000H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17FFH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14" name="Freeform 22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5304" name="Group 23"/>
            <p:cNvGrpSpPr>
              <a:grpSpLocks/>
            </p:cNvGrpSpPr>
            <p:nvPr/>
          </p:nvGrpSpPr>
          <p:grpSpPr bwMode="auto">
            <a:xfrm>
              <a:off x="4065" y="12709"/>
              <a:ext cx="2550" cy="1016"/>
              <a:chOff x="4065" y="11314"/>
              <a:chExt cx="2550" cy="1016"/>
            </a:xfrm>
          </p:grpSpPr>
          <p:sp>
            <p:nvSpPr>
              <p:cNvPr id="95305" name="Text Box 24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U5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06" name="Text Box 25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U6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07" name="Group 26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0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1FFFH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09" name="Freeform 28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95236" name="Group 29"/>
          <p:cNvGrpSpPr>
            <a:grpSpLocks/>
          </p:cNvGrpSpPr>
          <p:nvPr/>
        </p:nvGrpSpPr>
        <p:grpSpPr bwMode="auto">
          <a:xfrm>
            <a:off x="1831975" y="404813"/>
            <a:ext cx="3027363" cy="419100"/>
            <a:chOff x="1380" y="6420"/>
            <a:chExt cx="3915" cy="480"/>
          </a:xfrm>
        </p:grpSpPr>
        <p:sp>
          <p:nvSpPr>
            <p:cNvPr id="95295" name="Text Box 30"/>
            <p:cNvSpPr txBox="1">
              <a:spLocks noChangeArrowheads="1"/>
            </p:cNvSpPr>
            <p:nvPr/>
          </p:nvSpPr>
          <p:spPr bwMode="auto">
            <a:xfrm>
              <a:off x="1380" y="6420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  <a:ea typeface="宋体" charset="-122"/>
                </a:rPr>
                <a:t>15</a:t>
              </a:r>
              <a:endParaRPr lang="en-US" altLang="zh-CN" sz="180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96" name="Text Box 31"/>
            <p:cNvSpPr txBox="1">
              <a:spLocks noChangeArrowheads="1"/>
            </p:cNvSpPr>
            <p:nvPr/>
          </p:nvSpPr>
          <p:spPr bwMode="auto">
            <a:xfrm>
              <a:off x="45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180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97" name="Text Box 32"/>
            <p:cNvSpPr txBox="1">
              <a:spLocks noChangeArrowheads="1"/>
            </p:cNvSpPr>
            <p:nvPr/>
          </p:nvSpPr>
          <p:spPr bwMode="auto">
            <a:xfrm>
              <a:off x="24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  <a:ea typeface="宋体" charset="-122"/>
                </a:rPr>
                <a:t>10</a:t>
              </a:r>
              <a:endParaRPr lang="en-US" altLang="zh-CN" sz="180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5237" name="Group 33"/>
          <p:cNvGrpSpPr>
            <a:grpSpLocks/>
          </p:cNvGrpSpPr>
          <p:nvPr/>
        </p:nvGrpSpPr>
        <p:grpSpPr bwMode="auto">
          <a:xfrm>
            <a:off x="1660525" y="752475"/>
            <a:ext cx="4660900" cy="735013"/>
            <a:chOff x="1995" y="6207"/>
            <a:chExt cx="4875" cy="843"/>
          </a:xfrm>
        </p:grpSpPr>
        <p:grpSp>
          <p:nvGrpSpPr>
            <p:cNvPr id="95291" name="Group 34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93" name="Text Box 35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294" name="Text Box 36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92" name="Line 37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38" name="Group 38"/>
          <p:cNvGrpSpPr>
            <a:grpSpLocks/>
          </p:cNvGrpSpPr>
          <p:nvPr/>
        </p:nvGrpSpPr>
        <p:grpSpPr bwMode="auto">
          <a:xfrm>
            <a:off x="1674813" y="1420813"/>
            <a:ext cx="4660900" cy="735012"/>
            <a:chOff x="1995" y="6207"/>
            <a:chExt cx="4875" cy="843"/>
          </a:xfrm>
        </p:grpSpPr>
        <p:grpSp>
          <p:nvGrpSpPr>
            <p:cNvPr id="95287" name="Group 39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89" name="Text Box 40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290" name="Text Box 41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88" name="Line 42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39" name="Group 43"/>
          <p:cNvGrpSpPr>
            <a:grpSpLocks/>
          </p:cNvGrpSpPr>
          <p:nvPr/>
        </p:nvGrpSpPr>
        <p:grpSpPr bwMode="auto">
          <a:xfrm>
            <a:off x="1689100" y="2022475"/>
            <a:ext cx="4660900" cy="736600"/>
            <a:chOff x="1995" y="6207"/>
            <a:chExt cx="4875" cy="843"/>
          </a:xfrm>
        </p:grpSpPr>
        <p:grpSp>
          <p:nvGrpSpPr>
            <p:cNvPr id="95283" name="Group 44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85" name="Text Box 45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</a:p>
            </p:txBody>
          </p:sp>
          <p:sp>
            <p:nvSpPr>
              <p:cNvPr id="95286" name="Text Box 46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84" name="Line 47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0" name="Group 48"/>
          <p:cNvGrpSpPr>
            <a:grpSpLocks/>
          </p:cNvGrpSpPr>
          <p:nvPr/>
        </p:nvGrpSpPr>
        <p:grpSpPr bwMode="auto">
          <a:xfrm>
            <a:off x="1962150" y="2665413"/>
            <a:ext cx="3700463" cy="735012"/>
            <a:chOff x="2280" y="6207"/>
            <a:chExt cx="3870" cy="843"/>
          </a:xfrm>
        </p:grpSpPr>
        <p:sp>
          <p:nvSpPr>
            <p:cNvPr id="95281" name="Text Box 49"/>
            <p:cNvSpPr txBox="1">
              <a:spLocks noChangeArrowheads="1"/>
            </p:cNvSpPr>
            <p:nvPr/>
          </p:nvSpPr>
          <p:spPr bwMode="auto">
            <a:xfrm>
              <a:off x="2280" y="620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0 0 0  0 0 0 0  0 0 0 0</a:t>
              </a:r>
            </a:p>
          </p:txBody>
        </p:sp>
        <p:sp>
          <p:nvSpPr>
            <p:cNvPr id="95282" name="Text Box 50"/>
            <p:cNvSpPr txBox="1">
              <a:spLocks noChangeArrowheads="1"/>
            </p:cNvSpPr>
            <p:nvPr/>
          </p:nvSpPr>
          <p:spPr bwMode="auto">
            <a:xfrm>
              <a:off x="2295" y="656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1 1 1  1 1 1 1  1 1 1 1</a:t>
              </a:r>
              <a:endParaRPr lang="en-US" altLang="zh-CN" sz="160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95241" name="Line 51"/>
          <p:cNvSpPr>
            <a:spLocks noChangeShapeType="1"/>
          </p:cNvSpPr>
          <p:nvPr/>
        </p:nvSpPr>
        <p:spPr bwMode="auto">
          <a:xfrm>
            <a:off x="2828925" y="766763"/>
            <a:ext cx="14288" cy="26733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5242" name="Group 52"/>
          <p:cNvGrpSpPr>
            <a:grpSpLocks/>
          </p:cNvGrpSpPr>
          <p:nvPr/>
        </p:nvGrpSpPr>
        <p:grpSpPr bwMode="auto">
          <a:xfrm>
            <a:off x="928688" y="2894013"/>
            <a:ext cx="960437" cy="433387"/>
            <a:chOff x="919" y="1559"/>
            <a:chExt cx="1005" cy="495"/>
          </a:xfrm>
        </p:grpSpPr>
        <p:sp>
          <p:nvSpPr>
            <p:cNvPr id="95279" name="Text Box 53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CS3</a:t>
              </a:r>
            </a:p>
          </p:txBody>
        </p:sp>
        <p:sp>
          <p:nvSpPr>
            <p:cNvPr id="95280" name="Line 54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3" name="Group 55"/>
          <p:cNvGrpSpPr>
            <a:grpSpLocks/>
          </p:cNvGrpSpPr>
          <p:nvPr/>
        </p:nvGrpSpPr>
        <p:grpSpPr bwMode="auto">
          <a:xfrm>
            <a:off x="928688" y="2265363"/>
            <a:ext cx="960437" cy="431800"/>
            <a:chOff x="919" y="1559"/>
            <a:chExt cx="1005" cy="495"/>
          </a:xfrm>
        </p:grpSpPr>
        <p:sp>
          <p:nvSpPr>
            <p:cNvPr id="95277" name="Text Box 56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CS2</a:t>
              </a:r>
            </a:p>
          </p:txBody>
        </p:sp>
        <p:sp>
          <p:nvSpPr>
            <p:cNvPr id="95278" name="Line 57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4" name="Group 58"/>
          <p:cNvGrpSpPr>
            <a:grpSpLocks/>
          </p:cNvGrpSpPr>
          <p:nvPr/>
        </p:nvGrpSpPr>
        <p:grpSpPr bwMode="auto">
          <a:xfrm>
            <a:off x="928688" y="1531938"/>
            <a:ext cx="960437" cy="431800"/>
            <a:chOff x="919" y="1559"/>
            <a:chExt cx="1005" cy="495"/>
          </a:xfrm>
        </p:grpSpPr>
        <p:sp>
          <p:nvSpPr>
            <p:cNvPr id="95275" name="Text Box 59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CS1</a:t>
              </a:r>
            </a:p>
          </p:txBody>
        </p:sp>
        <p:sp>
          <p:nvSpPr>
            <p:cNvPr id="95276" name="Line 60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5" name="Group 61"/>
          <p:cNvGrpSpPr>
            <a:grpSpLocks/>
          </p:cNvGrpSpPr>
          <p:nvPr/>
        </p:nvGrpSpPr>
        <p:grpSpPr bwMode="auto">
          <a:xfrm>
            <a:off x="900113" y="793750"/>
            <a:ext cx="960437" cy="431800"/>
            <a:chOff x="919" y="1559"/>
            <a:chExt cx="1005" cy="495"/>
          </a:xfrm>
        </p:grpSpPr>
        <p:sp>
          <p:nvSpPr>
            <p:cNvPr id="95273" name="Text Box 62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CS0</a:t>
              </a:r>
            </a:p>
          </p:txBody>
        </p:sp>
        <p:sp>
          <p:nvSpPr>
            <p:cNvPr id="95274" name="Line 63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897112" name="Rectangle 88"/>
          <p:cNvSpPr>
            <a:spLocks noChangeArrowheads="1"/>
          </p:cNvSpPr>
          <p:nvPr/>
        </p:nvSpPr>
        <p:spPr bwMode="auto">
          <a:xfrm>
            <a:off x="611188" y="3357563"/>
            <a:ext cx="8458200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 bIns="0">
            <a:spAutoFit/>
          </a:bodyPr>
          <a:lstStyle/>
          <a:p>
            <a:pPr indent="5334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各芯片的片内地址线应接到外部提供的地址线的低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11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200" baseline="-25000" dirty="0">
                <a:latin typeface="黑体" pitchFamily="2" charset="-122"/>
                <a:ea typeface="黑体" pitchFamily="2" charset="-122"/>
              </a:rPr>
              <a:t>10-0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，</a:t>
            </a:r>
          </a:p>
          <a:p>
            <a:pPr indent="5334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芯片的片选逻辑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部分译码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为：</a:t>
            </a:r>
            <a:r>
              <a:rPr lang="zh-CN" altLang="en-US" sz="2200" dirty="0">
                <a:solidFill>
                  <a:schemeClr val="tx2"/>
                </a:solidFill>
                <a:latin typeface="宋体" charset="-122"/>
                <a:ea typeface="宋体" charset="-122"/>
              </a:rPr>
              <a:t>  </a:t>
            </a:r>
          </a:p>
        </p:txBody>
      </p:sp>
      <p:sp>
        <p:nvSpPr>
          <p:cNvPr id="95247" name="Text Box 65"/>
          <p:cNvSpPr txBox="1">
            <a:spLocks noChangeArrowheads="1"/>
          </p:cNvSpPr>
          <p:nvPr/>
        </p:nvSpPr>
        <p:spPr bwMode="auto">
          <a:xfrm>
            <a:off x="1187450" y="4365625"/>
            <a:ext cx="421163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CS0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(MEM)(RD)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48" name="Line 66"/>
          <p:cNvSpPr>
            <a:spLocks noChangeShapeType="1"/>
          </p:cNvSpPr>
          <p:nvPr/>
        </p:nvSpPr>
        <p:spPr bwMode="auto">
          <a:xfrm>
            <a:off x="1403350" y="4437063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49" name="Line 91"/>
          <p:cNvSpPr>
            <a:spLocks noChangeShapeType="1"/>
          </p:cNvSpPr>
          <p:nvPr/>
        </p:nvSpPr>
        <p:spPr bwMode="auto">
          <a:xfrm>
            <a:off x="3279775" y="4457700"/>
            <a:ext cx="360363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0" name="Line 92"/>
          <p:cNvSpPr>
            <a:spLocks noChangeShapeType="1"/>
          </p:cNvSpPr>
          <p:nvPr/>
        </p:nvSpPr>
        <p:spPr bwMode="auto">
          <a:xfrm>
            <a:off x="3924300" y="4457700"/>
            <a:ext cx="217488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1" name="Line 93"/>
          <p:cNvSpPr>
            <a:spLocks noChangeShapeType="1"/>
          </p:cNvSpPr>
          <p:nvPr/>
        </p:nvSpPr>
        <p:spPr bwMode="auto">
          <a:xfrm>
            <a:off x="3167063" y="4414838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2" name="Line 94"/>
          <p:cNvSpPr>
            <a:spLocks noChangeShapeType="1"/>
          </p:cNvSpPr>
          <p:nvPr/>
        </p:nvSpPr>
        <p:spPr bwMode="auto">
          <a:xfrm>
            <a:off x="2808288" y="4425950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3" name="Line 95"/>
          <p:cNvSpPr>
            <a:spLocks noChangeShapeType="1"/>
          </p:cNvSpPr>
          <p:nvPr/>
        </p:nvSpPr>
        <p:spPr bwMode="auto">
          <a:xfrm>
            <a:off x="2447925" y="4425950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4" name="Line 96"/>
          <p:cNvSpPr>
            <a:spLocks noChangeShapeType="1"/>
          </p:cNvSpPr>
          <p:nvPr/>
        </p:nvSpPr>
        <p:spPr bwMode="auto">
          <a:xfrm>
            <a:off x="2411413" y="4365625"/>
            <a:ext cx="18716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5" name="Text Box 65"/>
          <p:cNvSpPr txBox="1">
            <a:spLocks noChangeArrowheads="1"/>
          </p:cNvSpPr>
          <p:nvPr/>
        </p:nvSpPr>
        <p:spPr bwMode="auto">
          <a:xfrm>
            <a:off x="1187450" y="4876800"/>
            <a:ext cx="421163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>
                <a:solidFill>
                  <a:schemeClr val="hlink"/>
                </a:solidFill>
                <a:latin typeface="宋体" charset="-122"/>
                <a:ea typeface="宋体" charset="-122"/>
              </a:rPr>
              <a:t>CS1</a:t>
            </a:r>
            <a:r>
              <a:rPr lang="en-US" altLang="zh-CN" sz="200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>
                <a:latin typeface="宋体" charset="-122"/>
                <a:ea typeface="宋体" charset="-122"/>
              </a:rPr>
              <a:t>12 </a:t>
            </a:r>
            <a:r>
              <a:rPr lang="en-US" altLang="zh-CN" sz="200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>
                <a:latin typeface="宋体" charset="-122"/>
                <a:ea typeface="宋体" charset="-122"/>
              </a:rPr>
              <a:t>11</a:t>
            </a:r>
            <a:r>
              <a:rPr lang="en-US" altLang="zh-CN" sz="200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56" name="Line 66"/>
          <p:cNvSpPr>
            <a:spLocks noChangeShapeType="1"/>
          </p:cNvSpPr>
          <p:nvPr/>
        </p:nvSpPr>
        <p:spPr bwMode="auto">
          <a:xfrm>
            <a:off x="1403350" y="4948238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7" name="Line 110"/>
          <p:cNvSpPr>
            <a:spLocks noChangeShapeType="1"/>
          </p:cNvSpPr>
          <p:nvPr/>
        </p:nvSpPr>
        <p:spPr bwMode="auto">
          <a:xfrm>
            <a:off x="3275013" y="4984750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8" name="Line 112"/>
          <p:cNvSpPr>
            <a:spLocks noChangeShapeType="1"/>
          </p:cNvSpPr>
          <p:nvPr/>
        </p:nvSpPr>
        <p:spPr bwMode="auto">
          <a:xfrm>
            <a:off x="3167063" y="4937125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9" name="Line 114"/>
          <p:cNvSpPr>
            <a:spLocks noChangeShapeType="1"/>
          </p:cNvSpPr>
          <p:nvPr/>
        </p:nvSpPr>
        <p:spPr bwMode="auto">
          <a:xfrm>
            <a:off x="2447925" y="4937125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0" name="Line 115"/>
          <p:cNvSpPr>
            <a:spLocks noChangeShapeType="1"/>
          </p:cNvSpPr>
          <p:nvPr/>
        </p:nvSpPr>
        <p:spPr bwMode="auto">
          <a:xfrm>
            <a:off x="2411413" y="4889500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1" name="Text Box 65"/>
          <p:cNvSpPr txBox="1">
            <a:spLocks noChangeArrowheads="1"/>
          </p:cNvSpPr>
          <p:nvPr/>
        </p:nvSpPr>
        <p:spPr bwMode="auto">
          <a:xfrm>
            <a:off x="1187450" y="5380038"/>
            <a:ext cx="42116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>
                <a:solidFill>
                  <a:schemeClr val="hlink"/>
                </a:solidFill>
                <a:latin typeface="宋体" charset="-122"/>
                <a:ea typeface="宋体" charset="-122"/>
              </a:rPr>
              <a:t>CS2</a:t>
            </a:r>
            <a:r>
              <a:rPr lang="en-US" altLang="zh-CN" sz="200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>
                <a:latin typeface="宋体" charset="-122"/>
                <a:ea typeface="宋体" charset="-122"/>
              </a:rPr>
              <a:t>12 </a:t>
            </a:r>
            <a:r>
              <a:rPr lang="en-US" altLang="zh-CN" sz="200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>
                <a:latin typeface="宋体" charset="-122"/>
                <a:ea typeface="宋体" charset="-122"/>
              </a:rPr>
              <a:t>11</a:t>
            </a:r>
            <a:r>
              <a:rPr lang="en-US" altLang="zh-CN" sz="200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62" name="Line 66"/>
          <p:cNvSpPr>
            <a:spLocks noChangeShapeType="1"/>
          </p:cNvSpPr>
          <p:nvPr/>
        </p:nvSpPr>
        <p:spPr bwMode="auto">
          <a:xfrm>
            <a:off x="1403350" y="5451475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3" name="Line 120"/>
          <p:cNvSpPr>
            <a:spLocks noChangeShapeType="1"/>
          </p:cNvSpPr>
          <p:nvPr/>
        </p:nvSpPr>
        <p:spPr bwMode="auto">
          <a:xfrm>
            <a:off x="3275013" y="5487988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4" name="Line 121"/>
          <p:cNvSpPr>
            <a:spLocks noChangeShapeType="1"/>
          </p:cNvSpPr>
          <p:nvPr/>
        </p:nvSpPr>
        <p:spPr bwMode="auto">
          <a:xfrm>
            <a:off x="3167063" y="5440363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5" name="Line 122"/>
          <p:cNvSpPr>
            <a:spLocks noChangeShapeType="1"/>
          </p:cNvSpPr>
          <p:nvPr/>
        </p:nvSpPr>
        <p:spPr bwMode="auto">
          <a:xfrm>
            <a:off x="2808288" y="5440363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6" name="Line 123"/>
          <p:cNvSpPr>
            <a:spLocks noChangeShapeType="1"/>
          </p:cNvSpPr>
          <p:nvPr/>
        </p:nvSpPr>
        <p:spPr bwMode="auto">
          <a:xfrm>
            <a:off x="2411413" y="5392738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7" name="Text Box 65"/>
          <p:cNvSpPr txBox="1">
            <a:spLocks noChangeArrowheads="1"/>
          </p:cNvSpPr>
          <p:nvPr/>
        </p:nvSpPr>
        <p:spPr bwMode="auto">
          <a:xfrm>
            <a:off x="1187450" y="5884863"/>
            <a:ext cx="42116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>
                <a:solidFill>
                  <a:schemeClr val="hlink"/>
                </a:solidFill>
                <a:latin typeface="宋体" charset="-122"/>
                <a:ea typeface="宋体" charset="-122"/>
              </a:rPr>
              <a:t>CS3</a:t>
            </a:r>
            <a:r>
              <a:rPr lang="en-US" altLang="zh-CN" sz="200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>
                <a:latin typeface="宋体" charset="-122"/>
                <a:ea typeface="宋体" charset="-122"/>
              </a:rPr>
              <a:t>12 </a:t>
            </a:r>
            <a:r>
              <a:rPr lang="en-US" altLang="zh-CN" sz="200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>
                <a:latin typeface="宋体" charset="-122"/>
                <a:ea typeface="宋体" charset="-122"/>
              </a:rPr>
              <a:t>11</a:t>
            </a:r>
            <a:r>
              <a:rPr lang="en-US" altLang="zh-CN" sz="200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68" name="Line 66"/>
          <p:cNvSpPr>
            <a:spLocks noChangeShapeType="1"/>
          </p:cNvSpPr>
          <p:nvPr/>
        </p:nvSpPr>
        <p:spPr bwMode="auto">
          <a:xfrm>
            <a:off x="1403350" y="5956300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9" name="Line 128"/>
          <p:cNvSpPr>
            <a:spLocks noChangeShapeType="1"/>
          </p:cNvSpPr>
          <p:nvPr/>
        </p:nvSpPr>
        <p:spPr bwMode="auto">
          <a:xfrm>
            <a:off x="3275013" y="5992813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70" name="Line 129"/>
          <p:cNvSpPr>
            <a:spLocks noChangeShapeType="1"/>
          </p:cNvSpPr>
          <p:nvPr/>
        </p:nvSpPr>
        <p:spPr bwMode="auto">
          <a:xfrm>
            <a:off x="3167063" y="5945188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71" name="Line 131"/>
          <p:cNvSpPr>
            <a:spLocks noChangeShapeType="1"/>
          </p:cNvSpPr>
          <p:nvPr/>
        </p:nvSpPr>
        <p:spPr bwMode="auto">
          <a:xfrm>
            <a:off x="2411413" y="5897563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72" name="Line 93"/>
          <p:cNvSpPr>
            <a:spLocks noChangeShapeType="1"/>
          </p:cNvSpPr>
          <p:nvPr/>
        </p:nvSpPr>
        <p:spPr bwMode="auto">
          <a:xfrm>
            <a:off x="3870325" y="4414838"/>
            <a:ext cx="360363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5"/>
          <p:cNvSpPr>
            <a:spLocks noChangeArrowheads="1"/>
          </p:cNvSpPr>
          <p:nvPr/>
        </p:nvSpPr>
        <p:spPr bwMode="auto">
          <a:xfrm>
            <a:off x="611188" y="509588"/>
            <a:ext cx="8532812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步：确定芯片数目、芯片工作的地址区域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步：确定各芯片的片选信号逻辑（片选）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步：连接芯片的地址线（字选）、数据线、读写控制线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步：设计片选信号的逻辑电路、连接片选线</a:t>
            </a:r>
          </a:p>
        </p:txBody>
      </p:sp>
      <p:sp>
        <p:nvSpPr>
          <p:cNvPr id="96259" name="Text Box 7"/>
          <p:cNvSpPr txBox="1">
            <a:spLocks noChangeArrowheads="1"/>
          </p:cNvSpPr>
          <p:nvPr/>
        </p:nvSpPr>
        <p:spPr bwMode="auto">
          <a:xfrm>
            <a:off x="2225675" y="3500438"/>
            <a:ext cx="36861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latin typeface="宋体" charset="-122"/>
                <a:ea typeface="宋体" charset="-122"/>
              </a:rPr>
              <a:t>           </a:t>
            </a:r>
            <a:r>
              <a:rPr lang="en-US" altLang="zh-CN" sz="1600" b="0">
                <a:latin typeface="宋体" charset="-122"/>
                <a:ea typeface="宋体" charset="-122"/>
              </a:rPr>
              <a:t>......</a:t>
            </a:r>
          </a:p>
        </p:txBody>
      </p:sp>
      <p:grpSp>
        <p:nvGrpSpPr>
          <p:cNvPr id="96260" name="Group 8"/>
          <p:cNvGrpSpPr>
            <a:grpSpLocks/>
          </p:cNvGrpSpPr>
          <p:nvPr/>
        </p:nvGrpSpPr>
        <p:grpSpPr bwMode="auto">
          <a:xfrm>
            <a:off x="5583238" y="3168650"/>
            <a:ext cx="2552700" cy="3159125"/>
            <a:chOff x="4065" y="10317"/>
            <a:chExt cx="2670" cy="3408"/>
          </a:xfrm>
        </p:grpSpPr>
        <p:sp>
          <p:nvSpPr>
            <p:cNvPr id="96296" name="Text Box 9"/>
            <p:cNvSpPr txBox="1">
              <a:spLocks noChangeArrowheads="1"/>
            </p:cNvSpPr>
            <p:nvPr/>
          </p:nvSpPr>
          <p:spPr bwMode="auto">
            <a:xfrm>
              <a:off x="4800" y="10317"/>
              <a:ext cx="1935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>
                  <a:latin typeface="宋体" charset="-122"/>
                  <a:ea typeface="宋体" charset="-122"/>
                </a:rPr>
                <a:t>7  </a:t>
              </a:r>
              <a:r>
                <a:rPr lang="en-US" altLang="zh-CN" sz="1800">
                  <a:latin typeface="宋体" charset="-122"/>
                  <a:ea typeface="宋体" charset="-122"/>
                </a:rPr>
                <a:t>  D</a:t>
              </a:r>
              <a:r>
                <a:rPr lang="en-US" altLang="zh-CN" sz="1800" baseline="-25000">
                  <a:latin typeface="宋体" charset="-122"/>
                  <a:ea typeface="宋体" charset="-122"/>
                </a:rPr>
                <a:t>4 </a:t>
              </a:r>
              <a:r>
                <a:rPr lang="en-US" altLang="zh-CN" sz="180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>
                  <a:latin typeface="宋体" charset="-122"/>
                  <a:ea typeface="宋体" charset="-122"/>
                </a:rPr>
                <a:t>3   </a:t>
              </a:r>
              <a:r>
                <a:rPr lang="en-US" altLang="zh-CN" sz="1800">
                  <a:latin typeface="宋体" charset="-122"/>
                  <a:ea typeface="宋体" charset="-122"/>
                </a:rPr>
                <a:t> D</a:t>
              </a:r>
              <a:r>
                <a:rPr lang="en-US" altLang="zh-CN" sz="1800" baseline="-25000">
                  <a:latin typeface="宋体" charset="-122"/>
                  <a:ea typeface="宋体" charset="-122"/>
                </a:rPr>
                <a:t>0</a:t>
              </a:r>
              <a:endParaRPr lang="en-US" altLang="zh-CN" sz="1800">
                <a:latin typeface="宋体" charset="-122"/>
                <a:ea typeface="宋体" charset="-122"/>
              </a:endParaRPr>
            </a:p>
          </p:txBody>
        </p:sp>
        <p:sp>
          <p:nvSpPr>
            <p:cNvPr id="96297" name="Rectangle 10"/>
            <p:cNvSpPr>
              <a:spLocks noChangeArrowheads="1"/>
            </p:cNvSpPr>
            <p:nvPr/>
          </p:nvSpPr>
          <p:spPr bwMode="auto">
            <a:xfrm>
              <a:off x="4815" y="10730"/>
              <a:ext cx="1875" cy="27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grpSp>
          <p:nvGrpSpPr>
            <p:cNvPr id="96298" name="Group 11"/>
            <p:cNvGrpSpPr>
              <a:grpSpLocks/>
            </p:cNvGrpSpPr>
            <p:nvPr/>
          </p:nvGrpSpPr>
          <p:grpSpPr bwMode="auto">
            <a:xfrm>
              <a:off x="4065" y="10654"/>
              <a:ext cx="840" cy="1016"/>
              <a:chOff x="1920" y="10729"/>
              <a:chExt cx="840" cy="1031"/>
            </a:xfrm>
          </p:grpSpPr>
          <p:sp>
            <p:nvSpPr>
              <p:cNvPr id="96318" name="Text Box 12"/>
              <p:cNvSpPr txBox="1">
                <a:spLocks noChangeArrowheads="1"/>
              </p:cNvSpPr>
              <p:nvPr/>
            </p:nvSpPr>
            <p:spPr bwMode="auto">
              <a:xfrm>
                <a:off x="1920" y="10729"/>
                <a:ext cx="840" cy="1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0000H</a:t>
                </a:r>
              </a:p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07FFH</a:t>
                </a:r>
                <a:endParaRPr lang="en-US" altLang="zh-CN" sz="1600" b="0"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6319" name="Freeform 13"/>
              <p:cNvSpPr>
                <a:spLocks/>
              </p:cNvSpPr>
              <p:nvPr/>
            </p:nvSpPr>
            <p:spPr bwMode="auto">
              <a:xfrm>
                <a:off x="2285" y="11013"/>
                <a:ext cx="117" cy="215"/>
              </a:xfrm>
              <a:custGeom>
                <a:avLst/>
                <a:gdLst>
                  <a:gd name="T0" fmla="*/ 8 w 132"/>
                  <a:gd name="T1" fmla="*/ 0 h 345"/>
                  <a:gd name="T2" fmla="*/ 4 w 132"/>
                  <a:gd name="T3" fmla="*/ 1 h 345"/>
                  <a:gd name="T4" fmla="*/ 13 w 132"/>
                  <a:gd name="T5" fmla="*/ 1 h 345"/>
                  <a:gd name="T6" fmla="*/ 4 w 132"/>
                  <a:gd name="T7" fmla="*/ 1 h 3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"/>
                  <a:gd name="T13" fmla="*/ 0 h 345"/>
                  <a:gd name="T14" fmla="*/ 132 w 132"/>
                  <a:gd name="T15" fmla="*/ 345 h 3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" h="345">
                    <a:moveTo>
                      <a:pt x="70" y="0"/>
                    </a:moveTo>
                    <a:cubicBezTo>
                      <a:pt x="35" y="44"/>
                      <a:pt x="0" y="88"/>
                      <a:pt x="10" y="120"/>
                    </a:cubicBezTo>
                    <a:cubicBezTo>
                      <a:pt x="20" y="152"/>
                      <a:pt x="128" y="158"/>
                      <a:pt x="130" y="195"/>
                    </a:cubicBezTo>
                    <a:cubicBezTo>
                      <a:pt x="132" y="232"/>
                      <a:pt x="78" y="288"/>
                      <a:pt x="25" y="34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6299" name="Text Box 14"/>
            <p:cNvSpPr txBox="1">
              <a:spLocks noChangeArrowheads="1"/>
            </p:cNvSpPr>
            <p:nvPr/>
          </p:nvSpPr>
          <p:spPr bwMode="auto">
            <a:xfrm>
              <a:off x="4890" y="10775"/>
              <a:ext cx="1725" cy="5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宋体" charset="-122"/>
                  <a:ea typeface="宋体" charset="-122"/>
                </a:rPr>
                <a:t>2K</a:t>
              </a:r>
              <a:r>
                <a:rPr lang="en-US" altLang="zh-CN" sz="1600">
                  <a:latin typeface="宋体" charset="-122"/>
                  <a:ea typeface="宋体" charset="-122"/>
                  <a:sym typeface="Symbol" pitchFamily="18" charset="2"/>
                </a:rPr>
                <a:t></a:t>
              </a:r>
              <a:r>
                <a:rPr lang="en-US" altLang="zh-CN" sz="1600">
                  <a:latin typeface="宋体" charset="-122"/>
                  <a:ea typeface="宋体" charset="-122"/>
                </a:rPr>
                <a:t>8 ROM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宋体" charset="-122"/>
                  <a:ea typeface="宋体" charset="-122"/>
                </a:rPr>
                <a:t>U0</a:t>
              </a:r>
              <a:endParaRPr lang="en-US" altLang="zh-CN" sz="1600" b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6300" name="Group 15"/>
            <p:cNvGrpSpPr>
              <a:grpSpLocks/>
            </p:cNvGrpSpPr>
            <p:nvPr/>
          </p:nvGrpSpPr>
          <p:grpSpPr bwMode="auto">
            <a:xfrm>
              <a:off x="4065" y="11329"/>
              <a:ext cx="2550" cy="1016"/>
              <a:chOff x="4065" y="11314"/>
              <a:chExt cx="2550" cy="1016"/>
            </a:xfrm>
          </p:grpSpPr>
          <p:sp>
            <p:nvSpPr>
              <p:cNvPr id="96313" name="Text Box 16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U1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314" name="Text Box 17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U2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6315" name="Group 18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6316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0800H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0FFFH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6317" name="Freeform 20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6301" name="Group 21"/>
            <p:cNvGrpSpPr>
              <a:grpSpLocks/>
            </p:cNvGrpSpPr>
            <p:nvPr/>
          </p:nvGrpSpPr>
          <p:grpSpPr bwMode="auto">
            <a:xfrm>
              <a:off x="4065" y="12019"/>
              <a:ext cx="2550" cy="1016"/>
              <a:chOff x="4065" y="11314"/>
              <a:chExt cx="2550" cy="1016"/>
            </a:xfrm>
          </p:grpSpPr>
          <p:sp>
            <p:nvSpPr>
              <p:cNvPr id="96308" name="Text Box 22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U3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309" name="Text Box 23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U4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6310" name="Group 24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631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1000H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17FFH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6312" name="Freeform 26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6302" name="Group 27"/>
            <p:cNvGrpSpPr>
              <a:grpSpLocks/>
            </p:cNvGrpSpPr>
            <p:nvPr/>
          </p:nvGrpSpPr>
          <p:grpSpPr bwMode="auto">
            <a:xfrm>
              <a:off x="4065" y="12709"/>
              <a:ext cx="2550" cy="1016"/>
              <a:chOff x="4065" y="11314"/>
              <a:chExt cx="2550" cy="1016"/>
            </a:xfrm>
          </p:grpSpPr>
          <p:sp>
            <p:nvSpPr>
              <p:cNvPr id="96303" name="Text Box 28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U5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304" name="Text Box 29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U6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6305" name="Group 30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6306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1FFFH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6307" name="Freeform 32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96261" name="Group 33"/>
          <p:cNvGrpSpPr>
            <a:grpSpLocks/>
          </p:cNvGrpSpPr>
          <p:nvPr/>
        </p:nvGrpSpPr>
        <p:grpSpPr bwMode="auto">
          <a:xfrm>
            <a:off x="1795463" y="3159125"/>
            <a:ext cx="2992437" cy="419100"/>
            <a:chOff x="1380" y="6420"/>
            <a:chExt cx="3915" cy="480"/>
          </a:xfrm>
        </p:grpSpPr>
        <p:sp>
          <p:nvSpPr>
            <p:cNvPr id="96293" name="Text Box 34"/>
            <p:cNvSpPr txBox="1">
              <a:spLocks noChangeArrowheads="1"/>
            </p:cNvSpPr>
            <p:nvPr/>
          </p:nvSpPr>
          <p:spPr bwMode="auto">
            <a:xfrm>
              <a:off x="1380" y="6420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  <a:ea typeface="宋体" charset="-122"/>
                </a:rPr>
                <a:t>15</a:t>
              </a:r>
              <a:endParaRPr lang="en-US" altLang="zh-CN" sz="180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6294" name="Text Box 35"/>
            <p:cNvSpPr txBox="1">
              <a:spLocks noChangeArrowheads="1"/>
            </p:cNvSpPr>
            <p:nvPr/>
          </p:nvSpPr>
          <p:spPr bwMode="auto">
            <a:xfrm>
              <a:off x="45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180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6295" name="Text Box 36"/>
            <p:cNvSpPr txBox="1">
              <a:spLocks noChangeArrowheads="1"/>
            </p:cNvSpPr>
            <p:nvPr/>
          </p:nvSpPr>
          <p:spPr bwMode="auto">
            <a:xfrm>
              <a:off x="24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  <a:ea typeface="宋体" charset="-122"/>
                </a:rPr>
                <a:t>10</a:t>
              </a:r>
              <a:endParaRPr lang="en-US" altLang="zh-CN" sz="180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6262" name="Group 37"/>
          <p:cNvGrpSpPr>
            <a:grpSpLocks/>
          </p:cNvGrpSpPr>
          <p:nvPr/>
        </p:nvGrpSpPr>
        <p:grpSpPr bwMode="auto">
          <a:xfrm>
            <a:off x="1624013" y="3506788"/>
            <a:ext cx="4660900" cy="735012"/>
            <a:chOff x="1995" y="6207"/>
            <a:chExt cx="4875" cy="843"/>
          </a:xfrm>
        </p:grpSpPr>
        <p:grpSp>
          <p:nvGrpSpPr>
            <p:cNvPr id="96289" name="Group 38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6291" name="Text Box 39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292" name="Text Box 40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6290" name="Line 41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63" name="Group 42"/>
          <p:cNvGrpSpPr>
            <a:grpSpLocks/>
          </p:cNvGrpSpPr>
          <p:nvPr/>
        </p:nvGrpSpPr>
        <p:grpSpPr bwMode="auto">
          <a:xfrm>
            <a:off x="1638300" y="4175125"/>
            <a:ext cx="4660900" cy="735013"/>
            <a:chOff x="1995" y="6207"/>
            <a:chExt cx="4875" cy="843"/>
          </a:xfrm>
        </p:grpSpPr>
        <p:grpSp>
          <p:nvGrpSpPr>
            <p:cNvPr id="96285" name="Group 43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6287" name="Text Box 44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288" name="Text Box 45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6286" name="Line 46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64" name="Group 47"/>
          <p:cNvGrpSpPr>
            <a:grpSpLocks/>
          </p:cNvGrpSpPr>
          <p:nvPr/>
        </p:nvGrpSpPr>
        <p:grpSpPr bwMode="auto">
          <a:xfrm>
            <a:off x="1652588" y="4776788"/>
            <a:ext cx="4660900" cy="736600"/>
            <a:chOff x="1995" y="6207"/>
            <a:chExt cx="4875" cy="843"/>
          </a:xfrm>
        </p:grpSpPr>
        <p:grpSp>
          <p:nvGrpSpPr>
            <p:cNvPr id="96281" name="Group 48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6283" name="Text Box 49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</a:p>
            </p:txBody>
          </p:sp>
          <p:sp>
            <p:nvSpPr>
              <p:cNvPr id="96284" name="Text Box 50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6282" name="Line 51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65" name="Group 52"/>
          <p:cNvGrpSpPr>
            <a:grpSpLocks/>
          </p:cNvGrpSpPr>
          <p:nvPr/>
        </p:nvGrpSpPr>
        <p:grpSpPr bwMode="auto">
          <a:xfrm>
            <a:off x="1925638" y="5419725"/>
            <a:ext cx="3700462" cy="735013"/>
            <a:chOff x="2280" y="6207"/>
            <a:chExt cx="3870" cy="843"/>
          </a:xfrm>
        </p:grpSpPr>
        <p:sp>
          <p:nvSpPr>
            <p:cNvPr id="96279" name="Text Box 53"/>
            <p:cNvSpPr txBox="1">
              <a:spLocks noChangeArrowheads="1"/>
            </p:cNvSpPr>
            <p:nvPr/>
          </p:nvSpPr>
          <p:spPr bwMode="auto">
            <a:xfrm>
              <a:off x="2280" y="620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0 0 0  0 0 0 0  0 0 0 0</a:t>
              </a:r>
            </a:p>
          </p:txBody>
        </p:sp>
        <p:sp>
          <p:nvSpPr>
            <p:cNvPr id="96280" name="Text Box 54"/>
            <p:cNvSpPr txBox="1">
              <a:spLocks noChangeArrowheads="1"/>
            </p:cNvSpPr>
            <p:nvPr/>
          </p:nvSpPr>
          <p:spPr bwMode="auto">
            <a:xfrm>
              <a:off x="2295" y="656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1 1 1  1 1 1 1  1 1 1 1</a:t>
              </a:r>
              <a:endParaRPr lang="en-US" altLang="zh-CN" sz="160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96266" name="Line 55"/>
          <p:cNvSpPr>
            <a:spLocks noChangeShapeType="1"/>
          </p:cNvSpPr>
          <p:nvPr/>
        </p:nvSpPr>
        <p:spPr bwMode="auto">
          <a:xfrm>
            <a:off x="2794000" y="3521075"/>
            <a:ext cx="14288" cy="26733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6267" name="Group 56"/>
          <p:cNvGrpSpPr>
            <a:grpSpLocks/>
          </p:cNvGrpSpPr>
          <p:nvPr/>
        </p:nvGrpSpPr>
        <p:grpSpPr bwMode="auto">
          <a:xfrm>
            <a:off x="892175" y="5648325"/>
            <a:ext cx="960438" cy="433388"/>
            <a:chOff x="919" y="1559"/>
            <a:chExt cx="1005" cy="495"/>
          </a:xfrm>
        </p:grpSpPr>
        <p:sp>
          <p:nvSpPr>
            <p:cNvPr id="96277" name="Text Box 57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CS3</a:t>
              </a:r>
            </a:p>
          </p:txBody>
        </p:sp>
        <p:sp>
          <p:nvSpPr>
            <p:cNvPr id="96278" name="Line 58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68" name="Group 59"/>
          <p:cNvGrpSpPr>
            <a:grpSpLocks/>
          </p:cNvGrpSpPr>
          <p:nvPr/>
        </p:nvGrpSpPr>
        <p:grpSpPr bwMode="auto">
          <a:xfrm>
            <a:off x="892175" y="5019675"/>
            <a:ext cx="960438" cy="431800"/>
            <a:chOff x="919" y="1559"/>
            <a:chExt cx="1005" cy="495"/>
          </a:xfrm>
        </p:grpSpPr>
        <p:sp>
          <p:nvSpPr>
            <p:cNvPr id="96275" name="Text Box 60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CS2</a:t>
              </a:r>
            </a:p>
          </p:txBody>
        </p:sp>
        <p:sp>
          <p:nvSpPr>
            <p:cNvPr id="96276" name="Line 61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69" name="Group 62"/>
          <p:cNvGrpSpPr>
            <a:grpSpLocks/>
          </p:cNvGrpSpPr>
          <p:nvPr/>
        </p:nvGrpSpPr>
        <p:grpSpPr bwMode="auto">
          <a:xfrm>
            <a:off x="892175" y="4286250"/>
            <a:ext cx="960438" cy="431800"/>
            <a:chOff x="919" y="1559"/>
            <a:chExt cx="1005" cy="495"/>
          </a:xfrm>
        </p:grpSpPr>
        <p:sp>
          <p:nvSpPr>
            <p:cNvPr id="96273" name="Text Box 63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CS1</a:t>
              </a:r>
            </a:p>
          </p:txBody>
        </p:sp>
        <p:sp>
          <p:nvSpPr>
            <p:cNvPr id="96274" name="Line 64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70" name="Group 65"/>
          <p:cNvGrpSpPr>
            <a:grpSpLocks/>
          </p:cNvGrpSpPr>
          <p:nvPr/>
        </p:nvGrpSpPr>
        <p:grpSpPr bwMode="auto">
          <a:xfrm>
            <a:off x="863600" y="3548063"/>
            <a:ext cx="960438" cy="431800"/>
            <a:chOff x="919" y="1559"/>
            <a:chExt cx="1005" cy="495"/>
          </a:xfrm>
        </p:grpSpPr>
        <p:sp>
          <p:nvSpPr>
            <p:cNvPr id="96271" name="Text Box 66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CS0</a:t>
              </a:r>
            </a:p>
          </p:txBody>
        </p:sp>
        <p:sp>
          <p:nvSpPr>
            <p:cNvPr id="96272" name="Line 67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003300" y="2846388"/>
            <a:ext cx="7089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zh-CN" altLang="en-US" sz="2000" dirty="0"/>
              <a:t>存储芯片的地址分配                 存储器组成结构</a:t>
            </a: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46"/>
          <p:cNvSpPr>
            <a:spLocks noChangeArrowheads="1"/>
          </p:cNvSpPr>
          <p:nvPr/>
        </p:nvSpPr>
        <p:spPr bwMode="auto">
          <a:xfrm>
            <a:off x="0" y="1360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7283" name="Text Box 311"/>
          <p:cNvSpPr txBox="1">
            <a:spLocks noChangeArrowheads="1"/>
          </p:cNvSpPr>
          <p:nvPr/>
        </p:nvSpPr>
        <p:spPr bwMode="auto">
          <a:xfrm>
            <a:off x="2185988" y="47625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Times New Roman" pitchFamily="18" charset="0"/>
                <a:ea typeface="宋体" charset="-122"/>
              </a:rPr>
              <a:t>A</a:t>
            </a:r>
            <a:r>
              <a:rPr lang="en-US" altLang="zh-CN" sz="1800" baseline="-25000">
                <a:latin typeface="Times New Roman" pitchFamily="18" charset="0"/>
                <a:ea typeface="宋体" charset="-122"/>
              </a:rPr>
              <a:t>10-0</a:t>
            </a:r>
            <a:endParaRPr lang="en-US" altLang="zh-CN" sz="180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97284" name="Group 312"/>
          <p:cNvGrpSpPr>
            <a:grpSpLocks/>
          </p:cNvGrpSpPr>
          <p:nvPr/>
        </p:nvGrpSpPr>
        <p:grpSpPr bwMode="auto">
          <a:xfrm>
            <a:off x="3427413" y="1293813"/>
            <a:ext cx="1836737" cy="671512"/>
            <a:chOff x="2910" y="2805"/>
            <a:chExt cx="2085" cy="848"/>
          </a:xfrm>
        </p:grpSpPr>
        <p:sp>
          <p:nvSpPr>
            <p:cNvPr id="97435" name="Rectangle 313"/>
            <p:cNvSpPr>
              <a:spLocks noChangeArrowheads="1"/>
            </p:cNvSpPr>
            <p:nvPr/>
          </p:nvSpPr>
          <p:spPr bwMode="auto">
            <a:xfrm>
              <a:off x="3168" y="2805"/>
              <a:ext cx="1659" cy="84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7436" name="Text Box 314"/>
            <p:cNvSpPr txBox="1">
              <a:spLocks noChangeArrowheads="1"/>
            </p:cNvSpPr>
            <p:nvPr/>
          </p:nvSpPr>
          <p:spPr bwMode="auto">
            <a:xfrm>
              <a:off x="3538" y="2954"/>
              <a:ext cx="964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2K</a:t>
              </a:r>
              <a:r>
                <a:rPr lang="en-US" altLang="zh-CN" sz="1200">
                  <a:latin typeface="Times New Roman" pitchFamily="18" charset="0"/>
                  <a:ea typeface="宋体" charset="-122"/>
                  <a:sym typeface="Symbol" pitchFamily="18" charset="2"/>
                </a:rPr>
                <a:t></a:t>
              </a:r>
              <a:r>
                <a:rPr lang="en-US" altLang="zh-CN" sz="1200">
                  <a:latin typeface="Times New Roman" pitchFamily="18" charset="0"/>
                  <a:ea typeface="宋体" charset="-122"/>
                </a:rPr>
                <a:t>8</a:t>
              </a:r>
            </a:p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U0</a:t>
              </a:r>
            </a:p>
          </p:txBody>
        </p:sp>
        <p:grpSp>
          <p:nvGrpSpPr>
            <p:cNvPr id="97437" name="Group 315"/>
            <p:cNvGrpSpPr>
              <a:grpSpLocks/>
            </p:cNvGrpSpPr>
            <p:nvPr/>
          </p:nvGrpSpPr>
          <p:grpSpPr bwMode="auto">
            <a:xfrm>
              <a:off x="2910" y="2865"/>
              <a:ext cx="852" cy="485"/>
              <a:chOff x="2895" y="2097"/>
              <a:chExt cx="1140" cy="546"/>
            </a:xfrm>
          </p:grpSpPr>
          <p:sp>
            <p:nvSpPr>
              <p:cNvPr id="97441" name="Line 316"/>
              <p:cNvSpPr>
                <a:spLocks noChangeShapeType="1"/>
              </p:cNvSpPr>
              <p:nvPr/>
            </p:nvSpPr>
            <p:spPr bwMode="auto">
              <a:xfrm flipV="1">
                <a:off x="2895" y="2320"/>
                <a:ext cx="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442" name="Text Box 317"/>
              <p:cNvSpPr txBox="1">
                <a:spLocks noChangeArrowheads="1"/>
              </p:cNvSpPr>
              <p:nvPr/>
            </p:nvSpPr>
            <p:spPr bwMode="auto">
              <a:xfrm>
                <a:off x="3060" y="2097"/>
                <a:ext cx="975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10-0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7438" name="Text Box 318"/>
            <p:cNvSpPr txBox="1">
              <a:spLocks noChangeArrowheads="1"/>
            </p:cNvSpPr>
            <p:nvPr/>
          </p:nvSpPr>
          <p:spPr bwMode="auto">
            <a:xfrm>
              <a:off x="2977" y="3132"/>
              <a:ext cx="729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CS</a:t>
              </a:r>
            </a:p>
          </p:txBody>
        </p:sp>
        <p:sp>
          <p:nvSpPr>
            <p:cNvPr id="97439" name="Oval 319"/>
            <p:cNvSpPr>
              <a:spLocks noChangeArrowheads="1"/>
            </p:cNvSpPr>
            <p:nvPr/>
          </p:nvSpPr>
          <p:spPr bwMode="auto">
            <a:xfrm>
              <a:off x="3078" y="3278"/>
              <a:ext cx="90" cy="9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7440" name="Text Box 320"/>
            <p:cNvSpPr txBox="1">
              <a:spLocks noChangeArrowheads="1"/>
            </p:cNvSpPr>
            <p:nvPr/>
          </p:nvSpPr>
          <p:spPr bwMode="auto">
            <a:xfrm>
              <a:off x="4266" y="3023"/>
              <a:ext cx="729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D</a:t>
              </a:r>
              <a:r>
                <a:rPr lang="en-US" altLang="zh-CN" sz="1200" baseline="-25000">
                  <a:latin typeface="Times New Roman" pitchFamily="18" charset="0"/>
                  <a:ea typeface="宋体" charset="-122"/>
                </a:rPr>
                <a:t>7-0</a:t>
              </a:r>
              <a:endParaRPr lang="en-US" altLang="zh-CN" sz="120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7285" name="Group 321"/>
          <p:cNvGrpSpPr>
            <a:grpSpLocks/>
          </p:cNvGrpSpPr>
          <p:nvPr/>
        </p:nvGrpSpPr>
        <p:grpSpPr bwMode="auto">
          <a:xfrm>
            <a:off x="3427413" y="2065338"/>
            <a:ext cx="1836737" cy="2551112"/>
            <a:chOff x="2910" y="4360"/>
            <a:chExt cx="2085" cy="3221"/>
          </a:xfrm>
        </p:grpSpPr>
        <p:grpSp>
          <p:nvGrpSpPr>
            <p:cNvPr id="97393" name="Group 322"/>
            <p:cNvGrpSpPr>
              <a:grpSpLocks/>
            </p:cNvGrpSpPr>
            <p:nvPr/>
          </p:nvGrpSpPr>
          <p:grpSpPr bwMode="auto">
            <a:xfrm>
              <a:off x="2910" y="4360"/>
              <a:ext cx="2085" cy="1091"/>
              <a:chOff x="2910" y="3780"/>
              <a:chExt cx="2085" cy="1091"/>
            </a:xfrm>
          </p:grpSpPr>
          <p:sp>
            <p:nvSpPr>
              <p:cNvPr id="97422" name="Rectangle 323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423" name="Text Box 324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U2</a:t>
                </a:r>
              </a:p>
            </p:txBody>
          </p:sp>
          <p:grpSp>
            <p:nvGrpSpPr>
              <p:cNvPr id="97424" name="Group 325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433" name="Line 326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434" name="Text Box 327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425" name="Text Box 328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426" name="Text Box 329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427" name="Oval 330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428" name="Text Box 331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429" name="Oval 332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430" name="Group 333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431" name="Text Box 334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432" name="Oval 335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7394" name="Group 336"/>
            <p:cNvGrpSpPr>
              <a:grpSpLocks/>
            </p:cNvGrpSpPr>
            <p:nvPr/>
          </p:nvGrpSpPr>
          <p:grpSpPr bwMode="auto">
            <a:xfrm>
              <a:off x="2910" y="5410"/>
              <a:ext cx="2085" cy="1091"/>
              <a:chOff x="2910" y="3780"/>
              <a:chExt cx="2085" cy="1091"/>
            </a:xfrm>
          </p:grpSpPr>
          <p:sp>
            <p:nvSpPr>
              <p:cNvPr id="97409" name="Rectangle 337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410" name="Text Box 338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U4</a:t>
                </a:r>
              </a:p>
            </p:txBody>
          </p:sp>
          <p:grpSp>
            <p:nvGrpSpPr>
              <p:cNvPr id="97411" name="Group 339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420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421" name="Text Box 341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412" name="Text Box 342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413" name="Text Box 343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414" name="Oval 344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415" name="Text Box 345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416" name="Oval 346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417" name="Group 347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418" name="Text Box 348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419" name="Oval 349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7395" name="Group 350"/>
            <p:cNvGrpSpPr>
              <a:grpSpLocks/>
            </p:cNvGrpSpPr>
            <p:nvPr/>
          </p:nvGrpSpPr>
          <p:grpSpPr bwMode="auto">
            <a:xfrm>
              <a:off x="2910" y="6490"/>
              <a:ext cx="2085" cy="1091"/>
              <a:chOff x="2910" y="3780"/>
              <a:chExt cx="2085" cy="1091"/>
            </a:xfrm>
          </p:grpSpPr>
          <p:sp>
            <p:nvSpPr>
              <p:cNvPr id="97396" name="Rectangle 351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97" name="Text Box 352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U6</a:t>
                </a:r>
              </a:p>
            </p:txBody>
          </p:sp>
          <p:grpSp>
            <p:nvGrpSpPr>
              <p:cNvPr id="97398" name="Group 353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407" name="Line 354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408" name="Text Box 355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399" name="Text Box 356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400" name="Text Box 357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401" name="Oval 358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402" name="Text Box 359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403" name="Oval 360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404" name="Group 361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405" name="Text Box 362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406" name="Oval 363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7286" name="Group 364"/>
          <p:cNvGrpSpPr>
            <a:grpSpLocks/>
          </p:cNvGrpSpPr>
          <p:nvPr/>
        </p:nvGrpSpPr>
        <p:grpSpPr bwMode="auto">
          <a:xfrm>
            <a:off x="6415088" y="2065338"/>
            <a:ext cx="1836737" cy="2551112"/>
            <a:chOff x="5640" y="4360"/>
            <a:chExt cx="2085" cy="3221"/>
          </a:xfrm>
        </p:grpSpPr>
        <p:grpSp>
          <p:nvGrpSpPr>
            <p:cNvPr id="97351" name="Group 365"/>
            <p:cNvGrpSpPr>
              <a:grpSpLocks/>
            </p:cNvGrpSpPr>
            <p:nvPr/>
          </p:nvGrpSpPr>
          <p:grpSpPr bwMode="auto">
            <a:xfrm>
              <a:off x="5640" y="4360"/>
              <a:ext cx="2085" cy="1091"/>
              <a:chOff x="2910" y="3780"/>
              <a:chExt cx="2085" cy="1091"/>
            </a:xfrm>
          </p:grpSpPr>
          <p:sp>
            <p:nvSpPr>
              <p:cNvPr id="97380" name="Rectangle 366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81" name="Text Box 367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U1</a:t>
                </a:r>
              </a:p>
            </p:txBody>
          </p:sp>
          <p:grpSp>
            <p:nvGrpSpPr>
              <p:cNvPr id="97382" name="Group 368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391" name="Line 369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392" name="Text Box 370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383" name="Text Box 371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384" name="Text Box 372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385" name="Oval 373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86" name="Text Box 374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387" name="Oval 375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388" name="Group 376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389" name="Text Box 377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390" name="Oval 378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7352" name="Group 379"/>
            <p:cNvGrpSpPr>
              <a:grpSpLocks/>
            </p:cNvGrpSpPr>
            <p:nvPr/>
          </p:nvGrpSpPr>
          <p:grpSpPr bwMode="auto">
            <a:xfrm>
              <a:off x="5640" y="5410"/>
              <a:ext cx="2085" cy="1091"/>
              <a:chOff x="2910" y="3780"/>
              <a:chExt cx="2085" cy="1091"/>
            </a:xfrm>
          </p:grpSpPr>
          <p:sp>
            <p:nvSpPr>
              <p:cNvPr id="97367" name="Rectangle 380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68" name="Text Box 381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U3</a:t>
                </a:r>
              </a:p>
            </p:txBody>
          </p:sp>
          <p:grpSp>
            <p:nvGrpSpPr>
              <p:cNvPr id="97369" name="Group 382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378" name="Line 383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379" name="Text Box 384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370" name="Text Box 385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371" name="Text Box 386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372" name="Oval 387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73" name="Text Box 388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374" name="Oval 389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375" name="Group 390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376" name="Text Box 391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377" name="Oval 392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7353" name="Group 393"/>
            <p:cNvGrpSpPr>
              <a:grpSpLocks/>
            </p:cNvGrpSpPr>
            <p:nvPr/>
          </p:nvGrpSpPr>
          <p:grpSpPr bwMode="auto">
            <a:xfrm>
              <a:off x="5640" y="6490"/>
              <a:ext cx="2085" cy="1091"/>
              <a:chOff x="2910" y="3780"/>
              <a:chExt cx="2085" cy="1091"/>
            </a:xfrm>
          </p:grpSpPr>
          <p:sp>
            <p:nvSpPr>
              <p:cNvPr id="97354" name="Rectangle 394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55" name="Text Box 395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U5</a:t>
                </a:r>
              </a:p>
            </p:txBody>
          </p:sp>
          <p:grpSp>
            <p:nvGrpSpPr>
              <p:cNvPr id="97356" name="Group 396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365" name="Line 397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366" name="Text Box 398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357" name="Text Box 399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358" name="Text Box 400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359" name="Oval 401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60" name="Text Box 402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361" name="Oval 403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362" name="Group 404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363" name="Text Box 405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364" name="Oval 406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7287" name="Group 407"/>
          <p:cNvGrpSpPr>
            <a:grpSpLocks/>
          </p:cNvGrpSpPr>
          <p:nvPr/>
        </p:nvGrpSpPr>
        <p:grpSpPr bwMode="auto">
          <a:xfrm>
            <a:off x="2898775" y="760413"/>
            <a:ext cx="3509963" cy="3157537"/>
            <a:chOff x="2310" y="2455"/>
            <a:chExt cx="3975" cy="4245"/>
          </a:xfrm>
        </p:grpSpPr>
        <p:sp>
          <p:nvSpPr>
            <p:cNvPr id="97347" name="Line 408"/>
            <p:cNvSpPr>
              <a:spLocks noChangeShapeType="1"/>
            </p:cNvSpPr>
            <p:nvPr/>
          </p:nvSpPr>
          <p:spPr bwMode="auto">
            <a:xfrm flipV="1">
              <a:off x="2910" y="2470"/>
              <a:ext cx="0" cy="4215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7348" name="Group 409"/>
            <p:cNvGrpSpPr>
              <a:grpSpLocks/>
            </p:cNvGrpSpPr>
            <p:nvPr/>
          </p:nvGrpSpPr>
          <p:grpSpPr bwMode="auto">
            <a:xfrm>
              <a:off x="2310" y="2455"/>
              <a:ext cx="3975" cy="4245"/>
              <a:chOff x="2310" y="2455"/>
              <a:chExt cx="3345" cy="4245"/>
            </a:xfrm>
          </p:grpSpPr>
          <p:sp>
            <p:nvSpPr>
              <p:cNvPr id="97349" name="Line 410"/>
              <p:cNvSpPr>
                <a:spLocks noChangeShapeType="1"/>
              </p:cNvSpPr>
              <p:nvPr/>
            </p:nvSpPr>
            <p:spPr bwMode="auto">
              <a:xfrm flipV="1">
                <a:off x="5640" y="2455"/>
                <a:ext cx="0" cy="4245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350" name="Line 411"/>
              <p:cNvSpPr>
                <a:spLocks noChangeShapeType="1"/>
              </p:cNvSpPr>
              <p:nvPr/>
            </p:nvSpPr>
            <p:spPr bwMode="auto">
              <a:xfrm>
                <a:off x="2310" y="2455"/>
                <a:ext cx="3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pic>
        <p:nvPicPr>
          <p:cNvPr id="97288" name="Picture 2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713" y="512763"/>
            <a:ext cx="21764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7289" name="Group 263"/>
          <p:cNvGrpSpPr>
            <a:grpSpLocks/>
          </p:cNvGrpSpPr>
          <p:nvPr/>
        </p:nvGrpSpPr>
        <p:grpSpPr bwMode="auto">
          <a:xfrm>
            <a:off x="431800" y="1844675"/>
            <a:ext cx="1692275" cy="2189163"/>
            <a:chOff x="431" y="1162"/>
            <a:chExt cx="1247" cy="1379"/>
          </a:xfrm>
        </p:grpSpPr>
        <p:sp>
          <p:nvSpPr>
            <p:cNvPr id="97326" name="Text Box 28"/>
            <p:cNvSpPr txBox="1">
              <a:spLocks noChangeArrowheads="1"/>
            </p:cNvSpPr>
            <p:nvPr/>
          </p:nvSpPr>
          <p:spPr bwMode="auto">
            <a:xfrm>
              <a:off x="999" y="1194"/>
              <a:ext cx="6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15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7327" name="Rectangle 12"/>
            <p:cNvSpPr>
              <a:spLocks noChangeArrowheads="1"/>
            </p:cNvSpPr>
            <p:nvPr/>
          </p:nvSpPr>
          <p:spPr bwMode="auto">
            <a:xfrm>
              <a:off x="431" y="1162"/>
              <a:ext cx="463" cy="13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7328" name="Freeform 13"/>
            <p:cNvSpPr>
              <a:spLocks/>
            </p:cNvSpPr>
            <p:nvPr/>
          </p:nvSpPr>
          <p:spPr bwMode="auto">
            <a:xfrm>
              <a:off x="431" y="1162"/>
              <a:ext cx="463" cy="1379"/>
            </a:xfrm>
            <a:custGeom>
              <a:avLst/>
              <a:gdLst>
                <a:gd name="T0" fmla="*/ 0 w 624"/>
                <a:gd name="T1" fmla="*/ 0 h 1008"/>
                <a:gd name="T2" fmla="*/ 1 w 624"/>
                <a:gd name="T3" fmla="*/ 0 h 1008"/>
                <a:gd name="T4" fmla="*/ 1 w 624"/>
                <a:gd name="T5" fmla="*/ 31675 h 1008"/>
                <a:gd name="T6" fmla="*/ 0 w 624"/>
                <a:gd name="T7" fmla="*/ 31675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008"/>
                <a:gd name="T14" fmla="*/ 624 w 62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008">
                  <a:moveTo>
                    <a:pt x="0" y="0"/>
                  </a:moveTo>
                  <a:lnTo>
                    <a:pt x="624" y="0"/>
                  </a:lnTo>
                  <a:lnTo>
                    <a:pt x="624" y="1008"/>
                  </a:lnTo>
                  <a:lnTo>
                    <a:pt x="0" y="100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7329" name="Text Box 29"/>
            <p:cNvSpPr txBox="1">
              <a:spLocks noChangeArrowheads="1"/>
            </p:cNvSpPr>
            <p:nvPr/>
          </p:nvSpPr>
          <p:spPr bwMode="auto">
            <a:xfrm>
              <a:off x="1043" y="1470"/>
              <a:ext cx="6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7330" name="Group 81"/>
            <p:cNvGrpSpPr>
              <a:grpSpLocks/>
            </p:cNvGrpSpPr>
            <p:nvPr/>
          </p:nvGrpSpPr>
          <p:grpSpPr bwMode="auto">
            <a:xfrm>
              <a:off x="1086" y="1803"/>
              <a:ext cx="419" cy="708"/>
              <a:chOff x="2046" y="2690"/>
              <a:chExt cx="678" cy="708"/>
            </a:xfrm>
          </p:grpSpPr>
          <p:grpSp>
            <p:nvGrpSpPr>
              <p:cNvPr id="97338" name="Group 30"/>
              <p:cNvGrpSpPr>
                <a:grpSpLocks/>
              </p:cNvGrpSpPr>
              <p:nvPr/>
            </p:nvGrpSpPr>
            <p:grpSpPr bwMode="auto">
              <a:xfrm>
                <a:off x="2046" y="2690"/>
                <a:ext cx="678" cy="233"/>
                <a:chOff x="96" y="1680"/>
                <a:chExt cx="528" cy="203"/>
              </a:xfrm>
            </p:grpSpPr>
            <p:sp>
              <p:nvSpPr>
                <p:cNvPr id="9734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6" y="1680"/>
                  <a:ext cx="528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MEM</a:t>
                  </a:r>
                </a:p>
              </p:txBody>
            </p:sp>
            <p:sp>
              <p:nvSpPr>
                <p:cNvPr id="97346" name="Line 32"/>
                <p:cNvSpPr>
                  <a:spLocks noChangeShapeType="1"/>
                </p:cNvSpPr>
                <p:nvPr/>
              </p:nvSpPr>
              <p:spPr bwMode="auto">
                <a:xfrm>
                  <a:off x="144" y="1728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7339" name="Group 34"/>
              <p:cNvGrpSpPr>
                <a:grpSpLocks/>
              </p:cNvGrpSpPr>
              <p:nvPr/>
            </p:nvGrpSpPr>
            <p:grpSpPr bwMode="auto">
              <a:xfrm>
                <a:off x="2108" y="2925"/>
                <a:ext cx="616" cy="233"/>
                <a:chOff x="1488" y="1977"/>
                <a:chExt cx="480" cy="202"/>
              </a:xfrm>
            </p:grpSpPr>
            <p:sp>
              <p:nvSpPr>
                <p:cNvPr id="97343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RD</a:t>
                  </a:r>
                </a:p>
              </p:txBody>
            </p:sp>
            <p:sp>
              <p:nvSpPr>
                <p:cNvPr id="97344" name="Line 36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7340" name="Group 37"/>
              <p:cNvGrpSpPr>
                <a:grpSpLocks/>
              </p:cNvGrpSpPr>
              <p:nvPr/>
            </p:nvGrpSpPr>
            <p:grpSpPr bwMode="auto">
              <a:xfrm>
                <a:off x="2108" y="3165"/>
                <a:ext cx="616" cy="233"/>
                <a:chOff x="1488" y="1977"/>
                <a:chExt cx="480" cy="203"/>
              </a:xfrm>
            </p:grpSpPr>
            <p:sp>
              <p:nvSpPr>
                <p:cNvPr id="97341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WR</a:t>
                  </a:r>
                </a:p>
              </p:txBody>
            </p:sp>
            <p:sp>
              <p:nvSpPr>
                <p:cNvPr id="97342" name="Line 39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331" name="Group 260"/>
            <p:cNvGrpSpPr>
              <a:grpSpLocks/>
            </p:cNvGrpSpPr>
            <p:nvPr/>
          </p:nvGrpSpPr>
          <p:grpSpPr bwMode="auto">
            <a:xfrm>
              <a:off x="894" y="1438"/>
              <a:ext cx="739" cy="1017"/>
              <a:chOff x="876" y="1438"/>
              <a:chExt cx="995" cy="1017"/>
            </a:xfrm>
          </p:grpSpPr>
          <p:sp>
            <p:nvSpPr>
              <p:cNvPr id="97333" name="Line 24"/>
              <p:cNvSpPr>
                <a:spLocks noChangeShapeType="1"/>
              </p:cNvSpPr>
              <p:nvPr/>
            </p:nvSpPr>
            <p:spPr bwMode="auto">
              <a:xfrm>
                <a:off x="876" y="1438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334" name="Line 25"/>
              <p:cNvSpPr>
                <a:spLocks noChangeShapeType="1"/>
              </p:cNvSpPr>
              <p:nvPr/>
            </p:nvSpPr>
            <p:spPr bwMode="auto">
              <a:xfrm>
                <a:off x="876" y="1714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335" name="Line 26"/>
              <p:cNvSpPr>
                <a:spLocks noChangeShapeType="1"/>
              </p:cNvSpPr>
              <p:nvPr/>
            </p:nvSpPr>
            <p:spPr bwMode="auto">
              <a:xfrm>
                <a:off x="876" y="1989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336" name="Line 26"/>
              <p:cNvSpPr>
                <a:spLocks noChangeShapeType="1"/>
              </p:cNvSpPr>
              <p:nvPr/>
            </p:nvSpPr>
            <p:spPr bwMode="auto">
              <a:xfrm>
                <a:off x="884" y="2228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337" name="Line 26"/>
              <p:cNvSpPr>
                <a:spLocks noChangeShapeType="1"/>
              </p:cNvSpPr>
              <p:nvPr/>
            </p:nvSpPr>
            <p:spPr bwMode="auto">
              <a:xfrm>
                <a:off x="884" y="2455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7332" name="Text Box 261"/>
            <p:cNvSpPr txBox="1">
              <a:spLocks noChangeArrowheads="1"/>
            </p:cNvSpPr>
            <p:nvPr/>
          </p:nvSpPr>
          <p:spPr bwMode="auto">
            <a:xfrm>
              <a:off x="431" y="1661"/>
              <a:ext cx="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CPU</a:t>
              </a:r>
            </a:p>
          </p:txBody>
        </p:sp>
      </p:grpSp>
      <p:grpSp>
        <p:nvGrpSpPr>
          <p:cNvPr id="97290" name="Group 264"/>
          <p:cNvGrpSpPr>
            <a:grpSpLocks/>
          </p:cNvGrpSpPr>
          <p:nvPr/>
        </p:nvGrpSpPr>
        <p:grpSpPr bwMode="auto">
          <a:xfrm>
            <a:off x="2238375" y="1524000"/>
            <a:ext cx="4327525" cy="2820988"/>
            <a:chOff x="1410" y="960"/>
            <a:chExt cx="2726" cy="1777"/>
          </a:xfrm>
        </p:grpSpPr>
        <p:grpSp>
          <p:nvGrpSpPr>
            <p:cNvPr id="97291" name="Group 459"/>
            <p:cNvGrpSpPr>
              <a:grpSpLocks/>
            </p:cNvGrpSpPr>
            <p:nvPr/>
          </p:nvGrpSpPr>
          <p:grpSpPr bwMode="auto">
            <a:xfrm>
              <a:off x="1410" y="960"/>
              <a:ext cx="824" cy="269"/>
              <a:chOff x="1560" y="3675"/>
              <a:chExt cx="1485" cy="540"/>
            </a:xfrm>
          </p:grpSpPr>
          <p:sp>
            <p:nvSpPr>
              <p:cNvPr id="97322" name="Line 46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23" name="Group 46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24" name="Text Box 46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CS0</a:t>
                  </a:r>
                </a:p>
              </p:txBody>
            </p:sp>
            <p:sp>
              <p:nvSpPr>
                <p:cNvPr id="97325" name="Line 46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2" name="Group 464"/>
            <p:cNvGrpSpPr>
              <a:grpSpLocks/>
            </p:cNvGrpSpPr>
            <p:nvPr/>
          </p:nvGrpSpPr>
          <p:grpSpPr bwMode="auto">
            <a:xfrm>
              <a:off x="1427" y="1409"/>
              <a:ext cx="824" cy="269"/>
              <a:chOff x="1560" y="3675"/>
              <a:chExt cx="1485" cy="540"/>
            </a:xfrm>
          </p:grpSpPr>
          <p:sp>
            <p:nvSpPr>
              <p:cNvPr id="97318" name="Line 46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19" name="Group 46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20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7321" name="Line 46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3" name="Group 469"/>
            <p:cNvGrpSpPr>
              <a:grpSpLocks/>
            </p:cNvGrpSpPr>
            <p:nvPr/>
          </p:nvGrpSpPr>
          <p:grpSpPr bwMode="auto">
            <a:xfrm>
              <a:off x="3300" y="1409"/>
              <a:ext cx="824" cy="269"/>
              <a:chOff x="1560" y="3675"/>
              <a:chExt cx="1485" cy="540"/>
            </a:xfrm>
          </p:grpSpPr>
          <p:sp>
            <p:nvSpPr>
              <p:cNvPr id="97314" name="Line 47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15" name="Group 47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16" name="Text Box 47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7317" name="Line 47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4" name="Group 474"/>
            <p:cNvGrpSpPr>
              <a:grpSpLocks/>
            </p:cNvGrpSpPr>
            <p:nvPr/>
          </p:nvGrpSpPr>
          <p:grpSpPr bwMode="auto">
            <a:xfrm>
              <a:off x="1430" y="1921"/>
              <a:ext cx="824" cy="270"/>
              <a:chOff x="1560" y="3675"/>
              <a:chExt cx="1485" cy="540"/>
            </a:xfrm>
          </p:grpSpPr>
          <p:sp>
            <p:nvSpPr>
              <p:cNvPr id="97310" name="Line 47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11" name="Group 47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12" name="Text Box 47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7313" name="Line 47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5" name="Group 479"/>
            <p:cNvGrpSpPr>
              <a:grpSpLocks/>
            </p:cNvGrpSpPr>
            <p:nvPr/>
          </p:nvGrpSpPr>
          <p:grpSpPr bwMode="auto">
            <a:xfrm>
              <a:off x="3311" y="1929"/>
              <a:ext cx="825" cy="269"/>
              <a:chOff x="1560" y="3675"/>
              <a:chExt cx="1485" cy="540"/>
            </a:xfrm>
          </p:grpSpPr>
          <p:sp>
            <p:nvSpPr>
              <p:cNvPr id="97306" name="Line 48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07" name="Group 48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08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7309" name="Line 48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6" name="Group 484"/>
            <p:cNvGrpSpPr>
              <a:grpSpLocks/>
            </p:cNvGrpSpPr>
            <p:nvPr/>
          </p:nvGrpSpPr>
          <p:grpSpPr bwMode="auto">
            <a:xfrm>
              <a:off x="1422" y="2467"/>
              <a:ext cx="824" cy="270"/>
              <a:chOff x="1560" y="3675"/>
              <a:chExt cx="1485" cy="540"/>
            </a:xfrm>
          </p:grpSpPr>
          <p:sp>
            <p:nvSpPr>
              <p:cNvPr id="97302" name="Line 48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03" name="Group 48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04" name="Text Box 48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7305" name="Line 48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7" name="Group 489"/>
            <p:cNvGrpSpPr>
              <a:grpSpLocks/>
            </p:cNvGrpSpPr>
            <p:nvPr/>
          </p:nvGrpSpPr>
          <p:grpSpPr bwMode="auto">
            <a:xfrm>
              <a:off x="3311" y="2467"/>
              <a:ext cx="825" cy="270"/>
              <a:chOff x="1560" y="3675"/>
              <a:chExt cx="1485" cy="540"/>
            </a:xfrm>
          </p:grpSpPr>
          <p:sp>
            <p:nvSpPr>
              <p:cNvPr id="97298" name="Line 49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299" name="Group 49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00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7301" name="Line 49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46"/>
          <p:cNvSpPr>
            <a:spLocks noChangeArrowheads="1"/>
          </p:cNvSpPr>
          <p:nvPr/>
        </p:nvSpPr>
        <p:spPr bwMode="auto">
          <a:xfrm>
            <a:off x="0" y="1360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8307" name="Text Box 311"/>
          <p:cNvSpPr txBox="1">
            <a:spLocks noChangeArrowheads="1"/>
          </p:cNvSpPr>
          <p:nvPr/>
        </p:nvSpPr>
        <p:spPr bwMode="auto">
          <a:xfrm>
            <a:off x="2185988" y="47625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Times New Roman" pitchFamily="18" charset="0"/>
                <a:ea typeface="宋体" charset="-122"/>
              </a:rPr>
              <a:t>A</a:t>
            </a:r>
            <a:r>
              <a:rPr lang="en-US" altLang="zh-CN" sz="1800" baseline="-25000">
                <a:latin typeface="Times New Roman" pitchFamily="18" charset="0"/>
                <a:ea typeface="宋体" charset="-122"/>
              </a:rPr>
              <a:t>10-0</a:t>
            </a:r>
            <a:endParaRPr lang="en-US" altLang="zh-CN" sz="180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98308" name="Group 312"/>
          <p:cNvGrpSpPr>
            <a:grpSpLocks/>
          </p:cNvGrpSpPr>
          <p:nvPr/>
        </p:nvGrpSpPr>
        <p:grpSpPr bwMode="auto">
          <a:xfrm>
            <a:off x="3427413" y="1293813"/>
            <a:ext cx="1836737" cy="671512"/>
            <a:chOff x="2910" y="2805"/>
            <a:chExt cx="2085" cy="848"/>
          </a:xfrm>
        </p:grpSpPr>
        <p:sp>
          <p:nvSpPr>
            <p:cNvPr id="98476" name="Rectangle 313"/>
            <p:cNvSpPr>
              <a:spLocks noChangeArrowheads="1"/>
            </p:cNvSpPr>
            <p:nvPr/>
          </p:nvSpPr>
          <p:spPr bwMode="auto">
            <a:xfrm>
              <a:off x="3168" y="2805"/>
              <a:ext cx="1659" cy="84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8477" name="Text Box 314"/>
            <p:cNvSpPr txBox="1">
              <a:spLocks noChangeArrowheads="1"/>
            </p:cNvSpPr>
            <p:nvPr/>
          </p:nvSpPr>
          <p:spPr bwMode="auto">
            <a:xfrm>
              <a:off x="3538" y="2954"/>
              <a:ext cx="964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2K</a:t>
              </a:r>
              <a:r>
                <a:rPr lang="en-US" altLang="zh-CN" sz="1200">
                  <a:latin typeface="Times New Roman" pitchFamily="18" charset="0"/>
                  <a:ea typeface="宋体" charset="-122"/>
                  <a:sym typeface="Symbol" pitchFamily="18" charset="2"/>
                </a:rPr>
                <a:t></a:t>
              </a:r>
              <a:r>
                <a:rPr lang="en-US" altLang="zh-CN" sz="1200">
                  <a:latin typeface="Times New Roman" pitchFamily="18" charset="0"/>
                  <a:ea typeface="宋体" charset="-122"/>
                </a:rPr>
                <a:t>8</a:t>
              </a:r>
            </a:p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U0</a:t>
              </a:r>
            </a:p>
          </p:txBody>
        </p:sp>
        <p:grpSp>
          <p:nvGrpSpPr>
            <p:cNvPr id="98478" name="Group 315"/>
            <p:cNvGrpSpPr>
              <a:grpSpLocks/>
            </p:cNvGrpSpPr>
            <p:nvPr/>
          </p:nvGrpSpPr>
          <p:grpSpPr bwMode="auto">
            <a:xfrm>
              <a:off x="2910" y="2865"/>
              <a:ext cx="852" cy="485"/>
              <a:chOff x="2895" y="2097"/>
              <a:chExt cx="1140" cy="546"/>
            </a:xfrm>
          </p:grpSpPr>
          <p:sp>
            <p:nvSpPr>
              <p:cNvPr id="98482" name="Line 316"/>
              <p:cNvSpPr>
                <a:spLocks noChangeShapeType="1"/>
              </p:cNvSpPr>
              <p:nvPr/>
            </p:nvSpPr>
            <p:spPr bwMode="auto">
              <a:xfrm flipV="1">
                <a:off x="2895" y="2320"/>
                <a:ext cx="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483" name="Text Box 317"/>
              <p:cNvSpPr txBox="1">
                <a:spLocks noChangeArrowheads="1"/>
              </p:cNvSpPr>
              <p:nvPr/>
            </p:nvSpPr>
            <p:spPr bwMode="auto">
              <a:xfrm>
                <a:off x="3060" y="2097"/>
                <a:ext cx="975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10-0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8479" name="Text Box 318"/>
            <p:cNvSpPr txBox="1">
              <a:spLocks noChangeArrowheads="1"/>
            </p:cNvSpPr>
            <p:nvPr/>
          </p:nvSpPr>
          <p:spPr bwMode="auto">
            <a:xfrm>
              <a:off x="2977" y="3132"/>
              <a:ext cx="729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CS</a:t>
              </a:r>
            </a:p>
          </p:txBody>
        </p:sp>
        <p:sp>
          <p:nvSpPr>
            <p:cNvPr id="98480" name="Oval 319"/>
            <p:cNvSpPr>
              <a:spLocks noChangeArrowheads="1"/>
            </p:cNvSpPr>
            <p:nvPr/>
          </p:nvSpPr>
          <p:spPr bwMode="auto">
            <a:xfrm>
              <a:off x="3078" y="3278"/>
              <a:ext cx="90" cy="9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8481" name="Text Box 320"/>
            <p:cNvSpPr txBox="1">
              <a:spLocks noChangeArrowheads="1"/>
            </p:cNvSpPr>
            <p:nvPr/>
          </p:nvSpPr>
          <p:spPr bwMode="auto">
            <a:xfrm>
              <a:off x="4266" y="3023"/>
              <a:ext cx="729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D</a:t>
              </a:r>
              <a:r>
                <a:rPr lang="en-US" altLang="zh-CN" sz="1200" baseline="-25000">
                  <a:latin typeface="Times New Roman" pitchFamily="18" charset="0"/>
                  <a:ea typeface="宋体" charset="-122"/>
                </a:rPr>
                <a:t>7-0</a:t>
              </a:r>
              <a:endParaRPr lang="en-US" altLang="zh-CN" sz="120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8309" name="Group 321"/>
          <p:cNvGrpSpPr>
            <a:grpSpLocks/>
          </p:cNvGrpSpPr>
          <p:nvPr/>
        </p:nvGrpSpPr>
        <p:grpSpPr bwMode="auto">
          <a:xfrm>
            <a:off x="3427413" y="2065338"/>
            <a:ext cx="1836737" cy="2551112"/>
            <a:chOff x="2910" y="4360"/>
            <a:chExt cx="2085" cy="3221"/>
          </a:xfrm>
        </p:grpSpPr>
        <p:grpSp>
          <p:nvGrpSpPr>
            <p:cNvPr id="98434" name="Group 322"/>
            <p:cNvGrpSpPr>
              <a:grpSpLocks/>
            </p:cNvGrpSpPr>
            <p:nvPr/>
          </p:nvGrpSpPr>
          <p:grpSpPr bwMode="auto">
            <a:xfrm>
              <a:off x="2910" y="4360"/>
              <a:ext cx="2085" cy="1091"/>
              <a:chOff x="2910" y="3780"/>
              <a:chExt cx="2085" cy="1091"/>
            </a:xfrm>
          </p:grpSpPr>
          <p:sp>
            <p:nvSpPr>
              <p:cNvPr id="98463" name="Rectangle 323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64" name="Text Box 324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U2</a:t>
                </a:r>
              </a:p>
            </p:txBody>
          </p:sp>
          <p:grpSp>
            <p:nvGrpSpPr>
              <p:cNvPr id="98465" name="Group 325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74" name="Line 326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75" name="Text Box 327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466" name="Text Box 328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467" name="Text Box 329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68" name="Oval 330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69" name="Text Box 331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70" name="Oval 332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71" name="Group 333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72" name="Text Box 334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73" name="Oval 335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8435" name="Group 336"/>
            <p:cNvGrpSpPr>
              <a:grpSpLocks/>
            </p:cNvGrpSpPr>
            <p:nvPr/>
          </p:nvGrpSpPr>
          <p:grpSpPr bwMode="auto">
            <a:xfrm>
              <a:off x="2910" y="5410"/>
              <a:ext cx="2085" cy="1091"/>
              <a:chOff x="2910" y="3780"/>
              <a:chExt cx="2085" cy="1091"/>
            </a:xfrm>
          </p:grpSpPr>
          <p:sp>
            <p:nvSpPr>
              <p:cNvPr id="98450" name="Rectangle 337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51" name="Text Box 338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U4</a:t>
                </a:r>
              </a:p>
            </p:txBody>
          </p:sp>
          <p:grpSp>
            <p:nvGrpSpPr>
              <p:cNvPr id="98452" name="Group 339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61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62" name="Text Box 341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453" name="Text Box 342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454" name="Text Box 343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55" name="Oval 344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56" name="Text Box 345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57" name="Oval 346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58" name="Group 347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59" name="Text Box 348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60" name="Oval 349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8436" name="Group 350"/>
            <p:cNvGrpSpPr>
              <a:grpSpLocks/>
            </p:cNvGrpSpPr>
            <p:nvPr/>
          </p:nvGrpSpPr>
          <p:grpSpPr bwMode="auto">
            <a:xfrm>
              <a:off x="2910" y="6490"/>
              <a:ext cx="2085" cy="1091"/>
              <a:chOff x="2910" y="3780"/>
              <a:chExt cx="2085" cy="1091"/>
            </a:xfrm>
          </p:grpSpPr>
          <p:sp>
            <p:nvSpPr>
              <p:cNvPr id="98437" name="Rectangle 351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38" name="Text Box 352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U6</a:t>
                </a:r>
              </a:p>
            </p:txBody>
          </p:sp>
          <p:grpSp>
            <p:nvGrpSpPr>
              <p:cNvPr id="98439" name="Group 353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48" name="Line 354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49" name="Text Box 355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440" name="Text Box 356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441" name="Text Box 357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42" name="Oval 358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43" name="Text Box 359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44" name="Oval 360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45" name="Group 361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46" name="Text Box 362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47" name="Oval 363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8310" name="Group 364"/>
          <p:cNvGrpSpPr>
            <a:grpSpLocks/>
          </p:cNvGrpSpPr>
          <p:nvPr/>
        </p:nvGrpSpPr>
        <p:grpSpPr bwMode="auto">
          <a:xfrm>
            <a:off x="6415088" y="2065338"/>
            <a:ext cx="1836737" cy="2551112"/>
            <a:chOff x="5640" y="4360"/>
            <a:chExt cx="2085" cy="3221"/>
          </a:xfrm>
        </p:grpSpPr>
        <p:grpSp>
          <p:nvGrpSpPr>
            <p:cNvPr id="98392" name="Group 365"/>
            <p:cNvGrpSpPr>
              <a:grpSpLocks/>
            </p:cNvGrpSpPr>
            <p:nvPr/>
          </p:nvGrpSpPr>
          <p:grpSpPr bwMode="auto">
            <a:xfrm>
              <a:off x="5640" y="4360"/>
              <a:ext cx="2085" cy="1091"/>
              <a:chOff x="2910" y="3780"/>
              <a:chExt cx="2085" cy="1091"/>
            </a:xfrm>
          </p:grpSpPr>
          <p:sp>
            <p:nvSpPr>
              <p:cNvPr id="98421" name="Rectangle 366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22" name="Text Box 367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U1</a:t>
                </a:r>
              </a:p>
            </p:txBody>
          </p:sp>
          <p:grpSp>
            <p:nvGrpSpPr>
              <p:cNvPr id="98423" name="Group 368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32" name="Line 369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33" name="Text Box 370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424" name="Text Box 371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425" name="Text Box 372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26" name="Oval 373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27" name="Text Box 374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28" name="Oval 375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29" name="Group 376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30" name="Text Box 377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31" name="Oval 378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8393" name="Group 379"/>
            <p:cNvGrpSpPr>
              <a:grpSpLocks/>
            </p:cNvGrpSpPr>
            <p:nvPr/>
          </p:nvGrpSpPr>
          <p:grpSpPr bwMode="auto">
            <a:xfrm>
              <a:off x="5640" y="5410"/>
              <a:ext cx="2085" cy="1091"/>
              <a:chOff x="2910" y="3780"/>
              <a:chExt cx="2085" cy="1091"/>
            </a:xfrm>
          </p:grpSpPr>
          <p:sp>
            <p:nvSpPr>
              <p:cNvPr id="98408" name="Rectangle 380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09" name="Text Box 381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U3</a:t>
                </a:r>
              </a:p>
            </p:txBody>
          </p:sp>
          <p:grpSp>
            <p:nvGrpSpPr>
              <p:cNvPr id="98410" name="Group 382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19" name="Line 383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20" name="Text Box 384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411" name="Text Box 385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412" name="Text Box 386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13" name="Oval 387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14" name="Text Box 388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15" name="Oval 389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16" name="Group 390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17" name="Text Box 391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18" name="Oval 392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8394" name="Group 393"/>
            <p:cNvGrpSpPr>
              <a:grpSpLocks/>
            </p:cNvGrpSpPr>
            <p:nvPr/>
          </p:nvGrpSpPr>
          <p:grpSpPr bwMode="auto">
            <a:xfrm>
              <a:off x="5640" y="6490"/>
              <a:ext cx="2085" cy="1091"/>
              <a:chOff x="2910" y="3780"/>
              <a:chExt cx="2085" cy="1091"/>
            </a:xfrm>
          </p:grpSpPr>
          <p:sp>
            <p:nvSpPr>
              <p:cNvPr id="98395" name="Rectangle 394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396" name="Text Box 395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U5</a:t>
                </a:r>
              </a:p>
            </p:txBody>
          </p:sp>
          <p:grpSp>
            <p:nvGrpSpPr>
              <p:cNvPr id="98397" name="Group 396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06" name="Line 397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07" name="Text Box 398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398" name="Text Box 399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399" name="Text Box 400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00" name="Oval 401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01" name="Text Box 402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02" name="Oval 403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03" name="Group 404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04" name="Text Box 405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05" name="Oval 406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8311" name="Group 407"/>
          <p:cNvGrpSpPr>
            <a:grpSpLocks/>
          </p:cNvGrpSpPr>
          <p:nvPr/>
        </p:nvGrpSpPr>
        <p:grpSpPr bwMode="auto">
          <a:xfrm>
            <a:off x="2898775" y="760413"/>
            <a:ext cx="3502025" cy="3157537"/>
            <a:chOff x="2310" y="2455"/>
            <a:chExt cx="3975" cy="4245"/>
          </a:xfrm>
        </p:grpSpPr>
        <p:sp>
          <p:nvSpPr>
            <p:cNvPr id="98388" name="Line 408"/>
            <p:cNvSpPr>
              <a:spLocks noChangeShapeType="1"/>
            </p:cNvSpPr>
            <p:nvPr/>
          </p:nvSpPr>
          <p:spPr bwMode="auto">
            <a:xfrm flipV="1">
              <a:off x="2910" y="2470"/>
              <a:ext cx="0" cy="4215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8389" name="Group 409"/>
            <p:cNvGrpSpPr>
              <a:grpSpLocks/>
            </p:cNvGrpSpPr>
            <p:nvPr/>
          </p:nvGrpSpPr>
          <p:grpSpPr bwMode="auto">
            <a:xfrm>
              <a:off x="2310" y="2455"/>
              <a:ext cx="3975" cy="4245"/>
              <a:chOff x="2310" y="2455"/>
              <a:chExt cx="3345" cy="4245"/>
            </a:xfrm>
          </p:grpSpPr>
          <p:sp>
            <p:nvSpPr>
              <p:cNvPr id="98390" name="Line 410"/>
              <p:cNvSpPr>
                <a:spLocks noChangeShapeType="1"/>
              </p:cNvSpPr>
              <p:nvPr/>
            </p:nvSpPr>
            <p:spPr bwMode="auto">
              <a:xfrm flipV="1">
                <a:off x="5640" y="2455"/>
                <a:ext cx="0" cy="4245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391" name="Line 411"/>
              <p:cNvSpPr>
                <a:spLocks noChangeShapeType="1"/>
              </p:cNvSpPr>
              <p:nvPr/>
            </p:nvSpPr>
            <p:spPr bwMode="auto">
              <a:xfrm>
                <a:off x="2310" y="2455"/>
                <a:ext cx="3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sp>
        <p:nvSpPr>
          <p:cNvPr id="98312" name="Line 443"/>
          <p:cNvSpPr>
            <a:spLocks noChangeShapeType="1"/>
          </p:cNvSpPr>
          <p:nvPr/>
        </p:nvSpPr>
        <p:spPr bwMode="auto">
          <a:xfrm>
            <a:off x="5119688" y="41830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13" name="Line 444"/>
          <p:cNvSpPr>
            <a:spLocks noChangeShapeType="1"/>
          </p:cNvSpPr>
          <p:nvPr/>
        </p:nvSpPr>
        <p:spPr bwMode="auto">
          <a:xfrm>
            <a:off x="5119688" y="246221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14" name="Line 445"/>
          <p:cNvSpPr>
            <a:spLocks noChangeShapeType="1"/>
          </p:cNvSpPr>
          <p:nvPr/>
        </p:nvSpPr>
        <p:spPr bwMode="auto">
          <a:xfrm>
            <a:off x="5119688" y="330517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8315" name="Group 446"/>
          <p:cNvGrpSpPr>
            <a:grpSpLocks/>
          </p:cNvGrpSpPr>
          <p:nvPr/>
        </p:nvGrpSpPr>
        <p:grpSpPr bwMode="auto">
          <a:xfrm>
            <a:off x="2833688" y="1749425"/>
            <a:ext cx="2616200" cy="2909888"/>
            <a:chOff x="2235" y="3960"/>
            <a:chExt cx="2970" cy="3870"/>
          </a:xfrm>
        </p:grpSpPr>
        <p:sp>
          <p:nvSpPr>
            <p:cNvPr id="98386" name="Line 447"/>
            <p:cNvSpPr>
              <a:spLocks noChangeShapeType="1"/>
            </p:cNvSpPr>
            <p:nvPr/>
          </p:nvSpPr>
          <p:spPr bwMode="auto">
            <a:xfrm>
              <a:off x="2235" y="7815"/>
              <a:ext cx="297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87" name="Line 448"/>
            <p:cNvSpPr>
              <a:spLocks noChangeShapeType="1"/>
            </p:cNvSpPr>
            <p:nvPr/>
          </p:nvSpPr>
          <p:spPr bwMode="auto">
            <a:xfrm flipV="1">
              <a:off x="5175" y="3960"/>
              <a:ext cx="0" cy="387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98316" name="Line 449"/>
          <p:cNvSpPr>
            <a:spLocks noChangeShapeType="1"/>
          </p:cNvSpPr>
          <p:nvPr/>
        </p:nvSpPr>
        <p:spPr bwMode="auto">
          <a:xfrm>
            <a:off x="5132388" y="1758950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17" name="Line 450"/>
          <p:cNvSpPr>
            <a:spLocks noChangeShapeType="1"/>
          </p:cNvSpPr>
          <p:nvPr/>
        </p:nvSpPr>
        <p:spPr bwMode="auto">
          <a:xfrm>
            <a:off x="8105775" y="41957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18" name="Line 451"/>
          <p:cNvSpPr>
            <a:spLocks noChangeShapeType="1"/>
          </p:cNvSpPr>
          <p:nvPr/>
        </p:nvSpPr>
        <p:spPr bwMode="auto">
          <a:xfrm>
            <a:off x="8105775" y="247332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19" name="Line 452"/>
          <p:cNvSpPr>
            <a:spLocks noChangeShapeType="1"/>
          </p:cNvSpPr>
          <p:nvPr/>
        </p:nvSpPr>
        <p:spPr bwMode="auto">
          <a:xfrm>
            <a:off x="8105775" y="3316288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8320" name="Group 453"/>
          <p:cNvGrpSpPr>
            <a:grpSpLocks/>
          </p:cNvGrpSpPr>
          <p:nvPr/>
        </p:nvGrpSpPr>
        <p:grpSpPr bwMode="auto">
          <a:xfrm>
            <a:off x="2833688" y="1666875"/>
            <a:ext cx="5562600" cy="3133725"/>
            <a:chOff x="2235" y="3855"/>
            <a:chExt cx="6315" cy="4230"/>
          </a:xfrm>
        </p:grpSpPr>
        <p:sp>
          <p:nvSpPr>
            <p:cNvPr id="98384" name="Line 454"/>
            <p:cNvSpPr>
              <a:spLocks noChangeShapeType="1"/>
            </p:cNvSpPr>
            <p:nvPr/>
          </p:nvSpPr>
          <p:spPr bwMode="auto">
            <a:xfrm>
              <a:off x="2235" y="8070"/>
              <a:ext cx="63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85" name="Line 455"/>
            <p:cNvSpPr>
              <a:spLocks noChangeShapeType="1"/>
            </p:cNvSpPr>
            <p:nvPr/>
          </p:nvSpPr>
          <p:spPr bwMode="auto">
            <a:xfrm flipV="1">
              <a:off x="8550" y="3855"/>
              <a:ext cx="0" cy="423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98321" name="Line 456"/>
          <p:cNvSpPr>
            <a:spLocks noChangeShapeType="1"/>
          </p:cNvSpPr>
          <p:nvPr/>
        </p:nvSpPr>
        <p:spPr bwMode="auto">
          <a:xfrm>
            <a:off x="5132388" y="1701800"/>
            <a:ext cx="32512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22" name="Text Box 457"/>
          <p:cNvSpPr txBox="1">
            <a:spLocks noChangeArrowheads="1"/>
          </p:cNvSpPr>
          <p:nvPr/>
        </p:nvSpPr>
        <p:spPr bwMode="auto">
          <a:xfrm>
            <a:off x="2171700" y="4395788"/>
            <a:ext cx="7794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>
                <a:latin typeface="Times New Roman" pitchFamily="18" charset="0"/>
                <a:ea typeface="宋体" charset="-122"/>
              </a:rPr>
              <a:t>7-4</a:t>
            </a:r>
            <a:endParaRPr lang="en-US" altLang="zh-CN" sz="1800">
              <a:latin typeface="Times New Roman" pitchFamily="18" charset="0"/>
              <a:ea typeface="宋体" charset="-122"/>
            </a:endParaRPr>
          </a:p>
        </p:txBody>
      </p:sp>
      <p:sp>
        <p:nvSpPr>
          <p:cNvPr id="98323" name="Text Box 458"/>
          <p:cNvSpPr txBox="1">
            <a:spLocks noChangeArrowheads="1"/>
          </p:cNvSpPr>
          <p:nvPr/>
        </p:nvSpPr>
        <p:spPr bwMode="auto">
          <a:xfrm>
            <a:off x="2185988" y="459740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>
                <a:latin typeface="Times New Roman" pitchFamily="18" charset="0"/>
                <a:ea typeface="宋体" charset="-122"/>
              </a:rPr>
              <a:t>3-0</a:t>
            </a:r>
            <a:endParaRPr lang="en-US" altLang="zh-CN" sz="1800">
              <a:latin typeface="Times New Roman" pitchFamily="18" charset="0"/>
              <a:ea typeface="宋体" charset="-122"/>
            </a:endParaRPr>
          </a:p>
        </p:txBody>
      </p:sp>
      <p:pic>
        <p:nvPicPr>
          <p:cNvPr id="98324" name="Picture 2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713" y="512763"/>
            <a:ext cx="21764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25" name="Picture 23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4760913"/>
            <a:ext cx="1427162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8326" name="Group 171"/>
          <p:cNvGrpSpPr>
            <a:grpSpLocks/>
          </p:cNvGrpSpPr>
          <p:nvPr/>
        </p:nvGrpSpPr>
        <p:grpSpPr bwMode="auto">
          <a:xfrm>
            <a:off x="431800" y="1844675"/>
            <a:ext cx="1692275" cy="2189163"/>
            <a:chOff x="431" y="1162"/>
            <a:chExt cx="1247" cy="1379"/>
          </a:xfrm>
        </p:grpSpPr>
        <p:sp>
          <p:nvSpPr>
            <p:cNvPr id="98363" name="Text Box 28"/>
            <p:cNvSpPr txBox="1">
              <a:spLocks noChangeArrowheads="1"/>
            </p:cNvSpPr>
            <p:nvPr/>
          </p:nvSpPr>
          <p:spPr bwMode="auto">
            <a:xfrm>
              <a:off x="999" y="1194"/>
              <a:ext cx="6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15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64" name="Rectangle 12"/>
            <p:cNvSpPr>
              <a:spLocks noChangeArrowheads="1"/>
            </p:cNvSpPr>
            <p:nvPr/>
          </p:nvSpPr>
          <p:spPr bwMode="auto">
            <a:xfrm>
              <a:off x="431" y="1162"/>
              <a:ext cx="463" cy="13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65" name="Freeform 13"/>
            <p:cNvSpPr>
              <a:spLocks/>
            </p:cNvSpPr>
            <p:nvPr/>
          </p:nvSpPr>
          <p:spPr bwMode="auto">
            <a:xfrm>
              <a:off x="431" y="1162"/>
              <a:ext cx="463" cy="1379"/>
            </a:xfrm>
            <a:custGeom>
              <a:avLst/>
              <a:gdLst>
                <a:gd name="T0" fmla="*/ 0 w 624"/>
                <a:gd name="T1" fmla="*/ 0 h 1008"/>
                <a:gd name="T2" fmla="*/ 1 w 624"/>
                <a:gd name="T3" fmla="*/ 0 h 1008"/>
                <a:gd name="T4" fmla="*/ 1 w 624"/>
                <a:gd name="T5" fmla="*/ 31675 h 1008"/>
                <a:gd name="T6" fmla="*/ 0 w 624"/>
                <a:gd name="T7" fmla="*/ 31675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008"/>
                <a:gd name="T14" fmla="*/ 624 w 62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008">
                  <a:moveTo>
                    <a:pt x="0" y="0"/>
                  </a:moveTo>
                  <a:lnTo>
                    <a:pt x="624" y="0"/>
                  </a:lnTo>
                  <a:lnTo>
                    <a:pt x="624" y="1008"/>
                  </a:lnTo>
                  <a:lnTo>
                    <a:pt x="0" y="100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66" name="Text Box 29"/>
            <p:cNvSpPr txBox="1">
              <a:spLocks noChangeArrowheads="1"/>
            </p:cNvSpPr>
            <p:nvPr/>
          </p:nvSpPr>
          <p:spPr bwMode="auto">
            <a:xfrm>
              <a:off x="1043" y="1470"/>
              <a:ext cx="6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8367" name="Group 81"/>
            <p:cNvGrpSpPr>
              <a:grpSpLocks/>
            </p:cNvGrpSpPr>
            <p:nvPr/>
          </p:nvGrpSpPr>
          <p:grpSpPr bwMode="auto">
            <a:xfrm>
              <a:off x="1086" y="1803"/>
              <a:ext cx="419" cy="708"/>
              <a:chOff x="2046" y="2690"/>
              <a:chExt cx="678" cy="708"/>
            </a:xfrm>
          </p:grpSpPr>
          <p:grpSp>
            <p:nvGrpSpPr>
              <p:cNvPr id="98375" name="Group 30"/>
              <p:cNvGrpSpPr>
                <a:grpSpLocks/>
              </p:cNvGrpSpPr>
              <p:nvPr/>
            </p:nvGrpSpPr>
            <p:grpSpPr bwMode="auto">
              <a:xfrm>
                <a:off x="2046" y="2690"/>
                <a:ext cx="678" cy="233"/>
                <a:chOff x="96" y="1680"/>
                <a:chExt cx="528" cy="203"/>
              </a:xfrm>
            </p:grpSpPr>
            <p:sp>
              <p:nvSpPr>
                <p:cNvPr id="98382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6" y="1680"/>
                  <a:ext cx="528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MEM</a:t>
                  </a:r>
                </a:p>
              </p:txBody>
            </p:sp>
            <p:sp>
              <p:nvSpPr>
                <p:cNvPr id="98383" name="Line 32"/>
                <p:cNvSpPr>
                  <a:spLocks noChangeShapeType="1"/>
                </p:cNvSpPr>
                <p:nvPr/>
              </p:nvSpPr>
              <p:spPr bwMode="auto">
                <a:xfrm>
                  <a:off x="144" y="1728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8376" name="Group 34"/>
              <p:cNvGrpSpPr>
                <a:grpSpLocks/>
              </p:cNvGrpSpPr>
              <p:nvPr/>
            </p:nvGrpSpPr>
            <p:grpSpPr bwMode="auto">
              <a:xfrm>
                <a:off x="2108" y="2925"/>
                <a:ext cx="616" cy="233"/>
                <a:chOff x="1488" y="1977"/>
                <a:chExt cx="480" cy="202"/>
              </a:xfrm>
            </p:grpSpPr>
            <p:sp>
              <p:nvSpPr>
                <p:cNvPr id="98380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RD</a:t>
                  </a:r>
                </a:p>
              </p:txBody>
            </p:sp>
            <p:sp>
              <p:nvSpPr>
                <p:cNvPr id="98381" name="Line 36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8377" name="Group 37"/>
              <p:cNvGrpSpPr>
                <a:grpSpLocks/>
              </p:cNvGrpSpPr>
              <p:nvPr/>
            </p:nvGrpSpPr>
            <p:grpSpPr bwMode="auto">
              <a:xfrm>
                <a:off x="2108" y="3165"/>
                <a:ext cx="616" cy="233"/>
                <a:chOff x="1488" y="1977"/>
                <a:chExt cx="480" cy="203"/>
              </a:xfrm>
            </p:grpSpPr>
            <p:sp>
              <p:nvSpPr>
                <p:cNvPr id="98378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WR</a:t>
                  </a:r>
                </a:p>
              </p:txBody>
            </p:sp>
            <p:sp>
              <p:nvSpPr>
                <p:cNvPr id="98379" name="Line 39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68" name="Group 186"/>
            <p:cNvGrpSpPr>
              <a:grpSpLocks/>
            </p:cNvGrpSpPr>
            <p:nvPr/>
          </p:nvGrpSpPr>
          <p:grpSpPr bwMode="auto">
            <a:xfrm>
              <a:off x="894" y="1438"/>
              <a:ext cx="739" cy="1017"/>
              <a:chOff x="876" y="1438"/>
              <a:chExt cx="995" cy="1017"/>
            </a:xfrm>
          </p:grpSpPr>
          <p:sp>
            <p:nvSpPr>
              <p:cNvPr id="98370" name="Line 24"/>
              <p:cNvSpPr>
                <a:spLocks noChangeShapeType="1"/>
              </p:cNvSpPr>
              <p:nvPr/>
            </p:nvSpPr>
            <p:spPr bwMode="auto">
              <a:xfrm>
                <a:off x="876" y="1438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371" name="Line 25"/>
              <p:cNvSpPr>
                <a:spLocks noChangeShapeType="1"/>
              </p:cNvSpPr>
              <p:nvPr/>
            </p:nvSpPr>
            <p:spPr bwMode="auto">
              <a:xfrm>
                <a:off x="876" y="1714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372" name="Line 26"/>
              <p:cNvSpPr>
                <a:spLocks noChangeShapeType="1"/>
              </p:cNvSpPr>
              <p:nvPr/>
            </p:nvSpPr>
            <p:spPr bwMode="auto">
              <a:xfrm>
                <a:off x="876" y="1989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373" name="Line 26"/>
              <p:cNvSpPr>
                <a:spLocks noChangeShapeType="1"/>
              </p:cNvSpPr>
              <p:nvPr/>
            </p:nvSpPr>
            <p:spPr bwMode="auto">
              <a:xfrm>
                <a:off x="884" y="2228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374" name="Line 26"/>
              <p:cNvSpPr>
                <a:spLocks noChangeShapeType="1"/>
              </p:cNvSpPr>
              <p:nvPr/>
            </p:nvSpPr>
            <p:spPr bwMode="auto">
              <a:xfrm>
                <a:off x="884" y="2455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8369" name="Text Box 192"/>
            <p:cNvSpPr txBox="1">
              <a:spLocks noChangeArrowheads="1"/>
            </p:cNvSpPr>
            <p:nvPr/>
          </p:nvSpPr>
          <p:spPr bwMode="auto">
            <a:xfrm>
              <a:off x="431" y="1661"/>
              <a:ext cx="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CPU</a:t>
              </a:r>
            </a:p>
          </p:txBody>
        </p:sp>
      </p:grpSp>
      <p:grpSp>
        <p:nvGrpSpPr>
          <p:cNvPr id="98327" name="Group 193"/>
          <p:cNvGrpSpPr>
            <a:grpSpLocks/>
          </p:cNvGrpSpPr>
          <p:nvPr/>
        </p:nvGrpSpPr>
        <p:grpSpPr bwMode="auto">
          <a:xfrm>
            <a:off x="2238375" y="1524000"/>
            <a:ext cx="4327525" cy="2820988"/>
            <a:chOff x="1410" y="960"/>
            <a:chExt cx="2726" cy="1777"/>
          </a:xfrm>
        </p:grpSpPr>
        <p:grpSp>
          <p:nvGrpSpPr>
            <p:cNvPr id="98328" name="Group 459"/>
            <p:cNvGrpSpPr>
              <a:grpSpLocks/>
            </p:cNvGrpSpPr>
            <p:nvPr/>
          </p:nvGrpSpPr>
          <p:grpSpPr bwMode="auto">
            <a:xfrm>
              <a:off x="1410" y="960"/>
              <a:ext cx="824" cy="269"/>
              <a:chOff x="1560" y="3675"/>
              <a:chExt cx="1485" cy="540"/>
            </a:xfrm>
          </p:grpSpPr>
          <p:sp>
            <p:nvSpPr>
              <p:cNvPr id="98359" name="Line 46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60" name="Group 46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61" name="Text Box 46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CS0</a:t>
                  </a:r>
                </a:p>
              </p:txBody>
            </p:sp>
            <p:sp>
              <p:nvSpPr>
                <p:cNvPr id="98362" name="Line 46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29" name="Group 464"/>
            <p:cNvGrpSpPr>
              <a:grpSpLocks/>
            </p:cNvGrpSpPr>
            <p:nvPr/>
          </p:nvGrpSpPr>
          <p:grpSpPr bwMode="auto">
            <a:xfrm>
              <a:off x="1427" y="1409"/>
              <a:ext cx="824" cy="269"/>
              <a:chOff x="1560" y="3675"/>
              <a:chExt cx="1485" cy="540"/>
            </a:xfrm>
          </p:grpSpPr>
          <p:sp>
            <p:nvSpPr>
              <p:cNvPr id="98355" name="Line 46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56" name="Group 46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57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8358" name="Line 46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30" name="Group 469"/>
            <p:cNvGrpSpPr>
              <a:grpSpLocks/>
            </p:cNvGrpSpPr>
            <p:nvPr/>
          </p:nvGrpSpPr>
          <p:grpSpPr bwMode="auto">
            <a:xfrm>
              <a:off x="3300" y="1409"/>
              <a:ext cx="824" cy="269"/>
              <a:chOff x="1560" y="3675"/>
              <a:chExt cx="1485" cy="540"/>
            </a:xfrm>
          </p:grpSpPr>
          <p:sp>
            <p:nvSpPr>
              <p:cNvPr id="98351" name="Line 47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52" name="Group 47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53" name="Text Box 47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8354" name="Line 47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31" name="Group 474"/>
            <p:cNvGrpSpPr>
              <a:grpSpLocks/>
            </p:cNvGrpSpPr>
            <p:nvPr/>
          </p:nvGrpSpPr>
          <p:grpSpPr bwMode="auto">
            <a:xfrm>
              <a:off x="1430" y="1921"/>
              <a:ext cx="824" cy="270"/>
              <a:chOff x="1560" y="3675"/>
              <a:chExt cx="1485" cy="540"/>
            </a:xfrm>
          </p:grpSpPr>
          <p:sp>
            <p:nvSpPr>
              <p:cNvPr id="98347" name="Line 47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48" name="Group 47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49" name="Text Box 47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8350" name="Line 47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32" name="Group 479"/>
            <p:cNvGrpSpPr>
              <a:grpSpLocks/>
            </p:cNvGrpSpPr>
            <p:nvPr/>
          </p:nvGrpSpPr>
          <p:grpSpPr bwMode="auto">
            <a:xfrm>
              <a:off x="3311" y="1929"/>
              <a:ext cx="825" cy="269"/>
              <a:chOff x="1560" y="3675"/>
              <a:chExt cx="1485" cy="540"/>
            </a:xfrm>
          </p:grpSpPr>
          <p:sp>
            <p:nvSpPr>
              <p:cNvPr id="98343" name="Line 48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44" name="Group 48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45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8346" name="Line 48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33" name="Group 484"/>
            <p:cNvGrpSpPr>
              <a:grpSpLocks/>
            </p:cNvGrpSpPr>
            <p:nvPr/>
          </p:nvGrpSpPr>
          <p:grpSpPr bwMode="auto">
            <a:xfrm>
              <a:off x="1422" y="2467"/>
              <a:ext cx="824" cy="270"/>
              <a:chOff x="1560" y="3675"/>
              <a:chExt cx="1485" cy="540"/>
            </a:xfrm>
          </p:grpSpPr>
          <p:sp>
            <p:nvSpPr>
              <p:cNvPr id="98339" name="Line 48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40" name="Group 48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41" name="Text Box 48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8342" name="Line 48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34" name="Group 489"/>
            <p:cNvGrpSpPr>
              <a:grpSpLocks/>
            </p:cNvGrpSpPr>
            <p:nvPr/>
          </p:nvGrpSpPr>
          <p:grpSpPr bwMode="auto">
            <a:xfrm>
              <a:off x="3311" y="2467"/>
              <a:ext cx="825" cy="270"/>
              <a:chOff x="1560" y="3675"/>
              <a:chExt cx="1485" cy="540"/>
            </a:xfrm>
          </p:grpSpPr>
          <p:sp>
            <p:nvSpPr>
              <p:cNvPr id="98335" name="Line 49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36" name="Group 49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37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8338" name="Line 49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46"/>
          <p:cNvSpPr>
            <a:spLocks noChangeArrowheads="1"/>
          </p:cNvSpPr>
          <p:nvPr/>
        </p:nvSpPr>
        <p:spPr bwMode="auto">
          <a:xfrm>
            <a:off x="0" y="1360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9331" name="Text Box 311"/>
          <p:cNvSpPr txBox="1">
            <a:spLocks noChangeArrowheads="1"/>
          </p:cNvSpPr>
          <p:nvPr/>
        </p:nvSpPr>
        <p:spPr bwMode="auto">
          <a:xfrm>
            <a:off x="2185988" y="47625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Times New Roman" pitchFamily="18" charset="0"/>
                <a:ea typeface="宋体" charset="-122"/>
              </a:rPr>
              <a:t>A</a:t>
            </a:r>
            <a:r>
              <a:rPr lang="en-US" altLang="zh-CN" sz="1800" baseline="-25000">
                <a:latin typeface="Times New Roman" pitchFamily="18" charset="0"/>
                <a:ea typeface="宋体" charset="-122"/>
              </a:rPr>
              <a:t>10-0</a:t>
            </a:r>
            <a:endParaRPr lang="en-US" altLang="zh-CN" sz="180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99332" name="Group 312"/>
          <p:cNvGrpSpPr>
            <a:grpSpLocks/>
          </p:cNvGrpSpPr>
          <p:nvPr/>
        </p:nvGrpSpPr>
        <p:grpSpPr bwMode="auto">
          <a:xfrm>
            <a:off x="3427413" y="1293813"/>
            <a:ext cx="1836737" cy="671512"/>
            <a:chOff x="2910" y="2805"/>
            <a:chExt cx="2085" cy="848"/>
          </a:xfrm>
        </p:grpSpPr>
        <p:sp>
          <p:nvSpPr>
            <p:cNvPr id="99532" name="Rectangle 313"/>
            <p:cNvSpPr>
              <a:spLocks noChangeArrowheads="1"/>
            </p:cNvSpPr>
            <p:nvPr/>
          </p:nvSpPr>
          <p:spPr bwMode="auto">
            <a:xfrm>
              <a:off x="3168" y="2805"/>
              <a:ext cx="1659" cy="84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9533" name="Text Box 314"/>
            <p:cNvSpPr txBox="1">
              <a:spLocks noChangeArrowheads="1"/>
            </p:cNvSpPr>
            <p:nvPr/>
          </p:nvSpPr>
          <p:spPr bwMode="auto">
            <a:xfrm>
              <a:off x="3538" y="2954"/>
              <a:ext cx="964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2K</a:t>
              </a:r>
              <a:r>
                <a:rPr lang="en-US" altLang="zh-CN" sz="1200">
                  <a:latin typeface="Times New Roman" pitchFamily="18" charset="0"/>
                  <a:ea typeface="宋体" charset="-122"/>
                  <a:sym typeface="Symbol" pitchFamily="18" charset="2"/>
                </a:rPr>
                <a:t></a:t>
              </a:r>
              <a:r>
                <a:rPr lang="en-US" altLang="zh-CN" sz="1200">
                  <a:latin typeface="Times New Roman" pitchFamily="18" charset="0"/>
                  <a:ea typeface="宋体" charset="-122"/>
                </a:rPr>
                <a:t>8</a:t>
              </a:r>
            </a:p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U0</a:t>
              </a:r>
            </a:p>
          </p:txBody>
        </p:sp>
        <p:grpSp>
          <p:nvGrpSpPr>
            <p:cNvPr id="99534" name="Group 315"/>
            <p:cNvGrpSpPr>
              <a:grpSpLocks/>
            </p:cNvGrpSpPr>
            <p:nvPr/>
          </p:nvGrpSpPr>
          <p:grpSpPr bwMode="auto">
            <a:xfrm>
              <a:off x="2910" y="2865"/>
              <a:ext cx="852" cy="485"/>
              <a:chOff x="2895" y="2097"/>
              <a:chExt cx="1140" cy="546"/>
            </a:xfrm>
          </p:grpSpPr>
          <p:sp>
            <p:nvSpPr>
              <p:cNvPr id="99538" name="Line 316"/>
              <p:cNvSpPr>
                <a:spLocks noChangeShapeType="1"/>
              </p:cNvSpPr>
              <p:nvPr/>
            </p:nvSpPr>
            <p:spPr bwMode="auto">
              <a:xfrm flipV="1">
                <a:off x="2895" y="2320"/>
                <a:ext cx="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539" name="Text Box 317"/>
              <p:cNvSpPr txBox="1">
                <a:spLocks noChangeArrowheads="1"/>
              </p:cNvSpPr>
              <p:nvPr/>
            </p:nvSpPr>
            <p:spPr bwMode="auto">
              <a:xfrm>
                <a:off x="3060" y="2097"/>
                <a:ext cx="975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10-0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9535" name="Text Box 318"/>
            <p:cNvSpPr txBox="1">
              <a:spLocks noChangeArrowheads="1"/>
            </p:cNvSpPr>
            <p:nvPr/>
          </p:nvSpPr>
          <p:spPr bwMode="auto">
            <a:xfrm>
              <a:off x="2977" y="3132"/>
              <a:ext cx="729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CS</a:t>
              </a:r>
            </a:p>
          </p:txBody>
        </p:sp>
        <p:sp>
          <p:nvSpPr>
            <p:cNvPr id="99536" name="Oval 319"/>
            <p:cNvSpPr>
              <a:spLocks noChangeArrowheads="1"/>
            </p:cNvSpPr>
            <p:nvPr/>
          </p:nvSpPr>
          <p:spPr bwMode="auto">
            <a:xfrm>
              <a:off x="3078" y="3278"/>
              <a:ext cx="90" cy="9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9537" name="Text Box 320"/>
            <p:cNvSpPr txBox="1">
              <a:spLocks noChangeArrowheads="1"/>
            </p:cNvSpPr>
            <p:nvPr/>
          </p:nvSpPr>
          <p:spPr bwMode="auto">
            <a:xfrm>
              <a:off x="4266" y="3023"/>
              <a:ext cx="729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D</a:t>
              </a:r>
              <a:r>
                <a:rPr lang="en-US" altLang="zh-CN" sz="1200" baseline="-25000">
                  <a:latin typeface="Times New Roman" pitchFamily="18" charset="0"/>
                  <a:ea typeface="宋体" charset="-122"/>
                </a:rPr>
                <a:t>7-0</a:t>
              </a:r>
              <a:endParaRPr lang="en-US" altLang="zh-CN" sz="120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9333" name="Group 321"/>
          <p:cNvGrpSpPr>
            <a:grpSpLocks/>
          </p:cNvGrpSpPr>
          <p:nvPr/>
        </p:nvGrpSpPr>
        <p:grpSpPr bwMode="auto">
          <a:xfrm>
            <a:off x="3427413" y="2065338"/>
            <a:ext cx="1836737" cy="2551112"/>
            <a:chOff x="2910" y="4360"/>
            <a:chExt cx="2085" cy="3221"/>
          </a:xfrm>
        </p:grpSpPr>
        <p:grpSp>
          <p:nvGrpSpPr>
            <p:cNvPr id="99490" name="Group 322"/>
            <p:cNvGrpSpPr>
              <a:grpSpLocks/>
            </p:cNvGrpSpPr>
            <p:nvPr/>
          </p:nvGrpSpPr>
          <p:grpSpPr bwMode="auto">
            <a:xfrm>
              <a:off x="2910" y="4360"/>
              <a:ext cx="2085" cy="1091"/>
              <a:chOff x="2910" y="3780"/>
              <a:chExt cx="2085" cy="1091"/>
            </a:xfrm>
          </p:grpSpPr>
          <p:sp>
            <p:nvSpPr>
              <p:cNvPr id="99519" name="Rectangle 323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520" name="Text Box 324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U2</a:t>
                </a:r>
              </a:p>
            </p:txBody>
          </p:sp>
          <p:grpSp>
            <p:nvGrpSpPr>
              <p:cNvPr id="99521" name="Group 325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530" name="Line 326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531" name="Text Box 327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522" name="Text Box 328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523" name="Text Box 329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524" name="Oval 330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525" name="Text Box 331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526" name="Oval 332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527" name="Group 333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528" name="Text Box 334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529" name="Oval 335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9491" name="Group 336"/>
            <p:cNvGrpSpPr>
              <a:grpSpLocks/>
            </p:cNvGrpSpPr>
            <p:nvPr/>
          </p:nvGrpSpPr>
          <p:grpSpPr bwMode="auto">
            <a:xfrm>
              <a:off x="2910" y="5410"/>
              <a:ext cx="2085" cy="1091"/>
              <a:chOff x="2910" y="3780"/>
              <a:chExt cx="2085" cy="1091"/>
            </a:xfrm>
          </p:grpSpPr>
          <p:sp>
            <p:nvSpPr>
              <p:cNvPr id="99506" name="Rectangle 337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507" name="Text Box 338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U4</a:t>
                </a:r>
              </a:p>
            </p:txBody>
          </p:sp>
          <p:grpSp>
            <p:nvGrpSpPr>
              <p:cNvPr id="99508" name="Group 339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517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518" name="Text Box 341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509" name="Text Box 342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510" name="Text Box 343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511" name="Oval 344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512" name="Text Box 345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513" name="Oval 346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514" name="Group 347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515" name="Text Box 348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516" name="Oval 349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9492" name="Group 350"/>
            <p:cNvGrpSpPr>
              <a:grpSpLocks/>
            </p:cNvGrpSpPr>
            <p:nvPr/>
          </p:nvGrpSpPr>
          <p:grpSpPr bwMode="auto">
            <a:xfrm>
              <a:off x="2910" y="6490"/>
              <a:ext cx="2085" cy="1091"/>
              <a:chOff x="2910" y="3780"/>
              <a:chExt cx="2085" cy="1091"/>
            </a:xfrm>
          </p:grpSpPr>
          <p:sp>
            <p:nvSpPr>
              <p:cNvPr id="99493" name="Rectangle 351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94" name="Text Box 352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U6</a:t>
                </a:r>
              </a:p>
            </p:txBody>
          </p:sp>
          <p:grpSp>
            <p:nvGrpSpPr>
              <p:cNvPr id="99495" name="Group 353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504" name="Line 354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505" name="Text Box 355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496" name="Text Box 356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497" name="Text Box 357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498" name="Oval 358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99" name="Text Box 359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500" name="Oval 360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501" name="Group 361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502" name="Text Box 362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503" name="Oval 363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9334" name="Group 364"/>
          <p:cNvGrpSpPr>
            <a:grpSpLocks/>
          </p:cNvGrpSpPr>
          <p:nvPr/>
        </p:nvGrpSpPr>
        <p:grpSpPr bwMode="auto">
          <a:xfrm>
            <a:off x="6415088" y="2065338"/>
            <a:ext cx="1836737" cy="2551112"/>
            <a:chOff x="5640" y="4360"/>
            <a:chExt cx="2085" cy="3221"/>
          </a:xfrm>
        </p:grpSpPr>
        <p:grpSp>
          <p:nvGrpSpPr>
            <p:cNvPr id="99448" name="Group 365"/>
            <p:cNvGrpSpPr>
              <a:grpSpLocks/>
            </p:cNvGrpSpPr>
            <p:nvPr/>
          </p:nvGrpSpPr>
          <p:grpSpPr bwMode="auto">
            <a:xfrm>
              <a:off x="5640" y="4360"/>
              <a:ext cx="2085" cy="1091"/>
              <a:chOff x="2910" y="3780"/>
              <a:chExt cx="2085" cy="1091"/>
            </a:xfrm>
          </p:grpSpPr>
          <p:sp>
            <p:nvSpPr>
              <p:cNvPr id="99477" name="Rectangle 366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78" name="Text Box 367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U1</a:t>
                </a:r>
              </a:p>
            </p:txBody>
          </p:sp>
          <p:grpSp>
            <p:nvGrpSpPr>
              <p:cNvPr id="99479" name="Group 368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488" name="Line 369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489" name="Text Box 370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480" name="Text Box 371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481" name="Text Box 372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482" name="Oval 373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83" name="Text Box 374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484" name="Oval 375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485" name="Group 376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486" name="Text Box 377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487" name="Oval 378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9449" name="Group 379"/>
            <p:cNvGrpSpPr>
              <a:grpSpLocks/>
            </p:cNvGrpSpPr>
            <p:nvPr/>
          </p:nvGrpSpPr>
          <p:grpSpPr bwMode="auto">
            <a:xfrm>
              <a:off x="5640" y="5410"/>
              <a:ext cx="2085" cy="1091"/>
              <a:chOff x="2910" y="3780"/>
              <a:chExt cx="2085" cy="1091"/>
            </a:xfrm>
          </p:grpSpPr>
          <p:sp>
            <p:nvSpPr>
              <p:cNvPr id="99464" name="Rectangle 380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65" name="Text Box 381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U3</a:t>
                </a:r>
              </a:p>
            </p:txBody>
          </p:sp>
          <p:grpSp>
            <p:nvGrpSpPr>
              <p:cNvPr id="99466" name="Group 382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475" name="Line 383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476" name="Text Box 384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467" name="Text Box 385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468" name="Text Box 386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469" name="Oval 387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70" name="Text Box 388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471" name="Oval 389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472" name="Group 390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473" name="Text Box 391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474" name="Oval 392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9450" name="Group 393"/>
            <p:cNvGrpSpPr>
              <a:grpSpLocks/>
            </p:cNvGrpSpPr>
            <p:nvPr/>
          </p:nvGrpSpPr>
          <p:grpSpPr bwMode="auto">
            <a:xfrm>
              <a:off x="5640" y="6490"/>
              <a:ext cx="2085" cy="1091"/>
              <a:chOff x="2910" y="3780"/>
              <a:chExt cx="2085" cy="1091"/>
            </a:xfrm>
          </p:grpSpPr>
          <p:sp>
            <p:nvSpPr>
              <p:cNvPr id="99451" name="Rectangle 394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52" name="Text Box 395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U5</a:t>
                </a:r>
              </a:p>
            </p:txBody>
          </p:sp>
          <p:grpSp>
            <p:nvGrpSpPr>
              <p:cNvPr id="99453" name="Group 396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462" name="Line 397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463" name="Text Box 398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454" name="Text Box 399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455" name="Text Box 400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456" name="Oval 401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57" name="Text Box 402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458" name="Oval 403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459" name="Group 404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460" name="Text Box 405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461" name="Oval 406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9335" name="Group 407"/>
          <p:cNvGrpSpPr>
            <a:grpSpLocks/>
          </p:cNvGrpSpPr>
          <p:nvPr/>
        </p:nvGrpSpPr>
        <p:grpSpPr bwMode="auto">
          <a:xfrm>
            <a:off x="2898775" y="760413"/>
            <a:ext cx="3502025" cy="3157537"/>
            <a:chOff x="2310" y="2455"/>
            <a:chExt cx="3975" cy="4245"/>
          </a:xfrm>
        </p:grpSpPr>
        <p:sp>
          <p:nvSpPr>
            <p:cNvPr id="99444" name="Line 408"/>
            <p:cNvSpPr>
              <a:spLocks noChangeShapeType="1"/>
            </p:cNvSpPr>
            <p:nvPr/>
          </p:nvSpPr>
          <p:spPr bwMode="auto">
            <a:xfrm flipV="1">
              <a:off x="2910" y="2470"/>
              <a:ext cx="0" cy="4215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9445" name="Group 409"/>
            <p:cNvGrpSpPr>
              <a:grpSpLocks/>
            </p:cNvGrpSpPr>
            <p:nvPr/>
          </p:nvGrpSpPr>
          <p:grpSpPr bwMode="auto">
            <a:xfrm>
              <a:off x="2310" y="2455"/>
              <a:ext cx="3975" cy="4245"/>
              <a:chOff x="2310" y="2455"/>
              <a:chExt cx="3345" cy="4245"/>
            </a:xfrm>
          </p:grpSpPr>
          <p:sp>
            <p:nvSpPr>
              <p:cNvPr id="99446" name="Line 410"/>
              <p:cNvSpPr>
                <a:spLocks noChangeShapeType="1"/>
              </p:cNvSpPr>
              <p:nvPr/>
            </p:nvSpPr>
            <p:spPr bwMode="auto">
              <a:xfrm flipV="1">
                <a:off x="5640" y="2455"/>
                <a:ext cx="0" cy="4245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47" name="Line 411"/>
              <p:cNvSpPr>
                <a:spLocks noChangeShapeType="1"/>
              </p:cNvSpPr>
              <p:nvPr/>
            </p:nvSpPr>
            <p:spPr bwMode="auto">
              <a:xfrm>
                <a:off x="2310" y="2455"/>
                <a:ext cx="3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99336" name="Group 412"/>
          <p:cNvGrpSpPr>
            <a:grpSpLocks/>
          </p:cNvGrpSpPr>
          <p:nvPr/>
        </p:nvGrpSpPr>
        <p:grpSpPr bwMode="auto">
          <a:xfrm>
            <a:off x="3295650" y="2544763"/>
            <a:ext cx="277813" cy="1685925"/>
            <a:chOff x="2790" y="4965"/>
            <a:chExt cx="285" cy="2130"/>
          </a:xfrm>
        </p:grpSpPr>
        <p:sp>
          <p:nvSpPr>
            <p:cNvPr id="99441" name="Line 413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42" name="Line 414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43" name="Line 415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37" name="Group 416"/>
          <p:cNvGrpSpPr>
            <a:grpSpLocks/>
          </p:cNvGrpSpPr>
          <p:nvPr/>
        </p:nvGrpSpPr>
        <p:grpSpPr bwMode="auto">
          <a:xfrm>
            <a:off x="6254750" y="2544763"/>
            <a:ext cx="331788" cy="1685925"/>
            <a:chOff x="2790" y="4965"/>
            <a:chExt cx="285" cy="2130"/>
          </a:xfrm>
        </p:grpSpPr>
        <p:sp>
          <p:nvSpPr>
            <p:cNvPr id="99438" name="Line 417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9" name="Line 418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40" name="Line 419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38" name="Group 420"/>
          <p:cNvGrpSpPr>
            <a:grpSpLocks/>
          </p:cNvGrpSpPr>
          <p:nvPr/>
        </p:nvGrpSpPr>
        <p:grpSpPr bwMode="auto">
          <a:xfrm>
            <a:off x="2898775" y="941388"/>
            <a:ext cx="3373438" cy="3289300"/>
            <a:chOff x="2310" y="2670"/>
            <a:chExt cx="3828" cy="4425"/>
          </a:xfrm>
        </p:grpSpPr>
        <p:sp>
          <p:nvSpPr>
            <p:cNvPr id="99435" name="Line 421"/>
            <p:cNvSpPr>
              <a:spLocks noChangeShapeType="1"/>
            </p:cNvSpPr>
            <p:nvPr/>
          </p:nvSpPr>
          <p:spPr bwMode="auto">
            <a:xfrm flipV="1">
              <a:off x="2777" y="2685"/>
              <a:ext cx="0" cy="441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6" name="Line 422"/>
            <p:cNvSpPr>
              <a:spLocks noChangeShapeType="1"/>
            </p:cNvSpPr>
            <p:nvPr/>
          </p:nvSpPr>
          <p:spPr bwMode="auto">
            <a:xfrm flipV="1">
              <a:off x="6138" y="2685"/>
              <a:ext cx="0" cy="441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7" name="Line 423"/>
            <p:cNvSpPr>
              <a:spLocks noChangeShapeType="1"/>
            </p:cNvSpPr>
            <p:nvPr/>
          </p:nvSpPr>
          <p:spPr bwMode="auto">
            <a:xfrm>
              <a:off x="2310" y="2670"/>
              <a:ext cx="3826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39" name="Group 424"/>
          <p:cNvGrpSpPr>
            <a:grpSpLocks/>
          </p:cNvGrpSpPr>
          <p:nvPr/>
        </p:nvGrpSpPr>
        <p:grpSpPr bwMode="auto">
          <a:xfrm>
            <a:off x="3163888" y="2711450"/>
            <a:ext cx="398462" cy="1685925"/>
            <a:chOff x="2790" y="4965"/>
            <a:chExt cx="285" cy="2130"/>
          </a:xfrm>
        </p:grpSpPr>
        <p:sp>
          <p:nvSpPr>
            <p:cNvPr id="99432" name="Line 425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3" name="Line 426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4" name="Line 427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40" name="Group 428"/>
          <p:cNvGrpSpPr>
            <a:grpSpLocks/>
          </p:cNvGrpSpPr>
          <p:nvPr/>
        </p:nvGrpSpPr>
        <p:grpSpPr bwMode="auto">
          <a:xfrm>
            <a:off x="6111875" y="2711450"/>
            <a:ext cx="447675" cy="1685925"/>
            <a:chOff x="2790" y="4965"/>
            <a:chExt cx="285" cy="2130"/>
          </a:xfrm>
        </p:grpSpPr>
        <p:sp>
          <p:nvSpPr>
            <p:cNvPr id="99429" name="Line 429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0" name="Line 430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1" name="Line 431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41" name="Group 432"/>
          <p:cNvGrpSpPr>
            <a:grpSpLocks/>
          </p:cNvGrpSpPr>
          <p:nvPr/>
        </p:nvGrpSpPr>
        <p:grpSpPr bwMode="auto">
          <a:xfrm>
            <a:off x="2913063" y="1108075"/>
            <a:ext cx="3235325" cy="3289300"/>
            <a:chOff x="2325" y="2865"/>
            <a:chExt cx="3673" cy="4440"/>
          </a:xfrm>
        </p:grpSpPr>
        <p:sp>
          <p:nvSpPr>
            <p:cNvPr id="99425" name="Line 433"/>
            <p:cNvSpPr>
              <a:spLocks noChangeShapeType="1"/>
            </p:cNvSpPr>
            <p:nvPr/>
          </p:nvSpPr>
          <p:spPr bwMode="auto">
            <a:xfrm flipV="1">
              <a:off x="5984" y="2895"/>
              <a:ext cx="0" cy="441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9426" name="Group 434"/>
            <p:cNvGrpSpPr>
              <a:grpSpLocks/>
            </p:cNvGrpSpPr>
            <p:nvPr/>
          </p:nvGrpSpPr>
          <p:grpSpPr bwMode="auto">
            <a:xfrm>
              <a:off x="2325" y="2865"/>
              <a:ext cx="3673" cy="4440"/>
              <a:chOff x="2325" y="2865"/>
              <a:chExt cx="3673" cy="4440"/>
            </a:xfrm>
          </p:grpSpPr>
          <p:sp>
            <p:nvSpPr>
              <p:cNvPr id="99427" name="Line 435"/>
              <p:cNvSpPr>
                <a:spLocks noChangeShapeType="1"/>
              </p:cNvSpPr>
              <p:nvPr/>
            </p:nvSpPr>
            <p:spPr bwMode="auto">
              <a:xfrm flipV="1">
                <a:off x="2634" y="2895"/>
                <a:ext cx="0" cy="441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28" name="Line 436"/>
              <p:cNvSpPr>
                <a:spLocks noChangeShapeType="1"/>
              </p:cNvSpPr>
              <p:nvPr/>
            </p:nvSpPr>
            <p:spPr bwMode="auto">
              <a:xfrm flipV="1">
                <a:off x="2325" y="2865"/>
                <a:ext cx="3673" cy="15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99342" name="Group 437"/>
          <p:cNvGrpSpPr>
            <a:grpSpLocks/>
          </p:cNvGrpSpPr>
          <p:nvPr/>
        </p:nvGrpSpPr>
        <p:grpSpPr bwMode="auto">
          <a:xfrm>
            <a:off x="2159000" y="796925"/>
            <a:ext cx="779463" cy="396875"/>
            <a:chOff x="930" y="2637"/>
            <a:chExt cx="885" cy="546"/>
          </a:xfrm>
        </p:grpSpPr>
        <p:sp>
          <p:nvSpPr>
            <p:cNvPr id="99423" name="Text Box 438"/>
            <p:cNvSpPr txBox="1">
              <a:spLocks noChangeArrowheads="1"/>
            </p:cNvSpPr>
            <p:nvPr/>
          </p:nvSpPr>
          <p:spPr bwMode="auto">
            <a:xfrm>
              <a:off x="930" y="2637"/>
              <a:ext cx="885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8000"/>
                  </a:solidFill>
                  <a:latin typeface="Times New Roman" pitchFamily="18" charset="0"/>
                  <a:ea typeface="宋体" charset="-122"/>
                </a:rPr>
                <a:t>RD</a:t>
              </a:r>
            </a:p>
          </p:txBody>
        </p:sp>
        <p:sp>
          <p:nvSpPr>
            <p:cNvPr id="99424" name="Line 439"/>
            <p:cNvSpPr>
              <a:spLocks noChangeShapeType="1"/>
            </p:cNvSpPr>
            <p:nvPr/>
          </p:nvSpPr>
          <p:spPr bwMode="auto">
            <a:xfrm>
              <a:off x="1185" y="2715"/>
              <a:ext cx="3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43" name="Group 440"/>
          <p:cNvGrpSpPr>
            <a:grpSpLocks/>
          </p:cNvGrpSpPr>
          <p:nvPr/>
        </p:nvGrpSpPr>
        <p:grpSpPr bwMode="auto">
          <a:xfrm>
            <a:off x="2171700" y="1035050"/>
            <a:ext cx="779463" cy="395288"/>
            <a:chOff x="1395" y="2967"/>
            <a:chExt cx="885" cy="501"/>
          </a:xfrm>
        </p:grpSpPr>
        <p:sp>
          <p:nvSpPr>
            <p:cNvPr id="99421" name="Text Box 441"/>
            <p:cNvSpPr txBox="1">
              <a:spLocks noChangeArrowheads="1"/>
            </p:cNvSpPr>
            <p:nvPr/>
          </p:nvSpPr>
          <p:spPr bwMode="auto">
            <a:xfrm>
              <a:off x="1395" y="2967"/>
              <a:ext cx="885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WR</a:t>
              </a:r>
            </a:p>
          </p:txBody>
        </p:sp>
        <p:sp>
          <p:nvSpPr>
            <p:cNvPr id="99422" name="Line 442"/>
            <p:cNvSpPr>
              <a:spLocks noChangeShapeType="1"/>
            </p:cNvSpPr>
            <p:nvPr/>
          </p:nvSpPr>
          <p:spPr bwMode="auto">
            <a:xfrm>
              <a:off x="1650" y="3039"/>
              <a:ext cx="37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99344" name="Line 443"/>
          <p:cNvSpPr>
            <a:spLocks noChangeShapeType="1"/>
          </p:cNvSpPr>
          <p:nvPr/>
        </p:nvSpPr>
        <p:spPr bwMode="auto">
          <a:xfrm>
            <a:off x="5119688" y="41830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45" name="Line 444"/>
          <p:cNvSpPr>
            <a:spLocks noChangeShapeType="1"/>
          </p:cNvSpPr>
          <p:nvPr/>
        </p:nvSpPr>
        <p:spPr bwMode="auto">
          <a:xfrm>
            <a:off x="5119688" y="246221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46" name="Line 445"/>
          <p:cNvSpPr>
            <a:spLocks noChangeShapeType="1"/>
          </p:cNvSpPr>
          <p:nvPr/>
        </p:nvSpPr>
        <p:spPr bwMode="auto">
          <a:xfrm>
            <a:off x="5119688" y="330517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9347" name="Group 446"/>
          <p:cNvGrpSpPr>
            <a:grpSpLocks/>
          </p:cNvGrpSpPr>
          <p:nvPr/>
        </p:nvGrpSpPr>
        <p:grpSpPr bwMode="auto">
          <a:xfrm>
            <a:off x="2833688" y="1749425"/>
            <a:ext cx="2616200" cy="2909888"/>
            <a:chOff x="2235" y="3960"/>
            <a:chExt cx="2970" cy="3870"/>
          </a:xfrm>
        </p:grpSpPr>
        <p:sp>
          <p:nvSpPr>
            <p:cNvPr id="99419" name="Line 447"/>
            <p:cNvSpPr>
              <a:spLocks noChangeShapeType="1"/>
            </p:cNvSpPr>
            <p:nvPr/>
          </p:nvSpPr>
          <p:spPr bwMode="auto">
            <a:xfrm>
              <a:off x="2235" y="7815"/>
              <a:ext cx="297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20" name="Line 448"/>
            <p:cNvSpPr>
              <a:spLocks noChangeShapeType="1"/>
            </p:cNvSpPr>
            <p:nvPr/>
          </p:nvSpPr>
          <p:spPr bwMode="auto">
            <a:xfrm flipV="1">
              <a:off x="5175" y="3960"/>
              <a:ext cx="0" cy="387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99348" name="Line 449"/>
          <p:cNvSpPr>
            <a:spLocks noChangeShapeType="1"/>
          </p:cNvSpPr>
          <p:nvPr/>
        </p:nvSpPr>
        <p:spPr bwMode="auto">
          <a:xfrm>
            <a:off x="5132388" y="1758950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49" name="Line 450"/>
          <p:cNvSpPr>
            <a:spLocks noChangeShapeType="1"/>
          </p:cNvSpPr>
          <p:nvPr/>
        </p:nvSpPr>
        <p:spPr bwMode="auto">
          <a:xfrm>
            <a:off x="8105775" y="41957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50" name="Line 451"/>
          <p:cNvSpPr>
            <a:spLocks noChangeShapeType="1"/>
          </p:cNvSpPr>
          <p:nvPr/>
        </p:nvSpPr>
        <p:spPr bwMode="auto">
          <a:xfrm>
            <a:off x="8105775" y="247332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51" name="Line 452"/>
          <p:cNvSpPr>
            <a:spLocks noChangeShapeType="1"/>
          </p:cNvSpPr>
          <p:nvPr/>
        </p:nvSpPr>
        <p:spPr bwMode="auto">
          <a:xfrm>
            <a:off x="8105775" y="3316288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9352" name="Group 453"/>
          <p:cNvGrpSpPr>
            <a:grpSpLocks/>
          </p:cNvGrpSpPr>
          <p:nvPr/>
        </p:nvGrpSpPr>
        <p:grpSpPr bwMode="auto">
          <a:xfrm>
            <a:off x="2833688" y="1666875"/>
            <a:ext cx="5562600" cy="3133725"/>
            <a:chOff x="2235" y="3855"/>
            <a:chExt cx="6315" cy="4230"/>
          </a:xfrm>
        </p:grpSpPr>
        <p:sp>
          <p:nvSpPr>
            <p:cNvPr id="99417" name="Line 454"/>
            <p:cNvSpPr>
              <a:spLocks noChangeShapeType="1"/>
            </p:cNvSpPr>
            <p:nvPr/>
          </p:nvSpPr>
          <p:spPr bwMode="auto">
            <a:xfrm>
              <a:off x="2235" y="8070"/>
              <a:ext cx="63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18" name="Line 455"/>
            <p:cNvSpPr>
              <a:spLocks noChangeShapeType="1"/>
            </p:cNvSpPr>
            <p:nvPr/>
          </p:nvSpPr>
          <p:spPr bwMode="auto">
            <a:xfrm flipV="1">
              <a:off x="8550" y="3855"/>
              <a:ext cx="0" cy="423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99353" name="Line 456"/>
          <p:cNvSpPr>
            <a:spLocks noChangeShapeType="1"/>
          </p:cNvSpPr>
          <p:nvPr/>
        </p:nvSpPr>
        <p:spPr bwMode="auto">
          <a:xfrm>
            <a:off x="5132388" y="1701800"/>
            <a:ext cx="32512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54" name="Text Box 457"/>
          <p:cNvSpPr txBox="1">
            <a:spLocks noChangeArrowheads="1"/>
          </p:cNvSpPr>
          <p:nvPr/>
        </p:nvSpPr>
        <p:spPr bwMode="auto">
          <a:xfrm>
            <a:off x="2171700" y="4395788"/>
            <a:ext cx="7794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>
                <a:latin typeface="Times New Roman" pitchFamily="18" charset="0"/>
                <a:ea typeface="宋体" charset="-122"/>
              </a:rPr>
              <a:t>7-4</a:t>
            </a:r>
            <a:endParaRPr lang="en-US" altLang="zh-CN" sz="1800">
              <a:latin typeface="Times New Roman" pitchFamily="18" charset="0"/>
              <a:ea typeface="宋体" charset="-122"/>
            </a:endParaRPr>
          </a:p>
        </p:txBody>
      </p:sp>
      <p:sp>
        <p:nvSpPr>
          <p:cNvPr id="99355" name="Text Box 458"/>
          <p:cNvSpPr txBox="1">
            <a:spLocks noChangeArrowheads="1"/>
          </p:cNvSpPr>
          <p:nvPr/>
        </p:nvSpPr>
        <p:spPr bwMode="auto">
          <a:xfrm>
            <a:off x="2185988" y="459740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>
                <a:latin typeface="Times New Roman" pitchFamily="18" charset="0"/>
                <a:ea typeface="宋体" charset="-122"/>
              </a:rPr>
              <a:t>3-0</a:t>
            </a:r>
            <a:endParaRPr lang="en-US" altLang="zh-CN" sz="1800">
              <a:latin typeface="Times New Roman" pitchFamily="18" charset="0"/>
              <a:ea typeface="宋体" charset="-122"/>
            </a:endParaRPr>
          </a:p>
        </p:txBody>
      </p:sp>
      <p:pic>
        <p:nvPicPr>
          <p:cNvPr id="99356" name="Picture 2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713" y="512763"/>
            <a:ext cx="21764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57" name="Picture 23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4760913"/>
            <a:ext cx="1427162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58" name="Picture 23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4365625"/>
            <a:ext cx="1920875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359" name="Group 233"/>
          <p:cNvGrpSpPr>
            <a:grpSpLocks/>
          </p:cNvGrpSpPr>
          <p:nvPr/>
        </p:nvGrpSpPr>
        <p:grpSpPr bwMode="auto">
          <a:xfrm>
            <a:off x="431800" y="1844675"/>
            <a:ext cx="1692275" cy="2189163"/>
            <a:chOff x="431" y="1162"/>
            <a:chExt cx="1247" cy="1379"/>
          </a:xfrm>
        </p:grpSpPr>
        <p:sp>
          <p:nvSpPr>
            <p:cNvPr id="99396" name="Text Box 28"/>
            <p:cNvSpPr txBox="1">
              <a:spLocks noChangeArrowheads="1"/>
            </p:cNvSpPr>
            <p:nvPr/>
          </p:nvSpPr>
          <p:spPr bwMode="auto">
            <a:xfrm>
              <a:off x="999" y="1194"/>
              <a:ext cx="6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15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397" name="Rectangle 12"/>
            <p:cNvSpPr>
              <a:spLocks noChangeArrowheads="1"/>
            </p:cNvSpPr>
            <p:nvPr/>
          </p:nvSpPr>
          <p:spPr bwMode="auto">
            <a:xfrm>
              <a:off x="431" y="1162"/>
              <a:ext cx="463" cy="13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398" name="Freeform 13"/>
            <p:cNvSpPr>
              <a:spLocks/>
            </p:cNvSpPr>
            <p:nvPr/>
          </p:nvSpPr>
          <p:spPr bwMode="auto">
            <a:xfrm>
              <a:off x="431" y="1162"/>
              <a:ext cx="463" cy="1379"/>
            </a:xfrm>
            <a:custGeom>
              <a:avLst/>
              <a:gdLst>
                <a:gd name="T0" fmla="*/ 0 w 624"/>
                <a:gd name="T1" fmla="*/ 0 h 1008"/>
                <a:gd name="T2" fmla="*/ 1 w 624"/>
                <a:gd name="T3" fmla="*/ 0 h 1008"/>
                <a:gd name="T4" fmla="*/ 1 w 624"/>
                <a:gd name="T5" fmla="*/ 31675 h 1008"/>
                <a:gd name="T6" fmla="*/ 0 w 624"/>
                <a:gd name="T7" fmla="*/ 31675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008"/>
                <a:gd name="T14" fmla="*/ 624 w 62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008">
                  <a:moveTo>
                    <a:pt x="0" y="0"/>
                  </a:moveTo>
                  <a:lnTo>
                    <a:pt x="624" y="0"/>
                  </a:lnTo>
                  <a:lnTo>
                    <a:pt x="624" y="1008"/>
                  </a:lnTo>
                  <a:lnTo>
                    <a:pt x="0" y="100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399" name="Text Box 29"/>
            <p:cNvSpPr txBox="1">
              <a:spLocks noChangeArrowheads="1"/>
            </p:cNvSpPr>
            <p:nvPr/>
          </p:nvSpPr>
          <p:spPr bwMode="auto">
            <a:xfrm>
              <a:off x="1043" y="1470"/>
              <a:ext cx="6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9400" name="Group 81"/>
            <p:cNvGrpSpPr>
              <a:grpSpLocks/>
            </p:cNvGrpSpPr>
            <p:nvPr/>
          </p:nvGrpSpPr>
          <p:grpSpPr bwMode="auto">
            <a:xfrm>
              <a:off x="1086" y="1803"/>
              <a:ext cx="419" cy="708"/>
              <a:chOff x="2046" y="2690"/>
              <a:chExt cx="678" cy="708"/>
            </a:xfrm>
          </p:grpSpPr>
          <p:grpSp>
            <p:nvGrpSpPr>
              <p:cNvPr id="99408" name="Group 30"/>
              <p:cNvGrpSpPr>
                <a:grpSpLocks/>
              </p:cNvGrpSpPr>
              <p:nvPr/>
            </p:nvGrpSpPr>
            <p:grpSpPr bwMode="auto">
              <a:xfrm>
                <a:off x="2046" y="2690"/>
                <a:ext cx="678" cy="233"/>
                <a:chOff x="96" y="1680"/>
                <a:chExt cx="528" cy="203"/>
              </a:xfrm>
            </p:grpSpPr>
            <p:sp>
              <p:nvSpPr>
                <p:cNvPr id="9941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6" y="1680"/>
                  <a:ext cx="528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MEM</a:t>
                  </a:r>
                </a:p>
              </p:txBody>
            </p:sp>
            <p:sp>
              <p:nvSpPr>
                <p:cNvPr id="99416" name="Line 32"/>
                <p:cNvSpPr>
                  <a:spLocks noChangeShapeType="1"/>
                </p:cNvSpPr>
                <p:nvPr/>
              </p:nvSpPr>
              <p:spPr bwMode="auto">
                <a:xfrm>
                  <a:off x="144" y="1728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9409" name="Group 34"/>
              <p:cNvGrpSpPr>
                <a:grpSpLocks/>
              </p:cNvGrpSpPr>
              <p:nvPr/>
            </p:nvGrpSpPr>
            <p:grpSpPr bwMode="auto">
              <a:xfrm>
                <a:off x="2108" y="2925"/>
                <a:ext cx="616" cy="233"/>
                <a:chOff x="1488" y="1977"/>
                <a:chExt cx="480" cy="202"/>
              </a:xfrm>
            </p:grpSpPr>
            <p:sp>
              <p:nvSpPr>
                <p:cNvPr id="99413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RD</a:t>
                  </a:r>
                </a:p>
              </p:txBody>
            </p:sp>
            <p:sp>
              <p:nvSpPr>
                <p:cNvPr id="99414" name="Line 36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9410" name="Group 37"/>
              <p:cNvGrpSpPr>
                <a:grpSpLocks/>
              </p:cNvGrpSpPr>
              <p:nvPr/>
            </p:nvGrpSpPr>
            <p:grpSpPr bwMode="auto">
              <a:xfrm>
                <a:off x="2108" y="3165"/>
                <a:ext cx="616" cy="233"/>
                <a:chOff x="1488" y="1977"/>
                <a:chExt cx="480" cy="203"/>
              </a:xfrm>
            </p:grpSpPr>
            <p:sp>
              <p:nvSpPr>
                <p:cNvPr id="99411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WR</a:t>
                  </a:r>
                </a:p>
              </p:txBody>
            </p:sp>
            <p:sp>
              <p:nvSpPr>
                <p:cNvPr id="99412" name="Line 39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401" name="Group 248"/>
            <p:cNvGrpSpPr>
              <a:grpSpLocks/>
            </p:cNvGrpSpPr>
            <p:nvPr/>
          </p:nvGrpSpPr>
          <p:grpSpPr bwMode="auto">
            <a:xfrm>
              <a:off x="894" y="1438"/>
              <a:ext cx="739" cy="1017"/>
              <a:chOff x="876" y="1438"/>
              <a:chExt cx="995" cy="1017"/>
            </a:xfrm>
          </p:grpSpPr>
          <p:sp>
            <p:nvSpPr>
              <p:cNvPr id="99403" name="Line 24"/>
              <p:cNvSpPr>
                <a:spLocks noChangeShapeType="1"/>
              </p:cNvSpPr>
              <p:nvPr/>
            </p:nvSpPr>
            <p:spPr bwMode="auto">
              <a:xfrm>
                <a:off x="876" y="1438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04" name="Line 25"/>
              <p:cNvSpPr>
                <a:spLocks noChangeShapeType="1"/>
              </p:cNvSpPr>
              <p:nvPr/>
            </p:nvSpPr>
            <p:spPr bwMode="auto">
              <a:xfrm>
                <a:off x="876" y="1714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05" name="Line 26"/>
              <p:cNvSpPr>
                <a:spLocks noChangeShapeType="1"/>
              </p:cNvSpPr>
              <p:nvPr/>
            </p:nvSpPr>
            <p:spPr bwMode="auto">
              <a:xfrm>
                <a:off x="876" y="1989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06" name="Line 26"/>
              <p:cNvSpPr>
                <a:spLocks noChangeShapeType="1"/>
              </p:cNvSpPr>
              <p:nvPr/>
            </p:nvSpPr>
            <p:spPr bwMode="auto">
              <a:xfrm>
                <a:off x="884" y="2228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07" name="Line 26"/>
              <p:cNvSpPr>
                <a:spLocks noChangeShapeType="1"/>
              </p:cNvSpPr>
              <p:nvPr/>
            </p:nvSpPr>
            <p:spPr bwMode="auto">
              <a:xfrm>
                <a:off x="884" y="2455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9402" name="Text Box 254"/>
            <p:cNvSpPr txBox="1">
              <a:spLocks noChangeArrowheads="1"/>
            </p:cNvSpPr>
            <p:nvPr/>
          </p:nvSpPr>
          <p:spPr bwMode="auto">
            <a:xfrm>
              <a:off x="431" y="1661"/>
              <a:ext cx="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CPU</a:t>
              </a:r>
            </a:p>
          </p:txBody>
        </p:sp>
      </p:grpSp>
      <p:grpSp>
        <p:nvGrpSpPr>
          <p:cNvPr id="99360" name="Group 255"/>
          <p:cNvGrpSpPr>
            <a:grpSpLocks/>
          </p:cNvGrpSpPr>
          <p:nvPr/>
        </p:nvGrpSpPr>
        <p:grpSpPr bwMode="auto">
          <a:xfrm>
            <a:off x="2238375" y="1524000"/>
            <a:ext cx="4327525" cy="2820988"/>
            <a:chOff x="1410" y="960"/>
            <a:chExt cx="2726" cy="1777"/>
          </a:xfrm>
        </p:grpSpPr>
        <p:grpSp>
          <p:nvGrpSpPr>
            <p:cNvPr id="99361" name="Group 459"/>
            <p:cNvGrpSpPr>
              <a:grpSpLocks/>
            </p:cNvGrpSpPr>
            <p:nvPr/>
          </p:nvGrpSpPr>
          <p:grpSpPr bwMode="auto">
            <a:xfrm>
              <a:off x="1410" y="960"/>
              <a:ext cx="824" cy="269"/>
              <a:chOff x="1560" y="3675"/>
              <a:chExt cx="1485" cy="540"/>
            </a:xfrm>
          </p:grpSpPr>
          <p:sp>
            <p:nvSpPr>
              <p:cNvPr id="99392" name="Line 46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93" name="Group 46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94" name="Text Box 46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CS0</a:t>
                  </a:r>
                </a:p>
              </p:txBody>
            </p:sp>
            <p:sp>
              <p:nvSpPr>
                <p:cNvPr id="99395" name="Line 46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2" name="Group 464"/>
            <p:cNvGrpSpPr>
              <a:grpSpLocks/>
            </p:cNvGrpSpPr>
            <p:nvPr/>
          </p:nvGrpSpPr>
          <p:grpSpPr bwMode="auto">
            <a:xfrm>
              <a:off x="1427" y="1409"/>
              <a:ext cx="824" cy="269"/>
              <a:chOff x="1560" y="3675"/>
              <a:chExt cx="1485" cy="540"/>
            </a:xfrm>
          </p:grpSpPr>
          <p:sp>
            <p:nvSpPr>
              <p:cNvPr id="99388" name="Line 46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89" name="Group 46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90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9391" name="Line 46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3" name="Group 469"/>
            <p:cNvGrpSpPr>
              <a:grpSpLocks/>
            </p:cNvGrpSpPr>
            <p:nvPr/>
          </p:nvGrpSpPr>
          <p:grpSpPr bwMode="auto">
            <a:xfrm>
              <a:off x="3300" y="1409"/>
              <a:ext cx="824" cy="269"/>
              <a:chOff x="1560" y="3675"/>
              <a:chExt cx="1485" cy="540"/>
            </a:xfrm>
          </p:grpSpPr>
          <p:sp>
            <p:nvSpPr>
              <p:cNvPr id="99384" name="Line 47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85" name="Group 47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86" name="Text Box 47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9387" name="Line 47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4" name="Group 474"/>
            <p:cNvGrpSpPr>
              <a:grpSpLocks/>
            </p:cNvGrpSpPr>
            <p:nvPr/>
          </p:nvGrpSpPr>
          <p:grpSpPr bwMode="auto">
            <a:xfrm>
              <a:off x="1430" y="1921"/>
              <a:ext cx="824" cy="270"/>
              <a:chOff x="1560" y="3675"/>
              <a:chExt cx="1485" cy="540"/>
            </a:xfrm>
          </p:grpSpPr>
          <p:sp>
            <p:nvSpPr>
              <p:cNvPr id="99380" name="Line 47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81" name="Group 47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82" name="Text Box 47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9383" name="Line 47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5" name="Group 479"/>
            <p:cNvGrpSpPr>
              <a:grpSpLocks/>
            </p:cNvGrpSpPr>
            <p:nvPr/>
          </p:nvGrpSpPr>
          <p:grpSpPr bwMode="auto">
            <a:xfrm>
              <a:off x="3311" y="1929"/>
              <a:ext cx="825" cy="269"/>
              <a:chOff x="1560" y="3675"/>
              <a:chExt cx="1485" cy="540"/>
            </a:xfrm>
          </p:grpSpPr>
          <p:sp>
            <p:nvSpPr>
              <p:cNvPr id="99376" name="Line 48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77" name="Group 48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78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9379" name="Line 48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6" name="Group 484"/>
            <p:cNvGrpSpPr>
              <a:grpSpLocks/>
            </p:cNvGrpSpPr>
            <p:nvPr/>
          </p:nvGrpSpPr>
          <p:grpSpPr bwMode="auto">
            <a:xfrm>
              <a:off x="1422" y="2467"/>
              <a:ext cx="824" cy="270"/>
              <a:chOff x="1560" y="3675"/>
              <a:chExt cx="1485" cy="540"/>
            </a:xfrm>
          </p:grpSpPr>
          <p:sp>
            <p:nvSpPr>
              <p:cNvPr id="99372" name="Line 48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73" name="Group 48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74" name="Text Box 48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9375" name="Line 48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7" name="Group 489"/>
            <p:cNvGrpSpPr>
              <a:grpSpLocks/>
            </p:cNvGrpSpPr>
            <p:nvPr/>
          </p:nvGrpSpPr>
          <p:grpSpPr bwMode="auto">
            <a:xfrm>
              <a:off x="3311" y="2467"/>
              <a:ext cx="825" cy="270"/>
              <a:chOff x="1560" y="3675"/>
              <a:chExt cx="1485" cy="540"/>
            </a:xfrm>
          </p:grpSpPr>
          <p:sp>
            <p:nvSpPr>
              <p:cNvPr id="99368" name="Line 49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69" name="Group 49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70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9371" name="Line 49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46"/>
          <p:cNvSpPr>
            <a:spLocks noChangeArrowheads="1"/>
          </p:cNvSpPr>
          <p:nvPr/>
        </p:nvSpPr>
        <p:spPr bwMode="auto">
          <a:xfrm>
            <a:off x="0" y="1360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100355" name="Text Box 311"/>
          <p:cNvSpPr txBox="1">
            <a:spLocks noChangeArrowheads="1"/>
          </p:cNvSpPr>
          <p:nvPr/>
        </p:nvSpPr>
        <p:spPr bwMode="auto">
          <a:xfrm>
            <a:off x="2185988" y="47625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Times New Roman" pitchFamily="18" charset="0"/>
                <a:ea typeface="宋体" charset="-122"/>
              </a:rPr>
              <a:t>A</a:t>
            </a:r>
            <a:r>
              <a:rPr lang="en-US" altLang="zh-CN" sz="1800" baseline="-25000">
                <a:latin typeface="Times New Roman" pitchFamily="18" charset="0"/>
                <a:ea typeface="宋体" charset="-122"/>
              </a:rPr>
              <a:t>10-0</a:t>
            </a:r>
            <a:endParaRPr lang="en-US" altLang="zh-CN" sz="180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100356" name="Group 312"/>
          <p:cNvGrpSpPr>
            <a:grpSpLocks/>
          </p:cNvGrpSpPr>
          <p:nvPr/>
        </p:nvGrpSpPr>
        <p:grpSpPr bwMode="auto">
          <a:xfrm>
            <a:off x="3427413" y="1293813"/>
            <a:ext cx="1836737" cy="671512"/>
            <a:chOff x="2910" y="2805"/>
            <a:chExt cx="2085" cy="848"/>
          </a:xfrm>
        </p:grpSpPr>
        <p:sp>
          <p:nvSpPr>
            <p:cNvPr id="100597" name="Rectangle 313"/>
            <p:cNvSpPr>
              <a:spLocks noChangeArrowheads="1"/>
            </p:cNvSpPr>
            <p:nvPr/>
          </p:nvSpPr>
          <p:spPr bwMode="auto">
            <a:xfrm>
              <a:off x="3168" y="2805"/>
              <a:ext cx="1659" cy="84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598" name="Text Box 314"/>
            <p:cNvSpPr txBox="1">
              <a:spLocks noChangeArrowheads="1"/>
            </p:cNvSpPr>
            <p:nvPr/>
          </p:nvSpPr>
          <p:spPr bwMode="auto">
            <a:xfrm>
              <a:off x="3538" y="2954"/>
              <a:ext cx="964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2K</a:t>
              </a:r>
              <a:r>
                <a:rPr lang="en-US" altLang="zh-CN" sz="1200">
                  <a:latin typeface="Times New Roman" pitchFamily="18" charset="0"/>
                  <a:ea typeface="宋体" charset="-122"/>
                  <a:sym typeface="Symbol" pitchFamily="18" charset="2"/>
                </a:rPr>
                <a:t></a:t>
              </a:r>
              <a:r>
                <a:rPr lang="en-US" altLang="zh-CN" sz="1200">
                  <a:latin typeface="Times New Roman" pitchFamily="18" charset="0"/>
                  <a:ea typeface="宋体" charset="-122"/>
                </a:rPr>
                <a:t>8</a:t>
              </a:r>
            </a:p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U0</a:t>
              </a:r>
            </a:p>
          </p:txBody>
        </p:sp>
        <p:grpSp>
          <p:nvGrpSpPr>
            <p:cNvPr id="100599" name="Group 315"/>
            <p:cNvGrpSpPr>
              <a:grpSpLocks/>
            </p:cNvGrpSpPr>
            <p:nvPr/>
          </p:nvGrpSpPr>
          <p:grpSpPr bwMode="auto">
            <a:xfrm>
              <a:off x="2910" y="2865"/>
              <a:ext cx="852" cy="485"/>
              <a:chOff x="2895" y="2097"/>
              <a:chExt cx="1140" cy="546"/>
            </a:xfrm>
          </p:grpSpPr>
          <p:sp>
            <p:nvSpPr>
              <p:cNvPr id="100603" name="Line 316"/>
              <p:cNvSpPr>
                <a:spLocks noChangeShapeType="1"/>
              </p:cNvSpPr>
              <p:nvPr/>
            </p:nvSpPr>
            <p:spPr bwMode="auto">
              <a:xfrm flipV="1">
                <a:off x="2895" y="2320"/>
                <a:ext cx="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604" name="Text Box 317"/>
              <p:cNvSpPr txBox="1">
                <a:spLocks noChangeArrowheads="1"/>
              </p:cNvSpPr>
              <p:nvPr/>
            </p:nvSpPr>
            <p:spPr bwMode="auto">
              <a:xfrm>
                <a:off x="3060" y="2097"/>
                <a:ext cx="975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10-0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00600" name="Text Box 318"/>
            <p:cNvSpPr txBox="1">
              <a:spLocks noChangeArrowheads="1"/>
            </p:cNvSpPr>
            <p:nvPr/>
          </p:nvSpPr>
          <p:spPr bwMode="auto">
            <a:xfrm>
              <a:off x="2977" y="3132"/>
              <a:ext cx="729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CS</a:t>
              </a:r>
            </a:p>
          </p:txBody>
        </p:sp>
        <p:sp>
          <p:nvSpPr>
            <p:cNvPr id="100601" name="Oval 319"/>
            <p:cNvSpPr>
              <a:spLocks noChangeArrowheads="1"/>
            </p:cNvSpPr>
            <p:nvPr/>
          </p:nvSpPr>
          <p:spPr bwMode="auto">
            <a:xfrm>
              <a:off x="3078" y="3278"/>
              <a:ext cx="90" cy="9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602" name="Text Box 320"/>
            <p:cNvSpPr txBox="1">
              <a:spLocks noChangeArrowheads="1"/>
            </p:cNvSpPr>
            <p:nvPr/>
          </p:nvSpPr>
          <p:spPr bwMode="auto">
            <a:xfrm>
              <a:off x="4266" y="3023"/>
              <a:ext cx="729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宋体" charset="-122"/>
                </a:rPr>
                <a:t>D</a:t>
              </a:r>
              <a:r>
                <a:rPr lang="en-US" altLang="zh-CN" sz="1200" baseline="-25000">
                  <a:latin typeface="Times New Roman" pitchFamily="18" charset="0"/>
                  <a:ea typeface="宋体" charset="-122"/>
                </a:rPr>
                <a:t>7-0</a:t>
              </a:r>
              <a:endParaRPr lang="en-US" altLang="zh-CN" sz="120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00357" name="Group 321"/>
          <p:cNvGrpSpPr>
            <a:grpSpLocks/>
          </p:cNvGrpSpPr>
          <p:nvPr/>
        </p:nvGrpSpPr>
        <p:grpSpPr bwMode="auto">
          <a:xfrm>
            <a:off x="3427413" y="2065338"/>
            <a:ext cx="1836737" cy="2551112"/>
            <a:chOff x="2910" y="4360"/>
            <a:chExt cx="2085" cy="3221"/>
          </a:xfrm>
        </p:grpSpPr>
        <p:grpSp>
          <p:nvGrpSpPr>
            <p:cNvPr id="100555" name="Group 322"/>
            <p:cNvGrpSpPr>
              <a:grpSpLocks/>
            </p:cNvGrpSpPr>
            <p:nvPr/>
          </p:nvGrpSpPr>
          <p:grpSpPr bwMode="auto">
            <a:xfrm>
              <a:off x="2910" y="4360"/>
              <a:ext cx="2085" cy="1091"/>
              <a:chOff x="2910" y="3780"/>
              <a:chExt cx="2085" cy="1091"/>
            </a:xfrm>
          </p:grpSpPr>
          <p:sp>
            <p:nvSpPr>
              <p:cNvPr id="100584" name="Rectangle 323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85" name="Text Box 324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U2</a:t>
                </a:r>
              </a:p>
            </p:txBody>
          </p:sp>
          <p:grpSp>
            <p:nvGrpSpPr>
              <p:cNvPr id="100586" name="Group 325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95" name="Line 326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96" name="Text Box 327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87" name="Text Box 328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88" name="Text Box 329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89" name="Oval 330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90" name="Text Box 331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91" name="Oval 332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92" name="Group 333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93" name="Text Box 334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94" name="Oval 335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100556" name="Group 336"/>
            <p:cNvGrpSpPr>
              <a:grpSpLocks/>
            </p:cNvGrpSpPr>
            <p:nvPr/>
          </p:nvGrpSpPr>
          <p:grpSpPr bwMode="auto">
            <a:xfrm>
              <a:off x="2910" y="5410"/>
              <a:ext cx="2085" cy="1091"/>
              <a:chOff x="2910" y="3780"/>
              <a:chExt cx="2085" cy="1091"/>
            </a:xfrm>
          </p:grpSpPr>
          <p:sp>
            <p:nvSpPr>
              <p:cNvPr id="100571" name="Rectangle 337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72" name="Text Box 338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U4</a:t>
                </a:r>
              </a:p>
            </p:txBody>
          </p:sp>
          <p:grpSp>
            <p:nvGrpSpPr>
              <p:cNvPr id="100573" name="Group 339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82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83" name="Text Box 341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74" name="Text Box 342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75" name="Text Box 343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76" name="Oval 344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77" name="Text Box 345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78" name="Oval 346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79" name="Group 347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80" name="Text Box 348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81" name="Oval 349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100557" name="Group 350"/>
            <p:cNvGrpSpPr>
              <a:grpSpLocks/>
            </p:cNvGrpSpPr>
            <p:nvPr/>
          </p:nvGrpSpPr>
          <p:grpSpPr bwMode="auto">
            <a:xfrm>
              <a:off x="2910" y="6490"/>
              <a:ext cx="2085" cy="1091"/>
              <a:chOff x="2910" y="3780"/>
              <a:chExt cx="2085" cy="1091"/>
            </a:xfrm>
          </p:grpSpPr>
          <p:sp>
            <p:nvSpPr>
              <p:cNvPr id="100558" name="Rectangle 351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59" name="Text Box 352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U6</a:t>
                </a:r>
              </a:p>
            </p:txBody>
          </p:sp>
          <p:grpSp>
            <p:nvGrpSpPr>
              <p:cNvPr id="100560" name="Group 353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69" name="Line 354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70" name="Text Box 355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61" name="Text Box 356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62" name="Text Box 357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63" name="Oval 358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64" name="Text Box 359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65" name="Oval 360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66" name="Group 361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67" name="Text Box 362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68" name="Oval 363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100358" name="Group 364"/>
          <p:cNvGrpSpPr>
            <a:grpSpLocks/>
          </p:cNvGrpSpPr>
          <p:nvPr/>
        </p:nvGrpSpPr>
        <p:grpSpPr bwMode="auto">
          <a:xfrm>
            <a:off x="6415088" y="2065338"/>
            <a:ext cx="1836737" cy="2551112"/>
            <a:chOff x="5640" y="4360"/>
            <a:chExt cx="2085" cy="3221"/>
          </a:xfrm>
        </p:grpSpPr>
        <p:grpSp>
          <p:nvGrpSpPr>
            <p:cNvPr id="100513" name="Group 365"/>
            <p:cNvGrpSpPr>
              <a:grpSpLocks/>
            </p:cNvGrpSpPr>
            <p:nvPr/>
          </p:nvGrpSpPr>
          <p:grpSpPr bwMode="auto">
            <a:xfrm>
              <a:off x="5640" y="4360"/>
              <a:ext cx="2085" cy="1091"/>
              <a:chOff x="2910" y="3780"/>
              <a:chExt cx="2085" cy="1091"/>
            </a:xfrm>
          </p:grpSpPr>
          <p:sp>
            <p:nvSpPr>
              <p:cNvPr id="100542" name="Rectangle 366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43" name="Text Box 367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U1</a:t>
                </a:r>
              </a:p>
            </p:txBody>
          </p:sp>
          <p:grpSp>
            <p:nvGrpSpPr>
              <p:cNvPr id="100544" name="Group 368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53" name="Line 369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54" name="Text Box 370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45" name="Text Box 371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46" name="Text Box 372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47" name="Oval 373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48" name="Text Box 374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49" name="Oval 375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50" name="Group 376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51" name="Text Box 377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52" name="Oval 378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100514" name="Group 379"/>
            <p:cNvGrpSpPr>
              <a:grpSpLocks/>
            </p:cNvGrpSpPr>
            <p:nvPr/>
          </p:nvGrpSpPr>
          <p:grpSpPr bwMode="auto">
            <a:xfrm>
              <a:off x="5640" y="5410"/>
              <a:ext cx="2085" cy="1091"/>
              <a:chOff x="2910" y="3780"/>
              <a:chExt cx="2085" cy="1091"/>
            </a:xfrm>
          </p:grpSpPr>
          <p:sp>
            <p:nvSpPr>
              <p:cNvPr id="100529" name="Rectangle 380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30" name="Text Box 381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U3</a:t>
                </a:r>
              </a:p>
            </p:txBody>
          </p:sp>
          <p:grpSp>
            <p:nvGrpSpPr>
              <p:cNvPr id="100531" name="Group 382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40" name="Line 383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41" name="Text Box 384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32" name="Text Box 385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33" name="Text Box 386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34" name="Oval 387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35" name="Text Box 388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36" name="Oval 389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37" name="Group 390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38" name="Text Box 391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39" name="Oval 392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100515" name="Group 393"/>
            <p:cNvGrpSpPr>
              <a:grpSpLocks/>
            </p:cNvGrpSpPr>
            <p:nvPr/>
          </p:nvGrpSpPr>
          <p:grpSpPr bwMode="auto">
            <a:xfrm>
              <a:off x="5640" y="6490"/>
              <a:ext cx="2085" cy="1091"/>
              <a:chOff x="2910" y="3780"/>
              <a:chExt cx="2085" cy="1091"/>
            </a:xfrm>
          </p:grpSpPr>
          <p:sp>
            <p:nvSpPr>
              <p:cNvPr id="100516" name="Rectangle 394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17" name="Text Box 395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U5</a:t>
                </a:r>
              </a:p>
            </p:txBody>
          </p:sp>
          <p:grpSp>
            <p:nvGrpSpPr>
              <p:cNvPr id="100518" name="Group 396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27" name="Line 397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28" name="Text Box 398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19" name="Text Box 399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20" name="Text Box 400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21" name="Oval 401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22" name="Text Box 402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23" name="Oval 403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24" name="Group 404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25" name="Text Box 405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26" name="Oval 406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100359" name="Group 407"/>
          <p:cNvGrpSpPr>
            <a:grpSpLocks/>
          </p:cNvGrpSpPr>
          <p:nvPr/>
        </p:nvGrpSpPr>
        <p:grpSpPr bwMode="auto">
          <a:xfrm>
            <a:off x="2898775" y="760413"/>
            <a:ext cx="3502025" cy="3157537"/>
            <a:chOff x="2310" y="2455"/>
            <a:chExt cx="3975" cy="4245"/>
          </a:xfrm>
        </p:grpSpPr>
        <p:sp>
          <p:nvSpPr>
            <p:cNvPr id="100509" name="Line 408"/>
            <p:cNvSpPr>
              <a:spLocks noChangeShapeType="1"/>
            </p:cNvSpPr>
            <p:nvPr/>
          </p:nvSpPr>
          <p:spPr bwMode="auto">
            <a:xfrm flipV="1">
              <a:off x="2910" y="2470"/>
              <a:ext cx="0" cy="4215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510" name="Group 409"/>
            <p:cNvGrpSpPr>
              <a:grpSpLocks/>
            </p:cNvGrpSpPr>
            <p:nvPr/>
          </p:nvGrpSpPr>
          <p:grpSpPr bwMode="auto">
            <a:xfrm>
              <a:off x="2310" y="2455"/>
              <a:ext cx="3975" cy="4245"/>
              <a:chOff x="2310" y="2455"/>
              <a:chExt cx="3345" cy="4245"/>
            </a:xfrm>
          </p:grpSpPr>
          <p:sp>
            <p:nvSpPr>
              <p:cNvPr id="100511" name="Line 410"/>
              <p:cNvSpPr>
                <a:spLocks noChangeShapeType="1"/>
              </p:cNvSpPr>
              <p:nvPr/>
            </p:nvSpPr>
            <p:spPr bwMode="auto">
              <a:xfrm flipV="1">
                <a:off x="5640" y="2455"/>
                <a:ext cx="0" cy="4245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512" name="Line 411"/>
              <p:cNvSpPr>
                <a:spLocks noChangeShapeType="1"/>
              </p:cNvSpPr>
              <p:nvPr/>
            </p:nvSpPr>
            <p:spPr bwMode="auto">
              <a:xfrm>
                <a:off x="2310" y="2455"/>
                <a:ext cx="3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100360" name="Group 412"/>
          <p:cNvGrpSpPr>
            <a:grpSpLocks/>
          </p:cNvGrpSpPr>
          <p:nvPr/>
        </p:nvGrpSpPr>
        <p:grpSpPr bwMode="auto">
          <a:xfrm>
            <a:off x="3295650" y="2544763"/>
            <a:ext cx="277813" cy="1685925"/>
            <a:chOff x="2790" y="4965"/>
            <a:chExt cx="285" cy="2130"/>
          </a:xfrm>
        </p:grpSpPr>
        <p:sp>
          <p:nvSpPr>
            <p:cNvPr id="100506" name="Line 413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7" name="Line 414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8" name="Line 415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1" name="Group 416"/>
          <p:cNvGrpSpPr>
            <a:grpSpLocks/>
          </p:cNvGrpSpPr>
          <p:nvPr/>
        </p:nvGrpSpPr>
        <p:grpSpPr bwMode="auto">
          <a:xfrm>
            <a:off x="6254750" y="2544763"/>
            <a:ext cx="331788" cy="1685925"/>
            <a:chOff x="2790" y="4965"/>
            <a:chExt cx="285" cy="2130"/>
          </a:xfrm>
        </p:grpSpPr>
        <p:sp>
          <p:nvSpPr>
            <p:cNvPr id="100503" name="Line 417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4" name="Line 418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5" name="Line 419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2" name="Group 420"/>
          <p:cNvGrpSpPr>
            <a:grpSpLocks/>
          </p:cNvGrpSpPr>
          <p:nvPr/>
        </p:nvGrpSpPr>
        <p:grpSpPr bwMode="auto">
          <a:xfrm>
            <a:off x="2898775" y="941388"/>
            <a:ext cx="3373438" cy="3289300"/>
            <a:chOff x="2310" y="2670"/>
            <a:chExt cx="3828" cy="4425"/>
          </a:xfrm>
        </p:grpSpPr>
        <p:sp>
          <p:nvSpPr>
            <p:cNvPr id="100500" name="Line 421"/>
            <p:cNvSpPr>
              <a:spLocks noChangeShapeType="1"/>
            </p:cNvSpPr>
            <p:nvPr/>
          </p:nvSpPr>
          <p:spPr bwMode="auto">
            <a:xfrm flipV="1">
              <a:off x="2777" y="2685"/>
              <a:ext cx="0" cy="441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1" name="Line 422"/>
            <p:cNvSpPr>
              <a:spLocks noChangeShapeType="1"/>
            </p:cNvSpPr>
            <p:nvPr/>
          </p:nvSpPr>
          <p:spPr bwMode="auto">
            <a:xfrm flipV="1">
              <a:off x="6138" y="2685"/>
              <a:ext cx="0" cy="441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2" name="Line 423"/>
            <p:cNvSpPr>
              <a:spLocks noChangeShapeType="1"/>
            </p:cNvSpPr>
            <p:nvPr/>
          </p:nvSpPr>
          <p:spPr bwMode="auto">
            <a:xfrm>
              <a:off x="2310" y="2670"/>
              <a:ext cx="3826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3" name="Group 424"/>
          <p:cNvGrpSpPr>
            <a:grpSpLocks/>
          </p:cNvGrpSpPr>
          <p:nvPr/>
        </p:nvGrpSpPr>
        <p:grpSpPr bwMode="auto">
          <a:xfrm>
            <a:off x="3163888" y="2711450"/>
            <a:ext cx="398462" cy="1685925"/>
            <a:chOff x="2790" y="4965"/>
            <a:chExt cx="285" cy="2130"/>
          </a:xfrm>
        </p:grpSpPr>
        <p:sp>
          <p:nvSpPr>
            <p:cNvPr id="100497" name="Line 425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98" name="Line 426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99" name="Line 427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4" name="Group 428"/>
          <p:cNvGrpSpPr>
            <a:grpSpLocks/>
          </p:cNvGrpSpPr>
          <p:nvPr/>
        </p:nvGrpSpPr>
        <p:grpSpPr bwMode="auto">
          <a:xfrm>
            <a:off x="6111875" y="2711450"/>
            <a:ext cx="447675" cy="1685925"/>
            <a:chOff x="2790" y="4965"/>
            <a:chExt cx="285" cy="2130"/>
          </a:xfrm>
        </p:grpSpPr>
        <p:sp>
          <p:nvSpPr>
            <p:cNvPr id="100494" name="Line 429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95" name="Line 430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96" name="Line 431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5" name="Group 432"/>
          <p:cNvGrpSpPr>
            <a:grpSpLocks/>
          </p:cNvGrpSpPr>
          <p:nvPr/>
        </p:nvGrpSpPr>
        <p:grpSpPr bwMode="auto">
          <a:xfrm>
            <a:off x="2913063" y="1108075"/>
            <a:ext cx="3235325" cy="3289300"/>
            <a:chOff x="2325" y="2865"/>
            <a:chExt cx="3673" cy="4440"/>
          </a:xfrm>
        </p:grpSpPr>
        <p:sp>
          <p:nvSpPr>
            <p:cNvPr id="100490" name="Line 433"/>
            <p:cNvSpPr>
              <a:spLocks noChangeShapeType="1"/>
            </p:cNvSpPr>
            <p:nvPr/>
          </p:nvSpPr>
          <p:spPr bwMode="auto">
            <a:xfrm flipV="1">
              <a:off x="5984" y="2895"/>
              <a:ext cx="0" cy="441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491" name="Group 434"/>
            <p:cNvGrpSpPr>
              <a:grpSpLocks/>
            </p:cNvGrpSpPr>
            <p:nvPr/>
          </p:nvGrpSpPr>
          <p:grpSpPr bwMode="auto">
            <a:xfrm>
              <a:off x="2325" y="2865"/>
              <a:ext cx="3673" cy="4440"/>
              <a:chOff x="2325" y="2865"/>
              <a:chExt cx="3673" cy="4440"/>
            </a:xfrm>
          </p:grpSpPr>
          <p:sp>
            <p:nvSpPr>
              <p:cNvPr id="100492" name="Line 435"/>
              <p:cNvSpPr>
                <a:spLocks noChangeShapeType="1"/>
              </p:cNvSpPr>
              <p:nvPr/>
            </p:nvSpPr>
            <p:spPr bwMode="auto">
              <a:xfrm flipV="1">
                <a:off x="2634" y="2895"/>
                <a:ext cx="0" cy="441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493" name="Line 436"/>
              <p:cNvSpPr>
                <a:spLocks noChangeShapeType="1"/>
              </p:cNvSpPr>
              <p:nvPr/>
            </p:nvSpPr>
            <p:spPr bwMode="auto">
              <a:xfrm flipV="1">
                <a:off x="2325" y="2865"/>
                <a:ext cx="3673" cy="15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100366" name="Group 437"/>
          <p:cNvGrpSpPr>
            <a:grpSpLocks/>
          </p:cNvGrpSpPr>
          <p:nvPr/>
        </p:nvGrpSpPr>
        <p:grpSpPr bwMode="auto">
          <a:xfrm>
            <a:off x="2159000" y="796925"/>
            <a:ext cx="779463" cy="396875"/>
            <a:chOff x="930" y="2637"/>
            <a:chExt cx="885" cy="546"/>
          </a:xfrm>
        </p:grpSpPr>
        <p:sp>
          <p:nvSpPr>
            <p:cNvPr id="100488" name="Text Box 438"/>
            <p:cNvSpPr txBox="1">
              <a:spLocks noChangeArrowheads="1"/>
            </p:cNvSpPr>
            <p:nvPr/>
          </p:nvSpPr>
          <p:spPr bwMode="auto">
            <a:xfrm>
              <a:off x="930" y="2637"/>
              <a:ext cx="885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8000"/>
                  </a:solidFill>
                  <a:latin typeface="Times New Roman" pitchFamily="18" charset="0"/>
                  <a:ea typeface="宋体" charset="-122"/>
                </a:rPr>
                <a:t>RD</a:t>
              </a:r>
            </a:p>
          </p:txBody>
        </p:sp>
        <p:sp>
          <p:nvSpPr>
            <p:cNvPr id="100489" name="Line 439"/>
            <p:cNvSpPr>
              <a:spLocks noChangeShapeType="1"/>
            </p:cNvSpPr>
            <p:nvPr/>
          </p:nvSpPr>
          <p:spPr bwMode="auto">
            <a:xfrm>
              <a:off x="1185" y="2715"/>
              <a:ext cx="3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7" name="Group 440"/>
          <p:cNvGrpSpPr>
            <a:grpSpLocks/>
          </p:cNvGrpSpPr>
          <p:nvPr/>
        </p:nvGrpSpPr>
        <p:grpSpPr bwMode="auto">
          <a:xfrm>
            <a:off x="2171700" y="1035050"/>
            <a:ext cx="779463" cy="395288"/>
            <a:chOff x="1395" y="2967"/>
            <a:chExt cx="885" cy="501"/>
          </a:xfrm>
        </p:grpSpPr>
        <p:sp>
          <p:nvSpPr>
            <p:cNvPr id="100486" name="Text Box 441"/>
            <p:cNvSpPr txBox="1">
              <a:spLocks noChangeArrowheads="1"/>
            </p:cNvSpPr>
            <p:nvPr/>
          </p:nvSpPr>
          <p:spPr bwMode="auto">
            <a:xfrm>
              <a:off x="1395" y="2967"/>
              <a:ext cx="885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WR</a:t>
              </a:r>
            </a:p>
          </p:txBody>
        </p:sp>
        <p:sp>
          <p:nvSpPr>
            <p:cNvPr id="100487" name="Line 442"/>
            <p:cNvSpPr>
              <a:spLocks noChangeShapeType="1"/>
            </p:cNvSpPr>
            <p:nvPr/>
          </p:nvSpPr>
          <p:spPr bwMode="auto">
            <a:xfrm>
              <a:off x="1650" y="3039"/>
              <a:ext cx="37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00368" name="Line 443"/>
          <p:cNvSpPr>
            <a:spLocks noChangeShapeType="1"/>
          </p:cNvSpPr>
          <p:nvPr/>
        </p:nvSpPr>
        <p:spPr bwMode="auto">
          <a:xfrm>
            <a:off x="5119688" y="41830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69" name="Line 444"/>
          <p:cNvSpPr>
            <a:spLocks noChangeShapeType="1"/>
          </p:cNvSpPr>
          <p:nvPr/>
        </p:nvSpPr>
        <p:spPr bwMode="auto">
          <a:xfrm>
            <a:off x="5119688" y="246221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70" name="Line 445"/>
          <p:cNvSpPr>
            <a:spLocks noChangeShapeType="1"/>
          </p:cNvSpPr>
          <p:nvPr/>
        </p:nvSpPr>
        <p:spPr bwMode="auto">
          <a:xfrm>
            <a:off x="5119688" y="330517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0371" name="Group 446"/>
          <p:cNvGrpSpPr>
            <a:grpSpLocks/>
          </p:cNvGrpSpPr>
          <p:nvPr/>
        </p:nvGrpSpPr>
        <p:grpSpPr bwMode="auto">
          <a:xfrm>
            <a:off x="2833688" y="1749425"/>
            <a:ext cx="2616200" cy="2909888"/>
            <a:chOff x="2235" y="3960"/>
            <a:chExt cx="2970" cy="3870"/>
          </a:xfrm>
        </p:grpSpPr>
        <p:sp>
          <p:nvSpPr>
            <p:cNvPr id="100484" name="Line 447"/>
            <p:cNvSpPr>
              <a:spLocks noChangeShapeType="1"/>
            </p:cNvSpPr>
            <p:nvPr/>
          </p:nvSpPr>
          <p:spPr bwMode="auto">
            <a:xfrm>
              <a:off x="2235" y="7815"/>
              <a:ext cx="297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85" name="Line 448"/>
            <p:cNvSpPr>
              <a:spLocks noChangeShapeType="1"/>
            </p:cNvSpPr>
            <p:nvPr/>
          </p:nvSpPr>
          <p:spPr bwMode="auto">
            <a:xfrm flipV="1">
              <a:off x="5175" y="3960"/>
              <a:ext cx="0" cy="387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00372" name="Line 449"/>
          <p:cNvSpPr>
            <a:spLocks noChangeShapeType="1"/>
          </p:cNvSpPr>
          <p:nvPr/>
        </p:nvSpPr>
        <p:spPr bwMode="auto">
          <a:xfrm>
            <a:off x="5132388" y="1758950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73" name="Line 450"/>
          <p:cNvSpPr>
            <a:spLocks noChangeShapeType="1"/>
          </p:cNvSpPr>
          <p:nvPr/>
        </p:nvSpPr>
        <p:spPr bwMode="auto">
          <a:xfrm>
            <a:off x="8105775" y="41957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74" name="Line 451"/>
          <p:cNvSpPr>
            <a:spLocks noChangeShapeType="1"/>
          </p:cNvSpPr>
          <p:nvPr/>
        </p:nvSpPr>
        <p:spPr bwMode="auto">
          <a:xfrm>
            <a:off x="8105775" y="247332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75" name="Line 452"/>
          <p:cNvSpPr>
            <a:spLocks noChangeShapeType="1"/>
          </p:cNvSpPr>
          <p:nvPr/>
        </p:nvSpPr>
        <p:spPr bwMode="auto">
          <a:xfrm>
            <a:off x="8105775" y="3316288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0376" name="Group 453"/>
          <p:cNvGrpSpPr>
            <a:grpSpLocks/>
          </p:cNvGrpSpPr>
          <p:nvPr/>
        </p:nvGrpSpPr>
        <p:grpSpPr bwMode="auto">
          <a:xfrm>
            <a:off x="2833688" y="1666875"/>
            <a:ext cx="5562600" cy="3133725"/>
            <a:chOff x="2235" y="3855"/>
            <a:chExt cx="6315" cy="4230"/>
          </a:xfrm>
        </p:grpSpPr>
        <p:sp>
          <p:nvSpPr>
            <p:cNvPr id="100482" name="Line 454"/>
            <p:cNvSpPr>
              <a:spLocks noChangeShapeType="1"/>
            </p:cNvSpPr>
            <p:nvPr/>
          </p:nvSpPr>
          <p:spPr bwMode="auto">
            <a:xfrm>
              <a:off x="2235" y="8070"/>
              <a:ext cx="63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83" name="Line 455"/>
            <p:cNvSpPr>
              <a:spLocks noChangeShapeType="1"/>
            </p:cNvSpPr>
            <p:nvPr/>
          </p:nvSpPr>
          <p:spPr bwMode="auto">
            <a:xfrm flipV="1">
              <a:off x="8550" y="3855"/>
              <a:ext cx="0" cy="423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00377" name="Line 456"/>
          <p:cNvSpPr>
            <a:spLocks noChangeShapeType="1"/>
          </p:cNvSpPr>
          <p:nvPr/>
        </p:nvSpPr>
        <p:spPr bwMode="auto">
          <a:xfrm>
            <a:off x="5132388" y="1701800"/>
            <a:ext cx="32512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78" name="Text Box 457"/>
          <p:cNvSpPr txBox="1">
            <a:spLocks noChangeArrowheads="1"/>
          </p:cNvSpPr>
          <p:nvPr/>
        </p:nvSpPr>
        <p:spPr bwMode="auto">
          <a:xfrm>
            <a:off x="2171700" y="4395788"/>
            <a:ext cx="7794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>
                <a:latin typeface="Times New Roman" pitchFamily="18" charset="0"/>
                <a:ea typeface="宋体" charset="-122"/>
              </a:rPr>
              <a:t>7-4</a:t>
            </a:r>
            <a:endParaRPr lang="en-US" altLang="zh-CN" sz="1800">
              <a:latin typeface="Times New Roman" pitchFamily="18" charset="0"/>
              <a:ea typeface="宋体" charset="-122"/>
            </a:endParaRPr>
          </a:p>
        </p:txBody>
      </p:sp>
      <p:sp>
        <p:nvSpPr>
          <p:cNvPr id="100379" name="Text Box 458"/>
          <p:cNvSpPr txBox="1">
            <a:spLocks noChangeArrowheads="1"/>
          </p:cNvSpPr>
          <p:nvPr/>
        </p:nvSpPr>
        <p:spPr bwMode="auto">
          <a:xfrm>
            <a:off x="2185988" y="459740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>
                <a:latin typeface="Times New Roman" pitchFamily="18" charset="0"/>
                <a:ea typeface="宋体" charset="-122"/>
              </a:rPr>
              <a:t>3-0</a:t>
            </a:r>
            <a:endParaRPr lang="en-US" altLang="zh-CN" sz="180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100380" name="Group 232"/>
          <p:cNvGrpSpPr>
            <a:grpSpLocks/>
          </p:cNvGrpSpPr>
          <p:nvPr/>
        </p:nvGrpSpPr>
        <p:grpSpPr bwMode="auto">
          <a:xfrm>
            <a:off x="2238375" y="1524000"/>
            <a:ext cx="4327525" cy="2820988"/>
            <a:chOff x="1410" y="960"/>
            <a:chExt cx="2726" cy="1777"/>
          </a:xfrm>
        </p:grpSpPr>
        <p:grpSp>
          <p:nvGrpSpPr>
            <p:cNvPr id="100447" name="Group 459"/>
            <p:cNvGrpSpPr>
              <a:grpSpLocks/>
            </p:cNvGrpSpPr>
            <p:nvPr/>
          </p:nvGrpSpPr>
          <p:grpSpPr bwMode="auto">
            <a:xfrm>
              <a:off x="1410" y="960"/>
              <a:ext cx="824" cy="269"/>
              <a:chOff x="1560" y="3675"/>
              <a:chExt cx="1485" cy="540"/>
            </a:xfrm>
          </p:grpSpPr>
          <p:sp>
            <p:nvSpPr>
              <p:cNvPr id="100478" name="Line 46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79" name="Group 46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80" name="Text Box 46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CS0</a:t>
                  </a:r>
                </a:p>
              </p:txBody>
            </p:sp>
            <p:sp>
              <p:nvSpPr>
                <p:cNvPr id="100481" name="Line 46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48" name="Group 464"/>
            <p:cNvGrpSpPr>
              <a:grpSpLocks/>
            </p:cNvGrpSpPr>
            <p:nvPr/>
          </p:nvGrpSpPr>
          <p:grpSpPr bwMode="auto">
            <a:xfrm>
              <a:off x="1427" y="1409"/>
              <a:ext cx="824" cy="269"/>
              <a:chOff x="1560" y="3675"/>
              <a:chExt cx="1485" cy="540"/>
            </a:xfrm>
          </p:grpSpPr>
          <p:sp>
            <p:nvSpPr>
              <p:cNvPr id="100474" name="Line 46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75" name="Group 46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76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100477" name="Line 46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49" name="Group 469"/>
            <p:cNvGrpSpPr>
              <a:grpSpLocks/>
            </p:cNvGrpSpPr>
            <p:nvPr/>
          </p:nvGrpSpPr>
          <p:grpSpPr bwMode="auto">
            <a:xfrm>
              <a:off x="3300" y="1409"/>
              <a:ext cx="824" cy="269"/>
              <a:chOff x="1560" y="3675"/>
              <a:chExt cx="1485" cy="540"/>
            </a:xfrm>
          </p:grpSpPr>
          <p:sp>
            <p:nvSpPr>
              <p:cNvPr id="100470" name="Line 47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71" name="Group 47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72" name="Text Box 47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100473" name="Line 47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50" name="Group 474"/>
            <p:cNvGrpSpPr>
              <a:grpSpLocks/>
            </p:cNvGrpSpPr>
            <p:nvPr/>
          </p:nvGrpSpPr>
          <p:grpSpPr bwMode="auto">
            <a:xfrm>
              <a:off x="1430" y="1921"/>
              <a:ext cx="824" cy="270"/>
              <a:chOff x="1560" y="3675"/>
              <a:chExt cx="1485" cy="540"/>
            </a:xfrm>
          </p:grpSpPr>
          <p:sp>
            <p:nvSpPr>
              <p:cNvPr id="100466" name="Line 47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67" name="Group 47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68" name="Text Box 47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100469" name="Line 47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51" name="Group 479"/>
            <p:cNvGrpSpPr>
              <a:grpSpLocks/>
            </p:cNvGrpSpPr>
            <p:nvPr/>
          </p:nvGrpSpPr>
          <p:grpSpPr bwMode="auto">
            <a:xfrm>
              <a:off x="3311" y="1929"/>
              <a:ext cx="825" cy="269"/>
              <a:chOff x="1560" y="3675"/>
              <a:chExt cx="1485" cy="540"/>
            </a:xfrm>
          </p:grpSpPr>
          <p:sp>
            <p:nvSpPr>
              <p:cNvPr id="100462" name="Line 48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63" name="Group 48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64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100465" name="Line 48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52" name="Group 484"/>
            <p:cNvGrpSpPr>
              <a:grpSpLocks/>
            </p:cNvGrpSpPr>
            <p:nvPr/>
          </p:nvGrpSpPr>
          <p:grpSpPr bwMode="auto">
            <a:xfrm>
              <a:off x="1422" y="2467"/>
              <a:ext cx="824" cy="270"/>
              <a:chOff x="1560" y="3675"/>
              <a:chExt cx="1485" cy="540"/>
            </a:xfrm>
          </p:grpSpPr>
          <p:sp>
            <p:nvSpPr>
              <p:cNvPr id="100458" name="Line 48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59" name="Group 48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60" name="Text Box 48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100461" name="Line 48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53" name="Group 489"/>
            <p:cNvGrpSpPr>
              <a:grpSpLocks/>
            </p:cNvGrpSpPr>
            <p:nvPr/>
          </p:nvGrpSpPr>
          <p:grpSpPr bwMode="auto">
            <a:xfrm>
              <a:off x="3311" y="2467"/>
              <a:ext cx="825" cy="270"/>
              <a:chOff x="1560" y="3675"/>
              <a:chExt cx="1485" cy="540"/>
            </a:xfrm>
          </p:grpSpPr>
          <p:sp>
            <p:nvSpPr>
              <p:cNvPr id="100454" name="Line 49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55" name="Group 49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56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100457" name="Line 49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100381" name="Group 494"/>
          <p:cNvGrpSpPr>
            <a:grpSpLocks/>
          </p:cNvGrpSpPr>
          <p:nvPr/>
        </p:nvGrpSpPr>
        <p:grpSpPr bwMode="auto">
          <a:xfrm>
            <a:off x="2555875" y="4826000"/>
            <a:ext cx="3144838" cy="1555750"/>
            <a:chOff x="1051" y="1980"/>
            <a:chExt cx="1428" cy="708"/>
          </a:xfrm>
        </p:grpSpPr>
        <p:sp>
          <p:nvSpPr>
            <p:cNvPr id="100408" name="Text Box 495"/>
            <p:cNvSpPr txBox="1">
              <a:spLocks noChangeArrowheads="1"/>
            </p:cNvSpPr>
            <p:nvPr/>
          </p:nvSpPr>
          <p:spPr bwMode="auto">
            <a:xfrm>
              <a:off x="1637" y="2303"/>
              <a:ext cx="726" cy="145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latin typeface="Times New Roman" pitchFamily="18" charset="0"/>
                  <a:ea typeface="宋体" charset="-122"/>
                </a:rPr>
                <a:t>2/4</a:t>
              </a:r>
              <a:r>
                <a:rPr lang="zh-CN" altLang="en-US" sz="1400">
                  <a:latin typeface="Times New Roman" pitchFamily="18" charset="0"/>
                  <a:ea typeface="宋体" charset="-122"/>
                </a:rPr>
                <a:t>译码器</a:t>
              </a:r>
            </a:p>
          </p:txBody>
        </p:sp>
        <p:sp>
          <p:nvSpPr>
            <p:cNvPr id="100409" name="Line 496"/>
            <p:cNvSpPr>
              <a:spLocks noChangeShapeType="1"/>
            </p:cNvSpPr>
            <p:nvPr/>
          </p:nvSpPr>
          <p:spPr bwMode="auto">
            <a:xfrm>
              <a:off x="1829" y="2449"/>
              <a:ext cx="0" cy="7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10" name="Line 497"/>
            <p:cNvSpPr>
              <a:spLocks noChangeShapeType="1"/>
            </p:cNvSpPr>
            <p:nvPr/>
          </p:nvSpPr>
          <p:spPr bwMode="auto">
            <a:xfrm>
              <a:off x="2113" y="2449"/>
              <a:ext cx="0" cy="7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11" name="Text Box 498"/>
            <p:cNvSpPr txBox="1">
              <a:spLocks noChangeArrowheads="1"/>
            </p:cNvSpPr>
            <p:nvPr/>
          </p:nvSpPr>
          <p:spPr bwMode="auto">
            <a:xfrm>
              <a:off x="1666" y="2496"/>
              <a:ext cx="314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12</a:t>
              </a:r>
              <a:endParaRPr lang="en-US" altLang="zh-CN" sz="180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412" name="Text Box 499"/>
            <p:cNvSpPr txBox="1">
              <a:spLocks noChangeArrowheads="1"/>
            </p:cNvSpPr>
            <p:nvPr/>
          </p:nvSpPr>
          <p:spPr bwMode="auto">
            <a:xfrm>
              <a:off x="1957" y="2500"/>
              <a:ext cx="313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11</a:t>
              </a:r>
              <a:endParaRPr lang="en-US" altLang="zh-CN" sz="180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413" name="Oval 500"/>
            <p:cNvSpPr>
              <a:spLocks noChangeArrowheads="1"/>
            </p:cNvSpPr>
            <p:nvPr/>
          </p:nvSpPr>
          <p:spPr bwMode="auto">
            <a:xfrm>
              <a:off x="1573" y="2350"/>
              <a:ext cx="58" cy="47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414" name="Line 501"/>
            <p:cNvSpPr>
              <a:spLocks noChangeShapeType="1"/>
            </p:cNvSpPr>
            <p:nvPr/>
          </p:nvSpPr>
          <p:spPr bwMode="auto">
            <a:xfrm>
              <a:off x="1429" y="2374"/>
              <a:ext cx="146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415" name="Group 502"/>
            <p:cNvGrpSpPr>
              <a:grpSpLocks/>
            </p:cNvGrpSpPr>
            <p:nvPr/>
          </p:nvGrpSpPr>
          <p:grpSpPr bwMode="auto">
            <a:xfrm>
              <a:off x="1051" y="2318"/>
              <a:ext cx="418" cy="187"/>
              <a:chOff x="6165" y="8955"/>
              <a:chExt cx="1080" cy="600"/>
            </a:xfrm>
          </p:grpSpPr>
          <p:sp>
            <p:nvSpPr>
              <p:cNvPr id="100445" name="Text Box 503"/>
              <p:cNvSpPr txBox="1">
                <a:spLocks noChangeArrowheads="1"/>
              </p:cNvSpPr>
              <p:nvPr/>
            </p:nvSpPr>
            <p:spPr bwMode="auto">
              <a:xfrm>
                <a:off x="6165" y="8955"/>
                <a:ext cx="1080" cy="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MEM</a:t>
                </a:r>
              </a:p>
            </p:txBody>
          </p:sp>
          <p:sp>
            <p:nvSpPr>
              <p:cNvPr id="100446" name="Line 504"/>
              <p:cNvSpPr>
                <a:spLocks noChangeShapeType="1"/>
              </p:cNvSpPr>
              <p:nvPr/>
            </p:nvSpPr>
            <p:spPr bwMode="auto">
              <a:xfrm>
                <a:off x="6375" y="9030"/>
                <a:ext cx="660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00416" name="Oval 505"/>
            <p:cNvSpPr>
              <a:spLocks noChangeArrowheads="1"/>
            </p:cNvSpPr>
            <p:nvPr/>
          </p:nvSpPr>
          <p:spPr bwMode="auto">
            <a:xfrm>
              <a:off x="1759" y="2257"/>
              <a:ext cx="47" cy="37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417" name="Oval 506"/>
            <p:cNvSpPr>
              <a:spLocks noChangeArrowheads="1"/>
            </p:cNvSpPr>
            <p:nvPr/>
          </p:nvSpPr>
          <p:spPr bwMode="auto">
            <a:xfrm>
              <a:off x="1910" y="2261"/>
              <a:ext cx="47" cy="3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418" name="Oval 507"/>
            <p:cNvSpPr>
              <a:spLocks noChangeArrowheads="1"/>
            </p:cNvSpPr>
            <p:nvPr/>
          </p:nvSpPr>
          <p:spPr bwMode="auto">
            <a:xfrm>
              <a:off x="2061" y="2261"/>
              <a:ext cx="46" cy="3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419" name="Oval 508"/>
            <p:cNvSpPr>
              <a:spLocks noChangeArrowheads="1"/>
            </p:cNvSpPr>
            <p:nvPr/>
          </p:nvSpPr>
          <p:spPr bwMode="auto">
            <a:xfrm>
              <a:off x="2218" y="2261"/>
              <a:ext cx="46" cy="3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420" name="Line 509"/>
            <p:cNvSpPr>
              <a:spLocks noChangeShapeType="1"/>
            </p:cNvSpPr>
            <p:nvPr/>
          </p:nvSpPr>
          <p:spPr bwMode="auto">
            <a:xfrm flipV="1">
              <a:off x="1782" y="2182"/>
              <a:ext cx="0" cy="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21" name="Line 510"/>
            <p:cNvSpPr>
              <a:spLocks noChangeShapeType="1"/>
            </p:cNvSpPr>
            <p:nvPr/>
          </p:nvSpPr>
          <p:spPr bwMode="auto">
            <a:xfrm flipV="1">
              <a:off x="1933" y="2078"/>
              <a:ext cx="0" cy="18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22" name="Line 511"/>
            <p:cNvSpPr>
              <a:spLocks noChangeShapeType="1"/>
            </p:cNvSpPr>
            <p:nvPr/>
          </p:nvSpPr>
          <p:spPr bwMode="auto">
            <a:xfrm flipV="1">
              <a:off x="2084" y="2083"/>
              <a:ext cx="0" cy="18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23" name="Line 512"/>
            <p:cNvSpPr>
              <a:spLocks noChangeShapeType="1"/>
            </p:cNvSpPr>
            <p:nvPr/>
          </p:nvSpPr>
          <p:spPr bwMode="auto">
            <a:xfrm flipV="1">
              <a:off x="2241" y="2083"/>
              <a:ext cx="0" cy="18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424" name="Group 513"/>
            <p:cNvGrpSpPr>
              <a:grpSpLocks/>
            </p:cNvGrpSpPr>
            <p:nvPr/>
          </p:nvGrpSpPr>
          <p:grpSpPr bwMode="auto">
            <a:xfrm>
              <a:off x="1695" y="2135"/>
              <a:ext cx="122" cy="65"/>
              <a:chOff x="5610" y="9855"/>
              <a:chExt cx="255" cy="180"/>
            </a:xfrm>
          </p:grpSpPr>
          <p:sp>
            <p:nvSpPr>
              <p:cNvPr id="100442" name="Rectangle 514"/>
              <p:cNvSpPr>
                <a:spLocks noChangeArrowheads="1"/>
              </p:cNvSpPr>
              <p:nvPr/>
            </p:nvSpPr>
            <p:spPr bwMode="auto">
              <a:xfrm>
                <a:off x="5610" y="9855"/>
                <a:ext cx="255" cy="18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sz="1400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443" name="Line 515"/>
              <p:cNvSpPr>
                <a:spLocks noChangeShapeType="1"/>
              </p:cNvSpPr>
              <p:nvPr/>
            </p:nvSpPr>
            <p:spPr bwMode="auto">
              <a:xfrm>
                <a:off x="5685" y="9945"/>
                <a:ext cx="90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444" name="Line 516"/>
              <p:cNvSpPr>
                <a:spLocks noChangeShapeType="1"/>
              </p:cNvSpPr>
              <p:nvPr/>
            </p:nvSpPr>
            <p:spPr bwMode="auto">
              <a:xfrm>
                <a:off x="5730" y="9900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00425" name="Line 517"/>
            <p:cNvSpPr>
              <a:spLocks noChangeShapeType="1"/>
            </p:cNvSpPr>
            <p:nvPr/>
          </p:nvSpPr>
          <p:spPr bwMode="auto">
            <a:xfrm flipV="1">
              <a:off x="1742" y="2069"/>
              <a:ext cx="0" cy="6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26" name="Freeform 518"/>
            <p:cNvSpPr>
              <a:spLocks/>
            </p:cNvSpPr>
            <p:nvPr/>
          </p:nvSpPr>
          <p:spPr bwMode="auto">
            <a:xfrm>
              <a:off x="1417" y="2200"/>
              <a:ext cx="313" cy="29"/>
            </a:xfrm>
            <a:custGeom>
              <a:avLst/>
              <a:gdLst>
                <a:gd name="T0" fmla="*/ 0 w 810"/>
                <a:gd name="T1" fmla="*/ 0 h 90"/>
                <a:gd name="T2" fmla="*/ 0 w 810"/>
                <a:gd name="T3" fmla="*/ 0 h 90"/>
                <a:gd name="T4" fmla="*/ 0 w 810"/>
                <a:gd name="T5" fmla="*/ 0 h 90"/>
                <a:gd name="T6" fmla="*/ 0 60000 65536"/>
                <a:gd name="T7" fmla="*/ 0 60000 65536"/>
                <a:gd name="T8" fmla="*/ 0 60000 65536"/>
                <a:gd name="T9" fmla="*/ 0 w 810"/>
                <a:gd name="T10" fmla="*/ 0 h 90"/>
                <a:gd name="T11" fmla="*/ 810 w 810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0" h="90">
                  <a:moveTo>
                    <a:pt x="810" y="0"/>
                  </a:moveTo>
                  <a:lnTo>
                    <a:pt x="810" y="90"/>
                  </a:lnTo>
                  <a:lnTo>
                    <a:pt x="0" y="90"/>
                  </a:lnTo>
                </a:path>
              </a:pathLst>
            </a:custGeom>
            <a:noFill/>
            <a:ln w="19050" cap="flat" cmpd="sng">
              <a:solidFill>
                <a:srgbClr val="0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427" name="Group 519"/>
            <p:cNvGrpSpPr>
              <a:grpSpLocks/>
            </p:cNvGrpSpPr>
            <p:nvPr/>
          </p:nvGrpSpPr>
          <p:grpSpPr bwMode="auto">
            <a:xfrm>
              <a:off x="1092" y="2157"/>
              <a:ext cx="342" cy="157"/>
              <a:chOff x="930" y="2637"/>
              <a:chExt cx="885" cy="546"/>
            </a:xfrm>
          </p:grpSpPr>
          <p:sp>
            <p:nvSpPr>
              <p:cNvPr id="100440" name="Text Box 520"/>
              <p:cNvSpPr txBox="1">
                <a:spLocks noChangeArrowheads="1"/>
              </p:cNvSpPr>
              <p:nvPr/>
            </p:nvSpPr>
            <p:spPr bwMode="auto">
              <a:xfrm>
                <a:off x="930" y="2637"/>
                <a:ext cx="885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>
                    <a:solidFill>
                      <a:srgbClr val="008000"/>
                    </a:solidFill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441" name="Line 521"/>
              <p:cNvSpPr>
                <a:spLocks noChangeShapeType="1"/>
              </p:cNvSpPr>
              <p:nvPr/>
            </p:nvSpPr>
            <p:spPr bwMode="auto">
              <a:xfrm>
                <a:off x="1185" y="2715"/>
                <a:ext cx="37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428" name="Group 522"/>
            <p:cNvGrpSpPr>
              <a:grpSpLocks/>
            </p:cNvGrpSpPr>
            <p:nvPr/>
          </p:nvGrpSpPr>
          <p:grpSpPr bwMode="auto">
            <a:xfrm>
              <a:off x="1452" y="1980"/>
              <a:ext cx="417" cy="169"/>
              <a:chOff x="765" y="4440"/>
              <a:chExt cx="1080" cy="540"/>
            </a:xfrm>
          </p:grpSpPr>
          <p:sp>
            <p:nvSpPr>
              <p:cNvPr id="100438" name="Text Box 523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CS0</a:t>
                </a:r>
              </a:p>
            </p:txBody>
          </p:sp>
          <p:sp>
            <p:nvSpPr>
              <p:cNvPr id="100439" name="Line 524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429" name="Group 525"/>
            <p:cNvGrpSpPr>
              <a:grpSpLocks/>
            </p:cNvGrpSpPr>
            <p:nvPr/>
          </p:nvGrpSpPr>
          <p:grpSpPr bwMode="auto">
            <a:xfrm>
              <a:off x="1678" y="1980"/>
              <a:ext cx="418" cy="169"/>
              <a:chOff x="765" y="4440"/>
              <a:chExt cx="1080" cy="540"/>
            </a:xfrm>
          </p:grpSpPr>
          <p:sp>
            <p:nvSpPr>
              <p:cNvPr id="100436" name="Text Box 526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CS1</a:t>
                </a:r>
              </a:p>
            </p:txBody>
          </p:sp>
          <p:sp>
            <p:nvSpPr>
              <p:cNvPr id="100437" name="Line 527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430" name="Group 528"/>
            <p:cNvGrpSpPr>
              <a:grpSpLocks/>
            </p:cNvGrpSpPr>
            <p:nvPr/>
          </p:nvGrpSpPr>
          <p:grpSpPr bwMode="auto">
            <a:xfrm>
              <a:off x="1869" y="1980"/>
              <a:ext cx="418" cy="169"/>
              <a:chOff x="765" y="4440"/>
              <a:chExt cx="1080" cy="540"/>
            </a:xfrm>
          </p:grpSpPr>
          <p:sp>
            <p:nvSpPr>
              <p:cNvPr id="100434" name="Text Box 529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CS2</a:t>
                </a:r>
              </a:p>
            </p:txBody>
          </p:sp>
          <p:sp>
            <p:nvSpPr>
              <p:cNvPr id="100435" name="Line 530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431" name="Group 531"/>
            <p:cNvGrpSpPr>
              <a:grpSpLocks/>
            </p:cNvGrpSpPr>
            <p:nvPr/>
          </p:nvGrpSpPr>
          <p:grpSpPr bwMode="auto">
            <a:xfrm>
              <a:off x="2061" y="1980"/>
              <a:ext cx="418" cy="169"/>
              <a:chOff x="765" y="4440"/>
              <a:chExt cx="1080" cy="540"/>
            </a:xfrm>
          </p:grpSpPr>
          <p:sp>
            <p:nvSpPr>
              <p:cNvPr id="100432" name="Text Box 532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CS3</a:t>
                </a:r>
              </a:p>
            </p:txBody>
          </p:sp>
          <p:sp>
            <p:nvSpPr>
              <p:cNvPr id="100433" name="Line 533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pic>
        <p:nvPicPr>
          <p:cNvPr id="100382" name="Picture 2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713" y="512763"/>
            <a:ext cx="21764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83" name="Picture 2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4797425"/>
            <a:ext cx="187166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84" name="Picture 23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4760913"/>
            <a:ext cx="1427162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85" name="Picture 23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4365625"/>
            <a:ext cx="1920875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0386" name="Group 233"/>
          <p:cNvGrpSpPr>
            <a:grpSpLocks/>
          </p:cNvGrpSpPr>
          <p:nvPr/>
        </p:nvGrpSpPr>
        <p:grpSpPr bwMode="auto">
          <a:xfrm>
            <a:off x="431800" y="1844675"/>
            <a:ext cx="1692275" cy="2189163"/>
            <a:chOff x="431" y="1162"/>
            <a:chExt cx="1247" cy="1379"/>
          </a:xfrm>
        </p:grpSpPr>
        <p:sp>
          <p:nvSpPr>
            <p:cNvPr id="100387" name="Text Box 28"/>
            <p:cNvSpPr txBox="1">
              <a:spLocks noChangeArrowheads="1"/>
            </p:cNvSpPr>
            <p:nvPr/>
          </p:nvSpPr>
          <p:spPr bwMode="auto">
            <a:xfrm>
              <a:off x="999" y="1194"/>
              <a:ext cx="6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15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88" name="Rectangle 12"/>
            <p:cNvSpPr>
              <a:spLocks noChangeArrowheads="1"/>
            </p:cNvSpPr>
            <p:nvPr/>
          </p:nvSpPr>
          <p:spPr bwMode="auto">
            <a:xfrm>
              <a:off x="431" y="1162"/>
              <a:ext cx="463" cy="13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89" name="Freeform 13"/>
            <p:cNvSpPr>
              <a:spLocks/>
            </p:cNvSpPr>
            <p:nvPr/>
          </p:nvSpPr>
          <p:spPr bwMode="auto">
            <a:xfrm>
              <a:off x="431" y="1162"/>
              <a:ext cx="463" cy="1379"/>
            </a:xfrm>
            <a:custGeom>
              <a:avLst/>
              <a:gdLst>
                <a:gd name="T0" fmla="*/ 0 w 624"/>
                <a:gd name="T1" fmla="*/ 0 h 1008"/>
                <a:gd name="T2" fmla="*/ 1 w 624"/>
                <a:gd name="T3" fmla="*/ 0 h 1008"/>
                <a:gd name="T4" fmla="*/ 1 w 624"/>
                <a:gd name="T5" fmla="*/ 31675 h 1008"/>
                <a:gd name="T6" fmla="*/ 0 w 624"/>
                <a:gd name="T7" fmla="*/ 31675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008"/>
                <a:gd name="T14" fmla="*/ 624 w 62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008">
                  <a:moveTo>
                    <a:pt x="0" y="0"/>
                  </a:moveTo>
                  <a:lnTo>
                    <a:pt x="624" y="0"/>
                  </a:lnTo>
                  <a:lnTo>
                    <a:pt x="624" y="1008"/>
                  </a:lnTo>
                  <a:lnTo>
                    <a:pt x="0" y="100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90" name="Text Box 29"/>
            <p:cNvSpPr txBox="1">
              <a:spLocks noChangeArrowheads="1"/>
            </p:cNvSpPr>
            <p:nvPr/>
          </p:nvSpPr>
          <p:spPr bwMode="auto">
            <a:xfrm>
              <a:off x="1043" y="1470"/>
              <a:ext cx="6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391" name="Group 81"/>
            <p:cNvGrpSpPr>
              <a:grpSpLocks/>
            </p:cNvGrpSpPr>
            <p:nvPr/>
          </p:nvGrpSpPr>
          <p:grpSpPr bwMode="auto">
            <a:xfrm>
              <a:off x="1086" y="1803"/>
              <a:ext cx="419" cy="709"/>
              <a:chOff x="2046" y="2690"/>
              <a:chExt cx="678" cy="709"/>
            </a:xfrm>
          </p:grpSpPr>
          <p:grpSp>
            <p:nvGrpSpPr>
              <p:cNvPr id="100399" name="Group 30"/>
              <p:cNvGrpSpPr>
                <a:grpSpLocks/>
              </p:cNvGrpSpPr>
              <p:nvPr/>
            </p:nvGrpSpPr>
            <p:grpSpPr bwMode="auto">
              <a:xfrm>
                <a:off x="2046" y="2690"/>
                <a:ext cx="678" cy="233"/>
                <a:chOff x="96" y="1680"/>
                <a:chExt cx="528" cy="203"/>
              </a:xfrm>
            </p:grpSpPr>
            <p:sp>
              <p:nvSpPr>
                <p:cNvPr id="100406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6" y="1680"/>
                  <a:ext cx="528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MEM</a:t>
                  </a:r>
                </a:p>
              </p:txBody>
            </p:sp>
            <p:sp>
              <p:nvSpPr>
                <p:cNvPr id="100407" name="Line 32"/>
                <p:cNvSpPr>
                  <a:spLocks noChangeShapeType="1"/>
                </p:cNvSpPr>
                <p:nvPr/>
              </p:nvSpPr>
              <p:spPr bwMode="auto">
                <a:xfrm>
                  <a:off x="144" y="1728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00400" name="Group 34"/>
              <p:cNvGrpSpPr>
                <a:grpSpLocks/>
              </p:cNvGrpSpPr>
              <p:nvPr/>
            </p:nvGrpSpPr>
            <p:grpSpPr bwMode="auto">
              <a:xfrm>
                <a:off x="2108" y="2925"/>
                <a:ext cx="616" cy="233"/>
                <a:chOff x="1488" y="1977"/>
                <a:chExt cx="480" cy="202"/>
              </a:xfrm>
            </p:grpSpPr>
            <p:sp>
              <p:nvSpPr>
                <p:cNvPr id="100404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RD</a:t>
                  </a:r>
                </a:p>
              </p:txBody>
            </p:sp>
            <p:sp>
              <p:nvSpPr>
                <p:cNvPr id="100405" name="Line 36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00401" name="Group 37"/>
              <p:cNvGrpSpPr>
                <a:grpSpLocks/>
              </p:cNvGrpSpPr>
              <p:nvPr/>
            </p:nvGrpSpPr>
            <p:grpSpPr bwMode="auto">
              <a:xfrm>
                <a:off x="2108" y="3166"/>
                <a:ext cx="616" cy="233"/>
                <a:chOff x="1488" y="1978"/>
                <a:chExt cx="480" cy="203"/>
              </a:xfrm>
            </p:grpSpPr>
            <p:sp>
              <p:nvSpPr>
                <p:cNvPr id="10040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488" y="1978"/>
                  <a:ext cx="480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WR</a:t>
                  </a:r>
                </a:p>
              </p:txBody>
            </p:sp>
            <p:sp>
              <p:nvSpPr>
                <p:cNvPr id="100403" name="Line 39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392" name="Group 248"/>
            <p:cNvGrpSpPr>
              <a:grpSpLocks/>
            </p:cNvGrpSpPr>
            <p:nvPr/>
          </p:nvGrpSpPr>
          <p:grpSpPr bwMode="auto">
            <a:xfrm>
              <a:off x="894" y="1438"/>
              <a:ext cx="739" cy="1017"/>
              <a:chOff x="876" y="1438"/>
              <a:chExt cx="995" cy="1017"/>
            </a:xfrm>
          </p:grpSpPr>
          <p:sp>
            <p:nvSpPr>
              <p:cNvPr id="100394" name="Line 24"/>
              <p:cNvSpPr>
                <a:spLocks noChangeShapeType="1"/>
              </p:cNvSpPr>
              <p:nvPr/>
            </p:nvSpPr>
            <p:spPr bwMode="auto">
              <a:xfrm>
                <a:off x="876" y="1438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395" name="Line 25"/>
              <p:cNvSpPr>
                <a:spLocks noChangeShapeType="1"/>
              </p:cNvSpPr>
              <p:nvPr/>
            </p:nvSpPr>
            <p:spPr bwMode="auto">
              <a:xfrm>
                <a:off x="876" y="1714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396" name="Line 26"/>
              <p:cNvSpPr>
                <a:spLocks noChangeShapeType="1"/>
              </p:cNvSpPr>
              <p:nvPr/>
            </p:nvSpPr>
            <p:spPr bwMode="auto">
              <a:xfrm>
                <a:off x="876" y="1989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397" name="Line 26"/>
              <p:cNvSpPr>
                <a:spLocks noChangeShapeType="1"/>
              </p:cNvSpPr>
              <p:nvPr/>
            </p:nvSpPr>
            <p:spPr bwMode="auto">
              <a:xfrm>
                <a:off x="884" y="2228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398" name="Line 26"/>
              <p:cNvSpPr>
                <a:spLocks noChangeShapeType="1"/>
              </p:cNvSpPr>
              <p:nvPr/>
            </p:nvSpPr>
            <p:spPr bwMode="auto">
              <a:xfrm>
                <a:off x="884" y="2455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00393" name="Text Box 254"/>
            <p:cNvSpPr txBox="1">
              <a:spLocks noChangeArrowheads="1"/>
            </p:cNvSpPr>
            <p:nvPr/>
          </p:nvSpPr>
          <p:spPr bwMode="auto">
            <a:xfrm>
              <a:off x="431" y="1661"/>
              <a:ext cx="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CPU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3"/>
          <p:cNvSpPr txBox="1">
            <a:spLocks noChangeArrowheads="1"/>
          </p:cNvSpPr>
          <p:nvPr/>
        </p:nvSpPr>
        <p:spPr bwMode="auto">
          <a:xfrm>
            <a:off x="2262188" y="746125"/>
            <a:ext cx="36861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latin typeface="宋体" charset="-122"/>
                <a:ea typeface="宋体" charset="-122"/>
              </a:rPr>
              <a:t>           </a:t>
            </a:r>
            <a:r>
              <a:rPr lang="en-US" altLang="zh-CN" sz="1600" b="0">
                <a:latin typeface="宋体" charset="-122"/>
                <a:ea typeface="宋体" charset="-122"/>
              </a:rPr>
              <a:t>......</a:t>
            </a:r>
          </a:p>
        </p:txBody>
      </p:sp>
      <p:grpSp>
        <p:nvGrpSpPr>
          <p:cNvPr id="101379" name="Group 4"/>
          <p:cNvGrpSpPr>
            <a:grpSpLocks/>
          </p:cNvGrpSpPr>
          <p:nvPr/>
        </p:nvGrpSpPr>
        <p:grpSpPr bwMode="auto">
          <a:xfrm>
            <a:off x="5619750" y="414338"/>
            <a:ext cx="2552700" cy="3159125"/>
            <a:chOff x="4065" y="10317"/>
            <a:chExt cx="2670" cy="3408"/>
          </a:xfrm>
        </p:grpSpPr>
        <p:sp>
          <p:nvSpPr>
            <p:cNvPr id="101458" name="Text Box 5"/>
            <p:cNvSpPr txBox="1">
              <a:spLocks noChangeArrowheads="1"/>
            </p:cNvSpPr>
            <p:nvPr/>
          </p:nvSpPr>
          <p:spPr bwMode="auto">
            <a:xfrm>
              <a:off x="4800" y="10317"/>
              <a:ext cx="1935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宋体" charset="-122"/>
                  <a:ea typeface="宋体" charset="-122"/>
                </a:rPr>
                <a:t>D</a:t>
              </a:r>
              <a:r>
                <a:rPr lang="en-US" altLang="zh-CN" sz="1600" baseline="-25000">
                  <a:latin typeface="宋体" charset="-122"/>
                  <a:ea typeface="宋体" charset="-122"/>
                </a:rPr>
                <a:t>7  </a:t>
              </a:r>
              <a:r>
                <a:rPr lang="en-US" altLang="zh-CN" sz="1600">
                  <a:latin typeface="宋体" charset="-122"/>
                  <a:ea typeface="宋体" charset="-122"/>
                </a:rPr>
                <a:t>   D</a:t>
              </a:r>
              <a:r>
                <a:rPr lang="en-US" altLang="zh-CN" sz="1600" baseline="-25000">
                  <a:latin typeface="宋体" charset="-122"/>
                  <a:ea typeface="宋体" charset="-122"/>
                </a:rPr>
                <a:t>4 </a:t>
              </a:r>
              <a:r>
                <a:rPr lang="en-US" altLang="zh-CN" sz="1600">
                  <a:latin typeface="宋体" charset="-122"/>
                  <a:ea typeface="宋体" charset="-122"/>
                </a:rPr>
                <a:t>D</a:t>
              </a:r>
              <a:r>
                <a:rPr lang="en-US" altLang="zh-CN" sz="1600" baseline="-25000">
                  <a:latin typeface="宋体" charset="-122"/>
                  <a:ea typeface="宋体" charset="-122"/>
                </a:rPr>
                <a:t>3    </a:t>
              </a:r>
              <a:r>
                <a:rPr lang="en-US" altLang="zh-CN" sz="1600">
                  <a:latin typeface="宋体" charset="-122"/>
                  <a:ea typeface="宋体" charset="-122"/>
                </a:rPr>
                <a:t> D</a:t>
              </a:r>
              <a:r>
                <a:rPr lang="en-US" altLang="zh-CN" sz="1600" baseline="-25000">
                  <a:latin typeface="宋体" charset="-122"/>
                  <a:ea typeface="宋体" charset="-122"/>
                </a:rPr>
                <a:t>0</a:t>
              </a:r>
              <a:endParaRPr lang="en-US" altLang="zh-CN" sz="1600">
                <a:latin typeface="宋体" charset="-122"/>
                <a:ea typeface="宋体" charset="-122"/>
              </a:endParaRPr>
            </a:p>
          </p:txBody>
        </p:sp>
        <p:sp>
          <p:nvSpPr>
            <p:cNvPr id="101459" name="Rectangle 6"/>
            <p:cNvSpPr>
              <a:spLocks noChangeArrowheads="1"/>
            </p:cNvSpPr>
            <p:nvPr/>
          </p:nvSpPr>
          <p:spPr bwMode="auto">
            <a:xfrm>
              <a:off x="4815" y="10730"/>
              <a:ext cx="1875" cy="27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grpSp>
          <p:nvGrpSpPr>
            <p:cNvPr id="101460" name="Group 7"/>
            <p:cNvGrpSpPr>
              <a:grpSpLocks/>
            </p:cNvGrpSpPr>
            <p:nvPr/>
          </p:nvGrpSpPr>
          <p:grpSpPr bwMode="auto">
            <a:xfrm>
              <a:off x="4065" y="10654"/>
              <a:ext cx="840" cy="1016"/>
              <a:chOff x="1920" y="10729"/>
              <a:chExt cx="840" cy="1031"/>
            </a:xfrm>
          </p:grpSpPr>
          <p:sp>
            <p:nvSpPr>
              <p:cNvPr id="101480" name="Text Box 8"/>
              <p:cNvSpPr txBox="1">
                <a:spLocks noChangeArrowheads="1"/>
              </p:cNvSpPr>
              <p:nvPr/>
            </p:nvSpPr>
            <p:spPr bwMode="auto">
              <a:xfrm>
                <a:off x="1920" y="10729"/>
                <a:ext cx="840" cy="1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0000H</a:t>
                </a:r>
              </a:p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07FFH</a:t>
                </a:r>
                <a:endParaRPr lang="en-US" altLang="zh-CN" sz="1600" b="0"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1481" name="Freeform 9"/>
              <p:cNvSpPr>
                <a:spLocks/>
              </p:cNvSpPr>
              <p:nvPr/>
            </p:nvSpPr>
            <p:spPr bwMode="auto">
              <a:xfrm>
                <a:off x="2285" y="11013"/>
                <a:ext cx="117" cy="215"/>
              </a:xfrm>
              <a:custGeom>
                <a:avLst/>
                <a:gdLst>
                  <a:gd name="T0" fmla="*/ 8 w 132"/>
                  <a:gd name="T1" fmla="*/ 0 h 345"/>
                  <a:gd name="T2" fmla="*/ 4 w 132"/>
                  <a:gd name="T3" fmla="*/ 1 h 345"/>
                  <a:gd name="T4" fmla="*/ 13 w 132"/>
                  <a:gd name="T5" fmla="*/ 1 h 345"/>
                  <a:gd name="T6" fmla="*/ 4 w 132"/>
                  <a:gd name="T7" fmla="*/ 1 h 3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"/>
                  <a:gd name="T13" fmla="*/ 0 h 345"/>
                  <a:gd name="T14" fmla="*/ 132 w 132"/>
                  <a:gd name="T15" fmla="*/ 345 h 3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" h="345">
                    <a:moveTo>
                      <a:pt x="70" y="0"/>
                    </a:moveTo>
                    <a:cubicBezTo>
                      <a:pt x="35" y="44"/>
                      <a:pt x="0" y="88"/>
                      <a:pt x="10" y="120"/>
                    </a:cubicBezTo>
                    <a:cubicBezTo>
                      <a:pt x="20" y="152"/>
                      <a:pt x="128" y="158"/>
                      <a:pt x="130" y="195"/>
                    </a:cubicBezTo>
                    <a:cubicBezTo>
                      <a:pt x="132" y="232"/>
                      <a:pt x="78" y="288"/>
                      <a:pt x="25" y="34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01461" name="Text Box 10"/>
            <p:cNvSpPr txBox="1">
              <a:spLocks noChangeArrowheads="1"/>
            </p:cNvSpPr>
            <p:nvPr/>
          </p:nvSpPr>
          <p:spPr bwMode="auto">
            <a:xfrm>
              <a:off x="4890" y="10775"/>
              <a:ext cx="1725" cy="5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宋体" charset="-122"/>
                  <a:ea typeface="宋体" charset="-122"/>
                </a:rPr>
                <a:t>2K</a:t>
              </a:r>
              <a:r>
                <a:rPr lang="en-US" altLang="zh-CN" sz="1600">
                  <a:latin typeface="宋体" charset="-122"/>
                  <a:ea typeface="宋体" charset="-122"/>
                  <a:sym typeface="Symbol" pitchFamily="18" charset="2"/>
                </a:rPr>
                <a:t></a:t>
              </a:r>
              <a:r>
                <a:rPr lang="en-US" altLang="zh-CN" sz="1600">
                  <a:latin typeface="宋体" charset="-122"/>
                  <a:ea typeface="宋体" charset="-122"/>
                </a:rPr>
                <a:t>8 ROM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宋体" charset="-122"/>
                  <a:ea typeface="宋体" charset="-122"/>
                </a:rPr>
                <a:t>U0</a:t>
              </a:r>
              <a:endParaRPr lang="en-US" altLang="zh-CN" sz="1600" b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101462" name="Group 11"/>
            <p:cNvGrpSpPr>
              <a:grpSpLocks/>
            </p:cNvGrpSpPr>
            <p:nvPr/>
          </p:nvGrpSpPr>
          <p:grpSpPr bwMode="auto">
            <a:xfrm>
              <a:off x="4065" y="11329"/>
              <a:ext cx="2550" cy="1016"/>
              <a:chOff x="4065" y="11314"/>
              <a:chExt cx="2550" cy="1016"/>
            </a:xfrm>
          </p:grpSpPr>
          <p:sp>
            <p:nvSpPr>
              <p:cNvPr id="101475" name="Text Box 12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U1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1476" name="Text Box 13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U2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101477" name="Group 14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101478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0800H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0FFFH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101479" name="Freeform 16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1463" name="Group 17"/>
            <p:cNvGrpSpPr>
              <a:grpSpLocks/>
            </p:cNvGrpSpPr>
            <p:nvPr/>
          </p:nvGrpSpPr>
          <p:grpSpPr bwMode="auto">
            <a:xfrm>
              <a:off x="4065" y="12019"/>
              <a:ext cx="2550" cy="1016"/>
              <a:chOff x="4065" y="11314"/>
              <a:chExt cx="2550" cy="1016"/>
            </a:xfrm>
          </p:grpSpPr>
          <p:sp>
            <p:nvSpPr>
              <p:cNvPr id="101470" name="Text Box 18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U3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1471" name="Text Box 19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U4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101472" name="Group 20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10147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1000H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17FFH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101474" name="Freeform 22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1464" name="Group 23"/>
            <p:cNvGrpSpPr>
              <a:grpSpLocks/>
            </p:cNvGrpSpPr>
            <p:nvPr/>
          </p:nvGrpSpPr>
          <p:grpSpPr bwMode="auto">
            <a:xfrm>
              <a:off x="4065" y="12709"/>
              <a:ext cx="2550" cy="1016"/>
              <a:chOff x="4065" y="11314"/>
              <a:chExt cx="2550" cy="1016"/>
            </a:xfrm>
          </p:grpSpPr>
          <p:sp>
            <p:nvSpPr>
              <p:cNvPr id="101465" name="Text Box 24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U5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1466" name="Text Box 25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宋体" charset="-122"/>
                    <a:ea typeface="宋体" charset="-122"/>
                  </a:rPr>
                  <a:t>U6</a:t>
                </a:r>
                <a:endParaRPr lang="en-US" altLang="zh-CN" sz="1600" b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101467" name="Group 26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10146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latin typeface="宋体" charset="-122"/>
                      <a:ea typeface="宋体" charset="-122"/>
                    </a:rPr>
                    <a:t>1FFFH</a:t>
                  </a:r>
                  <a:endParaRPr lang="en-US" altLang="zh-CN" sz="1600" b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101469" name="Freeform 28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101380" name="Group 29"/>
          <p:cNvGrpSpPr>
            <a:grpSpLocks/>
          </p:cNvGrpSpPr>
          <p:nvPr/>
        </p:nvGrpSpPr>
        <p:grpSpPr bwMode="auto">
          <a:xfrm>
            <a:off x="1831975" y="404813"/>
            <a:ext cx="3027363" cy="419100"/>
            <a:chOff x="1380" y="6420"/>
            <a:chExt cx="3915" cy="480"/>
          </a:xfrm>
        </p:grpSpPr>
        <p:sp>
          <p:nvSpPr>
            <p:cNvPr id="101455" name="Text Box 30"/>
            <p:cNvSpPr txBox="1">
              <a:spLocks noChangeArrowheads="1"/>
            </p:cNvSpPr>
            <p:nvPr/>
          </p:nvSpPr>
          <p:spPr bwMode="auto">
            <a:xfrm>
              <a:off x="1380" y="6420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>
                  <a:latin typeface="Times New Roman" pitchFamily="18" charset="0"/>
                  <a:ea typeface="宋体" charset="-122"/>
                </a:rPr>
                <a:t>15</a:t>
              </a:r>
              <a:endParaRPr lang="en-US" altLang="zh-CN" sz="160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1456" name="Text Box 31"/>
            <p:cNvSpPr txBox="1">
              <a:spLocks noChangeArrowheads="1"/>
            </p:cNvSpPr>
            <p:nvPr/>
          </p:nvSpPr>
          <p:spPr bwMode="auto">
            <a:xfrm>
              <a:off x="45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160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1457" name="Text Box 32"/>
            <p:cNvSpPr txBox="1">
              <a:spLocks noChangeArrowheads="1"/>
            </p:cNvSpPr>
            <p:nvPr/>
          </p:nvSpPr>
          <p:spPr bwMode="auto">
            <a:xfrm>
              <a:off x="24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>
                  <a:latin typeface="Times New Roman" pitchFamily="18" charset="0"/>
                  <a:ea typeface="宋体" charset="-122"/>
                </a:rPr>
                <a:t>10</a:t>
              </a:r>
              <a:endParaRPr lang="en-US" altLang="zh-CN" sz="160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01381" name="Group 33"/>
          <p:cNvGrpSpPr>
            <a:grpSpLocks/>
          </p:cNvGrpSpPr>
          <p:nvPr/>
        </p:nvGrpSpPr>
        <p:grpSpPr bwMode="auto">
          <a:xfrm>
            <a:off x="1660525" y="752475"/>
            <a:ext cx="4660900" cy="735013"/>
            <a:chOff x="1995" y="6207"/>
            <a:chExt cx="4875" cy="843"/>
          </a:xfrm>
        </p:grpSpPr>
        <p:grpSp>
          <p:nvGrpSpPr>
            <p:cNvPr id="101451" name="Group 34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101453" name="Text Box 35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1454" name="Text Box 36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01452" name="Line 37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1382" name="Group 38"/>
          <p:cNvGrpSpPr>
            <a:grpSpLocks/>
          </p:cNvGrpSpPr>
          <p:nvPr/>
        </p:nvGrpSpPr>
        <p:grpSpPr bwMode="auto">
          <a:xfrm>
            <a:off x="1674813" y="1420813"/>
            <a:ext cx="4660900" cy="735012"/>
            <a:chOff x="1995" y="6207"/>
            <a:chExt cx="4875" cy="843"/>
          </a:xfrm>
        </p:grpSpPr>
        <p:grpSp>
          <p:nvGrpSpPr>
            <p:cNvPr id="101447" name="Group 39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101449" name="Text Box 40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1450" name="Text Box 41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01448" name="Line 42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1383" name="Group 43"/>
          <p:cNvGrpSpPr>
            <a:grpSpLocks/>
          </p:cNvGrpSpPr>
          <p:nvPr/>
        </p:nvGrpSpPr>
        <p:grpSpPr bwMode="auto">
          <a:xfrm>
            <a:off x="1689100" y="2022475"/>
            <a:ext cx="4660900" cy="736600"/>
            <a:chOff x="1995" y="6207"/>
            <a:chExt cx="4875" cy="843"/>
          </a:xfrm>
        </p:grpSpPr>
        <p:grpSp>
          <p:nvGrpSpPr>
            <p:cNvPr id="101443" name="Group 44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101445" name="Text Box 45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</a:p>
            </p:txBody>
          </p:sp>
          <p:sp>
            <p:nvSpPr>
              <p:cNvPr id="101446" name="Text Box 46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01444" name="Line 47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1384" name="Group 48"/>
          <p:cNvGrpSpPr>
            <a:grpSpLocks/>
          </p:cNvGrpSpPr>
          <p:nvPr/>
        </p:nvGrpSpPr>
        <p:grpSpPr bwMode="auto">
          <a:xfrm>
            <a:off x="1962150" y="2665413"/>
            <a:ext cx="3700463" cy="735012"/>
            <a:chOff x="2280" y="6207"/>
            <a:chExt cx="3870" cy="843"/>
          </a:xfrm>
        </p:grpSpPr>
        <p:sp>
          <p:nvSpPr>
            <p:cNvPr id="101441" name="Text Box 49"/>
            <p:cNvSpPr txBox="1">
              <a:spLocks noChangeArrowheads="1"/>
            </p:cNvSpPr>
            <p:nvPr/>
          </p:nvSpPr>
          <p:spPr bwMode="auto">
            <a:xfrm>
              <a:off x="2280" y="620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0 0 0  0 0 0 0  0 0 0 0</a:t>
              </a:r>
            </a:p>
          </p:txBody>
        </p:sp>
        <p:sp>
          <p:nvSpPr>
            <p:cNvPr id="101442" name="Text Box 50"/>
            <p:cNvSpPr txBox="1">
              <a:spLocks noChangeArrowheads="1"/>
            </p:cNvSpPr>
            <p:nvPr/>
          </p:nvSpPr>
          <p:spPr bwMode="auto">
            <a:xfrm>
              <a:off x="2295" y="656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1 1 1  1 1 1 1  1 1 1 1</a:t>
              </a:r>
              <a:endParaRPr lang="en-US" altLang="zh-CN" sz="160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01385" name="Line 51"/>
          <p:cNvSpPr>
            <a:spLocks noChangeShapeType="1"/>
          </p:cNvSpPr>
          <p:nvPr/>
        </p:nvSpPr>
        <p:spPr bwMode="auto">
          <a:xfrm>
            <a:off x="2828925" y="766763"/>
            <a:ext cx="14288" cy="26733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1386" name="Group 52"/>
          <p:cNvGrpSpPr>
            <a:grpSpLocks/>
          </p:cNvGrpSpPr>
          <p:nvPr/>
        </p:nvGrpSpPr>
        <p:grpSpPr bwMode="auto">
          <a:xfrm>
            <a:off x="928688" y="2894013"/>
            <a:ext cx="960437" cy="433387"/>
            <a:chOff x="919" y="1559"/>
            <a:chExt cx="1005" cy="495"/>
          </a:xfrm>
        </p:grpSpPr>
        <p:sp>
          <p:nvSpPr>
            <p:cNvPr id="101439" name="Text Box 53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CS3</a:t>
              </a:r>
            </a:p>
          </p:txBody>
        </p:sp>
        <p:sp>
          <p:nvSpPr>
            <p:cNvPr id="101440" name="Line 54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1387" name="Group 55"/>
          <p:cNvGrpSpPr>
            <a:grpSpLocks/>
          </p:cNvGrpSpPr>
          <p:nvPr/>
        </p:nvGrpSpPr>
        <p:grpSpPr bwMode="auto">
          <a:xfrm>
            <a:off x="928688" y="2265363"/>
            <a:ext cx="960437" cy="431800"/>
            <a:chOff x="919" y="1559"/>
            <a:chExt cx="1005" cy="495"/>
          </a:xfrm>
        </p:grpSpPr>
        <p:sp>
          <p:nvSpPr>
            <p:cNvPr id="101437" name="Text Box 56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CS2</a:t>
              </a:r>
            </a:p>
          </p:txBody>
        </p:sp>
        <p:sp>
          <p:nvSpPr>
            <p:cNvPr id="101438" name="Line 57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1388" name="Group 58"/>
          <p:cNvGrpSpPr>
            <a:grpSpLocks/>
          </p:cNvGrpSpPr>
          <p:nvPr/>
        </p:nvGrpSpPr>
        <p:grpSpPr bwMode="auto">
          <a:xfrm>
            <a:off x="928688" y="1531938"/>
            <a:ext cx="960437" cy="431800"/>
            <a:chOff x="919" y="1559"/>
            <a:chExt cx="1005" cy="495"/>
          </a:xfrm>
        </p:grpSpPr>
        <p:sp>
          <p:nvSpPr>
            <p:cNvPr id="101435" name="Text Box 59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CS1</a:t>
              </a:r>
            </a:p>
          </p:txBody>
        </p:sp>
        <p:sp>
          <p:nvSpPr>
            <p:cNvPr id="101436" name="Line 60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1389" name="Group 61"/>
          <p:cNvGrpSpPr>
            <a:grpSpLocks/>
          </p:cNvGrpSpPr>
          <p:nvPr/>
        </p:nvGrpSpPr>
        <p:grpSpPr bwMode="auto">
          <a:xfrm>
            <a:off x="900113" y="793750"/>
            <a:ext cx="960437" cy="431800"/>
            <a:chOff x="919" y="1559"/>
            <a:chExt cx="1005" cy="495"/>
          </a:xfrm>
        </p:grpSpPr>
        <p:sp>
          <p:nvSpPr>
            <p:cNvPr id="101433" name="Text Box 62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CS0</a:t>
              </a:r>
            </a:p>
          </p:txBody>
        </p:sp>
        <p:sp>
          <p:nvSpPr>
            <p:cNvPr id="101434" name="Line 63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897112" name="Rectangle 88"/>
          <p:cNvSpPr>
            <a:spLocks noChangeArrowheads="1"/>
          </p:cNvSpPr>
          <p:nvPr/>
        </p:nvSpPr>
        <p:spPr bwMode="auto">
          <a:xfrm>
            <a:off x="611188" y="3357563"/>
            <a:ext cx="8458200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 bIns="0">
            <a:spAutoFit/>
          </a:bodyPr>
          <a:lstStyle/>
          <a:p>
            <a:pPr indent="5334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各芯片的片内地址线应接到外部提供的地址线的低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11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200" baseline="-25000" dirty="0">
                <a:latin typeface="黑体" pitchFamily="2" charset="-122"/>
                <a:ea typeface="黑体" pitchFamily="2" charset="-122"/>
              </a:rPr>
              <a:t>10-0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，</a:t>
            </a:r>
          </a:p>
          <a:p>
            <a:pPr indent="5334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芯片的片选逻辑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部分译码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为：</a:t>
            </a:r>
            <a:r>
              <a:rPr lang="zh-CN" altLang="en-US" sz="2200" dirty="0">
                <a:solidFill>
                  <a:schemeClr val="tx2"/>
                </a:solidFill>
                <a:latin typeface="宋体" charset="-122"/>
                <a:ea typeface="宋体" charset="-122"/>
              </a:rPr>
              <a:t>  </a:t>
            </a:r>
          </a:p>
        </p:txBody>
      </p:sp>
      <p:sp>
        <p:nvSpPr>
          <p:cNvPr id="101391" name="Text Box 87"/>
          <p:cNvSpPr txBox="1">
            <a:spLocks noChangeArrowheads="1"/>
          </p:cNvSpPr>
          <p:nvPr/>
        </p:nvSpPr>
        <p:spPr bwMode="auto">
          <a:xfrm>
            <a:off x="0" y="404813"/>
            <a:ext cx="935038" cy="4572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回顾</a:t>
            </a:r>
          </a:p>
        </p:txBody>
      </p:sp>
      <p:grpSp>
        <p:nvGrpSpPr>
          <p:cNvPr id="101392" name="Group 143"/>
          <p:cNvGrpSpPr>
            <a:grpSpLocks/>
          </p:cNvGrpSpPr>
          <p:nvPr/>
        </p:nvGrpSpPr>
        <p:grpSpPr bwMode="auto">
          <a:xfrm>
            <a:off x="1187450" y="4365625"/>
            <a:ext cx="4211638" cy="2016125"/>
            <a:chOff x="748" y="2750"/>
            <a:chExt cx="2653" cy="1270"/>
          </a:xfrm>
        </p:grpSpPr>
        <p:grpSp>
          <p:nvGrpSpPr>
            <p:cNvPr id="101404" name="Group 144"/>
            <p:cNvGrpSpPr>
              <a:grpSpLocks/>
            </p:cNvGrpSpPr>
            <p:nvPr/>
          </p:nvGrpSpPr>
          <p:grpSpPr bwMode="auto">
            <a:xfrm>
              <a:off x="748" y="2750"/>
              <a:ext cx="2653" cy="313"/>
              <a:chOff x="748" y="2750"/>
              <a:chExt cx="2653" cy="313"/>
            </a:xfrm>
          </p:grpSpPr>
          <p:sp>
            <p:nvSpPr>
              <p:cNvPr id="101425" name="Text Box 65"/>
              <p:cNvSpPr txBox="1">
                <a:spLocks noChangeArrowheads="1"/>
              </p:cNvSpPr>
              <p:nvPr/>
            </p:nvSpPr>
            <p:spPr bwMode="auto">
              <a:xfrm>
                <a:off x="748" y="2750"/>
                <a:ext cx="2653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rgbClr val="CC3300"/>
                    </a:solidFill>
                    <a:latin typeface="宋体" charset="-122"/>
                    <a:ea typeface="宋体" charset="-122"/>
                  </a:rPr>
                  <a:t> </a:t>
                </a:r>
                <a:r>
                  <a:rPr lang="en-US" altLang="zh-CN" sz="2000" dirty="0">
                    <a:solidFill>
                      <a:schemeClr val="hlink"/>
                    </a:solidFill>
                    <a:latin typeface="宋体" charset="-122"/>
                    <a:ea typeface="宋体" charset="-122"/>
                  </a:rPr>
                  <a:t>CS0</a:t>
                </a:r>
                <a:r>
                  <a:rPr lang="en-US" altLang="zh-CN" sz="2000" dirty="0">
                    <a:latin typeface="宋体" charset="-122"/>
                    <a:ea typeface="宋体" charset="-122"/>
                  </a:rPr>
                  <a:t>  =  A</a:t>
                </a:r>
                <a:r>
                  <a:rPr lang="en-US" altLang="zh-CN" sz="2000" baseline="-25000" dirty="0">
                    <a:latin typeface="宋体" charset="-122"/>
                    <a:ea typeface="宋体" charset="-122"/>
                  </a:rPr>
                  <a:t>12 </a:t>
                </a:r>
                <a:r>
                  <a:rPr lang="en-US" altLang="zh-CN" sz="2000" dirty="0">
                    <a:latin typeface="宋体" charset="-122"/>
                    <a:ea typeface="宋体" charset="-122"/>
                  </a:rPr>
                  <a:t>A</a:t>
                </a:r>
                <a:r>
                  <a:rPr lang="en-US" altLang="zh-CN" sz="2000" baseline="-25000" dirty="0">
                    <a:latin typeface="宋体" charset="-122"/>
                    <a:ea typeface="宋体" charset="-122"/>
                  </a:rPr>
                  <a:t>11</a:t>
                </a:r>
                <a:r>
                  <a:rPr lang="en-US" altLang="zh-CN" sz="2000" dirty="0">
                    <a:latin typeface="宋体" charset="-122"/>
                    <a:ea typeface="宋体" charset="-122"/>
                  </a:rPr>
                  <a:t>(MEM)(RD)</a:t>
                </a: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solidFill>
                    <a:schemeClr val="tx1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1426" name="Line 66"/>
              <p:cNvSpPr>
                <a:spLocks noChangeShapeType="1"/>
              </p:cNvSpPr>
              <p:nvPr/>
            </p:nvSpPr>
            <p:spPr bwMode="auto">
              <a:xfrm>
                <a:off x="884" y="2795"/>
                <a:ext cx="238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27" name="Line 147"/>
              <p:cNvSpPr>
                <a:spLocks noChangeShapeType="1"/>
              </p:cNvSpPr>
              <p:nvPr/>
            </p:nvSpPr>
            <p:spPr bwMode="auto">
              <a:xfrm>
                <a:off x="2063" y="2818"/>
                <a:ext cx="227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28" name="Line 148"/>
              <p:cNvSpPr>
                <a:spLocks noChangeShapeType="1"/>
              </p:cNvSpPr>
              <p:nvPr/>
            </p:nvSpPr>
            <p:spPr bwMode="auto">
              <a:xfrm>
                <a:off x="2471" y="2818"/>
                <a:ext cx="137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29" name="Line 149"/>
              <p:cNvSpPr>
                <a:spLocks noChangeShapeType="1"/>
              </p:cNvSpPr>
              <p:nvPr/>
            </p:nvSpPr>
            <p:spPr bwMode="auto">
              <a:xfrm>
                <a:off x="1995" y="2788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30" name="Line 150"/>
              <p:cNvSpPr>
                <a:spLocks noChangeShapeType="1"/>
              </p:cNvSpPr>
              <p:nvPr/>
            </p:nvSpPr>
            <p:spPr bwMode="auto">
              <a:xfrm>
                <a:off x="1769" y="2788"/>
                <a:ext cx="15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31" name="Line 151"/>
              <p:cNvSpPr>
                <a:spLocks noChangeShapeType="1"/>
              </p:cNvSpPr>
              <p:nvPr/>
            </p:nvSpPr>
            <p:spPr bwMode="auto">
              <a:xfrm>
                <a:off x="1542" y="2788"/>
                <a:ext cx="15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32" name="Line 152"/>
              <p:cNvSpPr>
                <a:spLocks noChangeShapeType="1"/>
              </p:cNvSpPr>
              <p:nvPr/>
            </p:nvSpPr>
            <p:spPr bwMode="auto">
              <a:xfrm>
                <a:off x="1519" y="2750"/>
                <a:ext cx="1134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1405" name="Group 153"/>
            <p:cNvGrpSpPr>
              <a:grpSpLocks/>
            </p:cNvGrpSpPr>
            <p:nvPr/>
          </p:nvGrpSpPr>
          <p:grpSpPr bwMode="auto">
            <a:xfrm>
              <a:off x="748" y="3072"/>
              <a:ext cx="2653" cy="313"/>
              <a:chOff x="748" y="3072"/>
              <a:chExt cx="2653" cy="313"/>
            </a:xfrm>
          </p:grpSpPr>
          <p:sp>
            <p:nvSpPr>
              <p:cNvPr id="101419" name="Text Box 65"/>
              <p:cNvSpPr txBox="1">
                <a:spLocks noChangeArrowheads="1"/>
              </p:cNvSpPr>
              <p:nvPr/>
            </p:nvSpPr>
            <p:spPr bwMode="auto">
              <a:xfrm>
                <a:off x="748" y="3072"/>
                <a:ext cx="2653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>
                    <a:solidFill>
                      <a:srgbClr val="CC3300"/>
                    </a:solidFill>
                    <a:latin typeface="宋体" charset="-122"/>
                    <a:ea typeface="宋体" charset="-122"/>
                  </a:rPr>
                  <a:t> </a:t>
                </a:r>
                <a:r>
                  <a:rPr lang="en-US" altLang="zh-CN" sz="2000">
                    <a:solidFill>
                      <a:schemeClr val="hlink"/>
                    </a:solidFill>
                    <a:latin typeface="宋体" charset="-122"/>
                    <a:ea typeface="宋体" charset="-122"/>
                  </a:rPr>
                  <a:t>CS1</a:t>
                </a:r>
                <a:r>
                  <a:rPr lang="en-US" altLang="zh-CN" sz="2000">
                    <a:latin typeface="宋体" charset="-122"/>
                    <a:ea typeface="宋体" charset="-122"/>
                  </a:rPr>
                  <a:t>  =  A</a:t>
                </a:r>
                <a:r>
                  <a:rPr lang="en-US" altLang="zh-CN" sz="2000" baseline="-25000">
                    <a:latin typeface="宋体" charset="-122"/>
                    <a:ea typeface="宋体" charset="-122"/>
                  </a:rPr>
                  <a:t>12 </a:t>
                </a:r>
                <a:r>
                  <a:rPr lang="en-US" altLang="zh-CN" sz="2000">
                    <a:latin typeface="宋体" charset="-122"/>
                    <a:ea typeface="宋体" charset="-122"/>
                  </a:rPr>
                  <a:t>A</a:t>
                </a:r>
                <a:r>
                  <a:rPr lang="en-US" altLang="zh-CN" sz="2000" baseline="-25000">
                    <a:latin typeface="宋体" charset="-122"/>
                    <a:ea typeface="宋体" charset="-122"/>
                  </a:rPr>
                  <a:t>11</a:t>
                </a:r>
                <a:r>
                  <a:rPr lang="en-US" altLang="zh-CN" sz="2000">
                    <a:latin typeface="宋体" charset="-122"/>
                    <a:ea typeface="宋体" charset="-122"/>
                  </a:rPr>
                  <a:t>(MEM)</a:t>
                </a: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1420" name="Line 66"/>
              <p:cNvSpPr>
                <a:spLocks noChangeShapeType="1"/>
              </p:cNvSpPr>
              <p:nvPr/>
            </p:nvSpPr>
            <p:spPr bwMode="auto">
              <a:xfrm>
                <a:off x="884" y="3117"/>
                <a:ext cx="238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21" name="Line 156"/>
              <p:cNvSpPr>
                <a:spLocks noChangeShapeType="1"/>
              </p:cNvSpPr>
              <p:nvPr/>
            </p:nvSpPr>
            <p:spPr bwMode="auto">
              <a:xfrm>
                <a:off x="2063" y="3140"/>
                <a:ext cx="227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22" name="Line 157"/>
              <p:cNvSpPr>
                <a:spLocks noChangeShapeType="1"/>
              </p:cNvSpPr>
              <p:nvPr/>
            </p:nvSpPr>
            <p:spPr bwMode="auto">
              <a:xfrm>
                <a:off x="1995" y="3110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23" name="Line 158"/>
              <p:cNvSpPr>
                <a:spLocks noChangeShapeType="1"/>
              </p:cNvSpPr>
              <p:nvPr/>
            </p:nvSpPr>
            <p:spPr bwMode="auto">
              <a:xfrm>
                <a:off x="1542" y="3110"/>
                <a:ext cx="15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24" name="Line 159"/>
              <p:cNvSpPr>
                <a:spLocks noChangeShapeType="1"/>
              </p:cNvSpPr>
              <p:nvPr/>
            </p:nvSpPr>
            <p:spPr bwMode="auto">
              <a:xfrm>
                <a:off x="1519" y="3080"/>
                <a:ext cx="885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1406" name="Group 160"/>
            <p:cNvGrpSpPr>
              <a:grpSpLocks/>
            </p:cNvGrpSpPr>
            <p:nvPr/>
          </p:nvGrpSpPr>
          <p:grpSpPr bwMode="auto">
            <a:xfrm>
              <a:off x="748" y="3389"/>
              <a:ext cx="2653" cy="313"/>
              <a:chOff x="748" y="3389"/>
              <a:chExt cx="2653" cy="313"/>
            </a:xfrm>
          </p:grpSpPr>
          <p:sp>
            <p:nvSpPr>
              <p:cNvPr id="101413" name="Text Box 65"/>
              <p:cNvSpPr txBox="1">
                <a:spLocks noChangeArrowheads="1"/>
              </p:cNvSpPr>
              <p:nvPr/>
            </p:nvSpPr>
            <p:spPr bwMode="auto">
              <a:xfrm>
                <a:off x="748" y="3389"/>
                <a:ext cx="2653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>
                    <a:solidFill>
                      <a:srgbClr val="CC3300"/>
                    </a:solidFill>
                    <a:latin typeface="宋体" charset="-122"/>
                    <a:ea typeface="宋体" charset="-122"/>
                  </a:rPr>
                  <a:t> </a:t>
                </a:r>
                <a:r>
                  <a:rPr lang="en-US" altLang="zh-CN" sz="2000">
                    <a:solidFill>
                      <a:schemeClr val="hlink"/>
                    </a:solidFill>
                    <a:latin typeface="宋体" charset="-122"/>
                    <a:ea typeface="宋体" charset="-122"/>
                  </a:rPr>
                  <a:t>CS2</a:t>
                </a:r>
                <a:r>
                  <a:rPr lang="en-US" altLang="zh-CN" sz="2000">
                    <a:latin typeface="宋体" charset="-122"/>
                    <a:ea typeface="宋体" charset="-122"/>
                  </a:rPr>
                  <a:t>  =  A</a:t>
                </a:r>
                <a:r>
                  <a:rPr lang="en-US" altLang="zh-CN" sz="2000" baseline="-25000">
                    <a:latin typeface="宋体" charset="-122"/>
                    <a:ea typeface="宋体" charset="-122"/>
                  </a:rPr>
                  <a:t>12 </a:t>
                </a:r>
                <a:r>
                  <a:rPr lang="en-US" altLang="zh-CN" sz="2000">
                    <a:latin typeface="宋体" charset="-122"/>
                    <a:ea typeface="宋体" charset="-122"/>
                  </a:rPr>
                  <a:t>A</a:t>
                </a:r>
                <a:r>
                  <a:rPr lang="en-US" altLang="zh-CN" sz="2000" baseline="-25000">
                    <a:latin typeface="宋体" charset="-122"/>
                    <a:ea typeface="宋体" charset="-122"/>
                  </a:rPr>
                  <a:t>11</a:t>
                </a:r>
                <a:r>
                  <a:rPr lang="en-US" altLang="zh-CN" sz="2000">
                    <a:latin typeface="宋体" charset="-122"/>
                    <a:ea typeface="宋体" charset="-122"/>
                  </a:rPr>
                  <a:t>(MEM)</a:t>
                </a: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1414" name="Line 66"/>
              <p:cNvSpPr>
                <a:spLocks noChangeShapeType="1"/>
              </p:cNvSpPr>
              <p:nvPr/>
            </p:nvSpPr>
            <p:spPr bwMode="auto">
              <a:xfrm>
                <a:off x="884" y="3434"/>
                <a:ext cx="238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15" name="Line 163"/>
              <p:cNvSpPr>
                <a:spLocks noChangeShapeType="1"/>
              </p:cNvSpPr>
              <p:nvPr/>
            </p:nvSpPr>
            <p:spPr bwMode="auto">
              <a:xfrm>
                <a:off x="2063" y="3457"/>
                <a:ext cx="227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16" name="Line 164"/>
              <p:cNvSpPr>
                <a:spLocks noChangeShapeType="1"/>
              </p:cNvSpPr>
              <p:nvPr/>
            </p:nvSpPr>
            <p:spPr bwMode="auto">
              <a:xfrm>
                <a:off x="1995" y="3427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17" name="Line 165"/>
              <p:cNvSpPr>
                <a:spLocks noChangeShapeType="1"/>
              </p:cNvSpPr>
              <p:nvPr/>
            </p:nvSpPr>
            <p:spPr bwMode="auto">
              <a:xfrm>
                <a:off x="1769" y="3427"/>
                <a:ext cx="15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18" name="Line 166"/>
              <p:cNvSpPr>
                <a:spLocks noChangeShapeType="1"/>
              </p:cNvSpPr>
              <p:nvPr/>
            </p:nvSpPr>
            <p:spPr bwMode="auto">
              <a:xfrm>
                <a:off x="1519" y="3397"/>
                <a:ext cx="885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1407" name="Group 167"/>
            <p:cNvGrpSpPr>
              <a:grpSpLocks/>
            </p:cNvGrpSpPr>
            <p:nvPr/>
          </p:nvGrpSpPr>
          <p:grpSpPr bwMode="auto">
            <a:xfrm>
              <a:off x="748" y="3707"/>
              <a:ext cx="2653" cy="313"/>
              <a:chOff x="771" y="3707"/>
              <a:chExt cx="2653" cy="313"/>
            </a:xfrm>
          </p:grpSpPr>
          <p:sp>
            <p:nvSpPr>
              <p:cNvPr id="101408" name="Text Box 65"/>
              <p:cNvSpPr txBox="1">
                <a:spLocks noChangeArrowheads="1"/>
              </p:cNvSpPr>
              <p:nvPr/>
            </p:nvSpPr>
            <p:spPr bwMode="auto">
              <a:xfrm>
                <a:off x="771" y="3707"/>
                <a:ext cx="2653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>
                    <a:solidFill>
                      <a:srgbClr val="CC3300"/>
                    </a:solidFill>
                    <a:latin typeface="宋体" charset="-122"/>
                    <a:ea typeface="宋体" charset="-122"/>
                  </a:rPr>
                  <a:t> </a:t>
                </a:r>
                <a:r>
                  <a:rPr lang="en-US" altLang="zh-CN" sz="2000">
                    <a:solidFill>
                      <a:schemeClr val="hlink"/>
                    </a:solidFill>
                    <a:latin typeface="宋体" charset="-122"/>
                    <a:ea typeface="宋体" charset="-122"/>
                  </a:rPr>
                  <a:t>CS3</a:t>
                </a:r>
                <a:r>
                  <a:rPr lang="en-US" altLang="zh-CN" sz="2000">
                    <a:latin typeface="宋体" charset="-122"/>
                    <a:ea typeface="宋体" charset="-122"/>
                  </a:rPr>
                  <a:t>  =  A</a:t>
                </a:r>
                <a:r>
                  <a:rPr lang="en-US" altLang="zh-CN" sz="2000" baseline="-25000">
                    <a:latin typeface="宋体" charset="-122"/>
                    <a:ea typeface="宋体" charset="-122"/>
                  </a:rPr>
                  <a:t>12 </a:t>
                </a:r>
                <a:r>
                  <a:rPr lang="en-US" altLang="zh-CN" sz="2000">
                    <a:latin typeface="宋体" charset="-122"/>
                    <a:ea typeface="宋体" charset="-122"/>
                  </a:rPr>
                  <a:t>A</a:t>
                </a:r>
                <a:r>
                  <a:rPr lang="en-US" altLang="zh-CN" sz="2000" baseline="-25000">
                    <a:latin typeface="宋体" charset="-122"/>
                    <a:ea typeface="宋体" charset="-122"/>
                  </a:rPr>
                  <a:t>11</a:t>
                </a:r>
                <a:r>
                  <a:rPr lang="en-US" altLang="zh-CN" sz="2000">
                    <a:latin typeface="宋体" charset="-122"/>
                    <a:ea typeface="宋体" charset="-122"/>
                  </a:rPr>
                  <a:t>(MEM)</a:t>
                </a: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1409" name="Line 66"/>
              <p:cNvSpPr>
                <a:spLocks noChangeShapeType="1"/>
              </p:cNvSpPr>
              <p:nvPr/>
            </p:nvSpPr>
            <p:spPr bwMode="auto">
              <a:xfrm>
                <a:off x="907" y="3752"/>
                <a:ext cx="238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10" name="Line 170"/>
              <p:cNvSpPr>
                <a:spLocks noChangeShapeType="1"/>
              </p:cNvSpPr>
              <p:nvPr/>
            </p:nvSpPr>
            <p:spPr bwMode="auto">
              <a:xfrm>
                <a:off x="2086" y="3775"/>
                <a:ext cx="227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11" name="Line 171"/>
              <p:cNvSpPr>
                <a:spLocks noChangeShapeType="1"/>
              </p:cNvSpPr>
              <p:nvPr/>
            </p:nvSpPr>
            <p:spPr bwMode="auto">
              <a:xfrm>
                <a:off x="2018" y="3745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12" name="Line 172"/>
              <p:cNvSpPr>
                <a:spLocks noChangeShapeType="1"/>
              </p:cNvSpPr>
              <p:nvPr/>
            </p:nvSpPr>
            <p:spPr bwMode="auto">
              <a:xfrm>
                <a:off x="1542" y="3715"/>
                <a:ext cx="885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101393" name="Group 176"/>
          <p:cNvGrpSpPr>
            <a:grpSpLocks/>
          </p:cNvGrpSpPr>
          <p:nvPr/>
        </p:nvGrpSpPr>
        <p:grpSpPr bwMode="auto">
          <a:xfrm>
            <a:off x="4679950" y="4292600"/>
            <a:ext cx="3455988" cy="433388"/>
            <a:chOff x="3129" y="2704"/>
            <a:chExt cx="2177" cy="273"/>
          </a:xfrm>
        </p:grpSpPr>
        <p:sp>
          <p:nvSpPr>
            <p:cNvPr id="101394" name="Text Box 88"/>
            <p:cNvSpPr txBox="1">
              <a:spLocks noChangeArrowheads="1"/>
            </p:cNvSpPr>
            <p:nvPr/>
          </p:nvSpPr>
          <p:spPr bwMode="auto">
            <a:xfrm>
              <a:off x="3129" y="2727"/>
              <a:ext cx="21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Times New Roman" pitchFamily="18" charset="0"/>
                  <a:ea typeface="黑体" pitchFamily="2" charset="-122"/>
                </a:rPr>
                <a:t>=   </a:t>
              </a:r>
              <a:r>
                <a:rPr lang="en-US" altLang="zh-CN" sz="2000" dirty="0">
                  <a:latin typeface="宋体" charset="-122"/>
                  <a:ea typeface="宋体" charset="-122"/>
                </a:rPr>
                <a:t>A</a:t>
              </a:r>
              <a:r>
                <a:rPr lang="en-US" altLang="zh-CN" sz="2000" baseline="-25000" dirty="0">
                  <a:latin typeface="宋体" charset="-122"/>
                  <a:ea typeface="宋体" charset="-122"/>
                </a:rPr>
                <a:t>12 </a:t>
              </a:r>
              <a:r>
                <a:rPr lang="en-US" altLang="zh-CN" sz="2000" dirty="0">
                  <a:latin typeface="宋体" charset="-122"/>
                  <a:ea typeface="宋体" charset="-122"/>
                </a:rPr>
                <a:t>A</a:t>
              </a:r>
              <a:r>
                <a:rPr lang="en-US" altLang="zh-CN" sz="2000" baseline="-25000" dirty="0">
                  <a:latin typeface="宋体" charset="-122"/>
                  <a:ea typeface="宋体" charset="-122"/>
                </a:rPr>
                <a:t>11</a:t>
              </a:r>
              <a:r>
                <a:rPr lang="en-US" altLang="zh-CN" sz="2000" dirty="0">
                  <a:latin typeface="宋体" charset="-122"/>
                  <a:ea typeface="宋体" charset="-122"/>
                </a:rPr>
                <a:t>(MEM)  + (RD)</a:t>
              </a:r>
              <a:endParaRPr lang="zh-CN" altLang="en-US" sz="2000" dirty="0">
                <a:latin typeface="Times New Roman" pitchFamily="18" charset="0"/>
                <a:ea typeface="黑体" pitchFamily="2" charset="-122"/>
              </a:endParaRPr>
            </a:p>
          </p:txBody>
        </p:sp>
        <p:sp>
          <p:nvSpPr>
            <p:cNvPr id="101395" name="Line 112"/>
            <p:cNvSpPr>
              <a:spLocks noChangeShapeType="1"/>
            </p:cNvSpPr>
            <p:nvPr/>
          </p:nvSpPr>
          <p:spPr bwMode="auto">
            <a:xfrm>
              <a:off x="3391" y="2750"/>
              <a:ext cx="141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1396" name="Line 113"/>
            <p:cNvSpPr>
              <a:spLocks noChangeShapeType="1"/>
            </p:cNvSpPr>
            <p:nvPr/>
          </p:nvSpPr>
          <p:spPr bwMode="auto">
            <a:xfrm>
              <a:off x="3601" y="2750"/>
              <a:ext cx="141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1397" name="Line 116"/>
            <p:cNvSpPr>
              <a:spLocks noChangeShapeType="1"/>
            </p:cNvSpPr>
            <p:nvPr/>
          </p:nvSpPr>
          <p:spPr bwMode="auto">
            <a:xfrm>
              <a:off x="3391" y="2750"/>
              <a:ext cx="141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1398" name="Line 117"/>
            <p:cNvSpPr>
              <a:spLocks noChangeShapeType="1"/>
            </p:cNvSpPr>
            <p:nvPr/>
          </p:nvSpPr>
          <p:spPr bwMode="auto">
            <a:xfrm>
              <a:off x="3601" y="2750"/>
              <a:ext cx="141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1399" name="Group 174"/>
            <p:cNvGrpSpPr>
              <a:grpSpLocks/>
            </p:cNvGrpSpPr>
            <p:nvPr/>
          </p:nvGrpSpPr>
          <p:grpSpPr bwMode="auto">
            <a:xfrm>
              <a:off x="3356" y="2704"/>
              <a:ext cx="930" cy="68"/>
              <a:chOff x="3356" y="2704"/>
              <a:chExt cx="930" cy="91"/>
            </a:xfrm>
          </p:grpSpPr>
          <p:sp>
            <p:nvSpPr>
              <p:cNvPr id="101401" name="Line 114"/>
              <p:cNvSpPr>
                <a:spLocks noChangeShapeType="1"/>
              </p:cNvSpPr>
              <p:nvPr/>
            </p:nvSpPr>
            <p:spPr bwMode="auto">
              <a:xfrm>
                <a:off x="3865" y="2750"/>
                <a:ext cx="351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02" name="Line 115"/>
              <p:cNvSpPr>
                <a:spLocks noChangeShapeType="1"/>
              </p:cNvSpPr>
              <p:nvPr/>
            </p:nvSpPr>
            <p:spPr bwMode="auto">
              <a:xfrm>
                <a:off x="3356" y="2704"/>
                <a:ext cx="93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1403" name="Line 173"/>
              <p:cNvSpPr>
                <a:spLocks noChangeShapeType="1"/>
              </p:cNvSpPr>
              <p:nvPr/>
            </p:nvSpPr>
            <p:spPr bwMode="auto">
              <a:xfrm>
                <a:off x="3924" y="2795"/>
                <a:ext cx="226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01400" name="Line 175"/>
            <p:cNvSpPr>
              <a:spLocks noChangeShapeType="1"/>
            </p:cNvSpPr>
            <p:nvPr/>
          </p:nvSpPr>
          <p:spPr bwMode="auto">
            <a:xfrm>
              <a:off x="4649" y="2772"/>
              <a:ext cx="136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719138" y="711200"/>
            <a:ext cx="8066087" cy="1818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2667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思考题：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P164  5-11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至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5-16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5-23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5-24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5-26     </a:t>
            </a:r>
          </a:p>
          <a:p>
            <a:pPr indent="2667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习题：  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P165  5-18           </a:t>
            </a:r>
            <a:endParaRPr lang="en-US" altLang="zh-CN" baseline="300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 indent="2667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 </a:t>
            </a:r>
            <a:endParaRPr lang="en-US" altLang="zh-CN" baseline="300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 indent="2667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</a:t>
            </a:r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00038" y="744107"/>
            <a:ext cx="8501062" cy="131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2】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2114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1K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SRAM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芯片组成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4K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的内存储器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.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地址总线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15-0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（低），双向数据总线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7-0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（低），读写信号线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R/W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请给出芯片内部地址分配与片选逻辑，并画出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的结构原理图。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54038" y="2306907"/>
            <a:ext cx="7993062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）计算芯片（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1K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）数量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（总容量：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4K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8 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295768"/>
              </p:ext>
            </p:extLst>
          </p:nvPr>
        </p:nvGraphicFramePr>
        <p:xfrm>
          <a:off x="1168400" y="3270426"/>
          <a:ext cx="2921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4241800" y="3476653"/>
            <a:ext cx="4610100" cy="932563"/>
            <a:chOff x="4191000" y="3679477"/>
            <a:chExt cx="4610100" cy="932563"/>
          </a:xfrm>
        </p:grpSpPr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4191000" y="3679477"/>
              <a:ext cx="2819400" cy="93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Ins="36000" bIns="0" anchor="ctr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  <a:tabLst>
                  <a:tab pos="355600" algn="l"/>
                </a:tabLst>
              </a:pPr>
              <a:r>
                <a:rPr kumimoji="0"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zh-CN" altLang="en-US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片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1K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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    </a:t>
              </a:r>
              <a:r>
                <a:rPr kumimoji="0" lang="zh-CN" altLang="en-US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1K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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8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tabLst>
                  <a:tab pos="355600" algn="l"/>
                </a:tabLst>
              </a:pPr>
              <a:r>
                <a:rPr kumimoji="0"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kumimoji="0" lang="zh-CN" altLang="en-US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组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1K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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8    </a:t>
              </a:r>
              <a:r>
                <a:rPr kumimoji="0" lang="zh-CN" altLang="en-US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4K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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8</a:t>
              </a:r>
              <a:endPara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 bwMode="auto">
            <a:xfrm>
              <a:off x="5435600" y="3967958"/>
              <a:ext cx="609600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5" name="直接箭头连接符 14"/>
            <p:cNvCxnSpPr/>
            <p:nvPr/>
          </p:nvCxnSpPr>
          <p:spPr bwMode="auto">
            <a:xfrm>
              <a:off x="5435600" y="4336258"/>
              <a:ext cx="609600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" name="右大括号 5"/>
            <p:cNvSpPr/>
            <p:nvPr/>
          </p:nvSpPr>
          <p:spPr bwMode="auto">
            <a:xfrm>
              <a:off x="6858000" y="3967958"/>
              <a:ext cx="152400" cy="464342"/>
            </a:xfrm>
            <a:prstGeom prst="rightBrace">
              <a:avLst/>
            </a:prstGeom>
            <a:noFill/>
            <a:ln w="9525" cap="flat" cmpd="sng" algn="ctr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30000"/>
                </a:lnSpc>
                <a:spcBef>
                  <a:spcPct val="5000"/>
                </a:spcBef>
                <a:spcAft>
                  <a:spcPct val="0"/>
                </a:spcAft>
                <a:buClr>
                  <a:schemeClr val="bg1"/>
                </a:buClr>
                <a:buSzTx/>
                <a:buFont typeface="Wingdings" pitchFamily="2" charset="2"/>
                <a:buNone/>
                <a:tabLst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7099300" y="3942935"/>
              <a:ext cx="1701800" cy="489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Ins="36000" bIns="0" anchor="ctr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  <a:tabLst>
                  <a:tab pos="355600" algn="l"/>
                </a:tabLst>
              </a:pPr>
              <a:r>
                <a:rPr kumimoji="0"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8</a:t>
              </a:r>
              <a:r>
                <a:rPr kumimoji="0" lang="zh-CN" altLang="en-US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片（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1K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</a:t>
              </a:r>
              <a:r>
                <a:rPr lang="en-US" altLang="zh-CN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kumimoji="0" lang="zh-CN" altLang="en-US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）</a:t>
              </a:r>
              <a:endPara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00038" y="744107"/>
            <a:ext cx="8501062" cy="131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2】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2114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1K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SRAM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芯片组成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4K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的内存储器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.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地址总线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15-0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（低），双向数据总线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7-0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（低），读写信号线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R/W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请给出芯片内部地址分配与片选逻辑，并画出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的结构原理图。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54038" y="2149043"/>
            <a:ext cx="7993062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）地址分配与片选逻辑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29282"/>
              </p:ext>
            </p:extLst>
          </p:nvPr>
        </p:nvGraphicFramePr>
        <p:xfrm>
          <a:off x="5759450" y="3348036"/>
          <a:ext cx="3041650" cy="2517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9444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444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444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444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1" name="组合 80"/>
          <p:cNvGrpSpPr/>
          <p:nvPr/>
        </p:nvGrpSpPr>
        <p:grpSpPr>
          <a:xfrm>
            <a:off x="863600" y="2598678"/>
            <a:ext cx="7937500" cy="3365560"/>
            <a:chOff x="863600" y="2598678"/>
            <a:chExt cx="7937500" cy="3365560"/>
          </a:xfrm>
        </p:grpSpPr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2368857" y="3309938"/>
              <a:ext cx="4073667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b="0">
                  <a:latin typeface="宋体" charset="-122"/>
                  <a:ea typeface="宋体" charset="-122"/>
                </a:rPr>
                <a:t>           </a:t>
              </a:r>
              <a:r>
                <a:rPr lang="en-US" altLang="zh-CN" sz="1600" b="0">
                  <a:latin typeface="宋体" charset="-122"/>
                  <a:ea typeface="宋体" charset="-122"/>
                </a:rPr>
                <a:t>......</a:t>
              </a:r>
            </a:p>
          </p:txBody>
        </p:sp>
        <p:grpSp>
          <p:nvGrpSpPr>
            <p:cNvPr id="16" name="Group 33"/>
            <p:cNvGrpSpPr>
              <a:grpSpLocks/>
            </p:cNvGrpSpPr>
            <p:nvPr/>
          </p:nvGrpSpPr>
          <p:grpSpPr bwMode="auto">
            <a:xfrm>
              <a:off x="1880751" y="2890914"/>
              <a:ext cx="3192965" cy="483711"/>
              <a:chOff x="1365" y="6331"/>
              <a:chExt cx="3780" cy="554"/>
            </a:xfrm>
          </p:grpSpPr>
          <p:sp>
            <p:nvSpPr>
              <p:cNvPr id="50" name="Text Box 34"/>
              <p:cNvSpPr txBox="1">
                <a:spLocks noChangeArrowheads="1"/>
              </p:cNvSpPr>
              <p:nvPr/>
            </p:nvSpPr>
            <p:spPr bwMode="auto">
              <a:xfrm>
                <a:off x="1365" y="6420"/>
                <a:ext cx="750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600" baseline="-25000" dirty="0">
                    <a:latin typeface="Times New Roman" pitchFamily="18" charset="0"/>
                    <a:ea typeface="宋体" charset="-122"/>
                  </a:rPr>
                  <a:t>15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1" name="Text Box 35"/>
              <p:cNvSpPr txBox="1">
                <a:spLocks noChangeArrowheads="1"/>
              </p:cNvSpPr>
              <p:nvPr/>
            </p:nvSpPr>
            <p:spPr bwMode="auto">
              <a:xfrm>
                <a:off x="4092" y="6331"/>
                <a:ext cx="1053" cy="4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600" baseline="-25000" dirty="0">
                    <a:latin typeface="Times New Roman" pitchFamily="18" charset="0"/>
                    <a:ea typeface="宋体" charset="-122"/>
                  </a:rPr>
                  <a:t>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2" name="Text Box 36"/>
              <p:cNvSpPr txBox="1">
                <a:spLocks noChangeArrowheads="1"/>
              </p:cNvSpPr>
              <p:nvPr/>
            </p:nvSpPr>
            <p:spPr bwMode="auto">
              <a:xfrm>
                <a:off x="2554" y="6372"/>
                <a:ext cx="750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600" baseline="-25000" dirty="0">
                    <a:latin typeface="Times New Roman" pitchFamily="18" charset="0"/>
                    <a:ea typeface="宋体" charset="-122"/>
                  </a:rPr>
                  <a:t>9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18" name="Group 37"/>
            <p:cNvGrpSpPr>
              <a:grpSpLocks/>
            </p:cNvGrpSpPr>
            <p:nvPr/>
          </p:nvGrpSpPr>
          <p:grpSpPr bwMode="auto">
            <a:xfrm>
              <a:off x="1703948" y="3316288"/>
              <a:ext cx="5150856" cy="735012"/>
              <a:chOff x="1995" y="6207"/>
              <a:chExt cx="4875" cy="843"/>
            </a:xfrm>
          </p:grpSpPr>
          <p:grpSp>
            <p:nvGrpSpPr>
              <p:cNvPr id="46" name="Group 38"/>
              <p:cNvGrpSpPr>
                <a:grpSpLocks/>
              </p:cNvGrpSpPr>
              <p:nvPr/>
            </p:nvGrpSpPr>
            <p:grpSpPr bwMode="auto">
              <a:xfrm>
                <a:off x="2280" y="6207"/>
                <a:ext cx="3870" cy="843"/>
                <a:chOff x="2280" y="6207"/>
                <a:chExt cx="3870" cy="843"/>
              </a:xfrm>
            </p:grpSpPr>
            <p:sp>
              <p:nvSpPr>
                <p:cNvPr id="48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2280" y="620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0 0 0 0 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0  0</a:t>
                  </a: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 dirty="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 0 0  0 0 0 0  0 0 0 0</a:t>
                  </a:r>
                  <a:endParaRPr lang="en-US" altLang="zh-CN" sz="1600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49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2295" y="656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0 0 0 0 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0  0</a:t>
                  </a: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 dirty="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 1 1  1 1 1 1  1 1 1 1</a:t>
                  </a:r>
                  <a:endParaRPr lang="en-US" altLang="zh-CN" sz="16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47" name="Line 41"/>
              <p:cNvSpPr>
                <a:spLocks noChangeShapeType="1"/>
              </p:cNvSpPr>
              <p:nvPr/>
            </p:nvSpPr>
            <p:spPr bwMode="auto">
              <a:xfrm>
                <a:off x="1995" y="6990"/>
                <a:ext cx="487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9" name="Group 42"/>
            <p:cNvGrpSpPr>
              <a:grpSpLocks/>
            </p:cNvGrpSpPr>
            <p:nvPr/>
          </p:nvGrpSpPr>
          <p:grpSpPr bwMode="auto">
            <a:xfrm>
              <a:off x="1735527" y="3901681"/>
              <a:ext cx="5150856" cy="735013"/>
              <a:chOff x="1995" y="6207"/>
              <a:chExt cx="4875" cy="843"/>
            </a:xfrm>
          </p:grpSpPr>
          <p:grpSp>
            <p:nvGrpSpPr>
              <p:cNvPr id="42" name="Group 43"/>
              <p:cNvGrpSpPr>
                <a:grpSpLocks/>
              </p:cNvGrpSpPr>
              <p:nvPr/>
            </p:nvGrpSpPr>
            <p:grpSpPr bwMode="auto">
              <a:xfrm>
                <a:off x="2280" y="6207"/>
                <a:ext cx="3870" cy="843"/>
                <a:chOff x="2280" y="6207"/>
                <a:chExt cx="3870" cy="843"/>
              </a:xfrm>
            </p:grpSpPr>
            <p:sp>
              <p:nvSpPr>
                <p:cNvPr id="44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280" y="620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0 0 0 0 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0  1</a:t>
                  </a: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 dirty="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 0 0  0 0 0 0  0 0 0 0</a:t>
                  </a:r>
                  <a:endParaRPr lang="en-US" altLang="zh-CN" sz="1600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45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2295" y="656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0 0 0 0 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0  1</a:t>
                  </a: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 dirty="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 1 1  1 1 1 1  1 1 1 1</a:t>
                  </a:r>
                  <a:endParaRPr lang="en-US" altLang="zh-CN" sz="16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43" name="Line 46"/>
              <p:cNvSpPr>
                <a:spLocks noChangeShapeType="1"/>
              </p:cNvSpPr>
              <p:nvPr/>
            </p:nvSpPr>
            <p:spPr bwMode="auto">
              <a:xfrm>
                <a:off x="1995" y="6990"/>
                <a:ext cx="487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20" name="Group 47"/>
            <p:cNvGrpSpPr>
              <a:grpSpLocks/>
            </p:cNvGrpSpPr>
            <p:nvPr/>
          </p:nvGrpSpPr>
          <p:grpSpPr bwMode="auto">
            <a:xfrm>
              <a:off x="1735527" y="4586288"/>
              <a:ext cx="5150856" cy="736600"/>
              <a:chOff x="1995" y="6207"/>
              <a:chExt cx="4875" cy="843"/>
            </a:xfrm>
          </p:grpSpPr>
          <p:grpSp>
            <p:nvGrpSpPr>
              <p:cNvPr id="38" name="Group 48"/>
              <p:cNvGrpSpPr>
                <a:grpSpLocks/>
              </p:cNvGrpSpPr>
              <p:nvPr/>
            </p:nvGrpSpPr>
            <p:grpSpPr bwMode="auto">
              <a:xfrm>
                <a:off x="2280" y="6207"/>
                <a:ext cx="3870" cy="843"/>
                <a:chOff x="2280" y="6207"/>
                <a:chExt cx="3870" cy="843"/>
              </a:xfrm>
            </p:grpSpPr>
            <p:sp>
              <p:nvSpPr>
                <p:cNvPr id="40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280" y="620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0 0 0 0 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1  0</a:t>
                  </a: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 dirty="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 0 0  0 0 0 0  0 0 0 0</a:t>
                  </a:r>
                </a:p>
              </p:txBody>
            </p:sp>
            <p:sp>
              <p:nvSpPr>
                <p:cNvPr id="41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295" y="6567"/>
                  <a:ext cx="3855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0 0 0 0 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1  0</a:t>
                  </a: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 </a:t>
                  </a:r>
                  <a:r>
                    <a:rPr lang="en-US" altLang="zh-CN" sz="1600" dirty="0">
                      <a:solidFill>
                        <a:srgbClr val="0000FF"/>
                      </a:solidFill>
                      <a:latin typeface="Times New Roman" pitchFamily="18" charset="0"/>
                      <a:ea typeface="宋体" charset="-122"/>
                    </a:rPr>
                    <a:t> 1 1  1 1 1 1  1 1 1 1</a:t>
                  </a:r>
                  <a:endParaRPr lang="en-US" altLang="zh-CN" sz="16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39" name="Line 51"/>
              <p:cNvSpPr>
                <a:spLocks noChangeShapeType="1"/>
              </p:cNvSpPr>
              <p:nvPr/>
            </p:nvSpPr>
            <p:spPr bwMode="auto">
              <a:xfrm>
                <a:off x="1995" y="6990"/>
                <a:ext cx="487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21" name="Group 52"/>
            <p:cNvGrpSpPr>
              <a:grpSpLocks/>
            </p:cNvGrpSpPr>
            <p:nvPr/>
          </p:nvGrpSpPr>
          <p:grpSpPr bwMode="auto">
            <a:xfrm>
              <a:off x="2037280" y="5229225"/>
              <a:ext cx="4089456" cy="735013"/>
              <a:chOff x="2280" y="6207"/>
              <a:chExt cx="3870" cy="843"/>
            </a:xfrm>
          </p:grpSpPr>
          <p:sp>
            <p:nvSpPr>
              <p:cNvPr id="36" name="Text Box 53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 0 0  0 0 0 0  0 0 0 0</a:t>
                </a:r>
              </a:p>
            </p:txBody>
          </p:sp>
          <p:sp>
            <p:nvSpPr>
              <p:cNvPr id="37" name="Text Box 54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22" name="Line 55"/>
            <p:cNvSpPr>
              <a:spLocks noChangeShapeType="1"/>
            </p:cNvSpPr>
            <p:nvPr/>
          </p:nvSpPr>
          <p:spPr bwMode="auto">
            <a:xfrm>
              <a:off x="3078796" y="3333353"/>
              <a:ext cx="59814" cy="250587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23" name="Group 56"/>
            <p:cNvGrpSpPr>
              <a:grpSpLocks/>
            </p:cNvGrpSpPr>
            <p:nvPr/>
          </p:nvGrpSpPr>
          <p:grpSpPr bwMode="auto">
            <a:xfrm>
              <a:off x="895179" y="5457825"/>
              <a:ext cx="1061400" cy="433388"/>
              <a:chOff x="919" y="1559"/>
              <a:chExt cx="1005" cy="495"/>
            </a:xfrm>
          </p:grpSpPr>
          <p:sp>
            <p:nvSpPr>
              <p:cNvPr id="34" name="Text Box 57"/>
              <p:cNvSpPr txBox="1">
                <a:spLocks noChangeArrowheads="1"/>
              </p:cNvSpPr>
              <p:nvPr/>
            </p:nvSpPr>
            <p:spPr bwMode="auto">
              <a:xfrm>
                <a:off x="919" y="1559"/>
                <a:ext cx="1005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CS3</a:t>
                </a:r>
              </a:p>
            </p:txBody>
          </p:sp>
          <p:sp>
            <p:nvSpPr>
              <p:cNvPr id="35" name="Line 58"/>
              <p:cNvSpPr>
                <a:spLocks noChangeShapeType="1"/>
              </p:cNvSpPr>
              <p:nvPr/>
            </p:nvSpPr>
            <p:spPr bwMode="auto">
              <a:xfrm>
                <a:off x="1215" y="1635"/>
                <a:ext cx="40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24" name="Group 59"/>
            <p:cNvGrpSpPr>
              <a:grpSpLocks/>
            </p:cNvGrpSpPr>
            <p:nvPr/>
          </p:nvGrpSpPr>
          <p:grpSpPr bwMode="auto">
            <a:xfrm>
              <a:off x="895179" y="4829175"/>
              <a:ext cx="1061400" cy="431800"/>
              <a:chOff x="919" y="1559"/>
              <a:chExt cx="1005" cy="495"/>
            </a:xfrm>
          </p:grpSpPr>
          <p:sp>
            <p:nvSpPr>
              <p:cNvPr id="32" name="Text Box 60"/>
              <p:cNvSpPr txBox="1">
                <a:spLocks noChangeArrowheads="1"/>
              </p:cNvSpPr>
              <p:nvPr/>
            </p:nvSpPr>
            <p:spPr bwMode="auto">
              <a:xfrm>
                <a:off x="919" y="1559"/>
                <a:ext cx="1005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CS2</a:t>
                </a:r>
              </a:p>
            </p:txBody>
          </p:sp>
          <p:sp>
            <p:nvSpPr>
              <p:cNvPr id="33" name="Line 61"/>
              <p:cNvSpPr>
                <a:spLocks noChangeShapeType="1"/>
              </p:cNvSpPr>
              <p:nvPr/>
            </p:nvSpPr>
            <p:spPr bwMode="auto">
              <a:xfrm>
                <a:off x="1215" y="1635"/>
                <a:ext cx="40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25" name="Group 62"/>
            <p:cNvGrpSpPr>
              <a:grpSpLocks/>
            </p:cNvGrpSpPr>
            <p:nvPr/>
          </p:nvGrpSpPr>
          <p:grpSpPr bwMode="auto">
            <a:xfrm>
              <a:off x="895179" y="4095750"/>
              <a:ext cx="1061400" cy="431800"/>
              <a:chOff x="919" y="1559"/>
              <a:chExt cx="1005" cy="495"/>
            </a:xfrm>
          </p:grpSpPr>
          <p:sp>
            <p:nvSpPr>
              <p:cNvPr id="30" name="Text Box 63"/>
              <p:cNvSpPr txBox="1">
                <a:spLocks noChangeArrowheads="1"/>
              </p:cNvSpPr>
              <p:nvPr/>
            </p:nvSpPr>
            <p:spPr bwMode="auto">
              <a:xfrm>
                <a:off x="919" y="1559"/>
                <a:ext cx="1005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CS1</a:t>
                </a:r>
              </a:p>
            </p:txBody>
          </p:sp>
          <p:sp>
            <p:nvSpPr>
              <p:cNvPr id="31" name="Line 64"/>
              <p:cNvSpPr>
                <a:spLocks noChangeShapeType="1"/>
              </p:cNvSpPr>
              <p:nvPr/>
            </p:nvSpPr>
            <p:spPr bwMode="auto">
              <a:xfrm>
                <a:off x="1215" y="1635"/>
                <a:ext cx="40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26" name="Group 65"/>
            <p:cNvGrpSpPr>
              <a:grpSpLocks/>
            </p:cNvGrpSpPr>
            <p:nvPr/>
          </p:nvGrpSpPr>
          <p:grpSpPr bwMode="auto">
            <a:xfrm>
              <a:off x="863600" y="3357563"/>
              <a:ext cx="1061400" cy="431800"/>
              <a:chOff x="919" y="1559"/>
              <a:chExt cx="1005" cy="495"/>
            </a:xfrm>
          </p:grpSpPr>
          <p:sp>
            <p:nvSpPr>
              <p:cNvPr id="28" name="Text Box 66"/>
              <p:cNvSpPr txBox="1">
                <a:spLocks noChangeArrowheads="1"/>
              </p:cNvSpPr>
              <p:nvPr/>
            </p:nvSpPr>
            <p:spPr bwMode="auto">
              <a:xfrm>
                <a:off x="919" y="1559"/>
                <a:ext cx="1005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CS0</a:t>
                </a:r>
              </a:p>
            </p:txBody>
          </p:sp>
          <p:sp>
            <p:nvSpPr>
              <p:cNvPr id="29" name="Line 67"/>
              <p:cNvSpPr>
                <a:spLocks noChangeShapeType="1"/>
              </p:cNvSpPr>
              <p:nvPr/>
            </p:nvSpPr>
            <p:spPr bwMode="auto">
              <a:xfrm>
                <a:off x="1215" y="1635"/>
                <a:ext cx="40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966221" y="2598678"/>
              <a:ext cx="78348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itchFamily="2" charset="2"/>
                <a:buChar char="l"/>
              </a:pPr>
              <a:r>
                <a:rPr lang="zh-CN" altLang="en-US" sz="2000" dirty="0"/>
                <a:t>存储芯片的地址分配                 存储器组成结构</a:t>
              </a:r>
            </a:p>
          </p:txBody>
        </p:sp>
      </p:grpSp>
      <p:sp>
        <p:nvSpPr>
          <p:cNvPr id="77" name="Rectangle 9"/>
          <p:cNvSpPr>
            <a:spLocks noChangeArrowheads="1"/>
          </p:cNvSpPr>
          <p:nvPr/>
        </p:nvSpPr>
        <p:spPr bwMode="auto">
          <a:xfrm>
            <a:off x="892175" y="5964238"/>
            <a:ext cx="7058025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片内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9-0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片选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11-10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5245701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00038" y="744107"/>
            <a:ext cx="8501062" cy="131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2】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2114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1K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SRAM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芯片组成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4K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的内存储器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.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地址总线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15-0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（低），双向数据总线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7-0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（低），读写信号线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R/W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请给出芯片内部地址分配与片选逻辑，并画出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的结构原理图。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54038" y="2149043"/>
            <a:ext cx="7993062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）地址分配与片选逻辑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065931"/>
              </p:ext>
            </p:extLst>
          </p:nvPr>
        </p:nvGraphicFramePr>
        <p:xfrm>
          <a:off x="6769100" y="2827336"/>
          <a:ext cx="2133600" cy="1884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09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09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09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09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</a:t>
                      </a:r>
                      <a:r>
                        <a:rPr lang="en-US" altLang="zh-CN" b="1" dirty="0">
                          <a:solidFill>
                            <a:srgbClr val="000099"/>
                          </a:solidFill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  <a:endParaRPr lang="zh-CN" altLang="en-US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" name="Rectangle 9"/>
          <p:cNvSpPr>
            <a:spLocks noChangeArrowheads="1"/>
          </p:cNvSpPr>
          <p:nvPr/>
        </p:nvSpPr>
        <p:spPr bwMode="auto">
          <a:xfrm>
            <a:off x="892175" y="4844970"/>
            <a:ext cx="7058025" cy="87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片内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9-0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片选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11-10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高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位地址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15-12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，可以不使用。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215257"/>
              </p:ext>
            </p:extLst>
          </p:nvPr>
        </p:nvGraphicFramePr>
        <p:xfrm>
          <a:off x="892175" y="2819400"/>
          <a:ext cx="5567364" cy="18491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391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1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1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99"/>
                          </a:solidFill>
                        </a:rPr>
                        <a:t>芯片组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99"/>
                          </a:solidFill>
                        </a:rPr>
                        <a:t>片内地址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99"/>
                          </a:solidFill>
                        </a:rPr>
                        <a:t>片选信号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99"/>
                          </a:solidFill>
                        </a:rPr>
                        <a:t>片选逻辑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8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A</a:t>
                      </a:r>
                      <a:r>
                        <a:rPr lang="en-US" altLang="zh-CN" baseline="-250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9-0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CS0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8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A</a:t>
                      </a:r>
                      <a:r>
                        <a:rPr lang="en-US" altLang="zh-CN" baseline="-250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9-0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CS1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8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A</a:t>
                      </a:r>
                      <a:r>
                        <a:rPr lang="en-US" altLang="zh-CN" baseline="-250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9-0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CS2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8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A</a:t>
                      </a:r>
                      <a:r>
                        <a:rPr lang="en-US" altLang="zh-CN" baseline="-250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9-0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CS3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Line 66"/>
          <p:cNvSpPr>
            <a:spLocks noChangeShapeType="1"/>
          </p:cNvSpPr>
          <p:nvPr/>
        </p:nvSpPr>
        <p:spPr bwMode="auto">
          <a:xfrm>
            <a:off x="4181474" y="3255963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4" name="Line 66"/>
          <p:cNvSpPr>
            <a:spLocks noChangeShapeType="1"/>
          </p:cNvSpPr>
          <p:nvPr/>
        </p:nvSpPr>
        <p:spPr bwMode="auto">
          <a:xfrm>
            <a:off x="4219574" y="3611563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5" name="Line 66"/>
          <p:cNvSpPr>
            <a:spLocks noChangeShapeType="1"/>
          </p:cNvSpPr>
          <p:nvPr/>
        </p:nvSpPr>
        <p:spPr bwMode="auto">
          <a:xfrm>
            <a:off x="4206874" y="4005263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6" name="Line 66"/>
          <p:cNvSpPr>
            <a:spLocks noChangeShapeType="1"/>
          </p:cNvSpPr>
          <p:nvPr/>
        </p:nvSpPr>
        <p:spPr bwMode="auto">
          <a:xfrm>
            <a:off x="4206874" y="4373563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70187" y="3177532"/>
            <a:ext cx="9020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10</a:t>
            </a:r>
            <a:endParaRPr lang="zh-CN" altLang="en-US" sz="2000" dirty="0"/>
          </a:p>
        </p:txBody>
      </p:sp>
      <p:sp>
        <p:nvSpPr>
          <p:cNvPr id="57" name="Line 151"/>
          <p:cNvSpPr>
            <a:spLocks noChangeShapeType="1"/>
          </p:cNvSpPr>
          <p:nvPr/>
        </p:nvSpPr>
        <p:spPr bwMode="auto">
          <a:xfrm>
            <a:off x="5320987" y="3275013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8" name="Line 151"/>
          <p:cNvSpPr>
            <a:spLocks noChangeShapeType="1"/>
          </p:cNvSpPr>
          <p:nvPr/>
        </p:nvSpPr>
        <p:spPr bwMode="auto">
          <a:xfrm>
            <a:off x="5803587" y="3262313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304799" y="3551629"/>
            <a:ext cx="9020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10</a:t>
            </a:r>
            <a:endParaRPr lang="zh-CN" altLang="en-US" sz="2000" dirty="0"/>
          </a:p>
        </p:txBody>
      </p:sp>
      <p:sp>
        <p:nvSpPr>
          <p:cNvPr id="60" name="Line 151"/>
          <p:cNvSpPr>
            <a:spLocks noChangeShapeType="1"/>
          </p:cNvSpPr>
          <p:nvPr/>
        </p:nvSpPr>
        <p:spPr bwMode="auto">
          <a:xfrm>
            <a:off x="5344486" y="3649663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320987" y="3913639"/>
            <a:ext cx="9020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10</a:t>
            </a:r>
            <a:endParaRPr lang="zh-CN" altLang="en-US" sz="2000" dirty="0"/>
          </a:p>
        </p:txBody>
      </p:sp>
      <p:sp>
        <p:nvSpPr>
          <p:cNvPr id="62" name="Line 151"/>
          <p:cNvSpPr>
            <a:spLocks noChangeShapeType="1"/>
          </p:cNvSpPr>
          <p:nvPr/>
        </p:nvSpPr>
        <p:spPr bwMode="auto">
          <a:xfrm>
            <a:off x="5771993" y="4005263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397185" y="4277267"/>
            <a:ext cx="9020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10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0628629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00038" y="528207"/>
            <a:ext cx="8501062" cy="131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2】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2114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1K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SRAM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芯片组成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4K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的内存储器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.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地址总线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15-0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（低），双向数据总线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7-0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（低），读写信号线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R/W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请给出芯片内部地址分配与片选逻辑，并画出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的结构原理图。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44817" y="1845106"/>
            <a:ext cx="7993062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）线路连接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pic>
        <p:nvPicPr>
          <p:cNvPr id="174081" name="Picture 1" descr="C:\Users\wy\AppData\Roaming\Tencent\Users\4494101\QQ\WinTemp\RichOle\)JUTT8B)_~AAS@3LB)E~V{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531" y="2334471"/>
            <a:ext cx="7153275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89322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00038" y="493077"/>
            <a:ext cx="8501062" cy="1818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3】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某半导体存储器，按字节编址。其中，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0000H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～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07FFH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为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区，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0800H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～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13FFH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为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区，可选芯片有</a:t>
            </a:r>
            <a:r>
              <a:rPr lang="en-US" altLang="zh-CN" dirty="0"/>
              <a:t>2K×8</a:t>
            </a:r>
            <a:r>
              <a:rPr lang="zh-CN" altLang="en-US" dirty="0"/>
              <a:t>位</a:t>
            </a:r>
            <a:r>
              <a:rPr lang="en-US" altLang="zh-CN" dirty="0"/>
              <a:t>ROM</a:t>
            </a:r>
            <a:r>
              <a:rPr lang="zh-CN" altLang="en-US" dirty="0"/>
              <a:t>、</a:t>
            </a:r>
            <a:r>
              <a:rPr lang="en-US" altLang="zh-CN" dirty="0"/>
              <a:t> 1K×8</a:t>
            </a:r>
            <a:r>
              <a:rPr lang="zh-CN" altLang="en-US" dirty="0"/>
              <a:t>位</a:t>
            </a:r>
            <a:r>
              <a:rPr lang="en-US" altLang="zh-CN" dirty="0"/>
              <a:t>RAM</a:t>
            </a:r>
            <a:r>
              <a:rPr lang="zh-CN" altLang="en-US" dirty="0"/>
              <a:t>和</a:t>
            </a:r>
            <a:r>
              <a:rPr lang="en-US" altLang="zh-CN" dirty="0"/>
              <a:t>2K×8</a:t>
            </a:r>
            <a:r>
              <a:rPr lang="zh-CN" altLang="en-US" dirty="0"/>
              <a:t>位</a:t>
            </a:r>
            <a:r>
              <a:rPr lang="en-US" altLang="zh-CN" dirty="0"/>
              <a:t>RAM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地址总线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15-0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（低），双向数据总线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</a:t>
            </a:r>
            <a:r>
              <a:rPr lang="en-US" altLang="zh-CN" baseline="-25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7-0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（低），请给出芯片内部地址分配与片选逻辑。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54038" y="2314143"/>
            <a:ext cx="7993062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）计算容量和芯片数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77" name="Rectangle 9"/>
          <p:cNvSpPr>
            <a:spLocks noChangeArrowheads="1"/>
          </p:cNvSpPr>
          <p:nvPr/>
        </p:nvSpPr>
        <p:spPr bwMode="auto">
          <a:xfrm>
            <a:off x="962273" y="5505894"/>
            <a:ext cx="7584827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区一片</a:t>
            </a:r>
            <a:r>
              <a:rPr lang="en-US" altLang="zh-CN" dirty="0"/>
              <a:t>2K×8</a:t>
            </a:r>
            <a:r>
              <a:rPr lang="zh-CN" altLang="en-US" dirty="0"/>
              <a:t>位</a:t>
            </a:r>
            <a:r>
              <a:rPr lang="en-US" altLang="zh-CN" dirty="0"/>
              <a:t>ROM</a:t>
            </a:r>
            <a:r>
              <a:rPr lang="zh-CN" altLang="en-US" dirty="0"/>
              <a:t>，</a:t>
            </a:r>
            <a:r>
              <a:rPr lang="en-US" altLang="zh-CN" dirty="0"/>
              <a:t>RAM</a:t>
            </a:r>
            <a:r>
              <a:rPr lang="zh-CN" altLang="en-US" dirty="0"/>
              <a:t>区</a:t>
            </a:r>
            <a:r>
              <a:rPr lang="en-US" altLang="zh-CN" dirty="0"/>
              <a:t>2K×8</a:t>
            </a:r>
            <a:r>
              <a:rPr lang="zh-CN" altLang="en-US" dirty="0"/>
              <a:t>位</a:t>
            </a:r>
            <a:r>
              <a:rPr lang="en-US" altLang="zh-CN" dirty="0"/>
              <a:t>RAM</a:t>
            </a:r>
            <a:r>
              <a:rPr lang="zh-CN" altLang="en-US" dirty="0"/>
              <a:t>和</a:t>
            </a:r>
            <a:r>
              <a:rPr lang="en-US" altLang="zh-CN" dirty="0"/>
              <a:t>1K×8</a:t>
            </a:r>
            <a:r>
              <a:rPr lang="zh-CN" altLang="en-US" dirty="0"/>
              <a:t>位</a:t>
            </a:r>
            <a:r>
              <a:rPr lang="en-US" altLang="zh-CN" dirty="0"/>
              <a:t>RAM</a:t>
            </a:r>
            <a:r>
              <a:rPr lang="zh-CN" altLang="en-US" dirty="0"/>
              <a:t>各一片。</a:t>
            </a: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63600" y="2763778"/>
            <a:ext cx="7937500" cy="2724210"/>
            <a:chOff x="863600" y="2763778"/>
            <a:chExt cx="7937500" cy="2724210"/>
          </a:xfrm>
        </p:grpSpPr>
        <p:grpSp>
          <p:nvGrpSpPr>
            <p:cNvPr id="81" name="组合 80"/>
            <p:cNvGrpSpPr/>
            <p:nvPr/>
          </p:nvGrpSpPr>
          <p:grpSpPr>
            <a:xfrm>
              <a:off x="863600" y="2763778"/>
              <a:ext cx="7937500" cy="2724210"/>
              <a:chOff x="863600" y="2598678"/>
              <a:chExt cx="7937500" cy="2724210"/>
            </a:xfrm>
          </p:grpSpPr>
          <p:sp>
            <p:nvSpPr>
              <p:cNvPr id="13" name="Text Box 7"/>
              <p:cNvSpPr txBox="1">
                <a:spLocks noChangeArrowheads="1"/>
              </p:cNvSpPr>
              <p:nvPr/>
            </p:nvSpPr>
            <p:spPr bwMode="auto">
              <a:xfrm>
                <a:off x="2368857" y="3309938"/>
                <a:ext cx="4073667" cy="488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600" b="0">
                    <a:latin typeface="宋体" charset="-122"/>
                    <a:ea typeface="宋体" charset="-122"/>
                  </a:rPr>
                  <a:t>           </a:t>
                </a:r>
                <a:r>
                  <a:rPr lang="en-US" altLang="zh-CN" sz="1600" b="0">
                    <a:latin typeface="宋体" charset="-122"/>
                    <a:ea typeface="宋体" charset="-122"/>
                  </a:rPr>
                  <a:t>......</a:t>
                </a:r>
              </a:p>
            </p:txBody>
          </p:sp>
          <p:grpSp>
            <p:nvGrpSpPr>
              <p:cNvPr id="16" name="Group 33"/>
              <p:cNvGrpSpPr>
                <a:grpSpLocks/>
              </p:cNvGrpSpPr>
              <p:nvPr/>
            </p:nvGrpSpPr>
            <p:grpSpPr bwMode="auto">
              <a:xfrm>
                <a:off x="1880751" y="2890914"/>
                <a:ext cx="3192965" cy="483711"/>
                <a:chOff x="1365" y="6331"/>
                <a:chExt cx="3780" cy="554"/>
              </a:xfrm>
            </p:grpSpPr>
            <p:sp>
              <p:nvSpPr>
                <p:cNvPr id="50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365" y="6420"/>
                  <a:ext cx="750" cy="4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600" baseline="-25000" dirty="0">
                      <a:latin typeface="Times New Roman" pitchFamily="18" charset="0"/>
                      <a:ea typeface="宋体" charset="-122"/>
                    </a:rPr>
                    <a:t>15</a:t>
                  </a:r>
                  <a:endParaRPr lang="en-US" altLang="zh-CN" sz="1600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5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4092" y="6331"/>
                  <a:ext cx="1053" cy="4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600" baseline="-25000" dirty="0">
                      <a:latin typeface="Times New Roman" pitchFamily="18" charset="0"/>
                      <a:ea typeface="宋体" charset="-122"/>
                    </a:rPr>
                    <a:t>0</a:t>
                  </a:r>
                  <a:endParaRPr lang="en-US" altLang="zh-CN" sz="1600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5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554" y="6372"/>
                  <a:ext cx="750" cy="4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600" baseline="-25000" dirty="0">
                      <a:latin typeface="Times New Roman" pitchFamily="18" charset="0"/>
                      <a:ea typeface="宋体" charset="-122"/>
                    </a:rPr>
                    <a:t>9</a:t>
                  </a:r>
                  <a:endParaRPr lang="en-US" altLang="zh-CN" sz="16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grpSp>
            <p:nvGrpSpPr>
              <p:cNvPr id="18" name="Group 37"/>
              <p:cNvGrpSpPr>
                <a:grpSpLocks/>
              </p:cNvGrpSpPr>
              <p:nvPr/>
            </p:nvGrpSpPr>
            <p:grpSpPr bwMode="auto">
              <a:xfrm>
                <a:off x="1703948" y="3316288"/>
                <a:ext cx="5150856" cy="735012"/>
                <a:chOff x="1995" y="6207"/>
                <a:chExt cx="4875" cy="843"/>
              </a:xfrm>
            </p:grpSpPr>
            <p:grpSp>
              <p:nvGrpSpPr>
                <p:cNvPr id="46" name="Group 38"/>
                <p:cNvGrpSpPr>
                  <a:grpSpLocks/>
                </p:cNvGrpSpPr>
                <p:nvPr/>
              </p:nvGrpSpPr>
              <p:grpSpPr bwMode="auto">
                <a:xfrm>
                  <a:off x="2280" y="6207"/>
                  <a:ext cx="3870" cy="843"/>
                  <a:chOff x="2280" y="6207"/>
                  <a:chExt cx="3870" cy="843"/>
                </a:xfrm>
              </p:grpSpPr>
              <p:sp>
                <p:nvSpPr>
                  <p:cNvPr id="48" name="Text Box 3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80" y="6207"/>
                    <a:ext cx="3855" cy="4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0 0 0 0 0  </a:t>
                    </a:r>
                    <a:r>
                      <a:rPr lang="en-US" altLang="zh-CN" sz="1600" dirty="0">
                        <a:solidFill>
                          <a:srgbClr val="0000FF"/>
                        </a:solidFill>
                        <a:latin typeface="Times New Roman" pitchFamily="18" charset="0"/>
                        <a:ea typeface="宋体" charset="-122"/>
                      </a:rPr>
                      <a:t>0  0 0  0 0 0 0  0 0 0 0        </a:t>
                    </a:r>
                    <a:r>
                      <a:rPr lang="zh-CN" altLang="en-US" sz="1600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charset="-122"/>
                      </a:rPr>
                      <a:t>（</a:t>
                    </a:r>
                    <a:r>
                      <a:rPr lang="en-US" altLang="zh-CN" sz="1600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charset="-122"/>
                      </a:rPr>
                      <a:t>0000H)</a:t>
                    </a:r>
                  </a:p>
                </p:txBody>
              </p:sp>
              <p:sp>
                <p:nvSpPr>
                  <p:cNvPr id="49" name="Text Box 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95" y="6567"/>
                    <a:ext cx="3855" cy="4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</a:pPr>
                    <a:r>
                      <a:rPr lang="en-US" altLang="zh-CN" sz="16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0 0 0 0 0  </a:t>
                    </a:r>
                    <a:r>
                      <a:rPr lang="en-US" altLang="zh-CN" sz="1600" dirty="0">
                        <a:solidFill>
                          <a:srgbClr val="0000FF"/>
                        </a:solidFill>
                        <a:latin typeface="Times New Roman" pitchFamily="18" charset="0"/>
                        <a:ea typeface="宋体" charset="-122"/>
                      </a:rPr>
                      <a:t>1</a:t>
                    </a:r>
                    <a:r>
                      <a:rPr lang="en-US" altLang="zh-CN" sz="1600" dirty="0">
                        <a:latin typeface="Times New Roman" pitchFamily="18" charset="0"/>
                        <a:ea typeface="宋体" charset="-122"/>
                      </a:rPr>
                      <a:t> </a:t>
                    </a:r>
                    <a:r>
                      <a:rPr lang="en-US" altLang="zh-CN" sz="1600" dirty="0">
                        <a:solidFill>
                          <a:srgbClr val="0000FF"/>
                        </a:solidFill>
                        <a:latin typeface="Times New Roman" pitchFamily="18" charset="0"/>
                        <a:ea typeface="宋体" charset="-122"/>
                      </a:rPr>
                      <a:t> 1 1  1 1 1 1  1 1 1 1          </a:t>
                    </a:r>
                    <a:r>
                      <a:rPr lang="en-US" altLang="zh-CN" sz="1600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charset="-122"/>
                      </a:rPr>
                      <a:t>(07FFH)</a:t>
                    </a:r>
                  </a:p>
                </p:txBody>
              </p:sp>
            </p:grpSp>
            <p:sp>
              <p:nvSpPr>
                <p:cNvPr id="47" name="Line 41"/>
                <p:cNvSpPr>
                  <a:spLocks noChangeShapeType="1"/>
                </p:cNvSpPr>
                <p:nvPr/>
              </p:nvSpPr>
              <p:spPr bwMode="auto">
                <a:xfrm>
                  <a:off x="1995" y="6930"/>
                  <a:ext cx="4875" cy="0"/>
                </a:xfrm>
                <a:prstGeom prst="line">
                  <a:avLst/>
                </a:prstGeom>
                <a:noFill/>
                <a:ln w="19050">
                  <a:solidFill>
                    <a:srgbClr val="008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9" name="Group 42"/>
              <p:cNvGrpSpPr>
                <a:grpSpLocks/>
              </p:cNvGrpSpPr>
              <p:nvPr/>
            </p:nvGrpSpPr>
            <p:grpSpPr bwMode="auto">
              <a:xfrm>
                <a:off x="1735527" y="3901681"/>
                <a:ext cx="5150856" cy="735013"/>
                <a:chOff x="1995" y="6207"/>
                <a:chExt cx="4875" cy="843"/>
              </a:xfrm>
            </p:grpSpPr>
            <p:grpSp>
              <p:nvGrpSpPr>
                <p:cNvPr id="42" name="Group 43"/>
                <p:cNvGrpSpPr>
                  <a:grpSpLocks/>
                </p:cNvGrpSpPr>
                <p:nvPr/>
              </p:nvGrpSpPr>
              <p:grpSpPr bwMode="auto">
                <a:xfrm>
                  <a:off x="2280" y="6207"/>
                  <a:ext cx="3870" cy="843"/>
                  <a:chOff x="2280" y="6207"/>
                  <a:chExt cx="3870" cy="843"/>
                </a:xfrm>
              </p:grpSpPr>
              <p:sp>
                <p:nvSpPr>
                  <p:cNvPr id="44" name="Text Box 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80" y="6207"/>
                    <a:ext cx="3855" cy="4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</a:pPr>
                    <a:r>
                      <a:rPr lang="en-US" altLang="zh-CN" sz="16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0 0 0 0 1  </a:t>
                    </a:r>
                    <a:r>
                      <a:rPr lang="en-US" altLang="zh-CN" sz="1600" dirty="0">
                        <a:solidFill>
                          <a:srgbClr val="0000FF"/>
                        </a:solidFill>
                        <a:latin typeface="Times New Roman" pitchFamily="18" charset="0"/>
                        <a:ea typeface="宋体" charset="-122"/>
                      </a:rPr>
                      <a:t>0</a:t>
                    </a:r>
                    <a:r>
                      <a:rPr lang="en-US" altLang="zh-CN" sz="1600" dirty="0">
                        <a:latin typeface="Times New Roman" pitchFamily="18" charset="0"/>
                        <a:ea typeface="宋体" charset="-122"/>
                      </a:rPr>
                      <a:t> </a:t>
                    </a:r>
                    <a:r>
                      <a:rPr lang="en-US" altLang="zh-CN" sz="1600" dirty="0">
                        <a:solidFill>
                          <a:srgbClr val="0000FF"/>
                        </a:solidFill>
                        <a:latin typeface="Times New Roman" pitchFamily="18" charset="0"/>
                        <a:ea typeface="宋体" charset="-122"/>
                      </a:rPr>
                      <a:t> 0 0  0 0 0 0  0 0 0 0          </a:t>
                    </a:r>
                    <a:r>
                      <a:rPr lang="en-US" altLang="zh-CN" sz="1600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charset="-122"/>
                      </a:rPr>
                      <a:t>(0800H)</a:t>
                    </a:r>
                  </a:p>
                </p:txBody>
              </p:sp>
              <p:sp>
                <p:nvSpPr>
                  <p:cNvPr id="45" name="Text Box 4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95" y="6567"/>
                    <a:ext cx="3855" cy="4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</a:pPr>
                    <a:r>
                      <a:rPr lang="en-US" altLang="zh-CN" sz="16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0 0 0 0 1  </a:t>
                    </a:r>
                    <a:r>
                      <a:rPr lang="en-US" altLang="zh-CN" sz="1600" dirty="0">
                        <a:solidFill>
                          <a:srgbClr val="0000FF"/>
                        </a:solidFill>
                        <a:latin typeface="Times New Roman" pitchFamily="18" charset="0"/>
                        <a:ea typeface="宋体" charset="-122"/>
                      </a:rPr>
                      <a:t>1</a:t>
                    </a:r>
                    <a:r>
                      <a:rPr lang="en-US" altLang="zh-CN" sz="1600" dirty="0">
                        <a:latin typeface="Times New Roman" pitchFamily="18" charset="0"/>
                        <a:ea typeface="宋体" charset="-122"/>
                      </a:rPr>
                      <a:t> </a:t>
                    </a:r>
                    <a:r>
                      <a:rPr lang="en-US" altLang="zh-CN" sz="1600" dirty="0">
                        <a:solidFill>
                          <a:srgbClr val="0000FF"/>
                        </a:solidFill>
                        <a:latin typeface="Times New Roman" pitchFamily="18" charset="0"/>
                        <a:ea typeface="宋体" charset="-122"/>
                      </a:rPr>
                      <a:t> 1 1  1 1 1 1  1 1 1 1          </a:t>
                    </a:r>
                    <a:r>
                      <a:rPr lang="en-US" altLang="zh-CN" sz="1600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charset="-122"/>
                      </a:rPr>
                      <a:t>(0FFFH)</a:t>
                    </a:r>
                  </a:p>
                  <a:p>
                    <a:pPr algn="just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1600" dirty="0">
                      <a:latin typeface="Times New Roman" pitchFamily="18" charset="0"/>
                      <a:ea typeface="宋体" charset="-122"/>
                    </a:endParaRPr>
                  </a:p>
                </p:txBody>
              </p:sp>
            </p:grpSp>
            <p:sp>
              <p:nvSpPr>
                <p:cNvPr id="43" name="Line 46"/>
                <p:cNvSpPr>
                  <a:spLocks noChangeShapeType="1"/>
                </p:cNvSpPr>
                <p:nvPr/>
              </p:nvSpPr>
              <p:spPr bwMode="auto">
                <a:xfrm>
                  <a:off x="1995" y="6990"/>
                  <a:ext cx="4875" cy="0"/>
                </a:xfrm>
                <a:prstGeom prst="line">
                  <a:avLst/>
                </a:prstGeom>
                <a:noFill/>
                <a:ln w="19050">
                  <a:solidFill>
                    <a:srgbClr val="008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20" name="Group 47"/>
              <p:cNvGrpSpPr>
                <a:grpSpLocks/>
              </p:cNvGrpSpPr>
              <p:nvPr/>
            </p:nvGrpSpPr>
            <p:grpSpPr bwMode="auto">
              <a:xfrm>
                <a:off x="1735527" y="4586288"/>
                <a:ext cx="5150856" cy="736600"/>
                <a:chOff x="1995" y="6207"/>
                <a:chExt cx="4875" cy="843"/>
              </a:xfrm>
            </p:grpSpPr>
            <p:grpSp>
              <p:nvGrpSpPr>
                <p:cNvPr id="38" name="Group 48"/>
                <p:cNvGrpSpPr>
                  <a:grpSpLocks/>
                </p:cNvGrpSpPr>
                <p:nvPr/>
              </p:nvGrpSpPr>
              <p:grpSpPr bwMode="auto">
                <a:xfrm>
                  <a:off x="2280" y="6207"/>
                  <a:ext cx="3870" cy="843"/>
                  <a:chOff x="2280" y="6207"/>
                  <a:chExt cx="3870" cy="843"/>
                </a:xfrm>
              </p:grpSpPr>
              <p:sp>
                <p:nvSpPr>
                  <p:cNvPr id="40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80" y="6207"/>
                    <a:ext cx="3855" cy="4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0 0 0 1 0  0  </a:t>
                    </a:r>
                    <a:r>
                      <a:rPr lang="en-US" altLang="zh-CN" sz="1600" dirty="0">
                        <a:solidFill>
                          <a:srgbClr val="0000FF"/>
                        </a:solidFill>
                        <a:latin typeface="Times New Roman" pitchFamily="18" charset="0"/>
                        <a:ea typeface="宋体" charset="-122"/>
                      </a:rPr>
                      <a:t>0 0  0 0 0 0  0 0 0 0</a:t>
                    </a:r>
                  </a:p>
                </p:txBody>
              </p:sp>
              <p:sp>
                <p:nvSpPr>
                  <p:cNvPr id="41" name="Text Box 5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95" y="6567"/>
                    <a:ext cx="3855" cy="4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0 0 0 1 0  0  </a:t>
                    </a:r>
                    <a:r>
                      <a:rPr lang="en-US" altLang="zh-CN" sz="1600" dirty="0">
                        <a:solidFill>
                          <a:srgbClr val="0000FF"/>
                        </a:solidFill>
                        <a:latin typeface="Times New Roman" pitchFamily="18" charset="0"/>
                        <a:ea typeface="宋体" charset="-122"/>
                      </a:rPr>
                      <a:t>1 1  1 1 1 1  1 1 1 1</a:t>
                    </a:r>
                    <a:endParaRPr lang="en-US" altLang="zh-CN" sz="1600" dirty="0">
                      <a:latin typeface="Times New Roman" pitchFamily="18" charset="0"/>
                      <a:ea typeface="宋体" charset="-122"/>
                    </a:endParaRPr>
                  </a:p>
                </p:txBody>
              </p:sp>
            </p:grpSp>
            <p:sp>
              <p:nvSpPr>
                <p:cNvPr id="39" name="Line 51"/>
                <p:cNvSpPr>
                  <a:spLocks noChangeShapeType="1"/>
                </p:cNvSpPr>
                <p:nvPr/>
              </p:nvSpPr>
              <p:spPr bwMode="auto">
                <a:xfrm>
                  <a:off x="1995" y="6990"/>
                  <a:ext cx="4875" cy="0"/>
                </a:xfrm>
                <a:prstGeom prst="line">
                  <a:avLst/>
                </a:prstGeom>
                <a:noFill/>
                <a:ln w="19050">
                  <a:solidFill>
                    <a:srgbClr val="008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22" name="Line 55"/>
              <p:cNvSpPr>
                <a:spLocks noChangeShapeType="1"/>
              </p:cNvSpPr>
              <p:nvPr/>
            </p:nvSpPr>
            <p:spPr bwMode="auto">
              <a:xfrm>
                <a:off x="3078796" y="3333353"/>
                <a:ext cx="29907" cy="1989535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5" name="Line 58"/>
              <p:cNvSpPr>
                <a:spLocks noChangeShapeType="1"/>
              </p:cNvSpPr>
              <p:nvPr/>
            </p:nvSpPr>
            <p:spPr bwMode="auto">
              <a:xfrm>
                <a:off x="1207789" y="4094507"/>
                <a:ext cx="427728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24" name="Group 59"/>
              <p:cNvGrpSpPr>
                <a:grpSpLocks/>
              </p:cNvGrpSpPr>
              <p:nvPr/>
            </p:nvGrpSpPr>
            <p:grpSpPr bwMode="auto">
              <a:xfrm>
                <a:off x="895179" y="4829175"/>
                <a:ext cx="1061400" cy="431800"/>
                <a:chOff x="919" y="1559"/>
                <a:chExt cx="1005" cy="495"/>
              </a:xfrm>
            </p:grpSpPr>
            <p:sp>
              <p:nvSpPr>
                <p:cNvPr id="32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919" y="1559"/>
                  <a:ext cx="1005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33" name="Line 61"/>
                <p:cNvSpPr>
                  <a:spLocks noChangeShapeType="1"/>
                </p:cNvSpPr>
                <p:nvPr/>
              </p:nvSpPr>
              <p:spPr bwMode="auto">
                <a:xfrm>
                  <a:off x="1215" y="1635"/>
                  <a:ext cx="40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25" name="Group 62"/>
              <p:cNvGrpSpPr>
                <a:grpSpLocks/>
              </p:cNvGrpSpPr>
              <p:nvPr/>
            </p:nvGrpSpPr>
            <p:grpSpPr bwMode="auto">
              <a:xfrm>
                <a:off x="895179" y="4095750"/>
                <a:ext cx="1061400" cy="431800"/>
                <a:chOff x="919" y="1559"/>
                <a:chExt cx="1005" cy="495"/>
              </a:xfrm>
            </p:grpSpPr>
            <p:sp>
              <p:nvSpPr>
                <p:cNvPr id="30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919" y="1559"/>
                  <a:ext cx="1005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31" name="Line 64"/>
                <p:cNvSpPr>
                  <a:spLocks noChangeShapeType="1"/>
                </p:cNvSpPr>
                <p:nvPr/>
              </p:nvSpPr>
              <p:spPr bwMode="auto">
                <a:xfrm>
                  <a:off x="1215" y="1635"/>
                  <a:ext cx="40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26" name="Group 65"/>
              <p:cNvGrpSpPr>
                <a:grpSpLocks/>
              </p:cNvGrpSpPr>
              <p:nvPr/>
            </p:nvGrpSpPr>
            <p:grpSpPr bwMode="auto">
              <a:xfrm>
                <a:off x="863600" y="3357563"/>
                <a:ext cx="1061400" cy="431800"/>
                <a:chOff x="919" y="1559"/>
                <a:chExt cx="1005" cy="495"/>
              </a:xfrm>
            </p:grpSpPr>
            <p:sp>
              <p:nvSpPr>
                <p:cNvPr id="28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919" y="1559"/>
                  <a:ext cx="1005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CS0</a:t>
                  </a:r>
                </a:p>
              </p:txBody>
            </p:sp>
            <p:sp>
              <p:nvSpPr>
                <p:cNvPr id="29" name="Line 67"/>
                <p:cNvSpPr>
                  <a:spLocks noChangeShapeType="1"/>
                </p:cNvSpPr>
                <p:nvPr/>
              </p:nvSpPr>
              <p:spPr bwMode="auto">
                <a:xfrm>
                  <a:off x="1215" y="1635"/>
                  <a:ext cx="40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27" name="TextBox 26"/>
              <p:cNvSpPr txBox="1"/>
              <p:nvPr/>
            </p:nvSpPr>
            <p:spPr>
              <a:xfrm>
                <a:off x="966221" y="2598678"/>
                <a:ext cx="78348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l"/>
                </a:pPr>
                <a:r>
                  <a:rPr lang="zh-CN" altLang="en-US" sz="2000" dirty="0"/>
                  <a:t>存储芯片的地址分配                 存储器组成结构</a:t>
                </a:r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6371994" y="3590523"/>
              <a:ext cx="1724828" cy="1794771"/>
              <a:chOff x="6325689" y="3250304"/>
              <a:chExt cx="1724828" cy="1794771"/>
            </a:xfrm>
          </p:grpSpPr>
          <p:sp>
            <p:nvSpPr>
              <p:cNvPr id="53" name="Rectangle 10"/>
              <p:cNvSpPr>
                <a:spLocks noChangeArrowheads="1"/>
              </p:cNvSpPr>
              <p:nvPr/>
            </p:nvSpPr>
            <p:spPr bwMode="auto">
              <a:xfrm>
                <a:off x="6325689" y="3250304"/>
                <a:ext cx="1724828" cy="179477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54" name="Text Box 14"/>
              <p:cNvSpPr txBox="1">
                <a:spLocks noChangeArrowheads="1"/>
              </p:cNvSpPr>
              <p:nvPr/>
            </p:nvSpPr>
            <p:spPr bwMode="auto">
              <a:xfrm>
                <a:off x="6371994" y="3250304"/>
                <a:ext cx="1649216" cy="549695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8 ROM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U0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5" name="Text Box 14"/>
              <p:cNvSpPr txBox="1">
                <a:spLocks noChangeArrowheads="1"/>
              </p:cNvSpPr>
              <p:nvPr/>
            </p:nvSpPr>
            <p:spPr bwMode="auto">
              <a:xfrm>
                <a:off x="6375901" y="3887199"/>
                <a:ext cx="1649216" cy="549695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8 RAM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U1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6" name="Text Box 14"/>
              <p:cNvSpPr txBox="1">
                <a:spLocks noChangeArrowheads="1"/>
              </p:cNvSpPr>
              <p:nvPr/>
            </p:nvSpPr>
            <p:spPr bwMode="auto">
              <a:xfrm>
                <a:off x="6375901" y="4495380"/>
                <a:ext cx="1649216" cy="549695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1K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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8 RAM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U2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4" name="矩形 3"/>
            <p:cNvSpPr/>
            <p:nvPr/>
          </p:nvSpPr>
          <p:spPr>
            <a:xfrm>
              <a:off x="5185020" y="4692650"/>
              <a:ext cx="89319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spcBef>
                  <a:spcPct val="0"/>
                </a:spcBef>
                <a:buClrTx/>
              </a:pPr>
              <a:r>
                <a:rPr lang="en-US" altLang="zh-CN" sz="1600" dirty="0">
                  <a:solidFill>
                    <a:srgbClr val="00B050"/>
                  </a:solidFill>
                  <a:latin typeface="Times New Roman" pitchFamily="18" charset="0"/>
                  <a:ea typeface="宋体" charset="-122"/>
                </a:rPr>
                <a:t>(1000H)</a:t>
              </a:r>
            </a:p>
          </p:txBody>
        </p:sp>
        <p:sp>
          <p:nvSpPr>
            <p:cNvPr id="57" name="矩形 56"/>
            <p:cNvSpPr/>
            <p:nvPr/>
          </p:nvSpPr>
          <p:spPr>
            <a:xfrm>
              <a:off x="5194157" y="5089572"/>
              <a:ext cx="9380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spcBef>
                  <a:spcPct val="0"/>
                </a:spcBef>
                <a:buClrTx/>
              </a:pPr>
              <a:r>
                <a:rPr lang="en-US" altLang="zh-CN" sz="1600" dirty="0">
                  <a:solidFill>
                    <a:srgbClr val="00B050"/>
                  </a:solidFill>
                  <a:latin typeface="Times New Roman" pitchFamily="18" charset="0"/>
                  <a:ea typeface="宋体" charset="-122"/>
                </a:rPr>
                <a:t>(13FFH)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02607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54038" y="514774"/>
            <a:ext cx="7993062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）地址分配与片选逻辑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77" name="Rectangle 9"/>
          <p:cNvSpPr>
            <a:spLocks noChangeArrowheads="1"/>
          </p:cNvSpPr>
          <p:nvPr/>
        </p:nvSpPr>
        <p:spPr bwMode="auto">
          <a:xfrm>
            <a:off x="664586" y="3891879"/>
            <a:ext cx="7584827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/>
              <a:t>低位地址分配给芯片，高位地址形成片选逻辑：</a:t>
            </a: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36940" y="920867"/>
            <a:ext cx="7937500" cy="2999795"/>
            <a:chOff x="436940" y="2749667"/>
            <a:chExt cx="7937500" cy="2999795"/>
          </a:xfrm>
        </p:grpSpPr>
        <p:grpSp>
          <p:nvGrpSpPr>
            <p:cNvPr id="5" name="组合 4"/>
            <p:cNvGrpSpPr/>
            <p:nvPr/>
          </p:nvGrpSpPr>
          <p:grpSpPr>
            <a:xfrm>
              <a:off x="436940" y="2749667"/>
              <a:ext cx="7937500" cy="2999795"/>
              <a:chOff x="863600" y="2763778"/>
              <a:chExt cx="7937500" cy="2999795"/>
            </a:xfrm>
          </p:grpSpPr>
          <p:grpSp>
            <p:nvGrpSpPr>
              <p:cNvPr id="81" name="组合 80"/>
              <p:cNvGrpSpPr/>
              <p:nvPr/>
            </p:nvGrpSpPr>
            <p:grpSpPr>
              <a:xfrm>
                <a:off x="863600" y="2763778"/>
                <a:ext cx="7937500" cy="2724210"/>
                <a:chOff x="863600" y="2598678"/>
                <a:chExt cx="7937500" cy="2724210"/>
              </a:xfrm>
            </p:grpSpPr>
            <p:sp>
              <p:nvSpPr>
                <p:cNvPr id="1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368857" y="3309938"/>
                  <a:ext cx="4073667" cy="4889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1600" b="0">
                      <a:latin typeface="宋体" charset="-122"/>
                      <a:ea typeface="宋体" charset="-122"/>
                    </a:rPr>
                    <a:t>           </a:t>
                  </a:r>
                  <a:r>
                    <a:rPr lang="en-US" altLang="zh-CN" sz="1600" b="0">
                      <a:latin typeface="宋体" charset="-122"/>
                      <a:ea typeface="宋体" charset="-122"/>
                    </a:rPr>
                    <a:t>......</a:t>
                  </a:r>
                </a:p>
              </p:txBody>
            </p:sp>
            <p:grpSp>
              <p:nvGrpSpPr>
                <p:cNvPr id="16" name="Group 33"/>
                <p:cNvGrpSpPr>
                  <a:grpSpLocks/>
                </p:cNvGrpSpPr>
                <p:nvPr/>
              </p:nvGrpSpPr>
              <p:grpSpPr bwMode="auto">
                <a:xfrm>
                  <a:off x="1880751" y="2890914"/>
                  <a:ext cx="3192965" cy="483711"/>
                  <a:chOff x="1365" y="6331"/>
                  <a:chExt cx="3780" cy="554"/>
                </a:xfrm>
              </p:grpSpPr>
              <p:sp>
                <p:nvSpPr>
                  <p:cNvPr id="50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65" y="6420"/>
                    <a:ext cx="750" cy="4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latin typeface="Times New Roman" pitchFamily="18" charset="0"/>
                        <a:ea typeface="宋体" charset="-122"/>
                      </a:rPr>
                      <a:t>A</a:t>
                    </a:r>
                    <a:r>
                      <a:rPr lang="en-US" altLang="zh-CN" sz="1600" baseline="-25000" dirty="0">
                        <a:latin typeface="Times New Roman" pitchFamily="18" charset="0"/>
                        <a:ea typeface="宋体" charset="-122"/>
                      </a:rPr>
                      <a:t>15</a:t>
                    </a:r>
                    <a:endParaRPr lang="en-US" altLang="zh-CN" sz="1600" dirty="0">
                      <a:latin typeface="Times New Roman" pitchFamily="18" charset="0"/>
                      <a:ea typeface="宋体" charset="-122"/>
                    </a:endParaRPr>
                  </a:p>
                </p:txBody>
              </p:sp>
              <p:sp>
                <p:nvSpPr>
                  <p:cNvPr id="51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2" y="6331"/>
                    <a:ext cx="1053" cy="44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latin typeface="Times New Roman" pitchFamily="18" charset="0"/>
                        <a:ea typeface="宋体" charset="-122"/>
                      </a:rPr>
                      <a:t>A</a:t>
                    </a:r>
                    <a:r>
                      <a:rPr lang="en-US" altLang="zh-CN" sz="1600" baseline="-25000" dirty="0">
                        <a:latin typeface="Times New Roman" pitchFamily="18" charset="0"/>
                        <a:ea typeface="宋体" charset="-122"/>
                      </a:rPr>
                      <a:t>0</a:t>
                    </a:r>
                    <a:endParaRPr lang="en-US" altLang="zh-CN" sz="1600" dirty="0">
                      <a:latin typeface="Times New Roman" pitchFamily="18" charset="0"/>
                      <a:ea typeface="宋体" charset="-122"/>
                    </a:endParaRPr>
                  </a:p>
                </p:txBody>
              </p:sp>
              <p:sp>
                <p:nvSpPr>
                  <p:cNvPr id="52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38" y="6372"/>
                    <a:ext cx="1059" cy="4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</a:pPr>
                    <a:r>
                      <a:rPr lang="en-US" altLang="zh-CN" sz="1600" dirty="0">
                        <a:latin typeface="Times New Roman" pitchFamily="18" charset="0"/>
                        <a:ea typeface="宋体" charset="-122"/>
                      </a:rPr>
                      <a:t>A</a:t>
                    </a:r>
                    <a:r>
                      <a:rPr lang="en-US" altLang="zh-CN" sz="1600" baseline="-25000" dirty="0">
                        <a:latin typeface="Times New Roman" pitchFamily="18" charset="0"/>
                        <a:ea typeface="宋体" charset="-122"/>
                      </a:rPr>
                      <a:t>10</a:t>
                    </a:r>
                    <a:r>
                      <a:rPr lang="en-US" altLang="zh-CN" sz="1600" dirty="0">
                        <a:latin typeface="Times New Roman" pitchFamily="18" charset="0"/>
                        <a:ea typeface="宋体" charset="-122"/>
                      </a:rPr>
                      <a:t> A</a:t>
                    </a:r>
                    <a:r>
                      <a:rPr lang="en-US" altLang="zh-CN" sz="1600" baseline="-25000" dirty="0">
                        <a:latin typeface="Times New Roman" pitchFamily="18" charset="0"/>
                        <a:ea typeface="宋体" charset="-122"/>
                      </a:rPr>
                      <a:t>9</a:t>
                    </a:r>
                    <a:endParaRPr lang="en-US" altLang="zh-CN" sz="1600" dirty="0">
                      <a:latin typeface="Times New Roman" pitchFamily="18" charset="0"/>
                      <a:ea typeface="宋体" charset="-122"/>
                    </a:endParaRPr>
                  </a:p>
                </p:txBody>
              </p:sp>
            </p:grpSp>
            <p:grpSp>
              <p:nvGrpSpPr>
                <p:cNvPr id="18" name="Group 37"/>
                <p:cNvGrpSpPr>
                  <a:grpSpLocks/>
                </p:cNvGrpSpPr>
                <p:nvPr/>
              </p:nvGrpSpPr>
              <p:grpSpPr bwMode="auto">
                <a:xfrm>
                  <a:off x="1703948" y="3316288"/>
                  <a:ext cx="5150856" cy="735012"/>
                  <a:chOff x="1995" y="6207"/>
                  <a:chExt cx="4875" cy="843"/>
                </a:xfrm>
              </p:grpSpPr>
              <p:grpSp>
                <p:nvGrpSpPr>
                  <p:cNvPr id="46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2280" y="6207"/>
                    <a:ext cx="3870" cy="843"/>
                    <a:chOff x="2280" y="6207"/>
                    <a:chExt cx="3870" cy="843"/>
                  </a:xfrm>
                </p:grpSpPr>
                <p:sp>
                  <p:nvSpPr>
                    <p:cNvPr id="48" name="Text Box 3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80" y="6207"/>
                      <a:ext cx="3855" cy="48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9pPr>
                    </a:lstStyle>
                    <a:p>
                      <a:pPr algn="just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0 0 0 0 0 </a:t>
                      </a:r>
                      <a:r>
                        <a:rPr lang="en-US" altLang="zh-CN" sz="1600" dirty="0">
                          <a:solidFill>
                            <a:srgbClr val="0000FF"/>
                          </a:solidFill>
                          <a:latin typeface="Times New Roman" pitchFamily="18" charset="0"/>
                          <a:ea typeface="宋体" charset="-122"/>
                        </a:rPr>
                        <a:t> 0  0 0  0 0 0 0  0 0 0 0        </a:t>
                      </a:r>
                      <a:r>
                        <a:rPr lang="zh-CN" altLang="en-US" sz="1600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charset="-122"/>
                        </a:rPr>
                        <a:t>（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charset="-122"/>
                        </a:rPr>
                        <a:t>0000H)</a:t>
                      </a:r>
                    </a:p>
                  </p:txBody>
                </p:sp>
                <p:sp>
                  <p:nvSpPr>
                    <p:cNvPr id="49" name="Text Box 4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95" y="6567"/>
                      <a:ext cx="3855" cy="48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9pPr>
                    </a:lstStyle>
                    <a:p>
                      <a:pPr algn="just">
                        <a:spcBef>
                          <a:spcPct val="0"/>
                        </a:spcBef>
                        <a:buClrTx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0 0 0 0 0  </a:t>
                      </a:r>
                      <a:r>
                        <a:rPr lang="en-US" altLang="zh-CN" sz="1600" b="0" dirty="0">
                          <a:solidFill>
                            <a:srgbClr val="0000FF"/>
                          </a:solidFill>
                          <a:latin typeface="Times New Roman" pitchFamily="18" charset="0"/>
                          <a:ea typeface="宋体" charset="-122"/>
                        </a:rPr>
                        <a:t>1 </a:t>
                      </a:r>
                      <a:r>
                        <a:rPr lang="en-US" altLang="zh-CN" sz="1600" dirty="0">
                          <a:solidFill>
                            <a:srgbClr val="0000FF"/>
                          </a:solidFill>
                          <a:latin typeface="Times New Roman" pitchFamily="18" charset="0"/>
                          <a:ea typeface="宋体" charset="-122"/>
                        </a:rPr>
                        <a:t> 1 1  1 1 1 1  1 1 1 1         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charset="-122"/>
                        </a:rPr>
                        <a:t>(07FFH)</a:t>
                      </a:r>
                    </a:p>
                  </p:txBody>
                </p:sp>
              </p:grpSp>
              <p:sp>
                <p:nvSpPr>
                  <p:cNvPr id="47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1995" y="6930"/>
                    <a:ext cx="487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8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19" name="Group 42"/>
                <p:cNvGrpSpPr>
                  <a:grpSpLocks/>
                </p:cNvGrpSpPr>
                <p:nvPr/>
              </p:nvGrpSpPr>
              <p:grpSpPr bwMode="auto">
                <a:xfrm>
                  <a:off x="1735527" y="3901681"/>
                  <a:ext cx="5150856" cy="735013"/>
                  <a:chOff x="1995" y="6207"/>
                  <a:chExt cx="4875" cy="843"/>
                </a:xfrm>
              </p:grpSpPr>
              <p:grpSp>
                <p:nvGrpSpPr>
                  <p:cNvPr id="42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2280" y="6207"/>
                    <a:ext cx="3870" cy="843"/>
                    <a:chOff x="2280" y="6207"/>
                    <a:chExt cx="3870" cy="843"/>
                  </a:xfrm>
                </p:grpSpPr>
                <p:sp>
                  <p:nvSpPr>
                    <p:cNvPr id="44" name="Text Box 4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80" y="6207"/>
                      <a:ext cx="3855" cy="48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9pPr>
                    </a:lstStyle>
                    <a:p>
                      <a:pPr algn="just">
                        <a:spcBef>
                          <a:spcPct val="0"/>
                        </a:spcBef>
                        <a:buClrTx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0 0 0 0 1 </a:t>
                      </a:r>
                      <a:r>
                        <a:rPr lang="en-US" altLang="zh-CN" sz="1600" dirty="0">
                          <a:solidFill>
                            <a:srgbClr val="0000FF"/>
                          </a:solidFill>
                          <a:latin typeface="Times New Roman" pitchFamily="18" charset="0"/>
                          <a:ea typeface="宋体" charset="-122"/>
                        </a:rPr>
                        <a:t> 0  0 0  0 0 0 0  0 0 0 0         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charset="-122"/>
                        </a:rPr>
                        <a:t>(0800H)</a:t>
                      </a:r>
                    </a:p>
                  </p:txBody>
                </p:sp>
                <p:sp>
                  <p:nvSpPr>
                    <p:cNvPr id="45" name="Text Box 4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95" y="6567"/>
                      <a:ext cx="3855" cy="48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Font typeface="Wingdings" pitchFamily="2" charset="2"/>
                        <a:defRPr kumimoji="1" sz="2400" b="1">
                          <a:solidFill>
                            <a:srgbClr val="000080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9pPr>
                    </a:lstStyle>
                    <a:p>
                      <a:pPr algn="just">
                        <a:spcBef>
                          <a:spcPct val="0"/>
                        </a:spcBef>
                        <a:buClrTx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0 0 0 0 1  </a:t>
                      </a:r>
                      <a:r>
                        <a:rPr lang="en-US" altLang="zh-CN" sz="1600" dirty="0">
                          <a:solidFill>
                            <a:srgbClr val="0000FF"/>
                          </a:solidFill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lang="en-US" altLang="zh-CN" sz="1600" dirty="0"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FF"/>
                          </a:solidFill>
                          <a:latin typeface="Times New Roman" pitchFamily="18" charset="0"/>
                          <a:ea typeface="宋体" charset="-122"/>
                        </a:rPr>
                        <a:t> 1 1  1 1 1 1  1 1 1 1         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charset="-122"/>
                        </a:rPr>
                        <a:t>(0FFFH)</a:t>
                      </a:r>
                    </a:p>
                    <a:p>
                      <a:pPr algn="just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en-US" altLang="zh-CN" sz="1600" dirty="0">
                        <a:latin typeface="Times New Roman" pitchFamily="18" charset="0"/>
                        <a:ea typeface="宋体" charset="-122"/>
                      </a:endParaRPr>
                    </a:p>
                  </p:txBody>
                </p:sp>
              </p:grpSp>
              <p:sp>
                <p:nvSpPr>
                  <p:cNvPr id="43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1995" y="6990"/>
                    <a:ext cx="487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8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38" name="Group 48"/>
                <p:cNvGrpSpPr>
                  <a:grpSpLocks/>
                </p:cNvGrpSpPr>
                <p:nvPr/>
              </p:nvGrpSpPr>
              <p:grpSpPr bwMode="auto">
                <a:xfrm>
                  <a:off x="2036654" y="4586288"/>
                  <a:ext cx="4088987" cy="736600"/>
                  <a:chOff x="2280" y="6207"/>
                  <a:chExt cx="3870" cy="843"/>
                </a:xfrm>
              </p:grpSpPr>
              <p:sp>
                <p:nvSpPr>
                  <p:cNvPr id="40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80" y="6207"/>
                    <a:ext cx="3855" cy="4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0 0 0 1 0  0</a:t>
                    </a:r>
                    <a:r>
                      <a:rPr lang="en-US" altLang="zh-CN" sz="1600" dirty="0">
                        <a:latin typeface="Times New Roman" pitchFamily="18" charset="0"/>
                        <a:ea typeface="宋体" charset="-122"/>
                      </a:rPr>
                      <a:t> </a:t>
                    </a:r>
                    <a:r>
                      <a:rPr lang="en-US" altLang="zh-CN" sz="1600" dirty="0">
                        <a:solidFill>
                          <a:srgbClr val="0000FF"/>
                        </a:solidFill>
                        <a:latin typeface="Times New Roman" pitchFamily="18" charset="0"/>
                        <a:ea typeface="宋体" charset="-122"/>
                      </a:rPr>
                      <a:t> 0 0  0 0 0 0  0 0 0 0</a:t>
                    </a:r>
                  </a:p>
                </p:txBody>
              </p:sp>
              <p:sp>
                <p:nvSpPr>
                  <p:cNvPr id="41" name="Text Box 5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95" y="6567"/>
                    <a:ext cx="3855" cy="4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0 0 0 1 0  0</a:t>
                    </a:r>
                    <a:r>
                      <a:rPr lang="en-US" altLang="zh-CN" sz="1600" dirty="0">
                        <a:latin typeface="Times New Roman" pitchFamily="18" charset="0"/>
                        <a:ea typeface="宋体" charset="-122"/>
                      </a:rPr>
                      <a:t> </a:t>
                    </a:r>
                    <a:r>
                      <a:rPr lang="en-US" altLang="zh-CN" sz="1600" dirty="0">
                        <a:solidFill>
                          <a:srgbClr val="0000FF"/>
                        </a:solidFill>
                        <a:latin typeface="Times New Roman" pitchFamily="18" charset="0"/>
                        <a:ea typeface="宋体" charset="-122"/>
                      </a:rPr>
                      <a:t> 1 1  1 1 1 1  1 1 1 1</a:t>
                    </a:r>
                    <a:endParaRPr lang="en-US" altLang="zh-CN" sz="1600" dirty="0">
                      <a:latin typeface="Times New Roman" pitchFamily="18" charset="0"/>
                      <a:ea typeface="宋体" charset="-122"/>
                    </a:endParaRPr>
                  </a:p>
                </p:txBody>
              </p:sp>
            </p:grpSp>
            <p:grpSp>
              <p:nvGrpSpPr>
                <p:cNvPr id="24" name="Group 59"/>
                <p:cNvGrpSpPr>
                  <a:grpSpLocks/>
                </p:cNvGrpSpPr>
                <p:nvPr/>
              </p:nvGrpSpPr>
              <p:grpSpPr bwMode="auto">
                <a:xfrm>
                  <a:off x="895179" y="4829175"/>
                  <a:ext cx="1061400" cy="431800"/>
                  <a:chOff x="919" y="1559"/>
                  <a:chExt cx="1005" cy="495"/>
                </a:xfrm>
              </p:grpSpPr>
              <p:sp>
                <p:nvSpPr>
                  <p:cNvPr id="32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19" y="1559"/>
                    <a:ext cx="1005" cy="49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CS2</a:t>
                    </a:r>
                  </a:p>
                </p:txBody>
              </p:sp>
              <p:sp>
                <p:nvSpPr>
                  <p:cNvPr id="33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1215" y="1635"/>
                    <a:ext cx="40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25" name="Group 62"/>
                <p:cNvGrpSpPr>
                  <a:grpSpLocks/>
                </p:cNvGrpSpPr>
                <p:nvPr/>
              </p:nvGrpSpPr>
              <p:grpSpPr bwMode="auto">
                <a:xfrm>
                  <a:off x="895179" y="4095750"/>
                  <a:ext cx="1061400" cy="431800"/>
                  <a:chOff x="919" y="1559"/>
                  <a:chExt cx="1005" cy="495"/>
                </a:xfrm>
              </p:grpSpPr>
              <p:sp>
                <p:nvSpPr>
                  <p:cNvPr id="30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19" y="1559"/>
                    <a:ext cx="1005" cy="49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CS1</a:t>
                    </a:r>
                  </a:p>
                </p:txBody>
              </p:sp>
              <p:sp>
                <p:nvSpPr>
                  <p:cNvPr id="31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1215" y="1635"/>
                    <a:ext cx="40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26" name="Group 65"/>
                <p:cNvGrpSpPr>
                  <a:grpSpLocks/>
                </p:cNvGrpSpPr>
                <p:nvPr/>
              </p:nvGrpSpPr>
              <p:grpSpPr bwMode="auto">
                <a:xfrm>
                  <a:off x="863600" y="3357563"/>
                  <a:ext cx="1061400" cy="431800"/>
                  <a:chOff x="919" y="1559"/>
                  <a:chExt cx="1005" cy="495"/>
                </a:xfrm>
              </p:grpSpPr>
              <p:sp>
                <p:nvSpPr>
                  <p:cNvPr id="28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19" y="1559"/>
                    <a:ext cx="1005" cy="49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CS0</a:t>
                    </a:r>
                  </a:p>
                </p:txBody>
              </p:sp>
              <p:sp>
                <p:nvSpPr>
                  <p:cNvPr id="29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1215" y="1635"/>
                    <a:ext cx="40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sp>
              <p:nvSpPr>
                <p:cNvPr id="27" name="TextBox 26"/>
                <p:cNvSpPr txBox="1"/>
                <p:nvPr/>
              </p:nvSpPr>
              <p:spPr>
                <a:xfrm>
                  <a:off x="966221" y="2598678"/>
                  <a:ext cx="783487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buFont typeface="Wingdings" pitchFamily="2" charset="2"/>
                    <a:buChar char="l"/>
                  </a:pPr>
                  <a:r>
                    <a:rPr lang="zh-CN" altLang="en-US" sz="2000" dirty="0"/>
                    <a:t>存储芯片的地址分配                 存储器组成结构</a:t>
                  </a:r>
                </a:p>
              </p:txBody>
            </p:sp>
          </p:grpSp>
          <p:grpSp>
            <p:nvGrpSpPr>
              <p:cNvPr id="2" name="组合 1"/>
              <p:cNvGrpSpPr/>
              <p:nvPr/>
            </p:nvGrpSpPr>
            <p:grpSpPr>
              <a:xfrm>
                <a:off x="6371994" y="3590523"/>
                <a:ext cx="1724828" cy="2173050"/>
                <a:chOff x="6325689" y="3250304"/>
                <a:chExt cx="1724828" cy="2173050"/>
              </a:xfrm>
            </p:grpSpPr>
            <p:sp>
              <p:nvSpPr>
                <p:cNvPr id="53" name="Rectangle 10"/>
                <p:cNvSpPr>
                  <a:spLocks noChangeArrowheads="1"/>
                </p:cNvSpPr>
                <p:nvPr/>
              </p:nvSpPr>
              <p:spPr bwMode="auto">
                <a:xfrm>
                  <a:off x="6325689" y="3250304"/>
                  <a:ext cx="1724828" cy="217305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5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6371994" y="3250304"/>
                  <a:ext cx="1649216" cy="549695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2K</a:t>
                  </a:r>
                  <a:r>
                    <a:rPr lang="en-US" altLang="zh-CN" sz="1600" dirty="0">
                      <a:latin typeface="宋体" charset="-122"/>
                      <a:ea typeface="宋体" charset="-122"/>
                      <a:sym typeface="Symbol" pitchFamily="18" charset="2"/>
                    </a:rPr>
                    <a:t></a:t>
                  </a: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8 ROM</a:t>
                  </a:r>
                </a:p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U0</a:t>
                  </a:r>
                  <a:endParaRPr lang="en-US" altLang="zh-CN" sz="1600" b="0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5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6375901" y="3887199"/>
                  <a:ext cx="1649216" cy="549695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2K</a:t>
                  </a:r>
                  <a:r>
                    <a:rPr lang="en-US" altLang="zh-CN" sz="1600" dirty="0">
                      <a:latin typeface="宋体" charset="-122"/>
                      <a:ea typeface="宋体" charset="-122"/>
                      <a:sym typeface="Symbol" pitchFamily="18" charset="2"/>
                    </a:rPr>
                    <a:t></a:t>
                  </a: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8 RAM</a:t>
                  </a:r>
                </a:p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U1</a:t>
                  </a:r>
                  <a:endParaRPr lang="en-US" altLang="zh-CN" sz="1600" b="0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5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6375901" y="4495380"/>
                  <a:ext cx="1649216" cy="549695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1K</a:t>
                  </a:r>
                  <a:r>
                    <a:rPr lang="en-US" altLang="zh-CN" sz="1600" dirty="0">
                      <a:latin typeface="宋体" charset="-122"/>
                      <a:ea typeface="宋体" charset="-122"/>
                      <a:sym typeface="Symbol" pitchFamily="18" charset="2"/>
                    </a:rPr>
                    <a:t></a:t>
                  </a: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8 RAM</a:t>
                  </a:r>
                </a:p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U2</a:t>
                  </a:r>
                  <a:endParaRPr lang="en-US" altLang="zh-CN" sz="1600" b="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4" name="矩形 3"/>
              <p:cNvSpPr/>
              <p:nvPr/>
            </p:nvSpPr>
            <p:spPr>
              <a:xfrm>
                <a:off x="5185020" y="4692650"/>
                <a:ext cx="89319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ct val="0"/>
                  </a:spcBef>
                  <a:buClrTx/>
                </a:pPr>
                <a:r>
                  <a:rPr lang="en-US" altLang="zh-CN" sz="1600" dirty="0">
                    <a:solidFill>
                      <a:srgbClr val="00B050"/>
                    </a:solidFill>
                    <a:latin typeface="Times New Roman" pitchFamily="18" charset="0"/>
                    <a:ea typeface="宋体" charset="-122"/>
                  </a:rPr>
                  <a:t>(1000H)</a:t>
                </a: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5194157" y="5089572"/>
                <a:ext cx="93807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ct val="0"/>
                  </a:spcBef>
                  <a:buClrTx/>
                </a:pPr>
                <a:r>
                  <a:rPr lang="en-US" altLang="zh-CN" sz="1600" dirty="0">
                    <a:solidFill>
                      <a:srgbClr val="00B050"/>
                    </a:solidFill>
                    <a:latin typeface="Times New Roman" pitchFamily="18" charset="0"/>
                    <a:ea typeface="宋体" charset="-122"/>
                  </a:rPr>
                  <a:t>(13FFH)</a:t>
                </a:r>
              </a:p>
            </p:txBody>
          </p:sp>
        </p:grpSp>
        <p:sp>
          <p:nvSpPr>
            <p:cNvPr id="3" name="TextBox 2"/>
            <p:cNvSpPr txBox="1"/>
            <p:nvPr/>
          </p:nvSpPr>
          <p:spPr>
            <a:xfrm>
              <a:off x="6428144" y="3201171"/>
              <a:ext cx="6701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64KB</a:t>
              </a:r>
              <a:endParaRPr lang="zh-CN" altLang="en-US" sz="16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91174" y="5397677"/>
              <a:ext cx="430887" cy="35178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/>
                <a:t>…</a:t>
              </a:r>
              <a:endParaRPr lang="zh-CN" altLang="en-US" sz="1600" dirty="0"/>
            </a:p>
          </p:txBody>
        </p:sp>
      </p:grpSp>
      <p:graphicFrame>
        <p:nvGraphicFramePr>
          <p:cNvPr id="58" name="表格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216301"/>
              </p:ext>
            </p:extLst>
          </p:nvPr>
        </p:nvGraphicFramePr>
        <p:xfrm>
          <a:off x="963415" y="4508026"/>
          <a:ext cx="6999485" cy="147828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391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99"/>
                          </a:solidFill>
                        </a:rPr>
                        <a:t>芯片组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99"/>
                          </a:solidFill>
                        </a:rPr>
                        <a:t>片内地址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99"/>
                          </a:solidFill>
                        </a:rPr>
                        <a:t>片选信号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99"/>
                          </a:solidFill>
                        </a:rPr>
                        <a:t>片选逻辑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</a:rPr>
                        <a:t>2K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8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A</a:t>
                      </a:r>
                      <a:r>
                        <a:rPr lang="en-US" altLang="zh-CN" baseline="-250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10-0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CS0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</a:rPr>
                        <a:t>2K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8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A</a:t>
                      </a:r>
                      <a:r>
                        <a:rPr lang="en-US" altLang="zh-CN" baseline="-250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10-0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CS1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</a:rPr>
                        <a:t>1K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8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A</a:t>
                      </a:r>
                      <a:r>
                        <a:rPr lang="en-US" altLang="zh-CN" baseline="-250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9-0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CS2</a:t>
                      </a:r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" name="Line 66"/>
          <p:cNvSpPr>
            <a:spLocks noChangeShapeType="1"/>
          </p:cNvSpPr>
          <p:nvPr/>
        </p:nvSpPr>
        <p:spPr bwMode="auto">
          <a:xfrm>
            <a:off x="4163814" y="4944589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0" name="Line 66"/>
          <p:cNvSpPr>
            <a:spLocks noChangeShapeType="1"/>
          </p:cNvSpPr>
          <p:nvPr/>
        </p:nvSpPr>
        <p:spPr bwMode="auto">
          <a:xfrm>
            <a:off x="4146153" y="5295957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1" name="Line 66"/>
          <p:cNvSpPr>
            <a:spLocks noChangeShapeType="1"/>
          </p:cNvSpPr>
          <p:nvPr/>
        </p:nvSpPr>
        <p:spPr bwMode="auto">
          <a:xfrm>
            <a:off x="4151114" y="5693889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341426" y="4866158"/>
            <a:ext cx="257067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15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14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13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64" name="Line 151"/>
          <p:cNvSpPr>
            <a:spLocks noChangeShapeType="1"/>
          </p:cNvSpPr>
          <p:nvPr/>
        </p:nvSpPr>
        <p:spPr bwMode="auto">
          <a:xfrm>
            <a:off x="5392227" y="4963639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5" name="Line 151"/>
          <p:cNvSpPr>
            <a:spLocks noChangeShapeType="1"/>
          </p:cNvSpPr>
          <p:nvPr/>
        </p:nvSpPr>
        <p:spPr bwMode="auto">
          <a:xfrm>
            <a:off x="5785927" y="4950939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293856" y="5240255"/>
            <a:ext cx="2707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15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14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13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10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endParaRPr lang="zh-CN" altLang="en-US" sz="2000" dirty="0"/>
          </a:p>
        </p:txBody>
      </p:sp>
      <p:sp>
        <p:nvSpPr>
          <p:cNvPr id="67" name="Line 151"/>
          <p:cNvSpPr>
            <a:spLocks noChangeShapeType="1"/>
          </p:cNvSpPr>
          <p:nvPr/>
        </p:nvSpPr>
        <p:spPr bwMode="auto">
          <a:xfrm>
            <a:off x="5415726" y="5338289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5392227" y="5602265"/>
            <a:ext cx="23801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15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14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13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10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10</a:t>
            </a:r>
            <a:endParaRPr lang="zh-CN" altLang="en-US" sz="2000" dirty="0"/>
          </a:p>
        </p:txBody>
      </p:sp>
      <p:sp>
        <p:nvSpPr>
          <p:cNvPr id="69" name="Line 151"/>
          <p:cNvSpPr>
            <a:spLocks noChangeShapeType="1"/>
          </p:cNvSpPr>
          <p:nvPr/>
        </p:nvSpPr>
        <p:spPr bwMode="auto">
          <a:xfrm>
            <a:off x="5843233" y="5693889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1" name="Line 151"/>
          <p:cNvSpPr>
            <a:spLocks noChangeShapeType="1"/>
          </p:cNvSpPr>
          <p:nvPr/>
        </p:nvSpPr>
        <p:spPr bwMode="auto">
          <a:xfrm>
            <a:off x="6192327" y="4963639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2" name="Line 151"/>
          <p:cNvSpPr>
            <a:spLocks noChangeShapeType="1"/>
          </p:cNvSpPr>
          <p:nvPr/>
        </p:nvSpPr>
        <p:spPr bwMode="auto">
          <a:xfrm>
            <a:off x="6573327" y="4963639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3" name="Line 151"/>
          <p:cNvSpPr>
            <a:spLocks noChangeShapeType="1"/>
          </p:cNvSpPr>
          <p:nvPr/>
        </p:nvSpPr>
        <p:spPr bwMode="auto">
          <a:xfrm>
            <a:off x="6916227" y="4950939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4" name="Line 151"/>
          <p:cNvSpPr>
            <a:spLocks noChangeShapeType="1"/>
          </p:cNvSpPr>
          <p:nvPr/>
        </p:nvSpPr>
        <p:spPr bwMode="auto">
          <a:xfrm>
            <a:off x="5765039" y="5338289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5" name="Line 151"/>
          <p:cNvSpPr>
            <a:spLocks noChangeShapeType="1"/>
          </p:cNvSpPr>
          <p:nvPr/>
        </p:nvSpPr>
        <p:spPr bwMode="auto">
          <a:xfrm>
            <a:off x="6094058" y="5338289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6" name="Line 151"/>
          <p:cNvSpPr>
            <a:spLocks noChangeShapeType="1"/>
          </p:cNvSpPr>
          <p:nvPr/>
        </p:nvSpPr>
        <p:spPr bwMode="auto">
          <a:xfrm>
            <a:off x="6481789" y="5331996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8" name="Line 151"/>
          <p:cNvSpPr>
            <a:spLocks noChangeShapeType="1"/>
          </p:cNvSpPr>
          <p:nvPr/>
        </p:nvSpPr>
        <p:spPr bwMode="auto">
          <a:xfrm>
            <a:off x="5416577" y="5693889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9" name="Line 151"/>
          <p:cNvSpPr>
            <a:spLocks noChangeShapeType="1"/>
          </p:cNvSpPr>
          <p:nvPr/>
        </p:nvSpPr>
        <p:spPr bwMode="auto">
          <a:xfrm>
            <a:off x="6219470" y="5704528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0" name="Line 151"/>
          <p:cNvSpPr>
            <a:spLocks noChangeShapeType="1"/>
          </p:cNvSpPr>
          <p:nvPr/>
        </p:nvSpPr>
        <p:spPr bwMode="auto">
          <a:xfrm>
            <a:off x="6940588" y="5715167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2" name="Line 151"/>
          <p:cNvSpPr>
            <a:spLocks noChangeShapeType="1"/>
          </p:cNvSpPr>
          <p:nvPr/>
        </p:nvSpPr>
        <p:spPr bwMode="auto">
          <a:xfrm>
            <a:off x="7284527" y="5715167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616169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59" grpId="0" animBg="1"/>
      <p:bldP spid="60" grpId="0" animBg="1"/>
      <p:bldP spid="61" grpId="0" animBg="1"/>
      <p:bldP spid="63" grpId="0"/>
      <p:bldP spid="64" grpId="0" animBg="1"/>
      <p:bldP spid="65" grpId="0" animBg="1"/>
      <p:bldP spid="66" grpId="0"/>
      <p:bldP spid="67" grpId="0" animBg="1"/>
      <p:bldP spid="68" grpId="0"/>
      <p:bldP spid="69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8" grpId="0" animBg="1"/>
      <p:bldP spid="79" grpId="0" animBg="1"/>
      <p:bldP spid="80" grpId="0" animBg="1"/>
      <p:bldP spid="8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98438" y="518231"/>
            <a:ext cx="8678862" cy="314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4】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有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根地址线，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根数据线，用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MREQ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作访存控制信号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低电平有效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WR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作读写控制信号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高电平读，低电平写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主存地址分配如下：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6000H-67FFH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为系统程序区，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6800H-6BFFH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为用户程序区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现有下列存储芯片：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1K×4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；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； 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； 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； 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； 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及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74LS138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译码器和各种门电路，如图所示。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画出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与存储器的连接图，注意画出</a:t>
            </a:r>
            <a:r>
              <a:rPr lang="zh-CN" altLang="en-US" dirty="0"/>
              <a:t>片选逻辑及与</a:t>
            </a:r>
            <a:r>
              <a:rPr lang="en-US" altLang="zh-CN" dirty="0"/>
              <a:t>CPU</a:t>
            </a:r>
            <a:r>
              <a:rPr lang="zh-CN" altLang="en-US" dirty="0"/>
              <a:t>的连接。</a:t>
            </a: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pic>
        <p:nvPicPr>
          <p:cNvPr id="175105" name="Picture 1" descr="C:\Users\wy\AppData\Roaming\Tencent\Users\4494101\QQ\WinTemp\RichOle\P7QOHU@~D`FPG73E{O@M4I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666785"/>
            <a:ext cx="5156200" cy="279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428034"/>
      </p:ext>
    </p:extLst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38138" y="579707"/>
            <a:ext cx="7993062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）写出对应的二进制地址，确定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总容量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33400" y="5791200"/>
            <a:ext cx="7924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(2) 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确定芯片的数量及类型</a:t>
            </a:r>
          </a:p>
        </p:txBody>
      </p:sp>
      <p:grpSp>
        <p:nvGrpSpPr>
          <p:cNvPr id="13" name="Group 5"/>
          <p:cNvGrpSpPr>
            <a:grpSpLocks/>
          </p:cNvGrpSpPr>
          <p:nvPr/>
        </p:nvGrpSpPr>
        <p:grpSpPr bwMode="auto">
          <a:xfrm>
            <a:off x="457200" y="2057400"/>
            <a:ext cx="6858000" cy="579438"/>
            <a:chOff x="384" y="1296"/>
            <a:chExt cx="4320" cy="365"/>
          </a:xfrm>
        </p:grpSpPr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384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>
                  <a:latin typeface="Times New Roman" pitchFamily="18" charset="0"/>
                </a:rPr>
                <a:t>0  1  1  0</a:t>
              </a:r>
            </a:p>
          </p:txBody>
        </p:sp>
        <p:sp>
          <p:nvSpPr>
            <p:cNvPr id="16" name="Text Box 7"/>
            <p:cNvSpPr txBox="1">
              <a:spLocks noChangeArrowheads="1"/>
            </p:cNvSpPr>
            <p:nvPr/>
          </p:nvSpPr>
          <p:spPr bwMode="auto">
            <a:xfrm>
              <a:off x="1440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>
                  <a:latin typeface="Times New Roman" pitchFamily="18" charset="0"/>
                </a:rPr>
                <a:t>0  0  0  0</a:t>
              </a:r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2496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>
                  <a:latin typeface="Times New Roman" pitchFamily="18" charset="0"/>
                </a:rPr>
                <a:t>0  0  0  0</a:t>
              </a:r>
            </a:p>
          </p:txBody>
        </p: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3552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>
                  <a:latin typeface="Times New Roman" pitchFamily="18" charset="0"/>
                </a:rPr>
                <a:t>0  0  0  0</a:t>
              </a:r>
            </a:p>
          </p:txBody>
        </p:sp>
      </p:grp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381000" y="16764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</a:rPr>
              <a:t>15</a:t>
            </a:r>
            <a:r>
              <a:rPr kumimoji="1" lang="en-US" altLang="zh-CN" sz="2400">
                <a:latin typeface="Times New Roman" pitchFamily="18" charset="0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</a:rPr>
              <a:t>14</a:t>
            </a:r>
            <a:r>
              <a:rPr kumimoji="1" lang="en-US" altLang="zh-CN" sz="2400">
                <a:latin typeface="Times New Roman" pitchFamily="18" charset="0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</a:rPr>
              <a:t>13       </a:t>
            </a:r>
            <a:r>
              <a:rPr kumimoji="1" lang="en-US" altLang="zh-CN" sz="2400">
                <a:latin typeface="Times New Roman" pitchFamily="18" charset="0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</a:rPr>
              <a:t>11 </a:t>
            </a:r>
            <a:r>
              <a:rPr kumimoji="1" lang="en-US" altLang="zh-CN" sz="2400">
                <a:latin typeface="Times New Roman" pitchFamily="18" charset="0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</a:rPr>
              <a:t>10</a:t>
            </a:r>
            <a:r>
              <a:rPr kumimoji="1" lang="en-US" altLang="zh-CN" sz="2400">
                <a:latin typeface="Times New Roman" pitchFamily="18" charset="0"/>
              </a:rPr>
              <a:t>    …    A</a:t>
            </a:r>
            <a:r>
              <a:rPr kumimoji="1" lang="en-US" altLang="zh-CN" sz="2400" baseline="-25000">
                <a:latin typeface="Times New Roman" pitchFamily="18" charset="0"/>
              </a:rPr>
              <a:t>7     </a:t>
            </a:r>
            <a:r>
              <a:rPr kumimoji="1" lang="en-US" altLang="zh-CN" sz="2400">
                <a:latin typeface="Times New Roman" pitchFamily="18" charset="0"/>
              </a:rPr>
              <a:t>…   </a:t>
            </a:r>
            <a:r>
              <a:rPr kumimoji="1" lang="en-US" altLang="zh-CN" sz="2400" baseline="-25000">
                <a:latin typeface="Times New Roman" pitchFamily="18" charset="0"/>
              </a:rPr>
              <a:t> </a:t>
            </a:r>
            <a:r>
              <a:rPr kumimoji="1" lang="en-US" altLang="zh-CN" sz="2400">
                <a:latin typeface="Times New Roman" pitchFamily="18" charset="0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</a:rPr>
              <a:t>4   </a:t>
            </a:r>
            <a:r>
              <a:rPr kumimoji="1" lang="en-US" altLang="zh-CN" sz="2400">
                <a:latin typeface="Times New Roman" pitchFamily="18" charset="0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</a:rPr>
              <a:t>3      </a:t>
            </a:r>
            <a:r>
              <a:rPr kumimoji="1" lang="en-US" altLang="zh-CN" sz="2400">
                <a:latin typeface="Times New Roman" pitchFamily="18" charset="0"/>
              </a:rPr>
              <a:t>…</a:t>
            </a:r>
            <a:r>
              <a:rPr kumimoji="1" lang="en-US" altLang="zh-CN" sz="2400" baseline="-25000">
                <a:latin typeface="Times New Roman" pitchFamily="18" charset="0"/>
              </a:rPr>
              <a:t>   </a:t>
            </a:r>
            <a:r>
              <a:rPr kumimoji="1" lang="en-US" altLang="zh-CN" sz="800" baseline="-25000">
                <a:latin typeface="Times New Roman" pitchFamily="18" charset="0"/>
              </a:rPr>
              <a:t> </a:t>
            </a:r>
            <a:r>
              <a:rPr kumimoji="1" lang="en-US" altLang="zh-CN" sz="2400" baseline="-25000">
                <a:latin typeface="Times New Roman" pitchFamily="18" charset="0"/>
              </a:rPr>
              <a:t>  </a:t>
            </a:r>
            <a:r>
              <a:rPr kumimoji="1" lang="en-US" altLang="zh-CN" sz="2400">
                <a:latin typeface="Times New Roman" pitchFamily="18" charset="0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</a:rPr>
              <a:t>0</a:t>
            </a:r>
          </a:p>
        </p:txBody>
      </p:sp>
      <p:grpSp>
        <p:nvGrpSpPr>
          <p:cNvPr id="21" name="Group 11"/>
          <p:cNvGrpSpPr>
            <a:grpSpLocks/>
          </p:cNvGrpSpPr>
          <p:nvPr/>
        </p:nvGrpSpPr>
        <p:grpSpPr bwMode="auto">
          <a:xfrm>
            <a:off x="457200" y="2590800"/>
            <a:ext cx="6858000" cy="1112838"/>
            <a:chOff x="288" y="1632"/>
            <a:chExt cx="4320" cy="701"/>
          </a:xfrm>
        </p:grpSpPr>
        <p:sp>
          <p:nvSpPr>
            <p:cNvPr id="22" name="Text Box 12"/>
            <p:cNvSpPr txBox="1">
              <a:spLocks noChangeArrowheads="1"/>
            </p:cNvSpPr>
            <p:nvPr/>
          </p:nvSpPr>
          <p:spPr bwMode="auto">
            <a:xfrm>
              <a:off x="297" y="1632"/>
              <a:ext cx="423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23" name="Group 13"/>
            <p:cNvGrpSpPr>
              <a:grpSpLocks/>
            </p:cNvGrpSpPr>
            <p:nvPr/>
          </p:nvGrpSpPr>
          <p:grpSpPr bwMode="auto">
            <a:xfrm>
              <a:off x="288" y="1968"/>
              <a:ext cx="4320" cy="365"/>
              <a:chOff x="384" y="1968"/>
              <a:chExt cx="4320" cy="365"/>
            </a:xfrm>
          </p:grpSpPr>
          <p:sp>
            <p:nvSpPr>
              <p:cNvPr id="24" name="Text Box 14"/>
              <p:cNvSpPr txBox="1">
                <a:spLocks noChangeArrowheads="1"/>
              </p:cNvSpPr>
              <p:nvPr/>
            </p:nvSpPr>
            <p:spPr bwMode="auto">
              <a:xfrm>
                <a:off x="384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0  1  1  0</a:t>
                </a:r>
              </a:p>
            </p:txBody>
          </p:sp>
          <p:sp>
            <p:nvSpPr>
              <p:cNvPr id="25" name="Text Box 15"/>
              <p:cNvSpPr txBox="1">
                <a:spLocks noChangeArrowheads="1"/>
              </p:cNvSpPr>
              <p:nvPr/>
            </p:nvSpPr>
            <p:spPr bwMode="auto">
              <a:xfrm>
                <a:off x="1440" y="1968"/>
                <a:ext cx="144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0  1  1  1</a:t>
                </a:r>
              </a:p>
            </p:txBody>
          </p:sp>
          <p:sp>
            <p:nvSpPr>
              <p:cNvPr id="26" name="Text Box 16"/>
              <p:cNvSpPr txBox="1">
                <a:spLocks noChangeArrowheads="1"/>
              </p:cNvSpPr>
              <p:nvPr/>
            </p:nvSpPr>
            <p:spPr bwMode="auto">
              <a:xfrm>
                <a:off x="2496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1  1  1  1</a:t>
                </a:r>
              </a:p>
            </p:txBody>
          </p:sp>
          <p:sp>
            <p:nvSpPr>
              <p:cNvPr id="27" name="Text Box 17"/>
              <p:cNvSpPr txBox="1">
                <a:spLocks noChangeArrowheads="1"/>
              </p:cNvSpPr>
              <p:nvPr/>
            </p:nvSpPr>
            <p:spPr bwMode="auto">
              <a:xfrm>
                <a:off x="3552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1  1  1  1</a:t>
                </a:r>
              </a:p>
            </p:txBody>
          </p:sp>
        </p:grpSp>
      </p:grpSp>
      <p:grpSp>
        <p:nvGrpSpPr>
          <p:cNvPr id="28" name="Group 18"/>
          <p:cNvGrpSpPr>
            <a:grpSpLocks/>
          </p:cNvGrpSpPr>
          <p:nvPr/>
        </p:nvGrpSpPr>
        <p:grpSpPr bwMode="auto">
          <a:xfrm>
            <a:off x="457200" y="3763963"/>
            <a:ext cx="6858000" cy="579437"/>
            <a:chOff x="384" y="1296"/>
            <a:chExt cx="4320" cy="365"/>
          </a:xfrm>
        </p:grpSpPr>
        <p:sp>
          <p:nvSpPr>
            <p:cNvPr id="29" name="Text Box 19"/>
            <p:cNvSpPr txBox="1">
              <a:spLocks noChangeArrowheads="1"/>
            </p:cNvSpPr>
            <p:nvPr/>
          </p:nvSpPr>
          <p:spPr bwMode="auto">
            <a:xfrm>
              <a:off x="384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 dirty="0">
                  <a:latin typeface="Times New Roman" pitchFamily="18" charset="0"/>
                </a:rPr>
                <a:t>0  1  1  0</a:t>
              </a:r>
            </a:p>
          </p:txBody>
        </p:sp>
        <p:sp>
          <p:nvSpPr>
            <p:cNvPr id="30" name="Text Box 20"/>
            <p:cNvSpPr txBox="1">
              <a:spLocks noChangeArrowheads="1"/>
            </p:cNvSpPr>
            <p:nvPr/>
          </p:nvSpPr>
          <p:spPr bwMode="auto">
            <a:xfrm>
              <a:off x="1440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>
                  <a:latin typeface="Times New Roman" pitchFamily="18" charset="0"/>
                </a:rPr>
                <a:t>1  0  0  0</a:t>
              </a:r>
            </a:p>
          </p:txBody>
        </p:sp>
        <p:sp>
          <p:nvSpPr>
            <p:cNvPr id="31" name="Text Box 21"/>
            <p:cNvSpPr txBox="1">
              <a:spLocks noChangeArrowheads="1"/>
            </p:cNvSpPr>
            <p:nvPr/>
          </p:nvSpPr>
          <p:spPr bwMode="auto">
            <a:xfrm>
              <a:off x="2496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>
                  <a:latin typeface="Times New Roman" pitchFamily="18" charset="0"/>
                </a:rPr>
                <a:t>0  0  0  0</a:t>
              </a:r>
            </a:p>
          </p:txBody>
        </p:sp>
        <p:sp>
          <p:nvSpPr>
            <p:cNvPr id="32" name="Text Box 22"/>
            <p:cNvSpPr txBox="1">
              <a:spLocks noChangeArrowheads="1"/>
            </p:cNvSpPr>
            <p:nvPr/>
          </p:nvSpPr>
          <p:spPr bwMode="auto">
            <a:xfrm>
              <a:off x="3552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>
                  <a:latin typeface="Times New Roman" pitchFamily="18" charset="0"/>
                </a:rPr>
                <a:t>0  0  0  0</a:t>
              </a:r>
            </a:p>
          </p:txBody>
        </p:sp>
      </p:grpSp>
      <p:grpSp>
        <p:nvGrpSpPr>
          <p:cNvPr id="33" name="Group 23"/>
          <p:cNvGrpSpPr>
            <a:grpSpLocks/>
          </p:cNvGrpSpPr>
          <p:nvPr/>
        </p:nvGrpSpPr>
        <p:grpSpPr bwMode="auto">
          <a:xfrm>
            <a:off x="457200" y="4267200"/>
            <a:ext cx="6858000" cy="1189038"/>
            <a:chOff x="288" y="2688"/>
            <a:chExt cx="4320" cy="749"/>
          </a:xfrm>
        </p:grpSpPr>
        <p:sp>
          <p:nvSpPr>
            <p:cNvPr id="34" name="Text Box 24"/>
            <p:cNvSpPr txBox="1">
              <a:spLocks noChangeArrowheads="1"/>
            </p:cNvSpPr>
            <p:nvPr/>
          </p:nvSpPr>
          <p:spPr bwMode="auto">
            <a:xfrm>
              <a:off x="288" y="2688"/>
              <a:ext cx="423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35" name="Group 25"/>
            <p:cNvGrpSpPr>
              <a:grpSpLocks/>
            </p:cNvGrpSpPr>
            <p:nvPr/>
          </p:nvGrpSpPr>
          <p:grpSpPr bwMode="auto">
            <a:xfrm>
              <a:off x="288" y="3072"/>
              <a:ext cx="4320" cy="365"/>
              <a:chOff x="384" y="1968"/>
              <a:chExt cx="4320" cy="365"/>
            </a:xfrm>
          </p:grpSpPr>
          <p:sp>
            <p:nvSpPr>
              <p:cNvPr id="36" name="Text Box 26"/>
              <p:cNvSpPr txBox="1">
                <a:spLocks noChangeArrowheads="1"/>
              </p:cNvSpPr>
              <p:nvPr/>
            </p:nvSpPr>
            <p:spPr bwMode="auto">
              <a:xfrm>
                <a:off x="384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0  1  1  0</a:t>
                </a:r>
              </a:p>
            </p:txBody>
          </p:sp>
          <p:sp>
            <p:nvSpPr>
              <p:cNvPr id="37" name="Text Box 27"/>
              <p:cNvSpPr txBox="1">
                <a:spLocks noChangeArrowheads="1"/>
              </p:cNvSpPr>
              <p:nvPr/>
            </p:nvSpPr>
            <p:spPr bwMode="auto">
              <a:xfrm>
                <a:off x="1440" y="1968"/>
                <a:ext cx="144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1  0  1  1</a:t>
                </a:r>
              </a:p>
            </p:txBody>
          </p:sp>
          <p:sp>
            <p:nvSpPr>
              <p:cNvPr id="38" name="Text Box 28"/>
              <p:cNvSpPr txBox="1">
                <a:spLocks noChangeArrowheads="1"/>
              </p:cNvSpPr>
              <p:nvPr/>
            </p:nvSpPr>
            <p:spPr bwMode="auto">
              <a:xfrm>
                <a:off x="2496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1  1  1  1</a:t>
                </a:r>
              </a:p>
            </p:txBody>
          </p:sp>
          <p:sp>
            <p:nvSpPr>
              <p:cNvPr id="39" name="Text Box 29"/>
              <p:cNvSpPr txBox="1">
                <a:spLocks noChangeArrowheads="1"/>
              </p:cNvSpPr>
              <p:nvPr/>
            </p:nvSpPr>
            <p:spPr bwMode="auto">
              <a:xfrm>
                <a:off x="3552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1  1  1  1</a:t>
                </a:r>
              </a:p>
            </p:txBody>
          </p:sp>
        </p:grpSp>
      </p:grpSp>
      <p:grpSp>
        <p:nvGrpSpPr>
          <p:cNvPr id="40" name="Group 30"/>
          <p:cNvGrpSpPr>
            <a:grpSpLocks/>
          </p:cNvGrpSpPr>
          <p:nvPr/>
        </p:nvGrpSpPr>
        <p:grpSpPr bwMode="auto">
          <a:xfrm>
            <a:off x="7162800" y="2286002"/>
            <a:ext cx="2514600" cy="1219201"/>
            <a:chOff x="4512" y="1440"/>
            <a:chExt cx="1584" cy="768"/>
          </a:xfrm>
        </p:grpSpPr>
        <p:sp>
          <p:nvSpPr>
            <p:cNvPr id="41" name="AutoShape 31"/>
            <p:cNvSpPr>
              <a:spLocks/>
            </p:cNvSpPr>
            <p:nvPr/>
          </p:nvSpPr>
          <p:spPr bwMode="auto">
            <a:xfrm>
              <a:off x="4512" y="1440"/>
              <a:ext cx="192" cy="768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Text Box 32"/>
            <p:cNvSpPr txBox="1">
              <a:spLocks noChangeArrowheads="1"/>
            </p:cNvSpPr>
            <p:nvPr/>
          </p:nvSpPr>
          <p:spPr bwMode="auto">
            <a:xfrm>
              <a:off x="4752" y="1795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</a:rPr>
                <a:t>2K</a:t>
              </a:r>
              <a:r>
                <a:rPr kumimoji="1" lang="en-US" altLang="zh-CN" sz="3200">
                  <a:latin typeface="Times New Roman" pitchFamily="18" charset="0"/>
                  <a:cs typeface="Times New Roman" pitchFamily="18" charset="0"/>
                </a:rPr>
                <a:t>×</a:t>
              </a:r>
              <a:r>
                <a:rPr kumimoji="1" lang="en-US" altLang="zh-CN" sz="2800"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kumimoji="1" lang="zh-CN" altLang="en-US" sz="2800">
                  <a:latin typeface="Times New Roman" pitchFamily="18" charset="0"/>
                </a:rPr>
                <a:t>位</a:t>
              </a:r>
            </a:p>
          </p:txBody>
        </p:sp>
      </p:grpSp>
      <p:grpSp>
        <p:nvGrpSpPr>
          <p:cNvPr id="43" name="Group 33"/>
          <p:cNvGrpSpPr>
            <a:grpSpLocks/>
          </p:cNvGrpSpPr>
          <p:nvPr/>
        </p:nvGrpSpPr>
        <p:grpSpPr bwMode="auto">
          <a:xfrm>
            <a:off x="7162800" y="4038600"/>
            <a:ext cx="2514600" cy="1219200"/>
            <a:chOff x="4512" y="2544"/>
            <a:chExt cx="1584" cy="768"/>
          </a:xfrm>
        </p:grpSpPr>
        <p:sp>
          <p:nvSpPr>
            <p:cNvPr id="44" name="Text Box 34"/>
            <p:cNvSpPr txBox="1">
              <a:spLocks noChangeArrowheads="1"/>
            </p:cNvSpPr>
            <p:nvPr/>
          </p:nvSpPr>
          <p:spPr bwMode="auto">
            <a:xfrm>
              <a:off x="4752" y="2544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</a:rPr>
                <a:t>1K</a:t>
              </a:r>
              <a:r>
                <a:rPr kumimoji="1" lang="en-US" altLang="zh-CN" sz="3200">
                  <a:latin typeface="Times New Roman" pitchFamily="18" charset="0"/>
                  <a:cs typeface="Times New Roman" pitchFamily="18" charset="0"/>
                </a:rPr>
                <a:t>×</a:t>
              </a:r>
              <a:r>
                <a:rPr kumimoji="1" lang="en-US" altLang="zh-CN" sz="2800"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kumimoji="1" lang="zh-CN" altLang="en-US" sz="2800">
                  <a:latin typeface="Times New Roman" pitchFamily="18" charset="0"/>
                </a:rPr>
                <a:t>位</a:t>
              </a:r>
            </a:p>
          </p:txBody>
        </p:sp>
        <p:sp>
          <p:nvSpPr>
            <p:cNvPr id="45" name="AutoShape 35"/>
            <p:cNvSpPr>
              <a:spLocks/>
            </p:cNvSpPr>
            <p:nvPr/>
          </p:nvSpPr>
          <p:spPr bwMode="auto">
            <a:xfrm>
              <a:off x="4512" y="2544"/>
              <a:ext cx="192" cy="768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6" name="Group 37"/>
          <p:cNvGrpSpPr>
            <a:grpSpLocks/>
          </p:cNvGrpSpPr>
          <p:nvPr/>
        </p:nvGrpSpPr>
        <p:grpSpPr bwMode="auto">
          <a:xfrm>
            <a:off x="6545263" y="4630738"/>
            <a:ext cx="2497137" cy="1541462"/>
            <a:chOff x="4123" y="2917"/>
            <a:chExt cx="1573" cy="971"/>
          </a:xfrm>
        </p:grpSpPr>
        <p:sp>
          <p:nvSpPr>
            <p:cNvPr id="47" name="AutoShape 38"/>
            <p:cNvSpPr>
              <a:spLocks noChangeArrowheads="1"/>
            </p:cNvSpPr>
            <p:nvPr/>
          </p:nvSpPr>
          <p:spPr bwMode="auto">
            <a:xfrm>
              <a:off x="4720" y="2917"/>
              <a:ext cx="976" cy="349"/>
            </a:xfrm>
            <a:prstGeom prst="wedgeRoundRectCallout">
              <a:avLst>
                <a:gd name="adj1" fmla="val -43750"/>
                <a:gd name="adj2" fmla="val 70000"/>
                <a:gd name="adj3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  <a:cs typeface="Times New Roman" pitchFamily="18" charset="0"/>
                </a:rPr>
                <a:t>RAM</a:t>
              </a:r>
            </a:p>
          </p:txBody>
        </p:sp>
        <p:grpSp>
          <p:nvGrpSpPr>
            <p:cNvPr id="48" name="Group 39"/>
            <p:cNvGrpSpPr>
              <a:grpSpLocks/>
            </p:cNvGrpSpPr>
            <p:nvPr/>
          </p:nvGrpSpPr>
          <p:grpSpPr bwMode="auto">
            <a:xfrm>
              <a:off x="4123" y="3511"/>
              <a:ext cx="1546" cy="377"/>
              <a:chOff x="4123" y="3511"/>
              <a:chExt cx="1546" cy="377"/>
            </a:xfrm>
          </p:grpSpPr>
          <p:sp>
            <p:nvSpPr>
              <p:cNvPr id="49" name="AutoShape 40"/>
              <p:cNvSpPr>
                <a:spLocks noChangeArrowheads="1"/>
              </p:cNvSpPr>
              <p:nvPr/>
            </p:nvSpPr>
            <p:spPr bwMode="auto">
              <a:xfrm>
                <a:off x="4176" y="3552"/>
                <a:ext cx="1392" cy="336"/>
              </a:xfrm>
              <a:prstGeom prst="wedgeRoundRectCallout">
                <a:avLst>
                  <a:gd name="adj1" fmla="val -505"/>
                  <a:gd name="adj2" fmla="val -157144"/>
                  <a:gd name="adj3" fmla="val 16667"/>
                </a:avLst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50000"/>
                  </a:spcBef>
                </a:pPr>
                <a:endParaRPr kumimoji="1" lang="zh-CN" altLang="zh-CN" sz="2800">
                  <a:latin typeface="Times New Roman" pitchFamily="18" charset="0"/>
                </a:endParaRPr>
              </a:p>
            </p:txBody>
          </p:sp>
          <p:sp>
            <p:nvSpPr>
              <p:cNvPr id="50" name="AutoShape 41"/>
              <p:cNvSpPr>
                <a:spLocks noChangeArrowheads="1"/>
              </p:cNvSpPr>
              <p:nvPr/>
            </p:nvSpPr>
            <p:spPr bwMode="auto">
              <a:xfrm>
                <a:off x="4123" y="3511"/>
                <a:ext cx="1546" cy="328"/>
              </a:xfrm>
              <a:prstGeom prst="wedgeRoundRectCallout">
                <a:avLst>
                  <a:gd name="adj1" fmla="val -43750"/>
                  <a:gd name="adj2" fmla="val 70000"/>
                  <a:gd name="adj3" fmla="val 16667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2600">
                    <a:latin typeface="Times New Roman" pitchFamily="18" charset="0"/>
                  </a:rPr>
                  <a:t>2</a:t>
                </a:r>
                <a:r>
                  <a:rPr kumimoji="1" lang="zh-CN" altLang="en-US" sz="2600">
                    <a:latin typeface="Times New Roman" pitchFamily="18" charset="0"/>
                  </a:rPr>
                  <a:t>片</a:t>
                </a:r>
                <a:r>
                  <a:rPr kumimoji="1" lang="en-US" altLang="zh-CN" sz="2600">
                    <a:latin typeface="Times New Roman" pitchFamily="18" charset="0"/>
                  </a:rPr>
                  <a:t>1K</a:t>
                </a:r>
                <a:r>
                  <a:rPr kumimoji="1" lang="en-US" altLang="zh-CN" sz="2600">
                    <a:latin typeface="Times New Roman" pitchFamily="18" charset="0"/>
                    <a:cs typeface="Times New Roman" pitchFamily="18" charset="0"/>
                  </a:rPr>
                  <a:t>×4</a:t>
                </a:r>
                <a:r>
                  <a:rPr kumimoji="1" lang="zh-CN" altLang="en-US" sz="2600">
                    <a:latin typeface="Times New Roman" pitchFamily="18" charset="0"/>
                  </a:rPr>
                  <a:t>位</a:t>
                </a:r>
              </a:p>
            </p:txBody>
          </p:sp>
        </p:grpSp>
      </p:grpSp>
      <p:grpSp>
        <p:nvGrpSpPr>
          <p:cNvPr id="51" name="Group 42"/>
          <p:cNvGrpSpPr>
            <a:grpSpLocks/>
          </p:cNvGrpSpPr>
          <p:nvPr/>
        </p:nvGrpSpPr>
        <p:grpSpPr bwMode="auto">
          <a:xfrm>
            <a:off x="7010400" y="1295400"/>
            <a:ext cx="2057400" cy="1585913"/>
            <a:chOff x="4416" y="816"/>
            <a:chExt cx="1296" cy="999"/>
          </a:xfrm>
        </p:grpSpPr>
        <p:sp>
          <p:nvSpPr>
            <p:cNvPr id="52" name="Text Box 43"/>
            <p:cNvSpPr txBox="1">
              <a:spLocks noChangeArrowheads="1"/>
            </p:cNvSpPr>
            <p:nvPr/>
          </p:nvSpPr>
          <p:spPr bwMode="auto">
            <a:xfrm>
              <a:off x="4752" y="1488"/>
              <a:ext cx="9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  <a:cs typeface="Times New Roman" pitchFamily="18" charset="0"/>
                </a:rPr>
                <a:t>ROM</a:t>
              </a:r>
            </a:p>
          </p:txBody>
        </p:sp>
        <p:grpSp>
          <p:nvGrpSpPr>
            <p:cNvPr id="53" name="Group 44"/>
            <p:cNvGrpSpPr>
              <a:grpSpLocks/>
            </p:cNvGrpSpPr>
            <p:nvPr/>
          </p:nvGrpSpPr>
          <p:grpSpPr bwMode="auto">
            <a:xfrm>
              <a:off x="4416" y="816"/>
              <a:ext cx="1296" cy="384"/>
              <a:chOff x="4416" y="816"/>
              <a:chExt cx="1296" cy="384"/>
            </a:xfrm>
          </p:grpSpPr>
          <p:sp>
            <p:nvSpPr>
              <p:cNvPr id="54" name="AutoShape 45"/>
              <p:cNvSpPr>
                <a:spLocks noChangeArrowheads="1"/>
              </p:cNvSpPr>
              <p:nvPr/>
            </p:nvSpPr>
            <p:spPr bwMode="auto">
              <a:xfrm>
                <a:off x="4416" y="816"/>
                <a:ext cx="1296" cy="384"/>
              </a:xfrm>
              <a:prstGeom prst="wedgeRoundRectCallout">
                <a:avLst>
                  <a:gd name="adj1" fmla="val -3319"/>
                  <a:gd name="adj2" fmla="val 141926"/>
                  <a:gd name="adj3" fmla="val 16667"/>
                </a:avLst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endParaRPr kumimoji="1" lang="zh-CN" altLang="zh-CN" sz="3200">
                  <a:latin typeface="Times New Roman" pitchFamily="18" charset="0"/>
                </a:endParaRPr>
              </a:p>
            </p:txBody>
          </p:sp>
          <p:sp>
            <p:nvSpPr>
              <p:cNvPr id="55" name="Text Box 46"/>
              <p:cNvSpPr txBox="1">
                <a:spLocks noChangeArrowheads="1"/>
              </p:cNvSpPr>
              <p:nvPr/>
            </p:nvSpPr>
            <p:spPr bwMode="auto">
              <a:xfrm>
                <a:off x="4416" y="816"/>
                <a:ext cx="1296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2600">
                    <a:latin typeface="Times New Roman" pitchFamily="18" charset="0"/>
                  </a:rPr>
                  <a:t>1</a:t>
                </a:r>
                <a:r>
                  <a:rPr kumimoji="1" lang="zh-CN" altLang="en-US" sz="2600">
                    <a:latin typeface="Times New Roman" pitchFamily="18" charset="0"/>
                  </a:rPr>
                  <a:t>片 </a:t>
                </a:r>
                <a:r>
                  <a:rPr kumimoji="1" lang="en-US" altLang="zh-CN" sz="2600">
                    <a:latin typeface="Times New Roman" pitchFamily="18" charset="0"/>
                  </a:rPr>
                  <a:t>2K</a:t>
                </a:r>
                <a:r>
                  <a:rPr kumimoji="1" lang="en-US" altLang="zh-CN" sz="2600">
                    <a:latin typeface="Times New Roman" pitchFamily="18" charset="0"/>
                    <a:cs typeface="Times New Roman" pitchFamily="18" charset="0"/>
                  </a:rPr>
                  <a:t>×8</a:t>
                </a:r>
                <a:r>
                  <a:rPr kumimoji="1" lang="zh-CN" altLang="en-US" sz="2600">
                    <a:latin typeface="Times New Roman" pitchFamily="18" charset="0"/>
                  </a:rPr>
                  <a:t>位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825350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2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38138" y="801306"/>
            <a:ext cx="7993062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）分配地址线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56" name="Text Box 3"/>
          <p:cNvSpPr txBox="1">
            <a:spLocks noChangeArrowheads="1"/>
          </p:cNvSpPr>
          <p:nvPr/>
        </p:nvSpPr>
        <p:spPr bwMode="auto">
          <a:xfrm>
            <a:off x="762000" y="4982570"/>
            <a:ext cx="602885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>
                <a:latin typeface="Times New Roman" pitchFamily="18" charset="0"/>
              </a:rPr>
              <a:t>A</a:t>
            </a:r>
            <a:r>
              <a:rPr kumimoji="1" lang="en-US" altLang="zh-CN" sz="2600" baseline="-25000">
                <a:latin typeface="Times New Roman" pitchFamily="18" charset="0"/>
              </a:rPr>
              <a:t>10</a:t>
            </a:r>
            <a:r>
              <a:rPr kumimoji="1" lang="en-US" altLang="zh-CN" sz="2600">
                <a:latin typeface="Times New Roman" pitchFamily="18" charset="0"/>
              </a:rPr>
              <a:t>~ A</a:t>
            </a:r>
            <a:r>
              <a:rPr kumimoji="1" lang="en-US" altLang="zh-CN" sz="2600" baseline="-25000">
                <a:latin typeface="Times New Roman" pitchFamily="18" charset="0"/>
              </a:rPr>
              <a:t>0    </a:t>
            </a:r>
            <a:r>
              <a:rPr kumimoji="1" lang="zh-CN" altLang="en-US" sz="2600">
                <a:latin typeface="Times New Roman" pitchFamily="18" charset="0"/>
              </a:rPr>
              <a:t>接 </a:t>
            </a:r>
            <a:r>
              <a:rPr kumimoji="1" lang="en-US" altLang="zh-CN" sz="2600">
                <a:latin typeface="Times New Roman" pitchFamily="18" charset="0"/>
              </a:rPr>
              <a:t>2K</a:t>
            </a:r>
            <a:r>
              <a:rPr kumimoji="1" lang="en-US" altLang="zh-CN" sz="900">
                <a:latin typeface="Times New Roman" pitchFamily="18" charset="0"/>
              </a:rPr>
              <a:t> </a:t>
            </a:r>
            <a:r>
              <a:rPr kumimoji="1" lang="en-US" altLang="zh-CN" sz="2600">
                <a:latin typeface="Times New Roman" pitchFamily="18" charset="0"/>
                <a:cs typeface="Times New Roman" pitchFamily="18" charset="0"/>
              </a:rPr>
              <a:t>×</a:t>
            </a:r>
            <a:r>
              <a:rPr kumimoji="1" lang="en-US" altLang="zh-CN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600">
                <a:latin typeface="Times New Roman" pitchFamily="18" charset="0"/>
                <a:cs typeface="Times New Roman" pitchFamily="18" charset="0"/>
              </a:rPr>
              <a:t>8</a:t>
            </a:r>
            <a:r>
              <a:rPr kumimoji="1" lang="zh-CN" altLang="en-US" sz="2600">
                <a:latin typeface="Times New Roman" pitchFamily="18" charset="0"/>
              </a:rPr>
              <a:t>位 </a:t>
            </a:r>
            <a:r>
              <a:rPr kumimoji="1" lang="en-US" altLang="zh-CN" sz="2600">
                <a:latin typeface="Times New Roman" pitchFamily="18" charset="0"/>
              </a:rPr>
              <a:t>ROM </a:t>
            </a:r>
            <a:r>
              <a:rPr kumimoji="1" lang="zh-CN" altLang="en-US" sz="2600">
                <a:latin typeface="Times New Roman" pitchFamily="18" charset="0"/>
              </a:rPr>
              <a:t>的地址线</a:t>
            </a:r>
          </a:p>
        </p:txBody>
      </p: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762000" y="5515970"/>
            <a:ext cx="610328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>
                <a:latin typeface="Times New Roman" pitchFamily="18" charset="0"/>
              </a:rPr>
              <a:t>A</a:t>
            </a:r>
            <a:r>
              <a:rPr kumimoji="1" lang="en-US" altLang="zh-CN" sz="2600" baseline="-25000">
                <a:latin typeface="Times New Roman" pitchFamily="18" charset="0"/>
              </a:rPr>
              <a:t>9  </a:t>
            </a:r>
            <a:r>
              <a:rPr kumimoji="1" lang="en-US" altLang="zh-CN" sz="2600">
                <a:latin typeface="Times New Roman" pitchFamily="18" charset="0"/>
              </a:rPr>
              <a:t>~ A</a:t>
            </a:r>
            <a:r>
              <a:rPr kumimoji="1" lang="en-US" altLang="zh-CN" sz="2600" baseline="-25000">
                <a:latin typeface="Times New Roman" pitchFamily="18" charset="0"/>
              </a:rPr>
              <a:t>0    </a:t>
            </a:r>
            <a:r>
              <a:rPr kumimoji="1" lang="zh-CN" altLang="en-US" sz="2600">
                <a:latin typeface="Times New Roman" pitchFamily="18" charset="0"/>
              </a:rPr>
              <a:t>接 </a:t>
            </a:r>
            <a:r>
              <a:rPr kumimoji="1" lang="en-US" altLang="zh-CN" sz="2600">
                <a:latin typeface="Times New Roman" pitchFamily="18" charset="0"/>
              </a:rPr>
              <a:t>1K</a:t>
            </a:r>
            <a:r>
              <a:rPr kumimoji="1" lang="en-US" altLang="zh-CN" sz="900">
                <a:latin typeface="Times New Roman" pitchFamily="18" charset="0"/>
              </a:rPr>
              <a:t> </a:t>
            </a:r>
            <a:r>
              <a:rPr kumimoji="1" lang="en-US" altLang="zh-CN" sz="2600">
                <a:latin typeface="Times New Roman" pitchFamily="18" charset="0"/>
                <a:cs typeface="Times New Roman" pitchFamily="18" charset="0"/>
              </a:rPr>
              <a:t>×</a:t>
            </a:r>
            <a:r>
              <a:rPr kumimoji="1" lang="en-US" altLang="zh-CN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600"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1" lang="zh-CN" altLang="en-US" sz="2600">
                <a:latin typeface="Times New Roman" pitchFamily="18" charset="0"/>
              </a:rPr>
              <a:t>位 </a:t>
            </a:r>
            <a:r>
              <a:rPr kumimoji="1" lang="en-US" altLang="zh-CN" sz="2600">
                <a:latin typeface="Times New Roman" pitchFamily="18" charset="0"/>
              </a:rPr>
              <a:t>RAM </a:t>
            </a:r>
            <a:r>
              <a:rPr kumimoji="1" lang="zh-CN" altLang="en-US" sz="2600">
                <a:latin typeface="Times New Roman" pitchFamily="18" charset="0"/>
              </a:rPr>
              <a:t>的地址线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auto">
          <a:xfrm>
            <a:off x="533400" y="6085007"/>
            <a:ext cx="39944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(4) 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确定片选信号</a:t>
            </a:r>
          </a:p>
        </p:txBody>
      </p:sp>
      <p:sp>
        <p:nvSpPr>
          <p:cNvPr id="59" name="Line 6"/>
          <p:cNvSpPr>
            <a:spLocks noChangeShapeType="1"/>
          </p:cNvSpPr>
          <p:nvPr/>
        </p:nvSpPr>
        <p:spPr bwMode="auto">
          <a:xfrm>
            <a:off x="2438400" y="1447800"/>
            <a:ext cx="0" cy="320040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2895600" y="1447800"/>
            <a:ext cx="0" cy="320040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1" name="Line 8"/>
          <p:cNvSpPr>
            <a:spLocks noChangeShapeType="1"/>
          </p:cNvSpPr>
          <p:nvPr/>
        </p:nvSpPr>
        <p:spPr bwMode="auto">
          <a:xfrm>
            <a:off x="1143000" y="1447800"/>
            <a:ext cx="0" cy="320040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2" name="Group 9"/>
          <p:cNvGrpSpPr>
            <a:grpSpLocks/>
          </p:cNvGrpSpPr>
          <p:nvPr/>
        </p:nvGrpSpPr>
        <p:grpSpPr bwMode="auto">
          <a:xfrm>
            <a:off x="1143000" y="4603397"/>
            <a:ext cx="1339746" cy="523514"/>
            <a:chOff x="720" y="2880"/>
            <a:chExt cx="864" cy="351"/>
          </a:xfrm>
        </p:grpSpPr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720" y="2880"/>
              <a:ext cx="336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800">
                  <a:solidFill>
                    <a:srgbClr val="CC3300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64" name="Text Box 11"/>
            <p:cNvSpPr txBox="1">
              <a:spLocks noChangeArrowheads="1"/>
            </p:cNvSpPr>
            <p:nvPr/>
          </p:nvSpPr>
          <p:spPr bwMode="auto">
            <a:xfrm>
              <a:off x="960" y="2880"/>
              <a:ext cx="336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800">
                  <a:solidFill>
                    <a:srgbClr val="CC3300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65" name="Text Box 12"/>
            <p:cNvSpPr txBox="1">
              <a:spLocks noChangeArrowheads="1"/>
            </p:cNvSpPr>
            <p:nvPr/>
          </p:nvSpPr>
          <p:spPr bwMode="auto">
            <a:xfrm>
              <a:off x="1248" y="2880"/>
              <a:ext cx="336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800" dirty="0">
                  <a:solidFill>
                    <a:srgbClr val="CC3300"/>
                  </a:solidFill>
                  <a:latin typeface="Times New Roman" pitchFamily="18" charset="0"/>
                </a:rPr>
                <a:t>A</a:t>
              </a:r>
            </a:p>
          </p:txBody>
        </p:sp>
      </p:grpSp>
      <p:grpSp>
        <p:nvGrpSpPr>
          <p:cNvPr id="66" name="Group 13"/>
          <p:cNvGrpSpPr>
            <a:grpSpLocks/>
          </p:cNvGrpSpPr>
          <p:nvPr/>
        </p:nvGrpSpPr>
        <p:grpSpPr bwMode="auto">
          <a:xfrm>
            <a:off x="304800" y="1219200"/>
            <a:ext cx="9080500" cy="3551238"/>
            <a:chOff x="192" y="624"/>
            <a:chExt cx="5856" cy="2381"/>
          </a:xfrm>
        </p:grpSpPr>
        <p:grpSp>
          <p:nvGrpSpPr>
            <p:cNvPr id="67" name="Group 14"/>
            <p:cNvGrpSpPr>
              <a:grpSpLocks/>
            </p:cNvGrpSpPr>
            <p:nvPr/>
          </p:nvGrpSpPr>
          <p:grpSpPr bwMode="auto">
            <a:xfrm>
              <a:off x="240" y="864"/>
              <a:ext cx="4320" cy="365"/>
              <a:chOff x="384" y="1296"/>
              <a:chExt cx="4320" cy="365"/>
            </a:xfrm>
          </p:grpSpPr>
          <p:sp>
            <p:nvSpPr>
              <p:cNvPr id="94" name="Text Box 15"/>
              <p:cNvSpPr txBox="1">
                <a:spLocks noChangeArrowheads="1"/>
              </p:cNvSpPr>
              <p:nvPr/>
            </p:nvSpPr>
            <p:spPr bwMode="auto">
              <a:xfrm>
                <a:off x="384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0  1  1  0</a:t>
                </a:r>
              </a:p>
            </p:txBody>
          </p:sp>
          <p:sp>
            <p:nvSpPr>
              <p:cNvPr id="95" name="Text Box 16"/>
              <p:cNvSpPr txBox="1">
                <a:spLocks noChangeArrowheads="1"/>
              </p:cNvSpPr>
              <p:nvPr/>
            </p:nvSpPr>
            <p:spPr bwMode="auto">
              <a:xfrm>
                <a:off x="1440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0  0  0  0</a:t>
                </a:r>
              </a:p>
            </p:txBody>
          </p:sp>
          <p:sp>
            <p:nvSpPr>
              <p:cNvPr id="96" name="Text Box 17"/>
              <p:cNvSpPr txBox="1">
                <a:spLocks noChangeArrowheads="1"/>
              </p:cNvSpPr>
              <p:nvPr/>
            </p:nvSpPr>
            <p:spPr bwMode="auto">
              <a:xfrm>
                <a:off x="2496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0  0  0  0</a:t>
                </a:r>
              </a:p>
            </p:txBody>
          </p:sp>
          <p:sp>
            <p:nvSpPr>
              <p:cNvPr id="97" name="Text Box 18"/>
              <p:cNvSpPr txBox="1">
                <a:spLocks noChangeArrowheads="1"/>
              </p:cNvSpPr>
              <p:nvPr/>
            </p:nvSpPr>
            <p:spPr bwMode="auto">
              <a:xfrm>
                <a:off x="3552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0  0  0  0</a:t>
                </a:r>
              </a:p>
            </p:txBody>
          </p:sp>
        </p:grpSp>
        <p:sp>
          <p:nvSpPr>
            <p:cNvPr id="68" name="Text Box 19"/>
            <p:cNvSpPr txBox="1">
              <a:spLocks noChangeArrowheads="1"/>
            </p:cNvSpPr>
            <p:nvPr/>
          </p:nvSpPr>
          <p:spPr bwMode="auto">
            <a:xfrm>
              <a:off x="192" y="624"/>
              <a:ext cx="49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A</a:t>
              </a:r>
              <a:r>
                <a:rPr kumimoji="1" lang="en-US" altLang="zh-CN" sz="2400" baseline="-25000">
                  <a:latin typeface="Times New Roman" pitchFamily="18" charset="0"/>
                </a:rPr>
                <a:t>15        </a:t>
              </a:r>
              <a:r>
                <a:rPr kumimoji="1" lang="en-US" altLang="zh-CN" sz="2400">
                  <a:latin typeface="Times New Roman" pitchFamily="18" charset="0"/>
                </a:rPr>
                <a:t>A</a:t>
              </a:r>
              <a:r>
                <a:rPr kumimoji="1" lang="en-US" altLang="zh-CN" sz="2400" baseline="-25000">
                  <a:latin typeface="Times New Roman" pitchFamily="18" charset="0"/>
                </a:rPr>
                <a:t>13       </a:t>
              </a:r>
              <a:r>
                <a:rPr kumimoji="1" lang="en-US" altLang="zh-CN" sz="2400">
                  <a:latin typeface="Times New Roman" pitchFamily="18" charset="0"/>
                </a:rPr>
                <a:t>A</a:t>
              </a:r>
              <a:r>
                <a:rPr kumimoji="1" lang="en-US" altLang="zh-CN" sz="2400" baseline="-25000">
                  <a:latin typeface="Times New Roman" pitchFamily="18" charset="0"/>
                </a:rPr>
                <a:t>11 </a:t>
              </a:r>
              <a:r>
                <a:rPr kumimoji="1" lang="en-US" altLang="zh-CN" sz="2400">
                  <a:latin typeface="Times New Roman" pitchFamily="18" charset="0"/>
                </a:rPr>
                <a:t>A</a:t>
              </a:r>
              <a:r>
                <a:rPr kumimoji="1" lang="en-US" altLang="zh-CN" sz="2400" baseline="-25000">
                  <a:latin typeface="Times New Roman" pitchFamily="18" charset="0"/>
                </a:rPr>
                <a:t>10</a:t>
              </a:r>
              <a:r>
                <a:rPr kumimoji="1" lang="en-US" altLang="zh-CN" sz="2400">
                  <a:latin typeface="Times New Roman" pitchFamily="18" charset="0"/>
                </a:rPr>
                <a:t>    …    A</a:t>
              </a:r>
              <a:r>
                <a:rPr kumimoji="1" lang="en-US" altLang="zh-CN" sz="2400" baseline="-25000">
                  <a:latin typeface="Times New Roman" pitchFamily="18" charset="0"/>
                </a:rPr>
                <a:t>7     </a:t>
              </a:r>
              <a:r>
                <a:rPr kumimoji="1" lang="en-US" altLang="zh-CN" sz="2400">
                  <a:latin typeface="Times New Roman" pitchFamily="18" charset="0"/>
                </a:rPr>
                <a:t>…    A</a:t>
              </a:r>
              <a:r>
                <a:rPr kumimoji="1" lang="en-US" altLang="zh-CN" sz="2400" baseline="-25000">
                  <a:latin typeface="Times New Roman" pitchFamily="18" charset="0"/>
                </a:rPr>
                <a:t>4   </a:t>
              </a:r>
              <a:r>
                <a:rPr kumimoji="1" lang="en-US" altLang="zh-CN" sz="2400">
                  <a:latin typeface="Times New Roman" pitchFamily="18" charset="0"/>
                </a:rPr>
                <a:t>A</a:t>
              </a:r>
              <a:r>
                <a:rPr kumimoji="1" lang="en-US" altLang="zh-CN" sz="2400" baseline="-25000">
                  <a:latin typeface="Times New Roman" pitchFamily="18" charset="0"/>
                </a:rPr>
                <a:t>3      </a:t>
              </a:r>
              <a:r>
                <a:rPr kumimoji="1" lang="en-US" altLang="zh-CN" sz="2400">
                  <a:latin typeface="Times New Roman" pitchFamily="18" charset="0"/>
                </a:rPr>
                <a:t>…</a:t>
              </a:r>
              <a:r>
                <a:rPr kumimoji="1" lang="en-US" altLang="zh-CN" sz="2400" baseline="-25000">
                  <a:latin typeface="Times New Roman" pitchFamily="18" charset="0"/>
                </a:rPr>
                <a:t>     </a:t>
              </a:r>
              <a:r>
                <a:rPr kumimoji="1" lang="en-US" altLang="zh-CN" sz="2400">
                  <a:latin typeface="Times New Roman" pitchFamily="18" charset="0"/>
                </a:rPr>
                <a:t>A</a:t>
              </a:r>
              <a:r>
                <a:rPr kumimoji="1" lang="en-US" altLang="zh-CN" sz="2400" baseline="-25000">
                  <a:latin typeface="Times New Roman" pitchFamily="18" charset="0"/>
                </a:rPr>
                <a:t>0</a:t>
              </a:r>
            </a:p>
          </p:txBody>
        </p:sp>
        <p:grpSp>
          <p:nvGrpSpPr>
            <p:cNvPr id="69" name="Group 20"/>
            <p:cNvGrpSpPr>
              <a:grpSpLocks/>
            </p:cNvGrpSpPr>
            <p:nvPr/>
          </p:nvGrpSpPr>
          <p:grpSpPr bwMode="auto">
            <a:xfrm>
              <a:off x="240" y="1200"/>
              <a:ext cx="4320" cy="701"/>
              <a:chOff x="288" y="1632"/>
              <a:chExt cx="4320" cy="701"/>
            </a:xfrm>
          </p:grpSpPr>
          <p:sp>
            <p:nvSpPr>
              <p:cNvPr id="88" name="Text Box 21"/>
              <p:cNvSpPr txBox="1">
                <a:spLocks noChangeArrowheads="1"/>
              </p:cNvSpPr>
              <p:nvPr/>
            </p:nvSpPr>
            <p:spPr bwMode="auto">
              <a:xfrm>
                <a:off x="297" y="1632"/>
                <a:ext cx="423" cy="4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…</a:t>
                </a:r>
              </a:p>
            </p:txBody>
          </p:sp>
          <p:grpSp>
            <p:nvGrpSpPr>
              <p:cNvPr id="89" name="Group 22"/>
              <p:cNvGrpSpPr>
                <a:grpSpLocks/>
              </p:cNvGrpSpPr>
              <p:nvPr/>
            </p:nvGrpSpPr>
            <p:grpSpPr bwMode="auto">
              <a:xfrm>
                <a:off x="288" y="1968"/>
                <a:ext cx="4320" cy="365"/>
                <a:chOff x="384" y="1968"/>
                <a:chExt cx="4320" cy="365"/>
              </a:xfrm>
            </p:grpSpPr>
            <p:sp>
              <p:nvSpPr>
                <p:cNvPr id="90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84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3200">
                      <a:latin typeface="Times New Roman" pitchFamily="18" charset="0"/>
                    </a:rPr>
                    <a:t>0  1  1  0</a:t>
                  </a:r>
                </a:p>
              </p:txBody>
            </p:sp>
            <p:sp>
              <p:nvSpPr>
                <p:cNvPr id="91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440" y="1968"/>
                  <a:ext cx="1440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3200">
                      <a:latin typeface="Times New Roman" pitchFamily="18" charset="0"/>
                    </a:rPr>
                    <a:t>0  1  1  1</a:t>
                  </a:r>
                </a:p>
              </p:txBody>
            </p:sp>
            <p:sp>
              <p:nvSpPr>
                <p:cNvPr id="92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496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3200">
                      <a:latin typeface="Times New Roman" pitchFamily="18" charset="0"/>
                    </a:rPr>
                    <a:t>1  1  1  1</a:t>
                  </a:r>
                </a:p>
              </p:txBody>
            </p:sp>
            <p:sp>
              <p:nvSpPr>
                <p:cNvPr id="93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552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3200">
                      <a:latin typeface="Times New Roman" pitchFamily="18" charset="0"/>
                    </a:rPr>
                    <a:t>1  1  1  1</a:t>
                  </a:r>
                </a:p>
              </p:txBody>
            </p:sp>
          </p:grpSp>
        </p:grpSp>
        <p:grpSp>
          <p:nvGrpSpPr>
            <p:cNvPr id="70" name="Group 27"/>
            <p:cNvGrpSpPr>
              <a:grpSpLocks/>
            </p:cNvGrpSpPr>
            <p:nvPr/>
          </p:nvGrpSpPr>
          <p:grpSpPr bwMode="auto">
            <a:xfrm>
              <a:off x="240" y="1939"/>
              <a:ext cx="4320" cy="365"/>
              <a:chOff x="384" y="1296"/>
              <a:chExt cx="4320" cy="365"/>
            </a:xfrm>
          </p:grpSpPr>
          <p:sp>
            <p:nvSpPr>
              <p:cNvPr id="84" name="Text Box 28"/>
              <p:cNvSpPr txBox="1">
                <a:spLocks noChangeArrowheads="1"/>
              </p:cNvSpPr>
              <p:nvPr/>
            </p:nvSpPr>
            <p:spPr bwMode="auto">
              <a:xfrm>
                <a:off x="384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0  1  1  0</a:t>
                </a:r>
              </a:p>
            </p:txBody>
          </p:sp>
          <p:sp>
            <p:nvSpPr>
              <p:cNvPr id="85" name="Text Box 29"/>
              <p:cNvSpPr txBox="1">
                <a:spLocks noChangeArrowheads="1"/>
              </p:cNvSpPr>
              <p:nvPr/>
            </p:nvSpPr>
            <p:spPr bwMode="auto">
              <a:xfrm>
                <a:off x="1440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1  0  0  0</a:t>
                </a:r>
              </a:p>
            </p:txBody>
          </p:sp>
          <p:sp>
            <p:nvSpPr>
              <p:cNvPr id="86" name="Text Box 30"/>
              <p:cNvSpPr txBox="1">
                <a:spLocks noChangeArrowheads="1"/>
              </p:cNvSpPr>
              <p:nvPr/>
            </p:nvSpPr>
            <p:spPr bwMode="auto">
              <a:xfrm>
                <a:off x="2496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0  0  0  0</a:t>
                </a:r>
              </a:p>
            </p:txBody>
          </p:sp>
          <p:sp>
            <p:nvSpPr>
              <p:cNvPr id="87" name="Text Box 31"/>
              <p:cNvSpPr txBox="1">
                <a:spLocks noChangeArrowheads="1"/>
              </p:cNvSpPr>
              <p:nvPr/>
            </p:nvSpPr>
            <p:spPr bwMode="auto">
              <a:xfrm>
                <a:off x="3552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0  0  0  0</a:t>
                </a:r>
              </a:p>
            </p:txBody>
          </p:sp>
        </p:grpSp>
        <p:grpSp>
          <p:nvGrpSpPr>
            <p:cNvPr id="71" name="Group 32"/>
            <p:cNvGrpSpPr>
              <a:grpSpLocks/>
            </p:cNvGrpSpPr>
            <p:nvPr/>
          </p:nvGrpSpPr>
          <p:grpSpPr bwMode="auto">
            <a:xfrm>
              <a:off x="240" y="2256"/>
              <a:ext cx="4320" cy="749"/>
              <a:chOff x="288" y="2688"/>
              <a:chExt cx="4320" cy="749"/>
            </a:xfrm>
          </p:grpSpPr>
          <p:sp>
            <p:nvSpPr>
              <p:cNvPr id="78" name="Text Box 33"/>
              <p:cNvSpPr txBox="1">
                <a:spLocks noChangeArrowheads="1"/>
              </p:cNvSpPr>
              <p:nvPr/>
            </p:nvSpPr>
            <p:spPr bwMode="auto">
              <a:xfrm>
                <a:off x="288" y="2688"/>
                <a:ext cx="423" cy="4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>
                    <a:latin typeface="Times New Roman" pitchFamily="18" charset="0"/>
                  </a:rPr>
                  <a:t>…</a:t>
                </a:r>
              </a:p>
            </p:txBody>
          </p:sp>
          <p:grpSp>
            <p:nvGrpSpPr>
              <p:cNvPr id="79" name="Group 34"/>
              <p:cNvGrpSpPr>
                <a:grpSpLocks/>
              </p:cNvGrpSpPr>
              <p:nvPr/>
            </p:nvGrpSpPr>
            <p:grpSpPr bwMode="auto">
              <a:xfrm>
                <a:off x="288" y="3072"/>
                <a:ext cx="4320" cy="365"/>
                <a:chOff x="384" y="1968"/>
                <a:chExt cx="4320" cy="365"/>
              </a:xfrm>
            </p:grpSpPr>
            <p:sp>
              <p:nvSpPr>
                <p:cNvPr id="80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84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3200">
                      <a:latin typeface="Times New Roman" pitchFamily="18" charset="0"/>
                    </a:rPr>
                    <a:t>0  1  1  0</a:t>
                  </a:r>
                </a:p>
              </p:txBody>
            </p:sp>
            <p:sp>
              <p:nvSpPr>
                <p:cNvPr id="81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1440" y="1968"/>
                  <a:ext cx="1440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3200">
                      <a:latin typeface="Times New Roman" pitchFamily="18" charset="0"/>
                    </a:rPr>
                    <a:t>1  0  1  1</a:t>
                  </a:r>
                </a:p>
              </p:txBody>
            </p:sp>
            <p:sp>
              <p:nvSpPr>
                <p:cNvPr id="82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496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3200">
                      <a:latin typeface="Times New Roman" pitchFamily="18" charset="0"/>
                    </a:rPr>
                    <a:t>1  1  1  1</a:t>
                  </a:r>
                </a:p>
              </p:txBody>
            </p:sp>
            <p:sp>
              <p:nvSpPr>
                <p:cNvPr id="83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552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3200">
                      <a:latin typeface="Times New Roman" pitchFamily="18" charset="0"/>
                    </a:rPr>
                    <a:t>1  1  1  1</a:t>
                  </a:r>
                </a:p>
              </p:txBody>
            </p:sp>
          </p:grpSp>
        </p:grpSp>
        <p:sp>
          <p:nvSpPr>
            <p:cNvPr id="72" name="AutoShape 39"/>
            <p:cNvSpPr>
              <a:spLocks/>
            </p:cNvSpPr>
            <p:nvPr/>
          </p:nvSpPr>
          <p:spPr bwMode="auto">
            <a:xfrm>
              <a:off x="4464" y="1008"/>
              <a:ext cx="192" cy="768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Text Box 40"/>
            <p:cNvSpPr txBox="1">
              <a:spLocks noChangeArrowheads="1"/>
            </p:cNvSpPr>
            <p:nvPr/>
          </p:nvSpPr>
          <p:spPr bwMode="auto">
            <a:xfrm>
              <a:off x="4704" y="1363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</a:rPr>
                <a:t>2K</a:t>
              </a:r>
              <a:r>
                <a:rPr kumimoji="1" lang="en-US" altLang="zh-CN" sz="900">
                  <a:latin typeface="Times New Roman" pitchFamily="18" charset="0"/>
                </a:rPr>
                <a:t> </a:t>
              </a:r>
              <a:r>
                <a:rPr kumimoji="1" lang="en-US" altLang="zh-CN" sz="3200">
                  <a:latin typeface="Times New Roman" pitchFamily="18" charset="0"/>
                  <a:cs typeface="Times New Roman" pitchFamily="18" charset="0"/>
                </a:rPr>
                <a:t>×</a:t>
              </a:r>
              <a:r>
                <a:rPr kumimoji="1" lang="en-US" altLang="zh-CN" sz="9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1" lang="en-US" altLang="zh-CN" sz="2800"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kumimoji="1" lang="zh-CN" altLang="en-US" sz="2800">
                  <a:latin typeface="Times New Roman" pitchFamily="18" charset="0"/>
                </a:rPr>
                <a:t>位</a:t>
              </a:r>
            </a:p>
          </p:txBody>
        </p:sp>
        <p:sp>
          <p:nvSpPr>
            <p:cNvPr id="74" name="Text Box 41"/>
            <p:cNvSpPr txBox="1">
              <a:spLocks noChangeArrowheads="1"/>
            </p:cNvSpPr>
            <p:nvPr/>
          </p:nvSpPr>
          <p:spPr bwMode="auto">
            <a:xfrm>
              <a:off x="4704" y="1056"/>
              <a:ext cx="11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kumimoji="1" lang="zh-CN" altLang="en-US" sz="2800">
                  <a:latin typeface="Times New Roman" pitchFamily="18" charset="0"/>
                </a:rPr>
                <a:t>片 </a:t>
              </a:r>
              <a:r>
                <a:rPr kumimoji="1" lang="en-US" altLang="zh-CN" sz="2800">
                  <a:latin typeface="Times New Roman" pitchFamily="18" charset="0"/>
                  <a:cs typeface="Times New Roman" pitchFamily="18" charset="0"/>
                </a:rPr>
                <a:t>ROM</a:t>
              </a:r>
            </a:p>
          </p:txBody>
        </p:sp>
        <p:sp>
          <p:nvSpPr>
            <p:cNvPr id="75" name="AutoShape 42"/>
            <p:cNvSpPr>
              <a:spLocks/>
            </p:cNvSpPr>
            <p:nvPr/>
          </p:nvSpPr>
          <p:spPr bwMode="auto">
            <a:xfrm>
              <a:off x="4464" y="2112"/>
              <a:ext cx="192" cy="768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Text Box 43"/>
            <p:cNvSpPr txBox="1">
              <a:spLocks noChangeArrowheads="1"/>
            </p:cNvSpPr>
            <p:nvPr/>
          </p:nvSpPr>
          <p:spPr bwMode="auto">
            <a:xfrm>
              <a:off x="4704" y="2448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</a:rPr>
                <a:t>1K</a:t>
              </a:r>
              <a:r>
                <a:rPr kumimoji="1" lang="en-US" altLang="zh-CN" sz="900">
                  <a:latin typeface="Times New Roman" pitchFamily="18" charset="0"/>
                </a:rPr>
                <a:t> </a:t>
              </a:r>
              <a:r>
                <a:rPr kumimoji="1" lang="en-US" altLang="zh-CN" sz="3200">
                  <a:latin typeface="Times New Roman" pitchFamily="18" charset="0"/>
                  <a:cs typeface="Times New Roman" pitchFamily="18" charset="0"/>
                </a:rPr>
                <a:t>×</a:t>
              </a:r>
              <a:r>
                <a:rPr kumimoji="1" lang="en-US" altLang="zh-CN" sz="9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1" lang="en-US" altLang="zh-CN" sz="280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kumimoji="1" lang="zh-CN" altLang="en-US" sz="2800">
                  <a:latin typeface="Times New Roman" pitchFamily="18" charset="0"/>
                </a:rPr>
                <a:t>位</a:t>
              </a:r>
            </a:p>
          </p:txBody>
        </p:sp>
        <p:sp>
          <p:nvSpPr>
            <p:cNvPr id="77" name="Text Box 44"/>
            <p:cNvSpPr txBox="1">
              <a:spLocks noChangeArrowheads="1"/>
            </p:cNvSpPr>
            <p:nvPr/>
          </p:nvSpPr>
          <p:spPr bwMode="auto">
            <a:xfrm>
              <a:off x="4704" y="2121"/>
              <a:ext cx="11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kumimoji="1" lang="zh-CN" altLang="en-US" sz="2800">
                  <a:latin typeface="Times New Roman" pitchFamily="18" charset="0"/>
                </a:rPr>
                <a:t>片</a:t>
              </a:r>
              <a:r>
                <a:rPr kumimoji="1" lang="en-US" altLang="zh-CN" sz="2800">
                  <a:latin typeface="Times New Roman" pitchFamily="18" charset="0"/>
                  <a:cs typeface="Times New Roman" pitchFamily="18" charset="0"/>
                </a:rPr>
                <a:t>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78610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utoUpdateAnimBg="0"/>
      <p:bldP spid="57" grpId="0" autoUpdateAnimBg="0"/>
      <p:bldP spid="58" grpId="0" autoUpdateAnimBg="0"/>
      <p:bldP spid="59" grpId="0" animBg="1"/>
      <p:bldP spid="60" grpId="0" animBg="1"/>
      <p:bldP spid="6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41313" y="556623"/>
            <a:ext cx="7993062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与存储器的连接图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45" name="Freeform 2"/>
          <p:cNvSpPr>
            <a:spLocks/>
          </p:cNvSpPr>
          <p:nvPr/>
        </p:nvSpPr>
        <p:spPr bwMode="auto">
          <a:xfrm>
            <a:off x="2209800" y="1809750"/>
            <a:ext cx="1062038" cy="1588"/>
          </a:xfrm>
          <a:custGeom>
            <a:avLst/>
            <a:gdLst>
              <a:gd name="T0" fmla="*/ 669 w 669"/>
              <a:gd name="T1" fmla="*/ 0 h 1"/>
              <a:gd name="T2" fmla="*/ 0 w 669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9" h="1">
                <a:moveTo>
                  <a:pt x="669" y="0"/>
                </a:moveTo>
                <a:lnTo>
                  <a:pt x="0" y="0"/>
                </a:lnTo>
              </a:path>
            </a:pathLst>
          </a:custGeom>
          <a:solidFill>
            <a:srgbClr val="FF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Line 3"/>
          <p:cNvSpPr>
            <a:spLocks noChangeShapeType="1"/>
          </p:cNvSpPr>
          <p:nvPr/>
        </p:nvSpPr>
        <p:spPr bwMode="auto">
          <a:xfrm flipH="1">
            <a:off x="2209800" y="1524000"/>
            <a:ext cx="1198563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7" name="Group 4"/>
          <p:cNvGrpSpPr>
            <a:grpSpLocks/>
          </p:cNvGrpSpPr>
          <p:nvPr/>
        </p:nvGrpSpPr>
        <p:grpSpPr bwMode="auto">
          <a:xfrm>
            <a:off x="247650" y="1104900"/>
            <a:ext cx="298450" cy="1247775"/>
            <a:chOff x="156" y="696"/>
            <a:chExt cx="188" cy="786"/>
          </a:xfrm>
        </p:grpSpPr>
        <p:sp>
          <p:nvSpPr>
            <p:cNvPr id="48" name="Line 5"/>
            <p:cNvSpPr>
              <a:spLocks noChangeShapeType="1"/>
            </p:cNvSpPr>
            <p:nvPr/>
          </p:nvSpPr>
          <p:spPr bwMode="auto">
            <a:xfrm flipH="1">
              <a:off x="157" y="1467"/>
              <a:ext cx="18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6"/>
            <p:cNvSpPr>
              <a:spLocks/>
            </p:cNvSpPr>
            <p:nvPr/>
          </p:nvSpPr>
          <p:spPr bwMode="auto">
            <a:xfrm>
              <a:off x="156" y="696"/>
              <a:ext cx="1" cy="786"/>
            </a:xfrm>
            <a:custGeom>
              <a:avLst/>
              <a:gdLst>
                <a:gd name="T0" fmla="*/ 0 w 1"/>
                <a:gd name="T1" fmla="*/ 786 h 786"/>
                <a:gd name="T2" fmla="*/ 0 w 1"/>
                <a:gd name="T3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86">
                  <a:moveTo>
                    <a:pt x="0" y="786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" name="Group 7"/>
          <p:cNvGrpSpPr>
            <a:grpSpLocks/>
          </p:cNvGrpSpPr>
          <p:nvPr/>
        </p:nvGrpSpPr>
        <p:grpSpPr bwMode="auto">
          <a:xfrm>
            <a:off x="236538" y="1108075"/>
            <a:ext cx="3040062" cy="990600"/>
            <a:chOff x="149" y="698"/>
            <a:chExt cx="1915" cy="624"/>
          </a:xfrm>
        </p:grpSpPr>
        <p:sp>
          <p:nvSpPr>
            <p:cNvPr id="51" name="Freeform 8"/>
            <p:cNvSpPr>
              <a:spLocks/>
            </p:cNvSpPr>
            <p:nvPr/>
          </p:nvSpPr>
          <p:spPr bwMode="auto">
            <a:xfrm>
              <a:off x="1727" y="1321"/>
              <a:ext cx="337" cy="1"/>
            </a:xfrm>
            <a:custGeom>
              <a:avLst/>
              <a:gdLst>
                <a:gd name="T0" fmla="*/ 336 w 336"/>
                <a:gd name="T1" fmla="*/ 0 h 1"/>
                <a:gd name="T2" fmla="*/ 0 w 33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6" h="1">
                  <a:moveTo>
                    <a:pt x="336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9"/>
            <p:cNvSpPr>
              <a:spLocks noChangeShapeType="1"/>
            </p:cNvSpPr>
            <p:nvPr/>
          </p:nvSpPr>
          <p:spPr bwMode="auto">
            <a:xfrm>
              <a:off x="149" y="698"/>
              <a:ext cx="158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0"/>
            <p:cNvSpPr>
              <a:spLocks noChangeShapeType="1"/>
            </p:cNvSpPr>
            <p:nvPr/>
          </p:nvSpPr>
          <p:spPr bwMode="auto">
            <a:xfrm>
              <a:off x="1733" y="698"/>
              <a:ext cx="1" cy="6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" name="Line 11"/>
          <p:cNvSpPr>
            <a:spLocks noChangeShapeType="1"/>
          </p:cNvSpPr>
          <p:nvPr/>
        </p:nvSpPr>
        <p:spPr bwMode="auto">
          <a:xfrm flipH="1">
            <a:off x="2209800" y="2414588"/>
            <a:ext cx="1193800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12"/>
          <p:cNvSpPr>
            <a:spLocks noChangeShapeType="1"/>
          </p:cNvSpPr>
          <p:nvPr/>
        </p:nvSpPr>
        <p:spPr bwMode="auto">
          <a:xfrm flipH="1">
            <a:off x="2209800" y="2706688"/>
            <a:ext cx="1190625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Line 13"/>
          <p:cNvSpPr>
            <a:spLocks noChangeShapeType="1"/>
          </p:cNvSpPr>
          <p:nvPr/>
        </p:nvSpPr>
        <p:spPr bwMode="auto">
          <a:xfrm flipH="1">
            <a:off x="2209800" y="2970213"/>
            <a:ext cx="1190625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9" name="Group 14"/>
          <p:cNvGrpSpPr>
            <a:grpSpLocks/>
          </p:cNvGrpSpPr>
          <p:nvPr/>
        </p:nvGrpSpPr>
        <p:grpSpPr bwMode="auto">
          <a:xfrm>
            <a:off x="5791200" y="2133600"/>
            <a:ext cx="361950" cy="1190625"/>
            <a:chOff x="3648" y="1344"/>
            <a:chExt cx="228" cy="750"/>
          </a:xfrm>
        </p:grpSpPr>
        <p:sp>
          <p:nvSpPr>
            <p:cNvPr id="100" name="Freeform 15"/>
            <p:cNvSpPr>
              <a:spLocks/>
            </p:cNvSpPr>
            <p:nvPr/>
          </p:nvSpPr>
          <p:spPr bwMode="auto">
            <a:xfrm>
              <a:off x="3651" y="1344"/>
              <a:ext cx="225" cy="1"/>
            </a:xfrm>
            <a:custGeom>
              <a:avLst/>
              <a:gdLst>
                <a:gd name="T0" fmla="*/ 0 w 225"/>
                <a:gd name="T1" fmla="*/ 0 h 1"/>
                <a:gd name="T2" fmla="*/ 225 w 22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5" h="1">
                  <a:moveTo>
                    <a:pt x="0" y="0"/>
                  </a:moveTo>
                  <a:lnTo>
                    <a:pt x="225" y="0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6"/>
            <p:cNvSpPr>
              <a:spLocks noChangeShapeType="1"/>
            </p:cNvSpPr>
            <p:nvPr/>
          </p:nvSpPr>
          <p:spPr bwMode="auto">
            <a:xfrm>
              <a:off x="3648" y="1344"/>
              <a:ext cx="1" cy="7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" name="Group 17"/>
          <p:cNvGrpSpPr>
            <a:grpSpLocks/>
          </p:cNvGrpSpPr>
          <p:nvPr/>
        </p:nvGrpSpPr>
        <p:grpSpPr bwMode="auto">
          <a:xfrm>
            <a:off x="2806700" y="4527550"/>
            <a:ext cx="723900" cy="355600"/>
            <a:chOff x="1768" y="2852"/>
            <a:chExt cx="456" cy="224"/>
          </a:xfrm>
        </p:grpSpPr>
        <p:sp>
          <p:nvSpPr>
            <p:cNvPr id="103" name="Line 18"/>
            <p:cNvSpPr>
              <a:spLocks noChangeShapeType="1"/>
            </p:cNvSpPr>
            <p:nvPr/>
          </p:nvSpPr>
          <p:spPr bwMode="auto">
            <a:xfrm flipH="1">
              <a:off x="1876" y="2852"/>
              <a:ext cx="348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04" name="Line 19"/>
            <p:cNvSpPr>
              <a:spLocks noChangeShapeType="1"/>
            </p:cNvSpPr>
            <p:nvPr/>
          </p:nvSpPr>
          <p:spPr bwMode="auto">
            <a:xfrm>
              <a:off x="1876" y="2852"/>
              <a:ext cx="1" cy="2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05" name="Rectangle 20"/>
            <p:cNvSpPr>
              <a:spLocks noChangeArrowheads="1"/>
            </p:cNvSpPr>
            <p:nvPr/>
          </p:nvSpPr>
          <p:spPr bwMode="auto">
            <a:xfrm>
              <a:off x="1768" y="3057"/>
              <a:ext cx="187" cy="19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/>
            </a:p>
          </p:txBody>
        </p:sp>
      </p:grpSp>
      <p:grpSp>
        <p:nvGrpSpPr>
          <p:cNvPr id="106" name="Group 21"/>
          <p:cNvGrpSpPr>
            <a:grpSpLocks/>
          </p:cNvGrpSpPr>
          <p:nvPr/>
        </p:nvGrpSpPr>
        <p:grpSpPr bwMode="auto">
          <a:xfrm>
            <a:off x="6772275" y="1952625"/>
            <a:ext cx="314325" cy="2395538"/>
            <a:chOff x="4266" y="1230"/>
            <a:chExt cx="198" cy="1509"/>
          </a:xfrm>
        </p:grpSpPr>
        <p:sp>
          <p:nvSpPr>
            <p:cNvPr id="107" name="Freeform 22"/>
            <p:cNvSpPr>
              <a:spLocks/>
            </p:cNvSpPr>
            <p:nvPr/>
          </p:nvSpPr>
          <p:spPr bwMode="auto">
            <a:xfrm>
              <a:off x="4266" y="1236"/>
              <a:ext cx="195" cy="1"/>
            </a:xfrm>
            <a:custGeom>
              <a:avLst/>
              <a:gdLst>
                <a:gd name="T0" fmla="*/ 0 w 195"/>
                <a:gd name="T1" fmla="*/ 0 h 1"/>
                <a:gd name="T2" fmla="*/ 195 w 19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1">
                  <a:moveTo>
                    <a:pt x="0" y="0"/>
                  </a:moveTo>
                  <a:lnTo>
                    <a:pt x="195" y="0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23"/>
            <p:cNvSpPr>
              <a:spLocks/>
            </p:cNvSpPr>
            <p:nvPr/>
          </p:nvSpPr>
          <p:spPr bwMode="auto">
            <a:xfrm>
              <a:off x="4462" y="1230"/>
              <a:ext cx="2" cy="1509"/>
            </a:xfrm>
            <a:custGeom>
              <a:avLst/>
              <a:gdLst>
                <a:gd name="T0" fmla="*/ 3 w 3"/>
                <a:gd name="T1" fmla="*/ 0 h 1509"/>
                <a:gd name="T2" fmla="*/ 0 w 3"/>
                <a:gd name="T3" fmla="*/ 1509 h 1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1509">
                  <a:moveTo>
                    <a:pt x="3" y="0"/>
                  </a:moveTo>
                  <a:lnTo>
                    <a:pt x="0" y="1509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9" name="Freeform 24"/>
          <p:cNvSpPr>
            <a:spLocks/>
          </p:cNvSpPr>
          <p:nvPr/>
        </p:nvSpPr>
        <p:spPr bwMode="auto">
          <a:xfrm>
            <a:off x="4638675" y="4343400"/>
            <a:ext cx="657225" cy="1588"/>
          </a:xfrm>
          <a:custGeom>
            <a:avLst/>
            <a:gdLst>
              <a:gd name="T0" fmla="*/ 414 w 414"/>
              <a:gd name="T1" fmla="*/ 0 h 1"/>
              <a:gd name="T2" fmla="*/ 0 w 414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14" h="1">
                <a:moveTo>
                  <a:pt x="414" y="0"/>
                </a:moveTo>
                <a:lnTo>
                  <a:pt x="0" y="1"/>
                </a:lnTo>
              </a:path>
            </a:pathLst>
          </a:custGeom>
          <a:solidFill>
            <a:srgbClr val="FF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000"/>
          </a:p>
        </p:txBody>
      </p:sp>
      <p:grpSp>
        <p:nvGrpSpPr>
          <p:cNvPr id="110" name="Group 25"/>
          <p:cNvGrpSpPr>
            <a:grpSpLocks/>
          </p:cNvGrpSpPr>
          <p:nvPr/>
        </p:nvGrpSpPr>
        <p:grpSpPr bwMode="auto">
          <a:xfrm>
            <a:off x="3530601" y="4191003"/>
            <a:ext cx="1296988" cy="628651"/>
            <a:chOff x="2224" y="2640"/>
            <a:chExt cx="817" cy="396"/>
          </a:xfrm>
        </p:grpSpPr>
        <p:sp>
          <p:nvSpPr>
            <p:cNvPr id="111" name="Rectangle 26"/>
            <p:cNvSpPr>
              <a:spLocks noChangeArrowheads="1"/>
            </p:cNvSpPr>
            <p:nvPr/>
          </p:nvSpPr>
          <p:spPr bwMode="auto">
            <a:xfrm>
              <a:off x="2224" y="2671"/>
              <a:ext cx="700" cy="3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12" name="Text Box 27"/>
            <p:cNvSpPr txBox="1">
              <a:spLocks noChangeArrowheads="1"/>
            </p:cNvSpPr>
            <p:nvPr/>
          </p:nvSpPr>
          <p:spPr bwMode="auto">
            <a:xfrm>
              <a:off x="2232" y="2640"/>
              <a:ext cx="80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dirty="0">
                  <a:latin typeface="Times New Roman" pitchFamily="18" charset="0"/>
                </a:rPr>
                <a:t> 2K </a:t>
              </a:r>
              <a:r>
                <a:rPr kumimoji="1" lang="en-US" altLang="zh-CN" sz="2000" dirty="0">
                  <a:latin typeface="宋体" charset="-122"/>
                </a:rPr>
                <a:t>×</a:t>
              </a:r>
              <a:r>
                <a:rPr kumimoji="1" lang="en-US" altLang="zh-CN" sz="2000" dirty="0">
                  <a:latin typeface="Times New Roman" pitchFamily="18" charset="0"/>
                </a:rPr>
                <a:t>8</a:t>
              </a:r>
              <a:r>
                <a:rPr kumimoji="1" lang="zh-CN" altLang="en-US" sz="2000" dirty="0">
                  <a:latin typeface="Times New Roman" pitchFamily="18" charset="0"/>
                </a:rPr>
                <a:t>位</a:t>
              </a:r>
            </a:p>
          </p:txBody>
        </p:sp>
        <p:sp>
          <p:nvSpPr>
            <p:cNvPr id="113" name="Text Box 28"/>
            <p:cNvSpPr txBox="1">
              <a:spLocks noChangeArrowheads="1"/>
            </p:cNvSpPr>
            <p:nvPr/>
          </p:nvSpPr>
          <p:spPr bwMode="auto">
            <a:xfrm>
              <a:off x="2304" y="2784"/>
              <a:ext cx="55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dirty="0">
                  <a:latin typeface="Times New Roman" pitchFamily="18" charset="0"/>
                </a:rPr>
                <a:t> ROM</a:t>
              </a:r>
            </a:p>
          </p:txBody>
        </p:sp>
      </p:grpSp>
      <p:sp>
        <p:nvSpPr>
          <p:cNvPr id="114" name="Line 29"/>
          <p:cNvSpPr>
            <a:spLocks noChangeShapeType="1"/>
          </p:cNvSpPr>
          <p:nvPr/>
        </p:nvSpPr>
        <p:spPr bwMode="auto">
          <a:xfrm>
            <a:off x="6645275" y="4343400"/>
            <a:ext cx="852488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grpSp>
        <p:nvGrpSpPr>
          <p:cNvPr id="115" name="Group 30"/>
          <p:cNvGrpSpPr>
            <a:grpSpLocks/>
          </p:cNvGrpSpPr>
          <p:nvPr/>
        </p:nvGrpSpPr>
        <p:grpSpPr bwMode="auto">
          <a:xfrm>
            <a:off x="2209800" y="4527550"/>
            <a:ext cx="5287963" cy="1649413"/>
            <a:chOff x="1392" y="2852"/>
            <a:chExt cx="3331" cy="1039"/>
          </a:xfrm>
        </p:grpSpPr>
        <p:sp>
          <p:nvSpPr>
            <p:cNvPr id="116" name="Line 31"/>
            <p:cNvSpPr>
              <a:spLocks noChangeShapeType="1"/>
            </p:cNvSpPr>
            <p:nvPr/>
          </p:nvSpPr>
          <p:spPr bwMode="auto">
            <a:xfrm flipH="1">
              <a:off x="3137" y="2852"/>
              <a:ext cx="35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32"/>
            <p:cNvSpPr>
              <a:spLocks noChangeShapeType="1"/>
            </p:cNvSpPr>
            <p:nvPr/>
          </p:nvSpPr>
          <p:spPr bwMode="auto">
            <a:xfrm rot="10800000">
              <a:off x="3137" y="2852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33"/>
            <p:cNvSpPr>
              <a:spLocks noChangeShapeType="1"/>
            </p:cNvSpPr>
            <p:nvPr/>
          </p:nvSpPr>
          <p:spPr bwMode="auto">
            <a:xfrm>
              <a:off x="4373" y="2852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Freeform 34"/>
            <p:cNvSpPr>
              <a:spLocks/>
            </p:cNvSpPr>
            <p:nvPr/>
          </p:nvSpPr>
          <p:spPr bwMode="auto">
            <a:xfrm>
              <a:off x="1392" y="3885"/>
              <a:ext cx="2994" cy="6"/>
            </a:xfrm>
            <a:custGeom>
              <a:avLst/>
              <a:gdLst>
                <a:gd name="T0" fmla="*/ 0 w 2994"/>
                <a:gd name="T1" fmla="*/ 6 h 6"/>
                <a:gd name="T2" fmla="*/ 2994 w 2994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994" h="6">
                  <a:moveTo>
                    <a:pt x="0" y="6"/>
                  </a:moveTo>
                  <a:lnTo>
                    <a:pt x="2994" y="0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35"/>
            <p:cNvSpPr>
              <a:spLocks noChangeShapeType="1"/>
            </p:cNvSpPr>
            <p:nvPr/>
          </p:nvSpPr>
          <p:spPr bwMode="auto">
            <a:xfrm flipH="1">
              <a:off x="4373" y="2852"/>
              <a:ext cx="35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1" name="Group 36"/>
          <p:cNvGrpSpPr>
            <a:grpSpLocks/>
          </p:cNvGrpSpPr>
          <p:nvPr/>
        </p:nvGrpSpPr>
        <p:grpSpPr bwMode="auto">
          <a:xfrm>
            <a:off x="5518151" y="4205285"/>
            <a:ext cx="3246438" cy="647699"/>
            <a:chOff x="3476" y="2649"/>
            <a:chExt cx="2045" cy="408"/>
          </a:xfrm>
        </p:grpSpPr>
        <p:sp>
          <p:nvSpPr>
            <p:cNvPr id="122" name="Text Box 37"/>
            <p:cNvSpPr txBox="1">
              <a:spLocks noChangeArrowheads="1"/>
            </p:cNvSpPr>
            <p:nvPr/>
          </p:nvSpPr>
          <p:spPr bwMode="auto">
            <a:xfrm>
              <a:off x="3504" y="2649"/>
              <a:ext cx="80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latin typeface="Times New Roman" pitchFamily="18" charset="0"/>
                </a:rPr>
                <a:t> 1K </a:t>
              </a:r>
              <a:r>
                <a:rPr kumimoji="1" lang="en-US" altLang="zh-CN" sz="2000">
                  <a:latin typeface="宋体" charset="-122"/>
                </a:rPr>
                <a:t>×</a:t>
              </a:r>
              <a:r>
                <a:rPr kumimoji="1" lang="en-US" altLang="zh-CN" sz="2000">
                  <a:latin typeface="Times New Roman" pitchFamily="18" charset="0"/>
                </a:rPr>
                <a:t>4</a:t>
              </a:r>
              <a:r>
                <a:rPr kumimoji="1" lang="zh-CN" altLang="en-US" sz="2000">
                  <a:latin typeface="Times New Roman" pitchFamily="18" charset="0"/>
                </a:rPr>
                <a:t>位</a:t>
              </a:r>
            </a:p>
          </p:txBody>
        </p:sp>
        <p:sp>
          <p:nvSpPr>
            <p:cNvPr id="123" name="Rectangle 38"/>
            <p:cNvSpPr>
              <a:spLocks noChangeArrowheads="1"/>
            </p:cNvSpPr>
            <p:nvPr/>
          </p:nvSpPr>
          <p:spPr bwMode="auto">
            <a:xfrm>
              <a:off x="3476" y="2688"/>
              <a:ext cx="700" cy="3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24" name="Text Box 39"/>
            <p:cNvSpPr txBox="1">
              <a:spLocks noChangeArrowheads="1"/>
            </p:cNvSpPr>
            <p:nvPr/>
          </p:nvSpPr>
          <p:spPr bwMode="auto">
            <a:xfrm>
              <a:off x="3600" y="2784"/>
              <a:ext cx="54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latin typeface="Times New Roman" pitchFamily="18" charset="0"/>
                </a:rPr>
                <a:t> RAM</a:t>
              </a:r>
            </a:p>
          </p:txBody>
        </p:sp>
        <p:sp>
          <p:nvSpPr>
            <p:cNvPr id="125" name="Rectangle 40"/>
            <p:cNvSpPr>
              <a:spLocks noChangeArrowheads="1"/>
            </p:cNvSpPr>
            <p:nvPr/>
          </p:nvSpPr>
          <p:spPr bwMode="auto">
            <a:xfrm>
              <a:off x="4724" y="2697"/>
              <a:ext cx="700" cy="3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26" name="Text Box 41"/>
            <p:cNvSpPr txBox="1">
              <a:spLocks noChangeArrowheads="1"/>
            </p:cNvSpPr>
            <p:nvPr/>
          </p:nvSpPr>
          <p:spPr bwMode="auto">
            <a:xfrm>
              <a:off x="4752" y="2670"/>
              <a:ext cx="76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latin typeface="Times New Roman" pitchFamily="18" charset="0"/>
                </a:rPr>
                <a:t>1K </a:t>
              </a:r>
              <a:r>
                <a:rPr kumimoji="1" lang="en-US" altLang="zh-CN" sz="2000">
                  <a:latin typeface="宋体" charset="-122"/>
                </a:rPr>
                <a:t>×</a:t>
              </a:r>
              <a:r>
                <a:rPr kumimoji="1" lang="en-US" altLang="zh-CN" sz="2000">
                  <a:latin typeface="Times New Roman" pitchFamily="18" charset="0"/>
                </a:rPr>
                <a:t>4</a:t>
              </a:r>
              <a:r>
                <a:rPr kumimoji="1" lang="zh-CN" altLang="en-US" sz="2000">
                  <a:latin typeface="Times New Roman" pitchFamily="18" charset="0"/>
                </a:rPr>
                <a:t>位</a:t>
              </a:r>
            </a:p>
          </p:txBody>
        </p:sp>
        <p:sp>
          <p:nvSpPr>
            <p:cNvPr id="127" name="Text Box 42"/>
            <p:cNvSpPr txBox="1">
              <a:spLocks noChangeArrowheads="1"/>
            </p:cNvSpPr>
            <p:nvPr/>
          </p:nvSpPr>
          <p:spPr bwMode="auto">
            <a:xfrm>
              <a:off x="4848" y="2805"/>
              <a:ext cx="54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latin typeface="Times New Roman" pitchFamily="18" charset="0"/>
                </a:rPr>
                <a:t> RAM</a:t>
              </a:r>
            </a:p>
          </p:txBody>
        </p:sp>
      </p:grpSp>
      <p:grpSp>
        <p:nvGrpSpPr>
          <p:cNvPr id="128" name="Group 43"/>
          <p:cNvGrpSpPr>
            <a:grpSpLocks/>
          </p:cNvGrpSpPr>
          <p:nvPr/>
        </p:nvGrpSpPr>
        <p:grpSpPr bwMode="auto">
          <a:xfrm>
            <a:off x="7672388" y="3530600"/>
            <a:ext cx="711200" cy="750888"/>
            <a:chOff x="4833" y="2224"/>
            <a:chExt cx="448" cy="473"/>
          </a:xfrm>
        </p:grpSpPr>
        <p:sp>
          <p:nvSpPr>
            <p:cNvPr id="129" name="Freeform 44"/>
            <p:cNvSpPr>
              <a:spLocks/>
            </p:cNvSpPr>
            <p:nvPr/>
          </p:nvSpPr>
          <p:spPr bwMode="auto">
            <a:xfrm>
              <a:off x="4833" y="2224"/>
              <a:ext cx="1" cy="473"/>
            </a:xfrm>
            <a:custGeom>
              <a:avLst/>
              <a:gdLst>
                <a:gd name="T0" fmla="*/ 0 w 1"/>
                <a:gd name="T1" fmla="*/ 0 h 473"/>
                <a:gd name="T2" fmla="*/ 0 w 1"/>
                <a:gd name="T3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73">
                  <a:moveTo>
                    <a:pt x="0" y="0"/>
                  </a:moveTo>
                  <a:lnTo>
                    <a:pt x="0" y="473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0" name="Freeform 45"/>
            <p:cNvSpPr>
              <a:spLocks/>
            </p:cNvSpPr>
            <p:nvPr/>
          </p:nvSpPr>
          <p:spPr bwMode="auto">
            <a:xfrm>
              <a:off x="5280" y="2496"/>
              <a:ext cx="1" cy="198"/>
            </a:xfrm>
            <a:custGeom>
              <a:avLst/>
              <a:gdLst>
                <a:gd name="T0" fmla="*/ 0 w 1"/>
                <a:gd name="T1" fmla="*/ 0 h 198"/>
                <a:gd name="T2" fmla="*/ 0 w 1"/>
                <a:gd name="T3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98">
                  <a:moveTo>
                    <a:pt x="0" y="0"/>
                  </a:moveTo>
                  <a:lnTo>
                    <a:pt x="0" y="198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1" name="Text Box 46"/>
            <p:cNvSpPr txBox="1">
              <a:spLocks noChangeArrowheads="1"/>
            </p:cNvSpPr>
            <p:nvPr/>
          </p:nvSpPr>
          <p:spPr bwMode="auto">
            <a:xfrm>
              <a:off x="4876" y="2416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132" name="Group 47"/>
          <p:cNvGrpSpPr>
            <a:grpSpLocks/>
          </p:cNvGrpSpPr>
          <p:nvPr/>
        </p:nvGrpSpPr>
        <p:grpSpPr bwMode="auto">
          <a:xfrm>
            <a:off x="3657600" y="3314700"/>
            <a:ext cx="844550" cy="927100"/>
            <a:chOff x="2304" y="2088"/>
            <a:chExt cx="532" cy="584"/>
          </a:xfrm>
        </p:grpSpPr>
        <p:sp>
          <p:nvSpPr>
            <p:cNvPr id="133" name="Freeform 48"/>
            <p:cNvSpPr>
              <a:spLocks/>
            </p:cNvSpPr>
            <p:nvPr/>
          </p:nvSpPr>
          <p:spPr bwMode="auto">
            <a:xfrm>
              <a:off x="2304" y="2088"/>
              <a:ext cx="2" cy="584"/>
            </a:xfrm>
            <a:custGeom>
              <a:avLst/>
              <a:gdLst>
                <a:gd name="T0" fmla="*/ 2 w 2"/>
                <a:gd name="T1" fmla="*/ 0 h 584"/>
                <a:gd name="T2" fmla="*/ 0 w 2"/>
                <a:gd name="T3" fmla="*/ 584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584">
                  <a:moveTo>
                    <a:pt x="2" y="0"/>
                  </a:moveTo>
                  <a:lnTo>
                    <a:pt x="0" y="584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4" name="Freeform 49"/>
            <p:cNvSpPr>
              <a:spLocks/>
            </p:cNvSpPr>
            <p:nvPr/>
          </p:nvSpPr>
          <p:spPr bwMode="auto">
            <a:xfrm>
              <a:off x="2835" y="2496"/>
              <a:ext cx="1" cy="171"/>
            </a:xfrm>
            <a:custGeom>
              <a:avLst/>
              <a:gdLst>
                <a:gd name="T0" fmla="*/ 0 w 1"/>
                <a:gd name="T1" fmla="*/ 0 h 171"/>
                <a:gd name="T2" fmla="*/ 0 w 1"/>
                <a:gd name="T3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1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5" name="Text Box 50"/>
            <p:cNvSpPr txBox="1">
              <a:spLocks noChangeArrowheads="1"/>
            </p:cNvSpPr>
            <p:nvPr/>
          </p:nvSpPr>
          <p:spPr bwMode="auto">
            <a:xfrm>
              <a:off x="2400" y="2416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136" name="Group 51"/>
          <p:cNvGrpSpPr>
            <a:grpSpLocks/>
          </p:cNvGrpSpPr>
          <p:nvPr/>
        </p:nvGrpSpPr>
        <p:grpSpPr bwMode="auto">
          <a:xfrm>
            <a:off x="5689600" y="3529013"/>
            <a:ext cx="787400" cy="738187"/>
            <a:chOff x="3584" y="2223"/>
            <a:chExt cx="496" cy="465"/>
          </a:xfrm>
        </p:grpSpPr>
        <p:sp>
          <p:nvSpPr>
            <p:cNvPr id="137" name="Freeform 52"/>
            <p:cNvSpPr>
              <a:spLocks/>
            </p:cNvSpPr>
            <p:nvPr/>
          </p:nvSpPr>
          <p:spPr bwMode="auto">
            <a:xfrm>
              <a:off x="3584" y="2223"/>
              <a:ext cx="1" cy="459"/>
            </a:xfrm>
            <a:custGeom>
              <a:avLst/>
              <a:gdLst>
                <a:gd name="T0" fmla="*/ 0 w 1"/>
                <a:gd name="T1" fmla="*/ 0 h 459"/>
                <a:gd name="T2" fmla="*/ 0 w 1"/>
                <a:gd name="T3" fmla="*/ 459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59">
                  <a:moveTo>
                    <a:pt x="0" y="0"/>
                  </a:moveTo>
                  <a:lnTo>
                    <a:pt x="0" y="459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" name="Line 53"/>
            <p:cNvSpPr>
              <a:spLocks noChangeShapeType="1"/>
            </p:cNvSpPr>
            <p:nvPr/>
          </p:nvSpPr>
          <p:spPr bwMode="auto">
            <a:xfrm>
              <a:off x="4080" y="2496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9" name="Text Box 54"/>
            <p:cNvSpPr txBox="1">
              <a:spLocks noChangeArrowheads="1"/>
            </p:cNvSpPr>
            <p:nvPr/>
          </p:nvSpPr>
          <p:spPr bwMode="auto">
            <a:xfrm>
              <a:off x="3648" y="2416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140" name="Group 55"/>
          <p:cNvGrpSpPr>
            <a:grpSpLocks/>
          </p:cNvGrpSpPr>
          <p:nvPr/>
        </p:nvGrpSpPr>
        <p:grpSpPr bwMode="auto">
          <a:xfrm>
            <a:off x="6140450" y="1600200"/>
            <a:ext cx="641350" cy="762000"/>
            <a:chOff x="3868" y="1008"/>
            <a:chExt cx="472" cy="480"/>
          </a:xfrm>
        </p:grpSpPr>
        <p:sp>
          <p:nvSpPr>
            <p:cNvPr id="141" name="Text Box 56"/>
            <p:cNvSpPr txBox="1">
              <a:spLocks noChangeArrowheads="1"/>
            </p:cNvSpPr>
            <p:nvPr/>
          </p:nvSpPr>
          <p:spPr bwMode="auto">
            <a:xfrm>
              <a:off x="3936" y="1065"/>
              <a:ext cx="3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>
                  <a:latin typeface="Times New Roman" pitchFamily="18" charset="0"/>
                </a:rPr>
                <a:t>&amp;</a:t>
              </a:r>
            </a:p>
          </p:txBody>
        </p:sp>
        <p:sp>
          <p:nvSpPr>
            <p:cNvPr id="142" name="Rectangle 57"/>
            <p:cNvSpPr>
              <a:spLocks noChangeArrowheads="1"/>
            </p:cNvSpPr>
            <p:nvPr/>
          </p:nvSpPr>
          <p:spPr bwMode="auto">
            <a:xfrm>
              <a:off x="3936" y="1008"/>
              <a:ext cx="336" cy="48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Oval 58"/>
            <p:cNvSpPr>
              <a:spLocks noChangeArrowheads="1"/>
            </p:cNvSpPr>
            <p:nvPr/>
          </p:nvSpPr>
          <p:spPr bwMode="auto">
            <a:xfrm>
              <a:off x="3868" y="1178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Oval 59"/>
            <p:cNvSpPr>
              <a:spLocks noChangeArrowheads="1"/>
            </p:cNvSpPr>
            <p:nvPr/>
          </p:nvSpPr>
          <p:spPr bwMode="auto">
            <a:xfrm>
              <a:off x="3868" y="1310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Oval 60"/>
            <p:cNvSpPr>
              <a:spLocks noChangeArrowheads="1"/>
            </p:cNvSpPr>
            <p:nvPr/>
          </p:nvSpPr>
          <p:spPr bwMode="auto">
            <a:xfrm>
              <a:off x="4272" y="1200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6" name="Group 61"/>
          <p:cNvGrpSpPr>
            <a:grpSpLocks/>
          </p:cNvGrpSpPr>
          <p:nvPr/>
        </p:nvGrpSpPr>
        <p:grpSpPr bwMode="auto">
          <a:xfrm>
            <a:off x="2178050" y="4205283"/>
            <a:ext cx="1403350" cy="400049"/>
            <a:chOff x="1372" y="2649"/>
            <a:chExt cx="884" cy="252"/>
          </a:xfrm>
        </p:grpSpPr>
        <p:sp>
          <p:nvSpPr>
            <p:cNvPr id="147" name="Text Box 62"/>
            <p:cNvSpPr txBox="1">
              <a:spLocks noChangeArrowheads="1"/>
            </p:cNvSpPr>
            <p:nvPr/>
          </p:nvSpPr>
          <p:spPr bwMode="auto">
            <a:xfrm>
              <a:off x="1372" y="2649"/>
              <a:ext cx="88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dirty="0">
                  <a:latin typeface="Times New Roman" pitchFamily="18" charset="0"/>
                </a:rPr>
                <a:t>PD/</a:t>
              </a:r>
              <a:r>
                <a:rPr kumimoji="1" lang="en-US" altLang="zh-CN" sz="2000" dirty="0" err="1">
                  <a:latin typeface="Times New Roman" pitchFamily="18" charset="0"/>
                </a:rPr>
                <a:t>Progr</a:t>
              </a:r>
              <a:endParaRPr kumimoji="1" lang="en-US" altLang="zh-CN" sz="2000" dirty="0">
                <a:latin typeface="Times New Roman" pitchFamily="18" charset="0"/>
              </a:endParaRPr>
            </a:p>
          </p:txBody>
        </p:sp>
        <p:sp>
          <p:nvSpPr>
            <p:cNvPr id="148" name="Line 63"/>
            <p:cNvSpPr>
              <a:spLocks noChangeShapeType="1"/>
            </p:cNvSpPr>
            <p:nvPr/>
          </p:nvSpPr>
          <p:spPr bwMode="auto">
            <a:xfrm>
              <a:off x="1539" y="268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/>
            </a:p>
          </p:txBody>
        </p:sp>
      </p:grpSp>
      <p:grpSp>
        <p:nvGrpSpPr>
          <p:cNvPr id="149" name="Group 64"/>
          <p:cNvGrpSpPr>
            <a:grpSpLocks/>
          </p:cNvGrpSpPr>
          <p:nvPr/>
        </p:nvGrpSpPr>
        <p:grpSpPr bwMode="auto">
          <a:xfrm>
            <a:off x="4387850" y="1557338"/>
            <a:ext cx="1746250" cy="381000"/>
            <a:chOff x="2764" y="981"/>
            <a:chExt cx="1100" cy="240"/>
          </a:xfrm>
        </p:grpSpPr>
        <p:grpSp>
          <p:nvGrpSpPr>
            <p:cNvPr id="150" name="Group 65"/>
            <p:cNvGrpSpPr>
              <a:grpSpLocks/>
            </p:cNvGrpSpPr>
            <p:nvPr/>
          </p:nvGrpSpPr>
          <p:grpSpPr bwMode="auto">
            <a:xfrm>
              <a:off x="2826" y="981"/>
              <a:ext cx="1038" cy="231"/>
              <a:chOff x="2826" y="981"/>
              <a:chExt cx="1038" cy="231"/>
            </a:xfrm>
          </p:grpSpPr>
          <p:sp>
            <p:nvSpPr>
              <p:cNvPr id="152" name="Freeform 66"/>
              <p:cNvSpPr>
                <a:spLocks/>
              </p:cNvSpPr>
              <p:nvPr/>
            </p:nvSpPr>
            <p:spPr bwMode="auto">
              <a:xfrm>
                <a:off x="2826" y="1206"/>
                <a:ext cx="1038" cy="1"/>
              </a:xfrm>
              <a:custGeom>
                <a:avLst/>
                <a:gdLst>
                  <a:gd name="T0" fmla="*/ 1038 w 1038"/>
                  <a:gd name="T1" fmla="*/ 0 h 1"/>
                  <a:gd name="T2" fmla="*/ 0 w 103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38" h="1">
                    <a:moveTo>
                      <a:pt x="1038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Text Box 67"/>
              <p:cNvSpPr txBox="1">
                <a:spLocks noChangeArrowheads="1"/>
              </p:cNvSpPr>
              <p:nvPr/>
            </p:nvSpPr>
            <p:spPr bwMode="auto">
              <a:xfrm>
                <a:off x="2844" y="981"/>
                <a:ext cx="2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latin typeface="Times New Roman" pitchFamily="18" charset="0"/>
                  </a:rPr>
                  <a:t>Y</a:t>
                </a:r>
                <a:r>
                  <a:rPr kumimoji="1" lang="en-US" altLang="zh-CN" baseline="-25000">
                    <a:latin typeface="Times New Roman" pitchFamily="18" charset="0"/>
                  </a:rPr>
                  <a:t>5</a:t>
                </a:r>
              </a:p>
            </p:txBody>
          </p:sp>
          <p:sp>
            <p:nvSpPr>
              <p:cNvPr id="154" name="Line 68"/>
              <p:cNvSpPr>
                <a:spLocks noChangeShapeType="1"/>
              </p:cNvSpPr>
              <p:nvPr/>
            </p:nvSpPr>
            <p:spPr bwMode="auto">
              <a:xfrm>
                <a:off x="2876" y="1019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1" name="Oval 69"/>
            <p:cNvSpPr>
              <a:spLocks noChangeArrowheads="1"/>
            </p:cNvSpPr>
            <p:nvPr/>
          </p:nvSpPr>
          <p:spPr bwMode="auto">
            <a:xfrm>
              <a:off x="2764" y="1153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5" name="Group 70"/>
          <p:cNvGrpSpPr>
            <a:grpSpLocks/>
          </p:cNvGrpSpPr>
          <p:nvPr/>
        </p:nvGrpSpPr>
        <p:grpSpPr bwMode="auto">
          <a:xfrm>
            <a:off x="4387850" y="2178050"/>
            <a:ext cx="903288" cy="2170113"/>
            <a:chOff x="2764" y="1372"/>
            <a:chExt cx="569" cy="1367"/>
          </a:xfrm>
        </p:grpSpPr>
        <p:grpSp>
          <p:nvGrpSpPr>
            <p:cNvPr id="156" name="Group 71"/>
            <p:cNvGrpSpPr>
              <a:grpSpLocks/>
            </p:cNvGrpSpPr>
            <p:nvPr/>
          </p:nvGrpSpPr>
          <p:grpSpPr bwMode="auto">
            <a:xfrm>
              <a:off x="2814" y="1401"/>
              <a:ext cx="519" cy="1338"/>
              <a:chOff x="2814" y="1401"/>
              <a:chExt cx="519" cy="1338"/>
            </a:xfrm>
          </p:grpSpPr>
          <p:grpSp>
            <p:nvGrpSpPr>
              <p:cNvPr id="158" name="Group 72"/>
              <p:cNvGrpSpPr>
                <a:grpSpLocks/>
              </p:cNvGrpSpPr>
              <p:nvPr/>
            </p:nvGrpSpPr>
            <p:grpSpPr bwMode="auto">
              <a:xfrm>
                <a:off x="2814" y="1401"/>
                <a:ext cx="519" cy="1338"/>
                <a:chOff x="2814" y="1401"/>
                <a:chExt cx="519" cy="1338"/>
              </a:xfrm>
            </p:grpSpPr>
            <p:sp>
              <p:nvSpPr>
                <p:cNvPr id="161" name="Freeform 73"/>
                <p:cNvSpPr>
                  <a:spLocks/>
                </p:cNvSpPr>
                <p:nvPr/>
              </p:nvSpPr>
              <p:spPr bwMode="auto">
                <a:xfrm>
                  <a:off x="2814" y="1401"/>
                  <a:ext cx="519" cy="3"/>
                </a:xfrm>
                <a:custGeom>
                  <a:avLst/>
                  <a:gdLst>
                    <a:gd name="T0" fmla="*/ 0 w 519"/>
                    <a:gd name="T1" fmla="*/ 3 h 3"/>
                    <a:gd name="T2" fmla="*/ 519 w 519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19" h="3">
                      <a:moveTo>
                        <a:pt x="0" y="3"/>
                      </a:moveTo>
                      <a:lnTo>
                        <a:pt x="519" y="0"/>
                      </a:lnTo>
                    </a:path>
                  </a:pathLst>
                </a:custGeom>
                <a:solidFill>
                  <a:srgbClr val="FFFFFF"/>
                </a:solidFill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" name="Freeform 74"/>
                <p:cNvSpPr>
                  <a:spLocks/>
                </p:cNvSpPr>
                <p:nvPr/>
              </p:nvSpPr>
              <p:spPr bwMode="auto">
                <a:xfrm>
                  <a:off x="3324" y="1402"/>
                  <a:ext cx="2" cy="1337"/>
                </a:xfrm>
                <a:custGeom>
                  <a:avLst/>
                  <a:gdLst>
                    <a:gd name="T0" fmla="*/ 2 w 2"/>
                    <a:gd name="T1" fmla="*/ 0 h 1337"/>
                    <a:gd name="T2" fmla="*/ 0 w 2"/>
                    <a:gd name="T3" fmla="*/ 1337 h 1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337">
                      <a:moveTo>
                        <a:pt x="2" y="0"/>
                      </a:moveTo>
                      <a:lnTo>
                        <a:pt x="0" y="1337"/>
                      </a:lnTo>
                    </a:path>
                  </a:pathLst>
                </a:cu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9" name="Text Box 75"/>
              <p:cNvSpPr txBox="1">
                <a:spLocks noChangeArrowheads="1"/>
              </p:cNvSpPr>
              <p:nvPr/>
            </p:nvSpPr>
            <p:spPr bwMode="auto">
              <a:xfrm>
                <a:off x="2844" y="1464"/>
                <a:ext cx="2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latin typeface="Times New Roman" pitchFamily="18" charset="0"/>
                  </a:rPr>
                  <a:t>Y</a:t>
                </a:r>
                <a:r>
                  <a:rPr kumimoji="1" lang="en-US" altLang="zh-CN" baseline="-25000"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160" name="Line 76"/>
              <p:cNvSpPr>
                <a:spLocks noChangeShapeType="1"/>
              </p:cNvSpPr>
              <p:nvPr/>
            </p:nvSpPr>
            <p:spPr bwMode="auto">
              <a:xfrm>
                <a:off x="2876" y="149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7" name="Oval 77"/>
            <p:cNvSpPr>
              <a:spLocks noChangeArrowheads="1"/>
            </p:cNvSpPr>
            <p:nvPr/>
          </p:nvSpPr>
          <p:spPr bwMode="auto">
            <a:xfrm>
              <a:off x="2764" y="1372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3" name="Group 78"/>
          <p:cNvGrpSpPr>
            <a:grpSpLocks/>
          </p:cNvGrpSpPr>
          <p:nvPr/>
        </p:nvGrpSpPr>
        <p:grpSpPr bwMode="auto">
          <a:xfrm>
            <a:off x="3276600" y="1295400"/>
            <a:ext cx="1109663" cy="1890713"/>
            <a:chOff x="2064" y="816"/>
            <a:chExt cx="699" cy="1191"/>
          </a:xfrm>
        </p:grpSpPr>
        <p:sp>
          <p:nvSpPr>
            <p:cNvPr id="164" name="Rectangle 79"/>
            <p:cNvSpPr>
              <a:spLocks noChangeArrowheads="1"/>
            </p:cNvSpPr>
            <p:nvPr/>
          </p:nvSpPr>
          <p:spPr bwMode="auto">
            <a:xfrm>
              <a:off x="2144" y="816"/>
              <a:ext cx="619" cy="11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Text Box 80"/>
            <p:cNvSpPr txBox="1">
              <a:spLocks noChangeArrowheads="1"/>
            </p:cNvSpPr>
            <p:nvPr/>
          </p:nvSpPr>
          <p:spPr bwMode="auto">
            <a:xfrm>
              <a:off x="2120" y="816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G</a:t>
              </a:r>
              <a:r>
                <a:rPr kumimoji="1" lang="en-US" altLang="zh-CN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66" name="Text Box 81"/>
            <p:cNvSpPr txBox="1">
              <a:spLocks noChangeArrowheads="1"/>
            </p:cNvSpPr>
            <p:nvPr/>
          </p:nvSpPr>
          <p:spPr bwMode="auto">
            <a:xfrm>
              <a:off x="2120" y="140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67" name="Text Box 82"/>
            <p:cNvSpPr txBox="1">
              <a:spLocks noChangeArrowheads="1"/>
            </p:cNvSpPr>
            <p:nvPr/>
          </p:nvSpPr>
          <p:spPr bwMode="auto">
            <a:xfrm>
              <a:off x="2120" y="159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68" name="Text Box 83"/>
            <p:cNvSpPr txBox="1">
              <a:spLocks noChangeArrowheads="1"/>
            </p:cNvSpPr>
            <p:nvPr/>
          </p:nvSpPr>
          <p:spPr bwMode="auto">
            <a:xfrm>
              <a:off x="2120" y="1776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69" name="Oval 84"/>
            <p:cNvSpPr>
              <a:spLocks noChangeArrowheads="1"/>
            </p:cNvSpPr>
            <p:nvPr/>
          </p:nvSpPr>
          <p:spPr bwMode="auto">
            <a:xfrm>
              <a:off x="2064" y="1099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" name="Oval 85"/>
            <p:cNvSpPr>
              <a:spLocks noChangeArrowheads="1"/>
            </p:cNvSpPr>
            <p:nvPr/>
          </p:nvSpPr>
          <p:spPr bwMode="auto">
            <a:xfrm>
              <a:off x="2064" y="1296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1" name="Group 86"/>
            <p:cNvGrpSpPr>
              <a:grpSpLocks/>
            </p:cNvGrpSpPr>
            <p:nvPr/>
          </p:nvGrpSpPr>
          <p:grpSpPr bwMode="auto">
            <a:xfrm>
              <a:off x="2137" y="1205"/>
              <a:ext cx="340" cy="231"/>
              <a:chOff x="2137" y="1205"/>
              <a:chExt cx="340" cy="231"/>
            </a:xfrm>
          </p:grpSpPr>
          <p:sp>
            <p:nvSpPr>
              <p:cNvPr id="175" name="Text Box 87"/>
              <p:cNvSpPr txBox="1">
                <a:spLocks noChangeArrowheads="1"/>
              </p:cNvSpPr>
              <p:nvPr/>
            </p:nvSpPr>
            <p:spPr bwMode="auto">
              <a:xfrm>
                <a:off x="2137" y="1205"/>
                <a:ext cx="34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latin typeface="Times New Roman" pitchFamily="18" charset="0"/>
                  </a:rPr>
                  <a:t>G</a:t>
                </a:r>
                <a:r>
                  <a:rPr kumimoji="1" lang="en-US" altLang="zh-CN" baseline="-25000">
                    <a:latin typeface="Times New Roman" pitchFamily="18" charset="0"/>
                  </a:rPr>
                  <a:t>2B</a:t>
                </a:r>
              </a:p>
            </p:txBody>
          </p:sp>
          <p:sp>
            <p:nvSpPr>
              <p:cNvPr id="176" name="Freeform 88"/>
              <p:cNvSpPr>
                <a:spLocks/>
              </p:cNvSpPr>
              <p:nvPr/>
            </p:nvSpPr>
            <p:spPr bwMode="auto">
              <a:xfrm>
                <a:off x="2184" y="1255"/>
                <a:ext cx="120" cy="1"/>
              </a:xfrm>
              <a:custGeom>
                <a:avLst/>
                <a:gdLst>
                  <a:gd name="T0" fmla="*/ 0 w 207"/>
                  <a:gd name="T1" fmla="*/ 0 h 1"/>
                  <a:gd name="T2" fmla="*/ 207 w 20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7" h="1">
                    <a:moveTo>
                      <a:pt x="0" y="0"/>
                    </a:moveTo>
                    <a:lnTo>
                      <a:pt x="207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72" name="Group 89"/>
            <p:cNvGrpSpPr>
              <a:grpSpLocks/>
            </p:cNvGrpSpPr>
            <p:nvPr/>
          </p:nvGrpSpPr>
          <p:grpSpPr bwMode="auto">
            <a:xfrm>
              <a:off x="2132" y="1004"/>
              <a:ext cx="345" cy="231"/>
              <a:chOff x="2132" y="1004"/>
              <a:chExt cx="345" cy="231"/>
            </a:xfrm>
          </p:grpSpPr>
          <p:sp>
            <p:nvSpPr>
              <p:cNvPr id="173" name="Text Box 90"/>
              <p:cNvSpPr txBox="1">
                <a:spLocks noChangeArrowheads="1"/>
              </p:cNvSpPr>
              <p:nvPr/>
            </p:nvSpPr>
            <p:spPr bwMode="auto">
              <a:xfrm>
                <a:off x="2132" y="1004"/>
                <a:ext cx="34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>
                    <a:latin typeface="Times New Roman" pitchFamily="18" charset="0"/>
                  </a:rPr>
                  <a:t>G</a:t>
                </a:r>
                <a:r>
                  <a:rPr kumimoji="1" lang="en-US" altLang="zh-CN" baseline="-25000">
                    <a:latin typeface="Times New Roman" pitchFamily="18" charset="0"/>
                  </a:rPr>
                  <a:t>2A</a:t>
                </a:r>
              </a:p>
            </p:txBody>
          </p:sp>
          <p:sp>
            <p:nvSpPr>
              <p:cNvPr id="174" name="Freeform 91"/>
              <p:cNvSpPr>
                <a:spLocks/>
              </p:cNvSpPr>
              <p:nvPr/>
            </p:nvSpPr>
            <p:spPr bwMode="auto">
              <a:xfrm>
                <a:off x="2184" y="1051"/>
                <a:ext cx="120" cy="1"/>
              </a:xfrm>
              <a:custGeom>
                <a:avLst/>
                <a:gdLst>
                  <a:gd name="T0" fmla="*/ 0 w 204"/>
                  <a:gd name="T1" fmla="*/ 0 h 1"/>
                  <a:gd name="T2" fmla="*/ 204 w 20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4" h="1">
                    <a:moveTo>
                      <a:pt x="0" y="0"/>
                    </a:moveTo>
                    <a:lnTo>
                      <a:pt x="204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77" name="Group 92"/>
          <p:cNvGrpSpPr>
            <a:grpSpLocks/>
          </p:cNvGrpSpPr>
          <p:nvPr/>
        </p:nvGrpSpPr>
        <p:grpSpPr bwMode="auto">
          <a:xfrm>
            <a:off x="2209800" y="4999038"/>
            <a:ext cx="6737350" cy="919162"/>
            <a:chOff x="1392" y="3149"/>
            <a:chExt cx="4244" cy="579"/>
          </a:xfrm>
        </p:grpSpPr>
        <p:sp>
          <p:nvSpPr>
            <p:cNvPr id="178" name="Line 93"/>
            <p:cNvSpPr>
              <a:spLocks noChangeShapeType="1"/>
            </p:cNvSpPr>
            <p:nvPr/>
          </p:nvSpPr>
          <p:spPr bwMode="auto">
            <a:xfrm>
              <a:off x="1392" y="3149"/>
              <a:ext cx="287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94"/>
            <p:cNvSpPr>
              <a:spLocks noChangeShapeType="1"/>
            </p:cNvSpPr>
            <p:nvPr/>
          </p:nvSpPr>
          <p:spPr bwMode="auto">
            <a:xfrm>
              <a:off x="1392" y="3725"/>
              <a:ext cx="424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95"/>
            <p:cNvSpPr>
              <a:spLocks noChangeShapeType="1"/>
            </p:cNvSpPr>
            <p:nvPr/>
          </p:nvSpPr>
          <p:spPr bwMode="auto">
            <a:xfrm>
              <a:off x="1392" y="3363"/>
              <a:ext cx="287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96"/>
            <p:cNvSpPr>
              <a:spLocks noChangeShapeType="1"/>
            </p:cNvSpPr>
            <p:nvPr/>
          </p:nvSpPr>
          <p:spPr bwMode="auto">
            <a:xfrm>
              <a:off x="1392" y="3528"/>
              <a:ext cx="424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Text Box 97"/>
            <p:cNvSpPr txBox="1">
              <a:spLocks noChangeArrowheads="1"/>
            </p:cNvSpPr>
            <p:nvPr/>
          </p:nvSpPr>
          <p:spPr bwMode="auto">
            <a:xfrm>
              <a:off x="1516" y="3168"/>
              <a:ext cx="3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183" name="Text Box 98"/>
            <p:cNvSpPr txBox="1">
              <a:spLocks noChangeArrowheads="1"/>
            </p:cNvSpPr>
            <p:nvPr/>
          </p:nvSpPr>
          <p:spPr bwMode="auto">
            <a:xfrm>
              <a:off x="1516" y="3536"/>
              <a:ext cx="3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184" name="Group 99"/>
          <p:cNvGrpSpPr>
            <a:grpSpLocks/>
          </p:cNvGrpSpPr>
          <p:nvPr/>
        </p:nvGrpSpPr>
        <p:grpSpPr bwMode="auto">
          <a:xfrm>
            <a:off x="533400" y="1295400"/>
            <a:ext cx="1681163" cy="5257800"/>
            <a:chOff x="336" y="816"/>
            <a:chExt cx="1059" cy="3312"/>
          </a:xfrm>
        </p:grpSpPr>
        <p:sp>
          <p:nvSpPr>
            <p:cNvPr id="185" name="Rectangle 100"/>
            <p:cNvSpPr>
              <a:spLocks noChangeArrowheads="1"/>
            </p:cNvSpPr>
            <p:nvPr/>
          </p:nvSpPr>
          <p:spPr bwMode="auto">
            <a:xfrm>
              <a:off x="344" y="816"/>
              <a:ext cx="1051" cy="331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Freeform 101"/>
            <p:cNvSpPr>
              <a:spLocks/>
            </p:cNvSpPr>
            <p:nvPr/>
          </p:nvSpPr>
          <p:spPr bwMode="auto">
            <a:xfrm>
              <a:off x="368" y="1425"/>
              <a:ext cx="474" cy="1"/>
            </a:xfrm>
            <a:custGeom>
              <a:avLst/>
              <a:gdLst>
                <a:gd name="T0" fmla="*/ 0 w 474"/>
                <a:gd name="T1" fmla="*/ 0 h 1"/>
                <a:gd name="T2" fmla="*/ 474 w 47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4" h="1">
                  <a:moveTo>
                    <a:pt x="0" y="0"/>
                  </a:moveTo>
                  <a:lnTo>
                    <a:pt x="474" y="0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Text Box 102"/>
            <p:cNvSpPr txBox="1">
              <a:spLocks noChangeArrowheads="1"/>
            </p:cNvSpPr>
            <p:nvPr/>
          </p:nvSpPr>
          <p:spPr bwMode="auto">
            <a:xfrm>
              <a:off x="336" y="1392"/>
              <a:ext cx="5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MREQ</a:t>
              </a:r>
            </a:p>
          </p:txBody>
        </p:sp>
        <p:sp>
          <p:nvSpPr>
            <p:cNvPr id="188" name="Text Box 103"/>
            <p:cNvSpPr txBox="1">
              <a:spLocks noChangeArrowheads="1"/>
            </p:cNvSpPr>
            <p:nvPr/>
          </p:nvSpPr>
          <p:spPr bwMode="auto">
            <a:xfrm>
              <a:off x="1008" y="816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A</a:t>
              </a:r>
              <a:r>
                <a:rPr kumimoji="1" lang="en-US" altLang="zh-CN" baseline="-25000"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189" name="Text Box 104"/>
            <p:cNvSpPr txBox="1">
              <a:spLocks noChangeArrowheads="1"/>
            </p:cNvSpPr>
            <p:nvPr/>
          </p:nvSpPr>
          <p:spPr bwMode="auto">
            <a:xfrm>
              <a:off x="1008" y="1008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A</a:t>
              </a:r>
              <a:r>
                <a:rPr kumimoji="1" lang="en-US" altLang="zh-CN" baseline="-25000"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190" name="Text Box 105"/>
            <p:cNvSpPr txBox="1">
              <a:spLocks noChangeArrowheads="1"/>
            </p:cNvSpPr>
            <p:nvPr/>
          </p:nvSpPr>
          <p:spPr bwMode="auto">
            <a:xfrm>
              <a:off x="1008" y="1342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A</a:t>
              </a:r>
              <a:r>
                <a:rPr kumimoji="1" lang="en-US" altLang="zh-CN" baseline="-25000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191" name="Text Box 106"/>
            <p:cNvSpPr txBox="1">
              <a:spLocks noChangeArrowheads="1"/>
            </p:cNvSpPr>
            <p:nvPr/>
          </p:nvSpPr>
          <p:spPr bwMode="auto">
            <a:xfrm>
              <a:off x="1008" y="1534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A</a:t>
              </a:r>
              <a:r>
                <a:rPr kumimoji="1" lang="en-US" altLang="zh-CN" baseline="-2500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192" name="Text Box 107"/>
            <p:cNvSpPr txBox="1">
              <a:spLocks noChangeArrowheads="1"/>
            </p:cNvSpPr>
            <p:nvPr/>
          </p:nvSpPr>
          <p:spPr bwMode="auto">
            <a:xfrm>
              <a:off x="1008" y="1726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A</a:t>
              </a:r>
              <a:r>
                <a:rPr kumimoji="1" lang="en-US" altLang="zh-CN" baseline="-2500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193" name="Text Box 108"/>
            <p:cNvSpPr txBox="1">
              <a:spLocks noChangeArrowheads="1"/>
            </p:cNvSpPr>
            <p:nvPr/>
          </p:nvSpPr>
          <p:spPr bwMode="auto">
            <a:xfrm>
              <a:off x="1008" y="1918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A</a:t>
              </a:r>
              <a:r>
                <a:rPr kumimoji="1" lang="en-US" altLang="zh-CN" baseline="-25000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194" name="Text Box 109"/>
            <p:cNvSpPr txBox="1">
              <a:spLocks noChangeArrowheads="1"/>
            </p:cNvSpPr>
            <p:nvPr/>
          </p:nvSpPr>
          <p:spPr bwMode="auto">
            <a:xfrm>
              <a:off x="1008" y="2088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A</a:t>
              </a:r>
              <a:r>
                <a:rPr kumimoji="1" lang="en-US" altLang="zh-CN" baseline="-25000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195" name="Text Box 110"/>
            <p:cNvSpPr txBox="1">
              <a:spLocks noChangeArrowheads="1"/>
            </p:cNvSpPr>
            <p:nvPr/>
          </p:nvSpPr>
          <p:spPr bwMode="auto">
            <a:xfrm>
              <a:off x="1008" y="2361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A</a:t>
              </a:r>
              <a:r>
                <a:rPr kumimoji="1" lang="en-US" altLang="zh-CN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96" name="Text Box 111"/>
            <p:cNvSpPr txBox="1">
              <a:spLocks noChangeArrowheads="1"/>
            </p:cNvSpPr>
            <p:nvPr/>
          </p:nvSpPr>
          <p:spPr bwMode="auto">
            <a:xfrm>
              <a:off x="1030" y="2251"/>
              <a:ext cx="308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r>
                <a:rPr kumimoji="1" lang="en-US" altLang="zh-CN" sz="2000"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197" name="Text Box 112"/>
            <p:cNvSpPr txBox="1">
              <a:spLocks noChangeArrowheads="1"/>
            </p:cNvSpPr>
            <p:nvPr/>
          </p:nvSpPr>
          <p:spPr bwMode="auto">
            <a:xfrm>
              <a:off x="1056" y="3000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D</a:t>
              </a:r>
              <a:r>
                <a:rPr kumimoji="1" lang="en-US" altLang="zh-CN" baseline="-250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198" name="Text Box 113"/>
            <p:cNvSpPr txBox="1">
              <a:spLocks noChangeArrowheads="1"/>
            </p:cNvSpPr>
            <p:nvPr/>
          </p:nvSpPr>
          <p:spPr bwMode="auto">
            <a:xfrm>
              <a:off x="1056" y="3192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D</a:t>
              </a:r>
              <a:r>
                <a:rPr kumimoji="1" lang="en-US" altLang="zh-CN" baseline="-250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99" name="Text Box 114"/>
            <p:cNvSpPr txBox="1">
              <a:spLocks noChangeArrowheads="1"/>
            </p:cNvSpPr>
            <p:nvPr/>
          </p:nvSpPr>
          <p:spPr bwMode="auto">
            <a:xfrm>
              <a:off x="1056" y="3384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D</a:t>
              </a:r>
              <a:r>
                <a:rPr kumimoji="1" lang="en-US" altLang="zh-CN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00" name="Text Box 115"/>
            <p:cNvSpPr txBox="1">
              <a:spLocks noChangeArrowheads="1"/>
            </p:cNvSpPr>
            <p:nvPr/>
          </p:nvSpPr>
          <p:spPr bwMode="auto">
            <a:xfrm>
              <a:off x="1056" y="3576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D</a:t>
              </a:r>
              <a:r>
                <a:rPr kumimoji="1" lang="en-US" altLang="zh-CN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01" name="Text Box 116"/>
            <p:cNvSpPr txBox="1">
              <a:spLocks noChangeArrowheads="1"/>
            </p:cNvSpPr>
            <p:nvPr/>
          </p:nvSpPr>
          <p:spPr bwMode="auto">
            <a:xfrm>
              <a:off x="1008" y="3792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</a:rPr>
                <a:t>WR</a:t>
              </a:r>
            </a:p>
          </p:txBody>
        </p:sp>
        <p:sp>
          <p:nvSpPr>
            <p:cNvPr id="202" name="Freeform 117"/>
            <p:cNvSpPr>
              <a:spLocks/>
            </p:cNvSpPr>
            <p:nvPr/>
          </p:nvSpPr>
          <p:spPr bwMode="auto">
            <a:xfrm>
              <a:off x="1056" y="3834"/>
              <a:ext cx="243" cy="1"/>
            </a:xfrm>
            <a:custGeom>
              <a:avLst/>
              <a:gdLst>
                <a:gd name="T0" fmla="*/ 0 w 243"/>
                <a:gd name="T1" fmla="*/ 1 h 1"/>
                <a:gd name="T2" fmla="*/ 243 w 24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3" h="1">
                  <a:moveTo>
                    <a:pt x="0" y="1"/>
                  </a:moveTo>
                  <a:lnTo>
                    <a:pt x="243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03" name="Group 118"/>
          <p:cNvGrpSpPr>
            <a:grpSpLocks/>
          </p:cNvGrpSpPr>
          <p:nvPr/>
        </p:nvGrpSpPr>
        <p:grpSpPr bwMode="auto">
          <a:xfrm>
            <a:off x="7672388" y="4752975"/>
            <a:ext cx="711200" cy="1162050"/>
            <a:chOff x="4833" y="2994"/>
            <a:chExt cx="448" cy="732"/>
          </a:xfrm>
        </p:grpSpPr>
        <p:sp>
          <p:nvSpPr>
            <p:cNvPr id="204" name="Freeform 119"/>
            <p:cNvSpPr>
              <a:spLocks/>
            </p:cNvSpPr>
            <p:nvPr/>
          </p:nvSpPr>
          <p:spPr bwMode="auto">
            <a:xfrm>
              <a:off x="4833" y="2994"/>
              <a:ext cx="1" cy="510"/>
            </a:xfrm>
            <a:custGeom>
              <a:avLst/>
              <a:gdLst>
                <a:gd name="T0" fmla="*/ 0 w 1"/>
                <a:gd name="T1" fmla="*/ 0 h 510"/>
                <a:gd name="T2" fmla="*/ 1 w 1"/>
                <a:gd name="T3" fmla="*/ 51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10">
                  <a:moveTo>
                    <a:pt x="0" y="0"/>
                  </a:moveTo>
                  <a:lnTo>
                    <a:pt x="1" y="51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" name="Freeform 120"/>
            <p:cNvSpPr>
              <a:spLocks/>
            </p:cNvSpPr>
            <p:nvPr/>
          </p:nvSpPr>
          <p:spPr bwMode="auto">
            <a:xfrm>
              <a:off x="5280" y="3000"/>
              <a:ext cx="1" cy="726"/>
            </a:xfrm>
            <a:custGeom>
              <a:avLst/>
              <a:gdLst>
                <a:gd name="T0" fmla="*/ 0 w 1"/>
                <a:gd name="T1" fmla="*/ 0 h 726"/>
                <a:gd name="T2" fmla="*/ 0 w 1"/>
                <a:gd name="T3" fmla="*/ 726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26">
                  <a:moveTo>
                    <a:pt x="0" y="0"/>
                  </a:moveTo>
                  <a:lnTo>
                    <a:pt x="0" y="72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6" name="Text Box 121"/>
            <p:cNvSpPr txBox="1">
              <a:spLocks noChangeArrowheads="1"/>
            </p:cNvSpPr>
            <p:nvPr/>
          </p:nvSpPr>
          <p:spPr bwMode="auto">
            <a:xfrm>
              <a:off x="4876" y="3069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207" name="Group 122"/>
          <p:cNvGrpSpPr>
            <a:grpSpLocks/>
          </p:cNvGrpSpPr>
          <p:nvPr/>
        </p:nvGrpSpPr>
        <p:grpSpPr bwMode="auto">
          <a:xfrm>
            <a:off x="5689600" y="4616450"/>
            <a:ext cx="788988" cy="717550"/>
            <a:chOff x="3584" y="2908"/>
            <a:chExt cx="497" cy="452"/>
          </a:xfrm>
        </p:grpSpPr>
        <p:sp>
          <p:nvSpPr>
            <p:cNvPr id="208" name="Freeform 123"/>
            <p:cNvSpPr>
              <a:spLocks/>
            </p:cNvSpPr>
            <p:nvPr/>
          </p:nvSpPr>
          <p:spPr bwMode="auto">
            <a:xfrm>
              <a:off x="3584" y="2994"/>
              <a:ext cx="1" cy="150"/>
            </a:xfrm>
            <a:custGeom>
              <a:avLst/>
              <a:gdLst>
                <a:gd name="T0" fmla="*/ 0 w 1"/>
                <a:gd name="T1" fmla="*/ 0 h 150"/>
                <a:gd name="T2" fmla="*/ 1 w 1"/>
                <a:gd name="T3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50">
                  <a:moveTo>
                    <a:pt x="0" y="0"/>
                  </a:moveTo>
                  <a:lnTo>
                    <a:pt x="1" y="15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9" name="Freeform 124"/>
            <p:cNvSpPr>
              <a:spLocks/>
            </p:cNvSpPr>
            <p:nvPr/>
          </p:nvSpPr>
          <p:spPr bwMode="auto">
            <a:xfrm>
              <a:off x="4080" y="2994"/>
              <a:ext cx="1" cy="366"/>
            </a:xfrm>
            <a:custGeom>
              <a:avLst/>
              <a:gdLst>
                <a:gd name="T0" fmla="*/ 0 w 1"/>
                <a:gd name="T1" fmla="*/ 0 h 366"/>
                <a:gd name="T2" fmla="*/ 0 w 1"/>
                <a:gd name="T3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66">
                  <a:moveTo>
                    <a:pt x="0" y="0"/>
                  </a:moveTo>
                  <a:lnTo>
                    <a:pt x="0" y="36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0" name="Text Box 125"/>
            <p:cNvSpPr txBox="1">
              <a:spLocks noChangeArrowheads="1"/>
            </p:cNvSpPr>
            <p:nvPr/>
          </p:nvSpPr>
          <p:spPr bwMode="auto">
            <a:xfrm>
              <a:off x="3648" y="2908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211" name="Group 126"/>
          <p:cNvGrpSpPr>
            <a:grpSpLocks/>
          </p:cNvGrpSpPr>
          <p:nvPr/>
        </p:nvGrpSpPr>
        <p:grpSpPr bwMode="auto">
          <a:xfrm>
            <a:off x="3657600" y="4616450"/>
            <a:ext cx="844550" cy="1270000"/>
            <a:chOff x="2304" y="2908"/>
            <a:chExt cx="532" cy="800"/>
          </a:xfrm>
        </p:grpSpPr>
        <p:sp>
          <p:nvSpPr>
            <p:cNvPr id="212" name="Line 127"/>
            <p:cNvSpPr>
              <a:spLocks noChangeShapeType="1"/>
            </p:cNvSpPr>
            <p:nvPr/>
          </p:nvSpPr>
          <p:spPr bwMode="auto">
            <a:xfrm>
              <a:off x="2304" y="2976"/>
              <a:ext cx="0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3" name="Text Box 128"/>
            <p:cNvSpPr txBox="1">
              <a:spLocks noChangeArrowheads="1"/>
            </p:cNvSpPr>
            <p:nvPr/>
          </p:nvSpPr>
          <p:spPr bwMode="auto">
            <a:xfrm>
              <a:off x="2400" y="2908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214" name="Freeform 129"/>
            <p:cNvSpPr>
              <a:spLocks/>
            </p:cNvSpPr>
            <p:nvPr/>
          </p:nvSpPr>
          <p:spPr bwMode="auto">
            <a:xfrm>
              <a:off x="2835" y="2976"/>
              <a:ext cx="1" cy="732"/>
            </a:xfrm>
            <a:custGeom>
              <a:avLst/>
              <a:gdLst>
                <a:gd name="T0" fmla="*/ 0 w 1"/>
                <a:gd name="T1" fmla="*/ 0 h 732"/>
                <a:gd name="T2" fmla="*/ 0 w 1"/>
                <a:gd name="T3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2">
                  <a:moveTo>
                    <a:pt x="0" y="0"/>
                  </a:moveTo>
                  <a:lnTo>
                    <a:pt x="0" y="7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15" name="Group 130"/>
          <p:cNvGrpSpPr>
            <a:grpSpLocks/>
          </p:cNvGrpSpPr>
          <p:nvPr/>
        </p:nvGrpSpPr>
        <p:grpSpPr bwMode="auto">
          <a:xfrm>
            <a:off x="2209800" y="3324225"/>
            <a:ext cx="6396038" cy="627063"/>
            <a:chOff x="1392" y="2094"/>
            <a:chExt cx="4029" cy="395"/>
          </a:xfrm>
        </p:grpSpPr>
        <p:sp>
          <p:nvSpPr>
            <p:cNvPr id="216" name="Freeform 131"/>
            <p:cNvSpPr>
              <a:spLocks/>
            </p:cNvSpPr>
            <p:nvPr/>
          </p:nvSpPr>
          <p:spPr bwMode="auto">
            <a:xfrm>
              <a:off x="1392" y="2094"/>
              <a:ext cx="2265" cy="1"/>
            </a:xfrm>
            <a:custGeom>
              <a:avLst/>
              <a:gdLst>
                <a:gd name="T0" fmla="*/ 0 w 2265"/>
                <a:gd name="T1" fmla="*/ 0 h 1"/>
                <a:gd name="T2" fmla="*/ 2265 w 226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5" h="1">
                  <a:moveTo>
                    <a:pt x="0" y="0"/>
                  </a:moveTo>
                  <a:lnTo>
                    <a:pt x="2265" y="0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7" name="Group 132"/>
            <p:cNvGrpSpPr>
              <a:grpSpLocks/>
            </p:cNvGrpSpPr>
            <p:nvPr/>
          </p:nvGrpSpPr>
          <p:grpSpPr bwMode="auto">
            <a:xfrm>
              <a:off x="1392" y="2229"/>
              <a:ext cx="4029" cy="260"/>
              <a:chOff x="1392" y="2229"/>
              <a:chExt cx="4029" cy="260"/>
            </a:xfrm>
          </p:grpSpPr>
          <p:sp>
            <p:nvSpPr>
              <p:cNvPr id="218" name="Freeform 133"/>
              <p:cNvSpPr>
                <a:spLocks/>
              </p:cNvSpPr>
              <p:nvPr/>
            </p:nvSpPr>
            <p:spPr bwMode="auto">
              <a:xfrm>
                <a:off x="1395" y="2229"/>
                <a:ext cx="4026" cy="5"/>
              </a:xfrm>
              <a:custGeom>
                <a:avLst/>
                <a:gdLst>
                  <a:gd name="T0" fmla="*/ 0 w 4026"/>
                  <a:gd name="T1" fmla="*/ 0 h 5"/>
                  <a:gd name="T2" fmla="*/ 4026 w 4026"/>
                  <a:gd name="T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26" h="5">
                    <a:moveTo>
                      <a:pt x="0" y="0"/>
                    </a:moveTo>
                    <a:lnTo>
                      <a:pt x="4026" y="5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" name="Line 134"/>
              <p:cNvSpPr>
                <a:spLocks noChangeShapeType="1"/>
              </p:cNvSpPr>
              <p:nvPr/>
            </p:nvSpPr>
            <p:spPr bwMode="auto">
              <a:xfrm>
                <a:off x="1392" y="2488"/>
                <a:ext cx="4029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0" name="Text Box 135"/>
              <p:cNvSpPr txBox="1">
                <a:spLocks noChangeArrowheads="1"/>
              </p:cNvSpPr>
              <p:nvPr/>
            </p:nvSpPr>
            <p:spPr bwMode="auto">
              <a:xfrm>
                <a:off x="1516" y="2276"/>
                <a:ext cx="3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000">
                    <a:latin typeface="Times New Roman" pitchFamily="18" charset="0"/>
                  </a:rPr>
                  <a:t>…</a:t>
                </a:r>
              </a:p>
            </p:txBody>
          </p:sp>
        </p:grpSp>
      </p:grpSp>
      <p:grpSp>
        <p:nvGrpSpPr>
          <p:cNvPr id="221" name="Group 138"/>
          <p:cNvGrpSpPr>
            <a:grpSpLocks/>
          </p:cNvGrpSpPr>
          <p:nvPr/>
        </p:nvGrpSpPr>
        <p:grpSpPr bwMode="auto">
          <a:xfrm>
            <a:off x="3657600" y="4616450"/>
            <a:ext cx="854075" cy="1308100"/>
            <a:chOff x="2304" y="2908"/>
            <a:chExt cx="538" cy="824"/>
          </a:xfrm>
        </p:grpSpPr>
        <p:sp>
          <p:nvSpPr>
            <p:cNvPr id="222" name="Freeform 139"/>
            <p:cNvSpPr>
              <a:spLocks/>
            </p:cNvSpPr>
            <p:nvPr/>
          </p:nvSpPr>
          <p:spPr bwMode="auto">
            <a:xfrm>
              <a:off x="2304" y="2979"/>
              <a:ext cx="3" cy="195"/>
            </a:xfrm>
            <a:custGeom>
              <a:avLst/>
              <a:gdLst>
                <a:gd name="T0" fmla="*/ 3 w 3"/>
                <a:gd name="T1" fmla="*/ 0 h 195"/>
                <a:gd name="T2" fmla="*/ 0 w 3"/>
                <a:gd name="T3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195">
                  <a:moveTo>
                    <a:pt x="3" y="0"/>
                  </a:moveTo>
                  <a:lnTo>
                    <a:pt x="0" y="195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3" name="Text Box 140"/>
            <p:cNvSpPr txBox="1">
              <a:spLocks noChangeArrowheads="1"/>
            </p:cNvSpPr>
            <p:nvPr/>
          </p:nvSpPr>
          <p:spPr bwMode="auto">
            <a:xfrm>
              <a:off x="2400" y="2908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dirty="0">
                  <a:solidFill>
                    <a:schemeClr val="folHlink"/>
                  </a:solidFill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224" name="Freeform 141"/>
            <p:cNvSpPr>
              <a:spLocks/>
            </p:cNvSpPr>
            <p:nvPr/>
          </p:nvSpPr>
          <p:spPr bwMode="auto">
            <a:xfrm>
              <a:off x="2841" y="2979"/>
              <a:ext cx="1" cy="753"/>
            </a:xfrm>
            <a:custGeom>
              <a:avLst/>
              <a:gdLst>
                <a:gd name="T0" fmla="*/ 0 w 1"/>
                <a:gd name="T1" fmla="*/ 0 h 753"/>
                <a:gd name="T2" fmla="*/ 0 w 1"/>
                <a:gd name="T3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53">
                  <a:moveTo>
                    <a:pt x="0" y="0"/>
                  </a:moveTo>
                  <a:lnTo>
                    <a:pt x="0" y="753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none" w="med" len="med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5" name="Group 142"/>
          <p:cNvGrpSpPr>
            <a:grpSpLocks/>
          </p:cNvGrpSpPr>
          <p:nvPr/>
        </p:nvGrpSpPr>
        <p:grpSpPr bwMode="auto">
          <a:xfrm>
            <a:off x="5689600" y="4616450"/>
            <a:ext cx="782638" cy="765175"/>
            <a:chOff x="3584" y="2908"/>
            <a:chExt cx="493" cy="482"/>
          </a:xfrm>
        </p:grpSpPr>
        <p:sp>
          <p:nvSpPr>
            <p:cNvPr id="226" name="Freeform 143"/>
            <p:cNvSpPr>
              <a:spLocks/>
            </p:cNvSpPr>
            <p:nvPr/>
          </p:nvSpPr>
          <p:spPr bwMode="auto">
            <a:xfrm>
              <a:off x="3584" y="2988"/>
              <a:ext cx="1" cy="198"/>
            </a:xfrm>
            <a:custGeom>
              <a:avLst/>
              <a:gdLst>
                <a:gd name="T0" fmla="*/ 0 w 1"/>
                <a:gd name="T1" fmla="*/ 0 h 198"/>
                <a:gd name="T2" fmla="*/ 0 w 1"/>
                <a:gd name="T3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98">
                  <a:moveTo>
                    <a:pt x="0" y="0"/>
                  </a:moveTo>
                  <a:lnTo>
                    <a:pt x="0" y="198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stealth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7" name="Text Box 144"/>
            <p:cNvSpPr txBox="1">
              <a:spLocks noChangeArrowheads="1"/>
            </p:cNvSpPr>
            <p:nvPr/>
          </p:nvSpPr>
          <p:spPr bwMode="auto">
            <a:xfrm>
              <a:off x="3648" y="2908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chemeClr val="folHlink"/>
                  </a:solidFill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228" name="Freeform 145"/>
            <p:cNvSpPr>
              <a:spLocks/>
            </p:cNvSpPr>
            <p:nvPr/>
          </p:nvSpPr>
          <p:spPr bwMode="auto">
            <a:xfrm>
              <a:off x="4074" y="2991"/>
              <a:ext cx="3" cy="399"/>
            </a:xfrm>
            <a:custGeom>
              <a:avLst/>
              <a:gdLst>
                <a:gd name="T0" fmla="*/ 3 w 3"/>
                <a:gd name="T1" fmla="*/ 0 h 375"/>
                <a:gd name="T2" fmla="*/ 0 w 3"/>
                <a:gd name="T3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375">
                  <a:moveTo>
                    <a:pt x="3" y="0"/>
                  </a:moveTo>
                  <a:lnTo>
                    <a:pt x="0" y="375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stealth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9" name="Group 146"/>
          <p:cNvGrpSpPr>
            <a:grpSpLocks/>
          </p:cNvGrpSpPr>
          <p:nvPr/>
        </p:nvGrpSpPr>
        <p:grpSpPr bwMode="auto">
          <a:xfrm>
            <a:off x="7672388" y="4762500"/>
            <a:ext cx="711200" cy="1162050"/>
            <a:chOff x="4833" y="3000"/>
            <a:chExt cx="448" cy="732"/>
          </a:xfrm>
        </p:grpSpPr>
        <p:sp>
          <p:nvSpPr>
            <p:cNvPr id="230" name="Freeform 147"/>
            <p:cNvSpPr>
              <a:spLocks/>
            </p:cNvSpPr>
            <p:nvPr/>
          </p:nvSpPr>
          <p:spPr bwMode="auto">
            <a:xfrm>
              <a:off x="4833" y="3006"/>
              <a:ext cx="1" cy="519"/>
            </a:xfrm>
            <a:custGeom>
              <a:avLst/>
              <a:gdLst>
                <a:gd name="T0" fmla="*/ 0 w 1"/>
                <a:gd name="T1" fmla="*/ 0 h 519"/>
                <a:gd name="T2" fmla="*/ 0 w 1"/>
                <a:gd name="T3" fmla="*/ 519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19">
                  <a:moveTo>
                    <a:pt x="0" y="0"/>
                  </a:moveTo>
                  <a:lnTo>
                    <a:pt x="0" y="519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stealth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1" name="Text Box 148"/>
            <p:cNvSpPr txBox="1">
              <a:spLocks noChangeArrowheads="1"/>
            </p:cNvSpPr>
            <p:nvPr/>
          </p:nvSpPr>
          <p:spPr bwMode="auto">
            <a:xfrm>
              <a:off x="4876" y="3069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chemeClr val="folHlink"/>
                  </a:solidFill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232" name="Freeform 149"/>
            <p:cNvSpPr>
              <a:spLocks/>
            </p:cNvSpPr>
            <p:nvPr/>
          </p:nvSpPr>
          <p:spPr bwMode="auto">
            <a:xfrm>
              <a:off x="5280" y="3000"/>
              <a:ext cx="1" cy="732"/>
            </a:xfrm>
            <a:custGeom>
              <a:avLst/>
              <a:gdLst>
                <a:gd name="T0" fmla="*/ 0 w 1"/>
                <a:gd name="T1" fmla="*/ 0 h 732"/>
                <a:gd name="T2" fmla="*/ 0 w 1"/>
                <a:gd name="T3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2">
                  <a:moveTo>
                    <a:pt x="0" y="0"/>
                  </a:moveTo>
                  <a:lnTo>
                    <a:pt x="0" y="732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stealth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331271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54" grpId="0" animBg="1"/>
      <p:bldP spid="55" grpId="0" animBg="1"/>
      <p:bldP spid="98" grpId="0" animBg="1"/>
      <p:bldP spid="109" grpId="0" animBg="1"/>
      <p:bldP spid="1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98438" y="518231"/>
            <a:ext cx="8678862" cy="314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5】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有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根地址线，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根数据线，用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MREQ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作访存控制信号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低电平有效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WR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作读写控制信号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高电平读，低电平写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主存地址分配如下：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最小</a:t>
            </a: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8K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为系统程序区，相邻</a:t>
            </a: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16k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为用户程序区，最大</a:t>
            </a: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4k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为系统程序工作区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现有下列存储芯片：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1K×4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；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； 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； 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； 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； 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及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74LS138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译码器和各种门电路，如图所示。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画出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与存储器的连接图，注意画出</a:t>
            </a:r>
            <a:r>
              <a:rPr lang="zh-CN" altLang="en-US" dirty="0"/>
              <a:t>片选逻辑及与</a:t>
            </a:r>
            <a:r>
              <a:rPr lang="en-US" altLang="zh-CN" dirty="0"/>
              <a:t>CPU</a:t>
            </a:r>
            <a:r>
              <a:rPr lang="zh-CN" altLang="en-US" dirty="0"/>
              <a:t>的连接。</a:t>
            </a: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pic>
        <p:nvPicPr>
          <p:cNvPr id="175105" name="Picture 1" descr="C:\Users\wy\AppData\Roaming\Tencent\Users\4494101\QQ\WinTemp\RichOle\P7QOHU@~D`FPG73E{O@M4I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666785"/>
            <a:ext cx="5156200" cy="279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153295"/>
      </p:ext>
    </p:extLst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38138" y="579707"/>
            <a:ext cx="7993062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）写出对应的二进制地址，确定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总容量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33400" y="4635500"/>
            <a:ext cx="7924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(2) 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确定芯片的数量及类型</a:t>
            </a:r>
            <a:endParaRPr kumimoji="0" lang="en-US" altLang="zh-CN" dirty="0">
              <a:solidFill>
                <a:srgbClr val="CC3300"/>
              </a:solidFill>
              <a:latin typeface="黑体" pitchFamily="2" charset="-122"/>
              <a:ea typeface="黑体" pitchFamily="2" charset="-122"/>
            </a:endParaRPr>
          </a:p>
          <a:p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选择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片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，两片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一片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4K×8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RAM</a:t>
            </a:r>
            <a:endParaRPr kumimoji="0" lang="zh-CN" altLang="en-US" dirty="0">
              <a:solidFill>
                <a:srgbClr val="CC3300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5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550370"/>
            <a:ext cx="8026400" cy="288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135724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38138" y="801306"/>
            <a:ext cx="7993062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）分配地址线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56" name="Text Box 3"/>
          <p:cNvSpPr txBox="1">
            <a:spLocks noChangeArrowheads="1"/>
          </p:cNvSpPr>
          <p:nvPr/>
        </p:nvSpPr>
        <p:spPr bwMode="auto">
          <a:xfrm>
            <a:off x="762000" y="4982570"/>
            <a:ext cx="81407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600" dirty="0">
                <a:latin typeface="Times New Roman" pitchFamily="18" charset="0"/>
              </a:rPr>
              <a:t>A</a:t>
            </a:r>
            <a:r>
              <a:rPr kumimoji="1" lang="en-US" altLang="zh-CN" sz="2600" baseline="-25000" dirty="0">
                <a:latin typeface="Times New Roman" pitchFamily="18" charset="0"/>
              </a:rPr>
              <a:t>12</a:t>
            </a:r>
            <a:r>
              <a:rPr kumimoji="1" lang="en-US" altLang="zh-CN" sz="2600" dirty="0">
                <a:latin typeface="Times New Roman" pitchFamily="18" charset="0"/>
              </a:rPr>
              <a:t>~ A</a:t>
            </a:r>
            <a:r>
              <a:rPr kumimoji="1" lang="en-US" altLang="zh-CN" sz="2600" baseline="-25000" dirty="0">
                <a:latin typeface="Times New Roman" pitchFamily="18" charset="0"/>
              </a:rPr>
              <a:t>0    </a:t>
            </a:r>
            <a:r>
              <a:rPr kumimoji="1" lang="zh-CN" altLang="en-US" sz="2600" dirty="0">
                <a:latin typeface="Times New Roman" pitchFamily="18" charset="0"/>
              </a:rPr>
              <a:t>接 </a:t>
            </a:r>
            <a:r>
              <a:rPr kumimoji="1" lang="en-US" altLang="zh-CN" sz="2600" dirty="0">
                <a:latin typeface="Times New Roman" pitchFamily="18" charset="0"/>
              </a:rPr>
              <a:t>8K</a:t>
            </a:r>
            <a:r>
              <a:rPr kumimoji="1" lang="en-US" altLang="zh-CN" sz="900" dirty="0">
                <a:latin typeface="Times New Roman" pitchFamily="18" charset="0"/>
              </a:rPr>
              <a:t> </a:t>
            </a:r>
            <a:r>
              <a:rPr kumimoji="1" lang="en-US" altLang="zh-CN" sz="2600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kumimoji="1" lang="en-US" altLang="zh-CN" sz="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6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kumimoji="1" lang="zh-CN" altLang="en-US" sz="2600" dirty="0">
                <a:latin typeface="Times New Roman" pitchFamily="18" charset="0"/>
              </a:rPr>
              <a:t>位 </a:t>
            </a:r>
            <a:r>
              <a:rPr kumimoji="1" lang="en-US" altLang="zh-CN" sz="2600" dirty="0">
                <a:latin typeface="Times New Roman" pitchFamily="18" charset="0"/>
              </a:rPr>
              <a:t>ROM </a:t>
            </a:r>
            <a:r>
              <a:rPr kumimoji="1" lang="zh-CN" altLang="en-US" sz="2600" dirty="0">
                <a:latin typeface="Times New Roman" pitchFamily="18" charset="0"/>
              </a:rPr>
              <a:t>和</a:t>
            </a:r>
            <a:r>
              <a:rPr lang="en-US" altLang="zh-CN" sz="2600" dirty="0">
                <a:latin typeface="Times New Roman" pitchFamily="18" charset="0"/>
              </a:rPr>
              <a:t>8K</a:t>
            </a:r>
            <a:r>
              <a:rPr lang="en-US" altLang="zh-CN" sz="900" dirty="0">
                <a:latin typeface="Times New Roman" pitchFamily="18" charset="0"/>
              </a:rPr>
              <a:t>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zh-CN" altLang="en-US" sz="2600" dirty="0">
                <a:latin typeface="Times New Roman" pitchFamily="18" charset="0"/>
              </a:rPr>
              <a:t>位 </a:t>
            </a:r>
            <a:r>
              <a:rPr lang="en-US" altLang="zh-CN" sz="2600" dirty="0">
                <a:latin typeface="Times New Roman" pitchFamily="18" charset="0"/>
              </a:rPr>
              <a:t>RAM</a:t>
            </a:r>
            <a:r>
              <a:rPr kumimoji="1" lang="zh-CN" altLang="en-US" sz="2600" dirty="0">
                <a:latin typeface="Times New Roman" pitchFamily="18" charset="0"/>
              </a:rPr>
              <a:t>的地址线</a:t>
            </a:r>
          </a:p>
        </p:txBody>
      </p: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762000" y="5515970"/>
            <a:ext cx="610328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600" dirty="0">
                <a:latin typeface="Times New Roman" pitchFamily="18" charset="0"/>
              </a:rPr>
              <a:t>A</a:t>
            </a:r>
            <a:r>
              <a:rPr kumimoji="1" lang="en-US" altLang="zh-CN" sz="2600" baseline="-25000" dirty="0">
                <a:latin typeface="Times New Roman" pitchFamily="18" charset="0"/>
              </a:rPr>
              <a:t>11  </a:t>
            </a:r>
            <a:r>
              <a:rPr kumimoji="1" lang="en-US" altLang="zh-CN" sz="2600" dirty="0">
                <a:latin typeface="Times New Roman" pitchFamily="18" charset="0"/>
              </a:rPr>
              <a:t>~ A</a:t>
            </a:r>
            <a:r>
              <a:rPr kumimoji="1" lang="en-US" altLang="zh-CN" sz="2600" baseline="-25000" dirty="0">
                <a:latin typeface="Times New Roman" pitchFamily="18" charset="0"/>
              </a:rPr>
              <a:t>0    </a:t>
            </a:r>
            <a:r>
              <a:rPr kumimoji="1" lang="zh-CN" altLang="en-US" sz="2600" dirty="0">
                <a:latin typeface="Times New Roman" pitchFamily="18" charset="0"/>
              </a:rPr>
              <a:t>接 </a:t>
            </a:r>
            <a:r>
              <a:rPr kumimoji="1" lang="en-US" altLang="zh-CN" sz="2600" dirty="0">
                <a:latin typeface="Times New Roman" pitchFamily="18" charset="0"/>
              </a:rPr>
              <a:t>4K</a:t>
            </a:r>
            <a:r>
              <a:rPr kumimoji="1" lang="en-US" altLang="zh-CN" sz="900" dirty="0">
                <a:latin typeface="Times New Roman" pitchFamily="18" charset="0"/>
              </a:rPr>
              <a:t>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kumimoji="1" lang="zh-CN" altLang="en-US" sz="2600" dirty="0">
                <a:latin typeface="Times New Roman" pitchFamily="18" charset="0"/>
              </a:rPr>
              <a:t>位 </a:t>
            </a:r>
            <a:r>
              <a:rPr kumimoji="1" lang="en-US" altLang="zh-CN" sz="2600" dirty="0">
                <a:latin typeface="Times New Roman" pitchFamily="18" charset="0"/>
              </a:rPr>
              <a:t>RAM </a:t>
            </a:r>
            <a:r>
              <a:rPr kumimoji="1" lang="zh-CN" altLang="en-US" sz="2600" dirty="0">
                <a:latin typeface="Times New Roman" pitchFamily="18" charset="0"/>
              </a:rPr>
              <a:t>的地址线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auto">
          <a:xfrm>
            <a:off x="533400" y="6085007"/>
            <a:ext cx="39944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(4) 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确定片选信号</a:t>
            </a:r>
          </a:p>
        </p:txBody>
      </p:sp>
      <p:grpSp>
        <p:nvGrpSpPr>
          <p:cNvPr id="62" name="Group 9"/>
          <p:cNvGrpSpPr>
            <a:grpSpLocks/>
          </p:cNvGrpSpPr>
          <p:nvPr/>
        </p:nvGrpSpPr>
        <p:grpSpPr bwMode="auto">
          <a:xfrm>
            <a:off x="615794" y="4531148"/>
            <a:ext cx="1339746" cy="523514"/>
            <a:chOff x="720" y="2880"/>
            <a:chExt cx="864" cy="351"/>
          </a:xfrm>
        </p:grpSpPr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720" y="2880"/>
              <a:ext cx="336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800" dirty="0">
                  <a:solidFill>
                    <a:srgbClr val="CC3300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64" name="Text Box 11"/>
            <p:cNvSpPr txBox="1">
              <a:spLocks noChangeArrowheads="1"/>
            </p:cNvSpPr>
            <p:nvPr/>
          </p:nvSpPr>
          <p:spPr bwMode="auto">
            <a:xfrm>
              <a:off x="960" y="2880"/>
              <a:ext cx="336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800">
                  <a:solidFill>
                    <a:srgbClr val="CC3300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65" name="Text Box 12"/>
            <p:cNvSpPr txBox="1">
              <a:spLocks noChangeArrowheads="1"/>
            </p:cNvSpPr>
            <p:nvPr/>
          </p:nvSpPr>
          <p:spPr bwMode="auto">
            <a:xfrm>
              <a:off x="1248" y="2880"/>
              <a:ext cx="336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800" dirty="0">
                  <a:solidFill>
                    <a:srgbClr val="CC3300"/>
                  </a:solidFill>
                  <a:latin typeface="Times New Roman" pitchFamily="18" charset="0"/>
                </a:rPr>
                <a:t>A</a:t>
              </a:r>
            </a:p>
          </p:txBody>
        </p:sp>
      </p:grpSp>
      <p:pic>
        <p:nvPicPr>
          <p:cNvPr id="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550370"/>
            <a:ext cx="8026400" cy="288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600073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utoUpdateAnimBg="0"/>
      <p:bldP spid="57" grpId="0" autoUpdateAnimBg="0"/>
      <p:bldP spid="5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41313" y="556623"/>
            <a:ext cx="7993062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与存储器的连接图</a:t>
            </a:r>
            <a:endParaRPr lang="zh-CN" altLang="en-US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pic>
        <p:nvPicPr>
          <p:cNvPr id="23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147763"/>
            <a:ext cx="8532813" cy="569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4029859"/>
      </p:ext>
    </p:extLst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239712" y="152895"/>
            <a:ext cx="8650287" cy="266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模型机的简图如下图所示。请写出： 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）实现 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AX →DR 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所需的微操作序列； 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）实现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BX+1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→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BX 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功能所需的微操作序列；</a:t>
            </a:r>
            <a:endParaRPr lang="en-US" altLang="zh-CN" dirty="0">
              <a:solidFill>
                <a:srgbClr val="000099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(3)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按立即数寻址方式（假设立即数位于指令的第二个字中），把操作数取到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DR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所需的微操作序列 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355600" algn="l"/>
              </a:tabLst>
            </a:pPr>
            <a:r>
              <a:rPr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要求：微操作序列中每一步微操作写出其功能说明及所需的微命令。 </a:t>
            </a:r>
          </a:p>
        </p:txBody>
      </p:sp>
      <p:pic>
        <p:nvPicPr>
          <p:cNvPr id="1025" name="Picture 1" descr="C:\Users\wy\AppData\Roaming\Tencent\Users\4494101\QQ\WinTemp\RichOle\NH99H2W26LX[JDCN]_1~IB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2821318"/>
            <a:ext cx="4561268" cy="4205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411987"/>
      </p:ext>
    </p:extLst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192746"/>
      </p:ext>
    </p:extLst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C:\Users\wy\AppData\Roaming\Tencent\Users\4494101\QQ\WinTemp\RichOle\NH99H2W26LX[JDCN]_1~IB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3456"/>
            <a:ext cx="4561268" cy="4205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 descr="C:\Users\wy\AppData\Roaming\Tencent\Users\4494101\QQ\WinTemp\RichOle\D~M5~5C7C4HDB}XF})R296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048" y="3570618"/>
            <a:ext cx="5838037" cy="290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31542"/>
      </p:ext>
    </p:extLst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964228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隶书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30000"/>
          </a:lnSpc>
          <a:spcBef>
            <a:spcPct val="5000"/>
          </a:spcBef>
          <a:spcAft>
            <a:spcPct val="0"/>
          </a:spcAft>
          <a:buClr>
            <a:schemeClr val="bg1"/>
          </a:buClr>
          <a:buSzTx/>
          <a:buFont typeface="Wingdings" pitchFamily="2" charset="2"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30000"/>
          </a:lnSpc>
          <a:spcBef>
            <a:spcPct val="5000"/>
          </a:spcBef>
          <a:spcAft>
            <a:spcPct val="0"/>
          </a:spcAft>
          <a:buClr>
            <a:schemeClr val="bg1"/>
          </a:buClr>
          <a:buSzTx/>
          <a:buFont typeface="Wingdings" pitchFamily="2" charset="2"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Designs\Artsy.pot</Template>
  <TotalTime>12277</TotalTime>
  <Words>3612</Words>
  <Application>Microsoft Office PowerPoint</Application>
  <PresentationFormat>全屏显示(4:3)</PresentationFormat>
  <Paragraphs>808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黑体</vt:lpstr>
      <vt:lpstr>楷体_GB2312</vt:lpstr>
      <vt:lpstr>宋体</vt:lpstr>
      <vt:lpstr>Arial</vt:lpstr>
      <vt:lpstr>Tahoma</vt:lpstr>
      <vt:lpstr>Times New Roman</vt:lpstr>
      <vt:lpstr>Wingdings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R &amp; 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CDMA系统中的扩频序列与自适应调制</dc:title>
  <dc:creator>Junsong Xie</dc:creator>
  <cp:lastModifiedBy>Jingdong Sun</cp:lastModifiedBy>
  <cp:revision>1515</cp:revision>
  <cp:lastPrinted>1601-01-01T00:00:00Z</cp:lastPrinted>
  <dcterms:created xsi:type="dcterms:W3CDTF">2000-10-10T05:39:14Z</dcterms:created>
  <dcterms:modified xsi:type="dcterms:W3CDTF">2024-04-09T16:38:20Z</dcterms:modified>
</cp:coreProperties>
</file>