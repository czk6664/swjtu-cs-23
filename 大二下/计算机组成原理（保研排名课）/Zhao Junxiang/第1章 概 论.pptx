
<file path=[Content_Types].xml><?xml version="1.0" encoding="utf-8"?>
<Types xmlns="http://schemas.openxmlformats.org/package/2006/content-types">
  <Default Extension="bin" ContentType="application/vnd.openxmlformats-officedocument.oleObject"/>
  <Default Extension="doc" ContentType="application/msword"/>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32" r:id="rId1"/>
    <p:sldMasterId id="2147483657" r:id="rId2"/>
  </p:sldMasterIdLst>
  <p:notesMasterIdLst>
    <p:notesMasterId r:id="rId63"/>
  </p:notesMasterIdLst>
  <p:handoutMasterIdLst>
    <p:handoutMasterId r:id="rId64"/>
  </p:handoutMasterIdLst>
  <p:sldIdLst>
    <p:sldId id="448" r:id="rId3"/>
    <p:sldId id="446" r:id="rId4"/>
    <p:sldId id="343" r:id="rId5"/>
    <p:sldId id="424" r:id="rId6"/>
    <p:sldId id="312" r:id="rId7"/>
    <p:sldId id="422" r:id="rId8"/>
    <p:sldId id="426" r:id="rId9"/>
    <p:sldId id="477" r:id="rId10"/>
    <p:sldId id="390" r:id="rId11"/>
    <p:sldId id="466" r:id="rId12"/>
    <p:sldId id="449" r:id="rId13"/>
    <p:sldId id="467" r:id="rId14"/>
    <p:sldId id="399" r:id="rId15"/>
    <p:sldId id="414" r:id="rId16"/>
    <p:sldId id="450" r:id="rId17"/>
    <p:sldId id="455" r:id="rId18"/>
    <p:sldId id="456" r:id="rId19"/>
    <p:sldId id="457" r:id="rId20"/>
    <p:sldId id="473" r:id="rId21"/>
    <p:sldId id="474" r:id="rId22"/>
    <p:sldId id="475" r:id="rId23"/>
    <p:sldId id="472" r:id="rId24"/>
    <p:sldId id="458" r:id="rId25"/>
    <p:sldId id="459" r:id="rId26"/>
    <p:sldId id="460" r:id="rId27"/>
    <p:sldId id="461" r:id="rId28"/>
    <p:sldId id="462" r:id="rId29"/>
    <p:sldId id="463" r:id="rId30"/>
    <p:sldId id="468" r:id="rId31"/>
    <p:sldId id="469" r:id="rId32"/>
    <p:sldId id="430" r:id="rId33"/>
    <p:sldId id="432" r:id="rId34"/>
    <p:sldId id="480" r:id="rId35"/>
    <p:sldId id="464" r:id="rId36"/>
    <p:sldId id="434" r:id="rId37"/>
    <p:sldId id="435" r:id="rId38"/>
    <p:sldId id="436" r:id="rId39"/>
    <p:sldId id="403" r:id="rId40"/>
    <p:sldId id="412" r:id="rId41"/>
    <p:sldId id="404" r:id="rId42"/>
    <p:sldId id="478" r:id="rId43"/>
    <p:sldId id="476" r:id="rId44"/>
    <p:sldId id="479" r:id="rId45"/>
    <p:sldId id="438" r:id="rId46"/>
    <p:sldId id="465" r:id="rId47"/>
    <p:sldId id="470" r:id="rId48"/>
    <p:sldId id="440" r:id="rId49"/>
    <p:sldId id="441" r:id="rId50"/>
    <p:sldId id="471" r:id="rId51"/>
    <p:sldId id="443" r:id="rId52"/>
    <p:sldId id="444" r:id="rId53"/>
    <p:sldId id="326" r:id="rId54"/>
    <p:sldId id="338" r:id="rId55"/>
    <p:sldId id="339" r:id="rId56"/>
    <p:sldId id="340" r:id="rId57"/>
    <p:sldId id="481" r:id="rId58"/>
    <p:sldId id="482" r:id="rId59"/>
    <p:sldId id="341" r:id="rId60"/>
    <p:sldId id="483" r:id="rId61"/>
    <p:sldId id="413" r:id="rId62"/>
  </p:sldIdLst>
  <p:sldSz cx="9144000" cy="6858000" type="screen4x3"/>
  <p:notesSz cx="7099300" cy="10234613"/>
  <p:defaultTextStyle>
    <a:defPPr>
      <a:defRPr lang="en-US"/>
    </a:defPPr>
    <a:lvl1pPr algn="l" rtl="0" fontAlgn="base">
      <a:lnSpc>
        <a:spcPct val="90000"/>
      </a:lnSpc>
      <a:spcBef>
        <a:spcPct val="50000"/>
      </a:spcBef>
      <a:spcAft>
        <a:spcPct val="0"/>
      </a:spcAft>
      <a:buClr>
        <a:schemeClr val="bg1"/>
      </a:buClr>
      <a:buFont typeface="Wingdings" pitchFamily="2" charset="2"/>
      <a:defRPr kumimoji="1" sz="2400" b="1" kern="1200">
        <a:solidFill>
          <a:schemeClr val="tx2"/>
        </a:solidFill>
        <a:latin typeface="楷体_GB2312" pitchFamily="49" charset="-122"/>
        <a:ea typeface="楷体_GB2312" pitchFamily="49" charset="-122"/>
        <a:cs typeface="+mn-cs"/>
      </a:defRPr>
    </a:lvl1pPr>
    <a:lvl2pPr marL="457200" algn="l" rtl="0" fontAlgn="base">
      <a:lnSpc>
        <a:spcPct val="90000"/>
      </a:lnSpc>
      <a:spcBef>
        <a:spcPct val="50000"/>
      </a:spcBef>
      <a:spcAft>
        <a:spcPct val="0"/>
      </a:spcAft>
      <a:buClr>
        <a:schemeClr val="bg1"/>
      </a:buClr>
      <a:buFont typeface="Wingdings" pitchFamily="2" charset="2"/>
      <a:defRPr kumimoji="1" sz="2400" b="1" kern="1200">
        <a:solidFill>
          <a:schemeClr val="tx2"/>
        </a:solidFill>
        <a:latin typeface="楷体_GB2312" pitchFamily="49" charset="-122"/>
        <a:ea typeface="楷体_GB2312" pitchFamily="49" charset="-122"/>
        <a:cs typeface="+mn-cs"/>
      </a:defRPr>
    </a:lvl2pPr>
    <a:lvl3pPr marL="914400" algn="l" rtl="0" fontAlgn="base">
      <a:lnSpc>
        <a:spcPct val="90000"/>
      </a:lnSpc>
      <a:spcBef>
        <a:spcPct val="50000"/>
      </a:spcBef>
      <a:spcAft>
        <a:spcPct val="0"/>
      </a:spcAft>
      <a:buClr>
        <a:schemeClr val="bg1"/>
      </a:buClr>
      <a:buFont typeface="Wingdings" pitchFamily="2" charset="2"/>
      <a:defRPr kumimoji="1" sz="2400" b="1" kern="1200">
        <a:solidFill>
          <a:schemeClr val="tx2"/>
        </a:solidFill>
        <a:latin typeface="楷体_GB2312" pitchFamily="49" charset="-122"/>
        <a:ea typeface="楷体_GB2312" pitchFamily="49" charset="-122"/>
        <a:cs typeface="+mn-cs"/>
      </a:defRPr>
    </a:lvl3pPr>
    <a:lvl4pPr marL="1371600" algn="l" rtl="0" fontAlgn="base">
      <a:lnSpc>
        <a:spcPct val="90000"/>
      </a:lnSpc>
      <a:spcBef>
        <a:spcPct val="50000"/>
      </a:spcBef>
      <a:spcAft>
        <a:spcPct val="0"/>
      </a:spcAft>
      <a:buClr>
        <a:schemeClr val="bg1"/>
      </a:buClr>
      <a:buFont typeface="Wingdings" pitchFamily="2" charset="2"/>
      <a:defRPr kumimoji="1" sz="2400" b="1" kern="1200">
        <a:solidFill>
          <a:schemeClr val="tx2"/>
        </a:solidFill>
        <a:latin typeface="楷体_GB2312" pitchFamily="49" charset="-122"/>
        <a:ea typeface="楷体_GB2312" pitchFamily="49" charset="-122"/>
        <a:cs typeface="+mn-cs"/>
      </a:defRPr>
    </a:lvl4pPr>
    <a:lvl5pPr marL="1828800" algn="l" rtl="0" fontAlgn="base">
      <a:lnSpc>
        <a:spcPct val="90000"/>
      </a:lnSpc>
      <a:spcBef>
        <a:spcPct val="50000"/>
      </a:spcBef>
      <a:spcAft>
        <a:spcPct val="0"/>
      </a:spcAft>
      <a:buClr>
        <a:schemeClr val="bg1"/>
      </a:buClr>
      <a:buFont typeface="Wingdings" pitchFamily="2" charset="2"/>
      <a:defRPr kumimoji="1" sz="2400" b="1" kern="1200">
        <a:solidFill>
          <a:schemeClr val="tx2"/>
        </a:solidFill>
        <a:latin typeface="楷体_GB2312" pitchFamily="49" charset="-122"/>
        <a:ea typeface="楷体_GB2312" pitchFamily="49" charset="-122"/>
        <a:cs typeface="+mn-cs"/>
      </a:defRPr>
    </a:lvl5pPr>
    <a:lvl6pPr marL="2286000" algn="l" defTabSz="914400" rtl="0" eaLnBrk="1" latinLnBrk="0" hangingPunct="1">
      <a:defRPr kumimoji="1" sz="2400" b="1" kern="1200">
        <a:solidFill>
          <a:schemeClr val="tx2"/>
        </a:solidFill>
        <a:latin typeface="楷体_GB2312" pitchFamily="49" charset="-122"/>
        <a:ea typeface="楷体_GB2312" pitchFamily="49" charset="-122"/>
        <a:cs typeface="+mn-cs"/>
      </a:defRPr>
    </a:lvl6pPr>
    <a:lvl7pPr marL="2743200" algn="l" defTabSz="914400" rtl="0" eaLnBrk="1" latinLnBrk="0" hangingPunct="1">
      <a:defRPr kumimoji="1" sz="2400" b="1" kern="1200">
        <a:solidFill>
          <a:schemeClr val="tx2"/>
        </a:solidFill>
        <a:latin typeface="楷体_GB2312" pitchFamily="49" charset="-122"/>
        <a:ea typeface="楷体_GB2312" pitchFamily="49" charset="-122"/>
        <a:cs typeface="+mn-cs"/>
      </a:defRPr>
    </a:lvl7pPr>
    <a:lvl8pPr marL="3200400" algn="l" defTabSz="914400" rtl="0" eaLnBrk="1" latinLnBrk="0" hangingPunct="1">
      <a:defRPr kumimoji="1" sz="2400" b="1" kern="1200">
        <a:solidFill>
          <a:schemeClr val="tx2"/>
        </a:solidFill>
        <a:latin typeface="楷体_GB2312" pitchFamily="49" charset="-122"/>
        <a:ea typeface="楷体_GB2312" pitchFamily="49" charset="-122"/>
        <a:cs typeface="+mn-cs"/>
      </a:defRPr>
    </a:lvl8pPr>
    <a:lvl9pPr marL="3657600" algn="l" defTabSz="914400" rtl="0" eaLnBrk="1" latinLnBrk="0" hangingPunct="1">
      <a:defRPr kumimoji="1" sz="2400" b="1" kern="1200">
        <a:solidFill>
          <a:schemeClr val="tx2"/>
        </a:solidFill>
        <a:latin typeface="楷体_GB2312" pitchFamily="49" charset="-122"/>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hlink"/>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80"/>
    <a:srgbClr val="000000"/>
    <a:srgbClr val="CC3300"/>
    <a:srgbClr val="CCECFF"/>
    <a:srgbClr val="808000"/>
    <a:srgbClr val="E1E1E1"/>
    <a:srgbClr val="990000"/>
    <a:srgbClr val="0080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000" autoAdjust="0"/>
    <p:restoredTop sz="94668" autoAdjust="0"/>
  </p:normalViewPr>
  <p:slideViewPr>
    <p:cSldViewPr snapToGrid="0">
      <p:cViewPr varScale="1">
        <p:scale>
          <a:sx n="92" d="100"/>
          <a:sy n="92" d="100"/>
        </p:scale>
        <p:origin x="176" y="76"/>
      </p:cViewPr>
      <p:guideLst>
        <p:guide orient="horz" pos="2160"/>
        <p:guide pos="2880"/>
      </p:guideLst>
    </p:cSldViewPr>
  </p:slideViewPr>
  <p:outlineViewPr>
    <p:cViewPr>
      <p:scale>
        <a:sx n="33" d="100"/>
        <a:sy n="33" d="100"/>
      </p:scale>
      <p:origin x="0" y="0"/>
    </p:cViewPr>
    <p:sldLst>
      <p:sld r:id="rId1" collapse="1"/>
      <p:sld r:id="rId2" collapse="1"/>
      <p:sld r:id="rId3" collapse="1"/>
    </p:sldLst>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4" d="100"/>
          <a:sy n="54" d="100"/>
        </p:scale>
        <p:origin x="-1818" y="-84"/>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_rels/viewProps.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slide" Target="slides/slide2.xml"/><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0050"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6460" tIns="48230" rIns="96460" bIns="48230" numCol="1" anchor="t" anchorCtr="0" compatLnSpc="1">
            <a:prstTxWarp prst="textNoShape">
              <a:avLst/>
            </a:prstTxWarp>
          </a:bodyPr>
          <a:lstStyle>
            <a:lvl1pPr algn="l">
              <a:lnSpc>
                <a:spcPct val="100000"/>
              </a:lnSpc>
              <a:spcBef>
                <a:spcPct val="0"/>
              </a:spcBef>
              <a:buClrTx/>
              <a:buFontTx/>
              <a:buNone/>
              <a:defRPr sz="1300" b="0">
                <a:solidFill>
                  <a:schemeClr val="tx1"/>
                </a:solidFill>
                <a:latin typeface="Arial" charset="0"/>
                <a:ea typeface="宋体" pitchFamily="2" charset="-122"/>
              </a:defRPr>
            </a:lvl1pPr>
          </a:lstStyle>
          <a:p>
            <a:pPr>
              <a:defRPr/>
            </a:pPr>
            <a:endParaRPr lang="zh-CN" altLang="en-US"/>
          </a:p>
        </p:txBody>
      </p:sp>
      <p:sp>
        <p:nvSpPr>
          <p:cNvPr id="130051"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6460" tIns="48230" rIns="96460" bIns="48230" numCol="1" anchor="t" anchorCtr="0" compatLnSpc="1">
            <a:prstTxWarp prst="textNoShape">
              <a:avLst/>
            </a:prstTxWarp>
          </a:bodyPr>
          <a:lstStyle>
            <a:lvl1pPr algn="r">
              <a:lnSpc>
                <a:spcPct val="100000"/>
              </a:lnSpc>
              <a:spcBef>
                <a:spcPct val="0"/>
              </a:spcBef>
              <a:buClrTx/>
              <a:buFontTx/>
              <a:buNone/>
              <a:defRPr sz="1300" b="0">
                <a:solidFill>
                  <a:schemeClr val="tx1"/>
                </a:solidFill>
                <a:latin typeface="Arial" charset="0"/>
                <a:ea typeface="宋体" pitchFamily="2" charset="-122"/>
              </a:defRPr>
            </a:lvl1pPr>
          </a:lstStyle>
          <a:p>
            <a:pPr>
              <a:defRPr/>
            </a:pPr>
            <a:endParaRPr lang="en-US" altLang="zh-CN" dirty="0"/>
          </a:p>
        </p:txBody>
      </p:sp>
      <p:sp>
        <p:nvSpPr>
          <p:cNvPr id="130052"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6460" tIns="48230" rIns="96460" bIns="48230" numCol="1" anchor="b" anchorCtr="0" compatLnSpc="1">
            <a:prstTxWarp prst="textNoShape">
              <a:avLst/>
            </a:prstTxWarp>
          </a:bodyPr>
          <a:lstStyle>
            <a:lvl1pPr algn="l">
              <a:lnSpc>
                <a:spcPct val="100000"/>
              </a:lnSpc>
              <a:spcBef>
                <a:spcPct val="0"/>
              </a:spcBef>
              <a:buClrTx/>
              <a:buFontTx/>
              <a:buNone/>
              <a:defRPr sz="1300" b="0">
                <a:solidFill>
                  <a:schemeClr val="tx1"/>
                </a:solidFill>
                <a:latin typeface="Arial" charset="0"/>
                <a:ea typeface="宋体" pitchFamily="2" charset="-122"/>
              </a:defRPr>
            </a:lvl1pPr>
          </a:lstStyle>
          <a:p>
            <a:pPr>
              <a:defRPr/>
            </a:pPr>
            <a:endParaRPr lang="en-US" altLang="zh-CN" dirty="0"/>
          </a:p>
        </p:txBody>
      </p:sp>
      <p:sp>
        <p:nvSpPr>
          <p:cNvPr id="130053"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6460" tIns="48230" rIns="96460" bIns="48230" numCol="1" anchor="b" anchorCtr="0" compatLnSpc="1">
            <a:prstTxWarp prst="textNoShape">
              <a:avLst/>
            </a:prstTxWarp>
          </a:bodyPr>
          <a:lstStyle>
            <a:lvl1pPr algn="r">
              <a:lnSpc>
                <a:spcPct val="100000"/>
              </a:lnSpc>
              <a:spcBef>
                <a:spcPct val="0"/>
              </a:spcBef>
              <a:buClrTx/>
              <a:buFontTx/>
              <a:buNone/>
              <a:defRPr sz="1300" b="0">
                <a:solidFill>
                  <a:schemeClr val="tx1"/>
                </a:solidFill>
                <a:latin typeface="Arial" charset="0"/>
                <a:ea typeface="宋体" pitchFamily="2" charset="-122"/>
              </a:defRPr>
            </a:lvl1pPr>
          </a:lstStyle>
          <a:p>
            <a:pPr>
              <a:defRPr/>
            </a:pPr>
            <a:fld id="{10A6D53F-31DC-4312-9A4F-8BC893DF0D43}" type="slidenum">
              <a:rPr lang="zh-CN" altLang="en-US"/>
              <a:pPr>
                <a:defRPr/>
              </a:pPr>
              <a:t>‹#›</a:t>
            </a:fld>
            <a:endParaRPr lang="en-US" altLang="zh-CN" dirty="0"/>
          </a:p>
        </p:txBody>
      </p:sp>
    </p:spTree>
    <p:extLst>
      <p:ext uri="{BB962C8B-B14F-4D97-AF65-F5344CB8AC3E}">
        <p14:creationId xmlns:p14="http://schemas.microsoft.com/office/powerpoint/2010/main" val="4311179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8306"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6460" tIns="48230" rIns="96460" bIns="48230" numCol="1" anchor="t" anchorCtr="0" compatLnSpc="1">
            <a:prstTxWarp prst="textNoShape">
              <a:avLst/>
            </a:prstTxWarp>
          </a:bodyPr>
          <a:lstStyle>
            <a:lvl1pPr algn="l">
              <a:lnSpc>
                <a:spcPct val="100000"/>
              </a:lnSpc>
              <a:spcBef>
                <a:spcPct val="0"/>
              </a:spcBef>
              <a:buClrTx/>
              <a:buFontTx/>
              <a:buNone/>
              <a:defRPr sz="1300" b="0">
                <a:solidFill>
                  <a:schemeClr val="tx1"/>
                </a:solidFill>
                <a:latin typeface="Tahoma" pitchFamily="34" charset="0"/>
                <a:ea typeface="宋体" pitchFamily="2" charset="-122"/>
              </a:defRPr>
            </a:lvl1pPr>
          </a:lstStyle>
          <a:p>
            <a:pPr>
              <a:defRPr/>
            </a:pPr>
            <a:endParaRPr lang="zh-CN" altLang="en-US"/>
          </a:p>
        </p:txBody>
      </p:sp>
      <p:sp>
        <p:nvSpPr>
          <p:cNvPr id="98307" name="Rectangle 3"/>
          <p:cNvSpPr>
            <a:spLocks noGrp="1" noChangeArrowheads="1"/>
          </p:cNvSpPr>
          <p:nvPr>
            <p:ph type="dt" idx="1"/>
          </p:nvPr>
        </p:nvSpPr>
        <p:spPr bwMode="auto">
          <a:xfrm>
            <a:off x="4022725" y="0"/>
            <a:ext cx="3076575" cy="511175"/>
          </a:xfrm>
          <a:prstGeom prst="rect">
            <a:avLst/>
          </a:prstGeom>
          <a:noFill/>
          <a:ln w="9525">
            <a:noFill/>
            <a:miter lim="800000"/>
            <a:headEnd/>
            <a:tailEnd/>
          </a:ln>
          <a:effectLst/>
        </p:spPr>
        <p:txBody>
          <a:bodyPr vert="horz" wrap="square" lIns="96460" tIns="48230" rIns="96460" bIns="48230" numCol="1" anchor="t" anchorCtr="0" compatLnSpc="1">
            <a:prstTxWarp prst="textNoShape">
              <a:avLst/>
            </a:prstTxWarp>
          </a:bodyPr>
          <a:lstStyle>
            <a:lvl1pPr algn="r">
              <a:lnSpc>
                <a:spcPct val="100000"/>
              </a:lnSpc>
              <a:spcBef>
                <a:spcPct val="0"/>
              </a:spcBef>
              <a:buClrTx/>
              <a:buFontTx/>
              <a:buNone/>
              <a:defRPr sz="1300" b="0">
                <a:solidFill>
                  <a:schemeClr val="tx1"/>
                </a:solidFill>
                <a:latin typeface="Tahoma" pitchFamily="34" charset="0"/>
                <a:ea typeface="宋体" pitchFamily="2" charset="-122"/>
              </a:defRPr>
            </a:lvl1pPr>
          </a:lstStyle>
          <a:p>
            <a:pPr>
              <a:defRPr/>
            </a:pPr>
            <a:endParaRPr lang="en-US" altLang="zh-CN" dirty="0"/>
          </a:p>
        </p:txBody>
      </p:sp>
      <p:sp>
        <p:nvSpPr>
          <p:cNvPr id="53252" name="Rectangle 4"/>
          <p:cNvSpPr>
            <a:spLocks noGrp="1" noRot="1" noChangeAspect="1" noChangeArrowheads="1" noTextEdit="1"/>
          </p:cNvSpPr>
          <p:nvPr>
            <p:ph type="sldImg" idx="2"/>
          </p:nvPr>
        </p:nvSpPr>
        <p:spPr bwMode="auto">
          <a:xfrm>
            <a:off x="990600" y="766763"/>
            <a:ext cx="5119688" cy="38385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9" name="Rectangle 5"/>
          <p:cNvSpPr>
            <a:spLocks noGrp="1" noChangeArrowheads="1"/>
          </p:cNvSpPr>
          <p:nvPr>
            <p:ph type="body" sz="quarter" idx="3"/>
          </p:nvPr>
        </p:nvSpPr>
        <p:spPr bwMode="auto">
          <a:xfrm>
            <a:off x="946150" y="4860925"/>
            <a:ext cx="5207000" cy="4606925"/>
          </a:xfrm>
          <a:prstGeom prst="rect">
            <a:avLst/>
          </a:prstGeom>
          <a:noFill/>
          <a:ln w="9525">
            <a:noFill/>
            <a:miter lim="800000"/>
            <a:headEnd/>
            <a:tailEnd/>
          </a:ln>
          <a:effectLst/>
        </p:spPr>
        <p:txBody>
          <a:bodyPr vert="horz" wrap="square" lIns="96460" tIns="48230" rIns="96460" bIns="4823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98310" name="Rectangle 6"/>
          <p:cNvSpPr>
            <a:spLocks noGrp="1" noChangeArrowheads="1"/>
          </p:cNvSpPr>
          <p:nvPr>
            <p:ph type="ftr" sz="quarter" idx="4"/>
          </p:nvPr>
        </p:nvSpPr>
        <p:spPr bwMode="auto">
          <a:xfrm>
            <a:off x="0" y="9723438"/>
            <a:ext cx="3076575" cy="511175"/>
          </a:xfrm>
          <a:prstGeom prst="rect">
            <a:avLst/>
          </a:prstGeom>
          <a:noFill/>
          <a:ln w="9525">
            <a:noFill/>
            <a:miter lim="800000"/>
            <a:headEnd/>
            <a:tailEnd/>
          </a:ln>
          <a:effectLst/>
        </p:spPr>
        <p:txBody>
          <a:bodyPr vert="horz" wrap="square" lIns="96460" tIns="48230" rIns="96460" bIns="48230" numCol="1" anchor="b" anchorCtr="0" compatLnSpc="1">
            <a:prstTxWarp prst="textNoShape">
              <a:avLst/>
            </a:prstTxWarp>
          </a:bodyPr>
          <a:lstStyle>
            <a:lvl1pPr algn="l">
              <a:lnSpc>
                <a:spcPct val="100000"/>
              </a:lnSpc>
              <a:spcBef>
                <a:spcPct val="0"/>
              </a:spcBef>
              <a:buClrTx/>
              <a:buFontTx/>
              <a:buNone/>
              <a:defRPr sz="1300" b="0">
                <a:solidFill>
                  <a:schemeClr val="tx1"/>
                </a:solidFill>
                <a:latin typeface="Tahoma" pitchFamily="34" charset="0"/>
                <a:ea typeface="宋体" pitchFamily="2" charset="-122"/>
              </a:defRPr>
            </a:lvl1pPr>
          </a:lstStyle>
          <a:p>
            <a:pPr>
              <a:defRPr/>
            </a:pPr>
            <a:endParaRPr lang="en-US" altLang="zh-CN" dirty="0"/>
          </a:p>
        </p:txBody>
      </p:sp>
      <p:sp>
        <p:nvSpPr>
          <p:cNvPr id="98311" name="Rectangle 7"/>
          <p:cNvSpPr>
            <a:spLocks noGrp="1" noChangeArrowheads="1"/>
          </p:cNvSpPr>
          <p:nvPr>
            <p:ph type="sldNum" sz="quarter" idx="5"/>
          </p:nvPr>
        </p:nvSpPr>
        <p:spPr bwMode="auto">
          <a:xfrm>
            <a:off x="4022725" y="9723438"/>
            <a:ext cx="3076575" cy="511175"/>
          </a:xfrm>
          <a:prstGeom prst="rect">
            <a:avLst/>
          </a:prstGeom>
          <a:noFill/>
          <a:ln w="9525">
            <a:noFill/>
            <a:miter lim="800000"/>
            <a:headEnd/>
            <a:tailEnd/>
          </a:ln>
          <a:effectLst/>
        </p:spPr>
        <p:txBody>
          <a:bodyPr vert="horz" wrap="square" lIns="96460" tIns="48230" rIns="96460" bIns="48230" numCol="1" anchor="b" anchorCtr="0" compatLnSpc="1">
            <a:prstTxWarp prst="textNoShape">
              <a:avLst/>
            </a:prstTxWarp>
          </a:bodyPr>
          <a:lstStyle>
            <a:lvl1pPr algn="r">
              <a:lnSpc>
                <a:spcPct val="100000"/>
              </a:lnSpc>
              <a:spcBef>
                <a:spcPct val="0"/>
              </a:spcBef>
              <a:buClrTx/>
              <a:buFontTx/>
              <a:buNone/>
              <a:defRPr sz="1300" b="0">
                <a:solidFill>
                  <a:schemeClr val="tx1"/>
                </a:solidFill>
                <a:latin typeface="Tahoma" pitchFamily="34" charset="0"/>
                <a:ea typeface="宋体" pitchFamily="2" charset="-122"/>
              </a:defRPr>
            </a:lvl1pPr>
          </a:lstStyle>
          <a:p>
            <a:pPr>
              <a:defRPr/>
            </a:pPr>
            <a:fld id="{17B501E3-0952-4265-945A-73472007131A}" type="slidenum">
              <a:rPr lang="zh-CN" altLang="en-US"/>
              <a:pPr>
                <a:defRPr/>
              </a:pPr>
              <a:t>‹#›</a:t>
            </a:fld>
            <a:endParaRPr lang="en-US" altLang="zh-CN" dirty="0"/>
          </a:p>
        </p:txBody>
      </p:sp>
    </p:spTree>
    <p:extLst>
      <p:ext uri="{BB962C8B-B14F-4D97-AF65-F5344CB8AC3E}">
        <p14:creationId xmlns:p14="http://schemas.microsoft.com/office/powerpoint/2010/main" val="229596994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3912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A5358E-AFB2-480F-81DD-84690F6E569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3AC33DE-EB3B-4DA7-9666-1555ACDF14C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6693804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3" name="Group 19"/>
          <p:cNvGrpSpPr>
            <a:grpSpLocks/>
          </p:cNvGrpSpPr>
          <p:nvPr userDrawn="1"/>
        </p:nvGrpSpPr>
        <p:grpSpPr bwMode="auto">
          <a:xfrm>
            <a:off x="457200" y="838200"/>
            <a:ext cx="7781925" cy="1052513"/>
            <a:chOff x="288" y="528"/>
            <a:chExt cx="4902" cy="663"/>
          </a:xfrm>
        </p:grpSpPr>
        <p:sp>
          <p:nvSpPr>
            <p:cNvPr id="4" name="Rectangle 4"/>
            <p:cNvSpPr>
              <a:spLocks noChangeArrowheads="1"/>
            </p:cNvSpPr>
            <p:nvPr userDrawn="1"/>
          </p:nvSpPr>
          <p:spPr bwMode="auto">
            <a:xfrm>
              <a:off x="457" y="596"/>
              <a:ext cx="256" cy="2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20000"/>
                </a:spcBef>
              </a:pPr>
              <a:endParaRPr lang="zh-CN" altLang="en-US" sz="2600">
                <a:latin typeface="Tahoma" pitchFamily="34" charset="0"/>
                <a:ea typeface="宋体" pitchFamily="2" charset="-122"/>
              </a:endParaRPr>
            </a:p>
          </p:txBody>
        </p:sp>
        <p:sp>
          <p:nvSpPr>
            <p:cNvPr id="5" name="Rectangle 5"/>
            <p:cNvSpPr>
              <a:spLocks noChangeArrowheads="1"/>
            </p:cNvSpPr>
            <p:nvPr userDrawn="1"/>
          </p:nvSpPr>
          <p:spPr bwMode="auto">
            <a:xfrm>
              <a:off x="681" y="596"/>
              <a:ext cx="191" cy="299"/>
            </a:xfrm>
            <a:prstGeom prst="rect">
              <a:avLst/>
            </a:prstGeom>
            <a:gradFill rotWithShape="0">
              <a:gsLst>
                <a:gs pos="0">
                  <a:schemeClr val="folHlink"/>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20000"/>
                </a:spcBef>
              </a:pPr>
              <a:endParaRPr lang="zh-CN" altLang="en-US" sz="2600">
                <a:latin typeface="Tahoma" pitchFamily="34" charset="0"/>
                <a:ea typeface="宋体" pitchFamily="2" charset="-122"/>
              </a:endParaRPr>
            </a:p>
          </p:txBody>
        </p:sp>
        <p:sp>
          <p:nvSpPr>
            <p:cNvPr id="6" name="Rectangle 7"/>
            <p:cNvSpPr>
              <a:spLocks noChangeArrowheads="1"/>
            </p:cNvSpPr>
            <p:nvPr userDrawn="1"/>
          </p:nvSpPr>
          <p:spPr bwMode="auto">
            <a:xfrm>
              <a:off x="530" y="862"/>
              <a:ext cx="246" cy="2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20000"/>
                </a:spcBef>
              </a:pPr>
              <a:endParaRPr lang="zh-CN" altLang="en-US" sz="2600">
                <a:latin typeface="Tahoma" pitchFamily="34" charset="0"/>
                <a:ea typeface="宋体" pitchFamily="2" charset="-122"/>
              </a:endParaRPr>
            </a:p>
          </p:txBody>
        </p:sp>
        <p:sp>
          <p:nvSpPr>
            <p:cNvPr id="7" name="Rectangle 8"/>
            <p:cNvSpPr>
              <a:spLocks noChangeArrowheads="1"/>
            </p:cNvSpPr>
            <p:nvPr userDrawn="1"/>
          </p:nvSpPr>
          <p:spPr bwMode="auto">
            <a:xfrm>
              <a:off x="746" y="862"/>
              <a:ext cx="215" cy="299"/>
            </a:xfrm>
            <a:prstGeom prst="rect">
              <a:avLst/>
            </a:prstGeom>
            <a:gradFill rotWithShape="0">
              <a:gsLst>
                <a:gs pos="0">
                  <a:schemeClr val="accent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20000"/>
                </a:spcBef>
              </a:pPr>
              <a:endParaRPr lang="zh-CN" altLang="en-US" sz="2600">
                <a:latin typeface="Tahoma" pitchFamily="34" charset="0"/>
                <a:ea typeface="宋体" pitchFamily="2" charset="-122"/>
              </a:endParaRPr>
            </a:p>
          </p:txBody>
        </p:sp>
        <p:sp>
          <p:nvSpPr>
            <p:cNvPr id="8" name="Rectangle 9"/>
            <p:cNvSpPr>
              <a:spLocks noChangeArrowheads="1"/>
            </p:cNvSpPr>
            <p:nvPr userDrawn="1"/>
          </p:nvSpPr>
          <p:spPr bwMode="auto">
            <a:xfrm>
              <a:off x="288" y="816"/>
              <a:ext cx="327" cy="266"/>
            </a:xfrm>
            <a:prstGeom prst="rect">
              <a:avLst/>
            </a:pr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20000"/>
                </a:spcBef>
              </a:pPr>
              <a:endParaRPr lang="zh-CN" altLang="en-US" sz="2600">
                <a:latin typeface="Tahoma" pitchFamily="34" charset="0"/>
                <a:ea typeface="宋体" pitchFamily="2" charset="-122"/>
              </a:endParaRPr>
            </a:p>
          </p:txBody>
        </p:sp>
        <p:sp>
          <p:nvSpPr>
            <p:cNvPr id="9" name="Rectangle 10"/>
            <p:cNvSpPr>
              <a:spLocks noChangeArrowheads="1"/>
            </p:cNvSpPr>
            <p:nvPr userDrawn="1"/>
          </p:nvSpPr>
          <p:spPr bwMode="auto">
            <a:xfrm>
              <a:off x="659" y="528"/>
              <a:ext cx="18" cy="66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20000"/>
                </a:spcBef>
              </a:pPr>
              <a:endParaRPr lang="zh-CN" altLang="en-US" sz="2600">
                <a:latin typeface="Tahoma" pitchFamily="34" charset="0"/>
                <a:ea typeface="宋体" pitchFamily="2" charset="-122"/>
              </a:endParaRPr>
            </a:p>
          </p:txBody>
        </p:sp>
        <p:sp>
          <p:nvSpPr>
            <p:cNvPr id="10" name="Rectangle 11"/>
            <p:cNvSpPr>
              <a:spLocks noChangeArrowheads="1"/>
            </p:cNvSpPr>
            <p:nvPr userDrawn="1"/>
          </p:nvSpPr>
          <p:spPr bwMode="auto">
            <a:xfrm flipV="1">
              <a:off x="384" y="1056"/>
              <a:ext cx="4806" cy="23"/>
            </a:xfrm>
            <a:prstGeom prst="rect">
              <a:avLst/>
            </a:prstGeom>
            <a:gradFill rotWithShape="0">
              <a:gsLst>
                <a:gs pos="0">
                  <a:schemeClr val="bg2"/>
                </a:gs>
                <a:gs pos="100000">
                  <a:srgbClr val="B8B8E8"/>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20000"/>
                </a:spcBef>
              </a:pPr>
              <a:endParaRPr lang="zh-CN" altLang="en-US" sz="2600">
                <a:latin typeface="Tahoma" pitchFamily="34" charset="0"/>
                <a:ea typeface="宋体" pitchFamily="2" charset="-122"/>
              </a:endParaRPr>
            </a:p>
          </p:txBody>
        </p:sp>
      </p:grpSp>
      <p:pic>
        <p:nvPicPr>
          <p:cNvPr id="11" name="Picture 3" descr="gm_clip_image001"/>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543800" y="5029200"/>
            <a:ext cx="982663"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9" name="Rectangle 13"/>
          <p:cNvSpPr>
            <a:spLocks noGrp="1" noChangeArrowheads="1"/>
          </p:cNvSpPr>
          <p:nvPr>
            <p:ph type="subTitle" idx="1"/>
          </p:nvPr>
        </p:nvSpPr>
        <p:spPr bwMode="auto">
          <a:xfrm>
            <a:off x="1371600" y="3886200"/>
            <a:ext cx="6400800" cy="1752600"/>
          </a:xfrm>
          <a:prstGeom prst="rect">
            <a:avLst/>
          </a:prstGeom>
          <a:noFill/>
          <a:ln>
            <a:miter lim="800000"/>
            <a:headEnd/>
            <a:tailEnd/>
          </a:ln>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r>
              <a:rPr lang="zh-CN" altLang="en-US"/>
              <a:t>单击此处编辑母版副标题样式</a:t>
            </a:r>
          </a:p>
        </p:txBody>
      </p:sp>
    </p:spTree>
    <p:extLst>
      <p:ext uri="{BB962C8B-B14F-4D97-AF65-F5344CB8AC3E}">
        <p14:creationId xmlns:p14="http://schemas.microsoft.com/office/powerpoint/2010/main" val="3854875114"/>
      </p:ext>
    </p:extLst>
  </p:cSld>
  <p:clrMapOvr>
    <a:masterClrMapping/>
  </p:clrMapOvr>
  <p:transition>
    <p:wipe dir="d"/>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3"/>
          <p:cNvSpPr>
            <a:spLocks noChangeArrowheads="1"/>
          </p:cNvSpPr>
          <p:nvPr userDrawn="1"/>
        </p:nvSpPr>
        <p:spPr bwMode="auto">
          <a:xfrm flipH="1">
            <a:off x="0" y="6513513"/>
            <a:ext cx="9144000" cy="344487"/>
          </a:xfrm>
          <a:prstGeom prst="rect">
            <a:avLst/>
          </a:prstGeom>
          <a:gradFill rotWithShape="0">
            <a:gsLst>
              <a:gs pos="0">
                <a:srgbClr val="99CCFF"/>
              </a:gs>
              <a:gs pos="100000">
                <a:srgbClr val="EED0E6"/>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nSpc>
                <a:spcPct val="100000"/>
              </a:lnSpc>
              <a:spcBef>
                <a:spcPct val="0"/>
              </a:spcBef>
              <a:buClrTx/>
              <a:buFontTx/>
              <a:buNone/>
            </a:pPr>
            <a:r>
              <a:rPr kumimoji="0" lang="zh-CN" altLang="en-US" sz="1600" i="1" dirty="0">
                <a:solidFill>
                  <a:srgbClr val="5F5F5F"/>
                </a:solidFill>
                <a:latin typeface="Arial" charset="0"/>
                <a:ea typeface="宋体" pitchFamily="2" charset="-122"/>
              </a:rPr>
              <a:t>             </a:t>
            </a:r>
            <a:r>
              <a:rPr kumimoji="0" lang="zh-CN" altLang="en-US" sz="1600" b="0" i="1" dirty="0">
                <a:solidFill>
                  <a:srgbClr val="333333"/>
                </a:solidFill>
                <a:latin typeface="黑体" pitchFamily="2" charset="-122"/>
                <a:ea typeface="黑体" pitchFamily="2" charset="-122"/>
              </a:rPr>
              <a:t>西南交通大学计算机与人工智能学院         </a:t>
            </a:r>
            <a:r>
              <a:rPr kumimoji="0" lang="zh-CN" altLang="en-US" sz="1800" b="0" i="1" dirty="0">
                <a:solidFill>
                  <a:srgbClr val="333333"/>
                </a:solidFill>
                <a:latin typeface="黑体" pitchFamily="2" charset="-122"/>
                <a:ea typeface="黑体" pitchFamily="2" charset="-122"/>
              </a:rPr>
              <a:t>“</a:t>
            </a:r>
            <a:r>
              <a:rPr kumimoji="0" lang="zh-CN" altLang="en-US" sz="1600" i="1" dirty="0">
                <a:solidFill>
                  <a:srgbClr val="333333"/>
                </a:solidFill>
                <a:latin typeface="黑体" pitchFamily="2" charset="-122"/>
                <a:ea typeface="黑体" pitchFamily="2" charset="-122"/>
              </a:rPr>
              <a:t>计算机组成原理</a:t>
            </a:r>
            <a:r>
              <a:rPr kumimoji="0" lang="en-US" altLang="zh-CN" sz="1600" i="1" dirty="0">
                <a:solidFill>
                  <a:srgbClr val="333333"/>
                </a:solidFill>
                <a:latin typeface="黑体" pitchFamily="2" charset="-122"/>
                <a:ea typeface="黑体" pitchFamily="2" charset="-122"/>
              </a:rPr>
              <a:t>B</a:t>
            </a:r>
            <a:r>
              <a:rPr kumimoji="0" lang="en-US" altLang="zh-CN" sz="1800" b="0" i="1" dirty="0">
                <a:solidFill>
                  <a:srgbClr val="333333"/>
                </a:solidFill>
                <a:latin typeface="黑体" pitchFamily="2" charset="-122"/>
                <a:ea typeface="黑体" pitchFamily="2" charset="-122"/>
              </a:rPr>
              <a:t>”</a:t>
            </a:r>
            <a:r>
              <a:rPr kumimoji="0" lang="zh-CN" altLang="en-US" sz="1600" b="0" i="1" dirty="0">
                <a:solidFill>
                  <a:srgbClr val="333333"/>
                </a:solidFill>
                <a:latin typeface="黑体" pitchFamily="2" charset="-122"/>
                <a:ea typeface="黑体" pitchFamily="2" charset="-122"/>
              </a:rPr>
              <a:t>教案</a:t>
            </a:r>
          </a:p>
        </p:txBody>
      </p:sp>
      <p:pic>
        <p:nvPicPr>
          <p:cNvPr id="1027" name="Picture 34" descr="gm_clip_image001"/>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81000" y="6516688"/>
            <a:ext cx="312738"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灯片编号占位符 1"/>
          <p:cNvSpPr txBox="1">
            <a:spLocks noGrp="1"/>
          </p:cNvSpPr>
          <p:nvPr userDrawn="1"/>
        </p:nvSpPr>
        <p:spPr bwMode="auto">
          <a:xfrm>
            <a:off x="7924800" y="6502400"/>
            <a:ext cx="9906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anchor="b"/>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r" eaLnBrk="1" hangingPunct="1">
              <a:lnSpc>
                <a:spcPct val="100000"/>
              </a:lnSpc>
              <a:spcBef>
                <a:spcPct val="0"/>
              </a:spcBef>
              <a:buClrTx/>
              <a:buFontTx/>
              <a:buNone/>
              <a:defRPr/>
            </a:pPr>
            <a:fld id="{E1C2CCD9-B61A-44D7-B9D1-AFDAD7F373DD}" type="slidenum">
              <a:rPr kumimoji="0" lang="zh-CN" altLang="en-US" sz="1400" smtClean="0">
                <a:solidFill>
                  <a:schemeClr val="tx1"/>
                </a:solidFill>
                <a:latin typeface="黑体" pitchFamily="2" charset="-122"/>
                <a:ea typeface="黑体" pitchFamily="2" charset="-122"/>
              </a:rPr>
              <a:pPr algn="r" eaLnBrk="1" hangingPunct="1">
                <a:lnSpc>
                  <a:spcPct val="100000"/>
                </a:lnSpc>
                <a:spcBef>
                  <a:spcPct val="0"/>
                </a:spcBef>
                <a:buClrTx/>
                <a:buFontTx/>
                <a:buNone/>
                <a:defRPr/>
              </a:pPr>
              <a:t>‹#›</a:t>
            </a:fld>
            <a:endParaRPr kumimoji="0" lang="en-US" altLang="zh-CN" sz="1400" dirty="0">
              <a:solidFill>
                <a:schemeClr val="tx1"/>
              </a:solidFill>
              <a:latin typeface="黑体" pitchFamily="2" charset="-122"/>
              <a:ea typeface="黑体" pitchFamily="2" charset="-122"/>
            </a:endParaRPr>
          </a:p>
        </p:txBody>
      </p:sp>
      <p:sp>
        <p:nvSpPr>
          <p:cNvPr id="1029" name="Text Box 39"/>
          <p:cNvSpPr txBox="1">
            <a:spLocks noChangeArrowheads="1"/>
          </p:cNvSpPr>
          <p:nvPr userDrawn="1"/>
        </p:nvSpPr>
        <p:spPr bwMode="auto">
          <a:xfrm>
            <a:off x="0" y="0"/>
            <a:ext cx="9144000" cy="339725"/>
          </a:xfrm>
          <a:prstGeom prst="rect">
            <a:avLst/>
          </a:prstGeom>
          <a:gradFill rotWithShape="0">
            <a:gsLst>
              <a:gs pos="0">
                <a:srgbClr val="F8F0F7"/>
              </a:gs>
              <a:gs pos="100000">
                <a:srgbClr val="99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eaLnBrk="1" hangingPunct="1">
              <a:defRPr/>
            </a:pPr>
            <a:r>
              <a:rPr kumimoji="0" lang="zh-CN" altLang="en-US" sz="1800" i="1" dirty="0">
                <a:solidFill>
                  <a:srgbClr val="990000"/>
                </a:solidFill>
                <a:latin typeface="黑体" pitchFamily="2" charset="-122"/>
                <a:ea typeface="黑体" pitchFamily="2" charset="-122"/>
              </a:rPr>
              <a:t>                                                               第</a:t>
            </a:r>
            <a:r>
              <a:rPr kumimoji="0" lang="en-US" altLang="zh-CN" sz="1800" i="1" dirty="0">
                <a:solidFill>
                  <a:srgbClr val="990000"/>
                </a:solidFill>
                <a:latin typeface="黑体" pitchFamily="2" charset="-122"/>
                <a:ea typeface="黑体" pitchFamily="2" charset="-122"/>
              </a:rPr>
              <a:t>1</a:t>
            </a:r>
            <a:r>
              <a:rPr kumimoji="0" lang="zh-CN" altLang="en-US" sz="1800" i="1" dirty="0">
                <a:solidFill>
                  <a:srgbClr val="990000"/>
                </a:solidFill>
                <a:latin typeface="黑体" pitchFamily="2" charset="-122"/>
                <a:ea typeface="黑体" pitchFamily="2" charset="-122"/>
              </a:rPr>
              <a:t>章  概论</a:t>
            </a:r>
          </a:p>
        </p:txBody>
      </p:sp>
    </p:spTree>
  </p:cSld>
  <p:clrMap bg1="lt1" tx1="dk1" bg2="lt2" tx2="dk2" accent1="accent1" accent2="accent2" accent3="accent3" accent4="accent4" accent5="accent5" accent6="accent6" hlink="hlink" folHlink="folHlink"/>
  <p:sldLayoutIdLst>
    <p:sldLayoutId id="2147483933" r:id="rId1"/>
    <p:sldLayoutId id="2147483939" r:id="rId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33"/>
          <p:cNvSpPr>
            <a:spLocks noChangeArrowheads="1"/>
          </p:cNvSpPr>
          <p:nvPr userDrawn="1"/>
        </p:nvSpPr>
        <p:spPr bwMode="auto">
          <a:xfrm flipH="1">
            <a:off x="0" y="6513513"/>
            <a:ext cx="9144000" cy="344487"/>
          </a:xfrm>
          <a:prstGeom prst="rect">
            <a:avLst/>
          </a:prstGeom>
          <a:gradFill rotWithShape="0">
            <a:gsLst>
              <a:gs pos="0">
                <a:srgbClr val="99CCFF"/>
              </a:gs>
              <a:gs pos="100000">
                <a:srgbClr val="EED0E6"/>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nSpc>
                <a:spcPct val="100000"/>
              </a:lnSpc>
              <a:spcBef>
                <a:spcPct val="0"/>
              </a:spcBef>
              <a:buClrTx/>
              <a:buFontTx/>
              <a:buNone/>
            </a:pPr>
            <a:r>
              <a:rPr kumimoji="0" lang="zh-CN" altLang="en-US" sz="1600" b="0" i="1" dirty="0">
                <a:solidFill>
                  <a:srgbClr val="5F5F5F"/>
                </a:solidFill>
                <a:latin typeface="Arial" charset="0"/>
                <a:ea typeface="宋体" pitchFamily="2" charset="-122"/>
              </a:rPr>
              <a:t>             </a:t>
            </a:r>
            <a:r>
              <a:rPr kumimoji="0" lang="zh-CN" altLang="en-US" sz="1600" b="0" i="1" dirty="0">
                <a:solidFill>
                  <a:srgbClr val="333333"/>
                </a:solidFill>
                <a:latin typeface="黑体" pitchFamily="2" charset="-122"/>
                <a:ea typeface="黑体" pitchFamily="2" charset="-122"/>
              </a:rPr>
              <a:t>西南交通大学信息科学与技术学院       </a:t>
            </a:r>
            <a:r>
              <a:rPr kumimoji="0" lang="zh-CN" altLang="en-US" sz="1800" b="0" i="1" dirty="0">
                <a:solidFill>
                  <a:srgbClr val="333333"/>
                </a:solidFill>
                <a:latin typeface="黑体" pitchFamily="2" charset="-122"/>
                <a:ea typeface="黑体" pitchFamily="2" charset="-122"/>
              </a:rPr>
              <a:t>“</a:t>
            </a:r>
            <a:r>
              <a:rPr kumimoji="0" lang="zh-CN" altLang="en-US" sz="1600" i="1" dirty="0">
                <a:solidFill>
                  <a:srgbClr val="333333"/>
                </a:solidFill>
                <a:latin typeface="黑体" pitchFamily="2" charset="-122"/>
                <a:ea typeface="黑体" pitchFamily="2" charset="-122"/>
              </a:rPr>
              <a:t>计算机组成原理</a:t>
            </a:r>
            <a:r>
              <a:rPr kumimoji="0" lang="en-US" altLang="zh-CN" sz="1800" b="0" i="1" dirty="0">
                <a:solidFill>
                  <a:srgbClr val="333333"/>
                </a:solidFill>
                <a:latin typeface="黑体" pitchFamily="2" charset="-122"/>
                <a:ea typeface="黑体" pitchFamily="2" charset="-122"/>
              </a:rPr>
              <a:t>”</a:t>
            </a:r>
            <a:r>
              <a:rPr kumimoji="0" lang="zh-CN" altLang="en-US" sz="1600" b="0" i="1" dirty="0">
                <a:solidFill>
                  <a:srgbClr val="333333"/>
                </a:solidFill>
                <a:latin typeface="黑体" pitchFamily="2" charset="-122"/>
                <a:ea typeface="黑体" pitchFamily="2" charset="-122"/>
              </a:rPr>
              <a:t>教案</a:t>
            </a:r>
          </a:p>
        </p:txBody>
      </p:sp>
      <p:sp>
        <p:nvSpPr>
          <p:cNvPr id="2051" name="灯片编号占位符 1"/>
          <p:cNvSpPr txBox="1">
            <a:spLocks noGrp="1"/>
          </p:cNvSpPr>
          <p:nvPr userDrawn="1"/>
        </p:nvSpPr>
        <p:spPr bwMode="auto">
          <a:xfrm>
            <a:off x="7924800" y="6502400"/>
            <a:ext cx="9906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anchor="b"/>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r" eaLnBrk="1" hangingPunct="1">
              <a:lnSpc>
                <a:spcPct val="100000"/>
              </a:lnSpc>
              <a:spcBef>
                <a:spcPct val="0"/>
              </a:spcBef>
              <a:buClrTx/>
              <a:buFontTx/>
              <a:buNone/>
              <a:defRPr/>
            </a:pPr>
            <a:fld id="{81AF20B8-D4C6-451F-B8D7-4A058832C4B1}" type="slidenum">
              <a:rPr kumimoji="0" lang="zh-CN" altLang="en-US" sz="1400" smtClean="0">
                <a:solidFill>
                  <a:schemeClr val="folHlink"/>
                </a:solidFill>
                <a:latin typeface="黑体" pitchFamily="2" charset="-122"/>
                <a:ea typeface="黑体" pitchFamily="2" charset="-122"/>
              </a:rPr>
              <a:pPr algn="r" eaLnBrk="1" hangingPunct="1">
                <a:lnSpc>
                  <a:spcPct val="100000"/>
                </a:lnSpc>
                <a:spcBef>
                  <a:spcPct val="0"/>
                </a:spcBef>
                <a:buClrTx/>
                <a:buFontTx/>
                <a:buNone/>
                <a:defRPr/>
              </a:pPr>
              <a:t>‹#›</a:t>
            </a:fld>
            <a:endParaRPr kumimoji="0" lang="en-US" altLang="zh-CN" sz="1400" dirty="0">
              <a:solidFill>
                <a:schemeClr val="folHlink"/>
              </a:solidFill>
              <a:latin typeface="黑体" pitchFamily="2" charset="-122"/>
              <a:ea typeface="黑体" pitchFamily="2" charset="-122"/>
            </a:endParaRPr>
          </a:p>
        </p:txBody>
      </p:sp>
      <p:sp>
        <p:nvSpPr>
          <p:cNvPr id="2052" name="Text Box 39"/>
          <p:cNvSpPr txBox="1">
            <a:spLocks noChangeArrowheads="1"/>
          </p:cNvSpPr>
          <p:nvPr userDrawn="1"/>
        </p:nvSpPr>
        <p:spPr bwMode="auto">
          <a:xfrm>
            <a:off x="0" y="0"/>
            <a:ext cx="9144000" cy="339725"/>
          </a:xfrm>
          <a:prstGeom prst="rect">
            <a:avLst/>
          </a:prstGeom>
          <a:gradFill rotWithShape="0">
            <a:gsLst>
              <a:gs pos="0">
                <a:srgbClr val="F8F0F7"/>
              </a:gs>
              <a:gs pos="100000">
                <a:srgbClr val="99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eaLnBrk="1" hangingPunct="1">
              <a:defRPr/>
            </a:pPr>
            <a:r>
              <a:rPr kumimoji="0" lang="zh-CN" altLang="en-US" sz="1800" i="1" dirty="0">
                <a:solidFill>
                  <a:srgbClr val="990000"/>
                </a:solidFill>
                <a:latin typeface="黑体" pitchFamily="2" charset="-122"/>
                <a:ea typeface="黑体" pitchFamily="2" charset="-122"/>
              </a:rPr>
              <a:t>                                                               第</a:t>
            </a:r>
            <a:r>
              <a:rPr kumimoji="0" lang="en-US" altLang="zh-CN" sz="1800" i="1" dirty="0">
                <a:solidFill>
                  <a:srgbClr val="990000"/>
                </a:solidFill>
                <a:latin typeface="黑体" pitchFamily="2" charset="-122"/>
                <a:ea typeface="黑体" pitchFamily="2" charset="-122"/>
              </a:rPr>
              <a:t>1</a:t>
            </a:r>
            <a:r>
              <a:rPr kumimoji="0" lang="zh-CN" altLang="en-US" sz="1800" i="1" dirty="0">
                <a:solidFill>
                  <a:srgbClr val="990000"/>
                </a:solidFill>
                <a:latin typeface="黑体" pitchFamily="2" charset="-122"/>
                <a:ea typeface="黑体" pitchFamily="2" charset="-122"/>
              </a:rPr>
              <a:t>章  概论</a:t>
            </a:r>
          </a:p>
        </p:txBody>
      </p:sp>
    </p:spTree>
  </p:cSld>
  <p:clrMap bg1="lt1" tx1="dk1" bg2="lt2" tx2="dk2" accent1="accent1" accent2="accent2" accent3="accent3" accent4="accent4" accent5="accent5" accent6="accent6" hlink="hlink" folHlink="folHlink"/>
  <p:sldLayoutIdLst>
    <p:sldLayoutId id="2147483938" r:id="rId1"/>
  </p:sldLayoutIdLst>
  <p:transition>
    <p:wipe dir="d"/>
  </p:transition>
  <p:hf hdr="0" ftr="0" dt="0"/>
  <p:txStyles>
    <p:titleStyle>
      <a:lvl1pPr algn="ctr" rtl="0" eaLnBrk="0" fontAlgn="base" hangingPunct="0">
        <a:spcBef>
          <a:spcPct val="0"/>
        </a:spcBef>
        <a:spcAft>
          <a:spcPct val="0"/>
        </a:spcAft>
        <a:defRPr kumimoji="1" sz="4000" b="1">
          <a:solidFill>
            <a:srgbClr val="990099"/>
          </a:solidFill>
          <a:latin typeface="+mj-lt"/>
          <a:ea typeface="+mj-ea"/>
          <a:cs typeface="+mj-cs"/>
        </a:defRPr>
      </a:lvl1pPr>
      <a:lvl2pPr algn="ctr" rtl="0" eaLnBrk="0" fontAlgn="base" hangingPunct="0">
        <a:spcBef>
          <a:spcPct val="0"/>
        </a:spcBef>
        <a:spcAft>
          <a:spcPct val="0"/>
        </a:spcAft>
        <a:defRPr kumimoji="1" sz="4000" b="1">
          <a:solidFill>
            <a:srgbClr val="990099"/>
          </a:solidFill>
          <a:latin typeface="Tahoma" pitchFamily="34" charset="0"/>
          <a:ea typeface="隶书" pitchFamily="49" charset="-122"/>
        </a:defRPr>
      </a:lvl2pPr>
      <a:lvl3pPr algn="ctr" rtl="0" eaLnBrk="0" fontAlgn="base" hangingPunct="0">
        <a:spcBef>
          <a:spcPct val="0"/>
        </a:spcBef>
        <a:spcAft>
          <a:spcPct val="0"/>
        </a:spcAft>
        <a:defRPr kumimoji="1" sz="4000" b="1">
          <a:solidFill>
            <a:srgbClr val="990099"/>
          </a:solidFill>
          <a:latin typeface="Tahoma" pitchFamily="34" charset="0"/>
          <a:ea typeface="隶书" pitchFamily="49" charset="-122"/>
        </a:defRPr>
      </a:lvl3pPr>
      <a:lvl4pPr algn="ctr" rtl="0" eaLnBrk="0" fontAlgn="base" hangingPunct="0">
        <a:spcBef>
          <a:spcPct val="0"/>
        </a:spcBef>
        <a:spcAft>
          <a:spcPct val="0"/>
        </a:spcAft>
        <a:defRPr kumimoji="1" sz="4000" b="1">
          <a:solidFill>
            <a:srgbClr val="990099"/>
          </a:solidFill>
          <a:latin typeface="Tahoma" pitchFamily="34" charset="0"/>
          <a:ea typeface="隶书" pitchFamily="49" charset="-122"/>
        </a:defRPr>
      </a:lvl4pPr>
      <a:lvl5pPr algn="ctr" rtl="0" eaLnBrk="0" fontAlgn="base" hangingPunct="0">
        <a:spcBef>
          <a:spcPct val="0"/>
        </a:spcBef>
        <a:spcAft>
          <a:spcPct val="0"/>
        </a:spcAft>
        <a:defRPr kumimoji="1" sz="4000" b="1">
          <a:solidFill>
            <a:srgbClr val="990099"/>
          </a:solidFill>
          <a:latin typeface="Tahoma" pitchFamily="34" charset="0"/>
          <a:ea typeface="隶书" pitchFamily="49" charset="-122"/>
        </a:defRPr>
      </a:lvl5pPr>
      <a:lvl6pPr marL="457200" algn="ctr" rtl="0" fontAlgn="base">
        <a:spcBef>
          <a:spcPct val="0"/>
        </a:spcBef>
        <a:spcAft>
          <a:spcPct val="0"/>
        </a:spcAft>
        <a:defRPr kumimoji="1" sz="4000" b="1">
          <a:solidFill>
            <a:srgbClr val="990099"/>
          </a:solidFill>
          <a:latin typeface="Tahoma" pitchFamily="34" charset="0"/>
          <a:ea typeface="隶书" pitchFamily="49" charset="-122"/>
        </a:defRPr>
      </a:lvl6pPr>
      <a:lvl7pPr marL="914400" algn="ctr" rtl="0" fontAlgn="base">
        <a:spcBef>
          <a:spcPct val="0"/>
        </a:spcBef>
        <a:spcAft>
          <a:spcPct val="0"/>
        </a:spcAft>
        <a:defRPr kumimoji="1" sz="4000" b="1">
          <a:solidFill>
            <a:srgbClr val="990099"/>
          </a:solidFill>
          <a:latin typeface="Tahoma" pitchFamily="34" charset="0"/>
          <a:ea typeface="隶书" pitchFamily="49" charset="-122"/>
        </a:defRPr>
      </a:lvl7pPr>
      <a:lvl8pPr marL="1371600" algn="ctr" rtl="0" fontAlgn="base">
        <a:spcBef>
          <a:spcPct val="0"/>
        </a:spcBef>
        <a:spcAft>
          <a:spcPct val="0"/>
        </a:spcAft>
        <a:defRPr kumimoji="1" sz="4000" b="1">
          <a:solidFill>
            <a:srgbClr val="990099"/>
          </a:solidFill>
          <a:latin typeface="Tahoma" pitchFamily="34" charset="0"/>
          <a:ea typeface="隶书" pitchFamily="49" charset="-122"/>
        </a:defRPr>
      </a:lvl8pPr>
      <a:lvl9pPr marL="1828800" algn="ctr" rtl="0" fontAlgn="base">
        <a:spcBef>
          <a:spcPct val="0"/>
        </a:spcBef>
        <a:spcAft>
          <a:spcPct val="0"/>
        </a:spcAft>
        <a:defRPr kumimoji="1" sz="4000" b="1">
          <a:solidFill>
            <a:srgbClr val="990099"/>
          </a:solidFill>
          <a:latin typeface="Tahoma" pitchFamily="34" charset="0"/>
          <a:ea typeface="隶书" pitchFamily="49"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wmf"/><Relationship Id="rId1" Type="http://schemas.openxmlformats.org/officeDocument/2006/relationships/slideLayout" Target="../slideLayouts/slideLayout1.xml"/><Relationship Id="rId4" Type="http://schemas.openxmlformats.org/officeDocument/2006/relationships/image" Target="../media/image7.emf"/></Relationships>
</file>

<file path=ppt/slides/_rels/slide5.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3.bin"/><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4.bin"/><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oleObject" Target="../embeddings/oleObject5.bin"/><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6.png"/></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6.bin"/><Relationship Id="rId1" Type="http://schemas.openxmlformats.org/officeDocument/2006/relationships/slideLayout" Target="../slideLayouts/slideLayout1.xml"/><Relationship Id="rId5" Type="http://schemas.openxmlformats.org/officeDocument/2006/relationships/image" Target="../media/image28.wmf"/><Relationship Id="rId4" Type="http://schemas.openxmlformats.org/officeDocument/2006/relationships/oleObject" Target="../embeddings/oleObject7.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oleObject" Target="../embeddings/oleObject8.bin"/><Relationship Id="rId7" Type="http://schemas.openxmlformats.org/officeDocument/2006/relationships/oleObject" Target="../embeddings/oleObject11.bin"/><Relationship Id="rId2" Type="http://schemas.openxmlformats.org/officeDocument/2006/relationships/image" Target="../media/image32.png"/><Relationship Id="rId1" Type="http://schemas.openxmlformats.org/officeDocument/2006/relationships/slideLayout" Target="../slideLayouts/slideLayout1.xml"/><Relationship Id="rId6" Type="http://schemas.openxmlformats.org/officeDocument/2006/relationships/oleObject" Target="../embeddings/oleObject10.bin"/><Relationship Id="rId5" Type="http://schemas.openxmlformats.org/officeDocument/2006/relationships/oleObject" Target="../embeddings/oleObject9.bin"/><Relationship Id="rId4" Type="http://schemas.openxmlformats.org/officeDocument/2006/relationships/image" Target="../media/image33.png"/><Relationship Id="rId9" Type="http://schemas.openxmlformats.org/officeDocument/2006/relationships/oleObject" Target="../embeddings/oleObject13.bin"/></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14.bin"/><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15.bin"/><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16.bin"/><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17.bin"/><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17.bin"/><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17.bin"/><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oleObject" Target="../embeddings/oleObject18.bin"/><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oleObject" Target="../embeddings/Microsoft_Word_97_-_2003_Document.doc"/><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gm_clip_image001">
            <a:extLst>
              <a:ext uri="{FF2B5EF4-FFF2-40B4-BE49-F238E27FC236}">
                <a16:creationId xmlns:a16="http://schemas.microsoft.com/office/drawing/2014/main" id="{4DF86D4F-EED2-9D9E-BB37-9B716067F8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3800" y="5029200"/>
            <a:ext cx="982663"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5">
            <a:extLst>
              <a:ext uri="{FF2B5EF4-FFF2-40B4-BE49-F238E27FC236}">
                <a16:creationId xmlns:a16="http://schemas.microsoft.com/office/drawing/2014/main" id="{B46ADDFD-AF86-024C-FA5C-24A206F9F627}"/>
              </a:ext>
            </a:extLst>
          </p:cNvPr>
          <p:cNvSpPr>
            <a:spLocks noChangeArrowheads="1"/>
          </p:cNvSpPr>
          <p:nvPr/>
        </p:nvSpPr>
        <p:spPr bwMode="auto">
          <a:xfrm>
            <a:off x="2438400" y="911225"/>
            <a:ext cx="4203700" cy="641350"/>
          </a:xfrm>
          <a:prstGeom prst="rect">
            <a:avLst/>
          </a:prstGeom>
          <a:noFill/>
          <a:ln w="9525">
            <a:noFill/>
            <a:miter lim="800000"/>
            <a:headEnd/>
            <a:tailEnd/>
          </a:ln>
          <a:effectLst/>
        </p:spPr>
        <p:txBody>
          <a:bodyPr>
            <a:spAutoFit/>
          </a:bodyPr>
          <a:lstStyle/>
          <a:p>
            <a:pPr algn="dist">
              <a:lnSpc>
                <a:spcPct val="100000"/>
              </a:lnSpc>
              <a:spcBef>
                <a:spcPct val="0"/>
              </a:spcBef>
              <a:buClrTx/>
              <a:buFontTx/>
              <a:buNone/>
              <a:defRPr/>
            </a:pPr>
            <a:r>
              <a:rPr lang="zh-CN" altLang="en-US" sz="3600" dirty="0">
                <a:solidFill>
                  <a:srgbClr val="990000"/>
                </a:solidFill>
                <a:effectLst>
                  <a:outerShdw blurRad="38100" dist="38100" dir="2700000" algn="tl">
                    <a:srgbClr val="C0C0C0"/>
                  </a:outerShdw>
                </a:effectLst>
                <a:latin typeface="Arial" charset="0"/>
                <a:ea typeface="黑体" pitchFamily="2" charset="-122"/>
              </a:rPr>
              <a:t>计算机组成原理</a:t>
            </a:r>
            <a:r>
              <a:rPr lang="en-US" altLang="zh-CN" sz="3600" dirty="0">
                <a:solidFill>
                  <a:srgbClr val="990000"/>
                </a:solidFill>
                <a:effectLst>
                  <a:outerShdw blurRad="38100" dist="38100" dir="2700000" algn="tl">
                    <a:srgbClr val="C0C0C0"/>
                  </a:outerShdw>
                </a:effectLst>
                <a:latin typeface="Arial" charset="0"/>
                <a:ea typeface="黑体" pitchFamily="2" charset="-122"/>
              </a:rPr>
              <a:t>B</a:t>
            </a:r>
            <a:r>
              <a:rPr lang="en-US" altLang="zh-CN" sz="1100" dirty="0">
                <a:latin typeface="Arial" charset="0"/>
              </a:rPr>
              <a:t> </a:t>
            </a:r>
            <a:endParaRPr lang="en-US" altLang="zh-CN" sz="2400" b="0" dirty="0">
              <a:solidFill>
                <a:schemeClr val="tx1"/>
              </a:solidFill>
              <a:latin typeface="Arial" charset="0"/>
            </a:endParaRPr>
          </a:p>
        </p:txBody>
      </p:sp>
      <p:sp>
        <p:nvSpPr>
          <p:cNvPr id="4" name="Rectangle 2">
            <a:extLst>
              <a:ext uri="{FF2B5EF4-FFF2-40B4-BE49-F238E27FC236}">
                <a16:creationId xmlns:a16="http://schemas.microsoft.com/office/drawing/2014/main" id="{EBED73A1-829F-43E2-A9DE-00875E97AA51}"/>
              </a:ext>
            </a:extLst>
          </p:cNvPr>
          <p:cNvSpPr>
            <a:spLocks noChangeArrowheads="1"/>
          </p:cNvSpPr>
          <p:nvPr/>
        </p:nvSpPr>
        <p:spPr bwMode="auto">
          <a:xfrm>
            <a:off x="2586038" y="2770188"/>
            <a:ext cx="3908425" cy="131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defTabSz="762000">
              <a:defRPr kumimoji="1" sz="2600" b="1">
                <a:solidFill>
                  <a:schemeClr val="tx2"/>
                </a:solidFill>
                <a:latin typeface="Tahoma" panose="020B0604030504040204" pitchFamily="34" charset="0"/>
                <a:ea typeface="宋体" panose="02010600030101010101" pitchFamily="2" charset="-122"/>
              </a:defRPr>
            </a:lvl1pPr>
            <a:lvl2pPr marL="742950" indent="-285750" defTabSz="762000">
              <a:defRPr kumimoji="1" sz="2600" b="1">
                <a:solidFill>
                  <a:schemeClr val="tx2"/>
                </a:solidFill>
                <a:latin typeface="Tahoma" panose="020B0604030504040204" pitchFamily="34" charset="0"/>
                <a:ea typeface="宋体" panose="02010600030101010101" pitchFamily="2" charset="-122"/>
              </a:defRPr>
            </a:lvl2pPr>
            <a:lvl3pPr marL="1143000" indent="-228600" defTabSz="762000">
              <a:defRPr kumimoji="1" sz="2600" b="1">
                <a:solidFill>
                  <a:schemeClr val="tx2"/>
                </a:solidFill>
                <a:latin typeface="Tahoma" panose="020B0604030504040204" pitchFamily="34" charset="0"/>
                <a:ea typeface="宋体" panose="02010600030101010101" pitchFamily="2" charset="-122"/>
              </a:defRPr>
            </a:lvl3pPr>
            <a:lvl4pPr marL="1600200" indent="-228600" defTabSz="762000">
              <a:defRPr kumimoji="1" sz="2600" b="1">
                <a:solidFill>
                  <a:schemeClr val="tx2"/>
                </a:solidFill>
                <a:latin typeface="Tahoma" panose="020B0604030504040204" pitchFamily="34" charset="0"/>
                <a:ea typeface="宋体" panose="02010600030101010101" pitchFamily="2" charset="-122"/>
              </a:defRPr>
            </a:lvl4pPr>
            <a:lvl5pPr marL="2057400" indent="-228600" defTabSz="762000">
              <a:defRPr kumimoji="1" sz="2600" b="1">
                <a:solidFill>
                  <a:schemeClr val="tx2"/>
                </a:solidFill>
                <a:latin typeface="Tahom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9pPr>
          </a:lstStyle>
          <a:p>
            <a:pPr algn="dist">
              <a:lnSpc>
                <a:spcPct val="125000"/>
              </a:lnSpc>
              <a:spcBef>
                <a:spcPct val="20000"/>
              </a:spcBef>
            </a:pPr>
            <a:r>
              <a:rPr lang="zh-CN" altLang="en-US" sz="2800">
                <a:solidFill>
                  <a:srgbClr val="000080"/>
                </a:solidFill>
                <a:latin typeface="仿宋_GB2312" pitchFamily="49" charset="-122"/>
                <a:ea typeface="仿宋_GB2312" pitchFamily="49" charset="-122"/>
              </a:rPr>
              <a:t>西 南 交 通 大 学</a:t>
            </a:r>
          </a:p>
          <a:p>
            <a:pPr algn="dist">
              <a:lnSpc>
                <a:spcPct val="125000"/>
              </a:lnSpc>
              <a:spcBef>
                <a:spcPct val="20000"/>
              </a:spcBef>
            </a:pPr>
            <a:r>
              <a:rPr lang="zh-CN" altLang="en-US" sz="2800">
                <a:solidFill>
                  <a:srgbClr val="000080"/>
                </a:solidFill>
                <a:latin typeface="仿宋_GB2312" pitchFamily="49" charset="-122"/>
                <a:ea typeface="仿宋_GB2312" pitchFamily="49" charset="-122"/>
              </a:rPr>
              <a:t>计算机与人工智能学院</a:t>
            </a:r>
          </a:p>
        </p:txBody>
      </p:sp>
      <p:sp>
        <p:nvSpPr>
          <p:cNvPr id="5" name="Rectangle 4">
            <a:extLst>
              <a:ext uri="{FF2B5EF4-FFF2-40B4-BE49-F238E27FC236}">
                <a16:creationId xmlns:a16="http://schemas.microsoft.com/office/drawing/2014/main" id="{29E3712C-80A6-3B09-7C83-1034AC39153D}"/>
              </a:ext>
            </a:extLst>
          </p:cNvPr>
          <p:cNvSpPr>
            <a:spLocks noChangeArrowheads="1"/>
          </p:cNvSpPr>
          <p:nvPr/>
        </p:nvSpPr>
        <p:spPr bwMode="auto">
          <a:xfrm>
            <a:off x="2690813" y="5133975"/>
            <a:ext cx="339883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defTabSz="762000">
              <a:defRPr kumimoji="1" sz="2600" b="1">
                <a:solidFill>
                  <a:schemeClr val="tx2"/>
                </a:solidFill>
                <a:latin typeface="Tahoma" panose="020B0604030504040204" pitchFamily="34" charset="0"/>
                <a:ea typeface="宋体" panose="02010600030101010101" pitchFamily="2" charset="-122"/>
              </a:defRPr>
            </a:lvl1pPr>
            <a:lvl2pPr marL="742950" indent="-285750" defTabSz="762000">
              <a:defRPr kumimoji="1" sz="2600" b="1">
                <a:solidFill>
                  <a:schemeClr val="tx2"/>
                </a:solidFill>
                <a:latin typeface="Tahoma" panose="020B0604030504040204" pitchFamily="34" charset="0"/>
                <a:ea typeface="宋体" panose="02010600030101010101" pitchFamily="2" charset="-122"/>
              </a:defRPr>
            </a:lvl2pPr>
            <a:lvl3pPr marL="1143000" indent="-228600" defTabSz="762000">
              <a:defRPr kumimoji="1" sz="2600" b="1">
                <a:solidFill>
                  <a:schemeClr val="tx2"/>
                </a:solidFill>
                <a:latin typeface="Tahoma" panose="020B0604030504040204" pitchFamily="34" charset="0"/>
                <a:ea typeface="宋体" panose="02010600030101010101" pitchFamily="2" charset="-122"/>
              </a:defRPr>
            </a:lvl3pPr>
            <a:lvl4pPr marL="1600200" indent="-228600" defTabSz="762000">
              <a:defRPr kumimoji="1" sz="2600" b="1">
                <a:solidFill>
                  <a:schemeClr val="tx2"/>
                </a:solidFill>
                <a:latin typeface="Tahoma" panose="020B0604030504040204" pitchFamily="34" charset="0"/>
                <a:ea typeface="宋体" panose="02010600030101010101" pitchFamily="2" charset="-122"/>
              </a:defRPr>
            </a:lvl4pPr>
            <a:lvl5pPr marL="2057400" indent="-228600" defTabSz="762000">
              <a:defRPr kumimoji="1" sz="2600" b="1">
                <a:solidFill>
                  <a:schemeClr val="tx2"/>
                </a:solidFill>
                <a:latin typeface="Tahom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9pPr>
          </a:lstStyle>
          <a:p>
            <a:pPr algn="ctr">
              <a:lnSpc>
                <a:spcPct val="125000"/>
              </a:lnSpc>
              <a:spcBef>
                <a:spcPct val="20000"/>
              </a:spcBef>
            </a:pPr>
            <a:r>
              <a:rPr lang="zh-CN" altLang="en-US" sz="2400" dirty="0">
                <a:solidFill>
                  <a:srgbClr val="000080"/>
                </a:solidFill>
                <a:latin typeface="仿宋_GB2312" pitchFamily="49" charset="-122"/>
                <a:ea typeface="仿宋_GB2312" pitchFamily="49" charset="-122"/>
              </a:rPr>
              <a:t>20</a:t>
            </a:r>
            <a:r>
              <a:rPr lang="en-US" altLang="zh-CN" sz="2400">
                <a:solidFill>
                  <a:srgbClr val="000080"/>
                </a:solidFill>
                <a:latin typeface="仿宋_GB2312" pitchFamily="49" charset="-122"/>
                <a:ea typeface="仿宋_GB2312" pitchFamily="49" charset="-122"/>
              </a:rPr>
              <a:t>24</a:t>
            </a:r>
            <a:r>
              <a:rPr lang="zh-CN" altLang="en-US" sz="2400">
                <a:solidFill>
                  <a:srgbClr val="000080"/>
                </a:solidFill>
                <a:latin typeface="仿宋_GB2312" pitchFamily="49" charset="-122"/>
                <a:ea typeface="仿宋_GB2312" pitchFamily="49" charset="-122"/>
              </a:rPr>
              <a:t>年</a:t>
            </a:r>
            <a:r>
              <a:rPr lang="en-US" altLang="zh-CN" sz="2400" dirty="0">
                <a:solidFill>
                  <a:srgbClr val="000080"/>
                </a:solidFill>
                <a:latin typeface="仿宋_GB2312" pitchFamily="49" charset="-122"/>
                <a:ea typeface="仿宋_GB2312" pitchFamily="49" charset="-122"/>
              </a:rPr>
              <a:t>2</a:t>
            </a:r>
            <a:r>
              <a:rPr lang="zh-CN" altLang="en-US" sz="2400" dirty="0">
                <a:solidFill>
                  <a:srgbClr val="000080"/>
                </a:solidFill>
                <a:latin typeface="仿宋_GB2312" pitchFamily="49" charset="-122"/>
                <a:ea typeface="仿宋_GB2312" pitchFamily="49" charset="-122"/>
              </a:rPr>
              <a:t>月修订</a:t>
            </a:r>
          </a:p>
        </p:txBody>
      </p:sp>
      <p:sp>
        <p:nvSpPr>
          <p:cNvPr id="6" name="Rectangle 6">
            <a:extLst>
              <a:ext uri="{FF2B5EF4-FFF2-40B4-BE49-F238E27FC236}">
                <a16:creationId xmlns:a16="http://schemas.microsoft.com/office/drawing/2014/main" id="{C4DD33A9-C018-AD30-A8F2-646D1198CF29}"/>
              </a:ext>
            </a:extLst>
          </p:cNvPr>
          <p:cNvSpPr>
            <a:spLocks noChangeArrowheads="1"/>
          </p:cNvSpPr>
          <p:nvPr/>
        </p:nvSpPr>
        <p:spPr bwMode="auto">
          <a:xfrm>
            <a:off x="1714500" y="1798638"/>
            <a:ext cx="5989638" cy="701675"/>
          </a:xfrm>
          <a:prstGeom prst="rect">
            <a:avLst/>
          </a:prstGeom>
          <a:noFill/>
          <a:ln w="9525">
            <a:noFill/>
            <a:miter lim="800000"/>
            <a:headEnd/>
            <a:tailEnd/>
          </a:ln>
          <a:effectLst/>
        </p:spPr>
        <p:txBody>
          <a:bodyPr>
            <a:spAutoFit/>
          </a:bodyPr>
          <a:lstStyle/>
          <a:p>
            <a:pPr algn="ctr" eaLnBrk="1" hangingPunct="1">
              <a:defRPr/>
            </a:pPr>
            <a:r>
              <a:rPr lang="en-US" altLang="zh-CN" sz="4000" dirty="0">
                <a:solidFill>
                  <a:srgbClr val="990000"/>
                </a:solidFill>
                <a:effectLst>
                  <a:outerShdw blurRad="38100" dist="38100" dir="2700000" algn="tl">
                    <a:srgbClr val="C0C0C0"/>
                  </a:outerShdw>
                </a:effectLst>
                <a:latin typeface="Arial" charset="0"/>
                <a:ea typeface="黑体" pitchFamily="49" charset="-122"/>
              </a:rPr>
              <a:t>Computer  Organization</a:t>
            </a:r>
            <a:r>
              <a:rPr lang="en-US" altLang="zh-CN" sz="1300" dirty="0">
                <a:latin typeface="Arial" charset="0"/>
              </a:rPr>
              <a:t> </a:t>
            </a:r>
            <a:endParaRPr lang="en-US" altLang="zh-CN" sz="2800" b="0" dirty="0">
              <a:solidFill>
                <a:schemeClr val="tx1"/>
              </a:solidFill>
              <a:latin typeface="Arial" charset="0"/>
            </a:endParaRPr>
          </a:p>
        </p:txBody>
      </p:sp>
      <p:sp>
        <p:nvSpPr>
          <p:cNvPr id="7" name="Rectangle 7">
            <a:extLst>
              <a:ext uri="{FF2B5EF4-FFF2-40B4-BE49-F238E27FC236}">
                <a16:creationId xmlns:a16="http://schemas.microsoft.com/office/drawing/2014/main" id="{D7013874-3799-108A-2AA0-61F235BCBECA}"/>
              </a:ext>
            </a:extLst>
          </p:cNvPr>
          <p:cNvSpPr>
            <a:spLocks noChangeArrowheads="1"/>
          </p:cNvSpPr>
          <p:nvPr/>
        </p:nvSpPr>
        <p:spPr bwMode="auto">
          <a:xfrm>
            <a:off x="2703513" y="4183063"/>
            <a:ext cx="3398837" cy="617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defTabSz="762000">
              <a:defRPr kumimoji="1" sz="2600" b="1">
                <a:solidFill>
                  <a:schemeClr val="tx2"/>
                </a:solidFill>
                <a:latin typeface="Tahoma" panose="020B0604030504040204" pitchFamily="34" charset="0"/>
                <a:ea typeface="宋体" panose="02010600030101010101" pitchFamily="2" charset="-122"/>
              </a:defRPr>
            </a:lvl1pPr>
            <a:lvl2pPr marL="742950" indent="-285750" defTabSz="762000">
              <a:defRPr kumimoji="1" sz="2600" b="1">
                <a:solidFill>
                  <a:schemeClr val="tx2"/>
                </a:solidFill>
                <a:latin typeface="Tahoma" panose="020B0604030504040204" pitchFamily="34" charset="0"/>
                <a:ea typeface="宋体" panose="02010600030101010101" pitchFamily="2" charset="-122"/>
              </a:defRPr>
            </a:lvl2pPr>
            <a:lvl3pPr marL="1143000" indent="-228600" defTabSz="762000">
              <a:defRPr kumimoji="1" sz="2600" b="1">
                <a:solidFill>
                  <a:schemeClr val="tx2"/>
                </a:solidFill>
                <a:latin typeface="Tahoma" panose="020B0604030504040204" pitchFamily="34" charset="0"/>
                <a:ea typeface="宋体" panose="02010600030101010101" pitchFamily="2" charset="-122"/>
              </a:defRPr>
            </a:lvl3pPr>
            <a:lvl4pPr marL="1600200" indent="-228600" defTabSz="762000">
              <a:defRPr kumimoji="1" sz="2600" b="1">
                <a:solidFill>
                  <a:schemeClr val="tx2"/>
                </a:solidFill>
                <a:latin typeface="Tahoma" panose="020B0604030504040204" pitchFamily="34" charset="0"/>
                <a:ea typeface="宋体" panose="02010600030101010101" pitchFamily="2" charset="-122"/>
              </a:defRPr>
            </a:lvl4pPr>
            <a:lvl5pPr marL="2057400" indent="-228600" defTabSz="762000">
              <a:defRPr kumimoji="1" sz="2600" b="1">
                <a:solidFill>
                  <a:schemeClr val="tx2"/>
                </a:solidFill>
                <a:latin typeface="Tahoma" panose="020B0604030504040204" pitchFamily="34" charset="0"/>
                <a:ea typeface="宋体" panose="02010600030101010101" pitchFamily="2" charset="-122"/>
              </a:defRPr>
            </a:lvl5pPr>
            <a:lvl6pPr marL="2514600" indent="-228600" defTabSz="7620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6pPr>
            <a:lvl7pPr marL="2971800" indent="-228600" defTabSz="7620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7pPr>
            <a:lvl8pPr marL="3429000" indent="-228600" defTabSz="7620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8pPr>
            <a:lvl9pPr marL="3886200" indent="-228600" defTabSz="7620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9pPr>
          </a:lstStyle>
          <a:p>
            <a:pPr algn="ctr">
              <a:lnSpc>
                <a:spcPct val="125000"/>
              </a:lnSpc>
              <a:spcBef>
                <a:spcPct val="20000"/>
              </a:spcBef>
            </a:pPr>
            <a:r>
              <a:rPr lang="zh-CN" altLang="en-US" sz="2800" b="0" dirty="0">
                <a:solidFill>
                  <a:srgbClr val="000080"/>
                </a:solidFill>
                <a:latin typeface="微软雅黑" panose="020B0503020204020204" pitchFamily="34" charset="-122"/>
                <a:ea typeface="微软雅黑" panose="020B0503020204020204" pitchFamily="34" charset="-122"/>
              </a:rPr>
              <a:t>主讲：王瑶</a:t>
            </a:r>
          </a:p>
        </p:txBody>
      </p:sp>
    </p:spTree>
  </p:cSld>
  <p:clrMapOvr>
    <a:masterClrMapping/>
  </p:clrMapOvr>
  <p:transition>
    <p:wipe di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3" descr="gm_clip_image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3800" y="5029200"/>
            <a:ext cx="982663"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Rectangle 5"/>
          <p:cNvSpPr>
            <a:spLocks noChangeArrowheads="1"/>
          </p:cNvSpPr>
          <p:nvPr/>
        </p:nvSpPr>
        <p:spPr bwMode="auto">
          <a:xfrm>
            <a:off x="693738" y="874713"/>
            <a:ext cx="7848600"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00000"/>
              </a:lnSpc>
              <a:spcBef>
                <a:spcPct val="0"/>
              </a:spcBef>
              <a:buClrTx/>
              <a:buFontTx/>
              <a:buNone/>
            </a:pPr>
            <a:r>
              <a:rPr lang="zh-CN" altLang="en-US" sz="3200">
                <a:solidFill>
                  <a:srgbClr val="990000"/>
                </a:solidFill>
                <a:latin typeface="黑体" pitchFamily="2" charset="-122"/>
                <a:ea typeface="黑体" pitchFamily="2" charset="-122"/>
              </a:rPr>
              <a:t>第1章 概 论</a:t>
            </a:r>
          </a:p>
        </p:txBody>
      </p:sp>
      <p:sp>
        <p:nvSpPr>
          <p:cNvPr id="6148" name="Text Box 29"/>
          <p:cNvSpPr txBox="1">
            <a:spLocks noChangeArrowheads="1"/>
          </p:cNvSpPr>
          <p:nvPr/>
        </p:nvSpPr>
        <p:spPr bwMode="auto">
          <a:xfrm>
            <a:off x="2438400" y="480060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zh-CN" altLang="en-US">
                <a:solidFill>
                  <a:srgbClr val="800000"/>
                </a:solidFill>
                <a:latin typeface="黑体" pitchFamily="2" charset="-122"/>
                <a:ea typeface="黑体" pitchFamily="2" charset="-122"/>
              </a:rPr>
              <a:t>（对“整体”的粗步认识）</a:t>
            </a:r>
          </a:p>
        </p:txBody>
      </p:sp>
      <p:graphicFrame>
        <p:nvGraphicFramePr>
          <p:cNvPr id="6149" name="Object 30"/>
          <p:cNvGraphicFramePr>
            <a:graphicFrameLocks noChangeAspect="1"/>
          </p:cNvGraphicFramePr>
          <p:nvPr/>
        </p:nvGraphicFramePr>
        <p:xfrm>
          <a:off x="4876800" y="2362200"/>
          <a:ext cx="1754188" cy="2133600"/>
        </p:xfrm>
        <a:graphic>
          <a:graphicData uri="http://schemas.openxmlformats.org/presentationml/2006/ole">
            <mc:AlternateContent xmlns:mc="http://schemas.openxmlformats.org/markup-compatibility/2006">
              <mc:Choice xmlns:v="urn:schemas-microsoft-com:vml" Requires="v">
                <p:oleObj name="包" r:id="rId3" imgW="379379" imgH="476655" progId="Package">
                  <p:embed/>
                </p:oleObj>
              </mc:Choice>
              <mc:Fallback>
                <p:oleObj name="包" r:id="rId3" imgW="379379" imgH="476655" progId="Package">
                  <p:embed/>
                  <p:pic>
                    <p:nvPicPr>
                      <p:cNvPr id="0"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2362200"/>
                        <a:ext cx="1754188" cy="213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0" name="Object 31"/>
          <p:cNvGraphicFramePr>
            <a:graphicFrameLocks noChangeAspect="1"/>
          </p:cNvGraphicFramePr>
          <p:nvPr/>
        </p:nvGraphicFramePr>
        <p:xfrm>
          <a:off x="2362200" y="2362200"/>
          <a:ext cx="2209800" cy="1957388"/>
        </p:xfrm>
        <a:graphic>
          <a:graphicData uri="http://schemas.openxmlformats.org/presentationml/2006/ole">
            <mc:AlternateContent xmlns:mc="http://schemas.openxmlformats.org/markup-compatibility/2006">
              <mc:Choice xmlns:v="urn:schemas-microsoft-com:vml" Requires="v">
                <p:oleObj name="Clip" r:id="rId5" imgW="4046538" imgH="3352800" progId="MS_ClipArt_Gallery.2">
                  <p:embed/>
                </p:oleObj>
              </mc:Choice>
              <mc:Fallback>
                <p:oleObj name="Clip" r:id="rId5" imgW="4046538" imgH="3352800" progId="MS_ClipArt_Gallery.2">
                  <p:embed/>
                  <p:pic>
                    <p:nvPicPr>
                      <p:cNvPr id="0" name="Object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2200" y="2362200"/>
                        <a:ext cx="2209800" cy="1957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70" name="Rectangle 3"/>
          <p:cNvSpPr>
            <a:spLocks noChangeArrowheads="1"/>
          </p:cNvSpPr>
          <p:nvPr/>
        </p:nvSpPr>
        <p:spPr bwMode="auto">
          <a:xfrm>
            <a:off x="693738" y="874713"/>
            <a:ext cx="7848600" cy="838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a:lnSpc>
                <a:spcPct val="100000"/>
              </a:lnSpc>
              <a:spcBef>
                <a:spcPct val="0"/>
              </a:spcBef>
              <a:buClrTx/>
              <a:buFontTx/>
              <a:buNone/>
            </a:pPr>
            <a:r>
              <a:rPr lang="zh-CN" altLang="en-US" sz="3200">
                <a:solidFill>
                  <a:srgbClr val="990000"/>
                </a:solidFill>
                <a:latin typeface="黑体" pitchFamily="2" charset="-122"/>
                <a:ea typeface="黑体" pitchFamily="2" charset="-122"/>
              </a:rPr>
              <a:t>第1章 概 论</a:t>
            </a:r>
          </a:p>
        </p:txBody>
      </p:sp>
      <p:pic>
        <p:nvPicPr>
          <p:cNvPr id="7171" name="Picture 13" descr="gm_clip_image0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3800" y="5029200"/>
            <a:ext cx="982663"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Text Box 26"/>
          <p:cNvSpPr txBox="1">
            <a:spLocks noChangeArrowheads="1"/>
          </p:cNvSpPr>
          <p:nvPr/>
        </p:nvSpPr>
        <p:spPr bwMode="auto">
          <a:xfrm>
            <a:off x="1625600" y="2116138"/>
            <a:ext cx="6103938" cy="3194050"/>
          </a:xfrm>
          <a:prstGeom prst="rect">
            <a:avLst/>
          </a:prstGeom>
          <a:gradFill rotWithShape="0">
            <a:gsLst>
              <a:gs pos="0">
                <a:srgbClr val="ADD6FF"/>
              </a:gs>
              <a:gs pos="100000">
                <a:srgbClr val="F5E3F3"/>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tIns="0" bIns="0">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just">
              <a:lnSpc>
                <a:spcPct val="160000"/>
              </a:lnSpc>
              <a:spcBef>
                <a:spcPct val="0"/>
              </a:spcBef>
              <a:buClrTx/>
              <a:buFontTx/>
              <a:buNone/>
            </a:pPr>
            <a:r>
              <a:rPr kumimoji="0" lang="zh-CN" altLang="en-US" dirty="0">
                <a:solidFill>
                  <a:srgbClr val="000080"/>
                </a:solidFill>
                <a:latin typeface="黑体" pitchFamily="2" charset="-122"/>
                <a:ea typeface="黑体" pitchFamily="2" charset="-122"/>
              </a:rPr>
              <a:t>§1.1  计算机系统的组成与工作特点</a:t>
            </a:r>
            <a:r>
              <a:rPr kumimoji="0" lang="en-US" altLang="zh-CN" dirty="0">
                <a:solidFill>
                  <a:srgbClr val="000080"/>
                </a:solidFill>
                <a:latin typeface="黑体" pitchFamily="2" charset="-122"/>
                <a:ea typeface="黑体" pitchFamily="2" charset="-122"/>
              </a:rPr>
              <a:t> </a:t>
            </a:r>
          </a:p>
          <a:p>
            <a:pPr algn="just">
              <a:lnSpc>
                <a:spcPct val="160000"/>
              </a:lnSpc>
              <a:spcBef>
                <a:spcPct val="0"/>
              </a:spcBef>
              <a:buClrTx/>
              <a:buFontTx/>
              <a:buNone/>
            </a:pPr>
            <a:r>
              <a:rPr kumimoji="0" lang="zh-CN" altLang="en-US" dirty="0">
                <a:solidFill>
                  <a:srgbClr val="000080"/>
                </a:solidFill>
                <a:latin typeface="黑体" pitchFamily="2" charset="-122"/>
                <a:ea typeface="黑体" pitchFamily="2" charset="-122"/>
              </a:rPr>
              <a:t>§1.</a:t>
            </a:r>
            <a:r>
              <a:rPr kumimoji="0" lang="en-US" altLang="zh-CN" dirty="0">
                <a:solidFill>
                  <a:srgbClr val="000080"/>
                </a:solidFill>
                <a:latin typeface="黑体" pitchFamily="2" charset="-122"/>
                <a:ea typeface="黑体" pitchFamily="2" charset="-122"/>
              </a:rPr>
              <a:t>2  </a:t>
            </a:r>
            <a:r>
              <a:rPr kumimoji="0" lang="zh-CN" altLang="zh-CN" dirty="0">
                <a:solidFill>
                  <a:srgbClr val="000080"/>
                </a:solidFill>
                <a:latin typeface="黑体" pitchFamily="2" charset="-122"/>
                <a:ea typeface="黑体" pitchFamily="2" charset="-122"/>
              </a:rPr>
              <a:t>计算机系统的层次结构</a:t>
            </a:r>
            <a:endParaRPr kumimoji="0" lang="zh-CN" altLang="en-US" dirty="0">
              <a:solidFill>
                <a:srgbClr val="000080"/>
              </a:solidFill>
              <a:latin typeface="黑体" pitchFamily="2" charset="-122"/>
              <a:ea typeface="黑体" pitchFamily="2" charset="-122"/>
            </a:endParaRPr>
          </a:p>
          <a:p>
            <a:pPr algn="just">
              <a:lnSpc>
                <a:spcPct val="160000"/>
              </a:lnSpc>
              <a:spcBef>
                <a:spcPct val="0"/>
              </a:spcBef>
              <a:buClrTx/>
              <a:buFontTx/>
              <a:buNone/>
            </a:pPr>
            <a:r>
              <a:rPr kumimoji="0" lang="zh-CN" altLang="en-US" dirty="0">
                <a:solidFill>
                  <a:srgbClr val="000080"/>
                </a:solidFill>
                <a:latin typeface="黑体" pitchFamily="2" charset="-122"/>
                <a:ea typeface="黑体" pitchFamily="2" charset="-122"/>
              </a:rPr>
              <a:t>§1.</a:t>
            </a:r>
            <a:r>
              <a:rPr kumimoji="0" lang="en-US" altLang="zh-CN" dirty="0">
                <a:solidFill>
                  <a:srgbClr val="000080"/>
                </a:solidFill>
                <a:latin typeface="黑体" pitchFamily="2" charset="-122"/>
                <a:ea typeface="黑体" pitchFamily="2" charset="-122"/>
              </a:rPr>
              <a:t>3  </a:t>
            </a:r>
            <a:r>
              <a:rPr kumimoji="0" lang="zh-CN" altLang="en-US" dirty="0">
                <a:solidFill>
                  <a:srgbClr val="000080"/>
                </a:solidFill>
                <a:latin typeface="黑体" pitchFamily="2" charset="-122"/>
                <a:ea typeface="黑体" pitchFamily="2" charset="-122"/>
              </a:rPr>
              <a:t>计算机硬件系统的组织 </a:t>
            </a:r>
            <a:endParaRPr kumimoji="0" lang="en-US" altLang="zh-CN" dirty="0">
              <a:solidFill>
                <a:srgbClr val="000080"/>
              </a:solidFill>
              <a:latin typeface="黑体" pitchFamily="2" charset="-122"/>
              <a:ea typeface="黑体" pitchFamily="2" charset="-122"/>
            </a:endParaRPr>
          </a:p>
          <a:p>
            <a:pPr algn="just">
              <a:lnSpc>
                <a:spcPct val="160000"/>
              </a:lnSpc>
              <a:spcBef>
                <a:spcPct val="0"/>
              </a:spcBef>
              <a:buClrTx/>
              <a:buFontTx/>
              <a:buNone/>
            </a:pPr>
            <a:r>
              <a:rPr kumimoji="0" lang="zh-CN" altLang="en-US" dirty="0">
                <a:solidFill>
                  <a:srgbClr val="000080"/>
                </a:solidFill>
                <a:latin typeface="黑体" pitchFamily="2" charset="-122"/>
                <a:ea typeface="黑体" pitchFamily="2" charset="-122"/>
              </a:rPr>
              <a:t>§1.4  计算机的发展 </a:t>
            </a:r>
          </a:p>
          <a:p>
            <a:pPr algn="just">
              <a:lnSpc>
                <a:spcPct val="160000"/>
              </a:lnSpc>
              <a:spcBef>
                <a:spcPct val="0"/>
              </a:spcBef>
              <a:buClrTx/>
              <a:buFontTx/>
              <a:buNone/>
            </a:pPr>
            <a:r>
              <a:rPr kumimoji="0" lang="zh-CN" altLang="en-US" dirty="0">
                <a:solidFill>
                  <a:srgbClr val="000080"/>
                </a:solidFill>
                <a:latin typeface="黑体" pitchFamily="2" charset="-122"/>
                <a:ea typeface="黑体" pitchFamily="2" charset="-122"/>
              </a:rPr>
              <a:t>§1.5  计算机的主要性能指标 </a:t>
            </a:r>
          </a:p>
          <a:p>
            <a:pPr algn="just">
              <a:lnSpc>
                <a:spcPct val="50000"/>
              </a:lnSpc>
              <a:spcBef>
                <a:spcPct val="0"/>
              </a:spcBef>
              <a:buClrTx/>
              <a:buFontTx/>
              <a:buNone/>
            </a:pPr>
            <a:endParaRPr kumimoji="0" lang="zh-CN" altLang="en-US" dirty="0">
              <a:solidFill>
                <a:srgbClr val="000080"/>
              </a:solidFill>
              <a:latin typeface="黑体" pitchFamily="2" charset="-122"/>
              <a:ea typeface="黑体" pitchFamily="2" charset="-122"/>
            </a:endParaRPr>
          </a:p>
        </p:txBody>
      </p:sp>
      <p:sp>
        <p:nvSpPr>
          <p:cNvPr id="7173" name="Text Box 39"/>
          <p:cNvSpPr txBox="1">
            <a:spLocks noChangeArrowheads="1"/>
          </p:cNvSpPr>
          <p:nvPr/>
        </p:nvSpPr>
        <p:spPr bwMode="auto">
          <a:xfrm>
            <a:off x="0" y="0"/>
            <a:ext cx="9144000" cy="339725"/>
          </a:xfrm>
          <a:prstGeom prst="rect">
            <a:avLst/>
          </a:prstGeom>
          <a:gradFill rotWithShape="0">
            <a:gsLst>
              <a:gs pos="0">
                <a:srgbClr val="F8F0F7"/>
              </a:gs>
              <a:gs pos="100000">
                <a:srgbClr val="99CC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eaLnBrk="1" hangingPunct="1"/>
            <a:r>
              <a:rPr kumimoji="0" lang="zh-CN" altLang="en-US" sz="1800" i="1" dirty="0">
                <a:solidFill>
                  <a:srgbClr val="990000"/>
                </a:solidFill>
                <a:latin typeface="仿宋_GB2312" pitchFamily="49" charset="-122"/>
                <a:ea typeface="仿宋_GB2312" pitchFamily="49" charset="-122"/>
              </a:rPr>
              <a:t>                                                               </a:t>
            </a:r>
            <a:r>
              <a:rPr kumimoji="0" lang="zh-CN" altLang="en-US" sz="1800" i="1" dirty="0">
                <a:solidFill>
                  <a:srgbClr val="990000"/>
                </a:solidFill>
                <a:latin typeface="黑体" pitchFamily="2" charset="-122"/>
                <a:ea typeface="黑体" pitchFamily="2" charset="-122"/>
              </a:rPr>
              <a:t>第</a:t>
            </a:r>
            <a:r>
              <a:rPr kumimoji="0" lang="en-US" altLang="zh-CN" sz="1800" i="1" dirty="0">
                <a:solidFill>
                  <a:srgbClr val="990000"/>
                </a:solidFill>
                <a:latin typeface="黑体" pitchFamily="2" charset="-122"/>
                <a:ea typeface="黑体" pitchFamily="2" charset="-122"/>
              </a:rPr>
              <a:t>1</a:t>
            </a:r>
            <a:r>
              <a:rPr kumimoji="0" lang="zh-CN" altLang="en-US" sz="1800" i="1" dirty="0">
                <a:solidFill>
                  <a:srgbClr val="990000"/>
                </a:solidFill>
                <a:latin typeface="黑体" pitchFamily="2" charset="-122"/>
                <a:ea typeface="黑体" pitchFamily="2" charset="-122"/>
              </a:rPr>
              <a:t>章  概论</a:t>
            </a:r>
          </a:p>
        </p:txBody>
      </p:sp>
      <p:sp>
        <p:nvSpPr>
          <p:cNvPr id="7174" name="灯片编号占位符 1"/>
          <p:cNvSpPr txBox="1">
            <a:spLocks noGrp="1"/>
          </p:cNvSpPr>
          <p:nvPr/>
        </p:nvSpPr>
        <p:spPr bwMode="auto">
          <a:xfrm>
            <a:off x="7924800" y="6502400"/>
            <a:ext cx="990600" cy="34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0" anchor="b"/>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r" eaLnBrk="1" hangingPunct="1">
              <a:lnSpc>
                <a:spcPct val="100000"/>
              </a:lnSpc>
              <a:spcBef>
                <a:spcPct val="0"/>
              </a:spcBef>
              <a:buClrTx/>
              <a:buFontTx/>
              <a:buNone/>
            </a:pPr>
            <a:fld id="{FF079AE1-31C4-443D-954A-48E28D30C08A}" type="slidenum">
              <a:rPr kumimoji="0" lang="zh-CN" altLang="en-US" sz="1400">
                <a:solidFill>
                  <a:schemeClr val="tx1"/>
                </a:solidFill>
                <a:latin typeface="Tahoma" pitchFamily="34" charset="0"/>
                <a:ea typeface="宋体" pitchFamily="2" charset="-122"/>
              </a:rPr>
              <a:pPr algn="r" eaLnBrk="1" hangingPunct="1">
                <a:lnSpc>
                  <a:spcPct val="100000"/>
                </a:lnSpc>
                <a:spcBef>
                  <a:spcPct val="0"/>
                </a:spcBef>
                <a:buClrTx/>
                <a:buFontTx/>
                <a:buNone/>
              </a:pPr>
              <a:t>3</a:t>
            </a:fld>
            <a:endParaRPr kumimoji="0" lang="en-US" altLang="zh-CN" sz="1400" dirty="0">
              <a:solidFill>
                <a:schemeClr val="tx1"/>
              </a:solidFill>
              <a:latin typeface="Tahoma" pitchFamily="34" charset="0"/>
              <a:ea typeface="宋体" pitchFamily="2"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31"/>
          <p:cNvSpPr>
            <a:spLocks noChangeArrowheads="1"/>
          </p:cNvSpPr>
          <p:nvPr/>
        </p:nvSpPr>
        <p:spPr bwMode="auto">
          <a:xfrm>
            <a:off x="0" y="559788"/>
            <a:ext cx="914400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gn="ctr">
              <a:lnSpc>
                <a:spcPct val="100000"/>
              </a:lnSpc>
              <a:spcBef>
                <a:spcPct val="0"/>
              </a:spcBef>
              <a:buClrTx/>
              <a:buFontTx/>
              <a:buNone/>
            </a:pPr>
            <a:r>
              <a:rPr lang="zh-CN" altLang="en-US" sz="2600" dirty="0">
                <a:solidFill>
                  <a:srgbClr val="800000"/>
                </a:solidFill>
                <a:latin typeface="黑体" pitchFamily="2" charset="-122"/>
                <a:ea typeface="黑体" pitchFamily="2" charset="-122"/>
              </a:rPr>
              <a:t>§1.1 计算机系统的组成与工作特点</a:t>
            </a:r>
            <a:r>
              <a:rPr lang="en-US" altLang="zh-CN" sz="2600" dirty="0">
                <a:solidFill>
                  <a:srgbClr val="800000"/>
                </a:solidFill>
                <a:latin typeface="黑体" pitchFamily="2" charset="-122"/>
                <a:ea typeface="黑体" pitchFamily="2" charset="-122"/>
              </a:rPr>
              <a:t> </a:t>
            </a:r>
          </a:p>
        </p:txBody>
      </p:sp>
      <p:sp>
        <p:nvSpPr>
          <p:cNvPr id="9219" name="Rectangle 46"/>
          <p:cNvSpPr>
            <a:spLocks noChangeArrowheads="1"/>
          </p:cNvSpPr>
          <p:nvPr/>
        </p:nvSpPr>
        <p:spPr bwMode="auto">
          <a:xfrm>
            <a:off x="482600" y="1092200"/>
            <a:ext cx="8102600" cy="592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zh-CN" altLang="en-US" dirty="0">
                <a:solidFill>
                  <a:srgbClr val="800000"/>
                </a:solidFill>
                <a:latin typeface="黑体" pitchFamily="2" charset="-122"/>
                <a:ea typeface="黑体" pitchFamily="2" charset="-122"/>
              </a:rPr>
              <a:t>1.1.1 计算机系统的组成 </a:t>
            </a:r>
            <a:endParaRPr lang="zh-CN" altLang="en-US" dirty="0">
              <a:latin typeface="黑体" pitchFamily="2" charset="-122"/>
              <a:ea typeface="黑体" pitchFamily="2" charset="-122"/>
            </a:endParaRPr>
          </a:p>
        </p:txBody>
      </p:sp>
      <p:sp>
        <p:nvSpPr>
          <p:cNvPr id="9220" name="Rectangle 47"/>
          <p:cNvSpPr>
            <a:spLocks noChangeArrowheads="1"/>
          </p:cNvSpPr>
          <p:nvPr/>
        </p:nvSpPr>
        <p:spPr bwMode="auto">
          <a:xfrm>
            <a:off x="876300" y="1685925"/>
            <a:ext cx="8267700" cy="592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zh-CN" altLang="en-US" dirty="0">
                <a:solidFill>
                  <a:srgbClr val="800000"/>
                </a:solidFill>
                <a:latin typeface="黑体" pitchFamily="2" charset="-122"/>
                <a:ea typeface="黑体" pitchFamily="2" charset="-122"/>
              </a:rPr>
              <a:t>1．计算机系统</a:t>
            </a:r>
          </a:p>
        </p:txBody>
      </p:sp>
      <p:sp>
        <p:nvSpPr>
          <p:cNvPr id="332850" name="Rectangle 50"/>
          <p:cNvSpPr>
            <a:spLocks noChangeArrowheads="1"/>
          </p:cNvSpPr>
          <p:nvPr/>
        </p:nvSpPr>
        <p:spPr bwMode="auto">
          <a:xfrm>
            <a:off x="760413" y="4983163"/>
            <a:ext cx="7281862" cy="1464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0"/>
              </a:spcBef>
              <a:buClrTx/>
              <a:buFontTx/>
              <a:buNone/>
              <a:tabLst>
                <a:tab pos="542925" algn="l"/>
              </a:tabLst>
            </a:pPr>
            <a:r>
              <a:rPr lang="zh-CN" altLang="en-US" dirty="0">
                <a:solidFill>
                  <a:srgbClr val="000080"/>
                </a:solidFill>
                <a:latin typeface="黑体" pitchFamily="2" charset="-122"/>
                <a:ea typeface="黑体" pitchFamily="2" charset="-122"/>
              </a:rPr>
              <a:t>    硬件和软件是系统的</a:t>
            </a:r>
            <a:r>
              <a:rPr lang="zh-CN" altLang="en-US" dirty="0">
                <a:solidFill>
                  <a:srgbClr val="FF0000"/>
                </a:solidFill>
                <a:latin typeface="黑体" pitchFamily="2" charset="-122"/>
                <a:ea typeface="黑体" pitchFamily="2" charset="-122"/>
              </a:rPr>
              <a:t>有机整体</a:t>
            </a:r>
            <a:r>
              <a:rPr lang="zh-CN" altLang="en-US" dirty="0">
                <a:solidFill>
                  <a:srgbClr val="000080"/>
                </a:solidFill>
                <a:latin typeface="黑体" pitchFamily="2" charset="-122"/>
                <a:ea typeface="黑体" pitchFamily="2" charset="-122"/>
              </a:rPr>
              <a:t>。</a:t>
            </a:r>
            <a:endParaRPr lang="en-US" altLang="zh-CN" dirty="0">
              <a:solidFill>
                <a:srgbClr val="000080"/>
              </a:solidFill>
              <a:latin typeface="黑体" pitchFamily="2" charset="-122"/>
              <a:ea typeface="黑体" pitchFamily="2" charset="-122"/>
            </a:endParaRPr>
          </a:p>
          <a:p>
            <a:pPr algn="just">
              <a:lnSpc>
                <a:spcPct val="130000"/>
              </a:lnSpc>
              <a:spcBef>
                <a:spcPct val="0"/>
              </a:spcBef>
              <a:buClrTx/>
              <a:buFontTx/>
              <a:buNone/>
              <a:tabLst>
                <a:tab pos="542925" algn="l"/>
              </a:tabLst>
            </a:pPr>
            <a:r>
              <a:rPr lang="en-US" altLang="zh-CN" dirty="0">
                <a:solidFill>
                  <a:srgbClr val="000080"/>
                </a:solidFill>
                <a:latin typeface="黑体" pitchFamily="2" charset="-122"/>
                <a:ea typeface="黑体" pitchFamily="2" charset="-122"/>
              </a:rPr>
              <a:t>    </a:t>
            </a:r>
            <a:r>
              <a:rPr lang="zh-CN" altLang="en-US" dirty="0">
                <a:solidFill>
                  <a:srgbClr val="000080"/>
                </a:solidFill>
                <a:latin typeface="黑体" pitchFamily="2" charset="-122"/>
                <a:ea typeface="黑体" pitchFamily="2" charset="-122"/>
              </a:rPr>
              <a:t>因此，</a:t>
            </a:r>
            <a:r>
              <a:rPr lang="zh-CN" altLang="en-US" dirty="0">
                <a:solidFill>
                  <a:srgbClr val="FF0000"/>
                </a:solidFill>
                <a:latin typeface="黑体" pitchFamily="2" charset="-122"/>
                <a:ea typeface="黑体" pitchFamily="2" charset="-122"/>
              </a:rPr>
              <a:t>要理解硬件系统的组织结构和设计要素是如何影响软件运行性能的</a:t>
            </a:r>
            <a:r>
              <a:rPr lang="zh-CN" altLang="en-US" dirty="0">
                <a:solidFill>
                  <a:srgbClr val="000080"/>
                </a:solidFill>
                <a:latin typeface="黑体" pitchFamily="2" charset="-122"/>
                <a:ea typeface="黑体" pitchFamily="2" charset="-122"/>
              </a:rPr>
              <a:t>。</a:t>
            </a:r>
            <a:endParaRPr lang="en-US" altLang="zh-CN" dirty="0">
              <a:solidFill>
                <a:srgbClr val="000080"/>
              </a:solidFill>
              <a:latin typeface="黑体" pitchFamily="2" charset="-122"/>
              <a:ea typeface="黑体" pitchFamily="2" charset="-122"/>
            </a:endParaRPr>
          </a:p>
        </p:txBody>
      </p:sp>
      <p:sp>
        <p:nvSpPr>
          <p:cNvPr id="9222" name="Text Box 9"/>
          <p:cNvSpPr txBox="1">
            <a:spLocks noChangeArrowheads="1"/>
          </p:cNvSpPr>
          <p:nvPr/>
        </p:nvSpPr>
        <p:spPr bwMode="auto">
          <a:xfrm>
            <a:off x="1287923" y="2455863"/>
            <a:ext cx="517065" cy="186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r>
              <a:rPr lang="zh-CN" altLang="en-US" dirty="0">
                <a:solidFill>
                  <a:srgbClr val="000080"/>
                </a:solidFill>
                <a:latin typeface="黑体" pitchFamily="2" charset="-122"/>
                <a:ea typeface="黑体" pitchFamily="2" charset="-122"/>
              </a:rPr>
              <a:t>计算机系统</a:t>
            </a:r>
          </a:p>
        </p:txBody>
      </p:sp>
      <p:sp>
        <p:nvSpPr>
          <p:cNvPr id="9223" name="AutoShape 10"/>
          <p:cNvSpPr>
            <a:spLocks/>
          </p:cNvSpPr>
          <p:nvPr/>
        </p:nvSpPr>
        <p:spPr bwMode="auto">
          <a:xfrm>
            <a:off x="1781175" y="2767013"/>
            <a:ext cx="314325" cy="1308100"/>
          </a:xfrm>
          <a:prstGeom prst="leftBrace">
            <a:avLst>
              <a:gd name="adj1" fmla="val 34680"/>
              <a:gd name="adj2" fmla="val 50000"/>
            </a:avLst>
          </a:prstGeom>
          <a:noFill/>
          <a:ln w="28575">
            <a:solidFill>
              <a:srgbClr val="00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20000"/>
              </a:spcBef>
            </a:pPr>
            <a:endParaRPr lang="zh-CN" altLang="en-US" sz="2600">
              <a:latin typeface="黑体" pitchFamily="2" charset="-122"/>
              <a:ea typeface="黑体" pitchFamily="2" charset="-122"/>
            </a:endParaRPr>
          </a:p>
        </p:txBody>
      </p:sp>
      <p:sp>
        <p:nvSpPr>
          <p:cNvPr id="9224" name="Rectangle 50"/>
          <p:cNvSpPr>
            <a:spLocks noChangeArrowheads="1"/>
          </p:cNvSpPr>
          <p:nvPr/>
        </p:nvSpPr>
        <p:spPr bwMode="auto">
          <a:xfrm>
            <a:off x="2163763" y="2419350"/>
            <a:ext cx="6113462"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20000"/>
              </a:lnSpc>
              <a:spcBef>
                <a:spcPct val="0"/>
              </a:spcBef>
              <a:buClrTx/>
              <a:buFontTx/>
              <a:buNone/>
              <a:tabLst>
                <a:tab pos="542925" algn="l"/>
              </a:tabLst>
            </a:pPr>
            <a:r>
              <a:rPr lang="zh-CN" altLang="en-US" dirty="0">
                <a:solidFill>
                  <a:srgbClr val="800000"/>
                </a:solidFill>
                <a:latin typeface="黑体" pitchFamily="2" charset="-122"/>
                <a:ea typeface="黑体" pitchFamily="2" charset="-122"/>
              </a:rPr>
              <a:t>硬件</a:t>
            </a:r>
            <a:r>
              <a:rPr lang="zh-CN" altLang="en-US" dirty="0">
                <a:solidFill>
                  <a:srgbClr val="000080"/>
                </a:solidFill>
                <a:latin typeface="黑体" pitchFamily="2" charset="-122"/>
                <a:ea typeface="黑体" pitchFamily="2" charset="-122"/>
              </a:rPr>
              <a:t>  计算机的实体</a:t>
            </a:r>
          </a:p>
          <a:p>
            <a:pPr algn="just">
              <a:lnSpc>
                <a:spcPct val="120000"/>
              </a:lnSpc>
              <a:spcBef>
                <a:spcPct val="0"/>
              </a:spcBef>
              <a:buClrTx/>
              <a:buFontTx/>
              <a:buNone/>
              <a:tabLst>
                <a:tab pos="542925" algn="l"/>
              </a:tabLst>
            </a:pPr>
            <a:r>
              <a:rPr lang="zh-CN" altLang="en-US" dirty="0">
                <a:solidFill>
                  <a:srgbClr val="000080"/>
                </a:solidFill>
                <a:latin typeface="黑体" pitchFamily="2" charset="-122"/>
                <a:ea typeface="黑体" pitchFamily="2" charset="-122"/>
              </a:rPr>
              <a:t>      如主板、内存、外设等</a:t>
            </a:r>
            <a:endParaRPr lang="en-US" altLang="zh-CN" dirty="0">
              <a:solidFill>
                <a:srgbClr val="000080"/>
              </a:solidFill>
              <a:latin typeface="黑体" pitchFamily="2" charset="-122"/>
              <a:ea typeface="黑体" pitchFamily="2" charset="-122"/>
            </a:endParaRPr>
          </a:p>
        </p:txBody>
      </p:sp>
      <p:sp>
        <p:nvSpPr>
          <p:cNvPr id="9225" name="Rectangle 50"/>
          <p:cNvSpPr>
            <a:spLocks noChangeArrowheads="1"/>
          </p:cNvSpPr>
          <p:nvPr/>
        </p:nvSpPr>
        <p:spPr bwMode="auto">
          <a:xfrm>
            <a:off x="2143125" y="3690938"/>
            <a:ext cx="6113463" cy="919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20000"/>
              </a:lnSpc>
              <a:spcBef>
                <a:spcPct val="0"/>
              </a:spcBef>
              <a:buClrTx/>
              <a:buFontTx/>
              <a:buNone/>
              <a:tabLst>
                <a:tab pos="542925" algn="l"/>
              </a:tabLst>
            </a:pPr>
            <a:r>
              <a:rPr lang="zh-CN" altLang="en-US" dirty="0">
                <a:solidFill>
                  <a:srgbClr val="800000"/>
                </a:solidFill>
                <a:latin typeface="黑体" pitchFamily="2" charset="-122"/>
                <a:ea typeface="黑体" pitchFamily="2" charset="-122"/>
              </a:rPr>
              <a:t>软件</a:t>
            </a:r>
            <a:r>
              <a:rPr lang="zh-CN" altLang="en-US" dirty="0">
                <a:solidFill>
                  <a:schemeClr val="hlink"/>
                </a:solidFill>
                <a:latin typeface="黑体" pitchFamily="2" charset="-122"/>
                <a:ea typeface="黑体" pitchFamily="2" charset="-122"/>
              </a:rPr>
              <a:t>  </a:t>
            </a:r>
            <a:r>
              <a:rPr lang="zh-CN" altLang="en-US" dirty="0">
                <a:solidFill>
                  <a:srgbClr val="000080"/>
                </a:solidFill>
                <a:latin typeface="黑体" pitchFamily="2" charset="-122"/>
                <a:ea typeface="黑体" pitchFamily="2" charset="-122"/>
              </a:rPr>
              <a:t>由具有各类特殊功能的信息组成</a:t>
            </a:r>
          </a:p>
          <a:p>
            <a:pPr algn="just">
              <a:lnSpc>
                <a:spcPct val="120000"/>
              </a:lnSpc>
              <a:spcBef>
                <a:spcPct val="0"/>
              </a:spcBef>
              <a:buClrTx/>
              <a:buFontTx/>
              <a:buNone/>
              <a:tabLst>
                <a:tab pos="542925" algn="l"/>
              </a:tabLst>
            </a:pPr>
            <a:r>
              <a:rPr lang="zh-CN" altLang="en-US" dirty="0">
                <a:solidFill>
                  <a:srgbClr val="000080"/>
                </a:solidFill>
                <a:latin typeface="黑体" pitchFamily="2" charset="-122"/>
                <a:ea typeface="黑体" pitchFamily="2" charset="-122"/>
              </a:rPr>
              <a:t>       （程序）</a:t>
            </a:r>
          </a:p>
        </p:txBody>
      </p:sp>
      <p:pic>
        <p:nvPicPr>
          <p:cNvPr id="9226" name="Picture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27813" y="2773363"/>
            <a:ext cx="663575"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7" name="Picture 2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37438" y="2714625"/>
            <a:ext cx="808037"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8" name="Picture 2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9988" y="4110038"/>
            <a:ext cx="735012"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32850"/>
                                        </p:tgtEl>
                                        <p:attrNameLst>
                                          <p:attrName>style.visibility</p:attrName>
                                        </p:attrNameLst>
                                      </p:cBhvr>
                                      <p:to>
                                        <p:strVal val="visible"/>
                                      </p:to>
                                    </p:set>
                                    <p:animEffect transition="in" filter="wipe(up)">
                                      <p:cBhvr>
                                        <p:cTn id="7" dur="500"/>
                                        <p:tgtEl>
                                          <p:spTgt spid="3328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285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AutoShape 2">
            <a:extLst>
              <a:ext uri="{FF2B5EF4-FFF2-40B4-BE49-F238E27FC236}">
                <a16:creationId xmlns:a16="http://schemas.microsoft.com/office/drawing/2014/main" id="{B4180611-8076-4864-9AA2-B3DF65E68A12}"/>
              </a:ext>
            </a:extLst>
          </p:cNvPr>
          <p:cNvSpPr>
            <a:spLocks noChangeArrowheads="1"/>
          </p:cNvSpPr>
          <p:nvPr/>
        </p:nvSpPr>
        <p:spPr bwMode="auto">
          <a:xfrm>
            <a:off x="5516581" y="1814743"/>
            <a:ext cx="1280835" cy="783193"/>
          </a:xfrm>
          <a:prstGeom prst="wedgeRoundRectCallout">
            <a:avLst>
              <a:gd name="adj1" fmla="val -100233"/>
              <a:gd name="adj2" fmla="val 192731"/>
              <a:gd name="adj3" fmla="val 16667"/>
            </a:avLst>
          </a:prstGeom>
          <a:noFill/>
          <a:ln w="28575">
            <a:solidFill>
              <a:schemeClr val="folHlink"/>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zh-CN" altLang="en-US" sz="2000" b="1" dirty="0">
                <a:solidFill>
                  <a:srgbClr val="0070C0"/>
                </a:solidFill>
                <a:effectLst/>
                <a:latin typeface="宋体" panose="02010600030101010101" pitchFamily="2" charset="-122"/>
              </a:rPr>
              <a:t>算术运算</a:t>
            </a:r>
          </a:p>
          <a:p>
            <a:pPr algn="ctr">
              <a:spcBef>
                <a:spcPct val="20000"/>
              </a:spcBef>
            </a:pPr>
            <a:r>
              <a:rPr lang="zh-CN" altLang="en-US" sz="2000" b="1" dirty="0">
                <a:solidFill>
                  <a:srgbClr val="0070C0"/>
                </a:solidFill>
                <a:effectLst/>
                <a:latin typeface="宋体" panose="02010600030101010101" pitchFamily="2" charset="-122"/>
              </a:rPr>
              <a:t>逻辑运算</a:t>
            </a:r>
          </a:p>
        </p:txBody>
      </p:sp>
      <p:sp>
        <p:nvSpPr>
          <p:cNvPr id="134147" name="AutoShape 3">
            <a:extLst>
              <a:ext uri="{FF2B5EF4-FFF2-40B4-BE49-F238E27FC236}">
                <a16:creationId xmlns:a16="http://schemas.microsoft.com/office/drawing/2014/main" id="{1A52609D-E4E7-4AFE-A763-21ACC3A9C8FF}"/>
              </a:ext>
            </a:extLst>
          </p:cNvPr>
          <p:cNvSpPr>
            <a:spLocks noChangeArrowheads="1"/>
          </p:cNvSpPr>
          <p:nvPr/>
        </p:nvSpPr>
        <p:spPr bwMode="auto">
          <a:xfrm>
            <a:off x="1921758" y="1864043"/>
            <a:ext cx="1280835" cy="783193"/>
          </a:xfrm>
          <a:prstGeom prst="wedgeRoundRectCallout">
            <a:avLst>
              <a:gd name="adj1" fmla="val 116899"/>
              <a:gd name="adj2" fmla="val 39179"/>
              <a:gd name="adj3" fmla="val 16667"/>
            </a:avLst>
          </a:prstGeom>
          <a:noFill/>
          <a:ln w="28575">
            <a:solidFill>
              <a:schemeClr val="folHlink"/>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zh-CN" altLang="en-US" sz="2000" b="1" dirty="0">
                <a:solidFill>
                  <a:srgbClr val="0070C0"/>
                </a:solidFill>
                <a:effectLst/>
                <a:latin typeface="宋体" panose="02010600030101010101" pitchFamily="2" charset="-122"/>
              </a:rPr>
              <a:t>存放数据</a:t>
            </a:r>
          </a:p>
          <a:p>
            <a:pPr algn="ctr">
              <a:spcBef>
                <a:spcPct val="20000"/>
              </a:spcBef>
            </a:pPr>
            <a:r>
              <a:rPr lang="zh-CN" altLang="en-US" sz="2000" b="1" dirty="0">
                <a:solidFill>
                  <a:srgbClr val="0070C0"/>
                </a:solidFill>
                <a:effectLst/>
                <a:latin typeface="宋体" panose="02010600030101010101" pitchFamily="2" charset="-122"/>
              </a:rPr>
              <a:t>和程序</a:t>
            </a:r>
          </a:p>
        </p:txBody>
      </p:sp>
      <p:sp>
        <p:nvSpPr>
          <p:cNvPr id="134148" name="AutoShape 4">
            <a:extLst>
              <a:ext uri="{FF2B5EF4-FFF2-40B4-BE49-F238E27FC236}">
                <a16:creationId xmlns:a16="http://schemas.microsoft.com/office/drawing/2014/main" id="{2824C2C2-125D-443D-B55A-A5DEB4A0D622}"/>
              </a:ext>
            </a:extLst>
          </p:cNvPr>
          <p:cNvSpPr>
            <a:spLocks noChangeArrowheads="1"/>
          </p:cNvSpPr>
          <p:nvPr/>
        </p:nvSpPr>
        <p:spPr bwMode="auto">
          <a:xfrm>
            <a:off x="707057" y="2791668"/>
            <a:ext cx="2037477" cy="783193"/>
          </a:xfrm>
          <a:prstGeom prst="wedgeRoundRectCallout">
            <a:avLst>
              <a:gd name="adj1" fmla="val -5625"/>
              <a:gd name="adj2" fmla="val 88778"/>
              <a:gd name="adj3" fmla="val 16667"/>
            </a:avLst>
          </a:prstGeom>
          <a:noFill/>
          <a:ln w="28575">
            <a:solidFill>
              <a:schemeClr val="folHlink"/>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zh-CN" altLang="en-US" sz="2000" b="1" dirty="0">
                <a:solidFill>
                  <a:srgbClr val="0070C0"/>
                </a:solidFill>
                <a:effectLst/>
                <a:latin typeface="宋体" panose="02010600030101010101" pitchFamily="2" charset="-122"/>
              </a:rPr>
              <a:t>将信息转换成机</a:t>
            </a:r>
          </a:p>
          <a:p>
            <a:pPr algn="ctr">
              <a:spcBef>
                <a:spcPct val="20000"/>
              </a:spcBef>
            </a:pPr>
            <a:r>
              <a:rPr lang="zh-CN" altLang="en-US" sz="2000" b="1" dirty="0">
                <a:solidFill>
                  <a:srgbClr val="0070C0"/>
                </a:solidFill>
                <a:effectLst/>
                <a:latin typeface="宋体" panose="02010600030101010101" pitchFamily="2" charset="-122"/>
              </a:rPr>
              <a:t>器能识别的形式</a:t>
            </a:r>
          </a:p>
        </p:txBody>
      </p:sp>
      <p:sp>
        <p:nvSpPr>
          <p:cNvPr id="134149" name="AutoShape 5">
            <a:extLst>
              <a:ext uri="{FF2B5EF4-FFF2-40B4-BE49-F238E27FC236}">
                <a16:creationId xmlns:a16="http://schemas.microsoft.com/office/drawing/2014/main" id="{E8792912-F1C2-4556-A97B-C59AD89D6617}"/>
              </a:ext>
            </a:extLst>
          </p:cNvPr>
          <p:cNvSpPr>
            <a:spLocks noChangeArrowheads="1"/>
          </p:cNvSpPr>
          <p:nvPr/>
        </p:nvSpPr>
        <p:spPr bwMode="auto">
          <a:xfrm>
            <a:off x="6686613" y="2605680"/>
            <a:ext cx="2037477" cy="783193"/>
          </a:xfrm>
          <a:prstGeom prst="wedgeRoundRectCallout">
            <a:avLst>
              <a:gd name="adj1" fmla="val -42895"/>
              <a:gd name="adj2" fmla="val 102563"/>
              <a:gd name="adj3" fmla="val 16667"/>
            </a:avLst>
          </a:prstGeom>
          <a:noFill/>
          <a:ln w="28575">
            <a:solidFill>
              <a:schemeClr val="folHlink"/>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pPr>
            <a:r>
              <a:rPr lang="zh-CN" altLang="en-US" sz="2000" b="1" dirty="0">
                <a:solidFill>
                  <a:srgbClr val="0070C0"/>
                </a:solidFill>
                <a:effectLst/>
                <a:latin typeface="宋体" panose="02010600030101010101" pitchFamily="2" charset="-122"/>
              </a:rPr>
              <a:t>将结果转换成</a:t>
            </a:r>
          </a:p>
          <a:p>
            <a:pPr algn="ctr">
              <a:spcBef>
                <a:spcPct val="20000"/>
              </a:spcBef>
            </a:pPr>
            <a:r>
              <a:rPr lang="zh-CN" altLang="en-US" sz="2000" b="1" dirty="0">
                <a:solidFill>
                  <a:srgbClr val="0070C0"/>
                </a:solidFill>
                <a:effectLst/>
                <a:latin typeface="宋体" panose="02010600030101010101" pitchFamily="2" charset="-122"/>
              </a:rPr>
              <a:t>人们熟悉的形式</a:t>
            </a:r>
          </a:p>
        </p:txBody>
      </p:sp>
      <p:sp>
        <p:nvSpPr>
          <p:cNvPr id="134150" name="AutoShape 6">
            <a:extLst>
              <a:ext uri="{FF2B5EF4-FFF2-40B4-BE49-F238E27FC236}">
                <a16:creationId xmlns:a16="http://schemas.microsoft.com/office/drawing/2014/main" id="{2361C6EB-96A9-4015-ADAD-8E6CE837D9A5}"/>
              </a:ext>
            </a:extLst>
          </p:cNvPr>
          <p:cNvSpPr>
            <a:spLocks noChangeArrowheads="1"/>
          </p:cNvSpPr>
          <p:nvPr/>
        </p:nvSpPr>
        <p:spPr bwMode="auto">
          <a:xfrm>
            <a:off x="6212319" y="5712164"/>
            <a:ext cx="1801813" cy="783193"/>
          </a:xfrm>
          <a:prstGeom prst="wedgeRoundRectCallout">
            <a:avLst>
              <a:gd name="adj1" fmla="val -116958"/>
              <a:gd name="adj2" fmla="val -50398"/>
              <a:gd name="adj3" fmla="val 16667"/>
            </a:avLst>
          </a:prstGeom>
          <a:noFill/>
          <a:ln w="28575">
            <a:solidFill>
              <a:schemeClr val="folHlink"/>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20000"/>
              </a:spcBef>
            </a:pPr>
            <a:r>
              <a:rPr lang="zh-CN" altLang="en-US" sz="2000" b="1" dirty="0">
                <a:solidFill>
                  <a:srgbClr val="0070C0"/>
                </a:solidFill>
                <a:effectLst/>
                <a:latin typeface="宋体" panose="02010600030101010101" pitchFamily="2" charset="-122"/>
              </a:rPr>
              <a:t>指挥程序</a:t>
            </a:r>
          </a:p>
          <a:p>
            <a:pPr algn="ctr">
              <a:spcBef>
                <a:spcPct val="20000"/>
              </a:spcBef>
            </a:pPr>
            <a:r>
              <a:rPr lang="zh-CN" altLang="en-US" sz="2000" b="1" dirty="0">
                <a:solidFill>
                  <a:srgbClr val="0070C0"/>
                </a:solidFill>
                <a:effectLst/>
                <a:latin typeface="宋体" panose="02010600030101010101" pitchFamily="2" charset="-122"/>
              </a:rPr>
              <a:t>运行</a:t>
            </a:r>
          </a:p>
        </p:txBody>
      </p:sp>
      <p:sp>
        <p:nvSpPr>
          <p:cNvPr id="134152" name="Text Box 8">
            <a:extLst>
              <a:ext uri="{FF2B5EF4-FFF2-40B4-BE49-F238E27FC236}">
                <a16:creationId xmlns:a16="http://schemas.microsoft.com/office/drawing/2014/main" id="{44D7F904-82E2-4A51-A26C-55923DE992F8}"/>
              </a:ext>
            </a:extLst>
          </p:cNvPr>
          <p:cNvSpPr txBox="1">
            <a:spLocks noChangeArrowheads="1"/>
          </p:cNvSpPr>
          <p:nvPr/>
        </p:nvSpPr>
        <p:spPr bwMode="auto">
          <a:xfrm>
            <a:off x="503519" y="822394"/>
            <a:ext cx="5345922" cy="1113766"/>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spcBef>
                <a:spcPct val="0"/>
              </a:spcBef>
              <a:buClrTx/>
              <a:buFontTx/>
              <a:buNone/>
            </a:pPr>
            <a:r>
              <a:rPr lang="en-US" altLang="zh-CN" dirty="0">
                <a:solidFill>
                  <a:srgbClr val="800000"/>
                </a:solidFill>
                <a:latin typeface="黑体" pitchFamily="2" charset="-122"/>
                <a:ea typeface="黑体" pitchFamily="2" charset="-122"/>
              </a:rPr>
              <a:t>2</a:t>
            </a:r>
            <a:r>
              <a:rPr lang="zh-CN" altLang="en-US" dirty="0">
                <a:solidFill>
                  <a:srgbClr val="800000"/>
                </a:solidFill>
                <a:latin typeface="黑体" pitchFamily="2" charset="-122"/>
                <a:ea typeface="黑体" pitchFamily="2" charset="-122"/>
              </a:rPr>
              <a:t>．硬件系统的基本组成</a:t>
            </a:r>
            <a:endParaRPr lang="en-US" altLang="zh-CN" dirty="0">
              <a:solidFill>
                <a:srgbClr val="800000"/>
              </a:solidFill>
              <a:latin typeface="黑体" pitchFamily="2" charset="-122"/>
              <a:ea typeface="黑体" pitchFamily="2" charset="-122"/>
            </a:endParaRPr>
          </a:p>
          <a:p>
            <a:pPr marL="342900" indent="-342900">
              <a:lnSpc>
                <a:spcPct val="150000"/>
              </a:lnSpc>
              <a:spcBef>
                <a:spcPct val="0"/>
              </a:spcBef>
              <a:buClrTx/>
              <a:buFont typeface="Wingdings" panose="05000000000000000000" pitchFamily="2" charset="2"/>
              <a:buChar char="l"/>
            </a:pPr>
            <a:r>
              <a:rPr lang="zh-CN" altLang="en-US" dirty="0">
                <a:solidFill>
                  <a:srgbClr val="800000"/>
                </a:solidFill>
                <a:latin typeface="黑体" pitchFamily="2" charset="-122"/>
                <a:ea typeface="黑体" pitchFamily="2" charset="-122"/>
              </a:rPr>
              <a:t>早期的冯</a:t>
            </a:r>
            <a:r>
              <a:rPr lang="en-US" altLang="zh-CN" dirty="0">
                <a:solidFill>
                  <a:srgbClr val="800000"/>
                </a:solidFill>
                <a:latin typeface="黑体" pitchFamily="2" charset="-122"/>
                <a:ea typeface="黑体" pitchFamily="2" charset="-122"/>
              </a:rPr>
              <a:t>·</a:t>
            </a:r>
            <a:r>
              <a:rPr lang="zh-CN" altLang="en-US" dirty="0">
                <a:solidFill>
                  <a:srgbClr val="800000"/>
                </a:solidFill>
                <a:latin typeface="黑体" pitchFamily="2" charset="-122"/>
                <a:ea typeface="黑体" pitchFamily="2" charset="-122"/>
              </a:rPr>
              <a:t>诺依曼计算机</a:t>
            </a:r>
            <a:endParaRPr lang="en-US" altLang="zh-CN" dirty="0">
              <a:solidFill>
                <a:srgbClr val="800000"/>
              </a:solidFill>
              <a:latin typeface="黑体" pitchFamily="2" charset="-122"/>
              <a:ea typeface="黑体" pitchFamily="2" charset="-122"/>
            </a:endParaRPr>
          </a:p>
        </p:txBody>
      </p:sp>
      <p:grpSp>
        <p:nvGrpSpPr>
          <p:cNvPr id="134153" name="Group 9">
            <a:extLst>
              <a:ext uri="{FF2B5EF4-FFF2-40B4-BE49-F238E27FC236}">
                <a16:creationId xmlns:a16="http://schemas.microsoft.com/office/drawing/2014/main" id="{36FB2209-6B37-40F1-AFFA-99CAF133B637}"/>
              </a:ext>
            </a:extLst>
          </p:cNvPr>
          <p:cNvGrpSpPr>
            <a:grpSpLocks/>
          </p:cNvGrpSpPr>
          <p:nvPr/>
        </p:nvGrpSpPr>
        <p:grpSpPr bwMode="auto">
          <a:xfrm>
            <a:off x="812800" y="2373636"/>
            <a:ext cx="7450138" cy="3424332"/>
            <a:chOff x="288" y="1253"/>
            <a:chExt cx="4917" cy="2211"/>
          </a:xfrm>
        </p:grpSpPr>
        <p:sp>
          <p:nvSpPr>
            <p:cNvPr id="134154" name="Rectangle 10">
              <a:extLst>
                <a:ext uri="{FF2B5EF4-FFF2-40B4-BE49-F238E27FC236}">
                  <a16:creationId xmlns:a16="http://schemas.microsoft.com/office/drawing/2014/main" id="{A073AE52-72E0-436C-839D-F5B8FCF0A330}"/>
                </a:ext>
              </a:extLst>
            </p:cNvPr>
            <p:cNvSpPr>
              <a:spLocks noChangeArrowheads="1"/>
            </p:cNvSpPr>
            <p:nvPr/>
          </p:nvSpPr>
          <p:spPr bwMode="auto">
            <a:xfrm>
              <a:off x="2438" y="1253"/>
              <a:ext cx="794" cy="426"/>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4155" name="Rectangle 11">
              <a:extLst>
                <a:ext uri="{FF2B5EF4-FFF2-40B4-BE49-F238E27FC236}">
                  <a16:creationId xmlns:a16="http://schemas.microsoft.com/office/drawing/2014/main" id="{97937192-E548-420A-A0D8-ED9D881E4568}"/>
                </a:ext>
              </a:extLst>
            </p:cNvPr>
            <p:cNvSpPr>
              <a:spLocks noChangeArrowheads="1"/>
            </p:cNvSpPr>
            <p:nvPr/>
          </p:nvSpPr>
          <p:spPr bwMode="auto">
            <a:xfrm>
              <a:off x="2532" y="1360"/>
              <a:ext cx="582"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spcBef>
                  <a:spcPct val="20000"/>
                </a:spcBef>
              </a:pPr>
              <a:r>
                <a:rPr lang="zh-CN" altLang="en-US" b="1" dirty="0">
                  <a:effectLst/>
                  <a:latin typeface="宋体" panose="02010600030101010101" pitchFamily="2" charset="-122"/>
                </a:rPr>
                <a:t>存储器</a:t>
              </a:r>
            </a:p>
          </p:txBody>
        </p:sp>
        <p:sp>
          <p:nvSpPr>
            <p:cNvPr id="134156" name="Rectangle 12">
              <a:extLst>
                <a:ext uri="{FF2B5EF4-FFF2-40B4-BE49-F238E27FC236}">
                  <a16:creationId xmlns:a16="http://schemas.microsoft.com/office/drawing/2014/main" id="{F1D01FF7-6127-4B6D-BC69-DA0718864EF9}"/>
                </a:ext>
              </a:extLst>
            </p:cNvPr>
            <p:cNvSpPr>
              <a:spLocks noChangeArrowheads="1"/>
            </p:cNvSpPr>
            <p:nvPr/>
          </p:nvSpPr>
          <p:spPr bwMode="auto">
            <a:xfrm>
              <a:off x="828" y="2115"/>
              <a:ext cx="953" cy="424"/>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4157" name="Rectangle 13">
              <a:extLst>
                <a:ext uri="{FF2B5EF4-FFF2-40B4-BE49-F238E27FC236}">
                  <a16:creationId xmlns:a16="http://schemas.microsoft.com/office/drawing/2014/main" id="{354C6BDB-290F-4C36-B999-BE1D51104F98}"/>
                </a:ext>
              </a:extLst>
            </p:cNvPr>
            <p:cNvSpPr>
              <a:spLocks noChangeArrowheads="1"/>
            </p:cNvSpPr>
            <p:nvPr/>
          </p:nvSpPr>
          <p:spPr bwMode="auto">
            <a:xfrm>
              <a:off x="941" y="2192"/>
              <a:ext cx="775"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spcBef>
                  <a:spcPct val="20000"/>
                </a:spcBef>
              </a:pPr>
              <a:r>
                <a:rPr lang="zh-CN" altLang="en-US" b="1" dirty="0">
                  <a:effectLst/>
                  <a:latin typeface="宋体" panose="02010600030101010101" pitchFamily="2" charset="-122"/>
                </a:rPr>
                <a:t>输入设备</a:t>
              </a:r>
            </a:p>
          </p:txBody>
        </p:sp>
        <p:sp>
          <p:nvSpPr>
            <p:cNvPr id="134158" name="Rectangle 14">
              <a:extLst>
                <a:ext uri="{FF2B5EF4-FFF2-40B4-BE49-F238E27FC236}">
                  <a16:creationId xmlns:a16="http://schemas.microsoft.com/office/drawing/2014/main" id="{ADB22A17-B860-447F-A3B6-40C7E438EDD2}"/>
                </a:ext>
              </a:extLst>
            </p:cNvPr>
            <p:cNvSpPr>
              <a:spLocks noChangeArrowheads="1"/>
            </p:cNvSpPr>
            <p:nvPr/>
          </p:nvSpPr>
          <p:spPr bwMode="auto">
            <a:xfrm>
              <a:off x="2425" y="2115"/>
              <a:ext cx="795" cy="424"/>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4159" name="Rectangle 15">
              <a:extLst>
                <a:ext uri="{FF2B5EF4-FFF2-40B4-BE49-F238E27FC236}">
                  <a16:creationId xmlns:a16="http://schemas.microsoft.com/office/drawing/2014/main" id="{ACEA3831-0AB0-4FC9-BA2A-9BF32DA033EE}"/>
                </a:ext>
              </a:extLst>
            </p:cNvPr>
            <p:cNvSpPr>
              <a:spLocks noChangeArrowheads="1"/>
            </p:cNvSpPr>
            <p:nvPr/>
          </p:nvSpPr>
          <p:spPr bwMode="auto">
            <a:xfrm>
              <a:off x="2542" y="2179"/>
              <a:ext cx="582"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spcBef>
                  <a:spcPct val="20000"/>
                </a:spcBef>
              </a:pPr>
              <a:r>
                <a:rPr lang="zh-CN" altLang="en-US" b="1" dirty="0">
                  <a:effectLst/>
                  <a:latin typeface="宋体" panose="02010600030101010101" pitchFamily="2" charset="-122"/>
                </a:rPr>
                <a:t>运算器</a:t>
              </a:r>
            </a:p>
          </p:txBody>
        </p:sp>
        <p:sp>
          <p:nvSpPr>
            <p:cNvPr id="134160" name="Rectangle 16">
              <a:extLst>
                <a:ext uri="{FF2B5EF4-FFF2-40B4-BE49-F238E27FC236}">
                  <a16:creationId xmlns:a16="http://schemas.microsoft.com/office/drawing/2014/main" id="{23E8B49E-9755-47F1-9B6C-4A18B2DB739D}"/>
                </a:ext>
              </a:extLst>
            </p:cNvPr>
            <p:cNvSpPr>
              <a:spLocks noChangeArrowheads="1"/>
            </p:cNvSpPr>
            <p:nvPr/>
          </p:nvSpPr>
          <p:spPr bwMode="auto">
            <a:xfrm>
              <a:off x="2413" y="3038"/>
              <a:ext cx="794" cy="426"/>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4161" name="Rectangle 17">
              <a:extLst>
                <a:ext uri="{FF2B5EF4-FFF2-40B4-BE49-F238E27FC236}">
                  <a16:creationId xmlns:a16="http://schemas.microsoft.com/office/drawing/2014/main" id="{DDEE1715-B43C-4B16-81AF-0888CFCCD29E}"/>
                </a:ext>
              </a:extLst>
            </p:cNvPr>
            <p:cNvSpPr>
              <a:spLocks noChangeArrowheads="1"/>
            </p:cNvSpPr>
            <p:nvPr/>
          </p:nvSpPr>
          <p:spPr bwMode="auto">
            <a:xfrm>
              <a:off x="2507" y="3094"/>
              <a:ext cx="582"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spcBef>
                  <a:spcPct val="20000"/>
                </a:spcBef>
              </a:pPr>
              <a:r>
                <a:rPr lang="zh-CN" altLang="en-US" b="1" dirty="0">
                  <a:effectLst/>
                  <a:latin typeface="宋体" panose="02010600030101010101" pitchFamily="2" charset="-122"/>
                </a:rPr>
                <a:t>控制器</a:t>
              </a:r>
            </a:p>
          </p:txBody>
        </p:sp>
        <p:sp>
          <p:nvSpPr>
            <p:cNvPr id="134162" name="Rectangle 18">
              <a:extLst>
                <a:ext uri="{FF2B5EF4-FFF2-40B4-BE49-F238E27FC236}">
                  <a16:creationId xmlns:a16="http://schemas.microsoft.com/office/drawing/2014/main" id="{BD7F8810-05E1-4FFF-8CCD-F19328EF4497}"/>
                </a:ext>
              </a:extLst>
            </p:cNvPr>
            <p:cNvSpPr>
              <a:spLocks noChangeArrowheads="1"/>
            </p:cNvSpPr>
            <p:nvPr/>
          </p:nvSpPr>
          <p:spPr bwMode="auto">
            <a:xfrm>
              <a:off x="3879" y="2115"/>
              <a:ext cx="953" cy="424"/>
            </a:xfrm>
            <a:prstGeom prst="rect">
              <a:avLst/>
            </a:prstGeom>
            <a:noFill/>
            <a:ln w="2857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4163" name="Rectangle 19">
              <a:extLst>
                <a:ext uri="{FF2B5EF4-FFF2-40B4-BE49-F238E27FC236}">
                  <a16:creationId xmlns:a16="http://schemas.microsoft.com/office/drawing/2014/main" id="{431BD153-93E6-40B0-934F-1C93CE77535C}"/>
                </a:ext>
              </a:extLst>
            </p:cNvPr>
            <p:cNvSpPr>
              <a:spLocks noChangeArrowheads="1"/>
            </p:cNvSpPr>
            <p:nvPr/>
          </p:nvSpPr>
          <p:spPr bwMode="auto">
            <a:xfrm>
              <a:off x="3964" y="2179"/>
              <a:ext cx="775"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spcBef>
                  <a:spcPct val="20000"/>
                </a:spcBef>
              </a:pPr>
              <a:r>
                <a:rPr lang="zh-CN" altLang="en-US" b="1" dirty="0">
                  <a:effectLst/>
                  <a:latin typeface="宋体" panose="02010600030101010101" pitchFamily="2" charset="-122"/>
                </a:rPr>
                <a:t>输出设备</a:t>
              </a:r>
            </a:p>
          </p:txBody>
        </p:sp>
        <p:sp>
          <p:nvSpPr>
            <p:cNvPr id="134164" name="Freeform 20">
              <a:extLst>
                <a:ext uri="{FF2B5EF4-FFF2-40B4-BE49-F238E27FC236}">
                  <a16:creationId xmlns:a16="http://schemas.microsoft.com/office/drawing/2014/main" id="{42D854AE-82A8-4808-87EB-6F58E7A254FC}"/>
                </a:ext>
              </a:extLst>
            </p:cNvPr>
            <p:cNvSpPr>
              <a:spLocks/>
            </p:cNvSpPr>
            <p:nvPr/>
          </p:nvSpPr>
          <p:spPr bwMode="auto">
            <a:xfrm>
              <a:off x="1296" y="2543"/>
              <a:ext cx="1104" cy="721"/>
            </a:xfrm>
            <a:custGeom>
              <a:avLst/>
              <a:gdLst>
                <a:gd name="T0" fmla="*/ 0 w 1104"/>
                <a:gd name="T1" fmla="*/ 0 h 721"/>
                <a:gd name="T2" fmla="*/ 0 w 1104"/>
                <a:gd name="T3" fmla="*/ 721 h 721"/>
                <a:gd name="T4" fmla="*/ 1104 w 1104"/>
                <a:gd name="T5" fmla="*/ 721 h 721"/>
              </a:gdLst>
              <a:ahLst/>
              <a:cxnLst>
                <a:cxn ang="0">
                  <a:pos x="T0" y="T1"/>
                </a:cxn>
                <a:cxn ang="0">
                  <a:pos x="T2" y="T3"/>
                </a:cxn>
                <a:cxn ang="0">
                  <a:pos x="T4" y="T5"/>
                </a:cxn>
              </a:cxnLst>
              <a:rect l="0" t="0" r="r" b="b"/>
              <a:pathLst>
                <a:path w="1104" h="721">
                  <a:moveTo>
                    <a:pt x="0" y="0"/>
                  </a:moveTo>
                  <a:lnTo>
                    <a:pt x="0" y="721"/>
                  </a:lnTo>
                  <a:lnTo>
                    <a:pt x="1104" y="721"/>
                  </a:lnTo>
                </a:path>
              </a:pathLst>
            </a:custGeom>
            <a:noFill/>
            <a:ln w="38100" cap="flat" cmpd="sng">
              <a:solidFill>
                <a:schemeClr val="folHlink"/>
              </a:solidFill>
              <a:prstDash val="dash"/>
              <a:round/>
              <a:headEnd type="stealth" w="med" len="med"/>
              <a:tailEnd type="stealth" w="med" len="me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4165" name="Freeform 21">
              <a:extLst>
                <a:ext uri="{FF2B5EF4-FFF2-40B4-BE49-F238E27FC236}">
                  <a16:creationId xmlns:a16="http://schemas.microsoft.com/office/drawing/2014/main" id="{7AF34D4F-DF20-4E2B-A0F9-EFC6FAA9BA28}"/>
                </a:ext>
              </a:extLst>
            </p:cNvPr>
            <p:cNvSpPr>
              <a:spLocks/>
            </p:cNvSpPr>
            <p:nvPr/>
          </p:nvSpPr>
          <p:spPr bwMode="auto">
            <a:xfrm>
              <a:off x="2194" y="1439"/>
              <a:ext cx="478" cy="1597"/>
            </a:xfrm>
            <a:custGeom>
              <a:avLst/>
              <a:gdLst>
                <a:gd name="T0" fmla="*/ 254 w 478"/>
                <a:gd name="T1" fmla="*/ 1 h 1597"/>
                <a:gd name="T2" fmla="*/ 4 w 478"/>
                <a:gd name="T3" fmla="*/ 0 h 1597"/>
                <a:gd name="T4" fmla="*/ 0 w 478"/>
                <a:gd name="T5" fmla="*/ 1355 h 1597"/>
                <a:gd name="T6" fmla="*/ 478 w 478"/>
                <a:gd name="T7" fmla="*/ 1355 h 1597"/>
                <a:gd name="T8" fmla="*/ 476 w 478"/>
                <a:gd name="T9" fmla="*/ 1597 h 1597"/>
              </a:gdLst>
              <a:ahLst/>
              <a:cxnLst>
                <a:cxn ang="0">
                  <a:pos x="T0" y="T1"/>
                </a:cxn>
                <a:cxn ang="0">
                  <a:pos x="T2" y="T3"/>
                </a:cxn>
                <a:cxn ang="0">
                  <a:pos x="T4" y="T5"/>
                </a:cxn>
                <a:cxn ang="0">
                  <a:pos x="T6" y="T7"/>
                </a:cxn>
                <a:cxn ang="0">
                  <a:pos x="T8" y="T9"/>
                </a:cxn>
              </a:cxnLst>
              <a:rect l="0" t="0" r="r" b="b"/>
              <a:pathLst>
                <a:path w="478" h="1597">
                  <a:moveTo>
                    <a:pt x="254" y="1"/>
                  </a:moveTo>
                  <a:lnTo>
                    <a:pt x="4" y="0"/>
                  </a:lnTo>
                  <a:lnTo>
                    <a:pt x="0" y="1355"/>
                  </a:lnTo>
                  <a:lnTo>
                    <a:pt x="478" y="1355"/>
                  </a:lnTo>
                  <a:lnTo>
                    <a:pt x="476" y="1597"/>
                  </a:lnTo>
                </a:path>
              </a:pathLst>
            </a:custGeom>
            <a:noFill/>
            <a:ln w="38100" cap="flat" cmpd="sng">
              <a:solidFill>
                <a:schemeClr val="folHlink"/>
              </a:solidFill>
              <a:prstDash val="dash"/>
              <a:round/>
              <a:headEnd type="stealth" w="med" len="med"/>
              <a:tailEnd type="stealth" w="med" len="me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34166" name="Freeform 22">
              <a:extLst>
                <a:ext uri="{FF2B5EF4-FFF2-40B4-BE49-F238E27FC236}">
                  <a16:creationId xmlns:a16="http://schemas.microsoft.com/office/drawing/2014/main" id="{962CA136-C205-4822-8B79-B5D953CD157B}"/>
                </a:ext>
              </a:extLst>
            </p:cNvPr>
            <p:cNvSpPr>
              <a:spLocks/>
            </p:cNvSpPr>
            <p:nvPr/>
          </p:nvSpPr>
          <p:spPr bwMode="auto">
            <a:xfrm>
              <a:off x="2928" y="2544"/>
              <a:ext cx="1" cy="494"/>
            </a:xfrm>
            <a:custGeom>
              <a:avLst/>
              <a:gdLst>
                <a:gd name="T0" fmla="*/ 0 w 1"/>
                <a:gd name="T1" fmla="*/ 0 h 494"/>
                <a:gd name="T2" fmla="*/ 0 w 1"/>
                <a:gd name="T3" fmla="*/ 494 h 494"/>
              </a:gdLst>
              <a:ahLst/>
              <a:cxnLst>
                <a:cxn ang="0">
                  <a:pos x="T0" y="T1"/>
                </a:cxn>
                <a:cxn ang="0">
                  <a:pos x="T2" y="T3"/>
                </a:cxn>
              </a:cxnLst>
              <a:rect l="0" t="0" r="r" b="b"/>
              <a:pathLst>
                <a:path w="1" h="494">
                  <a:moveTo>
                    <a:pt x="0" y="0"/>
                  </a:moveTo>
                  <a:lnTo>
                    <a:pt x="0" y="494"/>
                  </a:lnTo>
                </a:path>
              </a:pathLst>
            </a:custGeom>
            <a:noFill/>
            <a:ln w="38100" cap="flat" cmpd="sng">
              <a:solidFill>
                <a:schemeClr val="folHlink"/>
              </a:solidFill>
              <a:prstDash val="dash"/>
              <a:round/>
              <a:headEnd type="stealth"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34167" name="Freeform 23">
              <a:extLst>
                <a:ext uri="{FF2B5EF4-FFF2-40B4-BE49-F238E27FC236}">
                  <a16:creationId xmlns:a16="http://schemas.microsoft.com/office/drawing/2014/main" id="{7F5661B2-07EC-415C-B104-798B45A454F0}"/>
                </a:ext>
              </a:extLst>
            </p:cNvPr>
            <p:cNvSpPr>
              <a:spLocks/>
            </p:cNvSpPr>
            <p:nvPr/>
          </p:nvSpPr>
          <p:spPr bwMode="auto">
            <a:xfrm>
              <a:off x="3210" y="2544"/>
              <a:ext cx="1110" cy="816"/>
            </a:xfrm>
            <a:custGeom>
              <a:avLst/>
              <a:gdLst>
                <a:gd name="T0" fmla="*/ 1110 w 1110"/>
                <a:gd name="T1" fmla="*/ 0 h 816"/>
                <a:gd name="T2" fmla="*/ 1110 w 1110"/>
                <a:gd name="T3" fmla="*/ 816 h 816"/>
                <a:gd name="T4" fmla="*/ 0 w 1110"/>
                <a:gd name="T5" fmla="*/ 816 h 816"/>
              </a:gdLst>
              <a:ahLst/>
              <a:cxnLst>
                <a:cxn ang="0">
                  <a:pos x="T0" y="T1"/>
                </a:cxn>
                <a:cxn ang="0">
                  <a:pos x="T2" y="T3"/>
                </a:cxn>
                <a:cxn ang="0">
                  <a:pos x="T4" y="T5"/>
                </a:cxn>
              </a:cxnLst>
              <a:rect l="0" t="0" r="r" b="b"/>
              <a:pathLst>
                <a:path w="1110" h="816">
                  <a:moveTo>
                    <a:pt x="1110" y="0"/>
                  </a:moveTo>
                  <a:lnTo>
                    <a:pt x="1110" y="816"/>
                  </a:lnTo>
                  <a:lnTo>
                    <a:pt x="0" y="816"/>
                  </a:lnTo>
                </a:path>
              </a:pathLst>
            </a:custGeom>
            <a:noFill/>
            <a:ln w="38100" cap="flat" cmpd="sng">
              <a:solidFill>
                <a:schemeClr val="folHlink"/>
              </a:solidFill>
              <a:prstDash val="dash"/>
              <a:round/>
              <a:headEnd type="stealth" w="med" len="med"/>
              <a:tailEnd type="stealth" w="med" len="me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4168" name="Freeform 24">
              <a:extLst>
                <a:ext uri="{FF2B5EF4-FFF2-40B4-BE49-F238E27FC236}">
                  <a16:creationId xmlns:a16="http://schemas.microsoft.com/office/drawing/2014/main" id="{7406CFF2-79DB-4DAA-BA74-F4BF16FFDEC4}"/>
                </a:ext>
              </a:extLst>
            </p:cNvPr>
            <p:cNvSpPr>
              <a:spLocks/>
            </p:cNvSpPr>
            <p:nvPr/>
          </p:nvSpPr>
          <p:spPr bwMode="auto">
            <a:xfrm>
              <a:off x="2682" y="1677"/>
              <a:ext cx="1" cy="435"/>
            </a:xfrm>
            <a:custGeom>
              <a:avLst/>
              <a:gdLst>
                <a:gd name="T0" fmla="*/ 0 w 1"/>
                <a:gd name="T1" fmla="*/ 435 h 435"/>
                <a:gd name="T2" fmla="*/ 0 w 1"/>
                <a:gd name="T3" fmla="*/ 0 h 435"/>
              </a:gdLst>
              <a:ahLst/>
              <a:cxnLst>
                <a:cxn ang="0">
                  <a:pos x="T0" y="T1"/>
                </a:cxn>
                <a:cxn ang="0">
                  <a:pos x="T2" y="T3"/>
                </a:cxn>
              </a:cxnLst>
              <a:rect l="0" t="0" r="r" b="b"/>
              <a:pathLst>
                <a:path w="1" h="435">
                  <a:moveTo>
                    <a:pt x="0" y="435"/>
                  </a:moveTo>
                  <a:lnTo>
                    <a:pt x="0" y="0"/>
                  </a:lnTo>
                </a:path>
              </a:pathLst>
            </a:custGeom>
            <a:noFill/>
            <a:ln w="38100" cap="flat" cmpd="sng">
              <a:solidFill>
                <a:schemeClr val="folHlink"/>
              </a:solidFill>
              <a:prstDash val="solid"/>
              <a:round/>
              <a:headEnd type="none"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34169" name="Freeform 25">
              <a:extLst>
                <a:ext uri="{FF2B5EF4-FFF2-40B4-BE49-F238E27FC236}">
                  <a16:creationId xmlns:a16="http://schemas.microsoft.com/office/drawing/2014/main" id="{0F0F2FD6-EAAA-4719-86C0-ECE428CE3C60}"/>
                </a:ext>
              </a:extLst>
            </p:cNvPr>
            <p:cNvSpPr>
              <a:spLocks/>
            </p:cNvSpPr>
            <p:nvPr/>
          </p:nvSpPr>
          <p:spPr bwMode="auto">
            <a:xfrm>
              <a:off x="2923" y="1680"/>
              <a:ext cx="1" cy="429"/>
            </a:xfrm>
            <a:custGeom>
              <a:avLst/>
              <a:gdLst>
                <a:gd name="T0" fmla="*/ 0 w 1"/>
                <a:gd name="T1" fmla="*/ 0 h 429"/>
                <a:gd name="T2" fmla="*/ 1 w 1"/>
                <a:gd name="T3" fmla="*/ 429 h 429"/>
              </a:gdLst>
              <a:ahLst/>
              <a:cxnLst>
                <a:cxn ang="0">
                  <a:pos x="T0" y="T1"/>
                </a:cxn>
                <a:cxn ang="0">
                  <a:pos x="T2" y="T3"/>
                </a:cxn>
              </a:cxnLst>
              <a:rect l="0" t="0" r="r" b="b"/>
              <a:pathLst>
                <a:path w="1" h="429">
                  <a:moveTo>
                    <a:pt x="0" y="0"/>
                  </a:moveTo>
                  <a:lnTo>
                    <a:pt x="1" y="429"/>
                  </a:lnTo>
                </a:path>
              </a:pathLst>
            </a:custGeom>
            <a:noFill/>
            <a:ln w="38100" cap="flat" cmpd="sng">
              <a:solidFill>
                <a:schemeClr val="folHlink"/>
              </a:solidFill>
              <a:prstDash val="solid"/>
              <a:round/>
              <a:headEnd type="none"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34170" name="Freeform 26">
              <a:extLst>
                <a:ext uri="{FF2B5EF4-FFF2-40B4-BE49-F238E27FC236}">
                  <a16:creationId xmlns:a16="http://schemas.microsoft.com/office/drawing/2014/main" id="{54506E50-5B43-468D-8DD6-AC4E096123DE}"/>
                </a:ext>
              </a:extLst>
            </p:cNvPr>
            <p:cNvSpPr>
              <a:spLocks/>
            </p:cNvSpPr>
            <p:nvPr/>
          </p:nvSpPr>
          <p:spPr bwMode="auto">
            <a:xfrm>
              <a:off x="2921" y="1872"/>
              <a:ext cx="583" cy="1299"/>
            </a:xfrm>
            <a:custGeom>
              <a:avLst/>
              <a:gdLst>
                <a:gd name="T0" fmla="*/ 0 w 583"/>
                <a:gd name="T1" fmla="*/ 0 h 1299"/>
                <a:gd name="T2" fmla="*/ 583 w 583"/>
                <a:gd name="T3" fmla="*/ 0 h 1299"/>
                <a:gd name="T4" fmla="*/ 583 w 583"/>
                <a:gd name="T5" fmla="*/ 1296 h 1299"/>
                <a:gd name="T6" fmla="*/ 286 w 583"/>
                <a:gd name="T7" fmla="*/ 1299 h 1299"/>
              </a:gdLst>
              <a:ahLst/>
              <a:cxnLst>
                <a:cxn ang="0">
                  <a:pos x="T0" y="T1"/>
                </a:cxn>
                <a:cxn ang="0">
                  <a:pos x="T2" y="T3"/>
                </a:cxn>
                <a:cxn ang="0">
                  <a:pos x="T4" y="T5"/>
                </a:cxn>
                <a:cxn ang="0">
                  <a:pos x="T6" y="T7"/>
                </a:cxn>
              </a:cxnLst>
              <a:rect l="0" t="0" r="r" b="b"/>
              <a:pathLst>
                <a:path w="583" h="1299">
                  <a:moveTo>
                    <a:pt x="0" y="0"/>
                  </a:moveTo>
                  <a:lnTo>
                    <a:pt x="583" y="0"/>
                  </a:lnTo>
                  <a:lnTo>
                    <a:pt x="583" y="1296"/>
                  </a:lnTo>
                  <a:lnTo>
                    <a:pt x="286" y="1299"/>
                  </a:lnTo>
                </a:path>
              </a:pathLst>
            </a:custGeom>
            <a:noFill/>
            <a:ln w="38100" cap="flat" cmpd="sng">
              <a:solidFill>
                <a:schemeClr val="folHlink"/>
              </a:solidFill>
              <a:prstDash val="solid"/>
              <a:round/>
              <a:headEnd type="oval" w="sm" len="sm"/>
              <a:tailEnd type="stealth" w="med" len="me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134171" name="Freeform 27">
              <a:extLst>
                <a:ext uri="{FF2B5EF4-FFF2-40B4-BE49-F238E27FC236}">
                  <a16:creationId xmlns:a16="http://schemas.microsoft.com/office/drawing/2014/main" id="{10D0AB44-3329-4DCB-AE06-1B8E19A4016E}"/>
                </a:ext>
              </a:extLst>
            </p:cNvPr>
            <p:cNvSpPr>
              <a:spLocks/>
            </p:cNvSpPr>
            <p:nvPr/>
          </p:nvSpPr>
          <p:spPr bwMode="auto">
            <a:xfrm>
              <a:off x="288" y="2303"/>
              <a:ext cx="536" cy="1"/>
            </a:xfrm>
            <a:custGeom>
              <a:avLst/>
              <a:gdLst>
                <a:gd name="T0" fmla="*/ 0 w 536"/>
                <a:gd name="T1" fmla="*/ 1 h 1"/>
                <a:gd name="T2" fmla="*/ 536 w 536"/>
                <a:gd name="T3" fmla="*/ 0 h 1"/>
              </a:gdLst>
              <a:ahLst/>
              <a:cxnLst>
                <a:cxn ang="0">
                  <a:pos x="T0" y="T1"/>
                </a:cxn>
                <a:cxn ang="0">
                  <a:pos x="T2" y="T3"/>
                </a:cxn>
              </a:cxnLst>
              <a:rect l="0" t="0" r="r" b="b"/>
              <a:pathLst>
                <a:path w="536" h="1">
                  <a:moveTo>
                    <a:pt x="0" y="1"/>
                  </a:moveTo>
                  <a:lnTo>
                    <a:pt x="536" y="0"/>
                  </a:lnTo>
                </a:path>
              </a:pathLst>
            </a:custGeom>
            <a:noFill/>
            <a:ln w="38100" cap="flat" cmpd="sng">
              <a:solidFill>
                <a:schemeClr val="folHlink"/>
              </a:solidFill>
              <a:prstDash val="solid"/>
              <a:round/>
              <a:headEnd type="none"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34172" name="Freeform 28">
              <a:extLst>
                <a:ext uri="{FF2B5EF4-FFF2-40B4-BE49-F238E27FC236}">
                  <a16:creationId xmlns:a16="http://schemas.microsoft.com/office/drawing/2014/main" id="{AFB63EFD-2AA0-4224-8FAC-7503D5800A4D}"/>
                </a:ext>
              </a:extLst>
            </p:cNvPr>
            <p:cNvSpPr>
              <a:spLocks/>
            </p:cNvSpPr>
            <p:nvPr/>
          </p:nvSpPr>
          <p:spPr bwMode="auto">
            <a:xfrm>
              <a:off x="1776" y="2304"/>
              <a:ext cx="650" cy="1"/>
            </a:xfrm>
            <a:custGeom>
              <a:avLst/>
              <a:gdLst>
                <a:gd name="T0" fmla="*/ 0 w 650"/>
                <a:gd name="T1" fmla="*/ 0 h 1"/>
                <a:gd name="T2" fmla="*/ 650 w 650"/>
                <a:gd name="T3" fmla="*/ 0 h 1"/>
              </a:gdLst>
              <a:ahLst/>
              <a:cxnLst>
                <a:cxn ang="0">
                  <a:pos x="T0" y="T1"/>
                </a:cxn>
                <a:cxn ang="0">
                  <a:pos x="T2" y="T3"/>
                </a:cxn>
              </a:cxnLst>
              <a:rect l="0" t="0" r="r" b="b"/>
              <a:pathLst>
                <a:path w="650" h="1">
                  <a:moveTo>
                    <a:pt x="0" y="0"/>
                  </a:moveTo>
                  <a:lnTo>
                    <a:pt x="650" y="0"/>
                  </a:lnTo>
                </a:path>
              </a:pathLst>
            </a:custGeom>
            <a:noFill/>
            <a:ln w="38100" cap="flat" cmpd="sng">
              <a:solidFill>
                <a:schemeClr val="folHlink"/>
              </a:solidFill>
              <a:prstDash val="solid"/>
              <a:round/>
              <a:headEnd type="none"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34173" name="Freeform 29">
              <a:extLst>
                <a:ext uri="{FF2B5EF4-FFF2-40B4-BE49-F238E27FC236}">
                  <a16:creationId xmlns:a16="http://schemas.microsoft.com/office/drawing/2014/main" id="{95DDC0DA-D2D2-476B-AACD-F18AA462873E}"/>
                </a:ext>
              </a:extLst>
            </p:cNvPr>
            <p:cNvSpPr>
              <a:spLocks/>
            </p:cNvSpPr>
            <p:nvPr/>
          </p:nvSpPr>
          <p:spPr bwMode="auto">
            <a:xfrm>
              <a:off x="3216" y="2304"/>
              <a:ext cx="660" cy="1"/>
            </a:xfrm>
            <a:custGeom>
              <a:avLst/>
              <a:gdLst>
                <a:gd name="T0" fmla="*/ 0 w 660"/>
                <a:gd name="T1" fmla="*/ 0 h 1"/>
                <a:gd name="T2" fmla="*/ 660 w 660"/>
                <a:gd name="T3" fmla="*/ 0 h 1"/>
              </a:gdLst>
              <a:ahLst/>
              <a:cxnLst>
                <a:cxn ang="0">
                  <a:pos x="T0" y="T1"/>
                </a:cxn>
                <a:cxn ang="0">
                  <a:pos x="T2" y="T3"/>
                </a:cxn>
              </a:cxnLst>
              <a:rect l="0" t="0" r="r" b="b"/>
              <a:pathLst>
                <a:path w="660" h="1">
                  <a:moveTo>
                    <a:pt x="0" y="0"/>
                  </a:moveTo>
                  <a:lnTo>
                    <a:pt x="660" y="0"/>
                  </a:lnTo>
                </a:path>
              </a:pathLst>
            </a:custGeom>
            <a:noFill/>
            <a:ln w="38100" cap="flat" cmpd="sng">
              <a:solidFill>
                <a:schemeClr val="folHlink"/>
              </a:solidFill>
              <a:prstDash val="solid"/>
              <a:round/>
              <a:headEnd type="none"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34174" name="Freeform 30">
              <a:extLst>
                <a:ext uri="{FF2B5EF4-FFF2-40B4-BE49-F238E27FC236}">
                  <a16:creationId xmlns:a16="http://schemas.microsoft.com/office/drawing/2014/main" id="{523D5384-427C-409B-A60B-71E8C1AB9BD2}"/>
                </a:ext>
              </a:extLst>
            </p:cNvPr>
            <p:cNvSpPr>
              <a:spLocks/>
            </p:cNvSpPr>
            <p:nvPr/>
          </p:nvSpPr>
          <p:spPr bwMode="auto">
            <a:xfrm>
              <a:off x="4837" y="2304"/>
              <a:ext cx="368" cy="1"/>
            </a:xfrm>
            <a:custGeom>
              <a:avLst/>
              <a:gdLst>
                <a:gd name="T0" fmla="*/ 0 w 368"/>
                <a:gd name="T1" fmla="*/ 0 h 1"/>
                <a:gd name="T2" fmla="*/ 368 w 368"/>
                <a:gd name="T3" fmla="*/ 0 h 1"/>
              </a:gdLst>
              <a:ahLst/>
              <a:cxnLst>
                <a:cxn ang="0">
                  <a:pos x="T0" y="T1"/>
                </a:cxn>
                <a:cxn ang="0">
                  <a:pos x="T2" y="T3"/>
                </a:cxn>
              </a:cxnLst>
              <a:rect l="0" t="0" r="r" b="b"/>
              <a:pathLst>
                <a:path w="368" h="1">
                  <a:moveTo>
                    <a:pt x="0" y="0"/>
                  </a:moveTo>
                  <a:lnTo>
                    <a:pt x="368" y="0"/>
                  </a:lnTo>
                </a:path>
              </a:pathLst>
            </a:custGeom>
            <a:noFill/>
            <a:ln w="38100" cap="flat" cmpd="sng">
              <a:solidFill>
                <a:schemeClr val="folHlink"/>
              </a:solidFill>
              <a:prstDash val="solid"/>
              <a:round/>
              <a:headEnd type="none" w="med" len="med"/>
              <a:tailEnd type="stealth"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grpSp>
      <p:sp>
        <p:nvSpPr>
          <p:cNvPr id="134175" name="AutoShape 31">
            <a:hlinkClick r:id="rId2" action="ppaction://hlinksldjump" highlightClick="1"/>
            <a:extLst>
              <a:ext uri="{FF2B5EF4-FFF2-40B4-BE49-F238E27FC236}">
                <a16:creationId xmlns:a16="http://schemas.microsoft.com/office/drawing/2014/main" id="{482CDA8C-F816-41E0-BB5C-3B3B685F28D2}"/>
              </a:ext>
            </a:extLst>
          </p:cNvPr>
          <p:cNvSpPr>
            <a:spLocks noChangeArrowheads="1"/>
          </p:cNvSpPr>
          <p:nvPr/>
        </p:nvSpPr>
        <p:spPr bwMode="auto">
          <a:xfrm>
            <a:off x="8589963" y="6516688"/>
            <a:ext cx="539750" cy="333375"/>
          </a:xfrm>
          <a:prstGeom prst="actionButtonEnd">
            <a:avLst/>
          </a:prstGeom>
          <a:solidFill>
            <a:srgbClr val="3366FF"/>
          </a:solidFill>
          <a:ln>
            <a:noFill/>
          </a:ln>
          <a:effectLst/>
          <a:extLst>
            <a:ext uri="{91240B29-F687-4F45-9708-019B960494DF}">
              <a14:hiddenLine xmlns:a14="http://schemas.microsoft.com/office/drawing/2010/main" w="9525">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31" name="Rectangle 46">
            <a:extLst>
              <a:ext uri="{FF2B5EF4-FFF2-40B4-BE49-F238E27FC236}">
                <a16:creationId xmlns:a16="http://schemas.microsoft.com/office/drawing/2014/main" id="{0EE68A76-3F2B-47EF-9A14-250F6A240717}"/>
              </a:ext>
            </a:extLst>
          </p:cNvPr>
          <p:cNvSpPr>
            <a:spLocks noChangeArrowheads="1"/>
          </p:cNvSpPr>
          <p:nvPr/>
        </p:nvSpPr>
        <p:spPr bwMode="auto">
          <a:xfrm>
            <a:off x="176715" y="292762"/>
            <a:ext cx="8102600" cy="592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zh-CN" altLang="en-US" dirty="0">
                <a:solidFill>
                  <a:srgbClr val="800000"/>
                </a:solidFill>
                <a:latin typeface="黑体" pitchFamily="2" charset="-122"/>
                <a:ea typeface="黑体" pitchFamily="2" charset="-122"/>
              </a:rPr>
              <a:t>1.1.1 计算机系统的组成 </a:t>
            </a:r>
            <a:endParaRPr lang="zh-CN" altLang="en-US" dirty="0">
              <a:latin typeface="黑体" pitchFamily="2" charset="-122"/>
              <a:ea typeface="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nodeType="clickEffect">
                                  <p:stCondLst>
                                    <p:cond delay="0"/>
                                  </p:stCondLst>
                                  <p:childTnLst>
                                    <p:set>
                                      <p:cBhvr>
                                        <p:cTn id="6" dur="1" fill="hold">
                                          <p:stCondLst>
                                            <p:cond delay="0"/>
                                          </p:stCondLst>
                                        </p:cTn>
                                        <p:tgtEl>
                                          <p:spTgt spid="134153"/>
                                        </p:tgtEl>
                                        <p:attrNameLst>
                                          <p:attrName>style.visibility</p:attrName>
                                        </p:attrNameLst>
                                      </p:cBhvr>
                                      <p:to>
                                        <p:strVal val="visible"/>
                                      </p:to>
                                    </p:set>
                                    <p:animEffect transition="in" filter="barn(outVertical)">
                                      <p:cBhvr>
                                        <p:cTn id="7" dur="500"/>
                                        <p:tgtEl>
                                          <p:spTgt spid="1341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4146"/>
                                        </p:tgtEl>
                                        <p:attrNameLst>
                                          <p:attrName>style.visibility</p:attrName>
                                        </p:attrNameLst>
                                      </p:cBhvr>
                                      <p:to>
                                        <p:strVal val="visible"/>
                                      </p:to>
                                    </p:set>
                                    <p:animEffect transition="in" filter="blinds(horizontal)">
                                      <p:cBhvr>
                                        <p:cTn id="12" dur="500"/>
                                        <p:tgtEl>
                                          <p:spTgt spid="1341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34147"/>
                                        </p:tgtEl>
                                        <p:attrNameLst>
                                          <p:attrName>style.visibility</p:attrName>
                                        </p:attrNameLst>
                                      </p:cBhvr>
                                      <p:to>
                                        <p:strVal val="visible"/>
                                      </p:to>
                                    </p:set>
                                    <p:animEffect transition="in" filter="blinds(horizontal)">
                                      <p:cBhvr>
                                        <p:cTn id="17" dur="500"/>
                                        <p:tgtEl>
                                          <p:spTgt spid="1341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4150"/>
                                        </p:tgtEl>
                                        <p:attrNameLst>
                                          <p:attrName>style.visibility</p:attrName>
                                        </p:attrNameLst>
                                      </p:cBhvr>
                                      <p:to>
                                        <p:strVal val="visible"/>
                                      </p:to>
                                    </p:set>
                                    <p:animEffect transition="in" filter="blinds(horizontal)">
                                      <p:cBhvr>
                                        <p:cTn id="22" dur="500"/>
                                        <p:tgtEl>
                                          <p:spTgt spid="13415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34148"/>
                                        </p:tgtEl>
                                        <p:attrNameLst>
                                          <p:attrName>style.visibility</p:attrName>
                                        </p:attrNameLst>
                                      </p:cBhvr>
                                      <p:to>
                                        <p:strVal val="visible"/>
                                      </p:to>
                                    </p:set>
                                    <p:animEffect transition="in" filter="blinds(horizontal)">
                                      <p:cBhvr>
                                        <p:cTn id="27" dur="500"/>
                                        <p:tgtEl>
                                          <p:spTgt spid="13414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34149"/>
                                        </p:tgtEl>
                                        <p:attrNameLst>
                                          <p:attrName>style.visibility</p:attrName>
                                        </p:attrNameLst>
                                      </p:cBhvr>
                                      <p:to>
                                        <p:strVal val="visible"/>
                                      </p:to>
                                    </p:set>
                                    <p:animEffect transition="in" filter="blinds(horizontal)">
                                      <p:cBhvr>
                                        <p:cTn id="32" dur="500"/>
                                        <p:tgtEl>
                                          <p:spTgt spid="134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6" grpId="0" animBg="1" autoUpdateAnimBg="0"/>
      <p:bldP spid="134147" grpId="0" animBg="1" autoUpdateAnimBg="0"/>
      <p:bldP spid="134148" grpId="0" animBg="1" autoUpdateAnimBg="0"/>
      <p:bldP spid="134149" grpId="0" animBg="1" autoUpdateAnimBg="0"/>
      <p:bldP spid="134150"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457200" y="419100"/>
            <a:ext cx="8102600" cy="592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zh-CN" altLang="en-US" dirty="0">
                <a:solidFill>
                  <a:srgbClr val="800000"/>
                </a:solidFill>
                <a:latin typeface="黑体" pitchFamily="2" charset="-122"/>
                <a:ea typeface="黑体" pitchFamily="2" charset="-122"/>
              </a:rPr>
              <a:t>1.1.1 计算机系统的组成 </a:t>
            </a:r>
            <a:endParaRPr lang="zh-CN" altLang="en-US" dirty="0">
              <a:latin typeface="黑体" pitchFamily="2" charset="-122"/>
              <a:ea typeface="黑体" pitchFamily="2" charset="-122"/>
            </a:endParaRPr>
          </a:p>
        </p:txBody>
      </p:sp>
      <p:sp>
        <p:nvSpPr>
          <p:cNvPr id="10243" name="Rectangle 3"/>
          <p:cNvSpPr>
            <a:spLocks noChangeArrowheads="1"/>
          </p:cNvSpPr>
          <p:nvPr/>
        </p:nvSpPr>
        <p:spPr bwMode="auto">
          <a:xfrm>
            <a:off x="842170" y="845521"/>
            <a:ext cx="8305800" cy="1059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en-US" altLang="zh-CN" dirty="0">
                <a:solidFill>
                  <a:srgbClr val="800000"/>
                </a:solidFill>
                <a:latin typeface="黑体" pitchFamily="2" charset="-122"/>
                <a:ea typeface="黑体" pitchFamily="2" charset="-122"/>
              </a:rPr>
              <a:t>2</a:t>
            </a:r>
            <a:r>
              <a:rPr lang="zh-CN" altLang="en-US" dirty="0">
                <a:solidFill>
                  <a:srgbClr val="800000"/>
                </a:solidFill>
                <a:latin typeface="黑体" pitchFamily="2" charset="-122"/>
                <a:ea typeface="黑体" pitchFamily="2" charset="-122"/>
              </a:rPr>
              <a:t>．硬件系统的基本组成</a:t>
            </a:r>
            <a:endParaRPr lang="en-US" altLang="zh-CN" dirty="0">
              <a:solidFill>
                <a:srgbClr val="800000"/>
              </a:solidFill>
              <a:latin typeface="黑体" pitchFamily="2" charset="-122"/>
              <a:ea typeface="黑体" pitchFamily="2" charset="-122"/>
            </a:endParaRPr>
          </a:p>
          <a:p>
            <a:pPr marL="342900" indent="-342900">
              <a:lnSpc>
                <a:spcPct val="150000"/>
              </a:lnSpc>
              <a:spcBef>
                <a:spcPct val="0"/>
              </a:spcBef>
              <a:buClrTx/>
              <a:buFont typeface="Wingdings" panose="05000000000000000000" pitchFamily="2" charset="2"/>
              <a:buChar char="l"/>
            </a:pPr>
            <a:r>
              <a:rPr lang="zh-CN" altLang="en-US" dirty="0">
                <a:solidFill>
                  <a:srgbClr val="800000"/>
                </a:solidFill>
                <a:latin typeface="黑体" pitchFamily="2" charset="-122"/>
                <a:ea typeface="黑体" pitchFamily="2" charset="-122"/>
              </a:rPr>
              <a:t>现代计算机的组织结构</a:t>
            </a:r>
          </a:p>
        </p:txBody>
      </p:sp>
      <p:grpSp>
        <p:nvGrpSpPr>
          <p:cNvPr id="2" name="组合 1"/>
          <p:cNvGrpSpPr/>
          <p:nvPr/>
        </p:nvGrpSpPr>
        <p:grpSpPr>
          <a:xfrm>
            <a:off x="2139952" y="1938040"/>
            <a:ext cx="5406922" cy="2270092"/>
            <a:chOff x="2214563" y="1687513"/>
            <a:chExt cx="5727700" cy="2463800"/>
          </a:xfrm>
        </p:grpSpPr>
        <p:sp>
          <p:nvSpPr>
            <p:cNvPr id="586781" name="AutoShape 29"/>
            <p:cNvSpPr>
              <a:spLocks noChangeArrowheads="1"/>
            </p:cNvSpPr>
            <p:nvPr/>
          </p:nvSpPr>
          <p:spPr bwMode="auto">
            <a:xfrm>
              <a:off x="2951163" y="3452813"/>
              <a:ext cx="3124200" cy="660400"/>
            </a:xfrm>
            <a:prstGeom prst="roundRect">
              <a:avLst>
                <a:gd name="adj" fmla="val 16667"/>
              </a:avLst>
            </a:prstGeom>
            <a:gradFill rotWithShape="1">
              <a:gsLst>
                <a:gs pos="0">
                  <a:schemeClr val="hlink">
                    <a:alpha val="20000"/>
                  </a:schemeClr>
                </a:gs>
                <a:gs pos="100000">
                  <a:schemeClr val="hlink">
                    <a:gamma/>
                    <a:shade val="46275"/>
                    <a:invGamma/>
                    <a:alpha val="20000"/>
                  </a:schemeClr>
                </a:gs>
              </a:gsLst>
              <a:lin ang="5400000" scaled="1"/>
            </a:gradFill>
            <a:ln w="9525" algn="ctr">
              <a:solidFill>
                <a:schemeClr val="hlink"/>
              </a:solidFill>
              <a:prstDash val="dash"/>
              <a:round/>
              <a:headEnd/>
              <a:tailEnd/>
            </a:ln>
            <a:effectLst/>
          </p:spPr>
          <p:txBody>
            <a:bodyPr wrap="none" anchor="ctr"/>
            <a:lstStyle/>
            <a:p>
              <a:pPr marL="609600" indent="-609600" algn="ctr">
                <a:spcBef>
                  <a:spcPct val="20000"/>
                </a:spcBef>
                <a:defRPr/>
              </a:pPr>
              <a:endParaRPr lang="en-US" altLang="zh-CN" sz="1600" dirty="0">
                <a:latin typeface="黑体" pitchFamily="2" charset="-122"/>
                <a:ea typeface="黑体" pitchFamily="2" charset="-122"/>
              </a:endParaRPr>
            </a:p>
            <a:p>
              <a:pPr marL="609600" indent="-609600" algn="ctr">
                <a:lnSpc>
                  <a:spcPct val="170000"/>
                </a:lnSpc>
                <a:spcBef>
                  <a:spcPct val="20000"/>
                </a:spcBef>
                <a:defRPr/>
              </a:pPr>
              <a:r>
                <a:rPr lang="en-US" altLang="zh-CN" sz="1600" dirty="0">
                  <a:solidFill>
                    <a:srgbClr val="FF0000"/>
                  </a:solidFill>
                  <a:latin typeface="黑体" pitchFamily="2" charset="-122"/>
                  <a:ea typeface="黑体" pitchFamily="2" charset="-122"/>
                </a:rPr>
                <a:t>CPU</a:t>
              </a:r>
            </a:p>
          </p:txBody>
        </p:sp>
        <p:grpSp>
          <p:nvGrpSpPr>
            <p:cNvPr id="10255" name="Group 31"/>
            <p:cNvGrpSpPr>
              <a:grpSpLocks/>
            </p:cNvGrpSpPr>
            <p:nvPr/>
          </p:nvGrpSpPr>
          <p:grpSpPr bwMode="auto">
            <a:xfrm>
              <a:off x="2214563" y="2106613"/>
              <a:ext cx="4622800" cy="1776413"/>
              <a:chOff x="1440" y="1512"/>
              <a:chExt cx="2912" cy="1119"/>
            </a:xfrm>
          </p:grpSpPr>
          <p:sp>
            <p:nvSpPr>
              <p:cNvPr id="10263" name="Text Box 10"/>
              <p:cNvSpPr txBox="1">
                <a:spLocks noChangeArrowheads="1"/>
              </p:cNvSpPr>
              <p:nvPr/>
            </p:nvSpPr>
            <p:spPr bwMode="auto">
              <a:xfrm>
                <a:off x="1440" y="1512"/>
                <a:ext cx="720" cy="215"/>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r>
                  <a:rPr lang="zh-CN" altLang="en-US" sz="1800">
                    <a:solidFill>
                      <a:srgbClr val="000080"/>
                    </a:solidFill>
                    <a:latin typeface="黑体" pitchFamily="2" charset="-122"/>
                    <a:ea typeface="黑体" pitchFamily="2" charset="-122"/>
                  </a:rPr>
                  <a:t>输入设备</a:t>
                </a:r>
              </a:p>
            </p:txBody>
          </p:sp>
          <p:sp>
            <p:nvSpPr>
              <p:cNvPr id="10264" name="Text Box 11"/>
              <p:cNvSpPr txBox="1">
                <a:spLocks noChangeArrowheads="1"/>
              </p:cNvSpPr>
              <p:nvPr/>
            </p:nvSpPr>
            <p:spPr bwMode="auto">
              <a:xfrm>
                <a:off x="3632" y="1512"/>
                <a:ext cx="720" cy="215"/>
              </a:xfrm>
              <a:prstGeom prst="rect">
                <a:avLst/>
              </a:prstGeom>
              <a:noFill/>
              <a:ln w="28575" algn="ctr">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r>
                  <a:rPr lang="zh-CN" altLang="en-US" sz="1800" dirty="0">
                    <a:solidFill>
                      <a:srgbClr val="000080"/>
                    </a:solidFill>
                    <a:latin typeface="黑体" pitchFamily="2" charset="-122"/>
                    <a:ea typeface="黑体" pitchFamily="2" charset="-122"/>
                  </a:rPr>
                  <a:t>输出设备</a:t>
                </a:r>
              </a:p>
            </p:txBody>
          </p:sp>
          <p:sp>
            <p:nvSpPr>
              <p:cNvPr id="10265" name="Text Box 12"/>
              <p:cNvSpPr txBox="1">
                <a:spLocks noChangeArrowheads="1"/>
              </p:cNvSpPr>
              <p:nvPr/>
            </p:nvSpPr>
            <p:spPr bwMode="auto">
              <a:xfrm>
                <a:off x="2488" y="1512"/>
                <a:ext cx="792" cy="215"/>
              </a:xfrm>
              <a:prstGeom prst="rect">
                <a:avLst/>
              </a:prstGeom>
              <a:noFill/>
              <a:ln w="28575" algn="ctr">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r>
                  <a:rPr lang="zh-CN" altLang="en-US" sz="1800">
                    <a:solidFill>
                      <a:srgbClr val="000080"/>
                    </a:solidFill>
                    <a:latin typeface="黑体" pitchFamily="2" charset="-122"/>
                    <a:ea typeface="黑体" pitchFamily="2" charset="-122"/>
                  </a:rPr>
                  <a:t>辅助存储器</a:t>
                </a:r>
              </a:p>
            </p:txBody>
          </p:sp>
          <p:sp>
            <p:nvSpPr>
              <p:cNvPr id="10266" name="Text Box 13"/>
              <p:cNvSpPr txBox="1">
                <a:spLocks noChangeArrowheads="1"/>
              </p:cNvSpPr>
              <p:nvPr/>
            </p:nvSpPr>
            <p:spPr bwMode="auto">
              <a:xfrm>
                <a:off x="2496" y="1976"/>
                <a:ext cx="792" cy="215"/>
              </a:xfrm>
              <a:prstGeom prst="rect">
                <a:avLst/>
              </a:prstGeom>
              <a:noFill/>
              <a:ln w="28575" algn="ctr">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r>
                  <a:rPr lang="zh-CN" altLang="en-US" sz="1800">
                    <a:solidFill>
                      <a:srgbClr val="000080"/>
                    </a:solidFill>
                    <a:latin typeface="黑体" pitchFamily="2" charset="-122"/>
                    <a:ea typeface="黑体" pitchFamily="2" charset="-122"/>
                  </a:rPr>
                  <a:t>主存储器</a:t>
                </a:r>
              </a:p>
            </p:txBody>
          </p:sp>
          <p:sp>
            <p:nvSpPr>
              <p:cNvPr id="10267" name="Text Box 15"/>
              <p:cNvSpPr txBox="1">
                <a:spLocks noChangeArrowheads="1"/>
              </p:cNvSpPr>
              <p:nvPr/>
            </p:nvSpPr>
            <p:spPr bwMode="auto">
              <a:xfrm>
                <a:off x="2040" y="2416"/>
                <a:ext cx="584" cy="215"/>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r>
                  <a:rPr lang="zh-CN" altLang="en-US" sz="1800" dirty="0">
                    <a:solidFill>
                      <a:srgbClr val="000080"/>
                    </a:solidFill>
                    <a:latin typeface="黑体" pitchFamily="2" charset="-122"/>
                    <a:ea typeface="黑体" pitchFamily="2" charset="-122"/>
                  </a:rPr>
                  <a:t>运算器</a:t>
                </a:r>
              </a:p>
            </p:txBody>
          </p:sp>
          <p:sp>
            <p:nvSpPr>
              <p:cNvPr id="10268" name="Text Box 16"/>
              <p:cNvSpPr txBox="1">
                <a:spLocks noChangeArrowheads="1"/>
              </p:cNvSpPr>
              <p:nvPr/>
            </p:nvSpPr>
            <p:spPr bwMode="auto">
              <a:xfrm>
                <a:off x="3168" y="2416"/>
                <a:ext cx="584" cy="215"/>
              </a:xfrm>
              <a:prstGeom prst="rect">
                <a:avLst/>
              </a:prstGeom>
              <a:noFill/>
              <a:ln w="2857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r>
                  <a:rPr lang="zh-CN" altLang="en-US" sz="1800">
                    <a:solidFill>
                      <a:srgbClr val="000080"/>
                    </a:solidFill>
                    <a:latin typeface="黑体" pitchFamily="2" charset="-122"/>
                    <a:ea typeface="黑体" pitchFamily="2" charset="-122"/>
                  </a:rPr>
                  <a:t>控制器</a:t>
                </a:r>
              </a:p>
            </p:txBody>
          </p:sp>
          <p:sp>
            <p:nvSpPr>
              <p:cNvPr id="10269" name="Line 17"/>
              <p:cNvSpPr>
                <a:spLocks noChangeShapeType="1"/>
              </p:cNvSpPr>
              <p:nvPr/>
            </p:nvSpPr>
            <p:spPr bwMode="auto">
              <a:xfrm>
                <a:off x="2848" y="1744"/>
                <a:ext cx="0" cy="232"/>
              </a:xfrm>
              <a:prstGeom prst="line">
                <a:avLst/>
              </a:prstGeom>
              <a:noFill/>
              <a:ln w="38100">
                <a:solidFill>
                  <a:schemeClr val="tx2"/>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solidFill>
                    <a:srgbClr val="000080"/>
                  </a:solidFill>
                  <a:latin typeface="黑体" pitchFamily="2" charset="-122"/>
                  <a:ea typeface="黑体" pitchFamily="2" charset="-122"/>
                </a:endParaRPr>
              </a:p>
            </p:txBody>
          </p:sp>
          <p:sp>
            <p:nvSpPr>
              <p:cNvPr id="10270" name="Freeform 18"/>
              <p:cNvSpPr>
                <a:spLocks/>
              </p:cNvSpPr>
              <p:nvPr/>
            </p:nvSpPr>
            <p:spPr bwMode="auto">
              <a:xfrm>
                <a:off x="1760" y="1752"/>
                <a:ext cx="736" cy="272"/>
              </a:xfrm>
              <a:custGeom>
                <a:avLst/>
                <a:gdLst>
                  <a:gd name="T0" fmla="*/ 0 w 736"/>
                  <a:gd name="T1" fmla="*/ 0 h 272"/>
                  <a:gd name="T2" fmla="*/ 0 w 736"/>
                  <a:gd name="T3" fmla="*/ 272 h 272"/>
                  <a:gd name="T4" fmla="*/ 736 w 736"/>
                  <a:gd name="T5" fmla="*/ 272 h 272"/>
                  <a:gd name="T6" fmla="*/ 0 60000 65536"/>
                  <a:gd name="T7" fmla="*/ 0 60000 65536"/>
                  <a:gd name="T8" fmla="*/ 0 60000 65536"/>
                  <a:gd name="T9" fmla="*/ 0 w 736"/>
                  <a:gd name="T10" fmla="*/ 0 h 272"/>
                  <a:gd name="T11" fmla="*/ 736 w 736"/>
                  <a:gd name="T12" fmla="*/ 272 h 272"/>
                </a:gdLst>
                <a:ahLst/>
                <a:cxnLst>
                  <a:cxn ang="T6">
                    <a:pos x="T0" y="T1"/>
                  </a:cxn>
                  <a:cxn ang="T7">
                    <a:pos x="T2" y="T3"/>
                  </a:cxn>
                  <a:cxn ang="T8">
                    <a:pos x="T4" y="T5"/>
                  </a:cxn>
                </a:cxnLst>
                <a:rect l="T9" t="T10" r="T11" b="T12"/>
                <a:pathLst>
                  <a:path w="736" h="272">
                    <a:moveTo>
                      <a:pt x="0" y="0"/>
                    </a:moveTo>
                    <a:lnTo>
                      <a:pt x="0" y="272"/>
                    </a:lnTo>
                    <a:lnTo>
                      <a:pt x="736" y="272"/>
                    </a:lnTo>
                  </a:path>
                </a:pathLst>
              </a:custGeom>
              <a:noFill/>
              <a:ln w="38100" cap="flat" cmpd="sng">
                <a:solidFill>
                  <a:schemeClr val="tx2"/>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80"/>
                  </a:solidFill>
                  <a:latin typeface="黑体" pitchFamily="2" charset="-122"/>
                  <a:ea typeface="黑体" pitchFamily="2" charset="-122"/>
                </a:endParaRPr>
              </a:p>
            </p:txBody>
          </p:sp>
          <p:sp>
            <p:nvSpPr>
              <p:cNvPr id="10271" name="Freeform 19"/>
              <p:cNvSpPr>
                <a:spLocks/>
              </p:cNvSpPr>
              <p:nvPr/>
            </p:nvSpPr>
            <p:spPr bwMode="auto">
              <a:xfrm>
                <a:off x="3288" y="1744"/>
                <a:ext cx="712" cy="280"/>
              </a:xfrm>
              <a:custGeom>
                <a:avLst/>
                <a:gdLst>
                  <a:gd name="T0" fmla="*/ 0 w 712"/>
                  <a:gd name="T1" fmla="*/ 280 h 280"/>
                  <a:gd name="T2" fmla="*/ 712 w 712"/>
                  <a:gd name="T3" fmla="*/ 280 h 280"/>
                  <a:gd name="T4" fmla="*/ 712 w 712"/>
                  <a:gd name="T5" fmla="*/ 0 h 280"/>
                  <a:gd name="T6" fmla="*/ 0 60000 65536"/>
                  <a:gd name="T7" fmla="*/ 0 60000 65536"/>
                  <a:gd name="T8" fmla="*/ 0 60000 65536"/>
                  <a:gd name="T9" fmla="*/ 0 w 712"/>
                  <a:gd name="T10" fmla="*/ 0 h 280"/>
                  <a:gd name="T11" fmla="*/ 712 w 712"/>
                  <a:gd name="T12" fmla="*/ 280 h 280"/>
                </a:gdLst>
                <a:ahLst/>
                <a:cxnLst>
                  <a:cxn ang="T6">
                    <a:pos x="T0" y="T1"/>
                  </a:cxn>
                  <a:cxn ang="T7">
                    <a:pos x="T2" y="T3"/>
                  </a:cxn>
                  <a:cxn ang="T8">
                    <a:pos x="T4" y="T5"/>
                  </a:cxn>
                </a:cxnLst>
                <a:rect l="T9" t="T10" r="T11" b="T12"/>
                <a:pathLst>
                  <a:path w="712" h="280">
                    <a:moveTo>
                      <a:pt x="0" y="280"/>
                    </a:moveTo>
                    <a:lnTo>
                      <a:pt x="712" y="280"/>
                    </a:lnTo>
                    <a:lnTo>
                      <a:pt x="712" y="0"/>
                    </a:lnTo>
                  </a:path>
                </a:pathLst>
              </a:custGeom>
              <a:noFill/>
              <a:ln w="38100" cap="flat" cmpd="sng">
                <a:solidFill>
                  <a:schemeClr val="tx2"/>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80"/>
                  </a:solidFill>
                  <a:latin typeface="黑体" pitchFamily="2" charset="-122"/>
                  <a:ea typeface="黑体" pitchFamily="2" charset="-122"/>
                </a:endParaRPr>
              </a:p>
            </p:txBody>
          </p:sp>
          <p:sp>
            <p:nvSpPr>
              <p:cNvPr id="10272" name="Freeform 20"/>
              <p:cNvSpPr>
                <a:spLocks/>
              </p:cNvSpPr>
              <p:nvPr/>
            </p:nvSpPr>
            <p:spPr bwMode="auto">
              <a:xfrm>
                <a:off x="2312" y="2112"/>
                <a:ext cx="176" cy="296"/>
              </a:xfrm>
              <a:custGeom>
                <a:avLst/>
                <a:gdLst>
                  <a:gd name="T0" fmla="*/ 176 w 176"/>
                  <a:gd name="T1" fmla="*/ 0 h 296"/>
                  <a:gd name="T2" fmla="*/ 0 w 176"/>
                  <a:gd name="T3" fmla="*/ 0 h 296"/>
                  <a:gd name="T4" fmla="*/ 0 w 176"/>
                  <a:gd name="T5" fmla="*/ 296 h 296"/>
                  <a:gd name="T6" fmla="*/ 0 60000 65536"/>
                  <a:gd name="T7" fmla="*/ 0 60000 65536"/>
                  <a:gd name="T8" fmla="*/ 0 60000 65536"/>
                  <a:gd name="T9" fmla="*/ 0 w 176"/>
                  <a:gd name="T10" fmla="*/ 0 h 296"/>
                  <a:gd name="T11" fmla="*/ 176 w 176"/>
                  <a:gd name="T12" fmla="*/ 296 h 296"/>
                </a:gdLst>
                <a:ahLst/>
                <a:cxnLst>
                  <a:cxn ang="T6">
                    <a:pos x="T0" y="T1"/>
                  </a:cxn>
                  <a:cxn ang="T7">
                    <a:pos x="T2" y="T3"/>
                  </a:cxn>
                  <a:cxn ang="T8">
                    <a:pos x="T4" y="T5"/>
                  </a:cxn>
                </a:cxnLst>
                <a:rect l="T9" t="T10" r="T11" b="T12"/>
                <a:pathLst>
                  <a:path w="176" h="296">
                    <a:moveTo>
                      <a:pt x="176" y="0"/>
                    </a:moveTo>
                    <a:lnTo>
                      <a:pt x="0" y="0"/>
                    </a:lnTo>
                    <a:lnTo>
                      <a:pt x="0" y="296"/>
                    </a:lnTo>
                  </a:path>
                </a:pathLst>
              </a:custGeom>
              <a:noFill/>
              <a:ln w="38100" cap="flat" cmpd="sng">
                <a:solidFill>
                  <a:schemeClr val="tx2"/>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80"/>
                  </a:solidFill>
                  <a:latin typeface="黑体" pitchFamily="2" charset="-122"/>
                  <a:ea typeface="黑体" pitchFamily="2" charset="-122"/>
                </a:endParaRPr>
              </a:p>
            </p:txBody>
          </p:sp>
          <p:sp>
            <p:nvSpPr>
              <p:cNvPr id="10273" name="Freeform 21"/>
              <p:cNvSpPr>
                <a:spLocks/>
              </p:cNvSpPr>
              <p:nvPr/>
            </p:nvSpPr>
            <p:spPr bwMode="auto">
              <a:xfrm flipH="1">
                <a:off x="3288" y="2112"/>
                <a:ext cx="176" cy="296"/>
              </a:xfrm>
              <a:custGeom>
                <a:avLst/>
                <a:gdLst>
                  <a:gd name="T0" fmla="*/ 176 w 176"/>
                  <a:gd name="T1" fmla="*/ 0 h 296"/>
                  <a:gd name="T2" fmla="*/ 0 w 176"/>
                  <a:gd name="T3" fmla="*/ 0 h 296"/>
                  <a:gd name="T4" fmla="*/ 0 w 176"/>
                  <a:gd name="T5" fmla="*/ 296 h 296"/>
                  <a:gd name="T6" fmla="*/ 0 60000 65536"/>
                  <a:gd name="T7" fmla="*/ 0 60000 65536"/>
                  <a:gd name="T8" fmla="*/ 0 60000 65536"/>
                  <a:gd name="T9" fmla="*/ 0 w 176"/>
                  <a:gd name="T10" fmla="*/ 0 h 296"/>
                  <a:gd name="T11" fmla="*/ 176 w 176"/>
                  <a:gd name="T12" fmla="*/ 296 h 296"/>
                </a:gdLst>
                <a:ahLst/>
                <a:cxnLst>
                  <a:cxn ang="T6">
                    <a:pos x="T0" y="T1"/>
                  </a:cxn>
                  <a:cxn ang="T7">
                    <a:pos x="T2" y="T3"/>
                  </a:cxn>
                  <a:cxn ang="T8">
                    <a:pos x="T4" y="T5"/>
                  </a:cxn>
                </a:cxnLst>
                <a:rect l="T9" t="T10" r="T11" b="T12"/>
                <a:pathLst>
                  <a:path w="176" h="296">
                    <a:moveTo>
                      <a:pt x="176" y="0"/>
                    </a:moveTo>
                    <a:lnTo>
                      <a:pt x="0" y="0"/>
                    </a:lnTo>
                    <a:lnTo>
                      <a:pt x="0" y="296"/>
                    </a:lnTo>
                  </a:path>
                </a:pathLst>
              </a:custGeom>
              <a:noFill/>
              <a:ln w="38100" cap="flat" cmpd="sng">
                <a:solidFill>
                  <a:schemeClr val="tx2"/>
                </a:solidFill>
                <a:prstDash val="solid"/>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80"/>
                  </a:solidFill>
                  <a:latin typeface="黑体" pitchFamily="2" charset="-122"/>
                  <a:ea typeface="黑体" pitchFamily="2" charset="-122"/>
                </a:endParaRPr>
              </a:p>
            </p:txBody>
          </p:sp>
          <p:sp>
            <p:nvSpPr>
              <p:cNvPr id="10274" name="Line 22"/>
              <p:cNvSpPr>
                <a:spLocks noChangeShapeType="1"/>
              </p:cNvSpPr>
              <p:nvPr/>
            </p:nvSpPr>
            <p:spPr bwMode="auto">
              <a:xfrm flipH="1">
                <a:off x="2624" y="2584"/>
                <a:ext cx="544" cy="0"/>
              </a:xfrm>
              <a:prstGeom prst="line">
                <a:avLst/>
              </a:prstGeom>
              <a:noFill/>
              <a:ln w="19050">
                <a:solidFill>
                  <a:srgbClr val="FF0000"/>
                </a:solidFill>
                <a:round/>
                <a:headEnd/>
                <a:tailEnd type="arrow" w="lg" len="lg"/>
              </a:ln>
              <a:extLst>
                <a:ext uri="{909E8E84-426E-40DD-AFC4-6F175D3DCCD1}">
                  <a14:hiddenFill xmlns:a14="http://schemas.microsoft.com/office/drawing/2010/main">
                    <a:noFill/>
                  </a14:hiddenFill>
                </a:ext>
              </a:extLst>
            </p:spPr>
            <p:txBody>
              <a:bodyPr wrap="none" anchor="ctr"/>
              <a:lstStyle/>
              <a:p>
                <a:endParaRPr lang="zh-CN" altLang="en-US">
                  <a:solidFill>
                    <a:srgbClr val="000080"/>
                  </a:solidFill>
                  <a:latin typeface="黑体" pitchFamily="2" charset="-122"/>
                  <a:ea typeface="黑体" pitchFamily="2" charset="-122"/>
                </a:endParaRPr>
              </a:p>
            </p:txBody>
          </p:sp>
          <p:sp>
            <p:nvSpPr>
              <p:cNvPr id="10275" name="Freeform 23"/>
              <p:cNvSpPr>
                <a:spLocks/>
              </p:cNvSpPr>
              <p:nvPr/>
            </p:nvSpPr>
            <p:spPr bwMode="auto">
              <a:xfrm>
                <a:off x="2856" y="2200"/>
                <a:ext cx="312" cy="240"/>
              </a:xfrm>
              <a:custGeom>
                <a:avLst/>
                <a:gdLst>
                  <a:gd name="T0" fmla="*/ 312 w 312"/>
                  <a:gd name="T1" fmla="*/ 15 h 288"/>
                  <a:gd name="T2" fmla="*/ 0 w 312"/>
                  <a:gd name="T3" fmla="*/ 15 h 288"/>
                  <a:gd name="T4" fmla="*/ 0 w 312"/>
                  <a:gd name="T5" fmla="*/ 0 h 288"/>
                  <a:gd name="T6" fmla="*/ 0 60000 65536"/>
                  <a:gd name="T7" fmla="*/ 0 60000 65536"/>
                  <a:gd name="T8" fmla="*/ 0 60000 65536"/>
                  <a:gd name="T9" fmla="*/ 0 w 312"/>
                  <a:gd name="T10" fmla="*/ 0 h 288"/>
                  <a:gd name="T11" fmla="*/ 312 w 312"/>
                  <a:gd name="T12" fmla="*/ 288 h 288"/>
                </a:gdLst>
                <a:ahLst/>
                <a:cxnLst>
                  <a:cxn ang="T6">
                    <a:pos x="T0" y="T1"/>
                  </a:cxn>
                  <a:cxn ang="T7">
                    <a:pos x="T2" y="T3"/>
                  </a:cxn>
                  <a:cxn ang="T8">
                    <a:pos x="T4" y="T5"/>
                  </a:cxn>
                </a:cxnLst>
                <a:rect l="T9" t="T10" r="T11" b="T12"/>
                <a:pathLst>
                  <a:path w="312" h="288">
                    <a:moveTo>
                      <a:pt x="312" y="288"/>
                    </a:moveTo>
                    <a:lnTo>
                      <a:pt x="0" y="288"/>
                    </a:lnTo>
                    <a:lnTo>
                      <a:pt x="0" y="0"/>
                    </a:lnTo>
                  </a:path>
                </a:pathLst>
              </a:custGeom>
              <a:noFill/>
              <a:ln w="19050" cap="flat" cmpd="sng">
                <a:solidFill>
                  <a:srgbClr val="FF0000"/>
                </a:solidFill>
                <a:prstDash val="solid"/>
                <a:round/>
                <a:headEnd type="none" w="med" len="med"/>
                <a:tailEnd type="arrow"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80"/>
                  </a:solidFill>
                  <a:latin typeface="黑体" pitchFamily="2" charset="-122"/>
                  <a:ea typeface="黑体" pitchFamily="2" charset="-122"/>
                </a:endParaRPr>
              </a:p>
            </p:txBody>
          </p:sp>
          <p:sp>
            <p:nvSpPr>
              <p:cNvPr id="10276" name="Freeform 24"/>
              <p:cNvSpPr>
                <a:spLocks/>
              </p:cNvSpPr>
              <p:nvPr/>
            </p:nvSpPr>
            <p:spPr bwMode="auto">
              <a:xfrm>
                <a:off x="2024" y="1744"/>
                <a:ext cx="1136" cy="768"/>
              </a:xfrm>
              <a:custGeom>
                <a:avLst/>
                <a:gdLst>
                  <a:gd name="T0" fmla="*/ 1136 w 1136"/>
                  <a:gd name="T1" fmla="*/ 768 h 768"/>
                  <a:gd name="T2" fmla="*/ 728 w 1136"/>
                  <a:gd name="T3" fmla="*/ 768 h 768"/>
                  <a:gd name="T4" fmla="*/ 728 w 1136"/>
                  <a:gd name="T5" fmla="*/ 568 h 768"/>
                  <a:gd name="T6" fmla="*/ 0 w 1136"/>
                  <a:gd name="T7" fmla="*/ 568 h 768"/>
                  <a:gd name="T8" fmla="*/ 0 w 1136"/>
                  <a:gd name="T9" fmla="*/ 0 h 768"/>
                  <a:gd name="T10" fmla="*/ 0 60000 65536"/>
                  <a:gd name="T11" fmla="*/ 0 60000 65536"/>
                  <a:gd name="T12" fmla="*/ 0 60000 65536"/>
                  <a:gd name="T13" fmla="*/ 0 60000 65536"/>
                  <a:gd name="T14" fmla="*/ 0 60000 65536"/>
                  <a:gd name="T15" fmla="*/ 0 w 1136"/>
                  <a:gd name="T16" fmla="*/ 0 h 768"/>
                  <a:gd name="T17" fmla="*/ 1136 w 1136"/>
                  <a:gd name="T18" fmla="*/ 768 h 768"/>
                </a:gdLst>
                <a:ahLst/>
                <a:cxnLst>
                  <a:cxn ang="T10">
                    <a:pos x="T0" y="T1"/>
                  </a:cxn>
                  <a:cxn ang="T11">
                    <a:pos x="T2" y="T3"/>
                  </a:cxn>
                  <a:cxn ang="T12">
                    <a:pos x="T4" y="T5"/>
                  </a:cxn>
                  <a:cxn ang="T13">
                    <a:pos x="T6" y="T7"/>
                  </a:cxn>
                  <a:cxn ang="T14">
                    <a:pos x="T8" y="T9"/>
                  </a:cxn>
                </a:cxnLst>
                <a:rect l="T15" t="T16" r="T17" b="T18"/>
                <a:pathLst>
                  <a:path w="1136" h="768">
                    <a:moveTo>
                      <a:pt x="1136" y="768"/>
                    </a:moveTo>
                    <a:lnTo>
                      <a:pt x="728" y="768"/>
                    </a:lnTo>
                    <a:lnTo>
                      <a:pt x="728" y="568"/>
                    </a:lnTo>
                    <a:lnTo>
                      <a:pt x="0" y="568"/>
                    </a:lnTo>
                    <a:lnTo>
                      <a:pt x="0" y="0"/>
                    </a:lnTo>
                  </a:path>
                </a:pathLst>
              </a:custGeom>
              <a:noFill/>
              <a:ln w="19050" cap="flat" cmpd="sng">
                <a:solidFill>
                  <a:srgbClr val="FF0000"/>
                </a:solidFill>
                <a:prstDash val="solid"/>
                <a:round/>
                <a:headEnd type="none" w="med" len="med"/>
                <a:tailEnd type="arrow"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80"/>
                  </a:solidFill>
                  <a:latin typeface="黑体" pitchFamily="2" charset="-122"/>
                  <a:ea typeface="黑体" pitchFamily="2" charset="-122"/>
                </a:endParaRPr>
              </a:p>
            </p:txBody>
          </p:sp>
          <p:sp>
            <p:nvSpPr>
              <p:cNvPr id="10277" name="Freeform 25"/>
              <p:cNvSpPr>
                <a:spLocks/>
              </p:cNvSpPr>
              <p:nvPr/>
            </p:nvSpPr>
            <p:spPr bwMode="auto">
              <a:xfrm>
                <a:off x="3280" y="1640"/>
                <a:ext cx="288" cy="768"/>
              </a:xfrm>
              <a:custGeom>
                <a:avLst/>
                <a:gdLst>
                  <a:gd name="T0" fmla="*/ 288 w 288"/>
                  <a:gd name="T1" fmla="*/ 768 h 768"/>
                  <a:gd name="T2" fmla="*/ 288 w 288"/>
                  <a:gd name="T3" fmla="*/ 0 h 768"/>
                  <a:gd name="T4" fmla="*/ 0 w 288"/>
                  <a:gd name="T5" fmla="*/ 0 h 768"/>
                  <a:gd name="T6" fmla="*/ 0 60000 65536"/>
                  <a:gd name="T7" fmla="*/ 0 60000 65536"/>
                  <a:gd name="T8" fmla="*/ 0 60000 65536"/>
                  <a:gd name="T9" fmla="*/ 0 w 288"/>
                  <a:gd name="T10" fmla="*/ 0 h 768"/>
                  <a:gd name="T11" fmla="*/ 288 w 288"/>
                  <a:gd name="T12" fmla="*/ 768 h 768"/>
                </a:gdLst>
                <a:ahLst/>
                <a:cxnLst>
                  <a:cxn ang="T6">
                    <a:pos x="T0" y="T1"/>
                  </a:cxn>
                  <a:cxn ang="T7">
                    <a:pos x="T2" y="T3"/>
                  </a:cxn>
                  <a:cxn ang="T8">
                    <a:pos x="T4" y="T5"/>
                  </a:cxn>
                </a:cxnLst>
                <a:rect l="T9" t="T10" r="T11" b="T12"/>
                <a:pathLst>
                  <a:path w="288" h="768">
                    <a:moveTo>
                      <a:pt x="288" y="768"/>
                    </a:moveTo>
                    <a:lnTo>
                      <a:pt x="288" y="0"/>
                    </a:lnTo>
                    <a:lnTo>
                      <a:pt x="0" y="0"/>
                    </a:lnTo>
                  </a:path>
                </a:pathLst>
              </a:custGeom>
              <a:noFill/>
              <a:ln w="19050" cap="flat" cmpd="sng">
                <a:solidFill>
                  <a:srgbClr val="FF0000"/>
                </a:solidFill>
                <a:prstDash val="solid"/>
                <a:round/>
                <a:headEnd type="none" w="med" len="med"/>
                <a:tailEnd type="arrow" w="lg"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rgbClr val="000080"/>
                  </a:solidFill>
                  <a:latin typeface="黑体" pitchFamily="2" charset="-122"/>
                  <a:ea typeface="黑体" pitchFamily="2" charset="-122"/>
                </a:endParaRPr>
              </a:p>
            </p:txBody>
          </p:sp>
          <p:sp>
            <p:nvSpPr>
              <p:cNvPr id="10278" name="Line 27"/>
              <p:cNvSpPr>
                <a:spLocks noChangeShapeType="1"/>
              </p:cNvSpPr>
              <p:nvPr/>
            </p:nvSpPr>
            <p:spPr bwMode="auto">
              <a:xfrm flipV="1">
                <a:off x="3688" y="1736"/>
                <a:ext cx="0" cy="672"/>
              </a:xfrm>
              <a:prstGeom prst="line">
                <a:avLst/>
              </a:prstGeom>
              <a:noFill/>
              <a:ln w="19050">
                <a:solidFill>
                  <a:srgbClr val="FF0000"/>
                </a:solidFill>
                <a:round/>
                <a:headEnd/>
                <a:tailEnd type="arrow" w="lg" len="lg"/>
              </a:ln>
              <a:extLst>
                <a:ext uri="{909E8E84-426E-40DD-AFC4-6F175D3DCCD1}">
                  <a14:hiddenFill xmlns:a14="http://schemas.microsoft.com/office/drawing/2010/main">
                    <a:noFill/>
                  </a14:hiddenFill>
                </a:ext>
              </a:extLst>
            </p:spPr>
            <p:txBody>
              <a:bodyPr wrap="none" anchor="ctr"/>
              <a:lstStyle/>
              <a:p>
                <a:endParaRPr lang="zh-CN" altLang="en-US">
                  <a:solidFill>
                    <a:srgbClr val="000080"/>
                  </a:solidFill>
                  <a:latin typeface="黑体" pitchFamily="2" charset="-122"/>
                  <a:ea typeface="黑体" pitchFamily="2" charset="-122"/>
                </a:endParaRPr>
              </a:p>
            </p:txBody>
          </p:sp>
        </p:grpSp>
        <p:sp>
          <p:nvSpPr>
            <p:cNvPr id="10257" name="AutoShape 30"/>
            <p:cNvSpPr>
              <a:spLocks noChangeArrowheads="1"/>
            </p:cNvSpPr>
            <p:nvPr/>
          </p:nvSpPr>
          <p:spPr bwMode="auto">
            <a:xfrm>
              <a:off x="3751263" y="1687513"/>
              <a:ext cx="1511300" cy="1587500"/>
            </a:xfrm>
            <a:prstGeom prst="roundRect">
              <a:avLst>
                <a:gd name="adj" fmla="val 16667"/>
              </a:avLst>
            </a:prstGeom>
            <a:solidFill>
              <a:srgbClr val="0066FF">
                <a:alpha val="20000"/>
              </a:srgbClr>
            </a:solidFill>
            <a:ln w="9525" algn="ctr">
              <a:solidFill>
                <a:srgbClr val="0066FF"/>
              </a:solidFill>
              <a:prstDash val="dash"/>
              <a:round/>
              <a:headEnd/>
              <a:tailEnd/>
            </a:ln>
          </p:spPr>
          <p:txBody>
            <a:bodyPr wrap="none" tIns="0"/>
            <a:lstStyle/>
            <a:p>
              <a:pPr marL="609600" indent="-609600" algn="ctr">
                <a:lnSpc>
                  <a:spcPct val="100000"/>
                </a:lnSpc>
                <a:spcBef>
                  <a:spcPct val="20000"/>
                </a:spcBef>
              </a:pPr>
              <a:r>
                <a:rPr lang="zh-CN" altLang="en-US" sz="1600" dirty="0">
                  <a:solidFill>
                    <a:srgbClr val="FF0000"/>
                  </a:solidFill>
                  <a:latin typeface="黑体" pitchFamily="2" charset="-122"/>
                  <a:ea typeface="黑体" pitchFamily="2" charset="-122"/>
                </a:rPr>
                <a:t>存储器</a:t>
              </a:r>
            </a:p>
          </p:txBody>
        </p:sp>
        <p:grpSp>
          <p:nvGrpSpPr>
            <p:cNvPr id="10258" name="Group 37"/>
            <p:cNvGrpSpPr>
              <a:grpSpLocks/>
            </p:cNvGrpSpPr>
            <p:nvPr/>
          </p:nvGrpSpPr>
          <p:grpSpPr bwMode="auto">
            <a:xfrm>
              <a:off x="7078663" y="1865313"/>
              <a:ext cx="863600" cy="2286000"/>
              <a:chOff x="4512" y="1376"/>
              <a:chExt cx="544" cy="1440"/>
            </a:xfrm>
          </p:grpSpPr>
          <p:sp>
            <p:nvSpPr>
              <p:cNvPr id="10259" name="AutoShape 32"/>
              <p:cNvSpPr>
                <a:spLocks/>
              </p:cNvSpPr>
              <p:nvPr/>
            </p:nvSpPr>
            <p:spPr bwMode="auto">
              <a:xfrm>
                <a:off x="4536" y="1376"/>
                <a:ext cx="56" cy="448"/>
              </a:xfrm>
              <a:prstGeom prst="rightBrace">
                <a:avLst>
                  <a:gd name="adj1" fmla="val 66667"/>
                  <a:gd name="adj2" fmla="val 50000"/>
                </a:avLst>
              </a:prstGeom>
              <a:noFill/>
              <a:ln w="28575">
                <a:solidFill>
                  <a:srgbClr val="00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20000"/>
                  </a:spcBef>
                </a:pPr>
                <a:endParaRPr lang="zh-CN" altLang="en-US" sz="2600">
                  <a:latin typeface="黑体" pitchFamily="2" charset="-122"/>
                  <a:ea typeface="黑体" pitchFamily="2" charset="-122"/>
                </a:endParaRPr>
              </a:p>
            </p:txBody>
          </p:sp>
          <p:sp>
            <p:nvSpPr>
              <p:cNvPr id="10260" name="AutoShape 33"/>
              <p:cNvSpPr>
                <a:spLocks/>
              </p:cNvSpPr>
              <p:nvPr/>
            </p:nvSpPr>
            <p:spPr bwMode="auto">
              <a:xfrm>
                <a:off x="4520" y="1928"/>
                <a:ext cx="72" cy="888"/>
              </a:xfrm>
              <a:prstGeom prst="rightBrace">
                <a:avLst>
                  <a:gd name="adj1" fmla="val 102778"/>
                  <a:gd name="adj2" fmla="val 50000"/>
                </a:avLst>
              </a:prstGeom>
              <a:noFill/>
              <a:ln w="28575">
                <a:solidFill>
                  <a:srgbClr val="00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20000"/>
                  </a:spcBef>
                </a:pPr>
                <a:endParaRPr lang="zh-CN" altLang="en-US" sz="2600">
                  <a:latin typeface="黑体" pitchFamily="2" charset="-122"/>
                  <a:ea typeface="黑体" pitchFamily="2" charset="-122"/>
                </a:endParaRPr>
              </a:p>
            </p:txBody>
          </p:sp>
          <p:sp>
            <p:nvSpPr>
              <p:cNvPr id="10261" name="Text Box 34"/>
              <p:cNvSpPr txBox="1">
                <a:spLocks noChangeArrowheads="1"/>
              </p:cNvSpPr>
              <p:nvPr/>
            </p:nvSpPr>
            <p:spPr bwMode="auto">
              <a:xfrm>
                <a:off x="4512" y="1512"/>
                <a:ext cx="544"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r>
                  <a:rPr lang="zh-CN" altLang="en-US" sz="1600" dirty="0">
                    <a:solidFill>
                      <a:srgbClr val="FF0000"/>
                    </a:solidFill>
                    <a:latin typeface="黑体" pitchFamily="2" charset="-122"/>
                    <a:ea typeface="黑体" pitchFamily="2" charset="-122"/>
                  </a:rPr>
                  <a:t>外设</a:t>
                </a:r>
              </a:p>
            </p:txBody>
          </p:sp>
          <p:sp>
            <p:nvSpPr>
              <p:cNvPr id="10262" name="Text Box 35"/>
              <p:cNvSpPr txBox="1">
                <a:spLocks noChangeArrowheads="1"/>
              </p:cNvSpPr>
              <p:nvPr/>
            </p:nvSpPr>
            <p:spPr bwMode="auto">
              <a:xfrm>
                <a:off x="4536" y="2280"/>
                <a:ext cx="496"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r>
                  <a:rPr lang="zh-CN" altLang="en-US" sz="1600" dirty="0">
                    <a:solidFill>
                      <a:srgbClr val="FF0000"/>
                    </a:solidFill>
                    <a:latin typeface="黑体" pitchFamily="2" charset="-122"/>
                    <a:ea typeface="黑体" pitchFamily="2" charset="-122"/>
                  </a:rPr>
                  <a:t>主机</a:t>
                </a:r>
              </a:p>
            </p:txBody>
          </p:sp>
        </p:grpSp>
      </p:grpSp>
      <p:grpSp>
        <p:nvGrpSpPr>
          <p:cNvPr id="10245" name="Group 42"/>
          <p:cNvGrpSpPr>
            <a:grpSpLocks/>
          </p:cNvGrpSpPr>
          <p:nvPr/>
        </p:nvGrpSpPr>
        <p:grpSpPr bwMode="auto">
          <a:xfrm>
            <a:off x="1484313" y="4568918"/>
            <a:ext cx="4706938" cy="1938338"/>
            <a:chOff x="803" y="2785"/>
            <a:chExt cx="2965" cy="1221"/>
          </a:xfrm>
        </p:grpSpPr>
        <p:sp>
          <p:nvSpPr>
            <p:cNvPr id="10246" name="Rectangle 4"/>
            <p:cNvSpPr>
              <a:spLocks noChangeArrowheads="1"/>
            </p:cNvSpPr>
            <p:nvPr/>
          </p:nvSpPr>
          <p:spPr bwMode="auto">
            <a:xfrm>
              <a:off x="803" y="2785"/>
              <a:ext cx="956" cy="1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20000"/>
                </a:lnSpc>
                <a:spcBef>
                  <a:spcPct val="0"/>
                </a:spcBef>
                <a:buClrTx/>
                <a:buFontTx/>
                <a:buNone/>
              </a:pPr>
              <a:r>
                <a:rPr lang="zh-CN" altLang="en-US" sz="2000" dirty="0">
                  <a:solidFill>
                    <a:srgbClr val="000080"/>
                  </a:solidFill>
                  <a:latin typeface="黑体" pitchFamily="2" charset="-122"/>
                  <a:ea typeface="黑体" pitchFamily="2" charset="-122"/>
                </a:rPr>
                <a:t>运算器</a:t>
              </a:r>
            </a:p>
            <a:p>
              <a:pPr algn="just" eaLnBrk="0" hangingPunct="0">
                <a:lnSpc>
                  <a:spcPct val="120000"/>
                </a:lnSpc>
                <a:spcBef>
                  <a:spcPct val="0"/>
                </a:spcBef>
                <a:buClrTx/>
                <a:buFontTx/>
                <a:buNone/>
              </a:pPr>
              <a:r>
                <a:rPr lang="zh-CN" altLang="en-US" sz="2000" dirty="0">
                  <a:solidFill>
                    <a:srgbClr val="000080"/>
                  </a:solidFill>
                  <a:latin typeface="黑体" pitchFamily="2" charset="-122"/>
                  <a:ea typeface="黑体" pitchFamily="2" charset="-122"/>
                </a:rPr>
                <a:t>控制器</a:t>
              </a:r>
            </a:p>
            <a:p>
              <a:pPr algn="just" eaLnBrk="0" hangingPunct="0">
                <a:lnSpc>
                  <a:spcPct val="120000"/>
                </a:lnSpc>
                <a:spcBef>
                  <a:spcPct val="0"/>
                </a:spcBef>
                <a:buClrTx/>
                <a:buFontTx/>
                <a:buNone/>
              </a:pPr>
              <a:r>
                <a:rPr lang="zh-CN" altLang="en-US" sz="2000" dirty="0">
                  <a:solidFill>
                    <a:srgbClr val="000080"/>
                  </a:solidFill>
                  <a:latin typeface="黑体" pitchFamily="2" charset="-122"/>
                  <a:ea typeface="黑体" pitchFamily="2" charset="-122"/>
                </a:rPr>
                <a:t>存储器</a:t>
              </a:r>
            </a:p>
            <a:p>
              <a:pPr algn="just" eaLnBrk="0" hangingPunct="0">
                <a:lnSpc>
                  <a:spcPct val="120000"/>
                </a:lnSpc>
                <a:spcBef>
                  <a:spcPct val="0"/>
                </a:spcBef>
                <a:buClrTx/>
                <a:buFontTx/>
                <a:buNone/>
              </a:pPr>
              <a:r>
                <a:rPr lang="zh-CN" altLang="en-US" sz="2000" dirty="0">
                  <a:solidFill>
                    <a:srgbClr val="000080"/>
                  </a:solidFill>
                  <a:latin typeface="黑体" pitchFamily="2" charset="-122"/>
                  <a:ea typeface="黑体" pitchFamily="2" charset="-122"/>
                </a:rPr>
                <a:t>输入设备</a:t>
              </a:r>
            </a:p>
            <a:p>
              <a:pPr algn="just" eaLnBrk="0" hangingPunct="0">
                <a:lnSpc>
                  <a:spcPct val="120000"/>
                </a:lnSpc>
                <a:spcBef>
                  <a:spcPct val="0"/>
                </a:spcBef>
                <a:buClrTx/>
                <a:buFontTx/>
                <a:buNone/>
              </a:pPr>
              <a:r>
                <a:rPr lang="zh-CN" altLang="en-US" sz="2000" dirty="0">
                  <a:solidFill>
                    <a:srgbClr val="000080"/>
                  </a:solidFill>
                  <a:latin typeface="黑体" pitchFamily="2" charset="-122"/>
                  <a:ea typeface="黑体" pitchFamily="2" charset="-122"/>
                </a:rPr>
                <a:t>输出设备</a:t>
              </a:r>
            </a:p>
          </p:txBody>
        </p:sp>
        <p:sp>
          <p:nvSpPr>
            <p:cNvPr id="10247" name="AutoShape 33"/>
            <p:cNvSpPr>
              <a:spLocks/>
            </p:cNvSpPr>
            <p:nvPr/>
          </p:nvSpPr>
          <p:spPr bwMode="auto">
            <a:xfrm>
              <a:off x="1459" y="2948"/>
              <a:ext cx="90" cy="249"/>
            </a:xfrm>
            <a:prstGeom prst="rightBrace">
              <a:avLst>
                <a:gd name="adj1" fmla="val 23056"/>
                <a:gd name="adj2" fmla="val 50000"/>
              </a:avLst>
            </a:prstGeom>
            <a:noFill/>
            <a:ln w="19050">
              <a:solidFill>
                <a:srgbClr val="00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20000"/>
                </a:spcBef>
              </a:pPr>
              <a:endParaRPr lang="zh-CN" altLang="en-US" sz="2600">
                <a:latin typeface="黑体" pitchFamily="2" charset="-122"/>
                <a:ea typeface="黑体" pitchFamily="2" charset="-122"/>
              </a:endParaRPr>
            </a:p>
          </p:txBody>
        </p:sp>
        <p:sp>
          <p:nvSpPr>
            <p:cNvPr id="10248" name="Rectangle 4"/>
            <p:cNvSpPr>
              <a:spLocks noChangeArrowheads="1"/>
            </p:cNvSpPr>
            <p:nvPr/>
          </p:nvSpPr>
          <p:spPr bwMode="auto">
            <a:xfrm>
              <a:off x="1659" y="2890"/>
              <a:ext cx="956" cy="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20000"/>
                </a:lnSpc>
                <a:spcBef>
                  <a:spcPct val="0"/>
                </a:spcBef>
                <a:buClrTx/>
                <a:buFontTx/>
                <a:buNone/>
              </a:pPr>
              <a:r>
                <a:rPr lang="en-US" altLang="zh-CN" sz="2000" dirty="0">
                  <a:solidFill>
                    <a:srgbClr val="FF0000"/>
                  </a:solidFill>
                  <a:latin typeface="黑体" pitchFamily="2" charset="-122"/>
                  <a:ea typeface="黑体" pitchFamily="2" charset="-122"/>
                </a:rPr>
                <a:t>CPU</a:t>
              </a:r>
            </a:p>
            <a:p>
              <a:pPr algn="just" eaLnBrk="0" hangingPunct="0">
                <a:lnSpc>
                  <a:spcPct val="120000"/>
                </a:lnSpc>
                <a:spcBef>
                  <a:spcPct val="0"/>
                </a:spcBef>
                <a:buClrTx/>
                <a:buFontTx/>
                <a:buNone/>
              </a:pPr>
              <a:r>
                <a:rPr lang="zh-CN" altLang="en-US" sz="2000" dirty="0">
                  <a:solidFill>
                    <a:srgbClr val="000080"/>
                  </a:solidFill>
                  <a:latin typeface="黑体" pitchFamily="2" charset="-122"/>
                  <a:ea typeface="黑体" pitchFamily="2" charset="-122"/>
                </a:rPr>
                <a:t>主存</a:t>
              </a:r>
            </a:p>
            <a:p>
              <a:pPr algn="just" eaLnBrk="0" hangingPunct="0">
                <a:lnSpc>
                  <a:spcPct val="120000"/>
                </a:lnSpc>
                <a:spcBef>
                  <a:spcPct val="0"/>
                </a:spcBef>
                <a:buClrTx/>
                <a:buFontTx/>
                <a:buNone/>
              </a:pPr>
              <a:r>
                <a:rPr lang="zh-CN" altLang="en-US" sz="2000" dirty="0">
                  <a:solidFill>
                    <a:srgbClr val="000080"/>
                  </a:solidFill>
                  <a:latin typeface="黑体" pitchFamily="2" charset="-122"/>
                  <a:ea typeface="黑体" pitchFamily="2" charset="-122"/>
                </a:rPr>
                <a:t>辅存</a:t>
              </a:r>
            </a:p>
          </p:txBody>
        </p:sp>
        <p:sp>
          <p:nvSpPr>
            <p:cNvPr id="10249" name="AutoShape 35"/>
            <p:cNvSpPr>
              <a:spLocks/>
            </p:cNvSpPr>
            <p:nvPr/>
          </p:nvSpPr>
          <p:spPr bwMode="auto">
            <a:xfrm flipH="1">
              <a:off x="1458" y="3279"/>
              <a:ext cx="90" cy="249"/>
            </a:xfrm>
            <a:prstGeom prst="rightBrace">
              <a:avLst>
                <a:gd name="adj1" fmla="val 23056"/>
                <a:gd name="adj2" fmla="val 50000"/>
              </a:avLst>
            </a:prstGeom>
            <a:noFill/>
            <a:ln w="19050">
              <a:solidFill>
                <a:srgbClr val="00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20000"/>
                </a:spcBef>
              </a:pPr>
              <a:endParaRPr lang="zh-CN" altLang="en-US" sz="2600">
                <a:latin typeface="黑体" pitchFamily="2" charset="-122"/>
                <a:ea typeface="黑体" pitchFamily="2" charset="-122"/>
              </a:endParaRPr>
            </a:p>
          </p:txBody>
        </p:sp>
        <p:sp>
          <p:nvSpPr>
            <p:cNvPr id="10250" name="AutoShape 36"/>
            <p:cNvSpPr>
              <a:spLocks/>
            </p:cNvSpPr>
            <p:nvPr/>
          </p:nvSpPr>
          <p:spPr bwMode="auto">
            <a:xfrm>
              <a:off x="2193" y="3036"/>
              <a:ext cx="90" cy="249"/>
            </a:xfrm>
            <a:prstGeom prst="rightBrace">
              <a:avLst>
                <a:gd name="adj1" fmla="val 23056"/>
                <a:gd name="adj2" fmla="val 50000"/>
              </a:avLst>
            </a:prstGeom>
            <a:noFill/>
            <a:ln w="19050">
              <a:solidFill>
                <a:srgbClr val="00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20000"/>
                </a:spcBef>
              </a:pPr>
              <a:endParaRPr lang="zh-CN" altLang="en-US" sz="2600">
                <a:latin typeface="黑体" pitchFamily="2" charset="-122"/>
                <a:ea typeface="黑体" pitchFamily="2" charset="-122"/>
              </a:endParaRPr>
            </a:p>
          </p:txBody>
        </p:sp>
        <p:sp>
          <p:nvSpPr>
            <p:cNvPr id="10251" name="Rectangle 4"/>
            <p:cNvSpPr>
              <a:spLocks noChangeArrowheads="1"/>
            </p:cNvSpPr>
            <p:nvPr/>
          </p:nvSpPr>
          <p:spPr bwMode="auto">
            <a:xfrm>
              <a:off x="2376" y="2994"/>
              <a:ext cx="718" cy="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20000"/>
                </a:lnSpc>
                <a:spcBef>
                  <a:spcPct val="0"/>
                </a:spcBef>
                <a:buClrTx/>
                <a:buFontTx/>
                <a:buNone/>
              </a:pPr>
              <a:r>
                <a:rPr lang="zh-CN" altLang="en-US" sz="2000" dirty="0">
                  <a:solidFill>
                    <a:srgbClr val="FF0000"/>
                  </a:solidFill>
                  <a:latin typeface="黑体" pitchFamily="2" charset="-122"/>
                  <a:ea typeface="黑体" pitchFamily="2" charset="-122"/>
                </a:rPr>
                <a:t>主机</a:t>
              </a:r>
            </a:p>
            <a:p>
              <a:pPr algn="just" eaLnBrk="0" hangingPunct="0">
                <a:lnSpc>
                  <a:spcPct val="160000"/>
                </a:lnSpc>
                <a:spcBef>
                  <a:spcPct val="0"/>
                </a:spcBef>
                <a:buClrTx/>
                <a:buFontTx/>
                <a:buNone/>
              </a:pPr>
              <a:endParaRPr lang="zh-CN" altLang="en-US" sz="2000" dirty="0">
                <a:solidFill>
                  <a:srgbClr val="FF0000"/>
                </a:solidFill>
                <a:latin typeface="黑体" pitchFamily="2" charset="-122"/>
                <a:ea typeface="黑体" pitchFamily="2" charset="-122"/>
              </a:endParaRPr>
            </a:p>
            <a:p>
              <a:pPr algn="just" eaLnBrk="0" hangingPunct="0">
                <a:lnSpc>
                  <a:spcPct val="120000"/>
                </a:lnSpc>
                <a:spcBef>
                  <a:spcPct val="0"/>
                </a:spcBef>
                <a:buClrTx/>
                <a:buFontTx/>
                <a:buNone/>
              </a:pPr>
              <a:r>
                <a:rPr lang="zh-CN" altLang="en-US" sz="2000" dirty="0">
                  <a:solidFill>
                    <a:srgbClr val="FF0000"/>
                  </a:solidFill>
                  <a:latin typeface="黑体" pitchFamily="2" charset="-122"/>
                  <a:ea typeface="黑体" pitchFamily="2" charset="-122"/>
                </a:rPr>
                <a:t>外设</a:t>
              </a:r>
            </a:p>
          </p:txBody>
        </p:sp>
        <p:sp>
          <p:nvSpPr>
            <p:cNvPr id="10252" name="AutoShape 38"/>
            <p:cNvSpPr>
              <a:spLocks/>
            </p:cNvSpPr>
            <p:nvPr/>
          </p:nvSpPr>
          <p:spPr bwMode="auto">
            <a:xfrm>
              <a:off x="2191" y="3521"/>
              <a:ext cx="90" cy="402"/>
            </a:xfrm>
            <a:prstGeom prst="rightBrace">
              <a:avLst>
                <a:gd name="adj1" fmla="val 37222"/>
                <a:gd name="adj2" fmla="val 50000"/>
              </a:avLst>
            </a:prstGeom>
            <a:noFill/>
            <a:ln w="19050">
              <a:solidFill>
                <a:srgbClr val="00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20000"/>
                </a:spcBef>
              </a:pPr>
              <a:endParaRPr lang="zh-CN" altLang="en-US" sz="2600">
                <a:latin typeface="黑体" pitchFamily="2" charset="-122"/>
                <a:ea typeface="黑体" pitchFamily="2" charset="-122"/>
              </a:endParaRPr>
            </a:p>
          </p:txBody>
        </p:sp>
        <p:sp>
          <p:nvSpPr>
            <p:cNvPr id="10253" name="AutoShape 39"/>
            <p:cNvSpPr>
              <a:spLocks/>
            </p:cNvSpPr>
            <p:nvPr/>
          </p:nvSpPr>
          <p:spPr bwMode="auto">
            <a:xfrm>
              <a:off x="2972" y="3166"/>
              <a:ext cx="85" cy="513"/>
            </a:xfrm>
            <a:prstGeom prst="rightBrace">
              <a:avLst>
                <a:gd name="adj1" fmla="val 50294"/>
                <a:gd name="adj2" fmla="val 50000"/>
              </a:avLst>
            </a:prstGeom>
            <a:noFill/>
            <a:ln w="19050">
              <a:solidFill>
                <a:srgbClr val="00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20000"/>
                </a:spcBef>
              </a:pPr>
              <a:endParaRPr lang="zh-CN" altLang="en-US" sz="2600">
                <a:latin typeface="黑体" pitchFamily="2" charset="-122"/>
                <a:ea typeface="黑体" pitchFamily="2" charset="-122"/>
              </a:endParaRPr>
            </a:p>
          </p:txBody>
        </p:sp>
        <p:sp>
          <p:nvSpPr>
            <p:cNvPr id="10254" name="Rectangle 4"/>
            <p:cNvSpPr>
              <a:spLocks noChangeArrowheads="1"/>
            </p:cNvSpPr>
            <p:nvPr/>
          </p:nvSpPr>
          <p:spPr bwMode="auto">
            <a:xfrm>
              <a:off x="3214" y="3247"/>
              <a:ext cx="554" cy="2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20000"/>
                </a:lnSpc>
                <a:spcBef>
                  <a:spcPct val="0"/>
                </a:spcBef>
                <a:buClrTx/>
                <a:buFontTx/>
                <a:buNone/>
              </a:pPr>
              <a:r>
                <a:rPr lang="zh-CN" altLang="en-US" sz="2000" dirty="0">
                  <a:solidFill>
                    <a:srgbClr val="FF0000"/>
                  </a:solidFill>
                  <a:latin typeface="黑体" pitchFamily="2" charset="-122"/>
                  <a:ea typeface="黑体" pitchFamily="2" charset="-122"/>
                </a:rPr>
                <a:t>硬件</a:t>
              </a:r>
            </a:p>
          </p:txBody>
        </p:sp>
      </p:grpSp>
      <p:pic>
        <p:nvPicPr>
          <p:cNvPr id="7" name="图片 6">
            <a:extLst>
              <a:ext uri="{FF2B5EF4-FFF2-40B4-BE49-F238E27FC236}">
                <a16:creationId xmlns:a16="http://schemas.microsoft.com/office/drawing/2014/main" id="{68B5B61B-D1FB-B0BC-11E1-8C8B054CA1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1867" y="1957757"/>
            <a:ext cx="5472986" cy="270979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457200" y="419100"/>
            <a:ext cx="8102600" cy="592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zh-CN" altLang="en-US">
                <a:solidFill>
                  <a:srgbClr val="800000"/>
                </a:solidFill>
                <a:latin typeface="黑体" pitchFamily="2" charset="-122"/>
                <a:ea typeface="黑体" pitchFamily="2" charset="-122"/>
              </a:rPr>
              <a:t>1.1.1 计算机系统的组成 </a:t>
            </a:r>
            <a:endParaRPr lang="zh-CN" altLang="en-US">
              <a:latin typeface="黑体" pitchFamily="2" charset="-122"/>
              <a:ea typeface="黑体" pitchFamily="2" charset="-122"/>
            </a:endParaRPr>
          </a:p>
        </p:txBody>
      </p:sp>
      <p:sp>
        <p:nvSpPr>
          <p:cNvPr id="11268" name="Text Box 40"/>
          <p:cNvSpPr txBox="1">
            <a:spLocks noChangeArrowheads="1"/>
          </p:cNvSpPr>
          <p:nvPr/>
        </p:nvSpPr>
        <p:spPr bwMode="auto">
          <a:xfrm>
            <a:off x="3033713" y="5159374"/>
            <a:ext cx="3565525"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r>
              <a:rPr lang="zh-CN" altLang="en-US" dirty="0">
                <a:solidFill>
                  <a:srgbClr val="000080"/>
                </a:solidFill>
                <a:latin typeface="黑体" pitchFamily="2" charset="-122"/>
                <a:ea typeface="黑体" pitchFamily="2" charset="-122"/>
              </a:rPr>
              <a:t>现代计算机硬件框图</a:t>
            </a:r>
          </a:p>
        </p:txBody>
      </p:sp>
      <p:grpSp>
        <p:nvGrpSpPr>
          <p:cNvPr id="11269" name="Group 66"/>
          <p:cNvGrpSpPr>
            <a:grpSpLocks/>
          </p:cNvGrpSpPr>
          <p:nvPr/>
        </p:nvGrpSpPr>
        <p:grpSpPr bwMode="auto">
          <a:xfrm>
            <a:off x="2189163" y="2622550"/>
            <a:ext cx="4932362" cy="2292350"/>
            <a:chOff x="1379" y="1652"/>
            <a:chExt cx="3107" cy="1444"/>
          </a:xfrm>
        </p:grpSpPr>
        <p:grpSp>
          <p:nvGrpSpPr>
            <p:cNvPr id="11270" name="Group 51"/>
            <p:cNvGrpSpPr>
              <a:grpSpLocks/>
            </p:cNvGrpSpPr>
            <p:nvPr/>
          </p:nvGrpSpPr>
          <p:grpSpPr bwMode="auto">
            <a:xfrm>
              <a:off x="1495" y="1949"/>
              <a:ext cx="412" cy="1073"/>
              <a:chOff x="1887" y="1897"/>
              <a:chExt cx="369" cy="1025"/>
            </a:xfrm>
          </p:grpSpPr>
          <p:sp>
            <p:nvSpPr>
              <p:cNvPr id="11286" name="Text Box 42"/>
              <p:cNvSpPr txBox="1">
                <a:spLocks noChangeArrowheads="1"/>
              </p:cNvSpPr>
              <p:nvPr/>
            </p:nvSpPr>
            <p:spPr bwMode="auto">
              <a:xfrm>
                <a:off x="1913" y="2145"/>
                <a:ext cx="316" cy="5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r>
                  <a:rPr lang="zh-CN" altLang="en-US" dirty="0">
                    <a:solidFill>
                      <a:srgbClr val="000080"/>
                    </a:solidFill>
                    <a:latin typeface="黑体" pitchFamily="2" charset="-122"/>
                    <a:ea typeface="黑体" pitchFamily="2" charset="-122"/>
                  </a:rPr>
                  <a:t>主</a:t>
                </a:r>
              </a:p>
              <a:p>
                <a:pPr algn="ctr" eaLnBrk="1" hangingPunct="1"/>
                <a:r>
                  <a:rPr lang="zh-CN" altLang="en-US" dirty="0">
                    <a:solidFill>
                      <a:srgbClr val="000080"/>
                    </a:solidFill>
                    <a:latin typeface="黑体" pitchFamily="2" charset="-122"/>
                    <a:ea typeface="黑体" pitchFamily="2" charset="-122"/>
                  </a:rPr>
                  <a:t>存</a:t>
                </a:r>
              </a:p>
            </p:txBody>
          </p:sp>
          <p:sp>
            <p:nvSpPr>
              <p:cNvPr id="11287" name="Rectangle 44"/>
              <p:cNvSpPr>
                <a:spLocks noChangeArrowheads="1"/>
              </p:cNvSpPr>
              <p:nvPr/>
            </p:nvSpPr>
            <p:spPr bwMode="auto">
              <a:xfrm>
                <a:off x="1887" y="1897"/>
                <a:ext cx="369" cy="1025"/>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20000"/>
                  </a:spcBef>
                </a:pPr>
                <a:endParaRPr lang="zh-CN" altLang="en-US" sz="2600">
                  <a:latin typeface="黑体" pitchFamily="2" charset="-122"/>
                  <a:ea typeface="黑体" pitchFamily="2" charset="-122"/>
                </a:endParaRPr>
              </a:p>
            </p:txBody>
          </p:sp>
        </p:grpSp>
        <p:grpSp>
          <p:nvGrpSpPr>
            <p:cNvPr id="11271" name="Group 59"/>
            <p:cNvGrpSpPr>
              <a:grpSpLocks/>
            </p:cNvGrpSpPr>
            <p:nvPr/>
          </p:nvGrpSpPr>
          <p:grpSpPr bwMode="auto">
            <a:xfrm>
              <a:off x="3942" y="1652"/>
              <a:ext cx="544" cy="1426"/>
              <a:chOff x="4106" y="1600"/>
              <a:chExt cx="746" cy="1426"/>
            </a:xfrm>
          </p:grpSpPr>
          <p:sp>
            <p:nvSpPr>
              <p:cNvPr id="11284" name="Text Box 53"/>
              <p:cNvSpPr txBox="1">
                <a:spLocks noChangeArrowheads="1"/>
              </p:cNvSpPr>
              <p:nvPr/>
            </p:nvSpPr>
            <p:spPr bwMode="auto">
              <a:xfrm>
                <a:off x="4106" y="2008"/>
                <a:ext cx="746" cy="5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lIns="0" rIns="0">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r>
                  <a:rPr lang="en-US" altLang="zh-CN" dirty="0">
                    <a:solidFill>
                      <a:srgbClr val="000080"/>
                    </a:solidFill>
                    <a:latin typeface="黑体" pitchFamily="2" charset="-122"/>
                    <a:ea typeface="黑体" pitchFamily="2" charset="-122"/>
                  </a:rPr>
                  <a:t>I/O</a:t>
                </a:r>
              </a:p>
              <a:p>
                <a:pPr algn="ctr" eaLnBrk="1" hangingPunct="1"/>
                <a:r>
                  <a:rPr lang="zh-CN" altLang="en-US">
                    <a:solidFill>
                      <a:srgbClr val="000080"/>
                    </a:solidFill>
                    <a:latin typeface="黑体" pitchFamily="2" charset="-122"/>
                    <a:ea typeface="黑体" pitchFamily="2" charset="-122"/>
                  </a:rPr>
                  <a:t>设备</a:t>
                </a:r>
              </a:p>
            </p:txBody>
          </p:sp>
          <p:sp>
            <p:nvSpPr>
              <p:cNvPr id="11285" name="Rectangle 54"/>
              <p:cNvSpPr>
                <a:spLocks noChangeArrowheads="1"/>
              </p:cNvSpPr>
              <p:nvPr/>
            </p:nvSpPr>
            <p:spPr bwMode="auto">
              <a:xfrm>
                <a:off x="4112" y="1600"/>
                <a:ext cx="735" cy="1426"/>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marL="609600" indent="-609600" algn="ctr">
                  <a:spcBef>
                    <a:spcPct val="20000"/>
                  </a:spcBef>
                </a:pPr>
                <a:endParaRPr lang="zh-CN" altLang="en-US" sz="2600">
                  <a:latin typeface="黑体" pitchFamily="2" charset="-122"/>
                  <a:ea typeface="黑体" pitchFamily="2" charset="-122"/>
                </a:endParaRPr>
              </a:p>
            </p:txBody>
          </p:sp>
        </p:grpSp>
        <p:grpSp>
          <p:nvGrpSpPr>
            <p:cNvPr id="11272" name="Group 57"/>
            <p:cNvGrpSpPr>
              <a:grpSpLocks/>
            </p:cNvGrpSpPr>
            <p:nvPr/>
          </p:nvGrpSpPr>
          <p:grpSpPr bwMode="auto">
            <a:xfrm>
              <a:off x="2234" y="1952"/>
              <a:ext cx="1161" cy="1057"/>
              <a:chOff x="2398" y="1900"/>
              <a:chExt cx="1410" cy="1057"/>
            </a:xfrm>
          </p:grpSpPr>
          <p:sp>
            <p:nvSpPr>
              <p:cNvPr id="11280" name="Text Box 47"/>
              <p:cNvSpPr txBox="1">
                <a:spLocks noChangeArrowheads="1"/>
              </p:cNvSpPr>
              <p:nvPr/>
            </p:nvSpPr>
            <p:spPr bwMode="auto">
              <a:xfrm>
                <a:off x="2736" y="2156"/>
                <a:ext cx="712" cy="277"/>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r>
                  <a:rPr lang="en-US" altLang="zh-CN" dirty="0">
                    <a:solidFill>
                      <a:srgbClr val="000080"/>
                    </a:solidFill>
                    <a:latin typeface="黑体" pitchFamily="2" charset="-122"/>
                    <a:ea typeface="黑体" pitchFamily="2" charset="-122"/>
                  </a:rPr>
                  <a:t>ALU</a:t>
                </a:r>
              </a:p>
            </p:txBody>
          </p:sp>
          <p:sp>
            <p:nvSpPr>
              <p:cNvPr id="11281" name="Rectangle 48"/>
              <p:cNvSpPr>
                <a:spLocks noChangeArrowheads="1"/>
              </p:cNvSpPr>
              <p:nvPr/>
            </p:nvSpPr>
            <p:spPr bwMode="auto">
              <a:xfrm>
                <a:off x="2398" y="1900"/>
                <a:ext cx="1410" cy="1057"/>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20000"/>
                  </a:spcBef>
                </a:pPr>
                <a:endParaRPr lang="zh-CN" altLang="en-US" sz="2600">
                  <a:latin typeface="黑体" pitchFamily="2" charset="-122"/>
                  <a:ea typeface="黑体" pitchFamily="2" charset="-122"/>
                </a:endParaRPr>
              </a:p>
            </p:txBody>
          </p:sp>
          <p:sp>
            <p:nvSpPr>
              <p:cNvPr id="11282" name="Text Box 50"/>
              <p:cNvSpPr txBox="1">
                <a:spLocks noChangeArrowheads="1"/>
              </p:cNvSpPr>
              <p:nvPr/>
            </p:nvSpPr>
            <p:spPr bwMode="auto">
              <a:xfrm>
                <a:off x="2729" y="2556"/>
                <a:ext cx="712" cy="277"/>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r>
                  <a:rPr lang="en-US" altLang="zh-CN" dirty="0">
                    <a:solidFill>
                      <a:srgbClr val="000080"/>
                    </a:solidFill>
                    <a:latin typeface="黑体" pitchFamily="2" charset="-122"/>
                    <a:ea typeface="黑体" pitchFamily="2" charset="-122"/>
                  </a:rPr>
                  <a:t>CU</a:t>
                </a:r>
              </a:p>
            </p:txBody>
          </p:sp>
          <p:sp>
            <p:nvSpPr>
              <p:cNvPr id="11283" name="Text Box 55"/>
              <p:cNvSpPr txBox="1">
                <a:spLocks noChangeArrowheads="1"/>
              </p:cNvSpPr>
              <p:nvPr/>
            </p:nvSpPr>
            <p:spPr bwMode="auto">
              <a:xfrm>
                <a:off x="2711" y="1912"/>
                <a:ext cx="75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r>
                  <a:rPr lang="en-US" altLang="zh-CN" sz="2000" dirty="0">
                    <a:solidFill>
                      <a:srgbClr val="FF0000"/>
                    </a:solidFill>
                    <a:latin typeface="黑体" pitchFamily="2" charset="-122"/>
                    <a:ea typeface="黑体" pitchFamily="2" charset="-122"/>
                  </a:rPr>
                  <a:t>CPU</a:t>
                </a:r>
              </a:p>
            </p:txBody>
          </p:sp>
        </p:grpSp>
        <p:sp>
          <p:nvSpPr>
            <p:cNvPr id="11273" name="Text Box 56"/>
            <p:cNvSpPr txBox="1">
              <a:spLocks noChangeArrowheads="1"/>
            </p:cNvSpPr>
            <p:nvPr/>
          </p:nvSpPr>
          <p:spPr bwMode="auto">
            <a:xfrm>
              <a:off x="1689" y="1692"/>
              <a:ext cx="75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r>
                <a:rPr lang="zh-CN" altLang="en-US" sz="2000" dirty="0">
                  <a:solidFill>
                    <a:srgbClr val="FF0000"/>
                  </a:solidFill>
                  <a:latin typeface="黑体" pitchFamily="2" charset="-122"/>
                  <a:ea typeface="黑体" pitchFamily="2" charset="-122"/>
                </a:rPr>
                <a:t>主机</a:t>
              </a:r>
            </a:p>
          </p:txBody>
        </p:sp>
        <p:sp>
          <p:nvSpPr>
            <p:cNvPr id="11274" name="Rectangle 58"/>
            <p:cNvSpPr>
              <a:spLocks noChangeArrowheads="1"/>
            </p:cNvSpPr>
            <p:nvPr/>
          </p:nvSpPr>
          <p:spPr bwMode="auto">
            <a:xfrm>
              <a:off x="1379" y="1653"/>
              <a:ext cx="2152" cy="1443"/>
            </a:xfrm>
            <a:prstGeom prst="rect">
              <a:avLst/>
            </a:prstGeom>
            <a:noFill/>
            <a:ln w="19050">
              <a:solidFill>
                <a:srgbClr val="000099"/>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20000"/>
                </a:spcBef>
              </a:pPr>
              <a:endParaRPr lang="zh-CN" altLang="en-US" sz="2600">
                <a:latin typeface="黑体" pitchFamily="2" charset="-122"/>
                <a:ea typeface="黑体" pitchFamily="2" charset="-122"/>
              </a:endParaRPr>
            </a:p>
          </p:txBody>
        </p:sp>
        <p:sp>
          <p:nvSpPr>
            <p:cNvPr id="11275" name="Line 60"/>
            <p:cNvSpPr>
              <a:spLocks noChangeShapeType="1"/>
            </p:cNvSpPr>
            <p:nvPr/>
          </p:nvSpPr>
          <p:spPr bwMode="auto">
            <a:xfrm>
              <a:off x="3530" y="2113"/>
              <a:ext cx="412" cy="0"/>
            </a:xfrm>
            <a:prstGeom prst="line">
              <a:avLst/>
            </a:prstGeom>
            <a:noFill/>
            <a:ln w="50800" cmpd="dbl">
              <a:solidFill>
                <a:srgbClr val="000099"/>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11276" name="Line 61"/>
            <p:cNvSpPr>
              <a:spLocks noChangeShapeType="1"/>
            </p:cNvSpPr>
            <p:nvPr/>
          </p:nvSpPr>
          <p:spPr bwMode="auto">
            <a:xfrm flipV="1">
              <a:off x="1912" y="2360"/>
              <a:ext cx="316" cy="6"/>
            </a:xfrm>
            <a:prstGeom prst="line">
              <a:avLst/>
            </a:prstGeom>
            <a:noFill/>
            <a:ln w="50800" cmpd="dbl">
              <a:solidFill>
                <a:srgbClr val="000099"/>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11277" name="Line 62"/>
            <p:cNvSpPr>
              <a:spLocks noChangeShapeType="1"/>
            </p:cNvSpPr>
            <p:nvPr/>
          </p:nvSpPr>
          <p:spPr bwMode="auto">
            <a:xfrm>
              <a:off x="3530" y="2710"/>
              <a:ext cx="407"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11278" name="Line 63"/>
            <p:cNvSpPr>
              <a:spLocks noChangeShapeType="1"/>
            </p:cNvSpPr>
            <p:nvPr/>
          </p:nvSpPr>
          <p:spPr bwMode="auto">
            <a:xfrm flipH="1">
              <a:off x="1911" y="2687"/>
              <a:ext cx="317" cy="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11279" name="Line 64"/>
            <p:cNvSpPr>
              <a:spLocks noChangeShapeType="1"/>
            </p:cNvSpPr>
            <p:nvPr/>
          </p:nvSpPr>
          <p:spPr bwMode="auto">
            <a:xfrm flipV="1">
              <a:off x="2801" y="2483"/>
              <a:ext cx="0" cy="12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grpSp>
      <p:sp>
        <p:nvSpPr>
          <p:cNvPr id="2" name="Rectangle 3">
            <a:extLst>
              <a:ext uri="{FF2B5EF4-FFF2-40B4-BE49-F238E27FC236}">
                <a16:creationId xmlns:a16="http://schemas.microsoft.com/office/drawing/2014/main" id="{4D31A140-21A1-AB21-5B54-2D2DE49E0F49}"/>
              </a:ext>
            </a:extLst>
          </p:cNvPr>
          <p:cNvSpPr>
            <a:spLocks noChangeArrowheads="1"/>
          </p:cNvSpPr>
          <p:nvPr/>
        </p:nvSpPr>
        <p:spPr bwMode="auto">
          <a:xfrm>
            <a:off x="838200" y="1011558"/>
            <a:ext cx="8305800" cy="10598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en-US" altLang="zh-CN" dirty="0">
                <a:solidFill>
                  <a:srgbClr val="800000"/>
                </a:solidFill>
                <a:latin typeface="黑体" pitchFamily="2" charset="-122"/>
                <a:ea typeface="黑体" pitchFamily="2" charset="-122"/>
              </a:rPr>
              <a:t>2</a:t>
            </a:r>
            <a:r>
              <a:rPr lang="zh-CN" altLang="en-US" dirty="0">
                <a:solidFill>
                  <a:srgbClr val="800000"/>
                </a:solidFill>
                <a:latin typeface="黑体" pitchFamily="2" charset="-122"/>
                <a:ea typeface="黑体" pitchFamily="2" charset="-122"/>
              </a:rPr>
              <a:t>．硬件系统的基本组成</a:t>
            </a:r>
            <a:endParaRPr lang="en-US" altLang="zh-CN" dirty="0">
              <a:solidFill>
                <a:srgbClr val="800000"/>
              </a:solidFill>
              <a:latin typeface="黑体" pitchFamily="2" charset="-122"/>
              <a:ea typeface="黑体" pitchFamily="2" charset="-122"/>
            </a:endParaRPr>
          </a:p>
          <a:p>
            <a:pPr marL="342900" indent="-342900">
              <a:lnSpc>
                <a:spcPct val="150000"/>
              </a:lnSpc>
              <a:spcBef>
                <a:spcPct val="0"/>
              </a:spcBef>
              <a:buClrTx/>
              <a:buFont typeface="Wingdings" panose="05000000000000000000" pitchFamily="2" charset="2"/>
              <a:buChar char="l"/>
            </a:pPr>
            <a:r>
              <a:rPr lang="zh-CN" altLang="en-US" dirty="0">
                <a:solidFill>
                  <a:srgbClr val="800000"/>
                </a:solidFill>
                <a:latin typeface="黑体" pitchFamily="2" charset="-122"/>
                <a:ea typeface="黑体" pitchFamily="2" charset="-122"/>
              </a:rPr>
              <a:t>现代计算机的组织结构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2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457200" y="419100"/>
            <a:ext cx="8102600" cy="592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zh-CN" altLang="en-US">
                <a:solidFill>
                  <a:srgbClr val="800000"/>
                </a:solidFill>
                <a:latin typeface="黑体" pitchFamily="2" charset="-122"/>
                <a:ea typeface="黑体" pitchFamily="2" charset="-122"/>
              </a:rPr>
              <a:t>1.1.1 计算机系统的组成 </a:t>
            </a:r>
            <a:endParaRPr lang="zh-CN" altLang="en-US">
              <a:latin typeface="黑体" pitchFamily="2" charset="-122"/>
              <a:ea typeface="黑体" pitchFamily="2" charset="-122"/>
            </a:endParaRPr>
          </a:p>
        </p:txBody>
      </p:sp>
      <p:sp>
        <p:nvSpPr>
          <p:cNvPr id="11267" name="Rectangle 3"/>
          <p:cNvSpPr>
            <a:spLocks noChangeArrowheads="1"/>
          </p:cNvSpPr>
          <p:nvPr/>
        </p:nvSpPr>
        <p:spPr bwMode="auto">
          <a:xfrm>
            <a:off x="838200" y="949325"/>
            <a:ext cx="8305800" cy="592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en-US" altLang="zh-CN" dirty="0">
                <a:solidFill>
                  <a:srgbClr val="800000"/>
                </a:solidFill>
                <a:latin typeface="黑体" pitchFamily="2" charset="-122"/>
                <a:ea typeface="黑体" pitchFamily="2" charset="-122"/>
              </a:rPr>
              <a:t>2</a:t>
            </a:r>
            <a:r>
              <a:rPr lang="zh-CN" altLang="en-US">
                <a:solidFill>
                  <a:srgbClr val="800000"/>
                </a:solidFill>
                <a:latin typeface="黑体" pitchFamily="2" charset="-122"/>
                <a:ea typeface="黑体" pitchFamily="2" charset="-122"/>
              </a:rPr>
              <a:t>．硬件的基本组成 </a:t>
            </a:r>
          </a:p>
        </p:txBody>
      </p:sp>
      <p:sp>
        <p:nvSpPr>
          <p:cNvPr id="24" name="Rectangle 6"/>
          <p:cNvSpPr>
            <a:spLocks noChangeArrowheads="1"/>
          </p:cNvSpPr>
          <p:nvPr/>
        </p:nvSpPr>
        <p:spPr bwMode="auto">
          <a:xfrm>
            <a:off x="1166695" y="1582249"/>
            <a:ext cx="7240587" cy="489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bIns="0">
            <a:spAutoFit/>
          </a:bodyPr>
          <a:lstStyle/>
          <a:p>
            <a:pPr indent="92075">
              <a:lnSpc>
                <a:spcPct val="120000"/>
              </a:lnSpc>
              <a:spcBef>
                <a:spcPct val="20000"/>
              </a:spcBef>
            </a:pPr>
            <a:r>
              <a:rPr lang="zh-CN" altLang="en-US" dirty="0">
                <a:solidFill>
                  <a:srgbClr val="000080"/>
                </a:solidFill>
                <a:latin typeface="黑体" pitchFamily="2" charset="-122"/>
                <a:ea typeface="黑体" pitchFamily="2" charset="-122"/>
              </a:rPr>
              <a:t>现代微机系统结构（例子）：  </a:t>
            </a:r>
          </a:p>
        </p:txBody>
      </p:sp>
      <p:grpSp>
        <p:nvGrpSpPr>
          <p:cNvPr id="2" name="组合 1"/>
          <p:cNvGrpSpPr/>
          <p:nvPr/>
        </p:nvGrpSpPr>
        <p:grpSpPr>
          <a:xfrm>
            <a:off x="922761" y="2149697"/>
            <a:ext cx="7640320" cy="4318190"/>
            <a:chOff x="879000" y="2225406"/>
            <a:chExt cx="7640320" cy="3937754"/>
          </a:xfrm>
        </p:grpSpPr>
        <p:pic>
          <p:nvPicPr>
            <p:cNvPr id="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000" y="2225406"/>
              <a:ext cx="7640320" cy="3937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上下箭头 1"/>
            <p:cNvSpPr>
              <a:spLocks noChangeArrowheads="1"/>
            </p:cNvSpPr>
            <p:nvPr/>
          </p:nvSpPr>
          <p:spPr bwMode="auto">
            <a:xfrm>
              <a:off x="2606915" y="3039649"/>
              <a:ext cx="315694" cy="442172"/>
            </a:xfrm>
            <a:prstGeom prst="upDownArrow">
              <a:avLst>
                <a:gd name="adj1" fmla="val 50000"/>
                <a:gd name="adj2" fmla="val 44297"/>
              </a:avLst>
            </a:prstGeom>
            <a:solidFill>
              <a:srgbClr val="D8D8D8"/>
            </a:solidFill>
            <a:ln w="9525" algn="ctr">
              <a:solidFill>
                <a:srgbClr val="000000"/>
              </a:solidFill>
              <a:round/>
              <a:headEnd/>
              <a:tailEnd/>
            </a:ln>
          </p:spPr>
          <p:txBody>
            <a:bodyPr vert="horz" wrap="square" lIns="91440" tIns="45720" rIns="91440" bIns="45720" numCol="1" anchor="t" anchorCtr="0" compatLnSpc="1">
              <a:prstTxWarp prst="textNoShape">
                <a:avLst/>
              </a:prstTxWarp>
              <a:spAutoFit/>
            </a:bodyPr>
            <a:lstStyle/>
            <a:p>
              <a:endParaRPr lang="zh-CN" altLang="en-US"/>
            </a:p>
          </p:txBody>
        </p:sp>
        <p:sp>
          <p:nvSpPr>
            <p:cNvPr id="28" name="AutoShape 6"/>
            <p:cNvSpPr>
              <a:spLocks noChangeArrowheads="1"/>
            </p:cNvSpPr>
            <p:nvPr/>
          </p:nvSpPr>
          <p:spPr bwMode="auto">
            <a:xfrm>
              <a:off x="3100352" y="2654771"/>
              <a:ext cx="424462" cy="141549"/>
            </a:xfrm>
            <a:prstGeom prst="rightArrow">
              <a:avLst>
                <a:gd name="adj1" fmla="val 50370"/>
                <a:gd name="adj2" fmla="val 85714"/>
              </a:avLst>
            </a:prstGeom>
            <a:solidFill>
              <a:srgbClr val="D8D8D8"/>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29" name="AutoShape 7"/>
            <p:cNvSpPr>
              <a:spLocks noChangeArrowheads="1"/>
            </p:cNvSpPr>
            <p:nvPr/>
          </p:nvSpPr>
          <p:spPr bwMode="auto">
            <a:xfrm flipH="1">
              <a:off x="3073823" y="2836762"/>
              <a:ext cx="424462" cy="141549"/>
            </a:xfrm>
            <a:prstGeom prst="rightArrow">
              <a:avLst>
                <a:gd name="adj1" fmla="val 50370"/>
                <a:gd name="adj2" fmla="val 85714"/>
              </a:avLst>
            </a:prstGeom>
            <a:solidFill>
              <a:srgbClr val="D8D8D8"/>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0" name="上下箭头 1"/>
            <p:cNvSpPr>
              <a:spLocks noChangeArrowheads="1"/>
            </p:cNvSpPr>
            <p:nvPr/>
          </p:nvSpPr>
          <p:spPr bwMode="auto">
            <a:xfrm rot="16200000">
              <a:off x="3838245" y="2990442"/>
              <a:ext cx="240633" cy="1349436"/>
            </a:xfrm>
            <a:prstGeom prst="upDownArrow">
              <a:avLst>
                <a:gd name="adj1" fmla="val 50148"/>
                <a:gd name="adj2" fmla="val 73656"/>
              </a:avLst>
            </a:prstGeom>
            <a:solidFill>
              <a:srgbClr val="D8D8D8"/>
            </a:solidFill>
            <a:ln w="9525" algn="ctr">
              <a:solidFill>
                <a:srgbClr val="000000"/>
              </a:solidFill>
              <a:round/>
              <a:headEnd/>
              <a:tailEnd/>
            </a:ln>
          </p:spPr>
          <p:txBody>
            <a:bodyPr vert="horz" wrap="square" lIns="91440" tIns="45720" rIns="91440" bIns="45720" numCol="1" anchor="t" anchorCtr="0" compatLnSpc="1">
              <a:prstTxWarp prst="textNoShape">
                <a:avLst/>
              </a:prstTxWarp>
              <a:spAutoFit/>
            </a:bodyPr>
            <a:lstStyle/>
            <a:p>
              <a:endParaRPr lang="zh-CN" altLang="en-US"/>
            </a:p>
          </p:txBody>
        </p:sp>
        <p:sp>
          <p:nvSpPr>
            <p:cNvPr id="31" name="上下箭头 1"/>
            <p:cNvSpPr>
              <a:spLocks noChangeArrowheads="1"/>
            </p:cNvSpPr>
            <p:nvPr/>
          </p:nvSpPr>
          <p:spPr bwMode="auto">
            <a:xfrm rot="16200000">
              <a:off x="6053408" y="2980331"/>
              <a:ext cx="240633" cy="1349436"/>
            </a:xfrm>
            <a:prstGeom prst="upDownArrow">
              <a:avLst>
                <a:gd name="adj1" fmla="val 50148"/>
                <a:gd name="adj2" fmla="val 73656"/>
              </a:avLst>
            </a:prstGeom>
            <a:solidFill>
              <a:srgbClr val="D8D8D8"/>
            </a:solidFill>
            <a:ln w="9525" algn="ctr">
              <a:solidFill>
                <a:srgbClr val="000000"/>
              </a:solidFill>
              <a:round/>
              <a:headEnd/>
              <a:tailEnd/>
            </a:ln>
          </p:spPr>
          <p:txBody>
            <a:bodyPr vert="horz" wrap="square" lIns="91440" tIns="45720" rIns="91440" bIns="45720" numCol="1" anchor="t" anchorCtr="0" compatLnSpc="1">
              <a:prstTxWarp prst="textNoShape">
                <a:avLst/>
              </a:prstTxWarp>
              <a:spAutoFit/>
            </a:bodyPr>
            <a:lstStyle/>
            <a:p>
              <a:endParaRPr lang="zh-CN" altLang="en-US"/>
            </a:p>
          </p:txBody>
        </p:sp>
        <p:sp>
          <p:nvSpPr>
            <p:cNvPr id="32" name="AutoShape 10"/>
            <p:cNvSpPr>
              <a:spLocks noChangeArrowheads="1"/>
            </p:cNvSpPr>
            <p:nvPr/>
          </p:nvSpPr>
          <p:spPr bwMode="auto">
            <a:xfrm flipH="1">
              <a:off x="1482090" y="4080370"/>
              <a:ext cx="5518009" cy="262876"/>
            </a:xfrm>
            <a:prstGeom prst="rightArrow">
              <a:avLst>
                <a:gd name="adj1" fmla="val 39269"/>
                <a:gd name="adj2" fmla="val 92370"/>
              </a:avLst>
            </a:prstGeom>
            <a:solidFill>
              <a:srgbClr val="D8D8D8"/>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3" name="AutoShape 11"/>
            <p:cNvSpPr>
              <a:spLocks noChangeArrowheads="1"/>
            </p:cNvSpPr>
            <p:nvPr/>
          </p:nvSpPr>
          <p:spPr bwMode="auto">
            <a:xfrm rot="5400000" flipH="1">
              <a:off x="4899259" y="3880779"/>
              <a:ext cx="313430" cy="238760"/>
            </a:xfrm>
            <a:prstGeom prst="rightArrow">
              <a:avLst>
                <a:gd name="adj1" fmla="val 50370"/>
                <a:gd name="adj2" fmla="val 64583"/>
              </a:avLst>
            </a:prstGeom>
            <a:solidFill>
              <a:srgbClr val="D8D8D8"/>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4" name="AutoShape 12"/>
            <p:cNvSpPr>
              <a:spLocks noChangeArrowheads="1"/>
            </p:cNvSpPr>
            <p:nvPr/>
          </p:nvSpPr>
          <p:spPr bwMode="auto">
            <a:xfrm>
              <a:off x="7729643" y="4120812"/>
              <a:ext cx="504049" cy="181991"/>
            </a:xfrm>
            <a:prstGeom prst="rightArrow">
              <a:avLst>
                <a:gd name="adj1" fmla="val 50370"/>
                <a:gd name="adj2" fmla="val 79167"/>
              </a:avLst>
            </a:prstGeom>
            <a:solidFill>
              <a:srgbClr val="D8D8D8"/>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5" name="AutoShape 13"/>
            <p:cNvSpPr>
              <a:spLocks noChangeArrowheads="1"/>
            </p:cNvSpPr>
            <p:nvPr/>
          </p:nvSpPr>
          <p:spPr bwMode="auto">
            <a:xfrm>
              <a:off x="7159272" y="4110702"/>
              <a:ext cx="145909" cy="192102"/>
            </a:xfrm>
            <a:prstGeom prst="rightArrow">
              <a:avLst>
                <a:gd name="adj1" fmla="val 50370"/>
                <a:gd name="adj2" fmla="val 704"/>
              </a:avLst>
            </a:prstGeom>
            <a:solidFill>
              <a:srgbClr val="D8D8D8"/>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6" name="AutoShape 14"/>
            <p:cNvSpPr>
              <a:spLocks noChangeArrowheads="1"/>
            </p:cNvSpPr>
            <p:nvPr/>
          </p:nvSpPr>
          <p:spPr bwMode="auto">
            <a:xfrm>
              <a:off x="7424561" y="4110702"/>
              <a:ext cx="145909" cy="192102"/>
            </a:xfrm>
            <a:prstGeom prst="rightArrow">
              <a:avLst>
                <a:gd name="adj1" fmla="val 50370"/>
                <a:gd name="adj2" fmla="val 704"/>
              </a:avLst>
            </a:prstGeom>
            <a:solidFill>
              <a:srgbClr val="D8D8D8"/>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7" name="AutoShape 15"/>
            <p:cNvSpPr>
              <a:spLocks noChangeArrowheads="1"/>
            </p:cNvSpPr>
            <p:nvPr/>
          </p:nvSpPr>
          <p:spPr bwMode="auto">
            <a:xfrm rot="16200000" flipH="1" flipV="1">
              <a:off x="2259634" y="4305425"/>
              <a:ext cx="313430" cy="238760"/>
            </a:xfrm>
            <a:prstGeom prst="rightArrow">
              <a:avLst>
                <a:gd name="adj1" fmla="val 50370"/>
                <a:gd name="adj2" fmla="val 64583"/>
              </a:avLst>
            </a:prstGeom>
            <a:solidFill>
              <a:srgbClr val="D8D8D8"/>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8" name="AutoShape 16"/>
            <p:cNvSpPr>
              <a:spLocks noChangeArrowheads="1"/>
            </p:cNvSpPr>
            <p:nvPr/>
          </p:nvSpPr>
          <p:spPr bwMode="auto">
            <a:xfrm rot="16200000" flipH="1" flipV="1">
              <a:off x="3970748" y="4295315"/>
              <a:ext cx="313430" cy="238760"/>
            </a:xfrm>
            <a:prstGeom prst="rightArrow">
              <a:avLst>
                <a:gd name="adj1" fmla="val 50370"/>
                <a:gd name="adj2" fmla="val 64583"/>
              </a:avLst>
            </a:prstGeom>
            <a:solidFill>
              <a:srgbClr val="D8D8D8"/>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39" name="AutoShape 17"/>
            <p:cNvSpPr>
              <a:spLocks noChangeArrowheads="1"/>
            </p:cNvSpPr>
            <p:nvPr/>
          </p:nvSpPr>
          <p:spPr bwMode="auto">
            <a:xfrm rot="16200000" flipH="1" flipV="1">
              <a:off x="6040001" y="4285204"/>
              <a:ext cx="313430" cy="238760"/>
            </a:xfrm>
            <a:prstGeom prst="rightArrow">
              <a:avLst>
                <a:gd name="adj1" fmla="val 50370"/>
                <a:gd name="adj2" fmla="val 64583"/>
              </a:avLst>
            </a:prstGeom>
            <a:solidFill>
              <a:srgbClr val="D8D8D8"/>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sp>
          <p:nvSpPr>
            <p:cNvPr id="40" name="Rectangle 18"/>
            <p:cNvSpPr>
              <a:spLocks noChangeArrowheads="1"/>
            </p:cNvSpPr>
            <p:nvPr/>
          </p:nvSpPr>
          <p:spPr bwMode="auto">
            <a:xfrm>
              <a:off x="6867455" y="3350841"/>
              <a:ext cx="809131" cy="535863"/>
            </a:xfrm>
            <a:prstGeom prst="rect">
              <a:avLst/>
            </a:prstGeom>
            <a:noFill/>
            <a:ln w="571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Rectangle 19"/>
            <p:cNvSpPr>
              <a:spLocks noChangeArrowheads="1"/>
            </p:cNvSpPr>
            <p:nvPr/>
          </p:nvSpPr>
          <p:spPr bwMode="auto">
            <a:xfrm>
              <a:off x="5461423" y="5060893"/>
              <a:ext cx="1406031" cy="1011063"/>
            </a:xfrm>
            <a:prstGeom prst="rect">
              <a:avLst/>
            </a:prstGeom>
            <a:noFill/>
            <a:ln w="5715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Rectangle 20"/>
            <p:cNvSpPr>
              <a:spLocks noChangeArrowheads="1"/>
            </p:cNvSpPr>
            <p:nvPr/>
          </p:nvSpPr>
          <p:spPr bwMode="auto">
            <a:xfrm>
              <a:off x="1416173" y="2393981"/>
              <a:ext cx="2722307" cy="1536816"/>
            </a:xfrm>
            <a:prstGeom prst="rect">
              <a:avLst/>
            </a:prstGeom>
            <a:noFill/>
            <a:ln w="57150">
              <a:solidFill>
                <a:srgbClr val="FF0000"/>
              </a:solidFill>
              <a:miter lim="800000"/>
              <a:headEnd/>
              <a:tailEnd/>
            </a:ln>
          </p:spPr>
          <p:txBody>
            <a:bodyPr vert="horz" wrap="square" lIns="91440" tIns="45720" rIns="91440" bIns="45720" numCol="1" anchor="t" anchorCtr="0" compatLnSpc="1">
              <a:prstTxWarp prst="textNoShape">
                <a:avLst/>
              </a:prstTxWarp>
            </a:bodyPr>
            <a:lstStyle/>
            <a:p>
              <a:endParaRPr lang="zh-CN" altLang="en-US"/>
            </a:p>
          </p:txBody>
        </p:sp>
      </p:grpSp>
    </p:spTree>
    <p:extLst>
      <p:ext uri="{BB962C8B-B14F-4D97-AF65-F5344CB8AC3E}">
        <p14:creationId xmlns:p14="http://schemas.microsoft.com/office/powerpoint/2010/main" val="4198773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457200" y="419100"/>
            <a:ext cx="8102600" cy="592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zh-CN" altLang="en-US">
                <a:solidFill>
                  <a:srgbClr val="800000"/>
                </a:solidFill>
                <a:latin typeface="黑体" pitchFamily="2" charset="-122"/>
                <a:ea typeface="黑体" pitchFamily="2" charset="-122"/>
              </a:rPr>
              <a:t>1.1.1 计算机系统的组成 </a:t>
            </a:r>
            <a:endParaRPr lang="zh-CN" altLang="en-US">
              <a:latin typeface="黑体" pitchFamily="2" charset="-122"/>
              <a:ea typeface="黑体" pitchFamily="2" charset="-122"/>
            </a:endParaRPr>
          </a:p>
        </p:txBody>
      </p:sp>
      <p:sp>
        <p:nvSpPr>
          <p:cNvPr id="12291" name="Rectangle 3"/>
          <p:cNvSpPr>
            <a:spLocks noChangeArrowheads="1"/>
          </p:cNvSpPr>
          <p:nvPr/>
        </p:nvSpPr>
        <p:spPr bwMode="auto">
          <a:xfrm>
            <a:off x="838200" y="949325"/>
            <a:ext cx="8305800" cy="505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en-US" altLang="zh-CN" dirty="0">
                <a:solidFill>
                  <a:srgbClr val="800000"/>
                </a:solidFill>
                <a:latin typeface="黑体" pitchFamily="2" charset="-122"/>
                <a:ea typeface="黑体" pitchFamily="2" charset="-122"/>
              </a:rPr>
              <a:t>3</a:t>
            </a:r>
            <a:r>
              <a:rPr lang="zh-CN" altLang="en-US" dirty="0">
                <a:solidFill>
                  <a:srgbClr val="800000"/>
                </a:solidFill>
                <a:latin typeface="黑体" pitchFamily="2" charset="-122"/>
                <a:ea typeface="黑体" pitchFamily="2" charset="-122"/>
              </a:rPr>
              <a:t>．软件的组成 </a:t>
            </a:r>
          </a:p>
        </p:txBody>
      </p:sp>
      <p:sp>
        <p:nvSpPr>
          <p:cNvPr id="550923" name="Rectangle 11"/>
          <p:cNvSpPr>
            <a:spLocks noChangeArrowheads="1"/>
          </p:cNvSpPr>
          <p:nvPr/>
        </p:nvSpPr>
        <p:spPr bwMode="auto">
          <a:xfrm>
            <a:off x="1784350" y="1693863"/>
            <a:ext cx="735965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10000"/>
              </a:lnSpc>
              <a:spcBef>
                <a:spcPct val="0"/>
              </a:spcBef>
              <a:buClrTx/>
              <a:buFontTx/>
              <a:buNone/>
            </a:pPr>
            <a:r>
              <a:rPr lang="zh-CN" altLang="en-US" dirty="0">
                <a:solidFill>
                  <a:srgbClr val="FF0000"/>
                </a:solidFill>
                <a:latin typeface="黑体" pitchFamily="2" charset="-122"/>
                <a:ea typeface="黑体" pitchFamily="2" charset="-122"/>
              </a:rPr>
              <a:t>系统软件</a:t>
            </a:r>
            <a:r>
              <a:rPr lang="zh-CN" altLang="en-US" dirty="0">
                <a:solidFill>
                  <a:schemeClr val="hlink"/>
                </a:solidFill>
                <a:latin typeface="黑体" pitchFamily="2" charset="-122"/>
                <a:ea typeface="黑体" pitchFamily="2" charset="-122"/>
              </a:rPr>
              <a:t> </a:t>
            </a:r>
            <a:r>
              <a:rPr lang="zh-CN" altLang="en-US" dirty="0">
                <a:solidFill>
                  <a:srgbClr val="000080"/>
                </a:solidFill>
                <a:latin typeface="黑体" pitchFamily="2" charset="-122"/>
                <a:ea typeface="黑体" pitchFamily="2" charset="-122"/>
              </a:rPr>
              <a:t>为提高系统效率或扩展硬件功能                 </a:t>
            </a:r>
          </a:p>
          <a:p>
            <a:pPr algn="just" eaLnBrk="0" hangingPunct="0">
              <a:lnSpc>
                <a:spcPct val="110000"/>
              </a:lnSpc>
              <a:spcBef>
                <a:spcPct val="0"/>
              </a:spcBef>
              <a:buClrTx/>
              <a:buFontTx/>
              <a:buNone/>
            </a:pPr>
            <a:r>
              <a:rPr lang="zh-CN" altLang="en-US" dirty="0">
                <a:solidFill>
                  <a:srgbClr val="000080"/>
                </a:solidFill>
                <a:latin typeface="黑体" pitchFamily="2" charset="-122"/>
                <a:ea typeface="黑体" pitchFamily="2" charset="-122"/>
              </a:rPr>
              <a:t>         而编制的程序。包括：</a:t>
            </a:r>
          </a:p>
          <a:p>
            <a:pPr algn="just" eaLnBrk="0" hangingPunct="0">
              <a:lnSpc>
                <a:spcPct val="110000"/>
              </a:lnSpc>
              <a:spcBef>
                <a:spcPct val="0"/>
              </a:spcBef>
              <a:buClrTx/>
              <a:buFontTx/>
              <a:buNone/>
            </a:pPr>
            <a:r>
              <a:rPr lang="zh-CN" altLang="en-US" dirty="0">
                <a:solidFill>
                  <a:srgbClr val="000080"/>
                </a:solidFill>
                <a:latin typeface="黑体" pitchFamily="2" charset="-122"/>
                <a:ea typeface="黑体" pitchFamily="2" charset="-122"/>
              </a:rPr>
              <a:t>             服务性程序（诊断程序）</a:t>
            </a:r>
          </a:p>
          <a:p>
            <a:pPr algn="just" eaLnBrk="0" hangingPunct="0">
              <a:lnSpc>
                <a:spcPct val="110000"/>
              </a:lnSpc>
              <a:spcBef>
                <a:spcPct val="0"/>
              </a:spcBef>
              <a:buClrTx/>
              <a:buFontTx/>
              <a:buNone/>
            </a:pPr>
            <a:r>
              <a:rPr lang="zh-CN" altLang="en-US" dirty="0">
                <a:solidFill>
                  <a:srgbClr val="000080"/>
                </a:solidFill>
                <a:latin typeface="黑体" pitchFamily="2" charset="-122"/>
                <a:ea typeface="黑体" pitchFamily="2" charset="-122"/>
              </a:rPr>
              <a:t>             语言程序（汇编程序，编译程序）</a:t>
            </a:r>
          </a:p>
          <a:p>
            <a:pPr algn="just" eaLnBrk="0" hangingPunct="0">
              <a:lnSpc>
                <a:spcPct val="110000"/>
              </a:lnSpc>
              <a:spcBef>
                <a:spcPct val="0"/>
              </a:spcBef>
              <a:buClrTx/>
              <a:buFontTx/>
              <a:buNone/>
            </a:pPr>
            <a:r>
              <a:rPr lang="zh-CN" altLang="en-US" dirty="0">
                <a:solidFill>
                  <a:srgbClr val="000080"/>
                </a:solidFill>
                <a:latin typeface="黑体" pitchFamily="2" charset="-122"/>
                <a:ea typeface="黑体" pitchFamily="2" charset="-122"/>
              </a:rPr>
              <a:t>             操作系统 等</a:t>
            </a:r>
          </a:p>
        </p:txBody>
      </p:sp>
      <p:sp>
        <p:nvSpPr>
          <p:cNvPr id="550930" name="Rectangle 18"/>
          <p:cNvSpPr>
            <a:spLocks noChangeArrowheads="1"/>
          </p:cNvSpPr>
          <p:nvPr/>
        </p:nvSpPr>
        <p:spPr bwMode="auto">
          <a:xfrm>
            <a:off x="1582738" y="3951288"/>
            <a:ext cx="7561262"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algn="just" eaLnBrk="0" hangingPunct="0">
              <a:lnSpc>
                <a:spcPct val="110000"/>
              </a:lnSpc>
              <a:spcBef>
                <a:spcPct val="0"/>
              </a:spcBef>
              <a:buClrTx/>
              <a:buFontTx/>
              <a:buNone/>
            </a:pPr>
            <a:r>
              <a:rPr lang="zh-CN" altLang="en-US" dirty="0">
                <a:solidFill>
                  <a:srgbClr val="FF0000"/>
                </a:solidFill>
                <a:latin typeface="黑体" pitchFamily="2" charset="-122"/>
                <a:ea typeface="黑体" pitchFamily="2" charset="-122"/>
              </a:rPr>
              <a:t>应用软件</a:t>
            </a:r>
            <a:r>
              <a:rPr lang="zh-CN" altLang="en-US" dirty="0">
                <a:solidFill>
                  <a:schemeClr val="hlink"/>
                </a:solidFill>
                <a:latin typeface="黑体" pitchFamily="2" charset="-122"/>
                <a:ea typeface="黑体" pitchFamily="2" charset="-122"/>
              </a:rPr>
              <a:t> </a:t>
            </a:r>
            <a:r>
              <a:rPr lang="zh-CN" altLang="en-US" dirty="0">
                <a:solidFill>
                  <a:srgbClr val="000080"/>
                </a:solidFill>
                <a:latin typeface="黑体" pitchFamily="2" charset="-122"/>
                <a:ea typeface="黑体" pitchFamily="2" charset="-122"/>
              </a:rPr>
              <a:t>为解决某一特定问题而编制的程序。</a:t>
            </a:r>
          </a:p>
          <a:p>
            <a:pPr indent="266700" algn="just" eaLnBrk="0" hangingPunct="0">
              <a:lnSpc>
                <a:spcPct val="110000"/>
              </a:lnSpc>
              <a:spcBef>
                <a:spcPct val="0"/>
              </a:spcBef>
              <a:buClrTx/>
              <a:buFontTx/>
              <a:buNone/>
            </a:pPr>
            <a:r>
              <a:rPr lang="zh-CN" altLang="en-US" dirty="0">
                <a:solidFill>
                  <a:srgbClr val="000080"/>
                </a:solidFill>
                <a:latin typeface="黑体" pitchFamily="2" charset="-122"/>
                <a:ea typeface="黑体" pitchFamily="2" charset="-122"/>
              </a:rPr>
              <a:t>         如：工程设计程序、</a:t>
            </a:r>
          </a:p>
          <a:p>
            <a:pPr indent="266700">
              <a:lnSpc>
                <a:spcPct val="60000"/>
              </a:lnSpc>
            </a:pPr>
            <a:r>
              <a:rPr lang="zh-CN" altLang="en-US" dirty="0">
                <a:solidFill>
                  <a:srgbClr val="000080"/>
                </a:solidFill>
                <a:latin typeface="黑体" pitchFamily="2" charset="-122"/>
                <a:ea typeface="黑体" pitchFamily="2" charset="-122"/>
              </a:rPr>
              <a:t>             数据处理程序、</a:t>
            </a:r>
          </a:p>
          <a:p>
            <a:pPr indent="266700">
              <a:lnSpc>
                <a:spcPct val="60000"/>
              </a:lnSpc>
            </a:pPr>
            <a:r>
              <a:rPr lang="zh-CN" altLang="en-US" dirty="0">
                <a:solidFill>
                  <a:srgbClr val="000080"/>
                </a:solidFill>
                <a:latin typeface="黑体" pitchFamily="2" charset="-122"/>
                <a:ea typeface="黑体" pitchFamily="2" charset="-122"/>
              </a:rPr>
              <a:t>             企业管理程序、</a:t>
            </a:r>
          </a:p>
          <a:p>
            <a:pPr indent="266700">
              <a:lnSpc>
                <a:spcPct val="60000"/>
              </a:lnSpc>
            </a:pPr>
            <a:r>
              <a:rPr lang="zh-CN" altLang="en-US" dirty="0">
                <a:solidFill>
                  <a:srgbClr val="000080"/>
                </a:solidFill>
                <a:latin typeface="黑体" pitchFamily="2" charset="-122"/>
                <a:ea typeface="黑体" pitchFamily="2" charset="-122"/>
              </a:rPr>
              <a:t>             科学计算程序等。 </a:t>
            </a:r>
          </a:p>
        </p:txBody>
      </p:sp>
      <p:sp>
        <p:nvSpPr>
          <p:cNvPr id="12294" name="Text Box 15"/>
          <p:cNvSpPr txBox="1">
            <a:spLocks noChangeArrowheads="1"/>
          </p:cNvSpPr>
          <p:nvPr/>
        </p:nvSpPr>
        <p:spPr bwMode="auto">
          <a:xfrm>
            <a:off x="818023" y="2695575"/>
            <a:ext cx="51706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r>
              <a:rPr lang="zh-CN" altLang="en-US">
                <a:solidFill>
                  <a:srgbClr val="000080"/>
                </a:solidFill>
                <a:latin typeface="黑体" pitchFamily="2" charset="-122"/>
                <a:ea typeface="黑体" pitchFamily="2" charset="-122"/>
              </a:rPr>
              <a:t>软件</a:t>
            </a:r>
          </a:p>
        </p:txBody>
      </p:sp>
      <p:sp>
        <p:nvSpPr>
          <p:cNvPr id="12295" name="AutoShape 16"/>
          <p:cNvSpPr>
            <a:spLocks/>
          </p:cNvSpPr>
          <p:nvPr/>
        </p:nvSpPr>
        <p:spPr bwMode="auto">
          <a:xfrm>
            <a:off x="1419225" y="2084388"/>
            <a:ext cx="314325" cy="2381250"/>
          </a:xfrm>
          <a:prstGeom prst="leftBrace">
            <a:avLst>
              <a:gd name="adj1" fmla="val 63131"/>
              <a:gd name="adj2" fmla="val 50000"/>
            </a:avLst>
          </a:prstGeom>
          <a:noFill/>
          <a:ln w="28575">
            <a:solidFill>
              <a:srgbClr val="000099"/>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20000"/>
              </a:spcBef>
            </a:pPr>
            <a:endParaRPr lang="zh-CN" altLang="en-US" sz="2600">
              <a:latin typeface="黑体" pitchFamily="2" charset="-122"/>
              <a:ea typeface="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50923"/>
                                        </p:tgtEl>
                                        <p:attrNameLst>
                                          <p:attrName>style.visibility</p:attrName>
                                        </p:attrNameLst>
                                      </p:cBhvr>
                                      <p:to>
                                        <p:strVal val="visible"/>
                                      </p:to>
                                    </p:set>
                                    <p:animEffect transition="in" filter="wipe(up)">
                                      <p:cBhvr>
                                        <p:cTn id="7" dur="500"/>
                                        <p:tgtEl>
                                          <p:spTgt spid="5509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50930"/>
                                        </p:tgtEl>
                                        <p:attrNameLst>
                                          <p:attrName>style.visibility</p:attrName>
                                        </p:attrNameLst>
                                      </p:cBhvr>
                                      <p:to>
                                        <p:strVal val="visible"/>
                                      </p:to>
                                    </p:set>
                                    <p:animEffect transition="in" filter="wipe(up)">
                                      <p:cBhvr>
                                        <p:cTn id="12" dur="500"/>
                                        <p:tgtEl>
                                          <p:spTgt spid="5509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0923" grpId="0" autoUpdateAnimBg="0"/>
      <p:bldP spid="550930"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457200" y="419100"/>
            <a:ext cx="8102600" cy="592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zh-CN" altLang="en-US">
                <a:solidFill>
                  <a:srgbClr val="800000"/>
                </a:solidFill>
                <a:latin typeface="黑体" pitchFamily="2" charset="-122"/>
                <a:ea typeface="黑体" pitchFamily="2" charset="-122"/>
              </a:rPr>
              <a:t>1.1.1 计算机系统的组成 </a:t>
            </a:r>
            <a:endParaRPr lang="zh-CN" altLang="en-US">
              <a:latin typeface="黑体" pitchFamily="2" charset="-122"/>
              <a:ea typeface="黑体" pitchFamily="2" charset="-122"/>
            </a:endParaRPr>
          </a:p>
        </p:txBody>
      </p:sp>
      <p:sp>
        <p:nvSpPr>
          <p:cNvPr id="13315" name="Rectangle 3"/>
          <p:cNvSpPr>
            <a:spLocks noChangeArrowheads="1"/>
          </p:cNvSpPr>
          <p:nvPr/>
        </p:nvSpPr>
        <p:spPr bwMode="auto">
          <a:xfrm>
            <a:off x="838200" y="959599"/>
            <a:ext cx="8305800" cy="505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en-US" altLang="zh-CN" dirty="0">
                <a:solidFill>
                  <a:srgbClr val="800000"/>
                </a:solidFill>
                <a:latin typeface="黑体" pitchFamily="2" charset="-122"/>
                <a:ea typeface="黑体" pitchFamily="2" charset="-122"/>
              </a:rPr>
              <a:t>3</a:t>
            </a:r>
            <a:r>
              <a:rPr lang="zh-CN" altLang="en-US" dirty="0">
                <a:solidFill>
                  <a:srgbClr val="800000"/>
                </a:solidFill>
                <a:latin typeface="黑体" pitchFamily="2" charset="-122"/>
                <a:ea typeface="黑体" pitchFamily="2" charset="-122"/>
              </a:rPr>
              <a:t>．软件的组成 </a:t>
            </a:r>
          </a:p>
        </p:txBody>
      </p:sp>
      <p:sp>
        <p:nvSpPr>
          <p:cNvPr id="13316" name="Rectangle 5"/>
          <p:cNvSpPr>
            <a:spLocks noChangeArrowheads="1"/>
          </p:cNvSpPr>
          <p:nvPr/>
        </p:nvSpPr>
        <p:spPr bwMode="auto">
          <a:xfrm>
            <a:off x="457200" y="1631505"/>
            <a:ext cx="8305800" cy="166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gn="just" eaLnBrk="0" hangingPunct="0">
              <a:lnSpc>
                <a:spcPct val="150000"/>
              </a:lnSpc>
              <a:spcBef>
                <a:spcPct val="0"/>
              </a:spcBef>
              <a:buClrTx/>
              <a:buFont typeface="Arial" panose="020B0604020202020204" pitchFamily="34" charset="0"/>
              <a:buChar char="•"/>
            </a:pPr>
            <a:r>
              <a:rPr lang="zh-CN" altLang="en-US" dirty="0">
                <a:solidFill>
                  <a:srgbClr val="FF0000"/>
                </a:solidFill>
                <a:latin typeface="黑体" pitchFamily="2" charset="-122"/>
                <a:ea typeface="黑体" pitchFamily="2" charset="-122"/>
              </a:rPr>
              <a:t>机器语言</a:t>
            </a:r>
            <a:r>
              <a:rPr lang="zh-CN" altLang="en-US" dirty="0">
                <a:solidFill>
                  <a:srgbClr val="000080"/>
                </a:solidFill>
                <a:latin typeface="黑体" pitchFamily="2" charset="-122"/>
                <a:ea typeface="黑体" pitchFamily="2" charset="-122"/>
              </a:rPr>
              <a:t>：能被计算机硬件直接识别和执行的二进制表示 </a:t>
            </a:r>
            <a:endParaRPr lang="en-US" altLang="zh-CN" dirty="0">
              <a:solidFill>
                <a:srgbClr val="000080"/>
              </a:solidFill>
              <a:latin typeface="黑体" pitchFamily="2" charset="-122"/>
              <a:ea typeface="黑体" pitchFamily="2" charset="-122"/>
            </a:endParaRPr>
          </a:p>
          <a:p>
            <a:pPr marL="342900" indent="-342900" algn="just" eaLnBrk="0" hangingPunct="0">
              <a:lnSpc>
                <a:spcPct val="150000"/>
              </a:lnSpc>
              <a:spcBef>
                <a:spcPct val="0"/>
              </a:spcBef>
              <a:buClrTx/>
              <a:buFont typeface="Arial" panose="020B0604020202020204" pitchFamily="34" charset="0"/>
              <a:buChar char="•"/>
            </a:pPr>
            <a:r>
              <a:rPr lang="zh-CN" altLang="en-US" dirty="0">
                <a:solidFill>
                  <a:srgbClr val="FF0000"/>
                </a:solidFill>
                <a:latin typeface="黑体" pitchFamily="2" charset="-122"/>
                <a:ea typeface="黑体" pitchFamily="2" charset="-122"/>
              </a:rPr>
              <a:t>汇编语言</a:t>
            </a:r>
            <a:r>
              <a:rPr lang="zh-CN" altLang="en-US" dirty="0">
                <a:solidFill>
                  <a:srgbClr val="000080"/>
                </a:solidFill>
                <a:latin typeface="黑体" pitchFamily="2" charset="-122"/>
                <a:ea typeface="黑体" pitchFamily="2" charset="-122"/>
              </a:rPr>
              <a:t>：采用助记符，不能被硬件直接识别和执行 </a:t>
            </a:r>
            <a:endParaRPr lang="en-US" altLang="zh-CN" dirty="0">
              <a:solidFill>
                <a:srgbClr val="000080"/>
              </a:solidFill>
              <a:latin typeface="黑体" pitchFamily="2" charset="-122"/>
              <a:ea typeface="黑体" pitchFamily="2" charset="-122"/>
            </a:endParaRPr>
          </a:p>
          <a:p>
            <a:pPr marL="342900" indent="-342900" algn="just" eaLnBrk="0" hangingPunct="0">
              <a:lnSpc>
                <a:spcPct val="150000"/>
              </a:lnSpc>
              <a:spcBef>
                <a:spcPct val="0"/>
              </a:spcBef>
              <a:buClrTx/>
              <a:buFont typeface="Arial" panose="020B0604020202020204" pitchFamily="34" charset="0"/>
              <a:buChar char="•"/>
            </a:pPr>
            <a:r>
              <a:rPr lang="zh-CN" altLang="en-US" dirty="0">
                <a:solidFill>
                  <a:srgbClr val="FF0000"/>
                </a:solidFill>
                <a:latin typeface="黑体" pitchFamily="2" charset="-122"/>
                <a:ea typeface="黑体" pitchFamily="2" charset="-122"/>
              </a:rPr>
              <a:t>算法语言</a:t>
            </a:r>
            <a:r>
              <a:rPr lang="zh-CN" altLang="en-US" dirty="0">
                <a:solidFill>
                  <a:srgbClr val="000080"/>
                </a:solidFill>
                <a:latin typeface="黑体" pitchFamily="2" charset="-122"/>
                <a:ea typeface="黑体" pitchFamily="2" charset="-122"/>
              </a:rPr>
              <a:t>（高级语言）：接近于人类自然语言</a:t>
            </a:r>
          </a:p>
        </p:txBody>
      </p:sp>
      <p:pic>
        <p:nvPicPr>
          <p:cNvPr id="3" name="图片 2">
            <a:extLst>
              <a:ext uri="{FF2B5EF4-FFF2-40B4-BE49-F238E27FC236}">
                <a16:creationId xmlns:a16="http://schemas.microsoft.com/office/drawing/2014/main" id="{F91DAE30-84D7-CFE5-47AD-A9B7090E63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1653" y="4092976"/>
            <a:ext cx="5917500" cy="1493115"/>
          </a:xfrm>
          <a:prstGeom prst="rect">
            <a:avLst/>
          </a:prstGeom>
        </p:spPr>
      </p:pic>
    </p:spTree>
    <p:extLst>
      <p:ext uri="{BB962C8B-B14F-4D97-AF65-F5344CB8AC3E}">
        <p14:creationId xmlns:p14="http://schemas.microsoft.com/office/powerpoint/2010/main" val="3817948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457200" y="419100"/>
            <a:ext cx="8102600" cy="592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zh-CN" altLang="en-US">
                <a:solidFill>
                  <a:srgbClr val="800000"/>
                </a:solidFill>
                <a:latin typeface="黑体" pitchFamily="2" charset="-122"/>
                <a:ea typeface="黑体" pitchFamily="2" charset="-122"/>
              </a:rPr>
              <a:t>1.1.1 计算机系统的组成 </a:t>
            </a:r>
            <a:endParaRPr lang="zh-CN" altLang="en-US">
              <a:latin typeface="黑体" pitchFamily="2" charset="-122"/>
              <a:ea typeface="黑体" pitchFamily="2" charset="-122"/>
            </a:endParaRPr>
          </a:p>
        </p:txBody>
      </p:sp>
      <p:sp>
        <p:nvSpPr>
          <p:cNvPr id="13315" name="Rectangle 3"/>
          <p:cNvSpPr>
            <a:spLocks noChangeArrowheads="1"/>
          </p:cNvSpPr>
          <p:nvPr/>
        </p:nvSpPr>
        <p:spPr bwMode="auto">
          <a:xfrm>
            <a:off x="838200" y="949325"/>
            <a:ext cx="8305800" cy="505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en-US" altLang="en-US" dirty="0">
                <a:solidFill>
                  <a:srgbClr val="800000"/>
                </a:solidFill>
                <a:latin typeface="黑体" pitchFamily="2" charset="-122"/>
                <a:ea typeface="黑体" pitchFamily="2" charset="-122"/>
              </a:rPr>
              <a:t>4．硬件与软件的关系 </a:t>
            </a:r>
            <a:endParaRPr lang="zh-CN" altLang="en-US" dirty="0">
              <a:solidFill>
                <a:srgbClr val="800000"/>
              </a:solidFill>
              <a:latin typeface="黑体" pitchFamily="2" charset="-122"/>
              <a:ea typeface="黑体" pitchFamily="2" charset="-122"/>
            </a:endParaRPr>
          </a:p>
        </p:txBody>
      </p:sp>
      <p:sp>
        <p:nvSpPr>
          <p:cNvPr id="13316" name="Rectangle 5"/>
          <p:cNvSpPr>
            <a:spLocks noChangeArrowheads="1"/>
          </p:cNvSpPr>
          <p:nvPr/>
        </p:nvSpPr>
        <p:spPr bwMode="auto">
          <a:xfrm>
            <a:off x="838200" y="1455221"/>
            <a:ext cx="7586610" cy="3882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342900" indent="-342900" algn="just" eaLnBrk="0" hangingPunct="0">
              <a:lnSpc>
                <a:spcPct val="130000"/>
              </a:lnSpc>
              <a:spcBef>
                <a:spcPct val="0"/>
              </a:spcBef>
              <a:buClrTx/>
              <a:buFont typeface="Wingdings" panose="05000000000000000000" pitchFamily="2" charset="2"/>
              <a:buChar char="Ø"/>
            </a:pPr>
            <a:r>
              <a:rPr lang="zh-CN" altLang="en-US" dirty="0">
                <a:solidFill>
                  <a:srgbClr val="000080"/>
                </a:solidFill>
                <a:latin typeface="黑体" pitchFamily="2" charset="-122"/>
                <a:ea typeface="黑体" pitchFamily="2" charset="-122"/>
              </a:rPr>
              <a:t>相互依存：</a:t>
            </a:r>
            <a:r>
              <a:rPr lang="zh-CN" altLang="en-US" b="0" dirty="0">
                <a:solidFill>
                  <a:srgbClr val="000080"/>
                </a:solidFill>
                <a:latin typeface="黑体" pitchFamily="2" charset="-122"/>
                <a:ea typeface="黑体" pitchFamily="2" charset="-122"/>
              </a:rPr>
              <a:t>硬件是计算机系统的物质基础，软件是计算机系统的灵魂，二者相辅相成。</a:t>
            </a:r>
          </a:p>
          <a:p>
            <a:pPr marL="342900" indent="-342900" algn="just" eaLnBrk="0" hangingPunct="0">
              <a:lnSpc>
                <a:spcPct val="130000"/>
              </a:lnSpc>
              <a:spcBef>
                <a:spcPct val="0"/>
              </a:spcBef>
              <a:buClrTx/>
              <a:buFont typeface="Wingdings" panose="05000000000000000000" pitchFamily="2" charset="2"/>
              <a:buChar char="Ø"/>
            </a:pPr>
            <a:r>
              <a:rPr lang="zh-CN" altLang="en-US" dirty="0">
                <a:solidFill>
                  <a:srgbClr val="000080"/>
                </a:solidFill>
                <a:latin typeface="黑体" pitchFamily="2" charset="-122"/>
                <a:ea typeface="黑体" pitchFamily="2" charset="-122"/>
              </a:rPr>
              <a:t>逻辑等价：</a:t>
            </a:r>
            <a:r>
              <a:rPr lang="zh-CN" altLang="en-US" b="0" dirty="0">
                <a:solidFill>
                  <a:srgbClr val="000080"/>
                </a:solidFill>
                <a:latin typeface="黑体" pitchFamily="2" charset="-122"/>
                <a:ea typeface="黑体" pitchFamily="2" charset="-122"/>
              </a:rPr>
              <a:t>许多功能既可直接由硬件实现，也可在硬件支持下靠 软件实现，对用户来说在功能上是等价的，称之为</a:t>
            </a:r>
            <a:r>
              <a:rPr lang="zh-CN" altLang="en-US" b="0" dirty="0">
                <a:solidFill>
                  <a:srgbClr val="FF0000"/>
                </a:solidFill>
                <a:latin typeface="黑体" pitchFamily="2" charset="-122"/>
                <a:ea typeface="黑体" pitchFamily="2" charset="-122"/>
              </a:rPr>
              <a:t>软、硬件在功能上的逻辑等价</a:t>
            </a:r>
            <a:r>
              <a:rPr lang="zh-CN" altLang="en-US" b="0" dirty="0">
                <a:solidFill>
                  <a:srgbClr val="000080"/>
                </a:solidFill>
                <a:latin typeface="黑体" pitchFamily="2" charset="-122"/>
                <a:ea typeface="黑体" pitchFamily="2" charset="-122"/>
              </a:rPr>
              <a:t>。 </a:t>
            </a:r>
            <a:endParaRPr lang="en-US" altLang="zh-CN" b="0" dirty="0">
              <a:solidFill>
                <a:srgbClr val="000080"/>
              </a:solidFill>
              <a:latin typeface="黑体" pitchFamily="2" charset="-122"/>
              <a:ea typeface="黑体" pitchFamily="2" charset="-122"/>
            </a:endParaRPr>
          </a:p>
          <a:p>
            <a:pPr marL="342900" indent="-342900" algn="just" eaLnBrk="0" hangingPunct="0">
              <a:lnSpc>
                <a:spcPct val="130000"/>
              </a:lnSpc>
              <a:spcBef>
                <a:spcPct val="0"/>
              </a:spcBef>
              <a:buClrTx/>
              <a:buFont typeface="Wingdings" panose="05000000000000000000" pitchFamily="2" charset="2"/>
              <a:buChar char="Ø"/>
            </a:pPr>
            <a:r>
              <a:rPr lang="zh-CN" altLang="en-US" dirty="0">
                <a:solidFill>
                  <a:srgbClr val="000080"/>
                </a:solidFill>
                <a:latin typeface="黑体" pitchFamily="2" charset="-122"/>
                <a:ea typeface="黑体" pitchFamily="2" charset="-122"/>
              </a:rPr>
              <a:t>协同发展：</a:t>
            </a:r>
            <a:r>
              <a:rPr lang="zh-CN" altLang="en-US" b="0" dirty="0">
                <a:solidFill>
                  <a:srgbClr val="000080"/>
                </a:solidFill>
                <a:latin typeface="黑体" pitchFamily="2" charset="-122"/>
                <a:ea typeface="黑体" pitchFamily="2" charset="-122"/>
              </a:rPr>
              <a:t>计算机硬件和软件朝着</a:t>
            </a:r>
            <a:r>
              <a:rPr lang="zh-CN" altLang="en-US" b="0" dirty="0">
                <a:solidFill>
                  <a:srgbClr val="FF0000"/>
                </a:solidFill>
                <a:latin typeface="黑体" pitchFamily="2" charset="-122"/>
                <a:ea typeface="黑体" pitchFamily="2" charset="-122"/>
              </a:rPr>
              <a:t>互相渗透，互相融合</a:t>
            </a:r>
            <a:r>
              <a:rPr lang="zh-CN" altLang="en-US" b="0" dirty="0">
                <a:solidFill>
                  <a:srgbClr val="000080"/>
                </a:solidFill>
                <a:latin typeface="黑体" pitchFamily="2" charset="-122"/>
                <a:ea typeface="黑体" pitchFamily="2" charset="-122"/>
              </a:rPr>
              <a:t>的方向发展。软件随硬件技术发展而发展，软件的发展又促进硬件的更新 。</a:t>
            </a:r>
          </a:p>
        </p:txBody>
      </p:sp>
      <p:sp>
        <p:nvSpPr>
          <p:cNvPr id="2" name="Rectangle 5">
            <a:extLst>
              <a:ext uri="{FF2B5EF4-FFF2-40B4-BE49-F238E27FC236}">
                <a16:creationId xmlns:a16="http://schemas.microsoft.com/office/drawing/2014/main" id="{DE1C086C-257D-DF6D-C612-85B8AD7BAA90}"/>
              </a:ext>
            </a:extLst>
          </p:cNvPr>
          <p:cNvSpPr>
            <a:spLocks noChangeArrowheads="1"/>
          </p:cNvSpPr>
          <p:nvPr/>
        </p:nvSpPr>
        <p:spPr bwMode="auto">
          <a:xfrm>
            <a:off x="599487" y="5656490"/>
            <a:ext cx="8544513" cy="504369"/>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lgn="just" eaLnBrk="0" hangingPunct="0">
              <a:lnSpc>
                <a:spcPct val="130000"/>
              </a:lnSpc>
              <a:spcBef>
                <a:spcPct val="0"/>
              </a:spcBef>
              <a:buClrTx/>
              <a:buFontTx/>
              <a:buNone/>
            </a:pPr>
            <a:r>
              <a:rPr lang="zh-CN" altLang="en-US" dirty="0">
                <a:solidFill>
                  <a:srgbClr val="000080"/>
                </a:solidFill>
                <a:latin typeface="黑体" pitchFamily="2" charset="-122"/>
                <a:ea typeface="黑体" pitchFamily="2" charset="-122"/>
              </a:rPr>
              <a:t>硬件软件之间的</a:t>
            </a:r>
            <a:r>
              <a:rPr lang="zh-CN" altLang="en-US" dirty="0">
                <a:solidFill>
                  <a:srgbClr val="FF0000"/>
                </a:solidFill>
                <a:latin typeface="黑体" pitchFamily="2" charset="-122"/>
                <a:ea typeface="黑体" pitchFamily="2" charset="-122"/>
              </a:rPr>
              <a:t>界面</a:t>
            </a:r>
            <a:r>
              <a:rPr lang="en-US" altLang="zh-CN" dirty="0">
                <a:solidFill>
                  <a:srgbClr val="000080"/>
                </a:solidFill>
                <a:latin typeface="黑体" pitchFamily="2" charset="-122"/>
                <a:ea typeface="黑体" pitchFamily="2" charset="-122"/>
              </a:rPr>
              <a:t>(</a:t>
            </a:r>
            <a:r>
              <a:rPr lang="zh-CN" altLang="en-US" dirty="0">
                <a:solidFill>
                  <a:srgbClr val="000080"/>
                </a:solidFill>
                <a:latin typeface="黑体" pitchFamily="2" charset="-122"/>
                <a:ea typeface="黑体" pitchFamily="2" charset="-122"/>
              </a:rPr>
              <a:t>如功能分配关系</a:t>
            </a:r>
            <a:r>
              <a:rPr lang="en-US" altLang="zh-CN" dirty="0">
                <a:solidFill>
                  <a:srgbClr val="000080"/>
                </a:solidFill>
                <a:latin typeface="黑体" pitchFamily="2" charset="-122"/>
                <a:ea typeface="黑体" pitchFamily="2" charset="-122"/>
              </a:rPr>
              <a:t>)</a:t>
            </a:r>
            <a:r>
              <a:rPr lang="zh-CN" altLang="en-US" dirty="0">
                <a:solidFill>
                  <a:srgbClr val="000080"/>
                </a:solidFill>
                <a:latin typeface="黑体" pitchFamily="2" charset="-122"/>
                <a:ea typeface="黑体" pitchFamily="2" charset="-122"/>
              </a:rPr>
              <a:t>常随技术发展而变化。</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457200" y="419100"/>
            <a:ext cx="8102600" cy="592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zh-CN" altLang="en-US" dirty="0">
                <a:solidFill>
                  <a:srgbClr val="800000"/>
                </a:solidFill>
                <a:latin typeface="黑体" pitchFamily="2" charset="-122"/>
                <a:ea typeface="黑体" pitchFamily="2" charset="-122"/>
              </a:rPr>
              <a:t>1.1.1 计算机系统的组成 </a:t>
            </a:r>
            <a:endParaRPr lang="zh-CN" altLang="en-US" dirty="0">
              <a:latin typeface="黑体" pitchFamily="2" charset="-122"/>
              <a:ea typeface="黑体" pitchFamily="2" charset="-122"/>
            </a:endParaRPr>
          </a:p>
        </p:txBody>
      </p:sp>
      <p:sp>
        <p:nvSpPr>
          <p:cNvPr id="13315" name="Rectangle 3"/>
          <p:cNvSpPr>
            <a:spLocks noChangeArrowheads="1"/>
          </p:cNvSpPr>
          <p:nvPr/>
        </p:nvSpPr>
        <p:spPr bwMode="auto">
          <a:xfrm>
            <a:off x="838200" y="949325"/>
            <a:ext cx="8305800" cy="505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en-US" altLang="en-US" dirty="0">
                <a:solidFill>
                  <a:srgbClr val="800000"/>
                </a:solidFill>
                <a:latin typeface="黑体" pitchFamily="2" charset="-122"/>
                <a:ea typeface="黑体" pitchFamily="2" charset="-122"/>
              </a:rPr>
              <a:t>5．</a:t>
            </a:r>
            <a:r>
              <a:rPr lang="zh-CN" altLang="en-US" dirty="0">
                <a:solidFill>
                  <a:srgbClr val="800000"/>
                </a:solidFill>
                <a:latin typeface="黑体" pitchFamily="2" charset="-122"/>
                <a:ea typeface="黑体" pitchFamily="2" charset="-122"/>
              </a:rPr>
              <a:t>固件、</a:t>
            </a:r>
            <a:r>
              <a:rPr lang="en-US" altLang="en-US" dirty="0" err="1">
                <a:solidFill>
                  <a:srgbClr val="800000"/>
                </a:solidFill>
                <a:latin typeface="黑体" pitchFamily="2" charset="-122"/>
                <a:ea typeface="黑体" pitchFamily="2" charset="-122"/>
              </a:rPr>
              <a:t>硬件与软件的</a:t>
            </a:r>
            <a:r>
              <a:rPr lang="zh-CN" altLang="en-US" dirty="0">
                <a:solidFill>
                  <a:srgbClr val="800000"/>
                </a:solidFill>
                <a:latin typeface="黑体" pitchFamily="2" charset="-122"/>
                <a:ea typeface="黑体" pitchFamily="2" charset="-122"/>
              </a:rPr>
              <a:t>分界面</a:t>
            </a:r>
            <a:r>
              <a:rPr lang="en-US" altLang="en-US" dirty="0">
                <a:solidFill>
                  <a:srgbClr val="800000"/>
                </a:solidFill>
                <a:latin typeface="黑体" pitchFamily="2" charset="-122"/>
                <a:ea typeface="黑体" pitchFamily="2" charset="-122"/>
              </a:rPr>
              <a:t> </a:t>
            </a:r>
            <a:endParaRPr lang="zh-CN" altLang="en-US" dirty="0">
              <a:solidFill>
                <a:srgbClr val="800000"/>
              </a:solidFill>
              <a:latin typeface="黑体" pitchFamily="2" charset="-122"/>
              <a:ea typeface="黑体" pitchFamily="2" charset="-122"/>
            </a:endParaRPr>
          </a:p>
        </p:txBody>
      </p:sp>
      <p:sp>
        <p:nvSpPr>
          <p:cNvPr id="13316" name="Rectangle 5"/>
          <p:cNvSpPr>
            <a:spLocks noChangeArrowheads="1"/>
          </p:cNvSpPr>
          <p:nvPr/>
        </p:nvSpPr>
        <p:spPr bwMode="auto">
          <a:xfrm>
            <a:off x="588667" y="3819418"/>
            <a:ext cx="8114837" cy="1464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eaLnBrk="0" hangingPunct="0">
              <a:lnSpc>
                <a:spcPct val="130000"/>
              </a:lnSpc>
              <a:spcBef>
                <a:spcPct val="0"/>
              </a:spcBef>
              <a:buClrTx/>
            </a:pPr>
            <a:r>
              <a:rPr lang="zh-CN" altLang="en-US" b="0" dirty="0">
                <a:solidFill>
                  <a:srgbClr val="000080"/>
                </a:solidFill>
                <a:latin typeface="黑体" pitchFamily="2" charset="-122"/>
                <a:ea typeface="黑体" pitchFamily="2" charset="-122"/>
              </a:rPr>
              <a:t>    从设计者角度看，</a:t>
            </a:r>
            <a:r>
              <a:rPr lang="zh-CN" altLang="en-US" b="0" dirty="0">
                <a:solidFill>
                  <a:srgbClr val="FF0000"/>
                </a:solidFill>
                <a:latin typeface="黑体" pitchFamily="2" charset="-122"/>
                <a:ea typeface="黑体" pitchFamily="2" charset="-122"/>
              </a:rPr>
              <a:t>指令系统是硬件与软件之间的界面。</a:t>
            </a:r>
            <a:r>
              <a:rPr lang="zh-CN" altLang="en-US" b="0" dirty="0">
                <a:solidFill>
                  <a:srgbClr val="000080"/>
                </a:solidFill>
                <a:latin typeface="黑体" pitchFamily="2" charset="-122"/>
                <a:ea typeface="黑体" pitchFamily="2" charset="-122"/>
              </a:rPr>
              <a:t>硬件的基本任务是识别与执行指令代码，而程序最终都要转换成指令序列才能执行。</a:t>
            </a:r>
          </a:p>
        </p:txBody>
      </p:sp>
      <p:sp>
        <p:nvSpPr>
          <p:cNvPr id="13317" name="Rectangle 5"/>
          <p:cNvSpPr>
            <a:spLocks noChangeArrowheads="1"/>
          </p:cNvSpPr>
          <p:nvPr/>
        </p:nvSpPr>
        <p:spPr bwMode="auto">
          <a:xfrm>
            <a:off x="675350" y="1911122"/>
            <a:ext cx="7941469" cy="1464633"/>
          </a:xfrm>
          <a:prstGeom prst="rect">
            <a:avLst/>
          </a:prstGeom>
          <a:noFill/>
          <a:ln w="28575">
            <a:solidFill>
              <a:srgbClr val="00008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lgn="just" eaLnBrk="0" hangingPunct="0">
              <a:lnSpc>
                <a:spcPct val="130000"/>
              </a:lnSpc>
              <a:spcBef>
                <a:spcPct val="0"/>
              </a:spcBef>
              <a:buClrTx/>
              <a:buFontTx/>
              <a:buNone/>
            </a:pPr>
            <a:r>
              <a:rPr lang="zh-CN" altLang="en-US" dirty="0">
                <a:solidFill>
                  <a:srgbClr val="FF0000"/>
                </a:solidFill>
                <a:latin typeface="黑体" pitchFamily="2" charset="-122"/>
                <a:ea typeface="黑体" pitchFamily="2" charset="-122"/>
              </a:rPr>
              <a:t>固件（</a:t>
            </a:r>
            <a:r>
              <a:rPr lang="en-US" altLang="zh-CN" dirty="0">
                <a:solidFill>
                  <a:srgbClr val="FF0000"/>
                </a:solidFill>
                <a:latin typeface="黑体" pitchFamily="2" charset="-122"/>
                <a:ea typeface="黑体" pitchFamily="2" charset="-122"/>
              </a:rPr>
              <a:t>Firmware</a:t>
            </a:r>
            <a:r>
              <a:rPr lang="zh-CN" altLang="en-US" dirty="0">
                <a:solidFill>
                  <a:srgbClr val="FF0000"/>
                </a:solidFill>
                <a:latin typeface="黑体" pitchFamily="2" charset="-122"/>
                <a:ea typeface="黑体" pitchFamily="2" charset="-122"/>
              </a:rPr>
              <a:t>）：</a:t>
            </a:r>
            <a:r>
              <a:rPr lang="zh-CN" altLang="en-US" dirty="0">
                <a:solidFill>
                  <a:srgbClr val="000080"/>
                </a:solidFill>
                <a:latin typeface="黑体" pitchFamily="2" charset="-122"/>
                <a:ea typeface="黑体" pitchFamily="2" charset="-122"/>
              </a:rPr>
              <a:t>存储在能永久保存信息的器件（如</a:t>
            </a:r>
            <a:r>
              <a:rPr lang="en-US" altLang="zh-CN" dirty="0">
                <a:solidFill>
                  <a:srgbClr val="000080"/>
                </a:solidFill>
                <a:latin typeface="黑体" pitchFamily="2" charset="-122"/>
                <a:ea typeface="黑体" pitchFamily="2" charset="-122"/>
              </a:rPr>
              <a:t>ROM</a:t>
            </a:r>
            <a:r>
              <a:rPr lang="zh-CN" altLang="en-US" dirty="0">
                <a:solidFill>
                  <a:srgbClr val="000080"/>
                </a:solidFill>
                <a:latin typeface="黑体" pitchFamily="2" charset="-122"/>
                <a:ea typeface="黑体" pitchFamily="2" charset="-122"/>
              </a:rPr>
              <a:t>）中的程序，是具有</a:t>
            </a:r>
            <a:r>
              <a:rPr lang="zh-CN" altLang="en-US" dirty="0">
                <a:solidFill>
                  <a:srgbClr val="FF0000"/>
                </a:solidFill>
                <a:latin typeface="黑体" pitchFamily="2" charset="-122"/>
                <a:ea typeface="黑体" pitchFamily="2" charset="-122"/>
              </a:rPr>
              <a:t>软件功能</a:t>
            </a:r>
            <a:r>
              <a:rPr lang="zh-CN" altLang="en-US" dirty="0">
                <a:solidFill>
                  <a:srgbClr val="000080"/>
                </a:solidFill>
                <a:latin typeface="黑体" pitchFamily="2" charset="-122"/>
                <a:ea typeface="黑体" pitchFamily="2" charset="-122"/>
              </a:rPr>
              <a:t>的</a:t>
            </a:r>
            <a:r>
              <a:rPr lang="zh-CN" altLang="en-US" dirty="0">
                <a:solidFill>
                  <a:srgbClr val="FF0000"/>
                </a:solidFill>
                <a:latin typeface="黑体" pitchFamily="2" charset="-122"/>
                <a:ea typeface="黑体" pitchFamily="2" charset="-122"/>
              </a:rPr>
              <a:t>硬件</a:t>
            </a:r>
            <a:r>
              <a:rPr lang="zh-CN" altLang="en-US" dirty="0">
                <a:solidFill>
                  <a:srgbClr val="000080"/>
                </a:solidFill>
                <a:latin typeface="黑体" pitchFamily="2" charset="-122"/>
                <a:ea typeface="黑体" pitchFamily="2" charset="-122"/>
              </a:rPr>
              <a:t>。其性能介于软硬件之间，其执行速度快于软件，灵活性优于硬件。 </a:t>
            </a:r>
          </a:p>
        </p:txBody>
      </p:sp>
    </p:spTree>
    <p:extLst>
      <p:ext uri="{BB962C8B-B14F-4D97-AF65-F5344CB8AC3E}">
        <p14:creationId xmlns:p14="http://schemas.microsoft.com/office/powerpoint/2010/main" val="2693012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7"/>
          <p:cNvSpPr>
            <a:spLocks noChangeArrowheads="1"/>
          </p:cNvSpPr>
          <p:nvPr/>
        </p:nvSpPr>
        <p:spPr bwMode="auto">
          <a:xfrm>
            <a:off x="838200" y="1565253"/>
            <a:ext cx="7664450" cy="111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0" indent="-1143000" algn="just">
              <a:lnSpc>
                <a:spcPct val="150000"/>
              </a:lnSpc>
              <a:spcBef>
                <a:spcPct val="0"/>
              </a:spcBef>
              <a:buClrTx/>
              <a:buFontTx/>
              <a:buNone/>
            </a:pPr>
            <a:r>
              <a:rPr lang="zh-CN" altLang="en-US" dirty="0">
                <a:solidFill>
                  <a:srgbClr val="FF0000"/>
                </a:solidFill>
                <a:latin typeface="黑体" pitchFamily="2" charset="-122"/>
                <a:ea typeface="黑体" pitchFamily="2" charset="-122"/>
              </a:rPr>
              <a:t>系列机：</a:t>
            </a:r>
            <a:r>
              <a:rPr lang="zh-CN" altLang="en-US" dirty="0">
                <a:solidFill>
                  <a:srgbClr val="000080"/>
                </a:solidFill>
                <a:latin typeface="黑体" pitchFamily="2" charset="-122"/>
                <a:ea typeface="黑体" pitchFamily="2" charset="-122"/>
              </a:rPr>
              <a:t>一个厂家生产的，具有相同的系统结构，但具有不同组成和实现的一系列不同型号的机器。 </a:t>
            </a:r>
            <a:endParaRPr lang="zh-CN" altLang="en-US" b="0" dirty="0">
              <a:solidFill>
                <a:schemeClr val="tx1"/>
              </a:solidFill>
              <a:latin typeface="黑体" pitchFamily="2" charset="-122"/>
              <a:ea typeface="黑体" pitchFamily="2" charset="-122"/>
            </a:endParaRPr>
          </a:p>
        </p:txBody>
      </p:sp>
      <p:grpSp>
        <p:nvGrpSpPr>
          <p:cNvPr id="2" name="Group 8"/>
          <p:cNvGrpSpPr>
            <a:grpSpLocks/>
          </p:cNvGrpSpPr>
          <p:nvPr/>
        </p:nvGrpSpPr>
        <p:grpSpPr bwMode="auto">
          <a:xfrm>
            <a:off x="82551" y="2761599"/>
            <a:ext cx="8464550" cy="3146724"/>
            <a:chOff x="181" y="1739"/>
            <a:chExt cx="5332" cy="1975"/>
          </a:xfrm>
        </p:grpSpPr>
        <p:sp>
          <p:nvSpPr>
            <p:cNvPr id="27653" name="Rectangle 9"/>
            <p:cNvSpPr>
              <a:spLocks noChangeArrowheads="1"/>
            </p:cNvSpPr>
            <p:nvPr/>
          </p:nvSpPr>
          <p:spPr bwMode="auto">
            <a:xfrm>
              <a:off x="181" y="1921"/>
              <a:ext cx="2932" cy="170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marL="342900" indent="-342900" algn="just">
                <a:lnSpc>
                  <a:spcPct val="120000"/>
                </a:lnSpc>
                <a:spcBef>
                  <a:spcPct val="0"/>
                </a:spcBef>
                <a:buClrTx/>
                <a:buFont typeface="Arial" panose="020B0604020202020204" pitchFamily="34" charset="0"/>
                <a:buChar char="•"/>
              </a:pPr>
              <a:r>
                <a:rPr lang="zh-CN" altLang="en-US" dirty="0">
                  <a:solidFill>
                    <a:srgbClr val="000080"/>
                  </a:solidFill>
                  <a:latin typeface="黑体" pitchFamily="2" charset="-122"/>
                  <a:ea typeface="黑体" pitchFamily="2" charset="-122"/>
                </a:rPr>
                <a:t>系列机概念的提出主要是为了解决</a:t>
              </a:r>
              <a:r>
                <a:rPr lang="zh-CN" altLang="en-US" dirty="0">
                  <a:solidFill>
                    <a:srgbClr val="FF0000"/>
                  </a:solidFill>
                  <a:latin typeface="黑体" pitchFamily="2" charset="-122"/>
                  <a:ea typeface="黑体" pitchFamily="2" charset="-122"/>
                </a:rPr>
                <a:t>软件兼容</a:t>
              </a:r>
              <a:r>
                <a:rPr lang="zh-CN" altLang="en-US" dirty="0">
                  <a:solidFill>
                    <a:srgbClr val="000080"/>
                  </a:solidFill>
                  <a:latin typeface="黑体" pitchFamily="2" charset="-122"/>
                  <a:ea typeface="黑体" pitchFamily="2" charset="-122"/>
                </a:rPr>
                <a:t>的问题。 </a:t>
              </a:r>
              <a:endParaRPr lang="en-US" altLang="zh-CN" dirty="0">
                <a:solidFill>
                  <a:srgbClr val="000080"/>
                </a:solidFill>
                <a:latin typeface="黑体" pitchFamily="2" charset="-122"/>
                <a:ea typeface="黑体" pitchFamily="2" charset="-122"/>
              </a:endParaRPr>
            </a:p>
            <a:p>
              <a:pPr marL="342900" indent="-342900" algn="just">
                <a:lnSpc>
                  <a:spcPct val="120000"/>
                </a:lnSpc>
                <a:spcBef>
                  <a:spcPct val="0"/>
                </a:spcBef>
                <a:buClrTx/>
                <a:buFont typeface="Arial" panose="020B0604020202020204" pitchFamily="34" charset="0"/>
                <a:buChar char="•"/>
              </a:pPr>
              <a:r>
                <a:rPr lang="zh-CN" altLang="en-US" dirty="0">
                  <a:solidFill>
                    <a:srgbClr val="000080"/>
                  </a:solidFill>
                  <a:latin typeface="黑体" pitchFamily="2" charset="-122"/>
                  <a:ea typeface="黑体" pitchFamily="2" charset="-122"/>
                </a:rPr>
                <a:t>从程序设计者角度来看，系列机具有相同的</a:t>
              </a:r>
              <a:r>
                <a:rPr lang="zh-CN" altLang="en-US" dirty="0">
                  <a:solidFill>
                    <a:srgbClr val="FF0000"/>
                  </a:solidFill>
                  <a:latin typeface="黑体" pitchFamily="2" charset="-122"/>
                  <a:ea typeface="黑体" pitchFamily="2" charset="-122"/>
                </a:rPr>
                <a:t>机器属性</a:t>
              </a:r>
              <a:r>
                <a:rPr lang="zh-CN" altLang="en-US" dirty="0">
                  <a:solidFill>
                    <a:srgbClr val="000080"/>
                  </a:solidFill>
                  <a:latin typeface="黑体" pitchFamily="2" charset="-122"/>
                  <a:ea typeface="黑体" pitchFamily="2" charset="-122"/>
                </a:rPr>
                <a:t>，按照这个属性编制的机器语言程序能通用于各档次机器。</a:t>
              </a:r>
            </a:p>
          </p:txBody>
        </p:sp>
        <p:graphicFrame>
          <p:nvGraphicFramePr>
            <p:cNvPr id="27654" name="Object 10"/>
            <p:cNvGraphicFramePr>
              <a:graphicFrameLocks noChangeAspect="1"/>
            </p:cNvGraphicFramePr>
            <p:nvPr>
              <p:extLst>
                <p:ext uri="{D42A27DB-BD31-4B8C-83A1-F6EECF244321}">
                  <p14:modId xmlns:p14="http://schemas.microsoft.com/office/powerpoint/2010/main" val="4266100589"/>
                </p:ext>
              </p:extLst>
            </p:nvPr>
          </p:nvGraphicFramePr>
          <p:xfrm>
            <a:off x="3009" y="1739"/>
            <a:ext cx="2504" cy="1975"/>
          </p:xfrm>
          <a:graphic>
            <a:graphicData uri="http://schemas.openxmlformats.org/presentationml/2006/ole">
              <mc:AlternateContent xmlns:mc="http://schemas.openxmlformats.org/markup-compatibility/2006">
                <mc:Choice xmlns:v="urn:schemas-microsoft-com:vml" Requires="v">
                  <p:oleObj name="VISIO" r:id="rId2" imgW="2222500" imgH="1498600" progId="Visio.Drawing.6">
                    <p:embed/>
                  </p:oleObj>
                </mc:Choice>
                <mc:Fallback>
                  <p:oleObj name="VISIO" r:id="rId2" imgW="2222500" imgH="1498600" progId="Visio.Drawing.6">
                    <p:embed/>
                    <p:pic>
                      <p:nvPicPr>
                        <p:cNvPr id="27654"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9" y="1739"/>
                          <a:ext cx="2504" cy="1975"/>
                        </a:xfrm>
                        <a:prstGeom prst="rect">
                          <a:avLst/>
                        </a:prstGeom>
                        <a:noFill/>
                        <a:ln>
                          <a:noFill/>
                        </a:ln>
                        <a:effectLst/>
                      </p:spPr>
                    </p:pic>
                  </p:oleObj>
                </mc:Fallback>
              </mc:AlternateContent>
            </a:graphicData>
          </a:graphic>
        </p:graphicFrame>
      </p:grpSp>
      <p:sp>
        <p:nvSpPr>
          <p:cNvPr id="3" name="Rectangle 2">
            <a:extLst>
              <a:ext uri="{FF2B5EF4-FFF2-40B4-BE49-F238E27FC236}">
                <a16:creationId xmlns:a16="http://schemas.microsoft.com/office/drawing/2014/main" id="{3B4B2698-112D-1ACA-C3A1-15812A0F181F}"/>
              </a:ext>
            </a:extLst>
          </p:cNvPr>
          <p:cNvSpPr>
            <a:spLocks noChangeArrowheads="1"/>
          </p:cNvSpPr>
          <p:nvPr/>
        </p:nvSpPr>
        <p:spPr bwMode="auto">
          <a:xfrm>
            <a:off x="457200" y="419100"/>
            <a:ext cx="8102600" cy="592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zh-CN" altLang="en-US" dirty="0">
                <a:solidFill>
                  <a:srgbClr val="800000"/>
                </a:solidFill>
                <a:latin typeface="黑体" pitchFamily="2" charset="-122"/>
                <a:ea typeface="黑体" pitchFamily="2" charset="-122"/>
              </a:rPr>
              <a:t>1.1.1 计算机系统的组成 </a:t>
            </a:r>
            <a:endParaRPr lang="zh-CN" altLang="en-US" dirty="0">
              <a:latin typeface="黑体" pitchFamily="2" charset="-122"/>
              <a:ea typeface="黑体" pitchFamily="2" charset="-122"/>
            </a:endParaRPr>
          </a:p>
        </p:txBody>
      </p:sp>
      <p:sp>
        <p:nvSpPr>
          <p:cNvPr id="4" name="Rectangle 3">
            <a:extLst>
              <a:ext uri="{FF2B5EF4-FFF2-40B4-BE49-F238E27FC236}">
                <a16:creationId xmlns:a16="http://schemas.microsoft.com/office/drawing/2014/main" id="{109C789D-0764-9B49-34A8-BDBA9DF3378A}"/>
              </a:ext>
            </a:extLst>
          </p:cNvPr>
          <p:cNvSpPr>
            <a:spLocks noChangeArrowheads="1"/>
          </p:cNvSpPr>
          <p:nvPr/>
        </p:nvSpPr>
        <p:spPr bwMode="auto">
          <a:xfrm>
            <a:off x="838200" y="949325"/>
            <a:ext cx="8305800" cy="505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en-US" altLang="en-US" dirty="0">
                <a:solidFill>
                  <a:srgbClr val="800000"/>
                </a:solidFill>
                <a:latin typeface="黑体" pitchFamily="2" charset="-122"/>
                <a:ea typeface="黑体" pitchFamily="2" charset="-122"/>
              </a:rPr>
              <a:t>6．</a:t>
            </a:r>
            <a:r>
              <a:rPr lang="zh-CN" altLang="en-US" dirty="0">
                <a:solidFill>
                  <a:srgbClr val="800000"/>
                </a:solidFill>
                <a:latin typeface="黑体" pitchFamily="2" charset="-122"/>
                <a:ea typeface="黑体" pitchFamily="2" charset="-122"/>
              </a:rPr>
              <a:t>系列机和软件兼容 </a:t>
            </a:r>
          </a:p>
        </p:txBody>
      </p:sp>
    </p:spTree>
    <p:extLst>
      <p:ext uri="{BB962C8B-B14F-4D97-AF65-F5344CB8AC3E}">
        <p14:creationId xmlns:p14="http://schemas.microsoft.com/office/powerpoint/2010/main" val="30563596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5" name="Object 7"/>
          <p:cNvGraphicFramePr>
            <a:graphicFrameLocks noChangeAspect="1"/>
          </p:cNvGraphicFramePr>
          <p:nvPr/>
        </p:nvGraphicFramePr>
        <p:xfrm>
          <a:off x="1955800" y="4084638"/>
          <a:ext cx="4799013" cy="2478087"/>
        </p:xfrm>
        <a:graphic>
          <a:graphicData uri="http://schemas.openxmlformats.org/presentationml/2006/ole">
            <mc:AlternateContent xmlns:mc="http://schemas.openxmlformats.org/markup-compatibility/2006">
              <mc:Choice xmlns:v="urn:schemas-microsoft-com:vml" Requires="v">
                <p:oleObj name="VISIO" r:id="rId2" imgW="2222500" imgH="1498600" progId="Visio.Drawing.6">
                  <p:embed/>
                </p:oleObj>
              </mc:Choice>
              <mc:Fallback>
                <p:oleObj name="VISIO" r:id="rId2" imgW="2222500" imgH="1498600" progId="Visio.Drawing.6">
                  <p:embed/>
                  <p:pic>
                    <p:nvPicPr>
                      <p:cNvPr id="28675"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5800" y="4084638"/>
                        <a:ext cx="4799013" cy="2478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8676" name="Rectangle 9"/>
          <p:cNvSpPr>
            <a:spLocks noChangeArrowheads="1"/>
          </p:cNvSpPr>
          <p:nvPr/>
        </p:nvSpPr>
        <p:spPr bwMode="auto">
          <a:xfrm>
            <a:off x="588481" y="1434534"/>
            <a:ext cx="8128000"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ts val="0"/>
              </a:spcBef>
              <a:spcAft>
                <a:spcPts val="0"/>
              </a:spcAft>
              <a:buClrTx/>
              <a:buFontTx/>
              <a:buNone/>
            </a:pPr>
            <a:r>
              <a:rPr lang="zh-CN" altLang="en-US" dirty="0">
                <a:solidFill>
                  <a:srgbClr val="000080"/>
                </a:solidFill>
                <a:latin typeface="黑体" pitchFamily="2" charset="-122"/>
                <a:ea typeface="黑体" pitchFamily="2" charset="-122"/>
              </a:rPr>
              <a:t>    向上(下)兼容指的是按某档次机器编制的程序，不加修改就能运行在比它更高(低)档的机器上；</a:t>
            </a:r>
          </a:p>
          <a:p>
            <a:pPr algn="just" eaLnBrk="0" hangingPunct="0">
              <a:lnSpc>
                <a:spcPct val="100000"/>
              </a:lnSpc>
              <a:spcBef>
                <a:spcPts val="0"/>
              </a:spcBef>
              <a:spcAft>
                <a:spcPts val="0"/>
              </a:spcAft>
              <a:buClrTx/>
              <a:buFontTx/>
              <a:buNone/>
            </a:pPr>
            <a:r>
              <a:rPr lang="zh-CN" altLang="en-US" dirty="0">
                <a:solidFill>
                  <a:srgbClr val="000080"/>
                </a:solidFill>
                <a:latin typeface="黑体" pitchFamily="2" charset="-122"/>
                <a:ea typeface="黑体" pitchFamily="2" charset="-122"/>
              </a:rPr>
              <a:t>    向后(前)兼容是指按某个时期投入市场的某种型号机器编制的程序，不加修改就能运行在它之后(前)投入市场的机器上。</a:t>
            </a:r>
          </a:p>
          <a:p>
            <a:pPr eaLnBrk="0" hangingPunct="0">
              <a:lnSpc>
                <a:spcPct val="100000"/>
              </a:lnSpc>
              <a:spcBef>
                <a:spcPts val="0"/>
              </a:spcBef>
              <a:spcAft>
                <a:spcPts val="0"/>
              </a:spcAft>
              <a:buClrTx/>
              <a:buFontTx/>
              <a:buNone/>
            </a:pPr>
            <a:r>
              <a:rPr lang="zh-CN" altLang="en-US" dirty="0">
                <a:solidFill>
                  <a:srgbClr val="000080"/>
                </a:solidFill>
                <a:latin typeface="黑体" pitchFamily="2" charset="-122"/>
                <a:ea typeface="黑体" pitchFamily="2" charset="-122"/>
              </a:rPr>
              <a:t>    对系列机软件</a:t>
            </a:r>
            <a:r>
              <a:rPr lang="zh-CN" altLang="en-US" dirty="0">
                <a:solidFill>
                  <a:srgbClr val="FF0000"/>
                </a:solidFill>
                <a:latin typeface="黑体" pitchFamily="2" charset="-122"/>
                <a:ea typeface="黑体" pitchFamily="2" charset="-122"/>
              </a:rPr>
              <a:t>必须保证向后兼容</a:t>
            </a:r>
            <a:r>
              <a:rPr lang="en-US" altLang="zh-CN" dirty="0">
                <a:solidFill>
                  <a:srgbClr val="FF0000"/>
                </a:solidFill>
                <a:latin typeface="黑体" pitchFamily="2" charset="-122"/>
                <a:ea typeface="黑体" pitchFamily="2" charset="-122"/>
              </a:rPr>
              <a:t>,</a:t>
            </a:r>
            <a:r>
              <a:rPr lang="zh-CN" altLang="en-US" dirty="0">
                <a:solidFill>
                  <a:srgbClr val="FF0000"/>
                </a:solidFill>
                <a:latin typeface="黑体" pitchFamily="2" charset="-122"/>
                <a:ea typeface="黑体" pitchFamily="2" charset="-122"/>
              </a:rPr>
              <a:t>力争做到向上兼容。</a:t>
            </a:r>
            <a:r>
              <a:rPr lang="zh-CN" altLang="en-US" dirty="0">
                <a:solidFill>
                  <a:srgbClr val="000080"/>
                </a:solidFill>
                <a:latin typeface="黑体" pitchFamily="2" charset="-122"/>
                <a:ea typeface="黑体" pitchFamily="2" charset="-122"/>
              </a:rPr>
              <a:t>但对向下和向前兼容可以不作要求。</a:t>
            </a:r>
            <a:r>
              <a:rPr lang="zh-CN" altLang="en-US" dirty="0">
                <a:solidFill>
                  <a:schemeClr val="tx1"/>
                </a:solidFill>
                <a:latin typeface="黑体" pitchFamily="2" charset="-122"/>
                <a:ea typeface="黑体" pitchFamily="2" charset="-122"/>
              </a:rPr>
              <a:t> </a:t>
            </a:r>
          </a:p>
        </p:txBody>
      </p:sp>
      <p:sp>
        <p:nvSpPr>
          <p:cNvPr id="2" name="Rectangle 2">
            <a:extLst>
              <a:ext uri="{FF2B5EF4-FFF2-40B4-BE49-F238E27FC236}">
                <a16:creationId xmlns:a16="http://schemas.microsoft.com/office/drawing/2014/main" id="{3D5EB02E-44DB-D4DE-9784-22D48800C970}"/>
              </a:ext>
            </a:extLst>
          </p:cNvPr>
          <p:cNvSpPr>
            <a:spLocks noChangeArrowheads="1"/>
          </p:cNvSpPr>
          <p:nvPr/>
        </p:nvSpPr>
        <p:spPr bwMode="auto">
          <a:xfrm>
            <a:off x="457200" y="357456"/>
            <a:ext cx="8102600" cy="592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zh-CN" altLang="en-US" dirty="0">
                <a:solidFill>
                  <a:srgbClr val="800000"/>
                </a:solidFill>
                <a:latin typeface="黑体" pitchFamily="2" charset="-122"/>
                <a:ea typeface="黑体" pitchFamily="2" charset="-122"/>
              </a:rPr>
              <a:t>1.1.1 计算机系统的组成 </a:t>
            </a:r>
            <a:endParaRPr lang="zh-CN" altLang="en-US" dirty="0">
              <a:latin typeface="黑体" pitchFamily="2" charset="-122"/>
              <a:ea typeface="黑体" pitchFamily="2" charset="-122"/>
            </a:endParaRPr>
          </a:p>
        </p:txBody>
      </p:sp>
      <p:sp>
        <p:nvSpPr>
          <p:cNvPr id="3" name="Rectangle 3">
            <a:extLst>
              <a:ext uri="{FF2B5EF4-FFF2-40B4-BE49-F238E27FC236}">
                <a16:creationId xmlns:a16="http://schemas.microsoft.com/office/drawing/2014/main" id="{D873442C-628F-4BB4-90B7-3B4817ED393D}"/>
              </a:ext>
            </a:extLst>
          </p:cNvPr>
          <p:cNvSpPr>
            <a:spLocks noChangeArrowheads="1"/>
          </p:cNvSpPr>
          <p:nvPr/>
        </p:nvSpPr>
        <p:spPr bwMode="auto">
          <a:xfrm>
            <a:off x="838200" y="887681"/>
            <a:ext cx="8305800" cy="505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en-US" altLang="en-US" dirty="0">
                <a:solidFill>
                  <a:srgbClr val="800000"/>
                </a:solidFill>
                <a:latin typeface="黑体" pitchFamily="2" charset="-122"/>
                <a:ea typeface="黑体" pitchFamily="2" charset="-122"/>
              </a:rPr>
              <a:t>6．</a:t>
            </a:r>
            <a:r>
              <a:rPr lang="zh-CN" altLang="en-US" dirty="0">
                <a:solidFill>
                  <a:srgbClr val="800000"/>
                </a:solidFill>
                <a:latin typeface="黑体" pitchFamily="2" charset="-122"/>
                <a:ea typeface="黑体" pitchFamily="2" charset="-122"/>
              </a:rPr>
              <a:t>系列机和软件兼容 </a:t>
            </a:r>
          </a:p>
        </p:txBody>
      </p:sp>
    </p:spTree>
    <p:extLst>
      <p:ext uri="{BB962C8B-B14F-4D97-AF65-F5344CB8AC3E}">
        <p14:creationId xmlns:p14="http://schemas.microsoft.com/office/powerpoint/2010/main" val="1469533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457200" y="419100"/>
            <a:ext cx="8102600" cy="592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en-US" altLang="zh-CN" dirty="0">
                <a:solidFill>
                  <a:srgbClr val="800000"/>
                </a:solidFill>
                <a:latin typeface="黑体" pitchFamily="2" charset="-122"/>
                <a:ea typeface="黑体" pitchFamily="2" charset="-122"/>
              </a:rPr>
              <a:t>1.1.2 </a:t>
            </a:r>
            <a:r>
              <a:rPr lang="zh-CN" altLang="en-US" dirty="0">
                <a:solidFill>
                  <a:srgbClr val="800000"/>
                </a:solidFill>
                <a:latin typeface="黑体" pitchFamily="2" charset="-122"/>
                <a:ea typeface="黑体" pitchFamily="2" charset="-122"/>
              </a:rPr>
              <a:t>计算机的工作特点 </a:t>
            </a:r>
            <a:endParaRPr lang="zh-CN" altLang="en-US" dirty="0">
              <a:latin typeface="黑体" pitchFamily="2" charset="-122"/>
              <a:ea typeface="黑体" pitchFamily="2" charset="-122"/>
            </a:endParaRPr>
          </a:p>
        </p:txBody>
      </p:sp>
      <p:sp>
        <p:nvSpPr>
          <p:cNvPr id="4" name="Rectangle 3"/>
          <p:cNvSpPr>
            <a:spLocks noChangeArrowheads="1"/>
          </p:cNvSpPr>
          <p:nvPr/>
        </p:nvSpPr>
        <p:spPr bwMode="auto">
          <a:xfrm>
            <a:off x="685800" y="1978025"/>
            <a:ext cx="8458200" cy="1863190"/>
          </a:xfrm>
          <a:prstGeom prst="rect">
            <a:avLst/>
          </a:prstGeom>
          <a:noFill/>
          <a:ln w="9525">
            <a:noFill/>
            <a:miter lim="800000"/>
            <a:headEnd/>
            <a:tailEnd/>
          </a:ln>
        </p:spPr>
        <p:txBody>
          <a:bodyPr tIns="38088" bIns="0">
            <a:spAutoFit/>
          </a:bodyPr>
          <a:lstStyle/>
          <a:p>
            <a:pPr algn="l">
              <a:lnSpc>
                <a:spcPct val="150000"/>
              </a:lnSpc>
              <a:spcBef>
                <a:spcPct val="0"/>
              </a:spcBef>
              <a:buClrTx/>
              <a:buFontTx/>
              <a:buNone/>
            </a:pPr>
            <a:r>
              <a:rPr lang="zh-CN" altLang="en-US" sz="2400" dirty="0">
                <a:solidFill>
                  <a:srgbClr val="800000"/>
                </a:solidFill>
                <a:latin typeface="黑体" pitchFamily="2" charset="-122"/>
                <a:ea typeface="黑体" pitchFamily="2" charset="-122"/>
              </a:rPr>
              <a:t>1．冯·诺依曼体制计算机 </a:t>
            </a:r>
          </a:p>
          <a:p>
            <a:pPr algn="just" eaLnBrk="0" hangingPunct="0">
              <a:lnSpc>
                <a:spcPct val="120000"/>
              </a:lnSpc>
              <a:spcBef>
                <a:spcPct val="0"/>
              </a:spcBef>
              <a:buClrTx/>
            </a:pPr>
            <a:r>
              <a:rPr lang="zh-CN" altLang="en-US" sz="2400" dirty="0">
                <a:solidFill>
                  <a:srgbClr val="000080"/>
                </a:solidFill>
                <a:latin typeface="黑体" pitchFamily="2" charset="-122"/>
                <a:ea typeface="黑体" pitchFamily="2" charset="-122"/>
              </a:rPr>
              <a:t>   按</a:t>
            </a:r>
            <a:r>
              <a:rPr lang="zh-CN" altLang="en-US" sz="2400" dirty="0">
                <a:solidFill>
                  <a:srgbClr val="FF0000"/>
                </a:solidFill>
                <a:latin typeface="黑体" pitchFamily="2" charset="-122"/>
                <a:ea typeface="黑体" pitchFamily="2" charset="-122"/>
              </a:rPr>
              <a:t>存储程序控制方式</a:t>
            </a:r>
            <a:r>
              <a:rPr lang="zh-CN" altLang="en-US" sz="2400" dirty="0">
                <a:solidFill>
                  <a:srgbClr val="000080"/>
                </a:solidFill>
                <a:latin typeface="黑体" pitchFamily="2" charset="-122"/>
                <a:ea typeface="黑体" pitchFamily="2" charset="-122"/>
              </a:rPr>
              <a:t>工作的计算机统称为冯·诺依曼体制计算机。</a:t>
            </a:r>
          </a:p>
          <a:p>
            <a:pPr algn="just" eaLnBrk="0" hangingPunct="0">
              <a:lnSpc>
                <a:spcPct val="120000"/>
              </a:lnSpc>
              <a:spcBef>
                <a:spcPct val="0"/>
              </a:spcBef>
              <a:buClrTx/>
            </a:pPr>
            <a:r>
              <a:rPr lang="zh-CN" altLang="en-US" sz="2400" dirty="0">
                <a:solidFill>
                  <a:srgbClr val="000080"/>
                </a:solidFill>
                <a:latin typeface="黑体" pitchFamily="2" charset="-122"/>
                <a:ea typeface="黑体" pitchFamily="2" charset="-122"/>
              </a:rPr>
              <a:t>   1946年6月由冯·诺依曼等人首次提出</a:t>
            </a:r>
            <a:r>
              <a:rPr lang="zh-CN" altLang="en-US" sz="2200" dirty="0">
                <a:solidFill>
                  <a:srgbClr val="000080"/>
                </a:solidFill>
                <a:latin typeface="黑体" pitchFamily="2" charset="-122"/>
                <a:ea typeface="黑体" pitchFamily="2" charset="-122"/>
              </a:rPr>
              <a:t>。</a:t>
            </a:r>
          </a:p>
        </p:txBody>
      </p:sp>
      <p:sp>
        <p:nvSpPr>
          <p:cNvPr id="5" name="Rectangle 4"/>
          <p:cNvSpPr>
            <a:spLocks noChangeArrowheads="1"/>
          </p:cNvSpPr>
          <p:nvPr/>
        </p:nvSpPr>
        <p:spPr bwMode="auto">
          <a:xfrm>
            <a:off x="546100" y="1092200"/>
            <a:ext cx="8077200"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625475" algn="just" eaLnBrk="0" hangingPunct="0">
              <a:lnSpc>
                <a:spcPct val="120000"/>
              </a:lnSpc>
              <a:spcBef>
                <a:spcPct val="0"/>
              </a:spcBef>
              <a:buClrTx/>
              <a:buFontTx/>
              <a:buNone/>
            </a:pPr>
            <a:r>
              <a:rPr lang="zh-CN" altLang="en-US" sz="2400" dirty="0">
                <a:solidFill>
                  <a:srgbClr val="000080"/>
                </a:solidFill>
                <a:latin typeface="黑体" pitchFamily="2" charset="-122"/>
                <a:ea typeface="黑体" pitchFamily="2" charset="-122"/>
              </a:rPr>
              <a:t>计算机采取事先编制程序、存储程序、自动连续运行程序的工作方式，称为</a:t>
            </a:r>
            <a:r>
              <a:rPr lang="zh-CN" altLang="en-US" sz="2400" dirty="0">
                <a:solidFill>
                  <a:srgbClr val="FF0000"/>
                </a:solidFill>
                <a:latin typeface="黑体" pitchFamily="2" charset="-122"/>
                <a:ea typeface="黑体" pitchFamily="2" charset="-122"/>
              </a:rPr>
              <a:t>存储程序控制方式</a:t>
            </a:r>
            <a:r>
              <a:rPr lang="zh-CN" altLang="en-US" sz="2400" dirty="0">
                <a:solidFill>
                  <a:srgbClr val="CC3300"/>
                </a:solidFill>
                <a:latin typeface="黑体" pitchFamily="2" charset="-122"/>
                <a:ea typeface="黑体" pitchFamily="2" charset="-122"/>
              </a:rPr>
              <a:t>。 </a:t>
            </a:r>
          </a:p>
        </p:txBody>
      </p:sp>
      <p:grpSp>
        <p:nvGrpSpPr>
          <p:cNvPr id="6" name="Group 10"/>
          <p:cNvGrpSpPr>
            <a:grpSpLocks/>
          </p:cNvGrpSpPr>
          <p:nvPr/>
        </p:nvGrpSpPr>
        <p:grpSpPr bwMode="auto">
          <a:xfrm>
            <a:off x="4088258" y="4090824"/>
            <a:ext cx="4471542" cy="2175553"/>
            <a:chOff x="1204" y="2263"/>
            <a:chExt cx="3140" cy="1728"/>
          </a:xfrm>
        </p:grpSpPr>
        <p:graphicFrame>
          <p:nvGraphicFramePr>
            <p:cNvPr id="7" name="Object 8"/>
            <p:cNvGraphicFramePr>
              <a:graphicFrameLocks noChangeAspect="1"/>
            </p:cNvGraphicFramePr>
            <p:nvPr>
              <p:extLst>
                <p:ext uri="{D42A27DB-BD31-4B8C-83A1-F6EECF244321}">
                  <p14:modId xmlns:p14="http://schemas.microsoft.com/office/powerpoint/2010/main" val="2709102677"/>
                </p:ext>
              </p:extLst>
            </p:nvPr>
          </p:nvGraphicFramePr>
          <p:xfrm>
            <a:off x="1204" y="2263"/>
            <a:ext cx="1351" cy="1728"/>
          </p:xfrm>
          <a:graphic>
            <a:graphicData uri="http://schemas.openxmlformats.org/presentationml/2006/ole">
              <mc:AlternateContent xmlns:mc="http://schemas.openxmlformats.org/markup-compatibility/2006">
                <mc:Choice xmlns:v="urn:schemas-microsoft-com:vml" Requires="v">
                  <p:oleObj name="Image" r:id="rId2" imgW="2742857" imgH="3523810" progId="Photoshop.Image.3">
                    <p:embed/>
                  </p:oleObj>
                </mc:Choice>
                <mc:Fallback>
                  <p:oleObj name="Image" r:id="rId2" imgW="2742857" imgH="3523810" progId="Photoshop.Image.3">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4" y="2263"/>
                          <a:ext cx="1351" cy="1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Rectangle 9"/>
            <p:cNvSpPr>
              <a:spLocks noChangeArrowheads="1"/>
            </p:cNvSpPr>
            <p:nvPr/>
          </p:nvSpPr>
          <p:spPr bwMode="auto">
            <a:xfrm>
              <a:off x="2660" y="2603"/>
              <a:ext cx="1684"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defTabSz="762000" eaLnBrk="0" hangingPunct="0">
                <a:lnSpc>
                  <a:spcPct val="100000"/>
                </a:lnSpc>
                <a:spcBef>
                  <a:spcPct val="0"/>
                </a:spcBef>
                <a:buClrTx/>
                <a:buFontTx/>
                <a:buNone/>
              </a:pPr>
              <a:r>
                <a:rPr lang="en-US" altLang="zh-CN" sz="2400" dirty="0">
                  <a:solidFill>
                    <a:srgbClr val="5F5F5F"/>
                  </a:solidFill>
                  <a:latin typeface="黑体" pitchFamily="2" charset="-122"/>
                  <a:ea typeface="黑体" pitchFamily="2" charset="-122"/>
                </a:rPr>
                <a:t>John von Neumann</a:t>
              </a:r>
            </a:p>
            <a:p>
              <a:pPr defTabSz="762000" eaLnBrk="0" hangingPunct="0">
                <a:lnSpc>
                  <a:spcPct val="100000"/>
                </a:lnSpc>
                <a:spcBef>
                  <a:spcPct val="0"/>
                </a:spcBef>
                <a:buClrTx/>
                <a:buFontTx/>
                <a:buNone/>
              </a:pPr>
              <a:r>
                <a:rPr lang="zh-CN" altLang="en-US" sz="2400" dirty="0">
                  <a:solidFill>
                    <a:srgbClr val="5F5F5F"/>
                  </a:solidFill>
                  <a:latin typeface="黑体" pitchFamily="2" charset="-122"/>
                  <a:ea typeface="黑体" pitchFamily="2" charset="-122"/>
                </a:rPr>
                <a:t>冯</a:t>
              </a:r>
              <a:r>
                <a:rPr lang="zh-CN" altLang="en-US" sz="2400" dirty="0">
                  <a:solidFill>
                    <a:srgbClr val="5F5F5F"/>
                  </a:solidFill>
                  <a:latin typeface="黑体" pitchFamily="2" charset="-122"/>
                  <a:ea typeface="黑体" pitchFamily="2" charset="-122"/>
                  <a:sym typeface="Symbol" pitchFamily="18" charset="2"/>
                </a:rPr>
                <a:t></a:t>
              </a:r>
              <a:r>
                <a:rPr lang="zh-CN" altLang="en-US" sz="2400" dirty="0">
                  <a:solidFill>
                    <a:srgbClr val="5F5F5F"/>
                  </a:solidFill>
                  <a:latin typeface="黑体" pitchFamily="2" charset="-122"/>
                  <a:ea typeface="黑体" pitchFamily="2" charset="-122"/>
                </a:rPr>
                <a:t>诺依曼  先生</a:t>
              </a:r>
              <a:endParaRPr lang="zh-CN" altLang="en-US" sz="2400" dirty="0">
                <a:solidFill>
                  <a:schemeClr val="tx1"/>
                </a:solidFill>
                <a:latin typeface="黑体" pitchFamily="2" charset="-122"/>
                <a:ea typeface="黑体" pitchFamily="2" charset="-122"/>
              </a:endParaRPr>
            </a:p>
          </p:txBody>
        </p:sp>
      </p:grpSp>
      <p:pic>
        <p:nvPicPr>
          <p:cNvPr id="3" name="图片 2">
            <a:extLst>
              <a:ext uri="{FF2B5EF4-FFF2-40B4-BE49-F238E27FC236}">
                <a16:creationId xmlns:a16="http://schemas.microsoft.com/office/drawing/2014/main" id="{F9759F5F-C4B1-B6EC-8655-FC6BCB906F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9688" y="4090824"/>
            <a:ext cx="2686188" cy="246392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up)">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p:cNvSpPr>
            <a:spLocks noChangeArrowheads="1"/>
          </p:cNvSpPr>
          <p:nvPr/>
        </p:nvSpPr>
        <p:spPr bwMode="auto">
          <a:xfrm>
            <a:off x="314789" y="1181443"/>
            <a:ext cx="774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pPr>
            <a:r>
              <a:rPr lang="zh-CN" altLang="en-US" dirty="0">
                <a:solidFill>
                  <a:srgbClr val="000080"/>
                </a:solidFill>
                <a:latin typeface="黑体" pitchFamily="2" charset="-122"/>
                <a:ea typeface="黑体" pitchFamily="2" charset="-122"/>
              </a:rPr>
              <a:t> (1) 采用二进制代码表示数据和指令</a:t>
            </a:r>
            <a:endParaRPr lang="zh-CN" altLang="en-US" b="0" dirty="0">
              <a:solidFill>
                <a:srgbClr val="000080"/>
              </a:solidFill>
              <a:latin typeface="黑体" pitchFamily="2" charset="-122"/>
              <a:ea typeface="黑体" pitchFamily="2" charset="-122"/>
            </a:endParaRPr>
          </a:p>
        </p:txBody>
      </p:sp>
      <p:sp>
        <p:nvSpPr>
          <p:cNvPr id="553988" name="Rectangle 4"/>
          <p:cNvSpPr>
            <a:spLocks noChangeArrowheads="1"/>
          </p:cNvSpPr>
          <p:nvPr/>
        </p:nvSpPr>
        <p:spPr bwMode="auto">
          <a:xfrm>
            <a:off x="509499" y="1704073"/>
            <a:ext cx="8509000" cy="1959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50000"/>
              </a:lnSpc>
              <a:spcBef>
                <a:spcPct val="0"/>
              </a:spcBef>
              <a:buClrTx/>
              <a:buFontTx/>
              <a:buNone/>
            </a:pPr>
            <a:r>
              <a:rPr lang="zh-CN" altLang="en-US" dirty="0">
                <a:solidFill>
                  <a:srgbClr val="000080"/>
                </a:solidFill>
                <a:latin typeface="黑体" pitchFamily="2" charset="-122"/>
                <a:ea typeface="黑体" pitchFamily="2" charset="-122"/>
              </a:rPr>
              <a:t>(2) 采用存储程序工作方式 ── </a:t>
            </a:r>
            <a:r>
              <a:rPr lang="zh-CN" altLang="en-US" dirty="0">
                <a:solidFill>
                  <a:srgbClr val="FF0000"/>
                </a:solidFill>
                <a:latin typeface="黑体" pitchFamily="2" charset="-122"/>
                <a:ea typeface="黑体" pitchFamily="2" charset="-122"/>
              </a:rPr>
              <a:t>核心概念</a:t>
            </a:r>
          </a:p>
          <a:p>
            <a:pPr algn="just">
              <a:lnSpc>
                <a:spcPct val="150000"/>
              </a:lnSpc>
              <a:spcBef>
                <a:spcPct val="0"/>
              </a:spcBef>
              <a:buClrTx/>
              <a:buFontTx/>
              <a:buNone/>
            </a:pPr>
            <a:r>
              <a:rPr lang="zh-CN" altLang="en-US" sz="2000" dirty="0">
                <a:solidFill>
                  <a:srgbClr val="000080"/>
                </a:solidFill>
                <a:latin typeface="黑体" pitchFamily="2" charset="-122"/>
                <a:ea typeface="黑体" pitchFamily="2" charset="-122"/>
              </a:rPr>
              <a:t>  ①事先编制程序(根据问题找算法编程序)</a:t>
            </a:r>
          </a:p>
          <a:p>
            <a:pPr algn="just" eaLnBrk="0" hangingPunct="0">
              <a:lnSpc>
                <a:spcPct val="150000"/>
              </a:lnSpc>
              <a:spcBef>
                <a:spcPct val="0"/>
              </a:spcBef>
              <a:buClrTx/>
              <a:buFontTx/>
              <a:buNone/>
            </a:pPr>
            <a:r>
              <a:rPr lang="zh-CN" altLang="en-US" sz="2000" dirty="0">
                <a:solidFill>
                  <a:srgbClr val="000080"/>
                </a:solidFill>
                <a:latin typeface="黑体" pitchFamily="2" charset="-122"/>
                <a:ea typeface="黑体" pitchFamily="2" charset="-122"/>
              </a:rPr>
              <a:t>  ②将程序存储于计算机的存储器中</a:t>
            </a:r>
          </a:p>
          <a:p>
            <a:pPr algn="just" eaLnBrk="0" hangingPunct="0">
              <a:lnSpc>
                <a:spcPct val="150000"/>
              </a:lnSpc>
              <a:spcBef>
                <a:spcPct val="0"/>
              </a:spcBef>
              <a:buClrTx/>
              <a:buFontTx/>
              <a:buNone/>
            </a:pPr>
            <a:r>
              <a:rPr lang="zh-CN" altLang="en-US" sz="2000" dirty="0">
                <a:solidFill>
                  <a:srgbClr val="000080"/>
                </a:solidFill>
                <a:latin typeface="黑体" pitchFamily="2" charset="-122"/>
                <a:ea typeface="黑体" pitchFamily="2" charset="-122"/>
              </a:rPr>
              <a:t>  ③计算机在运行时</a:t>
            </a:r>
            <a:r>
              <a:rPr lang="zh-CN" altLang="en-US" sz="2000" dirty="0">
                <a:solidFill>
                  <a:srgbClr val="FF0000"/>
                </a:solidFill>
                <a:latin typeface="黑体" pitchFamily="2" charset="-122"/>
                <a:ea typeface="黑体" pitchFamily="2" charset="-122"/>
              </a:rPr>
              <a:t>自动地、连续地</a:t>
            </a:r>
            <a:r>
              <a:rPr lang="zh-CN" altLang="en-US" sz="2000" dirty="0">
                <a:solidFill>
                  <a:srgbClr val="000080"/>
                </a:solidFill>
                <a:latin typeface="黑体" pitchFamily="2" charset="-122"/>
                <a:ea typeface="黑体" pitchFamily="2" charset="-122"/>
              </a:rPr>
              <a:t>从存储器中依次取出</a:t>
            </a:r>
            <a:r>
              <a:rPr lang="zh-CN" altLang="en-US" sz="2000" dirty="0">
                <a:solidFill>
                  <a:srgbClr val="FF0000"/>
                </a:solidFill>
                <a:latin typeface="黑体" pitchFamily="2" charset="-122"/>
                <a:ea typeface="黑体" pitchFamily="2" charset="-122"/>
              </a:rPr>
              <a:t>指令</a:t>
            </a:r>
            <a:r>
              <a:rPr lang="zh-CN" altLang="en-US" sz="2000" dirty="0">
                <a:solidFill>
                  <a:srgbClr val="000080"/>
                </a:solidFill>
                <a:latin typeface="黑体" pitchFamily="2" charset="-122"/>
                <a:ea typeface="黑体" pitchFamily="2" charset="-122"/>
              </a:rPr>
              <a:t>加以执行。</a:t>
            </a:r>
          </a:p>
        </p:txBody>
      </p:sp>
      <p:sp>
        <p:nvSpPr>
          <p:cNvPr id="15364" name="Rectangle 6"/>
          <p:cNvSpPr>
            <a:spLocks noChangeArrowheads="1"/>
          </p:cNvSpPr>
          <p:nvPr/>
        </p:nvSpPr>
        <p:spPr bwMode="auto">
          <a:xfrm>
            <a:off x="635000" y="542925"/>
            <a:ext cx="850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pPr>
            <a:r>
              <a:rPr lang="zh-CN" altLang="en-US" dirty="0">
                <a:solidFill>
                  <a:srgbClr val="800000"/>
                </a:solidFill>
                <a:latin typeface="黑体" pitchFamily="2" charset="-122"/>
                <a:ea typeface="黑体" pitchFamily="2" charset="-122"/>
              </a:rPr>
              <a:t>冯·诺依曼体制的要点:</a:t>
            </a:r>
            <a:r>
              <a:rPr lang="zh-CN" altLang="en-US" dirty="0">
                <a:solidFill>
                  <a:srgbClr val="000080"/>
                </a:solidFill>
                <a:latin typeface="黑体" pitchFamily="2" charset="-122"/>
                <a:ea typeface="黑体" pitchFamily="2" charset="-122"/>
              </a:rPr>
              <a:t> </a:t>
            </a:r>
          </a:p>
        </p:txBody>
      </p:sp>
      <p:sp>
        <p:nvSpPr>
          <p:cNvPr id="553992" name="Rectangle 8"/>
          <p:cNvSpPr>
            <a:spLocks noChangeArrowheads="1"/>
          </p:cNvSpPr>
          <p:nvPr/>
        </p:nvSpPr>
        <p:spPr bwMode="auto">
          <a:xfrm>
            <a:off x="850900" y="3728694"/>
            <a:ext cx="7696200" cy="943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792163" algn="just">
              <a:lnSpc>
                <a:spcPct val="150000"/>
              </a:lnSpc>
              <a:spcBef>
                <a:spcPct val="0"/>
              </a:spcBef>
              <a:buClrTx/>
              <a:buFontTx/>
              <a:buNone/>
            </a:pPr>
            <a:r>
              <a:rPr lang="zh-CN" altLang="en-US" sz="2000" dirty="0">
                <a:solidFill>
                  <a:srgbClr val="000080"/>
                </a:solidFill>
                <a:latin typeface="黑体" pitchFamily="2" charset="-122"/>
                <a:ea typeface="黑体" pitchFamily="2" charset="-122"/>
              </a:rPr>
              <a:t>以</a:t>
            </a:r>
            <a:r>
              <a:rPr lang="zh-CN" altLang="en-US" sz="2000" dirty="0">
                <a:solidFill>
                  <a:srgbClr val="FF0000"/>
                </a:solidFill>
                <a:latin typeface="黑体" pitchFamily="2" charset="-122"/>
                <a:ea typeface="黑体" pitchFamily="2" charset="-122"/>
              </a:rPr>
              <a:t>控制流(指令)</a:t>
            </a:r>
            <a:r>
              <a:rPr lang="zh-CN" altLang="en-US" sz="2000" dirty="0">
                <a:solidFill>
                  <a:srgbClr val="000080"/>
                </a:solidFill>
                <a:latin typeface="黑体" pitchFamily="2" charset="-122"/>
                <a:ea typeface="黑体" pitchFamily="2" charset="-122"/>
              </a:rPr>
              <a:t>驱动程序执行，</a:t>
            </a:r>
            <a:r>
              <a:rPr lang="zh-CN" altLang="en-US" sz="2000" dirty="0">
                <a:solidFill>
                  <a:srgbClr val="FF0000"/>
                </a:solidFill>
                <a:latin typeface="黑体" pitchFamily="2" charset="-122"/>
                <a:ea typeface="黑体" pitchFamily="2" charset="-122"/>
              </a:rPr>
              <a:t>信息流(数据流)</a:t>
            </a:r>
            <a:r>
              <a:rPr lang="zh-CN" altLang="en-US" sz="2000" dirty="0">
                <a:solidFill>
                  <a:srgbClr val="000080"/>
                </a:solidFill>
                <a:latin typeface="黑体" pitchFamily="2" charset="-122"/>
                <a:ea typeface="黑体" pitchFamily="2" charset="-122"/>
              </a:rPr>
              <a:t>被动地被调用处理。</a:t>
            </a:r>
          </a:p>
          <a:p>
            <a:pPr indent="-792163" algn="just" eaLnBrk="0" hangingPunct="0">
              <a:lnSpc>
                <a:spcPct val="150000"/>
              </a:lnSpc>
              <a:spcBef>
                <a:spcPct val="0"/>
              </a:spcBef>
              <a:buClrTx/>
              <a:buFontTx/>
              <a:buNone/>
            </a:pPr>
            <a:r>
              <a:rPr lang="zh-CN" altLang="en-US" sz="2000" dirty="0">
                <a:solidFill>
                  <a:srgbClr val="000080"/>
                </a:solidFill>
                <a:latin typeface="黑体" pitchFamily="2" charset="-122"/>
                <a:ea typeface="黑体" pitchFamily="2" charset="-122"/>
              </a:rPr>
              <a:t>用</a:t>
            </a:r>
            <a:r>
              <a:rPr lang="zh-CN" altLang="en-US" sz="2000" dirty="0">
                <a:solidFill>
                  <a:srgbClr val="FF0000"/>
                </a:solidFill>
                <a:latin typeface="黑体" pitchFamily="2" charset="-122"/>
                <a:ea typeface="黑体" pitchFamily="2" charset="-122"/>
              </a:rPr>
              <a:t>程序计数器(</a:t>
            </a:r>
            <a:r>
              <a:rPr lang="en-US" altLang="zh-CN" sz="2000" dirty="0">
                <a:solidFill>
                  <a:srgbClr val="FF0000"/>
                </a:solidFill>
                <a:latin typeface="黑体" pitchFamily="2" charset="-122"/>
                <a:ea typeface="黑体" pitchFamily="2" charset="-122"/>
              </a:rPr>
              <a:t>PC)</a:t>
            </a:r>
            <a:r>
              <a:rPr lang="zh-CN" altLang="en-US" sz="2000" dirty="0">
                <a:solidFill>
                  <a:srgbClr val="000080"/>
                </a:solidFill>
                <a:latin typeface="黑体" pitchFamily="2" charset="-122"/>
                <a:ea typeface="黑体" pitchFamily="2" charset="-122"/>
              </a:rPr>
              <a:t>存放</a:t>
            </a:r>
            <a:r>
              <a:rPr lang="zh-CN" altLang="en-US" sz="2000" dirty="0">
                <a:solidFill>
                  <a:srgbClr val="FF0000"/>
                </a:solidFill>
                <a:latin typeface="黑体" pitchFamily="2" charset="-122"/>
                <a:ea typeface="黑体" pitchFamily="2" charset="-122"/>
              </a:rPr>
              <a:t>当前指令</a:t>
            </a:r>
            <a:r>
              <a:rPr lang="zh-CN" altLang="en-US" sz="2000" dirty="0">
                <a:solidFill>
                  <a:srgbClr val="000080"/>
                </a:solidFill>
                <a:latin typeface="黑体" pitchFamily="2" charset="-122"/>
                <a:ea typeface="黑体" pitchFamily="2" charset="-122"/>
              </a:rPr>
              <a:t>所在存储单元的</a:t>
            </a:r>
            <a:r>
              <a:rPr lang="zh-CN" altLang="en-US" sz="2000" dirty="0">
                <a:solidFill>
                  <a:srgbClr val="FF0000"/>
                </a:solidFill>
                <a:latin typeface="黑体" pitchFamily="2" charset="-122"/>
                <a:ea typeface="黑体" pitchFamily="2" charset="-122"/>
              </a:rPr>
              <a:t>地址</a:t>
            </a:r>
            <a:r>
              <a:rPr lang="zh-CN" altLang="en-US" sz="2000" dirty="0">
                <a:solidFill>
                  <a:srgbClr val="000080"/>
                </a:solidFill>
                <a:latin typeface="黑体" pitchFamily="2" charset="-122"/>
                <a:ea typeface="黑体" pitchFamily="2" charset="-122"/>
              </a:rPr>
              <a:t>。</a:t>
            </a:r>
          </a:p>
        </p:txBody>
      </p:sp>
      <p:sp>
        <p:nvSpPr>
          <p:cNvPr id="553993" name="Rectangle 9"/>
          <p:cNvSpPr>
            <a:spLocks noChangeArrowheads="1"/>
          </p:cNvSpPr>
          <p:nvPr/>
        </p:nvSpPr>
        <p:spPr bwMode="auto">
          <a:xfrm>
            <a:off x="509499" y="4672222"/>
            <a:ext cx="8293100" cy="120032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spcBef>
                <a:spcPct val="0"/>
              </a:spcBef>
              <a:buClrTx/>
              <a:buFontTx/>
              <a:buNone/>
            </a:pPr>
            <a:r>
              <a:rPr lang="zh-CN" altLang="en-US" dirty="0">
                <a:solidFill>
                  <a:srgbClr val="000080"/>
                </a:solidFill>
                <a:latin typeface="黑体" pitchFamily="2" charset="-122"/>
                <a:ea typeface="黑体" pitchFamily="2" charset="-122"/>
              </a:rPr>
              <a:t> (3) 硬件由五大基本部件组成</a:t>
            </a:r>
          </a:p>
          <a:p>
            <a:pPr algn="just" eaLnBrk="0" hangingPunct="0">
              <a:lnSpc>
                <a:spcPct val="150000"/>
              </a:lnSpc>
              <a:spcBef>
                <a:spcPct val="0"/>
              </a:spcBef>
              <a:buClrTx/>
              <a:buFontTx/>
              <a:buNone/>
            </a:pPr>
            <a:r>
              <a:rPr lang="zh-CN" altLang="en-US" dirty="0">
                <a:solidFill>
                  <a:srgbClr val="000080"/>
                </a:solidFill>
                <a:latin typeface="黑体" pitchFamily="2" charset="-122"/>
                <a:ea typeface="黑体" pitchFamily="2" charset="-122"/>
              </a:rPr>
              <a:t>     运算器、控制器、存储器、输入设备和输出设备。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53988"/>
                                        </p:tgtEl>
                                        <p:attrNameLst>
                                          <p:attrName>style.visibility</p:attrName>
                                        </p:attrNameLst>
                                      </p:cBhvr>
                                      <p:to>
                                        <p:strVal val="visible"/>
                                      </p:to>
                                    </p:set>
                                    <p:animEffect transition="in" filter="wipe(up)">
                                      <p:cBhvr>
                                        <p:cTn id="7" dur="500"/>
                                        <p:tgtEl>
                                          <p:spTgt spid="5539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53992"/>
                                        </p:tgtEl>
                                        <p:attrNameLst>
                                          <p:attrName>style.visibility</p:attrName>
                                        </p:attrNameLst>
                                      </p:cBhvr>
                                      <p:to>
                                        <p:strVal val="visible"/>
                                      </p:to>
                                    </p:set>
                                    <p:animEffect transition="in" filter="wipe(up)">
                                      <p:cBhvr>
                                        <p:cTn id="12" dur="500"/>
                                        <p:tgtEl>
                                          <p:spTgt spid="5539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53993"/>
                                        </p:tgtEl>
                                        <p:attrNameLst>
                                          <p:attrName>style.visibility</p:attrName>
                                        </p:attrNameLst>
                                      </p:cBhvr>
                                      <p:to>
                                        <p:strVal val="visible"/>
                                      </p:to>
                                    </p:set>
                                    <p:animEffect transition="in" filter="wipe(up)">
                                      <p:cBhvr>
                                        <p:cTn id="17" dur="500"/>
                                        <p:tgtEl>
                                          <p:spTgt spid="5539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88" grpId="0" autoUpdateAnimBg="0"/>
      <p:bldP spid="553992" grpId="0" autoUpdateAnimBg="0"/>
      <p:bldP spid="553993"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606175" y="421240"/>
            <a:ext cx="8352890" cy="1247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bIns="0">
            <a:spAutoFit/>
          </a:bodyPr>
          <a:lstStyle/>
          <a:p>
            <a:pPr indent="266700">
              <a:lnSpc>
                <a:spcPct val="120000"/>
              </a:lnSpc>
              <a:spcBef>
                <a:spcPct val="0"/>
              </a:spcBef>
              <a:buClrTx/>
              <a:buFontTx/>
              <a:buNone/>
            </a:pPr>
            <a:r>
              <a:rPr lang="en-US" altLang="zh-CN" dirty="0">
                <a:solidFill>
                  <a:srgbClr val="800000"/>
                </a:solidFill>
                <a:latin typeface="黑体" pitchFamily="2" charset="-122"/>
                <a:ea typeface="黑体" pitchFamily="2" charset="-122"/>
              </a:rPr>
              <a:t>2</a:t>
            </a:r>
            <a:r>
              <a:rPr lang="zh-CN" altLang="en-US" dirty="0">
                <a:solidFill>
                  <a:srgbClr val="800000"/>
                </a:solidFill>
                <a:latin typeface="黑体" pitchFamily="2" charset="-122"/>
                <a:ea typeface="黑体" pitchFamily="2" charset="-122"/>
              </a:rPr>
              <a:t>．冯</a:t>
            </a:r>
            <a:r>
              <a:rPr lang="en-US" altLang="zh-CN" dirty="0">
                <a:solidFill>
                  <a:srgbClr val="800000"/>
                </a:solidFill>
                <a:latin typeface="黑体" pitchFamily="2" charset="-122"/>
                <a:ea typeface="黑体" pitchFamily="2" charset="-122"/>
              </a:rPr>
              <a:t>·</a:t>
            </a:r>
            <a:r>
              <a:rPr lang="zh-CN" altLang="en-US" dirty="0">
                <a:solidFill>
                  <a:srgbClr val="800000"/>
                </a:solidFill>
                <a:latin typeface="黑体" pitchFamily="2" charset="-122"/>
                <a:ea typeface="黑体" pitchFamily="2" charset="-122"/>
              </a:rPr>
              <a:t>诺依曼结构和哈佛结构的存储器设计思想</a:t>
            </a:r>
            <a:endParaRPr lang="en-US" altLang="zh-CN" dirty="0">
              <a:solidFill>
                <a:srgbClr val="800000"/>
              </a:solidFill>
              <a:latin typeface="黑体" pitchFamily="2" charset="-122"/>
              <a:ea typeface="黑体" pitchFamily="2" charset="-122"/>
            </a:endParaRPr>
          </a:p>
          <a:p>
            <a:pPr indent="266700">
              <a:lnSpc>
                <a:spcPct val="120000"/>
              </a:lnSpc>
              <a:spcBef>
                <a:spcPct val="0"/>
              </a:spcBef>
              <a:buClrTx/>
              <a:buFontTx/>
              <a:buNone/>
            </a:pPr>
            <a:r>
              <a:rPr lang="zh-CN" altLang="en-US" sz="2200" dirty="0">
                <a:solidFill>
                  <a:srgbClr val="000080"/>
                </a:solidFill>
                <a:latin typeface="黑体" pitchFamily="2" charset="-122"/>
                <a:ea typeface="黑体" pitchFamily="2" charset="-122"/>
              </a:rPr>
              <a:t>根据程序和数据的存放形式，存储器设计思想可分为</a:t>
            </a:r>
            <a:r>
              <a:rPr lang="zh-CN" altLang="en-US" sz="2200" dirty="0">
                <a:solidFill>
                  <a:srgbClr val="FF0000"/>
                </a:solidFill>
                <a:latin typeface="黑体" pitchFamily="2" charset="-122"/>
                <a:ea typeface="黑体" pitchFamily="2" charset="-122"/>
              </a:rPr>
              <a:t>冯</a:t>
            </a:r>
            <a:r>
              <a:rPr lang="en-US" altLang="zh-CN" sz="2200" dirty="0">
                <a:solidFill>
                  <a:srgbClr val="FF0000"/>
                </a:solidFill>
                <a:latin typeface="黑体" pitchFamily="2" charset="-122"/>
                <a:ea typeface="黑体" pitchFamily="2" charset="-122"/>
              </a:rPr>
              <a:t>·</a:t>
            </a:r>
            <a:r>
              <a:rPr lang="zh-CN" altLang="en-US" sz="2200" dirty="0">
                <a:solidFill>
                  <a:srgbClr val="FF0000"/>
                </a:solidFill>
                <a:latin typeface="黑体" pitchFamily="2" charset="-122"/>
                <a:ea typeface="黑体" pitchFamily="2" charset="-122"/>
              </a:rPr>
              <a:t>诺依曼结构</a:t>
            </a:r>
            <a:r>
              <a:rPr lang="zh-CN" altLang="en-US" sz="2200" dirty="0">
                <a:solidFill>
                  <a:srgbClr val="000080"/>
                </a:solidFill>
                <a:latin typeface="黑体" pitchFamily="2" charset="-122"/>
                <a:ea typeface="黑体" pitchFamily="2" charset="-122"/>
              </a:rPr>
              <a:t>和</a:t>
            </a:r>
            <a:r>
              <a:rPr lang="zh-CN" altLang="en-US" sz="2200" dirty="0">
                <a:solidFill>
                  <a:srgbClr val="FF0000"/>
                </a:solidFill>
                <a:latin typeface="黑体" pitchFamily="2" charset="-122"/>
                <a:ea typeface="黑体" pitchFamily="2" charset="-122"/>
              </a:rPr>
              <a:t>哈佛结构</a:t>
            </a:r>
            <a:r>
              <a:rPr lang="zh-CN" altLang="en-US" sz="2200" dirty="0">
                <a:solidFill>
                  <a:srgbClr val="000080"/>
                </a:solidFill>
                <a:latin typeface="黑体" pitchFamily="2" charset="-122"/>
                <a:ea typeface="黑体" pitchFamily="2" charset="-122"/>
              </a:rPr>
              <a:t>。</a:t>
            </a:r>
            <a:endParaRPr lang="en-US" altLang="zh-CN" sz="2200" dirty="0">
              <a:solidFill>
                <a:srgbClr val="FF0000"/>
              </a:solidFill>
              <a:latin typeface="黑体" pitchFamily="2" charset="-122"/>
              <a:ea typeface="黑体" pitchFamily="2" charset="-122"/>
            </a:endParaRPr>
          </a:p>
        </p:txBody>
      </p:sp>
      <p:grpSp>
        <p:nvGrpSpPr>
          <p:cNvPr id="16387" name="Group 4"/>
          <p:cNvGrpSpPr>
            <a:grpSpLocks/>
          </p:cNvGrpSpPr>
          <p:nvPr/>
        </p:nvGrpSpPr>
        <p:grpSpPr bwMode="auto">
          <a:xfrm>
            <a:off x="1640930" y="4109312"/>
            <a:ext cx="5653087" cy="1393825"/>
            <a:chOff x="2175" y="3780"/>
            <a:chExt cx="5794" cy="1332"/>
          </a:xfrm>
        </p:grpSpPr>
        <p:sp>
          <p:nvSpPr>
            <p:cNvPr id="16388" name="Text Box 5"/>
            <p:cNvSpPr txBox="1">
              <a:spLocks noChangeArrowheads="1"/>
            </p:cNvSpPr>
            <p:nvPr/>
          </p:nvSpPr>
          <p:spPr bwMode="auto">
            <a:xfrm>
              <a:off x="5481" y="4380"/>
              <a:ext cx="1756"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spcBef>
                  <a:spcPct val="20000"/>
                </a:spcBef>
              </a:pPr>
              <a:r>
                <a:rPr lang="en-US" altLang="zh-CN" sz="1800">
                  <a:solidFill>
                    <a:srgbClr val="000080"/>
                  </a:solidFill>
                  <a:latin typeface="黑体" pitchFamily="2" charset="-122"/>
                  <a:ea typeface="黑体" pitchFamily="2" charset="-122"/>
                </a:rPr>
                <a:t>DM</a:t>
              </a:r>
              <a:r>
                <a:rPr lang="zh-CN" altLang="en-US" sz="1800">
                  <a:solidFill>
                    <a:srgbClr val="000080"/>
                  </a:solidFill>
                  <a:latin typeface="黑体" pitchFamily="2" charset="-122"/>
                  <a:ea typeface="黑体" pitchFamily="2" charset="-122"/>
                </a:rPr>
                <a:t>地址总线</a:t>
              </a:r>
              <a:endParaRPr lang="zh-CN" altLang="en-US" sz="1800">
                <a:latin typeface="黑体" pitchFamily="2" charset="-122"/>
                <a:ea typeface="黑体" pitchFamily="2" charset="-122"/>
              </a:endParaRPr>
            </a:p>
          </p:txBody>
        </p:sp>
        <p:sp>
          <p:nvSpPr>
            <p:cNvPr id="16389" name="Text Box 6"/>
            <p:cNvSpPr txBox="1">
              <a:spLocks noChangeArrowheads="1"/>
            </p:cNvSpPr>
            <p:nvPr/>
          </p:nvSpPr>
          <p:spPr bwMode="auto">
            <a:xfrm>
              <a:off x="2999" y="4380"/>
              <a:ext cx="1756"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spcBef>
                  <a:spcPct val="20000"/>
                </a:spcBef>
              </a:pPr>
              <a:r>
                <a:rPr lang="en-US" altLang="zh-CN" sz="1800">
                  <a:solidFill>
                    <a:srgbClr val="000080"/>
                  </a:solidFill>
                  <a:latin typeface="黑体" pitchFamily="2" charset="-122"/>
                  <a:ea typeface="黑体" pitchFamily="2" charset="-122"/>
                </a:rPr>
                <a:t>PM</a:t>
              </a:r>
              <a:r>
                <a:rPr lang="zh-CN" altLang="en-US" sz="1800">
                  <a:solidFill>
                    <a:srgbClr val="000080"/>
                  </a:solidFill>
                  <a:latin typeface="黑体" pitchFamily="2" charset="-122"/>
                  <a:ea typeface="黑体" pitchFamily="2" charset="-122"/>
                </a:rPr>
                <a:t>地址总线</a:t>
              </a:r>
              <a:endParaRPr lang="zh-CN" altLang="en-US" sz="1800">
                <a:latin typeface="黑体" pitchFamily="2" charset="-122"/>
                <a:ea typeface="黑体" pitchFamily="2" charset="-122"/>
              </a:endParaRPr>
            </a:p>
          </p:txBody>
        </p:sp>
        <p:sp>
          <p:nvSpPr>
            <p:cNvPr id="16390" name="Text Box 7"/>
            <p:cNvSpPr txBox="1">
              <a:spLocks noChangeArrowheads="1"/>
            </p:cNvSpPr>
            <p:nvPr/>
          </p:nvSpPr>
          <p:spPr bwMode="auto">
            <a:xfrm>
              <a:off x="2175" y="3810"/>
              <a:ext cx="856" cy="1290"/>
            </a:xfrm>
            <a:prstGeom prst="rect">
              <a:avLst/>
            </a:prstGeom>
            <a:solidFill>
              <a:srgbClr val="66FFFF"/>
            </a:solidFill>
            <a:ln w="9525">
              <a:solidFill>
                <a:srgbClr val="000080"/>
              </a:solidFill>
              <a:miter lim="800000"/>
              <a:headEnd/>
              <a:tailEnd/>
            </a:ln>
          </p:spPr>
          <p:txBody>
            <a:bodyPr lIns="0" tIns="0" rIns="0" bIns="0"/>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spcBef>
                  <a:spcPct val="20000"/>
                </a:spcBef>
              </a:pPr>
              <a:endParaRPr lang="zh-CN" altLang="en-US" sz="1800" dirty="0">
                <a:solidFill>
                  <a:srgbClr val="000080"/>
                </a:solidFill>
                <a:latin typeface="黑体" pitchFamily="2" charset="-122"/>
                <a:ea typeface="黑体" pitchFamily="2" charset="-122"/>
              </a:endParaRPr>
            </a:p>
            <a:p>
              <a:pPr algn="ctr" eaLnBrk="1" hangingPunct="1">
                <a:spcBef>
                  <a:spcPct val="20000"/>
                </a:spcBef>
              </a:pPr>
              <a:r>
                <a:rPr lang="zh-CN" altLang="en-US" sz="1800" dirty="0">
                  <a:solidFill>
                    <a:srgbClr val="000080"/>
                  </a:solidFill>
                  <a:latin typeface="黑体" pitchFamily="2" charset="-122"/>
                  <a:ea typeface="黑体" pitchFamily="2" charset="-122"/>
                </a:rPr>
                <a:t>程序</a:t>
              </a:r>
            </a:p>
            <a:p>
              <a:pPr algn="ctr" eaLnBrk="1" hangingPunct="1">
                <a:spcBef>
                  <a:spcPct val="20000"/>
                </a:spcBef>
              </a:pPr>
              <a:r>
                <a:rPr lang="zh-CN" altLang="en-US" sz="1800" dirty="0">
                  <a:solidFill>
                    <a:srgbClr val="000080"/>
                  </a:solidFill>
                  <a:latin typeface="黑体" pitchFamily="2" charset="-122"/>
                  <a:ea typeface="黑体" pitchFamily="2" charset="-122"/>
                </a:rPr>
                <a:t>存储器</a:t>
              </a:r>
              <a:endParaRPr lang="zh-CN" altLang="en-US" sz="1800" dirty="0">
                <a:latin typeface="黑体" pitchFamily="2" charset="-122"/>
                <a:ea typeface="黑体" pitchFamily="2" charset="-122"/>
              </a:endParaRPr>
            </a:p>
          </p:txBody>
        </p:sp>
        <p:sp>
          <p:nvSpPr>
            <p:cNvPr id="16391" name="Text Box 8"/>
            <p:cNvSpPr txBox="1">
              <a:spLocks noChangeArrowheads="1"/>
            </p:cNvSpPr>
            <p:nvPr/>
          </p:nvSpPr>
          <p:spPr bwMode="auto">
            <a:xfrm>
              <a:off x="7113" y="3822"/>
              <a:ext cx="856" cy="1290"/>
            </a:xfrm>
            <a:prstGeom prst="rect">
              <a:avLst/>
            </a:prstGeom>
            <a:solidFill>
              <a:srgbClr val="66FFFF"/>
            </a:solidFill>
            <a:ln w="9525">
              <a:solidFill>
                <a:srgbClr val="000080"/>
              </a:solidFill>
              <a:miter lim="800000"/>
              <a:headEnd/>
              <a:tailEnd/>
            </a:ln>
          </p:spPr>
          <p:txBody>
            <a:bodyPr lIns="0" tIns="0" rIns="0" bIns="0"/>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spcBef>
                  <a:spcPct val="20000"/>
                </a:spcBef>
              </a:pPr>
              <a:endParaRPr lang="zh-CN" altLang="en-US" sz="1800">
                <a:solidFill>
                  <a:srgbClr val="000080"/>
                </a:solidFill>
                <a:latin typeface="黑体" pitchFamily="2" charset="-122"/>
                <a:ea typeface="黑体" pitchFamily="2" charset="-122"/>
              </a:endParaRPr>
            </a:p>
            <a:p>
              <a:pPr algn="ctr" eaLnBrk="1" hangingPunct="1">
                <a:spcBef>
                  <a:spcPct val="20000"/>
                </a:spcBef>
              </a:pPr>
              <a:r>
                <a:rPr lang="zh-CN" altLang="en-US" sz="1800">
                  <a:solidFill>
                    <a:srgbClr val="000080"/>
                  </a:solidFill>
                  <a:latin typeface="黑体" pitchFamily="2" charset="-122"/>
                  <a:ea typeface="黑体" pitchFamily="2" charset="-122"/>
                </a:rPr>
                <a:t>数据</a:t>
              </a:r>
            </a:p>
            <a:p>
              <a:pPr algn="ctr" eaLnBrk="1" hangingPunct="1">
                <a:spcBef>
                  <a:spcPct val="20000"/>
                </a:spcBef>
              </a:pPr>
              <a:r>
                <a:rPr lang="zh-CN" altLang="en-US" sz="1800">
                  <a:solidFill>
                    <a:srgbClr val="000080"/>
                  </a:solidFill>
                  <a:latin typeface="黑体" pitchFamily="2" charset="-122"/>
                  <a:ea typeface="黑体" pitchFamily="2" charset="-122"/>
                </a:rPr>
                <a:t>存储器</a:t>
              </a:r>
              <a:endParaRPr lang="zh-CN" altLang="en-US" sz="1800">
                <a:latin typeface="黑体" pitchFamily="2" charset="-122"/>
                <a:ea typeface="黑体" pitchFamily="2" charset="-122"/>
              </a:endParaRPr>
            </a:p>
          </p:txBody>
        </p:sp>
        <p:sp>
          <p:nvSpPr>
            <p:cNvPr id="16392" name="Text Box 9"/>
            <p:cNvSpPr txBox="1">
              <a:spLocks noChangeArrowheads="1"/>
            </p:cNvSpPr>
            <p:nvPr/>
          </p:nvSpPr>
          <p:spPr bwMode="auto">
            <a:xfrm>
              <a:off x="4647" y="3810"/>
              <a:ext cx="856" cy="1290"/>
            </a:xfrm>
            <a:prstGeom prst="rect">
              <a:avLst/>
            </a:prstGeom>
            <a:solidFill>
              <a:srgbClr val="66FFFF"/>
            </a:solidFill>
            <a:ln w="9525">
              <a:solidFill>
                <a:srgbClr val="000080"/>
              </a:solidFill>
              <a:miter lim="800000"/>
              <a:headEnd/>
              <a:tailEnd/>
            </a:ln>
          </p:spPr>
          <p:txBody>
            <a:bodyPr lIns="0" tIns="0" rIns="0" bIns="0"/>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spcBef>
                  <a:spcPct val="20000"/>
                </a:spcBef>
              </a:pPr>
              <a:endParaRPr lang="zh-CN" altLang="en-US" sz="1800" dirty="0">
                <a:solidFill>
                  <a:srgbClr val="000080"/>
                </a:solidFill>
                <a:latin typeface="黑体" pitchFamily="2" charset="-122"/>
                <a:ea typeface="黑体" pitchFamily="2" charset="-122"/>
              </a:endParaRPr>
            </a:p>
            <a:p>
              <a:pPr algn="ctr" eaLnBrk="1" hangingPunct="1">
                <a:spcBef>
                  <a:spcPct val="20000"/>
                </a:spcBef>
              </a:pPr>
              <a:r>
                <a:rPr lang="en-US" altLang="zh-CN" sz="1800" dirty="0">
                  <a:solidFill>
                    <a:srgbClr val="000080"/>
                  </a:solidFill>
                  <a:latin typeface="黑体" pitchFamily="2" charset="-122"/>
                  <a:ea typeface="黑体" pitchFamily="2" charset="-122"/>
                </a:rPr>
                <a:t>CPU</a:t>
              </a:r>
              <a:endParaRPr lang="en-US" altLang="zh-CN" sz="1800" dirty="0">
                <a:latin typeface="黑体" pitchFamily="2" charset="-122"/>
                <a:ea typeface="黑体" pitchFamily="2" charset="-122"/>
              </a:endParaRPr>
            </a:p>
          </p:txBody>
        </p:sp>
        <p:sp>
          <p:nvSpPr>
            <p:cNvPr id="16393" name="Line 10"/>
            <p:cNvSpPr>
              <a:spLocks noChangeShapeType="1"/>
            </p:cNvSpPr>
            <p:nvPr/>
          </p:nvSpPr>
          <p:spPr bwMode="auto">
            <a:xfrm flipH="1">
              <a:off x="3029" y="4170"/>
              <a:ext cx="1590" cy="0"/>
            </a:xfrm>
            <a:prstGeom prst="line">
              <a:avLst/>
            </a:prstGeom>
            <a:noFill/>
            <a:ln w="38100" cmpd="dbl">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16394" name="Text Box 11"/>
            <p:cNvSpPr txBox="1">
              <a:spLocks noChangeArrowheads="1"/>
            </p:cNvSpPr>
            <p:nvPr/>
          </p:nvSpPr>
          <p:spPr bwMode="auto">
            <a:xfrm>
              <a:off x="2971" y="3780"/>
              <a:ext cx="1756"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spcBef>
                  <a:spcPct val="20000"/>
                </a:spcBef>
              </a:pPr>
              <a:r>
                <a:rPr lang="en-US" altLang="zh-CN" sz="1800">
                  <a:solidFill>
                    <a:srgbClr val="000080"/>
                  </a:solidFill>
                  <a:latin typeface="黑体" pitchFamily="2" charset="-122"/>
                  <a:ea typeface="黑体" pitchFamily="2" charset="-122"/>
                </a:rPr>
                <a:t>PM</a:t>
              </a:r>
              <a:r>
                <a:rPr lang="zh-CN" altLang="en-US" sz="1800">
                  <a:solidFill>
                    <a:srgbClr val="000080"/>
                  </a:solidFill>
                  <a:latin typeface="黑体" pitchFamily="2" charset="-122"/>
                  <a:ea typeface="黑体" pitchFamily="2" charset="-122"/>
                </a:rPr>
                <a:t>地址总线</a:t>
              </a:r>
              <a:endParaRPr lang="zh-CN" altLang="en-US" sz="1800">
                <a:latin typeface="黑体" pitchFamily="2" charset="-122"/>
                <a:ea typeface="黑体" pitchFamily="2" charset="-122"/>
              </a:endParaRPr>
            </a:p>
          </p:txBody>
        </p:sp>
        <p:sp>
          <p:nvSpPr>
            <p:cNvPr id="16395" name="Line 12"/>
            <p:cNvSpPr>
              <a:spLocks noChangeShapeType="1"/>
            </p:cNvSpPr>
            <p:nvPr/>
          </p:nvSpPr>
          <p:spPr bwMode="auto">
            <a:xfrm flipH="1">
              <a:off x="3031" y="4785"/>
              <a:ext cx="1590" cy="0"/>
            </a:xfrm>
            <a:prstGeom prst="line">
              <a:avLst/>
            </a:prstGeom>
            <a:noFill/>
            <a:ln w="38100" cmpd="dbl">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16396" name="Line 13"/>
            <p:cNvSpPr>
              <a:spLocks noChangeShapeType="1"/>
            </p:cNvSpPr>
            <p:nvPr/>
          </p:nvSpPr>
          <p:spPr bwMode="auto">
            <a:xfrm flipH="1">
              <a:off x="5511" y="4170"/>
              <a:ext cx="1590" cy="0"/>
            </a:xfrm>
            <a:prstGeom prst="line">
              <a:avLst/>
            </a:prstGeom>
            <a:noFill/>
            <a:ln w="38100" cmpd="dbl">
              <a:solidFill>
                <a:srgbClr val="000080"/>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16397" name="Text Box 14"/>
            <p:cNvSpPr txBox="1">
              <a:spLocks noChangeArrowheads="1"/>
            </p:cNvSpPr>
            <p:nvPr/>
          </p:nvSpPr>
          <p:spPr bwMode="auto">
            <a:xfrm>
              <a:off x="5453" y="3780"/>
              <a:ext cx="1756" cy="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spcBef>
                  <a:spcPct val="20000"/>
                </a:spcBef>
              </a:pPr>
              <a:r>
                <a:rPr lang="en-US" altLang="zh-CN" sz="1800">
                  <a:solidFill>
                    <a:srgbClr val="000080"/>
                  </a:solidFill>
                  <a:latin typeface="黑体" pitchFamily="2" charset="-122"/>
                  <a:ea typeface="黑体" pitchFamily="2" charset="-122"/>
                </a:rPr>
                <a:t>DM</a:t>
              </a:r>
              <a:r>
                <a:rPr lang="zh-CN" altLang="en-US" sz="1800">
                  <a:solidFill>
                    <a:srgbClr val="000080"/>
                  </a:solidFill>
                  <a:latin typeface="黑体" pitchFamily="2" charset="-122"/>
                  <a:ea typeface="黑体" pitchFamily="2" charset="-122"/>
                </a:rPr>
                <a:t>地址总线</a:t>
              </a:r>
              <a:endParaRPr lang="zh-CN" altLang="en-US" sz="1800">
                <a:latin typeface="黑体" pitchFamily="2" charset="-122"/>
                <a:ea typeface="黑体" pitchFamily="2" charset="-122"/>
              </a:endParaRPr>
            </a:p>
          </p:txBody>
        </p:sp>
        <p:sp>
          <p:nvSpPr>
            <p:cNvPr id="16398" name="Line 15"/>
            <p:cNvSpPr>
              <a:spLocks noChangeShapeType="1"/>
            </p:cNvSpPr>
            <p:nvPr/>
          </p:nvSpPr>
          <p:spPr bwMode="auto">
            <a:xfrm flipH="1">
              <a:off x="5503" y="4785"/>
              <a:ext cx="1590" cy="0"/>
            </a:xfrm>
            <a:prstGeom prst="line">
              <a:avLst/>
            </a:prstGeom>
            <a:noFill/>
            <a:ln w="38100" cmpd="dbl">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grpSp>
      <p:sp>
        <p:nvSpPr>
          <p:cNvPr id="2" name="文本框 1">
            <a:extLst>
              <a:ext uri="{FF2B5EF4-FFF2-40B4-BE49-F238E27FC236}">
                <a16:creationId xmlns:a16="http://schemas.microsoft.com/office/drawing/2014/main" id="{C052C4FB-B3D1-B406-B2A8-C3624A21E76A}"/>
              </a:ext>
            </a:extLst>
          </p:cNvPr>
          <p:cNvSpPr txBox="1"/>
          <p:nvPr/>
        </p:nvSpPr>
        <p:spPr>
          <a:xfrm>
            <a:off x="1934556" y="2524878"/>
            <a:ext cx="4941870" cy="424732"/>
          </a:xfrm>
          <a:prstGeom prst="rect">
            <a:avLst/>
          </a:prstGeom>
          <a:noFill/>
          <a:ln>
            <a:solidFill>
              <a:schemeClr val="tx1"/>
            </a:solidFill>
          </a:ln>
        </p:spPr>
        <p:txBody>
          <a:bodyPr wrap="square" rtlCol="0">
            <a:spAutoFit/>
          </a:bodyPr>
          <a:lstStyle/>
          <a:p>
            <a:r>
              <a:rPr lang="zh-CN" altLang="en-US" sz="240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黑体" pitchFamily="2" charset="-122"/>
                <a:ea typeface="黑体" pitchFamily="2" charset="-122"/>
              </a:rPr>
              <a:t>？</a:t>
            </a:r>
            <a:r>
              <a:rPr lang="zh-CN" altLang="en-US" sz="2400" dirty="0">
                <a:solidFill>
                  <a:srgbClr val="FF0000"/>
                </a:solidFill>
                <a:latin typeface="黑体" pitchFamily="2" charset="-122"/>
                <a:ea typeface="黑体" pitchFamily="2" charset="-122"/>
              </a:rPr>
              <a:t>思考：</a:t>
            </a:r>
            <a:r>
              <a:rPr lang="zh-CN" altLang="en-US" dirty="0">
                <a:solidFill>
                  <a:srgbClr val="000080"/>
                </a:solidFill>
                <a:latin typeface="黑体" pitchFamily="2" charset="-122"/>
                <a:ea typeface="黑体" pitchFamily="2" charset="-122"/>
              </a:rPr>
              <a:t>如何区别指令和数据?</a:t>
            </a:r>
            <a:endParaRPr lang="zh-CN" altLang="en-US" dirty="0"/>
          </a:p>
        </p:txBody>
      </p:sp>
      <p:sp>
        <p:nvSpPr>
          <p:cNvPr id="4" name="Rectangle 2">
            <a:extLst>
              <a:ext uri="{FF2B5EF4-FFF2-40B4-BE49-F238E27FC236}">
                <a16:creationId xmlns:a16="http://schemas.microsoft.com/office/drawing/2014/main" id="{BB9D0F1E-4B7F-F9C2-845C-C47E9C400236}"/>
              </a:ext>
            </a:extLst>
          </p:cNvPr>
          <p:cNvSpPr>
            <a:spLocks noChangeArrowheads="1"/>
          </p:cNvSpPr>
          <p:nvPr/>
        </p:nvSpPr>
        <p:spPr bwMode="auto">
          <a:xfrm>
            <a:off x="554804" y="2985244"/>
            <a:ext cx="8455632" cy="1998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bIns="0">
            <a:spAutoFit/>
          </a:bodyPr>
          <a:lstStyle/>
          <a:p>
            <a:pPr marL="342900" indent="-342900" algn="just" eaLnBrk="0" hangingPunct="0">
              <a:lnSpc>
                <a:spcPct val="150000"/>
              </a:lnSpc>
              <a:spcBef>
                <a:spcPct val="0"/>
              </a:spcBef>
              <a:buClrTx/>
              <a:buFont typeface="Arial" panose="020B0604020202020204" pitchFamily="34" charset="0"/>
              <a:buChar char="•"/>
            </a:pPr>
            <a:r>
              <a:rPr lang="zh-CN" altLang="en-US" sz="2200" dirty="0">
                <a:solidFill>
                  <a:srgbClr val="FF0000"/>
                </a:solidFill>
                <a:latin typeface="黑体" pitchFamily="2" charset="-122"/>
                <a:ea typeface="黑体" pitchFamily="2" charset="-122"/>
              </a:rPr>
              <a:t>哈佛结构</a:t>
            </a:r>
            <a:r>
              <a:rPr lang="en-US" altLang="zh-CN" sz="2200" dirty="0"/>
              <a:t>—</a:t>
            </a:r>
            <a:r>
              <a:rPr lang="zh-CN" altLang="en-US" sz="2200" dirty="0">
                <a:solidFill>
                  <a:srgbClr val="000080"/>
                </a:solidFill>
                <a:latin typeface="黑体" pitchFamily="2" charset="-122"/>
                <a:ea typeface="黑体" pitchFamily="2" charset="-122"/>
              </a:rPr>
              <a:t>指令和数据的存储是分开的；程序总线和数据总线分离；指令和数据可以有不同的数据宽度。</a:t>
            </a:r>
          </a:p>
          <a:p>
            <a:pPr indent="266700" algn="just" eaLnBrk="0" hangingPunct="0">
              <a:lnSpc>
                <a:spcPct val="150000"/>
              </a:lnSpc>
              <a:spcBef>
                <a:spcPct val="0"/>
              </a:spcBef>
              <a:buClrTx/>
              <a:buFontTx/>
              <a:buNone/>
            </a:pPr>
            <a:endParaRPr lang="zh-CN" altLang="en-US" sz="2200" dirty="0">
              <a:solidFill>
                <a:srgbClr val="000080"/>
              </a:solidFill>
              <a:latin typeface="黑体" pitchFamily="2" charset="-122"/>
              <a:ea typeface="黑体" pitchFamily="2" charset="-122"/>
            </a:endParaRPr>
          </a:p>
          <a:p>
            <a:pPr indent="266700" algn="just" eaLnBrk="0" hangingPunct="0">
              <a:lnSpc>
                <a:spcPct val="150000"/>
              </a:lnSpc>
              <a:spcBef>
                <a:spcPct val="0"/>
              </a:spcBef>
              <a:buClrTx/>
              <a:buFontTx/>
              <a:buNone/>
            </a:pPr>
            <a:endParaRPr lang="zh-CN" altLang="en-US" sz="2200" dirty="0">
              <a:solidFill>
                <a:srgbClr val="000080"/>
              </a:solidFill>
              <a:latin typeface="黑体" pitchFamily="2" charset="-122"/>
              <a:ea typeface="黑体" pitchFamily="2" charset="-122"/>
            </a:endParaRPr>
          </a:p>
        </p:txBody>
      </p:sp>
      <p:sp>
        <p:nvSpPr>
          <p:cNvPr id="5" name="Rectangle 2">
            <a:extLst>
              <a:ext uri="{FF2B5EF4-FFF2-40B4-BE49-F238E27FC236}">
                <a16:creationId xmlns:a16="http://schemas.microsoft.com/office/drawing/2014/main" id="{2E72E509-9A2F-6D6A-DCCB-E71B1054DC40}"/>
              </a:ext>
            </a:extLst>
          </p:cNvPr>
          <p:cNvSpPr>
            <a:spLocks noChangeArrowheads="1"/>
          </p:cNvSpPr>
          <p:nvPr/>
        </p:nvSpPr>
        <p:spPr bwMode="auto">
          <a:xfrm>
            <a:off x="462337" y="5525177"/>
            <a:ext cx="8363163" cy="8047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bIns="0">
            <a:spAutoFit/>
          </a:bodyPr>
          <a:lstStyle/>
          <a:p>
            <a:pPr marL="342900" indent="-342900" algn="just" eaLnBrk="0" hangingPunct="0">
              <a:lnSpc>
                <a:spcPct val="120000"/>
              </a:lnSpc>
              <a:spcBef>
                <a:spcPct val="0"/>
              </a:spcBef>
              <a:buClrTx/>
              <a:buFont typeface="Arial" panose="020B0604020202020204" pitchFamily="34" charset="0"/>
              <a:buChar char="•"/>
            </a:pPr>
            <a:r>
              <a:rPr lang="zh-CN" altLang="en-US" sz="2200" dirty="0">
                <a:solidFill>
                  <a:srgbClr val="FF0000"/>
                </a:solidFill>
                <a:latin typeface="黑体" pitchFamily="2" charset="-122"/>
                <a:ea typeface="黑体" pitchFamily="2" charset="-122"/>
              </a:rPr>
              <a:t>二者结合的结构</a:t>
            </a:r>
            <a:r>
              <a:rPr lang="en-US" altLang="zh-CN" sz="2200" dirty="0">
                <a:solidFill>
                  <a:srgbClr val="000080"/>
                </a:solidFill>
                <a:latin typeface="黑体" pitchFamily="2" charset="-122"/>
                <a:ea typeface="黑体" pitchFamily="2" charset="-122"/>
              </a:rPr>
              <a:t>—</a:t>
            </a:r>
            <a:r>
              <a:rPr lang="zh-CN" altLang="en-US" sz="2200" dirty="0">
                <a:solidFill>
                  <a:srgbClr val="000080"/>
                </a:solidFill>
                <a:latin typeface="黑体" pitchFamily="2" charset="-122"/>
                <a:ea typeface="黑体" pitchFamily="2" charset="-122"/>
              </a:rPr>
              <a:t>许多现代微型计算机中的</a:t>
            </a:r>
            <a:r>
              <a:rPr lang="en-US" altLang="zh-CN" sz="2200" dirty="0">
                <a:solidFill>
                  <a:srgbClr val="000080"/>
                </a:solidFill>
                <a:latin typeface="黑体" pitchFamily="2" charset="-122"/>
                <a:ea typeface="黑体" pitchFamily="2" charset="-122"/>
              </a:rPr>
              <a:t>Cache</a:t>
            </a:r>
            <a:r>
              <a:rPr lang="zh-CN" altLang="en-US" sz="2200" dirty="0">
                <a:solidFill>
                  <a:srgbClr val="000080"/>
                </a:solidFill>
                <a:latin typeface="黑体" pitchFamily="2" charset="-122"/>
                <a:ea typeface="黑体" pitchFamily="2" charset="-122"/>
              </a:rPr>
              <a:t>采用哈佛结构，主存储器采用冯</a:t>
            </a:r>
            <a:r>
              <a:rPr lang="en-US" altLang="zh-CN" sz="2200" dirty="0">
                <a:solidFill>
                  <a:srgbClr val="000080"/>
                </a:solidFill>
                <a:latin typeface="黑体" pitchFamily="2" charset="-122"/>
                <a:ea typeface="黑体" pitchFamily="2" charset="-122"/>
              </a:rPr>
              <a:t>·</a:t>
            </a:r>
            <a:r>
              <a:rPr lang="zh-CN" altLang="en-US" sz="2200" dirty="0">
                <a:solidFill>
                  <a:srgbClr val="000080"/>
                </a:solidFill>
                <a:latin typeface="黑体" pitchFamily="2" charset="-122"/>
                <a:ea typeface="黑体" pitchFamily="2" charset="-122"/>
              </a:rPr>
              <a:t>诺依曼结构。</a:t>
            </a:r>
          </a:p>
        </p:txBody>
      </p:sp>
      <p:sp>
        <p:nvSpPr>
          <p:cNvPr id="6" name="Rectangle 2">
            <a:extLst>
              <a:ext uri="{FF2B5EF4-FFF2-40B4-BE49-F238E27FC236}">
                <a16:creationId xmlns:a16="http://schemas.microsoft.com/office/drawing/2014/main" id="{DAC3E4AB-1B7D-AF15-1763-265F4BF5C3C3}"/>
              </a:ext>
            </a:extLst>
          </p:cNvPr>
          <p:cNvSpPr>
            <a:spLocks noChangeArrowheads="1"/>
          </p:cNvSpPr>
          <p:nvPr/>
        </p:nvSpPr>
        <p:spPr bwMode="auto">
          <a:xfrm>
            <a:off x="554804" y="1582241"/>
            <a:ext cx="8352890" cy="121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bIns="0">
            <a:spAutoFit/>
          </a:bodyPr>
          <a:lstStyle/>
          <a:p>
            <a:pPr marL="342900" indent="-342900">
              <a:lnSpc>
                <a:spcPct val="120000"/>
              </a:lnSpc>
              <a:spcBef>
                <a:spcPct val="0"/>
              </a:spcBef>
              <a:buClrTx/>
              <a:buFont typeface="Arial" panose="020B0604020202020204" pitchFamily="34" charset="0"/>
              <a:buChar char="•"/>
            </a:pPr>
            <a:r>
              <a:rPr lang="zh-CN" altLang="en-US" sz="2200" dirty="0">
                <a:solidFill>
                  <a:srgbClr val="FF0000"/>
                </a:solidFill>
                <a:latin typeface="黑体" pitchFamily="2" charset="-122"/>
                <a:ea typeface="黑体" pitchFamily="2" charset="-122"/>
              </a:rPr>
              <a:t>冯</a:t>
            </a:r>
            <a:r>
              <a:rPr lang="en-US" altLang="zh-CN" sz="2200" dirty="0">
                <a:solidFill>
                  <a:srgbClr val="FF0000"/>
                </a:solidFill>
                <a:latin typeface="黑体" pitchFamily="2" charset="-122"/>
                <a:ea typeface="黑体" pitchFamily="2" charset="-122"/>
              </a:rPr>
              <a:t>·</a:t>
            </a:r>
            <a:r>
              <a:rPr lang="zh-CN" altLang="en-US" sz="2200" dirty="0">
                <a:solidFill>
                  <a:srgbClr val="FF0000"/>
                </a:solidFill>
                <a:latin typeface="黑体" pitchFamily="2" charset="-122"/>
                <a:ea typeface="黑体" pitchFamily="2" charset="-122"/>
              </a:rPr>
              <a:t>诺依曼结构</a:t>
            </a:r>
            <a:r>
              <a:rPr lang="en-US" altLang="zh-CN" sz="2200" dirty="0">
                <a:solidFill>
                  <a:srgbClr val="FF0000"/>
                </a:solidFill>
                <a:latin typeface="黑体" pitchFamily="2" charset="-122"/>
                <a:ea typeface="黑体" pitchFamily="2" charset="-122"/>
              </a:rPr>
              <a:t>(</a:t>
            </a:r>
            <a:r>
              <a:rPr lang="zh-CN" altLang="en-US" sz="2200" dirty="0">
                <a:solidFill>
                  <a:srgbClr val="FF0000"/>
                </a:solidFill>
                <a:latin typeface="黑体" pitchFamily="2" charset="-122"/>
                <a:ea typeface="黑体" pitchFamily="2" charset="-122"/>
              </a:rPr>
              <a:t>普林斯顿结构</a:t>
            </a:r>
            <a:r>
              <a:rPr lang="en-US" altLang="zh-CN" sz="2200" dirty="0">
                <a:solidFill>
                  <a:srgbClr val="FF0000"/>
                </a:solidFill>
                <a:latin typeface="黑体" pitchFamily="2" charset="-122"/>
                <a:ea typeface="黑体" pitchFamily="2" charset="-122"/>
              </a:rPr>
              <a:t>)</a:t>
            </a:r>
            <a:r>
              <a:rPr lang="en-US" altLang="zh-CN" sz="2200" dirty="0">
                <a:solidFill>
                  <a:srgbClr val="000080"/>
                </a:solidFill>
                <a:latin typeface="黑体" pitchFamily="2" charset="-122"/>
                <a:ea typeface="黑体" pitchFamily="2" charset="-122"/>
              </a:rPr>
              <a:t>—</a:t>
            </a:r>
            <a:r>
              <a:rPr lang="zh-CN" altLang="en-US" sz="2200" dirty="0">
                <a:solidFill>
                  <a:srgbClr val="000080"/>
                </a:solidFill>
                <a:latin typeface="黑体" pitchFamily="2" charset="-122"/>
                <a:ea typeface="黑体" pitchFamily="2" charset="-122"/>
              </a:rPr>
              <a:t>指令和数据混合存储在同一个存储器中，共享数据总线，指令和数据的宽度相同。</a:t>
            </a:r>
            <a:endParaRPr lang="en-US" altLang="zh-CN" sz="2200" dirty="0">
              <a:solidFill>
                <a:srgbClr val="000080"/>
              </a:solidFill>
              <a:latin typeface="黑体" pitchFamily="2" charset="-122"/>
              <a:ea typeface="黑体" pitchFamily="2" charset="-122"/>
            </a:endParaRPr>
          </a:p>
          <a:p>
            <a:pPr indent="266700" algn="just" eaLnBrk="0" hangingPunct="0">
              <a:lnSpc>
                <a:spcPct val="120000"/>
              </a:lnSpc>
              <a:spcBef>
                <a:spcPct val="0"/>
              </a:spcBef>
              <a:buClrTx/>
              <a:buFontTx/>
              <a:buNone/>
            </a:pPr>
            <a:r>
              <a:rPr lang="zh-CN" altLang="en-US" sz="2200" dirty="0">
                <a:latin typeface="黑体" pitchFamily="2" charset="-122"/>
                <a:ea typeface="黑体" pitchFamily="2" charset="-122"/>
              </a:rPr>
              <a:t> </a:t>
            </a:r>
            <a:endParaRPr lang="en-US" altLang="zh-CN" sz="2200" dirty="0">
              <a:solidFill>
                <a:srgbClr val="FF0000"/>
              </a:solidFill>
              <a:latin typeface="黑体" pitchFamily="2" charset="-122"/>
              <a:ea typeface="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5"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330200" y="425450"/>
            <a:ext cx="8813800" cy="530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indent="266700">
              <a:lnSpc>
                <a:spcPct val="150000"/>
              </a:lnSpc>
              <a:spcBef>
                <a:spcPct val="0"/>
              </a:spcBef>
              <a:buClrTx/>
              <a:buFontTx/>
              <a:buNone/>
            </a:pPr>
            <a:r>
              <a:rPr lang="en-US" altLang="zh-CN" dirty="0">
                <a:solidFill>
                  <a:srgbClr val="800000"/>
                </a:solidFill>
                <a:latin typeface="黑体" pitchFamily="2" charset="-122"/>
                <a:ea typeface="黑体" pitchFamily="2" charset="-122"/>
              </a:rPr>
              <a:t>3</a:t>
            </a:r>
            <a:r>
              <a:rPr lang="zh-CN" altLang="en-US" dirty="0">
                <a:solidFill>
                  <a:srgbClr val="800000"/>
                </a:solidFill>
                <a:latin typeface="黑体" pitchFamily="2" charset="-122"/>
                <a:ea typeface="黑体" pitchFamily="2" charset="-122"/>
              </a:rPr>
              <a:t>．计算机的工作过程示意</a:t>
            </a:r>
            <a:r>
              <a:rPr lang="en-US" altLang="zh-CN" dirty="0">
                <a:solidFill>
                  <a:srgbClr val="000080"/>
                </a:solidFill>
                <a:latin typeface="黑体" pitchFamily="2" charset="-122"/>
                <a:ea typeface="黑体" pitchFamily="2" charset="-122"/>
              </a:rPr>
              <a:t>—</a:t>
            </a:r>
            <a:r>
              <a:rPr lang="zh-CN" altLang="en-US" dirty="0">
                <a:solidFill>
                  <a:srgbClr val="000080"/>
                </a:solidFill>
                <a:latin typeface="黑体" pitchFamily="2" charset="-122"/>
                <a:ea typeface="黑体" pitchFamily="2" charset="-122"/>
              </a:rPr>
              <a:t>以运行</a:t>
            </a:r>
            <a:r>
              <a:rPr lang="en-US" altLang="zh-CN" dirty="0">
                <a:solidFill>
                  <a:srgbClr val="000080"/>
                </a:solidFill>
                <a:latin typeface="黑体" pitchFamily="2" charset="-122"/>
                <a:ea typeface="黑体" pitchFamily="2" charset="-122"/>
              </a:rPr>
              <a:t>hello</a:t>
            </a:r>
            <a:r>
              <a:rPr lang="zh-CN" altLang="en-US" dirty="0">
                <a:solidFill>
                  <a:srgbClr val="000080"/>
                </a:solidFill>
                <a:latin typeface="黑体" pitchFamily="2" charset="-122"/>
                <a:ea typeface="黑体" pitchFamily="2" charset="-122"/>
              </a:rPr>
              <a:t>程序为例</a:t>
            </a:r>
          </a:p>
        </p:txBody>
      </p:sp>
      <p:pic>
        <p:nvPicPr>
          <p:cNvPr id="5" name="图片 4">
            <a:extLst>
              <a:ext uri="{FF2B5EF4-FFF2-40B4-BE49-F238E27FC236}">
                <a16:creationId xmlns:a16="http://schemas.microsoft.com/office/drawing/2014/main" id="{EA1526CA-3B46-57A6-6B19-056DD7426C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4471" y="1196212"/>
            <a:ext cx="7639443" cy="3314870"/>
          </a:xfrm>
          <a:prstGeom prst="rect">
            <a:avLst/>
          </a:prstGeom>
        </p:spPr>
      </p:pic>
      <p:pic>
        <p:nvPicPr>
          <p:cNvPr id="7" name="图片 6">
            <a:extLst>
              <a:ext uri="{FF2B5EF4-FFF2-40B4-BE49-F238E27FC236}">
                <a16:creationId xmlns:a16="http://schemas.microsoft.com/office/drawing/2014/main" id="{BB50C913-A953-C27C-F97B-34355EF9C0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002" y="4861293"/>
            <a:ext cx="7502912" cy="99607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330200" y="425450"/>
            <a:ext cx="8813800" cy="530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indent="266700">
              <a:lnSpc>
                <a:spcPct val="150000"/>
              </a:lnSpc>
              <a:spcBef>
                <a:spcPct val="0"/>
              </a:spcBef>
              <a:buClrTx/>
              <a:buFontTx/>
              <a:buNone/>
            </a:pPr>
            <a:r>
              <a:rPr lang="en-US" altLang="zh-CN" dirty="0">
                <a:solidFill>
                  <a:srgbClr val="800000"/>
                </a:solidFill>
                <a:latin typeface="黑体" pitchFamily="2" charset="-122"/>
                <a:ea typeface="黑体" pitchFamily="2" charset="-122"/>
              </a:rPr>
              <a:t>3</a:t>
            </a:r>
            <a:r>
              <a:rPr lang="zh-CN" altLang="en-US" dirty="0">
                <a:solidFill>
                  <a:srgbClr val="800000"/>
                </a:solidFill>
                <a:latin typeface="黑体" pitchFamily="2" charset="-122"/>
                <a:ea typeface="黑体" pitchFamily="2" charset="-122"/>
              </a:rPr>
              <a:t>．计算机的工作过程示意</a:t>
            </a:r>
            <a:r>
              <a:rPr lang="en-US" altLang="zh-CN" dirty="0">
                <a:solidFill>
                  <a:srgbClr val="000080"/>
                </a:solidFill>
                <a:latin typeface="黑体" pitchFamily="2" charset="-122"/>
                <a:ea typeface="黑体" pitchFamily="2" charset="-122"/>
              </a:rPr>
              <a:t>—</a:t>
            </a:r>
            <a:r>
              <a:rPr lang="zh-CN" altLang="en-US" dirty="0">
                <a:solidFill>
                  <a:srgbClr val="000080"/>
                </a:solidFill>
                <a:latin typeface="黑体" pitchFamily="2" charset="-122"/>
                <a:ea typeface="黑体" pitchFamily="2" charset="-122"/>
              </a:rPr>
              <a:t>以运行</a:t>
            </a:r>
            <a:r>
              <a:rPr lang="en-US" altLang="zh-CN" dirty="0">
                <a:solidFill>
                  <a:srgbClr val="000080"/>
                </a:solidFill>
                <a:latin typeface="黑体" pitchFamily="2" charset="-122"/>
                <a:ea typeface="黑体" pitchFamily="2" charset="-122"/>
              </a:rPr>
              <a:t>hello</a:t>
            </a:r>
            <a:r>
              <a:rPr lang="zh-CN" altLang="en-US" dirty="0">
                <a:solidFill>
                  <a:srgbClr val="000080"/>
                </a:solidFill>
                <a:latin typeface="黑体" pitchFamily="2" charset="-122"/>
                <a:ea typeface="黑体" pitchFamily="2" charset="-122"/>
              </a:rPr>
              <a:t>程序为例</a:t>
            </a:r>
          </a:p>
        </p:txBody>
      </p:sp>
      <p:pic>
        <p:nvPicPr>
          <p:cNvPr id="3" name="图片 2">
            <a:extLst>
              <a:ext uri="{FF2B5EF4-FFF2-40B4-BE49-F238E27FC236}">
                <a16:creationId xmlns:a16="http://schemas.microsoft.com/office/drawing/2014/main" id="{573F54AE-81FC-6CF5-C33E-38A8F1C1B4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8092" y="1085575"/>
            <a:ext cx="7658494" cy="5346975"/>
          </a:xfrm>
          <a:prstGeom prst="rect">
            <a:avLst/>
          </a:prstGeom>
        </p:spPr>
      </p:pic>
    </p:spTree>
    <p:extLst>
      <p:ext uri="{BB962C8B-B14F-4D97-AF65-F5344CB8AC3E}">
        <p14:creationId xmlns:p14="http://schemas.microsoft.com/office/powerpoint/2010/main" val="24174111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330200" y="315086"/>
            <a:ext cx="8813800" cy="530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indent="266700">
              <a:lnSpc>
                <a:spcPct val="150000"/>
              </a:lnSpc>
              <a:spcBef>
                <a:spcPct val="0"/>
              </a:spcBef>
              <a:buClrTx/>
              <a:buFontTx/>
              <a:buNone/>
            </a:pPr>
            <a:r>
              <a:rPr lang="en-US" altLang="zh-CN" dirty="0">
                <a:solidFill>
                  <a:srgbClr val="800000"/>
                </a:solidFill>
                <a:latin typeface="黑体" pitchFamily="2" charset="-122"/>
                <a:ea typeface="黑体" pitchFamily="2" charset="-122"/>
              </a:rPr>
              <a:t>3</a:t>
            </a:r>
            <a:r>
              <a:rPr lang="zh-CN" altLang="en-US" dirty="0">
                <a:solidFill>
                  <a:srgbClr val="800000"/>
                </a:solidFill>
                <a:latin typeface="黑体" pitchFamily="2" charset="-122"/>
                <a:ea typeface="黑体" pitchFamily="2" charset="-122"/>
              </a:rPr>
              <a:t>．计算机的工作过程示意</a:t>
            </a:r>
            <a:r>
              <a:rPr lang="en-US" altLang="zh-CN" dirty="0">
                <a:solidFill>
                  <a:srgbClr val="000080"/>
                </a:solidFill>
                <a:latin typeface="黑体" pitchFamily="2" charset="-122"/>
                <a:ea typeface="黑体" pitchFamily="2" charset="-122"/>
              </a:rPr>
              <a:t>—</a:t>
            </a:r>
            <a:r>
              <a:rPr lang="zh-CN" altLang="en-US" dirty="0">
                <a:solidFill>
                  <a:srgbClr val="000080"/>
                </a:solidFill>
                <a:latin typeface="黑体" pitchFamily="2" charset="-122"/>
                <a:ea typeface="黑体" pitchFamily="2" charset="-122"/>
              </a:rPr>
              <a:t>以运行</a:t>
            </a:r>
            <a:r>
              <a:rPr lang="en-US" altLang="zh-CN" dirty="0">
                <a:solidFill>
                  <a:srgbClr val="000080"/>
                </a:solidFill>
                <a:latin typeface="黑体" pitchFamily="2" charset="-122"/>
                <a:ea typeface="黑体" pitchFamily="2" charset="-122"/>
              </a:rPr>
              <a:t>hello</a:t>
            </a:r>
            <a:r>
              <a:rPr lang="zh-CN" altLang="en-US" dirty="0">
                <a:solidFill>
                  <a:srgbClr val="000080"/>
                </a:solidFill>
                <a:latin typeface="黑体" pitchFamily="2" charset="-122"/>
                <a:ea typeface="黑体" pitchFamily="2" charset="-122"/>
              </a:rPr>
              <a:t>程序为例</a:t>
            </a:r>
          </a:p>
        </p:txBody>
      </p:sp>
      <p:pic>
        <p:nvPicPr>
          <p:cNvPr id="3" name="图片 2">
            <a:extLst>
              <a:ext uri="{FF2B5EF4-FFF2-40B4-BE49-F238E27FC236}">
                <a16:creationId xmlns:a16="http://schemas.microsoft.com/office/drawing/2014/main" id="{FE034C37-655B-5311-324B-A033B54AE7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877" y="974264"/>
            <a:ext cx="7690245" cy="5423179"/>
          </a:xfrm>
          <a:prstGeom prst="rect">
            <a:avLst/>
          </a:prstGeom>
        </p:spPr>
      </p:pic>
    </p:spTree>
    <p:extLst>
      <p:ext uri="{BB962C8B-B14F-4D97-AF65-F5344CB8AC3E}">
        <p14:creationId xmlns:p14="http://schemas.microsoft.com/office/powerpoint/2010/main" val="15351432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330200" y="425450"/>
            <a:ext cx="8813800" cy="530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indent="266700">
              <a:lnSpc>
                <a:spcPct val="150000"/>
              </a:lnSpc>
              <a:spcBef>
                <a:spcPct val="0"/>
              </a:spcBef>
              <a:buClrTx/>
              <a:buFontTx/>
              <a:buNone/>
            </a:pPr>
            <a:r>
              <a:rPr lang="en-US" altLang="zh-CN" dirty="0">
                <a:solidFill>
                  <a:srgbClr val="800000"/>
                </a:solidFill>
                <a:latin typeface="黑体" pitchFamily="2" charset="-122"/>
                <a:ea typeface="黑体" pitchFamily="2" charset="-122"/>
              </a:rPr>
              <a:t>3</a:t>
            </a:r>
            <a:r>
              <a:rPr lang="zh-CN" altLang="en-US" dirty="0">
                <a:solidFill>
                  <a:srgbClr val="800000"/>
                </a:solidFill>
                <a:latin typeface="黑体" pitchFamily="2" charset="-122"/>
                <a:ea typeface="黑体" pitchFamily="2" charset="-122"/>
              </a:rPr>
              <a:t>．计算机的工作过程示意</a:t>
            </a:r>
            <a:r>
              <a:rPr lang="en-US" altLang="zh-CN" dirty="0">
                <a:solidFill>
                  <a:srgbClr val="000080"/>
                </a:solidFill>
                <a:latin typeface="黑体" pitchFamily="2" charset="-122"/>
                <a:ea typeface="黑体" pitchFamily="2" charset="-122"/>
              </a:rPr>
              <a:t>—</a:t>
            </a:r>
            <a:r>
              <a:rPr lang="zh-CN" altLang="en-US" dirty="0">
                <a:solidFill>
                  <a:srgbClr val="000080"/>
                </a:solidFill>
                <a:latin typeface="黑体" pitchFamily="2" charset="-122"/>
                <a:ea typeface="黑体" pitchFamily="2" charset="-122"/>
              </a:rPr>
              <a:t>以运行</a:t>
            </a:r>
            <a:r>
              <a:rPr lang="en-US" altLang="zh-CN" dirty="0">
                <a:solidFill>
                  <a:srgbClr val="000080"/>
                </a:solidFill>
                <a:latin typeface="黑体" pitchFamily="2" charset="-122"/>
                <a:ea typeface="黑体" pitchFamily="2" charset="-122"/>
              </a:rPr>
              <a:t>hello</a:t>
            </a:r>
            <a:r>
              <a:rPr lang="zh-CN" altLang="en-US" dirty="0">
                <a:solidFill>
                  <a:srgbClr val="000080"/>
                </a:solidFill>
                <a:latin typeface="黑体" pitchFamily="2" charset="-122"/>
                <a:ea typeface="黑体" pitchFamily="2" charset="-122"/>
              </a:rPr>
              <a:t>程序为例</a:t>
            </a:r>
          </a:p>
        </p:txBody>
      </p:sp>
      <p:pic>
        <p:nvPicPr>
          <p:cNvPr id="4" name="图片 3">
            <a:extLst>
              <a:ext uri="{FF2B5EF4-FFF2-40B4-BE49-F238E27FC236}">
                <a16:creationId xmlns:a16="http://schemas.microsoft.com/office/drawing/2014/main" id="{94E7070B-B340-F487-0176-F0274A71D4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890" y="1110977"/>
            <a:ext cx="7633092" cy="5321573"/>
          </a:xfrm>
          <a:prstGeom prst="rect">
            <a:avLst/>
          </a:prstGeom>
        </p:spPr>
      </p:pic>
    </p:spTree>
    <p:extLst>
      <p:ext uri="{BB962C8B-B14F-4D97-AF65-F5344CB8AC3E}">
        <p14:creationId xmlns:p14="http://schemas.microsoft.com/office/powerpoint/2010/main" val="2765593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330200" y="425450"/>
            <a:ext cx="881380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indent="266700">
              <a:lnSpc>
                <a:spcPct val="150000"/>
              </a:lnSpc>
              <a:spcBef>
                <a:spcPct val="0"/>
              </a:spcBef>
              <a:buClrTx/>
              <a:buFontTx/>
              <a:buNone/>
            </a:pPr>
            <a:r>
              <a:rPr lang="en-US" altLang="zh-CN">
                <a:solidFill>
                  <a:srgbClr val="800000"/>
                </a:solidFill>
                <a:latin typeface="黑体" pitchFamily="2" charset="-122"/>
                <a:ea typeface="黑体" pitchFamily="2" charset="-122"/>
              </a:rPr>
              <a:t>3</a:t>
            </a:r>
            <a:r>
              <a:rPr lang="zh-CN" altLang="en-US">
                <a:solidFill>
                  <a:srgbClr val="800000"/>
                </a:solidFill>
                <a:latin typeface="黑体" pitchFamily="2" charset="-122"/>
                <a:ea typeface="黑体" pitchFamily="2" charset="-122"/>
              </a:rPr>
              <a:t>．计算机的工作过程示意 </a:t>
            </a:r>
            <a:endParaRPr lang="zh-CN" altLang="en-US">
              <a:solidFill>
                <a:srgbClr val="000080"/>
              </a:solidFill>
              <a:latin typeface="黑体" pitchFamily="2" charset="-122"/>
              <a:ea typeface="黑体" pitchFamily="2" charset="-122"/>
            </a:endParaRPr>
          </a:p>
        </p:txBody>
      </p:sp>
      <p:grpSp>
        <p:nvGrpSpPr>
          <p:cNvPr id="2" name="Group 3"/>
          <p:cNvGrpSpPr>
            <a:grpSpLocks/>
          </p:cNvGrpSpPr>
          <p:nvPr/>
        </p:nvGrpSpPr>
        <p:grpSpPr bwMode="auto">
          <a:xfrm>
            <a:off x="1663700" y="1998663"/>
            <a:ext cx="6862763" cy="2039937"/>
            <a:chOff x="1024" y="1803"/>
            <a:chExt cx="4323" cy="1285"/>
          </a:xfrm>
        </p:grpSpPr>
        <p:sp>
          <p:nvSpPr>
            <p:cNvPr id="17417" name="Text Box 4"/>
            <p:cNvSpPr txBox="1">
              <a:spLocks noChangeArrowheads="1"/>
            </p:cNvSpPr>
            <p:nvPr/>
          </p:nvSpPr>
          <p:spPr bwMode="auto">
            <a:xfrm>
              <a:off x="1024" y="1803"/>
              <a:ext cx="137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nSpc>
                  <a:spcPct val="100000"/>
                </a:lnSpc>
                <a:spcBef>
                  <a:spcPct val="0"/>
                </a:spcBef>
                <a:buClrTx/>
                <a:buFontTx/>
                <a:buNone/>
              </a:pPr>
              <a:r>
                <a:rPr lang="zh-CN" altLang="en-US">
                  <a:solidFill>
                    <a:srgbClr val="000099"/>
                  </a:solidFill>
                  <a:latin typeface="黑体" pitchFamily="2" charset="-122"/>
                  <a:ea typeface="黑体" pitchFamily="2" charset="-122"/>
                </a:rPr>
                <a:t>机器指令格式:</a:t>
              </a:r>
              <a:endParaRPr lang="zh-CN" altLang="en-US">
                <a:solidFill>
                  <a:schemeClr val="tx1"/>
                </a:solidFill>
                <a:latin typeface="黑体" pitchFamily="2" charset="-122"/>
                <a:ea typeface="黑体" pitchFamily="2" charset="-122"/>
              </a:endParaRPr>
            </a:p>
          </p:txBody>
        </p:sp>
        <p:sp>
          <p:nvSpPr>
            <p:cNvPr id="17418" name="Rectangle 5"/>
            <p:cNvSpPr>
              <a:spLocks noChangeArrowheads="1"/>
            </p:cNvSpPr>
            <p:nvPr/>
          </p:nvSpPr>
          <p:spPr bwMode="auto">
            <a:xfrm>
              <a:off x="1488" y="2212"/>
              <a:ext cx="799" cy="257"/>
            </a:xfrm>
            <a:prstGeom prst="rect">
              <a:avLst/>
            </a:prstGeom>
            <a:solidFill>
              <a:srgbClr val="FFFF66"/>
            </a:solidFill>
            <a:ln w="9525">
              <a:solidFill>
                <a:srgbClr val="FFFF66"/>
              </a:solidFill>
              <a:miter lim="800000"/>
              <a:headEnd/>
              <a:tailEnd/>
            </a:ln>
            <a:effectLst>
              <a:outerShdw dist="107763" dir="2700000" algn="ctr" rotWithShape="0">
                <a:schemeClr val="bg2"/>
              </a:outerShdw>
            </a:effectLst>
          </p:spPr>
          <p:txBody>
            <a:bodyPr wrap="none" anchor="ctr"/>
            <a:lstStyle/>
            <a:p>
              <a:pPr algn="ctr" eaLnBrk="0" hangingPunct="0">
                <a:lnSpc>
                  <a:spcPct val="100000"/>
                </a:lnSpc>
                <a:spcBef>
                  <a:spcPct val="0"/>
                </a:spcBef>
                <a:buClrTx/>
                <a:buFontTx/>
                <a:buNone/>
              </a:pPr>
              <a:r>
                <a:rPr lang="zh-CN" altLang="en-US" sz="2000">
                  <a:solidFill>
                    <a:schemeClr val="tx1"/>
                  </a:solidFill>
                  <a:latin typeface="黑体" pitchFamily="2" charset="-122"/>
                  <a:ea typeface="黑体" pitchFamily="2" charset="-122"/>
                </a:rPr>
                <a:t>操作码</a:t>
              </a:r>
            </a:p>
          </p:txBody>
        </p:sp>
        <p:sp>
          <p:nvSpPr>
            <p:cNvPr id="17419" name="Rectangle 6"/>
            <p:cNvSpPr>
              <a:spLocks noChangeArrowheads="1"/>
            </p:cNvSpPr>
            <p:nvPr/>
          </p:nvSpPr>
          <p:spPr bwMode="auto">
            <a:xfrm>
              <a:off x="2287" y="2212"/>
              <a:ext cx="799" cy="257"/>
            </a:xfrm>
            <a:prstGeom prst="rect">
              <a:avLst/>
            </a:prstGeom>
            <a:solidFill>
              <a:srgbClr val="00FFFF"/>
            </a:solidFill>
            <a:ln w="9525">
              <a:solidFill>
                <a:schemeClr val="tx1"/>
              </a:solidFill>
              <a:miter lim="800000"/>
              <a:headEnd/>
              <a:tailEnd/>
            </a:ln>
            <a:effectLst>
              <a:outerShdw dist="107763" dir="2700000" algn="ctr" rotWithShape="0">
                <a:schemeClr val="bg2"/>
              </a:outerShdw>
            </a:effectLst>
          </p:spPr>
          <p:txBody>
            <a:bodyPr wrap="none" anchor="ctr"/>
            <a:lstStyle/>
            <a:p>
              <a:pPr algn="ctr" eaLnBrk="0" hangingPunct="0">
                <a:lnSpc>
                  <a:spcPct val="100000"/>
                </a:lnSpc>
                <a:spcBef>
                  <a:spcPct val="0"/>
                </a:spcBef>
                <a:buClrTx/>
                <a:buFontTx/>
                <a:buNone/>
              </a:pPr>
              <a:r>
                <a:rPr lang="zh-CN" altLang="en-US" sz="1800">
                  <a:solidFill>
                    <a:schemeClr val="tx1"/>
                  </a:solidFill>
                  <a:latin typeface="黑体" pitchFamily="2" charset="-122"/>
                  <a:ea typeface="黑体" pitchFamily="2" charset="-122"/>
                </a:rPr>
                <a:t>地址码</a:t>
              </a:r>
            </a:p>
          </p:txBody>
        </p:sp>
        <p:sp>
          <p:nvSpPr>
            <p:cNvPr id="17420" name="Text Box 7"/>
            <p:cNvSpPr txBox="1">
              <a:spLocks noChangeArrowheads="1"/>
            </p:cNvSpPr>
            <p:nvPr/>
          </p:nvSpPr>
          <p:spPr bwMode="auto">
            <a:xfrm>
              <a:off x="2544" y="2800"/>
              <a:ext cx="16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nSpc>
                  <a:spcPct val="100000"/>
                </a:lnSpc>
                <a:spcBef>
                  <a:spcPct val="0"/>
                </a:spcBef>
                <a:buClrTx/>
                <a:buFontTx/>
                <a:buNone/>
              </a:pPr>
              <a:r>
                <a:rPr lang="zh-CN" altLang="en-US">
                  <a:solidFill>
                    <a:srgbClr val="000099"/>
                  </a:solidFill>
                  <a:latin typeface="黑体" pitchFamily="2" charset="-122"/>
                  <a:ea typeface="黑体" pitchFamily="2" charset="-122"/>
                </a:rPr>
                <a:t>机器执行什么操作</a:t>
              </a:r>
              <a:endParaRPr lang="zh-CN" altLang="en-US">
                <a:solidFill>
                  <a:schemeClr val="tx1"/>
                </a:solidFill>
                <a:latin typeface="黑体" pitchFamily="2" charset="-122"/>
                <a:ea typeface="黑体" pitchFamily="2" charset="-122"/>
              </a:endParaRPr>
            </a:p>
          </p:txBody>
        </p:sp>
        <p:sp>
          <p:nvSpPr>
            <p:cNvPr id="17421" name="Text Box 8"/>
            <p:cNvSpPr txBox="1">
              <a:spLocks noChangeArrowheads="1"/>
            </p:cNvSpPr>
            <p:nvPr/>
          </p:nvSpPr>
          <p:spPr bwMode="auto">
            <a:xfrm>
              <a:off x="2529" y="2547"/>
              <a:ext cx="28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nSpc>
                  <a:spcPct val="100000"/>
                </a:lnSpc>
                <a:spcBef>
                  <a:spcPct val="0"/>
                </a:spcBef>
                <a:buClrTx/>
                <a:buFontTx/>
                <a:buNone/>
              </a:pPr>
              <a:r>
                <a:rPr lang="zh-CN" altLang="en-US">
                  <a:solidFill>
                    <a:srgbClr val="000099"/>
                  </a:solidFill>
                  <a:latin typeface="黑体" pitchFamily="2" charset="-122"/>
                  <a:ea typeface="黑体" pitchFamily="2" charset="-122"/>
                </a:rPr>
                <a:t>执行对象（具体数、存放位置）</a:t>
              </a:r>
            </a:p>
          </p:txBody>
        </p:sp>
        <p:sp>
          <p:nvSpPr>
            <p:cNvPr id="17422" name="Freeform 9"/>
            <p:cNvSpPr>
              <a:spLocks/>
            </p:cNvSpPr>
            <p:nvPr/>
          </p:nvSpPr>
          <p:spPr bwMode="auto">
            <a:xfrm>
              <a:off x="2457" y="2477"/>
              <a:ext cx="88" cy="293"/>
            </a:xfrm>
            <a:custGeom>
              <a:avLst/>
              <a:gdLst>
                <a:gd name="T0" fmla="*/ 0 w 79"/>
                <a:gd name="T1" fmla="*/ 0 h 221"/>
                <a:gd name="T2" fmla="*/ 0 w 79"/>
                <a:gd name="T3" fmla="*/ 20083 h 221"/>
                <a:gd name="T4" fmla="*/ 440 w 79"/>
                <a:gd name="T5" fmla="*/ 20083 h 221"/>
                <a:gd name="T6" fmla="*/ 0 60000 65536"/>
                <a:gd name="T7" fmla="*/ 0 60000 65536"/>
                <a:gd name="T8" fmla="*/ 0 60000 65536"/>
                <a:gd name="T9" fmla="*/ 0 w 79"/>
                <a:gd name="T10" fmla="*/ 0 h 221"/>
                <a:gd name="T11" fmla="*/ 79 w 79"/>
                <a:gd name="T12" fmla="*/ 221 h 221"/>
              </a:gdLst>
              <a:ahLst/>
              <a:cxnLst>
                <a:cxn ang="T6">
                  <a:pos x="T0" y="T1"/>
                </a:cxn>
                <a:cxn ang="T7">
                  <a:pos x="T2" y="T3"/>
                </a:cxn>
                <a:cxn ang="T8">
                  <a:pos x="T4" y="T5"/>
                </a:cxn>
              </a:cxnLst>
              <a:rect l="T9" t="T10" r="T11" b="T12"/>
              <a:pathLst>
                <a:path w="79" h="221">
                  <a:moveTo>
                    <a:pt x="0" y="0"/>
                  </a:moveTo>
                  <a:lnTo>
                    <a:pt x="0" y="221"/>
                  </a:lnTo>
                  <a:lnTo>
                    <a:pt x="79" y="221"/>
                  </a:lnTo>
                </a:path>
              </a:pathLst>
            </a:custGeom>
            <a:noFill/>
            <a:ln w="1905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黑体" pitchFamily="2" charset="-122"/>
                <a:ea typeface="黑体" pitchFamily="2" charset="-122"/>
              </a:endParaRPr>
            </a:p>
          </p:txBody>
        </p:sp>
        <p:sp>
          <p:nvSpPr>
            <p:cNvPr id="17423" name="Freeform 10"/>
            <p:cNvSpPr>
              <a:spLocks/>
            </p:cNvSpPr>
            <p:nvPr/>
          </p:nvSpPr>
          <p:spPr bwMode="auto">
            <a:xfrm>
              <a:off x="1871" y="2479"/>
              <a:ext cx="693" cy="504"/>
            </a:xfrm>
            <a:custGeom>
              <a:avLst/>
              <a:gdLst>
                <a:gd name="T0" fmla="*/ 0 w 79"/>
                <a:gd name="T1" fmla="*/ 0 h 221"/>
                <a:gd name="T2" fmla="*/ 0 w 79"/>
                <a:gd name="T3" fmla="*/ 118248617 h 221"/>
                <a:gd name="T4" fmla="*/ 2147483647 w 79"/>
                <a:gd name="T5" fmla="*/ 118248617 h 221"/>
                <a:gd name="T6" fmla="*/ 0 60000 65536"/>
                <a:gd name="T7" fmla="*/ 0 60000 65536"/>
                <a:gd name="T8" fmla="*/ 0 60000 65536"/>
                <a:gd name="T9" fmla="*/ 0 w 79"/>
                <a:gd name="T10" fmla="*/ 0 h 221"/>
                <a:gd name="T11" fmla="*/ 79 w 79"/>
                <a:gd name="T12" fmla="*/ 221 h 221"/>
              </a:gdLst>
              <a:ahLst/>
              <a:cxnLst>
                <a:cxn ang="T6">
                  <a:pos x="T0" y="T1"/>
                </a:cxn>
                <a:cxn ang="T7">
                  <a:pos x="T2" y="T3"/>
                </a:cxn>
                <a:cxn ang="T8">
                  <a:pos x="T4" y="T5"/>
                </a:cxn>
              </a:cxnLst>
              <a:rect l="T9" t="T10" r="T11" b="T12"/>
              <a:pathLst>
                <a:path w="79" h="221">
                  <a:moveTo>
                    <a:pt x="0" y="0"/>
                  </a:moveTo>
                  <a:lnTo>
                    <a:pt x="0" y="221"/>
                  </a:lnTo>
                  <a:lnTo>
                    <a:pt x="79" y="221"/>
                  </a:lnTo>
                </a:path>
              </a:pathLst>
            </a:custGeom>
            <a:noFill/>
            <a:ln w="1905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黑体" pitchFamily="2" charset="-122"/>
                <a:ea typeface="黑体" pitchFamily="2" charset="-122"/>
              </a:endParaRPr>
            </a:p>
          </p:txBody>
        </p:sp>
      </p:grpSp>
      <p:grpSp>
        <p:nvGrpSpPr>
          <p:cNvPr id="3" name="Group 11"/>
          <p:cNvGrpSpPr>
            <a:grpSpLocks/>
          </p:cNvGrpSpPr>
          <p:nvPr/>
        </p:nvGrpSpPr>
        <p:grpSpPr bwMode="auto">
          <a:xfrm>
            <a:off x="1731963" y="4572000"/>
            <a:ext cx="3284537" cy="603250"/>
            <a:chOff x="1043" y="3144"/>
            <a:chExt cx="2069" cy="380"/>
          </a:xfrm>
        </p:grpSpPr>
        <p:sp>
          <p:nvSpPr>
            <p:cNvPr id="17414" name="Rectangle 12"/>
            <p:cNvSpPr>
              <a:spLocks noChangeArrowheads="1"/>
            </p:cNvSpPr>
            <p:nvPr/>
          </p:nvSpPr>
          <p:spPr bwMode="auto">
            <a:xfrm>
              <a:off x="1502" y="3281"/>
              <a:ext cx="805" cy="243"/>
            </a:xfrm>
            <a:prstGeom prst="rect">
              <a:avLst/>
            </a:prstGeom>
            <a:solidFill>
              <a:srgbClr val="FFFF66"/>
            </a:solidFill>
            <a:ln w="9525">
              <a:solidFill>
                <a:srgbClr val="FFFF66"/>
              </a:solidFill>
              <a:miter lim="800000"/>
              <a:headEnd/>
              <a:tailEnd/>
            </a:ln>
            <a:effectLst>
              <a:outerShdw dist="107763" dir="2700000" algn="ctr" rotWithShape="0">
                <a:schemeClr val="bg2"/>
              </a:outerShdw>
            </a:effectLst>
          </p:spPr>
          <p:txBody>
            <a:bodyPr wrap="none" anchor="ctr"/>
            <a:lstStyle/>
            <a:p>
              <a:pPr algn="ctr" eaLnBrk="0" hangingPunct="0">
                <a:lnSpc>
                  <a:spcPct val="100000"/>
                </a:lnSpc>
                <a:spcBef>
                  <a:spcPct val="0"/>
                </a:spcBef>
                <a:buClrTx/>
                <a:buFontTx/>
                <a:buNone/>
              </a:pPr>
              <a:r>
                <a:rPr lang="en-US" altLang="zh-CN" sz="1800">
                  <a:solidFill>
                    <a:schemeClr val="tx1"/>
                  </a:solidFill>
                  <a:latin typeface="黑体" pitchFamily="2" charset="-122"/>
                  <a:ea typeface="黑体" pitchFamily="2" charset="-122"/>
                </a:rPr>
                <a:t>ADD</a:t>
              </a:r>
            </a:p>
          </p:txBody>
        </p:sp>
        <p:sp>
          <p:nvSpPr>
            <p:cNvPr id="17415" name="Rectangle 13"/>
            <p:cNvSpPr>
              <a:spLocks noChangeArrowheads="1"/>
            </p:cNvSpPr>
            <p:nvPr/>
          </p:nvSpPr>
          <p:spPr bwMode="auto">
            <a:xfrm>
              <a:off x="2307" y="3281"/>
              <a:ext cx="805" cy="243"/>
            </a:xfrm>
            <a:prstGeom prst="rect">
              <a:avLst/>
            </a:prstGeom>
            <a:solidFill>
              <a:srgbClr val="00FFFF"/>
            </a:solidFill>
            <a:ln w="9525">
              <a:solidFill>
                <a:schemeClr val="tx1"/>
              </a:solidFill>
              <a:miter lim="800000"/>
              <a:headEnd/>
              <a:tailEnd/>
            </a:ln>
            <a:effectLst>
              <a:outerShdw dist="107763" dir="2700000" algn="ctr" rotWithShape="0">
                <a:schemeClr val="bg2"/>
              </a:outerShdw>
            </a:effectLst>
          </p:spPr>
          <p:txBody>
            <a:bodyPr wrap="none" anchor="ctr"/>
            <a:lstStyle/>
            <a:p>
              <a:pPr algn="ctr" eaLnBrk="0" hangingPunct="0">
                <a:lnSpc>
                  <a:spcPct val="100000"/>
                </a:lnSpc>
                <a:spcBef>
                  <a:spcPct val="0"/>
                </a:spcBef>
                <a:buClrTx/>
                <a:buFontTx/>
                <a:buNone/>
              </a:pPr>
              <a:r>
                <a:rPr lang="en-US" altLang="zh-CN" sz="1800">
                  <a:solidFill>
                    <a:schemeClr val="tx1"/>
                  </a:solidFill>
                  <a:latin typeface="黑体" pitchFamily="2" charset="-122"/>
                  <a:ea typeface="黑体" pitchFamily="2" charset="-122"/>
                </a:rPr>
                <a:t>AX，BX</a:t>
              </a:r>
            </a:p>
          </p:txBody>
        </p:sp>
        <p:sp>
          <p:nvSpPr>
            <p:cNvPr id="17416" name="Text Box 14"/>
            <p:cNvSpPr txBox="1">
              <a:spLocks noChangeArrowheads="1"/>
            </p:cNvSpPr>
            <p:nvPr/>
          </p:nvSpPr>
          <p:spPr bwMode="auto">
            <a:xfrm>
              <a:off x="1043" y="3144"/>
              <a:ext cx="69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nSpc>
                  <a:spcPct val="100000"/>
                </a:lnSpc>
                <a:spcBef>
                  <a:spcPct val="0"/>
                </a:spcBef>
                <a:buClrTx/>
                <a:buFontTx/>
                <a:buNone/>
              </a:pPr>
              <a:r>
                <a:rPr lang="zh-CN" altLang="en-US">
                  <a:solidFill>
                    <a:srgbClr val="000099"/>
                  </a:solidFill>
                  <a:latin typeface="黑体" pitchFamily="2" charset="-122"/>
                  <a:ea typeface="黑体" pitchFamily="2" charset="-122"/>
                </a:rPr>
                <a:t>例如：</a:t>
              </a:r>
            </a:p>
          </p:txBody>
        </p:sp>
      </p:grpSp>
      <p:sp>
        <p:nvSpPr>
          <p:cNvPr id="17413" name="Rectangle 15"/>
          <p:cNvSpPr>
            <a:spLocks noChangeArrowheads="1"/>
          </p:cNvSpPr>
          <p:nvPr/>
        </p:nvSpPr>
        <p:spPr bwMode="auto">
          <a:xfrm>
            <a:off x="546100" y="1063625"/>
            <a:ext cx="8597900" cy="592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50000"/>
              </a:lnSpc>
              <a:spcBef>
                <a:spcPct val="0"/>
              </a:spcBef>
              <a:buClrTx/>
              <a:buFontTx/>
              <a:buNone/>
            </a:pPr>
            <a:r>
              <a:rPr lang="zh-CN" altLang="en-US">
                <a:solidFill>
                  <a:srgbClr val="000080"/>
                </a:solidFill>
                <a:latin typeface="黑体" pitchFamily="2" charset="-122"/>
                <a:ea typeface="黑体" pitchFamily="2" charset="-122"/>
              </a:rPr>
              <a:t>    计算机工作的过程即一条一条执行指令的过程。</a:t>
            </a:r>
            <a:endParaRPr lang="zh-CN" altLang="en-US" b="0">
              <a:solidFill>
                <a:schemeClr val="tx1"/>
              </a:solidFill>
              <a:latin typeface="黑体" pitchFamily="2" charset="-122"/>
              <a:ea typeface="黑体" pitchFamily="2" charset="-122"/>
            </a:endParaRPr>
          </a:p>
        </p:txBody>
      </p:sp>
    </p:spTree>
    <p:extLst>
      <p:ext uri="{BB962C8B-B14F-4D97-AF65-F5344CB8AC3E}">
        <p14:creationId xmlns:p14="http://schemas.microsoft.com/office/powerpoint/2010/main" val="16845516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up)">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434" name="Group 2"/>
          <p:cNvGrpSpPr>
            <a:grpSpLocks/>
          </p:cNvGrpSpPr>
          <p:nvPr/>
        </p:nvGrpSpPr>
        <p:grpSpPr bwMode="auto">
          <a:xfrm>
            <a:off x="2311400" y="1636713"/>
            <a:ext cx="4260850" cy="433387"/>
            <a:chOff x="934" y="675"/>
            <a:chExt cx="2146" cy="174"/>
          </a:xfrm>
        </p:grpSpPr>
        <p:sp>
          <p:nvSpPr>
            <p:cNvPr id="18445" name="Text Box 3"/>
            <p:cNvSpPr txBox="1">
              <a:spLocks noChangeArrowheads="1"/>
            </p:cNvSpPr>
            <p:nvPr/>
          </p:nvSpPr>
          <p:spPr bwMode="auto">
            <a:xfrm>
              <a:off x="1648" y="675"/>
              <a:ext cx="714" cy="174"/>
            </a:xfrm>
            <a:prstGeom prst="rect">
              <a:avLst/>
            </a:prstGeom>
            <a:solidFill>
              <a:srgbClr val="FFFFFF"/>
            </a:solidFill>
            <a:ln w="19050">
              <a:solidFill>
                <a:schemeClr val="tx2"/>
              </a:solidFill>
              <a:prstDash val="dash"/>
              <a:miter lim="800000"/>
              <a:headEnd/>
              <a:tailEnd/>
            </a:ln>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zh-CN" altLang="en-US" sz="2000">
                  <a:solidFill>
                    <a:srgbClr val="000080"/>
                  </a:solidFill>
                  <a:latin typeface="黑体" pitchFamily="2" charset="-122"/>
                  <a:ea typeface="黑体" pitchFamily="2" charset="-122"/>
                </a:rPr>
                <a:t>分析及取数</a:t>
              </a:r>
              <a:endParaRPr lang="zh-CN" altLang="en-US" sz="2000" b="0">
                <a:solidFill>
                  <a:schemeClr val="tx1"/>
                </a:solidFill>
                <a:latin typeface="黑体" pitchFamily="2" charset="-122"/>
                <a:ea typeface="黑体" pitchFamily="2" charset="-122"/>
              </a:endParaRPr>
            </a:p>
          </p:txBody>
        </p:sp>
        <p:sp>
          <p:nvSpPr>
            <p:cNvPr id="18446" name="Text Box 4"/>
            <p:cNvSpPr txBox="1">
              <a:spLocks noChangeArrowheads="1"/>
            </p:cNvSpPr>
            <p:nvPr/>
          </p:nvSpPr>
          <p:spPr bwMode="auto">
            <a:xfrm>
              <a:off x="934" y="675"/>
              <a:ext cx="504" cy="174"/>
            </a:xfrm>
            <a:prstGeom prst="rect">
              <a:avLst/>
            </a:prstGeom>
            <a:solidFill>
              <a:srgbClr val="FFFFFF"/>
            </a:solidFill>
            <a:ln w="19050">
              <a:solidFill>
                <a:schemeClr val="tx2"/>
              </a:solidFill>
              <a:miter lim="800000"/>
              <a:headEnd/>
              <a:tailEnd/>
            </a:ln>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zh-CN" altLang="en-US" sz="2000">
                  <a:solidFill>
                    <a:srgbClr val="000080"/>
                  </a:solidFill>
                  <a:latin typeface="黑体" pitchFamily="2" charset="-122"/>
                  <a:ea typeface="黑体" pitchFamily="2" charset="-122"/>
                </a:rPr>
                <a:t>取指令</a:t>
              </a:r>
              <a:endParaRPr lang="zh-CN" altLang="en-US" sz="2000" b="0">
                <a:solidFill>
                  <a:schemeClr val="tx1"/>
                </a:solidFill>
                <a:latin typeface="黑体" pitchFamily="2" charset="-122"/>
                <a:ea typeface="黑体" pitchFamily="2" charset="-122"/>
              </a:endParaRPr>
            </a:p>
          </p:txBody>
        </p:sp>
        <p:sp>
          <p:nvSpPr>
            <p:cNvPr id="18447" name="Text Box 5"/>
            <p:cNvSpPr txBox="1">
              <a:spLocks noChangeArrowheads="1"/>
            </p:cNvSpPr>
            <p:nvPr/>
          </p:nvSpPr>
          <p:spPr bwMode="auto">
            <a:xfrm>
              <a:off x="2576" y="675"/>
              <a:ext cx="504" cy="174"/>
            </a:xfrm>
            <a:prstGeom prst="rect">
              <a:avLst/>
            </a:prstGeom>
            <a:solidFill>
              <a:srgbClr val="FFFFFF"/>
            </a:solidFill>
            <a:ln w="19050">
              <a:solidFill>
                <a:schemeClr val="tx2"/>
              </a:solidFill>
              <a:miter lim="800000"/>
              <a:headEnd/>
              <a:tailEnd/>
            </a:ln>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zh-CN" altLang="en-US" sz="2000">
                  <a:solidFill>
                    <a:srgbClr val="000080"/>
                  </a:solidFill>
                  <a:latin typeface="黑体" pitchFamily="2" charset="-122"/>
                  <a:ea typeface="黑体" pitchFamily="2" charset="-122"/>
                </a:rPr>
                <a:t>执 行</a:t>
              </a:r>
              <a:endParaRPr lang="zh-CN" altLang="en-US" sz="2000" b="0">
                <a:solidFill>
                  <a:schemeClr val="tx1"/>
                </a:solidFill>
                <a:latin typeface="黑体" pitchFamily="2" charset="-122"/>
                <a:ea typeface="黑体" pitchFamily="2" charset="-122"/>
              </a:endParaRPr>
            </a:p>
          </p:txBody>
        </p:sp>
        <p:sp>
          <p:nvSpPr>
            <p:cNvPr id="18448" name="Line 6"/>
            <p:cNvSpPr>
              <a:spLocks noChangeShapeType="1"/>
            </p:cNvSpPr>
            <p:nvPr/>
          </p:nvSpPr>
          <p:spPr bwMode="auto">
            <a:xfrm>
              <a:off x="1432" y="767"/>
              <a:ext cx="216"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18449" name="Line 7"/>
            <p:cNvSpPr>
              <a:spLocks noChangeShapeType="1"/>
            </p:cNvSpPr>
            <p:nvPr/>
          </p:nvSpPr>
          <p:spPr bwMode="auto">
            <a:xfrm>
              <a:off x="2360" y="767"/>
              <a:ext cx="216" cy="0"/>
            </a:xfrm>
            <a:prstGeom prst="line">
              <a:avLst/>
            </a:prstGeom>
            <a:noFill/>
            <a:ln w="19050">
              <a:solidFill>
                <a:schemeClr val="tx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grpSp>
      <p:sp>
        <p:nvSpPr>
          <p:cNvPr id="18435" name="Rectangle 8"/>
          <p:cNvSpPr>
            <a:spLocks noChangeArrowheads="1"/>
          </p:cNvSpPr>
          <p:nvPr/>
        </p:nvSpPr>
        <p:spPr bwMode="auto">
          <a:xfrm>
            <a:off x="800100" y="968375"/>
            <a:ext cx="8128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buClrTx/>
              <a:buFontTx/>
              <a:buNone/>
            </a:pPr>
            <a:r>
              <a:rPr lang="zh-CN" altLang="en-US" dirty="0">
                <a:solidFill>
                  <a:srgbClr val="808080"/>
                </a:solidFill>
                <a:latin typeface="黑体" pitchFamily="2" charset="-122"/>
                <a:ea typeface="黑体" pitchFamily="2" charset="-122"/>
              </a:rPr>
              <a:t> </a:t>
            </a:r>
            <a:r>
              <a:rPr lang="zh-CN" altLang="en-US" dirty="0">
                <a:solidFill>
                  <a:srgbClr val="FF0000"/>
                </a:solidFill>
                <a:latin typeface="黑体" pitchFamily="2" charset="-122"/>
                <a:ea typeface="黑体" pitchFamily="2" charset="-122"/>
              </a:rPr>
              <a:t>执行指令的基本过程：</a:t>
            </a:r>
            <a:r>
              <a:rPr lang="zh-CN" altLang="en-US" dirty="0">
                <a:latin typeface="黑体" pitchFamily="2" charset="-122"/>
                <a:ea typeface="黑体" pitchFamily="2" charset="-122"/>
              </a:rPr>
              <a:t> </a:t>
            </a:r>
            <a:endParaRPr lang="zh-CN" altLang="en-US" b="0" dirty="0">
              <a:solidFill>
                <a:schemeClr val="tx1"/>
              </a:solidFill>
              <a:latin typeface="黑体" pitchFamily="2" charset="-122"/>
              <a:ea typeface="黑体" pitchFamily="2" charset="-122"/>
            </a:endParaRPr>
          </a:p>
        </p:txBody>
      </p:sp>
      <p:grpSp>
        <p:nvGrpSpPr>
          <p:cNvPr id="3" name="Group 9"/>
          <p:cNvGrpSpPr>
            <a:grpSpLocks/>
          </p:cNvGrpSpPr>
          <p:nvPr/>
        </p:nvGrpSpPr>
        <p:grpSpPr bwMode="auto">
          <a:xfrm>
            <a:off x="965200" y="2797175"/>
            <a:ext cx="8178800" cy="1284288"/>
            <a:chOff x="608" y="1882"/>
            <a:chExt cx="5152" cy="809"/>
          </a:xfrm>
        </p:grpSpPr>
        <p:grpSp>
          <p:nvGrpSpPr>
            <p:cNvPr id="18437" name="Group 10"/>
            <p:cNvGrpSpPr>
              <a:grpSpLocks/>
            </p:cNvGrpSpPr>
            <p:nvPr/>
          </p:nvGrpSpPr>
          <p:grpSpPr bwMode="auto">
            <a:xfrm>
              <a:off x="1249" y="2268"/>
              <a:ext cx="3144" cy="423"/>
              <a:chOff x="820" y="1905"/>
              <a:chExt cx="2512" cy="256"/>
            </a:xfrm>
          </p:grpSpPr>
          <p:sp>
            <p:nvSpPr>
              <p:cNvPr id="18439" name="Text Box 11"/>
              <p:cNvSpPr txBox="1">
                <a:spLocks noChangeArrowheads="1"/>
              </p:cNvSpPr>
              <p:nvPr/>
            </p:nvSpPr>
            <p:spPr bwMode="auto">
              <a:xfrm>
                <a:off x="1734" y="1905"/>
                <a:ext cx="714" cy="174"/>
              </a:xfrm>
              <a:prstGeom prst="rect">
                <a:avLst/>
              </a:prstGeom>
              <a:solidFill>
                <a:srgbClr val="FFFFFF"/>
              </a:solidFill>
              <a:ln w="19050">
                <a:solidFill>
                  <a:srgbClr val="000000"/>
                </a:solidFill>
                <a:prstDash val="dash"/>
                <a:miter lim="800000"/>
                <a:headEnd/>
                <a:tailEnd/>
              </a:ln>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zh-CN" altLang="en-US" sz="2000">
                    <a:solidFill>
                      <a:srgbClr val="000080"/>
                    </a:solidFill>
                    <a:latin typeface="黑体" pitchFamily="2" charset="-122"/>
                    <a:ea typeface="黑体" pitchFamily="2" charset="-122"/>
                  </a:rPr>
                  <a:t>分析及取数</a:t>
                </a:r>
                <a:endParaRPr lang="zh-CN" altLang="en-US" sz="2000" b="0">
                  <a:solidFill>
                    <a:schemeClr val="tx1"/>
                  </a:solidFill>
                  <a:latin typeface="黑体" pitchFamily="2" charset="-122"/>
                  <a:ea typeface="黑体" pitchFamily="2" charset="-122"/>
                </a:endParaRPr>
              </a:p>
            </p:txBody>
          </p:sp>
          <p:sp>
            <p:nvSpPr>
              <p:cNvPr id="18440" name="Text Box 12"/>
              <p:cNvSpPr txBox="1">
                <a:spLocks noChangeArrowheads="1"/>
              </p:cNvSpPr>
              <p:nvPr/>
            </p:nvSpPr>
            <p:spPr bwMode="auto">
              <a:xfrm>
                <a:off x="1020" y="1905"/>
                <a:ext cx="504" cy="174"/>
              </a:xfrm>
              <a:prstGeom prst="rect">
                <a:avLst/>
              </a:prstGeom>
              <a:solidFill>
                <a:srgbClr val="FFFFFF"/>
              </a:solidFill>
              <a:ln w="19050">
                <a:solidFill>
                  <a:srgbClr val="000000"/>
                </a:solidFill>
                <a:miter lim="800000"/>
                <a:headEnd/>
                <a:tailEnd/>
              </a:ln>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zh-CN" altLang="en-US" sz="2000">
                    <a:solidFill>
                      <a:srgbClr val="000080"/>
                    </a:solidFill>
                    <a:latin typeface="黑体" pitchFamily="2" charset="-122"/>
                    <a:ea typeface="黑体" pitchFamily="2" charset="-122"/>
                  </a:rPr>
                  <a:t>取指令</a:t>
                </a:r>
                <a:endParaRPr lang="zh-CN" altLang="en-US" sz="2000" b="0">
                  <a:solidFill>
                    <a:schemeClr val="tx1"/>
                  </a:solidFill>
                  <a:latin typeface="黑体" pitchFamily="2" charset="-122"/>
                  <a:ea typeface="黑体" pitchFamily="2" charset="-122"/>
                </a:endParaRPr>
              </a:p>
            </p:txBody>
          </p:sp>
          <p:sp>
            <p:nvSpPr>
              <p:cNvPr id="18441" name="Text Box 13"/>
              <p:cNvSpPr txBox="1">
                <a:spLocks noChangeArrowheads="1"/>
              </p:cNvSpPr>
              <p:nvPr/>
            </p:nvSpPr>
            <p:spPr bwMode="auto">
              <a:xfrm>
                <a:off x="2662" y="1905"/>
                <a:ext cx="504" cy="174"/>
              </a:xfrm>
              <a:prstGeom prst="rect">
                <a:avLst/>
              </a:prstGeom>
              <a:solidFill>
                <a:srgbClr val="FFFFFF"/>
              </a:solidFill>
              <a:ln w="19050">
                <a:solidFill>
                  <a:srgbClr val="000000"/>
                </a:solidFill>
                <a:miter lim="800000"/>
                <a:headEnd/>
                <a:tailEnd/>
              </a:ln>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zh-CN" altLang="en-US" sz="2000">
                    <a:solidFill>
                      <a:srgbClr val="000080"/>
                    </a:solidFill>
                    <a:latin typeface="黑体" pitchFamily="2" charset="-122"/>
                    <a:ea typeface="黑体" pitchFamily="2" charset="-122"/>
                  </a:rPr>
                  <a:t>执 行</a:t>
                </a:r>
                <a:endParaRPr lang="zh-CN" altLang="en-US" sz="2000" b="0">
                  <a:solidFill>
                    <a:schemeClr val="tx1"/>
                  </a:solidFill>
                  <a:latin typeface="黑体" pitchFamily="2" charset="-122"/>
                  <a:ea typeface="黑体" pitchFamily="2" charset="-122"/>
                </a:endParaRPr>
              </a:p>
            </p:txBody>
          </p:sp>
          <p:sp>
            <p:nvSpPr>
              <p:cNvPr id="18442" name="Line 14"/>
              <p:cNvSpPr>
                <a:spLocks noChangeShapeType="1"/>
              </p:cNvSpPr>
              <p:nvPr/>
            </p:nvSpPr>
            <p:spPr bwMode="auto">
              <a:xfrm>
                <a:off x="1518" y="1997"/>
                <a:ext cx="216" cy="0"/>
              </a:xfrm>
              <a:prstGeom prst="line">
                <a:avLst/>
              </a:prstGeom>
              <a:noFill/>
              <a:ln w="1905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18443" name="Line 15"/>
              <p:cNvSpPr>
                <a:spLocks noChangeShapeType="1"/>
              </p:cNvSpPr>
              <p:nvPr/>
            </p:nvSpPr>
            <p:spPr bwMode="auto">
              <a:xfrm>
                <a:off x="2446" y="1997"/>
                <a:ext cx="216" cy="0"/>
              </a:xfrm>
              <a:prstGeom prst="line">
                <a:avLst/>
              </a:prstGeom>
              <a:noFill/>
              <a:ln w="19050">
                <a:solidFill>
                  <a:srgbClr val="00008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18444" name="Freeform 16"/>
              <p:cNvSpPr>
                <a:spLocks/>
              </p:cNvSpPr>
              <p:nvPr/>
            </p:nvSpPr>
            <p:spPr bwMode="auto">
              <a:xfrm>
                <a:off x="820" y="1985"/>
                <a:ext cx="2512" cy="176"/>
              </a:xfrm>
              <a:custGeom>
                <a:avLst/>
                <a:gdLst>
                  <a:gd name="T0" fmla="*/ 0 w 6280"/>
                  <a:gd name="T1" fmla="*/ 0 h 440"/>
                  <a:gd name="T2" fmla="*/ 0 w 6280"/>
                  <a:gd name="T3" fmla="*/ 0 h 440"/>
                  <a:gd name="T4" fmla="*/ 0 w 6280"/>
                  <a:gd name="T5" fmla="*/ 0 h 440"/>
                  <a:gd name="T6" fmla="*/ 0 w 6280"/>
                  <a:gd name="T7" fmla="*/ 0 h 440"/>
                  <a:gd name="T8" fmla="*/ 0 w 6280"/>
                  <a:gd name="T9" fmla="*/ 0 h 440"/>
                  <a:gd name="T10" fmla="*/ 0 w 6280"/>
                  <a:gd name="T11" fmla="*/ 0 h 440"/>
                  <a:gd name="T12" fmla="*/ 0 60000 65536"/>
                  <a:gd name="T13" fmla="*/ 0 60000 65536"/>
                  <a:gd name="T14" fmla="*/ 0 60000 65536"/>
                  <a:gd name="T15" fmla="*/ 0 60000 65536"/>
                  <a:gd name="T16" fmla="*/ 0 60000 65536"/>
                  <a:gd name="T17" fmla="*/ 0 60000 65536"/>
                  <a:gd name="T18" fmla="*/ 0 w 6280"/>
                  <a:gd name="T19" fmla="*/ 0 h 440"/>
                  <a:gd name="T20" fmla="*/ 6280 w 6280"/>
                  <a:gd name="T21" fmla="*/ 440 h 440"/>
                </a:gdLst>
                <a:ahLst/>
                <a:cxnLst>
                  <a:cxn ang="T12">
                    <a:pos x="T0" y="T1"/>
                  </a:cxn>
                  <a:cxn ang="T13">
                    <a:pos x="T2" y="T3"/>
                  </a:cxn>
                  <a:cxn ang="T14">
                    <a:pos x="T4" y="T5"/>
                  </a:cxn>
                  <a:cxn ang="T15">
                    <a:pos x="T6" y="T7"/>
                  </a:cxn>
                  <a:cxn ang="T16">
                    <a:pos x="T8" y="T9"/>
                  </a:cxn>
                  <a:cxn ang="T17">
                    <a:pos x="T10" y="T11"/>
                  </a:cxn>
                </a:cxnLst>
                <a:rect l="T18" t="T19" r="T20" b="T21"/>
                <a:pathLst>
                  <a:path w="6280" h="440">
                    <a:moveTo>
                      <a:pt x="5860" y="0"/>
                    </a:moveTo>
                    <a:lnTo>
                      <a:pt x="6280" y="0"/>
                    </a:lnTo>
                    <a:lnTo>
                      <a:pt x="6280" y="440"/>
                    </a:lnTo>
                    <a:lnTo>
                      <a:pt x="0" y="440"/>
                    </a:lnTo>
                    <a:lnTo>
                      <a:pt x="0" y="20"/>
                    </a:lnTo>
                    <a:lnTo>
                      <a:pt x="520" y="20"/>
                    </a:lnTo>
                  </a:path>
                </a:pathLst>
              </a:custGeom>
              <a:noFill/>
              <a:ln w="19050" cap="flat" cmpd="sng">
                <a:solidFill>
                  <a:srgbClr val="000080"/>
                </a:solidFill>
                <a:prstDash val="solid"/>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grpSp>
        <p:sp>
          <p:nvSpPr>
            <p:cNvPr id="18438" name="Rectangle 17"/>
            <p:cNvSpPr>
              <a:spLocks noChangeArrowheads="1"/>
            </p:cNvSpPr>
            <p:nvPr/>
          </p:nvSpPr>
          <p:spPr bwMode="auto">
            <a:xfrm>
              <a:off x="608" y="1882"/>
              <a:ext cx="51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buClrTx/>
                <a:buFontTx/>
                <a:buNone/>
              </a:pPr>
              <a:r>
                <a:rPr lang="zh-CN" altLang="en-US" dirty="0">
                  <a:solidFill>
                    <a:srgbClr val="FF0000"/>
                  </a:solidFill>
                  <a:latin typeface="黑体" pitchFamily="2" charset="-122"/>
                  <a:ea typeface="黑体" pitchFamily="2" charset="-122"/>
                </a:rPr>
                <a:t>程序运行的基本过程：</a:t>
              </a:r>
              <a:r>
                <a:rPr lang="zh-CN" altLang="en-US" sz="1100" dirty="0">
                  <a:latin typeface="黑体" pitchFamily="2" charset="-122"/>
                  <a:ea typeface="黑体" pitchFamily="2" charset="-122"/>
                </a:rPr>
                <a:t> </a:t>
              </a:r>
              <a:endParaRPr lang="zh-CN" altLang="en-US" b="0" dirty="0">
                <a:solidFill>
                  <a:schemeClr val="tx1"/>
                </a:solidFill>
                <a:latin typeface="黑体" pitchFamily="2" charset="-122"/>
                <a:ea typeface="黑体"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Group 2"/>
          <p:cNvGrpSpPr>
            <a:grpSpLocks/>
          </p:cNvGrpSpPr>
          <p:nvPr/>
        </p:nvGrpSpPr>
        <p:grpSpPr bwMode="auto">
          <a:xfrm>
            <a:off x="1470025" y="1846263"/>
            <a:ext cx="6200775" cy="1528762"/>
            <a:chOff x="926" y="1163"/>
            <a:chExt cx="3906" cy="963"/>
          </a:xfrm>
        </p:grpSpPr>
        <p:sp>
          <p:nvSpPr>
            <p:cNvPr id="19460" name="Text Box 3"/>
            <p:cNvSpPr txBox="1">
              <a:spLocks noChangeArrowheads="1"/>
            </p:cNvSpPr>
            <p:nvPr/>
          </p:nvSpPr>
          <p:spPr bwMode="auto">
            <a:xfrm>
              <a:off x="1034" y="1519"/>
              <a:ext cx="742" cy="497"/>
            </a:xfrm>
            <a:prstGeom prst="rect">
              <a:avLst/>
            </a:prstGeom>
            <a:solidFill>
              <a:srgbClr val="FFFFCC"/>
            </a:solidFill>
            <a:ln w="19050">
              <a:solidFill>
                <a:srgbClr val="000080"/>
              </a:solidFill>
              <a:miter lim="800000"/>
              <a:headEnd/>
              <a:tailEnd/>
            </a:ln>
          </p:spPr>
          <p:txBody>
            <a:bodyPr lIns="0" tIns="10800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zh-CN" altLang="en-US">
                  <a:solidFill>
                    <a:srgbClr val="000080"/>
                  </a:solidFill>
                  <a:latin typeface="黑体" pitchFamily="2" charset="-122"/>
                  <a:ea typeface="黑体" pitchFamily="2" charset="-122"/>
                </a:rPr>
                <a:t>运算器</a:t>
              </a:r>
              <a:endParaRPr lang="zh-CN" altLang="en-US">
                <a:solidFill>
                  <a:schemeClr val="tx1"/>
                </a:solidFill>
                <a:latin typeface="黑体" pitchFamily="2" charset="-122"/>
                <a:ea typeface="黑体" pitchFamily="2" charset="-122"/>
              </a:endParaRPr>
            </a:p>
          </p:txBody>
        </p:sp>
        <p:sp>
          <p:nvSpPr>
            <p:cNvPr id="19461" name="Line 4"/>
            <p:cNvSpPr>
              <a:spLocks noChangeShapeType="1"/>
            </p:cNvSpPr>
            <p:nvPr/>
          </p:nvSpPr>
          <p:spPr bwMode="auto">
            <a:xfrm flipV="1">
              <a:off x="926" y="1163"/>
              <a:ext cx="3906" cy="1"/>
            </a:xfrm>
            <a:prstGeom prst="line">
              <a:avLst/>
            </a:prstGeom>
            <a:noFill/>
            <a:ln w="635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19462" name="Line 5"/>
            <p:cNvSpPr>
              <a:spLocks noChangeShapeType="1"/>
            </p:cNvSpPr>
            <p:nvPr/>
          </p:nvSpPr>
          <p:spPr bwMode="auto">
            <a:xfrm flipH="1" flipV="1">
              <a:off x="1405" y="1164"/>
              <a:ext cx="0" cy="356"/>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19463" name="Text Box 6"/>
            <p:cNvSpPr txBox="1">
              <a:spLocks noChangeArrowheads="1"/>
            </p:cNvSpPr>
            <p:nvPr/>
          </p:nvSpPr>
          <p:spPr bwMode="auto">
            <a:xfrm>
              <a:off x="1951" y="1527"/>
              <a:ext cx="743" cy="497"/>
            </a:xfrm>
            <a:prstGeom prst="rect">
              <a:avLst/>
            </a:prstGeom>
            <a:solidFill>
              <a:srgbClr val="FFFFCC"/>
            </a:solidFill>
            <a:ln w="19050">
              <a:solidFill>
                <a:srgbClr val="000080"/>
              </a:solidFill>
              <a:miter lim="800000"/>
              <a:headEnd/>
              <a:tailEnd/>
            </a:ln>
          </p:spPr>
          <p:txBody>
            <a:bodyPr lIns="0" tIns="10800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zh-CN" altLang="en-US">
                  <a:solidFill>
                    <a:srgbClr val="000080"/>
                  </a:solidFill>
                  <a:latin typeface="黑体" pitchFamily="2" charset="-122"/>
                  <a:ea typeface="黑体" pitchFamily="2" charset="-122"/>
                </a:rPr>
                <a:t>控制器</a:t>
              </a:r>
            </a:p>
          </p:txBody>
        </p:sp>
        <p:sp>
          <p:nvSpPr>
            <p:cNvPr id="19464" name="Text Box 7"/>
            <p:cNvSpPr txBox="1">
              <a:spLocks noChangeArrowheads="1"/>
            </p:cNvSpPr>
            <p:nvPr/>
          </p:nvSpPr>
          <p:spPr bwMode="auto">
            <a:xfrm>
              <a:off x="2875" y="1527"/>
              <a:ext cx="742" cy="497"/>
            </a:xfrm>
            <a:prstGeom prst="rect">
              <a:avLst/>
            </a:prstGeom>
            <a:solidFill>
              <a:srgbClr val="FFFFCC"/>
            </a:solidFill>
            <a:ln w="19050">
              <a:solidFill>
                <a:srgbClr val="000080"/>
              </a:solidFill>
              <a:miter lim="800000"/>
              <a:headEnd/>
              <a:tailEnd/>
            </a:ln>
          </p:spPr>
          <p:txBody>
            <a:bodyPr lIns="0" tIns="10800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zh-CN" altLang="en-US">
                  <a:solidFill>
                    <a:srgbClr val="000080"/>
                  </a:solidFill>
                  <a:latin typeface="黑体" pitchFamily="2" charset="-122"/>
                  <a:ea typeface="黑体" pitchFamily="2" charset="-122"/>
                </a:rPr>
                <a:t>存储器</a:t>
              </a:r>
            </a:p>
          </p:txBody>
        </p:sp>
        <p:sp>
          <p:nvSpPr>
            <p:cNvPr id="19465" name="Text Box 8"/>
            <p:cNvSpPr txBox="1">
              <a:spLocks noChangeArrowheads="1"/>
            </p:cNvSpPr>
            <p:nvPr/>
          </p:nvSpPr>
          <p:spPr bwMode="auto">
            <a:xfrm>
              <a:off x="3874" y="1527"/>
              <a:ext cx="743" cy="497"/>
            </a:xfrm>
            <a:prstGeom prst="rect">
              <a:avLst/>
            </a:prstGeom>
            <a:solidFill>
              <a:srgbClr val="FFFFCC"/>
            </a:solidFill>
            <a:ln w="19050">
              <a:solidFill>
                <a:srgbClr val="000080"/>
              </a:solidFill>
              <a:miter lim="800000"/>
              <a:headEnd/>
              <a:tailEnd/>
            </a:ln>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zh-CN" altLang="en-US">
                  <a:solidFill>
                    <a:srgbClr val="000080"/>
                  </a:solidFill>
                  <a:latin typeface="黑体" pitchFamily="2" charset="-122"/>
                  <a:ea typeface="黑体" pitchFamily="2" charset="-122"/>
                </a:rPr>
                <a:t>输入输</a:t>
              </a:r>
            </a:p>
            <a:p>
              <a:pPr algn="ctr">
                <a:lnSpc>
                  <a:spcPct val="100000"/>
                </a:lnSpc>
                <a:spcBef>
                  <a:spcPct val="0"/>
                </a:spcBef>
                <a:buClrTx/>
                <a:buFontTx/>
                <a:buNone/>
              </a:pPr>
              <a:r>
                <a:rPr lang="zh-CN" altLang="en-US">
                  <a:solidFill>
                    <a:srgbClr val="000080"/>
                  </a:solidFill>
                  <a:latin typeface="黑体" pitchFamily="2" charset="-122"/>
                  <a:ea typeface="黑体" pitchFamily="2" charset="-122"/>
                </a:rPr>
                <a:t>出部件</a:t>
              </a:r>
            </a:p>
          </p:txBody>
        </p:sp>
        <p:sp>
          <p:nvSpPr>
            <p:cNvPr id="19466" name="Line 9"/>
            <p:cNvSpPr>
              <a:spLocks noChangeShapeType="1"/>
            </p:cNvSpPr>
            <p:nvPr/>
          </p:nvSpPr>
          <p:spPr bwMode="auto">
            <a:xfrm flipH="1" flipV="1">
              <a:off x="2300" y="1164"/>
              <a:ext cx="0" cy="356"/>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19467" name="Line 10"/>
            <p:cNvSpPr>
              <a:spLocks noChangeShapeType="1"/>
            </p:cNvSpPr>
            <p:nvPr/>
          </p:nvSpPr>
          <p:spPr bwMode="auto">
            <a:xfrm flipH="1" flipV="1">
              <a:off x="3233" y="1172"/>
              <a:ext cx="0" cy="356"/>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19468" name="Line 11"/>
            <p:cNvSpPr>
              <a:spLocks noChangeShapeType="1"/>
            </p:cNvSpPr>
            <p:nvPr/>
          </p:nvSpPr>
          <p:spPr bwMode="auto">
            <a:xfrm flipH="1" flipV="1">
              <a:off x="4223" y="1169"/>
              <a:ext cx="0" cy="355"/>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19469" name="Rectangle 12"/>
            <p:cNvSpPr>
              <a:spLocks noChangeArrowheads="1"/>
            </p:cNvSpPr>
            <p:nvPr/>
          </p:nvSpPr>
          <p:spPr bwMode="auto">
            <a:xfrm>
              <a:off x="926" y="1410"/>
              <a:ext cx="1872" cy="716"/>
            </a:xfrm>
            <a:prstGeom prst="rect">
              <a:avLst/>
            </a:prstGeom>
            <a:noFill/>
            <a:ln w="19050">
              <a:solidFill>
                <a:srgbClr val="FF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pPr algn="ctr">
                <a:spcBef>
                  <a:spcPct val="20000"/>
                </a:spcBef>
              </a:pPr>
              <a:endParaRPr lang="zh-CN" altLang="en-US" sz="2600">
                <a:latin typeface="黑体" pitchFamily="2" charset="-122"/>
                <a:ea typeface="黑体" pitchFamily="2" charset="-122"/>
              </a:endParaRPr>
            </a:p>
          </p:txBody>
        </p:sp>
        <p:sp>
          <p:nvSpPr>
            <p:cNvPr id="19470" name="Text Box 13"/>
            <p:cNvSpPr txBox="1">
              <a:spLocks noChangeArrowheads="1"/>
            </p:cNvSpPr>
            <p:nvPr/>
          </p:nvSpPr>
          <p:spPr bwMode="auto">
            <a:xfrm>
              <a:off x="1513" y="1177"/>
              <a:ext cx="643"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just">
                <a:lnSpc>
                  <a:spcPct val="100000"/>
                </a:lnSpc>
                <a:spcBef>
                  <a:spcPct val="0"/>
                </a:spcBef>
                <a:buClrTx/>
                <a:buFontTx/>
                <a:buNone/>
              </a:pPr>
              <a:r>
                <a:rPr lang="en-US" altLang="zh-CN" dirty="0">
                  <a:solidFill>
                    <a:srgbClr val="FF0000"/>
                  </a:solidFill>
                  <a:latin typeface="黑体" pitchFamily="2" charset="-122"/>
                  <a:ea typeface="黑体" pitchFamily="2" charset="-122"/>
                </a:rPr>
                <a:t>CPU</a:t>
              </a:r>
            </a:p>
          </p:txBody>
        </p:sp>
      </p:grpSp>
      <p:sp>
        <p:nvSpPr>
          <p:cNvPr id="19459" name="Rectangle 14"/>
          <p:cNvSpPr>
            <a:spLocks noChangeArrowheads="1"/>
          </p:cNvSpPr>
          <p:nvPr/>
        </p:nvSpPr>
        <p:spPr bwMode="auto">
          <a:xfrm>
            <a:off x="673100" y="841375"/>
            <a:ext cx="84709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buClrTx/>
              <a:buFontTx/>
              <a:buNone/>
            </a:pPr>
            <a:r>
              <a:rPr lang="zh-CN" altLang="en-US" dirty="0">
                <a:solidFill>
                  <a:srgbClr val="000080"/>
                </a:solidFill>
                <a:latin typeface="黑体" pitchFamily="2" charset="-122"/>
                <a:ea typeface="黑体" pitchFamily="2" charset="-122"/>
              </a:rPr>
              <a:t>以单总线结构的模型机为例：</a:t>
            </a:r>
            <a:r>
              <a:rPr lang="zh-CN" altLang="en-US" dirty="0">
                <a:latin typeface="黑体" pitchFamily="2" charset="-122"/>
                <a:ea typeface="黑体" pitchFamily="2" charset="-122"/>
              </a:rPr>
              <a:t> </a:t>
            </a:r>
            <a:endParaRPr lang="zh-CN" altLang="en-US" b="0" dirty="0">
              <a:solidFill>
                <a:schemeClr val="tx1"/>
              </a:solidFill>
              <a:latin typeface="黑体" pitchFamily="2" charset="-122"/>
              <a:ea typeface="黑体"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AutoShape 2"/>
          <p:cNvSpPr>
            <a:spLocks noChangeArrowheads="1"/>
          </p:cNvSpPr>
          <p:nvPr/>
        </p:nvSpPr>
        <p:spPr bwMode="auto">
          <a:xfrm>
            <a:off x="601663" y="554038"/>
            <a:ext cx="8075612" cy="2827337"/>
          </a:xfrm>
          <a:prstGeom prst="roundRect">
            <a:avLst>
              <a:gd name="adj" fmla="val 11958"/>
            </a:avLst>
          </a:prstGeom>
          <a:gradFill rotWithShape="0">
            <a:gsLst>
              <a:gs pos="0">
                <a:srgbClr val="F5E3F3"/>
              </a:gs>
              <a:gs pos="50000">
                <a:srgbClr val="ADD6FF"/>
              </a:gs>
              <a:gs pos="100000">
                <a:srgbClr val="F5E3F3"/>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spcBef>
                <a:spcPct val="20000"/>
              </a:spcBef>
            </a:pPr>
            <a:endParaRPr lang="zh-CN" altLang="en-US" sz="2600">
              <a:latin typeface="黑体" pitchFamily="2" charset="-122"/>
              <a:ea typeface="黑体" pitchFamily="2" charset="-122"/>
            </a:endParaRPr>
          </a:p>
        </p:txBody>
      </p:sp>
      <p:grpSp>
        <p:nvGrpSpPr>
          <p:cNvPr id="20483" name="Group 3"/>
          <p:cNvGrpSpPr>
            <a:grpSpLocks/>
          </p:cNvGrpSpPr>
          <p:nvPr/>
        </p:nvGrpSpPr>
        <p:grpSpPr bwMode="auto">
          <a:xfrm>
            <a:off x="1147763" y="817563"/>
            <a:ext cx="7097712" cy="2268537"/>
            <a:chOff x="723" y="515"/>
            <a:chExt cx="4471" cy="1589"/>
          </a:xfrm>
        </p:grpSpPr>
        <p:sp>
          <p:nvSpPr>
            <p:cNvPr id="20486" name="Line 4"/>
            <p:cNvSpPr>
              <a:spLocks noChangeShapeType="1"/>
            </p:cNvSpPr>
            <p:nvPr/>
          </p:nvSpPr>
          <p:spPr bwMode="auto">
            <a:xfrm>
              <a:off x="723" y="515"/>
              <a:ext cx="4471" cy="0"/>
            </a:xfrm>
            <a:prstGeom prst="line">
              <a:avLst/>
            </a:prstGeom>
            <a:noFill/>
            <a:ln w="5715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20487" name="Rectangle 5"/>
            <p:cNvSpPr>
              <a:spLocks noChangeArrowheads="1"/>
            </p:cNvSpPr>
            <p:nvPr/>
          </p:nvSpPr>
          <p:spPr bwMode="auto">
            <a:xfrm>
              <a:off x="869" y="735"/>
              <a:ext cx="1460" cy="1369"/>
            </a:xfrm>
            <a:prstGeom prst="rect">
              <a:avLst/>
            </a:prstGeom>
            <a:solidFill>
              <a:srgbClr val="FFFFFF"/>
            </a:solidFill>
            <a:ln w="19050">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0488" name="Rectangle 6"/>
            <p:cNvSpPr>
              <a:spLocks noChangeArrowheads="1"/>
            </p:cNvSpPr>
            <p:nvPr/>
          </p:nvSpPr>
          <p:spPr bwMode="auto">
            <a:xfrm>
              <a:off x="2822" y="745"/>
              <a:ext cx="728" cy="1330"/>
            </a:xfrm>
            <a:prstGeom prst="rect">
              <a:avLst/>
            </a:prstGeom>
            <a:solidFill>
              <a:srgbClr val="FFFFFF"/>
            </a:solidFill>
            <a:ln w="19050">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0489" name="Rectangle 7"/>
            <p:cNvSpPr>
              <a:spLocks noChangeArrowheads="1"/>
            </p:cNvSpPr>
            <p:nvPr/>
          </p:nvSpPr>
          <p:spPr bwMode="auto">
            <a:xfrm>
              <a:off x="4072" y="754"/>
              <a:ext cx="739" cy="508"/>
            </a:xfrm>
            <a:prstGeom prst="rect">
              <a:avLst/>
            </a:prstGeom>
            <a:solidFill>
              <a:srgbClr val="FFFFFF"/>
            </a:solidFill>
            <a:ln w="19050">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0490" name="Rectangle 8"/>
            <p:cNvSpPr>
              <a:spLocks noChangeArrowheads="1"/>
            </p:cNvSpPr>
            <p:nvPr/>
          </p:nvSpPr>
          <p:spPr bwMode="auto">
            <a:xfrm>
              <a:off x="4081" y="1472"/>
              <a:ext cx="748" cy="584"/>
            </a:xfrm>
            <a:prstGeom prst="rect">
              <a:avLst/>
            </a:prstGeom>
            <a:solidFill>
              <a:srgbClr val="FFFFFF"/>
            </a:solidFill>
            <a:ln w="19050">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0491" name="Text Box 9"/>
            <p:cNvSpPr txBox="1">
              <a:spLocks noChangeArrowheads="1"/>
            </p:cNvSpPr>
            <p:nvPr/>
          </p:nvSpPr>
          <p:spPr bwMode="auto">
            <a:xfrm>
              <a:off x="1325" y="1893"/>
              <a:ext cx="484"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ts val="300"/>
                </a:spcBef>
                <a:buClrTx/>
                <a:buFontTx/>
                <a:buNone/>
              </a:pPr>
              <a:r>
                <a:rPr lang="en-US" altLang="zh-CN" sz="1800">
                  <a:solidFill>
                    <a:srgbClr val="000080"/>
                  </a:solidFill>
                  <a:latin typeface="黑体" pitchFamily="2" charset="-122"/>
                  <a:ea typeface="黑体" pitchFamily="2" charset="-122"/>
                </a:rPr>
                <a:t>CPU</a:t>
              </a:r>
              <a:endParaRPr lang="en-US" altLang="zh-CN" sz="1600">
                <a:solidFill>
                  <a:srgbClr val="000080"/>
                </a:solidFill>
                <a:latin typeface="黑体" pitchFamily="2" charset="-122"/>
                <a:ea typeface="黑体" pitchFamily="2" charset="-122"/>
              </a:endParaRPr>
            </a:p>
          </p:txBody>
        </p:sp>
        <p:sp>
          <p:nvSpPr>
            <p:cNvPr id="20492" name="Rectangle 10"/>
            <p:cNvSpPr>
              <a:spLocks noChangeArrowheads="1"/>
            </p:cNvSpPr>
            <p:nvPr/>
          </p:nvSpPr>
          <p:spPr bwMode="auto">
            <a:xfrm>
              <a:off x="1754" y="841"/>
              <a:ext cx="465" cy="124"/>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0493" name="Rectangle 11"/>
            <p:cNvSpPr>
              <a:spLocks noChangeArrowheads="1"/>
            </p:cNvSpPr>
            <p:nvPr/>
          </p:nvSpPr>
          <p:spPr bwMode="auto">
            <a:xfrm>
              <a:off x="1754" y="1003"/>
              <a:ext cx="465" cy="125"/>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0494" name="Rectangle 12"/>
            <p:cNvSpPr>
              <a:spLocks noChangeArrowheads="1"/>
            </p:cNvSpPr>
            <p:nvPr/>
          </p:nvSpPr>
          <p:spPr bwMode="auto">
            <a:xfrm>
              <a:off x="1754" y="1281"/>
              <a:ext cx="465" cy="124"/>
            </a:xfrm>
            <a:prstGeom prst="rect">
              <a:avLst/>
            </a:prstGeom>
            <a:solidFill>
              <a:srgbClr val="FFFFFF"/>
            </a:solidFill>
            <a:ln w="9525">
              <a:solidFill>
                <a:srgbClr val="00000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0495" name="Rectangle 13"/>
            <p:cNvSpPr>
              <a:spLocks noChangeArrowheads="1"/>
            </p:cNvSpPr>
            <p:nvPr/>
          </p:nvSpPr>
          <p:spPr bwMode="auto">
            <a:xfrm>
              <a:off x="1754" y="1281"/>
              <a:ext cx="465" cy="631"/>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0496" name="Rectangle 14"/>
            <p:cNvSpPr>
              <a:spLocks noChangeArrowheads="1"/>
            </p:cNvSpPr>
            <p:nvPr/>
          </p:nvSpPr>
          <p:spPr bwMode="auto">
            <a:xfrm>
              <a:off x="1754" y="1405"/>
              <a:ext cx="465" cy="124"/>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0497" name="Rectangle 15"/>
            <p:cNvSpPr>
              <a:spLocks noChangeArrowheads="1"/>
            </p:cNvSpPr>
            <p:nvPr/>
          </p:nvSpPr>
          <p:spPr bwMode="auto">
            <a:xfrm>
              <a:off x="1754" y="1788"/>
              <a:ext cx="465" cy="124"/>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0498" name="Text Box 16"/>
            <p:cNvSpPr txBox="1">
              <a:spLocks noChangeArrowheads="1"/>
            </p:cNvSpPr>
            <p:nvPr/>
          </p:nvSpPr>
          <p:spPr bwMode="auto">
            <a:xfrm>
              <a:off x="1389" y="831"/>
              <a:ext cx="347"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IR</a:t>
              </a:r>
            </a:p>
          </p:txBody>
        </p:sp>
        <p:sp>
          <p:nvSpPr>
            <p:cNvPr id="20499" name="Text Box 17"/>
            <p:cNvSpPr txBox="1">
              <a:spLocks noChangeArrowheads="1"/>
            </p:cNvSpPr>
            <p:nvPr/>
          </p:nvSpPr>
          <p:spPr bwMode="auto">
            <a:xfrm>
              <a:off x="1407" y="975"/>
              <a:ext cx="34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PC</a:t>
              </a:r>
            </a:p>
          </p:txBody>
        </p:sp>
        <p:sp>
          <p:nvSpPr>
            <p:cNvPr id="20500" name="Text Box 18"/>
            <p:cNvSpPr txBox="1">
              <a:spLocks noChangeArrowheads="1"/>
            </p:cNvSpPr>
            <p:nvPr/>
          </p:nvSpPr>
          <p:spPr bwMode="auto">
            <a:xfrm>
              <a:off x="1400" y="1252"/>
              <a:ext cx="347"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R0</a:t>
              </a:r>
            </a:p>
          </p:txBody>
        </p:sp>
        <p:sp>
          <p:nvSpPr>
            <p:cNvPr id="20501" name="Text Box 19"/>
            <p:cNvSpPr txBox="1">
              <a:spLocks noChangeArrowheads="1"/>
            </p:cNvSpPr>
            <p:nvPr/>
          </p:nvSpPr>
          <p:spPr bwMode="auto">
            <a:xfrm>
              <a:off x="1407" y="1376"/>
              <a:ext cx="347"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R1</a:t>
              </a:r>
            </a:p>
          </p:txBody>
        </p:sp>
        <p:sp>
          <p:nvSpPr>
            <p:cNvPr id="20502" name="Text Box 20"/>
            <p:cNvSpPr txBox="1">
              <a:spLocks noChangeArrowheads="1"/>
            </p:cNvSpPr>
            <p:nvPr/>
          </p:nvSpPr>
          <p:spPr bwMode="auto">
            <a:xfrm>
              <a:off x="1754" y="1578"/>
              <a:ext cx="465"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zh-CN" altLang="en-US" sz="1600">
                  <a:solidFill>
                    <a:srgbClr val="000080"/>
                  </a:solidFill>
                  <a:latin typeface="黑体" pitchFamily="2" charset="-122"/>
                  <a:ea typeface="黑体" pitchFamily="2" charset="-122"/>
                </a:rPr>
                <a:t>……</a:t>
              </a:r>
            </a:p>
          </p:txBody>
        </p:sp>
        <p:sp>
          <p:nvSpPr>
            <p:cNvPr id="20503" name="Rectangle 21"/>
            <p:cNvSpPr>
              <a:spLocks noChangeArrowheads="1"/>
            </p:cNvSpPr>
            <p:nvPr/>
          </p:nvSpPr>
          <p:spPr bwMode="auto">
            <a:xfrm>
              <a:off x="2822" y="888"/>
              <a:ext cx="720" cy="134"/>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0504" name="Rectangle 22"/>
            <p:cNvSpPr>
              <a:spLocks noChangeArrowheads="1"/>
            </p:cNvSpPr>
            <p:nvPr/>
          </p:nvSpPr>
          <p:spPr bwMode="auto">
            <a:xfrm>
              <a:off x="2822" y="1147"/>
              <a:ext cx="720" cy="134"/>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0505" name="Text Box 23"/>
            <p:cNvSpPr txBox="1">
              <a:spLocks noChangeArrowheads="1"/>
            </p:cNvSpPr>
            <p:nvPr/>
          </p:nvSpPr>
          <p:spPr bwMode="auto">
            <a:xfrm>
              <a:off x="2922" y="1270"/>
              <a:ext cx="5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zh-CN" altLang="en-US" sz="1600">
                  <a:solidFill>
                    <a:srgbClr val="000080"/>
                  </a:solidFill>
                  <a:latin typeface="黑体" pitchFamily="2" charset="-122"/>
                  <a:ea typeface="黑体" pitchFamily="2" charset="-122"/>
                </a:rPr>
                <a:t>……</a:t>
              </a:r>
            </a:p>
          </p:txBody>
        </p:sp>
        <p:sp>
          <p:nvSpPr>
            <p:cNvPr id="20506" name="Rectangle 24"/>
            <p:cNvSpPr>
              <a:spLocks noChangeArrowheads="1"/>
            </p:cNvSpPr>
            <p:nvPr/>
          </p:nvSpPr>
          <p:spPr bwMode="auto">
            <a:xfrm>
              <a:off x="2822" y="1482"/>
              <a:ext cx="720" cy="134"/>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0507" name="Text Box 25"/>
            <p:cNvSpPr txBox="1">
              <a:spLocks noChangeArrowheads="1"/>
            </p:cNvSpPr>
            <p:nvPr/>
          </p:nvSpPr>
          <p:spPr bwMode="auto">
            <a:xfrm>
              <a:off x="2922" y="1702"/>
              <a:ext cx="538"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zh-CN" altLang="en-US" sz="1600">
                  <a:solidFill>
                    <a:srgbClr val="000080"/>
                  </a:solidFill>
                  <a:latin typeface="黑体" pitchFamily="2" charset="-122"/>
                  <a:ea typeface="黑体" pitchFamily="2" charset="-122"/>
                </a:rPr>
                <a:t>……</a:t>
              </a:r>
            </a:p>
          </p:txBody>
        </p:sp>
        <p:sp>
          <p:nvSpPr>
            <p:cNvPr id="20508" name="Text Box 26"/>
            <p:cNvSpPr txBox="1">
              <a:spLocks noChangeArrowheads="1"/>
            </p:cNvSpPr>
            <p:nvPr/>
          </p:nvSpPr>
          <p:spPr bwMode="auto">
            <a:xfrm>
              <a:off x="2858" y="1865"/>
              <a:ext cx="657"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MM</a:t>
              </a:r>
            </a:p>
          </p:txBody>
        </p:sp>
        <p:sp>
          <p:nvSpPr>
            <p:cNvPr id="20509" name="Text Box 27"/>
            <p:cNvSpPr txBox="1">
              <a:spLocks noChangeArrowheads="1"/>
            </p:cNvSpPr>
            <p:nvPr/>
          </p:nvSpPr>
          <p:spPr bwMode="auto">
            <a:xfrm>
              <a:off x="4145" y="1827"/>
              <a:ext cx="666"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I/O</a:t>
              </a:r>
              <a:r>
                <a:rPr lang="zh-CN" altLang="en-US" sz="1600">
                  <a:solidFill>
                    <a:srgbClr val="000080"/>
                  </a:solidFill>
                  <a:latin typeface="黑体" pitchFamily="2" charset="-122"/>
                  <a:ea typeface="黑体" pitchFamily="2" charset="-122"/>
                </a:rPr>
                <a:t>设备</a:t>
              </a:r>
            </a:p>
          </p:txBody>
        </p:sp>
        <p:sp>
          <p:nvSpPr>
            <p:cNvPr id="20510" name="Rectangle 28"/>
            <p:cNvSpPr>
              <a:spLocks noChangeArrowheads="1"/>
            </p:cNvSpPr>
            <p:nvPr/>
          </p:nvSpPr>
          <p:spPr bwMode="auto">
            <a:xfrm>
              <a:off x="4236" y="811"/>
              <a:ext cx="466" cy="125"/>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0511" name="Text Box 29"/>
            <p:cNvSpPr txBox="1">
              <a:spLocks noChangeArrowheads="1"/>
            </p:cNvSpPr>
            <p:nvPr/>
          </p:nvSpPr>
          <p:spPr bwMode="auto">
            <a:xfrm>
              <a:off x="4117" y="1060"/>
              <a:ext cx="667"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I/O</a:t>
              </a:r>
              <a:r>
                <a:rPr lang="zh-CN" altLang="en-US" sz="1600">
                  <a:solidFill>
                    <a:srgbClr val="000080"/>
                  </a:solidFill>
                  <a:latin typeface="黑体" pitchFamily="2" charset="-122"/>
                  <a:ea typeface="黑体" pitchFamily="2" charset="-122"/>
                </a:rPr>
                <a:t>接口</a:t>
              </a:r>
            </a:p>
          </p:txBody>
        </p:sp>
        <p:sp>
          <p:nvSpPr>
            <p:cNvPr id="20512" name="Line 30"/>
            <p:cNvSpPr>
              <a:spLocks noChangeShapeType="1"/>
            </p:cNvSpPr>
            <p:nvPr/>
          </p:nvSpPr>
          <p:spPr bwMode="auto">
            <a:xfrm>
              <a:off x="1636" y="515"/>
              <a:ext cx="0" cy="220"/>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20513" name="Line 31"/>
            <p:cNvSpPr>
              <a:spLocks noChangeShapeType="1"/>
            </p:cNvSpPr>
            <p:nvPr/>
          </p:nvSpPr>
          <p:spPr bwMode="auto">
            <a:xfrm>
              <a:off x="3178" y="534"/>
              <a:ext cx="0" cy="220"/>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20514" name="Line 32"/>
            <p:cNvSpPr>
              <a:spLocks noChangeShapeType="1"/>
            </p:cNvSpPr>
            <p:nvPr/>
          </p:nvSpPr>
          <p:spPr bwMode="auto">
            <a:xfrm>
              <a:off x="4446" y="525"/>
              <a:ext cx="0" cy="220"/>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20515" name="Line 33"/>
            <p:cNvSpPr>
              <a:spLocks noChangeShapeType="1"/>
            </p:cNvSpPr>
            <p:nvPr/>
          </p:nvSpPr>
          <p:spPr bwMode="auto">
            <a:xfrm>
              <a:off x="4464" y="1262"/>
              <a:ext cx="0" cy="220"/>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20516" name="Freeform 34"/>
            <p:cNvSpPr>
              <a:spLocks/>
            </p:cNvSpPr>
            <p:nvPr/>
          </p:nvSpPr>
          <p:spPr bwMode="auto">
            <a:xfrm>
              <a:off x="927" y="994"/>
              <a:ext cx="506" cy="277"/>
            </a:xfrm>
            <a:custGeom>
              <a:avLst/>
              <a:gdLst>
                <a:gd name="T0" fmla="*/ 0 w 990"/>
                <a:gd name="T1" fmla="*/ 7 h 352"/>
                <a:gd name="T2" fmla="*/ 1 w 990"/>
                <a:gd name="T3" fmla="*/ 0 h 352"/>
                <a:gd name="T4" fmla="*/ 1 w 990"/>
                <a:gd name="T5" fmla="*/ 0 h 352"/>
                <a:gd name="T6" fmla="*/ 1 w 990"/>
                <a:gd name="T7" fmla="*/ 7 h 352"/>
                <a:gd name="T8" fmla="*/ 1 w 990"/>
                <a:gd name="T9" fmla="*/ 7 h 352"/>
                <a:gd name="T10" fmla="*/ 1 w 990"/>
                <a:gd name="T11" fmla="*/ 5 h 352"/>
                <a:gd name="T12" fmla="*/ 1 w 990"/>
                <a:gd name="T13" fmla="*/ 7 h 352"/>
                <a:gd name="T14" fmla="*/ 0 w 990"/>
                <a:gd name="T15" fmla="*/ 7 h 352"/>
                <a:gd name="T16" fmla="*/ 0 60000 65536"/>
                <a:gd name="T17" fmla="*/ 0 60000 65536"/>
                <a:gd name="T18" fmla="*/ 0 60000 65536"/>
                <a:gd name="T19" fmla="*/ 0 60000 65536"/>
                <a:gd name="T20" fmla="*/ 0 60000 65536"/>
                <a:gd name="T21" fmla="*/ 0 60000 65536"/>
                <a:gd name="T22" fmla="*/ 0 60000 65536"/>
                <a:gd name="T23" fmla="*/ 0 60000 65536"/>
                <a:gd name="T24" fmla="*/ 0 w 990"/>
                <a:gd name="T25" fmla="*/ 0 h 352"/>
                <a:gd name="T26" fmla="*/ 990 w 990"/>
                <a:gd name="T27" fmla="*/ 352 h 3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90" h="352">
                  <a:moveTo>
                    <a:pt x="0" y="345"/>
                  </a:moveTo>
                  <a:lnTo>
                    <a:pt x="248" y="0"/>
                  </a:lnTo>
                  <a:lnTo>
                    <a:pt x="735" y="0"/>
                  </a:lnTo>
                  <a:lnTo>
                    <a:pt x="990" y="352"/>
                  </a:lnTo>
                  <a:lnTo>
                    <a:pt x="570" y="352"/>
                  </a:lnTo>
                  <a:lnTo>
                    <a:pt x="495" y="225"/>
                  </a:lnTo>
                  <a:lnTo>
                    <a:pt x="428" y="345"/>
                  </a:lnTo>
                  <a:lnTo>
                    <a:pt x="0" y="345"/>
                  </a:lnTo>
                  <a:close/>
                </a:path>
              </a:pathLst>
            </a:custGeom>
            <a:solidFill>
              <a:srgbClr val="FFFFFF"/>
            </a:solidFill>
            <a:ln w="12700" cap="flat" cmpd="sng">
              <a:solidFill>
                <a:srgbClr val="000080"/>
              </a:solidFill>
              <a:prstDash val="solid"/>
              <a:round/>
              <a:headEnd/>
              <a:tailEnd/>
            </a:ln>
          </p:spPr>
          <p:txBody>
            <a:bodyPr/>
            <a:lstStyle/>
            <a:p>
              <a:endParaRPr lang="zh-CN" altLang="en-US">
                <a:latin typeface="黑体" pitchFamily="2" charset="-122"/>
                <a:ea typeface="黑体" pitchFamily="2" charset="-122"/>
              </a:endParaRPr>
            </a:p>
          </p:txBody>
        </p:sp>
        <p:sp>
          <p:nvSpPr>
            <p:cNvPr id="20517" name="Text Box 35"/>
            <p:cNvSpPr txBox="1">
              <a:spLocks noChangeArrowheads="1"/>
            </p:cNvSpPr>
            <p:nvPr/>
          </p:nvSpPr>
          <p:spPr bwMode="auto">
            <a:xfrm>
              <a:off x="975" y="1028"/>
              <a:ext cx="432"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ALU</a:t>
              </a:r>
            </a:p>
          </p:txBody>
        </p:sp>
        <p:sp>
          <p:nvSpPr>
            <p:cNvPr id="20518" name="Arc 36"/>
            <p:cNvSpPr>
              <a:spLocks/>
            </p:cNvSpPr>
            <p:nvPr/>
          </p:nvSpPr>
          <p:spPr bwMode="auto">
            <a:xfrm>
              <a:off x="2185" y="966"/>
              <a:ext cx="697" cy="142"/>
            </a:xfrm>
            <a:custGeom>
              <a:avLst/>
              <a:gdLst>
                <a:gd name="T0" fmla="*/ 0 w 20919"/>
                <a:gd name="T1" fmla="*/ 0 h 21507"/>
                <a:gd name="T2" fmla="*/ 0 w 20919"/>
                <a:gd name="T3" fmla="*/ 0 h 21507"/>
                <a:gd name="T4" fmla="*/ 0 w 20919"/>
                <a:gd name="T5" fmla="*/ 0 h 21507"/>
                <a:gd name="T6" fmla="*/ 0 60000 65536"/>
                <a:gd name="T7" fmla="*/ 0 60000 65536"/>
                <a:gd name="T8" fmla="*/ 0 60000 65536"/>
                <a:gd name="T9" fmla="*/ 0 w 20919"/>
                <a:gd name="T10" fmla="*/ 0 h 21507"/>
                <a:gd name="T11" fmla="*/ 20919 w 20919"/>
                <a:gd name="T12" fmla="*/ 21507 h 21507"/>
              </a:gdLst>
              <a:ahLst/>
              <a:cxnLst>
                <a:cxn ang="T6">
                  <a:pos x="T0" y="T1"/>
                </a:cxn>
                <a:cxn ang="T7">
                  <a:pos x="T2" y="T3"/>
                </a:cxn>
                <a:cxn ang="T8">
                  <a:pos x="T4" y="T5"/>
                </a:cxn>
              </a:cxnLst>
              <a:rect l="T9" t="T10" r="T11" b="T12"/>
              <a:pathLst>
                <a:path w="20919" h="21507" fill="none" extrusionOk="0">
                  <a:moveTo>
                    <a:pt x="0" y="16124"/>
                  </a:moveTo>
                  <a:cubicBezTo>
                    <a:pt x="2271" y="7296"/>
                    <a:pt x="9840" y="845"/>
                    <a:pt x="18916" y="0"/>
                  </a:cubicBezTo>
                </a:path>
                <a:path w="20919" h="21507" stroke="0" extrusionOk="0">
                  <a:moveTo>
                    <a:pt x="0" y="16124"/>
                  </a:moveTo>
                  <a:cubicBezTo>
                    <a:pt x="2271" y="7296"/>
                    <a:pt x="9840" y="845"/>
                    <a:pt x="18916" y="0"/>
                  </a:cubicBezTo>
                  <a:lnTo>
                    <a:pt x="20919" y="21507"/>
                  </a:lnTo>
                  <a:lnTo>
                    <a:pt x="0" y="16124"/>
                  </a:lnTo>
                  <a:close/>
                </a:path>
              </a:pathLst>
            </a:custGeom>
            <a:noFill/>
            <a:ln w="19050">
              <a:solidFill>
                <a:srgbClr val="FF0000"/>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20519" name="Rectangle 37"/>
            <p:cNvSpPr>
              <a:spLocks noChangeArrowheads="1"/>
            </p:cNvSpPr>
            <p:nvPr/>
          </p:nvSpPr>
          <p:spPr bwMode="auto">
            <a:xfrm>
              <a:off x="2804" y="728"/>
              <a:ext cx="751" cy="77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20000"/>
                </a:spcBef>
              </a:pPr>
              <a:endParaRPr lang="zh-CN" altLang="en-US" sz="2600">
                <a:latin typeface="黑体" pitchFamily="2" charset="-122"/>
                <a:ea typeface="黑体" pitchFamily="2" charset="-122"/>
              </a:endParaRPr>
            </a:p>
          </p:txBody>
        </p:sp>
      </p:grpSp>
      <p:sp>
        <p:nvSpPr>
          <p:cNvPr id="20484" name="Rectangle 38"/>
          <p:cNvSpPr>
            <a:spLocks noChangeArrowheads="1"/>
          </p:cNvSpPr>
          <p:nvPr/>
        </p:nvSpPr>
        <p:spPr bwMode="auto">
          <a:xfrm>
            <a:off x="482600" y="3571875"/>
            <a:ext cx="866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buClrTx/>
              <a:buFontTx/>
              <a:buNone/>
            </a:pPr>
            <a:r>
              <a:rPr lang="zh-CN" altLang="en-US">
                <a:solidFill>
                  <a:srgbClr val="FF0000"/>
                </a:solidFill>
                <a:latin typeface="黑体" pitchFamily="2" charset="-122"/>
                <a:ea typeface="黑体" pitchFamily="2" charset="-122"/>
              </a:rPr>
              <a:t>   以取指令过程为例，其具体操作包含以下内容：</a:t>
            </a:r>
            <a:r>
              <a:rPr lang="zh-CN" altLang="en-US">
                <a:latin typeface="黑体" pitchFamily="2" charset="-122"/>
                <a:ea typeface="黑体" pitchFamily="2" charset="-122"/>
              </a:rPr>
              <a:t> </a:t>
            </a:r>
            <a:endParaRPr lang="zh-CN" altLang="en-US" b="0">
              <a:solidFill>
                <a:schemeClr val="tx1"/>
              </a:solidFill>
              <a:latin typeface="黑体" pitchFamily="2" charset="-122"/>
              <a:ea typeface="黑体" pitchFamily="2" charset="-122"/>
            </a:endParaRPr>
          </a:p>
        </p:txBody>
      </p:sp>
      <p:sp>
        <p:nvSpPr>
          <p:cNvPr id="20485" name="Rectangle 39"/>
          <p:cNvSpPr>
            <a:spLocks noChangeArrowheads="1"/>
          </p:cNvSpPr>
          <p:nvPr/>
        </p:nvSpPr>
        <p:spPr bwMode="auto">
          <a:xfrm>
            <a:off x="698500" y="3986213"/>
            <a:ext cx="8097838"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spcBef>
                <a:spcPct val="0"/>
              </a:spcBef>
              <a:buClrTx/>
              <a:buFontTx/>
              <a:buNone/>
            </a:pPr>
            <a:r>
              <a:rPr lang="zh-CN" altLang="en-US">
                <a:solidFill>
                  <a:srgbClr val="000080"/>
                </a:solidFill>
                <a:latin typeface="黑体" pitchFamily="2" charset="-122"/>
                <a:ea typeface="黑体" pitchFamily="2" charset="-122"/>
              </a:rPr>
              <a:t>    (1) 控制器以</a:t>
            </a:r>
            <a:r>
              <a:rPr lang="en-US" altLang="zh-CN">
                <a:solidFill>
                  <a:srgbClr val="000080"/>
                </a:solidFill>
                <a:latin typeface="黑体" pitchFamily="2" charset="-122"/>
                <a:ea typeface="黑体" pitchFamily="2" charset="-122"/>
              </a:rPr>
              <a:t>PC</a:t>
            </a:r>
            <a:r>
              <a:rPr lang="zh-CN" altLang="en-US">
                <a:solidFill>
                  <a:srgbClr val="000080"/>
                </a:solidFill>
                <a:latin typeface="黑体" pitchFamily="2" charset="-122"/>
                <a:ea typeface="黑体" pitchFamily="2" charset="-122"/>
              </a:rPr>
              <a:t>中的二进制编码为内存地址，通过系统总线（的地址线）向主存</a:t>
            </a:r>
            <a:r>
              <a:rPr lang="en-US" altLang="zh-CN">
                <a:solidFill>
                  <a:srgbClr val="000080"/>
                </a:solidFill>
                <a:latin typeface="黑体" pitchFamily="2" charset="-122"/>
                <a:ea typeface="黑体" pitchFamily="2" charset="-122"/>
              </a:rPr>
              <a:t>(MM)</a:t>
            </a:r>
            <a:r>
              <a:rPr lang="zh-CN" altLang="en-US">
                <a:solidFill>
                  <a:srgbClr val="000080"/>
                </a:solidFill>
                <a:latin typeface="黑体" pitchFamily="2" charset="-122"/>
                <a:ea typeface="黑体" pitchFamily="2" charset="-122"/>
              </a:rPr>
              <a:t>发送地址信息，并且通过系统总线（的控制线）向</a:t>
            </a:r>
            <a:r>
              <a:rPr lang="en-US" altLang="zh-CN">
                <a:solidFill>
                  <a:srgbClr val="000080"/>
                </a:solidFill>
                <a:latin typeface="黑体" pitchFamily="2" charset="-122"/>
                <a:ea typeface="黑体" pitchFamily="2" charset="-122"/>
              </a:rPr>
              <a:t>MM</a:t>
            </a:r>
            <a:r>
              <a:rPr lang="zh-CN" altLang="en-US">
                <a:solidFill>
                  <a:srgbClr val="000080"/>
                </a:solidFill>
                <a:latin typeface="黑体" pitchFamily="2" charset="-122"/>
                <a:ea typeface="黑体" pitchFamily="2" charset="-122"/>
              </a:rPr>
              <a:t>发“读内存”命令；</a:t>
            </a:r>
            <a:r>
              <a:rPr lang="zh-CN" altLang="en-US">
                <a:latin typeface="黑体" pitchFamily="2" charset="-122"/>
                <a:ea typeface="黑体" pitchFamily="2" charset="-122"/>
              </a:rPr>
              <a:t> </a:t>
            </a:r>
            <a:endParaRPr lang="zh-CN" altLang="en-US" b="0">
              <a:solidFill>
                <a:schemeClr val="tx1"/>
              </a:solidFill>
              <a:latin typeface="黑体" pitchFamily="2" charset="-122"/>
              <a:ea typeface="黑体" pitchFamily="2"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AutoShape 2"/>
          <p:cNvSpPr>
            <a:spLocks noChangeArrowheads="1"/>
          </p:cNvSpPr>
          <p:nvPr/>
        </p:nvSpPr>
        <p:spPr bwMode="auto">
          <a:xfrm>
            <a:off x="601663" y="554038"/>
            <a:ext cx="8075612" cy="2827337"/>
          </a:xfrm>
          <a:prstGeom prst="roundRect">
            <a:avLst>
              <a:gd name="adj" fmla="val 11958"/>
            </a:avLst>
          </a:prstGeom>
          <a:gradFill rotWithShape="0">
            <a:gsLst>
              <a:gs pos="0">
                <a:srgbClr val="F5E3F3"/>
              </a:gs>
              <a:gs pos="50000">
                <a:srgbClr val="ADD6FF"/>
              </a:gs>
              <a:gs pos="100000">
                <a:srgbClr val="F5E3F3"/>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spcBef>
                <a:spcPct val="20000"/>
              </a:spcBef>
            </a:pPr>
            <a:endParaRPr lang="zh-CN" altLang="en-US" sz="2600">
              <a:latin typeface="黑体" pitchFamily="2" charset="-122"/>
              <a:ea typeface="黑体" pitchFamily="2" charset="-122"/>
            </a:endParaRPr>
          </a:p>
        </p:txBody>
      </p:sp>
      <p:grpSp>
        <p:nvGrpSpPr>
          <p:cNvPr id="21507" name="Group 3"/>
          <p:cNvGrpSpPr>
            <a:grpSpLocks/>
          </p:cNvGrpSpPr>
          <p:nvPr/>
        </p:nvGrpSpPr>
        <p:grpSpPr bwMode="auto">
          <a:xfrm>
            <a:off x="1147763" y="817563"/>
            <a:ext cx="7097712" cy="2268537"/>
            <a:chOff x="723" y="515"/>
            <a:chExt cx="4471" cy="1429"/>
          </a:xfrm>
        </p:grpSpPr>
        <p:grpSp>
          <p:nvGrpSpPr>
            <p:cNvPr id="21510" name="Group 4"/>
            <p:cNvGrpSpPr>
              <a:grpSpLocks/>
            </p:cNvGrpSpPr>
            <p:nvPr/>
          </p:nvGrpSpPr>
          <p:grpSpPr bwMode="auto">
            <a:xfrm>
              <a:off x="723" y="515"/>
              <a:ext cx="4471" cy="1429"/>
              <a:chOff x="723" y="515"/>
              <a:chExt cx="4471" cy="1589"/>
            </a:xfrm>
          </p:grpSpPr>
          <p:sp>
            <p:nvSpPr>
              <p:cNvPr id="21512" name="Line 5"/>
              <p:cNvSpPr>
                <a:spLocks noChangeShapeType="1"/>
              </p:cNvSpPr>
              <p:nvPr/>
            </p:nvSpPr>
            <p:spPr bwMode="auto">
              <a:xfrm>
                <a:off x="723" y="515"/>
                <a:ext cx="4471" cy="0"/>
              </a:xfrm>
              <a:prstGeom prst="line">
                <a:avLst/>
              </a:prstGeom>
              <a:noFill/>
              <a:ln w="5715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21513" name="Rectangle 6"/>
              <p:cNvSpPr>
                <a:spLocks noChangeArrowheads="1"/>
              </p:cNvSpPr>
              <p:nvPr/>
            </p:nvSpPr>
            <p:spPr bwMode="auto">
              <a:xfrm>
                <a:off x="869" y="735"/>
                <a:ext cx="1460" cy="1369"/>
              </a:xfrm>
              <a:prstGeom prst="rect">
                <a:avLst/>
              </a:prstGeom>
              <a:solidFill>
                <a:srgbClr val="FFFFFF"/>
              </a:solidFill>
              <a:ln w="19050">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1514" name="Rectangle 7"/>
              <p:cNvSpPr>
                <a:spLocks noChangeArrowheads="1"/>
              </p:cNvSpPr>
              <p:nvPr/>
            </p:nvSpPr>
            <p:spPr bwMode="auto">
              <a:xfrm>
                <a:off x="2822" y="745"/>
                <a:ext cx="728" cy="1330"/>
              </a:xfrm>
              <a:prstGeom prst="rect">
                <a:avLst/>
              </a:prstGeom>
              <a:solidFill>
                <a:srgbClr val="FFFFFF"/>
              </a:solidFill>
              <a:ln w="19050">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1515" name="Rectangle 8"/>
              <p:cNvSpPr>
                <a:spLocks noChangeArrowheads="1"/>
              </p:cNvSpPr>
              <p:nvPr/>
            </p:nvSpPr>
            <p:spPr bwMode="auto">
              <a:xfrm>
                <a:off x="4072" y="754"/>
                <a:ext cx="739" cy="508"/>
              </a:xfrm>
              <a:prstGeom prst="rect">
                <a:avLst/>
              </a:prstGeom>
              <a:solidFill>
                <a:srgbClr val="FFFFFF"/>
              </a:solidFill>
              <a:ln w="19050">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1516" name="Rectangle 9"/>
              <p:cNvSpPr>
                <a:spLocks noChangeArrowheads="1"/>
              </p:cNvSpPr>
              <p:nvPr/>
            </p:nvSpPr>
            <p:spPr bwMode="auto">
              <a:xfrm>
                <a:off x="4081" y="1472"/>
                <a:ext cx="748" cy="584"/>
              </a:xfrm>
              <a:prstGeom prst="rect">
                <a:avLst/>
              </a:prstGeom>
              <a:solidFill>
                <a:srgbClr val="FFFFFF"/>
              </a:solidFill>
              <a:ln w="19050">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1517" name="Text Box 10"/>
              <p:cNvSpPr txBox="1">
                <a:spLocks noChangeArrowheads="1"/>
              </p:cNvSpPr>
              <p:nvPr/>
            </p:nvSpPr>
            <p:spPr bwMode="auto">
              <a:xfrm>
                <a:off x="1325" y="1893"/>
                <a:ext cx="484"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ts val="300"/>
                  </a:spcBef>
                  <a:buClrTx/>
                  <a:buFontTx/>
                  <a:buNone/>
                </a:pPr>
                <a:r>
                  <a:rPr lang="en-US" altLang="zh-CN" sz="1800">
                    <a:solidFill>
                      <a:srgbClr val="000080"/>
                    </a:solidFill>
                    <a:latin typeface="黑体" pitchFamily="2" charset="-122"/>
                    <a:ea typeface="黑体" pitchFamily="2" charset="-122"/>
                  </a:rPr>
                  <a:t>CPU</a:t>
                </a:r>
                <a:endParaRPr lang="en-US" altLang="zh-CN" sz="1600">
                  <a:solidFill>
                    <a:srgbClr val="000080"/>
                  </a:solidFill>
                  <a:latin typeface="黑体" pitchFamily="2" charset="-122"/>
                  <a:ea typeface="黑体" pitchFamily="2" charset="-122"/>
                </a:endParaRPr>
              </a:p>
            </p:txBody>
          </p:sp>
          <p:sp>
            <p:nvSpPr>
              <p:cNvPr id="21518" name="Rectangle 11"/>
              <p:cNvSpPr>
                <a:spLocks noChangeArrowheads="1"/>
              </p:cNvSpPr>
              <p:nvPr/>
            </p:nvSpPr>
            <p:spPr bwMode="auto">
              <a:xfrm>
                <a:off x="1754" y="841"/>
                <a:ext cx="465" cy="124"/>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1519" name="Rectangle 12"/>
              <p:cNvSpPr>
                <a:spLocks noChangeArrowheads="1"/>
              </p:cNvSpPr>
              <p:nvPr/>
            </p:nvSpPr>
            <p:spPr bwMode="auto">
              <a:xfrm>
                <a:off x="1754" y="1003"/>
                <a:ext cx="465" cy="125"/>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1520" name="Rectangle 13"/>
              <p:cNvSpPr>
                <a:spLocks noChangeArrowheads="1"/>
              </p:cNvSpPr>
              <p:nvPr/>
            </p:nvSpPr>
            <p:spPr bwMode="auto">
              <a:xfrm>
                <a:off x="1754" y="1281"/>
                <a:ext cx="465" cy="124"/>
              </a:xfrm>
              <a:prstGeom prst="rect">
                <a:avLst/>
              </a:prstGeom>
              <a:solidFill>
                <a:srgbClr val="FFFFFF"/>
              </a:solidFill>
              <a:ln w="9525">
                <a:solidFill>
                  <a:srgbClr val="00000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1521" name="Rectangle 14"/>
              <p:cNvSpPr>
                <a:spLocks noChangeArrowheads="1"/>
              </p:cNvSpPr>
              <p:nvPr/>
            </p:nvSpPr>
            <p:spPr bwMode="auto">
              <a:xfrm>
                <a:off x="1754" y="1281"/>
                <a:ext cx="465" cy="631"/>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1522" name="Rectangle 15"/>
              <p:cNvSpPr>
                <a:spLocks noChangeArrowheads="1"/>
              </p:cNvSpPr>
              <p:nvPr/>
            </p:nvSpPr>
            <p:spPr bwMode="auto">
              <a:xfrm>
                <a:off x="1754" y="1405"/>
                <a:ext cx="465" cy="124"/>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1523" name="Rectangle 16"/>
              <p:cNvSpPr>
                <a:spLocks noChangeArrowheads="1"/>
              </p:cNvSpPr>
              <p:nvPr/>
            </p:nvSpPr>
            <p:spPr bwMode="auto">
              <a:xfrm>
                <a:off x="1754" y="1788"/>
                <a:ext cx="465" cy="124"/>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1524" name="Text Box 17"/>
              <p:cNvSpPr txBox="1">
                <a:spLocks noChangeArrowheads="1"/>
              </p:cNvSpPr>
              <p:nvPr/>
            </p:nvSpPr>
            <p:spPr bwMode="auto">
              <a:xfrm>
                <a:off x="1389" y="831"/>
                <a:ext cx="347"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IR</a:t>
                </a:r>
              </a:p>
            </p:txBody>
          </p:sp>
          <p:sp>
            <p:nvSpPr>
              <p:cNvPr id="21525" name="Text Box 18"/>
              <p:cNvSpPr txBox="1">
                <a:spLocks noChangeArrowheads="1"/>
              </p:cNvSpPr>
              <p:nvPr/>
            </p:nvSpPr>
            <p:spPr bwMode="auto">
              <a:xfrm>
                <a:off x="1407" y="975"/>
                <a:ext cx="347"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PC</a:t>
                </a:r>
              </a:p>
            </p:txBody>
          </p:sp>
          <p:sp>
            <p:nvSpPr>
              <p:cNvPr id="21526" name="Text Box 19"/>
              <p:cNvSpPr txBox="1">
                <a:spLocks noChangeArrowheads="1"/>
              </p:cNvSpPr>
              <p:nvPr/>
            </p:nvSpPr>
            <p:spPr bwMode="auto">
              <a:xfrm>
                <a:off x="1400" y="1252"/>
                <a:ext cx="347"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R0</a:t>
                </a:r>
              </a:p>
            </p:txBody>
          </p:sp>
          <p:sp>
            <p:nvSpPr>
              <p:cNvPr id="21527" name="Text Box 20"/>
              <p:cNvSpPr txBox="1">
                <a:spLocks noChangeArrowheads="1"/>
              </p:cNvSpPr>
              <p:nvPr/>
            </p:nvSpPr>
            <p:spPr bwMode="auto">
              <a:xfrm>
                <a:off x="1407" y="1376"/>
                <a:ext cx="347"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R1</a:t>
                </a:r>
              </a:p>
            </p:txBody>
          </p:sp>
          <p:sp>
            <p:nvSpPr>
              <p:cNvPr id="21528" name="Text Box 21"/>
              <p:cNvSpPr txBox="1">
                <a:spLocks noChangeArrowheads="1"/>
              </p:cNvSpPr>
              <p:nvPr/>
            </p:nvSpPr>
            <p:spPr bwMode="auto">
              <a:xfrm>
                <a:off x="1754" y="1578"/>
                <a:ext cx="465"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zh-CN" altLang="en-US" sz="1600">
                    <a:solidFill>
                      <a:srgbClr val="000080"/>
                    </a:solidFill>
                    <a:latin typeface="黑体" pitchFamily="2" charset="-122"/>
                    <a:ea typeface="黑体" pitchFamily="2" charset="-122"/>
                  </a:rPr>
                  <a:t>……</a:t>
                </a:r>
              </a:p>
            </p:txBody>
          </p:sp>
          <p:sp>
            <p:nvSpPr>
              <p:cNvPr id="21529" name="Rectangle 22"/>
              <p:cNvSpPr>
                <a:spLocks noChangeArrowheads="1"/>
              </p:cNvSpPr>
              <p:nvPr/>
            </p:nvSpPr>
            <p:spPr bwMode="auto">
              <a:xfrm>
                <a:off x="2822" y="888"/>
                <a:ext cx="720" cy="134"/>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1530" name="Rectangle 23"/>
              <p:cNvSpPr>
                <a:spLocks noChangeArrowheads="1"/>
              </p:cNvSpPr>
              <p:nvPr/>
            </p:nvSpPr>
            <p:spPr bwMode="auto">
              <a:xfrm>
                <a:off x="2822" y="1147"/>
                <a:ext cx="720" cy="134"/>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1531" name="Text Box 24"/>
              <p:cNvSpPr txBox="1">
                <a:spLocks noChangeArrowheads="1"/>
              </p:cNvSpPr>
              <p:nvPr/>
            </p:nvSpPr>
            <p:spPr bwMode="auto">
              <a:xfrm>
                <a:off x="2922" y="1270"/>
                <a:ext cx="53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zh-CN" altLang="en-US" sz="1600">
                    <a:solidFill>
                      <a:srgbClr val="000080"/>
                    </a:solidFill>
                    <a:latin typeface="黑体" pitchFamily="2" charset="-122"/>
                    <a:ea typeface="黑体" pitchFamily="2" charset="-122"/>
                  </a:rPr>
                  <a:t>……</a:t>
                </a:r>
              </a:p>
            </p:txBody>
          </p:sp>
          <p:sp>
            <p:nvSpPr>
              <p:cNvPr id="21532" name="Rectangle 25"/>
              <p:cNvSpPr>
                <a:spLocks noChangeArrowheads="1"/>
              </p:cNvSpPr>
              <p:nvPr/>
            </p:nvSpPr>
            <p:spPr bwMode="auto">
              <a:xfrm>
                <a:off x="2822" y="1482"/>
                <a:ext cx="720" cy="134"/>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1533" name="Text Box 26"/>
              <p:cNvSpPr txBox="1">
                <a:spLocks noChangeArrowheads="1"/>
              </p:cNvSpPr>
              <p:nvPr/>
            </p:nvSpPr>
            <p:spPr bwMode="auto">
              <a:xfrm>
                <a:off x="2922" y="1702"/>
                <a:ext cx="538" cy="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zh-CN" altLang="en-US" sz="1600">
                    <a:solidFill>
                      <a:srgbClr val="000080"/>
                    </a:solidFill>
                    <a:latin typeface="黑体" pitchFamily="2" charset="-122"/>
                    <a:ea typeface="黑体" pitchFamily="2" charset="-122"/>
                  </a:rPr>
                  <a:t>……</a:t>
                </a:r>
              </a:p>
            </p:txBody>
          </p:sp>
          <p:sp>
            <p:nvSpPr>
              <p:cNvPr id="21534" name="Text Box 27"/>
              <p:cNvSpPr txBox="1">
                <a:spLocks noChangeArrowheads="1"/>
              </p:cNvSpPr>
              <p:nvPr/>
            </p:nvSpPr>
            <p:spPr bwMode="auto">
              <a:xfrm>
                <a:off x="2858" y="1865"/>
                <a:ext cx="657"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MM</a:t>
                </a:r>
              </a:p>
            </p:txBody>
          </p:sp>
          <p:sp>
            <p:nvSpPr>
              <p:cNvPr id="21535" name="Text Box 28"/>
              <p:cNvSpPr txBox="1">
                <a:spLocks noChangeArrowheads="1"/>
              </p:cNvSpPr>
              <p:nvPr/>
            </p:nvSpPr>
            <p:spPr bwMode="auto">
              <a:xfrm>
                <a:off x="4145" y="1827"/>
                <a:ext cx="666"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I/O</a:t>
                </a:r>
                <a:r>
                  <a:rPr lang="zh-CN" altLang="en-US" sz="1600">
                    <a:solidFill>
                      <a:srgbClr val="000080"/>
                    </a:solidFill>
                    <a:latin typeface="黑体" pitchFamily="2" charset="-122"/>
                    <a:ea typeface="黑体" pitchFamily="2" charset="-122"/>
                  </a:rPr>
                  <a:t>设备</a:t>
                </a:r>
              </a:p>
            </p:txBody>
          </p:sp>
          <p:sp>
            <p:nvSpPr>
              <p:cNvPr id="21536" name="Rectangle 29"/>
              <p:cNvSpPr>
                <a:spLocks noChangeArrowheads="1"/>
              </p:cNvSpPr>
              <p:nvPr/>
            </p:nvSpPr>
            <p:spPr bwMode="auto">
              <a:xfrm>
                <a:off x="4236" y="811"/>
                <a:ext cx="466" cy="125"/>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1537" name="Text Box 30"/>
              <p:cNvSpPr txBox="1">
                <a:spLocks noChangeArrowheads="1"/>
              </p:cNvSpPr>
              <p:nvPr/>
            </p:nvSpPr>
            <p:spPr bwMode="auto">
              <a:xfrm>
                <a:off x="4117" y="1060"/>
                <a:ext cx="667"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I/O</a:t>
                </a:r>
                <a:r>
                  <a:rPr lang="zh-CN" altLang="en-US" sz="1600">
                    <a:solidFill>
                      <a:srgbClr val="000080"/>
                    </a:solidFill>
                    <a:latin typeface="黑体" pitchFamily="2" charset="-122"/>
                    <a:ea typeface="黑体" pitchFamily="2" charset="-122"/>
                  </a:rPr>
                  <a:t>接口</a:t>
                </a:r>
              </a:p>
            </p:txBody>
          </p:sp>
          <p:sp>
            <p:nvSpPr>
              <p:cNvPr id="21538" name="Line 31"/>
              <p:cNvSpPr>
                <a:spLocks noChangeShapeType="1"/>
              </p:cNvSpPr>
              <p:nvPr/>
            </p:nvSpPr>
            <p:spPr bwMode="auto">
              <a:xfrm>
                <a:off x="1636" y="515"/>
                <a:ext cx="0" cy="220"/>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21539" name="Line 32"/>
              <p:cNvSpPr>
                <a:spLocks noChangeShapeType="1"/>
              </p:cNvSpPr>
              <p:nvPr/>
            </p:nvSpPr>
            <p:spPr bwMode="auto">
              <a:xfrm>
                <a:off x="3178" y="534"/>
                <a:ext cx="0" cy="220"/>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21540" name="Line 33"/>
              <p:cNvSpPr>
                <a:spLocks noChangeShapeType="1"/>
              </p:cNvSpPr>
              <p:nvPr/>
            </p:nvSpPr>
            <p:spPr bwMode="auto">
              <a:xfrm>
                <a:off x="4446" y="525"/>
                <a:ext cx="0" cy="220"/>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21541" name="Line 34"/>
              <p:cNvSpPr>
                <a:spLocks noChangeShapeType="1"/>
              </p:cNvSpPr>
              <p:nvPr/>
            </p:nvSpPr>
            <p:spPr bwMode="auto">
              <a:xfrm>
                <a:off x="4464" y="1262"/>
                <a:ext cx="0" cy="220"/>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21542" name="Freeform 35"/>
              <p:cNvSpPr>
                <a:spLocks/>
              </p:cNvSpPr>
              <p:nvPr/>
            </p:nvSpPr>
            <p:spPr bwMode="auto">
              <a:xfrm>
                <a:off x="927" y="994"/>
                <a:ext cx="506" cy="277"/>
              </a:xfrm>
              <a:custGeom>
                <a:avLst/>
                <a:gdLst>
                  <a:gd name="T0" fmla="*/ 0 w 990"/>
                  <a:gd name="T1" fmla="*/ 7 h 352"/>
                  <a:gd name="T2" fmla="*/ 1 w 990"/>
                  <a:gd name="T3" fmla="*/ 0 h 352"/>
                  <a:gd name="T4" fmla="*/ 1 w 990"/>
                  <a:gd name="T5" fmla="*/ 0 h 352"/>
                  <a:gd name="T6" fmla="*/ 1 w 990"/>
                  <a:gd name="T7" fmla="*/ 7 h 352"/>
                  <a:gd name="T8" fmla="*/ 1 w 990"/>
                  <a:gd name="T9" fmla="*/ 7 h 352"/>
                  <a:gd name="T10" fmla="*/ 1 w 990"/>
                  <a:gd name="T11" fmla="*/ 5 h 352"/>
                  <a:gd name="T12" fmla="*/ 1 w 990"/>
                  <a:gd name="T13" fmla="*/ 7 h 352"/>
                  <a:gd name="T14" fmla="*/ 0 w 990"/>
                  <a:gd name="T15" fmla="*/ 7 h 352"/>
                  <a:gd name="T16" fmla="*/ 0 60000 65536"/>
                  <a:gd name="T17" fmla="*/ 0 60000 65536"/>
                  <a:gd name="T18" fmla="*/ 0 60000 65536"/>
                  <a:gd name="T19" fmla="*/ 0 60000 65536"/>
                  <a:gd name="T20" fmla="*/ 0 60000 65536"/>
                  <a:gd name="T21" fmla="*/ 0 60000 65536"/>
                  <a:gd name="T22" fmla="*/ 0 60000 65536"/>
                  <a:gd name="T23" fmla="*/ 0 60000 65536"/>
                  <a:gd name="T24" fmla="*/ 0 w 990"/>
                  <a:gd name="T25" fmla="*/ 0 h 352"/>
                  <a:gd name="T26" fmla="*/ 990 w 990"/>
                  <a:gd name="T27" fmla="*/ 352 h 3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90" h="352">
                    <a:moveTo>
                      <a:pt x="0" y="345"/>
                    </a:moveTo>
                    <a:lnTo>
                      <a:pt x="248" y="0"/>
                    </a:lnTo>
                    <a:lnTo>
                      <a:pt x="735" y="0"/>
                    </a:lnTo>
                    <a:lnTo>
                      <a:pt x="990" y="352"/>
                    </a:lnTo>
                    <a:lnTo>
                      <a:pt x="570" y="352"/>
                    </a:lnTo>
                    <a:lnTo>
                      <a:pt x="495" y="225"/>
                    </a:lnTo>
                    <a:lnTo>
                      <a:pt x="428" y="345"/>
                    </a:lnTo>
                    <a:lnTo>
                      <a:pt x="0" y="345"/>
                    </a:lnTo>
                    <a:close/>
                  </a:path>
                </a:pathLst>
              </a:custGeom>
              <a:solidFill>
                <a:srgbClr val="FFFFFF"/>
              </a:solidFill>
              <a:ln w="12700" cap="flat" cmpd="sng">
                <a:solidFill>
                  <a:srgbClr val="000080"/>
                </a:solidFill>
                <a:prstDash val="solid"/>
                <a:round/>
                <a:headEnd/>
                <a:tailEnd/>
              </a:ln>
            </p:spPr>
            <p:txBody>
              <a:bodyPr/>
              <a:lstStyle/>
              <a:p>
                <a:endParaRPr lang="zh-CN" altLang="en-US">
                  <a:latin typeface="黑体" pitchFamily="2" charset="-122"/>
                  <a:ea typeface="黑体" pitchFamily="2" charset="-122"/>
                </a:endParaRPr>
              </a:p>
            </p:txBody>
          </p:sp>
          <p:sp>
            <p:nvSpPr>
              <p:cNvPr id="21543" name="Text Box 36"/>
              <p:cNvSpPr txBox="1">
                <a:spLocks noChangeArrowheads="1"/>
              </p:cNvSpPr>
              <p:nvPr/>
            </p:nvSpPr>
            <p:spPr bwMode="auto">
              <a:xfrm>
                <a:off x="975" y="1028"/>
                <a:ext cx="432"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ALU</a:t>
                </a:r>
              </a:p>
            </p:txBody>
          </p:sp>
          <p:sp>
            <p:nvSpPr>
              <p:cNvPr id="21544" name="Arc 37"/>
              <p:cNvSpPr>
                <a:spLocks/>
              </p:cNvSpPr>
              <p:nvPr/>
            </p:nvSpPr>
            <p:spPr bwMode="auto">
              <a:xfrm>
                <a:off x="2185" y="966"/>
                <a:ext cx="697" cy="142"/>
              </a:xfrm>
              <a:custGeom>
                <a:avLst/>
                <a:gdLst>
                  <a:gd name="T0" fmla="*/ 0 w 20919"/>
                  <a:gd name="T1" fmla="*/ 0 h 21507"/>
                  <a:gd name="T2" fmla="*/ 0 w 20919"/>
                  <a:gd name="T3" fmla="*/ 0 h 21507"/>
                  <a:gd name="T4" fmla="*/ 0 w 20919"/>
                  <a:gd name="T5" fmla="*/ 0 h 21507"/>
                  <a:gd name="T6" fmla="*/ 0 60000 65536"/>
                  <a:gd name="T7" fmla="*/ 0 60000 65536"/>
                  <a:gd name="T8" fmla="*/ 0 60000 65536"/>
                  <a:gd name="T9" fmla="*/ 0 w 20919"/>
                  <a:gd name="T10" fmla="*/ 0 h 21507"/>
                  <a:gd name="T11" fmla="*/ 20919 w 20919"/>
                  <a:gd name="T12" fmla="*/ 21507 h 21507"/>
                </a:gdLst>
                <a:ahLst/>
                <a:cxnLst>
                  <a:cxn ang="T6">
                    <a:pos x="T0" y="T1"/>
                  </a:cxn>
                  <a:cxn ang="T7">
                    <a:pos x="T2" y="T3"/>
                  </a:cxn>
                  <a:cxn ang="T8">
                    <a:pos x="T4" y="T5"/>
                  </a:cxn>
                </a:cxnLst>
                <a:rect l="T9" t="T10" r="T11" b="T12"/>
                <a:pathLst>
                  <a:path w="20919" h="21507" fill="none" extrusionOk="0">
                    <a:moveTo>
                      <a:pt x="0" y="16124"/>
                    </a:moveTo>
                    <a:cubicBezTo>
                      <a:pt x="2271" y="7296"/>
                      <a:pt x="9840" y="845"/>
                      <a:pt x="18916" y="0"/>
                    </a:cubicBezTo>
                  </a:path>
                  <a:path w="20919" h="21507" stroke="0" extrusionOk="0">
                    <a:moveTo>
                      <a:pt x="0" y="16124"/>
                    </a:moveTo>
                    <a:cubicBezTo>
                      <a:pt x="2271" y="7296"/>
                      <a:pt x="9840" y="845"/>
                      <a:pt x="18916" y="0"/>
                    </a:cubicBezTo>
                    <a:lnTo>
                      <a:pt x="20919" y="21507"/>
                    </a:lnTo>
                    <a:lnTo>
                      <a:pt x="0" y="16124"/>
                    </a:lnTo>
                    <a:close/>
                  </a:path>
                </a:pathLst>
              </a:custGeom>
              <a:noFill/>
              <a:ln w="19050">
                <a:solidFill>
                  <a:srgbClr val="FF0000"/>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2" charset="-122"/>
                  <a:ea typeface="黑体" pitchFamily="2" charset="-122"/>
                </a:endParaRPr>
              </a:p>
            </p:txBody>
          </p:sp>
          <p:sp>
            <p:nvSpPr>
              <p:cNvPr id="21545" name="Rectangle 38"/>
              <p:cNvSpPr>
                <a:spLocks noChangeArrowheads="1"/>
              </p:cNvSpPr>
              <p:nvPr/>
            </p:nvSpPr>
            <p:spPr bwMode="auto">
              <a:xfrm>
                <a:off x="2804" y="728"/>
                <a:ext cx="751" cy="772"/>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20000"/>
                  </a:spcBef>
                </a:pPr>
                <a:endParaRPr lang="zh-CN" altLang="en-US" sz="2600">
                  <a:latin typeface="黑体" pitchFamily="2" charset="-122"/>
                  <a:ea typeface="黑体" pitchFamily="2" charset="-122"/>
                </a:endParaRPr>
              </a:p>
            </p:txBody>
          </p:sp>
        </p:grpSp>
        <p:sp>
          <p:nvSpPr>
            <p:cNvPr id="21511" name="Rectangle 39" descr="50%"/>
            <p:cNvSpPr>
              <a:spLocks noChangeArrowheads="1"/>
            </p:cNvSpPr>
            <p:nvPr/>
          </p:nvSpPr>
          <p:spPr bwMode="auto">
            <a:xfrm>
              <a:off x="2835" y="856"/>
              <a:ext cx="705" cy="106"/>
            </a:xfrm>
            <a:prstGeom prst="rect">
              <a:avLst/>
            </a:prstGeom>
            <a:pattFill prst="pct50">
              <a:fgClr>
                <a:srgbClr val="FF0000"/>
              </a:fgClr>
              <a:bgClr>
                <a:srgbClr val="FFFFFF"/>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20000"/>
                </a:spcBef>
              </a:pPr>
              <a:endParaRPr lang="zh-CN" altLang="en-US" sz="2600">
                <a:latin typeface="黑体" pitchFamily="2" charset="-122"/>
                <a:ea typeface="黑体" pitchFamily="2" charset="-122"/>
              </a:endParaRPr>
            </a:p>
          </p:txBody>
        </p:sp>
      </p:grpSp>
      <p:sp>
        <p:nvSpPr>
          <p:cNvPr id="21508" name="Rectangle 40"/>
          <p:cNvSpPr>
            <a:spLocks noChangeArrowheads="1"/>
          </p:cNvSpPr>
          <p:nvPr/>
        </p:nvSpPr>
        <p:spPr bwMode="auto">
          <a:xfrm>
            <a:off x="482600" y="3571875"/>
            <a:ext cx="866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buClrTx/>
              <a:buFontTx/>
              <a:buNone/>
            </a:pPr>
            <a:r>
              <a:rPr lang="zh-CN" altLang="en-US">
                <a:solidFill>
                  <a:srgbClr val="FF0000"/>
                </a:solidFill>
                <a:latin typeface="黑体" pitchFamily="2" charset="-122"/>
                <a:ea typeface="黑体" pitchFamily="2" charset="-122"/>
              </a:rPr>
              <a:t>   以取指令过程为例，其具体操作包含以下内容：</a:t>
            </a:r>
            <a:r>
              <a:rPr lang="zh-CN" altLang="en-US">
                <a:latin typeface="黑体" pitchFamily="2" charset="-122"/>
                <a:ea typeface="黑体" pitchFamily="2" charset="-122"/>
              </a:rPr>
              <a:t> </a:t>
            </a:r>
            <a:endParaRPr lang="zh-CN" altLang="en-US" b="0">
              <a:solidFill>
                <a:schemeClr val="tx1"/>
              </a:solidFill>
              <a:latin typeface="黑体" pitchFamily="2" charset="-122"/>
              <a:ea typeface="黑体" pitchFamily="2" charset="-122"/>
            </a:endParaRPr>
          </a:p>
        </p:txBody>
      </p:sp>
      <p:sp>
        <p:nvSpPr>
          <p:cNvPr id="21509" name="Rectangle 41"/>
          <p:cNvSpPr>
            <a:spLocks noChangeArrowheads="1"/>
          </p:cNvSpPr>
          <p:nvPr/>
        </p:nvSpPr>
        <p:spPr bwMode="auto">
          <a:xfrm>
            <a:off x="685800" y="4011613"/>
            <a:ext cx="8135938"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spcBef>
                <a:spcPct val="0"/>
              </a:spcBef>
              <a:buClrTx/>
              <a:buFontTx/>
              <a:buNone/>
            </a:pPr>
            <a:r>
              <a:rPr lang="zh-CN" altLang="en-US" dirty="0">
                <a:solidFill>
                  <a:srgbClr val="000080"/>
                </a:solidFill>
                <a:latin typeface="黑体" pitchFamily="2" charset="-122"/>
                <a:ea typeface="黑体" pitchFamily="2" charset="-122"/>
              </a:rPr>
              <a:t>    (2) </a:t>
            </a:r>
            <a:r>
              <a:rPr lang="en-US" altLang="zh-CN" dirty="0">
                <a:solidFill>
                  <a:srgbClr val="000080"/>
                </a:solidFill>
                <a:latin typeface="黑体" pitchFamily="2" charset="-122"/>
                <a:ea typeface="黑体" pitchFamily="2" charset="-122"/>
              </a:rPr>
              <a:t>MM</a:t>
            </a:r>
            <a:r>
              <a:rPr lang="zh-CN" altLang="en-US" dirty="0">
                <a:solidFill>
                  <a:srgbClr val="000080"/>
                </a:solidFill>
                <a:latin typeface="黑体" pitchFamily="2" charset="-122"/>
                <a:ea typeface="黑体" pitchFamily="2" charset="-122"/>
              </a:rPr>
              <a:t>接到地址信息和“读内存”命令后，把内存相应单元中的二进制编码（即指令）读到内存的数据缓冲寄存器（</a:t>
            </a:r>
            <a:r>
              <a:rPr lang="en-US" altLang="zh-CN" dirty="0">
                <a:solidFill>
                  <a:srgbClr val="000080"/>
                </a:solidFill>
                <a:latin typeface="黑体" pitchFamily="2" charset="-122"/>
                <a:ea typeface="黑体" pitchFamily="2" charset="-122"/>
              </a:rPr>
              <a:t>MDR）</a:t>
            </a:r>
            <a:r>
              <a:rPr lang="zh-CN" altLang="en-US" dirty="0">
                <a:solidFill>
                  <a:srgbClr val="000080"/>
                </a:solidFill>
                <a:latin typeface="黑体" pitchFamily="2" charset="-122"/>
                <a:ea typeface="黑体" pitchFamily="2" charset="-122"/>
              </a:rPr>
              <a:t>中；同时，</a:t>
            </a:r>
            <a:r>
              <a:rPr lang="en-US" altLang="zh-CN" dirty="0">
                <a:solidFill>
                  <a:srgbClr val="000080"/>
                </a:solidFill>
                <a:latin typeface="黑体" pitchFamily="2" charset="-122"/>
                <a:ea typeface="黑体" pitchFamily="2" charset="-122"/>
              </a:rPr>
              <a:t>PC</a:t>
            </a:r>
            <a:r>
              <a:rPr lang="zh-CN" altLang="en-US" dirty="0">
                <a:solidFill>
                  <a:srgbClr val="000080"/>
                </a:solidFill>
                <a:latin typeface="黑体" pitchFamily="2" charset="-122"/>
                <a:ea typeface="黑体" pitchFamily="2" charset="-122"/>
              </a:rPr>
              <a:t>内容递增，为取下一条指令作准备；</a:t>
            </a:r>
            <a:r>
              <a:rPr lang="zh-CN" altLang="en-US" dirty="0">
                <a:latin typeface="黑体" pitchFamily="2" charset="-122"/>
                <a:ea typeface="黑体" pitchFamily="2" charset="-122"/>
              </a:rPr>
              <a:t> </a:t>
            </a:r>
            <a:endParaRPr lang="zh-CN" altLang="en-US" b="0" dirty="0">
              <a:solidFill>
                <a:schemeClr val="tx1"/>
              </a:solidFill>
              <a:latin typeface="黑体" pitchFamily="2" charset="-122"/>
              <a:ea typeface="黑体"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530" name="Group 2"/>
          <p:cNvGrpSpPr>
            <a:grpSpLocks/>
          </p:cNvGrpSpPr>
          <p:nvPr/>
        </p:nvGrpSpPr>
        <p:grpSpPr bwMode="auto">
          <a:xfrm>
            <a:off x="601663" y="554038"/>
            <a:ext cx="8075612" cy="2827337"/>
            <a:chOff x="379" y="349"/>
            <a:chExt cx="5087" cy="1781"/>
          </a:xfrm>
        </p:grpSpPr>
        <p:sp>
          <p:nvSpPr>
            <p:cNvPr id="22533" name="AutoShape 3"/>
            <p:cNvSpPr>
              <a:spLocks noChangeArrowheads="1"/>
            </p:cNvSpPr>
            <p:nvPr/>
          </p:nvSpPr>
          <p:spPr bwMode="auto">
            <a:xfrm>
              <a:off x="379" y="349"/>
              <a:ext cx="5087" cy="1781"/>
            </a:xfrm>
            <a:prstGeom prst="roundRect">
              <a:avLst>
                <a:gd name="adj" fmla="val 11958"/>
              </a:avLst>
            </a:prstGeom>
            <a:gradFill rotWithShape="0">
              <a:gsLst>
                <a:gs pos="0">
                  <a:srgbClr val="F5E3F3"/>
                </a:gs>
                <a:gs pos="50000">
                  <a:srgbClr val="ADD6FF"/>
                </a:gs>
                <a:gs pos="100000">
                  <a:srgbClr val="F5E3F3"/>
                </a:gs>
              </a:gsLst>
              <a:lin ang="27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algn="ctr">
                <a:spcBef>
                  <a:spcPct val="20000"/>
                </a:spcBef>
              </a:pPr>
              <a:endParaRPr lang="zh-CN" altLang="en-US" sz="2600">
                <a:latin typeface="黑体" pitchFamily="2" charset="-122"/>
                <a:ea typeface="黑体" pitchFamily="2" charset="-122"/>
              </a:endParaRPr>
            </a:p>
          </p:txBody>
        </p:sp>
        <p:sp>
          <p:nvSpPr>
            <p:cNvPr id="22534" name="Line 4"/>
            <p:cNvSpPr>
              <a:spLocks noChangeShapeType="1"/>
            </p:cNvSpPr>
            <p:nvPr/>
          </p:nvSpPr>
          <p:spPr bwMode="auto">
            <a:xfrm>
              <a:off x="723" y="515"/>
              <a:ext cx="4471" cy="0"/>
            </a:xfrm>
            <a:prstGeom prst="line">
              <a:avLst/>
            </a:prstGeom>
            <a:noFill/>
            <a:ln w="57150">
              <a:solidFill>
                <a:srgbClr val="00008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22535" name="Rectangle 5"/>
            <p:cNvSpPr>
              <a:spLocks noChangeArrowheads="1"/>
            </p:cNvSpPr>
            <p:nvPr/>
          </p:nvSpPr>
          <p:spPr bwMode="auto">
            <a:xfrm>
              <a:off x="869" y="713"/>
              <a:ext cx="1460" cy="1231"/>
            </a:xfrm>
            <a:prstGeom prst="rect">
              <a:avLst/>
            </a:prstGeom>
            <a:solidFill>
              <a:srgbClr val="FFFFFF"/>
            </a:solidFill>
            <a:ln w="19050">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2536" name="Rectangle 6"/>
            <p:cNvSpPr>
              <a:spLocks noChangeArrowheads="1"/>
            </p:cNvSpPr>
            <p:nvPr/>
          </p:nvSpPr>
          <p:spPr bwMode="auto">
            <a:xfrm>
              <a:off x="2822" y="722"/>
              <a:ext cx="728" cy="1196"/>
            </a:xfrm>
            <a:prstGeom prst="rect">
              <a:avLst/>
            </a:prstGeom>
            <a:solidFill>
              <a:srgbClr val="FFFFFF"/>
            </a:solidFill>
            <a:ln w="19050">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2537" name="Rectangle 7"/>
            <p:cNvSpPr>
              <a:spLocks noChangeArrowheads="1"/>
            </p:cNvSpPr>
            <p:nvPr/>
          </p:nvSpPr>
          <p:spPr bwMode="auto">
            <a:xfrm>
              <a:off x="4072" y="730"/>
              <a:ext cx="739" cy="457"/>
            </a:xfrm>
            <a:prstGeom prst="rect">
              <a:avLst/>
            </a:prstGeom>
            <a:solidFill>
              <a:srgbClr val="FFFFFF"/>
            </a:solidFill>
            <a:ln w="19050">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2538" name="Rectangle 8"/>
            <p:cNvSpPr>
              <a:spLocks noChangeArrowheads="1"/>
            </p:cNvSpPr>
            <p:nvPr/>
          </p:nvSpPr>
          <p:spPr bwMode="auto">
            <a:xfrm>
              <a:off x="4081" y="1376"/>
              <a:ext cx="748" cy="525"/>
            </a:xfrm>
            <a:prstGeom prst="rect">
              <a:avLst/>
            </a:prstGeom>
            <a:solidFill>
              <a:srgbClr val="FFFFFF"/>
            </a:solidFill>
            <a:ln w="19050">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2539" name="Text Box 9"/>
            <p:cNvSpPr txBox="1">
              <a:spLocks noChangeArrowheads="1"/>
            </p:cNvSpPr>
            <p:nvPr/>
          </p:nvSpPr>
          <p:spPr bwMode="auto">
            <a:xfrm>
              <a:off x="1325" y="1754"/>
              <a:ext cx="484"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ts val="300"/>
                </a:spcBef>
                <a:buClrTx/>
                <a:buFontTx/>
                <a:buNone/>
              </a:pPr>
              <a:r>
                <a:rPr lang="en-US" altLang="zh-CN" sz="1800">
                  <a:solidFill>
                    <a:srgbClr val="000080"/>
                  </a:solidFill>
                  <a:latin typeface="黑体" pitchFamily="2" charset="-122"/>
                  <a:ea typeface="黑体" pitchFamily="2" charset="-122"/>
                </a:rPr>
                <a:t>CPU</a:t>
              </a:r>
              <a:endParaRPr lang="en-US" altLang="zh-CN" sz="1600">
                <a:solidFill>
                  <a:srgbClr val="000080"/>
                </a:solidFill>
                <a:latin typeface="黑体" pitchFamily="2" charset="-122"/>
                <a:ea typeface="黑体" pitchFamily="2" charset="-122"/>
              </a:endParaRPr>
            </a:p>
          </p:txBody>
        </p:sp>
        <p:sp>
          <p:nvSpPr>
            <p:cNvPr id="22540" name="Rectangle 10" descr="50%"/>
            <p:cNvSpPr>
              <a:spLocks noChangeArrowheads="1"/>
            </p:cNvSpPr>
            <p:nvPr/>
          </p:nvSpPr>
          <p:spPr bwMode="auto">
            <a:xfrm>
              <a:off x="1754" y="808"/>
              <a:ext cx="465" cy="112"/>
            </a:xfrm>
            <a:prstGeom prst="rect">
              <a:avLst/>
            </a:prstGeom>
            <a:pattFill prst="pct50">
              <a:fgClr>
                <a:srgbClr val="FF0000"/>
              </a:fgClr>
              <a:bgClr>
                <a:srgbClr val="FFFFFF"/>
              </a:bgClr>
            </a:patt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2541" name="Rectangle 11"/>
            <p:cNvSpPr>
              <a:spLocks noChangeArrowheads="1"/>
            </p:cNvSpPr>
            <p:nvPr/>
          </p:nvSpPr>
          <p:spPr bwMode="auto">
            <a:xfrm>
              <a:off x="1754" y="954"/>
              <a:ext cx="465" cy="112"/>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2542" name="Rectangle 12"/>
            <p:cNvSpPr>
              <a:spLocks noChangeArrowheads="1"/>
            </p:cNvSpPr>
            <p:nvPr/>
          </p:nvSpPr>
          <p:spPr bwMode="auto">
            <a:xfrm>
              <a:off x="1754" y="1204"/>
              <a:ext cx="465" cy="111"/>
            </a:xfrm>
            <a:prstGeom prst="rect">
              <a:avLst/>
            </a:prstGeom>
            <a:solidFill>
              <a:srgbClr val="FFFFFF"/>
            </a:solidFill>
            <a:ln w="9525">
              <a:solidFill>
                <a:srgbClr val="00000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2543" name="Rectangle 13"/>
            <p:cNvSpPr>
              <a:spLocks noChangeArrowheads="1"/>
            </p:cNvSpPr>
            <p:nvPr/>
          </p:nvSpPr>
          <p:spPr bwMode="auto">
            <a:xfrm>
              <a:off x="1754" y="1204"/>
              <a:ext cx="465" cy="567"/>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2544" name="Rectangle 14"/>
            <p:cNvSpPr>
              <a:spLocks noChangeArrowheads="1"/>
            </p:cNvSpPr>
            <p:nvPr/>
          </p:nvSpPr>
          <p:spPr bwMode="auto">
            <a:xfrm>
              <a:off x="1754" y="1315"/>
              <a:ext cx="465" cy="112"/>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2545" name="Rectangle 15"/>
            <p:cNvSpPr>
              <a:spLocks noChangeArrowheads="1"/>
            </p:cNvSpPr>
            <p:nvPr/>
          </p:nvSpPr>
          <p:spPr bwMode="auto">
            <a:xfrm>
              <a:off x="1754" y="1660"/>
              <a:ext cx="465" cy="111"/>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2546" name="Text Box 16"/>
            <p:cNvSpPr txBox="1">
              <a:spLocks noChangeArrowheads="1"/>
            </p:cNvSpPr>
            <p:nvPr/>
          </p:nvSpPr>
          <p:spPr bwMode="auto">
            <a:xfrm>
              <a:off x="1389" y="799"/>
              <a:ext cx="347"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IR</a:t>
              </a:r>
            </a:p>
          </p:txBody>
        </p:sp>
        <p:sp>
          <p:nvSpPr>
            <p:cNvPr id="22547" name="Text Box 17"/>
            <p:cNvSpPr txBox="1">
              <a:spLocks noChangeArrowheads="1"/>
            </p:cNvSpPr>
            <p:nvPr/>
          </p:nvSpPr>
          <p:spPr bwMode="auto">
            <a:xfrm>
              <a:off x="1407" y="929"/>
              <a:ext cx="34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PC</a:t>
              </a:r>
            </a:p>
          </p:txBody>
        </p:sp>
        <p:sp>
          <p:nvSpPr>
            <p:cNvPr id="22548" name="Text Box 18"/>
            <p:cNvSpPr txBox="1">
              <a:spLocks noChangeArrowheads="1"/>
            </p:cNvSpPr>
            <p:nvPr/>
          </p:nvSpPr>
          <p:spPr bwMode="auto">
            <a:xfrm>
              <a:off x="1400" y="1178"/>
              <a:ext cx="347"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R0</a:t>
              </a:r>
            </a:p>
          </p:txBody>
        </p:sp>
        <p:sp>
          <p:nvSpPr>
            <p:cNvPr id="22549" name="Text Box 19"/>
            <p:cNvSpPr txBox="1">
              <a:spLocks noChangeArrowheads="1"/>
            </p:cNvSpPr>
            <p:nvPr/>
          </p:nvSpPr>
          <p:spPr bwMode="auto">
            <a:xfrm>
              <a:off x="1407" y="1289"/>
              <a:ext cx="34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R1</a:t>
              </a:r>
            </a:p>
          </p:txBody>
        </p:sp>
        <p:sp>
          <p:nvSpPr>
            <p:cNvPr id="22550" name="Text Box 20"/>
            <p:cNvSpPr txBox="1">
              <a:spLocks noChangeArrowheads="1"/>
            </p:cNvSpPr>
            <p:nvPr/>
          </p:nvSpPr>
          <p:spPr bwMode="auto">
            <a:xfrm>
              <a:off x="1754" y="1471"/>
              <a:ext cx="465"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zh-CN" altLang="en-US" sz="1600">
                  <a:solidFill>
                    <a:srgbClr val="000080"/>
                  </a:solidFill>
                  <a:latin typeface="黑体" pitchFamily="2" charset="-122"/>
                  <a:ea typeface="黑体" pitchFamily="2" charset="-122"/>
                </a:rPr>
                <a:t>……</a:t>
              </a:r>
            </a:p>
          </p:txBody>
        </p:sp>
        <p:sp>
          <p:nvSpPr>
            <p:cNvPr id="22551" name="Rectangle 21"/>
            <p:cNvSpPr>
              <a:spLocks noChangeArrowheads="1"/>
            </p:cNvSpPr>
            <p:nvPr/>
          </p:nvSpPr>
          <p:spPr bwMode="auto">
            <a:xfrm>
              <a:off x="2822" y="850"/>
              <a:ext cx="720" cy="121"/>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2552" name="Rectangle 22"/>
            <p:cNvSpPr>
              <a:spLocks noChangeArrowheads="1"/>
            </p:cNvSpPr>
            <p:nvPr/>
          </p:nvSpPr>
          <p:spPr bwMode="auto">
            <a:xfrm>
              <a:off x="2822" y="1083"/>
              <a:ext cx="720" cy="121"/>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2553" name="Text Box 23"/>
            <p:cNvSpPr txBox="1">
              <a:spLocks noChangeArrowheads="1"/>
            </p:cNvSpPr>
            <p:nvPr/>
          </p:nvSpPr>
          <p:spPr bwMode="auto">
            <a:xfrm>
              <a:off x="2922" y="1194"/>
              <a:ext cx="53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zh-CN" altLang="en-US" sz="1600">
                  <a:solidFill>
                    <a:srgbClr val="000080"/>
                  </a:solidFill>
                  <a:latin typeface="黑体" pitchFamily="2" charset="-122"/>
                  <a:ea typeface="黑体" pitchFamily="2" charset="-122"/>
                </a:rPr>
                <a:t>……</a:t>
              </a:r>
            </a:p>
          </p:txBody>
        </p:sp>
        <p:sp>
          <p:nvSpPr>
            <p:cNvPr id="22554" name="Rectangle 24"/>
            <p:cNvSpPr>
              <a:spLocks noChangeArrowheads="1"/>
            </p:cNvSpPr>
            <p:nvPr/>
          </p:nvSpPr>
          <p:spPr bwMode="auto">
            <a:xfrm>
              <a:off x="2822" y="1385"/>
              <a:ext cx="720" cy="120"/>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2555" name="Text Box 25"/>
            <p:cNvSpPr txBox="1">
              <a:spLocks noChangeArrowheads="1"/>
            </p:cNvSpPr>
            <p:nvPr/>
          </p:nvSpPr>
          <p:spPr bwMode="auto">
            <a:xfrm>
              <a:off x="2922" y="1582"/>
              <a:ext cx="538"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zh-CN" altLang="en-US" sz="1600">
                  <a:solidFill>
                    <a:srgbClr val="000080"/>
                  </a:solidFill>
                  <a:latin typeface="黑体" pitchFamily="2" charset="-122"/>
                  <a:ea typeface="黑体" pitchFamily="2" charset="-122"/>
                </a:rPr>
                <a:t>……</a:t>
              </a:r>
            </a:p>
          </p:txBody>
        </p:sp>
        <p:sp>
          <p:nvSpPr>
            <p:cNvPr id="22556" name="Text Box 26"/>
            <p:cNvSpPr txBox="1">
              <a:spLocks noChangeArrowheads="1"/>
            </p:cNvSpPr>
            <p:nvPr/>
          </p:nvSpPr>
          <p:spPr bwMode="auto">
            <a:xfrm>
              <a:off x="2858" y="1729"/>
              <a:ext cx="657" cy="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MM</a:t>
              </a:r>
            </a:p>
          </p:txBody>
        </p:sp>
        <p:sp>
          <p:nvSpPr>
            <p:cNvPr id="22557" name="Text Box 27"/>
            <p:cNvSpPr txBox="1">
              <a:spLocks noChangeArrowheads="1"/>
            </p:cNvSpPr>
            <p:nvPr/>
          </p:nvSpPr>
          <p:spPr bwMode="auto">
            <a:xfrm>
              <a:off x="4145" y="1695"/>
              <a:ext cx="666"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I/O</a:t>
              </a:r>
              <a:r>
                <a:rPr lang="zh-CN" altLang="en-US" sz="1600">
                  <a:solidFill>
                    <a:srgbClr val="000080"/>
                  </a:solidFill>
                  <a:latin typeface="黑体" pitchFamily="2" charset="-122"/>
                  <a:ea typeface="黑体" pitchFamily="2" charset="-122"/>
                </a:rPr>
                <a:t>设备</a:t>
              </a:r>
            </a:p>
          </p:txBody>
        </p:sp>
        <p:sp>
          <p:nvSpPr>
            <p:cNvPr id="22558" name="Rectangle 28"/>
            <p:cNvSpPr>
              <a:spLocks noChangeArrowheads="1"/>
            </p:cNvSpPr>
            <p:nvPr/>
          </p:nvSpPr>
          <p:spPr bwMode="auto">
            <a:xfrm>
              <a:off x="4236" y="781"/>
              <a:ext cx="466" cy="113"/>
            </a:xfrm>
            <a:prstGeom prst="rect">
              <a:avLst/>
            </a:prstGeom>
            <a:solidFill>
              <a:srgbClr val="FFFFFF"/>
            </a:solidFill>
            <a:ln w="9525">
              <a:solidFill>
                <a:srgbClr val="000080"/>
              </a:solidFill>
              <a:miter lim="800000"/>
              <a:headEnd/>
              <a:tailEnd/>
            </a:ln>
          </p:spPr>
          <p:txBody>
            <a:bodyPr/>
            <a:lstStyle/>
            <a:p>
              <a:pPr algn="ctr">
                <a:spcBef>
                  <a:spcPct val="20000"/>
                </a:spcBef>
              </a:pPr>
              <a:endParaRPr lang="zh-CN" altLang="en-US" sz="2600">
                <a:latin typeface="黑体" pitchFamily="2" charset="-122"/>
                <a:ea typeface="黑体" pitchFamily="2" charset="-122"/>
              </a:endParaRPr>
            </a:p>
          </p:txBody>
        </p:sp>
        <p:sp>
          <p:nvSpPr>
            <p:cNvPr id="22559" name="Text Box 29"/>
            <p:cNvSpPr txBox="1">
              <a:spLocks noChangeArrowheads="1"/>
            </p:cNvSpPr>
            <p:nvPr/>
          </p:nvSpPr>
          <p:spPr bwMode="auto">
            <a:xfrm>
              <a:off x="4117" y="1005"/>
              <a:ext cx="66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I/O</a:t>
              </a:r>
              <a:r>
                <a:rPr lang="zh-CN" altLang="en-US" sz="1600">
                  <a:solidFill>
                    <a:srgbClr val="000080"/>
                  </a:solidFill>
                  <a:latin typeface="黑体" pitchFamily="2" charset="-122"/>
                  <a:ea typeface="黑体" pitchFamily="2" charset="-122"/>
                </a:rPr>
                <a:t>接口</a:t>
              </a:r>
            </a:p>
          </p:txBody>
        </p:sp>
        <p:sp>
          <p:nvSpPr>
            <p:cNvPr id="22560" name="Line 30"/>
            <p:cNvSpPr>
              <a:spLocks noChangeShapeType="1"/>
            </p:cNvSpPr>
            <p:nvPr/>
          </p:nvSpPr>
          <p:spPr bwMode="auto">
            <a:xfrm>
              <a:off x="1636" y="515"/>
              <a:ext cx="0" cy="198"/>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22561" name="Line 31"/>
            <p:cNvSpPr>
              <a:spLocks noChangeShapeType="1"/>
            </p:cNvSpPr>
            <p:nvPr/>
          </p:nvSpPr>
          <p:spPr bwMode="auto">
            <a:xfrm>
              <a:off x="3178" y="532"/>
              <a:ext cx="0" cy="198"/>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22562" name="Line 32"/>
            <p:cNvSpPr>
              <a:spLocks noChangeShapeType="1"/>
            </p:cNvSpPr>
            <p:nvPr/>
          </p:nvSpPr>
          <p:spPr bwMode="auto">
            <a:xfrm>
              <a:off x="4446" y="524"/>
              <a:ext cx="0" cy="198"/>
            </a:xfrm>
            <a:prstGeom prst="line">
              <a:avLst/>
            </a:prstGeom>
            <a:noFill/>
            <a:ln w="38100">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22563" name="Line 33"/>
            <p:cNvSpPr>
              <a:spLocks noChangeShapeType="1"/>
            </p:cNvSpPr>
            <p:nvPr/>
          </p:nvSpPr>
          <p:spPr bwMode="auto">
            <a:xfrm>
              <a:off x="4464" y="1187"/>
              <a:ext cx="0" cy="198"/>
            </a:xfrm>
            <a:prstGeom prst="line">
              <a:avLst/>
            </a:prstGeom>
            <a:noFill/>
            <a:ln w="28575">
              <a:solidFill>
                <a:srgbClr val="000080"/>
              </a:solidFill>
              <a:round/>
              <a:headEnd type="triangle" w="sm" len="sm"/>
              <a:tailEnd type="triangle" w="sm" len="sm"/>
            </a:ln>
            <a:extLst>
              <a:ext uri="{909E8E84-426E-40DD-AFC4-6F175D3DCCD1}">
                <a14:hiddenFill xmlns:a14="http://schemas.microsoft.com/office/drawing/2010/main">
                  <a:noFill/>
                </a14:hiddenFill>
              </a:ext>
            </a:extLst>
          </p:spPr>
          <p:txBody>
            <a:bodyPr/>
            <a:lstStyle/>
            <a:p>
              <a:endParaRPr lang="zh-CN" altLang="en-US">
                <a:latin typeface="黑体" pitchFamily="2" charset="-122"/>
                <a:ea typeface="黑体" pitchFamily="2" charset="-122"/>
              </a:endParaRPr>
            </a:p>
          </p:txBody>
        </p:sp>
        <p:sp>
          <p:nvSpPr>
            <p:cNvPr id="22564" name="Freeform 34"/>
            <p:cNvSpPr>
              <a:spLocks/>
            </p:cNvSpPr>
            <p:nvPr/>
          </p:nvSpPr>
          <p:spPr bwMode="auto">
            <a:xfrm>
              <a:off x="927" y="946"/>
              <a:ext cx="506" cy="249"/>
            </a:xfrm>
            <a:custGeom>
              <a:avLst/>
              <a:gdLst>
                <a:gd name="T0" fmla="*/ 0 w 990"/>
                <a:gd name="T1" fmla="*/ 1 h 352"/>
                <a:gd name="T2" fmla="*/ 1 w 990"/>
                <a:gd name="T3" fmla="*/ 0 h 352"/>
                <a:gd name="T4" fmla="*/ 1 w 990"/>
                <a:gd name="T5" fmla="*/ 0 h 352"/>
                <a:gd name="T6" fmla="*/ 1 w 990"/>
                <a:gd name="T7" fmla="*/ 1 h 352"/>
                <a:gd name="T8" fmla="*/ 1 w 990"/>
                <a:gd name="T9" fmla="*/ 1 h 352"/>
                <a:gd name="T10" fmla="*/ 1 w 990"/>
                <a:gd name="T11" fmla="*/ 1 h 352"/>
                <a:gd name="T12" fmla="*/ 1 w 990"/>
                <a:gd name="T13" fmla="*/ 1 h 352"/>
                <a:gd name="T14" fmla="*/ 0 w 990"/>
                <a:gd name="T15" fmla="*/ 1 h 352"/>
                <a:gd name="T16" fmla="*/ 0 60000 65536"/>
                <a:gd name="T17" fmla="*/ 0 60000 65536"/>
                <a:gd name="T18" fmla="*/ 0 60000 65536"/>
                <a:gd name="T19" fmla="*/ 0 60000 65536"/>
                <a:gd name="T20" fmla="*/ 0 60000 65536"/>
                <a:gd name="T21" fmla="*/ 0 60000 65536"/>
                <a:gd name="T22" fmla="*/ 0 60000 65536"/>
                <a:gd name="T23" fmla="*/ 0 60000 65536"/>
                <a:gd name="T24" fmla="*/ 0 w 990"/>
                <a:gd name="T25" fmla="*/ 0 h 352"/>
                <a:gd name="T26" fmla="*/ 990 w 990"/>
                <a:gd name="T27" fmla="*/ 352 h 35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990" h="352">
                  <a:moveTo>
                    <a:pt x="0" y="345"/>
                  </a:moveTo>
                  <a:lnTo>
                    <a:pt x="248" y="0"/>
                  </a:lnTo>
                  <a:lnTo>
                    <a:pt x="735" y="0"/>
                  </a:lnTo>
                  <a:lnTo>
                    <a:pt x="990" y="352"/>
                  </a:lnTo>
                  <a:lnTo>
                    <a:pt x="570" y="352"/>
                  </a:lnTo>
                  <a:lnTo>
                    <a:pt x="495" y="225"/>
                  </a:lnTo>
                  <a:lnTo>
                    <a:pt x="428" y="345"/>
                  </a:lnTo>
                  <a:lnTo>
                    <a:pt x="0" y="345"/>
                  </a:lnTo>
                  <a:close/>
                </a:path>
              </a:pathLst>
            </a:custGeom>
            <a:solidFill>
              <a:srgbClr val="FFFFFF"/>
            </a:solidFill>
            <a:ln w="12700" cap="flat" cmpd="sng">
              <a:solidFill>
                <a:srgbClr val="000080"/>
              </a:solidFill>
              <a:prstDash val="solid"/>
              <a:round/>
              <a:headEnd/>
              <a:tailEnd/>
            </a:ln>
          </p:spPr>
          <p:txBody>
            <a:bodyPr/>
            <a:lstStyle/>
            <a:p>
              <a:endParaRPr lang="zh-CN" altLang="en-US">
                <a:latin typeface="黑体" pitchFamily="2" charset="-122"/>
                <a:ea typeface="黑体" pitchFamily="2" charset="-122"/>
              </a:endParaRPr>
            </a:p>
          </p:txBody>
        </p:sp>
        <p:sp>
          <p:nvSpPr>
            <p:cNvPr id="22565" name="Text Box 35"/>
            <p:cNvSpPr txBox="1">
              <a:spLocks noChangeArrowheads="1"/>
            </p:cNvSpPr>
            <p:nvPr/>
          </p:nvSpPr>
          <p:spPr bwMode="auto">
            <a:xfrm>
              <a:off x="975" y="976"/>
              <a:ext cx="432"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a:lnSpc>
                  <a:spcPct val="100000"/>
                </a:lnSpc>
                <a:spcBef>
                  <a:spcPct val="0"/>
                </a:spcBef>
                <a:buClrTx/>
                <a:buFontTx/>
                <a:buNone/>
              </a:pPr>
              <a:r>
                <a:rPr lang="en-US" altLang="zh-CN" sz="1600">
                  <a:solidFill>
                    <a:srgbClr val="000080"/>
                  </a:solidFill>
                  <a:latin typeface="黑体" pitchFamily="2" charset="-122"/>
                  <a:ea typeface="黑体" pitchFamily="2" charset="-122"/>
                </a:rPr>
                <a:t>ALU</a:t>
              </a:r>
            </a:p>
          </p:txBody>
        </p:sp>
        <p:sp>
          <p:nvSpPr>
            <p:cNvPr id="22566" name="Rectangle 36"/>
            <p:cNvSpPr>
              <a:spLocks noChangeArrowheads="1"/>
            </p:cNvSpPr>
            <p:nvPr/>
          </p:nvSpPr>
          <p:spPr bwMode="auto">
            <a:xfrm>
              <a:off x="2804" y="707"/>
              <a:ext cx="751" cy="694"/>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algn="ctr">
                <a:spcBef>
                  <a:spcPct val="20000"/>
                </a:spcBef>
              </a:pPr>
              <a:endParaRPr lang="zh-CN" altLang="en-US" sz="2600">
                <a:latin typeface="黑体" pitchFamily="2" charset="-122"/>
                <a:ea typeface="黑体" pitchFamily="2" charset="-122"/>
              </a:endParaRPr>
            </a:p>
          </p:txBody>
        </p:sp>
        <p:sp>
          <p:nvSpPr>
            <p:cNvPr id="22567" name="Rectangle 37" descr="50%"/>
            <p:cNvSpPr>
              <a:spLocks noChangeArrowheads="1"/>
            </p:cNvSpPr>
            <p:nvPr/>
          </p:nvSpPr>
          <p:spPr bwMode="auto">
            <a:xfrm>
              <a:off x="2835" y="856"/>
              <a:ext cx="705" cy="106"/>
            </a:xfrm>
            <a:prstGeom prst="rect">
              <a:avLst/>
            </a:prstGeom>
            <a:pattFill prst="pct50">
              <a:fgClr>
                <a:srgbClr val="FF0000"/>
              </a:fgClr>
              <a:bgClr>
                <a:srgbClr val="FFFFFF"/>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spcBef>
                  <a:spcPct val="20000"/>
                </a:spcBef>
              </a:pPr>
              <a:endParaRPr lang="zh-CN" altLang="en-US" sz="2600">
                <a:latin typeface="黑体" pitchFamily="2" charset="-122"/>
                <a:ea typeface="黑体" pitchFamily="2" charset="-122"/>
              </a:endParaRPr>
            </a:p>
          </p:txBody>
        </p:sp>
        <p:sp>
          <p:nvSpPr>
            <p:cNvPr id="22568" name="Arc 38"/>
            <p:cNvSpPr>
              <a:spLocks/>
            </p:cNvSpPr>
            <p:nvPr/>
          </p:nvSpPr>
          <p:spPr bwMode="auto">
            <a:xfrm flipH="1" flipV="1">
              <a:off x="2119" y="567"/>
              <a:ext cx="838" cy="372"/>
            </a:xfrm>
            <a:custGeom>
              <a:avLst/>
              <a:gdLst>
                <a:gd name="T0" fmla="*/ 0 w 42686"/>
                <a:gd name="T1" fmla="*/ 0 h 21600"/>
                <a:gd name="T2" fmla="*/ 0 w 42686"/>
                <a:gd name="T3" fmla="*/ 0 h 21600"/>
                <a:gd name="T4" fmla="*/ 0 w 42686"/>
                <a:gd name="T5" fmla="*/ 0 h 21600"/>
                <a:gd name="T6" fmla="*/ 0 60000 65536"/>
                <a:gd name="T7" fmla="*/ 0 60000 65536"/>
                <a:gd name="T8" fmla="*/ 0 60000 65536"/>
                <a:gd name="T9" fmla="*/ 0 w 42686"/>
                <a:gd name="T10" fmla="*/ 0 h 21600"/>
                <a:gd name="T11" fmla="*/ 42686 w 42686"/>
                <a:gd name="T12" fmla="*/ 21600 h 21600"/>
              </a:gdLst>
              <a:ahLst/>
              <a:cxnLst>
                <a:cxn ang="T6">
                  <a:pos x="T0" y="T1"/>
                </a:cxn>
                <a:cxn ang="T7">
                  <a:pos x="T2" y="T3"/>
                </a:cxn>
                <a:cxn ang="T8">
                  <a:pos x="T4" y="T5"/>
                </a:cxn>
              </a:cxnLst>
              <a:rect l="T9" t="T10" r="T11" b="T12"/>
              <a:pathLst>
                <a:path w="42686" h="21600" fill="none" extrusionOk="0">
                  <a:moveTo>
                    <a:pt x="42686" y="3727"/>
                  </a:moveTo>
                  <a:cubicBezTo>
                    <a:pt x="40875" y="14061"/>
                    <a:pt x="31901" y="21599"/>
                    <a:pt x="21410" y="21600"/>
                  </a:cubicBezTo>
                  <a:cubicBezTo>
                    <a:pt x="10585" y="21600"/>
                    <a:pt x="1432" y="13587"/>
                    <a:pt x="-1" y="2858"/>
                  </a:cubicBezTo>
                </a:path>
                <a:path w="42686" h="21600" stroke="0" extrusionOk="0">
                  <a:moveTo>
                    <a:pt x="42686" y="3727"/>
                  </a:moveTo>
                  <a:cubicBezTo>
                    <a:pt x="40875" y="14061"/>
                    <a:pt x="31901" y="21599"/>
                    <a:pt x="21410" y="21600"/>
                  </a:cubicBezTo>
                  <a:cubicBezTo>
                    <a:pt x="10585" y="21600"/>
                    <a:pt x="1432" y="13587"/>
                    <a:pt x="-1" y="2858"/>
                  </a:cubicBezTo>
                  <a:lnTo>
                    <a:pt x="21410" y="0"/>
                  </a:lnTo>
                  <a:lnTo>
                    <a:pt x="42686" y="3727"/>
                  </a:lnTo>
                  <a:close/>
                </a:path>
              </a:pathLst>
            </a:custGeom>
            <a:noFill/>
            <a:ln w="28575">
              <a:solidFill>
                <a:srgbClr val="FF66FF"/>
              </a:solidFill>
              <a:prstDash val="sysDot"/>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黑体" pitchFamily="2" charset="-122"/>
                <a:ea typeface="黑体" pitchFamily="2" charset="-122"/>
              </a:endParaRPr>
            </a:p>
          </p:txBody>
        </p:sp>
        <p:sp>
          <p:nvSpPr>
            <p:cNvPr id="22569" name="Arc 39"/>
            <p:cNvSpPr>
              <a:spLocks/>
            </p:cNvSpPr>
            <p:nvPr/>
          </p:nvSpPr>
          <p:spPr bwMode="auto">
            <a:xfrm>
              <a:off x="2179" y="1011"/>
              <a:ext cx="605" cy="55"/>
            </a:xfrm>
            <a:custGeom>
              <a:avLst/>
              <a:gdLst>
                <a:gd name="T0" fmla="*/ 0 w 15269"/>
                <a:gd name="T1" fmla="*/ 0 h 21600"/>
                <a:gd name="T2" fmla="*/ 0 w 15269"/>
                <a:gd name="T3" fmla="*/ 0 h 21600"/>
                <a:gd name="T4" fmla="*/ 0 w 15269"/>
                <a:gd name="T5" fmla="*/ 0 h 21600"/>
                <a:gd name="T6" fmla="*/ 0 60000 65536"/>
                <a:gd name="T7" fmla="*/ 0 60000 65536"/>
                <a:gd name="T8" fmla="*/ 0 60000 65536"/>
                <a:gd name="T9" fmla="*/ 0 w 15269"/>
                <a:gd name="T10" fmla="*/ 0 h 21600"/>
                <a:gd name="T11" fmla="*/ 15269 w 15269"/>
                <a:gd name="T12" fmla="*/ 21600 h 21600"/>
              </a:gdLst>
              <a:ahLst/>
              <a:cxnLst>
                <a:cxn ang="T6">
                  <a:pos x="T0" y="T1"/>
                </a:cxn>
                <a:cxn ang="T7">
                  <a:pos x="T2" y="T3"/>
                </a:cxn>
                <a:cxn ang="T8">
                  <a:pos x="T4" y="T5"/>
                </a:cxn>
              </a:cxnLst>
              <a:rect l="T9" t="T10" r="T11" b="T12"/>
              <a:pathLst>
                <a:path w="15269" h="21600" fill="none" extrusionOk="0">
                  <a:moveTo>
                    <a:pt x="-1" y="0"/>
                  </a:moveTo>
                  <a:cubicBezTo>
                    <a:pt x="5726" y="0"/>
                    <a:pt x="11218" y="2273"/>
                    <a:pt x="15269" y="6321"/>
                  </a:cubicBezTo>
                </a:path>
                <a:path w="15269" h="21600" stroke="0" extrusionOk="0">
                  <a:moveTo>
                    <a:pt x="-1" y="0"/>
                  </a:moveTo>
                  <a:cubicBezTo>
                    <a:pt x="5726" y="0"/>
                    <a:pt x="11218" y="2273"/>
                    <a:pt x="15269" y="6321"/>
                  </a:cubicBezTo>
                  <a:lnTo>
                    <a:pt x="0" y="21600"/>
                  </a:lnTo>
                  <a:lnTo>
                    <a:pt x="-1" y="0"/>
                  </a:lnTo>
                  <a:close/>
                </a:path>
              </a:pathLst>
            </a:custGeom>
            <a:noFill/>
            <a:ln w="28575">
              <a:solidFill>
                <a:srgbClr val="FF3300"/>
              </a:solidFill>
              <a:prstDash val="sysDot"/>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latin typeface="黑体" pitchFamily="2" charset="-122"/>
                <a:ea typeface="黑体" pitchFamily="2" charset="-122"/>
              </a:endParaRPr>
            </a:p>
          </p:txBody>
        </p:sp>
      </p:grpSp>
      <p:sp>
        <p:nvSpPr>
          <p:cNvPr id="22531" name="Rectangle 40"/>
          <p:cNvSpPr>
            <a:spLocks noChangeArrowheads="1"/>
          </p:cNvSpPr>
          <p:nvPr/>
        </p:nvSpPr>
        <p:spPr bwMode="auto">
          <a:xfrm>
            <a:off x="482600" y="3571875"/>
            <a:ext cx="8661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buClrTx/>
              <a:buFontTx/>
              <a:buNone/>
            </a:pPr>
            <a:r>
              <a:rPr lang="zh-CN" altLang="en-US">
                <a:solidFill>
                  <a:srgbClr val="FF0000"/>
                </a:solidFill>
                <a:latin typeface="黑体" pitchFamily="2" charset="-122"/>
                <a:ea typeface="黑体" pitchFamily="2" charset="-122"/>
              </a:rPr>
              <a:t>   以取指令过程为例，其具体操作包含以下内容：</a:t>
            </a:r>
            <a:r>
              <a:rPr lang="zh-CN" altLang="en-US">
                <a:latin typeface="黑体" pitchFamily="2" charset="-122"/>
                <a:ea typeface="黑体" pitchFamily="2" charset="-122"/>
              </a:rPr>
              <a:t> </a:t>
            </a:r>
            <a:endParaRPr lang="zh-CN" altLang="en-US" b="0">
              <a:solidFill>
                <a:schemeClr val="tx1"/>
              </a:solidFill>
              <a:latin typeface="黑体" pitchFamily="2" charset="-122"/>
              <a:ea typeface="黑体" pitchFamily="2" charset="-122"/>
            </a:endParaRPr>
          </a:p>
        </p:txBody>
      </p:sp>
      <p:sp>
        <p:nvSpPr>
          <p:cNvPr id="22532" name="Rectangle 41"/>
          <p:cNvSpPr>
            <a:spLocks noChangeArrowheads="1"/>
          </p:cNvSpPr>
          <p:nvPr/>
        </p:nvSpPr>
        <p:spPr bwMode="auto">
          <a:xfrm>
            <a:off x="685800" y="4135438"/>
            <a:ext cx="7912100" cy="1975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spcBef>
                <a:spcPct val="0"/>
              </a:spcBef>
              <a:buClrTx/>
              <a:buFontTx/>
              <a:buNone/>
            </a:pPr>
            <a:r>
              <a:rPr lang="zh-CN" altLang="en-US" dirty="0">
                <a:solidFill>
                  <a:srgbClr val="000080"/>
                </a:solidFill>
                <a:latin typeface="黑体" pitchFamily="2" charset="-122"/>
                <a:ea typeface="黑体" pitchFamily="2" charset="-122"/>
              </a:rPr>
              <a:t>    (3) </a:t>
            </a:r>
            <a:r>
              <a:rPr lang="en-US" altLang="zh-CN" dirty="0">
                <a:solidFill>
                  <a:srgbClr val="000080"/>
                </a:solidFill>
                <a:latin typeface="黑体" pitchFamily="2" charset="-122"/>
                <a:ea typeface="黑体" pitchFamily="2" charset="-122"/>
              </a:rPr>
              <a:t>MM</a:t>
            </a:r>
            <a:r>
              <a:rPr lang="zh-CN" altLang="en-US" dirty="0">
                <a:solidFill>
                  <a:srgbClr val="000080"/>
                </a:solidFill>
                <a:latin typeface="黑体" pitchFamily="2" charset="-122"/>
                <a:ea typeface="黑体" pitchFamily="2" charset="-122"/>
              </a:rPr>
              <a:t>把</a:t>
            </a:r>
            <a:r>
              <a:rPr lang="en-US" altLang="zh-CN" dirty="0">
                <a:solidFill>
                  <a:srgbClr val="000080"/>
                </a:solidFill>
                <a:latin typeface="黑体" pitchFamily="2" charset="-122"/>
                <a:ea typeface="黑体" pitchFamily="2" charset="-122"/>
              </a:rPr>
              <a:t>MDR</a:t>
            </a:r>
            <a:r>
              <a:rPr lang="zh-CN" altLang="en-US" dirty="0">
                <a:solidFill>
                  <a:srgbClr val="000080"/>
                </a:solidFill>
                <a:latin typeface="黑体" pitchFamily="2" charset="-122"/>
                <a:ea typeface="黑体" pitchFamily="2" charset="-122"/>
              </a:rPr>
              <a:t>中的指令通过系统总线</a:t>
            </a:r>
            <a:r>
              <a:rPr lang="en-US" altLang="zh-CN" dirty="0">
                <a:solidFill>
                  <a:srgbClr val="000080"/>
                </a:solidFill>
                <a:latin typeface="黑体" pitchFamily="2" charset="-122"/>
                <a:ea typeface="黑体" pitchFamily="2" charset="-122"/>
              </a:rPr>
              <a:t>(</a:t>
            </a:r>
            <a:r>
              <a:rPr lang="zh-CN" altLang="en-US" dirty="0">
                <a:solidFill>
                  <a:srgbClr val="000080"/>
                </a:solidFill>
                <a:latin typeface="黑体" pitchFamily="2" charset="-122"/>
                <a:ea typeface="黑体" pitchFamily="2" charset="-122"/>
              </a:rPr>
              <a:t>的数据线</a:t>
            </a:r>
            <a:r>
              <a:rPr lang="en-US" altLang="zh-CN" dirty="0">
                <a:solidFill>
                  <a:srgbClr val="000080"/>
                </a:solidFill>
                <a:latin typeface="黑体" pitchFamily="2" charset="-122"/>
                <a:ea typeface="黑体" pitchFamily="2" charset="-122"/>
              </a:rPr>
              <a:t>)</a:t>
            </a:r>
            <a:r>
              <a:rPr lang="zh-CN" altLang="en-US" dirty="0">
                <a:solidFill>
                  <a:srgbClr val="000080"/>
                </a:solidFill>
                <a:latin typeface="黑体" pitchFamily="2" charset="-122"/>
                <a:ea typeface="黑体" pitchFamily="2" charset="-122"/>
              </a:rPr>
              <a:t>传到</a:t>
            </a:r>
            <a:r>
              <a:rPr lang="en-US" altLang="zh-CN" dirty="0">
                <a:solidFill>
                  <a:srgbClr val="000080"/>
                </a:solidFill>
                <a:latin typeface="黑体" pitchFamily="2" charset="-122"/>
                <a:ea typeface="黑体" pitchFamily="2" charset="-122"/>
              </a:rPr>
              <a:t>CPU</a:t>
            </a:r>
            <a:r>
              <a:rPr lang="zh-CN" altLang="en-US" dirty="0">
                <a:solidFill>
                  <a:srgbClr val="000080"/>
                </a:solidFill>
                <a:latin typeface="黑体" pitchFamily="2" charset="-122"/>
                <a:ea typeface="黑体" pitchFamily="2" charset="-122"/>
              </a:rPr>
              <a:t>的指令寄存器</a:t>
            </a:r>
            <a:r>
              <a:rPr lang="en-US" altLang="zh-CN" dirty="0">
                <a:solidFill>
                  <a:srgbClr val="000080"/>
                </a:solidFill>
                <a:latin typeface="黑体" pitchFamily="2" charset="-122"/>
                <a:ea typeface="黑体" pitchFamily="2" charset="-122"/>
              </a:rPr>
              <a:t>(IR)</a:t>
            </a:r>
            <a:r>
              <a:rPr lang="zh-CN" altLang="en-US" dirty="0">
                <a:solidFill>
                  <a:srgbClr val="000080"/>
                </a:solidFill>
                <a:latin typeface="黑体" pitchFamily="2" charset="-122"/>
                <a:ea typeface="黑体" pitchFamily="2" charset="-122"/>
              </a:rPr>
              <a:t>中，为下一步指令译码作准备。</a:t>
            </a:r>
            <a:endParaRPr lang="zh-CN" altLang="en-US" dirty="0">
              <a:latin typeface="黑体" pitchFamily="2" charset="-122"/>
              <a:ea typeface="黑体" pitchFamily="2" charset="-122"/>
            </a:endParaRPr>
          </a:p>
          <a:p>
            <a:pPr algn="just" eaLnBrk="0" hangingPunct="0">
              <a:lnSpc>
                <a:spcPct val="120000"/>
              </a:lnSpc>
              <a:spcBef>
                <a:spcPct val="0"/>
              </a:spcBef>
              <a:buClrTx/>
              <a:buFontTx/>
              <a:buNone/>
            </a:pPr>
            <a:r>
              <a:rPr lang="zh-CN" altLang="en-US" dirty="0">
                <a:solidFill>
                  <a:srgbClr val="000080"/>
                </a:solidFill>
                <a:latin typeface="黑体" pitchFamily="2" charset="-122"/>
                <a:ea typeface="黑体" pitchFamily="2" charset="-122"/>
              </a:rPr>
              <a:t> </a:t>
            </a:r>
            <a:endParaRPr lang="zh-CN" altLang="en-US" dirty="0">
              <a:latin typeface="黑体" pitchFamily="2" charset="-122"/>
              <a:ea typeface="黑体" pitchFamily="2" charset="-122"/>
            </a:endParaRPr>
          </a:p>
          <a:p>
            <a:pPr eaLnBrk="0" hangingPunct="0">
              <a:spcBef>
                <a:spcPct val="0"/>
              </a:spcBef>
              <a:buClrTx/>
              <a:buFontTx/>
              <a:buNone/>
            </a:pPr>
            <a:r>
              <a:rPr lang="zh-CN" altLang="en-US" dirty="0">
                <a:solidFill>
                  <a:srgbClr val="000080"/>
                </a:solidFill>
                <a:latin typeface="黑体" pitchFamily="2" charset="-122"/>
                <a:ea typeface="黑体" pitchFamily="2" charset="-122"/>
                <a:cs typeface="Times New Roman" pitchFamily="18" charset="0"/>
              </a:rPr>
              <a:t>         </a:t>
            </a:r>
            <a:r>
              <a:rPr lang="zh-CN" altLang="en-US" dirty="0">
                <a:solidFill>
                  <a:srgbClr val="000080"/>
                </a:solidFill>
                <a:latin typeface="黑体" pitchFamily="2" charset="-122"/>
                <a:ea typeface="黑体" pitchFamily="2" charset="-122"/>
              </a:rPr>
              <a:t>注：上述每项内容可能不止对应一步操作。</a:t>
            </a:r>
            <a:r>
              <a:rPr lang="zh-CN" altLang="en-US" dirty="0">
                <a:latin typeface="黑体" pitchFamily="2" charset="-122"/>
                <a:ea typeface="黑体" pitchFamily="2" charset="-122"/>
              </a:rPr>
              <a:t> </a:t>
            </a:r>
            <a:endParaRPr lang="zh-CN" altLang="en-US" b="0" dirty="0">
              <a:solidFill>
                <a:schemeClr val="tx1"/>
              </a:solidFill>
              <a:latin typeface="黑体" pitchFamily="2" charset="-122"/>
              <a:ea typeface="黑体" pitchFamily="2"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8"/>
          <p:cNvSpPr>
            <a:spLocks noChangeArrowheads="1"/>
          </p:cNvSpPr>
          <p:nvPr/>
        </p:nvSpPr>
        <p:spPr bwMode="auto">
          <a:xfrm>
            <a:off x="1293813" y="1222375"/>
            <a:ext cx="600710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450850" algn="just">
              <a:lnSpc>
                <a:spcPct val="160000"/>
              </a:lnSpc>
              <a:spcBef>
                <a:spcPct val="0"/>
              </a:spcBef>
              <a:buClrTx/>
              <a:buFont typeface="Wingdings" pitchFamily="2" charset="2"/>
              <a:buChar char="Ø"/>
            </a:pPr>
            <a:r>
              <a:rPr lang="zh-CN" altLang="en-US" dirty="0">
                <a:solidFill>
                  <a:srgbClr val="000080"/>
                </a:solidFill>
                <a:latin typeface="黑体" pitchFamily="2" charset="-122"/>
                <a:ea typeface="黑体" pitchFamily="2" charset="-122"/>
              </a:rPr>
              <a:t>能在程序控制下自动连续地工作</a:t>
            </a:r>
            <a:endParaRPr lang="zh-CN" altLang="en-US" dirty="0">
              <a:latin typeface="黑体" pitchFamily="2" charset="-122"/>
              <a:ea typeface="黑体" pitchFamily="2" charset="-122"/>
            </a:endParaRPr>
          </a:p>
          <a:p>
            <a:pPr indent="450850" algn="just" eaLnBrk="0" hangingPunct="0">
              <a:lnSpc>
                <a:spcPct val="160000"/>
              </a:lnSpc>
              <a:spcBef>
                <a:spcPct val="0"/>
              </a:spcBef>
              <a:buClrTx/>
              <a:buFont typeface="Wingdings" pitchFamily="2" charset="2"/>
              <a:buChar char="Ø"/>
            </a:pPr>
            <a:r>
              <a:rPr lang="zh-CN" altLang="en-US" dirty="0">
                <a:solidFill>
                  <a:srgbClr val="000080"/>
                </a:solidFill>
                <a:latin typeface="黑体" pitchFamily="2" charset="-122"/>
                <a:ea typeface="黑体" pitchFamily="2" charset="-122"/>
              </a:rPr>
              <a:t>运算速度快</a:t>
            </a:r>
            <a:endParaRPr lang="zh-CN" altLang="en-US" dirty="0">
              <a:latin typeface="黑体" pitchFamily="2" charset="-122"/>
              <a:ea typeface="黑体" pitchFamily="2" charset="-122"/>
            </a:endParaRPr>
          </a:p>
          <a:p>
            <a:pPr indent="450850" algn="just" eaLnBrk="0" hangingPunct="0">
              <a:lnSpc>
                <a:spcPct val="160000"/>
              </a:lnSpc>
              <a:spcBef>
                <a:spcPct val="0"/>
              </a:spcBef>
              <a:buClrTx/>
              <a:buFont typeface="Wingdings" pitchFamily="2" charset="2"/>
              <a:buChar char="Ø"/>
            </a:pPr>
            <a:r>
              <a:rPr lang="zh-CN" altLang="en-US" dirty="0">
                <a:solidFill>
                  <a:srgbClr val="000080"/>
                </a:solidFill>
                <a:latin typeface="黑体" pitchFamily="2" charset="-122"/>
                <a:ea typeface="黑体" pitchFamily="2" charset="-122"/>
              </a:rPr>
              <a:t>运算精度高</a:t>
            </a:r>
            <a:endParaRPr lang="zh-CN" altLang="en-US" dirty="0">
              <a:latin typeface="黑体" pitchFamily="2" charset="-122"/>
              <a:ea typeface="黑体" pitchFamily="2" charset="-122"/>
            </a:endParaRPr>
          </a:p>
          <a:p>
            <a:pPr indent="450850" algn="just" eaLnBrk="0" hangingPunct="0">
              <a:lnSpc>
                <a:spcPct val="160000"/>
              </a:lnSpc>
              <a:spcBef>
                <a:spcPct val="0"/>
              </a:spcBef>
              <a:buClrTx/>
              <a:buFont typeface="Wingdings" pitchFamily="2" charset="2"/>
              <a:buChar char="Ø"/>
            </a:pPr>
            <a:r>
              <a:rPr lang="zh-CN" altLang="en-US" dirty="0">
                <a:solidFill>
                  <a:srgbClr val="000080"/>
                </a:solidFill>
                <a:latin typeface="黑体" pitchFamily="2" charset="-122"/>
                <a:ea typeface="黑体" pitchFamily="2" charset="-122"/>
              </a:rPr>
              <a:t>信息存储能力强</a:t>
            </a:r>
            <a:endParaRPr lang="zh-CN" altLang="en-US" dirty="0">
              <a:latin typeface="黑体" pitchFamily="2" charset="-122"/>
              <a:ea typeface="黑体" pitchFamily="2" charset="-122"/>
            </a:endParaRPr>
          </a:p>
          <a:p>
            <a:pPr indent="450850" eaLnBrk="0" hangingPunct="0">
              <a:lnSpc>
                <a:spcPct val="160000"/>
              </a:lnSpc>
              <a:spcBef>
                <a:spcPct val="0"/>
              </a:spcBef>
              <a:buClrTx/>
              <a:buFont typeface="Wingdings" pitchFamily="2" charset="2"/>
              <a:buChar char="Ø"/>
            </a:pPr>
            <a:r>
              <a:rPr lang="zh-CN" altLang="en-US" dirty="0">
                <a:solidFill>
                  <a:srgbClr val="000080"/>
                </a:solidFill>
                <a:latin typeface="黑体" pitchFamily="2" charset="-122"/>
                <a:ea typeface="黑体" pitchFamily="2" charset="-122"/>
              </a:rPr>
              <a:t>通用性好</a:t>
            </a:r>
            <a:r>
              <a:rPr lang="zh-CN" altLang="en-US" dirty="0">
                <a:latin typeface="黑体" pitchFamily="2" charset="-122"/>
                <a:ea typeface="黑体" pitchFamily="2" charset="-122"/>
              </a:rPr>
              <a:t> </a:t>
            </a:r>
            <a:endParaRPr lang="zh-CN" altLang="en-US" b="0" dirty="0">
              <a:solidFill>
                <a:schemeClr val="tx1"/>
              </a:solidFill>
              <a:latin typeface="黑体" pitchFamily="2" charset="-122"/>
              <a:ea typeface="黑体" pitchFamily="2" charset="-122"/>
            </a:endParaRPr>
          </a:p>
        </p:txBody>
      </p:sp>
      <p:sp>
        <p:nvSpPr>
          <p:cNvPr id="23555" name="Rectangle 30"/>
          <p:cNvSpPr>
            <a:spLocks noChangeArrowheads="1"/>
          </p:cNvSpPr>
          <p:nvPr/>
        </p:nvSpPr>
        <p:spPr bwMode="auto">
          <a:xfrm>
            <a:off x="330200" y="488950"/>
            <a:ext cx="8813800"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indent="266700">
              <a:lnSpc>
                <a:spcPct val="150000"/>
              </a:lnSpc>
              <a:spcBef>
                <a:spcPct val="0"/>
              </a:spcBef>
              <a:buClrTx/>
              <a:buFontTx/>
              <a:buNone/>
            </a:pPr>
            <a:r>
              <a:rPr lang="en-US" altLang="zh-CN">
                <a:solidFill>
                  <a:srgbClr val="800000"/>
                </a:solidFill>
                <a:latin typeface="黑体" pitchFamily="2" charset="-122"/>
                <a:ea typeface="黑体" pitchFamily="2" charset="-122"/>
              </a:rPr>
              <a:t>4</a:t>
            </a:r>
            <a:r>
              <a:rPr lang="zh-CN" altLang="en-US">
                <a:solidFill>
                  <a:srgbClr val="800000"/>
                </a:solidFill>
                <a:latin typeface="黑体" pitchFamily="2" charset="-122"/>
                <a:ea typeface="黑体" pitchFamily="2" charset="-122"/>
              </a:rPr>
              <a:t>．数字计算机的特点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01" name="Rectangle 31"/>
          <p:cNvSpPr>
            <a:spLocks noChangeArrowheads="1"/>
          </p:cNvSpPr>
          <p:nvPr/>
        </p:nvSpPr>
        <p:spPr bwMode="auto">
          <a:xfrm>
            <a:off x="0" y="48577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gn="ctr">
              <a:lnSpc>
                <a:spcPct val="100000"/>
              </a:lnSpc>
              <a:spcBef>
                <a:spcPct val="0"/>
              </a:spcBef>
              <a:buClrTx/>
              <a:buFontTx/>
              <a:buNone/>
            </a:pPr>
            <a:r>
              <a:rPr lang="zh-CN" altLang="zh-CN" sz="2600">
                <a:solidFill>
                  <a:srgbClr val="800000"/>
                </a:solidFill>
                <a:latin typeface="黑体" pitchFamily="2" charset="-122"/>
                <a:ea typeface="黑体" pitchFamily="2" charset="-122"/>
              </a:rPr>
              <a:t>§1.2  计算机系统的层次结构</a:t>
            </a:r>
            <a:endParaRPr lang="en-US" altLang="zh-CN" sz="2600">
              <a:solidFill>
                <a:srgbClr val="800000"/>
              </a:solidFill>
              <a:latin typeface="黑体" pitchFamily="2" charset="-122"/>
              <a:ea typeface="黑体" pitchFamily="2" charset="-122"/>
            </a:endParaRPr>
          </a:p>
        </p:txBody>
      </p:sp>
      <p:pic>
        <p:nvPicPr>
          <p:cNvPr id="3" name="图片 2">
            <a:extLst>
              <a:ext uri="{FF2B5EF4-FFF2-40B4-BE49-F238E27FC236}">
                <a16:creationId xmlns:a16="http://schemas.microsoft.com/office/drawing/2014/main" id="{3C0BC8A3-AFD0-1EDB-0C5E-B086D54AF6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094" y="1787013"/>
            <a:ext cx="2705239" cy="4127712"/>
          </a:xfrm>
          <a:prstGeom prst="rect">
            <a:avLst/>
          </a:prstGeom>
        </p:spPr>
      </p:pic>
      <p:sp>
        <p:nvSpPr>
          <p:cNvPr id="5" name="文本框 4">
            <a:extLst>
              <a:ext uri="{FF2B5EF4-FFF2-40B4-BE49-F238E27FC236}">
                <a16:creationId xmlns:a16="http://schemas.microsoft.com/office/drawing/2014/main" id="{7417460E-36DA-0EA9-EBFD-D3286104788D}"/>
              </a:ext>
            </a:extLst>
          </p:cNvPr>
          <p:cNvSpPr txBox="1"/>
          <p:nvPr/>
        </p:nvSpPr>
        <p:spPr>
          <a:xfrm>
            <a:off x="5291189" y="1254782"/>
            <a:ext cx="3729519" cy="369332"/>
          </a:xfrm>
          <a:prstGeom prst="rect">
            <a:avLst/>
          </a:prstGeom>
          <a:noFill/>
        </p:spPr>
        <p:txBody>
          <a:bodyPr wrap="square">
            <a:spAutoFit/>
          </a:bodyPr>
          <a:lstStyle/>
          <a:p>
            <a:r>
              <a:rPr lang="zh-CN" altLang="en-US" sz="2000" dirty="0">
                <a:solidFill>
                  <a:srgbClr val="000080"/>
                </a:solidFill>
                <a:latin typeface="黑体" pitchFamily="2" charset="-122"/>
                <a:ea typeface="黑体" pitchFamily="2" charset="-122"/>
              </a:rPr>
              <a:t>◆ 不同用户处在不同层次</a:t>
            </a:r>
          </a:p>
        </p:txBody>
      </p:sp>
      <p:sp>
        <p:nvSpPr>
          <p:cNvPr id="6" name="文本框 5">
            <a:extLst>
              <a:ext uri="{FF2B5EF4-FFF2-40B4-BE49-F238E27FC236}">
                <a16:creationId xmlns:a16="http://schemas.microsoft.com/office/drawing/2014/main" id="{27A42423-49A6-0A7A-E798-7B296BB4E985}"/>
              </a:ext>
            </a:extLst>
          </p:cNvPr>
          <p:cNvSpPr txBox="1"/>
          <p:nvPr/>
        </p:nvSpPr>
        <p:spPr>
          <a:xfrm>
            <a:off x="5291189" y="1834024"/>
            <a:ext cx="3729519" cy="369332"/>
          </a:xfrm>
          <a:prstGeom prst="rect">
            <a:avLst/>
          </a:prstGeom>
          <a:noFill/>
        </p:spPr>
        <p:txBody>
          <a:bodyPr wrap="square">
            <a:spAutoFit/>
          </a:bodyPr>
          <a:lstStyle/>
          <a:p>
            <a:r>
              <a:rPr lang="zh-CN" altLang="en-US" sz="2000" dirty="0">
                <a:solidFill>
                  <a:srgbClr val="000080"/>
                </a:solidFill>
                <a:latin typeface="黑体" pitchFamily="2" charset="-122"/>
                <a:ea typeface="黑体" pitchFamily="2" charset="-122"/>
              </a:rPr>
              <a:t>◆ 不同层次具有不同属性</a:t>
            </a:r>
          </a:p>
        </p:txBody>
      </p:sp>
      <p:sp>
        <p:nvSpPr>
          <p:cNvPr id="7" name="文本框 6">
            <a:extLst>
              <a:ext uri="{FF2B5EF4-FFF2-40B4-BE49-F238E27FC236}">
                <a16:creationId xmlns:a16="http://schemas.microsoft.com/office/drawing/2014/main" id="{0A40FFEC-447D-BFED-7BB1-CC483CD8B315}"/>
              </a:ext>
            </a:extLst>
          </p:cNvPr>
          <p:cNvSpPr txBox="1"/>
          <p:nvPr/>
        </p:nvSpPr>
        <p:spPr>
          <a:xfrm>
            <a:off x="5291189" y="2465170"/>
            <a:ext cx="3729519" cy="369332"/>
          </a:xfrm>
          <a:prstGeom prst="rect">
            <a:avLst/>
          </a:prstGeom>
          <a:noFill/>
        </p:spPr>
        <p:txBody>
          <a:bodyPr wrap="square">
            <a:spAutoFit/>
          </a:bodyPr>
          <a:lstStyle/>
          <a:p>
            <a:r>
              <a:rPr lang="zh-CN" altLang="en-US" sz="2000" dirty="0">
                <a:solidFill>
                  <a:srgbClr val="000080"/>
                </a:solidFill>
                <a:latin typeface="黑体" pitchFamily="2" charset="-122"/>
                <a:ea typeface="黑体" pitchFamily="2" charset="-122"/>
              </a:rPr>
              <a:t>◆ 不同层次使用不同工具</a:t>
            </a:r>
          </a:p>
        </p:txBody>
      </p:sp>
      <p:sp>
        <p:nvSpPr>
          <p:cNvPr id="8" name="文本框 7">
            <a:extLst>
              <a:ext uri="{FF2B5EF4-FFF2-40B4-BE49-F238E27FC236}">
                <a16:creationId xmlns:a16="http://schemas.microsoft.com/office/drawing/2014/main" id="{12337260-5AC8-EC32-EF1E-CF89CE528B58}"/>
              </a:ext>
            </a:extLst>
          </p:cNvPr>
          <p:cNvSpPr txBox="1"/>
          <p:nvPr/>
        </p:nvSpPr>
        <p:spPr>
          <a:xfrm>
            <a:off x="5291189" y="3007132"/>
            <a:ext cx="3729519" cy="369332"/>
          </a:xfrm>
          <a:prstGeom prst="rect">
            <a:avLst/>
          </a:prstGeom>
          <a:noFill/>
        </p:spPr>
        <p:txBody>
          <a:bodyPr wrap="square">
            <a:spAutoFit/>
          </a:bodyPr>
          <a:lstStyle/>
          <a:p>
            <a:r>
              <a:rPr lang="zh-CN" altLang="en-US" sz="2000" dirty="0">
                <a:solidFill>
                  <a:srgbClr val="000080"/>
                </a:solidFill>
                <a:latin typeface="黑体" pitchFamily="2" charset="-122"/>
                <a:ea typeface="黑体" pitchFamily="2" charset="-122"/>
              </a:rPr>
              <a:t>◆ 不同层次代码效率不同 </a:t>
            </a:r>
          </a:p>
        </p:txBody>
      </p:sp>
      <p:pic>
        <p:nvPicPr>
          <p:cNvPr id="10" name="图片 9">
            <a:extLst>
              <a:ext uri="{FF2B5EF4-FFF2-40B4-BE49-F238E27FC236}">
                <a16:creationId xmlns:a16="http://schemas.microsoft.com/office/drawing/2014/main" id="{9CD01708-F0D4-6196-9B01-C5CA77CD93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39303" y="2270494"/>
            <a:ext cx="2375022" cy="736638"/>
          </a:xfrm>
          <a:prstGeom prst="rect">
            <a:avLst/>
          </a:prstGeom>
        </p:spPr>
      </p:pic>
      <p:pic>
        <p:nvPicPr>
          <p:cNvPr id="12" name="图片 11">
            <a:extLst>
              <a:ext uri="{FF2B5EF4-FFF2-40B4-BE49-F238E27FC236}">
                <a16:creationId xmlns:a16="http://schemas.microsoft.com/office/drawing/2014/main" id="{4B398D5D-65DE-8A39-4406-12FBE88890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17772" y="3074270"/>
            <a:ext cx="2273417" cy="812842"/>
          </a:xfrm>
          <a:prstGeom prst="rect">
            <a:avLst/>
          </a:prstGeom>
        </p:spPr>
      </p:pic>
      <p:pic>
        <p:nvPicPr>
          <p:cNvPr id="14" name="图片 13">
            <a:extLst>
              <a:ext uri="{FF2B5EF4-FFF2-40B4-BE49-F238E27FC236}">
                <a16:creationId xmlns:a16="http://schemas.microsoft.com/office/drawing/2014/main" id="{85FD0EBA-851F-D973-A167-E591606469F2}"/>
              </a:ext>
            </a:extLst>
          </p:cNvPr>
          <p:cNvPicPr>
            <a:picLocks noChangeAspect="1"/>
          </p:cNvPicPr>
          <p:nvPr/>
        </p:nvPicPr>
        <p:blipFill rotWithShape="1">
          <a:blip r:embed="rId5">
            <a:extLst>
              <a:ext uri="{28A0092B-C50C-407E-A947-70E740481C1C}">
                <a14:useLocalDpi xmlns:a14="http://schemas.microsoft.com/office/drawing/2010/main" val="0"/>
              </a:ext>
            </a:extLst>
          </a:blip>
          <a:srcRect l="-4439" r="-1"/>
          <a:stretch/>
        </p:blipFill>
        <p:spPr>
          <a:xfrm>
            <a:off x="2930269" y="3966757"/>
            <a:ext cx="3575234" cy="806491"/>
          </a:xfrm>
          <a:prstGeom prst="rect">
            <a:avLst/>
          </a:prstGeom>
        </p:spPr>
      </p:pic>
      <p:pic>
        <p:nvPicPr>
          <p:cNvPr id="16" name="图片 15">
            <a:extLst>
              <a:ext uri="{FF2B5EF4-FFF2-40B4-BE49-F238E27FC236}">
                <a16:creationId xmlns:a16="http://schemas.microsoft.com/office/drawing/2014/main" id="{402DBB2F-32DD-E130-BB12-38F3FCA29DB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52519" y="4739335"/>
            <a:ext cx="2717940" cy="869995"/>
          </a:xfrm>
          <a:prstGeom prst="rect">
            <a:avLst/>
          </a:prstGeom>
        </p:spPr>
      </p:pic>
      <p:pic>
        <p:nvPicPr>
          <p:cNvPr id="18" name="图片 17">
            <a:extLst>
              <a:ext uri="{FF2B5EF4-FFF2-40B4-BE49-F238E27FC236}">
                <a16:creationId xmlns:a16="http://schemas.microsoft.com/office/drawing/2014/main" id="{A63B8CA4-0654-423B-632D-C331D6B1F6E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17772" y="5680889"/>
            <a:ext cx="2362321" cy="285765"/>
          </a:xfrm>
          <a:prstGeom prst="rect">
            <a:avLst/>
          </a:prstGeom>
        </p:spPr>
      </p:pic>
      <p:pic>
        <p:nvPicPr>
          <p:cNvPr id="20" name="图片 19">
            <a:extLst>
              <a:ext uri="{FF2B5EF4-FFF2-40B4-BE49-F238E27FC236}">
                <a16:creationId xmlns:a16="http://schemas.microsoft.com/office/drawing/2014/main" id="{8F62A938-4781-9B5C-C583-4AF70F06001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32761" y="4773248"/>
            <a:ext cx="1994002" cy="704886"/>
          </a:xfrm>
          <a:prstGeom prst="rect">
            <a:avLst/>
          </a:prstGeom>
        </p:spPr>
      </p:pic>
      <p:pic>
        <p:nvPicPr>
          <p:cNvPr id="22" name="图片 21">
            <a:extLst>
              <a:ext uri="{FF2B5EF4-FFF2-40B4-BE49-F238E27FC236}">
                <a16:creationId xmlns:a16="http://schemas.microsoft.com/office/drawing/2014/main" id="{ED3278AD-76B4-D552-8A38-13651D51F380}"/>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414325" y="5603218"/>
            <a:ext cx="2286117" cy="558829"/>
          </a:xfrm>
          <a:prstGeom prst="rect">
            <a:avLst/>
          </a:prstGeom>
        </p:spPr>
      </p:pic>
    </p:spTree>
    <p:extLst>
      <p:ext uri="{BB962C8B-B14F-4D97-AF65-F5344CB8AC3E}">
        <p14:creationId xmlns:p14="http://schemas.microsoft.com/office/powerpoint/2010/main" val="2735042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01" name="Rectangle 31"/>
          <p:cNvSpPr>
            <a:spLocks noChangeArrowheads="1"/>
          </p:cNvSpPr>
          <p:nvPr/>
        </p:nvSpPr>
        <p:spPr bwMode="auto">
          <a:xfrm>
            <a:off x="0" y="48577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gn="ctr">
              <a:lnSpc>
                <a:spcPct val="100000"/>
              </a:lnSpc>
              <a:spcBef>
                <a:spcPct val="0"/>
              </a:spcBef>
              <a:buClrTx/>
              <a:buFontTx/>
              <a:buNone/>
            </a:pPr>
            <a:r>
              <a:rPr lang="zh-CN" altLang="zh-CN" sz="2600">
                <a:solidFill>
                  <a:srgbClr val="800000"/>
                </a:solidFill>
                <a:latin typeface="黑体" pitchFamily="2" charset="-122"/>
                <a:ea typeface="黑体" pitchFamily="2" charset="-122"/>
              </a:rPr>
              <a:t>§1.2  计算机系统的层次结构</a:t>
            </a:r>
            <a:endParaRPr lang="en-US" altLang="zh-CN" sz="2600">
              <a:solidFill>
                <a:srgbClr val="800000"/>
              </a:solidFill>
              <a:latin typeface="黑体" pitchFamily="2" charset="-122"/>
              <a:ea typeface="黑体" pitchFamily="2" charset="-122"/>
            </a:endParaRPr>
          </a:p>
        </p:txBody>
      </p:sp>
      <p:pic>
        <p:nvPicPr>
          <p:cNvPr id="3" name="图片 2">
            <a:extLst>
              <a:ext uri="{FF2B5EF4-FFF2-40B4-BE49-F238E27FC236}">
                <a16:creationId xmlns:a16="http://schemas.microsoft.com/office/drawing/2014/main" id="{3C0BC8A3-AFD0-1EDB-0C5E-B086D54AF6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394" y="1817617"/>
            <a:ext cx="2705239" cy="4127712"/>
          </a:xfrm>
          <a:prstGeom prst="rect">
            <a:avLst/>
          </a:prstGeom>
        </p:spPr>
      </p:pic>
      <p:sp>
        <p:nvSpPr>
          <p:cNvPr id="5" name="文本框 4">
            <a:extLst>
              <a:ext uri="{FF2B5EF4-FFF2-40B4-BE49-F238E27FC236}">
                <a16:creationId xmlns:a16="http://schemas.microsoft.com/office/drawing/2014/main" id="{7417460E-36DA-0EA9-EBFD-D3286104788D}"/>
              </a:ext>
            </a:extLst>
          </p:cNvPr>
          <p:cNvSpPr txBox="1"/>
          <p:nvPr/>
        </p:nvSpPr>
        <p:spPr>
          <a:xfrm>
            <a:off x="4253501" y="1957678"/>
            <a:ext cx="4715837" cy="646331"/>
          </a:xfrm>
          <a:prstGeom prst="rect">
            <a:avLst/>
          </a:prstGeom>
          <a:noFill/>
        </p:spPr>
        <p:txBody>
          <a:bodyPr wrap="square">
            <a:spAutoFit/>
          </a:bodyPr>
          <a:lstStyle>
            <a:defPPr>
              <a:defRPr lang="en-US"/>
            </a:defPPr>
            <a:lvl1pPr>
              <a:defRPr sz="2000">
                <a:solidFill>
                  <a:srgbClr val="000080"/>
                </a:solidFill>
                <a:latin typeface="黑体" pitchFamily="2" charset="-122"/>
                <a:ea typeface="黑体" pitchFamily="2" charset="-122"/>
              </a:defRPr>
            </a:lvl1pPr>
          </a:lstStyle>
          <a:p>
            <a:r>
              <a:rPr lang="zh-CN" altLang="en-US" dirty="0"/>
              <a:t>◆下层的概念性结构和功能特性对上一层设计者是</a:t>
            </a:r>
            <a:r>
              <a:rPr lang="zh-CN" altLang="en-US" dirty="0">
                <a:solidFill>
                  <a:srgbClr val="FF0000"/>
                </a:solidFill>
              </a:rPr>
              <a:t>透明</a:t>
            </a:r>
            <a:r>
              <a:rPr lang="zh-CN" altLang="en-US" dirty="0"/>
              <a:t>的</a:t>
            </a:r>
          </a:p>
        </p:txBody>
      </p:sp>
      <p:sp>
        <p:nvSpPr>
          <p:cNvPr id="2" name="文本框 1">
            <a:extLst>
              <a:ext uri="{FF2B5EF4-FFF2-40B4-BE49-F238E27FC236}">
                <a16:creationId xmlns:a16="http://schemas.microsoft.com/office/drawing/2014/main" id="{7C7B8BB4-2586-437F-75ED-9A16D16F3640}"/>
              </a:ext>
            </a:extLst>
          </p:cNvPr>
          <p:cNvSpPr txBox="1"/>
          <p:nvPr/>
        </p:nvSpPr>
        <p:spPr>
          <a:xfrm>
            <a:off x="4296601" y="2782669"/>
            <a:ext cx="4715837" cy="369332"/>
          </a:xfrm>
          <a:prstGeom prst="rect">
            <a:avLst/>
          </a:prstGeom>
          <a:noFill/>
        </p:spPr>
        <p:txBody>
          <a:bodyPr wrap="square">
            <a:spAutoFit/>
          </a:bodyPr>
          <a:lstStyle>
            <a:defPPr>
              <a:defRPr lang="en-US"/>
            </a:defPPr>
            <a:lvl1pPr>
              <a:defRPr sz="2000">
                <a:solidFill>
                  <a:srgbClr val="000080"/>
                </a:solidFill>
                <a:latin typeface="黑体" pitchFamily="2" charset="-122"/>
                <a:ea typeface="黑体" pitchFamily="2" charset="-122"/>
              </a:defRPr>
            </a:lvl1pPr>
          </a:lstStyle>
          <a:p>
            <a:r>
              <a:rPr lang="zh-CN" altLang="en-US" dirty="0"/>
              <a:t>◆指令格式及指令设计与</a:t>
            </a:r>
            <a:r>
              <a:rPr lang="zh-CN" altLang="en-US" dirty="0">
                <a:solidFill>
                  <a:srgbClr val="FF0000"/>
                </a:solidFill>
              </a:rPr>
              <a:t>硬件关联</a:t>
            </a:r>
          </a:p>
        </p:txBody>
      </p:sp>
      <p:sp>
        <p:nvSpPr>
          <p:cNvPr id="4" name="对话气泡: 圆角矩形 3">
            <a:extLst>
              <a:ext uri="{FF2B5EF4-FFF2-40B4-BE49-F238E27FC236}">
                <a16:creationId xmlns:a16="http://schemas.microsoft.com/office/drawing/2014/main" id="{FBA4A35E-6424-617F-19D6-84DA2F6B5C66}"/>
              </a:ext>
            </a:extLst>
          </p:cNvPr>
          <p:cNvSpPr/>
          <p:nvPr/>
        </p:nvSpPr>
        <p:spPr>
          <a:xfrm>
            <a:off x="3883631" y="4713636"/>
            <a:ext cx="1376737" cy="772763"/>
          </a:xfrm>
          <a:prstGeom prst="wedgeRoundRectCallout">
            <a:avLst>
              <a:gd name="adj1" fmla="val -105951"/>
              <a:gd name="adj2" fmla="val -74776"/>
              <a:gd name="adj3"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000080"/>
                </a:solidFill>
              </a:rPr>
              <a:t>软硬件的</a:t>
            </a:r>
            <a:r>
              <a:rPr lang="zh-CN" altLang="en-US" sz="2000" dirty="0">
                <a:solidFill>
                  <a:srgbClr val="FF0000"/>
                </a:solidFill>
              </a:rPr>
              <a:t>分界线</a:t>
            </a:r>
          </a:p>
        </p:txBody>
      </p:sp>
    </p:spTree>
    <p:extLst>
      <p:ext uri="{BB962C8B-B14F-4D97-AF65-F5344CB8AC3E}">
        <p14:creationId xmlns:p14="http://schemas.microsoft.com/office/powerpoint/2010/main" val="1703171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23" name="Rectangle 31"/>
          <p:cNvSpPr>
            <a:spLocks noChangeArrowheads="1"/>
          </p:cNvSpPr>
          <p:nvPr/>
        </p:nvSpPr>
        <p:spPr bwMode="auto">
          <a:xfrm>
            <a:off x="0" y="486209"/>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gn="ctr">
              <a:lnSpc>
                <a:spcPct val="100000"/>
              </a:lnSpc>
              <a:spcBef>
                <a:spcPct val="0"/>
              </a:spcBef>
              <a:buClrTx/>
              <a:buFontTx/>
              <a:buNone/>
            </a:pPr>
            <a:r>
              <a:rPr lang="zh-CN" altLang="zh-CN" sz="2600">
                <a:solidFill>
                  <a:srgbClr val="800000"/>
                </a:solidFill>
                <a:latin typeface="黑体" pitchFamily="2" charset="-122"/>
                <a:ea typeface="黑体" pitchFamily="2" charset="-122"/>
              </a:rPr>
              <a:t>§1.2  计算机系统的层次结构</a:t>
            </a:r>
            <a:endParaRPr lang="en-US" altLang="zh-CN" sz="2600">
              <a:solidFill>
                <a:srgbClr val="800000"/>
              </a:solidFill>
              <a:latin typeface="黑体" pitchFamily="2" charset="-122"/>
              <a:ea typeface="黑体" pitchFamily="2" charset="-122"/>
            </a:endParaRPr>
          </a:p>
        </p:txBody>
      </p:sp>
      <p:graphicFrame>
        <p:nvGraphicFramePr>
          <p:cNvPr id="4" name="Object 4">
            <a:extLst>
              <a:ext uri="{FF2B5EF4-FFF2-40B4-BE49-F238E27FC236}">
                <a16:creationId xmlns:a16="http://schemas.microsoft.com/office/drawing/2014/main" id="{FC255280-3793-2261-D9CD-66C7BAEF3AAA}"/>
              </a:ext>
            </a:extLst>
          </p:cNvPr>
          <p:cNvGraphicFramePr>
            <a:graphicFrameLocks noChangeAspect="1"/>
          </p:cNvGraphicFramePr>
          <p:nvPr>
            <p:extLst>
              <p:ext uri="{D42A27DB-BD31-4B8C-83A1-F6EECF244321}">
                <p14:modId xmlns:p14="http://schemas.microsoft.com/office/powerpoint/2010/main" val="2929695140"/>
              </p:ext>
            </p:extLst>
          </p:nvPr>
        </p:nvGraphicFramePr>
        <p:xfrm>
          <a:off x="6956426" y="1361595"/>
          <a:ext cx="1915572" cy="5251767"/>
        </p:xfrm>
        <a:graphic>
          <a:graphicData uri="http://schemas.openxmlformats.org/presentationml/2006/ole">
            <mc:AlternateContent xmlns:mc="http://schemas.openxmlformats.org/markup-compatibility/2006">
              <mc:Choice xmlns:v="urn:schemas-microsoft-com:vml" Requires="v">
                <p:oleObj name="Document" r:id="rId2" imgW="1927860" imgH="5603748" progId="Word.Document.8">
                  <p:embed/>
                </p:oleObj>
              </mc:Choice>
              <mc:Fallback>
                <p:oleObj name="Document" r:id="rId2" imgW="1927860" imgH="5603748" progId="Word.Document.8">
                  <p:embed/>
                  <p:pic>
                    <p:nvPicPr>
                      <p:cNvPr id="33797" name="Object 4">
                        <a:extLst>
                          <a:ext uri="{FF2B5EF4-FFF2-40B4-BE49-F238E27FC236}">
                            <a16:creationId xmlns:a16="http://schemas.microsoft.com/office/drawing/2014/main" id="{430B6715-F110-ADD8-044F-C2DEF08C77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6426" y="1361595"/>
                        <a:ext cx="1915572" cy="5251767"/>
                      </a:xfrm>
                      <a:prstGeom prst="rect">
                        <a:avLst/>
                      </a:prstGeom>
                      <a:noFill/>
                      <a:ln>
                        <a:noFill/>
                      </a:ln>
                      <a:effectLst/>
                    </p:spPr>
                  </p:pic>
                </p:oleObj>
              </mc:Fallback>
            </mc:AlternateContent>
          </a:graphicData>
        </a:graphic>
      </p:graphicFrame>
      <p:grpSp>
        <p:nvGrpSpPr>
          <p:cNvPr id="5" name="Group 5">
            <a:extLst>
              <a:ext uri="{FF2B5EF4-FFF2-40B4-BE49-F238E27FC236}">
                <a16:creationId xmlns:a16="http://schemas.microsoft.com/office/drawing/2014/main" id="{4603B828-D71A-DC15-270F-4D5CF74F6EF4}"/>
              </a:ext>
            </a:extLst>
          </p:cNvPr>
          <p:cNvGrpSpPr>
            <a:grpSpLocks/>
          </p:cNvGrpSpPr>
          <p:nvPr/>
        </p:nvGrpSpPr>
        <p:grpSpPr bwMode="auto">
          <a:xfrm>
            <a:off x="679450" y="1904520"/>
            <a:ext cx="4995863" cy="4443412"/>
            <a:chOff x="428" y="1065"/>
            <a:chExt cx="3147" cy="2979"/>
          </a:xfrm>
        </p:grpSpPr>
        <p:sp>
          <p:nvSpPr>
            <p:cNvPr id="6" name="AutoShape 6">
              <a:extLst>
                <a:ext uri="{FF2B5EF4-FFF2-40B4-BE49-F238E27FC236}">
                  <a16:creationId xmlns:a16="http://schemas.microsoft.com/office/drawing/2014/main" id="{312B94E4-B66A-7C6D-81C4-872AFE670ED5}"/>
                </a:ext>
              </a:extLst>
            </p:cNvPr>
            <p:cNvSpPr>
              <a:spLocks noChangeArrowheads="1"/>
            </p:cNvSpPr>
            <p:nvPr/>
          </p:nvSpPr>
          <p:spPr bwMode="auto">
            <a:xfrm>
              <a:off x="1505" y="1065"/>
              <a:ext cx="2070" cy="2979"/>
            </a:xfrm>
            <a:prstGeom prst="roundRect">
              <a:avLst>
                <a:gd name="adj" fmla="val 10426"/>
              </a:avLst>
            </a:prstGeom>
            <a:solidFill>
              <a:schemeClr val="folHlink"/>
            </a:solidFill>
            <a:ln w="19050">
              <a:solidFill>
                <a:schemeClr val="folHlink"/>
              </a:solidFill>
              <a:prstDash val="sysDot"/>
              <a:round/>
              <a:headEnd/>
              <a:tailEnd/>
            </a:ln>
          </p:spPr>
          <p:txBody>
            <a:bodyPr wrap="none" anchor="ctr"/>
            <a:lstStyle>
              <a:lvl1pPr>
                <a:defRPr kumimoji="1" sz="2600" b="1">
                  <a:solidFill>
                    <a:schemeClr val="tx2"/>
                  </a:solidFill>
                  <a:latin typeface="Tahoma" panose="020B0604030504040204" pitchFamily="34" charset="0"/>
                  <a:ea typeface="宋体" panose="02010600030101010101" pitchFamily="2" charset="-122"/>
                </a:defRPr>
              </a:lvl1pPr>
              <a:lvl2pPr marL="742950" indent="-285750">
                <a:defRPr kumimoji="1" sz="2600" b="1">
                  <a:solidFill>
                    <a:schemeClr val="tx2"/>
                  </a:solidFill>
                  <a:latin typeface="Tahoma" panose="020B0604030504040204" pitchFamily="34" charset="0"/>
                  <a:ea typeface="宋体" panose="02010600030101010101" pitchFamily="2" charset="-122"/>
                </a:defRPr>
              </a:lvl2pPr>
              <a:lvl3pPr marL="1143000" indent="-228600">
                <a:defRPr kumimoji="1" sz="2600" b="1">
                  <a:solidFill>
                    <a:schemeClr val="tx2"/>
                  </a:solidFill>
                  <a:latin typeface="Tahoma" panose="020B0604030504040204" pitchFamily="34" charset="0"/>
                  <a:ea typeface="宋体" panose="02010600030101010101" pitchFamily="2" charset="-122"/>
                </a:defRPr>
              </a:lvl3pPr>
              <a:lvl4pPr marL="1600200" indent="-228600">
                <a:defRPr kumimoji="1" sz="2600" b="1">
                  <a:solidFill>
                    <a:schemeClr val="tx2"/>
                  </a:solidFill>
                  <a:latin typeface="Tahoma" panose="020B0604030504040204" pitchFamily="34" charset="0"/>
                  <a:ea typeface="宋体" panose="02010600030101010101" pitchFamily="2" charset="-122"/>
                </a:defRPr>
              </a:lvl4pPr>
              <a:lvl5pPr marL="2057400" indent="-228600">
                <a:defRPr kumimoji="1" sz="2600" b="1">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9pPr>
            </a:lstStyle>
            <a:p>
              <a:pPr algn="ctr" eaLnBrk="1" hangingPunct="1">
                <a:lnSpc>
                  <a:spcPct val="90000"/>
                </a:lnSpc>
                <a:spcBef>
                  <a:spcPct val="20000"/>
                </a:spcBef>
                <a:buClr>
                  <a:schemeClr val="bg1"/>
                </a:buClr>
                <a:buFont typeface="Wingdings" panose="05000000000000000000" pitchFamily="2" charset="2"/>
                <a:buNone/>
              </a:pPr>
              <a:endParaRPr lang="zh-CN" altLang="en-US"/>
            </a:p>
          </p:txBody>
        </p:sp>
        <p:sp>
          <p:nvSpPr>
            <p:cNvPr id="7" name="AutoShape 7">
              <a:extLst>
                <a:ext uri="{FF2B5EF4-FFF2-40B4-BE49-F238E27FC236}">
                  <a16:creationId xmlns:a16="http://schemas.microsoft.com/office/drawing/2014/main" id="{563E2F9F-CBFA-EF18-C8FE-FDF0E8DC929E}"/>
                </a:ext>
              </a:extLst>
            </p:cNvPr>
            <p:cNvSpPr>
              <a:spLocks noChangeArrowheads="1"/>
            </p:cNvSpPr>
            <p:nvPr/>
          </p:nvSpPr>
          <p:spPr bwMode="auto">
            <a:xfrm>
              <a:off x="428" y="1180"/>
              <a:ext cx="758" cy="1221"/>
            </a:xfrm>
            <a:prstGeom prst="wedgeRoundRectCallout">
              <a:avLst>
                <a:gd name="adj1" fmla="val 105278"/>
                <a:gd name="adj2" fmla="val -44593"/>
                <a:gd name="adj3" fmla="val 16667"/>
              </a:avLst>
            </a:prstGeom>
            <a:solidFill>
              <a:srgbClr val="FFFF00"/>
            </a:solidFill>
            <a:ln w="19050">
              <a:solidFill>
                <a:schemeClr val="folHlink"/>
              </a:solidFill>
              <a:miter lim="800000"/>
              <a:headEnd/>
              <a:tailEnd/>
            </a:ln>
          </p:spPr>
          <p:txBody>
            <a:bodyPr lIns="0" rIns="0"/>
            <a:lstStyle>
              <a:lvl1pPr>
                <a:defRPr kumimoji="1" sz="2600" b="1">
                  <a:solidFill>
                    <a:schemeClr val="tx2"/>
                  </a:solidFill>
                  <a:latin typeface="Tahoma" panose="020B0604030504040204" pitchFamily="34" charset="0"/>
                  <a:ea typeface="宋体" panose="02010600030101010101" pitchFamily="2" charset="-122"/>
                </a:defRPr>
              </a:lvl1pPr>
              <a:lvl2pPr marL="742950" indent="-285750">
                <a:defRPr kumimoji="1" sz="2600" b="1">
                  <a:solidFill>
                    <a:schemeClr val="tx2"/>
                  </a:solidFill>
                  <a:latin typeface="Tahoma" panose="020B0604030504040204" pitchFamily="34" charset="0"/>
                  <a:ea typeface="宋体" panose="02010600030101010101" pitchFamily="2" charset="-122"/>
                </a:defRPr>
              </a:lvl2pPr>
              <a:lvl3pPr marL="1143000" indent="-228600">
                <a:defRPr kumimoji="1" sz="2600" b="1">
                  <a:solidFill>
                    <a:schemeClr val="tx2"/>
                  </a:solidFill>
                  <a:latin typeface="Tahoma" panose="020B0604030504040204" pitchFamily="34" charset="0"/>
                  <a:ea typeface="宋体" panose="02010600030101010101" pitchFamily="2" charset="-122"/>
                </a:defRPr>
              </a:lvl3pPr>
              <a:lvl4pPr marL="1600200" indent="-228600">
                <a:defRPr kumimoji="1" sz="2600" b="1">
                  <a:solidFill>
                    <a:schemeClr val="tx2"/>
                  </a:solidFill>
                  <a:latin typeface="Tahoma" panose="020B0604030504040204" pitchFamily="34" charset="0"/>
                  <a:ea typeface="宋体" panose="02010600030101010101" pitchFamily="2" charset="-122"/>
                </a:defRPr>
              </a:lvl4pPr>
              <a:lvl5pPr marL="2057400" indent="-228600">
                <a:defRPr kumimoji="1" sz="2600" b="1">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9pPr>
            </a:lstStyle>
            <a:p>
              <a:pPr eaLnBrk="1" fontAlgn="ctr" hangingPunct="1">
                <a:lnSpc>
                  <a:spcPct val="90000"/>
                </a:lnSpc>
                <a:spcBef>
                  <a:spcPct val="20000"/>
                </a:spcBef>
                <a:buClr>
                  <a:schemeClr val="bg1"/>
                </a:buClr>
                <a:buFont typeface="Wingdings" panose="05000000000000000000" pitchFamily="2" charset="2"/>
                <a:buNone/>
              </a:pPr>
              <a:r>
                <a:rPr lang="zh-CN" altLang="en-US" sz="2000">
                  <a:solidFill>
                    <a:schemeClr val="folHlink"/>
                  </a:solidFill>
                </a:rPr>
                <a:t>虚拟机器</a:t>
              </a:r>
            </a:p>
            <a:p>
              <a:pPr eaLnBrk="1" fontAlgn="ctr" hangingPunct="1">
                <a:lnSpc>
                  <a:spcPct val="90000"/>
                </a:lnSpc>
                <a:spcBef>
                  <a:spcPct val="20000"/>
                </a:spcBef>
                <a:buClr>
                  <a:schemeClr val="bg1"/>
                </a:buClr>
                <a:buFont typeface="Wingdings" panose="05000000000000000000" pitchFamily="2" charset="2"/>
                <a:buNone/>
              </a:pPr>
              <a:endParaRPr lang="zh-CN" altLang="en-US" sz="2000">
                <a:solidFill>
                  <a:schemeClr val="folHlink"/>
                </a:solidFill>
              </a:endParaRPr>
            </a:p>
            <a:p>
              <a:pPr eaLnBrk="1" fontAlgn="ctr" hangingPunct="1">
                <a:lnSpc>
                  <a:spcPct val="90000"/>
                </a:lnSpc>
                <a:spcBef>
                  <a:spcPct val="20000"/>
                </a:spcBef>
                <a:buClr>
                  <a:schemeClr val="bg1"/>
                </a:buClr>
                <a:buFont typeface="Wingdings" panose="05000000000000000000" pitchFamily="2" charset="2"/>
                <a:buNone/>
              </a:pPr>
              <a:r>
                <a:rPr lang="zh-CN" altLang="en-US" sz="2000">
                  <a:solidFill>
                    <a:schemeClr val="folHlink"/>
                  </a:solidFill>
                </a:rPr>
                <a:t>(只对该层的观察者存在)</a:t>
              </a:r>
            </a:p>
          </p:txBody>
        </p:sp>
      </p:grpSp>
      <p:grpSp>
        <p:nvGrpSpPr>
          <p:cNvPr id="8" name="Group 8">
            <a:extLst>
              <a:ext uri="{FF2B5EF4-FFF2-40B4-BE49-F238E27FC236}">
                <a16:creationId xmlns:a16="http://schemas.microsoft.com/office/drawing/2014/main" id="{7CD2F582-8178-9BFB-A490-D609BD698E47}"/>
              </a:ext>
            </a:extLst>
          </p:cNvPr>
          <p:cNvGrpSpPr>
            <a:grpSpLocks/>
          </p:cNvGrpSpPr>
          <p:nvPr/>
        </p:nvGrpSpPr>
        <p:grpSpPr bwMode="auto">
          <a:xfrm>
            <a:off x="625475" y="4244495"/>
            <a:ext cx="4870450" cy="2049462"/>
            <a:chOff x="394" y="2637"/>
            <a:chExt cx="3068" cy="1373"/>
          </a:xfrm>
        </p:grpSpPr>
        <p:sp>
          <p:nvSpPr>
            <p:cNvPr id="9" name="AutoShape 9">
              <a:extLst>
                <a:ext uri="{FF2B5EF4-FFF2-40B4-BE49-F238E27FC236}">
                  <a16:creationId xmlns:a16="http://schemas.microsoft.com/office/drawing/2014/main" id="{419E48C5-2C81-D2BC-C585-BABA6E9FF339}"/>
                </a:ext>
              </a:extLst>
            </p:cNvPr>
            <p:cNvSpPr>
              <a:spLocks noChangeArrowheads="1"/>
            </p:cNvSpPr>
            <p:nvPr/>
          </p:nvSpPr>
          <p:spPr bwMode="auto">
            <a:xfrm>
              <a:off x="1643" y="2637"/>
              <a:ext cx="1819" cy="1373"/>
            </a:xfrm>
            <a:prstGeom prst="roundRect">
              <a:avLst>
                <a:gd name="adj" fmla="val 16667"/>
              </a:avLst>
            </a:prstGeom>
            <a:solidFill>
              <a:schemeClr val="hlink"/>
            </a:solidFill>
            <a:ln w="19050">
              <a:solidFill>
                <a:schemeClr val="hlink"/>
              </a:solidFill>
              <a:prstDash val="sysDot"/>
              <a:round/>
              <a:headEnd/>
              <a:tailEnd/>
            </a:ln>
          </p:spPr>
          <p:txBody>
            <a:bodyPr wrap="none" anchor="ctr"/>
            <a:lstStyle>
              <a:lvl1pPr>
                <a:defRPr kumimoji="1" sz="2600" b="1">
                  <a:solidFill>
                    <a:schemeClr val="tx2"/>
                  </a:solidFill>
                  <a:latin typeface="Tahoma" panose="020B0604030504040204" pitchFamily="34" charset="0"/>
                  <a:ea typeface="宋体" panose="02010600030101010101" pitchFamily="2" charset="-122"/>
                </a:defRPr>
              </a:lvl1pPr>
              <a:lvl2pPr marL="742950" indent="-285750">
                <a:defRPr kumimoji="1" sz="2600" b="1">
                  <a:solidFill>
                    <a:schemeClr val="tx2"/>
                  </a:solidFill>
                  <a:latin typeface="Tahoma" panose="020B0604030504040204" pitchFamily="34" charset="0"/>
                  <a:ea typeface="宋体" panose="02010600030101010101" pitchFamily="2" charset="-122"/>
                </a:defRPr>
              </a:lvl2pPr>
              <a:lvl3pPr marL="1143000" indent="-228600">
                <a:defRPr kumimoji="1" sz="2600" b="1">
                  <a:solidFill>
                    <a:schemeClr val="tx2"/>
                  </a:solidFill>
                  <a:latin typeface="Tahoma" panose="020B0604030504040204" pitchFamily="34" charset="0"/>
                  <a:ea typeface="宋体" panose="02010600030101010101" pitchFamily="2" charset="-122"/>
                </a:defRPr>
              </a:lvl3pPr>
              <a:lvl4pPr marL="1600200" indent="-228600">
                <a:defRPr kumimoji="1" sz="2600" b="1">
                  <a:solidFill>
                    <a:schemeClr val="tx2"/>
                  </a:solidFill>
                  <a:latin typeface="Tahoma" panose="020B0604030504040204" pitchFamily="34" charset="0"/>
                  <a:ea typeface="宋体" panose="02010600030101010101" pitchFamily="2" charset="-122"/>
                </a:defRPr>
              </a:lvl4pPr>
              <a:lvl5pPr marL="2057400" indent="-228600">
                <a:defRPr kumimoji="1" sz="2600" b="1">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9pPr>
            </a:lstStyle>
            <a:p>
              <a:pPr algn="ctr" eaLnBrk="1" hangingPunct="1">
                <a:lnSpc>
                  <a:spcPct val="90000"/>
                </a:lnSpc>
                <a:spcBef>
                  <a:spcPct val="20000"/>
                </a:spcBef>
                <a:buClr>
                  <a:schemeClr val="bg1"/>
                </a:buClr>
                <a:buFont typeface="Wingdings" panose="05000000000000000000" pitchFamily="2" charset="2"/>
                <a:buNone/>
              </a:pPr>
              <a:endParaRPr lang="zh-CN" altLang="en-US"/>
            </a:p>
          </p:txBody>
        </p:sp>
        <p:sp>
          <p:nvSpPr>
            <p:cNvPr id="10" name="AutoShape 10">
              <a:extLst>
                <a:ext uri="{FF2B5EF4-FFF2-40B4-BE49-F238E27FC236}">
                  <a16:creationId xmlns:a16="http://schemas.microsoft.com/office/drawing/2014/main" id="{0122E270-94CA-5700-860E-82F755C7139C}"/>
                </a:ext>
              </a:extLst>
            </p:cNvPr>
            <p:cNvSpPr>
              <a:spLocks noChangeArrowheads="1"/>
            </p:cNvSpPr>
            <p:nvPr/>
          </p:nvSpPr>
          <p:spPr bwMode="auto">
            <a:xfrm>
              <a:off x="394" y="3070"/>
              <a:ext cx="796" cy="357"/>
            </a:xfrm>
            <a:prstGeom prst="wedgeRoundRectCallout">
              <a:avLst>
                <a:gd name="adj1" fmla="val 129144"/>
                <a:gd name="adj2" fmla="val -38236"/>
                <a:gd name="adj3" fmla="val 16667"/>
              </a:avLst>
            </a:prstGeom>
            <a:solidFill>
              <a:srgbClr val="FFFF00"/>
            </a:solidFill>
            <a:ln w="19050">
              <a:solidFill>
                <a:schemeClr val="hlink"/>
              </a:solidFill>
              <a:miter lim="800000"/>
              <a:headEnd/>
              <a:tailEnd/>
            </a:ln>
          </p:spPr>
          <p:txBody>
            <a:bodyPr lIns="0" rIns="0" anchor="ctr"/>
            <a:lstStyle>
              <a:lvl1pPr>
                <a:defRPr kumimoji="1" sz="2600" b="1">
                  <a:solidFill>
                    <a:schemeClr val="tx2"/>
                  </a:solidFill>
                  <a:latin typeface="Tahoma" panose="020B0604030504040204" pitchFamily="34" charset="0"/>
                  <a:ea typeface="宋体" panose="02010600030101010101" pitchFamily="2" charset="-122"/>
                </a:defRPr>
              </a:lvl1pPr>
              <a:lvl2pPr marL="742950" indent="-285750">
                <a:defRPr kumimoji="1" sz="2600" b="1">
                  <a:solidFill>
                    <a:schemeClr val="tx2"/>
                  </a:solidFill>
                  <a:latin typeface="Tahoma" panose="020B0604030504040204" pitchFamily="34" charset="0"/>
                  <a:ea typeface="宋体" panose="02010600030101010101" pitchFamily="2" charset="-122"/>
                </a:defRPr>
              </a:lvl2pPr>
              <a:lvl3pPr marL="1143000" indent="-228600">
                <a:defRPr kumimoji="1" sz="2600" b="1">
                  <a:solidFill>
                    <a:schemeClr val="tx2"/>
                  </a:solidFill>
                  <a:latin typeface="Tahoma" panose="020B0604030504040204" pitchFamily="34" charset="0"/>
                  <a:ea typeface="宋体" panose="02010600030101010101" pitchFamily="2" charset="-122"/>
                </a:defRPr>
              </a:lvl3pPr>
              <a:lvl4pPr marL="1600200" indent="-228600">
                <a:defRPr kumimoji="1" sz="2600" b="1">
                  <a:solidFill>
                    <a:schemeClr val="tx2"/>
                  </a:solidFill>
                  <a:latin typeface="Tahoma" panose="020B0604030504040204" pitchFamily="34" charset="0"/>
                  <a:ea typeface="宋体" panose="02010600030101010101" pitchFamily="2" charset="-122"/>
                </a:defRPr>
              </a:lvl4pPr>
              <a:lvl5pPr marL="2057400" indent="-228600">
                <a:defRPr kumimoji="1" sz="2600" b="1">
                  <a:solidFill>
                    <a:schemeClr val="tx2"/>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600" b="1">
                  <a:solidFill>
                    <a:schemeClr val="tx2"/>
                  </a:solidFill>
                  <a:latin typeface="Tahoma" panose="020B0604030504040204" pitchFamily="34" charset="0"/>
                  <a:ea typeface="宋体" panose="02010600030101010101" pitchFamily="2" charset="-122"/>
                </a:defRPr>
              </a:lvl9pPr>
            </a:lstStyle>
            <a:p>
              <a:pPr algn="ctr" eaLnBrk="1" hangingPunct="1">
                <a:lnSpc>
                  <a:spcPct val="90000"/>
                </a:lnSpc>
                <a:spcBef>
                  <a:spcPct val="20000"/>
                </a:spcBef>
                <a:buClr>
                  <a:schemeClr val="bg1"/>
                </a:buClr>
                <a:buFont typeface="Wingdings" panose="05000000000000000000" pitchFamily="2" charset="2"/>
                <a:buNone/>
              </a:pPr>
              <a:r>
                <a:rPr lang="zh-CN" altLang="en-US" sz="2000">
                  <a:solidFill>
                    <a:schemeClr val="hlink"/>
                  </a:solidFill>
                </a:rPr>
                <a:t>实际机器</a:t>
              </a:r>
              <a:r>
                <a:rPr lang="zh-CN" altLang="en-US">
                  <a:solidFill>
                    <a:schemeClr val="hlink"/>
                  </a:solidFill>
                </a:rPr>
                <a:t> </a:t>
              </a:r>
            </a:p>
          </p:txBody>
        </p:sp>
      </p:grpSp>
      <p:graphicFrame>
        <p:nvGraphicFramePr>
          <p:cNvPr id="11" name="Object 11">
            <a:extLst>
              <a:ext uri="{FF2B5EF4-FFF2-40B4-BE49-F238E27FC236}">
                <a16:creationId xmlns:a16="http://schemas.microsoft.com/office/drawing/2014/main" id="{706E4815-8148-60CB-2DF0-BB0EE1955E29}"/>
              </a:ext>
            </a:extLst>
          </p:cNvPr>
          <p:cNvGraphicFramePr>
            <a:graphicFrameLocks noChangeAspect="1"/>
          </p:cNvGraphicFramePr>
          <p:nvPr>
            <p:extLst>
              <p:ext uri="{D42A27DB-BD31-4B8C-83A1-F6EECF244321}">
                <p14:modId xmlns:p14="http://schemas.microsoft.com/office/powerpoint/2010/main" val="3491053201"/>
              </p:ext>
            </p:extLst>
          </p:nvPr>
        </p:nvGraphicFramePr>
        <p:xfrm>
          <a:off x="847725" y="1274282"/>
          <a:ext cx="6773863" cy="4941888"/>
        </p:xfrm>
        <a:graphic>
          <a:graphicData uri="http://schemas.openxmlformats.org/presentationml/2006/ole">
            <mc:AlternateContent xmlns:mc="http://schemas.openxmlformats.org/markup-compatibility/2006">
              <mc:Choice xmlns:v="urn:schemas-microsoft-com:vml" Requires="v">
                <p:oleObj name="Visio" r:id="rId4" imgW="4840824" imgH="3552669" progId="Visio.Drawing.6">
                  <p:embed/>
                </p:oleObj>
              </mc:Choice>
              <mc:Fallback>
                <p:oleObj name="Visio" r:id="rId4" imgW="4840824" imgH="3552669" progId="Visio.Drawing.6">
                  <p:embed/>
                  <p:pic>
                    <p:nvPicPr>
                      <p:cNvPr id="33800" name="Object 11">
                        <a:extLst>
                          <a:ext uri="{FF2B5EF4-FFF2-40B4-BE49-F238E27FC236}">
                            <a16:creationId xmlns:a16="http://schemas.microsoft.com/office/drawing/2014/main" id="{E769997F-868C-25B7-C528-124D05B728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7725" y="1274282"/>
                        <a:ext cx="6773863" cy="494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0" y="45402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gn="ctr">
              <a:lnSpc>
                <a:spcPct val="100000"/>
              </a:lnSpc>
              <a:spcBef>
                <a:spcPct val="0"/>
              </a:spcBef>
              <a:buClrTx/>
              <a:buFontTx/>
              <a:buNone/>
            </a:pPr>
            <a:r>
              <a:rPr lang="zh-CN" altLang="en-US" sz="2600">
                <a:solidFill>
                  <a:srgbClr val="800000"/>
                </a:solidFill>
                <a:latin typeface="黑体" pitchFamily="2" charset="-122"/>
                <a:ea typeface="黑体" pitchFamily="2" charset="-122"/>
              </a:rPr>
              <a:t>§1.</a:t>
            </a:r>
            <a:r>
              <a:rPr lang="en-US" altLang="zh-CN" sz="2600">
                <a:solidFill>
                  <a:srgbClr val="800000"/>
                </a:solidFill>
                <a:latin typeface="黑体" pitchFamily="2" charset="-122"/>
                <a:ea typeface="黑体" pitchFamily="2" charset="-122"/>
              </a:rPr>
              <a:t>3  </a:t>
            </a:r>
            <a:r>
              <a:rPr lang="zh-CN" altLang="en-US" sz="2600">
                <a:solidFill>
                  <a:srgbClr val="800000"/>
                </a:solidFill>
                <a:latin typeface="黑体" pitchFamily="2" charset="-122"/>
                <a:ea typeface="黑体" pitchFamily="2" charset="-122"/>
              </a:rPr>
              <a:t>计算机硬件系统的组织</a:t>
            </a:r>
            <a:r>
              <a:rPr lang="zh-CN" altLang="en-US">
                <a:solidFill>
                  <a:srgbClr val="800000"/>
                </a:solidFill>
                <a:latin typeface="黑体" pitchFamily="2" charset="-122"/>
                <a:ea typeface="黑体" pitchFamily="2" charset="-122"/>
              </a:rPr>
              <a:t> </a:t>
            </a:r>
            <a:endParaRPr lang="en-US" altLang="zh-CN">
              <a:solidFill>
                <a:srgbClr val="800000"/>
              </a:solidFill>
              <a:latin typeface="黑体" pitchFamily="2" charset="-122"/>
              <a:ea typeface="黑体" pitchFamily="2" charset="-122"/>
            </a:endParaRPr>
          </a:p>
        </p:txBody>
      </p:sp>
      <p:sp>
        <p:nvSpPr>
          <p:cNvPr id="29699" name="Rectangle 3"/>
          <p:cNvSpPr>
            <a:spLocks noChangeArrowheads="1"/>
          </p:cNvSpPr>
          <p:nvPr/>
        </p:nvSpPr>
        <p:spPr bwMode="auto">
          <a:xfrm>
            <a:off x="261938" y="1093788"/>
            <a:ext cx="8882062" cy="407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00000"/>
              </a:lnSpc>
              <a:spcBef>
                <a:spcPct val="0"/>
              </a:spcBef>
              <a:buClrTx/>
              <a:buFontTx/>
              <a:buNone/>
            </a:pPr>
            <a:r>
              <a:rPr lang="zh-CN" altLang="en-US">
                <a:solidFill>
                  <a:srgbClr val="800000"/>
                </a:solidFill>
                <a:latin typeface="黑体" pitchFamily="2" charset="-122"/>
                <a:ea typeface="黑体" pitchFamily="2" charset="-122"/>
              </a:rPr>
              <a:t>  </a:t>
            </a:r>
            <a:r>
              <a:rPr lang="en-US" altLang="zh-CN">
                <a:solidFill>
                  <a:srgbClr val="800000"/>
                </a:solidFill>
                <a:latin typeface="黑体" pitchFamily="2" charset="-122"/>
                <a:ea typeface="黑体" pitchFamily="2" charset="-122"/>
              </a:rPr>
              <a:t>1</a:t>
            </a:r>
            <a:r>
              <a:rPr lang="zh-CN" altLang="en-US">
                <a:solidFill>
                  <a:srgbClr val="800000"/>
                </a:solidFill>
                <a:latin typeface="黑体" pitchFamily="2" charset="-122"/>
                <a:ea typeface="黑体" pitchFamily="2" charset="-122"/>
              </a:rPr>
              <a:t>.</a:t>
            </a:r>
            <a:r>
              <a:rPr lang="en-US" altLang="zh-CN">
                <a:solidFill>
                  <a:srgbClr val="800000"/>
                </a:solidFill>
                <a:latin typeface="黑体" pitchFamily="2" charset="-122"/>
                <a:ea typeface="黑体" pitchFamily="2" charset="-122"/>
              </a:rPr>
              <a:t>3.1 </a:t>
            </a:r>
            <a:r>
              <a:rPr lang="zh-CN" altLang="en-US">
                <a:solidFill>
                  <a:srgbClr val="800000"/>
                </a:solidFill>
                <a:latin typeface="黑体" pitchFamily="2" charset="-122"/>
                <a:ea typeface="黑体" pitchFamily="2" charset="-122"/>
              </a:rPr>
              <a:t>计算机总线 </a:t>
            </a:r>
          </a:p>
        </p:txBody>
      </p:sp>
      <p:sp>
        <p:nvSpPr>
          <p:cNvPr id="564248" name="Rectangle 24"/>
          <p:cNvSpPr>
            <a:spLocks noChangeArrowheads="1"/>
          </p:cNvSpPr>
          <p:nvPr/>
        </p:nvSpPr>
        <p:spPr bwMode="auto">
          <a:xfrm>
            <a:off x="946150" y="3533775"/>
            <a:ext cx="7472363" cy="855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0" indent="-1143000" algn="just">
              <a:lnSpc>
                <a:spcPct val="110000"/>
              </a:lnSpc>
              <a:spcBef>
                <a:spcPct val="0"/>
              </a:spcBef>
              <a:buClrTx/>
              <a:buFontTx/>
              <a:buNone/>
            </a:pPr>
            <a:r>
              <a:rPr lang="zh-CN" altLang="en-US" dirty="0">
                <a:solidFill>
                  <a:srgbClr val="FF0000"/>
                </a:solidFill>
                <a:latin typeface="黑体" pitchFamily="2" charset="-122"/>
                <a:ea typeface="黑体" pitchFamily="2" charset="-122"/>
              </a:rPr>
              <a:t>总线</a:t>
            </a:r>
            <a:r>
              <a:rPr lang="zh-CN" altLang="en-US" dirty="0">
                <a:solidFill>
                  <a:srgbClr val="000080"/>
                </a:solidFill>
                <a:latin typeface="黑体" pitchFamily="2" charset="-122"/>
                <a:ea typeface="黑体" pitchFamily="2" charset="-122"/>
              </a:rPr>
              <a:t>——能为系统中多个部件</a:t>
            </a:r>
            <a:r>
              <a:rPr lang="zh-CN" altLang="en-US" dirty="0">
                <a:solidFill>
                  <a:srgbClr val="FF0000"/>
                </a:solidFill>
                <a:latin typeface="黑体" pitchFamily="2" charset="-122"/>
                <a:ea typeface="黑体" pitchFamily="2" charset="-122"/>
              </a:rPr>
              <a:t>分时共享</a:t>
            </a:r>
            <a:r>
              <a:rPr lang="zh-CN" altLang="en-US" dirty="0">
                <a:solidFill>
                  <a:srgbClr val="000080"/>
                </a:solidFill>
                <a:latin typeface="黑体" pitchFamily="2" charset="-122"/>
                <a:ea typeface="黑体" pitchFamily="2" charset="-122"/>
              </a:rPr>
              <a:t>的一组信息</a:t>
            </a:r>
            <a:r>
              <a:rPr lang="zh-CN" altLang="en-US" dirty="0">
                <a:solidFill>
                  <a:srgbClr val="FF0000"/>
                </a:solidFill>
                <a:latin typeface="黑体" pitchFamily="2" charset="-122"/>
                <a:ea typeface="黑体" pitchFamily="2" charset="-122"/>
              </a:rPr>
              <a:t>传输线</a:t>
            </a:r>
            <a:r>
              <a:rPr lang="zh-CN" altLang="en-US" dirty="0">
                <a:solidFill>
                  <a:srgbClr val="000080"/>
                </a:solidFill>
                <a:latin typeface="黑体" pitchFamily="2" charset="-122"/>
                <a:ea typeface="黑体" pitchFamily="2" charset="-122"/>
              </a:rPr>
              <a:t>及相关</a:t>
            </a:r>
            <a:r>
              <a:rPr lang="zh-CN" altLang="en-US" dirty="0">
                <a:solidFill>
                  <a:srgbClr val="FF0000"/>
                </a:solidFill>
                <a:latin typeface="黑体" pitchFamily="2" charset="-122"/>
                <a:ea typeface="黑体" pitchFamily="2" charset="-122"/>
              </a:rPr>
              <a:t>逻辑</a:t>
            </a:r>
            <a:r>
              <a:rPr lang="zh-CN" altLang="en-US" dirty="0">
                <a:solidFill>
                  <a:srgbClr val="000080"/>
                </a:solidFill>
                <a:latin typeface="黑体" pitchFamily="2" charset="-122"/>
                <a:ea typeface="黑体" pitchFamily="2" charset="-122"/>
              </a:rPr>
              <a:t>。</a:t>
            </a:r>
            <a:endParaRPr lang="zh-CN" altLang="en-US" b="0" dirty="0">
              <a:solidFill>
                <a:schemeClr val="tx1"/>
              </a:solidFill>
              <a:latin typeface="黑体" pitchFamily="2" charset="-122"/>
              <a:ea typeface="黑体" pitchFamily="2" charset="-122"/>
            </a:endParaRPr>
          </a:p>
        </p:txBody>
      </p:sp>
      <p:sp>
        <p:nvSpPr>
          <p:cNvPr id="564249" name="Rectangle 25"/>
          <p:cNvSpPr>
            <a:spLocks noChangeArrowheads="1"/>
          </p:cNvSpPr>
          <p:nvPr/>
        </p:nvSpPr>
        <p:spPr bwMode="auto">
          <a:xfrm>
            <a:off x="655638" y="4511675"/>
            <a:ext cx="8245475" cy="16677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143000" indent="-876300" algn="just">
              <a:lnSpc>
                <a:spcPct val="150000"/>
              </a:lnSpc>
              <a:spcBef>
                <a:spcPct val="0"/>
              </a:spcBef>
              <a:buClrTx/>
              <a:buFontTx/>
              <a:buNone/>
            </a:pPr>
            <a:r>
              <a:rPr lang="zh-CN" altLang="en-US" dirty="0">
                <a:solidFill>
                  <a:srgbClr val="FF0000"/>
                </a:solidFill>
                <a:latin typeface="黑体" pitchFamily="2" charset="-122"/>
                <a:ea typeface="黑体" pitchFamily="2" charset="-122"/>
              </a:rPr>
              <a:t>总线的主要特征：分时、共享</a:t>
            </a:r>
            <a:r>
              <a:rPr lang="zh-CN" altLang="en-US" i="1" dirty="0">
                <a:solidFill>
                  <a:srgbClr val="FF0000"/>
                </a:solidFill>
                <a:latin typeface="黑体" pitchFamily="2" charset="-122"/>
                <a:ea typeface="黑体" pitchFamily="2" charset="-122"/>
              </a:rPr>
              <a:t>。</a:t>
            </a:r>
          </a:p>
          <a:p>
            <a:pPr marL="1143000" indent="-876300" algn="just" eaLnBrk="0" hangingPunct="0">
              <a:lnSpc>
                <a:spcPct val="150000"/>
              </a:lnSpc>
              <a:spcBef>
                <a:spcPct val="0"/>
              </a:spcBef>
              <a:buClrTx/>
              <a:buFontTx/>
              <a:buNone/>
            </a:pPr>
            <a:r>
              <a:rPr lang="zh-CN" altLang="en-US" dirty="0">
                <a:solidFill>
                  <a:srgbClr val="FF0000"/>
                </a:solidFill>
                <a:latin typeface="黑体" pitchFamily="2" charset="-122"/>
                <a:ea typeface="黑体" pitchFamily="2" charset="-122"/>
              </a:rPr>
              <a:t>分时</a:t>
            </a:r>
            <a:r>
              <a:rPr lang="zh-CN" altLang="en-US" dirty="0">
                <a:solidFill>
                  <a:srgbClr val="000080"/>
                </a:solidFill>
                <a:latin typeface="黑体" pitchFamily="2" charset="-122"/>
                <a:ea typeface="黑体" pitchFamily="2" charset="-122"/>
              </a:rPr>
              <a:t>：某一时刻总线</a:t>
            </a:r>
            <a:r>
              <a:rPr lang="zh-CN" altLang="en-US" dirty="0">
                <a:solidFill>
                  <a:srgbClr val="FF0000"/>
                </a:solidFill>
                <a:latin typeface="黑体" pitchFamily="2" charset="-122"/>
                <a:ea typeface="黑体" pitchFamily="2" charset="-122"/>
              </a:rPr>
              <a:t>只允许</a:t>
            </a:r>
            <a:r>
              <a:rPr lang="zh-CN" altLang="en-US" dirty="0">
                <a:solidFill>
                  <a:srgbClr val="000080"/>
                </a:solidFill>
                <a:latin typeface="黑体" pitchFamily="2" charset="-122"/>
                <a:ea typeface="黑体" pitchFamily="2" charset="-122"/>
              </a:rPr>
              <a:t>有</a:t>
            </a:r>
            <a:r>
              <a:rPr lang="zh-CN" altLang="en-US" dirty="0">
                <a:solidFill>
                  <a:srgbClr val="FF0000"/>
                </a:solidFill>
                <a:latin typeface="黑体" pitchFamily="2" charset="-122"/>
                <a:ea typeface="黑体" pitchFamily="2" charset="-122"/>
              </a:rPr>
              <a:t>一个</a:t>
            </a:r>
            <a:r>
              <a:rPr lang="zh-CN" altLang="en-US" dirty="0">
                <a:solidFill>
                  <a:srgbClr val="000080"/>
                </a:solidFill>
                <a:latin typeface="黑体" pitchFamily="2" charset="-122"/>
                <a:ea typeface="黑体" pitchFamily="2" charset="-122"/>
              </a:rPr>
              <a:t>部件向总线</a:t>
            </a:r>
            <a:r>
              <a:rPr lang="zh-CN" altLang="en-US" dirty="0">
                <a:solidFill>
                  <a:srgbClr val="FF0000"/>
                </a:solidFill>
                <a:latin typeface="黑体" pitchFamily="2" charset="-122"/>
                <a:ea typeface="黑体" pitchFamily="2" charset="-122"/>
              </a:rPr>
              <a:t>发送</a:t>
            </a:r>
            <a:r>
              <a:rPr lang="zh-CN" altLang="en-US" dirty="0">
                <a:solidFill>
                  <a:srgbClr val="000080"/>
                </a:solidFill>
                <a:latin typeface="黑体" pitchFamily="2" charset="-122"/>
                <a:ea typeface="黑体" pitchFamily="2" charset="-122"/>
              </a:rPr>
              <a:t>数据，但允许同一时刻有多个部件接收来自总线的信息。 </a:t>
            </a:r>
          </a:p>
        </p:txBody>
      </p:sp>
      <p:sp>
        <p:nvSpPr>
          <p:cNvPr id="29702" name="Rectangle 9"/>
          <p:cNvSpPr>
            <a:spLocks noChangeArrowheads="1"/>
          </p:cNvSpPr>
          <p:nvPr/>
        </p:nvSpPr>
        <p:spPr bwMode="auto">
          <a:xfrm>
            <a:off x="688975" y="1752600"/>
            <a:ext cx="8128000" cy="1421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20000"/>
              </a:lnSpc>
              <a:spcBef>
                <a:spcPct val="0"/>
              </a:spcBef>
              <a:spcAft>
                <a:spcPct val="50000"/>
              </a:spcAft>
              <a:buClrTx/>
              <a:buFontTx/>
              <a:buNone/>
            </a:pPr>
            <a:r>
              <a:rPr lang="zh-CN" altLang="en-US" dirty="0">
                <a:solidFill>
                  <a:srgbClr val="000080"/>
                </a:solidFill>
                <a:latin typeface="黑体" pitchFamily="2" charset="-122"/>
                <a:ea typeface="黑体" pitchFamily="2" charset="-122"/>
              </a:rPr>
              <a:t>    计算机的操作基本上可归结为信息传送。所以，硬件逻辑结构的关键在于如何实现数据信息的传送，即数据通路结构。 </a:t>
            </a:r>
            <a:endParaRPr lang="zh-CN" altLang="en-US" dirty="0">
              <a:solidFill>
                <a:schemeClr val="tx1"/>
              </a:solidFill>
              <a:latin typeface="黑体" pitchFamily="2" charset="-122"/>
              <a:ea typeface="黑体" pitchFamily="2" charset="-122"/>
            </a:endParaRPr>
          </a:p>
        </p:txBody>
      </p:sp>
    </p:spTree>
    <p:extLst>
      <p:ext uri="{BB962C8B-B14F-4D97-AF65-F5344CB8AC3E}">
        <p14:creationId xmlns:p14="http://schemas.microsoft.com/office/powerpoint/2010/main" val="37414171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64248"/>
                                        </p:tgtEl>
                                        <p:attrNameLst>
                                          <p:attrName>style.visibility</p:attrName>
                                        </p:attrNameLst>
                                      </p:cBhvr>
                                      <p:to>
                                        <p:strVal val="visible"/>
                                      </p:to>
                                    </p:set>
                                    <p:animEffect transition="in" filter="wipe(up)">
                                      <p:cBhvr>
                                        <p:cTn id="7" dur="500"/>
                                        <p:tgtEl>
                                          <p:spTgt spid="56424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64249"/>
                                        </p:tgtEl>
                                        <p:attrNameLst>
                                          <p:attrName>style.visibility</p:attrName>
                                        </p:attrNameLst>
                                      </p:cBhvr>
                                      <p:to>
                                        <p:strVal val="visible"/>
                                      </p:to>
                                    </p:set>
                                    <p:animEffect transition="in" filter="wipe(up)">
                                      <p:cBhvr>
                                        <p:cTn id="12" dur="500"/>
                                        <p:tgtEl>
                                          <p:spTgt spid="5642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248" grpId="0" autoUpdateAnimBg="0"/>
      <p:bldP spid="564249"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auto">
          <a:xfrm>
            <a:off x="0" y="45402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gn="ctr">
              <a:lnSpc>
                <a:spcPct val="100000"/>
              </a:lnSpc>
              <a:spcBef>
                <a:spcPct val="0"/>
              </a:spcBef>
              <a:buClrTx/>
              <a:buFontTx/>
              <a:buNone/>
            </a:pPr>
            <a:r>
              <a:rPr lang="zh-CN" altLang="en-US" sz="2600">
                <a:solidFill>
                  <a:srgbClr val="800000"/>
                </a:solidFill>
                <a:latin typeface="黑体" pitchFamily="2" charset="-122"/>
                <a:ea typeface="黑体" pitchFamily="2" charset="-122"/>
              </a:rPr>
              <a:t>§1.</a:t>
            </a:r>
            <a:r>
              <a:rPr lang="en-US" altLang="zh-CN" sz="2600" dirty="0">
                <a:solidFill>
                  <a:srgbClr val="800000"/>
                </a:solidFill>
                <a:latin typeface="黑体" pitchFamily="2" charset="-122"/>
                <a:ea typeface="黑体" pitchFamily="2" charset="-122"/>
              </a:rPr>
              <a:t>3  </a:t>
            </a:r>
            <a:r>
              <a:rPr lang="zh-CN" altLang="en-US" sz="2600">
                <a:solidFill>
                  <a:srgbClr val="800000"/>
                </a:solidFill>
                <a:latin typeface="黑体" pitchFamily="2" charset="-122"/>
                <a:ea typeface="黑体" pitchFamily="2" charset="-122"/>
              </a:rPr>
              <a:t>计算机硬件系统的组织</a:t>
            </a:r>
            <a:r>
              <a:rPr lang="zh-CN" altLang="en-US">
                <a:solidFill>
                  <a:srgbClr val="800000"/>
                </a:solidFill>
                <a:latin typeface="黑体" pitchFamily="2" charset="-122"/>
                <a:ea typeface="黑体" pitchFamily="2" charset="-122"/>
              </a:rPr>
              <a:t> </a:t>
            </a:r>
            <a:endParaRPr lang="en-US" altLang="zh-CN" dirty="0">
              <a:solidFill>
                <a:srgbClr val="800000"/>
              </a:solidFill>
              <a:latin typeface="黑体" pitchFamily="2" charset="-122"/>
              <a:ea typeface="黑体" pitchFamily="2" charset="-122"/>
            </a:endParaRPr>
          </a:p>
        </p:txBody>
      </p:sp>
      <p:sp>
        <p:nvSpPr>
          <p:cNvPr id="29702" name="Rectangle 9"/>
          <p:cNvSpPr>
            <a:spLocks noChangeArrowheads="1"/>
          </p:cNvSpPr>
          <p:nvPr/>
        </p:nvSpPr>
        <p:spPr bwMode="auto">
          <a:xfrm>
            <a:off x="688975" y="1675481"/>
            <a:ext cx="7749945" cy="2049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20000"/>
              </a:lnSpc>
              <a:spcBef>
                <a:spcPct val="0"/>
              </a:spcBef>
              <a:spcAft>
                <a:spcPct val="50000"/>
              </a:spcAft>
              <a:buClrTx/>
              <a:buFontTx/>
              <a:buNone/>
            </a:pPr>
            <a:r>
              <a:rPr lang="en-US" altLang="zh-CN" dirty="0">
                <a:solidFill>
                  <a:srgbClr val="000080"/>
                </a:solidFill>
                <a:latin typeface="黑体" pitchFamily="2" charset="-122"/>
                <a:ea typeface="黑体" pitchFamily="2" charset="-122"/>
              </a:rPr>
              <a:t>    </a:t>
            </a:r>
            <a:r>
              <a:rPr lang="zh-CN" altLang="zh-CN" dirty="0">
                <a:solidFill>
                  <a:srgbClr val="000080"/>
                </a:solidFill>
                <a:latin typeface="黑体" pitchFamily="2" charset="-122"/>
                <a:ea typeface="黑体" pitchFamily="2" charset="-122"/>
              </a:rPr>
              <a:t>现代计算机中广泛使用三态门连接总线。</a:t>
            </a:r>
            <a:endParaRPr lang="en-US" altLang="zh-CN" dirty="0">
              <a:solidFill>
                <a:srgbClr val="000080"/>
              </a:solidFill>
              <a:latin typeface="黑体" pitchFamily="2" charset="-122"/>
              <a:ea typeface="黑体" pitchFamily="2" charset="-122"/>
            </a:endParaRPr>
          </a:p>
          <a:p>
            <a:pPr algn="just">
              <a:lnSpc>
                <a:spcPct val="120000"/>
              </a:lnSpc>
              <a:spcBef>
                <a:spcPct val="0"/>
              </a:spcBef>
              <a:spcAft>
                <a:spcPct val="50000"/>
              </a:spcAft>
              <a:buClrTx/>
              <a:buFontTx/>
              <a:buNone/>
            </a:pPr>
            <a:r>
              <a:rPr lang="en-US" altLang="zh-CN" dirty="0">
                <a:solidFill>
                  <a:srgbClr val="000080"/>
                </a:solidFill>
                <a:latin typeface="黑体" pitchFamily="2" charset="-122"/>
                <a:ea typeface="黑体" pitchFamily="2" charset="-122"/>
              </a:rPr>
              <a:t>    </a:t>
            </a:r>
            <a:r>
              <a:rPr lang="zh-CN" altLang="zh-CN" dirty="0">
                <a:solidFill>
                  <a:srgbClr val="000080"/>
                </a:solidFill>
                <a:latin typeface="黑体" pitchFamily="2" charset="-122"/>
                <a:ea typeface="黑体" pitchFamily="2" charset="-122"/>
              </a:rPr>
              <a:t>所谓三态门</a:t>
            </a:r>
            <a:r>
              <a:rPr lang="zh-CN" altLang="en-US" dirty="0">
                <a:solidFill>
                  <a:srgbClr val="000080"/>
                </a:solidFill>
                <a:latin typeface="黑体" pitchFamily="2" charset="-122"/>
                <a:ea typeface="黑体" pitchFamily="2" charset="-122"/>
              </a:rPr>
              <a:t>，</a:t>
            </a:r>
            <a:r>
              <a:rPr lang="zh-CN" altLang="zh-CN" dirty="0">
                <a:solidFill>
                  <a:srgbClr val="000080"/>
                </a:solidFill>
                <a:latin typeface="黑体" pitchFamily="2" charset="-122"/>
                <a:ea typeface="黑体" pitchFamily="2" charset="-122"/>
              </a:rPr>
              <a:t>是具有三种逻辑输出状态的门电路，这三种状态是：逻辑“</a:t>
            </a:r>
            <a:r>
              <a:rPr lang="en-US" altLang="zh-CN" dirty="0">
                <a:solidFill>
                  <a:srgbClr val="000080"/>
                </a:solidFill>
                <a:latin typeface="黑体" pitchFamily="2" charset="-122"/>
                <a:ea typeface="黑体" pitchFamily="2" charset="-122"/>
              </a:rPr>
              <a:t>0</a:t>
            </a:r>
            <a:r>
              <a:rPr lang="zh-CN" altLang="zh-CN" dirty="0">
                <a:solidFill>
                  <a:srgbClr val="000080"/>
                </a:solidFill>
                <a:latin typeface="黑体" pitchFamily="2" charset="-122"/>
                <a:ea typeface="黑体" pitchFamily="2" charset="-122"/>
              </a:rPr>
              <a:t>”、逻辑“</a:t>
            </a:r>
            <a:r>
              <a:rPr lang="en-US" altLang="zh-CN" dirty="0">
                <a:solidFill>
                  <a:srgbClr val="000080"/>
                </a:solidFill>
                <a:latin typeface="黑体" pitchFamily="2" charset="-122"/>
                <a:ea typeface="黑体" pitchFamily="2" charset="-122"/>
              </a:rPr>
              <a:t>1</a:t>
            </a:r>
            <a:r>
              <a:rPr lang="zh-CN" altLang="zh-CN" dirty="0">
                <a:solidFill>
                  <a:srgbClr val="000080"/>
                </a:solidFill>
                <a:latin typeface="黑体" pitchFamily="2" charset="-122"/>
                <a:ea typeface="黑体" pitchFamily="2" charset="-122"/>
              </a:rPr>
              <a:t>”和浮空状态（高阻态）。</a:t>
            </a:r>
            <a:r>
              <a:rPr lang="zh-CN" altLang="en-US" dirty="0">
                <a:solidFill>
                  <a:srgbClr val="000080"/>
                </a:solidFill>
                <a:latin typeface="黑体" pitchFamily="2" charset="-122"/>
                <a:ea typeface="黑体" pitchFamily="2" charset="-122"/>
              </a:rPr>
              <a:t> </a:t>
            </a:r>
          </a:p>
        </p:txBody>
      </p:sp>
      <p:sp>
        <p:nvSpPr>
          <p:cNvPr id="2" name="Rectangle 27"/>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endParaRPr>
          </a:p>
        </p:txBody>
      </p:sp>
      <p:sp>
        <p:nvSpPr>
          <p:cNvPr id="3" name="Rectangle 36"/>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itchFamily="34" charset="0"/>
              <a:ea typeface="宋体" pitchFamily="2" charset="-122"/>
            </a:endParaRPr>
          </a:p>
        </p:txBody>
      </p:sp>
      <p:grpSp>
        <p:nvGrpSpPr>
          <p:cNvPr id="52225" name="组合 52224"/>
          <p:cNvGrpSpPr/>
          <p:nvPr/>
        </p:nvGrpSpPr>
        <p:grpSpPr>
          <a:xfrm>
            <a:off x="860824" y="3656187"/>
            <a:ext cx="7578096" cy="1907330"/>
            <a:chOff x="860824" y="3755340"/>
            <a:chExt cx="7745330" cy="2193768"/>
          </a:xfrm>
        </p:grpSpPr>
        <p:sp>
          <p:nvSpPr>
            <p:cNvPr id="7" name="文本框 4067"/>
            <p:cNvSpPr txBox="1">
              <a:spLocks noChangeArrowheads="1"/>
            </p:cNvSpPr>
            <p:nvPr/>
          </p:nvSpPr>
          <p:spPr bwMode="auto">
            <a:xfrm>
              <a:off x="1663547" y="4621795"/>
              <a:ext cx="1263043" cy="61639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8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algn="just">
                <a:spcAft>
                  <a:spcPts val="0"/>
                </a:spcAft>
              </a:pPr>
              <a:r>
                <a:rPr lang="zh-CN" kern="100" dirty="0">
                  <a:solidFill>
                    <a:srgbClr val="000080"/>
                  </a:solidFill>
                  <a:effectLst/>
                  <a:latin typeface="黑体" pitchFamily="2" charset="-122"/>
                  <a:ea typeface="黑体" pitchFamily="2" charset="-122"/>
                  <a:cs typeface="Times New Roman"/>
                </a:rPr>
                <a:t>三态门</a:t>
              </a:r>
              <a:endParaRPr lang="zh-CN" kern="100" dirty="0">
                <a:effectLst/>
                <a:latin typeface="黑体" pitchFamily="2" charset="-122"/>
                <a:ea typeface="黑体" pitchFamily="2" charset="-122"/>
                <a:cs typeface="Times New Roman"/>
              </a:endParaRPr>
            </a:p>
          </p:txBody>
        </p:sp>
        <p:cxnSp>
          <p:nvCxnSpPr>
            <p:cNvPr id="8" name="直线 4068"/>
            <p:cNvCxnSpPr>
              <a:cxnSpLocks noChangeShapeType="1"/>
            </p:cNvCxnSpPr>
            <p:nvPr/>
          </p:nvCxnSpPr>
          <p:spPr bwMode="auto">
            <a:xfrm flipV="1">
              <a:off x="2886187" y="4794719"/>
              <a:ext cx="745731" cy="102733"/>
            </a:xfrm>
            <a:prstGeom prst="line">
              <a:avLst/>
            </a:prstGeom>
            <a:noFill/>
            <a:ln w="28575">
              <a:solidFill>
                <a:srgbClr val="00008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9" name="文本框 4069"/>
            <p:cNvSpPr txBox="1">
              <a:spLocks noChangeArrowheads="1"/>
            </p:cNvSpPr>
            <p:nvPr/>
          </p:nvSpPr>
          <p:spPr bwMode="auto">
            <a:xfrm>
              <a:off x="7444845" y="3755340"/>
              <a:ext cx="1161309" cy="61639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80"/>
                  </a:solidFill>
                  <a:miter lim="800000"/>
                  <a:headEnd/>
                  <a:tailEnd/>
                </a14:hiddenLine>
              </a:ext>
              <a:ext uri="{AF507438-7753-43E0-B8FC-AC1667EBCBE1}">
                <a14:hiddenEffects xmlns:a14="http://schemas.microsoft.com/office/drawing/2010/main">
                  <a:effectLst/>
                </a14:hiddenEffects>
              </a:ext>
            </a:extLst>
          </p:spPr>
          <p:txBody>
            <a:bodyPr rot="0" vert="horz" wrap="square" lIns="91440" tIns="45720" rIns="91440" bIns="45720" anchor="t" anchorCtr="0" upright="1">
              <a:noAutofit/>
            </a:bodyPr>
            <a:lstStyle/>
            <a:p>
              <a:pPr algn="ctr">
                <a:spcAft>
                  <a:spcPts val="0"/>
                </a:spcAft>
              </a:pPr>
              <a:r>
                <a:rPr lang="zh-CN" kern="100" dirty="0">
                  <a:solidFill>
                    <a:srgbClr val="000080"/>
                  </a:solidFill>
                  <a:effectLst/>
                  <a:latin typeface="黑体" pitchFamily="2" charset="-122"/>
                  <a:ea typeface="黑体" pitchFamily="2" charset="-122"/>
                  <a:cs typeface="Times New Roman"/>
                </a:rPr>
                <a:t>总线</a:t>
              </a:r>
              <a:endParaRPr lang="zh-CN" kern="100" dirty="0">
                <a:effectLst/>
                <a:latin typeface="黑体" pitchFamily="2" charset="-122"/>
                <a:ea typeface="黑体" pitchFamily="2" charset="-122"/>
                <a:cs typeface="Times New Roman"/>
              </a:endParaRPr>
            </a:p>
          </p:txBody>
        </p:sp>
        <p:cxnSp>
          <p:nvCxnSpPr>
            <p:cNvPr id="10" name="直线 4044"/>
            <p:cNvCxnSpPr>
              <a:cxnSpLocks noChangeShapeType="1"/>
            </p:cNvCxnSpPr>
            <p:nvPr/>
          </p:nvCxnSpPr>
          <p:spPr bwMode="auto">
            <a:xfrm>
              <a:off x="4018637" y="4264284"/>
              <a:ext cx="0" cy="410933"/>
            </a:xfrm>
            <a:prstGeom prst="line">
              <a:avLst/>
            </a:prstGeom>
            <a:ln w="57150">
              <a:solidFill>
                <a:srgbClr val="000080"/>
              </a:solidFill>
              <a:headEnd type="triangle" w="med" len="med"/>
              <a:tailEnd type="none" w="med" len="med"/>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cxnSp>
        <p:sp>
          <p:nvSpPr>
            <p:cNvPr id="11" name="矩形 10"/>
            <p:cNvSpPr>
              <a:spLocks noChangeArrowheads="1"/>
            </p:cNvSpPr>
            <p:nvPr/>
          </p:nvSpPr>
          <p:spPr bwMode="auto">
            <a:xfrm rot="16200000">
              <a:off x="4475150" y="4888481"/>
              <a:ext cx="441068" cy="340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spcAft>
                  <a:spcPts val="0"/>
                </a:spcAft>
              </a:pPr>
              <a:r>
                <a:rPr lang="en-US" sz="1800" kern="100" dirty="0">
                  <a:solidFill>
                    <a:srgbClr val="FF0000"/>
                  </a:solidFill>
                  <a:effectLst/>
                  <a:latin typeface="黑体" pitchFamily="2" charset="-122"/>
                  <a:ea typeface="黑体" pitchFamily="2" charset="-122"/>
                  <a:cs typeface="Times New Roman"/>
                </a:rPr>
                <a:t>G1</a:t>
              </a:r>
              <a:endParaRPr lang="zh-CN" kern="100">
                <a:effectLst/>
                <a:latin typeface="黑体" pitchFamily="2" charset="-122"/>
                <a:ea typeface="黑体" pitchFamily="2" charset="-122"/>
                <a:cs typeface="Times New Roman"/>
              </a:endParaRPr>
            </a:p>
          </p:txBody>
        </p:sp>
        <p:sp>
          <p:nvSpPr>
            <p:cNvPr id="12" name="矩形 11"/>
            <p:cNvSpPr>
              <a:spLocks noChangeArrowheads="1"/>
            </p:cNvSpPr>
            <p:nvPr/>
          </p:nvSpPr>
          <p:spPr bwMode="auto">
            <a:xfrm rot="16200000">
              <a:off x="3819296" y="4533756"/>
              <a:ext cx="391756" cy="597970"/>
            </a:xfrm>
            <a:prstGeom prst="rect">
              <a:avLst/>
            </a:prstGeom>
            <a:solidFill>
              <a:srgbClr val="FFFFFF"/>
            </a:solidFill>
            <a:ln w="28575">
              <a:solidFill>
                <a:srgbClr val="000099"/>
              </a:solidFill>
              <a:miter lim="800000"/>
              <a:headEnd/>
              <a:tailEnd/>
            </a:ln>
          </p:spPr>
          <p:txBody>
            <a:bodyPr rot="0" vert="horz" wrap="square" lIns="91440" tIns="45720" rIns="91440" bIns="45720" anchor="t" anchorCtr="0" upright="1">
              <a:noAutofit/>
            </a:bodyPr>
            <a:lstStyle/>
            <a:p>
              <a:endParaRPr lang="zh-CN" altLang="en-US" sz="5400">
                <a:latin typeface="黑体" pitchFamily="2" charset="-122"/>
                <a:ea typeface="黑体" pitchFamily="2" charset="-122"/>
              </a:endParaRPr>
            </a:p>
          </p:txBody>
        </p:sp>
        <p:sp>
          <p:nvSpPr>
            <p:cNvPr id="13" name="任意多边形 12"/>
            <p:cNvSpPr>
              <a:spLocks/>
            </p:cNvSpPr>
            <p:nvPr/>
          </p:nvSpPr>
          <p:spPr bwMode="auto">
            <a:xfrm rot="16200000">
              <a:off x="4070312" y="5020827"/>
              <a:ext cx="135608" cy="107358"/>
            </a:xfrm>
            <a:custGeom>
              <a:avLst/>
              <a:gdLst>
                <a:gd name="T0" fmla="*/ 117 w 117"/>
                <a:gd name="T1" fmla="*/ 67 h 129"/>
                <a:gd name="T2" fmla="*/ 107 w 117"/>
                <a:gd name="T3" fmla="*/ 33 h 129"/>
                <a:gd name="T4" fmla="*/ 86 w 117"/>
                <a:gd name="T5" fmla="*/ 10 h 129"/>
                <a:gd name="T6" fmla="*/ 61 w 117"/>
                <a:gd name="T7" fmla="*/ 0 h 129"/>
                <a:gd name="T8" fmla="*/ 30 w 117"/>
                <a:gd name="T9" fmla="*/ 10 h 129"/>
                <a:gd name="T10" fmla="*/ 9 w 117"/>
                <a:gd name="T11" fmla="*/ 33 h 129"/>
                <a:gd name="T12" fmla="*/ 0 w 117"/>
                <a:gd name="T13" fmla="*/ 67 h 129"/>
                <a:gd name="T14" fmla="*/ 9 w 117"/>
                <a:gd name="T15" fmla="*/ 96 h 129"/>
                <a:gd name="T16" fmla="*/ 30 w 117"/>
                <a:gd name="T17" fmla="*/ 116 h 129"/>
                <a:gd name="T18" fmla="*/ 61 w 117"/>
                <a:gd name="T19" fmla="*/ 129 h 129"/>
                <a:gd name="T20" fmla="*/ 86 w 117"/>
                <a:gd name="T21" fmla="*/ 116 h 129"/>
                <a:gd name="T22" fmla="*/ 107 w 117"/>
                <a:gd name="T23" fmla="*/ 96 h 129"/>
                <a:gd name="T24" fmla="*/ 117 w 117"/>
                <a:gd name="T25" fmla="*/ 67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7" h="129">
                  <a:moveTo>
                    <a:pt x="117" y="67"/>
                  </a:moveTo>
                  <a:lnTo>
                    <a:pt x="107" y="33"/>
                  </a:lnTo>
                  <a:lnTo>
                    <a:pt x="86" y="10"/>
                  </a:lnTo>
                  <a:lnTo>
                    <a:pt x="61" y="0"/>
                  </a:lnTo>
                  <a:lnTo>
                    <a:pt x="30" y="10"/>
                  </a:lnTo>
                  <a:lnTo>
                    <a:pt x="9" y="33"/>
                  </a:lnTo>
                  <a:lnTo>
                    <a:pt x="0" y="67"/>
                  </a:lnTo>
                  <a:lnTo>
                    <a:pt x="9" y="96"/>
                  </a:lnTo>
                  <a:lnTo>
                    <a:pt x="30" y="116"/>
                  </a:lnTo>
                  <a:lnTo>
                    <a:pt x="61" y="129"/>
                  </a:lnTo>
                  <a:lnTo>
                    <a:pt x="86" y="116"/>
                  </a:lnTo>
                  <a:lnTo>
                    <a:pt x="107" y="96"/>
                  </a:lnTo>
                  <a:lnTo>
                    <a:pt x="117" y="67"/>
                  </a:lnTo>
                </a:path>
              </a:pathLst>
            </a:custGeom>
            <a:noFill/>
            <a:ln w="28575"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sz="5400">
                <a:latin typeface="黑体" pitchFamily="2" charset="-122"/>
                <a:ea typeface="黑体" pitchFamily="2" charset="-122"/>
              </a:endParaRPr>
            </a:p>
          </p:txBody>
        </p:sp>
        <p:sp>
          <p:nvSpPr>
            <p:cNvPr id="14" name="矩形 13"/>
            <p:cNvSpPr>
              <a:spLocks noChangeArrowheads="1"/>
            </p:cNvSpPr>
            <p:nvPr/>
          </p:nvSpPr>
          <p:spPr bwMode="auto">
            <a:xfrm rot="16200000">
              <a:off x="3978809" y="4623281"/>
              <a:ext cx="367100" cy="460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spcAft>
                  <a:spcPts val="0"/>
                </a:spcAft>
              </a:pPr>
              <a:r>
                <a:rPr lang="en-US" sz="1600" kern="100" dirty="0">
                  <a:solidFill>
                    <a:srgbClr val="000000"/>
                  </a:solidFill>
                  <a:effectLst/>
                  <a:latin typeface="黑体" pitchFamily="2" charset="-122"/>
                  <a:ea typeface="黑体" pitchFamily="2" charset="-122"/>
                  <a:cs typeface="Times New Roman"/>
                </a:rPr>
                <a:t>EN</a:t>
              </a:r>
              <a:endParaRPr lang="zh-CN" sz="2800" kern="100" dirty="0">
                <a:effectLst/>
                <a:latin typeface="黑体" pitchFamily="2" charset="-122"/>
                <a:ea typeface="黑体" pitchFamily="2" charset="-122"/>
                <a:cs typeface="Times New Roman"/>
              </a:endParaRPr>
            </a:p>
          </p:txBody>
        </p:sp>
        <p:sp>
          <p:nvSpPr>
            <p:cNvPr id="15" name="任意多边形 14"/>
            <p:cNvSpPr>
              <a:spLocks/>
            </p:cNvSpPr>
            <p:nvPr/>
          </p:nvSpPr>
          <p:spPr bwMode="auto">
            <a:xfrm rot="16200000">
              <a:off x="3941796" y="4724518"/>
              <a:ext cx="89035" cy="124673"/>
            </a:xfrm>
            <a:custGeom>
              <a:avLst/>
              <a:gdLst>
                <a:gd name="T0" fmla="*/ 115 w 115"/>
                <a:gd name="T1" fmla="*/ 0 h 126"/>
                <a:gd name="T2" fmla="*/ 58 w 115"/>
                <a:gd name="T3" fmla="*/ 126 h 126"/>
                <a:gd name="T4" fmla="*/ 0 w 115"/>
                <a:gd name="T5" fmla="*/ 0 h 126"/>
                <a:gd name="T6" fmla="*/ 115 w 115"/>
                <a:gd name="T7" fmla="*/ 0 h 126"/>
              </a:gdLst>
              <a:ahLst/>
              <a:cxnLst>
                <a:cxn ang="0">
                  <a:pos x="T0" y="T1"/>
                </a:cxn>
                <a:cxn ang="0">
                  <a:pos x="T2" y="T3"/>
                </a:cxn>
                <a:cxn ang="0">
                  <a:pos x="T4" y="T5"/>
                </a:cxn>
                <a:cxn ang="0">
                  <a:pos x="T6" y="T7"/>
                </a:cxn>
              </a:cxnLst>
              <a:rect l="0" t="0" r="r" b="b"/>
              <a:pathLst>
                <a:path w="115" h="126">
                  <a:moveTo>
                    <a:pt x="115" y="0"/>
                  </a:moveTo>
                  <a:lnTo>
                    <a:pt x="58" y="126"/>
                  </a:lnTo>
                  <a:lnTo>
                    <a:pt x="0" y="0"/>
                  </a:lnTo>
                  <a:lnTo>
                    <a:pt x="115" y="0"/>
                  </a:lnTo>
                  <a:close/>
                </a:path>
              </a:pathLst>
            </a:custGeom>
            <a:solidFill>
              <a:srgbClr val="FFFFFF"/>
            </a:solidFill>
            <a:ln>
              <a:noFill/>
            </a:ln>
            <a:extLst>
              <a:ext uri="{91240B29-F687-4F45-9708-019B960494DF}">
                <a14:hiddenLine xmlns:a14="http://schemas.microsoft.com/office/drawing/2010/main" w="9525" cmpd="sng">
                  <a:solidFill>
                    <a:srgbClr val="000000"/>
                  </a:solidFill>
                  <a:round/>
                  <a:headEnd/>
                  <a:tailEnd/>
                </a14:hiddenLine>
              </a:ext>
            </a:extLst>
          </p:spPr>
          <p:txBody>
            <a:bodyPr rot="0" vert="horz" wrap="square" lIns="91440" tIns="45720" rIns="91440" bIns="45720" anchor="t" anchorCtr="0" upright="1">
              <a:noAutofit/>
            </a:bodyPr>
            <a:lstStyle/>
            <a:p>
              <a:endParaRPr lang="zh-CN" altLang="en-US" sz="5400">
                <a:latin typeface="黑体" pitchFamily="2" charset="-122"/>
                <a:ea typeface="黑体" pitchFamily="2" charset="-122"/>
              </a:endParaRPr>
            </a:p>
          </p:txBody>
        </p:sp>
        <p:sp>
          <p:nvSpPr>
            <p:cNvPr id="16" name="任意多边形 15"/>
            <p:cNvSpPr>
              <a:spLocks/>
            </p:cNvSpPr>
            <p:nvPr/>
          </p:nvSpPr>
          <p:spPr bwMode="auto">
            <a:xfrm rot="16200000">
              <a:off x="3827030" y="4781255"/>
              <a:ext cx="146566" cy="123519"/>
            </a:xfrm>
            <a:custGeom>
              <a:avLst/>
              <a:gdLst>
                <a:gd name="T0" fmla="*/ 115 w 115"/>
                <a:gd name="T1" fmla="*/ 0 h 126"/>
                <a:gd name="T2" fmla="*/ 58 w 115"/>
                <a:gd name="T3" fmla="*/ 126 h 126"/>
                <a:gd name="T4" fmla="*/ 0 w 115"/>
                <a:gd name="T5" fmla="*/ 0 h 126"/>
                <a:gd name="T6" fmla="*/ 115 w 115"/>
                <a:gd name="T7" fmla="*/ 0 h 126"/>
              </a:gdLst>
              <a:ahLst/>
              <a:cxnLst>
                <a:cxn ang="0">
                  <a:pos x="T0" y="T1"/>
                </a:cxn>
                <a:cxn ang="0">
                  <a:pos x="T2" y="T3"/>
                </a:cxn>
                <a:cxn ang="0">
                  <a:pos x="T4" y="T5"/>
                </a:cxn>
                <a:cxn ang="0">
                  <a:pos x="T6" y="T7"/>
                </a:cxn>
              </a:cxnLst>
              <a:rect l="0" t="0" r="r" b="b"/>
              <a:pathLst>
                <a:path w="115" h="126">
                  <a:moveTo>
                    <a:pt x="115" y="0"/>
                  </a:moveTo>
                  <a:lnTo>
                    <a:pt x="58" y="126"/>
                  </a:lnTo>
                  <a:lnTo>
                    <a:pt x="0" y="0"/>
                  </a:lnTo>
                  <a:lnTo>
                    <a:pt x="115" y="0"/>
                  </a:lnTo>
                  <a:close/>
                </a:path>
              </a:pathLst>
            </a:custGeom>
            <a:noFill/>
            <a:ln w="19050" cmpd="sng">
              <a:solidFill>
                <a:srgbClr val="000099"/>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sz="5400">
                <a:latin typeface="黑体" pitchFamily="2" charset="-122"/>
                <a:ea typeface="黑体" pitchFamily="2" charset="-122"/>
              </a:endParaRPr>
            </a:p>
          </p:txBody>
        </p:sp>
        <p:sp>
          <p:nvSpPr>
            <p:cNvPr id="17" name="任意多边形 16"/>
            <p:cNvSpPr>
              <a:spLocks/>
            </p:cNvSpPr>
            <p:nvPr/>
          </p:nvSpPr>
          <p:spPr bwMode="auto">
            <a:xfrm>
              <a:off x="4134075" y="5157378"/>
              <a:ext cx="694939" cy="54791"/>
            </a:xfrm>
            <a:custGeom>
              <a:avLst/>
              <a:gdLst>
                <a:gd name="T0" fmla="*/ 0 w 548"/>
                <a:gd name="T1" fmla="*/ 0 h 141"/>
                <a:gd name="T2" fmla="*/ 0 w 548"/>
                <a:gd name="T3" fmla="*/ 141 h 141"/>
                <a:gd name="T4" fmla="*/ 548 w 548"/>
                <a:gd name="T5" fmla="*/ 141 h 141"/>
              </a:gdLst>
              <a:ahLst/>
              <a:cxnLst>
                <a:cxn ang="0">
                  <a:pos x="T0" y="T1"/>
                </a:cxn>
                <a:cxn ang="0">
                  <a:pos x="T2" y="T3"/>
                </a:cxn>
                <a:cxn ang="0">
                  <a:pos x="T4" y="T5"/>
                </a:cxn>
              </a:cxnLst>
              <a:rect l="0" t="0" r="r" b="b"/>
              <a:pathLst>
                <a:path w="548" h="141">
                  <a:moveTo>
                    <a:pt x="0" y="0"/>
                  </a:moveTo>
                  <a:lnTo>
                    <a:pt x="0" y="141"/>
                  </a:lnTo>
                  <a:lnTo>
                    <a:pt x="548" y="141"/>
                  </a:lnTo>
                </a:path>
              </a:pathLst>
            </a:custGeom>
            <a:noFill/>
            <a:ln w="28575" cap="flat" cmpd="sng">
              <a:solidFill>
                <a:srgbClr val="000080"/>
              </a:solidFill>
              <a:prstDash val="solid"/>
              <a:round/>
              <a:headEnd/>
              <a:tailEn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sz="5400">
                <a:latin typeface="黑体" pitchFamily="2" charset="-122"/>
                <a:ea typeface="黑体" pitchFamily="2" charset="-122"/>
              </a:endParaRPr>
            </a:p>
          </p:txBody>
        </p:sp>
        <p:cxnSp>
          <p:nvCxnSpPr>
            <p:cNvPr id="18" name="直线 4052"/>
            <p:cNvCxnSpPr>
              <a:cxnSpLocks noChangeShapeType="1"/>
            </p:cNvCxnSpPr>
            <p:nvPr/>
          </p:nvCxnSpPr>
          <p:spPr bwMode="auto">
            <a:xfrm>
              <a:off x="4594573" y="4825539"/>
              <a:ext cx="18000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 name="直线 4053"/>
            <p:cNvCxnSpPr>
              <a:cxnSpLocks noChangeShapeType="1"/>
            </p:cNvCxnSpPr>
            <p:nvPr/>
          </p:nvCxnSpPr>
          <p:spPr bwMode="auto">
            <a:xfrm>
              <a:off x="3880111" y="5003963"/>
              <a:ext cx="0" cy="410933"/>
            </a:xfrm>
            <a:prstGeom prst="line">
              <a:avLst/>
            </a:prstGeom>
            <a:ln w="57150">
              <a:solidFill>
                <a:srgbClr val="000080"/>
              </a:solidFill>
              <a:headEnd type="triangle" w="med" len="med"/>
              <a:tailEnd type="none" w="med" len="med"/>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cxnSp>
        <p:sp>
          <p:nvSpPr>
            <p:cNvPr id="20" name="文本框 4054"/>
            <p:cNvSpPr txBox="1">
              <a:spLocks noChangeArrowheads="1"/>
            </p:cNvSpPr>
            <p:nvPr/>
          </p:nvSpPr>
          <p:spPr bwMode="auto">
            <a:xfrm>
              <a:off x="3259053" y="5372432"/>
              <a:ext cx="1425520" cy="556129"/>
            </a:xfrm>
            <a:prstGeom prst="rect">
              <a:avLst/>
            </a:prstGeom>
            <a:solidFill>
              <a:srgbClr val="FFFFCC"/>
            </a:solidFill>
            <a:ln w="28575">
              <a:solidFill>
                <a:srgbClr val="00008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22860" rIns="91440" bIns="22860" anchor="t" anchorCtr="0" upright="1">
              <a:noAutofit/>
            </a:bodyPr>
            <a:lstStyle/>
            <a:p>
              <a:pPr algn="ctr">
                <a:spcAft>
                  <a:spcPts val="0"/>
                </a:spcAft>
              </a:pPr>
              <a:r>
                <a:rPr lang="zh-CN" kern="100" dirty="0">
                  <a:solidFill>
                    <a:srgbClr val="000080"/>
                  </a:solidFill>
                  <a:effectLst/>
                  <a:latin typeface="黑体" pitchFamily="2" charset="-122"/>
                  <a:ea typeface="黑体" pitchFamily="2" charset="-122"/>
                  <a:cs typeface="Times New Roman"/>
                </a:rPr>
                <a:t>寄存器</a:t>
              </a:r>
              <a:r>
                <a:rPr lang="en-US" kern="100" dirty="0">
                  <a:solidFill>
                    <a:srgbClr val="000080"/>
                  </a:solidFill>
                  <a:effectLst/>
                  <a:latin typeface="黑体" pitchFamily="2" charset="-122"/>
                  <a:ea typeface="黑体" pitchFamily="2" charset="-122"/>
                  <a:cs typeface="Times New Roman"/>
                </a:rPr>
                <a:t>A</a:t>
              </a:r>
              <a:endParaRPr lang="zh-CN" kern="100" dirty="0">
                <a:effectLst/>
                <a:latin typeface="黑体" pitchFamily="2" charset="-122"/>
                <a:ea typeface="黑体" pitchFamily="2" charset="-122"/>
                <a:cs typeface="Times New Roman"/>
              </a:endParaRPr>
            </a:p>
          </p:txBody>
        </p:sp>
        <p:cxnSp>
          <p:nvCxnSpPr>
            <p:cNvPr id="21" name="直线 4056"/>
            <p:cNvCxnSpPr>
              <a:cxnSpLocks noChangeShapeType="1"/>
            </p:cNvCxnSpPr>
            <p:nvPr/>
          </p:nvCxnSpPr>
          <p:spPr bwMode="auto">
            <a:xfrm>
              <a:off x="6253523" y="4284830"/>
              <a:ext cx="0" cy="410933"/>
            </a:xfrm>
            <a:prstGeom prst="line">
              <a:avLst/>
            </a:prstGeom>
            <a:ln w="57150">
              <a:solidFill>
                <a:srgbClr val="000080"/>
              </a:solidFill>
              <a:headEnd type="triangle" w="med" len="med"/>
              <a:tailEnd type="none" w="med" len="med"/>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cxnSp>
        <p:sp>
          <p:nvSpPr>
            <p:cNvPr id="22" name="矩形 21"/>
            <p:cNvSpPr>
              <a:spLocks noChangeArrowheads="1"/>
            </p:cNvSpPr>
            <p:nvPr/>
          </p:nvSpPr>
          <p:spPr bwMode="auto">
            <a:xfrm rot="16200000">
              <a:off x="6710037" y="4909027"/>
              <a:ext cx="441068" cy="340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spcAft>
                  <a:spcPts val="0"/>
                </a:spcAft>
              </a:pPr>
              <a:r>
                <a:rPr lang="en-US" sz="1800" kern="100" dirty="0">
                  <a:solidFill>
                    <a:srgbClr val="FF0000"/>
                  </a:solidFill>
                  <a:effectLst/>
                  <a:latin typeface="黑体" pitchFamily="2" charset="-122"/>
                  <a:ea typeface="黑体" pitchFamily="2" charset="-122"/>
                  <a:cs typeface="Times New Roman"/>
                </a:rPr>
                <a:t>G2</a:t>
              </a:r>
              <a:endParaRPr lang="zh-CN" kern="100" dirty="0">
                <a:effectLst/>
                <a:latin typeface="黑体" pitchFamily="2" charset="-122"/>
                <a:ea typeface="黑体" pitchFamily="2" charset="-122"/>
                <a:cs typeface="Times New Roman"/>
              </a:endParaRPr>
            </a:p>
          </p:txBody>
        </p:sp>
        <p:sp>
          <p:nvSpPr>
            <p:cNvPr id="23" name="矩形 22"/>
            <p:cNvSpPr>
              <a:spLocks noChangeArrowheads="1"/>
            </p:cNvSpPr>
            <p:nvPr/>
          </p:nvSpPr>
          <p:spPr bwMode="auto">
            <a:xfrm rot="16200000">
              <a:off x="6054182" y="4554302"/>
              <a:ext cx="391756" cy="597970"/>
            </a:xfrm>
            <a:prstGeom prst="rect">
              <a:avLst/>
            </a:prstGeom>
            <a:solidFill>
              <a:srgbClr val="FFFFFF"/>
            </a:solidFill>
            <a:ln w="28575">
              <a:solidFill>
                <a:srgbClr val="000099"/>
              </a:solidFill>
              <a:miter lim="800000"/>
              <a:headEnd/>
              <a:tailEnd/>
            </a:ln>
          </p:spPr>
          <p:txBody>
            <a:bodyPr rot="0" vert="horz" wrap="square" lIns="91440" tIns="45720" rIns="91440" bIns="45720" anchor="t" anchorCtr="0" upright="1">
              <a:noAutofit/>
            </a:bodyPr>
            <a:lstStyle/>
            <a:p>
              <a:endParaRPr lang="zh-CN" altLang="en-US" sz="5400">
                <a:latin typeface="黑体" pitchFamily="2" charset="-122"/>
                <a:ea typeface="黑体" pitchFamily="2" charset="-122"/>
              </a:endParaRPr>
            </a:p>
          </p:txBody>
        </p:sp>
        <p:sp>
          <p:nvSpPr>
            <p:cNvPr id="24" name="任意多边形 23"/>
            <p:cNvSpPr>
              <a:spLocks/>
            </p:cNvSpPr>
            <p:nvPr/>
          </p:nvSpPr>
          <p:spPr bwMode="auto">
            <a:xfrm rot="16200000">
              <a:off x="6305197" y="5041374"/>
              <a:ext cx="135608" cy="107358"/>
            </a:xfrm>
            <a:custGeom>
              <a:avLst/>
              <a:gdLst>
                <a:gd name="T0" fmla="*/ 117 w 117"/>
                <a:gd name="T1" fmla="*/ 67 h 129"/>
                <a:gd name="T2" fmla="*/ 107 w 117"/>
                <a:gd name="T3" fmla="*/ 33 h 129"/>
                <a:gd name="T4" fmla="*/ 86 w 117"/>
                <a:gd name="T5" fmla="*/ 10 h 129"/>
                <a:gd name="T6" fmla="*/ 61 w 117"/>
                <a:gd name="T7" fmla="*/ 0 h 129"/>
                <a:gd name="T8" fmla="*/ 30 w 117"/>
                <a:gd name="T9" fmla="*/ 10 h 129"/>
                <a:gd name="T10" fmla="*/ 9 w 117"/>
                <a:gd name="T11" fmla="*/ 33 h 129"/>
                <a:gd name="T12" fmla="*/ 0 w 117"/>
                <a:gd name="T13" fmla="*/ 67 h 129"/>
                <a:gd name="T14" fmla="*/ 9 w 117"/>
                <a:gd name="T15" fmla="*/ 96 h 129"/>
                <a:gd name="T16" fmla="*/ 30 w 117"/>
                <a:gd name="T17" fmla="*/ 116 h 129"/>
                <a:gd name="T18" fmla="*/ 61 w 117"/>
                <a:gd name="T19" fmla="*/ 129 h 129"/>
                <a:gd name="T20" fmla="*/ 86 w 117"/>
                <a:gd name="T21" fmla="*/ 116 h 129"/>
                <a:gd name="T22" fmla="*/ 107 w 117"/>
                <a:gd name="T23" fmla="*/ 96 h 129"/>
                <a:gd name="T24" fmla="*/ 117 w 117"/>
                <a:gd name="T25" fmla="*/ 67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7" h="129">
                  <a:moveTo>
                    <a:pt x="117" y="67"/>
                  </a:moveTo>
                  <a:lnTo>
                    <a:pt x="107" y="33"/>
                  </a:lnTo>
                  <a:lnTo>
                    <a:pt x="86" y="10"/>
                  </a:lnTo>
                  <a:lnTo>
                    <a:pt x="61" y="0"/>
                  </a:lnTo>
                  <a:lnTo>
                    <a:pt x="30" y="10"/>
                  </a:lnTo>
                  <a:lnTo>
                    <a:pt x="9" y="33"/>
                  </a:lnTo>
                  <a:lnTo>
                    <a:pt x="0" y="67"/>
                  </a:lnTo>
                  <a:lnTo>
                    <a:pt x="9" y="96"/>
                  </a:lnTo>
                  <a:lnTo>
                    <a:pt x="30" y="116"/>
                  </a:lnTo>
                  <a:lnTo>
                    <a:pt x="61" y="129"/>
                  </a:lnTo>
                  <a:lnTo>
                    <a:pt x="86" y="116"/>
                  </a:lnTo>
                  <a:lnTo>
                    <a:pt x="107" y="96"/>
                  </a:lnTo>
                  <a:lnTo>
                    <a:pt x="117" y="67"/>
                  </a:lnTo>
                </a:path>
              </a:pathLst>
            </a:custGeom>
            <a:noFill/>
            <a:ln w="28575" cmpd="sng">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sz="5400">
                <a:latin typeface="黑体" pitchFamily="2" charset="-122"/>
                <a:ea typeface="黑体" pitchFamily="2" charset="-122"/>
              </a:endParaRPr>
            </a:p>
          </p:txBody>
        </p:sp>
        <p:sp>
          <p:nvSpPr>
            <p:cNvPr id="25" name="矩形 24"/>
            <p:cNvSpPr>
              <a:spLocks noChangeArrowheads="1"/>
            </p:cNvSpPr>
            <p:nvPr/>
          </p:nvSpPr>
          <p:spPr bwMode="auto">
            <a:xfrm rot="16200000">
              <a:off x="6191660" y="4643827"/>
              <a:ext cx="367100" cy="460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algn="ctr">
                <a:spcAft>
                  <a:spcPts val="0"/>
                </a:spcAft>
              </a:pPr>
              <a:r>
                <a:rPr lang="en-US" sz="1600" kern="100" dirty="0">
                  <a:solidFill>
                    <a:srgbClr val="000000"/>
                  </a:solidFill>
                  <a:effectLst/>
                  <a:latin typeface="黑体" pitchFamily="2" charset="-122"/>
                  <a:ea typeface="黑体" pitchFamily="2" charset="-122"/>
                  <a:cs typeface="Times New Roman"/>
                </a:rPr>
                <a:t>EN</a:t>
              </a:r>
              <a:endParaRPr lang="zh-CN" sz="2800" kern="100" dirty="0">
                <a:effectLst/>
                <a:latin typeface="黑体" pitchFamily="2" charset="-122"/>
                <a:ea typeface="黑体" pitchFamily="2" charset="-122"/>
                <a:cs typeface="Times New Roman"/>
              </a:endParaRPr>
            </a:p>
          </p:txBody>
        </p:sp>
        <p:sp>
          <p:nvSpPr>
            <p:cNvPr id="26" name="任意多边形 25"/>
            <p:cNvSpPr>
              <a:spLocks/>
            </p:cNvSpPr>
            <p:nvPr/>
          </p:nvSpPr>
          <p:spPr bwMode="auto">
            <a:xfrm rot="16200000">
              <a:off x="6176681" y="4745064"/>
              <a:ext cx="89035" cy="124673"/>
            </a:xfrm>
            <a:custGeom>
              <a:avLst/>
              <a:gdLst>
                <a:gd name="T0" fmla="*/ 115 w 115"/>
                <a:gd name="T1" fmla="*/ 0 h 126"/>
                <a:gd name="T2" fmla="*/ 58 w 115"/>
                <a:gd name="T3" fmla="*/ 126 h 126"/>
                <a:gd name="T4" fmla="*/ 0 w 115"/>
                <a:gd name="T5" fmla="*/ 0 h 126"/>
                <a:gd name="T6" fmla="*/ 115 w 115"/>
                <a:gd name="T7" fmla="*/ 0 h 126"/>
              </a:gdLst>
              <a:ahLst/>
              <a:cxnLst>
                <a:cxn ang="0">
                  <a:pos x="T0" y="T1"/>
                </a:cxn>
                <a:cxn ang="0">
                  <a:pos x="T2" y="T3"/>
                </a:cxn>
                <a:cxn ang="0">
                  <a:pos x="T4" y="T5"/>
                </a:cxn>
                <a:cxn ang="0">
                  <a:pos x="T6" y="T7"/>
                </a:cxn>
              </a:cxnLst>
              <a:rect l="0" t="0" r="r" b="b"/>
              <a:pathLst>
                <a:path w="115" h="126">
                  <a:moveTo>
                    <a:pt x="115" y="0"/>
                  </a:moveTo>
                  <a:lnTo>
                    <a:pt x="58" y="126"/>
                  </a:lnTo>
                  <a:lnTo>
                    <a:pt x="0" y="0"/>
                  </a:lnTo>
                  <a:lnTo>
                    <a:pt x="115" y="0"/>
                  </a:lnTo>
                  <a:close/>
                </a:path>
              </a:pathLst>
            </a:custGeom>
            <a:solidFill>
              <a:srgbClr val="FFFFFF"/>
            </a:solidFill>
            <a:ln>
              <a:noFill/>
            </a:ln>
            <a:extLst>
              <a:ext uri="{91240B29-F687-4F45-9708-019B960494DF}">
                <a14:hiddenLine xmlns:a14="http://schemas.microsoft.com/office/drawing/2010/main" w="9525" cmpd="sng">
                  <a:solidFill>
                    <a:srgbClr val="000000"/>
                  </a:solidFill>
                  <a:round/>
                  <a:headEnd/>
                  <a:tailEnd/>
                </a14:hiddenLine>
              </a:ext>
            </a:extLst>
          </p:spPr>
          <p:txBody>
            <a:bodyPr rot="0" vert="horz" wrap="square" lIns="91440" tIns="45720" rIns="91440" bIns="45720" anchor="t" anchorCtr="0" upright="1">
              <a:noAutofit/>
            </a:bodyPr>
            <a:lstStyle/>
            <a:p>
              <a:endParaRPr lang="zh-CN" altLang="en-US" sz="5400">
                <a:latin typeface="黑体" pitchFamily="2" charset="-122"/>
                <a:ea typeface="黑体" pitchFamily="2" charset="-122"/>
              </a:endParaRPr>
            </a:p>
          </p:txBody>
        </p:sp>
        <p:sp>
          <p:nvSpPr>
            <p:cNvPr id="27" name="任意多边形 26"/>
            <p:cNvSpPr>
              <a:spLocks/>
            </p:cNvSpPr>
            <p:nvPr/>
          </p:nvSpPr>
          <p:spPr bwMode="auto">
            <a:xfrm rot="16200000">
              <a:off x="6061915" y="4801801"/>
              <a:ext cx="146566" cy="123519"/>
            </a:xfrm>
            <a:custGeom>
              <a:avLst/>
              <a:gdLst>
                <a:gd name="T0" fmla="*/ 115 w 115"/>
                <a:gd name="T1" fmla="*/ 0 h 126"/>
                <a:gd name="T2" fmla="*/ 58 w 115"/>
                <a:gd name="T3" fmla="*/ 126 h 126"/>
                <a:gd name="T4" fmla="*/ 0 w 115"/>
                <a:gd name="T5" fmla="*/ 0 h 126"/>
                <a:gd name="T6" fmla="*/ 115 w 115"/>
                <a:gd name="T7" fmla="*/ 0 h 126"/>
              </a:gdLst>
              <a:ahLst/>
              <a:cxnLst>
                <a:cxn ang="0">
                  <a:pos x="T0" y="T1"/>
                </a:cxn>
                <a:cxn ang="0">
                  <a:pos x="T2" y="T3"/>
                </a:cxn>
                <a:cxn ang="0">
                  <a:pos x="T4" y="T5"/>
                </a:cxn>
                <a:cxn ang="0">
                  <a:pos x="T6" y="T7"/>
                </a:cxn>
              </a:cxnLst>
              <a:rect l="0" t="0" r="r" b="b"/>
              <a:pathLst>
                <a:path w="115" h="126">
                  <a:moveTo>
                    <a:pt x="115" y="0"/>
                  </a:moveTo>
                  <a:lnTo>
                    <a:pt x="58" y="126"/>
                  </a:lnTo>
                  <a:lnTo>
                    <a:pt x="0" y="0"/>
                  </a:lnTo>
                  <a:lnTo>
                    <a:pt x="115" y="0"/>
                  </a:lnTo>
                  <a:close/>
                </a:path>
              </a:pathLst>
            </a:custGeom>
            <a:noFill/>
            <a:ln w="19050" cmpd="sng">
              <a:solidFill>
                <a:srgbClr val="000099"/>
              </a:solidFill>
              <a:prstDash val="solid"/>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zh-CN" altLang="en-US" sz="5400">
                <a:latin typeface="黑体" pitchFamily="2" charset="-122"/>
                <a:ea typeface="黑体" pitchFamily="2" charset="-122"/>
              </a:endParaRPr>
            </a:p>
          </p:txBody>
        </p:sp>
        <p:sp>
          <p:nvSpPr>
            <p:cNvPr id="28" name="任意多边形 27"/>
            <p:cNvSpPr>
              <a:spLocks/>
            </p:cNvSpPr>
            <p:nvPr/>
          </p:nvSpPr>
          <p:spPr bwMode="auto">
            <a:xfrm>
              <a:off x="6368961" y="5177924"/>
              <a:ext cx="694939" cy="54791"/>
            </a:xfrm>
            <a:custGeom>
              <a:avLst/>
              <a:gdLst>
                <a:gd name="T0" fmla="*/ 0 w 548"/>
                <a:gd name="T1" fmla="*/ 0 h 141"/>
                <a:gd name="T2" fmla="*/ 0 w 548"/>
                <a:gd name="T3" fmla="*/ 141 h 141"/>
                <a:gd name="T4" fmla="*/ 548 w 548"/>
                <a:gd name="T5" fmla="*/ 141 h 141"/>
              </a:gdLst>
              <a:ahLst/>
              <a:cxnLst>
                <a:cxn ang="0">
                  <a:pos x="T0" y="T1"/>
                </a:cxn>
                <a:cxn ang="0">
                  <a:pos x="T2" y="T3"/>
                </a:cxn>
                <a:cxn ang="0">
                  <a:pos x="T4" y="T5"/>
                </a:cxn>
              </a:cxnLst>
              <a:rect l="0" t="0" r="r" b="b"/>
              <a:pathLst>
                <a:path w="548" h="141">
                  <a:moveTo>
                    <a:pt x="0" y="0"/>
                  </a:moveTo>
                  <a:lnTo>
                    <a:pt x="0" y="141"/>
                  </a:lnTo>
                  <a:lnTo>
                    <a:pt x="548" y="141"/>
                  </a:lnTo>
                </a:path>
              </a:pathLst>
            </a:custGeom>
            <a:noFill/>
            <a:ln w="28575" cap="flat" cmpd="sng">
              <a:solidFill>
                <a:srgbClr val="000080"/>
              </a:solidFill>
              <a:prstDash val="solid"/>
              <a:round/>
              <a:headEnd/>
              <a:tailEnd/>
            </a:ln>
            <a:effectLst/>
            <a:extLst>
              <a:ext uri="{909E8E84-426E-40DD-AFC4-6F175D3DCCD1}">
                <a14:hiddenFill xmlns:a14="http://schemas.microsoft.com/office/drawing/2010/main">
                  <a:solidFill>
                    <a:srgbClr val="00CC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45720" rIns="91440" bIns="45720" anchor="t" anchorCtr="0" upright="1">
              <a:noAutofit/>
            </a:bodyPr>
            <a:lstStyle/>
            <a:p>
              <a:endParaRPr lang="zh-CN" altLang="en-US" sz="5400">
                <a:latin typeface="黑体" pitchFamily="2" charset="-122"/>
                <a:ea typeface="黑体" pitchFamily="2" charset="-122"/>
              </a:endParaRPr>
            </a:p>
          </p:txBody>
        </p:sp>
        <p:cxnSp>
          <p:nvCxnSpPr>
            <p:cNvPr id="29" name="直线 4064"/>
            <p:cNvCxnSpPr>
              <a:cxnSpLocks noChangeShapeType="1"/>
            </p:cNvCxnSpPr>
            <p:nvPr/>
          </p:nvCxnSpPr>
          <p:spPr bwMode="auto">
            <a:xfrm>
              <a:off x="6829459" y="4846086"/>
              <a:ext cx="180000"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0" name="直线 4065"/>
            <p:cNvCxnSpPr>
              <a:cxnSpLocks noChangeShapeType="1"/>
            </p:cNvCxnSpPr>
            <p:nvPr/>
          </p:nvCxnSpPr>
          <p:spPr bwMode="auto">
            <a:xfrm>
              <a:off x="6114997" y="5024509"/>
              <a:ext cx="0" cy="410933"/>
            </a:xfrm>
            <a:prstGeom prst="line">
              <a:avLst/>
            </a:prstGeom>
            <a:ln w="57150">
              <a:solidFill>
                <a:srgbClr val="000080"/>
              </a:solidFill>
              <a:headEnd type="triangle" w="med" len="med"/>
              <a:tailEnd type="none" w="med" len="med"/>
            </a:ln>
            <a:extLst>
              <a:ext uri="{909E8E84-426E-40DD-AFC4-6F175D3DCCD1}">
                <a14:hiddenFill xmlns:a14="http://schemas.microsoft.com/office/drawing/2010/main">
                  <a:noFill/>
                </a14:hiddenFill>
              </a:ext>
            </a:extLst>
          </p:spPr>
          <p:style>
            <a:lnRef idx="1">
              <a:schemeClr val="accent1"/>
            </a:lnRef>
            <a:fillRef idx="0">
              <a:schemeClr val="accent1"/>
            </a:fillRef>
            <a:effectRef idx="0">
              <a:schemeClr val="accent1"/>
            </a:effectRef>
            <a:fontRef idx="minor">
              <a:schemeClr val="tx1"/>
            </a:fontRef>
          </p:style>
        </p:cxnSp>
        <p:sp>
          <p:nvSpPr>
            <p:cNvPr id="31" name="文本框 4066"/>
            <p:cNvSpPr txBox="1">
              <a:spLocks noChangeArrowheads="1"/>
            </p:cNvSpPr>
            <p:nvPr/>
          </p:nvSpPr>
          <p:spPr bwMode="auto">
            <a:xfrm>
              <a:off x="5493939" y="5392979"/>
              <a:ext cx="1425520" cy="556129"/>
            </a:xfrm>
            <a:prstGeom prst="rect">
              <a:avLst/>
            </a:prstGeom>
            <a:solidFill>
              <a:srgbClr val="FFFFCC"/>
            </a:solidFill>
            <a:ln w="28575">
              <a:solidFill>
                <a:srgbClr val="00008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rot="0" vert="horz" wrap="square" lIns="91440" tIns="22860" rIns="91440" bIns="22860" anchor="t" anchorCtr="0" upright="1">
              <a:noAutofit/>
            </a:bodyPr>
            <a:lstStyle/>
            <a:p>
              <a:pPr algn="ctr">
                <a:spcAft>
                  <a:spcPts val="0"/>
                </a:spcAft>
              </a:pPr>
              <a:r>
                <a:rPr lang="zh-CN" kern="100" dirty="0">
                  <a:solidFill>
                    <a:srgbClr val="000080"/>
                  </a:solidFill>
                  <a:effectLst/>
                  <a:latin typeface="黑体" pitchFamily="2" charset="-122"/>
                  <a:ea typeface="黑体" pitchFamily="2" charset="-122"/>
                  <a:cs typeface="Times New Roman"/>
                </a:rPr>
                <a:t>寄存器</a:t>
              </a:r>
              <a:r>
                <a:rPr lang="en-US" kern="100" dirty="0">
                  <a:solidFill>
                    <a:srgbClr val="000080"/>
                  </a:solidFill>
                  <a:effectLst/>
                  <a:latin typeface="黑体" pitchFamily="2" charset="-122"/>
                  <a:ea typeface="黑体" pitchFamily="2" charset="-122"/>
                  <a:cs typeface="Times New Roman"/>
                </a:rPr>
                <a:t>B</a:t>
              </a:r>
              <a:endParaRPr lang="zh-CN" kern="100" dirty="0">
                <a:effectLst/>
                <a:latin typeface="黑体" pitchFamily="2" charset="-122"/>
                <a:ea typeface="黑体" pitchFamily="2" charset="-122"/>
                <a:cs typeface="Times New Roman"/>
              </a:endParaRPr>
            </a:p>
          </p:txBody>
        </p:sp>
        <p:cxnSp>
          <p:nvCxnSpPr>
            <p:cNvPr id="52224" name="直接连接符 52223"/>
            <p:cNvCxnSpPr/>
            <p:nvPr/>
          </p:nvCxnSpPr>
          <p:spPr>
            <a:xfrm>
              <a:off x="860824" y="4263530"/>
              <a:ext cx="7669720" cy="1"/>
            </a:xfrm>
            <a:prstGeom prst="line">
              <a:avLst/>
            </a:prstGeom>
            <a:ln w="57150">
              <a:solidFill>
                <a:srgbClr val="000080"/>
              </a:solidFill>
            </a:ln>
          </p:spPr>
          <p:style>
            <a:lnRef idx="1">
              <a:schemeClr val="accent1"/>
            </a:lnRef>
            <a:fillRef idx="0">
              <a:schemeClr val="accent1"/>
            </a:fillRef>
            <a:effectRef idx="0">
              <a:schemeClr val="accent1"/>
            </a:effectRef>
            <a:fontRef idx="minor">
              <a:schemeClr val="tx1"/>
            </a:fontRef>
          </p:style>
        </p:cxnSp>
      </p:grpSp>
      <p:sp>
        <p:nvSpPr>
          <p:cNvPr id="38" name="Rectangle 3"/>
          <p:cNvSpPr>
            <a:spLocks noChangeArrowheads="1"/>
          </p:cNvSpPr>
          <p:nvPr/>
        </p:nvSpPr>
        <p:spPr bwMode="auto">
          <a:xfrm>
            <a:off x="261938" y="1093788"/>
            <a:ext cx="8882062" cy="407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00000"/>
              </a:lnSpc>
              <a:spcBef>
                <a:spcPct val="0"/>
              </a:spcBef>
              <a:buClrTx/>
              <a:buFontTx/>
              <a:buNone/>
            </a:pPr>
            <a:r>
              <a:rPr lang="zh-CN" altLang="en-US" dirty="0">
                <a:solidFill>
                  <a:srgbClr val="800000"/>
                </a:solidFill>
                <a:latin typeface="黑体" pitchFamily="2" charset="-122"/>
                <a:ea typeface="黑体" pitchFamily="2" charset="-122"/>
              </a:rPr>
              <a:t>  </a:t>
            </a:r>
            <a:r>
              <a:rPr lang="en-US" altLang="zh-CN" dirty="0">
                <a:solidFill>
                  <a:srgbClr val="800000"/>
                </a:solidFill>
                <a:latin typeface="黑体" pitchFamily="2" charset="-122"/>
                <a:ea typeface="黑体" pitchFamily="2" charset="-122"/>
              </a:rPr>
              <a:t>1</a:t>
            </a:r>
            <a:r>
              <a:rPr lang="zh-CN" altLang="en-US" dirty="0">
                <a:solidFill>
                  <a:srgbClr val="800000"/>
                </a:solidFill>
                <a:latin typeface="黑体" pitchFamily="2" charset="-122"/>
                <a:ea typeface="黑体" pitchFamily="2" charset="-122"/>
              </a:rPr>
              <a:t>.</a:t>
            </a:r>
            <a:r>
              <a:rPr lang="en-US" altLang="zh-CN" dirty="0">
                <a:solidFill>
                  <a:srgbClr val="800000"/>
                </a:solidFill>
                <a:latin typeface="黑体" pitchFamily="2" charset="-122"/>
                <a:ea typeface="黑体" pitchFamily="2" charset="-122"/>
              </a:rPr>
              <a:t>3.1 </a:t>
            </a:r>
            <a:r>
              <a:rPr lang="zh-CN" altLang="en-US" dirty="0">
                <a:solidFill>
                  <a:srgbClr val="800000"/>
                </a:solidFill>
                <a:latin typeface="黑体" pitchFamily="2" charset="-122"/>
                <a:ea typeface="黑体" pitchFamily="2" charset="-122"/>
              </a:rPr>
              <a:t>计算机总线 </a:t>
            </a:r>
          </a:p>
        </p:txBody>
      </p:sp>
    </p:spTree>
    <p:extLst>
      <p:ext uri="{BB962C8B-B14F-4D97-AF65-F5344CB8AC3E}">
        <p14:creationId xmlns:p14="http://schemas.microsoft.com/office/powerpoint/2010/main" val="6144113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ChangeArrowheads="1"/>
          </p:cNvSpPr>
          <p:nvPr/>
        </p:nvSpPr>
        <p:spPr bwMode="auto">
          <a:xfrm>
            <a:off x="0" y="45055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gn="ctr">
              <a:lnSpc>
                <a:spcPct val="100000"/>
              </a:lnSpc>
              <a:spcBef>
                <a:spcPct val="0"/>
              </a:spcBef>
              <a:buClrTx/>
              <a:buFontTx/>
              <a:buNone/>
            </a:pPr>
            <a:r>
              <a:rPr lang="zh-CN" altLang="en-US" sz="2600">
                <a:solidFill>
                  <a:srgbClr val="800000"/>
                </a:solidFill>
                <a:latin typeface="黑体" pitchFamily="2" charset="-122"/>
                <a:ea typeface="黑体" pitchFamily="2" charset="-122"/>
              </a:rPr>
              <a:t>§1.</a:t>
            </a:r>
            <a:r>
              <a:rPr lang="en-US" altLang="zh-CN" sz="2600">
                <a:solidFill>
                  <a:srgbClr val="800000"/>
                </a:solidFill>
                <a:latin typeface="黑体" pitchFamily="2" charset="-122"/>
                <a:ea typeface="黑体" pitchFamily="2" charset="-122"/>
              </a:rPr>
              <a:t>3  </a:t>
            </a:r>
            <a:r>
              <a:rPr lang="zh-CN" altLang="en-US" sz="2600">
                <a:solidFill>
                  <a:srgbClr val="800000"/>
                </a:solidFill>
                <a:latin typeface="黑体" pitchFamily="2" charset="-122"/>
                <a:ea typeface="黑体" pitchFamily="2" charset="-122"/>
              </a:rPr>
              <a:t>计算机硬件系统的组织</a:t>
            </a:r>
            <a:r>
              <a:rPr lang="zh-CN" altLang="en-US">
                <a:solidFill>
                  <a:srgbClr val="800000"/>
                </a:solidFill>
                <a:latin typeface="黑体" pitchFamily="2" charset="-122"/>
                <a:ea typeface="黑体" pitchFamily="2" charset="-122"/>
              </a:rPr>
              <a:t> </a:t>
            </a:r>
            <a:endParaRPr lang="en-US" altLang="zh-CN">
              <a:solidFill>
                <a:srgbClr val="800000"/>
              </a:solidFill>
              <a:latin typeface="黑体" pitchFamily="2" charset="-122"/>
              <a:ea typeface="黑体" pitchFamily="2" charset="-122"/>
            </a:endParaRPr>
          </a:p>
        </p:txBody>
      </p:sp>
      <p:sp>
        <p:nvSpPr>
          <p:cNvPr id="30723" name="Rectangle 3"/>
          <p:cNvSpPr>
            <a:spLocks noChangeArrowheads="1"/>
          </p:cNvSpPr>
          <p:nvPr/>
        </p:nvSpPr>
        <p:spPr bwMode="auto">
          <a:xfrm>
            <a:off x="596900" y="1137757"/>
            <a:ext cx="8547100" cy="407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00000"/>
              </a:lnSpc>
              <a:spcBef>
                <a:spcPct val="0"/>
              </a:spcBef>
              <a:buClrTx/>
              <a:buFontTx/>
              <a:buNone/>
            </a:pPr>
            <a:r>
              <a:rPr lang="en-US" altLang="zh-CN" dirty="0">
                <a:solidFill>
                  <a:srgbClr val="800000"/>
                </a:solidFill>
                <a:latin typeface="黑体" pitchFamily="2" charset="-122"/>
                <a:ea typeface="黑体" pitchFamily="2" charset="-122"/>
              </a:rPr>
              <a:t>1</a:t>
            </a:r>
            <a:r>
              <a:rPr lang="zh-CN" altLang="en-US" dirty="0">
                <a:solidFill>
                  <a:srgbClr val="800000"/>
                </a:solidFill>
                <a:latin typeface="黑体" pitchFamily="2" charset="-122"/>
                <a:ea typeface="黑体" pitchFamily="2" charset="-122"/>
              </a:rPr>
              <a:t>.</a:t>
            </a:r>
            <a:r>
              <a:rPr lang="en-US" altLang="zh-CN" dirty="0">
                <a:solidFill>
                  <a:srgbClr val="800000"/>
                </a:solidFill>
                <a:latin typeface="黑体" pitchFamily="2" charset="-122"/>
                <a:ea typeface="黑体" pitchFamily="2" charset="-122"/>
              </a:rPr>
              <a:t>3.2 </a:t>
            </a:r>
            <a:r>
              <a:rPr lang="zh-CN" altLang="en-US" dirty="0">
                <a:solidFill>
                  <a:srgbClr val="800000"/>
                </a:solidFill>
                <a:latin typeface="黑体" pitchFamily="2" charset="-122"/>
                <a:ea typeface="黑体" pitchFamily="2" charset="-122"/>
              </a:rPr>
              <a:t>以总线为基础的典型系统结构（早期） </a:t>
            </a:r>
          </a:p>
        </p:txBody>
      </p:sp>
      <p:pic>
        <p:nvPicPr>
          <p:cNvPr id="30724" name="Picture 2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4725" y="1617182"/>
            <a:ext cx="7235825"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pic>
      <p:sp>
        <p:nvSpPr>
          <p:cNvPr id="30725" name="Rectangle 9"/>
          <p:cNvSpPr>
            <a:spLocks noChangeArrowheads="1"/>
          </p:cNvSpPr>
          <p:nvPr/>
        </p:nvSpPr>
        <p:spPr bwMode="auto">
          <a:xfrm>
            <a:off x="20637" y="3584290"/>
            <a:ext cx="91440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80000"/>
              </a:lnSpc>
              <a:spcBef>
                <a:spcPct val="0"/>
              </a:spcBef>
              <a:spcAft>
                <a:spcPct val="50000"/>
              </a:spcAft>
              <a:buClrTx/>
              <a:buFontTx/>
              <a:buNone/>
            </a:pPr>
            <a:r>
              <a:rPr lang="zh-CN" altLang="en-US" dirty="0">
                <a:solidFill>
                  <a:srgbClr val="000080"/>
                </a:solidFill>
                <a:latin typeface="黑体" pitchFamily="2" charset="-122"/>
                <a:ea typeface="黑体" pitchFamily="2" charset="-122"/>
              </a:rPr>
              <a:t>    系统总线可以细分为：</a:t>
            </a:r>
          </a:p>
          <a:p>
            <a:pPr algn="just">
              <a:lnSpc>
                <a:spcPct val="80000"/>
              </a:lnSpc>
              <a:spcBef>
                <a:spcPct val="0"/>
              </a:spcBef>
              <a:spcAft>
                <a:spcPct val="50000"/>
              </a:spcAft>
              <a:buClrTx/>
              <a:buFontTx/>
              <a:buNone/>
            </a:pPr>
            <a:r>
              <a:rPr lang="zh-CN" altLang="en-US" dirty="0">
                <a:solidFill>
                  <a:srgbClr val="000080"/>
                </a:solidFill>
                <a:latin typeface="黑体" pitchFamily="2" charset="-122"/>
                <a:ea typeface="黑体" pitchFamily="2" charset="-122"/>
              </a:rPr>
              <a:t>    </a:t>
            </a:r>
            <a:r>
              <a:rPr lang="zh-CN" altLang="en-US" dirty="0">
                <a:solidFill>
                  <a:srgbClr val="FF0000"/>
                </a:solidFill>
                <a:latin typeface="黑体" pitchFamily="2" charset="-122"/>
                <a:ea typeface="黑体" pitchFamily="2" charset="-122"/>
              </a:rPr>
              <a:t>地址总线</a:t>
            </a:r>
            <a:r>
              <a:rPr lang="zh-CN" altLang="en-US" dirty="0">
                <a:solidFill>
                  <a:srgbClr val="000080"/>
                </a:solidFill>
                <a:latin typeface="黑体" pitchFamily="2" charset="-122"/>
                <a:ea typeface="黑体" pitchFamily="2" charset="-122"/>
              </a:rPr>
              <a:t>：用于传输</a:t>
            </a:r>
            <a:r>
              <a:rPr lang="zh-CN" altLang="en-US" dirty="0">
                <a:solidFill>
                  <a:srgbClr val="FF0000"/>
                </a:solidFill>
                <a:latin typeface="黑体" pitchFamily="2" charset="-122"/>
                <a:ea typeface="黑体" pitchFamily="2" charset="-122"/>
              </a:rPr>
              <a:t>地址</a:t>
            </a:r>
            <a:r>
              <a:rPr lang="zh-CN" altLang="en-US" dirty="0">
                <a:solidFill>
                  <a:srgbClr val="000080"/>
                </a:solidFill>
                <a:latin typeface="黑体" pitchFamily="2" charset="-122"/>
                <a:ea typeface="黑体" pitchFamily="2" charset="-122"/>
              </a:rPr>
              <a:t>信息；</a:t>
            </a:r>
          </a:p>
          <a:p>
            <a:pPr algn="just">
              <a:lnSpc>
                <a:spcPct val="80000"/>
              </a:lnSpc>
              <a:spcBef>
                <a:spcPct val="0"/>
              </a:spcBef>
              <a:spcAft>
                <a:spcPct val="50000"/>
              </a:spcAft>
              <a:buClrTx/>
              <a:buFontTx/>
              <a:buNone/>
            </a:pPr>
            <a:r>
              <a:rPr lang="zh-CN" altLang="en-US" dirty="0">
                <a:solidFill>
                  <a:srgbClr val="000080"/>
                </a:solidFill>
                <a:latin typeface="黑体" pitchFamily="2" charset="-122"/>
                <a:ea typeface="黑体" pitchFamily="2" charset="-122"/>
              </a:rPr>
              <a:t>    </a:t>
            </a:r>
            <a:r>
              <a:rPr lang="zh-CN" altLang="en-US" dirty="0">
                <a:solidFill>
                  <a:srgbClr val="FF0000"/>
                </a:solidFill>
                <a:latin typeface="黑体" pitchFamily="2" charset="-122"/>
                <a:ea typeface="黑体" pitchFamily="2" charset="-122"/>
              </a:rPr>
              <a:t>数据总线</a:t>
            </a:r>
            <a:r>
              <a:rPr lang="zh-CN" altLang="en-US" dirty="0">
                <a:solidFill>
                  <a:srgbClr val="000080"/>
                </a:solidFill>
                <a:latin typeface="黑体" pitchFamily="2" charset="-122"/>
                <a:ea typeface="黑体" pitchFamily="2" charset="-122"/>
              </a:rPr>
              <a:t>：</a:t>
            </a:r>
            <a:r>
              <a:rPr lang="zh-CN" altLang="en-US" dirty="0">
                <a:solidFill>
                  <a:srgbClr val="FF0000"/>
                </a:solidFill>
                <a:latin typeface="黑体" pitchFamily="2" charset="-122"/>
                <a:ea typeface="黑体" pitchFamily="2" charset="-122"/>
              </a:rPr>
              <a:t>双向</a:t>
            </a:r>
            <a:r>
              <a:rPr lang="zh-CN" altLang="en-US" dirty="0">
                <a:solidFill>
                  <a:srgbClr val="000080"/>
                </a:solidFill>
                <a:latin typeface="黑体" pitchFamily="2" charset="-122"/>
                <a:ea typeface="黑体" pitchFamily="2" charset="-122"/>
              </a:rPr>
              <a:t>的多根信号线，用于传输</a:t>
            </a:r>
            <a:r>
              <a:rPr lang="zh-CN" altLang="en-US" dirty="0">
                <a:solidFill>
                  <a:srgbClr val="FF0000"/>
                </a:solidFill>
                <a:latin typeface="黑体" pitchFamily="2" charset="-122"/>
                <a:ea typeface="黑体" pitchFamily="2" charset="-122"/>
              </a:rPr>
              <a:t>数据</a:t>
            </a:r>
            <a:r>
              <a:rPr lang="zh-CN" altLang="en-US" dirty="0">
                <a:solidFill>
                  <a:srgbClr val="000080"/>
                </a:solidFill>
                <a:latin typeface="黑体" pitchFamily="2" charset="-122"/>
                <a:ea typeface="黑体" pitchFamily="2" charset="-122"/>
              </a:rPr>
              <a:t>信息；</a:t>
            </a:r>
          </a:p>
          <a:p>
            <a:pPr algn="just">
              <a:lnSpc>
                <a:spcPct val="80000"/>
              </a:lnSpc>
              <a:spcBef>
                <a:spcPct val="0"/>
              </a:spcBef>
              <a:spcAft>
                <a:spcPct val="50000"/>
              </a:spcAft>
              <a:buClrTx/>
              <a:buFontTx/>
              <a:buNone/>
            </a:pPr>
            <a:r>
              <a:rPr lang="zh-CN" altLang="en-US" dirty="0">
                <a:solidFill>
                  <a:srgbClr val="000080"/>
                </a:solidFill>
                <a:latin typeface="黑体" pitchFamily="2" charset="-122"/>
                <a:ea typeface="黑体" pitchFamily="2" charset="-122"/>
              </a:rPr>
              <a:t>    </a:t>
            </a:r>
            <a:r>
              <a:rPr lang="zh-CN" altLang="en-US" dirty="0">
                <a:solidFill>
                  <a:srgbClr val="FF0000"/>
                </a:solidFill>
                <a:latin typeface="黑体" pitchFamily="2" charset="-122"/>
                <a:ea typeface="黑体" pitchFamily="2" charset="-122"/>
              </a:rPr>
              <a:t>控制总线</a:t>
            </a:r>
            <a:r>
              <a:rPr lang="zh-CN" altLang="en-US" dirty="0">
                <a:solidFill>
                  <a:srgbClr val="000080"/>
                </a:solidFill>
                <a:latin typeface="黑体" pitchFamily="2" charset="-122"/>
                <a:ea typeface="黑体" pitchFamily="2" charset="-122"/>
              </a:rPr>
              <a:t>：传输控制信息，包括</a:t>
            </a:r>
            <a:r>
              <a:rPr lang="en-US" altLang="zh-CN" dirty="0">
                <a:solidFill>
                  <a:srgbClr val="000080"/>
                </a:solidFill>
                <a:latin typeface="黑体" pitchFamily="2" charset="-122"/>
                <a:ea typeface="黑体" pitchFamily="2" charset="-122"/>
              </a:rPr>
              <a:t>CPU</a:t>
            </a:r>
            <a:r>
              <a:rPr lang="zh-CN" altLang="en-US" dirty="0">
                <a:solidFill>
                  <a:srgbClr val="000080"/>
                </a:solidFill>
                <a:latin typeface="黑体" pitchFamily="2" charset="-122"/>
                <a:ea typeface="黑体" pitchFamily="2" charset="-122"/>
              </a:rPr>
              <a:t>送出的</a:t>
            </a:r>
            <a:r>
              <a:rPr lang="zh-CN" altLang="en-US" dirty="0">
                <a:solidFill>
                  <a:srgbClr val="FF0000"/>
                </a:solidFill>
                <a:latin typeface="黑体" pitchFamily="2" charset="-122"/>
                <a:ea typeface="黑体" pitchFamily="2" charset="-122"/>
              </a:rPr>
              <a:t>控制命令 </a:t>
            </a:r>
          </a:p>
          <a:p>
            <a:pPr algn="just">
              <a:lnSpc>
                <a:spcPct val="80000"/>
              </a:lnSpc>
              <a:spcBef>
                <a:spcPct val="0"/>
              </a:spcBef>
              <a:spcAft>
                <a:spcPct val="50000"/>
              </a:spcAft>
              <a:buClrTx/>
              <a:buFontTx/>
              <a:buNone/>
            </a:pPr>
            <a:r>
              <a:rPr lang="zh-CN" altLang="en-US" dirty="0">
                <a:solidFill>
                  <a:srgbClr val="000080"/>
                </a:solidFill>
                <a:latin typeface="黑体" pitchFamily="2" charset="-122"/>
                <a:ea typeface="黑体" pitchFamily="2" charset="-122"/>
              </a:rPr>
              <a:t>             和主存（或外设）返回</a:t>
            </a:r>
            <a:r>
              <a:rPr lang="en-US" altLang="zh-CN" dirty="0">
                <a:solidFill>
                  <a:srgbClr val="000080"/>
                </a:solidFill>
                <a:latin typeface="黑体" pitchFamily="2" charset="-122"/>
                <a:ea typeface="黑体" pitchFamily="2" charset="-122"/>
              </a:rPr>
              <a:t>CPU</a:t>
            </a:r>
            <a:r>
              <a:rPr lang="zh-CN" altLang="en-US" dirty="0">
                <a:solidFill>
                  <a:srgbClr val="000080"/>
                </a:solidFill>
                <a:latin typeface="黑体" pitchFamily="2" charset="-122"/>
                <a:ea typeface="黑体" pitchFamily="2" charset="-122"/>
              </a:rPr>
              <a:t>的</a:t>
            </a:r>
            <a:r>
              <a:rPr lang="zh-CN" altLang="en-US" dirty="0">
                <a:solidFill>
                  <a:srgbClr val="FF0000"/>
                </a:solidFill>
                <a:latin typeface="黑体" pitchFamily="2" charset="-122"/>
                <a:ea typeface="黑体" pitchFamily="2" charset="-122"/>
              </a:rPr>
              <a:t>反馈</a:t>
            </a:r>
            <a:r>
              <a:rPr lang="zh-CN" altLang="en-US" dirty="0">
                <a:solidFill>
                  <a:srgbClr val="000080"/>
                </a:solidFill>
                <a:latin typeface="黑体" pitchFamily="2" charset="-122"/>
                <a:ea typeface="黑体" pitchFamily="2" charset="-122"/>
              </a:rPr>
              <a:t>信号。 </a:t>
            </a:r>
            <a:endParaRPr lang="zh-CN" altLang="en-US" dirty="0">
              <a:solidFill>
                <a:schemeClr val="tx1"/>
              </a:solidFill>
              <a:latin typeface="黑体" pitchFamily="2" charset="-122"/>
              <a:ea typeface="黑体"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ChangeArrowheads="1"/>
          </p:cNvSpPr>
          <p:nvPr/>
        </p:nvSpPr>
        <p:spPr bwMode="auto">
          <a:xfrm>
            <a:off x="596900" y="992188"/>
            <a:ext cx="8547100" cy="407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00000"/>
              </a:lnSpc>
              <a:spcBef>
                <a:spcPct val="0"/>
              </a:spcBef>
              <a:buClrTx/>
              <a:buFontTx/>
              <a:buNone/>
            </a:pPr>
            <a:r>
              <a:rPr lang="en-US" altLang="zh-CN">
                <a:solidFill>
                  <a:srgbClr val="800000"/>
                </a:solidFill>
                <a:latin typeface="黑体" pitchFamily="2" charset="-122"/>
                <a:ea typeface="黑体" pitchFamily="2" charset="-122"/>
              </a:rPr>
              <a:t>1.3.3</a:t>
            </a:r>
            <a:r>
              <a:rPr lang="zh-CN" altLang="en-US">
                <a:solidFill>
                  <a:srgbClr val="800000"/>
                </a:solidFill>
                <a:latin typeface="黑体" pitchFamily="2" charset="-122"/>
                <a:ea typeface="黑体" pitchFamily="2" charset="-122"/>
              </a:rPr>
              <a:t>. 现代流行的多级总线结构</a:t>
            </a:r>
          </a:p>
        </p:txBody>
      </p:sp>
      <p:pic>
        <p:nvPicPr>
          <p:cNvPr id="31747" name="Picture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8669" y="2443647"/>
            <a:ext cx="6562743" cy="4136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Rectangle 2"/>
          <p:cNvSpPr>
            <a:spLocks noChangeArrowheads="1"/>
          </p:cNvSpPr>
          <p:nvPr/>
        </p:nvSpPr>
        <p:spPr bwMode="auto">
          <a:xfrm>
            <a:off x="0" y="45402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gn="ctr">
              <a:lnSpc>
                <a:spcPct val="100000"/>
              </a:lnSpc>
              <a:spcBef>
                <a:spcPct val="0"/>
              </a:spcBef>
              <a:buClrTx/>
              <a:buFontTx/>
              <a:buNone/>
            </a:pPr>
            <a:r>
              <a:rPr lang="zh-CN" altLang="en-US" sz="2600">
                <a:solidFill>
                  <a:srgbClr val="800000"/>
                </a:solidFill>
                <a:latin typeface="黑体" pitchFamily="2" charset="-122"/>
                <a:ea typeface="黑体" pitchFamily="2" charset="-122"/>
              </a:rPr>
              <a:t>§1.</a:t>
            </a:r>
            <a:r>
              <a:rPr lang="en-US" altLang="zh-CN" sz="2600">
                <a:solidFill>
                  <a:srgbClr val="800000"/>
                </a:solidFill>
                <a:latin typeface="黑体" pitchFamily="2" charset="-122"/>
                <a:ea typeface="黑体" pitchFamily="2" charset="-122"/>
              </a:rPr>
              <a:t>3  </a:t>
            </a:r>
            <a:r>
              <a:rPr lang="zh-CN" altLang="en-US" sz="2600">
                <a:solidFill>
                  <a:srgbClr val="800000"/>
                </a:solidFill>
                <a:latin typeface="黑体" pitchFamily="2" charset="-122"/>
                <a:ea typeface="黑体" pitchFamily="2" charset="-122"/>
              </a:rPr>
              <a:t>计算机硬件系统的组织</a:t>
            </a:r>
            <a:r>
              <a:rPr lang="zh-CN" altLang="en-US">
                <a:solidFill>
                  <a:srgbClr val="800000"/>
                </a:solidFill>
                <a:latin typeface="黑体" pitchFamily="2" charset="-122"/>
                <a:ea typeface="黑体" pitchFamily="2" charset="-122"/>
              </a:rPr>
              <a:t> </a:t>
            </a:r>
            <a:endParaRPr lang="en-US" altLang="zh-CN">
              <a:solidFill>
                <a:srgbClr val="800000"/>
              </a:solidFill>
              <a:latin typeface="黑体" pitchFamily="2" charset="-122"/>
              <a:ea typeface="黑体" pitchFamily="2" charset="-122"/>
            </a:endParaRPr>
          </a:p>
        </p:txBody>
      </p:sp>
      <p:sp>
        <p:nvSpPr>
          <p:cNvPr id="3" name="文本框 2">
            <a:extLst>
              <a:ext uri="{FF2B5EF4-FFF2-40B4-BE49-F238E27FC236}">
                <a16:creationId xmlns:a16="http://schemas.microsoft.com/office/drawing/2014/main" id="{DD52BAB9-09D2-3042-19BC-57A804F156AA}"/>
              </a:ext>
            </a:extLst>
          </p:cNvPr>
          <p:cNvSpPr txBox="1"/>
          <p:nvPr/>
        </p:nvSpPr>
        <p:spPr>
          <a:xfrm>
            <a:off x="1083924" y="1587124"/>
            <a:ext cx="7505272" cy="757130"/>
          </a:xfrm>
          <a:prstGeom prst="rect">
            <a:avLst/>
          </a:prstGeom>
          <a:noFill/>
        </p:spPr>
        <p:txBody>
          <a:bodyPr wrap="square">
            <a:spAutoFit/>
          </a:bodyPr>
          <a:lstStyle/>
          <a:p>
            <a:r>
              <a:rPr lang="zh-CN" altLang="en-US" dirty="0">
                <a:solidFill>
                  <a:srgbClr val="000080"/>
                </a:solidFill>
                <a:latin typeface="黑体" pitchFamily="2" charset="-122"/>
                <a:ea typeface="黑体" pitchFamily="2" charset="-122"/>
              </a:rPr>
              <a:t>    现代流行的微机采用与</a:t>
            </a:r>
            <a:r>
              <a:rPr lang="en-US" altLang="zh-CN" dirty="0">
                <a:solidFill>
                  <a:srgbClr val="000080"/>
                </a:solidFill>
                <a:latin typeface="黑体" pitchFamily="2" charset="-122"/>
                <a:ea typeface="黑体" pitchFamily="2" charset="-122"/>
              </a:rPr>
              <a:t>CPU</a:t>
            </a:r>
            <a:r>
              <a:rPr lang="zh-CN" altLang="en-US" dirty="0">
                <a:solidFill>
                  <a:srgbClr val="000080"/>
                </a:solidFill>
                <a:latin typeface="黑体" pitchFamily="2" charset="-122"/>
                <a:ea typeface="黑体" pitchFamily="2" charset="-122"/>
              </a:rPr>
              <a:t>直接连接的是</a:t>
            </a:r>
            <a:r>
              <a:rPr lang="zh-CN" altLang="en-US" dirty="0">
                <a:solidFill>
                  <a:srgbClr val="FF0000"/>
                </a:solidFill>
                <a:latin typeface="黑体" pitchFamily="2" charset="-122"/>
                <a:ea typeface="黑体" pitchFamily="2" charset="-122"/>
              </a:rPr>
              <a:t>前端总线</a:t>
            </a:r>
            <a:r>
              <a:rPr lang="zh-CN" altLang="en-US" dirty="0">
                <a:solidFill>
                  <a:srgbClr val="000080"/>
                </a:solidFill>
                <a:latin typeface="黑体" pitchFamily="2" charset="-122"/>
                <a:ea typeface="黑体" pitchFamily="2" charset="-122"/>
              </a:rPr>
              <a:t>，整个系统是</a:t>
            </a:r>
            <a:r>
              <a:rPr lang="zh-CN" altLang="en-US" dirty="0">
                <a:solidFill>
                  <a:srgbClr val="FF0000"/>
                </a:solidFill>
                <a:latin typeface="黑体" pitchFamily="2" charset="-122"/>
                <a:ea typeface="黑体" pitchFamily="2" charset="-122"/>
              </a:rPr>
              <a:t>多级结构的总线 </a:t>
            </a:r>
            <a:r>
              <a:rPr lang="zh-CN" altLang="en-US" dirty="0">
                <a:solidFill>
                  <a:srgbClr val="000080"/>
                </a:solidFill>
                <a:latin typeface="黑体" pitchFamily="2" charset="-122"/>
                <a:ea typeface="黑体" pitchFamily="2" charset="-122"/>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3"/>
          <p:cNvSpPr>
            <a:spLocks noChangeArrowheads="1"/>
          </p:cNvSpPr>
          <p:nvPr/>
        </p:nvSpPr>
        <p:spPr bwMode="auto">
          <a:xfrm>
            <a:off x="534988" y="301625"/>
            <a:ext cx="8331200" cy="47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20000"/>
              </a:lnSpc>
              <a:spcBef>
                <a:spcPct val="0"/>
              </a:spcBef>
              <a:buClrTx/>
              <a:buFontTx/>
              <a:buNone/>
            </a:pPr>
            <a:r>
              <a:rPr lang="zh-CN" altLang="en-US" dirty="0">
                <a:solidFill>
                  <a:srgbClr val="FF0000"/>
                </a:solidFill>
                <a:latin typeface="黑体" pitchFamily="2" charset="-122"/>
                <a:ea typeface="黑体" pitchFamily="2" charset="-122"/>
              </a:rPr>
              <a:t>例：</a:t>
            </a:r>
            <a:r>
              <a:rPr lang="zh-CN" altLang="en-US" dirty="0">
                <a:solidFill>
                  <a:srgbClr val="000080"/>
                </a:solidFill>
                <a:latin typeface="黑体" pitchFamily="2" charset="-122"/>
                <a:ea typeface="黑体" pitchFamily="2" charset="-122"/>
              </a:rPr>
              <a:t>奔腾</a:t>
            </a:r>
            <a:r>
              <a:rPr lang="en-US" altLang="zh-CN" dirty="0">
                <a:solidFill>
                  <a:srgbClr val="000080"/>
                </a:solidFill>
                <a:latin typeface="黑体" pitchFamily="2" charset="-122"/>
                <a:ea typeface="黑体" pitchFamily="2" charset="-122"/>
              </a:rPr>
              <a:t>4</a:t>
            </a:r>
            <a:r>
              <a:rPr lang="zh-CN" altLang="en-US" dirty="0">
                <a:solidFill>
                  <a:srgbClr val="000080"/>
                </a:solidFill>
                <a:latin typeface="黑体" pitchFamily="2" charset="-122"/>
                <a:ea typeface="黑体" pitchFamily="2" charset="-122"/>
              </a:rPr>
              <a:t>和</a:t>
            </a:r>
            <a:r>
              <a:rPr lang="en-US" altLang="zh-CN" dirty="0">
                <a:solidFill>
                  <a:srgbClr val="000080"/>
                </a:solidFill>
                <a:latin typeface="黑体" pitchFamily="2" charset="-122"/>
                <a:ea typeface="黑体" pitchFamily="2" charset="-122"/>
              </a:rPr>
              <a:t>Intel845</a:t>
            </a:r>
            <a:r>
              <a:rPr lang="zh-CN" altLang="en-US" dirty="0">
                <a:solidFill>
                  <a:srgbClr val="000080"/>
                </a:solidFill>
                <a:latin typeface="黑体" pitchFamily="2" charset="-122"/>
                <a:ea typeface="黑体" pitchFamily="2" charset="-122"/>
              </a:rPr>
              <a:t>芯片组的结构框图</a:t>
            </a:r>
          </a:p>
        </p:txBody>
      </p:sp>
      <p:pic>
        <p:nvPicPr>
          <p:cNvPr id="32771" name="Picture 7"/>
          <p:cNvPicPr>
            <a:picLocks noChangeAspect="1" noChangeArrowheads="1"/>
          </p:cNvPicPr>
          <p:nvPr/>
        </p:nvPicPr>
        <p:blipFill>
          <a:blip r:embed="rId2">
            <a:extLst>
              <a:ext uri="{28A0092B-C50C-407E-A947-70E740481C1C}">
                <a14:useLocalDpi xmlns:a14="http://schemas.microsoft.com/office/drawing/2010/main" val="0"/>
              </a:ext>
            </a:extLst>
          </a:blip>
          <a:srcRect t="2048" b="6017"/>
          <a:stretch>
            <a:fillRect/>
          </a:stretch>
        </p:blipFill>
        <p:spPr bwMode="auto">
          <a:xfrm>
            <a:off x="931863" y="817563"/>
            <a:ext cx="7327900" cy="570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3"/>
          <p:cNvSpPr>
            <a:spLocks noChangeArrowheads="1"/>
          </p:cNvSpPr>
          <p:nvPr/>
        </p:nvSpPr>
        <p:spPr bwMode="auto">
          <a:xfrm>
            <a:off x="596900" y="560388"/>
            <a:ext cx="8547100" cy="407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tIns="38088" bIns="0">
            <a:spAutoFit/>
          </a:bodyPr>
          <a:lstStyle/>
          <a:p>
            <a:pPr>
              <a:lnSpc>
                <a:spcPct val="100000"/>
              </a:lnSpc>
              <a:spcBef>
                <a:spcPct val="0"/>
              </a:spcBef>
              <a:buClrTx/>
              <a:buFontTx/>
              <a:buNone/>
            </a:pPr>
            <a:r>
              <a:rPr lang="en-US" altLang="zh-CN">
                <a:solidFill>
                  <a:srgbClr val="800000"/>
                </a:solidFill>
                <a:latin typeface="黑体" pitchFamily="2" charset="-122"/>
                <a:ea typeface="黑体" pitchFamily="2" charset="-122"/>
              </a:rPr>
              <a:t>1.3.4.</a:t>
            </a:r>
            <a:r>
              <a:rPr lang="zh-CN" altLang="en-US">
                <a:solidFill>
                  <a:srgbClr val="800000"/>
                </a:solidFill>
                <a:latin typeface="黑体" pitchFamily="2" charset="-122"/>
                <a:ea typeface="黑体" pitchFamily="2" charset="-122"/>
              </a:rPr>
              <a:t>以通道为基础的结构（大、中型机的典型结构）  </a:t>
            </a:r>
          </a:p>
        </p:txBody>
      </p:sp>
      <p:grpSp>
        <p:nvGrpSpPr>
          <p:cNvPr id="33795" name="Group 42"/>
          <p:cNvGrpSpPr>
            <a:grpSpLocks/>
          </p:cNvGrpSpPr>
          <p:nvPr/>
        </p:nvGrpSpPr>
        <p:grpSpPr bwMode="auto">
          <a:xfrm>
            <a:off x="1352550" y="1822450"/>
            <a:ext cx="6773863" cy="3336925"/>
            <a:chOff x="811" y="1056"/>
            <a:chExt cx="4267" cy="2128"/>
          </a:xfrm>
        </p:grpSpPr>
        <p:sp>
          <p:nvSpPr>
            <p:cNvPr id="33798" name="Rectangle 43"/>
            <p:cNvSpPr>
              <a:spLocks noChangeArrowheads="1"/>
            </p:cNvSpPr>
            <p:nvPr/>
          </p:nvSpPr>
          <p:spPr bwMode="auto">
            <a:xfrm>
              <a:off x="3371" y="1121"/>
              <a:ext cx="1707" cy="2054"/>
            </a:xfrm>
            <a:prstGeom prst="rect">
              <a:avLst/>
            </a:prstGeom>
            <a:solidFill>
              <a:srgbClr val="FFFFFF"/>
            </a:solidFill>
            <a:ln w="12700">
              <a:solidFill>
                <a:srgbClr val="7A48C4"/>
              </a:solidFill>
              <a:prstDash val="dash"/>
              <a:miter lim="800000"/>
              <a:headEnd type="none" w="sm" len="sm"/>
              <a:tailEnd type="none" w="sm" len="sm"/>
            </a:ln>
          </p:spPr>
          <p:txBody>
            <a:bodyPr wrap="none" anchor="ctr"/>
            <a:lstStyle/>
            <a:p>
              <a:pPr algn="ctr">
                <a:spcBef>
                  <a:spcPct val="20000"/>
                </a:spcBef>
              </a:pPr>
              <a:endParaRPr lang="zh-CN" altLang="en-US" sz="2600">
                <a:latin typeface="黑体" pitchFamily="2" charset="-122"/>
                <a:ea typeface="黑体" pitchFamily="2" charset="-122"/>
              </a:endParaRPr>
            </a:p>
          </p:txBody>
        </p:sp>
        <p:sp>
          <p:nvSpPr>
            <p:cNvPr id="33799" name="Text Box 44"/>
            <p:cNvSpPr txBox="1">
              <a:spLocks noChangeArrowheads="1"/>
            </p:cNvSpPr>
            <p:nvPr/>
          </p:nvSpPr>
          <p:spPr bwMode="auto">
            <a:xfrm>
              <a:off x="3933" y="1056"/>
              <a:ext cx="599"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sz="2000">
                  <a:solidFill>
                    <a:srgbClr val="FF6600"/>
                  </a:solidFill>
                  <a:latin typeface="黑体" pitchFamily="2" charset="-122"/>
                  <a:ea typeface="黑体" pitchFamily="2" charset="-122"/>
                </a:rPr>
                <a:t>第四级</a:t>
              </a:r>
            </a:p>
          </p:txBody>
        </p:sp>
        <p:sp>
          <p:nvSpPr>
            <p:cNvPr id="33800" name="Rectangle 45"/>
            <p:cNvSpPr>
              <a:spLocks noChangeArrowheads="1"/>
            </p:cNvSpPr>
            <p:nvPr/>
          </p:nvSpPr>
          <p:spPr bwMode="auto">
            <a:xfrm>
              <a:off x="2518" y="1121"/>
              <a:ext cx="853" cy="2054"/>
            </a:xfrm>
            <a:prstGeom prst="rect">
              <a:avLst/>
            </a:prstGeom>
            <a:solidFill>
              <a:srgbClr val="FFFFFF"/>
            </a:solidFill>
            <a:ln w="12700">
              <a:solidFill>
                <a:srgbClr val="7A48C4"/>
              </a:solidFill>
              <a:prstDash val="dash"/>
              <a:miter lim="800000"/>
              <a:headEnd type="none" w="sm" len="sm"/>
              <a:tailEnd type="none" w="sm" len="sm"/>
            </a:ln>
          </p:spPr>
          <p:txBody>
            <a:bodyPr wrap="none" anchor="ctr"/>
            <a:lstStyle/>
            <a:p>
              <a:pPr algn="ctr">
                <a:spcBef>
                  <a:spcPct val="20000"/>
                </a:spcBef>
              </a:pPr>
              <a:endParaRPr lang="zh-CN" altLang="en-US" sz="2600">
                <a:latin typeface="黑体" pitchFamily="2" charset="-122"/>
                <a:ea typeface="黑体" pitchFamily="2" charset="-122"/>
              </a:endParaRPr>
            </a:p>
          </p:txBody>
        </p:sp>
        <p:sp>
          <p:nvSpPr>
            <p:cNvPr id="33801" name="Rectangle 46"/>
            <p:cNvSpPr>
              <a:spLocks noChangeArrowheads="1"/>
            </p:cNvSpPr>
            <p:nvPr/>
          </p:nvSpPr>
          <p:spPr bwMode="auto">
            <a:xfrm>
              <a:off x="1746" y="1121"/>
              <a:ext cx="772" cy="2054"/>
            </a:xfrm>
            <a:prstGeom prst="rect">
              <a:avLst/>
            </a:prstGeom>
            <a:solidFill>
              <a:srgbClr val="FFFFFF"/>
            </a:solidFill>
            <a:ln w="12700">
              <a:solidFill>
                <a:srgbClr val="7A48C4"/>
              </a:solidFill>
              <a:prstDash val="dash"/>
              <a:miter lim="800000"/>
              <a:headEnd type="none" w="sm" len="sm"/>
              <a:tailEnd type="none" w="sm" len="sm"/>
            </a:ln>
          </p:spPr>
          <p:txBody>
            <a:bodyPr wrap="none" anchor="ctr"/>
            <a:lstStyle/>
            <a:p>
              <a:pPr algn="ctr">
                <a:spcBef>
                  <a:spcPct val="20000"/>
                </a:spcBef>
              </a:pPr>
              <a:endParaRPr lang="zh-CN" altLang="en-US" sz="2600">
                <a:latin typeface="黑体" pitchFamily="2" charset="-122"/>
                <a:ea typeface="黑体" pitchFamily="2" charset="-122"/>
              </a:endParaRPr>
            </a:p>
          </p:txBody>
        </p:sp>
        <p:sp>
          <p:nvSpPr>
            <p:cNvPr id="33802" name="Text Box 47"/>
            <p:cNvSpPr txBox="1">
              <a:spLocks noChangeArrowheads="1"/>
            </p:cNvSpPr>
            <p:nvPr/>
          </p:nvSpPr>
          <p:spPr bwMode="auto">
            <a:xfrm>
              <a:off x="1860" y="1056"/>
              <a:ext cx="599"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sz="2000">
                  <a:solidFill>
                    <a:srgbClr val="FF6600"/>
                  </a:solidFill>
                  <a:latin typeface="黑体" pitchFamily="2" charset="-122"/>
                  <a:ea typeface="黑体" pitchFamily="2" charset="-122"/>
                </a:rPr>
                <a:t>第二级</a:t>
              </a:r>
            </a:p>
          </p:txBody>
        </p:sp>
        <p:sp>
          <p:nvSpPr>
            <p:cNvPr id="33803" name="Rectangle 48"/>
            <p:cNvSpPr>
              <a:spLocks noChangeArrowheads="1"/>
            </p:cNvSpPr>
            <p:nvPr/>
          </p:nvSpPr>
          <p:spPr bwMode="auto">
            <a:xfrm>
              <a:off x="811" y="1121"/>
              <a:ext cx="935" cy="2054"/>
            </a:xfrm>
            <a:prstGeom prst="rect">
              <a:avLst/>
            </a:prstGeom>
            <a:solidFill>
              <a:srgbClr val="FFFFFF"/>
            </a:solidFill>
            <a:ln w="12700">
              <a:solidFill>
                <a:srgbClr val="7A48C4"/>
              </a:solidFill>
              <a:prstDash val="dash"/>
              <a:miter lim="800000"/>
              <a:headEnd type="none" w="sm" len="sm"/>
              <a:tailEnd type="none" w="sm" len="sm"/>
            </a:ln>
          </p:spPr>
          <p:txBody>
            <a:bodyPr wrap="none" anchor="ctr"/>
            <a:lstStyle/>
            <a:p>
              <a:pPr algn="ctr">
                <a:spcBef>
                  <a:spcPct val="20000"/>
                </a:spcBef>
              </a:pPr>
              <a:endParaRPr lang="zh-CN" altLang="en-US" sz="2600">
                <a:latin typeface="黑体" pitchFamily="2" charset="-122"/>
                <a:ea typeface="黑体" pitchFamily="2" charset="-122"/>
              </a:endParaRPr>
            </a:p>
          </p:txBody>
        </p:sp>
        <p:sp>
          <p:nvSpPr>
            <p:cNvPr id="33804" name="Rectangle 49"/>
            <p:cNvSpPr>
              <a:spLocks noChangeArrowheads="1"/>
            </p:cNvSpPr>
            <p:nvPr/>
          </p:nvSpPr>
          <p:spPr bwMode="auto">
            <a:xfrm>
              <a:off x="892" y="1350"/>
              <a:ext cx="772" cy="1597"/>
            </a:xfrm>
            <a:prstGeom prst="rect">
              <a:avLst/>
            </a:prstGeom>
            <a:solidFill>
              <a:srgbClr val="CCFFCC"/>
            </a:solidFill>
            <a:ln w="12700">
              <a:solidFill>
                <a:srgbClr val="7A48C4"/>
              </a:solidFill>
              <a:prstDash val="dash"/>
              <a:miter lim="800000"/>
              <a:headEnd type="none" w="sm" len="sm"/>
              <a:tailEnd type="none" w="sm" len="sm"/>
            </a:ln>
          </p:spPr>
          <p:txBody>
            <a:bodyPr wrap="none" anchor="ctr"/>
            <a:lstStyle/>
            <a:p>
              <a:pPr algn="ctr">
                <a:spcBef>
                  <a:spcPct val="20000"/>
                </a:spcBef>
              </a:pPr>
              <a:endParaRPr lang="zh-CN" altLang="en-US" sz="2600">
                <a:latin typeface="黑体" pitchFamily="2" charset="-122"/>
                <a:ea typeface="黑体" pitchFamily="2" charset="-122"/>
              </a:endParaRPr>
            </a:p>
          </p:txBody>
        </p:sp>
        <p:sp>
          <p:nvSpPr>
            <p:cNvPr id="33805" name="Text Box 50"/>
            <p:cNvSpPr txBox="1">
              <a:spLocks noChangeArrowheads="1"/>
            </p:cNvSpPr>
            <p:nvPr/>
          </p:nvSpPr>
          <p:spPr bwMode="auto">
            <a:xfrm>
              <a:off x="1015" y="2452"/>
              <a:ext cx="510" cy="300"/>
            </a:xfrm>
            <a:prstGeom prst="rect">
              <a:avLst/>
            </a:prstGeom>
            <a:noFill/>
            <a:ln w="12700" cap="sq">
              <a:solidFill>
                <a:srgbClr val="99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a:solidFill>
                    <a:schemeClr val="tx1"/>
                  </a:solidFill>
                  <a:latin typeface="黑体" pitchFamily="2" charset="-122"/>
                  <a:ea typeface="黑体" pitchFamily="2" charset="-122"/>
                </a:rPr>
                <a:t>主存</a:t>
              </a:r>
            </a:p>
          </p:txBody>
        </p:sp>
        <p:sp>
          <p:nvSpPr>
            <p:cNvPr id="33806" name="Text Box 51"/>
            <p:cNvSpPr txBox="1">
              <a:spLocks noChangeArrowheads="1"/>
            </p:cNvSpPr>
            <p:nvPr/>
          </p:nvSpPr>
          <p:spPr bwMode="auto">
            <a:xfrm>
              <a:off x="1067" y="1538"/>
              <a:ext cx="415" cy="300"/>
            </a:xfrm>
            <a:prstGeom prst="rect">
              <a:avLst/>
            </a:prstGeom>
            <a:noFill/>
            <a:ln w="12700" cap="sq">
              <a:solidFill>
                <a:srgbClr val="9900FF"/>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en-US" altLang="zh-CN">
                  <a:solidFill>
                    <a:schemeClr val="tx1"/>
                  </a:solidFill>
                  <a:latin typeface="黑体" pitchFamily="2" charset="-122"/>
                  <a:ea typeface="黑体" pitchFamily="2" charset="-122"/>
                </a:rPr>
                <a:t>CPU</a:t>
              </a:r>
            </a:p>
          </p:txBody>
        </p:sp>
        <p:sp>
          <p:nvSpPr>
            <p:cNvPr id="33807" name="Text Box 52"/>
            <p:cNvSpPr txBox="1">
              <a:spLocks noChangeArrowheads="1"/>
            </p:cNvSpPr>
            <p:nvPr/>
          </p:nvSpPr>
          <p:spPr bwMode="auto">
            <a:xfrm>
              <a:off x="1829" y="1509"/>
              <a:ext cx="510" cy="299"/>
            </a:xfrm>
            <a:prstGeom prst="rect">
              <a:avLst/>
            </a:prstGeom>
            <a:solidFill>
              <a:srgbClr val="66FFFF"/>
            </a:solidFill>
            <a:ln w="12700" cap="sq">
              <a:solidFill>
                <a:srgbClr val="9900FF"/>
              </a:solidFill>
              <a:miter lim="800000"/>
              <a:headEnd type="none" w="sm" len="sm"/>
              <a:tailEnd type="none" w="sm" len="sm"/>
            </a:ln>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a:solidFill>
                    <a:srgbClr val="000066"/>
                  </a:solidFill>
                  <a:latin typeface="黑体" pitchFamily="2" charset="-122"/>
                  <a:ea typeface="黑体" pitchFamily="2" charset="-122"/>
                </a:rPr>
                <a:t>通道</a:t>
              </a:r>
            </a:p>
          </p:txBody>
        </p:sp>
        <p:sp>
          <p:nvSpPr>
            <p:cNvPr id="33808" name="Text Box 53"/>
            <p:cNvSpPr txBox="1">
              <a:spLocks noChangeArrowheads="1"/>
            </p:cNvSpPr>
            <p:nvPr/>
          </p:nvSpPr>
          <p:spPr bwMode="auto">
            <a:xfrm>
              <a:off x="1845" y="2452"/>
              <a:ext cx="510" cy="300"/>
            </a:xfrm>
            <a:prstGeom prst="rect">
              <a:avLst/>
            </a:prstGeom>
            <a:solidFill>
              <a:srgbClr val="66FFFF"/>
            </a:solidFill>
            <a:ln w="12700" cap="sq">
              <a:solidFill>
                <a:srgbClr val="9900FF"/>
              </a:solidFill>
              <a:miter lim="800000"/>
              <a:headEnd type="none" w="sm" len="sm"/>
              <a:tailEnd type="none" w="sm" len="sm"/>
            </a:ln>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a:solidFill>
                    <a:srgbClr val="000066"/>
                  </a:solidFill>
                  <a:latin typeface="黑体" pitchFamily="2" charset="-122"/>
                  <a:ea typeface="黑体" pitchFamily="2" charset="-122"/>
                </a:rPr>
                <a:t>通道</a:t>
              </a:r>
            </a:p>
          </p:txBody>
        </p:sp>
        <p:sp>
          <p:nvSpPr>
            <p:cNvPr id="33809" name="Text Box 54"/>
            <p:cNvSpPr txBox="1">
              <a:spLocks noChangeArrowheads="1"/>
            </p:cNvSpPr>
            <p:nvPr/>
          </p:nvSpPr>
          <p:spPr bwMode="auto">
            <a:xfrm>
              <a:off x="2634" y="2171"/>
              <a:ext cx="607" cy="417"/>
            </a:xfrm>
            <a:prstGeom prst="rect">
              <a:avLst/>
            </a:prstGeom>
            <a:solidFill>
              <a:srgbClr val="CCECFF"/>
            </a:solidFill>
            <a:ln w="12700" cap="sq">
              <a:solidFill>
                <a:srgbClr val="9900FF"/>
              </a:solidFill>
              <a:miter lim="800000"/>
              <a:headEnd type="none" w="sm" len="sm"/>
              <a:tailEnd type="none" w="sm" len="sm"/>
            </a:ln>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spcBef>
                  <a:spcPct val="0"/>
                </a:spcBef>
                <a:buClrTx/>
                <a:buFontTx/>
                <a:buNone/>
              </a:pPr>
              <a:r>
                <a:rPr lang="zh-CN" altLang="en-US" sz="2000">
                  <a:solidFill>
                    <a:schemeClr val="tx1"/>
                  </a:solidFill>
                  <a:latin typeface="黑体" pitchFamily="2" charset="-122"/>
                  <a:ea typeface="黑体" pitchFamily="2" charset="-122"/>
                </a:rPr>
                <a:t>设备</a:t>
              </a:r>
            </a:p>
            <a:p>
              <a:pPr algn="ctr" eaLnBrk="1" hangingPunct="1">
                <a:spcBef>
                  <a:spcPct val="0"/>
                </a:spcBef>
                <a:buClrTx/>
                <a:buFontTx/>
                <a:buNone/>
              </a:pPr>
              <a:r>
                <a:rPr lang="zh-CN" altLang="en-US" sz="2000">
                  <a:solidFill>
                    <a:schemeClr val="tx1"/>
                  </a:solidFill>
                  <a:latin typeface="黑体" pitchFamily="2" charset="-122"/>
                  <a:ea typeface="黑体" pitchFamily="2" charset="-122"/>
                </a:rPr>
                <a:t>控制器</a:t>
              </a:r>
            </a:p>
          </p:txBody>
        </p:sp>
        <p:sp>
          <p:nvSpPr>
            <p:cNvPr id="33810" name="Text Box 55"/>
            <p:cNvSpPr txBox="1">
              <a:spLocks noChangeArrowheads="1"/>
            </p:cNvSpPr>
            <p:nvPr/>
          </p:nvSpPr>
          <p:spPr bwMode="auto">
            <a:xfrm>
              <a:off x="2634" y="2626"/>
              <a:ext cx="607" cy="417"/>
            </a:xfrm>
            <a:prstGeom prst="rect">
              <a:avLst/>
            </a:prstGeom>
            <a:solidFill>
              <a:srgbClr val="CCECFF"/>
            </a:solidFill>
            <a:ln w="12700" cap="sq">
              <a:solidFill>
                <a:srgbClr val="9900FF"/>
              </a:solidFill>
              <a:miter lim="800000"/>
              <a:headEnd type="none" w="sm" len="sm"/>
              <a:tailEnd type="none" w="sm" len="sm"/>
            </a:ln>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spcBef>
                  <a:spcPct val="0"/>
                </a:spcBef>
                <a:buClrTx/>
                <a:buFontTx/>
                <a:buNone/>
              </a:pPr>
              <a:r>
                <a:rPr lang="zh-CN" altLang="en-US" sz="2000">
                  <a:solidFill>
                    <a:schemeClr val="tx1"/>
                  </a:solidFill>
                  <a:latin typeface="黑体" pitchFamily="2" charset="-122"/>
                  <a:ea typeface="黑体" pitchFamily="2" charset="-122"/>
                </a:rPr>
                <a:t>设备</a:t>
              </a:r>
            </a:p>
            <a:p>
              <a:pPr algn="ctr" eaLnBrk="1" hangingPunct="1">
                <a:spcBef>
                  <a:spcPct val="0"/>
                </a:spcBef>
                <a:buClrTx/>
                <a:buFontTx/>
                <a:buNone/>
              </a:pPr>
              <a:r>
                <a:rPr lang="zh-CN" altLang="en-US" sz="2000">
                  <a:solidFill>
                    <a:schemeClr val="tx1"/>
                  </a:solidFill>
                  <a:latin typeface="黑体" pitchFamily="2" charset="-122"/>
                  <a:ea typeface="黑体" pitchFamily="2" charset="-122"/>
                </a:rPr>
                <a:t>控制器</a:t>
              </a:r>
            </a:p>
          </p:txBody>
        </p:sp>
        <p:sp>
          <p:nvSpPr>
            <p:cNvPr id="33811" name="Text Box 56"/>
            <p:cNvSpPr txBox="1">
              <a:spLocks noChangeArrowheads="1"/>
            </p:cNvSpPr>
            <p:nvPr/>
          </p:nvSpPr>
          <p:spPr bwMode="auto">
            <a:xfrm>
              <a:off x="2634" y="1677"/>
              <a:ext cx="607" cy="417"/>
            </a:xfrm>
            <a:prstGeom prst="rect">
              <a:avLst/>
            </a:prstGeom>
            <a:solidFill>
              <a:srgbClr val="CCECFF"/>
            </a:solidFill>
            <a:ln w="12700" cap="sq">
              <a:solidFill>
                <a:srgbClr val="9900FF"/>
              </a:solidFill>
              <a:miter lim="800000"/>
              <a:headEnd type="none" w="sm" len="sm"/>
              <a:tailEnd type="none" w="sm" len="sm"/>
            </a:ln>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spcBef>
                  <a:spcPct val="0"/>
                </a:spcBef>
                <a:buClrTx/>
                <a:buFontTx/>
                <a:buNone/>
              </a:pPr>
              <a:r>
                <a:rPr lang="zh-CN" altLang="en-US" sz="2000">
                  <a:solidFill>
                    <a:schemeClr val="tx1"/>
                  </a:solidFill>
                  <a:latin typeface="黑体" pitchFamily="2" charset="-122"/>
                  <a:ea typeface="黑体" pitchFamily="2" charset="-122"/>
                </a:rPr>
                <a:t>设备</a:t>
              </a:r>
            </a:p>
            <a:p>
              <a:pPr algn="ctr" eaLnBrk="1" hangingPunct="1">
                <a:spcBef>
                  <a:spcPct val="0"/>
                </a:spcBef>
                <a:buClrTx/>
                <a:buFontTx/>
                <a:buNone/>
              </a:pPr>
              <a:r>
                <a:rPr lang="zh-CN" altLang="en-US" sz="2000">
                  <a:solidFill>
                    <a:schemeClr val="tx1"/>
                  </a:solidFill>
                  <a:latin typeface="黑体" pitchFamily="2" charset="-122"/>
                  <a:ea typeface="黑体" pitchFamily="2" charset="-122"/>
                </a:rPr>
                <a:t>控制器</a:t>
              </a:r>
            </a:p>
          </p:txBody>
        </p:sp>
        <p:sp>
          <p:nvSpPr>
            <p:cNvPr id="33812" name="Text Box 57"/>
            <p:cNvSpPr txBox="1">
              <a:spLocks noChangeArrowheads="1"/>
            </p:cNvSpPr>
            <p:nvPr/>
          </p:nvSpPr>
          <p:spPr bwMode="auto">
            <a:xfrm>
              <a:off x="2634" y="1220"/>
              <a:ext cx="607" cy="417"/>
            </a:xfrm>
            <a:prstGeom prst="rect">
              <a:avLst/>
            </a:prstGeom>
            <a:solidFill>
              <a:srgbClr val="CCECFF"/>
            </a:solidFill>
            <a:ln w="12700" cap="sq">
              <a:solidFill>
                <a:srgbClr val="9900FF"/>
              </a:solidFill>
              <a:miter lim="800000"/>
              <a:headEnd type="none" w="sm" len="sm"/>
              <a:tailEnd type="none" w="sm" len="sm"/>
            </a:ln>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spcBef>
                  <a:spcPct val="0"/>
                </a:spcBef>
                <a:buClrTx/>
                <a:buFontTx/>
                <a:buNone/>
              </a:pPr>
              <a:r>
                <a:rPr lang="zh-CN" altLang="en-US" sz="2000">
                  <a:solidFill>
                    <a:schemeClr val="tx1"/>
                  </a:solidFill>
                  <a:latin typeface="黑体" pitchFamily="2" charset="-122"/>
                  <a:ea typeface="黑体" pitchFamily="2" charset="-122"/>
                </a:rPr>
                <a:t>设备</a:t>
              </a:r>
            </a:p>
            <a:p>
              <a:pPr algn="ctr" eaLnBrk="1" hangingPunct="1">
                <a:spcBef>
                  <a:spcPct val="0"/>
                </a:spcBef>
                <a:buClrTx/>
                <a:buFontTx/>
                <a:buNone/>
              </a:pPr>
              <a:r>
                <a:rPr lang="zh-CN" altLang="en-US" sz="2000">
                  <a:solidFill>
                    <a:schemeClr val="tx1"/>
                  </a:solidFill>
                  <a:latin typeface="黑体" pitchFamily="2" charset="-122"/>
                  <a:ea typeface="黑体" pitchFamily="2" charset="-122"/>
                </a:rPr>
                <a:t>控制器</a:t>
              </a:r>
            </a:p>
          </p:txBody>
        </p:sp>
        <p:sp>
          <p:nvSpPr>
            <p:cNvPr id="33813" name="Text Box 58"/>
            <p:cNvSpPr txBox="1">
              <a:spLocks noChangeArrowheads="1"/>
            </p:cNvSpPr>
            <p:nvPr/>
          </p:nvSpPr>
          <p:spPr bwMode="auto">
            <a:xfrm>
              <a:off x="3537" y="2876"/>
              <a:ext cx="510" cy="300"/>
            </a:xfrm>
            <a:prstGeom prst="rect">
              <a:avLst/>
            </a:prstGeom>
            <a:solidFill>
              <a:srgbClr val="D5D5FF"/>
            </a:solidFill>
            <a:ln w="12700" cap="sq">
              <a:solidFill>
                <a:srgbClr val="9900FF"/>
              </a:solidFill>
              <a:miter lim="800000"/>
              <a:headEnd type="none" w="sm" len="sm"/>
              <a:tailEnd type="none" w="sm" len="sm"/>
            </a:ln>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a:solidFill>
                    <a:schemeClr val="tx1"/>
                  </a:solidFill>
                  <a:latin typeface="黑体" pitchFamily="2" charset="-122"/>
                  <a:ea typeface="黑体" pitchFamily="2" charset="-122"/>
                </a:rPr>
                <a:t>外设</a:t>
              </a:r>
            </a:p>
          </p:txBody>
        </p:sp>
        <p:sp>
          <p:nvSpPr>
            <p:cNvPr id="33814" name="Text Box 59"/>
            <p:cNvSpPr txBox="1">
              <a:spLocks noChangeArrowheads="1"/>
            </p:cNvSpPr>
            <p:nvPr/>
          </p:nvSpPr>
          <p:spPr bwMode="auto">
            <a:xfrm>
              <a:off x="3537" y="2422"/>
              <a:ext cx="510" cy="299"/>
            </a:xfrm>
            <a:prstGeom prst="rect">
              <a:avLst/>
            </a:prstGeom>
            <a:solidFill>
              <a:srgbClr val="D5D5FF"/>
            </a:solidFill>
            <a:ln w="12700" cap="sq">
              <a:solidFill>
                <a:srgbClr val="9900FF"/>
              </a:solidFill>
              <a:miter lim="800000"/>
              <a:headEnd type="none" w="sm" len="sm"/>
              <a:tailEnd type="none" w="sm" len="sm"/>
            </a:ln>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a:solidFill>
                    <a:schemeClr val="tx1"/>
                  </a:solidFill>
                  <a:latin typeface="黑体" pitchFamily="2" charset="-122"/>
                  <a:ea typeface="黑体" pitchFamily="2" charset="-122"/>
                </a:rPr>
                <a:t>外设</a:t>
              </a:r>
            </a:p>
          </p:txBody>
        </p:sp>
        <p:sp>
          <p:nvSpPr>
            <p:cNvPr id="33815" name="Text Box 60"/>
            <p:cNvSpPr txBox="1">
              <a:spLocks noChangeArrowheads="1"/>
            </p:cNvSpPr>
            <p:nvPr/>
          </p:nvSpPr>
          <p:spPr bwMode="auto">
            <a:xfrm>
              <a:off x="3537" y="1921"/>
              <a:ext cx="510" cy="299"/>
            </a:xfrm>
            <a:prstGeom prst="rect">
              <a:avLst/>
            </a:prstGeom>
            <a:solidFill>
              <a:srgbClr val="D5D5FF"/>
            </a:solidFill>
            <a:ln w="12700" cap="sq">
              <a:solidFill>
                <a:srgbClr val="9900FF"/>
              </a:solidFill>
              <a:miter lim="800000"/>
              <a:headEnd type="none" w="sm" len="sm"/>
              <a:tailEnd type="none" w="sm" len="sm"/>
            </a:ln>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a:solidFill>
                    <a:schemeClr val="tx1"/>
                  </a:solidFill>
                  <a:latin typeface="黑体" pitchFamily="2" charset="-122"/>
                  <a:ea typeface="黑体" pitchFamily="2" charset="-122"/>
                </a:rPr>
                <a:t>外设</a:t>
              </a:r>
            </a:p>
          </p:txBody>
        </p:sp>
        <p:sp>
          <p:nvSpPr>
            <p:cNvPr id="33816" name="Text Box 61"/>
            <p:cNvSpPr txBox="1">
              <a:spLocks noChangeArrowheads="1"/>
            </p:cNvSpPr>
            <p:nvPr/>
          </p:nvSpPr>
          <p:spPr bwMode="auto">
            <a:xfrm>
              <a:off x="3549" y="1463"/>
              <a:ext cx="510" cy="300"/>
            </a:xfrm>
            <a:prstGeom prst="rect">
              <a:avLst/>
            </a:prstGeom>
            <a:solidFill>
              <a:srgbClr val="D5D5FF"/>
            </a:solidFill>
            <a:ln w="12700" cap="sq">
              <a:solidFill>
                <a:srgbClr val="9900FF"/>
              </a:solidFill>
              <a:miter lim="800000"/>
              <a:headEnd type="none" w="sm" len="sm"/>
              <a:tailEnd type="none" w="sm" len="sm"/>
            </a:ln>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a:solidFill>
                    <a:schemeClr val="tx1"/>
                  </a:solidFill>
                  <a:latin typeface="黑体" pitchFamily="2" charset="-122"/>
                  <a:ea typeface="黑体" pitchFamily="2" charset="-122"/>
                </a:rPr>
                <a:t>外设</a:t>
              </a:r>
            </a:p>
          </p:txBody>
        </p:sp>
        <p:sp>
          <p:nvSpPr>
            <p:cNvPr id="33817" name="Text Box 62"/>
            <p:cNvSpPr txBox="1">
              <a:spLocks noChangeArrowheads="1"/>
            </p:cNvSpPr>
            <p:nvPr/>
          </p:nvSpPr>
          <p:spPr bwMode="auto">
            <a:xfrm>
              <a:off x="4390" y="2884"/>
              <a:ext cx="510" cy="300"/>
            </a:xfrm>
            <a:prstGeom prst="rect">
              <a:avLst/>
            </a:prstGeom>
            <a:solidFill>
              <a:srgbClr val="D5D5FF"/>
            </a:solidFill>
            <a:ln w="12700" cap="sq">
              <a:solidFill>
                <a:srgbClr val="9900FF"/>
              </a:solidFill>
              <a:miter lim="800000"/>
              <a:headEnd type="none" w="sm" len="sm"/>
              <a:tailEnd type="none" w="sm" len="sm"/>
            </a:ln>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a:solidFill>
                    <a:schemeClr val="tx1"/>
                  </a:solidFill>
                  <a:latin typeface="黑体" pitchFamily="2" charset="-122"/>
                  <a:ea typeface="黑体" pitchFamily="2" charset="-122"/>
                </a:rPr>
                <a:t>外设</a:t>
              </a:r>
            </a:p>
          </p:txBody>
        </p:sp>
        <p:sp>
          <p:nvSpPr>
            <p:cNvPr id="33818" name="Text Box 63"/>
            <p:cNvSpPr txBox="1">
              <a:spLocks noChangeArrowheads="1"/>
            </p:cNvSpPr>
            <p:nvPr/>
          </p:nvSpPr>
          <p:spPr bwMode="auto">
            <a:xfrm>
              <a:off x="4390" y="2413"/>
              <a:ext cx="510" cy="299"/>
            </a:xfrm>
            <a:prstGeom prst="rect">
              <a:avLst/>
            </a:prstGeom>
            <a:solidFill>
              <a:srgbClr val="D5D5FF"/>
            </a:solidFill>
            <a:ln w="12700" cap="sq">
              <a:solidFill>
                <a:srgbClr val="9900FF"/>
              </a:solidFill>
              <a:miter lim="800000"/>
              <a:headEnd type="none" w="sm" len="sm"/>
              <a:tailEnd type="none" w="sm" len="sm"/>
            </a:ln>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a:solidFill>
                    <a:schemeClr val="tx1"/>
                  </a:solidFill>
                  <a:latin typeface="黑体" pitchFamily="2" charset="-122"/>
                  <a:ea typeface="黑体" pitchFamily="2" charset="-122"/>
                </a:rPr>
                <a:t>外设</a:t>
              </a:r>
            </a:p>
          </p:txBody>
        </p:sp>
        <p:sp>
          <p:nvSpPr>
            <p:cNvPr id="33819" name="Text Box 64"/>
            <p:cNvSpPr txBox="1">
              <a:spLocks noChangeArrowheads="1"/>
            </p:cNvSpPr>
            <p:nvPr/>
          </p:nvSpPr>
          <p:spPr bwMode="auto">
            <a:xfrm>
              <a:off x="4390" y="1921"/>
              <a:ext cx="510" cy="299"/>
            </a:xfrm>
            <a:prstGeom prst="rect">
              <a:avLst/>
            </a:prstGeom>
            <a:solidFill>
              <a:srgbClr val="D5D5FF"/>
            </a:solidFill>
            <a:ln w="12700" cap="sq">
              <a:solidFill>
                <a:srgbClr val="9900FF"/>
              </a:solidFill>
              <a:miter lim="800000"/>
              <a:headEnd type="none" w="sm" len="sm"/>
              <a:tailEnd type="none" w="sm" len="sm"/>
            </a:ln>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a:solidFill>
                    <a:schemeClr val="tx1"/>
                  </a:solidFill>
                  <a:latin typeface="黑体" pitchFamily="2" charset="-122"/>
                  <a:ea typeface="黑体" pitchFamily="2" charset="-122"/>
                </a:rPr>
                <a:t>外设</a:t>
              </a:r>
            </a:p>
          </p:txBody>
        </p:sp>
        <p:sp>
          <p:nvSpPr>
            <p:cNvPr id="33820" name="Text Box 65"/>
            <p:cNvSpPr txBox="1">
              <a:spLocks noChangeArrowheads="1"/>
            </p:cNvSpPr>
            <p:nvPr/>
          </p:nvSpPr>
          <p:spPr bwMode="auto">
            <a:xfrm>
              <a:off x="4390" y="1463"/>
              <a:ext cx="510" cy="300"/>
            </a:xfrm>
            <a:prstGeom prst="rect">
              <a:avLst/>
            </a:prstGeom>
            <a:solidFill>
              <a:srgbClr val="D5D5FF"/>
            </a:solidFill>
            <a:ln w="12700" cap="sq">
              <a:solidFill>
                <a:srgbClr val="9900FF"/>
              </a:solidFill>
              <a:miter lim="800000"/>
              <a:headEnd type="none" w="sm" len="sm"/>
              <a:tailEnd type="none" w="sm" len="sm"/>
            </a:ln>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a:solidFill>
                    <a:schemeClr val="tx1"/>
                  </a:solidFill>
                  <a:latin typeface="黑体" pitchFamily="2" charset="-122"/>
                  <a:ea typeface="黑体" pitchFamily="2" charset="-122"/>
                </a:rPr>
                <a:t>外设</a:t>
              </a:r>
            </a:p>
          </p:txBody>
        </p:sp>
        <p:sp>
          <p:nvSpPr>
            <p:cNvPr id="33821" name="Line 66"/>
            <p:cNvSpPr>
              <a:spLocks noChangeShapeType="1"/>
            </p:cNvSpPr>
            <p:nvPr/>
          </p:nvSpPr>
          <p:spPr bwMode="auto">
            <a:xfrm>
              <a:off x="3168" y="1426"/>
              <a:ext cx="1463"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22" name="Line 67"/>
            <p:cNvSpPr>
              <a:spLocks noChangeShapeType="1"/>
            </p:cNvSpPr>
            <p:nvPr/>
          </p:nvSpPr>
          <p:spPr bwMode="auto">
            <a:xfrm>
              <a:off x="3168" y="1882"/>
              <a:ext cx="1463"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23" name="Line 68"/>
            <p:cNvSpPr>
              <a:spLocks noChangeShapeType="1"/>
            </p:cNvSpPr>
            <p:nvPr/>
          </p:nvSpPr>
          <p:spPr bwMode="auto">
            <a:xfrm>
              <a:off x="3168" y="2376"/>
              <a:ext cx="1463"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24" name="Line 69"/>
            <p:cNvSpPr>
              <a:spLocks noChangeShapeType="1"/>
            </p:cNvSpPr>
            <p:nvPr/>
          </p:nvSpPr>
          <p:spPr bwMode="auto">
            <a:xfrm>
              <a:off x="3168" y="2833"/>
              <a:ext cx="1463"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25" name="Line 70"/>
            <p:cNvSpPr>
              <a:spLocks noChangeShapeType="1"/>
            </p:cNvSpPr>
            <p:nvPr/>
          </p:nvSpPr>
          <p:spPr bwMode="auto">
            <a:xfrm flipH="1">
              <a:off x="3778" y="1426"/>
              <a:ext cx="0" cy="7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26" name="Line 71"/>
            <p:cNvSpPr>
              <a:spLocks noChangeShapeType="1"/>
            </p:cNvSpPr>
            <p:nvPr/>
          </p:nvSpPr>
          <p:spPr bwMode="auto">
            <a:xfrm flipH="1">
              <a:off x="4631" y="1426"/>
              <a:ext cx="0" cy="7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27" name="Line 72"/>
            <p:cNvSpPr>
              <a:spLocks noChangeShapeType="1"/>
            </p:cNvSpPr>
            <p:nvPr/>
          </p:nvSpPr>
          <p:spPr bwMode="auto">
            <a:xfrm flipH="1">
              <a:off x="3778" y="1882"/>
              <a:ext cx="0" cy="7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28" name="Line 73"/>
            <p:cNvSpPr>
              <a:spLocks noChangeShapeType="1"/>
            </p:cNvSpPr>
            <p:nvPr/>
          </p:nvSpPr>
          <p:spPr bwMode="auto">
            <a:xfrm flipH="1">
              <a:off x="3778" y="2376"/>
              <a:ext cx="0" cy="7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29" name="Line 74"/>
            <p:cNvSpPr>
              <a:spLocks noChangeShapeType="1"/>
            </p:cNvSpPr>
            <p:nvPr/>
          </p:nvSpPr>
          <p:spPr bwMode="auto">
            <a:xfrm flipH="1">
              <a:off x="4631" y="1882"/>
              <a:ext cx="0" cy="7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30" name="Line 75"/>
            <p:cNvSpPr>
              <a:spLocks noChangeShapeType="1"/>
            </p:cNvSpPr>
            <p:nvPr/>
          </p:nvSpPr>
          <p:spPr bwMode="auto">
            <a:xfrm flipH="1">
              <a:off x="3778" y="2833"/>
              <a:ext cx="0" cy="7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31" name="Line 76"/>
            <p:cNvSpPr>
              <a:spLocks noChangeShapeType="1"/>
            </p:cNvSpPr>
            <p:nvPr/>
          </p:nvSpPr>
          <p:spPr bwMode="auto">
            <a:xfrm flipH="1">
              <a:off x="4631" y="2833"/>
              <a:ext cx="0" cy="7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32" name="Line 77"/>
            <p:cNvSpPr>
              <a:spLocks noChangeShapeType="1"/>
            </p:cNvSpPr>
            <p:nvPr/>
          </p:nvSpPr>
          <p:spPr bwMode="auto">
            <a:xfrm flipH="1">
              <a:off x="4631" y="2376"/>
              <a:ext cx="0" cy="7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33" name="Line 78"/>
            <p:cNvSpPr>
              <a:spLocks noChangeShapeType="1"/>
            </p:cNvSpPr>
            <p:nvPr/>
          </p:nvSpPr>
          <p:spPr bwMode="auto">
            <a:xfrm flipH="1">
              <a:off x="2477" y="1426"/>
              <a:ext cx="203"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34" name="Line 79"/>
            <p:cNvSpPr>
              <a:spLocks noChangeShapeType="1"/>
            </p:cNvSpPr>
            <p:nvPr/>
          </p:nvSpPr>
          <p:spPr bwMode="auto">
            <a:xfrm flipH="1">
              <a:off x="2477" y="1882"/>
              <a:ext cx="203"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35" name="Line 80"/>
            <p:cNvSpPr>
              <a:spLocks noChangeShapeType="1"/>
            </p:cNvSpPr>
            <p:nvPr/>
          </p:nvSpPr>
          <p:spPr bwMode="auto">
            <a:xfrm flipH="1">
              <a:off x="2477" y="2376"/>
              <a:ext cx="203"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36" name="Line 81"/>
            <p:cNvSpPr>
              <a:spLocks noChangeShapeType="1"/>
            </p:cNvSpPr>
            <p:nvPr/>
          </p:nvSpPr>
          <p:spPr bwMode="auto">
            <a:xfrm flipH="1">
              <a:off x="2477" y="2833"/>
              <a:ext cx="203"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37" name="Line 82"/>
            <p:cNvSpPr>
              <a:spLocks noChangeShapeType="1"/>
            </p:cNvSpPr>
            <p:nvPr/>
          </p:nvSpPr>
          <p:spPr bwMode="auto">
            <a:xfrm>
              <a:off x="2477" y="1426"/>
              <a:ext cx="0" cy="456"/>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38" name="Line 83"/>
            <p:cNvSpPr>
              <a:spLocks noChangeShapeType="1"/>
            </p:cNvSpPr>
            <p:nvPr/>
          </p:nvSpPr>
          <p:spPr bwMode="auto">
            <a:xfrm>
              <a:off x="2477" y="2376"/>
              <a:ext cx="0" cy="457"/>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39" name="Line 84"/>
            <p:cNvSpPr>
              <a:spLocks noChangeShapeType="1"/>
            </p:cNvSpPr>
            <p:nvPr/>
          </p:nvSpPr>
          <p:spPr bwMode="auto">
            <a:xfrm flipH="1">
              <a:off x="2315" y="2604"/>
              <a:ext cx="162"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40" name="Line 85"/>
            <p:cNvSpPr>
              <a:spLocks noChangeShapeType="1"/>
            </p:cNvSpPr>
            <p:nvPr/>
          </p:nvSpPr>
          <p:spPr bwMode="auto">
            <a:xfrm flipH="1">
              <a:off x="2315" y="1647"/>
              <a:ext cx="162"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41" name="Line 86"/>
            <p:cNvSpPr>
              <a:spLocks noChangeShapeType="1"/>
            </p:cNvSpPr>
            <p:nvPr/>
          </p:nvSpPr>
          <p:spPr bwMode="auto">
            <a:xfrm flipH="1">
              <a:off x="1746" y="1692"/>
              <a:ext cx="122"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42" name="Line 87"/>
            <p:cNvSpPr>
              <a:spLocks noChangeShapeType="1"/>
            </p:cNvSpPr>
            <p:nvPr/>
          </p:nvSpPr>
          <p:spPr bwMode="auto">
            <a:xfrm>
              <a:off x="1746" y="1692"/>
              <a:ext cx="0" cy="95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43" name="Line 88"/>
            <p:cNvSpPr>
              <a:spLocks noChangeShapeType="1"/>
            </p:cNvSpPr>
            <p:nvPr/>
          </p:nvSpPr>
          <p:spPr bwMode="auto">
            <a:xfrm flipH="1">
              <a:off x="1746" y="2642"/>
              <a:ext cx="122"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44" name="Line 89"/>
            <p:cNvSpPr>
              <a:spLocks noChangeShapeType="1"/>
            </p:cNvSpPr>
            <p:nvPr/>
          </p:nvSpPr>
          <p:spPr bwMode="auto">
            <a:xfrm flipH="1">
              <a:off x="1624" y="2566"/>
              <a:ext cx="244"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45" name="Line 90"/>
            <p:cNvSpPr>
              <a:spLocks noChangeShapeType="1"/>
            </p:cNvSpPr>
            <p:nvPr/>
          </p:nvSpPr>
          <p:spPr bwMode="auto">
            <a:xfrm flipH="1">
              <a:off x="1624" y="1616"/>
              <a:ext cx="244"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46" name="Line 91"/>
            <p:cNvSpPr>
              <a:spLocks noChangeShapeType="1"/>
            </p:cNvSpPr>
            <p:nvPr/>
          </p:nvSpPr>
          <p:spPr bwMode="auto">
            <a:xfrm>
              <a:off x="1624" y="1616"/>
              <a:ext cx="0" cy="95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47" name="Line 92"/>
            <p:cNvSpPr>
              <a:spLocks noChangeShapeType="1"/>
            </p:cNvSpPr>
            <p:nvPr/>
          </p:nvSpPr>
          <p:spPr bwMode="auto">
            <a:xfrm>
              <a:off x="1502" y="1685"/>
              <a:ext cx="122"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48" name="Line 93"/>
            <p:cNvSpPr>
              <a:spLocks noChangeShapeType="1"/>
            </p:cNvSpPr>
            <p:nvPr/>
          </p:nvSpPr>
          <p:spPr bwMode="auto">
            <a:xfrm>
              <a:off x="1502" y="2604"/>
              <a:ext cx="244" cy="0"/>
            </a:xfrm>
            <a:prstGeom prst="line">
              <a:avLst/>
            </a:prstGeom>
            <a:noFill/>
            <a:ln w="57150" cap="sq">
              <a:solidFill>
                <a:srgbClr val="7A48C4"/>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latin typeface="黑体" pitchFamily="2" charset="-122"/>
                <a:ea typeface="黑体" pitchFamily="2" charset="-122"/>
              </a:endParaRPr>
            </a:p>
          </p:txBody>
        </p:sp>
        <p:sp>
          <p:nvSpPr>
            <p:cNvPr id="33849" name="Text Box 94"/>
            <p:cNvSpPr txBox="1">
              <a:spLocks noChangeArrowheads="1"/>
            </p:cNvSpPr>
            <p:nvPr/>
          </p:nvSpPr>
          <p:spPr bwMode="auto">
            <a:xfrm>
              <a:off x="1018" y="1319"/>
              <a:ext cx="502"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a:solidFill>
                    <a:srgbClr val="009900"/>
                  </a:solidFill>
                  <a:latin typeface="黑体" pitchFamily="2" charset="-122"/>
                  <a:ea typeface="黑体" pitchFamily="2" charset="-122"/>
                </a:rPr>
                <a:t>主机</a:t>
              </a:r>
            </a:p>
          </p:txBody>
        </p:sp>
        <p:sp>
          <p:nvSpPr>
            <p:cNvPr id="33850" name="Text Box 95"/>
            <p:cNvSpPr txBox="1">
              <a:spLocks noChangeArrowheads="1"/>
            </p:cNvSpPr>
            <p:nvPr/>
          </p:nvSpPr>
          <p:spPr bwMode="auto">
            <a:xfrm rot="16200000">
              <a:off x="1805" y="1948"/>
              <a:ext cx="380"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sz="3200">
                  <a:solidFill>
                    <a:schemeClr val="tx1"/>
                  </a:solidFill>
                  <a:latin typeface="黑体" pitchFamily="2" charset="-122"/>
                  <a:ea typeface="黑体" pitchFamily="2" charset="-122"/>
                </a:rPr>
                <a:t>…</a:t>
              </a:r>
            </a:p>
          </p:txBody>
        </p:sp>
        <p:sp>
          <p:nvSpPr>
            <p:cNvPr id="33851" name="Text Box 96"/>
            <p:cNvSpPr txBox="1">
              <a:spLocks noChangeArrowheads="1"/>
            </p:cNvSpPr>
            <p:nvPr/>
          </p:nvSpPr>
          <p:spPr bwMode="auto">
            <a:xfrm>
              <a:off x="4073" y="1384"/>
              <a:ext cx="376"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sz="3200">
                  <a:solidFill>
                    <a:schemeClr val="tx1"/>
                  </a:solidFill>
                  <a:latin typeface="黑体" pitchFamily="2" charset="-122"/>
                  <a:ea typeface="黑体" pitchFamily="2" charset="-122"/>
                </a:rPr>
                <a:t>…</a:t>
              </a:r>
            </a:p>
          </p:txBody>
        </p:sp>
        <p:sp>
          <p:nvSpPr>
            <p:cNvPr id="33852" name="Text Box 97"/>
            <p:cNvSpPr txBox="1">
              <a:spLocks noChangeArrowheads="1"/>
            </p:cNvSpPr>
            <p:nvPr/>
          </p:nvSpPr>
          <p:spPr bwMode="auto">
            <a:xfrm>
              <a:off x="4102" y="1849"/>
              <a:ext cx="316"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sz="3200">
                  <a:solidFill>
                    <a:schemeClr val="tx1"/>
                  </a:solidFill>
                  <a:latin typeface="黑体" pitchFamily="2" charset="-122"/>
                  <a:ea typeface="黑体" pitchFamily="2" charset="-122"/>
                </a:rPr>
                <a:t>…</a:t>
              </a:r>
            </a:p>
          </p:txBody>
        </p:sp>
        <p:sp>
          <p:nvSpPr>
            <p:cNvPr id="33853" name="Text Box 98"/>
            <p:cNvSpPr txBox="1">
              <a:spLocks noChangeArrowheads="1"/>
            </p:cNvSpPr>
            <p:nvPr/>
          </p:nvSpPr>
          <p:spPr bwMode="auto">
            <a:xfrm>
              <a:off x="4073" y="2335"/>
              <a:ext cx="376"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sz="3200">
                  <a:solidFill>
                    <a:schemeClr val="tx1"/>
                  </a:solidFill>
                  <a:latin typeface="黑体" pitchFamily="2" charset="-122"/>
                  <a:ea typeface="黑体" pitchFamily="2" charset="-122"/>
                </a:rPr>
                <a:t>…</a:t>
              </a:r>
            </a:p>
          </p:txBody>
        </p:sp>
        <p:sp>
          <p:nvSpPr>
            <p:cNvPr id="33854" name="Text Box 99"/>
            <p:cNvSpPr txBox="1">
              <a:spLocks noChangeArrowheads="1"/>
            </p:cNvSpPr>
            <p:nvPr/>
          </p:nvSpPr>
          <p:spPr bwMode="auto">
            <a:xfrm>
              <a:off x="4073" y="2768"/>
              <a:ext cx="376" cy="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sz="3200">
                  <a:solidFill>
                    <a:schemeClr val="tx1"/>
                  </a:solidFill>
                  <a:latin typeface="黑体" pitchFamily="2" charset="-122"/>
                  <a:ea typeface="黑体" pitchFamily="2" charset="-122"/>
                </a:rPr>
                <a:t>…</a:t>
              </a:r>
            </a:p>
          </p:txBody>
        </p:sp>
        <p:sp>
          <p:nvSpPr>
            <p:cNvPr id="33855" name="Text Box 100"/>
            <p:cNvSpPr txBox="1">
              <a:spLocks noChangeArrowheads="1"/>
            </p:cNvSpPr>
            <p:nvPr/>
          </p:nvSpPr>
          <p:spPr bwMode="auto">
            <a:xfrm rot="16200000">
              <a:off x="2749" y="1490"/>
              <a:ext cx="31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a:solidFill>
                    <a:schemeClr val="tx1"/>
                  </a:solidFill>
                  <a:latin typeface="黑体" pitchFamily="2" charset="-122"/>
                  <a:ea typeface="黑体" pitchFamily="2" charset="-122"/>
                </a:rPr>
                <a:t>…</a:t>
              </a:r>
            </a:p>
          </p:txBody>
        </p:sp>
        <p:sp>
          <p:nvSpPr>
            <p:cNvPr id="33856" name="Text Box 101"/>
            <p:cNvSpPr txBox="1">
              <a:spLocks noChangeArrowheads="1"/>
            </p:cNvSpPr>
            <p:nvPr/>
          </p:nvSpPr>
          <p:spPr bwMode="auto">
            <a:xfrm rot="16200000">
              <a:off x="2757" y="2454"/>
              <a:ext cx="31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a:solidFill>
                    <a:schemeClr val="tx1"/>
                  </a:solidFill>
                  <a:latin typeface="黑体" pitchFamily="2" charset="-122"/>
                  <a:ea typeface="黑体" pitchFamily="2" charset="-122"/>
                </a:rPr>
                <a:t>…</a:t>
              </a:r>
            </a:p>
          </p:txBody>
        </p:sp>
        <p:sp>
          <p:nvSpPr>
            <p:cNvPr id="33857" name="Text Box 102"/>
            <p:cNvSpPr txBox="1">
              <a:spLocks noChangeArrowheads="1"/>
            </p:cNvSpPr>
            <p:nvPr/>
          </p:nvSpPr>
          <p:spPr bwMode="auto">
            <a:xfrm>
              <a:off x="994" y="1056"/>
              <a:ext cx="599"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sz="2000">
                  <a:solidFill>
                    <a:srgbClr val="FF6600"/>
                  </a:solidFill>
                  <a:latin typeface="黑体" pitchFamily="2" charset="-122"/>
                  <a:ea typeface="黑体" pitchFamily="2" charset="-122"/>
                </a:rPr>
                <a:t>第一级</a:t>
              </a:r>
            </a:p>
          </p:txBody>
        </p:sp>
        <p:sp>
          <p:nvSpPr>
            <p:cNvPr id="33858" name="Text Box 103"/>
            <p:cNvSpPr txBox="1">
              <a:spLocks noChangeArrowheads="1"/>
            </p:cNvSpPr>
            <p:nvPr/>
          </p:nvSpPr>
          <p:spPr bwMode="auto">
            <a:xfrm>
              <a:off x="2681" y="1056"/>
              <a:ext cx="599" cy="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cap="sq">
                  <a:solidFill>
                    <a:srgbClr val="000000"/>
                  </a:solidFill>
                  <a:miter lim="800000"/>
                  <a:headEnd type="none" w="sm" len="sm"/>
                  <a:tailEnd type="none" w="sm" len="sm"/>
                </a14:hiddenLine>
              </a:ext>
            </a:extLst>
          </p:spPr>
          <p:txBody>
            <a:bodyPr wrap="none" anchor="ct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ctr" eaLnBrk="1" hangingPunct="1">
                <a:lnSpc>
                  <a:spcPct val="100000"/>
                </a:lnSpc>
                <a:buClrTx/>
                <a:buFontTx/>
                <a:buNone/>
              </a:pPr>
              <a:r>
                <a:rPr lang="zh-CN" altLang="en-US" sz="2000">
                  <a:solidFill>
                    <a:srgbClr val="FF6600"/>
                  </a:solidFill>
                  <a:latin typeface="黑体" pitchFamily="2" charset="-122"/>
                  <a:ea typeface="黑体" pitchFamily="2" charset="-122"/>
                </a:rPr>
                <a:t>第三级</a:t>
              </a:r>
            </a:p>
          </p:txBody>
        </p:sp>
      </p:grpSp>
      <p:sp>
        <p:nvSpPr>
          <p:cNvPr id="33796" name="Rectangle 105"/>
          <p:cNvSpPr>
            <a:spLocks noChangeArrowheads="1"/>
          </p:cNvSpPr>
          <p:nvPr/>
        </p:nvSpPr>
        <p:spPr bwMode="auto">
          <a:xfrm>
            <a:off x="871538" y="1093788"/>
            <a:ext cx="8272462"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pPr>
            <a:r>
              <a:rPr lang="zh-CN" altLang="en-US" sz="2200">
                <a:solidFill>
                  <a:srgbClr val="000080"/>
                </a:solidFill>
                <a:latin typeface="黑体" pitchFamily="2" charset="-122"/>
                <a:ea typeface="黑体" pitchFamily="2" charset="-122"/>
              </a:rPr>
              <a:t>在系统连接上分为四级：主机、通道、设备控制器、外部设备。</a:t>
            </a:r>
            <a:endParaRPr lang="zh-CN" altLang="en-US" b="0">
              <a:solidFill>
                <a:schemeClr val="tx1"/>
              </a:solidFill>
              <a:latin typeface="黑体" pitchFamily="2" charset="-122"/>
              <a:ea typeface="黑体" pitchFamily="2" charset="-122"/>
            </a:endParaRPr>
          </a:p>
        </p:txBody>
      </p:sp>
      <p:sp>
        <p:nvSpPr>
          <p:cNvPr id="33797" name="Text Box 107"/>
          <p:cNvSpPr txBox="1">
            <a:spLocks noChangeArrowheads="1"/>
          </p:cNvSpPr>
          <p:nvPr/>
        </p:nvSpPr>
        <p:spPr bwMode="auto">
          <a:xfrm>
            <a:off x="796925" y="5451475"/>
            <a:ext cx="7666038" cy="9198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just" eaLnBrk="1" hangingPunct="1">
              <a:lnSpc>
                <a:spcPct val="120000"/>
              </a:lnSpc>
              <a:spcBef>
                <a:spcPct val="0"/>
              </a:spcBef>
              <a:buClrTx/>
              <a:buFontTx/>
              <a:buNone/>
            </a:pPr>
            <a:r>
              <a:rPr lang="zh-CN" altLang="en-US" dirty="0">
                <a:solidFill>
                  <a:srgbClr val="000080"/>
                </a:solidFill>
                <a:latin typeface="黑体" pitchFamily="2" charset="-122"/>
                <a:ea typeface="黑体" pitchFamily="2" charset="-122"/>
              </a:rPr>
              <a:t>    </a:t>
            </a:r>
            <a:r>
              <a:rPr lang="zh-CN" altLang="en-US" dirty="0">
                <a:solidFill>
                  <a:srgbClr val="FF0000"/>
                </a:solidFill>
                <a:latin typeface="黑体" pitchFamily="2" charset="-122"/>
                <a:ea typeface="黑体" pitchFamily="2" charset="-122"/>
              </a:rPr>
              <a:t>通道</a:t>
            </a:r>
            <a:r>
              <a:rPr lang="zh-CN" altLang="en-US" dirty="0">
                <a:solidFill>
                  <a:srgbClr val="000080"/>
                </a:solidFill>
                <a:latin typeface="黑体" pitchFamily="2" charset="-122"/>
                <a:ea typeface="黑体" pitchFamily="2" charset="-122"/>
              </a:rPr>
              <a:t>是承担</a:t>
            </a:r>
            <a:r>
              <a:rPr lang="en-US" altLang="zh-CN" dirty="0">
                <a:solidFill>
                  <a:srgbClr val="000080"/>
                </a:solidFill>
                <a:latin typeface="黑体" pitchFamily="2" charset="-122"/>
                <a:ea typeface="黑体" pitchFamily="2" charset="-122"/>
              </a:rPr>
              <a:t>I/O</a:t>
            </a:r>
            <a:r>
              <a:rPr lang="zh-CN" altLang="en-US" dirty="0">
                <a:solidFill>
                  <a:srgbClr val="000080"/>
                </a:solidFill>
                <a:latin typeface="黑体" pitchFamily="2" charset="-122"/>
                <a:ea typeface="黑体" pitchFamily="2" charset="-122"/>
              </a:rPr>
              <a:t>操作管理的主要部件，能使</a:t>
            </a:r>
            <a:r>
              <a:rPr lang="en-US" altLang="zh-CN" dirty="0">
                <a:solidFill>
                  <a:srgbClr val="000080"/>
                </a:solidFill>
                <a:latin typeface="黑体" pitchFamily="2" charset="-122"/>
                <a:ea typeface="黑体" pitchFamily="2" charset="-122"/>
              </a:rPr>
              <a:t>CPU</a:t>
            </a:r>
            <a:r>
              <a:rPr lang="zh-CN" altLang="en-US" dirty="0">
                <a:solidFill>
                  <a:srgbClr val="000080"/>
                </a:solidFill>
                <a:latin typeface="黑体" pitchFamily="2" charset="-122"/>
                <a:ea typeface="黑体" pitchFamily="2" charset="-122"/>
              </a:rPr>
              <a:t>的数据处理和与外部设备交换信息这两项操作同时进行。</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0" y="45402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gn="ctr">
              <a:lnSpc>
                <a:spcPct val="100000"/>
              </a:lnSpc>
              <a:spcBef>
                <a:spcPct val="0"/>
              </a:spcBef>
              <a:buClrTx/>
              <a:buFontTx/>
              <a:buNone/>
            </a:pPr>
            <a:r>
              <a:rPr lang="zh-CN" altLang="en-US" sz="2600">
                <a:solidFill>
                  <a:srgbClr val="800000"/>
                </a:solidFill>
                <a:latin typeface="黑体" pitchFamily="2" charset="-122"/>
                <a:ea typeface="黑体" pitchFamily="2" charset="-122"/>
              </a:rPr>
              <a:t>§1.4 计算机的发展 </a:t>
            </a:r>
          </a:p>
        </p:txBody>
      </p:sp>
      <p:sp>
        <p:nvSpPr>
          <p:cNvPr id="34819" name="Rectangle 68"/>
          <p:cNvSpPr>
            <a:spLocks noChangeArrowheads="1"/>
          </p:cNvSpPr>
          <p:nvPr/>
        </p:nvSpPr>
        <p:spPr bwMode="auto">
          <a:xfrm>
            <a:off x="977900" y="1090613"/>
            <a:ext cx="784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pPr>
            <a:r>
              <a:rPr lang="zh-CN" altLang="en-US">
                <a:solidFill>
                  <a:srgbClr val="990000"/>
                </a:solidFill>
                <a:latin typeface="黑体" pitchFamily="2" charset="-122"/>
                <a:ea typeface="黑体" pitchFamily="2" charset="-122"/>
              </a:rPr>
              <a:t>1. 第一台电子计算机</a:t>
            </a:r>
            <a:r>
              <a:rPr lang="en-US" altLang="zh-CN">
                <a:solidFill>
                  <a:srgbClr val="990000"/>
                </a:solidFill>
                <a:latin typeface="黑体" pitchFamily="2" charset="-122"/>
                <a:ea typeface="黑体" pitchFamily="2" charset="-122"/>
              </a:rPr>
              <a:t>ENIAC</a:t>
            </a:r>
            <a:r>
              <a:rPr lang="en-US" altLang="zh-CN">
                <a:solidFill>
                  <a:srgbClr val="000080"/>
                </a:solidFill>
                <a:latin typeface="黑体" pitchFamily="2" charset="-122"/>
                <a:ea typeface="黑体" pitchFamily="2" charset="-122"/>
              </a:rPr>
              <a:t>    （1946</a:t>
            </a:r>
            <a:r>
              <a:rPr lang="zh-CN" altLang="en-US">
                <a:solidFill>
                  <a:srgbClr val="000080"/>
                </a:solidFill>
                <a:latin typeface="黑体" pitchFamily="2" charset="-122"/>
                <a:ea typeface="黑体" pitchFamily="2" charset="-122"/>
              </a:rPr>
              <a:t>年）</a:t>
            </a:r>
            <a:endParaRPr lang="zh-CN" altLang="en-US" b="0">
              <a:solidFill>
                <a:schemeClr val="tx1"/>
              </a:solidFill>
              <a:latin typeface="黑体" pitchFamily="2" charset="-122"/>
              <a:ea typeface="黑体" pitchFamily="2" charset="-122"/>
            </a:endParaRPr>
          </a:p>
        </p:txBody>
      </p:sp>
      <p:sp>
        <p:nvSpPr>
          <p:cNvPr id="34820" name="Rectangle 69"/>
          <p:cNvSpPr>
            <a:spLocks noChangeArrowheads="1"/>
          </p:cNvSpPr>
          <p:nvPr/>
        </p:nvSpPr>
        <p:spPr bwMode="auto">
          <a:xfrm>
            <a:off x="1587500" y="1552575"/>
            <a:ext cx="70993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buClrTx/>
              <a:buFontTx/>
              <a:buNone/>
            </a:pPr>
            <a:r>
              <a:rPr lang="zh-CN" altLang="en-US" sz="2200">
                <a:solidFill>
                  <a:schemeClr val="tx1"/>
                </a:solidFill>
                <a:latin typeface="黑体" pitchFamily="2" charset="-122"/>
                <a:ea typeface="黑体" pitchFamily="2" charset="-122"/>
              </a:rPr>
              <a:t>(</a:t>
            </a:r>
            <a:r>
              <a:rPr lang="en-US" altLang="zh-CN" sz="2200">
                <a:solidFill>
                  <a:srgbClr val="FF0000"/>
                </a:solidFill>
                <a:latin typeface="黑体" pitchFamily="2" charset="-122"/>
                <a:ea typeface="黑体" pitchFamily="2" charset="-122"/>
              </a:rPr>
              <a:t>E</a:t>
            </a:r>
            <a:r>
              <a:rPr lang="en-US" altLang="zh-CN" sz="2200">
                <a:latin typeface="黑体" pitchFamily="2" charset="-122"/>
                <a:ea typeface="黑体" pitchFamily="2" charset="-122"/>
              </a:rPr>
              <a:t>lectronic </a:t>
            </a:r>
            <a:r>
              <a:rPr lang="en-US" altLang="zh-CN" sz="2200">
                <a:solidFill>
                  <a:srgbClr val="FF0000"/>
                </a:solidFill>
                <a:latin typeface="黑体" pitchFamily="2" charset="-122"/>
                <a:ea typeface="黑体" pitchFamily="2" charset="-122"/>
              </a:rPr>
              <a:t>N</a:t>
            </a:r>
            <a:r>
              <a:rPr lang="en-US" altLang="zh-CN" sz="2200">
                <a:latin typeface="黑体" pitchFamily="2" charset="-122"/>
                <a:ea typeface="黑体" pitchFamily="2" charset="-122"/>
              </a:rPr>
              <a:t>umeirical </a:t>
            </a:r>
            <a:r>
              <a:rPr lang="en-US" altLang="zh-CN" sz="2200">
                <a:solidFill>
                  <a:srgbClr val="FF0000"/>
                </a:solidFill>
                <a:latin typeface="黑体" pitchFamily="2" charset="-122"/>
                <a:ea typeface="黑体" pitchFamily="2" charset="-122"/>
              </a:rPr>
              <a:t>I</a:t>
            </a:r>
            <a:r>
              <a:rPr lang="en-US" altLang="zh-CN" sz="2200">
                <a:latin typeface="黑体" pitchFamily="2" charset="-122"/>
                <a:ea typeface="黑体" pitchFamily="2" charset="-122"/>
              </a:rPr>
              <a:t>ntegrator </a:t>
            </a:r>
            <a:r>
              <a:rPr lang="en-US" altLang="zh-CN" sz="2200">
                <a:solidFill>
                  <a:srgbClr val="FF0000"/>
                </a:solidFill>
                <a:latin typeface="黑体" pitchFamily="2" charset="-122"/>
                <a:ea typeface="黑体" pitchFamily="2" charset="-122"/>
              </a:rPr>
              <a:t>A</a:t>
            </a:r>
            <a:r>
              <a:rPr lang="en-US" altLang="zh-CN" sz="2200">
                <a:latin typeface="黑体" pitchFamily="2" charset="-122"/>
                <a:ea typeface="黑体" pitchFamily="2" charset="-122"/>
              </a:rPr>
              <a:t>nd </a:t>
            </a:r>
            <a:r>
              <a:rPr lang="en-US" altLang="zh-CN" sz="2200">
                <a:solidFill>
                  <a:srgbClr val="FF0000"/>
                </a:solidFill>
                <a:latin typeface="黑体" pitchFamily="2" charset="-122"/>
                <a:ea typeface="黑体" pitchFamily="2" charset="-122"/>
              </a:rPr>
              <a:t>C</a:t>
            </a:r>
            <a:r>
              <a:rPr lang="en-US" altLang="zh-CN" sz="2200">
                <a:latin typeface="黑体" pitchFamily="2" charset="-122"/>
                <a:ea typeface="黑体" pitchFamily="2" charset="-122"/>
              </a:rPr>
              <a:t>alculator)</a:t>
            </a:r>
            <a:r>
              <a:rPr lang="en-US" altLang="zh-CN" sz="1100">
                <a:solidFill>
                  <a:schemeClr val="tx1"/>
                </a:solidFill>
                <a:latin typeface="黑体" pitchFamily="2" charset="-122"/>
                <a:ea typeface="黑体" pitchFamily="2" charset="-122"/>
              </a:rPr>
              <a:t> </a:t>
            </a:r>
            <a:endParaRPr lang="en-US" altLang="zh-CN" b="0">
              <a:solidFill>
                <a:schemeClr val="tx1"/>
              </a:solidFill>
              <a:latin typeface="黑体" pitchFamily="2" charset="-122"/>
              <a:ea typeface="黑体" pitchFamily="2" charset="-122"/>
            </a:endParaRPr>
          </a:p>
        </p:txBody>
      </p:sp>
      <p:pic>
        <p:nvPicPr>
          <p:cNvPr id="34821" name="Picture 73" descr="2-1"/>
          <p:cNvPicPr>
            <a:picLocks noChangeAspect="1" noChangeArrowheads="1"/>
          </p:cNvPicPr>
          <p:nvPr/>
        </p:nvPicPr>
        <p:blipFill>
          <a:blip r:embed="rId2">
            <a:lum bright="12000" contrast="-12000"/>
            <a:extLst>
              <a:ext uri="{28A0092B-C50C-407E-A947-70E740481C1C}">
                <a14:useLocalDpi xmlns:a14="http://schemas.microsoft.com/office/drawing/2010/main" val="0"/>
              </a:ext>
            </a:extLst>
          </a:blip>
          <a:srcRect/>
          <a:stretch>
            <a:fillRect/>
          </a:stretch>
        </p:blipFill>
        <p:spPr bwMode="auto">
          <a:xfrm>
            <a:off x="1231900" y="2338388"/>
            <a:ext cx="3648075" cy="384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822" name="Group 74"/>
          <p:cNvGrpSpPr>
            <a:grpSpLocks/>
          </p:cNvGrpSpPr>
          <p:nvPr/>
        </p:nvGrpSpPr>
        <p:grpSpPr bwMode="auto">
          <a:xfrm>
            <a:off x="5221288" y="2289175"/>
            <a:ext cx="3490912" cy="3232151"/>
            <a:chOff x="3289" y="1442"/>
            <a:chExt cx="2199" cy="2036"/>
          </a:xfrm>
        </p:grpSpPr>
        <p:graphicFrame>
          <p:nvGraphicFramePr>
            <p:cNvPr id="34823" name="Object 75"/>
            <p:cNvGraphicFramePr>
              <a:graphicFrameLocks noChangeAspect="1"/>
            </p:cNvGraphicFramePr>
            <p:nvPr/>
          </p:nvGraphicFramePr>
          <p:xfrm>
            <a:off x="3289" y="1473"/>
            <a:ext cx="230" cy="221"/>
          </p:xfrm>
          <a:graphic>
            <a:graphicData uri="http://schemas.openxmlformats.org/presentationml/2006/ole">
              <mc:AlternateContent xmlns:mc="http://schemas.openxmlformats.org/markup-compatibility/2006">
                <mc:Choice xmlns:v="urn:schemas-microsoft-com:vml" Requires="v">
                  <p:oleObj name="BMP 图象" r:id="rId3" imgW="685714" imgH="676369" progId="Paint.Picture">
                    <p:embed/>
                  </p:oleObj>
                </mc:Choice>
                <mc:Fallback>
                  <p:oleObj name="BMP 图象" r:id="rId3" imgW="685714" imgH="676369" progId="Paint.Picture">
                    <p:embed/>
                    <p:pic>
                      <p:nvPicPr>
                        <p:cNvPr id="0" name="Object 75"/>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89" y="1473"/>
                          <a:ext cx="230" cy="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24" name="Object 76"/>
            <p:cNvGraphicFramePr>
              <a:graphicFrameLocks noChangeAspect="1"/>
            </p:cNvGraphicFramePr>
            <p:nvPr/>
          </p:nvGraphicFramePr>
          <p:xfrm>
            <a:off x="3289" y="1822"/>
            <a:ext cx="230" cy="220"/>
          </p:xfrm>
          <a:graphic>
            <a:graphicData uri="http://schemas.openxmlformats.org/presentationml/2006/ole">
              <mc:AlternateContent xmlns:mc="http://schemas.openxmlformats.org/markup-compatibility/2006">
                <mc:Choice xmlns:v="urn:schemas-microsoft-com:vml" Requires="v">
                  <p:oleObj name="BMP 图象" r:id="rId5" imgW="685714" imgH="676369" progId="Paint.Picture">
                    <p:embed/>
                  </p:oleObj>
                </mc:Choice>
                <mc:Fallback>
                  <p:oleObj name="BMP 图象" r:id="rId5" imgW="685714" imgH="676369" progId="Paint.Picture">
                    <p:embed/>
                    <p:pic>
                      <p:nvPicPr>
                        <p:cNvPr id="0" name="Object 76"/>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89" y="1822"/>
                          <a:ext cx="230" cy="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25" name="Object 77"/>
            <p:cNvGraphicFramePr>
              <a:graphicFrameLocks noChangeAspect="1"/>
            </p:cNvGraphicFramePr>
            <p:nvPr/>
          </p:nvGraphicFramePr>
          <p:xfrm>
            <a:off x="3289" y="2171"/>
            <a:ext cx="230" cy="221"/>
          </p:xfrm>
          <a:graphic>
            <a:graphicData uri="http://schemas.openxmlformats.org/presentationml/2006/ole">
              <mc:AlternateContent xmlns:mc="http://schemas.openxmlformats.org/markup-compatibility/2006">
                <mc:Choice xmlns:v="urn:schemas-microsoft-com:vml" Requires="v">
                  <p:oleObj name="BMP 图象" r:id="rId6" imgW="685714" imgH="676369" progId="Paint.Picture">
                    <p:embed/>
                  </p:oleObj>
                </mc:Choice>
                <mc:Fallback>
                  <p:oleObj name="BMP 图象" r:id="rId6" imgW="685714" imgH="676369" progId="Paint.Picture">
                    <p:embed/>
                    <p:pic>
                      <p:nvPicPr>
                        <p:cNvPr id="0" name="Object 77"/>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89" y="2171"/>
                          <a:ext cx="230" cy="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26" name="Object 78"/>
            <p:cNvGraphicFramePr>
              <a:graphicFrameLocks noChangeAspect="1"/>
            </p:cNvGraphicFramePr>
            <p:nvPr/>
          </p:nvGraphicFramePr>
          <p:xfrm>
            <a:off x="3289" y="2520"/>
            <a:ext cx="230" cy="221"/>
          </p:xfrm>
          <a:graphic>
            <a:graphicData uri="http://schemas.openxmlformats.org/presentationml/2006/ole">
              <mc:AlternateContent xmlns:mc="http://schemas.openxmlformats.org/markup-compatibility/2006">
                <mc:Choice xmlns:v="urn:schemas-microsoft-com:vml" Requires="v">
                  <p:oleObj name="BMP 图象" r:id="rId7" imgW="685714" imgH="676369" progId="Paint.Picture">
                    <p:embed/>
                  </p:oleObj>
                </mc:Choice>
                <mc:Fallback>
                  <p:oleObj name="BMP 图象" r:id="rId7" imgW="685714" imgH="676369" progId="Paint.Picture">
                    <p:embed/>
                    <p:pic>
                      <p:nvPicPr>
                        <p:cNvPr id="0" name="Object 78"/>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89" y="2520"/>
                          <a:ext cx="230" cy="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27" name="Object 79"/>
            <p:cNvGraphicFramePr>
              <a:graphicFrameLocks noChangeAspect="1"/>
            </p:cNvGraphicFramePr>
            <p:nvPr/>
          </p:nvGraphicFramePr>
          <p:xfrm>
            <a:off x="3289" y="2870"/>
            <a:ext cx="230" cy="220"/>
          </p:xfrm>
          <a:graphic>
            <a:graphicData uri="http://schemas.openxmlformats.org/presentationml/2006/ole">
              <mc:AlternateContent xmlns:mc="http://schemas.openxmlformats.org/markup-compatibility/2006">
                <mc:Choice xmlns:v="urn:schemas-microsoft-com:vml" Requires="v">
                  <p:oleObj name="BMP 图象" r:id="rId8" imgW="685714" imgH="676369" progId="Paint.Picture">
                    <p:embed/>
                  </p:oleObj>
                </mc:Choice>
                <mc:Fallback>
                  <p:oleObj name="BMP 图象" r:id="rId8" imgW="685714" imgH="676369" progId="Paint.Picture">
                    <p:embed/>
                    <p:pic>
                      <p:nvPicPr>
                        <p:cNvPr id="0" name="Object 79"/>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89" y="2870"/>
                          <a:ext cx="230" cy="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828" name="Object 80"/>
            <p:cNvGraphicFramePr>
              <a:graphicFrameLocks noChangeAspect="1"/>
            </p:cNvGraphicFramePr>
            <p:nvPr/>
          </p:nvGraphicFramePr>
          <p:xfrm>
            <a:off x="3289" y="3220"/>
            <a:ext cx="230" cy="220"/>
          </p:xfrm>
          <a:graphic>
            <a:graphicData uri="http://schemas.openxmlformats.org/presentationml/2006/ole">
              <mc:AlternateContent xmlns:mc="http://schemas.openxmlformats.org/markup-compatibility/2006">
                <mc:Choice xmlns:v="urn:schemas-microsoft-com:vml" Requires="v">
                  <p:oleObj name="BMP 图象" r:id="rId9" imgW="685714" imgH="676369" progId="Paint.Picture">
                    <p:embed/>
                  </p:oleObj>
                </mc:Choice>
                <mc:Fallback>
                  <p:oleObj name="BMP 图象" r:id="rId9" imgW="685714" imgH="676369" progId="Paint.Picture">
                    <p:embed/>
                    <p:pic>
                      <p:nvPicPr>
                        <p:cNvPr id="0" name="Object 80"/>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89" y="3220"/>
                          <a:ext cx="230" cy="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4829" name="Rectangle 81"/>
            <p:cNvSpPr>
              <a:spLocks noChangeArrowheads="1"/>
            </p:cNvSpPr>
            <p:nvPr/>
          </p:nvSpPr>
          <p:spPr bwMode="auto">
            <a:xfrm>
              <a:off x="3584" y="1442"/>
              <a:ext cx="1904" cy="2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00000"/>
                </a:lnSpc>
                <a:buClrTx/>
                <a:buFontTx/>
                <a:buNone/>
              </a:pPr>
              <a:r>
                <a:rPr kumimoji="0" lang="zh-CN" altLang="en-US">
                  <a:solidFill>
                    <a:srgbClr val="000066"/>
                  </a:solidFill>
                  <a:latin typeface="黑体" pitchFamily="2" charset="-122"/>
                  <a:ea typeface="黑体" pitchFamily="2" charset="-122"/>
                </a:rPr>
                <a:t>5000次加法/秒</a:t>
              </a:r>
            </a:p>
            <a:p>
              <a:pPr eaLnBrk="0" hangingPunct="0">
                <a:lnSpc>
                  <a:spcPct val="100000"/>
                </a:lnSpc>
                <a:buClrTx/>
                <a:buFontTx/>
                <a:buNone/>
              </a:pPr>
              <a:r>
                <a:rPr kumimoji="0" lang="zh-CN" altLang="en-US">
                  <a:solidFill>
                    <a:srgbClr val="000066"/>
                  </a:solidFill>
                  <a:latin typeface="黑体" pitchFamily="2" charset="-122"/>
                  <a:ea typeface="黑体" pitchFamily="2" charset="-122"/>
                </a:rPr>
                <a:t>体重28吨</a:t>
              </a:r>
            </a:p>
            <a:p>
              <a:pPr eaLnBrk="0" hangingPunct="0">
                <a:lnSpc>
                  <a:spcPct val="100000"/>
                </a:lnSpc>
                <a:buClrTx/>
                <a:buFontTx/>
                <a:buNone/>
              </a:pPr>
              <a:r>
                <a:rPr kumimoji="0" lang="zh-CN" altLang="en-US">
                  <a:solidFill>
                    <a:srgbClr val="000066"/>
                  </a:solidFill>
                  <a:latin typeface="黑体" pitchFamily="2" charset="-122"/>
                  <a:ea typeface="黑体" pitchFamily="2" charset="-122"/>
                </a:rPr>
                <a:t>占地170</a:t>
              </a:r>
              <a:r>
                <a:rPr kumimoji="0" lang="en-US" altLang="zh-CN">
                  <a:solidFill>
                    <a:srgbClr val="000066"/>
                  </a:solidFill>
                  <a:latin typeface="黑体" pitchFamily="2" charset="-122"/>
                  <a:ea typeface="黑体" pitchFamily="2" charset="-122"/>
                </a:rPr>
                <a:t>m</a:t>
              </a:r>
              <a:r>
                <a:rPr kumimoji="0" lang="en-US" altLang="zh-CN" baseline="30000">
                  <a:solidFill>
                    <a:srgbClr val="000066"/>
                  </a:solidFill>
                  <a:latin typeface="黑体" pitchFamily="2" charset="-122"/>
                  <a:ea typeface="黑体" pitchFamily="2" charset="-122"/>
                </a:rPr>
                <a:t>2</a:t>
              </a:r>
            </a:p>
            <a:p>
              <a:pPr eaLnBrk="0" hangingPunct="0">
                <a:lnSpc>
                  <a:spcPct val="100000"/>
                </a:lnSpc>
                <a:buClrTx/>
                <a:buFontTx/>
                <a:buNone/>
              </a:pPr>
              <a:r>
                <a:rPr kumimoji="0" lang="en-US" altLang="zh-CN">
                  <a:solidFill>
                    <a:srgbClr val="000066"/>
                  </a:solidFill>
                  <a:latin typeface="黑体" pitchFamily="2" charset="-122"/>
                  <a:ea typeface="黑体" pitchFamily="2" charset="-122"/>
                </a:rPr>
                <a:t>18800</a:t>
              </a:r>
              <a:r>
                <a:rPr kumimoji="0" lang="zh-CN" altLang="en-US">
                  <a:solidFill>
                    <a:srgbClr val="000066"/>
                  </a:solidFill>
                  <a:latin typeface="黑体" pitchFamily="2" charset="-122"/>
                  <a:ea typeface="黑体" pitchFamily="2" charset="-122"/>
                </a:rPr>
                <a:t>只电子管</a:t>
              </a:r>
            </a:p>
            <a:p>
              <a:pPr eaLnBrk="0" hangingPunct="0">
                <a:lnSpc>
                  <a:spcPct val="100000"/>
                </a:lnSpc>
                <a:buClrTx/>
                <a:buFontTx/>
                <a:buNone/>
              </a:pPr>
              <a:r>
                <a:rPr kumimoji="0" lang="zh-CN" altLang="en-US">
                  <a:solidFill>
                    <a:srgbClr val="000066"/>
                  </a:solidFill>
                  <a:latin typeface="黑体" pitchFamily="2" charset="-122"/>
                  <a:ea typeface="黑体" pitchFamily="2" charset="-122"/>
                </a:rPr>
                <a:t>1500个继电器</a:t>
              </a:r>
            </a:p>
            <a:p>
              <a:pPr eaLnBrk="0" hangingPunct="0">
                <a:lnSpc>
                  <a:spcPct val="100000"/>
                </a:lnSpc>
                <a:buClrTx/>
                <a:buFontTx/>
                <a:buNone/>
              </a:pPr>
              <a:r>
                <a:rPr kumimoji="0" lang="zh-CN" altLang="en-US">
                  <a:solidFill>
                    <a:srgbClr val="000066"/>
                  </a:solidFill>
                  <a:latin typeface="黑体" pitchFamily="2" charset="-122"/>
                  <a:ea typeface="黑体" pitchFamily="2" charset="-122"/>
                </a:rPr>
                <a:t>功率150</a:t>
              </a:r>
              <a:r>
                <a:rPr kumimoji="0" lang="en-US" altLang="zh-CN">
                  <a:solidFill>
                    <a:srgbClr val="000066"/>
                  </a:solidFill>
                  <a:latin typeface="黑体" pitchFamily="2" charset="-122"/>
                  <a:ea typeface="黑体" pitchFamily="2" charset="-122"/>
                </a:rPr>
                <a:t>KW</a:t>
              </a:r>
              <a:endParaRPr kumimoji="0" lang="zh-CN" altLang="en-US">
                <a:solidFill>
                  <a:srgbClr val="000066"/>
                </a:solidFill>
                <a:latin typeface="黑体" pitchFamily="2" charset="-122"/>
                <a:ea typeface="黑体" pitchFamily="2" charset="-122"/>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p:cNvSpPr>
            <a:spLocks noChangeArrowheads="1"/>
          </p:cNvSpPr>
          <p:nvPr/>
        </p:nvSpPr>
        <p:spPr bwMode="auto">
          <a:xfrm>
            <a:off x="977900" y="1090613"/>
            <a:ext cx="7848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pPr>
            <a:r>
              <a:rPr lang="zh-CN" altLang="en-US">
                <a:solidFill>
                  <a:srgbClr val="990000"/>
                </a:solidFill>
                <a:latin typeface="黑体" pitchFamily="2" charset="-122"/>
                <a:ea typeface="黑体" pitchFamily="2" charset="-122"/>
              </a:rPr>
              <a:t>1. 第一台电子计算机</a:t>
            </a:r>
            <a:r>
              <a:rPr lang="en-US" altLang="zh-CN">
                <a:solidFill>
                  <a:srgbClr val="990000"/>
                </a:solidFill>
                <a:latin typeface="黑体" pitchFamily="2" charset="-122"/>
                <a:ea typeface="黑体" pitchFamily="2" charset="-122"/>
              </a:rPr>
              <a:t>ENIAC</a:t>
            </a:r>
            <a:r>
              <a:rPr lang="en-US" altLang="zh-CN">
                <a:solidFill>
                  <a:srgbClr val="000080"/>
                </a:solidFill>
                <a:latin typeface="黑体" pitchFamily="2" charset="-122"/>
                <a:ea typeface="黑体" pitchFamily="2" charset="-122"/>
              </a:rPr>
              <a:t>    （1946</a:t>
            </a:r>
            <a:r>
              <a:rPr lang="zh-CN" altLang="en-US">
                <a:solidFill>
                  <a:srgbClr val="000080"/>
                </a:solidFill>
                <a:latin typeface="黑体" pitchFamily="2" charset="-122"/>
                <a:ea typeface="黑体" pitchFamily="2" charset="-122"/>
              </a:rPr>
              <a:t>年）</a:t>
            </a:r>
            <a:endParaRPr lang="zh-CN" altLang="en-US" b="0">
              <a:solidFill>
                <a:schemeClr val="tx1"/>
              </a:solidFill>
              <a:latin typeface="黑体" pitchFamily="2" charset="-122"/>
              <a:ea typeface="黑体" pitchFamily="2" charset="-122"/>
            </a:endParaRPr>
          </a:p>
        </p:txBody>
      </p:sp>
      <p:sp>
        <p:nvSpPr>
          <p:cNvPr id="35843" name="Rectangle 4"/>
          <p:cNvSpPr>
            <a:spLocks noChangeArrowheads="1"/>
          </p:cNvSpPr>
          <p:nvPr/>
        </p:nvSpPr>
        <p:spPr bwMode="auto">
          <a:xfrm>
            <a:off x="1587500" y="1552575"/>
            <a:ext cx="709930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buClrTx/>
              <a:buFontTx/>
              <a:buNone/>
            </a:pPr>
            <a:r>
              <a:rPr lang="zh-CN" altLang="en-US" sz="2200">
                <a:solidFill>
                  <a:schemeClr val="tx1"/>
                </a:solidFill>
                <a:latin typeface="黑体" pitchFamily="2" charset="-122"/>
                <a:ea typeface="黑体" pitchFamily="2" charset="-122"/>
              </a:rPr>
              <a:t>(</a:t>
            </a:r>
            <a:r>
              <a:rPr lang="en-US" altLang="zh-CN" sz="2200">
                <a:solidFill>
                  <a:srgbClr val="FF0000"/>
                </a:solidFill>
                <a:latin typeface="黑体" pitchFamily="2" charset="-122"/>
                <a:ea typeface="黑体" pitchFamily="2" charset="-122"/>
              </a:rPr>
              <a:t>E</a:t>
            </a:r>
            <a:r>
              <a:rPr lang="en-US" altLang="zh-CN" sz="2200">
                <a:solidFill>
                  <a:srgbClr val="000080"/>
                </a:solidFill>
                <a:latin typeface="黑体" pitchFamily="2" charset="-122"/>
                <a:ea typeface="黑体" pitchFamily="2" charset="-122"/>
              </a:rPr>
              <a:t>lectronic</a:t>
            </a:r>
            <a:r>
              <a:rPr lang="en-US" altLang="zh-CN" sz="2200">
                <a:latin typeface="黑体" pitchFamily="2" charset="-122"/>
                <a:ea typeface="黑体" pitchFamily="2" charset="-122"/>
              </a:rPr>
              <a:t> </a:t>
            </a:r>
            <a:r>
              <a:rPr lang="en-US" altLang="zh-CN" sz="2200">
                <a:solidFill>
                  <a:srgbClr val="FF0000"/>
                </a:solidFill>
                <a:latin typeface="黑体" pitchFamily="2" charset="-122"/>
                <a:ea typeface="黑体" pitchFamily="2" charset="-122"/>
              </a:rPr>
              <a:t>N</a:t>
            </a:r>
            <a:r>
              <a:rPr lang="en-US" altLang="zh-CN" sz="2200">
                <a:solidFill>
                  <a:srgbClr val="000080"/>
                </a:solidFill>
                <a:latin typeface="黑体" pitchFamily="2" charset="-122"/>
                <a:ea typeface="黑体" pitchFamily="2" charset="-122"/>
              </a:rPr>
              <a:t>umeirical</a:t>
            </a:r>
            <a:r>
              <a:rPr lang="en-US" altLang="zh-CN" sz="2200">
                <a:latin typeface="黑体" pitchFamily="2" charset="-122"/>
                <a:ea typeface="黑体" pitchFamily="2" charset="-122"/>
              </a:rPr>
              <a:t> </a:t>
            </a:r>
            <a:r>
              <a:rPr lang="en-US" altLang="zh-CN" sz="2200">
                <a:solidFill>
                  <a:srgbClr val="FF0000"/>
                </a:solidFill>
                <a:latin typeface="黑体" pitchFamily="2" charset="-122"/>
                <a:ea typeface="黑体" pitchFamily="2" charset="-122"/>
              </a:rPr>
              <a:t>I</a:t>
            </a:r>
            <a:r>
              <a:rPr lang="en-US" altLang="zh-CN" sz="2200">
                <a:solidFill>
                  <a:srgbClr val="000080"/>
                </a:solidFill>
                <a:latin typeface="黑体" pitchFamily="2" charset="-122"/>
                <a:ea typeface="黑体" pitchFamily="2" charset="-122"/>
              </a:rPr>
              <a:t>ntegrator </a:t>
            </a:r>
            <a:r>
              <a:rPr lang="en-US" altLang="zh-CN" sz="2200">
                <a:solidFill>
                  <a:srgbClr val="FF0000"/>
                </a:solidFill>
                <a:latin typeface="黑体" pitchFamily="2" charset="-122"/>
                <a:ea typeface="黑体" pitchFamily="2" charset="-122"/>
              </a:rPr>
              <a:t>A</a:t>
            </a:r>
            <a:r>
              <a:rPr lang="en-US" altLang="zh-CN" sz="2200">
                <a:solidFill>
                  <a:srgbClr val="000080"/>
                </a:solidFill>
                <a:latin typeface="黑体" pitchFamily="2" charset="-122"/>
                <a:ea typeface="黑体" pitchFamily="2" charset="-122"/>
              </a:rPr>
              <a:t>nd</a:t>
            </a:r>
            <a:r>
              <a:rPr lang="en-US" altLang="zh-CN" sz="2200">
                <a:latin typeface="黑体" pitchFamily="2" charset="-122"/>
                <a:ea typeface="黑体" pitchFamily="2" charset="-122"/>
              </a:rPr>
              <a:t> </a:t>
            </a:r>
            <a:r>
              <a:rPr lang="en-US" altLang="zh-CN" sz="2200">
                <a:solidFill>
                  <a:srgbClr val="FF0000"/>
                </a:solidFill>
                <a:latin typeface="黑体" pitchFamily="2" charset="-122"/>
                <a:ea typeface="黑体" pitchFamily="2" charset="-122"/>
              </a:rPr>
              <a:t>C</a:t>
            </a:r>
            <a:r>
              <a:rPr lang="en-US" altLang="zh-CN" sz="2200">
                <a:solidFill>
                  <a:srgbClr val="000080"/>
                </a:solidFill>
                <a:latin typeface="黑体" pitchFamily="2" charset="-122"/>
                <a:ea typeface="黑体" pitchFamily="2" charset="-122"/>
              </a:rPr>
              <a:t>alculator</a:t>
            </a:r>
            <a:r>
              <a:rPr lang="en-US" altLang="zh-CN" sz="2200">
                <a:latin typeface="黑体" pitchFamily="2" charset="-122"/>
                <a:ea typeface="黑体" pitchFamily="2" charset="-122"/>
              </a:rPr>
              <a:t>)</a:t>
            </a:r>
            <a:r>
              <a:rPr lang="en-US" altLang="zh-CN" sz="1100">
                <a:solidFill>
                  <a:schemeClr val="tx1"/>
                </a:solidFill>
                <a:latin typeface="黑体" pitchFamily="2" charset="-122"/>
                <a:ea typeface="黑体" pitchFamily="2" charset="-122"/>
              </a:rPr>
              <a:t> </a:t>
            </a:r>
            <a:endParaRPr lang="en-US" altLang="zh-CN" b="0">
              <a:solidFill>
                <a:schemeClr val="tx1"/>
              </a:solidFill>
              <a:latin typeface="黑体" pitchFamily="2" charset="-122"/>
              <a:ea typeface="黑体" pitchFamily="2" charset="-122"/>
            </a:endParaRPr>
          </a:p>
        </p:txBody>
      </p:sp>
      <p:sp>
        <p:nvSpPr>
          <p:cNvPr id="35844" name="Rectangle 5"/>
          <p:cNvSpPr>
            <a:spLocks noChangeArrowheads="1"/>
          </p:cNvSpPr>
          <p:nvPr/>
        </p:nvSpPr>
        <p:spPr bwMode="auto">
          <a:xfrm>
            <a:off x="406400" y="2043113"/>
            <a:ext cx="773430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spcBef>
                <a:spcPct val="0"/>
              </a:spcBef>
              <a:buClrTx/>
              <a:buFontTx/>
              <a:buNone/>
            </a:pPr>
            <a:r>
              <a:rPr lang="zh-CN" altLang="en-US">
                <a:solidFill>
                  <a:srgbClr val="800000"/>
                </a:solidFill>
                <a:latin typeface="黑体" pitchFamily="2" charset="-122"/>
                <a:ea typeface="黑体" pitchFamily="2" charset="-122"/>
              </a:rPr>
              <a:t>        电子计算机诞生的基础：</a:t>
            </a:r>
            <a:r>
              <a:rPr lang="zh-CN" altLang="en-US">
                <a:solidFill>
                  <a:srgbClr val="000080"/>
                </a:solidFill>
                <a:latin typeface="黑体" pitchFamily="2" charset="-122"/>
                <a:ea typeface="黑体" pitchFamily="2" charset="-122"/>
              </a:rPr>
              <a:t> </a:t>
            </a:r>
            <a:endParaRPr lang="zh-CN" altLang="en-US">
              <a:latin typeface="黑体" pitchFamily="2" charset="-122"/>
              <a:ea typeface="黑体" pitchFamily="2" charset="-122"/>
            </a:endParaRPr>
          </a:p>
          <a:p>
            <a:pPr algn="just" eaLnBrk="0" hangingPunct="0">
              <a:lnSpc>
                <a:spcPct val="150000"/>
              </a:lnSpc>
              <a:spcBef>
                <a:spcPct val="0"/>
              </a:spcBef>
              <a:buClrTx/>
              <a:buFontTx/>
              <a:buNone/>
            </a:pPr>
            <a:r>
              <a:rPr lang="zh-CN" altLang="en-US">
                <a:solidFill>
                  <a:srgbClr val="000080"/>
                </a:solidFill>
                <a:latin typeface="黑体" pitchFamily="2" charset="-122"/>
                <a:ea typeface="黑体" pitchFamily="2" charset="-122"/>
              </a:rPr>
              <a:t>             1) 电子管的出现； 	</a:t>
            </a:r>
          </a:p>
          <a:p>
            <a:pPr eaLnBrk="0" hangingPunct="0">
              <a:lnSpc>
                <a:spcPct val="150000"/>
              </a:lnSpc>
              <a:spcBef>
                <a:spcPct val="0"/>
              </a:spcBef>
              <a:buClrTx/>
              <a:buFontTx/>
              <a:buNone/>
            </a:pPr>
            <a:r>
              <a:rPr lang="zh-CN" altLang="en-US">
                <a:solidFill>
                  <a:srgbClr val="000080"/>
                </a:solidFill>
                <a:latin typeface="黑体" pitchFamily="2" charset="-122"/>
                <a:ea typeface="黑体" pitchFamily="2" charset="-122"/>
              </a:rPr>
              <a:t>             2) 战争的需要</a:t>
            </a:r>
            <a:r>
              <a:rPr lang="zh-CN" altLang="en-US">
                <a:latin typeface="黑体" pitchFamily="2" charset="-122"/>
                <a:ea typeface="黑体" pitchFamily="2" charset="-122"/>
              </a:rPr>
              <a:t> </a:t>
            </a:r>
            <a:endParaRPr lang="zh-CN" altLang="en-US" b="0">
              <a:solidFill>
                <a:schemeClr val="tx1"/>
              </a:solidFill>
              <a:latin typeface="黑体" pitchFamily="2" charset="-122"/>
              <a:ea typeface="黑体" pitchFamily="2" charset="-122"/>
            </a:endParaRPr>
          </a:p>
        </p:txBody>
      </p:sp>
      <p:sp>
        <p:nvSpPr>
          <p:cNvPr id="576518" name="Rectangle 6"/>
          <p:cNvSpPr>
            <a:spLocks noChangeArrowheads="1"/>
          </p:cNvSpPr>
          <p:nvPr/>
        </p:nvSpPr>
        <p:spPr bwMode="auto">
          <a:xfrm>
            <a:off x="393700" y="3744913"/>
            <a:ext cx="75565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50000"/>
              </a:lnSpc>
              <a:spcBef>
                <a:spcPct val="0"/>
              </a:spcBef>
              <a:buClrTx/>
              <a:buFontTx/>
              <a:buNone/>
            </a:pPr>
            <a:r>
              <a:rPr lang="zh-CN" altLang="en-US">
                <a:solidFill>
                  <a:srgbClr val="800000"/>
                </a:solidFill>
                <a:latin typeface="黑体" pitchFamily="2" charset="-122"/>
                <a:ea typeface="黑体" pitchFamily="2" charset="-122"/>
              </a:rPr>
              <a:t>        计算机发展的主要动力：</a:t>
            </a:r>
            <a:r>
              <a:rPr lang="zh-CN" altLang="en-US">
                <a:solidFill>
                  <a:srgbClr val="008000"/>
                </a:solidFill>
                <a:latin typeface="黑体" pitchFamily="2" charset="-122"/>
                <a:ea typeface="黑体" pitchFamily="2" charset="-122"/>
              </a:rPr>
              <a:t> </a:t>
            </a:r>
            <a:endParaRPr lang="zh-CN" altLang="en-US">
              <a:latin typeface="黑体" pitchFamily="2" charset="-122"/>
              <a:ea typeface="黑体" pitchFamily="2" charset="-122"/>
            </a:endParaRPr>
          </a:p>
          <a:p>
            <a:pPr algn="just" eaLnBrk="0" hangingPunct="0">
              <a:lnSpc>
                <a:spcPct val="150000"/>
              </a:lnSpc>
              <a:spcBef>
                <a:spcPct val="0"/>
              </a:spcBef>
              <a:buClrTx/>
              <a:buFontTx/>
              <a:buNone/>
            </a:pPr>
            <a:r>
              <a:rPr lang="zh-CN" altLang="en-US">
                <a:solidFill>
                  <a:srgbClr val="000080"/>
                </a:solidFill>
                <a:latin typeface="黑体" pitchFamily="2" charset="-122"/>
                <a:ea typeface="黑体" pitchFamily="2" charset="-122"/>
              </a:rPr>
              <a:t>             1) 微电子技术的发展;	</a:t>
            </a:r>
          </a:p>
          <a:p>
            <a:pPr eaLnBrk="0" hangingPunct="0">
              <a:lnSpc>
                <a:spcPct val="150000"/>
              </a:lnSpc>
              <a:spcBef>
                <a:spcPct val="0"/>
              </a:spcBef>
              <a:buClrTx/>
              <a:buFontTx/>
              <a:buNone/>
            </a:pPr>
            <a:r>
              <a:rPr lang="zh-CN" altLang="en-US">
                <a:solidFill>
                  <a:srgbClr val="000080"/>
                </a:solidFill>
                <a:latin typeface="黑体" pitchFamily="2" charset="-122"/>
                <a:ea typeface="黑体" pitchFamily="2" charset="-122"/>
              </a:rPr>
              <a:t>             2) 应用</a:t>
            </a:r>
            <a:r>
              <a:rPr lang="zh-CN" altLang="en-US">
                <a:latin typeface="黑体" pitchFamily="2" charset="-122"/>
                <a:ea typeface="黑体" pitchFamily="2" charset="-122"/>
              </a:rPr>
              <a:t> </a:t>
            </a:r>
            <a:endParaRPr lang="zh-CN" altLang="en-US" b="0">
              <a:solidFill>
                <a:schemeClr val="tx1"/>
              </a:solidFill>
              <a:latin typeface="黑体" pitchFamily="2" charset="-122"/>
              <a:ea typeface="黑体" pitchFamily="2" charset="-122"/>
            </a:endParaRPr>
          </a:p>
        </p:txBody>
      </p:sp>
      <p:sp>
        <p:nvSpPr>
          <p:cNvPr id="35846" name="Rectangle 2"/>
          <p:cNvSpPr>
            <a:spLocks noChangeArrowheads="1"/>
          </p:cNvSpPr>
          <p:nvPr/>
        </p:nvSpPr>
        <p:spPr bwMode="auto">
          <a:xfrm>
            <a:off x="0" y="45402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gn="ctr">
              <a:lnSpc>
                <a:spcPct val="100000"/>
              </a:lnSpc>
              <a:spcBef>
                <a:spcPct val="0"/>
              </a:spcBef>
              <a:buClrTx/>
              <a:buFontTx/>
              <a:buNone/>
            </a:pPr>
            <a:r>
              <a:rPr lang="zh-CN" altLang="en-US" sz="2600">
                <a:solidFill>
                  <a:srgbClr val="800000"/>
                </a:solidFill>
                <a:latin typeface="黑体" pitchFamily="2" charset="-122"/>
                <a:ea typeface="黑体" pitchFamily="2" charset="-122"/>
              </a:rPr>
              <a:t>§1.4 计算机的发展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76518"/>
                                        </p:tgtEl>
                                        <p:attrNameLst>
                                          <p:attrName>style.visibility</p:attrName>
                                        </p:attrNameLst>
                                      </p:cBhvr>
                                      <p:to>
                                        <p:strVal val="visible"/>
                                      </p:to>
                                    </p:set>
                                    <p:animEffect transition="in" filter="wipe(up)">
                                      <p:cBhvr>
                                        <p:cTn id="7" dur="500"/>
                                        <p:tgtEl>
                                          <p:spTgt spid="576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6518"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ChangeArrowheads="1"/>
          </p:cNvSpPr>
          <p:nvPr/>
        </p:nvSpPr>
        <p:spPr bwMode="auto">
          <a:xfrm>
            <a:off x="609600" y="928688"/>
            <a:ext cx="7734300" cy="247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algn="just">
              <a:lnSpc>
                <a:spcPct val="150000"/>
              </a:lnSpc>
              <a:spcBef>
                <a:spcPct val="0"/>
              </a:spcBef>
              <a:buClrTx/>
              <a:buFontTx/>
              <a:buNone/>
            </a:pPr>
            <a:r>
              <a:rPr lang="zh-CN" altLang="en-US">
                <a:solidFill>
                  <a:srgbClr val="990000"/>
                </a:solidFill>
                <a:latin typeface="黑体" pitchFamily="2" charset="-122"/>
                <a:ea typeface="黑体" pitchFamily="2" charset="-122"/>
              </a:rPr>
              <a:t>2. 计算机发展的几个阶段</a:t>
            </a:r>
          </a:p>
          <a:p>
            <a:pPr indent="266700" algn="just" eaLnBrk="0" hangingPunct="0">
              <a:lnSpc>
                <a:spcPct val="150000"/>
              </a:lnSpc>
              <a:spcBef>
                <a:spcPct val="0"/>
              </a:spcBef>
              <a:buClrTx/>
              <a:buFontTx/>
              <a:buNone/>
            </a:pPr>
            <a:r>
              <a:rPr lang="zh-CN" altLang="en-US" sz="1600">
                <a:solidFill>
                  <a:srgbClr val="000080"/>
                </a:solidFill>
                <a:latin typeface="黑体" pitchFamily="2" charset="-122"/>
                <a:ea typeface="黑体" pitchFamily="2" charset="-122"/>
              </a:rPr>
              <a:t>       1946—1959 电子管,软件处于初级阶段,使用机器/汇编语言；(</a:t>
            </a:r>
            <a:r>
              <a:rPr lang="en-US" altLang="zh-CN" sz="1600">
                <a:solidFill>
                  <a:srgbClr val="000080"/>
                </a:solidFill>
                <a:latin typeface="黑体" pitchFamily="2" charset="-122"/>
                <a:ea typeface="黑体" pitchFamily="2" charset="-122"/>
              </a:rPr>
              <a:t>IAS)</a:t>
            </a:r>
            <a:endParaRPr lang="en-US" altLang="zh-CN" sz="1000">
              <a:solidFill>
                <a:srgbClr val="000080"/>
              </a:solidFill>
              <a:latin typeface="黑体" pitchFamily="2" charset="-122"/>
              <a:ea typeface="黑体" pitchFamily="2" charset="-122"/>
            </a:endParaRPr>
          </a:p>
          <a:p>
            <a:pPr indent="266700" algn="just" eaLnBrk="0" hangingPunct="0">
              <a:lnSpc>
                <a:spcPct val="150000"/>
              </a:lnSpc>
              <a:spcBef>
                <a:spcPct val="0"/>
              </a:spcBef>
              <a:buClrTx/>
              <a:buFontTx/>
              <a:buNone/>
            </a:pPr>
            <a:r>
              <a:rPr lang="en-US" altLang="zh-CN" sz="1600">
                <a:solidFill>
                  <a:srgbClr val="000080"/>
                </a:solidFill>
                <a:latin typeface="黑体" pitchFamily="2" charset="-122"/>
                <a:ea typeface="黑体" pitchFamily="2" charset="-122"/>
              </a:rPr>
              <a:t>       1959—1964 </a:t>
            </a:r>
            <a:r>
              <a:rPr lang="zh-CN" altLang="en-US" sz="1600">
                <a:solidFill>
                  <a:srgbClr val="000080"/>
                </a:solidFill>
                <a:latin typeface="黑体" pitchFamily="2" charset="-122"/>
                <a:ea typeface="黑体" pitchFamily="2" charset="-122"/>
              </a:rPr>
              <a:t>晶体管, 软件开始使用高级语言；(</a:t>
            </a:r>
            <a:r>
              <a:rPr lang="en-US" altLang="zh-CN" sz="1600">
                <a:solidFill>
                  <a:srgbClr val="000080"/>
                </a:solidFill>
                <a:latin typeface="黑体" pitchFamily="2" charset="-122"/>
                <a:ea typeface="黑体" pitchFamily="2" charset="-122"/>
              </a:rPr>
              <a:t>IBM7094,CDC1604)</a:t>
            </a:r>
            <a:endParaRPr lang="en-US" altLang="zh-CN" sz="1000">
              <a:solidFill>
                <a:srgbClr val="000080"/>
              </a:solidFill>
              <a:latin typeface="黑体" pitchFamily="2" charset="-122"/>
              <a:ea typeface="黑体" pitchFamily="2" charset="-122"/>
            </a:endParaRPr>
          </a:p>
          <a:p>
            <a:pPr indent="266700" algn="just" eaLnBrk="0" hangingPunct="0">
              <a:lnSpc>
                <a:spcPct val="150000"/>
              </a:lnSpc>
              <a:spcBef>
                <a:spcPct val="0"/>
              </a:spcBef>
              <a:buClrTx/>
              <a:buFontTx/>
              <a:buNone/>
            </a:pPr>
            <a:r>
              <a:rPr lang="en-US" altLang="zh-CN" sz="1600">
                <a:solidFill>
                  <a:srgbClr val="000080"/>
                </a:solidFill>
                <a:latin typeface="黑体" pitchFamily="2" charset="-122"/>
                <a:ea typeface="黑体" pitchFamily="2" charset="-122"/>
              </a:rPr>
              <a:t>       1964—1975 SSI，MSI，</a:t>
            </a:r>
            <a:r>
              <a:rPr lang="zh-CN" altLang="en-US" sz="1600">
                <a:solidFill>
                  <a:srgbClr val="000080"/>
                </a:solidFill>
                <a:latin typeface="黑体" pitchFamily="2" charset="-122"/>
                <a:ea typeface="黑体" pitchFamily="2" charset="-122"/>
              </a:rPr>
              <a:t>出现操作系统、</a:t>
            </a:r>
            <a:r>
              <a:rPr lang="en-US" altLang="zh-CN" sz="1600">
                <a:solidFill>
                  <a:srgbClr val="000080"/>
                </a:solidFill>
                <a:latin typeface="黑体" pitchFamily="2" charset="-122"/>
                <a:ea typeface="黑体" pitchFamily="2" charset="-122"/>
              </a:rPr>
              <a:t>MIS, </a:t>
            </a:r>
            <a:r>
              <a:rPr lang="zh-CN" altLang="en-US" sz="1600">
                <a:solidFill>
                  <a:srgbClr val="000080"/>
                </a:solidFill>
                <a:latin typeface="黑体" pitchFamily="2" charset="-122"/>
                <a:ea typeface="黑体" pitchFamily="2" charset="-122"/>
              </a:rPr>
              <a:t>微型机、系列机</a:t>
            </a:r>
            <a:endParaRPr lang="zh-CN" altLang="en-US" sz="1000">
              <a:solidFill>
                <a:srgbClr val="000080"/>
              </a:solidFill>
              <a:latin typeface="黑体" pitchFamily="2" charset="-122"/>
              <a:ea typeface="黑体" pitchFamily="2" charset="-122"/>
            </a:endParaRPr>
          </a:p>
          <a:p>
            <a:pPr indent="266700" algn="just" eaLnBrk="0" hangingPunct="0">
              <a:lnSpc>
                <a:spcPct val="150000"/>
              </a:lnSpc>
              <a:spcBef>
                <a:spcPct val="0"/>
              </a:spcBef>
              <a:buClrTx/>
              <a:buFontTx/>
              <a:buNone/>
            </a:pPr>
            <a:r>
              <a:rPr lang="zh-CN" altLang="en-US" sz="1600">
                <a:solidFill>
                  <a:srgbClr val="000080"/>
                </a:solidFill>
                <a:latin typeface="黑体" pitchFamily="2" charset="-122"/>
                <a:ea typeface="黑体" pitchFamily="2" charset="-122"/>
              </a:rPr>
              <a:t>       1975—1990 </a:t>
            </a:r>
            <a:r>
              <a:rPr lang="en-US" altLang="zh-CN" sz="1600">
                <a:solidFill>
                  <a:srgbClr val="000080"/>
                </a:solidFill>
                <a:latin typeface="黑体" pitchFamily="2" charset="-122"/>
                <a:ea typeface="黑体" pitchFamily="2" charset="-122"/>
              </a:rPr>
              <a:t>LSI,VLSI，</a:t>
            </a:r>
            <a:r>
              <a:rPr lang="zh-CN" altLang="en-US" sz="1600">
                <a:solidFill>
                  <a:srgbClr val="000080"/>
                </a:solidFill>
                <a:latin typeface="黑体" pitchFamily="2" charset="-122"/>
                <a:ea typeface="黑体" pitchFamily="2" charset="-122"/>
              </a:rPr>
              <a:t>出现</a:t>
            </a:r>
            <a:r>
              <a:rPr lang="en-US" altLang="zh-CN" sz="1600">
                <a:solidFill>
                  <a:srgbClr val="000080"/>
                </a:solidFill>
                <a:latin typeface="黑体" pitchFamily="2" charset="-122"/>
                <a:ea typeface="黑体" pitchFamily="2" charset="-122"/>
              </a:rPr>
              <a:t>DBMS、</a:t>
            </a:r>
            <a:r>
              <a:rPr lang="zh-CN" altLang="en-US" sz="1600">
                <a:solidFill>
                  <a:srgbClr val="000080"/>
                </a:solidFill>
                <a:latin typeface="黑体" pitchFamily="2" charset="-122"/>
                <a:ea typeface="黑体" pitchFamily="2" charset="-122"/>
              </a:rPr>
              <a:t>网络，软件产业迅速发展。微机分支</a:t>
            </a:r>
            <a:endParaRPr lang="zh-CN" altLang="en-US" sz="1000">
              <a:solidFill>
                <a:srgbClr val="000080"/>
              </a:solidFill>
              <a:latin typeface="黑体" pitchFamily="2" charset="-122"/>
              <a:ea typeface="黑体" pitchFamily="2" charset="-122"/>
            </a:endParaRPr>
          </a:p>
          <a:p>
            <a:pPr indent="266700" eaLnBrk="0" hangingPunct="0">
              <a:lnSpc>
                <a:spcPct val="150000"/>
              </a:lnSpc>
              <a:spcBef>
                <a:spcPct val="0"/>
              </a:spcBef>
              <a:buClrTx/>
              <a:buFontTx/>
              <a:buNone/>
            </a:pPr>
            <a:r>
              <a:rPr lang="zh-CN" altLang="en-US" sz="1600">
                <a:solidFill>
                  <a:srgbClr val="000080"/>
                </a:solidFill>
                <a:latin typeface="黑体" pitchFamily="2" charset="-122"/>
                <a:ea typeface="黑体" pitchFamily="2" charset="-122"/>
              </a:rPr>
              <a:t>       1990—     </a:t>
            </a:r>
            <a:r>
              <a:rPr lang="en-US" altLang="zh-CN" sz="1600">
                <a:solidFill>
                  <a:srgbClr val="000080"/>
                </a:solidFill>
                <a:latin typeface="黑体" pitchFamily="2" charset="-122"/>
                <a:ea typeface="黑体" pitchFamily="2" charset="-122"/>
              </a:rPr>
              <a:t>ULSI/ ELSI（</a:t>
            </a:r>
            <a:r>
              <a:rPr lang="zh-CN" altLang="en-US" sz="1600">
                <a:solidFill>
                  <a:srgbClr val="000080"/>
                </a:solidFill>
                <a:latin typeface="黑体" pitchFamily="2" charset="-122"/>
                <a:ea typeface="黑体" pitchFamily="2" charset="-122"/>
              </a:rPr>
              <a:t>甚大/极大规模集成电路），超标量技术</a:t>
            </a:r>
            <a:r>
              <a:rPr lang="zh-CN" altLang="en-US" sz="1100">
                <a:latin typeface="黑体" pitchFamily="2" charset="-122"/>
                <a:ea typeface="黑体" pitchFamily="2" charset="-122"/>
              </a:rPr>
              <a:t> </a:t>
            </a:r>
            <a:endParaRPr lang="zh-CN" altLang="en-US" b="0">
              <a:solidFill>
                <a:schemeClr val="tx1"/>
              </a:solidFill>
              <a:latin typeface="黑体" pitchFamily="2" charset="-122"/>
              <a:ea typeface="黑体" pitchFamily="2" charset="-122"/>
            </a:endParaRPr>
          </a:p>
        </p:txBody>
      </p:sp>
      <p:sp>
        <p:nvSpPr>
          <p:cNvPr id="566280" name="Rectangle 8"/>
          <p:cNvSpPr>
            <a:spLocks noChangeArrowheads="1"/>
          </p:cNvSpPr>
          <p:nvPr/>
        </p:nvSpPr>
        <p:spPr bwMode="auto">
          <a:xfrm>
            <a:off x="622300" y="3506788"/>
            <a:ext cx="8128000" cy="247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indent="266700" algn="just">
              <a:lnSpc>
                <a:spcPct val="150000"/>
              </a:lnSpc>
              <a:spcBef>
                <a:spcPct val="0"/>
              </a:spcBef>
              <a:buClrTx/>
              <a:buFontTx/>
              <a:buNone/>
            </a:pPr>
            <a:r>
              <a:rPr lang="zh-CN" altLang="en-US">
                <a:solidFill>
                  <a:srgbClr val="990000"/>
                </a:solidFill>
                <a:latin typeface="黑体" pitchFamily="2" charset="-122"/>
                <a:ea typeface="黑体" pitchFamily="2" charset="-122"/>
              </a:rPr>
              <a:t>3. 微型计算机发展的五个阶段</a:t>
            </a:r>
          </a:p>
          <a:p>
            <a:pPr indent="266700" algn="just" eaLnBrk="0" hangingPunct="0">
              <a:lnSpc>
                <a:spcPct val="150000"/>
              </a:lnSpc>
              <a:spcBef>
                <a:spcPct val="0"/>
              </a:spcBef>
              <a:buClrTx/>
              <a:buFontTx/>
              <a:buNone/>
            </a:pPr>
            <a:r>
              <a:rPr lang="zh-CN" altLang="en-US" sz="1600">
                <a:solidFill>
                  <a:srgbClr val="000080"/>
                </a:solidFill>
                <a:latin typeface="黑体" pitchFamily="2" charset="-122"/>
                <a:ea typeface="黑体" pitchFamily="2" charset="-122"/>
              </a:rPr>
              <a:t>      1971—1972 4位和8位微处理器，2000器件/片。</a:t>
            </a:r>
            <a:endParaRPr lang="zh-CN" altLang="en-US" sz="1000">
              <a:solidFill>
                <a:srgbClr val="000080"/>
              </a:solidFill>
              <a:latin typeface="黑体" pitchFamily="2" charset="-122"/>
              <a:ea typeface="黑体" pitchFamily="2" charset="-122"/>
            </a:endParaRPr>
          </a:p>
          <a:p>
            <a:pPr indent="266700" algn="just" eaLnBrk="0" hangingPunct="0">
              <a:lnSpc>
                <a:spcPct val="150000"/>
              </a:lnSpc>
              <a:spcBef>
                <a:spcPct val="0"/>
              </a:spcBef>
              <a:buClrTx/>
              <a:buFontTx/>
              <a:buNone/>
            </a:pPr>
            <a:r>
              <a:rPr lang="zh-CN" altLang="en-US" sz="1600">
                <a:solidFill>
                  <a:srgbClr val="000080"/>
                </a:solidFill>
                <a:latin typeface="黑体" pitchFamily="2" charset="-122"/>
                <a:ea typeface="黑体" pitchFamily="2" charset="-122"/>
              </a:rPr>
              <a:t>      1973—1977 8位微处理器，10000器件/片，微机外设得到发展。</a:t>
            </a:r>
            <a:endParaRPr lang="zh-CN" altLang="en-US" sz="1000">
              <a:solidFill>
                <a:srgbClr val="000080"/>
              </a:solidFill>
              <a:latin typeface="黑体" pitchFamily="2" charset="-122"/>
              <a:ea typeface="黑体" pitchFamily="2" charset="-122"/>
            </a:endParaRPr>
          </a:p>
          <a:p>
            <a:pPr indent="266700" algn="just" eaLnBrk="0" hangingPunct="0">
              <a:lnSpc>
                <a:spcPct val="150000"/>
              </a:lnSpc>
              <a:spcBef>
                <a:spcPct val="0"/>
              </a:spcBef>
              <a:buClrTx/>
              <a:buFontTx/>
              <a:buNone/>
            </a:pPr>
            <a:r>
              <a:rPr lang="zh-CN" altLang="en-US" sz="1600">
                <a:solidFill>
                  <a:srgbClr val="000080"/>
                </a:solidFill>
                <a:latin typeface="黑体" pitchFamily="2" charset="-122"/>
                <a:ea typeface="黑体" pitchFamily="2" charset="-122"/>
              </a:rPr>
              <a:t>      1978—1980 16位微处理器，30000器件/片，功能相当于过去小型机。 </a:t>
            </a:r>
            <a:endParaRPr lang="zh-CN" altLang="en-US" sz="1000">
              <a:solidFill>
                <a:srgbClr val="000080"/>
              </a:solidFill>
              <a:latin typeface="黑体" pitchFamily="2" charset="-122"/>
              <a:ea typeface="黑体" pitchFamily="2" charset="-122"/>
            </a:endParaRPr>
          </a:p>
          <a:p>
            <a:pPr indent="266700" algn="just" eaLnBrk="0" hangingPunct="0">
              <a:lnSpc>
                <a:spcPct val="150000"/>
              </a:lnSpc>
              <a:spcBef>
                <a:spcPct val="0"/>
              </a:spcBef>
              <a:buClrTx/>
              <a:buFontTx/>
              <a:buNone/>
            </a:pPr>
            <a:r>
              <a:rPr lang="zh-CN" altLang="en-US" sz="1600">
                <a:solidFill>
                  <a:srgbClr val="000080"/>
                </a:solidFill>
                <a:latin typeface="黑体" pitchFamily="2" charset="-122"/>
                <a:ea typeface="黑体" pitchFamily="2" charset="-122"/>
              </a:rPr>
              <a:t>      1981—1995 32位微处理器，50万器件/片，相当于过去大中型机。</a:t>
            </a:r>
            <a:endParaRPr lang="zh-CN" altLang="en-US" sz="1000">
              <a:solidFill>
                <a:srgbClr val="000080"/>
              </a:solidFill>
              <a:latin typeface="黑体" pitchFamily="2" charset="-122"/>
              <a:ea typeface="黑体" pitchFamily="2" charset="-122"/>
            </a:endParaRPr>
          </a:p>
          <a:p>
            <a:pPr indent="266700" eaLnBrk="0" hangingPunct="0">
              <a:lnSpc>
                <a:spcPct val="150000"/>
              </a:lnSpc>
              <a:spcBef>
                <a:spcPct val="0"/>
              </a:spcBef>
              <a:buClrTx/>
              <a:buFontTx/>
              <a:buNone/>
            </a:pPr>
            <a:r>
              <a:rPr lang="zh-CN" altLang="en-US" sz="1600">
                <a:solidFill>
                  <a:srgbClr val="000080"/>
                </a:solidFill>
                <a:latin typeface="黑体" pitchFamily="2" charset="-122"/>
                <a:ea typeface="黑体" pitchFamily="2" charset="-122"/>
              </a:rPr>
              <a:t>      1996—  32-64位微处理器，100万器件以上/片，具有音频、视频处理能力。</a:t>
            </a:r>
            <a:r>
              <a:rPr lang="zh-CN" altLang="en-US" sz="1100">
                <a:latin typeface="黑体" pitchFamily="2" charset="-122"/>
                <a:ea typeface="黑体" pitchFamily="2" charset="-122"/>
              </a:rPr>
              <a:t> </a:t>
            </a:r>
            <a:endParaRPr lang="zh-CN" altLang="en-US" b="0">
              <a:solidFill>
                <a:schemeClr val="tx1"/>
              </a:solidFill>
              <a:latin typeface="黑体" pitchFamily="2" charset="-122"/>
              <a:ea typeface="黑体" pitchFamily="2" charset="-122"/>
            </a:endParaRPr>
          </a:p>
        </p:txBody>
      </p:sp>
      <p:sp>
        <p:nvSpPr>
          <p:cNvPr id="36868" name="Rectangle 2"/>
          <p:cNvSpPr>
            <a:spLocks noChangeArrowheads="1"/>
          </p:cNvSpPr>
          <p:nvPr/>
        </p:nvSpPr>
        <p:spPr bwMode="auto">
          <a:xfrm>
            <a:off x="0" y="45402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gn="ctr">
              <a:lnSpc>
                <a:spcPct val="100000"/>
              </a:lnSpc>
              <a:spcBef>
                <a:spcPct val="0"/>
              </a:spcBef>
              <a:buClrTx/>
              <a:buFontTx/>
              <a:buNone/>
            </a:pPr>
            <a:r>
              <a:rPr lang="zh-CN" altLang="en-US" sz="2600">
                <a:solidFill>
                  <a:srgbClr val="800000"/>
                </a:solidFill>
                <a:latin typeface="黑体" pitchFamily="2" charset="-122"/>
                <a:ea typeface="黑体" pitchFamily="2" charset="-122"/>
              </a:rPr>
              <a:t>§1.4 计算机的发展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66280"/>
                                        </p:tgtEl>
                                        <p:attrNameLst>
                                          <p:attrName>style.visibility</p:attrName>
                                        </p:attrNameLst>
                                      </p:cBhvr>
                                      <p:to>
                                        <p:strVal val="visible"/>
                                      </p:to>
                                    </p:set>
                                    <p:animEffect transition="in" filter="wipe(up)">
                                      <p:cBhvr>
                                        <p:cTn id="7" dur="500"/>
                                        <p:tgtEl>
                                          <p:spTgt spid="566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6280"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ChangeArrowheads="1"/>
          </p:cNvSpPr>
          <p:nvPr/>
        </p:nvSpPr>
        <p:spPr bwMode="auto">
          <a:xfrm>
            <a:off x="825500" y="1065213"/>
            <a:ext cx="7493000"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nSpc>
                <a:spcPct val="100000"/>
              </a:lnSpc>
              <a:spcBef>
                <a:spcPct val="0"/>
              </a:spcBef>
              <a:buClrTx/>
              <a:buFontTx/>
              <a:buNone/>
            </a:pPr>
            <a:r>
              <a:rPr lang="en-US" altLang="zh-CN" dirty="0">
                <a:solidFill>
                  <a:srgbClr val="800000"/>
                </a:solidFill>
                <a:latin typeface="黑体" pitchFamily="2" charset="-122"/>
                <a:ea typeface="黑体" pitchFamily="2" charset="-122"/>
              </a:rPr>
              <a:t>4</a:t>
            </a:r>
            <a:r>
              <a:rPr lang="zh-CN" altLang="en-US" dirty="0">
                <a:solidFill>
                  <a:srgbClr val="800000"/>
                </a:solidFill>
                <a:latin typeface="黑体" pitchFamily="2" charset="-122"/>
                <a:ea typeface="黑体" pitchFamily="2" charset="-122"/>
              </a:rPr>
              <a:t>．当代超级计算机</a:t>
            </a:r>
          </a:p>
          <a:p>
            <a:pPr eaLnBrk="0" hangingPunct="0">
              <a:lnSpc>
                <a:spcPct val="150000"/>
              </a:lnSpc>
              <a:spcBef>
                <a:spcPct val="0"/>
              </a:spcBef>
              <a:buClrTx/>
              <a:buFontTx/>
              <a:buNone/>
            </a:pPr>
            <a:r>
              <a:rPr lang="zh-CN" altLang="en-US" dirty="0">
                <a:solidFill>
                  <a:srgbClr val="000080"/>
                </a:solidFill>
                <a:latin typeface="黑体" pitchFamily="2" charset="-122"/>
                <a:ea typeface="黑体" pitchFamily="2" charset="-122"/>
              </a:rPr>
              <a:t>   世界超算</a:t>
            </a:r>
            <a:r>
              <a:rPr lang="en-US" altLang="zh-CN" dirty="0">
                <a:solidFill>
                  <a:srgbClr val="000080"/>
                </a:solidFill>
                <a:latin typeface="黑体" pitchFamily="2" charset="-122"/>
                <a:ea typeface="黑体" pitchFamily="2" charset="-122"/>
              </a:rPr>
              <a:t>500</a:t>
            </a:r>
            <a:r>
              <a:rPr lang="zh-CN" altLang="en-US" dirty="0">
                <a:solidFill>
                  <a:srgbClr val="000080"/>
                </a:solidFill>
                <a:latin typeface="黑体" pitchFamily="2" charset="-122"/>
                <a:ea typeface="黑体" pitchFamily="2" charset="-122"/>
              </a:rPr>
              <a:t>强排行榜（</a:t>
            </a:r>
            <a:r>
              <a:rPr lang="en-US" altLang="zh-CN" dirty="0">
                <a:solidFill>
                  <a:srgbClr val="000080"/>
                </a:solidFill>
                <a:latin typeface="黑体" pitchFamily="2" charset="-122"/>
                <a:ea typeface="黑体" pitchFamily="2" charset="-122"/>
              </a:rPr>
              <a:t>2023.2</a:t>
            </a:r>
            <a:r>
              <a:rPr lang="zh-CN" altLang="en-US" dirty="0">
                <a:solidFill>
                  <a:srgbClr val="000080"/>
                </a:solidFill>
                <a:latin typeface="黑体" pitchFamily="2" charset="-122"/>
                <a:ea typeface="黑体" pitchFamily="2" charset="-122"/>
              </a:rPr>
              <a:t>）</a:t>
            </a:r>
          </a:p>
          <a:p>
            <a:pPr eaLnBrk="0" hangingPunct="0">
              <a:lnSpc>
                <a:spcPct val="100000"/>
              </a:lnSpc>
              <a:spcBef>
                <a:spcPct val="0"/>
              </a:spcBef>
              <a:buClrTx/>
              <a:buFontTx/>
              <a:buNone/>
            </a:pPr>
            <a:r>
              <a:rPr lang="zh-CN" altLang="en-US" dirty="0">
                <a:solidFill>
                  <a:schemeClr val="hlink"/>
                </a:solidFill>
                <a:latin typeface="黑体" pitchFamily="2" charset="-122"/>
                <a:ea typeface="黑体" pitchFamily="2" charset="-122"/>
              </a:rPr>
              <a:t>      </a:t>
            </a:r>
            <a:r>
              <a:rPr lang="zh-CN" altLang="en-US" dirty="0">
                <a:solidFill>
                  <a:srgbClr val="FF0000"/>
                </a:solidFill>
                <a:latin typeface="黑体" pitchFamily="2" charset="-122"/>
                <a:ea typeface="黑体" pitchFamily="2" charset="-122"/>
              </a:rPr>
              <a:t>（ </a:t>
            </a:r>
            <a:r>
              <a:rPr lang="en-US" altLang="zh-CN" dirty="0">
                <a:solidFill>
                  <a:srgbClr val="FF0000"/>
                </a:solidFill>
                <a:latin typeface="黑体" pitchFamily="2" charset="-122"/>
                <a:ea typeface="黑体" pitchFamily="2" charset="-122"/>
              </a:rPr>
              <a:t>http://www.top500.org</a:t>
            </a:r>
            <a:r>
              <a:rPr lang="zh-CN" altLang="en-US" dirty="0">
                <a:solidFill>
                  <a:srgbClr val="FF0000"/>
                </a:solidFill>
                <a:latin typeface="黑体" pitchFamily="2" charset="-122"/>
                <a:ea typeface="黑体" pitchFamily="2" charset="-122"/>
              </a:rPr>
              <a:t>）</a:t>
            </a:r>
          </a:p>
        </p:txBody>
      </p:sp>
      <p:sp>
        <p:nvSpPr>
          <p:cNvPr id="37891" name="Rectangle 4"/>
          <p:cNvSpPr>
            <a:spLocks noChangeArrowheads="1"/>
          </p:cNvSpPr>
          <p:nvPr/>
        </p:nvSpPr>
        <p:spPr bwMode="auto">
          <a:xfrm>
            <a:off x="1433513" y="2502733"/>
            <a:ext cx="7324725" cy="319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816100" indent="-1816100">
              <a:lnSpc>
                <a:spcPct val="120000"/>
              </a:lnSpc>
              <a:spcBef>
                <a:spcPct val="0"/>
              </a:spcBef>
              <a:buClrTx/>
              <a:buFontTx/>
              <a:buNone/>
            </a:pPr>
            <a:r>
              <a:rPr lang="zh-CN" altLang="en-US" dirty="0">
                <a:solidFill>
                  <a:srgbClr val="000080"/>
                </a:solidFill>
                <a:latin typeface="黑体" pitchFamily="2" charset="-122"/>
                <a:ea typeface="黑体" pitchFamily="2" charset="-122"/>
              </a:rPr>
              <a:t> </a:t>
            </a:r>
            <a:r>
              <a:rPr lang="en-US" altLang="zh-CN" dirty="0">
                <a:solidFill>
                  <a:srgbClr val="000080"/>
                </a:solidFill>
                <a:latin typeface="黑体" pitchFamily="2" charset="-122"/>
                <a:ea typeface="黑体" pitchFamily="2" charset="-122"/>
              </a:rPr>
              <a:t>(1) Frontier </a:t>
            </a:r>
            <a:r>
              <a:rPr lang="zh-CN" altLang="en-US" dirty="0">
                <a:solidFill>
                  <a:srgbClr val="000080"/>
                </a:solidFill>
                <a:latin typeface="黑体" pitchFamily="2" charset="-122"/>
                <a:ea typeface="黑体" pitchFamily="2" charset="-122"/>
              </a:rPr>
              <a:t>美国 </a:t>
            </a:r>
            <a:r>
              <a:rPr lang="en-US" altLang="zh-CN" dirty="0">
                <a:solidFill>
                  <a:srgbClr val="000080"/>
                </a:solidFill>
                <a:latin typeface="黑体" pitchFamily="2" charset="-122"/>
                <a:ea typeface="黑体" pitchFamily="2" charset="-122"/>
              </a:rPr>
              <a:t>ORNL</a:t>
            </a:r>
          </a:p>
          <a:p>
            <a:pPr marL="1816100" indent="-1816100">
              <a:lnSpc>
                <a:spcPct val="120000"/>
              </a:lnSpc>
              <a:spcBef>
                <a:spcPct val="0"/>
              </a:spcBef>
              <a:buClrTx/>
              <a:buFontTx/>
              <a:buNone/>
            </a:pPr>
            <a:r>
              <a:rPr lang="en-US" altLang="zh-CN" dirty="0">
                <a:solidFill>
                  <a:srgbClr val="000080"/>
                </a:solidFill>
                <a:latin typeface="黑体" pitchFamily="2" charset="-122"/>
                <a:ea typeface="黑体" pitchFamily="2" charset="-122"/>
              </a:rPr>
              <a:t> (2) Supercomputer </a:t>
            </a:r>
            <a:r>
              <a:rPr lang="en-US" altLang="zh-CN" dirty="0" err="1">
                <a:solidFill>
                  <a:srgbClr val="000080"/>
                </a:solidFill>
                <a:latin typeface="黑体" pitchFamily="2" charset="-122"/>
                <a:ea typeface="黑体" pitchFamily="2" charset="-122"/>
              </a:rPr>
              <a:t>Fugaku</a:t>
            </a:r>
            <a:r>
              <a:rPr lang="en-US" altLang="zh-CN" dirty="0">
                <a:solidFill>
                  <a:srgbClr val="000080"/>
                </a:solidFill>
                <a:latin typeface="黑体" pitchFamily="2" charset="-122"/>
                <a:ea typeface="黑体" pitchFamily="2" charset="-122"/>
              </a:rPr>
              <a:t>  </a:t>
            </a:r>
            <a:r>
              <a:rPr lang="zh-CN" altLang="en-US" dirty="0">
                <a:solidFill>
                  <a:srgbClr val="000080"/>
                </a:solidFill>
                <a:latin typeface="黑体" pitchFamily="2" charset="-122"/>
                <a:ea typeface="黑体" pitchFamily="2" charset="-122"/>
              </a:rPr>
              <a:t>日本 富士通</a:t>
            </a:r>
            <a:endParaRPr lang="en-US" altLang="zh-CN" dirty="0">
              <a:solidFill>
                <a:srgbClr val="000080"/>
              </a:solidFill>
              <a:latin typeface="黑体" pitchFamily="2" charset="-122"/>
              <a:ea typeface="黑体" pitchFamily="2" charset="-122"/>
            </a:endParaRPr>
          </a:p>
          <a:p>
            <a:pPr marL="1816100" indent="-1816100">
              <a:lnSpc>
                <a:spcPct val="120000"/>
              </a:lnSpc>
              <a:spcBef>
                <a:spcPct val="0"/>
              </a:spcBef>
              <a:buClrTx/>
              <a:buFontTx/>
              <a:buNone/>
            </a:pPr>
            <a:r>
              <a:rPr lang="en-US" altLang="zh-CN" dirty="0">
                <a:solidFill>
                  <a:srgbClr val="000080"/>
                </a:solidFill>
                <a:latin typeface="黑体" pitchFamily="2" charset="-122"/>
                <a:ea typeface="黑体" pitchFamily="2" charset="-122"/>
              </a:rPr>
              <a:t> (3) LUMI    </a:t>
            </a:r>
            <a:r>
              <a:rPr lang="en-US" altLang="zh-CN" dirty="0" err="1">
                <a:solidFill>
                  <a:srgbClr val="000080"/>
                </a:solidFill>
                <a:latin typeface="黑体" pitchFamily="2" charset="-122"/>
                <a:ea typeface="黑体" pitchFamily="2" charset="-122"/>
              </a:rPr>
              <a:t>EuroHPC</a:t>
            </a:r>
            <a:r>
              <a:rPr lang="zh-CN" altLang="en-US" dirty="0">
                <a:solidFill>
                  <a:srgbClr val="000080"/>
                </a:solidFill>
                <a:latin typeface="黑体" pitchFamily="2" charset="-122"/>
                <a:ea typeface="黑体" pitchFamily="2" charset="-122"/>
              </a:rPr>
              <a:t>（欧洲高性能计算联合企业）</a:t>
            </a:r>
            <a:endParaRPr lang="en-US" altLang="zh-CN" dirty="0">
              <a:solidFill>
                <a:srgbClr val="000080"/>
              </a:solidFill>
              <a:latin typeface="黑体" pitchFamily="2" charset="-122"/>
              <a:ea typeface="黑体" pitchFamily="2" charset="-122"/>
            </a:endParaRPr>
          </a:p>
          <a:p>
            <a:pPr marL="1816100" indent="-1816100">
              <a:lnSpc>
                <a:spcPct val="120000"/>
              </a:lnSpc>
              <a:spcBef>
                <a:spcPct val="0"/>
              </a:spcBef>
              <a:buClrTx/>
              <a:buFontTx/>
              <a:buNone/>
            </a:pPr>
            <a:r>
              <a:rPr lang="zh-CN" altLang="en-US" dirty="0">
                <a:solidFill>
                  <a:srgbClr val="000080"/>
                </a:solidFill>
                <a:latin typeface="黑体" pitchFamily="2" charset="-122"/>
                <a:ea typeface="黑体" pitchFamily="2" charset="-122"/>
              </a:rPr>
              <a:t>（</a:t>
            </a:r>
            <a:r>
              <a:rPr lang="en-US" altLang="zh-CN" dirty="0">
                <a:solidFill>
                  <a:srgbClr val="000080"/>
                </a:solidFill>
                <a:latin typeface="黑体" pitchFamily="2" charset="-122"/>
                <a:ea typeface="黑体" pitchFamily="2" charset="-122"/>
              </a:rPr>
              <a:t>4</a:t>
            </a:r>
            <a:r>
              <a:rPr lang="zh-CN" altLang="en-US" dirty="0">
                <a:solidFill>
                  <a:srgbClr val="000080"/>
                </a:solidFill>
                <a:latin typeface="黑体" pitchFamily="2" charset="-122"/>
                <a:ea typeface="黑体" pitchFamily="2" charset="-122"/>
              </a:rPr>
              <a:t>）</a:t>
            </a:r>
            <a:r>
              <a:rPr lang="en-US" altLang="zh-CN" dirty="0">
                <a:solidFill>
                  <a:srgbClr val="000080"/>
                </a:solidFill>
                <a:latin typeface="黑体" pitchFamily="2" charset="-122"/>
                <a:ea typeface="黑体" pitchFamily="2" charset="-122"/>
              </a:rPr>
              <a:t>Leonardo </a:t>
            </a:r>
            <a:r>
              <a:rPr lang="en-US" altLang="zh-CN" dirty="0" err="1">
                <a:solidFill>
                  <a:srgbClr val="000080"/>
                </a:solidFill>
                <a:latin typeface="黑体" pitchFamily="2" charset="-122"/>
                <a:ea typeface="黑体" pitchFamily="2" charset="-122"/>
              </a:rPr>
              <a:t>EuroHPC</a:t>
            </a:r>
            <a:r>
              <a:rPr lang="en-US" altLang="zh-CN" dirty="0">
                <a:solidFill>
                  <a:srgbClr val="000080"/>
                </a:solidFill>
                <a:latin typeface="黑体" pitchFamily="2" charset="-122"/>
                <a:ea typeface="黑体" pitchFamily="2" charset="-122"/>
              </a:rPr>
              <a:t> Atos</a:t>
            </a:r>
          </a:p>
          <a:p>
            <a:pPr marL="1816100" indent="-1816100">
              <a:lnSpc>
                <a:spcPct val="120000"/>
              </a:lnSpc>
              <a:spcBef>
                <a:spcPct val="0"/>
              </a:spcBef>
              <a:buClrTx/>
            </a:pPr>
            <a:r>
              <a:rPr lang="zh-CN" altLang="en-US" dirty="0">
                <a:solidFill>
                  <a:srgbClr val="000080"/>
                </a:solidFill>
                <a:latin typeface="黑体" pitchFamily="2" charset="-122"/>
                <a:ea typeface="黑体" pitchFamily="2" charset="-122"/>
              </a:rPr>
              <a:t> </a:t>
            </a:r>
            <a:r>
              <a:rPr lang="en-US" altLang="zh-CN" dirty="0">
                <a:solidFill>
                  <a:srgbClr val="000080"/>
                </a:solidFill>
                <a:latin typeface="黑体" pitchFamily="2" charset="-122"/>
                <a:ea typeface="黑体" pitchFamily="2" charset="-122"/>
              </a:rPr>
              <a:t>(5) Summit  </a:t>
            </a:r>
            <a:r>
              <a:rPr lang="zh-CN" altLang="en-US" dirty="0">
                <a:solidFill>
                  <a:srgbClr val="000080"/>
                </a:solidFill>
                <a:latin typeface="黑体" pitchFamily="2" charset="-122"/>
                <a:ea typeface="黑体" pitchFamily="2" charset="-122"/>
              </a:rPr>
              <a:t>美国 </a:t>
            </a:r>
            <a:r>
              <a:rPr lang="en-US" altLang="zh-CN" dirty="0">
                <a:solidFill>
                  <a:srgbClr val="000080"/>
                </a:solidFill>
                <a:latin typeface="黑体" pitchFamily="2" charset="-122"/>
                <a:ea typeface="黑体" pitchFamily="2" charset="-122"/>
              </a:rPr>
              <a:t>IBM </a:t>
            </a:r>
          </a:p>
          <a:p>
            <a:pPr marL="1816100" indent="-1816100">
              <a:lnSpc>
                <a:spcPct val="120000"/>
              </a:lnSpc>
              <a:spcBef>
                <a:spcPct val="0"/>
              </a:spcBef>
              <a:buClrTx/>
            </a:pPr>
            <a:r>
              <a:rPr lang="zh-CN" altLang="en-US" dirty="0">
                <a:solidFill>
                  <a:srgbClr val="000080"/>
                </a:solidFill>
                <a:latin typeface="黑体" pitchFamily="2" charset="-122"/>
                <a:ea typeface="黑体" pitchFamily="2" charset="-122"/>
              </a:rPr>
              <a:t> </a:t>
            </a:r>
            <a:r>
              <a:rPr lang="en-US" altLang="zh-CN" dirty="0">
                <a:solidFill>
                  <a:srgbClr val="000080"/>
                </a:solidFill>
                <a:latin typeface="黑体" pitchFamily="2" charset="-122"/>
                <a:ea typeface="黑体" pitchFamily="2" charset="-122"/>
              </a:rPr>
              <a:t>(6) Sierra  </a:t>
            </a:r>
            <a:r>
              <a:rPr lang="zh-CN" altLang="en-US" dirty="0">
                <a:solidFill>
                  <a:srgbClr val="000080"/>
                </a:solidFill>
                <a:latin typeface="黑体" pitchFamily="2" charset="-122"/>
                <a:ea typeface="黑体" pitchFamily="2" charset="-122"/>
              </a:rPr>
              <a:t>美国 </a:t>
            </a:r>
            <a:r>
              <a:rPr lang="en-US" altLang="zh-CN" dirty="0">
                <a:solidFill>
                  <a:srgbClr val="000080"/>
                </a:solidFill>
                <a:latin typeface="黑体" pitchFamily="2" charset="-122"/>
                <a:ea typeface="黑体" pitchFamily="2" charset="-122"/>
              </a:rPr>
              <a:t>IBM </a:t>
            </a:r>
          </a:p>
          <a:p>
            <a:pPr marL="1816100" indent="-1816100">
              <a:lnSpc>
                <a:spcPct val="120000"/>
              </a:lnSpc>
              <a:spcBef>
                <a:spcPct val="0"/>
              </a:spcBef>
              <a:buClrTx/>
              <a:buFontTx/>
              <a:buNone/>
            </a:pPr>
            <a:r>
              <a:rPr lang="en-US" altLang="zh-CN" dirty="0">
                <a:solidFill>
                  <a:srgbClr val="000080"/>
                </a:solidFill>
                <a:latin typeface="黑体" pitchFamily="2" charset="-122"/>
                <a:ea typeface="黑体" pitchFamily="2" charset="-122"/>
              </a:rPr>
              <a:t> (7) Sunway TaihuLight(</a:t>
            </a:r>
            <a:r>
              <a:rPr lang="zh-CN" altLang="en-US" dirty="0">
                <a:solidFill>
                  <a:srgbClr val="000080"/>
                </a:solidFill>
                <a:latin typeface="黑体" pitchFamily="2" charset="-122"/>
                <a:ea typeface="黑体" pitchFamily="2" charset="-122"/>
              </a:rPr>
              <a:t>神威</a:t>
            </a:r>
            <a:r>
              <a:rPr lang="en-US" altLang="zh-CN" dirty="0">
                <a:solidFill>
                  <a:srgbClr val="000080"/>
                </a:solidFill>
                <a:latin typeface="黑体" pitchFamily="2" charset="-122"/>
                <a:ea typeface="黑体" pitchFamily="2" charset="-122"/>
              </a:rPr>
              <a:t>·</a:t>
            </a:r>
            <a:r>
              <a:rPr lang="zh-CN" altLang="en-US" dirty="0">
                <a:solidFill>
                  <a:srgbClr val="000080"/>
                </a:solidFill>
                <a:latin typeface="黑体" pitchFamily="2" charset="-122"/>
                <a:ea typeface="黑体" pitchFamily="2" charset="-122"/>
              </a:rPr>
              <a:t>太湖之光</a:t>
            </a:r>
            <a:r>
              <a:rPr lang="en-US" altLang="zh-CN" dirty="0">
                <a:solidFill>
                  <a:srgbClr val="000080"/>
                </a:solidFill>
                <a:latin typeface="黑体" pitchFamily="2" charset="-122"/>
                <a:ea typeface="黑体" pitchFamily="2" charset="-122"/>
              </a:rPr>
              <a:t>)</a:t>
            </a:r>
            <a:r>
              <a:rPr lang="zh-CN" altLang="en-US" dirty="0">
                <a:solidFill>
                  <a:srgbClr val="000080"/>
                </a:solidFill>
                <a:latin typeface="黑体" pitchFamily="2" charset="-122"/>
                <a:ea typeface="黑体" pitchFamily="2" charset="-122"/>
              </a:rPr>
              <a:t> 中国</a:t>
            </a:r>
          </a:p>
        </p:txBody>
      </p:sp>
      <p:sp>
        <p:nvSpPr>
          <p:cNvPr id="37892" name="Rectangle 4"/>
          <p:cNvSpPr>
            <a:spLocks noChangeArrowheads="1"/>
          </p:cNvSpPr>
          <p:nvPr/>
        </p:nvSpPr>
        <p:spPr bwMode="auto">
          <a:xfrm>
            <a:off x="1157288" y="5679747"/>
            <a:ext cx="6518275" cy="47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816100" indent="-1816100">
              <a:lnSpc>
                <a:spcPct val="120000"/>
              </a:lnSpc>
              <a:spcBef>
                <a:spcPct val="0"/>
              </a:spcBef>
              <a:buClrTx/>
              <a:buFontTx/>
              <a:buNone/>
            </a:pPr>
            <a:r>
              <a:rPr lang="zh-CN" altLang="en-US" dirty="0">
                <a:solidFill>
                  <a:srgbClr val="FF0000"/>
                </a:solidFill>
                <a:latin typeface="黑体" pitchFamily="2" charset="-122"/>
                <a:ea typeface="黑体" pitchFamily="2" charset="-122"/>
              </a:rPr>
              <a:t>超算的主要难题：</a:t>
            </a:r>
            <a:r>
              <a:rPr lang="zh-CN" altLang="en-US" dirty="0">
                <a:solidFill>
                  <a:srgbClr val="000080"/>
                </a:solidFill>
                <a:latin typeface="黑体" pitchFamily="2" charset="-122"/>
                <a:ea typeface="黑体" pitchFamily="2" charset="-122"/>
              </a:rPr>
              <a:t>编程、功耗。</a:t>
            </a:r>
          </a:p>
        </p:txBody>
      </p:sp>
      <p:sp>
        <p:nvSpPr>
          <p:cNvPr id="37893" name="Rectangle 2"/>
          <p:cNvSpPr>
            <a:spLocks noChangeArrowheads="1"/>
          </p:cNvSpPr>
          <p:nvPr/>
        </p:nvSpPr>
        <p:spPr bwMode="auto">
          <a:xfrm>
            <a:off x="0" y="45402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gn="ctr">
              <a:lnSpc>
                <a:spcPct val="100000"/>
              </a:lnSpc>
              <a:spcBef>
                <a:spcPct val="0"/>
              </a:spcBef>
              <a:buClrTx/>
              <a:buFontTx/>
              <a:buNone/>
            </a:pPr>
            <a:r>
              <a:rPr lang="zh-CN" altLang="en-US" sz="2600">
                <a:solidFill>
                  <a:srgbClr val="800000"/>
                </a:solidFill>
                <a:latin typeface="黑体" pitchFamily="2" charset="-122"/>
                <a:ea typeface="黑体" pitchFamily="2" charset="-122"/>
              </a:rPr>
              <a:t>§1.4 计算机的发展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p:cNvSpPr>
            <a:spLocks noChangeArrowheads="1"/>
          </p:cNvSpPr>
          <p:nvPr/>
        </p:nvSpPr>
        <p:spPr bwMode="auto">
          <a:xfrm>
            <a:off x="669925" y="951101"/>
            <a:ext cx="749300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nSpc>
                <a:spcPct val="100000"/>
              </a:lnSpc>
              <a:spcBef>
                <a:spcPct val="0"/>
              </a:spcBef>
              <a:buClrTx/>
              <a:buFontTx/>
              <a:buNone/>
            </a:pPr>
            <a:r>
              <a:rPr lang="zh-CN" altLang="en-US" dirty="0">
                <a:solidFill>
                  <a:srgbClr val="000080"/>
                </a:solidFill>
                <a:latin typeface="黑体" pitchFamily="2" charset="-122"/>
                <a:ea typeface="黑体" pitchFamily="2" charset="-122"/>
              </a:rPr>
              <a:t>世界超算</a:t>
            </a:r>
            <a:r>
              <a:rPr lang="en-US" altLang="zh-CN" dirty="0">
                <a:solidFill>
                  <a:srgbClr val="000080"/>
                </a:solidFill>
                <a:latin typeface="黑体" pitchFamily="2" charset="-122"/>
                <a:ea typeface="黑体" pitchFamily="2" charset="-122"/>
              </a:rPr>
              <a:t>500</a:t>
            </a:r>
            <a:r>
              <a:rPr lang="zh-CN" altLang="en-US" dirty="0">
                <a:solidFill>
                  <a:srgbClr val="000080"/>
                </a:solidFill>
                <a:latin typeface="黑体" pitchFamily="2" charset="-122"/>
                <a:ea typeface="黑体" pitchFamily="2" charset="-122"/>
              </a:rPr>
              <a:t>强排行榜（</a:t>
            </a:r>
            <a:r>
              <a:rPr lang="en-US" altLang="zh-CN" dirty="0">
                <a:solidFill>
                  <a:srgbClr val="000080"/>
                </a:solidFill>
                <a:latin typeface="黑体" pitchFamily="2" charset="-122"/>
                <a:ea typeface="黑体" pitchFamily="2" charset="-122"/>
              </a:rPr>
              <a:t>2022.11.14</a:t>
            </a:r>
            <a:r>
              <a:rPr lang="zh-CN" altLang="en-US" dirty="0">
                <a:solidFill>
                  <a:srgbClr val="000080"/>
                </a:solidFill>
                <a:latin typeface="黑体" pitchFamily="2" charset="-122"/>
                <a:ea typeface="黑体" pitchFamily="2" charset="-122"/>
              </a:rPr>
              <a:t>）</a:t>
            </a:r>
            <a:r>
              <a:rPr lang="zh-CN" altLang="en-US" dirty="0">
                <a:solidFill>
                  <a:schemeClr val="hlink"/>
                </a:solidFill>
                <a:latin typeface="黑体" pitchFamily="2" charset="-122"/>
                <a:ea typeface="黑体" pitchFamily="2" charset="-122"/>
              </a:rPr>
              <a:t>      </a:t>
            </a:r>
            <a:endParaRPr lang="zh-CN" altLang="en-US" dirty="0">
              <a:solidFill>
                <a:srgbClr val="FF0000"/>
              </a:solidFill>
              <a:latin typeface="黑体" pitchFamily="2" charset="-122"/>
              <a:ea typeface="黑体" pitchFamily="2" charset="-122"/>
            </a:endParaRPr>
          </a:p>
        </p:txBody>
      </p:sp>
      <p:sp>
        <p:nvSpPr>
          <p:cNvPr id="37893" name="Rectangle 2"/>
          <p:cNvSpPr>
            <a:spLocks noChangeArrowheads="1"/>
          </p:cNvSpPr>
          <p:nvPr/>
        </p:nvSpPr>
        <p:spPr bwMode="auto">
          <a:xfrm>
            <a:off x="0" y="45402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gn="ctr">
              <a:lnSpc>
                <a:spcPct val="100000"/>
              </a:lnSpc>
              <a:spcBef>
                <a:spcPct val="0"/>
              </a:spcBef>
              <a:buClrTx/>
              <a:buFontTx/>
              <a:buNone/>
            </a:pPr>
            <a:r>
              <a:rPr lang="zh-CN" altLang="en-US" sz="2600">
                <a:solidFill>
                  <a:srgbClr val="800000"/>
                </a:solidFill>
                <a:latin typeface="黑体" pitchFamily="2" charset="-122"/>
                <a:ea typeface="黑体" pitchFamily="2" charset="-122"/>
              </a:rPr>
              <a:t>§1.4 计算机的发展 </a:t>
            </a:r>
          </a:p>
        </p:txBody>
      </p:sp>
      <p:pic>
        <p:nvPicPr>
          <p:cNvPr id="4" name="图片 3">
            <a:extLst>
              <a:ext uri="{FF2B5EF4-FFF2-40B4-BE49-F238E27FC236}">
                <a16:creationId xmlns:a16="http://schemas.microsoft.com/office/drawing/2014/main" id="{E9A96908-4206-007E-FE06-3C3A393404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9925" y="1420762"/>
            <a:ext cx="4654595" cy="5092962"/>
          </a:xfrm>
          <a:prstGeom prst="rect">
            <a:avLst/>
          </a:prstGeom>
        </p:spPr>
      </p:pic>
      <p:sp>
        <p:nvSpPr>
          <p:cNvPr id="5" name="Rectangle 1">
            <a:extLst>
              <a:ext uri="{FF2B5EF4-FFF2-40B4-BE49-F238E27FC236}">
                <a16:creationId xmlns:a16="http://schemas.microsoft.com/office/drawing/2014/main" id="{959A281D-BBCC-D188-3D70-099EEA5F0382}"/>
              </a:ext>
            </a:extLst>
          </p:cNvPr>
          <p:cNvSpPr>
            <a:spLocks noChangeArrowheads="1"/>
          </p:cNvSpPr>
          <p:nvPr/>
        </p:nvSpPr>
        <p:spPr bwMode="auto">
          <a:xfrm>
            <a:off x="5743255" y="1628805"/>
            <a:ext cx="3051424"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342900" eaLnBrk="0" hangingPunct="0">
              <a:spcBef>
                <a:spcPct val="0"/>
              </a:spcBef>
              <a:defRPr>
                <a:solidFill>
                  <a:schemeClr val="tx1"/>
                </a:solidFill>
                <a:latin typeface="Arial" panose="020B0604020202020204" pitchFamily="34" charset="0"/>
              </a:defRPr>
            </a:lvl1pPr>
            <a:lvl2pPr eaLnBrk="0" hangingPunct="0">
              <a:spcBef>
                <a:spcPct val="0"/>
              </a:spcBef>
              <a:defRPr>
                <a:solidFill>
                  <a:schemeClr val="tx1"/>
                </a:solidFill>
                <a:latin typeface="Arial" panose="020B0604020202020204" pitchFamily="34" charset="0"/>
              </a:defRPr>
            </a:lvl2pPr>
            <a:lvl3pPr eaLnBrk="0" hangingPunct="0">
              <a:spcBef>
                <a:spcPct val="0"/>
              </a:spcBef>
              <a:defRPr>
                <a:solidFill>
                  <a:schemeClr val="tx1"/>
                </a:solidFill>
                <a:latin typeface="Arial" panose="020B0604020202020204" pitchFamily="34" charset="0"/>
              </a:defRPr>
            </a:lvl3pPr>
            <a:lvl4pPr eaLnBrk="0" hangingPunct="0">
              <a:spcBef>
                <a:spcPct val="0"/>
              </a:spcBef>
              <a:defRPr>
                <a:solidFill>
                  <a:schemeClr val="tx1"/>
                </a:solidFill>
                <a:latin typeface="Arial" panose="020B0604020202020204" pitchFamily="34" charset="0"/>
              </a:defRPr>
            </a:lvl4pPr>
            <a:lvl5pPr eaLnBrk="0" hangingPunct="0">
              <a:spcBef>
                <a:spcPct val="0"/>
              </a:spcBef>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34290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444444"/>
                </a:solidFill>
                <a:effectLst/>
                <a:latin typeface="华文仿宋" panose="02010600040101010101" pitchFamily="2" charset="-122"/>
                <a:ea typeface="华文仿宋" panose="02010600040101010101" pitchFamily="2" charset="-122"/>
              </a:rPr>
              <a:t>中国虽然只有</a:t>
            </a:r>
            <a:r>
              <a:rPr kumimoji="0" lang="zh-CN" altLang="zh-CN" sz="1600" b="0" i="0" u="none" strike="noStrike" cap="none" normalizeH="0" baseline="0" dirty="0">
                <a:ln>
                  <a:noFill/>
                </a:ln>
                <a:solidFill>
                  <a:srgbClr val="FF0000"/>
                </a:solidFill>
                <a:effectLst/>
                <a:latin typeface="华文仿宋" panose="02010600040101010101" pitchFamily="2" charset="-122"/>
                <a:ea typeface="华文仿宋" panose="02010600040101010101" pitchFamily="2" charset="-122"/>
              </a:rPr>
              <a:t>两台</a:t>
            </a:r>
            <a:r>
              <a:rPr kumimoji="0" lang="zh-CN" altLang="zh-CN" sz="1600" b="0" i="0" u="none" strike="noStrike" cap="none" normalizeH="0" baseline="0" dirty="0">
                <a:ln>
                  <a:noFill/>
                </a:ln>
                <a:solidFill>
                  <a:srgbClr val="444444"/>
                </a:solidFill>
                <a:effectLst/>
                <a:latin typeface="华文仿宋" panose="02010600040101010101" pitchFamily="2" charset="-122"/>
                <a:ea typeface="华文仿宋" panose="02010600040101010101" pitchFamily="2" charset="-122"/>
              </a:rPr>
              <a:t>超算系统进入了</a:t>
            </a:r>
            <a:r>
              <a:rPr kumimoji="0" lang="zh-CN" altLang="zh-CN" sz="1600" b="0" i="0" u="none" strike="noStrike" cap="none" normalizeH="0" baseline="0" dirty="0">
                <a:ln>
                  <a:noFill/>
                </a:ln>
                <a:solidFill>
                  <a:srgbClr val="444444"/>
                </a:solidFill>
                <a:effectLst/>
                <a:latin typeface="Times New Roman" panose="02020603050405020304" pitchFamily="18" charset="0"/>
                <a:ea typeface="华文仿宋" panose="02010600040101010101" pitchFamily="2" charset="-122"/>
                <a:cs typeface="Times New Roman" panose="02020603050405020304" pitchFamily="18" charset="0"/>
              </a:rPr>
              <a:t>TOP10</a:t>
            </a:r>
            <a:r>
              <a:rPr kumimoji="0" lang="zh-CN" altLang="zh-CN" sz="1600" b="0" i="0" u="none" strike="noStrike" cap="none" normalizeH="0" baseline="0" dirty="0">
                <a:ln>
                  <a:noFill/>
                </a:ln>
                <a:solidFill>
                  <a:srgbClr val="444444"/>
                </a:solidFill>
                <a:effectLst/>
                <a:latin typeface="华文仿宋" panose="02010600040101010101" pitchFamily="2" charset="-122"/>
                <a:ea typeface="华文仿宋" panose="02010600040101010101" pitchFamily="2" charset="-122"/>
              </a:rPr>
              <a:t>，但有</a:t>
            </a:r>
            <a:r>
              <a:rPr kumimoji="0" lang="zh-CN" altLang="zh-CN" sz="1600" b="0" i="0" u="none" strike="noStrike" cap="none" normalizeH="0" baseline="0" dirty="0">
                <a:ln>
                  <a:noFill/>
                </a:ln>
                <a:solidFill>
                  <a:srgbClr val="FF0000"/>
                </a:solidFill>
                <a:effectLst/>
                <a:latin typeface="Times New Roman" panose="02020603050405020304" pitchFamily="18" charset="0"/>
                <a:ea typeface="华文仿宋" panose="02010600040101010101" pitchFamily="2" charset="-122"/>
                <a:cs typeface="Times New Roman" panose="02020603050405020304" pitchFamily="18" charset="0"/>
              </a:rPr>
              <a:t>162</a:t>
            </a:r>
            <a:r>
              <a:rPr kumimoji="0" lang="zh-CN" altLang="zh-CN" sz="1600" b="0" i="0" u="none" strike="noStrike" cap="none" normalizeH="0" baseline="0" dirty="0">
                <a:ln>
                  <a:noFill/>
                </a:ln>
                <a:solidFill>
                  <a:srgbClr val="FF0000"/>
                </a:solidFill>
                <a:effectLst/>
                <a:latin typeface="华文仿宋" panose="02010600040101010101" pitchFamily="2" charset="-122"/>
                <a:ea typeface="华文仿宋" panose="02010600040101010101" pitchFamily="2" charset="-122"/>
              </a:rPr>
              <a:t>台</a:t>
            </a:r>
            <a:r>
              <a:rPr kumimoji="0" lang="zh-CN" altLang="zh-CN" sz="1600" b="0" i="0" u="none" strike="noStrike" cap="none" normalizeH="0" baseline="0" dirty="0">
                <a:ln>
                  <a:noFill/>
                </a:ln>
                <a:solidFill>
                  <a:srgbClr val="444444"/>
                </a:solidFill>
                <a:effectLst/>
                <a:latin typeface="华文仿宋" panose="02010600040101010101" pitchFamily="2" charset="-122"/>
                <a:ea typeface="华文仿宋" panose="02010600040101010101" pitchFamily="2" charset="-122"/>
              </a:rPr>
              <a:t>系统进入了</a:t>
            </a:r>
            <a:r>
              <a:rPr kumimoji="0" lang="zh-CN" altLang="zh-CN" sz="1600" b="0" i="0" u="none" strike="noStrike" cap="none" normalizeH="0" baseline="0" dirty="0">
                <a:ln>
                  <a:noFill/>
                </a:ln>
                <a:solidFill>
                  <a:srgbClr val="444444"/>
                </a:solidFill>
                <a:effectLst/>
                <a:latin typeface="Times New Roman" panose="02020603050405020304" pitchFamily="18" charset="0"/>
                <a:ea typeface="华文仿宋" panose="02010600040101010101" pitchFamily="2" charset="-122"/>
                <a:cs typeface="Times New Roman" panose="02020603050405020304" pitchFamily="18" charset="0"/>
              </a:rPr>
              <a:t>Top</a:t>
            </a:r>
            <a:r>
              <a:rPr kumimoji="0" lang="zh-CN" altLang="zh-CN" sz="1600" b="0" i="0" u="none" strike="noStrike" cap="none" normalizeH="0" baseline="0" dirty="0">
                <a:ln>
                  <a:noFill/>
                </a:ln>
                <a:solidFill>
                  <a:srgbClr val="444444"/>
                </a:solidFill>
                <a:effectLst/>
                <a:latin typeface="Times New Roman" panose="02020603050405020304" pitchFamily="18" charset="0"/>
                <a:ea typeface="微软雅黑" panose="020B0503020204020204" pitchFamily="34" charset="-122"/>
                <a:cs typeface="Times New Roman" panose="02020603050405020304" pitchFamily="18" charset="0"/>
              </a:rPr>
              <a:t>500</a:t>
            </a:r>
            <a:r>
              <a:rPr kumimoji="0" lang="zh-CN" altLang="zh-CN" sz="1600" b="0" i="0" u="none" strike="noStrike" cap="none" normalizeH="0" baseline="0" dirty="0">
                <a:ln>
                  <a:noFill/>
                </a:ln>
                <a:solidFill>
                  <a:srgbClr val="444444"/>
                </a:solidFill>
                <a:effectLst/>
                <a:latin typeface="华文仿宋" panose="02010600040101010101" pitchFamily="2" charset="-122"/>
                <a:ea typeface="华文仿宋" panose="02010600040101010101" pitchFamily="2" charset="-122"/>
              </a:rPr>
              <a:t>的榜单，相比去年的</a:t>
            </a:r>
            <a:r>
              <a:rPr kumimoji="0" lang="zh-CN" altLang="zh-CN" sz="1600" b="0" i="0" u="none" strike="noStrike" cap="none" normalizeH="0" baseline="0" dirty="0">
                <a:ln>
                  <a:noFill/>
                </a:ln>
                <a:solidFill>
                  <a:srgbClr val="444444"/>
                </a:solidFill>
                <a:effectLst/>
                <a:latin typeface="Times New Roman" panose="02020603050405020304" pitchFamily="18" charset="0"/>
                <a:ea typeface="华文仿宋" panose="02010600040101010101" pitchFamily="2" charset="-122"/>
                <a:cs typeface="Times New Roman" panose="02020603050405020304" pitchFamily="18" charset="0"/>
              </a:rPr>
              <a:t>173</a:t>
            </a:r>
            <a:r>
              <a:rPr kumimoji="0" lang="zh-CN" altLang="zh-CN" sz="1600" b="0" i="0" u="none" strike="noStrike" cap="none" normalizeH="0" baseline="0" dirty="0">
                <a:ln>
                  <a:noFill/>
                </a:ln>
                <a:solidFill>
                  <a:srgbClr val="444444"/>
                </a:solidFill>
                <a:effectLst/>
                <a:latin typeface="华文仿宋" panose="02010600040101010101" pitchFamily="2" charset="-122"/>
                <a:ea typeface="华文仿宋" panose="02010600040101010101" pitchFamily="2" charset="-122"/>
              </a:rPr>
              <a:t>台有所下降，但依然比欧洲多</a:t>
            </a:r>
            <a:r>
              <a:rPr kumimoji="0" lang="zh-CN" altLang="zh-CN" sz="1600" b="0" i="0" u="none" strike="noStrike" cap="none" normalizeH="0" baseline="0" dirty="0">
                <a:ln>
                  <a:noFill/>
                </a:ln>
                <a:solidFill>
                  <a:srgbClr val="444444"/>
                </a:solidFill>
                <a:effectLst/>
                <a:latin typeface="Times New Roman" panose="02020603050405020304" pitchFamily="18" charset="0"/>
                <a:ea typeface="华文仿宋" panose="02010600040101010101" pitchFamily="2" charset="-122"/>
                <a:cs typeface="Times New Roman" panose="02020603050405020304" pitchFamily="18" charset="0"/>
              </a:rPr>
              <a:t>31</a:t>
            </a:r>
            <a:r>
              <a:rPr kumimoji="0" lang="zh-CN" altLang="zh-CN" sz="1600" b="0" i="0" u="none" strike="noStrike" cap="none" normalizeH="0" baseline="0" dirty="0">
                <a:ln>
                  <a:noFill/>
                </a:ln>
                <a:solidFill>
                  <a:srgbClr val="444444"/>
                </a:solidFill>
                <a:effectLst/>
                <a:latin typeface="华文仿宋" panose="02010600040101010101" pitchFamily="2" charset="-122"/>
                <a:ea typeface="华文仿宋" panose="02010600040101010101" pitchFamily="2" charset="-122"/>
              </a:rPr>
              <a:t>台、比美国多</a:t>
            </a:r>
            <a:r>
              <a:rPr kumimoji="0" lang="zh-CN" altLang="zh-CN" sz="1600" b="0" i="0" u="none" strike="noStrike" cap="none" normalizeH="0" baseline="0" dirty="0">
                <a:ln>
                  <a:noFill/>
                </a:ln>
                <a:solidFill>
                  <a:srgbClr val="444444"/>
                </a:solidFill>
                <a:effectLst/>
                <a:latin typeface="Times New Roman" panose="02020603050405020304" pitchFamily="18" charset="0"/>
                <a:ea typeface="华文仿宋" panose="02010600040101010101" pitchFamily="2" charset="-122"/>
                <a:cs typeface="Times New Roman" panose="02020603050405020304" pitchFamily="18" charset="0"/>
              </a:rPr>
              <a:t>36</a:t>
            </a:r>
            <a:r>
              <a:rPr kumimoji="0" lang="zh-CN" altLang="zh-CN" sz="1600" b="0" i="0" u="none" strike="noStrike" cap="none" normalizeH="0" baseline="0" dirty="0">
                <a:ln>
                  <a:noFill/>
                </a:ln>
                <a:solidFill>
                  <a:srgbClr val="444444"/>
                </a:solidFill>
                <a:effectLst/>
                <a:latin typeface="华文仿宋" panose="02010600040101010101" pitchFamily="2" charset="-122"/>
                <a:ea typeface="华文仿宋" panose="02010600040101010101" pitchFamily="2" charset="-122"/>
              </a:rPr>
              <a:t>台，在数量上位居世界第一。</a:t>
            </a:r>
            <a:endParaRPr kumimoji="0" lang="zh-CN" altLang="zh-CN" sz="1600" b="0" i="0" u="none" strike="noStrike" cap="none" normalizeH="0" baseline="0" dirty="0">
              <a:ln>
                <a:noFill/>
              </a:ln>
              <a:solidFill>
                <a:schemeClr val="tx1"/>
              </a:solidFill>
              <a:effectLst/>
            </a:endParaRPr>
          </a:p>
          <a:p>
            <a:pPr marL="0" marR="0" lvl="0" indent="34290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444444"/>
                </a:solidFill>
                <a:effectLst/>
                <a:latin typeface="华文仿宋" panose="02010600040101010101" pitchFamily="2" charset="-122"/>
                <a:ea typeface="华文仿宋" panose="02010600040101010101" pitchFamily="2" charset="-122"/>
              </a:rPr>
              <a:t>在算力方面，美国入榜的超算系统总性能占据</a:t>
            </a:r>
            <a:r>
              <a:rPr kumimoji="0" lang="zh-CN" altLang="zh-CN" sz="1600" b="0" i="0" u="none" strike="noStrike" cap="none" normalizeH="0" baseline="0" dirty="0">
                <a:ln>
                  <a:noFill/>
                </a:ln>
                <a:solidFill>
                  <a:srgbClr val="444444"/>
                </a:solidFill>
                <a:effectLst/>
                <a:latin typeface="Times New Roman" panose="02020603050405020304" pitchFamily="18" charset="0"/>
                <a:ea typeface="华文仿宋" panose="02010600040101010101" pitchFamily="2" charset="-122"/>
                <a:cs typeface="Times New Roman" panose="02020603050405020304" pitchFamily="18" charset="0"/>
              </a:rPr>
              <a:t>Top500</a:t>
            </a:r>
            <a:r>
              <a:rPr kumimoji="0" lang="zh-CN" altLang="zh-CN" sz="1600" b="0" i="0" u="none" strike="noStrike" cap="none" normalizeH="0" baseline="0" dirty="0">
                <a:ln>
                  <a:noFill/>
                </a:ln>
                <a:solidFill>
                  <a:srgbClr val="444444"/>
                </a:solidFill>
                <a:effectLst/>
                <a:latin typeface="华文仿宋" panose="02010600040101010101" pitchFamily="2" charset="-122"/>
                <a:ea typeface="华文仿宋" panose="02010600040101010101" pitchFamily="2" charset="-122"/>
              </a:rPr>
              <a:t>所有系统总性能的</a:t>
            </a:r>
            <a:r>
              <a:rPr kumimoji="0" lang="zh-CN" altLang="zh-CN" sz="1600" b="0" i="0" u="none" strike="noStrike" cap="none" normalizeH="0" baseline="0" dirty="0">
                <a:ln>
                  <a:noFill/>
                </a:ln>
                <a:solidFill>
                  <a:srgbClr val="444444"/>
                </a:solidFill>
                <a:effectLst/>
                <a:latin typeface="Times New Roman" panose="02020603050405020304" pitchFamily="18" charset="0"/>
                <a:ea typeface="华文仿宋" panose="02010600040101010101" pitchFamily="2" charset="-122"/>
                <a:cs typeface="Times New Roman" panose="02020603050405020304" pitchFamily="18" charset="0"/>
              </a:rPr>
              <a:t>43.2%</a:t>
            </a:r>
            <a:r>
              <a:rPr kumimoji="0" lang="zh-CN" altLang="zh-CN" sz="1600" b="0" i="0" u="none" strike="noStrike" cap="none" normalizeH="0" baseline="0" dirty="0">
                <a:ln>
                  <a:noFill/>
                </a:ln>
                <a:solidFill>
                  <a:srgbClr val="444444"/>
                </a:solidFill>
                <a:effectLst/>
                <a:latin typeface="华文仿宋" panose="02010600040101010101" pitchFamily="2" charset="-122"/>
                <a:ea typeface="华文仿宋" panose="02010600040101010101" pitchFamily="2" charset="-122"/>
              </a:rPr>
              <a:t>，排名第一，日本以</a:t>
            </a:r>
            <a:r>
              <a:rPr kumimoji="0" lang="zh-CN" altLang="zh-CN" sz="1600" b="0" i="0" u="none" strike="noStrike" cap="none" normalizeH="0" baseline="0" dirty="0">
                <a:ln>
                  <a:noFill/>
                </a:ln>
                <a:solidFill>
                  <a:srgbClr val="444444"/>
                </a:solidFill>
                <a:effectLst/>
                <a:latin typeface="Times New Roman" panose="02020603050405020304" pitchFamily="18" charset="0"/>
                <a:ea typeface="华文仿宋" panose="02010600040101010101" pitchFamily="2" charset="-122"/>
                <a:cs typeface="Times New Roman" panose="02020603050405020304" pitchFamily="18" charset="0"/>
              </a:rPr>
              <a:t>19.6%</a:t>
            </a:r>
            <a:r>
              <a:rPr kumimoji="0" lang="zh-CN" altLang="zh-CN" sz="1600" b="0" i="0" u="none" strike="noStrike" cap="none" normalizeH="0" baseline="0" dirty="0">
                <a:ln>
                  <a:noFill/>
                </a:ln>
                <a:solidFill>
                  <a:srgbClr val="444444"/>
                </a:solidFill>
                <a:effectLst/>
                <a:latin typeface="华文仿宋" panose="02010600040101010101" pitchFamily="2" charset="-122"/>
                <a:ea typeface="华文仿宋" panose="02010600040101010101" pitchFamily="2" charset="-122"/>
              </a:rPr>
              <a:t>排名第二，中国以</a:t>
            </a:r>
            <a:r>
              <a:rPr kumimoji="0" lang="zh-CN" altLang="zh-CN" sz="1600" b="0" i="0" u="none" strike="noStrike" cap="none" normalizeH="0" baseline="0" dirty="0">
                <a:ln>
                  <a:noFill/>
                </a:ln>
                <a:solidFill>
                  <a:srgbClr val="FF0000"/>
                </a:solidFill>
                <a:effectLst/>
                <a:latin typeface="Times New Roman" panose="02020603050405020304" pitchFamily="18" charset="0"/>
                <a:ea typeface="华文仿宋" panose="02010600040101010101" pitchFamily="2" charset="-122"/>
                <a:cs typeface="Times New Roman" panose="02020603050405020304" pitchFamily="18" charset="0"/>
              </a:rPr>
              <a:t>10.6%</a:t>
            </a:r>
            <a:r>
              <a:rPr kumimoji="0" lang="zh-CN" altLang="zh-CN" sz="1600" b="0" i="0" u="none" strike="noStrike" cap="none" normalizeH="0" baseline="0" dirty="0">
                <a:ln>
                  <a:noFill/>
                </a:ln>
                <a:solidFill>
                  <a:srgbClr val="FF0000"/>
                </a:solidFill>
                <a:effectLst/>
                <a:latin typeface="华文仿宋" panose="02010600040101010101" pitchFamily="2" charset="-122"/>
                <a:ea typeface="华文仿宋" panose="02010600040101010101" pitchFamily="2" charset="-122"/>
              </a:rPr>
              <a:t>位列第</a:t>
            </a:r>
            <a:r>
              <a:rPr kumimoji="0" lang="zh-CN" altLang="zh-CN" sz="1600" b="0" i="0" u="none" strike="noStrike" cap="none" normalizeH="0" baseline="0" dirty="0">
                <a:ln>
                  <a:noFill/>
                </a:ln>
                <a:solidFill>
                  <a:srgbClr val="FF0000"/>
                </a:solidFill>
                <a:effectLst/>
                <a:latin typeface="Times New Roman" panose="02020603050405020304" pitchFamily="18" charset="0"/>
                <a:ea typeface="华文仿宋" panose="02010600040101010101" pitchFamily="2" charset="-122"/>
                <a:cs typeface="Times New Roman" panose="02020603050405020304" pitchFamily="18" charset="0"/>
              </a:rPr>
              <a:t>4</a:t>
            </a:r>
            <a:r>
              <a:rPr kumimoji="0" lang="zh-CN" altLang="zh-CN" sz="1600" b="0" i="0" u="none" strike="noStrike" cap="none" normalizeH="0" baseline="0" dirty="0">
                <a:ln>
                  <a:noFill/>
                </a:ln>
                <a:solidFill>
                  <a:srgbClr val="444444"/>
                </a:solidFill>
                <a:effectLst/>
                <a:latin typeface="华文仿宋" panose="02010600040101010101" pitchFamily="2" charset="-122"/>
                <a:ea typeface="华文仿宋" panose="02010600040101010101" pitchFamily="2" charset="-122"/>
              </a:rPr>
              <a:t>。</a:t>
            </a:r>
            <a:endParaRPr kumimoji="0" lang="zh-CN" altLang="zh-CN" sz="1600" b="0" i="0" u="none" strike="noStrike" cap="none" normalizeH="0" baseline="0" dirty="0">
              <a:ln>
                <a:noFill/>
              </a:ln>
              <a:solidFill>
                <a:schemeClr val="tx1"/>
              </a:solidFill>
              <a:effectLst/>
            </a:endParaRPr>
          </a:p>
          <a:p>
            <a:pPr marL="0" marR="0" lvl="0" indent="342900" algn="l" defTabSz="914400" rtl="0" eaLnBrk="0" fontAlgn="base" latinLnBrk="0" hangingPunct="0">
              <a:lnSpc>
                <a:spcPct val="100000"/>
              </a:lnSpc>
              <a:spcBef>
                <a:spcPct val="0"/>
              </a:spcBef>
              <a:spcAft>
                <a:spcPct val="0"/>
              </a:spcAft>
              <a:buClrTx/>
              <a:buSzTx/>
              <a:buFontTx/>
              <a:buNone/>
              <a:tabLst/>
            </a:pPr>
            <a:r>
              <a:rPr kumimoji="0" lang="zh-CN" altLang="zh-CN" sz="1600" b="0" i="0" u="none" strike="noStrike" cap="none" normalizeH="0" baseline="0" dirty="0">
                <a:ln>
                  <a:noFill/>
                </a:ln>
                <a:solidFill>
                  <a:srgbClr val="444444"/>
                </a:solidFill>
                <a:effectLst/>
                <a:latin typeface="华文仿宋" panose="02010600040101010101" pitchFamily="2" charset="-122"/>
                <a:ea typeface="华文仿宋" panose="02010600040101010101" pitchFamily="2" charset="-122"/>
              </a:rPr>
              <a:t>值得注意的是，中国已停止向</a:t>
            </a:r>
            <a:r>
              <a:rPr kumimoji="0" lang="zh-CN" altLang="zh-CN" sz="1600" b="0" i="0" u="none" strike="noStrike" cap="none" normalizeH="0" baseline="0" dirty="0">
                <a:ln>
                  <a:noFill/>
                </a:ln>
                <a:solidFill>
                  <a:srgbClr val="444444"/>
                </a:solidFill>
                <a:effectLst/>
                <a:latin typeface="Times New Roman" panose="02020603050405020304" pitchFamily="18" charset="0"/>
                <a:ea typeface="华文仿宋" panose="02010600040101010101" pitchFamily="2" charset="-122"/>
                <a:cs typeface="Times New Roman" panose="02020603050405020304" pitchFamily="18" charset="0"/>
              </a:rPr>
              <a:t>TOP500</a:t>
            </a:r>
            <a:r>
              <a:rPr kumimoji="0" lang="zh-CN" altLang="zh-CN" sz="1600" b="0" i="0" u="none" strike="noStrike" cap="none" normalizeH="0" baseline="0" dirty="0">
                <a:ln>
                  <a:noFill/>
                </a:ln>
                <a:solidFill>
                  <a:srgbClr val="444444"/>
                </a:solidFill>
                <a:effectLst/>
                <a:latin typeface="华文仿宋" panose="02010600040101010101" pitchFamily="2" charset="-122"/>
                <a:ea typeface="华文仿宋" panose="02010600040101010101" pitchFamily="2" charset="-122"/>
              </a:rPr>
              <a:t>委员会提交最先进的超算系统信息，这也导致在对全球的超级计算机数量进行统计时，外媒不得不将中国的数据排除在外。</a:t>
            </a:r>
            <a:endParaRPr kumimoji="0" lang="zh-CN" altLang="zh-CN"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8028569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ChangeArrowheads="1"/>
          </p:cNvSpPr>
          <p:nvPr/>
        </p:nvSpPr>
        <p:spPr bwMode="auto">
          <a:xfrm>
            <a:off x="825500" y="1065213"/>
            <a:ext cx="749300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nSpc>
                <a:spcPct val="100000"/>
              </a:lnSpc>
              <a:spcBef>
                <a:spcPct val="0"/>
              </a:spcBef>
              <a:buClrTx/>
              <a:buFontTx/>
              <a:buNone/>
            </a:pPr>
            <a:r>
              <a:rPr lang="en-US" altLang="zh-CN" dirty="0">
                <a:solidFill>
                  <a:srgbClr val="800000"/>
                </a:solidFill>
                <a:latin typeface="黑体" pitchFamily="2" charset="-122"/>
                <a:ea typeface="黑体" pitchFamily="2" charset="-122"/>
              </a:rPr>
              <a:t>4</a:t>
            </a:r>
            <a:r>
              <a:rPr lang="zh-CN" altLang="en-US">
                <a:solidFill>
                  <a:srgbClr val="800000"/>
                </a:solidFill>
                <a:latin typeface="黑体" pitchFamily="2" charset="-122"/>
                <a:ea typeface="黑体" pitchFamily="2" charset="-122"/>
              </a:rPr>
              <a:t>．当代超级计算机</a:t>
            </a:r>
          </a:p>
        </p:txBody>
      </p:sp>
      <p:sp>
        <p:nvSpPr>
          <p:cNvPr id="38915" name="Rectangle 4"/>
          <p:cNvSpPr>
            <a:spLocks noChangeArrowheads="1"/>
          </p:cNvSpPr>
          <p:nvPr/>
        </p:nvSpPr>
        <p:spPr bwMode="auto">
          <a:xfrm>
            <a:off x="1139826" y="1643063"/>
            <a:ext cx="7763542"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1816100" indent="-1816100">
              <a:lnSpc>
                <a:spcPct val="120000"/>
              </a:lnSpc>
              <a:spcBef>
                <a:spcPct val="0"/>
              </a:spcBef>
              <a:buClrTx/>
              <a:buFontTx/>
              <a:buNone/>
            </a:pPr>
            <a:r>
              <a:rPr lang="zh-CN" altLang="en-US" dirty="0">
                <a:solidFill>
                  <a:srgbClr val="FF0000"/>
                </a:solidFill>
                <a:latin typeface="黑体" pitchFamily="2" charset="-122"/>
                <a:ea typeface="黑体" pitchFamily="2" charset="-122"/>
              </a:rPr>
              <a:t>美国 </a:t>
            </a:r>
            <a:r>
              <a:rPr lang="en-US" altLang="zh-CN" dirty="0">
                <a:solidFill>
                  <a:srgbClr val="FF0000"/>
                </a:solidFill>
                <a:latin typeface="黑体" pitchFamily="2" charset="-122"/>
                <a:ea typeface="黑体" pitchFamily="2" charset="-122"/>
              </a:rPr>
              <a:t>Frontier</a:t>
            </a:r>
            <a:r>
              <a:rPr lang="en-US" altLang="zh-CN" dirty="0">
                <a:solidFill>
                  <a:srgbClr val="000080"/>
                </a:solidFill>
                <a:latin typeface="黑体" pitchFamily="2" charset="-122"/>
                <a:ea typeface="黑体" pitchFamily="2" charset="-122"/>
              </a:rPr>
              <a:t> </a:t>
            </a:r>
            <a:endParaRPr lang="zh-CN" altLang="en-US" dirty="0">
              <a:solidFill>
                <a:srgbClr val="FF0000"/>
              </a:solidFill>
              <a:latin typeface="黑体" pitchFamily="2" charset="-122"/>
              <a:ea typeface="黑体" pitchFamily="2" charset="-122"/>
            </a:endParaRPr>
          </a:p>
          <a:p>
            <a:pPr marL="1816100" indent="-1816100">
              <a:lnSpc>
                <a:spcPct val="120000"/>
              </a:lnSpc>
              <a:spcBef>
                <a:spcPct val="0"/>
              </a:spcBef>
              <a:buClrTx/>
              <a:buFontTx/>
              <a:buNone/>
            </a:pPr>
            <a:r>
              <a:rPr lang="zh-CN" altLang="en-US" dirty="0">
                <a:solidFill>
                  <a:srgbClr val="000080"/>
                </a:solidFill>
                <a:latin typeface="黑体" pitchFamily="2" charset="-122"/>
                <a:ea typeface="黑体" pitchFamily="2" charset="-122"/>
              </a:rPr>
              <a:t>    当前系统内核个数：</a:t>
            </a:r>
            <a:r>
              <a:rPr lang="zh-CN" altLang="en-US" b="0" dirty="0"/>
              <a:t> </a:t>
            </a:r>
            <a:r>
              <a:rPr lang="en-US" altLang="zh-CN" dirty="0">
                <a:solidFill>
                  <a:srgbClr val="000080"/>
                </a:solidFill>
                <a:latin typeface="黑体" pitchFamily="2" charset="-122"/>
                <a:ea typeface="黑体" pitchFamily="2" charset="-122"/>
              </a:rPr>
              <a:t>8,730,112</a:t>
            </a:r>
            <a:r>
              <a:rPr lang="zh-CN" altLang="en-US" dirty="0">
                <a:solidFill>
                  <a:srgbClr val="000080"/>
                </a:solidFill>
                <a:latin typeface="黑体" pitchFamily="2" charset="-122"/>
                <a:ea typeface="黑体" pitchFamily="2" charset="-122"/>
              </a:rPr>
              <a:t>个</a:t>
            </a:r>
            <a:endParaRPr lang="en-US" altLang="zh-CN" dirty="0">
              <a:solidFill>
                <a:srgbClr val="000080"/>
              </a:solidFill>
              <a:latin typeface="黑体" pitchFamily="2" charset="-122"/>
              <a:ea typeface="黑体" pitchFamily="2" charset="-122"/>
            </a:endParaRPr>
          </a:p>
          <a:p>
            <a:pPr marL="1816100" indent="-1816100">
              <a:lnSpc>
                <a:spcPct val="120000"/>
              </a:lnSpc>
              <a:spcBef>
                <a:spcPct val="0"/>
              </a:spcBef>
              <a:buClrTx/>
              <a:buFontTx/>
              <a:buNone/>
            </a:pPr>
            <a:r>
              <a:rPr lang="en-US" altLang="zh-CN" dirty="0">
                <a:solidFill>
                  <a:srgbClr val="000080"/>
                </a:solidFill>
                <a:latin typeface="黑体" pitchFamily="2" charset="-122"/>
                <a:ea typeface="黑体" pitchFamily="2" charset="-122"/>
              </a:rPr>
              <a:t>    </a:t>
            </a:r>
            <a:r>
              <a:rPr lang="zh-CN" altLang="en-US" dirty="0">
                <a:solidFill>
                  <a:srgbClr val="000080"/>
                </a:solidFill>
                <a:latin typeface="黑体" pitchFamily="2" charset="-122"/>
                <a:ea typeface="黑体" pitchFamily="2" charset="-122"/>
              </a:rPr>
              <a:t>峰值速度：</a:t>
            </a:r>
            <a:r>
              <a:rPr lang="en-US" altLang="zh-CN" dirty="0">
                <a:solidFill>
                  <a:srgbClr val="000080"/>
                </a:solidFill>
                <a:latin typeface="黑体" pitchFamily="2" charset="-122"/>
                <a:ea typeface="黑体" pitchFamily="2" charset="-122"/>
              </a:rPr>
              <a:t>1,102 </a:t>
            </a:r>
            <a:r>
              <a:rPr lang="en-US" altLang="zh-CN" dirty="0" err="1">
                <a:solidFill>
                  <a:srgbClr val="000080"/>
                </a:solidFill>
                <a:latin typeface="黑体" pitchFamily="2" charset="-122"/>
                <a:ea typeface="黑体" pitchFamily="2" charset="-122"/>
              </a:rPr>
              <a:t>PFlop</a:t>
            </a:r>
            <a:r>
              <a:rPr lang="en-US" altLang="zh-CN" dirty="0">
                <a:solidFill>
                  <a:srgbClr val="000080"/>
                </a:solidFill>
                <a:latin typeface="黑体" pitchFamily="2" charset="-122"/>
                <a:ea typeface="黑体" pitchFamily="2" charset="-122"/>
              </a:rPr>
              <a:t>/s  </a:t>
            </a:r>
            <a:r>
              <a:rPr lang="zh-CN" altLang="en-US" dirty="0">
                <a:solidFill>
                  <a:srgbClr val="000080"/>
                </a:solidFill>
                <a:latin typeface="黑体" pitchFamily="2" charset="-122"/>
                <a:ea typeface="黑体" pitchFamily="2" charset="-122"/>
              </a:rPr>
              <a:t>每秒百亿亿级别</a:t>
            </a:r>
          </a:p>
          <a:p>
            <a:pPr marL="1816100" indent="-1816100">
              <a:lnSpc>
                <a:spcPct val="120000"/>
              </a:lnSpc>
              <a:spcBef>
                <a:spcPct val="0"/>
              </a:spcBef>
              <a:buClrTx/>
              <a:buFontTx/>
              <a:buNone/>
            </a:pPr>
            <a:r>
              <a:rPr lang="zh-CN" altLang="en-US" dirty="0">
                <a:solidFill>
                  <a:srgbClr val="000080"/>
                </a:solidFill>
                <a:latin typeface="黑体" pitchFamily="2" charset="-122"/>
                <a:ea typeface="黑体" pitchFamily="2" charset="-122"/>
              </a:rPr>
              <a:t>    能效等级：</a:t>
            </a:r>
            <a:r>
              <a:rPr lang="en-US" altLang="zh-CN" dirty="0">
                <a:solidFill>
                  <a:srgbClr val="000080"/>
                </a:solidFill>
                <a:latin typeface="黑体" pitchFamily="2" charset="-122"/>
                <a:ea typeface="黑体" pitchFamily="2" charset="-122"/>
              </a:rPr>
              <a:t>52.23gigaflops/watt</a:t>
            </a:r>
            <a:endParaRPr lang="zh-CN" altLang="en-US" dirty="0">
              <a:solidFill>
                <a:srgbClr val="000080"/>
              </a:solidFill>
              <a:latin typeface="黑体" pitchFamily="2" charset="-122"/>
              <a:ea typeface="黑体" pitchFamily="2" charset="-122"/>
            </a:endParaRPr>
          </a:p>
          <a:p>
            <a:pPr marL="1816100" indent="-1816100">
              <a:lnSpc>
                <a:spcPct val="120000"/>
              </a:lnSpc>
              <a:spcBef>
                <a:spcPct val="0"/>
              </a:spcBef>
              <a:buClrTx/>
              <a:buFontTx/>
              <a:buNone/>
            </a:pPr>
            <a:r>
              <a:rPr lang="zh-CN" altLang="en-US" dirty="0">
                <a:solidFill>
                  <a:srgbClr val="000080"/>
                </a:solidFill>
                <a:latin typeface="黑体" pitchFamily="2" charset="-122"/>
                <a:ea typeface="黑体" pitchFamily="2" charset="-122"/>
              </a:rPr>
              <a:t>             </a:t>
            </a:r>
          </a:p>
        </p:txBody>
      </p:sp>
      <p:sp>
        <p:nvSpPr>
          <p:cNvPr id="38916" name="Rectangle 2"/>
          <p:cNvSpPr>
            <a:spLocks noChangeArrowheads="1"/>
          </p:cNvSpPr>
          <p:nvPr/>
        </p:nvSpPr>
        <p:spPr bwMode="auto">
          <a:xfrm>
            <a:off x="0" y="45402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gn="ctr">
              <a:lnSpc>
                <a:spcPct val="100000"/>
              </a:lnSpc>
              <a:spcBef>
                <a:spcPct val="0"/>
              </a:spcBef>
              <a:buClrTx/>
              <a:buFontTx/>
              <a:buNone/>
            </a:pPr>
            <a:r>
              <a:rPr lang="zh-CN" altLang="en-US" sz="2600">
                <a:solidFill>
                  <a:srgbClr val="800000"/>
                </a:solidFill>
                <a:latin typeface="黑体" pitchFamily="2" charset="-122"/>
                <a:ea typeface="黑体" pitchFamily="2" charset="-122"/>
              </a:rPr>
              <a:t>§1.4 计算机的发展 </a:t>
            </a:r>
          </a:p>
        </p:txBody>
      </p:sp>
    </p:spTree>
    <p:extLst>
      <p:ext uri="{BB962C8B-B14F-4D97-AF65-F5344CB8AC3E}">
        <p14:creationId xmlns:p14="http://schemas.microsoft.com/office/powerpoint/2010/main" val="22095790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4"/>
          <p:cNvSpPr>
            <a:spLocks noChangeArrowheads="1"/>
          </p:cNvSpPr>
          <p:nvPr/>
        </p:nvSpPr>
        <p:spPr bwMode="auto">
          <a:xfrm>
            <a:off x="1091700" y="1142550"/>
            <a:ext cx="7414628" cy="535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1816100" indent="-1816100">
              <a:lnSpc>
                <a:spcPct val="120000"/>
              </a:lnSpc>
              <a:spcBef>
                <a:spcPct val="0"/>
              </a:spcBef>
              <a:buClrTx/>
              <a:buFontTx/>
              <a:buNone/>
            </a:pPr>
            <a:r>
              <a:rPr lang="zh-CN" altLang="en-US" dirty="0">
                <a:solidFill>
                  <a:srgbClr val="FF0000"/>
                </a:solidFill>
                <a:latin typeface="黑体" pitchFamily="2" charset="-122"/>
                <a:ea typeface="黑体" pitchFamily="2" charset="-122"/>
              </a:rPr>
              <a:t>神威</a:t>
            </a:r>
            <a:r>
              <a:rPr lang="en-US" altLang="zh-CN" dirty="0">
                <a:solidFill>
                  <a:srgbClr val="FF0000"/>
                </a:solidFill>
                <a:latin typeface="黑体" pitchFamily="2" charset="-122"/>
                <a:ea typeface="黑体" pitchFamily="2" charset="-122"/>
              </a:rPr>
              <a:t>·</a:t>
            </a:r>
            <a:r>
              <a:rPr lang="zh-CN" altLang="en-US" dirty="0">
                <a:solidFill>
                  <a:srgbClr val="FF0000"/>
                </a:solidFill>
                <a:latin typeface="黑体" pitchFamily="2" charset="-122"/>
                <a:ea typeface="黑体" pitchFamily="2" charset="-122"/>
              </a:rPr>
              <a:t>太湖之光</a:t>
            </a:r>
            <a:r>
              <a:rPr lang="en-US" altLang="zh-CN" dirty="0">
                <a:solidFill>
                  <a:srgbClr val="FF0000"/>
                </a:solidFill>
                <a:latin typeface="黑体" pitchFamily="2" charset="-122"/>
                <a:ea typeface="黑体" pitchFamily="2" charset="-122"/>
              </a:rPr>
              <a:t>: -- </a:t>
            </a:r>
            <a:r>
              <a:rPr lang="zh-CN" altLang="en-US" dirty="0">
                <a:solidFill>
                  <a:srgbClr val="FF0000"/>
                </a:solidFill>
                <a:latin typeface="黑体" pitchFamily="2" charset="-122"/>
                <a:ea typeface="黑体" pitchFamily="2" charset="-122"/>
              </a:rPr>
              <a:t>国产化！ </a:t>
            </a:r>
            <a:r>
              <a:rPr lang="en-US" altLang="zh-CN" dirty="0">
                <a:solidFill>
                  <a:srgbClr val="FF0000"/>
                </a:solidFill>
                <a:latin typeface="黑体" pitchFamily="2" charset="-122"/>
                <a:ea typeface="黑体" pitchFamily="2" charset="-122"/>
              </a:rPr>
              <a:t>2016</a:t>
            </a:r>
            <a:r>
              <a:rPr lang="zh-CN" altLang="en-US" dirty="0">
                <a:solidFill>
                  <a:srgbClr val="FF0000"/>
                </a:solidFill>
                <a:latin typeface="黑体" pitchFamily="2" charset="-122"/>
                <a:ea typeface="黑体" pitchFamily="2" charset="-122"/>
              </a:rPr>
              <a:t>年夺冠</a:t>
            </a:r>
          </a:p>
          <a:p>
            <a:pPr marL="1816100" indent="-1816100">
              <a:lnSpc>
                <a:spcPct val="120000"/>
              </a:lnSpc>
              <a:spcBef>
                <a:spcPct val="0"/>
              </a:spcBef>
              <a:buClrTx/>
              <a:buFontTx/>
              <a:buNone/>
            </a:pPr>
            <a:r>
              <a:rPr lang="zh-CN" altLang="en-US" dirty="0">
                <a:solidFill>
                  <a:srgbClr val="000080"/>
                </a:solidFill>
                <a:latin typeface="黑体" pitchFamily="2" charset="-122"/>
                <a:ea typeface="黑体" pitchFamily="2" charset="-122"/>
              </a:rPr>
              <a:t>    处理器个数：</a:t>
            </a:r>
            <a:r>
              <a:rPr lang="en-US" altLang="zh-CN" dirty="0">
                <a:solidFill>
                  <a:srgbClr val="000080"/>
                </a:solidFill>
                <a:latin typeface="黑体" pitchFamily="2" charset="-122"/>
                <a:ea typeface="黑体" pitchFamily="2" charset="-122"/>
              </a:rPr>
              <a:t>10,649,600</a:t>
            </a:r>
          </a:p>
          <a:p>
            <a:pPr marL="1816100" indent="-1816100">
              <a:lnSpc>
                <a:spcPct val="120000"/>
              </a:lnSpc>
              <a:spcBef>
                <a:spcPct val="0"/>
              </a:spcBef>
              <a:buClrTx/>
              <a:buFontTx/>
              <a:buNone/>
            </a:pPr>
            <a:r>
              <a:rPr lang="zh-CN" altLang="en-US" dirty="0">
                <a:solidFill>
                  <a:srgbClr val="000080"/>
                </a:solidFill>
                <a:latin typeface="黑体" pitchFamily="2" charset="-122"/>
                <a:ea typeface="黑体" pitchFamily="2" charset="-122"/>
              </a:rPr>
              <a:t>    峰值速度：</a:t>
            </a:r>
            <a:r>
              <a:rPr lang="en-US" altLang="zh-CN" dirty="0">
                <a:solidFill>
                  <a:srgbClr val="000080"/>
                </a:solidFill>
                <a:latin typeface="黑体" pitchFamily="2" charset="-122"/>
                <a:ea typeface="黑体" pitchFamily="2" charset="-122"/>
              </a:rPr>
              <a:t>12.54 </a:t>
            </a:r>
            <a:r>
              <a:rPr lang="zh-CN" altLang="en-US" dirty="0">
                <a:solidFill>
                  <a:srgbClr val="000080"/>
                </a:solidFill>
                <a:latin typeface="黑体" pitchFamily="2" charset="-122"/>
                <a:ea typeface="黑体" pitchFamily="2" charset="-122"/>
              </a:rPr>
              <a:t>亿亿次</a:t>
            </a:r>
            <a:r>
              <a:rPr lang="en-US" altLang="zh-CN" dirty="0">
                <a:solidFill>
                  <a:srgbClr val="000080"/>
                </a:solidFill>
                <a:latin typeface="黑体" pitchFamily="2" charset="-122"/>
                <a:ea typeface="黑体" pitchFamily="2" charset="-122"/>
              </a:rPr>
              <a:t>/</a:t>
            </a:r>
            <a:r>
              <a:rPr lang="zh-CN" altLang="en-US" dirty="0">
                <a:solidFill>
                  <a:srgbClr val="000080"/>
                </a:solidFill>
                <a:latin typeface="黑体" pitchFamily="2" charset="-122"/>
                <a:ea typeface="黑体" pitchFamily="2" charset="-122"/>
              </a:rPr>
              <a:t>秒</a:t>
            </a:r>
          </a:p>
          <a:p>
            <a:pPr marL="1816100" indent="-1816100">
              <a:lnSpc>
                <a:spcPct val="120000"/>
              </a:lnSpc>
              <a:spcBef>
                <a:spcPct val="0"/>
              </a:spcBef>
              <a:buClrTx/>
              <a:buFontTx/>
              <a:buNone/>
            </a:pPr>
            <a:r>
              <a:rPr lang="zh-CN" altLang="en-US" dirty="0">
                <a:solidFill>
                  <a:srgbClr val="000080"/>
                </a:solidFill>
                <a:latin typeface="黑体" pitchFamily="2" charset="-122"/>
                <a:ea typeface="黑体" pitchFamily="2" charset="-122"/>
              </a:rPr>
              <a:t>    持续速度：</a:t>
            </a:r>
            <a:r>
              <a:rPr lang="en-US" altLang="zh-CN" dirty="0">
                <a:solidFill>
                  <a:srgbClr val="000080"/>
                </a:solidFill>
                <a:latin typeface="黑体" pitchFamily="2" charset="-122"/>
                <a:ea typeface="黑体" pitchFamily="2" charset="-122"/>
              </a:rPr>
              <a:t>9.3   </a:t>
            </a:r>
            <a:r>
              <a:rPr lang="zh-CN" altLang="en-US" dirty="0">
                <a:solidFill>
                  <a:srgbClr val="000080"/>
                </a:solidFill>
                <a:latin typeface="黑体" pitchFamily="2" charset="-122"/>
                <a:ea typeface="黑体" pitchFamily="2" charset="-122"/>
              </a:rPr>
              <a:t>亿亿次</a:t>
            </a:r>
            <a:r>
              <a:rPr lang="en-US" altLang="zh-CN" dirty="0">
                <a:solidFill>
                  <a:srgbClr val="000080"/>
                </a:solidFill>
                <a:latin typeface="黑体" pitchFamily="2" charset="-122"/>
                <a:ea typeface="黑体" pitchFamily="2" charset="-122"/>
              </a:rPr>
              <a:t>/</a:t>
            </a:r>
            <a:r>
              <a:rPr lang="zh-CN" altLang="en-US" dirty="0">
                <a:solidFill>
                  <a:srgbClr val="000080"/>
                </a:solidFill>
                <a:latin typeface="黑体" pitchFamily="2" charset="-122"/>
                <a:ea typeface="黑体" pitchFamily="2" charset="-122"/>
              </a:rPr>
              <a:t>秒</a:t>
            </a:r>
          </a:p>
          <a:p>
            <a:pPr marL="1816100" indent="-1816100">
              <a:lnSpc>
                <a:spcPct val="120000"/>
              </a:lnSpc>
              <a:spcBef>
                <a:spcPct val="0"/>
              </a:spcBef>
              <a:buClrTx/>
              <a:buFontTx/>
              <a:buNone/>
            </a:pPr>
            <a:r>
              <a:rPr lang="zh-CN" altLang="en-US" dirty="0">
                <a:solidFill>
                  <a:srgbClr val="000080"/>
                </a:solidFill>
                <a:latin typeface="黑体" pitchFamily="2" charset="-122"/>
                <a:ea typeface="黑体" pitchFamily="2" charset="-122"/>
              </a:rPr>
              <a:t>      （开机</a:t>
            </a:r>
            <a:r>
              <a:rPr lang="en-US" altLang="zh-CN" dirty="0">
                <a:solidFill>
                  <a:srgbClr val="000080"/>
                </a:solidFill>
                <a:latin typeface="黑体" pitchFamily="2" charset="-122"/>
                <a:ea typeface="黑体" pitchFamily="2" charset="-122"/>
              </a:rPr>
              <a:t>1</a:t>
            </a:r>
            <a:r>
              <a:rPr lang="zh-CN" altLang="en-US" dirty="0">
                <a:solidFill>
                  <a:srgbClr val="000080"/>
                </a:solidFill>
                <a:latin typeface="黑体" pitchFamily="2" charset="-122"/>
                <a:ea typeface="黑体" pitchFamily="2" charset="-122"/>
              </a:rPr>
              <a:t>分钟 </a:t>
            </a:r>
            <a:r>
              <a:rPr lang="en-US" altLang="zh-CN" dirty="0">
                <a:solidFill>
                  <a:srgbClr val="000080"/>
                </a:solidFill>
                <a:latin typeface="黑体" pitchFamily="2" charset="-122"/>
                <a:ea typeface="黑体" pitchFamily="2" charset="-122"/>
              </a:rPr>
              <a:t>= 72</a:t>
            </a:r>
            <a:r>
              <a:rPr lang="zh-CN" altLang="en-US" dirty="0">
                <a:solidFill>
                  <a:srgbClr val="000080"/>
                </a:solidFill>
                <a:latin typeface="黑体" pitchFamily="2" charset="-122"/>
                <a:ea typeface="黑体" pitchFamily="2" charset="-122"/>
              </a:rPr>
              <a:t>亿人算</a:t>
            </a:r>
            <a:r>
              <a:rPr lang="en-US" altLang="zh-CN" dirty="0">
                <a:solidFill>
                  <a:srgbClr val="000080"/>
                </a:solidFill>
                <a:latin typeface="黑体" pitchFamily="2" charset="-122"/>
                <a:ea typeface="黑体" pitchFamily="2" charset="-122"/>
              </a:rPr>
              <a:t>32</a:t>
            </a:r>
            <a:r>
              <a:rPr lang="zh-CN" altLang="en-US" dirty="0">
                <a:solidFill>
                  <a:srgbClr val="000080"/>
                </a:solidFill>
                <a:latin typeface="黑体" pitchFamily="2" charset="-122"/>
                <a:ea typeface="黑体" pitchFamily="2" charset="-122"/>
              </a:rPr>
              <a:t>年）</a:t>
            </a:r>
          </a:p>
          <a:p>
            <a:pPr marL="1816100" indent="-1816100">
              <a:lnSpc>
                <a:spcPct val="120000"/>
              </a:lnSpc>
              <a:spcBef>
                <a:spcPct val="0"/>
              </a:spcBef>
              <a:buClrTx/>
              <a:buFontTx/>
              <a:buNone/>
            </a:pPr>
            <a:r>
              <a:rPr lang="zh-CN" altLang="en-US" dirty="0">
                <a:solidFill>
                  <a:srgbClr val="000080"/>
                </a:solidFill>
                <a:latin typeface="黑体" pitchFamily="2" charset="-122"/>
                <a:ea typeface="黑体" pitchFamily="2" charset="-122"/>
              </a:rPr>
              <a:t>    功耗：</a:t>
            </a:r>
            <a:r>
              <a:rPr lang="en-US" altLang="zh-CN" dirty="0">
                <a:solidFill>
                  <a:srgbClr val="000080"/>
                </a:solidFill>
                <a:latin typeface="黑体" pitchFamily="2" charset="-122"/>
                <a:ea typeface="黑体" pitchFamily="2" charset="-122"/>
              </a:rPr>
              <a:t>15.37</a:t>
            </a:r>
            <a:r>
              <a:rPr lang="zh-CN" altLang="en-US" dirty="0">
                <a:solidFill>
                  <a:srgbClr val="000080"/>
                </a:solidFill>
                <a:latin typeface="黑体" pitchFamily="2" charset="-122"/>
                <a:ea typeface="黑体" pitchFamily="2" charset="-122"/>
              </a:rPr>
              <a:t>兆瓦</a:t>
            </a:r>
            <a:endParaRPr lang="en-US" altLang="zh-CN" dirty="0">
              <a:solidFill>
                <a:srgbClr val="000080"/>
              </a:solidFill>
              <a:latin typeface="黑体" pitchFamily="2" charset="-122"/>
              <a:ea typeface="黑体" pitchFamily="2" charset="-122"/>
            </a:endParaRPr>
          </a:p>
          <a:p>
            <a:pPr marL="1816100" indent="-1816100">
              <a:lnSpc>
                <a:spcPct val="120000"/>
              </a:lnSpc>
              <a:spcBef>
                <a:spcPct val="0"/>
              </a:spcBef>
              <a:buClrTx/>
              <a:buFontTx/>
              <a:buNone/>
            </a:pPr>
            <a:r>
              <a:rPr lang="en-US" altLang="zh-CN" dirty="0">
                <a:solidFill>
                  <a:srgbClr val="000080"/>
                </a:solidFill>
                <a:latin typeface="黑体" pitchFamily="2" charset="-122"/>
                <a:ea typeface="黑体" pitchFamily="2" charset="-122"/>
              </a:rPr>
              <a:t>    </a:t>
            </a:r>
            <a:r>
              <a:rPr lang="zh-CN" altLang="en-US" dirty="0">
                <a:solidFill>
                  <a:srgbClr val="000080"/>
                </a:solidFill>
                <a:latin typeface="黑体" pitchFamily="2" charset="-122"/>
                <a:ea typeface="黑体" pitchFamily="2" charset="-122"/>
              </a:rPr>
              <a:t>操作系统：</a:t>
            </a:r>
            <a:r>
              <a:rPr lang="en-US" altLang="zh-CN" dirty="0">
                <a:solidFill>
                  <a:srgbClr val="000080"/>
                </a:solidFill>
                <a:latin typeface="黑体" pitchFamily="2" charset="-122"/>
                <a:ea typeface="黑体" pitchFamily="2" charset="-122"/>
              </a:rPr>
              <a:t>Sunway </a:t>
            </a:r>
            <a:r>
              <a:rPr lang="en-US" altLang="zh-CN" dirty="0" err="1">
                <a:solidFill>
                  <a:srgbClr val="000080"/>
                </a:solidFill>
                <a:latin typeface="黑体" pitchFamily="2" charset="-122"/>
                <a:ea typeface="黑体" pitchFamily="2" charset="-122"/>
              </a:rPr>
              <a:t>RaiseOS</a:t>
            </a:r>
            <a:r>
              <a:rPr lang="en-US" altLang="zh-CN" dirty="0">
                <a:solidFill>
                  <a:srgbClr val="000080"/>
                </a:solidFill>
                <a:latin typeface="黑体" pitchFamily="2" charset="-122"/>
                <a:ea typeface="黑体" pitchFamily="2" charset="-122"/>
              </a:rPr>
              <a:t> 2.0.5</a:t>
            </a:r>
          </a:p>
          <a:p>
            <a:pPr marL="1816100" indent="-1816100">
              <a:lnSpc>
                <a:spcPct val="120000"/>
              </a:lnSpc>
              <a:spcBef>
                <a:spcPct val="0"/>
              </a:spcBef>
              <a:buClrTx/>
              <a:buFontTx/>
              <a:buNone/>
            </a:pPr>
            <a:endParaRPr lang="zh-CN" altLang="en-US" dirty="0">
              <a:solidFill>
                <a:srgbClr val="000080"/>
              </a:solidFill>
              <a:latin typeface="黑体" pitchFamily="2" charset="-122"/>
              <a:ea typeface="黑体" pitchFamily="2" charset="-122"/>
            </a:endParaRPr>
          </a:p>
          <a:p>
            <a:pPr marL="1816100" indent="-1816100">
              <a:lnSpc>
                <a:spcPct val="120000"/>
              </a:lnSpc>
              <a:spcBef>
                <a:spcPct val="0"/>
              </a:spcBef>
              <a:buClrTx/>
              <a:buFontTx/>
              <a:buNone/>
            </a:pPr>
            <a:r>
              <a:rPr lang="zh-CN" altLang="en-US" dirty="0">
                <a:solidFill>
                  <a:srgbClr val="000080"/>
                </a:solidFill>
                <a:latin typeface="黑体" pitchFamily="2" charset="-122"/>
                <a:ea typeface="黑体" pitchFamily="2" charset="-122"/>
              </a:rPr>
              <a:t>    运行于：无锡超级计算中心</a:t>
            </a:r>
          </a:p>
          <a:p>
            <a:pPr marL="1816100" indent="-1816100">
              <a:lnSpc>
                <a:spcPct val="120000"/>
              </a:lnSpc>
              <a:spcBef>
                <a:spcPct val="0"/>
              </a:spcBef>
              <a:buClrTx/>
              <a:buFontTx/>
              <a:buNone/>
            </a:pPr>
            <a:r>
              <a:rPr lang="zh-CN" altLang="en-US" dirty="0">
                <a:solidFill>
                  <a:srgbClr val="000080"/>
                </a:solidFill>
                <a:latin typeface="黑体" pitchFamily="2" charset="-122"/>
                <a:ea typeface="黑体" pitchFamily="2" charset="-122"/>
              </a:rPr>
              <a:t>            为高分辨率地球系统数值模拟、流体力学等研究提供服务。</a:t>
            </a:r>
          </a:p>
          <a:p>
            <a:pPr marL="1816100" indent="-1816100">
              <a:lnSpc>
                <a:spcPct val="120000"/>
              </a:lnSpc>
              <a:spcBef>
                <a:spcPct val="0"/>
              </a:spcBef>
              <a:buClrTx/>
              <a:buFontTx/>
              <a:buNone/>
            </a:pPr>
            <a:r>
              <a:rPr lang="zh-CN" altLang="en-US" dirty="0">
                <a:solidFill>
                  <a:srgbClr val="000080"/>
                </a:solidFill>
                <a:latin typeface="黑体" pitchFamily="2" charset="-122"/>
                <a:ea typeface="黑体" pitchFamily="2" charset="-122"/>
              </a:rPr>
              <a:t>            </a:t>
            </a:r>
          </a:p>
        </p:txBody>
      </p:sp>
      <p:sp>
        <p:nvSpPr>
          <p:cNvPr id="38916" name="Rectangle 2"/>
          <p:cNvSpPr>
            <a:spLocks noChangeArrowheads="1"/>
          </p:cNvSpPr>
          <p:nvPr/>
        </p:nvSpPr>
        <p:spPr bwMode="auto">
          <a:xfrm>
            <a:off x="0" y="45402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gn="ctr">
              <a:lnSpc>
                <a:spcPct val="100000"/>
              </a:lnSpc>
              <a:spcBef>
                <a:spcPct val="0"/>
              </a:spcBef>
              <a:buClrTx/>
              <a:buFontTx/>
              <a:buNone/>
            </a:pPr>
            <a:r>
              <a:rPr lang="zh-CN" altLang="en-US" sz="2600">
                <a:solidFill>
                  <a:srgbClr val="800000"/>
                </a:solidFill>
                <a:latin typeface="黑体" pitchFamily="2" charset="-122"/>
                <a:ea typeface="黑体" pitchFamily="2" charset="-122"/>
              </a:rPr>
              <a:t>§1.4 计算机的发展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0" y="45402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gn="ctr">
              <a:lnSpc>
                <a:spcPct val="100000"/>
              </a:lnSpc>
              <a:spcBef>
                <a:spcPct val="0"/>
              </a:spcBef>
              <a:buClrTx/>
              <a:buFontTx/>
              <a:buNone/>
            </a:pPr>
            <a:r>
              <a:rPr lang="zh-CN" altLang="en-US" sz="2600">
                <a:solidFill>
                  <a:srgbClr val="800000"/>
                </a:solidFill>
                <a:latin typeface="黑体" pitchFamily="2" charset="-122"/>
                <a:ea typeface="黑体" pitchFamily="2" charset="-122"/>
              </a:rPr>
              <a:t>§1.4 计算机的发展 </a:t>
            </a:r>
          </a:p>
        </p:txBody>
      </p:sp>
      <p:sp>
        <p:nvSpPr>
          <p:cNvPr id="39939" name="Rectangle 7"/>
          <p:cNvSpPr>
            <a:spLocks noChangeArrowheads="1"/>
          </p:cNvSpPr>
          <p:nvPr/>
        </p:nvSpPr>
        <p:spPr bwMode="auto">
          <a:xfrm>
            <a:off x="493713" y="3415323"/>
            <a:ext cx="8650287" cy="1363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marL="342900" indent="-342900" algn="just">
              <a:lnSpc>
                <a:spcPct val="120000"/>
              </a:lnSpc>
              <a:spcBef>
                <a:spcPct val="0"/>
              </a:spcBef>
              <a:buClrTx/>
              <a:buFont typeface="Wingdings" panose="05000000000000000000" pitchFamily="2" charset="2"/>
              <a:buChar char="Ø"/>
            </a:pPr>
            <a:r>
              <a:rPr lang="zh-CN" altLang="en-US" dirty="0">
                <a:solidFill>
                  <a:srgbClr val="000080"/>
                </a:solidFill>
                <a:latin typeface="黑体" pitchFamily="2" charset="-122"/>
                <a:ea typeface="黑体" pitchFamily="2" charset="-122"/>
              </a:rPr>
              <a:t>计算资源多样化，</a:t>
            </a:r>
            <a:r>
              <a:rPr lang="en-US" altLang="zh-CN" dirty="0">
                <a:solidFill>
                  <a:srgbClr val="000080"/>
                </a:solidFill>
                <a:latin typeface="黑体" pitchFamily="2" charset="-122"/>
                <a:ea typeface="黑体" pitchFamily="2" charset="-122"/>
              </a:rPr>
              <a:t>I/O</a:t>
            </a:r>
            <a:r>
              <a:rPr lang="zh-CN" altLang="en-US" dirty="0">
                <a:solidFill>
                  <a:srgbClr val="000080"/>
                </a:solidFill>
                <a:latin typeface="黑体" pitchFamily="2" charset="-122"/>
                <a:ea typeface="黑体" pitchFamily="2" charset="-122"/>
              </a:rPr>
              <a:t>设备无处不在，数据中心与</a:t>
            </a:r>
            <a:r>
              <a:rPr lang="en-US" altLang="zh-CN" dirty="0">
                <a:solidFill>
                  <a:srgbClr val="000080"/>
                </a:solidFill>
                <a:latin typeface="黑体" pitchFamily="2" charset="-122"/>
                <a:ea typeface="黑体" pitchFamily="2" charset="-122"/>
              </a:rPr>
              <a:t>PC</a:t>
            </a:r>
            <a:r>
              <a:rPr lang="zh-CN" altLang="en-US" dirty="0">
                <a:solidFill>
                  <a:srgbClr val="000080"/>
                </a:solidFill>
                <a:latin typeface="黑体" pitchFamily="2" charset="-122"/>
                <a:ea typeface="黑体" pitchFamily="2" charset="-122"/>
              </a:rPr>
              <a:t>等共存</a:t>
            </a:r>
          </a:p>
          <a:p>
            <a:pPr marL="342900" indent="-342900" algn="just">
              <a:lnSpc>
                <a:spcPct val="120000"/>
              </a:lnSpc>
              <a:spcBef>
                <a:spcPct val="0"/>
              </a:spcBef>
              <a:buClrTx/>
              <a:buFont typeface="Wingdings" panose="05000000000000000000" pitchFamily="2" charset="2"/>
              <a:buChar char="Ø"/>
            </a:pPr>
            <a:r>
              <a:rPr lang="zh-CN" altLang="en-US" dirty="0">
                <a:solidFill>
                  <a:srgbClr val="000080"/>
                </a:solidFill>
                <a:latin typeface="黑体" pitchFamily="2" charset="-122"/>
                <a:ea typeface="黑体" pitchFamily="2" charset="-122"/>
              </a:rPr>
              <a:t>软件和硬件</a:t>
            </a:r>
            <a:r>
              <a:rPr lang="zh-CN" altLang="en-US" dirty="0">
                <a:solidFill>
                  <a:srgbClr val="FF0000"/>
                </a:solidFill>
                <a:latin typeface="黑体" pitchFamily="2" charset="-122"/>
                <a:ea typeface="黑体" pitchFamily="2" charset="-122"/>
              </a:rPr>
              <a:t>协同设计</a:t>
            </a:r>
            <a:r>
              <a:rPr lang="en-US" altLang="zh-CN" dirty="0">
                <a:solidFill>
                  <a:srgbClr val="000080"/>
                </a:solidFill>
                <a:latin typeface="黑体" pitchFamily="2" charset="-122"/>
                <a:ea typeface="黑体" pitchFamily="2" charset="-122"/>
              </a:rPr>
              <a:t>(</a:t>
            </a:r>
            <a:r>
              <a:rPr lang="zh-CN" altLang="en-US" dirty="0">
                <a:solidFill>
                  <a:schemeClr val="tx1"/>
                </a:solidFill>
                <a:latin typeface="黑体" pitchFamily="2" charset="-122"/>
                <a:ea typeface="黑体" pitchFamily="2" charset="-122"/>
              </a:rPr>
              <a:t>硬件、</a:t>
            </a:r>
            <a:r>
              <a:rPr lang="en-US" altLang="zh-CN" dirty="0">
                <a:solidFill>
                  <a:schemeClr val="tx1"/>
                </a:solidFill>
                <a:latin typeface="黑体" pitchFamily="2" charset="-122"/>
                <a:ea typeface="黑体" pitchFamily="2" charset="-122"/>
              </a:rPr>
              <a:t>OS</a:t>
            </a:r>
            <a:r>
              <a:rPr lang="zh-CN" altLang="en-US" dirty="0">
                <a:solidFill>
                  <a:schemeClr val="tx1"/>
                </a:solidFill>
                <a:latin typeface="黑体" pitchFamily="2" charset="-122"/>
                <a:ea typeface="黑体" pitchFamily="2" charset="-122"/>
              </a:rPr>
              <a:t>和编译器之间的关联更加密切</a:t>
            </a:r>
            <a:r>
              <a:rPr lang="en-US" altLang="zh-CN" dirty="0">
                <a:solidFill>
                  <a:srgbClr val="000080"/>
                </a:solidFill>
                <a:latin typeface="黑体" pitchFamily="2" charset="-122"/>
                <a:ea typeface="黑体" pitchFamily="2" charset="-122"/>
              </a:rPr>
              <a:t>)</a:t>
            </a:r>
          </a:p>
          <a:p>
            <a:pPr marL="342900" indent="-342900" algn="just">
              <a:lnSpc>
                <a:spcPct val="120000"/>
              </a:lnSpc>
              <a:spcBef>
                <a:spcPct val="0"/>
              </a:spcBef>
              <a:buClrTx/>
              <a:buFont typeface="Wingdings" panose="05000000000000000000" pitchFamily="2" charset="2"/>
              <a:buChar char="Ø"/>
            </a:pPr>
            <a:r>
              <a:rPr lang="zh-CN" altLang="en-US" dirty="0">
                <a:solidFill>
                  <a:srgbClr val="000080"/>
                </a:solidFill>
                <a:latin typeface="黑体" pitchFamily="2" charset="-122"/>
                <a:ea typeface="黑体" pitchFamily="2" charset="-122"/>
              </a:rPr>
              <a:t>对应用程序员的要求更高</a:t>
            </a:r>
          </a:p>
        </p:txBody>
      </p:sp>
      <p:sp>
        <p:nvSpPr>
          <p:cNvPr id="39940" name="Rectangle 7"/>
          <p:cNvSpPr>
            <a:spLocks noChangeArrowheads="1"/>
          </p:cNvSpPr>
          <p:nvPr/>
        </p:nvSpPr>
        <p:spPr bwMode="auto">
          <a:xfrm>
            <a:off x="768350" y="4803088"/>
            <a:ext cx="8375650" cy="1326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lgn="just">
              <a:lnSpc>
                <a:spcPct val="120000"/>
              </a:lnSpc>
              <a:spcBef>
                <a:spcPct val="0"/>
              </a:spcBef>
              <a:buClr>
                <a:srgbClr val="FF0000"/>
              </a:buClr>
              <a:buSzPct val="60000"/>
              <a:buFont typeface="Wingdings" pitchFamily="2" charset="2"/>
              <a:buChar char="n"/>
            </a:pPr>
            <a:r>
              <a:rPr lang="zh-CN" altLang="en-US" dirty="0">
                <a:solidFill>
                  <a:schemeClr val="tx1"/>
                </a:solidFill>
                <a:latin typeface="黑体" pitchFamily="2" charset="-122"/>
                <a:ea typeface="黑体" pitchFamily="2" charset="-122"/>
              </a:rPr>
              <a:t> 编写高效程序必须了解计算机底层结构</a:t>
            </a:r>
          </a:p>
          <a:p>
            <a:pPr algn="just">
              <a:lnSpc>
                <a:spcPct val="110000"/>
              </a:lnSpc>
              <a:spcBef>
                <a:spcPct val="0"/>
              </a:spcBef>
              <a:buClr>
                <a:srgbClr val="FF0000"/>
              </a:buClr>
              <a:buSzPct val="60000"/>
              <a:buFont typeface="Wingdings" pitchFamily="2" charset="2"/>
              <a:buChar char="n"/>
            </a:pPr>
            <a:r>
              <a:rPr lang="zh-CN" altLang="en-US" dirty="0">
                <a:solidFill>
                  <a:schemeClr val="tx1"/>
                </a:solidFill>
                <a:latin typeface="黑体" pitchFamily="2" charset="-122"/>
                <a:ea typeface="黑体" pitchFamily="2" charset="-122"/>
              </a:rPr>
              <a:t> 必须掌握并行程序设计技术和工具</a:t>
            </a:r>
          </a:p>
          <a:p>
            <a:pPr algn="just">
              <a:lnSpc>
                <a:spcPct val="120000"/>
              </a:lnSpc>
              <a:spcBef>
                <a:spcPct val="0"/>
              </a:spcBef>
              <a:buClr>
                <a:srgbClr val="FF0000"/>
              </a:buClr>
              <a:buSzPct val="60000"/>
              <a:buFont typeface="Wingdings" pitchFamily="2" charset="2"/>
              <a:buChar char="n"/>
            </a:pPr>
            <a:r>
              <a:rPr lang="zh-CN" altLang="en-US" dirty="0">
                <a:solidFill>
                  <a:schemeClr val="tx1"/>
                </a:solidFill>
                <a:latin typeface="黑体" pitchFamily="2" charset="-122"/>
                <a:ea typeface="黑体" pitchFamily="2" charset="-122"/>
              </a:rPr>
              <a:t> 应用问题更复杂，领域更广</a:t>
            </a:r>
          </a:p>
        </p:txBody>
      </p:sp>
      <p:sp>
        <p:nvSpPr>
          <p:cNvPr id="39941" name="Rectangle 7"/>
          <p:cNvSpPr>
            <a:spLocks noChangeArrowheads="1"/>
          </p:cNvSpPr>
          <p:nvPr/>
        </p:nvSpPr>
        <p:spPr bwMode="auto">
          <a:xfrm>
            <a:off x="1101725" y="6035849"/>
            <a:ext cx="8042275" cy="4766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a:spAutoFit/>
          </a:bodyPr>
          <a:lstStyle/>
          <a:p>
            <a:pPr algn="just">
              <a:lnSpc>
                <a:spcPct val="120000"/>
              </a:lnSpc>
              <a:spcBef>
                <a:spcPct val="0"/>
              </a:spcBef>
              <a:buClr>
                <a:srgbClr val="000080"/>
              </a:buClr>
              <a:buSzPct val="60000"/>
              <a:buFont typeface="Wingdings" pitchFamily="2" charset="2"/>
              <a:buChar char="n"/>
            </a:pPr>
            <a:r>
              <a:rPr lang="zh-CN" altLang="en-US" dirty="0">
                <a:solidFill>
                  <a:srgbClr val="000080"/>
                </a:solidFill>
                <a:latin typeface="黑体" pitchFamily="2" charset="-122"/>
                <a:ea typeface="黑体" pitchFamily="2" charset="-122"/>
              </a:rPr>
              <a:t>云计算</a:t>
            </a:r>
            <a:r>
              <a:rPr lang="en-US" altLang="zh-CN" dirty="0">
                <a:solidFill>
                  <a:srgbClr val="000080"/>
                </a:solidFill>
                <a:latin typeface="黑体" pitchFamily="2" charset="-122"/>
                <a:ea typeface="黑体" pitchFamily="2" charset="-122"/>
              </a:rPr>
              <a:t>+</a:t>
            </a:r>
            <a:r>
              <a:rPr lang="zh-CN" altLang="en-US" dirty="0">
                <a:solidFill>
                  <a:srgbClr val="000080"/>
                </a:solidFill>
                <a:latin typeface="黑体" pitchFamily="2" charset="-122"/>
                <a:ea typeface="黑体" pitchFamily="2" charset="-122"/>
              </a:rPr>
              <a:t>智能终端</a:t>
            </a:r>
          </a:p>
        </p:txBody>
      </p:sp>
      <p:sp>
        <p:nvSpPr>
          <p:cNvPr id="39942" name="Rectangle 3"/>
          <p:cNvSpPr>
            <a:spLocks noChangeArrowheads="1"/>
          </p:cNvSpPr>
          <p:nvPr/>
        </p:nvSpPr>
        <p:spPr bwMode="auto">
          <a:xfrm>
            <a:off x="551665" y="2907550"/>
            <a:ext cx="749300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nSpc>
                <a:spcPct val="100000"/>
              </a:lnSpc>
              <a:spcBef>
                <a:spcPct val="0"/>
              </a:spcBef>
              <a:buClrTx/>
              <a:buFontTx/>
              <a:buNone/>
            </a:pPr>
            <a:r>
              <a:rPr lang="en-US" altLang="zh-CN" dirty="0">
                <a:solidFill>
                  <a:srgbClr val="800000"/>
                </a:solidFill>
                <a:latin typeface="黑体" pitchFamily="2" charset="-122"/>
                <a:ea typeface="黑体" pitchFamily="2" charset="-122"/>
              </a:rPr>
              <a:t>6</a:t>
            </a:r>
            <a:r>
              <a:rPr lang="zh-CN" altLang="en-US" dirty="0">
                <a:solidFill>
                  <a:srgbClr val="800000"/>
                </a:solidFill>
                <a:latin typeface="黑体" pitchFamily="2" charset="-122"/>
                <a:ea typeface="黑体" pitchFamily="2" charset="-122"/>
              </a:rPr>
              <a:t>．后</a:t>
            </a:r>
            <a:r>
              <a:rPr lang="en-US" altLang="zh-CN" dirty="0">
                <a:solidFill>
                  <a:srgbClr val="800000"/>
                </a:solidFill>
                <a:latin typeface="黑体" pitchFamily="2" charset="-122"/>
                <a:ea typeface="黑体" pitchFamily="2" charset="-122"/>
              </a:rPr>
              <a:t>PC</a:t>
            </a:r>
            <a:r>
              <a:rPr lang="zh-CN" altLang="en-US" dirty="0">
                <a:solidFill>
                  <a:srgbClr val="800000"/>
                </a:solidFill>
                <a:latin typeface="黑体" pitchFamily="2" charset="-122"/>
                <a:ea typeface="黑体" pitchFamily="2" charset="-122"/>
              </a:rPr>
              <a:t>时代的几个特征</a:t>
            </a:r>
          </a:p>
        </p:txBody>
      </p:sp>
      <p:sp>
        <p:nvSpPr>
          <p:cNvPr id="3" name="文本框 2">
            <a:extLst>
              <a:ext uri="{FF2B5EF4-FFF2-40B4-BE49-F238E27FC236}">
                <a16:creationId xmlns:a16="http://schemas.microsoft.com/office/drawing/2014/main" id="{B3742D7D-B4C1-5DB0-430E-CAE9E0C7C45F}"/>
              </a:ext>
            </a:extLst>
          </p:cNvPr>
          <p:cNvSpPr txBox="1"/>
          <p:nvPr/>
        </p:nvSpPr>
        <p:spPr>
          <a:xfrm>
            <a:off x="551665" y="1684153"/>
            <a:ext cx="7493000" cy="941796"/>
          </a:xfrm>
          <a:prstGeom prst="rect">
            <a:avLst/>
          </a:prstGeom>
          <a:noFill/>
        </p:spPr>
        <p:txBody>
          <a:bodyPr wrap="square">
            <a:spAutoFit/>
          </a:bodyPr>
          <a:lstStyle/>
          <a:p>
            <a:r>
              <a:rPr lang="en-US" altLang="zh-CN" dirty="0">
                <a:solidFill>
                  <a:srgbClr val="FF0000"/>
                </a:solidFill>
              </a:rPr>
              <a:t>-</a:t>
            </a:r>
            <a:r>
              <a:rPr lang="zh-CN" altLang="en-US" dirty="0">
                <a:solidFill>
                  <a:srgbClr val="FF0000"/>
                </a:solidFill>
              </a:rPr>
              <a:t>微型化</a:t>
            </a:r>
            <a:r>
              <a:rPr lang="zh-CN" altLang="en-US" dirty="0"/>
              <a:t>（体积）：微型化、网络化、高性能、多用途 </a:t>
            </a:r>
            <a:endParaRPr lang="en-US" altLang="zh-CN" dirty="0"/>
          </a:p>
          <a:p>
            <a:r>
              <a:rPr lang="en-US" altLang="zh-CN" dirty="0">
                <a:solidFill>
                  <a:srgbClr val="FF0000"/>
                </a:solidFill>
              </a:rPr>
              <a:t>-</a:t>
            </a:r>
            <a:r>
              <a:rPr lang="zh-CN" altLang="en-US" dirty="0">
                <a:solidFill>
                  <a:srgbClr val="FF0000"/>
                </a:solidFill>
              </a:rPr>
              <a:t>巨型化</a:t>
            </a:r>
            <a:r>
              <a:rPr lang="zh-CN" altLang="en-US" dirty="0"/>
              <a:t>（计算能力）：超高速、并行处理、智能化</a:t>
            </a:r>
          </a:p>
        </p:txBody>
      </p:sp>
      <p:sp>
        <p:nvSpPr>
          <p:cNvPr id="4" name="Rectangle 3">
            <a:extLst>
              <a:ext uri="{FF2B5EF4-FFF2-40B4-BE49-F238E27FC236}">
                <a16:creationId xmlns:a16="http://schemas.microsoft.com/office/drawing/2014/main" id="{8BEA9851-E274-1147-3711-7FA703C2587A}"/>
              </a:ext>
            </a:extLst>
          </p:cNvPr>
          <p:cNvSpPr>
            <a:spLocks noChangeArrowheads="1"/>
          </p:cNvSpPr>
          <p:nvPr/>
        </p:nvSpPr>
        <p:spPr bwMode="auto">
          <a:xfrm>
            <a:off x="551665" y="1166918"/>
            <a:ext cx="749300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nSpc>
                <a:spcPct val="100000"/>
              </a:lnSpc>
              <a:spcBef>
                <a:spcPct val="0"/>
              </a:spcBef>
              <a:buClrTx/>
              <a:buFontTx/>
              <a:buNone/>
            </a:pPr>
            <a:r>
              <a:rPr lang="en-US" altLang="zh-CN" dirty="0">
                <a:solidFill>
                  <a:srgbClr val="800000"/>
                </a:solidFill>
                <a:latin typeface="黑体" pitchFamily="2" charset="-122"/>
                <a:ea typeface="黑体" pitchFamily="2" charset="-122"/>
              </a:rPr>
              <a:t>5</a:t>
            </a:r>
            <a:r>
              <a:rPr lang="zh-CN" altLang="en-US" dirty="0">
                <a:solidFill>
                  <a:srgbClr val="800000"/>
                </a:solidFill>
                <a:latin typeface="黑体" pitchFamily="2" charset="-122"/>
                <a:ea typeface="黑体" pitchFamily="2" charset="-122"/>
              </a:rPr>
              <a:t>．计算机的发展趋势  </a:t>
            </a:r>
            <a:r>
              <a:rPr lang="en-US" altLang="zh-CN" dirty="0">
                <a:solidFill>
                  <a:srgbClr val="000080"/>
                </a:solidFill>
                <a:latin typeface="黑体" pitchFamily="2" charset="-122"/>
                <a:ea typeface="黑体" pitchFamily="2" charset="-122"/>
              </a:rPr>
              <a:t>——</a:t>
            </a:r>
            <a:r>
              <a:rPr lang="zh-CN" altLang="en-US" dirty="0">
                <a:solidFill>
                  <a:srgbClr val="000080"/>
                </a:solidFill>
                <a:latin typeface="黑体" pitchFamily="2" charset="-122"/>
                <a:ea typeface="黑体" pitchFamily="2" charset="-122"/>
              </a:rPr>
              <a:t>两极分化</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3B633-4A45-8D9E-3CBB-2D980C87E065}"/>
            </a:ext>
          </a:extLst>
        </p:cNvPr>
        <p:cNvGrpSpPr/>
        <p:nvPr/>
      </p:nvGrpSpPr>
      <p:grpSpPr>
        <a:xfrm>
          <a:off x="0" y="0"/>
          <a:ext cx="0" cy="0"/>
          <a:chOff x="0" y="0"/>
          <a:chExt cx="0" cy="0"/>
        </a:xfrm>
      </p:grpSpPr>
      <p:sp>
        <p:nvSpPr>
          <p:cNvPr id="39938" name="Rectangle 2">
            <a:extLst>
              <a:ext uri="{FF2B5EF4-FFF2-40B4-BE49-F238E27FC236}">
                <a16:creationId xmlns:a16="http://schemas.microsoft.com/office/drawing/2014/main" id="{032AF758-C229-0B98-8865-0C0CAD5948D2}"/>
              </a:ext>
            </a:extLst>
          </p:cNvPr>
          <p:cNvSpPr>
            <a:spLocks noChangeArrowheads="1"/>
          </p:cNvSpPr>
          <p:nvPr/>
        </p:nvSpPr>
        <p:spPr bwMode="auto">
          <a:xfrm>
            <a:off x="0" y="45402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gn="ctr">
              <a:lnSpc>
                <a:spcPct val="100000"/>
              </a:lnSpc>
              <a:spcBef>
                <a:spcPct val="0"/>
              </a:spcBef>
              <a:buClrTx/>
              <a:buFontTx/>
              <a:buNone/>
            </a:pPr>
            <a:r>
              <a:rPr lang="zh-CN" altLang="en-US" sz="2600">
                <a:solidFill>
                  <a:srgbClr val="800000"/>
                </a:solidFill>
                <a:latin typeface="黑体" pitchFamily="2" charset="-122"/>
                <a:ea typeface="黑体" pitchFamily="2" charset="-122"/>
              </a:rPr>
              <a:t>§1.4 计算机的发展 </a:t>
            </a:r>
          </a:p>
        </p:txBody>
      </p:sp>
      <p:sp>
        <p:nvSpPr>
          <p:cNvPr id="39939" name="Rectangle 7">
            <a:extLst>
              <a:ext uri="{FF2B5EF4-FFF2-40B4-BE49-F238E27FC236}">
                <a16:creationId xmlns:a16="http://schemas.microsoft.com/office/drawing/2014/main" id="{AEB81026-3563-DA61-7647-8948D2ABE5FF}"/>
              </a:ext>
            </a:extLst>
          </p:cNvPr>
          <p:cNvSpPr>
            <a:spLocks noChangeArrowheads="1"/>
          </p:cNvSpPr>
          <p:nvPr/>
        </p:nvSpPr>
        <p:spPr bwMode="auto">
          <a:xfrm>
            <a:off x="493714" y="1579563"/>
            <a:ext cx="7931096" cy="8725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p>
            <a:pPr algn="just">
              <a:lnSpc>
                <a:spcPct val="110000"/>
              </a:lnSpc>
              <a:spcBef>
                <a:spcPct val="0"/>
              </a:spcBef>
              <a:buClrTx/>
            </a:pPr>
            <a:r>
              <a:rPr lang="zh-CN" altLang="en-US" dirty="0">
                <a:solidFill>
                  <a:srgbClr val="000080"/>
                </a:solidFill>
                <a:latin typeface="黑体" pitchFamily="2" charset="-122"/>
                <a:ea typeface="黑体" pitchFamily="2" charset="-122"/>
              </a:rPr>
              <a:t>    通用计算机根据体积、简易性、功率损耗、性能指标、 数据存储容量、指令系统规模和机器价格等可以分为：</a:t>
            </a:r>
          </a:p>
        </p:txBody>
      </p:sp>
      <p:sp>
        <p:nvSpPr>
          <p:cNvPr id="39942" name="Rectangle 3">
            <a:extLst>
              <a:ext uri="{FF2B5EF4-FFF2-40B4-BE49-F238E27FC236}">
                <a16:creationId xmlns:a16="http://schemas.microsoft.com/office/drawing/2014/main" id="{B74AAC81-69AC-E025-DD7C-1B9C363A1C9A}"/>
              </a:ext>
            </a:extLst>
          </p:cNvPr>
          <p:cNvSpPr>
            <a:spLocks noChangeArrowheads="1"/>
          </p:cNvSpPr>
          <p:nvPr/>
        </p:nvSpPr>
        <p:spPr bwMode="auto">
          <a:xfrm>
            <a:off x="825500" y="1065213"/>
            <a:ext cx="749300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nSpc>
                <a:spcPct val="100000"/>
              </a:lnSpc>
              <a:spcBef>
                <a:spcPct val="0"/>
              </a:spcBef>
              <a:buClrTx/>
              <a:buFontTx/>
              <a:buNone/>
            </a:pPr>
            <a:r>
              <a:rPr lang="en-US" altLang="zh-CN" dirty="0">
                <a:solidFill>
                  <a:srgbClr val="800000"/>
                </a:solidFill>
                <a:latin typeface="黑体" pitchFamily="2" charset="-122"/>
                <a:ea typeface="黑体" pitchFamily="2" charset="-122"/>
              </a:rPr>
              <a:t>7</a:t>
            </a:r>
            <a:r>
              <a:rPr lang="zh-CN" altLang="en-US" dirty="0">
                <a:solidFill>
                  <a:srgbClr val="800000"/>
                </a:solidFill>
                <a:latin typeface="黑体" pitchFamily="2" charset="-122"/>
                <a:ea typeface="黑体" pitchFamily="2" charset="-122"/>
              </a:rPr>
              <a:t>．通用计算机分类</a:t>
            </a:r>
          </a:p>
        </p:txBody>
      </p:sp>
      <p:pic>
        <p:nvPicPr>
          <p:cNvPr id="3" name="图片 2">
            <a:extLst>
              <a:ext uri="{FF2B5EF4-FFF2-40B4-BE49-F238E27FC236}">
                <a16:creationId xmlns:a16="http://schemas.microsoft.com/office/drawing/2014/main" id="{281E429C-7CCC-EEF3-B39C-076F6CA147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3046" y="2550962"/>
            <a:ext cx="7937908" cy="3714941"/>
          </a:xfrm>
          <a:prstGeom prst="rect">
            <a:avLst/>
          </a:prstGeom>
        </p:spPr>
      </p:pic>
    </p:spTree>
    <p:extLst>
      <p:ext uri="{BB962C8B-B14F-4D97-AF65-F5344CB8AC3E}">
        <p14:creationId xmlns:p14="http://schemas.microsoft.com/office/powerpoint/2010/main" val="15623506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ChangeArrowheads="1"/>
          </p:cNvSpPr>
          <p:nvPr/>
        </p:nvSpPr>
        <p:spPr bwMode="auto">
          <a:xfrm>
            <a:off x="0" y="45402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gn="ctr">
              <a:lnSpc>
                <a:spcPct val="100000"/>
              </a:lnSpc>
              <a:spcBef>
                <a:spcPct val="0"/>
              </a:spcBef>
              <a:buClrTx/>
              <a:buFontTx/>
              <a:buNone/>
            </a:pPr>
            <a:r>
              <a:rPr lang="zh-CN" altLang="en-US" sz="2600">
                <a:solidFill>
                  <a:srgbClr val="800000"/>
                </a:solidFill>
                <a:latin typeface="黑体" pitchFamily="2" charset="-122"/>
                <a:ea typeface="黑体" pitchFamily="2" charset="-122"/>
              </a:rPr>
              <a:t>§1.5 计算机的主要性能指标 </a:t>
            </a:r>
          </a:p>
        </p:txBody>
      </p:sp>
      <p:sp>
        <p:nvSpPr>
          <p:cNvPr id="40963" name="Text Box 8"/>
          <p:cNvSpPr txBox="1">
            <a:spLocks noChangeArrowheads="1"/>
          </p:cNvSpPr>
          <p:nvPr/>
        </p:nvSpPr>
        <p:spPr bwMode="auto">
          <a:xfrm>
            <a:off x="606175" y="1157288"/>
            <a:ext cx="7890553" cy="2581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eaLnBrk="1" hangingPunct="1"/>
            <a:r>
              <a:rPr lang="en-US" altLang="zh-CN" dirty="0">
                <a:solidFill>
                  <a:srgbClr val="800000"/>
                </a:solidFill>
                <a:latin typeface="黑体" pitchFamily="2" charset="-122"/>
                <a:ea typeface="黑体" pitchFamily="2" charset="-122"/>
              </a:rPr>
              <a:t>1.</a:t>
            </a:r>
            <a:r>
              <a:rPr lang="zh-CN" altLang="en-US" dirty="0">
                <a:solidFill>
                  <a:srgbClr val="800000"/>
                </a:solidFill>
                <a:latin typeface="黑体" pitchFamily="2" charset="-122"/>
                <a:ea typeface="黑体" pitchFamily="2" charset="-122"/>
              </a:rPr>
              <a:t>机器字长</a:t>
            </a:r>
          </a:p>
          <a:p>
            <a:pPr marL="342900" indent="-342900" algn="just">
              <a:lnSpc>
                <a:spcPct val="120000"/>
              </a:lnSpc>
              <a:spcBef>
                <a:spcPct val="0"/>
              </a:spcBef>
              <a:buClrTx/>
              <a:buFont typeface="Wingdings" panose="05000000000000000000" pitchFamily="2" charset="2"/>
              <a:buChar char="l"/>
            </a:pPr>
            <a:r>
              <a:rPr lang="zh-CN" altLang="en-US" dirty="0">
                <a:solidFill>
                  <a:srgbClr val="000080"/>
                </a:solidFill>
                <a:latin typeface="黑体" pitchFamily="2" charset="-122"/>
                <a:ea typeface="黑体" pitchFamily="2" charset="-122"/>
              </a:rPr>
              <a:t>计算机一次能并行处理的二进制位数，由</a:t>
            </a:r>
            <a:r>
              <a:rPr lang="en-US" altLang="zh-CN" dirty="0">
                <a:solidFill>
                  <a:srgbClr val="000080"/>
                </a:solidFill>
                <a:latin typeface="黑体" pitchFamily="2" charset="-122"/>
                <a:ea typeface="黑体" pitchFamily="2" charset="-122"/>
              </a:rPr>
              <a:t>CPU</a:t>
            </a:r>
            <a:r>
              <a:rPr lang="zh-CN" altLang="en-US" dirty="0">
                <a:solidFill>
                  <a:srgbClr val="000080"/>
                </a:solidFill>
                <a:latin typeface="黑体" pitchFamily="2" charset="-122"/>
                <a:ea typeface="黑体" pitchFamily="2" charset="-122"/>
              </a:rPr>
              <a:t>中的加法器、寄存器的位数决定。</a:t>
            </a:r>
          </a:p>
          <a:p>
            <a:pPr marL="342900" indent="-342900" algn="just">
              <a:lnSpc>
                <a:spcPct val="120000"/>
              </a:lnSpc>
              <a:spcBef>
                <a:spcPct val="0"/>
              </a:spcBef>
              <a:buClrTx/>
              <a:buFont typeface="Wingdings" panose="05000000000000000000" pitchFamily="2" charset="2"/>
              <a:buChar char="l"/>
            </a:pPr>
            <a:r>
              <a:rPr lang="zh-CN" altLang="en-US" dirty="0">
                <a:solidFill>
                  <a:srgbClr val="000080"/>
                </a:solidFill>
                <a:latin typeface="黑体" pitchFamily="2" charset="-122"/>
                <a:ea typeface="黑体" pitchFamily="2" charset="-122"/>
              </a:rPr>
              <a:t>字长标志着</a:t>
            </a:r>
            <a:r>
              <a:rPr lang="zh-CN" altLang="en-US" dirty="0">
                <a:solidFill>
                  <a:srgbClr val="FF0000"/>
                </a:solidFill>
                <a:latin typeface="黑体" pitchFamily="2" charset="-122"/>
                <a:ea typeface="黑体" pitchFamily="2" charset="-122"/>
              </a:rPr>
              <a:t>精度</a:t>
            </a:r>
            <a:r>
              <a:rPr lang="zh-CN" altLang="en-US" dirty="0">
                <a:solidFill>
                  <a:srgbClr val="000080"/>
                </a:solidFill>
                <a:latin typeface="黑体" pitchFamily="2" charset="-122"/>
                <a:ea typeface="黑体" pitchFamily="2" charset="-122"/>
              </a:rPr>
              <a:t>，字长越长，数据表示范围越大，精度越高。</a:t>
            </a:r>
            <a:endParaRPr lang="en-US" altLang="zh-CN" dirty="0">
              <a:solidFill>
                <a:srgbClr val="000080"/>
              </a:solidFill>
              <a:latin typeface="黑体" pitchFamily="2" charset="-122"/>
              <a:ea typeface="黑体" pitchFamily="2" charset="-122"/>
            </a:endParaRPr>
          </a:p>
          <a:p>
            <a:pPr marL="342900" indent="-342900" algn="just">
              <a:lnSpc>
                <a:spcPct val="120000"/>
              </a:lnSpc>
              <a:spcBef>
                <a:spcPct val="0"/>
              </a:spcBef>
              <a:buClrTx/>
              <a:buFont typeface="Wingdings" panose="05000000000000000000" pitchFamily="2" charset="2"/>
              <a:buChar char="l"/>
            </a:pPr>
            <a:r>
              <a:rPr lang="zh-CN" altLang="en-US" dirty="0">
                <a:solidFill>
                  <a:srgbClr val="000080"/>
                </a:solidFill>
                <a:latin typeface="黑体" pitchFamily="2" charset="-122"/>
                <a:ea typeface="黑体" pitchFamily="2" charset="-122"/>
              </a:rPr>
              <a:t>不同计算机的</a:t>
            </a:r>
            <a:r>
              <a:rPr lang="zh-CN" altLang="en-US" dirty="0">
                <a:solidFill>
                  <a:srgbClr val="FF0000"/>
                </a:solidFill>
                <a:latin typeface="黑体" pitchFamily="2" charset="-122"/>
                <a:ea typeface="黑体" pitchFamily="2" charset="-122"/>
              </a:rPr>
              <a:t>字长可能不同</a:t>
            </a:r>
            <a:r>
              <a:rPr lang="zh-CN" altLang="en-US" dirty="0">
                <a:solidFill>
                  <a:srgbClr val="000080"/>
                </a:solidFill>
                <a:latin typeface="黑体" pitchFamily="2" charset="-122"/>
                <a:ea typeface="黑体" pitchFamily="2" charset="-122"/>
              </a:rPr>
              <a:t>，常用的有</a:t>
            </a:r>
            <a:r>
              <a:rPr lang="en-US" altLang="zh-CN" dirty="0">
                <a:solidFill>
                  <a:srgbClr val="000080"/>
                </a:solidFill>
                <a:latin typeface="黑体" pitchFamily="2" charset="-122"/>
                <a:ea typeface="黑体" pitchFamily="2" charset="-122"/>
              </a:rPr>
              <a:t>32</a:t>
            </a:r>
            <a:r>
              <a:rPr lang="zh-CN" altLang="en-US" dirty="0">
                <a:solidFill>
                  <a:srgbClr val="000080"/>
                </a:solidFill>
                <a:latin typeface="黑体" pitchFamily="2" charset="-122"/>
                <a:ea typeface="黑体" pitchFamily="2" charset="-122"/>
              </a:rPr>
              <a:t>位、</a:t>
            </a:r>
            <a:r>
              <a:rPr lang="en-US" altLang="zh-CN" dirty="0">
                <a:solidFill>
                  <a:srgbClr val="000080"/>
                </a:solidFill>
                <a:latin typeface="黑体" pitchFamily="2" charset="-122"/>
                <a:ea typeface="黑体" pitchFamily="2" charset="-122"/>
              </a:rPr>
              <a:t>64</a:t>
            </a:r>
            <a:r>
              <a:rPr lang="zh-CN" altLang="en-US" dirty="0">
                <a:solidFill>
                  <a:srgbClr val="000080"/>
                </a:solidFill>
                <a:latin typeface="黑体" pitchFamily="2" charset="-122"/>
                <a:ea typeface="黑体" pitchFamily="2" charset="-122"/>
              </a:rPr>
              <a:t>位等。</a:t>
            </a:r>
            <a:endParaRPr lang="zh-CN" altLang="en-US" dirty="0">
              <a:latin typeface="黑体" pitchFamily="2" charset="-122"/>
              <a:ea typeface="黑体" pitchFamily="2" charset="-122"/>
            </a:endParaRPr>
          </a:p>
        </p:txBody>
      </p:sp>
      <p:sp>
        <p:nvSpPr>
          <p:cNvPr id="2" name="Text Box 8">
            <a:extLst>
              <a:ext uri="{FF2B5EF4-FFF2-40B4-BE49-F238E27FC236}">
                <a16:creationId xmlns:a16="http://schemas.microsoft.com/office/drawing/2014/main" id="{EE643477-6B92-B1AD-FB55-0F95702E05DA}"/>
              </a:ext>
            </a:extLst>
          </p:cNvPr>
          <p:cNvSpPr txBox="1">
            <a:spLocks noChangeArrowheads="1"/>
          </p:cNvSpPr>
          <p:nvPr/>
        </p:nvSpPr>
        <p:spPr bwMode="auto">
          <a:xfrm>
            <a:off x="626723" y="3898775"/>
            <a:ext cx="7890553" cy="2138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eaLnBrk="1" hangingPunct="1"/>
            <a:r>
              <a:rPr lang="en-US" altLang="zh-CN" dirty="0">
                <a:solidFill>
                  <a:srgbClr val="800000"/>
                </a:solidFill>
                <a:latin typeface="黑体" pitchFamily="2" charset="-122"/>
                <a:ea typeface="黑体" pitchFamily="2" charset="-122"/>
              </a:rPr>
              <a:t>2.</a:t>
            </a:r>
            <a:r>
              <a:rPr lang="zh-CN" altLang="en-US" dirty="0">
                <a:solidFill>
                  <a:srgbClr val="800000"/>
                </a:solidFill>
                <a:latin typeface="黑体" pitchFamily="2" charset="-122"/>
                <a:ea typeface="黑体" pitchFamily="2" charset="-122"/>
              </a:rPr>
              <a:t>数据通路宽度</a:t>
            </a:r>
          </a:p>
          <a:p>
            <a:pPr marL="342900" indent="-342900" algn="just">
              <a:lnSpc>
                <a:spcPct val="120000"/>
              </a:lnSpc>
              <a:spcBef>
                <a:spcPct val="0"/>
              </a:spcBef>
              <a:buClrTx/>
              <a:buFont typeface="Wingdings" panose="05000000000000000000" pitchFamily="2" charset="2"/>
              <a:buChar char="l"/>
            </a:pPr>
            <a:r>
              <a:rPr lang="zh-CN" altLang="en-US" dirty="0">
                <a:solidFill>
                  <a:srgbClr val="000080"/>
                </a:solidFill>
                <a:latin typeface="黑体" pitchFamily="2" charset="-122"/>
                <a:ea typeface="黑体" pitchFamily="2" charset="-122"/>
              </a:rPr>
              <a:t>数据总线一次所能并行传送信息的最多二进制位数。</a:t>
            </a:r>
          </a:p>
          <a:p>
            <a:pPr marL="342900" indent="-342900" algn="just">
              <a:lnSpc>
                <a:spcPct val="120000"/>
              </a:lnSpc>
              <a:spcBef>
                <a:spcPct val="0"/>
              </a:spcBef>
              <a:buClrTx/>
              <a:buFont typeface="Wingdings" panose="05000000000000000000" pitchFamily="2" charset="2"/>
              <a:buChar char="l"/>
            </a:pPr>
            <a:r>
              <a:rPr lang="zh-CN" altLang="en-US" dirty="0">
                <a:solidFill>
                  <a:srgbClr val="000080"/>
                </a:solidFill>
                <a:latin typeface="黑体" pitchFamily="2" charset="-122"/>
                <a:ea typeface="黑体" pitchFamily="2" charset="-122"/>
              </a:rPr>
              <a:t>一般指</a:t>
            </a:r>
            <a:r>
              <a:rPr lang="en-US" altLang="zh-CN" dirty="0">
                <a:solidFill>
                  <a:srgbClr val="000080"/>
                </a:solidFill>
                <a:latin typeface="黑体" pitchFamily="2" charset="-122"/>
                <a:ea typeface="黑体" pitchFamily="2" charset="-122"/>
              </a:rPr>
              <a:t>CPU</a:t>
            </a:r>
            <a:r>
              <a:rPr lang="zh-CN" altLang="en-US" dirty="0">
                <a:solidFill>
                  <a:srgbClr val="FF0000"/>
                </a:solidFill>
                <a:latin typeface="黑体" pitchFamily="2" charset="-122"/>
                <a:ea typeface="黑体" pitchFamily="2" charset="-122"/>
              </a:rPr>
              <a:t>外部</a:t>
            </a:r>
            <a:r>
              <a:rPr lang="zh-CN" altLang="en-US" dirty="0">
                <a:solidFill>
                  <a:srgbClr val="000080"/>
                </a:solidFill>
                <a:latin typeface="黑体" pitchFamily="2" charset="-122"/>
                <a:ea typeface="黑体" pitchFamily="2" charset="-122"/>
              </a:rPr>
              <a:t>的数据总线宽度。 </a:t>
            </a:r>
            <a:endParaRPr lang="en-US" altLang="zh-CN" dirty="0">
              <a:solidFill>
                <a:srgbClr val="000080"/>
              </a:solidFill>
              <a:latin typeface="黑体" pitchFamily="2" charset="-122"/>
              <a:ea typeface="黑体" pitchFamily="2" charset="-122"/>
            </a:endParaRPr>
          </a:p>
          <a:p>
            <a:pPr marL="342900" indent="-342900" algn="just">
              <a:lnSpc>
                <a:spcPct val="120000"/>
              </a:lnSpc>
              <a:spcBef>
                <a:spcPct val="0"/>
              </a:spcBef>
              <a:buClrTx/>
              <a:buFont typeface="Wingdings" panose="05000000000000000000" pitchFamily="2" charset="2"/>
              <a:buChar char="l"/>
            </a:pPr>
            <a:r>
              <a:rPr lang="en-US" altLang="zh-CN" dirty="0">
                <a:solidFill>
                  <a:srgbClr val="000080"/>
                </a:solidFill>
                <a:latin typeface="黑体" pitchFamily="2" charset="-122"/>
                <a:ea typeface="黑体" pitchFamily="2" charset="-122"/>
              </a:rPr>
              <a:t>CPU</a:t>
            </a:r>
            <a:r>
              <a:rPr lang="zh-CN" altLang="en-US" dirty="0">
                <a:solidFill>
                  <a:srgbClr val="000080"/>
                </a:solidFill>
                <a:latin typeface="黑体" pitchFamily="2" charset="-122"/>
                <a:ea typeface="黑体" pitchFamily="2" charset="-122"/>
              </a:rPr>
              <a:t>外部数据总线宽度和</a:t>
            </a:r>
            <a:r>
              <a:rPr lang="en-US" altLang="zh-CN" dirty="0">
                <a:solidFill>
                  <a:srgbClr val="000080"/>
                </a:solidFill>
                <a:latin typeface="黑体" pitchFamily="2" charset="-122"/>
                <a:ea typeface="黑体" pitchFamily="2" charset="-122"/>
              </a:rPr>
              <a:t>CPU</a:t>
            </a:r>
            <a:r>
              <a:rPr lang="zh-CN" altLang="en-US" dirty="0">
                <a:solidFill>
                  <a:srgbClr val="000080"/>
                </a:solidFill>
                <a:latin typeface="黑体" pitchFamily="2" charset="-122"/>
                <a:ea typeface="黑体" pitchFamily="2" charset="-122"/>
              </a:rPr>
              <a:t>内部数据总线宽度可能</a:t>
            </a:r>
            <a:r>
              <a:rPr lang="zh-CN" altLang="en-US" dirty="0">
                <a:solidFill>
                  <a:srgbClr val="FF0000"/>
                </a:solidFill>
                <a:latin typeface="黑体" pitchFamily="2" charset="-122"/>
                <a:ea typeface="黑体" pitchFamily="2" charset="-122"/>
              </a:rPr>
              <a:t>相同或不同</a:t>
            </a:r>
            <a:r>
              <a:rPr lang="zh-CN" altLang="en-US" dirty="0">
                <a:solidFill>
                  <a:srgbClr val="000080"/>
                </a:solidFill>
                <a:latin typeface="黑体" pitchFamily="2" charset="-122"/>
                <a:ea typeface="黑体" pitchFamily="2" charset="-122"/>
              </a:rPr>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4"/>
          <p:cNvSpPr txBox="1">
            <a:spLocks noChangeArrowheads="1"/>
          </p:cNvSpPr>
          <p:nvPr/>
        </p:nvSpPr>
        <p:spPr bwMode="auto">
          <a:xfrm>
            <a:off x="889000" y="1157288"/>
            <a:ext cx="7146925" cy="941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eaLnBrk="1" hangingPunct="1"/>
            <a:r>
              <a:rPr lang="en-US" altLang="zh-CN" dirty="0">
                <a:solidFill>
                  <a:srgbClr val="800000"/>
                </a:solidFill>
                <a:latin typeface="黑体" pitchFamily="2" charset="-122"/>
                <a:ea typeface="黑体" pitchFamily="2" charset="-122"/>
              </a:rPr>
              <a:t>3.</a:t>
            </a:r>
            <a:r>
              <a:rPr lang="zh-CN" altLang="en-US" dirty="0">
                <a:solidFill>
                  <a:srgbClr val="800000"/>
                </a:solidFill>
                <a:latin typeface="黑体" pitchFamily="2" charset="-122"/>
                <a:ea typeface="黑体" pitchFamily="2" charset="-122"/>
              </a:rPr>
              <a:t>存储容量</a:t>
            </a:r>
          </a:p>
          <a:p>
            <a:pPr eaLnBrk="1" hangingPunct="1"/>
            <a:r>
              <a:rPr lang="zh-CN" altLang="en-US" dirty="0">
                <a:latin typeface="黑体" pitchFamily="2" charset="-122"/>
                <a:ea typeface="黑体" pitchFamily="2" charset="-122"/>
              </a:rPr>
              <a:t>    </a:t>
            </a:r>
            <a:r>
              <a:rPr lang="zh-CN" altLang="en-US" dirty="0">
                <a:solidFill>
                  <a:srgbClr val="000080"/>
                </a:solidFill>
                <a:latin typeface="黑体" pitchFamily="2" charset="-122"/>
                <a:ea typeface="黑体" pitchFamily="2" charset="-122"/>
              </a:rPr>
              <a:t>存放二进制信息的总位数</a:t>
            </a:r>
          </a:p>
        </p:txBody>
      </p:sp>
      <p:sp>
        <p:nvSpPr>
          <p:cNvPr id="41987" name="Text Box 6"/>
          <p:cNvSpPr txBox="1">
            <a:spLocks noChangeArrowheads="1"/>
          </p:cNvSpPr>
          <p:nvPr/>
        </p:nvSpPr>
        <p:spPr bwMode="auto">
          <a:xfrm>
            <a:off x="1168400" y="2806700"/>
            <a:ext cx="1449388"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eaLnBrk="1" hangingPunct="1"/>
            <a:r>
              <a:rPr lang="zh-CN" altLang="en-US" dirty="0">
                <a:solidFill>
                  <a:srgbClr val="000080"/>
                </a:solidFill>
                <a:latin typeface="黑体" pitchFamily="2" charset="-122"/>
                <a:ea typeface="黑体" pitchFamily="2" charset="-122"/>
              </a:rPr>
              <a:t>主存容量</a:t>
            </a:r>
          </a:p>
        </p:txBody>
      </p:sp>
      <p:sp>
        <p:nvSpPr>
          <p:cNvPr id="41988" name="Text Box 7"/>
          <p:cNvSpPr txBox="1">
            <a:spLocks noChangeArrowheads="1"/>
          </p:cNvSpPr>
          <p:nvPr/>
        </p:nvSpPr>
        <p:spPr bwMode="auto">
          <a:xfrm>
            <a:off x="2822575" y="2271713"/>
            <a:ext cx="3930650"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eaLnBrk="1" hangingPunct="1">
              <a:spcBef>
                <a:spcPct val="0"/>
              </a:spcBef>
            </a:pPr>
            <a:r>
              <a:rPr lang="zh-CN" altLang="en-US" dirty="0">
                <a:solidFill>
                  <a:srgbClr val="000080"/>
                </a:solidFill>
                <a:latin typeface="黑体" pitchFamily="2" charset="-122"/>
                <a:ea typeface="黑体" pitchFamily="2" charset="-122"/>
              </a:rPr>
              <a:t>存储单元数</a:t>
            </a:r>
            <a:r>
              <a:rPr lang="en-US" altLang="zh-CN" dirty="0">
                <a:solidFill>
                  <a:srgbClr val="000080"/>
                </a:solidFill>
                <a:latin typeface="黑体" pitchFamily="2" charset="-122"/>
                <a:ea typeface="黑体" pitchFamily="2" charset="-122"/>
              </a:rPr>
              <a:t>×</a:t>
            </a:r>
            <a:r>
              <a:rPr lang="zh-CN" altLang="en-US" dirty="0">
                <a:solidFill>
                  <a:srgbClr val="000080"/>
                </a:solidFill>
                <a:latin typeface="黑体" pitchFamily="2" charset="-122"/>
                <a:ea typeface="黑体" pitchFamily="2" charset="-122"/>
              </a:rPr>
              <a:t>存储字长</a:t>
            </a:r>
          </a:p>
          <a:p>
            <a:pPr eaLnBrk="1" hangingPunct="1">
              <a:spcBef>
                <a:spcPct val="0"/>
              </a:spcBef>
            </a:pPr>
            <a:r>
              <a:rPr lang="zh-CN" altLang="en-US" dirty="0">
                <a:solidFill>
                  <a:srgbClr val="000080"/>
                </a:solidFill>
                <a:latin typeface="黑体" pitchFamily="2" charset="-122"/>
                <a:ea typeface="黑体" pitchFamily="2" charset="-122"/>
              </a:rPr>
              <a:t>   如 </a:t>
            </a:r>
            <a:r>
              <a:rPr lang="en-US" altLang="zh-CN" dirty="0">
                <a:solidFill>
                  <a:srgbClr val="000080"/>
                </a:solidFill>
                <a:latin typeface="黑体" pitchFamily="2" charset="-122"/>
                <a:ea typeface="黑体" pitchFamily="2" charset="-122"/>
              </a:rPr>
              <a:t>512K×32</a:t>
            </a:r>
            <a:r>
              <a:rPr lang="zh-CN" altLang="en-US" dirty="0">
                <a:solidFill>
                  <a:srgbClr val="000080"/>
                </a:solidFill>
                <a:latin typeface="黑体" pitchFamily="2" charset="-122"/>
                <a:ea typeface="黑体" pitchFamily="2" charset="-122"/>
              </a:rPr>
              <a:t>位  </a:t>
            </a:r>
          </a:p>
        </p:txBody>
      </p:sp>
      <p:sp>
        <p:nvSpPr>
          <p:cNvPr id="41989" name="AutoShape 8"/>
          <p:cNvSpPr>
            <a:spLocks noChangeArrowheads="1"/>
          </p:cNvSpPr>
          <p:nvPr/>
        </p:nvSpPr>
        <p:spPr bwMode="auto">
          <a:xfrm>
            <a:off x="5368925" y="3167063"/>
            <a:ext cx="1185863" cy="352425"/>
          </a:xfrm>
          <a:prstGeom prst="wedgeRoundRectCallout">
            <a:avLst>
              <a:gd name="adj1" fmla="val -100333"/>
              <a:gd name="adj2" fmla="val -89639"/>
              <a:gd name="adj3" fmla="val 16667"/>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pPr marL="609600" indent="-609600" algn="ctr"/>
            <a:r>
              <a:rPr lang="en-US" altLang="zh-CN" sz="1800" dirty="0">
                <a:solidFill>
                  <a:srgbClr val="FF0000"/>
                </a:solidFill>
                <a:latin typeface="黑体" pitchFamily="2" charset="-122"/>
                <a:ea typeface="黑体" pitchFamily="2" charset="-122"/>
              </a:rPr>
              <a:t>1K = 2</a:t>
            </a:r>
            <a:r>
              <a:rPr lang="en-US" altLang="zh-CN" sz="1800" baseline="30000" dirty="0">
                <a:solidFill>
                  <a:srgbClr val="FF0000"/>
                </a:solidFill>
                <a:latin typeface="黑体" pitchFamily="2" charset="-122"/>
                <a:ea typeface="黑体" pitchFamily="2" charset="-122"/>
              </a:rPr>
              <a:t>10</a:t>
            </a:r>
          </a:p>
        </p:txBody>
      </p:sp>
      <p:sp>
        <p:nvSpPr>
          <p:cNvPr id="41990" name="Text Box 9"/>
          <p:cNvSpPr txBox="1">
            <a:spLocks noChangeArrowheads="1"/>
          </p:cNvSpPr>
          <p:nvPr/>
        </p:nvSpPr>
        <p:spPr bwMode="auto">
          <a:xfrm>
            <a:off x="2859484" y="3351003"/>
            <a:ext cx="6204744"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eaLnBrk="1" hangingPunct="1">
              <a:spcBef>
                <a:spcPct val="0"/>
              </a:spcBef>
            </a:pPr>
            <a:r>
              <a:rPr lang="zh-CN" altLang="en-US" dirty="0">
                <a:solidFill>
                  <a:srgbClr val="000080"/>
                </a:solidFill>
                <a:latin typeface="黑体" pitchFamily="2" charset="-122"/>
                <a:ea typeface="黑体" pitchFamily="2" charset="-122"/>
              </a:rPr>
              <a:t>字节数</a:t>
            </a:r>
            <a:endParaRPr lang="en-US" altLang="zh-CN" dirty="0">
              <a:solidFill>
                <a:srgbClr val="000080"/>
              </a:solidFill>
              <a:latin typeface="黑体" pitchFamily="2" charset="-122"/>
              <a:ea typeface="黑体" pitchFamily="2" charset="-122"/>
            </a:endParaRPr>
          </a:p>
        </p:txBody>
      </p:sp>
      <p:sp>
        <p:nvSpPr>
          <p:cNvPr id="41991" name="AutoShape 10"/>
          <p:cNvSpPr>
            <a:spLocks/>
          </p:cNvSpPr>
          <p:nvPr/>
        </p:nvSpPr>
        <p:spPr bwMode="auto">
          <a:xfrm>
            <a:off x="2652713" y="2460625"/>
            <a:ext cx="171450" cy="1195388"/>
          </a:xfrm>
          <a:prstGeom prst="leftBrace">
            <a:avLst>
              <a:gd name="adj1" fmla="val 58102"/>
              <a:gd name="adj2" fmla="val 50000"/>
            </a:avLst>
          </a:prstGeom>
          <a:noFill/>
          <a:ln w="28575">
            <a:solidFill>
              <a:srgbClr val="000080"/>
            </a:solidFill>
            <a:round/>
            <a:headEnd/>
            <a:tailEnd/>
          </a:ln>
          <a:extLst>
            <a:ext uri="{909E8E84-426E-40DD-AFC4-6F175D3DCCD1}">
              <a14:hiddenFill xmlns:a14="http://schemas.microsoft.com/office/drawing/2010/main">
                <a:solidFill>
                  <a:srgbClr val="FFFFFF"/>
                </a:solidFill>
              </a14:hiddenFill>
            </a:ext>
          </a:extLst>
        </p:spPr>
        <p:txBody>
          <a:bodyPr wrap="none" anchor="ctr">
            <a:spAutoFit/>
          </a:bodyPr>
          <a:lstStyle/>
          <a:p>
            <a:endParaRPr lang="zh-CN" altLang="en-US"/>
          </a:p>
        </p:txBody>
      </p:sp>
      <p:sp>
        <p:nvSpPr>
          <p:cNvPr id="41992" name="Text Box 11"/>
          <p:cNvSpPr txBox="1">
            <a:spLocks noChangeArrowheads="1"/>
          </p:cNvSpPr>
          <p:nvPr/>
        </p:nvSpPr>
        <p:spPr bwMode="auto">
          <a:xfrm>
            <a:off x="1283494" y="5147125"/>
            <a:ext cx="1449387"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eaLnBrk="1" hangingPunct="1"/>
            <a:r>
              <a:rPr lang="zh-CN" altLang="en-US" dirty="0">
                <a:solidFill>
                  <a:srgbClr val="000080"/>
                </a:solidFill>
                <a:latin typeface="黑体" pitchFamily="2" charset="-122"/>
                <a:ea typeface="黑体" pitchFamily="2" charset="-122"/>
              </a:rPr>
              <a:t>辅存容量</a:t>
            </a:r>
          </a:p>
        </p:txBody>
      </p:sp>
      <p:sp>
        <p:nvSpPr>
          <p:cNvPr id="41993" name="Text Box 12"/>
          <p:cNvSpPr txBox="1">
            <a:spLocks noChangeArrowheads="1"/>
          </p:cNvSpPr>
          <p:nvPr/>
        </p:nvSpPr>
        <p:spPr bwMode="auto">
          <a:xfrm>
            <a:off x="2847974" y="5095868"/>
            <a:ext cx="3930650" cy="1089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eaLnBrk="1" hangingPunct="1">
              <a:spcBef>
                <a:spcPct val="0"/>
              </a:spcBef>
            </a:pPr>
            <a:r>
              <a:rPr lang="zh-CN" altLang="en-US" dirty="0">
                <a:solidFill>
                  <a:srgbClr val="000080"/>
                </a:solidFill>
                <a:latin typeface="黑体" pitchFamily="2" charset="-122"/>
                <a:ea typeface="黑体" pitchFamily="2" charset="-122"/>
              </a:rPr>
              <a:t>字节数</a:t>
            </a:r>
          </a:p>
          <a:p>
            <a:pPr eaLnBrk="1" hangingPunct="1">
              <a:spcBef>
                <a:spcPct val="0"/>
              </a:spcBef>
            </a:pPr>
            <a:r>
              <a:rPr lang="zh-CN" altLang="en-US" dirty="0">
                <a:solidFill>
                  <a:srgbClr val="000080"/>
                </a:solidFill>
                <a:latin typeface="黑体" pitchFamily="2" charset="-122"/>
                <a:ea typeface="黑体" pitchFamily="2" charset="-122"/>
              </a:rPr>
              <a:t>   如 </a:t>
            </a:r>
            <a:r>
              <a:rPr lang="en-US" altLang="zh-CN" dirty="0">
                <a:solidFill>
                  <a:srgbClr val="000080"/>
                </a:solidFill>
                <a:latin typeface="黑体" pitchFamily="2" charset="-122"/>
                <a:ea typeface="黑体" pitchFamily="2" charset="-122"/>
              </a:rPr>
              <a:t>512GB</a:t>
            </a:r>
            <a:endParaRPr lang="zh-CN" altLang="en-US" dirty="0">
              <a:solidFill>
                <a:srgbClr val="000080"/>
              </a:solidFill>
              <a:latin typeface="黑体" pitchFamily="2" charset="-122"/>
              <a:ea typeface="黑体" pitchFamily="2" charset="-122"/>
            </a:endParaRPr>
          </a:p>
          <a:p>
            <a:pPr eaLnBrk="1" hangingPunct="1">
              <a:spcBef>
                <a:spcPct val="0"/>
              </a:spcBef>
            </a:pPr>
            <a:r>
              <a:rPr lang="en-US" altLang="zh-CN" dirty="0">
                <a:latin typeface="黑体" pitchFamily="2" charset="-122"/>
                <a:ea typeface="黑体" pitchFamily="2" charset="-122"/>
              </a:rPr>
              <a:t>      </a:t>
            </a:r>
          </a:p>
        </p:txBody>
      </p:sp>
      <p:sp>
        <p:nvSpPr>
          <p:cNvPr id="41994" name="AutoShape 13"/>
          <p:cNvSpPr>
            <a:spLocks noChangeArrowheads="1"/>
          </p:cNvSpPr>
          <p:nvPr/>
        </p:nvSpPr>
        <p:spPr bwMode="auto">
          <a:xfrm>
            <a:off x="4572000" y="5862349"/>
            <a:ext cx="3684588" cy="352425"/>
          </a:xfrm>
          <a:prstGeom prst="wedgeRoundRectCallout">
            <a:avLst>
              <a:gd name="adj1" fmla="val -47500"/>
              <a:gd name="adj2" fmla="val -104954"/>
              <a:gd name="adj3" fmla="val 16667"/>
            </a:avLst>
          </a:prstGeom>
          <a:noFill/>
          <a:ln w="285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pPr marL="609600" indent="-609600"/>
            <a:r>
              <a:rPr lang="zh-CN" altLang="en-US" sz="1800">
                <a:solidFill>
                  <a:srgbClr val="FF0000"/>
                </a:solidFill>
                <a:latin typeface="黑体" pitchFamily="2" charset="-122"/>
                <a:ea typeface="黑体" pitchFamily="2" charset="-122"/>
              </a:rPr>
              <a:t>习惯上，硬盘</a:t>
            </a:r>
            <a:r>
              <a:rPr lang="en-US" altLang="zh-CN" sz="1800">
                <a:solidFill>
                  <a:srgbClr val="FF0000"/>
                </a:solidFill>
                <a:latin typeface="黑体" pitchFamily="2" charset="-122"/>
                <a:ea typeface="黑体" pitchFamily="2" charset="-122"/>
              </a:rPr>
              <a:t>1MB</a:t>
            </a:r>
            <a:r>
              <a:rPr lang="zh-CN" altLang="en-US" sz="1800">
                <a:solidFill>
                  <a:srgbClr val="FF0000"/>
                </a:solidFill>
                <a:latin typeface="黑体" pitchFamily="2" charset="-122"/>
                <a:ea typeface="黑体" pitchFamily="2" charset="-122"/>
              </a:rPr>
              <a:t>为</a:t>
            </a:r>
            <a:r>
              <a:rPr lang="en-US" altLang="zh-CN" sz="1800">
                <a:solidFill>
                  <a:srgbClr val="FF0000"/>
                </a:solidFill>
                <a:latin typeface="黑体" pitchFamily="2" charset="-122"/>
                <a:ea typeface="黑体" pitchFamily="2" charset="-122"/>
              </a:rPr>
              <a:t>10</a:t>
            </a:r>
            <a:r>
              <a:rPr lang="en-US" altLang="zh-CN" sz="1800" baseline="30000">
                <a:solidFill>
                  <a:srgbClr val="FF0000"/>
                </a:solidFill>
                <a:latin typeface="黑体" pitchFamily="2" charset="-122"/>
                <a:ea typeface="黑体" pitchFamily="2" charset="-122"/>
              </a:rPr>
              <a:t>6</a:t>
            </a:r>
            <a:r>
              <a:rPr lang="zh-CN" altLang="en-US" sz="1800">
                <a:solidFill>
                  <a:srgbClr val="FF0000"/>
                </a:solidFill>
                <a:latin typeface="黑体" pitchFamily="2" charset="-122"/>
                <a:ea typeface="黑体" pitchFamily="2" charset="-122"/>
              </a:rPr>
              <a:t>字节</a:t>
            </a:r>
            <a:endParaRPr lang="zh-CN" altLang="en-US" sz="1800" baseline="30000">
              <a:solidFill>
                <a:srgbClr val="FF0000"/>
              </a:solidFill>
              <a:latin typeface="黑体" pitchFamily="2" charset="-122"/>
              <a:ea typeface="黑体" pitchFamily="2" charset="-122"/>
            </a:endParaRPr>
          </a:p>
        </p:txBody>
      </p:sp>
      <p:sp>
        <p:nvSpPr>
          <p:cNvPr id="41995" name="AutoShape 14"/>
          <p:cNvSpPr>
            <a:spLocks/>
          </p:cNvSpPr>
          <p:nvPr/>
        </p:nvSpPr>
        <p:spPr bwMode="auto">
          <a:xfrm>
            <a:off x="1030288" y="3084512"/>
            <a:ext cx="253206" cy="2299145"/>
          </a:xfrm>
          <a:prstGeom prst="leftBrace">
            <a:avLst>
              <a:gd name="adj1" fmla="val 75827"/>
              <a:gd name="adj2" fmla="val 50000"/>
            </a:avLst>
          </a:prstGeom>
          <a:noFill/>
          <a:ln w="28575">
            <a:solidFill>
              <a:srgbClr val="000080"/>
            </a:solidFill>
            <a:round/>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p>
            <a:endParaRPr lang="zh-CN" altLang="en-US"/>
          </a:p>
        </p:txBody>
      </p:sp>
      <p:sp>
        <p:nvSpPr>
          <p:cNvPr id="41996" name="Rectangle 7"/>
          <p:cNvSpPr>
            <a:spLocks noChangeArrowheads="1"/>
          </p:cNvSpPr>
          <p:nvPr/>
        </p:nvSpPr>
        <p:spPr bwMode="auto">
          <a:xfrm>
            <a:off x="0" y="45402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gn="ctr">
              <a:lnSpc>
                <a:spcPct val="100000"/>
              </a:lnSpc>
              <a:spcBef>
                <a:spcPct val="0"/>
              </a:spcBef>
              <a:buClrTx/>
              <a:buFontTx/>
              <a:buNone/>
            </a:pPr>
            <a:r>
              <a:rPr lang="zh-CN" altLang="en-US" sz="2600">
                <a:solidFill>
                  <a:srgbClr val="800000"/>
                </a:solidFill>
                <a:latin typeface="黑体" pitchFamily="2" charset="-122"/>
                <a:ea typeface="黑体" pitchFamily="2" charset="-122"/>
              </a:rPr>
              <a:t>§1.5 计算机的主要性能指标 </a:t>
            </a:r>
          </a:p>
        </p:txBody>
      </p:sp>
      <p:sp>
        <p:nvSpPr>
          <p:cNvPr id="2" name="Text Box 9">
            <a:extLst>
              <a:ext uri="{FF2B5EF4-FFF2-40B4-BE49-F238E27FC236}">
                <a16:creationId xmlns:a16="http://schemas.microsoft.com/office/drawing/2014/main" id="{B6A02DE2-7260-2E5C-6772-4503388A98EA}"/>
              </a:ext>
            </a:extLst>
          </p:cNvPr>
          <p:cNvSpPr txBox="1">
            <a:spLocks noChangeArrowheads="1"/>
          </p:cNvSpPr>
          <p:nvPr/>
        </p:nvSpPr>
        <p:spPr bwMode="auto">
          <a:xfrm>
            <a:off x="2342507" y="3803378"/>
            <a:ext cx="642134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eaLnBrk="1" hangingPunct="1">
              <a:lnSpc>
                <a:spcPct val="100000"/>
              </a:lnSpc>
              <a:spcBef>
                <a:spcPct val="0"/>
              </a:spcBef>
            </a:pPr>
            <a:r>
              <a:rPr lang="en-US" altLang="zh-CN" sz="2000" dirty="0">
                <a:solidFill>
                  <a:srgbClr val="000080"/>
                </a:solidFill>
              </a:rPr>
              <a:t>1B = 8 b </a:t>
            </a:r>
            <a:r>
              <a:rPr lang="zh-CN" altLang="en-US" sz="2000" dirty="0">
                <a:solidFill>
                  <a:srgbClr val="000080"/>
                </a:solidFill>
              </a:rPr>
              <a:t>，</a:t>
            </a:r>
            <a:r>
              <a:rPr lang="en-US" altLang="zh-CN" sz="2000" dirty="0">
                <a:solidFill>
                  <a:srgbClr val="000080"/>
                </a:solidFill>
              </a:rPr>
              <a:t>1KB = 1024 B = 2</a:t>
            </a:r>
            <a:r>
              <a:rPr lang="en-US" altLang="zh-CN" sz="2000" baseline="30000" dirty="0">
                <a:solidFill>
                  <a:srgbClr val="000080"/>
                </a:solidFill>
              </a:rPr>
              <a:t>10</a:t>
            </a:r>
            <a:r>
              <a:rPr lang="en-US" altLang="zh-CN" sz="2000" dirty="0">
                <a:solidFill>
                  <a:srgbClr val="000080"/>
                </a:solidFill>
              </a:rPr>
              <a:t>B (B - Byte, b – bit)</a:t>
            </a:r>
          </a:p>
          <a:p>
            <a:pPr eaLnBrk="1" hangingPunct="1">
              <a:lnSpc>
                <a:spcPct val="100000"/>
              </a:lnSpc>
              <a:spcBef>
                <a:spcPct val="0"/>
              </a:spcBef>
            </a:pPr>
            <a:r>
              <a:rPr lang="en-US" altLang="zh-CN" sz="2000" dirty="0">
                <a:solidFill>
                  <a:srgbClr val="000080"/>
                </a:solidFill>
              </a:rPr>
              <a:t>1MB = 1024KB = 2</a:t>
            </a:r>
            <a:r>
              <a:rPr lang="en-US" altLang="zh-CN" sz="2000" baseline="30000" dirty="0">
                <a:solidFill>
                  <a:srgbClr val="000080"/>
                </a:solidFill>
              </a:rPr>
              <a:t>20</a:t>
            </a:r>
            <a:r>
              <a:rPr lang="en-US" altLang="zh-CN" sz="2000" dirty="0">
                <a:solidFill>
                  <a:srgbClr val="000080"/>
                </a:solidFill>
              </a:rPr>
              <a:t>B, 1GB = 2</a:t>
            </a:r>
            <a:r>
              <a:rPr lang="en-US" altLang="zh-CN" sz="2000" baseline="30000" dirty="0">
                <a:solidFill>
                  <a:srgbClr val="000080"/>
                </a:solidFill>
              </a:rPr>
              <a:t>30</a:t>
            </a:r>
            <a:r>
              <a:rPr lang="en-US" altLang="zh-CN" sz="2000" dirty="0">
                <a:solidFill>
                  <a:srgbClr val="000080"/>
                </a:solidFill>
              </a:rPr>
              <a:t>B</a:t>
            </a:r>
          </a:p>
          <a:p>
            <a:pPr eaLnBrk="1" hangingPunct="1">
              <a:lnSpc>
                <a:spcPct val="100000"/>
              </a:lnSpc>
              <a:spcBef>
                <a:spcPct val="0"/>
              </a:spcBef>
            </a:pPr>
            <a:r>
              <a:rPr lang="en-US" altLang="zh-CN" sz="2000" dirty="0">
                <a:solidFill>
                  <a:srgbClr val="000080"/>
                </a:solidFill>
              </a:rPr>
              <a:t>1TB = 2</a:t>
            </a:r>
            <a:r>
              <a:rPr lang="en-US" altLang="zh-CN" sz="2000" baseline="30000" dirty="0">
                <a:solidFill>
                  <a:srgbClr val="000080"/>
                </a:solidFill>
              </a:rPr>
              <a:t>40</a:t>
            </a:r>
            <a:r>
              <a:rPr lang="en-US" altLang="zh-CN" sz="2000" dirty="0">
                <a:solidFill>
                  <a:srgbClr val="000080"/>
                </a:solidFill>
              </a:rPr>
              <a:t>B, 1PB = 2</a:t>
            </a:r>
            <a:r>
              <a:rPr lang="en-US" altLang="zh-CN" sz="2000" baseline="30000" dirty="0">
                <a:solidFill>
                  <a:srgbClr val="000080"/>
                </a:solidFill>
              </a:rPr>
              <a:t>50</a:t>
            </a:r>
            <a:r>
              <a:rPr lang="en-US" altLang="zh-CN" sz="2000" dirty="0">
                <a:solidFill>
                  <a:srgbClr val="000080"/>
                </a:solidFill>
              </a:rPr>
              <a:t> </a:t>
            </a:r>
            <a:endParaRPr lang="en-US" altLang="zh-CN" sz="2000" dirty="0">
              <a:solidFill>
                <a:srgbClr val="000080"/>
              </a:solidFill>
              <a:latin typeface="黑体" pitchFamily="2" charset="-122"/>
              <a:ea typeface="黑体" pitchFamily="2"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ChangeArrowheads="1"/>
          </p:cNvSpPr>
          <p:nvPr/>
        </p:nvSpPr>
        <p:spPr bwMode="auto">
          <a:xfrm>
            <a:off x="0" y="454025"/>
            <a:ext cx="9144000" cy="442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0">
            <a:spAutoFit/>
          </a:bodyPr>
          <a:lstStyle/>
          <a:p>
            <a:pPr algn="ctr">
              <a:lnSpc>
                <a:spcPct val="100000"/>
              </a:lnSpc>
              <a:spcBef>
                <a:spcPct val="0"/>
              </a:spcBef>
              <a:buClrTx/>
              <a:buFontTx/>
              <a:buNone/>
            </a:pPr>
            <a:r>
              <a:rPr lang="zh-CN" altLang="en-US" sz="2600">
                <a:solidFill>
                  <a:srgbClr val="800000"/>
                </a:solidFill>
                <a:latin typeface="黑体" pitchFamily="2" charset="-122"/>
                <a:ea typeface="黑体" pitchFamily="2" charset="-122"/>
              </a:rPr>
              <a:t>§1.5 计算机的主要性能指标 </a:t>
            </a:r>
          </a:p>
        </p:txBody>
      </p:sp>
      <p:sp>
        <p:nvSpPr>
          <p:cNvPr id="40964" name="Text Box 10"/>
          <p:cNvSpPr txBox="1">
            <a:spLocks noChangeArrowheads="1"/>
          </p:cNvSpPr>
          <p:nvPr/>
        </p:nvSpPr>
        <p:spPr bwMode="auto">
          <a:xfrm>
            <a:off x="872466" y="1073260"/>
            <a:ext cx="7387956" cy="941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a:spAutoFit/>
          </a:bodyPr>
          <a:lstStyle>
            <a:lvl1pPr marL="609600" indent="-609600"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eaLnBrk="1" hangingPunct="1"/>
            <a:r>
              <a:rPr lang="en-US" altLang="zh-CN" dirty="0">
                <a:solidFill>
                  <a:srgbClr val="800000"/>
                </a:solidFill>
                <a:latin typeface="黑体" pitchFamily="2" charset="-122"/>
                <a:ea typeface="黑体" pitchFamily="2" charset="-122"/>
              </a:rPr>
              <a:t>4.</a:t>
            </a:r>
            <a:r>
              <a:rPr lang="zh-CN" altLang="en-US" dirty="0">
                <a:solidFill>
                  <a:srgbClr val="800000"/>
                </a:solidFill>
                <a:latin typeface="黑体" pitchFamily="2" charset="-122"/>
                <a:ea typeface="黑体" pitchFamily="2" charset="-122"/>
              </a:rPr>
              <a:t>运算速度</a:t>
            </a:r>
          </a:p>
          <a:p>
            <a:pPr eaLnBrk="1" hangingPunct="1"/>
            <a:r>
              <a:rPr lang="zh-CN" altLang="en-US" dirty="0">
                <a:latin typeface="黑体" pitchFamily="2" charset="-122"/>
                <a:ea typeface="黑体" pitchFamily="2" charset="-122"/>
              </a:rPr>
              <a:t>    </a:t>
            </a:r>
            <a:r>
              <a:rPr lang="zh-CN" altLang="en-US" dirty="0">
                <a:solidFill>
                  <a:srgbClr val="000080"/>
                </a:solidFill>
                <a:latin typeface="黑体" pitchFamily="2" charset="-122"/>
                <a:ea typeface="黑体" pitchFamily="2" charset="-122"/>
              </a:rPr>
              <a:t>运算速度与许多因素有关，有不同的衡量方法。</a:t>
            </a:r>
          </a:p>
        </p:txBody>
      </p:sp>
      <p:pic>
        <p:nvPicPr>
          <p:cNvPr id="3" name="图片 2">
            <a:extLst>
              <a:ext uri="{FF2B5EF4-FFF2-40B4-BE49-F238E27FC236}">
                <a16:creationId xmlns:a16="http://schemas.microsoft.com/office/drawing/2014/main" id="{F560877F-1E2B-2A89-6268-A703155609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5213" y="2099056"/>
            <a:ext cx="6662461" cy="3598895"/>
          </a:xfrm>
          <a:prstGeom prst="rect">
            <a:avLst/>
          </a:prstGeom>
        </p:spPr>
      </p:pic>
      <p:sp>
        <p:nvSpPr>
          <p:cNvPr id="4" name="文本框 3">
            <a:extLst>
              <a:ext uri="{FF2B5EF4-FFF2-40B4-BE49-F238E27FC236}">
                <a16:creationId xmlns:a16="http://schemas.microsoft.com/office/drawing/2014/main" id="{55FC09F3-BE7D-25DD-BF46-0A11E7753039}"/>
              </a:ext>
            </a:extLst>
          </p:cNvPr>
          <p:cNvSpPr txBox="1"/>
          <p:nvPr/>
        </p:nvSpPr>
        <p:spPr>
          <a:xfrm>
            <a:off x="678093" y="5812059"/>
            <a:ext cx="8024117" cy="424732"/>
          </a:xfrm>
          <a:prstGeom prst="rect">
            <a:avLst/>
          </a:prstGeom>
          <a:noFill/>
          <a:ln>
            <a:solidFill>
              <a:srgbClr val="000000"/>
            </a:solidFill>
          </a:ln>
        </p:spPr>
        <p:txBody>
          <a:bodyPr wrap="square" rtlCol="0">
            <a:spAutoFit/>
          </a:bodyPr>
          <a:lstStyle/>
          <a:p>
            <a:r>
              <a:rPr lang="zh-CN" altLang="en-US" dirty="0">
                <a:solidFill>
                  <a:srgbClr val="FF0000"/>
                </a:solidFill>
              </a:rPr>
              <a:t>注意：</a:t>
            </a:r>
            <a:r>
              <a:rPr lang="zh-CN" altLang="en-US" dirty="0">
                <a:solidFill>
                  <a:srgbClr val="000080"/>
                </a:solidFill>
                <a:latin typeface="黑体" pitchFamily="2" charset="-122"/>
                <a:ea typeface="黑体" pitchFamily="2" charset="-122"/>
              </a:rPr>
              <a:t>主频与</a:t>
            </a:r>
            <a:r>
              <a:rPr lang="en-US" altLang="zh-CN" dirty="0">
                <a:solidFill>
                  <a:srgbClr val="000080"/>
                </a:solidFill>
                <a:latin typeface="黑体" pitchFamily="2" charset="-122"/>
                <a:ea typeface="黑体" pitchFamily="2" charset="-122"/>
              </a:rPr>
              <a:t>CPU</a:t>
            </a:r>
            <a:r>
              <a:rPr lang="zh-CN" altLang="en-US" dirty="0">
                <a:solidFill>
                  <a:srgbClr val="000080"/>
                </a:solidFill>
                <a:latin typeface="黑体" pitchFamily="2" charset="-122"/>
                <a:ea typeface="黑体" pitchFamily="2" charset="-122"/>
              </a:rPr>
              <a:t>实际运算能力之间</a:t>
            </a:r>
            <a:r>
              <a:rPr lang="zh-CN" altLang="en-US" dirty="0">
                <a:solidFill>
                  <a:srgbClr val="FF0000"/>
                </a:solidFill>
                <a:latin typeface="黑体" pitchFamily="2" charset="-122"/>
                <a:ea typeface="黑体" pitchFamily="2" charset="-122"/>
              </a:rPr>
              <a:t>不是</a:t>
            </a:r>
            <a:r>
              <a:rPr lang="zh-CN" altLang="en-US" dirty="0">
                <a:solidFill>
                  <a:srgbClr val="000080"/>
                </a:solidFill>
                <a:latin typeface="黑体" pitchFamily="2" charset="-122"/>
                <a:ea typeface="黑体" pitchFamily="2" charset="-122"/>
              </a:rPr>
              <a:t>唯一、直接的关系</a:t>
            </a:r>
          </a:p>
        </p:txBody>
      </p:sp>
    </p:spTree>
    <p:extLst>
      <p:ext uri="{BB962C8B-B14F-4D97-AF65-F5344CB8AC3E}">
        <p14:creationId xmlns:p14="http://schemas.microsoft.com/office/powerpoint/2010/main" val="12350565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5"/>
          <p:cNvSpPr>
            <a:spLocks noChangeArrowheads="1"/>
          </p:cNvSpPr>
          <p:nvPr/>
        </p:nvSpPr>
        <p:spPr bwMode="auto">
          <a:xfrm>
            <a:off x="635000" y="5172075"/>
            <a:ext cx="850900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buClrTx/>
              <a:buFontTx/>
              <a:buNone/>
            </a:pPr>
            <a:r>
              <a:rPr lang="zh-CN" altLang="en-US" sz="2200">
                <a:solidFill>
                  <a:srgbClr val="800000"/>
                </a:solidFill>
                <a:latin typeface="黑体" pitchFamily="2" charset="-122"/>
                <a:ea typeface="黑体" pitchFamily="2" charset="-122"/>
              </a:rPr>
              <a:t>思考题：</a:t>
            </a:r>
            <a:r>
              <a:rPr lang="en-US" altLang="zh-CN" sz="2200">
                <a:solidFill>
                  <a:srgbClr val="000080"/>
                </a:solidFill>
                <a:latin typeface="黑体" pitchFamily="2" charset="-122"/>
                <a:ea typeface="黑体" pitchFamily="2" charset="-122"/>
                <a:cs typeface="Times New Roman" pitchFamily="18" charset="0"/>
              </a:rPr>
              <a:t>P14 1--6</a:t>
            </a:r>
            <a:r>
              <a:rPr lang="en-US" altLang="zh-CN" sz="1100">
                <a:latin typeface="黑体" pitchFamily="2" charset="-122"/>
                <a:ea typeface="黑体" pitchFamily="2" charset="-122"/>
              </a:rPr>
              <a:t>       </a:t>
            </a:r>
          </a:p>
          <a:p>
            <a:pPr>
              <a:lnSpc>
                <a:spcPct val="100000"/>
              </a:lnSpc>
              <a:spcBef>
                <a:spcPct val="0"/>
              </a:spcBef>
              <a:buClrTx/>
              <a:buFontTx/>
              <a:buNone/>
            </a:pPr>
            <a:r>
              <a:rPr lang="en-US" altLang="zh-CN" sz="2200">
                <a:solidFill>
                  <a:srgbClr val="000080"/>
                </a:solidFill>
                <a:latin typeface="黑体" pitchFamily="2" charset="-122"/>
                <a:ea typeface="黑体" pitchFamily="2" charset="-122"/>
                <a:cs typeface="Times New Roman" pitchFamily="18" charset="0"/>
              </a:rPr>
              <a:t>   </a:t>
            </a:r>
            <a:endParaRPr lang="zh-CN" altLang="en-US">
              <a:latin typeface="黑体" pitchFamily="2" charset="-122"/>
              <a:ea typeface="黑体" pitchFamily="2" charset="-122"/>
            </a:endParaRPr>
          </a:p>
        </p:txBody>
      </p:sp>
      <p:sp>
        <p:nvSpPr>
          <p:cNvPr id="44035" name="Text Box 15"/>
          <p:cNvSpPr txBox="1">
            <a:spLocks noChangeArrowheads="1"/>
          </p:cNvSpPr>
          <p:nvPr/>
        </p:nvSpPr>
        <p:spPr bwMode="auto">
          <a:xfrm>
            <a:off x="896938" y="976313"/>
            <a:ext cx="7419975" cy="3657600"/>
          </a:xfrm>
          <a:prstGeom prst="rect">
            <a:avLst/>
          </a:prstGeom>
          <a:gradFill rotWithShape="0">
            <a:gsLst>
              <a:gs pos="0">
                <a:srgbClr val="F5E3F3"/>
              </a:gs>
              <a:gs pos="50000">
                <a:srgbClr val="ADD6FF"/>
              </a:gs>
              <a:gs pos="100000">
                <a:srgbClr val="F5E3F3"/>
              </a:gs>
            </a:gsLst>
            <a:lin ang="2700000" scaled="1"/>
          </a:gradFill>
          <a:ln w="9525">
            <a:solidFill>
              <a:srgbClr val="000080"/>
            </a:solidFill>
            <a:miter lim="800000"/>
            <a:headEnd/>
            <a:tailEnd/>
          </a:ln>
        </p:spPr>
        <p:txBody>
          <a:bodyPr/>
          <a:lstStyle>
            <a:lvl1pPr eaLnBrk="0" hangingPunct="0">
              <a:defRPr kumimoji="1" sz="2400" b="1">
                <a:solidFill>
                  <a:schemeClr val="tx2"/>
                </a:solidFill>
                <a:latin typeface="楷体_GB2312" pitchFamily="49" charset="-122"/>
                <a:ea typeface="楷体_GB2312" pitchFamily="49" charset="-122"/>
              </a:defRPr>
            </a:lvl1pPr>
            <a:lvl2pPr marL="742950" indent="-285750" eaLnBrk="0" hangingPunct="0">
              <a:defRPr kumimoji="1" sz="2400" b="1">
                <a:solidFill>
                  <a:schemeClr val="tx2"/>
                </a:solidFill>
                <a:latin typeface="楷体_GB2312" pitchFamily="49" charset="-122"/>
                <a:ea typeface="楷体_GB2312" pitchFamily="49" charset="-122"/>
              </a:defRPr>
            </a:lvl2pPr>
            <a:lvl3pPr marL="1143000" indent="-228600" eaLnBrk="0" hangingPunct="0">
              <a:defRPr kumimoji="1" sz="2400" b="1">
                <a:solidFill>
                  <a:schemeClr val="tx2"/>
                </a:solidFill>
                <a:latin typeface="楷体_GB2312" pitchFamily="49" charset="-122"/>
                <a:ea typeface="楷体_GB2312" pitchFamily="49" charset="-122"/>
              </a:defRPr>
            </a:lvl3pPr>
            <a:lvl4pPr marL="1600200" indent="-228600" eaLnBrk="0" hangingPunct="0">
              <a:defRPr kumimoji="1" sz="2400" b="1">
                <a:solidFill>
                  <a:schemeClr val="tx2"/>
                </a:solidFill>
                <a:latin typeface="楷体_GB2312" pitchFamily="49" charset="-122"/>
                <a:ea typeface="楷体_GB2312" pitchFamily="49" charset="-122"/>
              </a:defRPr>
            </a:lvl4pPr>
            <a:lvl5pPr marL="2057400" indent="-228600" eaLnBrk="0" hangingPunct="0">
              <a:defRPr kumimoji="1" sz="2400" b="1">
                <a:solidFill>
                  <a:schemeClr val="tx2"/>
                </a:solidFill>
                <a:latin typeface="楷体_GB2312" pitchFamily="49" charset="-122"/>
                <a:ea typeface="楷体_GB2312" pitchFamily="49" charset="-122"/>
              </a:defRPr>
            </a:lvl5pPr>
            <a:lvl6pPr marL="25146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6pPr>
            <a:lvl7pPr marL="29718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7pPr>
            <a:lvl8pPr marL="34290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8pPr>
            <a:lvl9pPr marL="3886200" indent="-228600" eaLnBrk="0" fontAlgn="base" hangingPunct="0">
              <a:lnSpc>
                <a:spcPct val="90000"/>
              </a:lnSpc>
              <a:spcBef>
                <a:spcPct val="50000"/>
              </a:spcBef>
              <a:spcAft>
                <a:spcPct val="0"/>
              </a:spcAft>
              <a:buClr>
                <a:schemeClr val="bg1"/>
              </a:buClr>
              <a:buFont typeface="Wingdings" pitchFamily="2" charset="2"/>
              <a:defRPr kumimoji="1" sz="2400" b="1">
                <a:solidFill>
                  <a:schemeClr val="tx2"/>
                </a:solidFill>
                <a:latin typeface="楷体_GB2312" pitchFamily="49" charset="-122"/>
                <a:ea typeface="楷体_GB2312" pitchFamily="49" charset="-122"/>
              </a:defRPr>
            </a:lvl9pPr>
          </a:lstStyle>
          <a:p>
            <a:pPr algn="just">
              <a:lnSpc>
                <a:spcPct val="130000"/>
              </a:lnSpc>
              <a:spcBef>
                <a:spcPct val="0"/>
              </a:spcBef>
              <a:buClrTx/>
              <a:buFontTx/>
              <a:buNone/>
            </a:pPr>
            <a:r>
              <a:rPr kumimoji="0" lang="zh-CN" altLang="en-US">
                <a:solidFill>
                  <a:srgbClr val="800000"/>
                </a:solidFill>
                <a:latin typeface="黑体" pitchFamily="2" charset="-122"/>
                <a:ea typeface="黑体" pitchFamily="2" charset="-122"/>
              </a:rPr>
              <a:t>本章要点：</a:t>
            </a:r>
          </a:p>
          <a:p>
            <a:pPr algn="just">
              <a:lnSpc>
                <a:spcPct val="130000"/>
              </a:lnSpc>
              <a:spcBef>
                <a:spcPct val="0"/>
              </a:spcBef>
              <a:buClrTx/>
              <a:buFontTx/>
              <a:buNone/>
            </a:pPr>
            <a:r>
              <a:rPr kumimoji="0" lang="zh-CN" altLang="en-US">
                <a:solidFill>
                  <a:srgbClr val="000080"/>
                </a:solidFill>
                <a:latin typeface="黑体" pitchFamily="2" charset="-122"/>
                <a:ea typeface="黑体" pitchFamily="2" charset="-122"/>
              </a:rPr>
              <a:t>    1．计算机系统的概念:</a:t>
            </a:r>
          </a:p>
          <a:p>
            <a:pPr algn="just">
              <a:lnSpc>
                <a:spcPct val="130000"/>
              </a:lnSpc>
              <a:spcBef>
                <a:spcPct val="0"/>
              </a:spcBef>
              <a:buClrTx/>
              <a:buFontTx/>
              <a:buNone/>
            </a:pPr>
            <a:r>
              <a:rPr kumimoji="0" lang="zh-CN" altLang="en-US">
                <a:solidFill>
                  <a:srgbClr val="000080"/>
                </a:solidFill>
                <a:latin typeface="黑体" pitchFamily="2" charset="-122"/>
                <a:ea typeface="黑体" pitchFamily="2" charset="-122"/>
              </a:rPr>
              <a:t>       硬件和软件的综合体，软硬件的逻辑等价</a:t>
            </a:r>
          </a:p>
          <a:p>
            <a:pPr algn="just">
              <a:lnSpc>
                <a:spcPct val="130000"/>
              </a:lnSpc>
              <a:spcBef>
                <a:spcPct val="0"/>
              </a:spcBef>
              <a:buClrTx/>
              <a:buFontTx/>
              <a:buNone/>
            </a:pPr>
            <a:r>
              <a:rPr kumimoji="0" lang="zh-CN" altLang="en-US">
                <a:solidFill>
                  <a:srgbClr val="000080"/>
                </a:solidFill>
                <a:latin typeface="黑体" pitchFamily="2" charset="-122"/>
                <a:ea typeface="黑体" pitchFamily="2" charset="-122"/>
              </a:rPr>
              <a:t>    2. 层次结构及虚拟机器概念</a:t>
            </a:r>
          </a:p>
          <a:p>
            <a:pPr algn="just">
              <a:lnSpc>
                <a:spcPct val="130000"/>
              </a:lnSpc>
              <a:spcBef>
                <a:spcPct val="0"/>
              </a:spcBef>
              <a:buClrTx/>
              <a:buFontTx/>
              <a:buNone/>
            </a:pPr>
            <a:r>
              <a:rPr kumimoji="0" lang="zh-CN" altLang="en-US">
                <a:solidFill>
                  <a:srgbClr val="000080"/>
                </a:solidFill>
                <a:latin typeface="黑体" pitchFamily="2" charset="-122"/>
                <a:ea typeface="黑体" pitchFamily="2" charset="-122"/>
              </a:rPr>
              <a:t>    3. 计算机硬件的典型组成结构</a:t>
            </a:r>
          </a:p>
          <a:p>
            <a:pPr algn="just">
              <a:lnSpc>
                <a:spcPct val="130000"/>
              </a:lnSpc>
              <a:spcBef>
                <a:spcPct val="0"/>
              </a:spcBef>
              <a:buClrTx/>
              <a:buFontTx/>
              <a:buNone/>
            </a:pPr>
            <a:r>
              <a:rPr kumimoji="0" lang="zh-CN" altLang="en-US">
                <a:solidFill>
                  <a:srgbClr val="000080"/>
                </a:solidFill>
                <a:latin typeface="黑体" pitchFamily="2" charset="-122"/>
                <a:ea typeface="黑体" pitchFamily="2" charset="-122"/>
              </a:rPr>
              <a:t>    4．诺依曼体制的要点及存储程序控制的含义</a:t>
            </a:r>
          </a:p>
          <a:p>
            <a:pPr algn="just">
              <a:lnSpc>
                <a:spcPct val="130000"/>
              </a:lnSpc>
              <a:spcBef>
                <a:spcPct val="0"/>
              </a:spcBef>
              <a:buClrTx/>
              <a:buFontTx/>
              <a:buNone/>
            </a:pPr>
            <a:r>
              <a:rPr kumimoji="0" lang="zh-CN" altLang="en-US">
                <a:solidFill>
                  <a:srgbClr val="000080"/>
                </a:solidFill>
                <a:latin typeface="黑体" pitchFamily="2" charset="-122"/>
                <a:ea typeface="黑体" pitchFamily="2" charset="-122"/>
              </a:rPr>
              <a:t>    5．计算机的主要性能指标</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5"/>
          <p:cNvSpPr>
            <a:spLocks noChangeArrowheads="1"/>
          </p:cNvSpPr>
          <p:nvPr/>
        </p:nvSpPr>
        <p:spPr bwMode="auto">
          <a:xfrm>
            <a:off x="517525" y="817563"/>
            <a:ext cx="8010525" cy="166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95300" indent="-495300">
              <a:lnSpc>
                <a:spcPct val="100000"/>
              </a:lnSpc>
              <a:spcBef>
                <a:spcPct val="0"/>
              </a:spcBef>
              <a:buClrTx/>
              <a:buFontTx/>
              <a:buNone/>
            </a:pPr>
            <a:r>
              <a:rPr lang="zh-CN" altLang="en-US" dirty="0">
                <a:solidFill>
                  <a:srgbClr val="800000"/>
                </a:solidFill>
                <a:latin typeface="黑体" pitchFamily="2" charset="-122"/>
                <a:ea typeface="黑体" pitchFamily="2" charset="-122"/>
              </a:rPr>
              <a:t>本章推荐的扩展阅读：</a:t>
            </a:r>
            <a:endParaRPr lang="en-US" altLang="zh-CN" dirty="0">
              <a:solidFill>
                <a:srgbClr val="000080"/>
              </a:solidFill>
              <a:latin typeface="黑体" pitchFamily="2" charset="-122"/>
              <a:ea typeface="黑体" pitchFamily="2" charset="-122"/>
              <a:cs typeface="Times New Roman" pitchFamily="18" charset="0"/>
            </a:endParaRPr>
          </a:p>
          <a:p>
            <a:pPr marL="495300" indent="-495300"/>
            <a:r>
              <a:rPr lang="zh-CN" altLang="en-US" dirty="0">
                <a:solidFill>
                  <a:srgbClr val="000080"/>
                </a:solidFill>
                <a:latin typeface="黑体" pitchFamily="2" charset="-122"/>
                <a:ea typeface="黑体" pitchFamily="2" charset="-122"/>
              </a:rPr>
              <a:t>    高性能计算机发展简史及当今技术水平；</a:t>
            </a:r>
          </a:p>
          <a:p>
            <a:pPr marL="495300" indent="-495300"/>
            <a:r>
              <a:rPr lang="zh-CN" altLang="en-US" dirty="0">
                <a:solidFill>
                  <a:srgbClr val="000080"/>
                </a:solidFill>
                <a:latin typeface="黑体" pitchFamily="2" charset="-122"/>
                <a:ea typeface="黑体" pitchFamily="2" charset="-122"/>
              </a:rPr>
              <a:t>    流行微机或嵌入式计算机的发展及技术现状。</a:t>
            </a:r>
            <a:endParaRPr lang="en-US" altLang="zh-CN" dirty="0">
              <a:solidFill>
                <a:srgbClr val="000080"/>
              </a:solidFill>
              <a:latin typeface="黑体" pitchFamily="2" charset="-122"/>
              <a:ea typeface="黑体" pitchFamily="2" charset="-122"/>
            </a:endParaRPr>
          </a:p>
          <a:p>
            <a:pPr marL="495300" indent="-495300">
              <a:lnSpc>
                <a:spcPct val="100000"/>
              </a:lnSpc>
              <a:spcBef>
                <a:spcPct val="0"/>
              </a:spcBef>
              <a:buClrTx/>
              <a:buFontTx/>
              <a:buNone/>
            </a:pPr>
            <a:r>
              <a:rPr lang="en-US" altLang="zh-CN" sz="1100" dirty="0">
                <a:latin typeface="黑体" pitchFamily="2" charset="-122"/>
                <a:ea typeface="黑体" pitchFamily="2" charset="-122"/>
              </a:rPr>
              <a:t> </a:t>
            </a:r>
          </a:p>
        </p:txBody>
      </p:sp>
      <p:sp>
        <p:nvSpPr>
          <p:cNvPr id="5" name="Rectangle 5"/>
          <p:cNvSpPr>
            <a:spLocks noChangeArrowheads="1"/>
          </p:cNvSpPr>
          <p:nvPr/>
        </p:nvSpPr>
        <p:spPr bwMode="auto">
          <a:xfrm>
            <a:off x="517525" y="2914650"/>
            <a:ext cx="8010525"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95300" indent="-495300">
              <a:lnSpc>
                <a:spcPct val="100000"/>
              </a:lnSpc>
              <a:spcBef>
                <a:spcPct val="0"/>
              </a:spcBef>
              <a:buClrTx/>
              <a:buFontTx/>
              <a:buNone/>
              <a:defRPr/>
            </a:pPr>
            <a:r>
              <a:rPr lang="zh-CN" altLang="en-US" dirty="0">
                <a:solidFill>
                  <a:srgbClr val="FF0000"/>
                </a:solidFill>
                <a:latin typeface="黑体" pitchFamily="2" charset="-122"/>
                <a:ea typeface="黑体" pitchFamily="2" charset="-122"/>
              </a:rPr>
              <a:t>思考：</a:t>
            </a:r>
            <a:endParaRPr lang="en-US" altLang="zh-CN" dirty="0">
              <a:solidFill>
                <a:srgbClr val="FF0000"/>
              </a:solidFill>
              <a:latin typeface="黑体" pitchFamily="2" charset="-122"/>
              <a:ea typeface="黑体" pitchFamily="2" charset="-122"/>
              <a:cs typeface="Times New Roman" pitchFamily="18" charset="0"/>
            </a:endParaRPr>
          </a:p>
          <a:p>
            <a:pPr indent="625475">
              <a:lnSpc>
                <a:spcPct val="125000"/>
              </a:lnSpc>
              <a:defRPr/>
            </a:pPr>
            <a:r>
              <a:rPr lang="zh-CN" altLang="en-US" dirty="0">
                <a:solidFill>
                  <a:srgbClr val="000080"/>
                </a:solidFill>
                <a:latin typeface="黑体" pitchFamily="2" charset="-122"/>
                <a:ea typeface="黑体" pitchFamily="2" charset="-122"/>
              </a:rPr>
              <a:t>以笔记本电脑或智能手机的开机过程为例，你认为最需要改善用户体验的是什么？从开机过程能否想象出系统有哪些基本组成部件</a:t>
            </a:r>
            <a:r>
              <a:rPr lang="en-US" altLang="zh-CN" dirty="0">
                <a:solidFill>
                  <a:srgbClr val="000080"/>
                </a:solidFill>
                <a:latin typeface="黑体" pitchFamily="2" charset="-122"/>
                <a:ea typeface="黑体" pitchFamily="2" charset="-122"/>
              </a:rPr>
              <a:t>?</a:t>
            </a:r>
            <a:endParaRPr lang="en-US" altLang="zh-CN" sz="1100" dirty="0">
              <a:latin typeface="黑体" pitchFamily="2" charset="-122"/>
              <a:ea typeface="黑体" pitchFamily="2" charset="-122"/>
            </a:endParaRPr>
          </a:p>
          <a:p>
            <a:pPr marL="495300" indent="-495300">
              <a:lnSpc>
                <a:spcPct val="100000"/>
              </a:lnSpc>
              <a:spcBef>
                <a:spcPct val="0"/>
              </a:spcBef>
              <a:buClrTx/>
              <a:buFontTx/>
              <a:buNone/>
              <a:defRPr/>
            </a:pPr>
            <a:r>
              <a:rPr lang="en-US" altLang="zh-CN" sz="1100" dirty="0">
                <a:latin typeface="黑体" pitchFamily="2" charset="-122"/>
                <a:ea typeface="黑体" pitchFamily="2" charset="-122"/>
              </a:rPr>
              <a:t>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6082" name="Object 2"/>
          <p:cNvGraphicFramePr>
            <a:graphicFrameLocks noChangeAspect="1"/>
          </p:cNvGraphicFramePr>
          <p:nvPr>
            <p:extLst>
              <p:ext uri="{D42A27DB-BD31-4B8C-83A1-F6EECF244321}">
                <p14:modId xmlns:p14="http://schemas.microsoft.com/office/powerpoint/2010/main" val="318319217"/>
              </p:ext>
            </p:extLst>
          </p:nvPr>
        </p:nvGraphicFramePr>
        <p:xfrm>
          <a:off x="758825" y="425450"/>
          <a:ext cx="7096125" cy="946150"/>
        </p:xfrm>
        <a:graphic>
          <a:graphicData uri="http://schemas.openxmlformats.org/presentationml/2006/ole">
            <mc:AlternateContent xmlns:mc="http://schemas.openxmlformats.org/markup-compatibility/2006">
              <mc:Choice xmlns:v="urn:schemas-microsoft-com:vml" Requires="v">
                <p:oleObj name="Document" r:id="rId2" imgW="6783613" imgH="906112" progId="Word.Document.8">
                  <p:embed/>
                </p:oleObj>
              </mc:Choice>
              <mc:Fallback>
                <p:oleObj name="Document" r:id="rId2" imgW="6783613" imgH="906112" progId="Word.Document.8">
                  <p:embed/>
                  <p:pic>
                    <p:nvPicPr>
                      <p:cNvPr id="0" name="Object 2"/>
                      <p:cNvPicPr>
                        <a:picLocks noChangeAspect="1" noChangeArrowheads="1"/>
                      </p:cNvPicPr>
                      <p:nvPr/>
                    </p:nvPicPr>
                    <p:blipFill>
                      <a:blip r:embed="rId3"/>
                      <a:srcRect/>
                      <a:stretch>
                        <a:fillRect/>
                      </a:stretch>
                    </p:blipFill>
                    <p:spPr bwMode="auto">
                      <a:xfrm>
                        <a:off x="758825" y="425450"/>
                        <a:ext cx="70961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6083" name="Rectangle 8"/>
          <p:cNvSpPr>
            <a:spLocks noChangeArrowheads="1"/>
          </p:cNvSpPr>
          <p:nvPr/>
        </p:nvSpPr>
        <p:spPr bwMode="auto">
          <a:xfrm>
            <a:off x="0" y="1343025"/>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1. 发明的第一台电子数字计算机是</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endParaRPr lang="zh-CN" altLang="en-US" sz="1000" dirty="0">
              <a:solidFill>
                <a:srgbClr val="000080"/>
              </a:solidFill>
              <a:latin typeface="黑体" pitchFamily="2" charset="-122"/>
              <a:ea typeface="黑体" pitchFamily="2" charset="-122"/>
            </a:endParaRPr>
          </a:p>
          <a:p>
            <a:pPr eaLnBrk="0" hangingPunct="0">
              <a:lnSpc>
                <a:spcPct val="100000"/>
              </a:lnSpc>
              <a:spcBef>
                <a:spcPct val="0"/>
              </a:spcBef>
              <a:buClrTx/>
              <a:buFontTx/>
              <a:buNone/>
              <a:tabLst>
                <a:tab pos="228600" algn="l"/>
              </a:tabLst>
            </a:pP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A. ENIAC  B. EDVAC  C. EDSAC  D. UNIVAC</a:t>
            </a:r>
            <a:r>
              <a:rPr lang="en-US" altLang="zh-CN" sz="1100" dirty="0">
                <a:solidFill>
                  <a:srgbClr val="000080"/>
                </a:solidFill>
                <a:latin typeface="黑体" pitchFamily="2" charset="-122"/>
                <a:ea typeface="黑体" pitchFamily="2" charset="-122"/>
              </a:rPr>
              <a:t> </a:t>
            </a:r>
            <a:endParaRPr lang="en-US" altLang="zh-CN" b="0" dirty="0">
              <a:solidFill>
                <a:srgbClr val="000080"/>
              </a:solidFill>
              <a:latin typeface="黑体" pitchFamily="2" charset="-122"/>
              <a:ea typeface="黑体" pitchFamily="2" charset="-122"/>
            </a:endParaRPr>
          </a:p>
        </p:txBody>
      </p:sp>
      <p:sp>
        <p:nvSpPr>
          <p:cNvPr id="462857" name="Rectangle 9"/>
          <p:cNvSpPr>
            <a:spLocks noChangeArrowheads="1"/>
          </p:cNvSpPr>
          <p:nvPr/>
        </p:nvSpPr>
        <p:spPr bwMode="auto">
          <a:xfrm>
            <a:off x="0" y="2143125"/>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2. 世界上第一台电子数字计算机研制成功的时间是</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a:t>
            </a:r>
            <a:endParaRPr lang="zh-CN" altLang="en-US" sz="1000" dirty="0">
              <a:solidFill>
                <a:srgbClr val="000080"/>
              </a:solidFill>
              <a:latin typeface="黑体" pitchFamily="2" charset="-122"/>
              <a:ea typeface="黑体" pitchFamily="2" charset="-122"/>
            </a:endParaRPr>
          </a:p>
          <a:p>
            <a:pPr eaLnBrk="0" hangingPunct="0">
              <a:lnSpc>
                <a:spcPct val="100000"/>
              </a:lnSpc>
              <a:spcBef>
                <a:spcPct val="0"/>
              </a:spcBef>
              <a:buClrTx/>
              <a:buFontTx/>
              <a:buNone/>
              <a:tabLst>
                <a:tab pos="228600" algn="l"/>
              </a:tabLst>
            </a:pP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A. 1946</a:t>
            </a:r>
            <a:r>
              <a:rPr lang="zh-CN" altLang="en-US" sz="1800" dirty="0">
                <a:solidFill>
                  <a:srgbClr val="000080"/>
                </a:solidFill>
                <a:latin typeface="黑体" pitchFamily="2" charset="-122"/>
                <a:ea typeface="黑体" pitchFamily="2" charset="-122"/>
              </a:rPr>
              <a:t>年  </a:t>
            </a:r>
            <a:r>
              <a:rPr lang="en-US" altLang="zh-CN" sz="1800" dirty="0">
                <a:solidFill>
                  <a:srgbClr val="000080"/>
                </a:solidFill>
                <a:latin typeface="黑体" pitchFamily="2" charset="-122"/>
                <a:ea typeface="黑体" pitchFamily="2" charset="-122"/>
              </a:rPr>
              <a:t>B. 1947</a:t>
            </a:r>
            <a:r>
              <a:rPr lang="zh-CN" altLang="en-US" sz="1800" dirty="0">
                <a:solidFill>
                  <a:srgbClr val="000080"/>
                </a:solidFill>
                <a:latin typeface="黑体" pitchFamily="2" charset="-122"/>
                <a:ea typeface="黑体" pitchFamily="2" charset="-122"/>
              </a:rPr>
              <a:t>年  </a:t>
            </a:r>
            <a:r>
              <a:rPr lang="en-US" altLang="zh-CN" sz="1800" dirty="0">
                <a:solidFill>
                  <a:srgbClr val="000080"/>
                </a:solidFill>
                <a:latin typeface="黑体" pitchFamily="2" charset="-122"/>
                <a:ea typeface="黑体" pitchFamily="2" charset="-122"/>
              </a:rPr>
              <a:t>C. 1951</a:t>
            </a:r>
            <a:r>
              <a:rPr lang="zh-CN" altLang="en-US" sz="1800" dirty="0">
                <a:solidFill>
                  <a:srgbClr val="000080"/>
                </a:solidFill>
                <a:latin typeface="黑体" pitchFamily="2" charset="-122"/>
                <a:ea typeface="黑体" pitchFamily="2" charset="-122"/>
              </a:rPr>
              <a:t>年  </a:t>
            </a:r>
            <a:r>
              <a:rPr lang="en-US" altLang="zh-CN" sz="1800" dirty="0">
                <a:solidFill>
                  <a:srgbClr val="000080"/>
                </a:solidFill>
                <a:latin typeface="黑体" pitchFamily="2" charset="-122"/>
                <a:ea typeface="黑体" pitchFamily="2" charset="-122"/>
              </a:rPr>
              <a:t>D. 1952</a:t>
            </a:r>
            <a:r>
              <a:rPr lang="zh-CN" altLang="en-US" sz="1800" dirty="0">
                <a:solidFill>
                  <a:srgbClr val="000080"/>
                </a:solidFill>
                <a:latin typeface="黑体" pitchFamily="2" charset="-122"/>
                <a:ea typeface="黑体" pitchFamily="2" charset="-122"/>
              </a:rPr>
              <a:t>年</a:t>
            </a:r>
            <a:r>
              <a:rPr lang="zh-CN" altLang="en-US" sz="1100" dirty="0">
                <a:solidFill>
                  <a:srgbClr val="000080"/>
                </a:solidFill>
                <a:latin typeface="黑体" pitchFamily="2" charset="-122"/>
                <a:ea typeface="黑体" pitchFamily="2" charset="-122"/>
              </a:rPr>
              <a:t> </a:t>
            </a:r>
            <a:endParaRPr lang="zh-CN" altLang="en-US" b="0" dirty="0">
              <a:solidFill>
                <a:srgbClr val="000080"/>
              </a:solidFill>
              <a:latin typeface="黑体" pitchFamily="2" charset="-122"/>
              <a:ea typeface="黑体" pitchFamily="2" charset="-122"/>
            </a:endParaRPr>
          </a:p>
        </p:txBody>
      </p:sp>
      <p:sp>
        <p:nvSpPr>
          <p:cNvPr id="462858" name="Rectangle 10"/>
          <p:cNvSpPr>
            <a:spLocks noChangeArrowheads="1"/>
          </p:cNvSpPr>
          <p:nvPr/>
        </p:nvSpPr>
        <p:spPr bwMode="auto">
          <a:xfrm>
            <a:off x="0" y="2925763"/>
            <a:ext cx="9144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1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3. 多媒体计算机是指</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endParaRPr lang="zh-CN" altLang="en-US" sz="1000" dirty="0">
              <a:solidFill>
                <a:srgbClr val="000080"/>
              </a:solidFill>
              <a:latin typeface="黑体" pitchFamily="2" charset="-122"/>
              <a:ea typeface="黑体" pitchFamily="2" charset="-122"/>
            </a:endParaRPr>
          </a:p>
          <a:p>
            <a:pPr algn="just" eaLnBrk="0" hangingPunct="0">
              <a:lnSpc>
                <a:spcPct val="11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A. </a:t>
            </a:r>
            <a:r>
              <a:rPr lang="zh-CN" altLang="en-US" sz="1800" dirty="0">
                <a:solidFill>
                  <a:srgbClr val="000080"/>
                </a:solidFill>
                <a:latin typeface="黑体" pitchFamily="2" charset="-122"/>
                <a:ea typeface="黑体" pitchFamily="2" charset="-122"/>
              </a:rPr>
              <a:t>具有多种外部设备的计算机   </a:t>
            </a:r>
            <a:endParaRPr lang="zh-CN" altLang="en-US" sz="1000" dirty="0">
              <a:solidFill>
                <a:srgbClr val="000080"/>
              </a:solidFill>
              <a:latin typeface="黑体" pitchFamily="2" charset="-122"/>
              <a:ea typeface="黑体" pitchFamily="2" charset="-122"/>
            </a:endParaRPr>
          </a:p>
          <a:p>
            <a:pPr algn="just" eaLnBrk="0" hangingPunct="0">
              <a:lnSpc>
                <a:spcPct val="11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B. </a:t>
            </a:r>
            <a:r>
              <a:rPr lang="zh-CN" altLang="en-US" sz="1800" dirty="0">
                <a:solidFill>
                  <a:srgbClr val="000080"/>
                </a:solidFill>
                <a:latin typeface="黑体" pitchFamily="2" charset="-122"/>
                <a:ea typeface="黑体" pitchFamily="2" charset="-122"/>
              </a:rPr>
              <a:t>能与多种电器连接的计算机</a:t>
            </a:r>
            <a:endParaRPr lang="zh-CN" altLang="en-US" sz="1000" dirty="0">
              <a:solidFill>
                <a:srgbClr val="000080"/>
              </a:solidFill>
              <a:latin typeface="黑体" pitchFamily="2" charset="-122"/>
              <a:ea typeface="黑体" pitchFamily="2" charset="-122"/>
            </a:endParaRPr>
          </a:p>
          <a:p>
            <a:pPr algn="just" eaLnBrk="0" hangingPunct="0">
              <a:lnSpc>
                <a:spcPct val="11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C. </a:t>
            </a:r>
            <a:r>
              <a:rPr lang="zh-CN" altLang="en-US" sz="1800" dirty="0">
                <a:solidFill>
                  <a:srgbClr val="000080"/>
                </a:solidFill>
                <a:latin typeface="黑体" pitchFamily="2" charset="-122"/>
                <a:ea typeface="黑体" pitchFamily="2" charset="-122"/>
              </a:rPr>
              <a:t>能处理多种媒体信息的计算机 </a:t>
            </a:r>
            <a:endParaRPr lang="zh-CN" altLang="en-US" sz="1000" dirty="0">
              <a:solidFill>
                <a:srgbClr val="000080"/>
              </a:solidFill>
              <a:latin typeface="黑体" pitchFamily="2" charset="-122"/>
              <a:ea typeface="黑体" pitchFamily="2" charset="-122"/>
            </a:endParaRPr>
          </a:p>
          <a:p>
            <a:pPr eaLnBrk="0" hangingPunct="0">
              <a:lnSpc>
                <a:spcPct val="110000"/>
              </a:lnSpc>
              <a:spcBef>
                <a:spcPct val="0"/>
              </a:spcBef>
              <a:buClrTx/>
              <a:buFontTx/>
              <a:buNone/>
              <a:tabLst>
                <a:tab pos="228600" algn="l"/>
              </a:tabLst>
            </a:pP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D. </a:t>
            </a:r>
            <a:r>
              <a:rPr lang="zh-CN" altLang="en-US" sz="1800" dirty="0">
                <a:solidFill>
                  <a:srgbClr val="000080"/>
                </a:solidFill>
                <a:latin typeface="黑体" pitchFamily="2" charset="-122"/>
                <a:ea typeface="黑体" pitchFamily="2" charset="-122"/>
              </a:rPr>
              <a:t>借助多种媒体操作的计算机</a:t>
            </a:r>
            <a:r>
              <a:rPr lang="zh-CN" altLang="en-US" sz="1100" dirty="0">
                <a:solidFill>
                  <a:srgbClr val="000080"/>
                </a:solidFill>
                <a:latin typeface="黑体" pitchFamily="2" charset="-122"/>
                <a:ea typeface="黑体" pitchFamily="2" charset="-122"/>
              </a:rPr>
              <a:t> </a:t>
            </a:r>
            <a:endParaRPr lang="zh-CN" altLang="en-US" b="0" dirty="0">
              <a:solidFill>
                <a:srgbClr val="000080"/>
              </a:solidFill>
              <a:latin typeface="黑体" pitchFamily="2" charset="-122"/>
              <a:ea typeface="黑体" pitchFamily="2" charset="-122"/>
            </a:endParaRPr>
          </a:p>
        </p:txBody>
      </p:sp>
      <p:sp>
        <p:nvSpPr>
          <p:cNvPr id="462859" name="Rectangle 11"/>
          <p:cNvSpPr>
            <a:spLocks noChangeArrowheads="1"/>
          </p:cNvSpPr>
          <p:nvPr/>
        </p:nvSpPr>
        <p:spPr bwMode="auto">
          <a:xfrm>
            <a:off x="0" y="4648200"/>
            <a:ext cx="9144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4. 电子数字计算机工作最重要的特征是</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endParaRPr lang="zh-CN" altLang="en-US" sz="1000" dirty="0">
              <a:solidFill>
                <a:srgbClr val="000080"/>
              </a:solidFill>
              <a:latin typeface="黑体" pitchFamily="2" charset="-122"/>
              <a:ea typeface="黑体" pitchFamily="2" charset="-122"/>
            </a:endParaRPr>
          </a:p>
          <a:p>
            <a:pPr algn="just" eaLnBrk="0" hangingPunct="0">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A. </a:t>
            </a:r>
            <a:r>
              <a:rPr lang="zh-CN" altLang="en-US" sz="1800" dirty="0">
                <a:solidFill>
                  <a:srgbClr val="000080"/>
                </a:solidFill>
                <a:latin typeface="黑体" pitchFamily="2" charset="-122"/>
                <a:ea typeface="黑体" pitchFamily="2" charset="-122"/>
              </a:rPr>
              <a:t>高速度            </a:t>
            </a:r>
            <a:r>
              <a:rPr lang="en-US" altLang="zh-CN" sz="1800" dirty="0">
                <a:solidFill>
                  <a:srgbClr val="000080"/>
                </a:solidFill>
                <a:latin typeface="黑体" pitchFamily="2" charset="-122"/>
                <a:ea typeface="黑体" pitchFamily="2" charset="-122"/>
              </a:rPr>
              <a:t>B. </a:t>
            </a:r>
            <a:r>
              <a:rPr lang="zh-CN" altLang="en-US" sz="1800" dirty="0">
                <a:solidFill>
                  <a:srgbClr val="000080"/>
                </a:solidFill>
                <a:latin typeface="黑体" pitchFamily="2" charset="-122"/>
                <a:ea typeface="黑体" pitchFamily="2" charset="-122"/>
              </a:rPr>
              <a:t>高精度  </a:t>
            </a:r>
            <a:endParaRPr lang="zh-CN" altLang="en-US" sz="1000" dirty="0">
              <a:solidFill>
                <a:srgbClr val="000080"/>
              </a:solidFill>
              <a:latin typeface="黑体" pitchFamily="2" charset="-122"/>
              <a:ea typeface="黑体" pitchFamily="2" charset="-122"/>
            </a:endParaRPr>
          </a:p>
          <a:p>
            <a:pPr eaLnBrk="0" hangingPunct="0">
              <a:lnSpc>
                <a:spcPct val="100000"/>
              </a:lnSpc>
              <a:spcBef>
                <a:spcPct val="0"/>
              </a:spcBef>
              <a:buClrTx/>
              <a:buFontTx/>
              <a:buNone/>
              <a:tabLst>
                <a:tab pos="228600" algn="l"/>
              </a:tabLst>
            </a:pP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C. </a:t>
            </a:r>
            <a:r>
              <a:rPr lang="zh-CN" altLang="en-US" sz="1800" dirty="0">
                <a:solidFill>
                  <a:srgbClr val="000080"/>
                </a:solidFill>
                <a:latin typeface="黑体" pitchFamily="2" charset="-122"/>
                <a:ea typeface="黑体" pitchFamily="2" charset="-122"/>
              </a:rPr>
              <a:t>存储程序自动控制   </a:t>
            </a:r>
            <a:r>
              <a:rPr lang="en-US" altLang="zh-CN" sz="1800" dirty="0">
                <a:solidFill>
                  <a:srgbClr val="000080"/>
                </a:solidFill>
                <a:latin typeface="黑体" pitchFamily="2" charset="-122"/>
                <a:ea typeface="黑体" pitchFamily="2" charset="-122"/>
              </a:rPr>
              <a:t>D. </a:t>
            </a:r>
            <a:r>
              <a:rPr lang="zh-CN" altLang="en-US" sz="1800" dirty="0">
                <a:solidFill>
                  <a:srgbClr val="000080"/>
                </a:solidFill>
                <a:latin typeface="黑体" pitchFamily="2" charset="-122"/>
                <a:ea typeface="黑体" pitchFamily="2" charset="-122"/>
              </a:rPr>
              <a:t>记忆力强</a:t>
            </a:r>
            <a:r>
              <a:rPr lang="zh-CN" altLang="en-US" sz="1100" dirty="0">
                <a:solidFill>
                  <a:srgbClr val="000080"/>
                </a:solidFill>
                <a:latin typeface="黑体" pitchFamily="2" charset="-122"/>
                <a:ea typeface="黑体" pitchFamily="2" charset="-122"/>
              </a:rPr>
              <a:t> </a:t>
            </a:r>
            <a:endParaRPr lang="zh-CN" altLang="en-US" b="0" dirty="0">
              <a:solidFill>
                <a:srgbClr val="000080"/>
              </a:solidFill>
              <a:latin typeface="黑体" pitchFamily="2" charset="-122"/>
              <a:ea typeface="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62857"/>
                                        </p:tgtEl>
                                        <p:attrNameLst>
                                          <p:attrName>style.visibility</p:attrName>
                                        </p:attrNameLst>
                                      </p:cBhvr>
                                      <p:to>
                                        <p:strVal val="visible"/>
                                      </p:to>
                                    </p:set>
                                    <p:animEffect transition="in" filter="wipe(up)">
                                      <p:cBhvr>
                                        <p:cTn id="7" dur="500"/>
                                        <p:tgtEl>
                                          <p:spTgt spid="4628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62858"/>
                                        </p:tgtEl>
                                        <p:attrNameLst>
                                          <p:attrName>style.visibility</p:attrName>
                                        </p:attrNameLst>
                                      </p:cBhvr>
                                      <p:to>
                                        <p:strVal val="visible"/>
                                      </p:to>
                                    </p:set>
                                    <p:animEffect transition="in" filter="wipe(up)">
                                      <p:cBhvr>
                                        <p:cTn id="12" dur="500"/>
                                        <p:tgtEl>
                                          <p:spTgt spid="46285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62859"/>
                                        </p:tgtEl>
                                        <p:attrNameLst>
                                          <p:attrName>style.visibility</p:attrName>
                                        </p:attrNameLst>
                                      </p:cBhvr>
                                      <p:to>
                                        <p:strVal val="visible"/>
                                      </p:to>
                                    </p:set>
                                    <p:animEffect transition="in" filter="wipe(up)">
                                      <p:cBhvr>
                                        <p:cTn id="17" dur="500"/>
                                        <p:tgtEl>
                                          <p:spTgt spid="4628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2857" grpId="0" autoUpdateAnimBg="0"/>
      <p:bldP spid="462858" grpId="0" autoUpdateAnimBg="0"/>
      <p:bldP spid="462859"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
          <p:cNvSpPr>
            <a:spLocks noChangeArrowheads="1"/>
          </p:cNvSpPr>
          <p:nvPr/>
        </p:nvSpPr>
        <p:spPr bwMode="auto">
          <a:xfrm>
            <a:off x="0" y="1333500"/>
            <a:ext cx="9144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5. 通常所说的主机是指</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endParaRPr lang="zh-CN" altLang="en-US" sz="1000" dirty="0">
              <a:solidFill>
                <a:srgbClr val="000080"/>
              </a:solidFill>
              <a:latin typeface="黑体" pitchFamily="2" charset="-122"/>
              <a:ea typeface="黑体" pitchFamily="2" charset="-122"/>
            </a:endParaRPr>
          </a:p>
          <a:p>
            <a:pPr algn="just" eaLnBrk="0" hangingPunct="0">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A. CPU               B. CPU</a:t>
            </a:r>
            <a:r>
              <a:rPr lang="zh-CN" altLang="en-US" sz="1800" dirty="0">
                <a:solidFill>
                  <a:srgbClr val="000080"/>
                </a:solidFill>
                <a:latin typeface="黑体" pitchFamily="2" charset="-122"/>
                <a:ea typeface="黑体" pitchFamily="2" charset="-122"/>
              </a:rPr>
              <a:t>和内存 </a:t>
            </a:r>
            <a:endParaRPr lang="zh-CN" altLang="en-US" sz="1000" dirty="0">
              <a:solidFill>
                <a:srgbClr val="000080"/>
              </a:solidFill>
              <a:latin typeface="黑体" pitchFamily="2" charset="-122"/>
              <a:ea typeface="黑体" pitchFamily="2" charset="-122"/>
            </a:endParaRPr>
          </a:p>
          <a:p>
            <a:pPr eaLnBrk="0" hangingPunct="0">
              <a:lnSpc>
                <a:spcPct val="100000"/>
              </a:lnSpc>
              <a:spcBef>
                <a:spcPct val="0"/>
              </a:spcBef>
              <a:buClrTx/>
              <a:buFontTx/>
              <a:buNone/>
              <a:tabLst>
                <a:tab pos="228600" algn="l"/>
              </a:tabLst>
            </a:pP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C. CPU、</a:t>
            </a:r>
            <a:r>
              <a:rPr lang="zh-CN" altLang="en-US" sz="1800" dirty="0">
                <a:solidFill>
                  <a:srgbClr val="000080"/>
                </a:solidFill>
                <a:latin typeface="黑体" pitchFamily="2" charset="-122"/>
                <a:ea typeface="黑体" pitchFamily="2" charset="-122"/>
              </a:rPr>
              <a:t>内存和外存   </a:t>
            </a:r>
            <a:r>
              <a:rPr lang="en-US" altLang="zh-CN" sz="1800" dirty="0">
                <a:solidFill>
                  <a:srgbClr val="000080"/>
                </a:solidFill>
                <a:latin typeface="黑体" pitchFamily="2" charset="-122"/>
                <a:ea typeface="黑体" pitchFamily="2" charset="-122"/>
              </a:rPr>
              <a:t>D. CPU、</a:t>
            </a:r>
            <a:r>
              <a:rPr lang="zh-CN" altLang="en-US" sz="1800" dirty="0">
                <a:solidFill>
                  <a:srgbClr val="000080"/>
                </a:solidFill>
                <a:latin typeface="黑体" pitchFamily="2" charset="-122"/>
                <a:ea typeface="黑体" pitchFamily="2" charset="-122"/>
              </a:rPr>
              <a:t>内存和硬盘</a:t>
            </a:r>
            <a:r>
              <a:rPr lang="zh-CN" altLang="en-US" sz="1100" dirty="0">
                <a:solidFill>
                  <a:srgbClr val="000080"/>
                </a:solidFill>
                <a:latin typeface="黑体" pitchFamily="2" charset="-122"/>
                <a:ea typeface="黑体" pitchFamily="2" charset="-122"/>
              </a:rPr>
              <a:t> </a:t>
            </a:r>
            <a:endParaRPr lang="zh-CN" altLang="en-US" b="0" dirty="0">
              <a:solidFill>
                <a:srgbClr val="000080"/>
              </a:solidFill>
              <a:latin typeface="黑体" pitchFamily="2" charset="-122"/>
              <a:ea typeface="黑体" pitchFamily="2" charset="-122"/>
            </a:endParaRPr>
          </a:p>
        </p:txBody>
      </p:sp>
      <p:sp>
        <p:nvSpPr>
          <p:cNvPr id="477195" name="Rectangle 11"/>
          <p:cNvSpPr>
            <a:spLocks noChangeArrowheads="1"/>
          </p:cNvSpPr>
          <p:nvPr/>
        </p:nvSpPr>
        <p:spPr bwMode="auto">
          <a:xfrm>
            <a:off x="0" y="2447925"/>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6. </a:t>
            </a:r>
            <a:r>
              <a:rPr lang="en-US" altLang="zh-CN" sz="1800" dirty="0">
                <a:solidFill>
                  <a:srgbClr val="000080"/>
                </a:solidFill>
                <a:latin typeface="黑体" pitchFamily="2" charset="-122"/>
                <a:ea typeface="黑体" pitchFamily="2" charset="-122"/>
              </a:rPr>
              <a:t>CPU</a:t>
            </a:r>
            <a:r>
              <a:rPr lang="zh-CN" altLang="en-US" sz="1800" dirty="0">
                <a:solidFill>
                  <a:srgbClr val="000080"/>
                </a:solidFill>
                <a:latin typeface="黑体" pitchFamily="2" charset="-122"/>
                <a:ea typeface="黑体" pitchFamily="2" charset="-122"/>
              </a:rPr>
              <a:t>处理的数据基本单位为字，一个字的二进制位数为</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endParaRPr lang="zh-CN" altLang="en-US" sz="1000" dirty="0">
              <a:solidFill>
                <a:srgbClr val="000080"/>
              </a:solidFill>
              <a:latin typeface="黑体" pitchFamily="2" charset="-122"/>
              <a:ea typeface="黑体" pitchFamily="2" charset="-122"/>
            </a:endParaRPr>
          </a:p>
          <a:p>
            <a:pPr eaLnBrk="0" hangingPunct="0">
              <a:lnSpc>
                <a:spcPct val="100000"/>
              </a:lnSpc>
              <a:spcBef>
                <a:spcPct val="0"/>
              </a:spcBef>
              <a:buClrTx/>
              <a:buFontTx/>
              <a:buNone/>
              <a:tabLst>
                <a:tab pos="228600" algn="l"/>
              </a:tabLst>
            </a:pP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A. 8   B. 16   C. 32   D. </a:t>
            </a:r>
            <a:r>
              <a:rPr lang="zh-CN" altLang="en-US" sz="1800" dirty="0">
                <a:solidFill>
                  <a:srgbClr val="000080"/>
                </a:solidFill>
                <a:latin typeface="黑体" pitchFamily="2" charset="-122"/>
                <a:ea typeface="黑体" pitchFamily="2" charset="-122"/>
              </a:rPr>
              <a:t>与</a:t>
            </a:r>
            <a:r>
              <a:rPr lang="en-US" altLang="zh-CN" sz="1800" dirty="0">
                <a:solidFill>
                  <a:srgbClr val="000080"/>
                </a:solidFill>
                <a:latin typeface="黑体" pitchFamily="2" charset="-122"/>
                <a:ea typeface="黑体" pitchFamily="2" charset="-122"/>
              </a:rPr>
              <a:t>CPU</a:t>
            </a:r>
            <a:r>
              <a:rPr lang="zh-CN" altLang="en-US" sz="1800" dirty="0">
                <a:solidFill>
                  <a:srgbClr val="000080"/>
                </a:solidFill>
                <a:latin typeface="黑体" pitchFamily="2" charset="-122"/>
                <a:ea typeface="黑体" pitchFamily="2" charset="-122"/>
              </a:rPr>
              <a:t>芯片的型号有关</a:t>
            </a:r>
            <a:r>
              <a:rPr lang="zh-CN" altLang="en-US" sz="1100" dirty="0">
                <a:solidFill>
                  <a:srgbClr val="000080"/>
                </a:solidFill>
                <a:latin typeface="黑体" pitchFamily="2" charset="-122"/>
                <a:ea typeface="黑体" pitchFamily="2" charset="-122"/>
              </a:rPr>
              <a:t> </a:t>
            </a:r>
            <a:endParaRPr lang="zh-CN" altLang="en-US" b="0" dirty="0">
              <a:solidFill>
                <a:srgbClr val="000080"/>
              </a:solidFill>
              <a:latin typeface="黑体" pitchFamily="2" charset="-122"/>
              <a:ea typeface="黑体" pitchFamily="2" charset="-122"/>
            </a:endParaRPr>
          </a:p>
        </p:txBody>
      </p:sp>
      <p:sp>
        <p:nvSpPr>
          <p:cNvPr id="477196" name="Rectangle 12"/>
          <p:cNvSpPr>
            <a:spLocks noChangeArrowheads="1"/>
          </p:cNvSpPr>
          <p:nvPr/>
        </p:nvSpPr>
        <p:spPr bwMode="auto">
          <a:xfrm>
            <a:off x="0" y="3362325"/>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700">
                <a:solidFill>
                  <a:srgbClr val="000080"/>
                </a:solidFill>
                <a:latin typeface="黑体" pitchFamily="2" charset="-122"/>
                <a:ea typeface="黑体" pitchFamily="2" charset="-122"/>
              </a:rPr>
              <a:t>                    </a:t>
            </a:r>
            <a:r>
              <a:rPr lang="zh-CN" altLang="en-US" sz="1800">
                <a:solidFill>
                  <a:srgbClr val="000080"/>
                </a:solidFill>
                <a:latin typeface="黑体" pitchFamily="2" charset="-122"/>
                <a:ea typeface="黑体" pitchFamily="2" charset="-122"/>
              </a:rPr>
              <a:t>7. </a:t>
            </a:r>
            <a:r>
              <a:rPr lang="en-US" altLang="zh-CN" sz="1800">
                <a:solidFill>
                  <a:srgbClr val="000080"/>
                </a:solidFill>
                <a:latin typeface="黑体" pitchFamily="2" charset="-122"/>
                <a:ea typeface="黑体" pitchFamily="2" charset="-122"/>
              </a:rPr>
              <a:t>bit</a:t>
            </a:r>
            <a:r>
              <a:rPr lang="zh-CN" altLang="en-US" sz="1800">
                <a:solidFill>
                  <a:srgbClr val="000080"/>
                </a:solidFill>
                <a:latin typeface="黑体" pitchFamily="2" charset="-122"/>
                <a:ea typeface="黑体" pitchFamily="2" charset="-122"/>
              </a:rPr>
              <a:t>的意义是</a:t>
            </a:r>
            <a:r>
              <a:rPr lang="zh-CN" altLang="en-US" sz="1800" u="sng">
                <a:solidFill>
                  <a:srgbClr val="000080"/>
                </a:solidFill>
                <a:latin typeface="黑体" pitchFamily="2" charset="-122"/>
                <a:ea typeface="黑体" pitchFamily="2" charset="-122"/>
              </a:rPr>
              <a:t>     </a:t>
            </a:r>
            <a:r>
              <a:rPr lang="zh-CN" altLang="en-US" sz="1800">
                <a:solidFill>
                  <a:srgbClr val="000080"/>
                </a:solidFill>
                <a:latin typeface="黑体" pitchFamily="2" charset="-122"/>
                <a:ea typeface="黑体" pitchFamily="2" charset="-122"/>
              </a:rPr>
              <a:t> 。</a:t>
            </a:r>
            <a:endParaRPr lang="zh-CN" altLang="en-US" sz="1000">
              <a:solidFill>
                <a:srgbClr val="000080"/>
              </a:solidFill>
              <a:latin typeface="黑体" pitchFamily="2" charset="-122"/>
              <a:ea typeface="黑体" pitchFamily="2" charset="-122"/>
            </a:endParaRPr>
          </a:p>
          <a:p>
            <a:pPr eaLnBrk="0" hangingPunct="0">
              <a:lnSpc>
                <a:spcPct val="100000"/>
              </a:lnSpc>
              <a:spcBef>
                <a:spcPct val="0"/>
              </a:spcBef>
              <a:buClrTx/>
              <a:buFontTx/>
              <a:buNone/>
              <a:tabLst>
                <a:tab pos="228600" algn="l"/>
              </a:tabLst>
            </a:pPr>
            <a:r>
              <a:rPr lang="zh-CN" altLang="en-US" sz="1800">
                <a:solidFill>
                  <a:srgbClr val="000080"/>
                </a:solidFill>
                <a:latin typeface="黑体" pitchFamily="2" charset="-122"/>
                <a:ea typeface="黑体" pitchFamily="2" charset="-122"/>
              </a:rPr>
              <a:t>            </a:t>
            </a:r>
            <a:r>
              <a:rPr lang="en-US" altLang="zh-CN" sz="1800">
                <a:solidFill>
                  <a:srgbClr val="000080"/>
                </a:solidFill>
                <a:latin typeface="黑体" pitchFamily="2" charset="-122"/>
                <a:ea typeface="黑体" pitchFamily="2" charset="-122"/>
              </a:rPr>
              <a:t>A. </a:t>
            </a:r>
            <a:r>
              <a:rPr lang="zh-CN" altLang="en-US" sz="1800">
                <a:solidFill>
                  <a:srgbClr val="000080"/>
                </a:solidFill>
                <a:latin typeface="黑体" pitchFamily="2" charset="-122"/>
                <a:ea typeface="黑体" pitchFamily="2" charset="-122"/>
              </a:rPr>
              <a:t>字  </a:t>
            </a:r>
            <a:r>
              <a:rPr lang="en-US" altLang="zh-CN" sz="1800">
                <a:solidFill>
                  <a:srgbClr val="000080"/>
                </a:solidFill>
                <a:latin typeface="黑体" pitchFamily="2" charset="-122"/>
                <a:ea typeface="黑体" pitchFamily="2" charset="-122"/>
              </a:rPr>
              <a:t>B. </a:t>
            </a:r>
            <a:r>
              <a:rPr lang="zh-CN" altLang="en-US" sz="1800">
                <a:solidFill>
                  <a:srgbClr val="000080"/>
                </a:solidFill>
                <a:latin typeface="黑体" pitchFamily="2" charset="-122"/>
                <a:ea typeface="黑体" pitchFamily="2" charset="-122"/>
              </a:rPr>
              <a:t>字节  </a:t>
            </a:r>
            <a:r>
              <a:rPr lang="en-US" altLang="zh-CN" sz="1800">
                <a:solidFill>
                  <a:srgbClr val="000080"/>
                </a:solidFill>
                <a:latin typeface="黑体" pitchFamily="2" charset="-122"/>
                <a:ea typeface="黑体" pitchFamily="2" charset="-122"/>
              </a:rPr>
              <a:t>C. </a:t>
            </a:r>
            <a:r>
              <a:rPr lang="zh-CN" altLang="en-US" sz="1800">
                <a:solidFill>
                  <a:srgbClr val="000080"/>
                </a:solidFill>
                <a:latin typeface="黑体" pitchFamily="2" charset="-122"/>
                <a:ea typeface="黑体" pitchFamily="2" charset="-122"/>
              </a:rPr>
              <a:t>字长  </a:t>
            </a:r>
            <a:r>
              <a:rPr lang="en-US" altLang="zh-CN" sz="1800">
                <a:solidFill>
                  <a:srgbClr val="000080"/>
                </a:solidFill>
                <a:latin typeface="黑体" pitchFamily="2" charset="-122"/>
                <a:ea typeface="黑体" pitchFamily="2" charset="-122"/>
              </a:rPr>
              <a:t>D. </a:t>
            </a:r>
            <a:r>
              <a:rPr lang="zh-CN" altLang="en-US" sz="1800">
                <a:solidFill>
                  <a:srgbClr val="000080"/>
                </a:solidFill>
                <a:latin typeface="黑体" pitchFamily="2" charset="-122"/>
                <a:ea typeface="黑体" pitchFamily="2" charset="-122"/>
              </a:rPr>
              <a:t>二进制位</a:t>
            </a:r>
            <a:r>
              <a:rPr lang="zh-CN" altLang="en-US" sz="1100">
                <a:solidFill>
                  <a:srgbClr val="000080"/>
                </a:solidFill>
                <a:latin typeface="黑体" pitchFamily="2" charset="-122"/>
                <a:ea typeface="黑体" pitchFamily="2" charset="-122"/>
              </a:rPr>
              <a:t> </a:t>
            </a:r>
            <a:endParaRPr lang="zh-CN" altLang="en-US" b="0">
              <a:solidFill>
                <a:srgbClr val="000080"/>
              </a:solidFill>
              <a:latin typeface="黑体" pitchFamily="2" charset="-122"/>
              <a:ea typeface="黑体" pitchFamily="2" charset="-122"/>
            </a:endParaRPr>
          </a:p>
        </p:txBody>
      </p:sp>
      <p:sp>
        <p:nvSpPr>
          <p:cNvPr id="477197" name="Rectangle 13"/>
          <p:cNvSpPr>
            <a:spLocks noChangeArrowheads="1"/>
          </p:cNvSpPr>
          <p:nvPr/>
        </p:nvSpPr>
        <p:spPr bwMode="auto">
          <a:xfrm>
            <a:off x="0" y="4187825"/>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8. 1</a:t>
            </a:r>
            <a:r>
              <a:rPr lang="en-US" altLang="zh-CN" sz="1800" dirty="0">
                <a:solidFill>
                  <a:srgbClr val="000080"/>
                </a:solidFill>
                <a:latin typeface="黑体" pitchFamily="2" charset="-122"/>
                <a:ea typeface="黑体" pitchFamily="2" charset="-122"/>
              </a:rPr>
              <a:t>MB = </a:t>
            </a:r>
            <a:r>
              <a:rPr lang="en-US" altLang="zh-CN" sz="1800" u="sng"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 。</a:t>
            </a:r>
            <a:endParaRPr lang="en-US" altLang="zh-CN" sz="1000" dirty="0">
              <a:solidFill>
                <a:srgbClr val="000080"/>
              </a:solidFill>
              <a:latin typeface="黑体" pitchFamily="2" charset="-122"/>
              <a:ea typeface="黑体" pitchFamily="2" charset="-122"/>
            </a:endParaRPr>
          </a:p>
          <a:p>
            <a:pPr eaLnBrk="0" hangingPunct="0">
              <a:lnSpc>
                <a:spcPct val="100000"/>
              </a:lnSpc>
              <a:spcBef>
                <a:spcPct val="0"/>
              </a:spcBef>
              <a:buClrTx/>
              <a:buFontTx/>
              <a:buNone/>
              <a:tabLst>
                <a:tab pos="228600" algn="l"/>
              </a:tabLst>
            </a:pPr>
            <a:r>
              <a:rPr lang="en-US" altLang="zh-CN" sz="1800" dirty="0">
                <a:solidFill>
                  <a:srgbClr val="000080"/>
                </a:solidFill>
                <a:latin typeface="黑体" pitchFamily="2" charset="-122"/>
                <a:ea typeface="黑体" pitchFamily="2" charset="-122"/>
              </a:rPr>
              <a:t>            A. 1000</a:t>
            </a:r>
            <a:r>
              <a:rPr lang="zh-CN" altLang="en-US" sz="1800" dirty="0">
                <a:solidFill>
                  <a:srgbClr val="000080"/>
                </a:solidFill>
                <a:latin typeface="黑体" pitchFamily="2" charset="-122"/>
                <a:ea typeface="黑体" pitchFamily="2" charset="-122"/>
              </a:rPr>
              <a:t>字节  </a:t>
            </a:r>
            <a:r>
              <a:rPr lang="en-US" altLang="zh-CN" sz="1800" dirty="0">
                <a:solidFill>
                  <a:srgbClr val="000080"/>
                </a:solidFill>
                <a:latin typeface="黑体" pitchFamily="2" charset="-122"/>
                <a:ea typeface="黑体" pitchFamily="2" charset="-122"/>
              </a:rPr>
              <a:t>B. 1024</a:t>
            </a:r>
            <a:r>
              <a:rPr lang="zh-CN" altLang="en-US" sz="1800" dirty="0">
                <a:solidFill>
                  <a:srgbClr val="000080"/>
                </a:solidFill>
                <a:latin typeface="黑体" pitchFamily="2" charset="-122"/>
                <a:ea typeface="黑体" pitchFamily="2" charset="-122"/>
              </a:rPr>
              <a:t>字节  </a:t>
            </a:r>
            <a:r>
              <a:rPr lang="en-US" altLang="zh-CN" sz="1800" dirty="0">
                <a:solidFill>
                  <a:srgbClr val="000080"/>
                </a:solidFill>
                <a:latin typeface="黑体" pitchFamily="2" charset="-122"/>
                <a:ea typeface="黑体" pitchFamily="2" charset="-122"/>
              </a:rPr>
              <a:t>C. 1000*1000</a:t>
            </a:r>
            <a:r>
              <a:rPr lang="zh-CN" altLang="en-US" sz="1800" dirty="0">
                <a:solidFill>
                  <a:srgbClr val="000080"/>
                </a:solidFill>
                <a:latin typeface="黑体" pitchFamily="2" charset="-122"/>
                <a:ea typeface="黑体" pitchFamily="2" charset="-122"/>
              </a:rPr>
              <a:t>字节  </a:t>
            </a:r>
            <a:r>
              <a:rPr lang="en-US" altLang="zh-CN" sz="1800" dirty="0">
                <a:solidFill>
                  <a:srgbClr val="000080"/>
                </a:solidFill>
                <a:latin typeface="黑体" pitchFamily="2" charset="-122"/>
                <a:ea typeface="黑体" pitchFamily="2" charset="-122"/>
              </a:rPr>
              <a:t>D. 1024*1024</a:t>
            </a:r>
            <a:r>
              <a:rPr lang="zh-CN" altLang="en-US" sz="1800" dirty="0">
                <a:solidFill>
                  <a:srgbClr val="000080"/>
                </a:solidFill>
                <a:latin typeface="黑体" pitchFamily="2" charset="-122"/>
                <a:ea typeface="黑体" pitchFamily="2" charset="-122"/>
              </a:rPr>
              <a:t>字节</a:t>
            </a:r>
            <a:r>
              <a:rPr lang="zh-CN" altLang="en-US" sz="1100" dirty="0">
                <a:solidFill>
                  <a:srgbClr val="000080"/>
                </a:solidFill>
                <a:latin typeface="黑体" pitchFamily="2" charset="-122"/>
                <a:ea typeface="黑体" pitchFamily="2" charset="-122"/>
              </a:rPr>
              <a:t> </a:t>
            </a:r>
            <a:endParaRPr lang="zh-CN" altLang="en-US" b="0" dirty="0">
              <a:solidFill>
                <a:srgbClr val="000080"/>
              </a:solidFill>
              <a:latin typeface="黑体" pitchFamily="2" charset="-122"/>
              <a:ea typeface="黑体" pitchFamily="2" charset="-122"/>
            </a:endParaRPr>
          </a:p>
        </p:txBody>
      </p:sp>
      <p:sp>
        <p:nvSpPr>
          <p:cNvPr id="477198" name="Rectangle 14"/>
          <p:cNvSpPr>
            <a:spLocks noChangeArrowheads="1"/>
          </p:cNvSpPr>
          <p:nvPr/>
        </p:nvSpPr>
        <p:spPr bwMode="auto">
          <a:xfrm>
            <a:off x="0" y="5089525"/>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9. 一个字节的二进制位数为</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 </a:t>
            </a:r>
            <a:endParaRPr lang="zh-CN" altLang="en-US" sz="1000" dirty="0">
              <a:solidFill>
                <a:srgbClr val="000080"/>
              </a:solidFill>
              <a:latin typeface="黑体" pitchFamily="2" charset="-122"/>
              <a:ea typeface="黑体" pitchFamily="2" charset="-122"/>
            </a:endParaRPr>
          </a:p>
          <a:p>
            <a:pPr eaLnBrk="0" hangingPunct="0">
              <a:lnSpc>
                <a:spcPct val="100000"/>
              </a:lnSpc>
              <a:spcBef>
                <a:spcPct val="0"/>
              </a:spcBef>
              <a:buClrTx/>
              <a:buFontTx/>
              <a:buNone/>
              <a:tabLst>
                <a:tab pos="228600" algn="l"/>
              </a:tabLst>
            </a:pP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A. 8   B. 16   C. 32   D. </a:t>
            </a:r>
            <a:r>
              <a:rPr lang="zh-CN" altLang="en-US" sz="1800" dirty="0">
                <a:solidFill>
                  <a:srgbClr val="000080"/>
                </a:solidFill>
                <a:latin typeface="黑体" pitchFamily="2" charset="-122"/>
                <a:ea typeface="黑体" pitchFamily="2" charset="-122"/>
              </a:rPr>
              <a:t>与</a:t>
            </a:r>
            <a:r>
              <a:rPr lang="en-US" altLang="zh-CN" sz="1800" dirty="0">
                <a:solidFill>
                  <a:srgbClr val="000080"/>
                </a:solidFill>
                <a:latin typeface="黑体" pitchFamily="2" charset="-122"/>
                <a:ea typeface="黑体" pitchFamily="2" charset="-122"/>
              </a:rPr>
              <a:t>CPU</a:t>
            </a:r>
            <a:r>
              <a:rPr lang="zh-CN" altLang="en-US" sz="1800" dirty="0">
                <a:solidFill>
                  <a:srgbClr val="000080"/>
                </a:solidFill>
                <a:latin typeface="黑体" pitchFamily="2" charset="-122"/>
                <a:ea typeface="黑体" pitchFamily="2" charset="-122"/>
              </a:rPr>
              <a:t>芯片的型号有关</a:t>
            </a:r>
            <a:r>
              <a:rPr lang="zh-CN" altLang="en-US" sz="1100" dirty="0">
                <a:solidFill>
                  <a:srgbClr val="000080"/>
                </a:solidFill>
                <a:latin typeface="黑体" pitchFamily="2" charset="-122"/>
                <a:ea typeface="黑体" pitchFamily="2" charset="-122"/>
              </a:rPr>
              <a:t> </a:t>
            </a:r>
            <a:endParaRPr lang="en-US" altLang="zh-CN" b="0" dirty="0">
              <a:solidFill>
                <a:srgbClr val="000080"/>
              </a:solidFill>
              <a:latin typeface="黑体" pitchFamily="2" charset="-122"/>
              <a:ea typeface="黑体"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461713558"/>
              </p:ext>
            </p:extLst>
          </p:nvPr>
        </p:nvGraphicFramePr>
        <p:xfrm>
          <a:off x="758825" y="425450"/>
          <a:ext cx="7096125" cy="946150"/>
        </p:xfrm>
        <a:graphic>
          <a:graphicData uri="http://schemas.openxmlformats.org/presentationml/2006/ole">
            <mc:AlternateContent xmlns:mc="http://schemas.openxmlformats.org/markup-compatibility/2006">
              <mc:Choice xmlns:v="urn:schemas-microsoft-com:vml" Requires="v">
                <p:oleObj name="Document" r:id="rId2" imgW="6783613" imgH="906112" progId="Word.Document.8">
                  <p:embed/>
                </p:oleObj>
              </mc:Choice>
              <mc:Fallback>
                <p:oleObj name="Document" r:id="rId2" imgW="6783613" imgH="906112" progId="Word.Documen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825" y="425450"/>
                        <a:ext cx="70961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77195"/>
                                        </p:tgtEl>
                                        <p:attrNameLst>
                                          <p:attrName>style.visibility</p:attrName>
                                        </p:attrNameLst>
                                      </p:cBhvr>
                                      <p:to>
                                        <p:strVal val="visible"/>
                                      </p:to>
                                    </p:set>
                                    <p:animEffect transition="in" filter="wipe(up)">
                                      <p:cBhvr>
                                        <p:cTn id="7" dur="500"/>
                                        <p:tgtEl>
                                          <p:spTgt spid="4771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77196"/>
                                        </p:tgtEl>
                                        <p:attrNameLst>
                                          <p:attrName>style.visibility</p:attrName>
                                        </p:attrNameLst>
                                      </p:cBhvr>
                                      <p:to>
                                        <p:strVal val="visible"/>
                                      </p:to>
                                    </p:set>
                                    <p:animEffect transition="in" filter="wipe(up)">
                                      <p:cBhvr>
                                        <p:cTn id="12" dur="500"/>
                                        <p:tgtEl>
                                          <p:spTgt spid="4771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77197"/>
                                        </p:tgtEl>
                                        <p:attrNameLst>
                                          <p:attrName>style.visibility</p:attrName>
                                        </p:attrNameLst>
                                      </p:cBhvr>
                                      <p:to>
                                        <p:strVal val="visible"/>
                                      </p:to>
                                    </p:set>
                                    <p:animEffect transition="in" filter="wipe(up)">
                                      <p:cBhvr>
                                        <p:cTn id="17" dur="500"/>
                                        <p:tgtEl>
                                          <p:spTgt spid="4771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77198"/>
                                        </p:tgtEl>
                                        <p:attrNameLst>
                                          <p:attrName>style.visibility</p:attrName>
                                        </p:attrNameLst>
                                      </p:cBhvr>
                                      <p:to>
                                        <p:strVal val="visible"/>
                                      </p:to>
                                    </p:set>
                                    <p:animEffect transition="in" filter="wipe(up)">
                                      <p:cBhvr>
                                        <p:cTn id="22" dur="500"/>
                                        <p:tgtEl>
                                          <p:spTgt spid="477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195" grpId="0" autoUpdateAnimBg="0"/>
      <p:bldP spid="477196" grpId="0" autoUpdateAnimBg="0"/>
      <p:bldP spid="477197" grpId="0" autoUpdateAnimBg="0"/>
      <p:bldP spid="477198"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11"/>
          <p:cNvSpPr>
            <a:spLocks noChangeArrowheads="1"/>
          </p:cNvSpPr>
          <p:nvPr/>
        </p:nvSpPr>
        <p:spPr bwMode="auto">
          <a:xfrm>
            <a:off x="0" y="1392238"/>
            <a:ext cx="914400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lnSpc>
                <a:spcPct val="100000"/>
              </a:lnSpc>
              <a:spcBef>
                <a:spcPct val="0"/>
              </a:spcBef>
              <a:buClrTx/>
              <a:buFontTx/>
              <a:buNone/>
              <a:tabLst>
                <a:tab pos="228600" algn="l"/>
              </a:tabLst>
            </a:pPr>
            <a:r>
              <a:rPr lang="zh-CN" altLang="en-US" sz="1800">
                <a:solidFill>
                  <a:srgbClr val="000080"/>
                </a:solidFill>
                <a:latin typeface="黑体" pitchFamily="2" charset="-122"/>
                <a:ea typeface="黑体" pitchFamily="2" charset="-122"/>
              </a:rPr>
              <a:t>       10. 一个完整的计算机系统包括</a:t>
            </a:r>
            <a:r>
              <a:rPr lang="zh-CN" altLang="en-US" sz="1800" u="sng">
                <a:solidFill>
                  <a:srgbClr val="000080"/>
                </a:solidFill>
                <a:latin typeface="黑体" pitchFamily="2" charset="-122"/>
                <a:ea typeface="黑体" pitchFamily="2" charset="-122"/>
              </a:rPr>
              <a:t>     </a:t>
            </a:r>
            <a:r>
              <a:rPr lang="zh-CN" altLang="en-US" sz="1800">
                <a:solidFill>
                  <a:srgbClr val="000080"/>
                </a:solidFill>
                <a:latin typeface="黑体" pitchFamily="2" charset="-122"/>
                <a:ea typeface="黑体" pitchFamily="2" charset="-122"/>
              </a:rPr>
              <a:t> 。</a:t>
            </a:r>
          </a:p>
          <a:p>
            <a:pPr algn="just" eaLnBrk="0" hangingPunct="0">
              <a:lnSpc>
                <a:spcPct val="100000"/>
              </a:lnSpc>
              <a:spcBef>
                <a:spcPct val="0"/>
              </a:spcBef>
              <a:buClrTx/>
              <a:buFontTx/>
              <a:buNone/>
              <a:tabLst>
                <a:tab pos="228600" algn="l"/>
              </a:tabLst>
            </a:pPr>
            <a:r>
              <a:rPr lang="zh-CN" altLang="en-US" sz="1800">
                <a:solidFill>
                  <a:srgbClr val="000080"/>
                </a:solidFill>
                <a:latin typeface="黑体" pitchFamily="2" charset="-122"/>
                <a:ea typeface="黑体" pitchFamily="2" charset="-122"/>
              </a:rPr>
              <a:t>             </a:t>
            </a:r>
            <a:r>
              <a:rPr lang="en-US" altLang="zh-CN" sz="1800">
                <a:solidFill>
                  <a:srgbClr val="000080"/>
                </a:solidFill>
                <a:latin typeface="黑体" pitchFamily="2" charset="-122"/>
                <a:ea typeface="黑体" pitchFamily="2" charset="-122"/>
              </a:rPr>
              <a:t>A. </a:t>
            </a:r>
            <a:r>
              <a:rPr lang="zh-CN" altLang="en-US" sz="1800">
                <a:solidFill>
                  <a:srgbClr val="000080"/>
                </a:solidFill>
                <a:latin typeface="黑体" pitchFamily="2" charset="-122"/>
                <a:ea typeface="黑体" pitchFamily="2" charset="-122"/>
              </a:rPr>
              <a:t>运算器、存储器、控制器   </a:t>
            </a:r>
            <a:r>
              <a:rPr lang="en-US" altLang="zh-CN" sz="1800">
                <a:solidFill>
                  <a:srgbClr val="000080"/>
                </a:solidFill>
                <a:latin typeface="黑体" pitchFamily="2" charset="-122"/>
                <a:ea typeface="黑体" pitchFamily="2" charset="-122"/>
              </a:rPr>
              <a:t>B. </a:t>
            </a:r>
            <a:r>
              <a:rPr lang="zh-CN" altLang="en-US" sz="1800">
                <a:solidFill>
                  <a:srgbClr val="000080"/>
                </a:solidFill>
                <a:latin typeface="黑体" pitchFamily="2" charset="-122"/>
                <a:ea typeface="黑体" pitchFamily="2" charset="-122"/>
              </a:rPr>
              <a:t>外部设备和主机</a:t>
            </a:r>
          </a:p>
          <a:p>
            <a:pPr algn="just" eaLnBrk="0" hangingPunct="0">
              <a:lnSpc>
                <a:spcPct val="100000"/>
              </a:lnSpc>
              <a:spcBef>
                <a:spcPct val="0"/>
              </a:spcBef>
              <a:buClrTx/>
              <a:buFontTx/>
              <a:buNone/>
              <a:tabLst>
                <a:tab pos="228600" algn="l"/>
              </a:tabLst>
            </a:pPr>
            <a:r>
              <a:rPr lang="zh-CN" altLang="en-US" sz="1800">
                <a:solidFill>
                  <a:srgbClr val="000080"/>
                </a:solidFill>
                <a:latin typeface="黑体" pitchFamily="2" charset="-122"/>
                <a:ea typeface="黑体" pitchFamily="2" charset="-122"/>
              </a:rPr>
              <a:t>             </a:t>
            </a:r>
            <a:r>
              <a:rPr lang="en-US" altLang="zh-CN" sz="1800">
                <a:solidFill>
                  <a:srgbClr val="000080"/>
                </a:solidFill>
                <a:latin typeface="黑体" pitchFamily="2" charset="-122"/>
                <a:ea typeface="黑体" pitchFamily="2" charset="-122"/>
              </a:rPr>
              <a:t>C. </a:t>
            </a:r>
            <a:r>
              <a:rPr lang="zh-CN" altLang="en-US" sz="1800">
                <a:solidFill>
                  <a:srgbClr val="000080"/>
                </a:solidFill>
                <a:latin typeface="黑体" pitchFamily="2" charset="-122"/>
                <a:ea typeface="黑体" pitchFamily="2" charset="-122"/>
              </a:rPr>
              <a:t>主机和实用程序           </a:t>
            </a:r>
            <a:r>
              <a:rPr lang="en-US" altLang="zh-CN" sz="1800">
                <a:solidFill>
                  <a:srgbClr val="000080"/>
                </a:solidFill>
                <a:latin typeface="黑体" pitchFamily="2" charset="-122"/>
                <a:ea typeface="黑体" pitchFamily="2" charset="-122"/>
              </a:rPr>
              <a:t>D. </a:t>
            </a:r>
            <a:r>
              <a:rPr lang="zh-CN" altLang="en-US" sz="1800">
                <a:solidFill>
                  <a:srgbClr val="000080"/>
                </a:solidFill>
                <a:latin typeface="黑体" pitchFamily="2" charset="-122"/>
                <a:ea typeface="黑体" pitchFamily="2" charset="-122"/>
              </a:rPr>
              <a:t>配套的硬件设备和软件系统</a:t>
            </a:r>
          </a:p>
        </p:txBody>
      </p:sp>
      <p:sp>
        <p:nvSpPr>
          <p:cNvPr id="478220" name="Rectangle 12"/>
          <p:cNvSpPr>
            <a:spLocks noChangeArrowheads="1"/>
          </p:cNvSpPr>
          <p:nvPr/>
        </p:nvSpPr>
        <p:spPr bwMode="auto">
          <a:xfrm>
            <a:off x="0" y="2328863"/>
            <a:ext cx="9144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8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11. 中央处理机（</a:t>
            </a:r>
            <a:r>
              <a:rPr lang="en-US" altLang="zh-CN" sz="1800" dirty="0">
                <a:solidFill>
                  <a:srgbClr val="000080"/>
                </a:solidFill>
                <a:latin typeface="黑体" pitchFamily="2" charset="-122"/>
                <a:ea typeface="黑体" pitchFamily="2" charset="-122"/>
              </a:rPr>
              <a:t>CPU）</a:t>
            </a:r>
            <a:r>
              <a:rPr lang="zh-CN" altLang="en-US" sz="1800" dirty="0">
                <a:solidFill>
                  <a:srgbClr val="000080"/>
                </a:solidFill>
                <a:latin typeface="黑体" pitchFamily="2" charset="-122"/>
                <a:ea typeface="黑体" pitchFamily="2" charset="-122"/>
              </a:rPr>
              <a:t>包括</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endParaRPr lang="zh-CN" altLang="en-US" sz="1000" dirty="0">
              <a:solidFill>
                <a:srgbClr val="000080"/>
              </a:solidFill>
              <a:latin typeface="黑体" pitchFamily="2" charset="-122"/>
              <a:ea typeface="黑体" pitchFamily="2" charset="-122"/>
            </a:endParaRPr>
          </a:p>
          <a:p>
            <a:pPr algn="just" eaLnBrk="0" hangingPunct="0">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A. </a:t>
            </a:r>
            <a:r>
              <a:rPr lang="zh-CN" altLang="en-US" sz="1800" dirty="0">
                <a:solidFill>
                  <a:srgbClr val="000080"/>
                </a:solidFill>
                <a:latin typeface="黑体" pitchFamily="2" charset="-122"/>
                <a:ea typeface="黑体" pitchFamily="2" charset="-122"/>
              </a:rPr>
              <a:t>运算器  	            </a:t>
            </a:r>
            <a:r>
              <a:rPr lang="en-US" altLang="zh-CN" sz="1800" dirty="0">
                <a:solidFill>
                  <a:srgbClr val="000080"/>
                </a:solidFill>
                <a:latin typeface="黑体" pitchFamily="2" charset="-122"/>
                <a:ea typeface="黑体" pitchFamily="2" charset="-122"/>
              </a:rPr>
              <a:t>B. </a:t>
            </a:r>
            <a:r>
              <a:rPr lang="zh-CN" altLang="en-US" sz="1800" dirty="0">
                <a:solidFill>
                  <a:srgbClr val="000080"/>
                </a:solidFill>
                <a:latin typeface="黑体" pitchFamily="2" charset="-122"/>
                <a:ea typeface="黑体" pitchFamily="2" charset="-122"/>
              </a:rPr>
              <a:t>控制器</a:t>
            </a:r>
            <a:endParaRPr lang="zh-CN" altLang="en-US" sz="1000" dirty="0">
              <a:solidFill>
                <a:srgbClr val="000080"/>
              </a:solidFill>
              <a:latin typeface="黑体" pitchFamily="2" charset="-122"/>
              <a:ea typeface="黑体" pitchFamily="2" charset="-122"/>
            </a:endParaRPr>
          </a:p>
          <a:p>
            <a:pPr eaLnBrk="0" hangingPunct="0">
              <a:lnSpc>
                <a:spcPct val="100000"/>
              </a:lnSpc>
              <a:spcBef>
                <a:spcPct val="0"/>
              </a:spcBef>
              <a:buClrTx/>
              <a:buFontTx/>
              <a:buNone/>
              <a:tabLst>
                <a:tab pos="228600" algn="l"/>
              </a:tabLst>
            </a:pP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C. </a:t>
            </a:r>
            <a:r>
              <a:rPr lang="zh-CN" altLang="en-US" sz="1800" dirty="0">
                <a:solidFill>
                  <a:srgbClr val="000080"/>
                </a:solidFill>
                <a:latin typeface="黑体" pitchFamily="2" charset="-122"/>
                <a:ea typeface="黑体" pitchFamily="2" charset="-122"/>
              </a:rPr>
              <a:t>控制器和运算器      </a:t>
            </a:r>
            <a:r>
              <a:rPr lang="en-US" altLang="zh-CN" sz="1800" dirty="0">
                <a:solidFill>
                  <a:srgbClr val="000080"/>
                </a:solidFill>
                <a:latin typeface="黑体" pitchFamily="2" charset="-122"/>
                <a:ea typeface="黑体" pitchFamily="2" charset="-122"/>
              </a:rPr>
              <a:t>D.</a:t>
            </a:r>
            <a:r>
              <a:rPr lang="zh-CN" altLang="en-US" sz="1800" dirty="0">
                <a:solidFill>
                  <a:srgbClr val="000080"/>
                </a:solidFill>
                <a:latin typeface="黑体" pitchFamily="2" charset="-122"/>
                <a:ea typeface="黑体" pitchFamily="2" charset="-122"/>
              </a:rPr>
              <a:t>运算器和存储器</a:t>
            </a:r>
            <a:r>
              <a:rPr lang="zh-CN" altLang="en-US" sz="1100" dirty="0">
                <a:solidFill>
                  <a:srgbClr val="000080"/>
                </a:solidFill>
                <a:latin typeface="黑体" pitchFamily="2" charset="-122"/>
                <a:ea typeface="黑体" pitchFamily="2" charset="-122"/>
              </a:rPr>
              <a:t> </a:t>
            </a:r>
            <a:endParaRPr lang="zh-CN" altLang="en-US" b="0" dirty="0">
              <a:solidFill>
                <a:srgbClr val="000080"/>
              </a:solidFill>
              <a:latin typeface="黑体" pitchFamily="2" charset="-122"/>
              <a:ea typeface="黑体" pitchFamily="2" charset="-122"/>
            </a:endParaRPr>
          </a:p>
        </p:txBody>
      </p:sp>
      <p:sp>
        <p:nvSpPr>
          <p:cNvPr id="478221" name="Rectangle 13"/>
          <p:cNvSpPr>
            <a:spLocks noChangeArrowheads="1"/>
          </p:cNvSpPr>
          <p:nvPr/>
        </p:nvSpPr>
        <p:spPr bwMode="auto">
          <a:xfrm>
            <a:off x="359596" y="3220949"/>
            <a:ext cx="9144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12. </a:t>
            </a:r>
            <a:r>
              <a:rPr lang="en-US" altLang="zh-CN" sz="1800" dirty="0">
                <a:solidFill>
                  <a:srgbClr val="000080"/>
                </a:solidFill>
                <a:latin typeface="黑体" pitchFamily="2" charset="-122"/>
                <a:ea typeface="黑体" pitchFamily="2" charset="-122"/>
              </a:rPr>
              <a:t>CPU</a:t>
            </a:r>
            <a:r>
              <a:rPr lang="zh-CN" altLang="en-US" sz="1800" dirty="0">
                <a:solidFill>
                  <a:srgbClr val="000080"/>
                </a:solidFill>
                <a:latin typeface="黑体" pitchFamily="2" charset="-122"/>
                <a:ea typeface="黑体" pitchFamily="2" charset="-122"/>
              </a:rPr>
              <a:t>中控制器的功能是</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endParaRPr lang="zh-CN" altLang="en-US" sz="1000" dirty="0">
              <a:solidFill>
                <a:srgbClr val="000080"/>
              </a:solidFill>
              <a:latin typeface="黑体" pitchFamily="2" charset="-122"/>
              <a:ea typeface="黑体" pitchFamily="2" charset="-122"/>
            </a:endParaRPr>
          </a:p>
          <a:p>
            <a:pPr algn="just" eaLnBrk="0" hangingPunct="0">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A. </a:t>
            </a:r>
            <a:r>
              <a:rPr lang="zh-CN" altLang="en-US" sz="1800" dirty="0">
                <a:solidFill>
                  <a:srgbClr val="000080"/>
                </a:solidFill>
                <a:latin typeface="黑体" pitchFamily="2" charset="-122"/>
                <a:ea typeface="黑体" pitchFamily="2" charset="-122"/>
              </a:rPr>
              <a:t>进行逻辑运算                   </a:t>
            </a:r>
            <a:r>
              <a:rPr lang="en-US" altLang="zh-CN" sz="1800" dirty="0">
                <a:solidFill>
                  <a:srgbClr val="000080"/>
                </a:solidFill>
                <a:latin typeface="黑体" pitchFamily="2" charset="-122"/>
                <a:ea typeface="黑体" pitchFamily="2" charset="-122"/>
              </a:rPr>
              <a:t>B. </a:t>
            </a:r>
            <a:r>
              <a:rPr lang="zh-CN" altLang="en-US" sz="1800" dirty="0">
                <a:solidFill>
                  <a:srgbClr val="000080"/>
                </a:solidFill>
                <a:latin typeface="黑体" pitchFamily="2" charset="-122"/>
                <a:ea typeface="黑体" pitchFamily="2" charset="-122"/>
              </a:rPr>
              <a:t>进行算术运算</a:t>
            </a:r>
            <a:endParaRPr lang="zh-CN" altLang="en-US" sz="1000" dirty="0">
              <a:solidFill>
                <a:srgbClr val="000080"/>
              </a:solidFill>
              <a:latin typeface="黑体" pitchFamily="2" charset="-122"/>
              <a:ea typeface="黑体" pitchFamily="2" charset="-122"/>
            </a:endParaRPr>
          </a:p>
          <a:p>
            <a:pPr eaLnBrk="0" hangingPunct="0">
              <a:lnSpc>
                <a:spcPct val="100000"/>
              </a:lnSpc>
              <a:spcBef>
                <a:spcPct val="0"/>
              </a:spcBef>
              <a:buClrTx/>
              <a:buFontTx/>
              <a:buNone/>
              <a:tabLst>
                <a:tab pos="228600" algn="l"/>
              </a:tabLst>
            </a:pP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C. </a:t>
            </a:r>
            <a:r>
              <a:rPr lang="zh-CN" altLang="en-US" sz="1800" dirty="0">
                <a:solidFill>
                  <a:srgbClr val="000080"/>
                </a:solidFill>
                <a:latin typeface="黑体" pitchFamily="2" charset="-122"/>
                <a:ea typeface="黑体" pitchFamily="2" charset="-122"/>
              </a:rPr>
              <a:t>分析指令并发出相应的控制信号  </a:t>
            </a:r>
            <a:r>
              <a:rPr lang="en-US" altLang="zh-CN" sz="1800" dirty="0">
                <a:solidFill>
                  <a:srgbClr val="000080"/>
                </a:solidFill>
                <a:latin typeface="黑体" pitchFamily="2" charset="-122"/>
                <a:ea typeface="黑体" pitchFamily="2" charset="-122"/>
              </a:rPr>
              <a:t>D. </a:t>
            </a:r>
            <a:r>
              <a:rPr lang="zh-CN" altLang="en-US" sz="1800" dirty="0">
                <a:solidFill>
                  <a:srgbClr val="000080"/>
                </a:solidFill>
                <a:latin typeface="黑体" pitchFamily="2" charset="-122"/>
                <a:ea typeface="黑体" pitchFamily="2" charset="-122"/>
              </a:rPr>
              <a:t>只控制</a:t>
            </a:r>
            <a:r>
              <a:rPr lang="en-US" altLang="zh-CN" sz="1800" dirty="0">
                <a:solidFill>
                  <a:srgbClr val="000080"/>
                </a:solidFill>
                <a:latin typeface="黑体" pitchFamily="2" charset="-122"/>
                <a:ea typeface="黑体" pitchFamily="2" charset="-122"/>
              </a:rPr>
              <a:t>CPU</a:t>
            </a:r>
            <a:r>
              <a:rPr lang="zh-CN" altLang="en-US" sz="1800" dirty="0">
                <a:solidFill>
                  <a:srgbClr val="000080"/>
                </a:solidFill>
                <a:latin typeface="黑体" pitchFamily="2" charset="-122"/>
                <a:ea typeface="黑体" pitchFamily="2" charset="-122"/>
              </a:rPr>
              <a:t>工作</a:t>
            </a:r>
            <a:r>
              <a:rPr lang="zh-CN" altLang="en-US" sz="1100" dirty="0">
                <a:solidFill>
                  <a:srgbClr val="000080"/>
                </a:solidFill>
                <a:latin typeface="黑体" pitchFamily="2" charset="-122"/>
                <a:ea typeface="黑体" pitchFamily="2" charset="-122"/>
              </a:rPr>
              <a:t> </a:t>
            </a:r>
            <a:endParaRPr lang="zh-CN" altLang="en-US" b="0" dirty="0">
              <a:solidFill>
                <a:srgbClr val="000080"/>
              </a:solidFill>
              <a:latin typeface="黑体" pitchFamily="2" charset="-122"/>
              <a:ea typeface="黑体" pitchFamily="2" charset="-122"/>
            </a:endParaRPr>
          </a:p>
        </p:txBody>
      </p:sp>
      <p:sp>
        <p:nvSpPr>
          <p:cNvPr id="478222" name="Rectangle 14"/>
          <p:cNvSpPr>
            <a:spLocks noChangeArrowheads="1"/>
          </p:cNvSpPr>
          <p:nvPr/>
        </p:nvSpPr>
        <p:spPr bwMode="auto">
          <a:xfrm>
            <a:off x="359596" y="4157575"/>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13. 计算机能直接识别的语言是</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endParaRPr lang="zh-CN" altLang="en-US" sz="1000" dirty="0">
              <a:solidFill>
                <a:srgbClr val="000080"/>
              </a:solidFill>
              <a:latin typeface="黑体" pitchFamily="2" charset="-122"/>
              <a:ea typeface="黑体" pitchFamily="2" charset="-122"/>
            </a:endParaRPr>
          </a:p>
          <a:p>
            <a:pPr eaLnBrk="0" hangingPunct="0">
              <a:lnSpc>
                <a:spcPct val="100000"/>
              </a:lnSpc>
              <a:spcBef>
                <a:spcPct val="0"/>
              </a:spcBef>
              <a:buClrTx/>
              <a:buFontTx/>
              <a:buNone/>
              <a:tabLst>
                <a:tab pos="228600" algn="l"/>
              </a:tabLst>
            </a:pP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A. </a:t>
            </a:r>
            <a:r>
              <a:rPr lang="zh-CN" altLang="en-US" sz="1800" dirty="0">
                <a:solidFill>
                  <a:srgbClr val="000080"/>
                </a:solidFill>
                <a:latin typeface="黑体" pitchFamily="2" charset="-122"/>
                <a:ea typeface="黑体" pitchFamily="2" charset="-122"/>
              </a:rPr>
              <a:t>汇编语言  </a:t>
            </a:r>
            <a:r>
              <a:rPr lang="en-US" altLang="zh-CN" sz="1800" dirty="0">
                <a:solidFill>
                  <a:srgbClr val="000080"/>
                </a:solidFill>
                <a:latin typeface="黑体" pitchFamily="2" charset="-122"/>
                <a:ea typeface="黑体" pitchFamily="2" charset="-122"/>
              </a:rPr>
              <a:t>B. </a:t>
            </a:r>
            <a:r>
              <a:rPr lang="zh-CN" altLang="en-US" sz="1800" dirty="0">
                <a:solidFill>
                  <a:srgbClr val="000080"/>
                </a:solidFill>
                <a:latin typeface="黑体" pitchFamily="2" charset="-122"/>
                <a:ea typeface="黑体" pitchFamily="2" charset="-122"/>
              </a:rPr>
              <a:t>自然语言  </a:t>
            </a:r>
            <a:r>
              <a:rPr lang="en-US" altLang="zh-CN" sz="1800" dirty="0">
                <a:solidFill>
                  <a:srgbClr val="000080"/>
                </a:solidFill>
                <a:latin typeface="黑体" pitchFamily="2" charset="-122"/>
                <a:ea typeface="黑体" pitchFamily="2" charset="-122"/>
              </a:rPr>
              <a:t>C. </a:t>
            </a:r>
            <a:r>
              <a:rPr lang="zh-CN" altLang="en-US" sz="1800" dirty="0">
                <a:solidFill>
                  <a:srgbClr val="000080"/>
                </a:solidFill>
                <a:latin typeface="黑体" pitchFamily="2" charset="-122"/>
                <a:ea typeface="黑体" pitchFamily="2" charset="-122"/>
              </a:rPr>
              <a:t>机器语言  </a:t>
            </a:r>
            <a:r>
              <a:rPr lang="en-US" altLang="zh-CN" sz="1800" dirty="0">
                <a:solidFill>
                  <a:srgbClr val="000080"/>
                </a:solidFill>
                <a:latin typeface="黑体" pitchFamily="2" charset="-122"/>
                <a:ea typeface="黑体" pitchFamily="2" charset="-122"/>
              </a:rPr>
              <a:t>D. </a:t>
            </a:r>
            <a:r>
              <a:rPr lang="zh-CN" altLang="en-US" sz="1800" dirty="0">
                <a:solidFill>
                  <a:srgbClr val="000080"/>
                </a:solidFill>
                <a:latin typeface="黑体" pitchFamily="2" charset="-122"/>
                <a:ea typeface="黑体" pitchFamily="2" charset="-122"/>
              </a:rPr>
              <a:t>高级语言</a:t>
            </a:r>
            <a:r>
              <a:rPr lang="zh-CN" altLang="en-US" sz="1100" dirty="0">
                <a:solidFill>
                  <a:srgbClr val="000080"/>
                </a:solidFill>
                <a:latin typeface="黑体" pitchFamily="2" charset="-122"/>
                <a:ea typeface="黑体" pitchFamily="2" charset="-122"/>
              </a:rPr>
              <a:t> </a:t>
            </a:r>
            <a:endParaRPr lang="zh-CN" altLang="en-US" b="0" dirty="0">
              <a:solidFill>
                <a:srgbClr val="000080"/>
              </a:solidFill>
              <a:latin typeface="黑体" pitchFamily="2" charset="-122"/>
              <a:ea typeface="黑体"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461713558"/>
              </p:ext>
            </p:extLst>
          </p:nvPr>
        </p:nvGraphicFramePr>
        <p:xfrm>
          <a:off x="758825" y="425450"/>
          <a:ext cx="7096125" cy="946150"/>
        </p:xfrm>
        <a:graphic>
          <a:graphicData uri="http://schemas.openxmlformats.org/presentationml/2006/ole">
            <mc:AlternateContent xmlns:mc="http://schemas.openxmlformats.org/markup-compatibility/2006">
              <mc:Choice xmlns:v="urn:schemas-microsoft-com:vml" Requires="v">
                <p:oleObj name="Document" r:id="rId2" imgW="6783613" imgH="906112" progId="Word.Document.8">
                  <p:embed/>
                </p:oleObj>
              </mc:Choice>
              <mc:Fallback>
                <p:oleObj name="Document" r:id="rId2" imgW="6783613" imgH="906112" progId="Word.Documen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825" y="425450"/>
                        <a:ext cx="70961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 name="Rectangle 10">
            <a:extLst>
              <a:ext uri="{FF2B5EF4-FFF2-40B4-BE49-F238E27FC236}">
                <a16:creationId xmlns:a16="http://schemas.microsoft.com/office/drawing/2014/main" id="{01DE94A9-8B44-C98F-D8AA-F3CDCFB2E4F1}"/>
              </a:ext>
            </a:extLst>
          </p:cNvPr>
          <p:cNvSpPr>
            <a:spLocks noChangeArrowheads="1"/>
          </p:cNvSpPr>
          <p:nvPr/>
        </p:nvSpPr>
        <p:spPr bwMode="auto">
          <a:xfrm>
            <a:off x="431515" y="4850385"/>
            <a:ext cx="9144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14. 微型计算机中运算器的主要功能是</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endParaRPr lang="zh-CN" altLang="en-US" sz="1000" dirty="0">
              <a:solidFill>
                <a:srgbClr val="000080"/>
              </a:solidFill>
              <a:latin typeface="黑体" pitchFamily="2" charset="-122"/>
              <a:ea typeface="黑体" pitchFamily="2" charset="-122"/>
            </a:endParaRPr>
          </a:p>
          <a:p>
            <a:pPr algn="just" eaLnBrk="0" hangingPunct="0">
              <a:lnSpc>
                <a:spcPct val="100000"/>
              </a:lnSpc>
              <a:spcBef>
                <a:spcPct val="0"/>
              </a:spcBef>
              <a:buClrTx/>
              <a:buFontTx/>
              <a:buNone/>
              <a:tabLst>
                <a:tab pos="228600" algn="l"/>
              </a:tabLst>
            </a:pP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A. </a:t>
            </a:r>
            <a:r>
              <a:rPr lang="zh-CN" altLang="en-US" sz="1800" dirty="0">
                <a:solidFill>
                  <a:srgbClr val="000080"/>
                </a:solidFill>
                <a:latin typeface="黑体" pitchFamily="2" charset="-122"/>
                <a:ea typeface="黑体" pitchFamily="2" charset="-122"/>
              </a:rPr>
              <a:t>控制计算机的运行  </a:t>
            </a:r>
            <a:r>
              <a:rPr lang="en-US" altLang="zh-CN" sz="1800" dirty="0">
                <a:solidFill>
                  <a:srgbClr val="000080"/>
                </a:solidFill>
                <a:latin typeface="黑体" pitchFamily="2" charset="-122"/>
                <a:ea typeface="黑体" pitchFamily="2" charset="-122"/>
              </a:rPr>
              <a:t>B. </a:t>
            </a:r>
            <a:r>
              <a:rPr lang="zh-CN" altLang="en-US" sz="1800" dirty="0">
                <a:solidFill>
                  <a:srgbClr val="000080"/>
                </a:solidFill>
                <a:latin typeface="黑体" pitchFamily="2" charset="-122"/>
                <a:ea typeface="黑体" pitchFamily="2" charset="-122"/>
              </a:rPr>
              <a:t>算术运算和逻辑运算</a:t>
            </a:r>
            <a:endParaRPr lang="zh-CN" altLang="en-US" sz="1000" dirty="0">
              <a:solidFill>
                <a:srgbClr val="000080"/>
              </a:solidFill>
              <a:latin typeface="黑体" pitchFamily="2" charset="-122"/>
              <a:ea typeface="黑体" pitchFamily="2" charset="-122"/>
            </a:endParaRPr>
          </a:p>
          <a:p>
            <a:pPr eaLnBrk="0" hangingPunct="0">
              <a:lnSpc>
                <a:spcPct val="100000"/>
              </a:lnSpc>
              <a:spcBef>
                <a:spcPct val="0"/>
              </a:spcBef>
              <a:buClrTx/>
              <a:buFontTx/>
              <a:buNone/>
              <a:tabLst>
                <a:tab pos="228600" algn="l"/>
              </a:tabLst>
            </a:pP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C. </a:t>
            </a:r>
            <a:r>
              <a:rPr lang="zh-CN" altLang="en-US" sz="1800" dirty="0">
                <a:solidFill>
                  <a:srgbClr val="000080"/>
                </a:solidFill>
                <a:latin typeface="黑体" pitchFamily="2" charset="-122"/>
                <a:ea typeface="黑体" pitchFamily="2" charset="-122"/>
              </a:rPr>
              <a:t>分析指令并执行    </a:t>
            </a:r>
            <a:r>
              <a:rPr lang="en-US" altLang="zh-CN" sz="1800" dirty="0">
                <a:solidFill>
                  <a:srgbClr val="000080"/>
                </a:solidFill>
                <a:latin typeface="黑体" pitchFamily="2" charset="-122"/>
                <a:ea typeface="黑体" pitchFamily="2" charset="-122"/>
              </a:rPr>
              <a:t>D. </a:t>
            </a:r>
            <a:r>
              <a:rPr lang="zh-CN" altLang="en-US" sz="1800" dirty="0">
                <a:solidFill>
                  <a:srgbClr val="000080"/>
                </a:solidFill>
                <a:latin typeface="黑体" pitchFamily="2" charset="-122"/>
                <a:ea typeface="黑体" pitchFamily="2" charset="-122"/>
              </a:rPr>
              <a:t>负责存取存储器中的数据</a:t>
            </a:r>
            <a:r>
              <a:rPr lang="zh-CN" altLang="en-US" sz="1100" dirty="0">
                <a:solidFill>
                  <a:srgbClr val="000080"/>
                </a:solidFill>
                <a:latin typeface="黑体" pitchFamily="2" charset="-122"/>
                <a:ea typeface="黑体" pitchFamily="2" charset="-122"/>
              </a:rPr>
              <a:t> </a:t>
            </a:r>
            <a:endParaRPr lang="zh-CN" altLang="en-US" b="0" dirty="0">
              <a:solidFill>
                <a:srgbClr val="000080"/>
              </a:solidFill>
              <a:latin typeface="黑体" pitchFamily="2" charset="-122"/>
              <a:ea typeface="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78220"/>
                                        </p:tgtEl>
                                        <p:attrNameLst>
                                          <p:attrName>style.visibility</p:attrName>
                                        </p:attrNameLst>
                                      </p:cBhvr>
                                      <p:to>
                                        <p:strVal val="visible"/>
                                      </p:to>
                                    </p:set>
                                    <p:animEffect transition="in" filter="wipe(up)">
                                      <p:cBhvr>
                                        <p:cTn id="7" dur="500"/>
                                        <p:tgtEl>
                                          <p:spTgt spid="4782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78221"/>
                                        </p:tgtEl>
                                        <p:attrNameLst>
                                          <p:attrName>style.visibility</p:attrName>
                                        </p:attrNameLst>
                                      </p:cBhvr>
                                      <p:to>
                                        <p:strVal val="visible"/>
                                      </p:to>
                                    </p:set>
                                    <p:animEffect transition="in" filter="wipe(up)">
                                      <p:cBhvr>
                                        <p:cTn id="12" dur="500"/>
                                        <p:tgtEl>
                                          <p:spTgt spid="4782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78222"/>
                                        </p:tgtEl>
                                        <p:attrNameLst>
                                          <p:attrName>style.visibility</p:attrName>
                                        </p:attrNameLst>
                                      </p:cBhvr>
                                      <p:to>
                                        <p:strVal val="visible"/>
                                      </p:to>
                                    </p:set>
                                    <p:animEffect transition="in" filter="wipe(up)">
                                      <p:cBhvr>
                                        <p:cTn id="17" dur="500"/>
                                        <p:tgtEl>
                                          <p:spTgt spid="478222"/>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20" grpId="0" autoUpdateAnimBg="0"/>
      <p:bldP spid="478221" grpId="0" autoUpdateAnimBg="0"/>
      <p:bldP spid="478222" grpId="0" autoUpdateAnimBg="0"/>
      <p:bldP spid="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43" name="Rectangle 11"/>
          <p:cNvSpPr>
            <a:spLocks noChangeArrowheads="1"/>
          </p:cNvSpPr>
          <p:nvPr/>
        </p:nvSpPr>
        <p:spPr bwMode="auto">
          <a:xfrm>
            <a:off x="0" y="1345634"/>
            <a:ext cx="9144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15. 计算机的软件系统包括</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endParaRPr lang="zh-CN" altLang="en-US" sz="1000" dirty="0">
              <a:solidFill>
                <a:srgbClr val="000080"/>
              </a:solidFill>
              <a:latin typeface="黑体" pitchFamily="2" charset="-122"/>
              <a:ea typeface="黑体" pitchFamily="2" charset="-122"/>
            </a:endParaRPr>
          </a:p>
          <a:p>
            <a:pPr algn="just" eaLnBrk="0" hangingPunct="0">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A. </a:t>
            </a:r>
            <a:r>
              <a:rPr lang="zh-CN" altLang="en-US" sz="1800" dirty="0">
                <a:solidFill>
                  <a:srgbClr val="000080"/>
                </a:solidFill>
                <a:latin typeface="黑体" pitchFamily="2" charset="-122"/>
                <a:ea typeface="黑体" pitchFamily="2" charset="-122"/>
              </a:rPr>
              <a:t>程序与数据              </a:t>
            </a:r>
            <a:r>
              <a:rPr lang="en-US" altLang="zh-CN" sz="1800" dirty="0">
                <a:solidFill>
                  <a:srgbClr val="000080"/>
                </a:solidFill>
                <a:latin typeface="黑体" pitchFamily="2" charset="-122"/>
                <a:ea typeface="黑体" pitchFamily="2" charset="-122"/>
              </a:rPr>
              <a:t>B. </a:t>
            </a:r>
            <a:r>
              <a:rPr lang="zh-CN" altLang="en-US" sz="1800" dirty="0">
                <a:solidFill>
                  <a:srgbClr val="000080"/>
                </a:solidFill>
                <a:latin typeface="黑体" pitchFamily="2" charset="-122"/>
                <a:ea typeface="黑体" pitchFamily="2" charset="-122"/>
              </a:rPr>
              <a:t>系统软件与应用软件</a:t>
            </a:r>
            <a:endParaRPr lang="zh-CN" altLang="en-US" sz="1000" dirty="0">
              <a:solidFill>
                <a:srgbClr val="000080"/>
              </a:solidFill>
              <a:latin typeface="黑体" pitchFamily="2" charset="-122"/>
              <a:ea typeface="黑体" pitchFamily="2" charset="-122"/>
            </a:endParaRPr>
          </a:p>
          <a:p>
            <a:pPr eaLnBrk="0" hangingPunct="0">
              <a:lnSpc>
                <a:spcPct val="100000"/>
              </a:lnSpc>
              <a:spcBef>
                <a:spcPct val="0"/>
              </a:spcBef>
              <a:buClrTx/>
              <a:buFontTx/>
              <a:buNone/>
              <a:tabLst>
                <a:tab pos="228600" algn="l"/>
              </a:tabLst>
            </a:pP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C. </a:t>
            </a:r>
            <a:r>
              <a:rPr lang="zh-CN" altLang="en-US" sz="1800" dirty="0">
                <a:solidFill>
                  <a:srgbClr val="000080"/>
                </a:solidFill>
                <a:latin typeface="黑体" pitchFamily="2" charset="-122"/>
                <a:ea typeface="黑体" pitchFamily="2" charset="-122"/>
              </a:rPr>
              <a:t>操作系统与语言处理程序  </a:t>
            </a:r>
            <a:r>
              <a:rPr lang="en-US" altLang="zh-CN" sz="1800" dirty="0">
                <a:solidFill>
                  <a:srgbClr val="000080"/>
                </a:solidFill>
                <a:latin typeface="黑体" pitchFamily="2" charset="-122"/>
                <a:ea typeface="黑体" pitchFamily="2" charset="-122"/>
              </a:rPr>
              <a:t>D. </a:t>
            </a:r>
            <a:r>
              <a:rPr lang="zh-CN" altLang="en-US" sz="1800" dirty="0">
                <a:solidFill>
                  <a:srgbClr val="000080"/>
                </a:solidFill>
                <a:latin typeface="黑体" pitchFamily="2" charset="-122"/>
                <a:ea typeface="黑体" pitchFamily="2" charset="-122"/>
              </a:rPr>
              <a:t>程序、数据与文档</a:t>
            </a:r>
            <a:r>
              <a:rPr lang="zh-CN" altLang="en-US" sz="1100" dirty="0">
                <a:solidFill>
                  <a:srgbClr val="000080"/>
                </a:solidFill>
                <a:latin typeface="黑体" pitchFamily="2" charset="-122"/>
                <a:ea typeface="黑体" pitchFamily="2" charset="-122"/>
              </a:rPr>
              <a:t> </a:t>
            </a:r>
            <a:endParaRPr lang="zh-CN" altLang="en-US" b="0" dirty="0">
              <a:solidFill>
                <a:srgbClr val="000080"/>
              </a:solidFill>
              <a:latin typeface="黑体" pitchFamily="2" charset="-122"/>
              <a:ea typeface="黑体" pitchFamily="2" charset="-122"/>
            </a:endParaRPr>
          </a:p>
        </p:txBody>
      </p:sp>
      <p:sp>
        <p:nvSpPr>
          <p:cNvPr id="479244" name="Rectangle 12"/>
          <p:cNvSpPr>
            <a:spLocks noChangeArrowheads="1"/>
          </p:cNvSpPr>
          <p:nvPr/>
        </p:nvSpPr>
        <p:spPr bwMode="auto">
          <a:xfrm>
            <a:off x="0" y="2387034"/>
            <a:ext cx="91440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16．计算机的存储器系统包括</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endParaRPr lang="zh-CN" altLang="en-US" sz="1000" dirty="0">
              <a:solidFill>
                <a:srgbClr val="000080"/>
              </a:solidFill>
              <a:latin typeface="黑体" pitchFamily="2" charset="-122"/>
              <a:ea typeface="黑体" pitchFamily="2" charset="-122"/>
            </a:endParaRPr>
          </a:p>
          <a:p>
            <a:pPr algn="just" eaLnBrk="0" hangingPunct="0">
              <a:lnSpc>
                <a:spcPct val="100000"/>
              </a:lnSpc>
              <a:spcBef>
                <a:spcPct val="0"/>
              </a:spcBef>
              <a:buClrTx/>
              <a:buFontTx/>
              <a:buNone/>
              <a:tabLst>
                <a:tab pos="228600" algn="l"/>
              </a:tabLst>
            </a:pP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A. RAM         B. ROM   </a:t>
            </a:r>
          </a:p>
          <a:p>
            <a:pPr eaLnBrk="0" hangingPunct="0">
              <a:lnSpc>
                <a:spcPct val="100000"/>
              </a:lnSpc>
              <a:spcBef>
                <a:spcPct val="0"/>
              </a:spcBef>
              <a:buClrTx/>
              <a:buFontTx/>
              <a:buNone/>
              <a:tabLst>
                <a:tab pos="228600" algn="l"/>
              </a:tabLst>
            </a:pPr>
            <a:r>
              <a:rPr lang="en-US" altLang="zh-CN" sz="1800" dirty="0">
                <a:solidFill>
                  <a:srgbClr val="000080"/>
                </a:solidFill>
                <a:latin typeface="黑体" pitchFamily="2" charset="-122"/>
                <a:ea typeface="黑体" pitchFamily="2" charset="-122"/>
              </a:rPr>
              <a:t>      C. </a:t>
            </a:r>
            <a:r>
              <a:rPr lang="zh-CN" altLang="en-US" sz="1800" dirty="0">
                <a:solidFill>
                  <a:srgbClr val="000080"/>
                </a:solidFill>
                <a:latin typeface="黑体" pitchFamily="2" charset="-122"/>
                <a:ea typeface="黑体" pitchFamily="2" charset="-122"/>
              </a:rPr>
              <a:t>主存储器     </a:t>
            </a:r>
            <a:r>
              <a:rPr lang="en-US" altLang="zh-CN" sz="1800" dirty="0">
                <a:solidFill>
                  <a:srgbClr val="000080"/>
                </a:solidFill>
                <a:latin typeface="黑体" pitchFamily="2" charset="-122"/>
                <a:ea typeface="黑体" pitchFamily="2" charset="-122"/>
              </a:rPr>
              <a:t>D. Cache、</a:t>
            </a:r>
            <a:r>
              <a:rPr lang="zh-CN" altLang="en-US" sz="1800" dirty="0">
                <a:solidFill>
                  <a:srgbClr val="000080"/>
                </a:solidFill>
                <a:latin typeface="黑体" pitchFamily="2" charset="-122"/>
                <a:ea typeface="黑体" pitchFamily="2" charset="-122"/>
              </a:rPr>
              <a:t>主存储器和辅助存储器</a:t>
            </a:r>
            <a:r>
              <a:rPr lang="zh-CN" altLang="en-US" sz="1100" dirty="0">
                <a:solidFill>
                  <a:srgbClr val="000080"/>
                </a:solidFill>
                <a:latin typeface="黑体" pitchFamily="2" charset="-122"/>
                <a:ea typeface="黑体" pitchFamily="2" charset="-122"/>
              </a:rPr>
              <a:t> </a:t>
            </a:r>
            <a:endParaRPr lang="zh-CN" altLang="en-US" b="0" dirty="0">
              <a:solidFill>
                <a:srgbClr val="000080"/>
              </a:solidFill>
              <a:latin typeface="黑体" pitchFamily="2" charset="-122"/>
              <a:ea typeface="黑体" pitchFamily="2" charset="-122"/>
            </a:endParaRPr>
          </a:p>
        </p:txBody>
      </p:sp>
      <p:sp>
        <p:nvSpPr>
          <p:cNvPr id="479245" name="Rectangle 13"/>
          <p:cNvSpPr>
            <a:spLocks noChangeArrowheads="1"/>
          </p:cNvSpPr>
          <p:nvPr/>
        </p:nvSpPr>
        <p:spPr bwMode="auto">
          <a:xfrm>
            <a:off x="0" y="3437959"/>
            <a:ext cx="9144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17. 微型计算机的发展以</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技术为标志。</a:t>
            </a:r>
            <a:endParaRPr lang="zh-CN" altLang="en-US" sz="1000" dirty="0">
              <a:solidFill>
                <a:srgbClr val="000080"/>
              </a:solidFill>
              <a:latin typeface="黑体" pitchFamily="2" charset="-122"/>
              <a:ea typeface="黑体" pitchFamily="2" charset="-122"/>
            </a:endParaRPr>
          </a:p>
          <a:p>
            <a:pPr eaLnBrk="0" hangingPunct="0">
              <a:lnSpc>
                <a:spcPct val="100000"/>
              </a:lnSpc>
              <a:spcBef>
                <a:spcPct val="0"/>
              </a:spcBef>
              <a:buClrTx/>
              <a:buFontTx/>
              <a:buNone/>
              <a:tabLst>
                <a:tab pos="228600" algn="l"/>
              </a:tabLst>
            </a:pP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A. </a:t>
            </a:r>
            <a:r>
              <a:rPr lang="zh-CN" altLang="en-US" sz="1800" dirty="0">
                <a:solidFill>
                  <a:srgbClr val="000080"/>
                </a:solidFill>
                <a:latin typeface="黑体" pitchFamily="2" charset="-122"/>
                <a:ea typeface="黑体" pitchFamily="2" charset="-122"/>
              </a:rPr>
              <a:t>操作系统  </a:t>
            </a:r>
            <a:r>
              <a:rPr lang="en-US" altLang="zh-CN" sz="1800" dirty="0">
                <a:solidFill>
                  <a:srgbClr val="000080"/>
                </a:solidFill>
                <a:latin typeface="黑体" pitchFamily="2" charset="-122"/>
                <a:ea typeface="黑体" pitchFamily="2" charset="-122"/>
              </a:rPr>
              <a:t>B. </a:t>
            </a:r>
            <a:r>
              <a:rPr lang="zh-CN" altLang="en-US" sz="1800" dirty="0">
                <a:solidFill>
                  <a:srgbClr val="000080"/>
                </a:solidFill>
                <a:latin typeface="黑体" pitchFamily="2" charset="-122"/>
                <a:ea typeface="黑体" pitchFamily="2" charset="-122"/>
              </a:rPr>
              <a:t>微处理器  </a:t>
            </a:r>
            <a:r>
              <a:rPr lang="en-US" altLang="zh-CN" sz="1800" dirty="0">
                <a:solidFill>
                  <a:srgbClr val="000080"/>
                </a:solidFill>
                <a:latin typeface="黑体" pitchFamily="2" charset="-122"/>
                <a:ea typeface="黑体" pitchFamily="2" charset="-122"/>
              </a:rPr>
              <a:t>C. </a:t>
            </a:r>
            <a:r>
              <a:rPr lang="zh-CN" altLang="en-US" sz="1800" dirty="0">
                <a:solidFill>
                  <a:srgbClr val="000080"/>
                </a:solidFill>
                <a:latin typeface="黑体" pitchFamily="2" charset="-122"/>
                <a:ea typeface="黑体" pitchFamily="2" charset="-122"/>
              </a:rPr>
              <a:t>磁盘  </a:t>
            </a:r>
            <a:r>
              <a:rPr lang="en-US" altLang="zh-CN" sz="1800" dirty="0">
                <a:solidFill>
                  <a:srgbClr val="000080"/>
                </a:solidFill>
                <a:latin typeface="黑体" pitchFamily="2" charset="-122"/>
                <a:ea typeface="黑体" pitchFamily="2" charset="-122"/>
              </a:rPr>
              <a:t>D. </a:t>
            </a:r>
            <a:r>
              <a:rPr lang="zh-CN" altLang="en-US" sz="1800" dirty="0">
                <a:solidFill>
                  <a:srgbClr val="000080"/>
                </a:solidFill>
                <a:latin typeface="黑体" pitchFamily="2" charset="-122"/>
                <a:ea typeface="黑体" pitchFamily="2" charset="-122"/>
              </a:rPr>
              <a:t>软件</a:t>
            </a:r>
            <a:r>
              <a:rPr lang="zh-CN" altLang="en-US" sz="1100" dirty="0">
                <a:solidFill>
                  <a:srgbClr val="000080"/>
                </a:solidFill>
                <a:latin typeface="黑体" pitchFamily="2" charset="-122"/>
                <a:ea typeface="黑体" pitchFamily="2" charset="-122"/>
              </a:rPr>
              <a:t> </a:t>
            </a:r>
            <a:endParaRPr lang="zh-CN" altLang="en-US" b="0" dirty="0">
              <a:solidFill>
                <a:srgbClr val="000080"/>
              </a:solidFill>
              <a:latin typeface="黑体" pitchFamily="2" charset="-122"/>
              <a:ea typeface="黑体" pitchFamily="2" charset="-122"/>
            </a:endParaRPr>
          </a:p>
        </p:txBody>
      </p:sp>
      <p:sp>
        <p:nvSpPr>
          <p:cNvPr id="479246" name="Rectangle 14"/>
          <p:cNvSpPr>
            <a:spLocks noChangeArrowheads="1"/>
          </p:cNvSpPr>
          <p:nvPr/>
        </p:nvSpPr>
        <p:spPr bwMode="auto">
          <a:xfrm>
            <a:off x="0" y="4266634"/>
            <a:ext cx="9144000" cy="955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333500" indent="-1333500" algn="just">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18. 电子计算机技术在约六十年中虽有很大的进步，但至今其运行仍遵循着一位科学家提出的基本原理。这位科学家是</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endParaRPr lang="zh-CN" altLang="en-US" sz="1000" dirty="0">
              <a:solidFill>
                <a:srgbClr val="000080"/>
              </a:solidFill>
              <a:latin typeface="黑体" pitchFamily="2" charset="-122"/>
              <a:ea typeface="黑体" pitchFamily="2" charset="-122"/>
            </a:endParaRPr>
          </a:p>
          <a:p>
            <a:pPr marL="1333500" indent="-1333500" eaLnBrk="0" hangingPunct="0">
              <a:lnSpc>
                <a:spcPct val="130000"/>
              </a:lnSpc>
              <a:spcBef>
                <a:spcPct val="0"/>
              </a:spcBef>
              <a:buClrTx/>
              <a:buFontTx/>
              <a:buNone/>
              <a:tabLst>
                <a:tab pos="228600" algn="l"/>
              </a:tabLst>
            </a:pP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A. </a:t>
            </a:r>
            <a:r>
              <a:rPr lang="zh-CN" altLang="en-US" sz="1800" dirty="0">
                <a:solidFill>
                  <a:srgbClr val="000080"/>
                </a:solidFill>
                <a:latin typeface="黑体" pitchFamily="2" charset="-122"/>
                <a:ea typeface="黑体" pitchFamily="2" charset="-122"/>
              </a:rPr>
              <a:t>牛顿  </a:t>
            </a:r>
            <a:r>
              <a:rPr lang="en-US" altLang="zh-CN" sz="1800" dirty="0">
                <a:solidFill>
                  <a:srgbClr val="000080"/>
                </a:solidFill>
                <a:latin typeface="黑体" pitchFamily="2" charset="-122"/>
                <a:ea typeface="黑体" pitchFamily="2" charset="-122"/>
              </a:rPr>
              <a:t>B. </a:t>
            </a:r>
            <a:r>
              <a:rPr lang="zh-CN" altLang="en-US" sz="1800" dirty="0">
                <a:solidFill>
                  <a:srgbClr val="000080"/>
                </a:solidFill>
                <a:latin typeface="黑体" pitchFamily="2" charset="-122"/>
                <a:ea typeface="黑体" pitchFamily="2" charset="-122"/>
              </a:rPr>
              <a:t>爱因斯坦  </a:t>
            </a:r>
            <a:r>
              <a:rPr lang="en-US" altLang="zh-CN" sz="1800" dirty="0">
                <a:solidFill>
                  <a:srgbClr val="000080"/>
                </a:solidFill>
                <a:latin typeface="黑体" pitchFamily="2" charset="-122"/>
                <a:ea typeface="黑体" pitchFamily="2" charset="-122"/>
              </a:rPr>
              <a:t>C. </a:t>
            </a:r>
            <a:r>
              <a:rPr lang="zh-CN" altLang="en-US" sz="1800" dirty="0">
                <a:solidFill>
                  <a:srgbClr val="000080"/>
                </a:solidFill>
                <a:latin typeface="黑体" pitchFamily="2" charset="-122"/>
                <a:ea typeface="黑体" pitchFamily="2" charset="-122"/>
              </a:rPr>
              <a:t>爱迪生  </a:t>
            </a:r>
            <a:r>
              <a:rPr lang="en-US" altLang="zh-CN" sz="1800" dirty="0">
                <a:solidFill>
                  <a:srgbClr val="000080"/>
                </a:solidFill>
                <a:latin typeface="黑体" pitchFamily="2" charset="-122"/>
                <a:ea typeface="黑体" pitchFamily="2" charset="-122"/>
              </a:rPr>
              <a:t>D. </a:t>
            </a:r>
            <a:r>
              <a:rPr lang="zh-CN" altLang="en-US" sz="1800" dirty="0">
                <a:solidFill>
                  <a:srgbClr val="000080"/>
                </a:solidFill>
                <a:latin typeface="黑体" pitchFamily="2" charset="-122"/>
                <a:ea typeface="黑体" pitchFamily="2" charset="-122"/>
              </a:rPr>
              <a:t>冯·诺依曼</a:t>
            </a:r>
            <a:r>
              <a:rPr lang="zh-CN" altLang="en-US" sz="1100" dirty="0">
                <a:solidFill>
                  <a:srgbClr val="000080"/>
                </a:solidFill>
                <a:latin typeface="黑体" pitchFamily="2" charset="-122"/>
                <a:ea typeface="黑体" pitchFamily="2" charset="-122"/>
              </a:rPr>
              <a:t> </a:t>
            </a:r>
            <a:endParaRPr lang="zh-CN" altLang="en-US" b="0" dirty="0">
              <a:solidFill>
                <a:srgbClr val="000080"/>
              </a:solidFill>
              <a:latin typeface="黑体" pitchFamily="2" charset="-122"/>
              <a:ea typeface="黑体"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461713558"/>
              </p:ext>
            </p:extLst>
          </p:nvPr>
        </p:nvGraphicFramePr>
        <p:xfrm>
          <a:off x="758825" y="425450"/>
          <a:ext cx="7096125" cy="946150"/>
        </p:xfrm>
        <a:graphic>
          <a:graphicData uri="http://schemas.openxmlformats.org/presentationml/2006/ole">
            <mc:AlternateContent xmlns:mc="http://schemas.openxmlformats.org/markup-compatibility/2006">
              <mc:Choice xmlns:v="urn:schemas-microsoft-com:vml" Requires="v">
                <p:oleObj name="Document" r:id="rId2" imgW="6783613" imgH="906112" progId="Word.Document.8">
                  <p:embed/>
                </p:oleObj>
              </mc:Choice>
              <mc:Fallback>
                <p:oleObj name="Document" r:id="rId2" imgW="6783613" imgH="906112" progId="Word.Document.8">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825" y="425450"/>
                        <a:ext cx="70961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Rectangle 10">
            <a:extLst>
              <a:ext uri="{FF2B5EF4-FFF2-40B4-BE49-F238E27FC236}">
                <a16:creationId xmlns:a16="http://schemas.microsoft.com/office/drawing/2014/main" id="{AD13EB37-242E-5195-1903-643B069947D5}"/>
              </a:ext>
            </a:extLst>
          </p:cNvPr>
          <p:cNvSpPr>
            <a:spLocks noChangeArrowheads="1"/>
          </p:cNvSpPr>
          <p:nvPr/>
        </p:nvSpPr>
        <p:spPr bwMode="auto">
          <a:xfrm>
            <a:off x="205483" y="5283324"/>
            <a:ext cx="9144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1</a:t>
            </a:r>
            <a:r>
              <a:rPr lang="en-US" altLang="zh-CN" sz="1800" dirty="0">
                <a:solidFill>
                  <a:srgbClr val="000080"/>
                </a:solidFill>
                <a:latin typeface="黑体" pitchFamily="2" charset="-122"/>
                <a:ea typeface="黑体" pitchFamily="2" charset="-122"/>
              </a:rPr>
              <a:t>9</a:t>
            </a:r>
            <a:r>
              <a:rPr lang="zh-CN" altLang="en-US" sz="1800" dirty="0">
                <a:solidFill>
                  <a:srgbClr val="000080"/>
                </a:solidFill>
                <a:latin typeface="黑体" pitchFamily="2" charset="-122"/>
                <a:ea typeface="黑体" pitchFamily="2" charset="-122"/>
              </a:rPr>
              <a:t>.计算机在取指令时所要取的指令的地址是由</a:t>
            </a:r>
            <a:r>
              <a:rPr lang="en-US" altLang="zh-CN" sz="1800" dirty="0">
                <a:solidFill>
                  <a:srgbClr val="000080"/>
                </a:solidFill>
                <a:latin typeface="黑体" pitchFamily="2" charset="-122"/>
                <a:ea typeface="黑体" pitchFamily="2" charset="-122"/>
              </a:rPr>
              <a:t>_____</a:t>
            </a:r>
            <a:r>
              <a:rPr lang="zh-CN" altLang="en-US" sz="1800" dirty="0">
                <a:solidFill>
                  <a:srgbClr val="000080"/>
                </a:solidFill>
                <a:latin typeface="黑体" pitchFamily="2" charset="-122"/>
                <a:ea typeface="黑体" pitchFamily="2" charset="-122"/>
              </a:rPr>
              <a:t>的值来确定的。 </a:t>
            </a:r>
            <a:endParaRPr lang="en-US" altLang="zh-CN" sz="1800" dirty="0">
              <a:solidFill>
                <a:srgbClr val="000080"/>
              </a:solidFill>
              <a:latin typeface="黑体" pitchFamily="2" charset="-122"/>
              <a:ea typeface="黑体" pitchFamily="2" charset="-122"/>
            </a:endParaRPr>
          </a:p>
          <a:p>
            <a:pPr algn="just">
              <a:lnSpc>
                <a:spcPct val="100000"/>
              </a:lnSpc>
              <a:spcBef>
                <a:spcPct val="0"/>
              </a:spcBef>
              <a:buClrTx/>
              <a:buFontTx/>
              <a:buNone/>
              <a:tabLst>
                <a:tab pos="228600" algn="l"/>
              </a:tabLst>
            </a:pPr>
            <a:r>
              <a:rPr lang="en-US" altLang="zh-CN" sz="1800" dirty="0">
                <a:solidFill>
                  <a:srgbClr val="000080"/>
                </a:solidFill>
                <a:latin typeface="黑体" pitchFamily="2" charset="-122"/>
                <a:ea typeface="黑体" pitchFamily="2" charset="-122"/>
              </a:rPr>
              <a:t>    A. </a:t>
            </a:r>
            <a:r>
              <a:rPr lang="zh-CN" altLang="en-US" sz="1800" dirty="0">
                <a:solidFill>
                  <a:srgbClr val="000080"/>
                </a:solidFill>
                <a:latin typeface="黑体" pitchFamily="2" charset="-122"/>
                <a:ea typeface="黑体" pitchFamily="2" charset="-122"/>
              </a:rPr>
              <a:t>程序计数器</a:t>
            </a:r>
            <a:r>
              <a:rPr lang="en-US" altLang="zh-CN" sz="1800" dirty="0">
                <a:solidFill>
                  <a:srgbClr val="000080"/>
                </a:solidFill>
                <a:latin typeface="黑体" pitchFamily="2" charset="-122"/>
                <a:ea typeface="黑体" pitchFamily="2" charset="-122"/>
              </a:rPr>
              <a:t>PC   B. </a:t>
            </a:r>
            <a:r>
              <a:rPr lang="zh-CN" altLang="en-US" sz="1800" dirty="0">
                <a:solidFill>
                  <a:srgbClr val="000080"/>
                </a:solidFill>
                <a:latin typeface="黑体" pitchFamily="2" charset="-122"/>
                <a:ea typeface="黑体" pitchFamily="2" charset="-122"/>
              </a:rPr>
              <a:t>指令寄存器</a:t>
            </a:r>
            <a:r>
              <a:rPr lang="en-US" altLang="zh-CN" sz="1800" dirty="0">
                <a:solidFill>
                  <a:srgbClr val="000080"/>
                </a:solidFill>
                <a:latin typeface="黑体" pitchFamily="2" charset="-122"/>
                <a:ea typeface="黑体" pitchFamily="2" charset="-122"/>
              </a:rPr>
              <a:t>IR    C. </a:t>
            </a:r>
            <a:r>
              <a:rPr lang="zh-CN" altLang="en-US" sz="1800" dirty="0">
                <a:solidFill>
                  <a:srgbClr val="000080"/>
                </a:solidFill>
                <a:latin typeface="黑体" pitchFamily="2" charset="-122"/>
                <a:ea typeface="黑体" pitchFamily="2" charset="-122"/>
              </a:rPr>
              <a:t>累加器   </a:t>
            </a:r>
            <a:r>
              <a:rPr lang="en-US" altLang="zh-CN" sz="1800" dirty="0">
                <a:solidFill>
                  <a:srgbClr val="000080"/>
                </a:solidFill>
                <a:latin typeface="黑体" pitchFamily="2" charset="-122"/>
                <a:ea typeface="黑体" pitchFamily="2" charset="-122"/>
              </a:rPr>
              <a:t>D. </a:t>
            </a:r>
            <a:r>
              <a:rPr lang="zh-CN" altLang="en-US" sz="1800" dirty="0">
                <a:solidFill>
                  <a:srgbClr val="000080"/>
                </a:solidFill>
                <a:latin typeface="黑体" pitchFamily="2" charset="-122"/>
                <a:ea typeface="黑体" pitchFamily="2" charset="-122"/>
              </a:rPr>
              <a:t>变址寄存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79243"/>
                                        </p:tgtEl>
                                        <p:attrNameLst>
                                          <p:attrName>style.visibility</p:attrName>
                                        </p:attrNameLst>
                                      </p:cBhvr>
                                      <p:to>
                                        <p:strVal val="visible"/>
                                      </p:to>
                                    </p:set>
                                    <p:animEffect transition="in" filter="wipe(up)">
                                      <p:cBhvr>
                                        <p:cTn id="7" dur="500"/>
                                        <p:tgtEl>
                                          <p:spTgt spid="4792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79244"/>
                                        </p:tgtEl>
                                        <p:attrNameLst>
                                          <p:attrName>style.visibility</p:attrName>
                                        </p:attrNameLst>
                                      </p:cBhvr>
                                      <p:to>
                                        <p:strVal val="visible"/>
                                      </p:to>
                                    </p:set>
                                    <p:animEffect transition="in" filter="wipe(up)">
                                      <p:cBhvr>
                                        <p:cTn id="12" dur="500"/>
                                        <p:tgtEl>
                                          <p:spTgt spid="4792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79245"/>
                                        </p:tgtEl>
                                        <p:attrNameLst>
                                          <p:attrName>style.visibility</p:attrName>
                                        </p:attrNameLst>
                                      </p:cBhvr>
                                      <p:to>
                                        <p:strVal val="visible"/>
                                      </p:to>
                                    </p:set>
                                    <p:animEffect transition="in" filter="wipe(up)">
                                      <p:cBhvr>
                                        <p:cTn id="17" dur="500"/>
                                        <p:tgtEl>
                                          <p:spTgt spid="47924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79246"/>
                                        </p:tgtEl>
                                        <p:attrNameLst>
                                          <p:attrName>style.visibility</p:attrName>
                                        </p:attrNameLst>
                                      </p:cBhvr>
                                      <p:to>
                                        <p:strVal val="visible"/>
                                      </p:to>
                                    </p:set>
                                    <p:animEffect transition="in" filter="wipe(up)">
                                      <p:cBhvr>
                                        <p:cTn id="22" dur="500"/>
                                        <p:tgtEl>
                                          <p:spTgt spid="47924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243" grpId="0" autoUpdateAnimBg="0"/>
      <p:bldP spid="479244" grpId="0" autoUpdateAnimBg="0"/>
      <p:bldP spid="479245" grpId="0" autoUpdateAnimBg="0"/>
      <p:bldP spid="479246" grpId="0" autoUpdateAnimBg="0"/>
      <p:bldP spid="4"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54046-F737-B164-5593-F3CD54437279}"/>
            </a:ext>
          </a:extLst>
        </p:cNvPr>
        <p:cNvGrpSpPr/>
        <p:nvPr/>
      </p:nvGrpSpPr>
      <p:grpSpPr>
        <a:xfrm>
          <a:off x="0" y="0"/>
          <a:ext cx="0" cy="0"/>
          <a:chOff x="0" y="0"/>
          <a:chExt cx="0" cy="0"/>
        </a:xfrm>
      </p:grpSpPr>
      <p:sp>
        <p:nvSpPr>
          <p:cNvPr id="479243" name="Rectangle 11">
            <a:extLst>
              <a:ext uri="{FF2B5EF4-FFF2-40B4-BE49-F238E27FC236}">
                <a16:creationId xmlns:a16="http://schemas.microsoft.com/office/drawing/2014/main" id="{5F970CEE-0EC5-E94E-877B-3F885E44EFCE}"/>
              </a:ext>
            </a:extLst>
          </p:cNvPr>
          <p:cNvSpPr>
            <a:spLocks noChangeArrowheads="1"/>
          </p:cNvSpPr>
          <p:nvPr/>
        </p:nvSpPr>
        <p:spPr bwMode="auto">
          <a:xfrm>
            <a:off x="0" y="1345634"/>
            <a:ext cx="91440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20</a:t>
            </a: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a:t>
            </a:r>
            <a:r>
              <a:rPr lang="zh-CN" altLang="zh-CN" sz="1800" dirty="0">
                <a:solidFill>
                  <a:srgbClr val="000080"/>
                </a:solidFill>
                <a:latin typeface="黑体" pitchFamily="2" charset="-122"/>
                <a:ea typeface="黑体" pitchFamily="2" charset="-122"/>
              </a:rPr>
              <a:t>下列属于冯•诺依曼计算机的核心思想是</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endParaRPr lang="zh-CN" altLang="en-US" sz="1000" dirty="0">
              <a:solidFill>
                <a:srgbClr val="000080"/>
              </a:solidFill>
              <a:latin typeface="黑体" pitchFamily="2" charset="-122"/>
              <a:ea typeface="黑体" pitchFamily="2" charset="-122"/>
            </a:endParaRPr>
          </a:p>
          <a:p>
            <a:pPr algn="just" eaLnBrk="0" hangingPunct="0">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A.</a:t>
            </a:r>
            <a:r>
              <a:rPr lang="zh-CN" altLang="en-US" sz="1800" dirty="0">
                <a:solidFill>
                  <a:srgbClr val="000080"/>
                </a:solidFill>
                <a:latin typeface="黑体" pitchFamily="2" charset="-122"/>
                <a:ea typeface="黑体" pitchFamily="2" charset="-122"/>
              </a:rPr>
              <a:t>采用补码   </a:t>
            </a:r>
            <a:r>
              <a:rPr lang="en-US" altLang="zh-CN" sz="1800" dirty="0">
                <a:solidFill>
                  <a:srgbClr val="000080"/>
                </a:solidFill>
                <a:latin typeface="黑体" pitchFamily="2" charset="-122"/>
                <a:ea typeface="黑体" pitchFamily="2" charset="-122"/>
              </a:rPr>
              <a:t>B.</a:t>
            </a:r>
            <a:r>
              <a:rPr lang="zh-CN" altLang="en-US" sz="1800" dirty="0">
                <a:solidFill>
                  <a:srgbClr val="000080"/>
                </a:solidFill>
                <a:latin typeface="黑体" pitchFamily="2" charset="-122"/>
                <a:ea typeface="黑体" pitchFamily="2" charset="-122"/>
              </a:rPr>
              <a:t>存储器按地址访问   </a:t>
            </a:r>
            <a:endParaRPr lang="zh-CN" altLang="en-US" sz="1000" dirty="0">
              <a:solidFill>
                <a:srgbClr val="000080"/>
              </a:solidFill>
              <a:latin typeface="黑体" pitchFamily="2" charset="-122"/>
              <a:ea typeface="黑体" pitchFamily="2" charset="-122"/>
            </a:endParaRPr>
          </a:p>
          <a:p>
            <a:pPr eaLnBrk="0" hangingPunct="0">
              <a:lnSpc>
                <a:spcPct val="100000"/>
              </a:lnSpc>
              <a:spcBef>
                <a:spcPct val="0"/>
              </a:spcBef>
              <a:buClrTx/>
              <a:buFontTx/>
              <a:buNone/>
              <a:tabLst>
                <a:tab pos="228600" algn="l"/>
              </a:tabLst>
            </a:pP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C.</a:t>
            </a:r>
            <a:r>
              <a:rPr lang="zh-CN" altLang="en-US" sz="1800" dirty="0">
                <a:solidFill>
                  <a:srgbClr val="000080"/>
                </a:solidFill>
                <a:latin typeface="黑体" pitchFamily="2" charset="-122"/>
                <a:ea typeface="黑体" pitchFamily="2" charset="-122"/>
              </a:rPr>
              <a:t>采用总线   </a:t>
            </a:r>
            <a:r>
              <a:rPr lang="en-US" altLang="zh-CN" sz="1800" dirty="0">
                <a:solidFill>
                  <a:srgbClr val="000080"/>
                </a:solidFill>
                <a:latin typeface="黑体" pitchFamily="2" charset="-122"/>
                <a:ea typeface="黑体" pitchFamily="2" charset="-122"/>
              </a:rPr>
              <a:t>D.</a:t>
            </a:r>
            <a:r>
              <a:rPr lang="zh-CN" altLang="en-US" sz="1800" dirty="0">
                <a:solidFill>
                  <a:srgbClr val="000080"/>
                </a:solidFill>
                <a:latin typeface="黑体" pitchFamily="2" charset="-122"/>
                <a:ea typeface="黑体" pitchFamily="2" charset="-122"/>
              </a:rPr>
              <a:t>存储程序和程序控制</a:t>
            </a:r>
            <a:endParaRPr lang="zh-CN" altLang="en-US" b="0" dirty="0">
              <a:solidFill>
                <a:srgbClr val="000080"/>
              </a:solidFill>
              <a:latin typeface="黑体" pitchFamily="2" charset="-122"/>
              <a:ea typeface="黑体" pitchFamily="2" charset="-122"/>
            </a:endParaRPr>
          </a:p>
        </p:txBody>
      </p:sp>
      <p:sp>
        <p:nvSpPr>
          <p:cNvPr id="479244" name="Rectangle 12">
            <a:extLst>
              <a:ext uri="{FF2B5EF4-FFF2-40B4-BE49-F238E27FC236}">
                <a16:creationId xmlns:a16="http://schemas.microsoft.com/office/drawing/2014/main" id="{166C7251-4E82-AD54-2542-08D1C2760D58}"/>
              </a:ext>
            </a:extLst>
          </p:cNvPr>
          <p:cNvSpPr>
            <a:spLocks noChangeArrowheads="1"/>
          </p:cNvSpPr>
          <p:nvPr/>
        </p:nvSpPr>
        <p:spPr bwMode="auto">
          <a:xfrm>
            <a:off x="0" y="2387034"/>
            <a:ext cx="91440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21</a:t>
            </a:r>
            <a:r>
              <a:rPr lang="zh-CN" altLang="en-US" sz="1800" dirty="0">
                <a:solidFill>
                  <a:srgbClr val="000080"/>
                </a:solidFill>
                <a:latin typeface="黑体" pitchFamily="2" charset="-122"/>
                <a:ea typeface="黑体" pitchFamily="2" charset="-122"/>
              </a:rPr>
              <a:t>．下列说法中，错误的是</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endParaRPr lang="zh-CN" altLang="en-US" sz="1000" dirty="0">
              <a:solidFill>
                <a:srgbClr val="000080"/>
              </a:solidFill>
              <a:latin typeface="黑体" pitchFamily="2" charset="-122"/>
              <a:ea typeface="黑体" pitchFamily="2" charset="-122"/>
            </a:endParaRPr>
          </a:p>
          <a:p>
            <a:pPr algn="just" eaLnBrk="0" hangingPunct="0">
              <a:lnSpc>
                <a:spcPct val="100000"/>
              </a:lnSpc>
              <a:spcBef>
                <a:spcPct val="0"/>
              </a:spcBef>
              <a:buClrTx/>
              <a:buFontTx/>
              <a:buNone/>
              <a:tabLst>
                <a:tab pos="228600" algn="l"/>
              </a:tabLst>
            </a:pPr>
            <a:r>
              <a:rPr lang="zh-CN" altLang="en-US" sz="18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A.</a:t>
            </a:r>
            <a:r>
              <a:rPr lang="zh-CN" altLang="en-US" sz="1800" dirty="0">
                <a:solidFill>
                  <a:srgbClr val="000080"/>
                </a:solidFill>
                <a:latin typeface="黑体" pitchFamily="2" charset="-122"/>
                <a:ea typeface="黑体" pitchFamily="2" charset="-122"/>
              </a:rPr>
              <a:t>寄存器的数据位对微程序级用户透明        </a:t>
            </a:r>
            <a:endParaRPr lang="en-US" altLang="zh-CN" sz="1800" dirty="0">
              <a:solidFill>
                <a:srgbClr val="000080"/>
              </a:solidFill>
              <a:latin typeface="黑体" pitchFamily="2" charset="-122"/>
              <a:ea typeface="黑体" pitchFamily="2" charset="-122"/>
            </a:endParaRPr>
          </a:p>
          <a:p>
            <a:pPr algn="just" eaLnBrk="0" hangingPunct="0">
              <a:lnSpc>
                <a:spcPct val="100000"/>
              </a:lnSpc>
              <a:spcBef>
                <a:spcPct val="0"/>
              </a:spcBef>
              <a:buClrTx/>
              <a:buFontTx/>
              <a:buNone/>
              <a:tabLst>
                <a:tab pos="228600" algn="l"/>
              </a:tabLst>
            </a:pPr>
            <a:r>
              <a:rPr lang="en-US" altLang="zh-CN" sz="1800" dirty="0">
                <a:solidFill>
                  <a:srgbClr val="000080"/>
                </a:solidFill>
                <a:latin typeface="黑体" pitchFamily="2" charset="-122"/>
                <a:ea typeface="黑体" pitchFamily="2" charset="-122"/>
              </a:rPr>
              <a:t>       B.</a:t>
            </a:r>
            <a:r>
              <a:rPr lang="zh-CN" altLang="en-US" sz="1800" dirty="0">
                <a:solidFill>
                  <a:srgbClr val="000080"/>
                </a:solidFill>
                <a:latin typeface="黑体" pitchFamily="2" charset="-122"/>
                <a:ea typeface="黑体" pitchFamily="2" charset="-122"/>
              </a:rPr>
              <a:t>软件与硬件具有逻辑功能的等价性</a:t>
            </a:r>
          </a:p>
          <a:p>
            <a:pPr algn="just" eaLnBrk="0" hangingPunct="0">
              <a:lnSpc>
                <a:spcPct val="100000"/>
              </a:lnSpc>
              <a:spcBef>
                <a:spcPct val="0"/>
              </a:spcBef>
              <a:buClrTx/>
              <a:buFontTx/>
              <a:buNone/>
              <a:tabLst>
                <a:tab pos="228600" algn="l"/>
              </a:tabLst>
            </a:pPr>
            <a:r>
              <a:rPr lang="en-US" altLang="zh-CN" sz="1800" dirty="0">
                <a:solidFill>
                  <a:srgbClr val="000080"/>
                </a:solidFill>
                <a:latin typeface="黑体" pitchFamily="2" charset="-122"/>
                <a:ea typeface="黑体" pitchFamily="2" charset="-122"/>
              </a:rPr>
              <a:t>       C.</a:t>
            </a:r>
            <a:r>
              <a:rPr lang="zh-CN" altLang="en-US" sz="1800" dirty="0">
                <a:solidFill>
                  <a:srgbClr val="000080"/>
                </a:solidFill>
                <a:latin typeface="黑体" pitchFamily="2" charset="-122"/>
                <a:ea typeface="黑体" pitchFamily="2" charset="-122"/>
              </a:rPr>
              <a:t>计算机系统层次结构中，微程序属于硬件级  </a:t>
            </a:r>
            <a:endParaRPr lang="en-US" altLang="zh-CN" sz="1800" dirty="0">
              <a:solidFill>
                <a:srgbClr val="000080"/>
              </a:solidFill>
              <a:latin typeface="黑体" pitchFamily="2" charset="-122"/>
              <a:ea typeface="黑体" pitchFamily="2" charset="-122"/>
            </a:endParaRPr>
          </a:p>
          <a:p>
            <a:pPr algn="just" eaLnBrk="0" hangingPunct="0">
              <a:lnSpc>
                <a:spcPct val="100000"/>
              </a:lnSpc>
              <a:spcBef>
                <a:spcPct val="0"/>
              </a:spcBef>
              <a:buClrTx/>
              <a:buFontTx/>
              <a:buNone/>
              <a:tabLst>
                <a:tab pos="228600" algn="l"/>
              </a:tabLst>
            </a:pPr>
            <a:r>
              <a:rPr lang="en-US" altLang="zh-CN" sz="1800" dirty="0">
                <a:solidFill>
                  <a:srgbClr val="000080"/>
                </a:solidFill>
                <a:latin typeface="黑体" pitchFamily="2" charset="-122"/>
                <a:ea typeface="黑体" pitchFamily="2" charset="-122"/>
              </a:rPr>
              <a:t>       D.</a:t>
            </a:r>
            <a:r>
              <a:rPr lang="zh-CN" altLang="en-US" sz="1800" dirty="0">
                <a:solidFill>
                  <a:srgbClr val="000080"/>
                </a:solidFill>
                <a:latin typeface="黑体" pitchFamily="2" charset="-122"/>
                <a:ea typeface="黑体" pitchFamily="2" charset="-122"/>
              </a:rPr>
              <a:t>固件功能类似软件，形态类似硬件</a:t>
            </a:r>
          </a:p>
        </p:txBody>
      </p:sp>
      <p:sp>
        <p:nvSpPr>
          <p:cNvPr id="479245" name="Rectangle 13">
            <a:extLst>
              <a:ext uri="{FF2B5EF4-FFF2-40B4-BE49-F238E27FC236}">
                <a16:creationId xmlns:a16="http://schemas.microsoft.com/office/drawing/2014/main" id="{9A31869F-42DA-2423-A5B9-19BA60D7EB9D}"/>
              </a:ext>
            </a:extLst>
          </p:cNvPr>
          <p:cNvSpPr>
            <a:spLocks noChangeArrowheads="1"/>
          </p:cNvSpPr>
          <p:nvPr/>
        </p:nvSpPr>
        <p:spPr bwMode="auto">
          <a:xfrm>
            <a:off x="0" y="4035038"/>
            <a:ext cx="91440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22</a:t>
            </a:r>
            <a:r>
              <a:rPr lang="zh-CN" altLang="en-US" sz="1800" dirty="0">
                <a:solidFill>
                  <a:srgbClr val="000080"/>
                </a:solidFill>
                <a:latin typeface="黑体" pitchFamily="2" charset="-122"/>
                <a:ea typeface="黑体" pitchFamily="2" charset="-122"/>
              </a:rPr>
              <a:t>.（多选）‎‏下列关于计算机系统层次结构的描述中，正确的是</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a:t>
            </a:r>
            <a:endParaRPr lang="zh-CN" altLang="en-US" sz="1000" dirty="0">
              <a:solidFill>
                <a:srgbClr val="000080"/>
              </a:solidFill>
              <a:latin typeface="黑体" pitchFamily="2" charset="-122"/>
              <a:ea typeface="黑体" pitchFamily="2" charset="-122"/>
            </a:endParaRPr>
          </a:p>
          <a:p>
            <a:pPr eaLnBrk="0" hangingPunct="0">
              <a:lnSpc>
                <a:spcPct val="100000"/>
              </a:lnSpc>
              <a:spcBef>
                <a:spcPct val="0"/>
              </a:spcBef>
              <a:buClrTx/>
              <a:buFontTx/>
              <a:buNone/>
              <a:tabLst>
                <a:tab pos="228600" algn="l"/>
              </a:tabLst>
            </a:pPr>
            <a:r>
              <a:rPr lang="en-US" altLang="zh-CN" sz="1800" dirty="0">
                <a:solidFill>
                  <a:srgbClr val="000080"/>
                </a:solidFill>
                <a:latin typeface="黑体" pitchFamily="2" charset="-122"/>
                <a:ea typeface="黑体" pitchFamily="2" charset="-122"/>
              </a:rPr>
              <a:t>       A.</a:t>
            </a:r>
            <a:r>
              <a:rPr lang="zh-CN" altLang="en-US" sz="1800" dirty="0">
                <a:solidFill>
                  <a:srgbClr val="000080"/>
                </a:solidFill>
                <a:latin typeface="黑体" pitchFamily="2" charset="-122"/>
                <a:ea typeface="黑体" pitchFamily="2" charset="-122"/>
              </a:rPr>
              <a:t>低层用户对硬件的透明性比高层用户要低    </a:t>
            </a:r>
          </a:p>
          <a:p>
            <a:pPr eaLnBrk="0" hangingPunct="0">
              <a:lnSpc>
                <a:spcPct val="100000"/>
              </a:lnSpc>
              <a:spcBef>
                <a:spcPct val="0"/>
              </a:spcBef>
              <a:buClrTx/>
              <a:buFontTx/>
              <a:buNone/>
              <a:tabLst>
                <a:tab pos="228600" algn="l"/>
              </a:tabLst>
            </a:pPr>
            <a:r>
              <a:rPr lang="en-US" altLang="zh-CN" sz="1800" dirty="0">
                <a:solidFill>
                  <a:srgbClr val="000080"/>
                </a:solidFill>
                <a:latin typeface="黑体" pitchFamily="2" charset="-122"/>
                <a:ea typeface="黑体" pitchFamily="2" charset="-122"/>
              </a:rPr>
              <a:t>       B.</a:t>
            </a:r>
            <a:r>
              <a:rPr lang="zh-CN" altLang="en-US" sz="1800" dirty="0">
                <a:solidFill>
                  <a:srgbClr val="000080"/>
                </a:solidFill>
                <a:latin typeface="黑体" pitchFamily="2" charset="-122"/>
                <a:ea typeface="黑体" pitchFamily="2" charset="-122"/>
              </a:rPr>
              <a:t>不同层次面向不同用户，看到计算机的属性不同</a:t>
            </a:r>
          </a:p>
          <a:p>
            <a:pPr eaLnBrk="0" hangingPunct="0">
              <a:lnSpc>
                <a:spcPct val="100000"/>
              </a:lnSpc>
              <a:spcBef>
                <a:spcPct val="0"/>
              </a:spcBef>
              <a:buClrTx/>
              <a:buFontTx/>
              <a:buNone/>
              <a:tabLst>
                <a:tab pos="228600" algn="l"/>
              </a:tabLst>
            </a:pPr>
            <a:r>
              <a:rPr lang="en-US" altLang="zh-CN" sz="1800" dirty="0">
                <a:solidFill>
                  <a:srgbClr val="000080"/>
                </a:solidFill>
                <a:latin typeface="黑体" pitchFamily="2" charset="-122"/>
                <a:ea typeface="黑体" pitchFamily="2" charset="-122"/>
              </a:rPr>
              <a:t>       C.</a:t>
            </a:r>
            <a:r>
              <a:rPr lang="zh-CN" altLang="en-US" sz="1800" dirty="0">
                <a:solidFill>
                  <a:srgbClr val="000080"/>
                </a:solidFill>
                <a:latin typeface="黑体" pitchFamily="2" charset="-122"/>
                <a:ea typeface="黑体" pitchFamily="2" charset="-122"/>
              </a:rPr>
              <a:t>指令集架构层是软、硬件间的接口</a:t>
            </a:r>
          </a:p>
          <a:p>
            <a:pPr eaLnBrk="0" hangingPunct="0">
              <a:lnSpc>
                <a:spcPct val="100000"/>
              </a:lnSpc>
              <a:spcBef>
                <a:spcPct val="0"/>
              </a:spcBef>
              <a:buClrTx/>
              <a:buFontTx/>
              <a:buNone/>
              <a:tabLst>
                <a:tab pos="228600" algn="l"/>
              </a:tabLst>
            </a:pPr>
            <a:r>
              <a:rPr lang="en-US" altLang="zh-CN" sz="1800" dirty="0">
                <a:solidFill>
                  <a:srgbClr val="000080"/>
                </a:solidFill>
                <a:latin typeface="黑体" pitchFamily="2" charset="-122"/>
                <a:ea typeface="黑体" pitchFamily="2" charset="-122"/>
              </a:rPr>
              <a:t>       D.</a:t>
            </a:r>
            <a:r>
              <a:rPr lang="zh-CN" altLang="en-US" sz="1800" dirty="0">
                <a:solidFill>
                  <a:srgbClr val="000080"/>
                </a:solidFill>
                <a:latin typeface="黑体" pitchFamily="2" charset="-122"/>
                <a:ea typeface="黑体" pitchFamily="2" charset="-122"/>
              </a:rPr>
              <a:t>低层代码执行效率比高层代码执行效率高</a:t>
            </a:r>
          </a:p>
        </p:txBody>
      </p:sp>
      <p:graphicFrame>
        <p:nvGraphicFramePr>
          <p:cNvPr id="2" name="对象 1">
            <a:extLst>
              <a:ext uri="{FF2B5EF4-FFF2-40B4-BE49-F238E27FC236}">
                <a16:creationId xmlns:a16="http://schemas.microsoft.com/office/drawing/2014/main" id="{61082C56-59F0-6613-6024-427EB8149398}"/>
              </a:ext>
            </a:extLst>
          </p:cNvPr>
          <p:cNvGraphicFramePr>
            <a:graphicFrameLocks noChangeAspect="1"/>
          </p:cNvGraphicFramePr>
          <p:nvPr/>
        </p:nvGraphicFramePr>
        <p:xfrm>
          <a:off x="758825" y="425450"/>
          <a:ext cx="7096125" cy="946150"/>
        </p:xfrm>
        <a:graphic>
          <a:graphicData uri="http://schemas.openxmlformats.org/presentationml/2006/ole">
            <mc:AlternateContent xmlns:mc="http://schemas.openxmlformats.org/markup-compatibility/2006">
              <mc:Choice xmlns:v="urn:schemas-microsoft-com:vml" Requires="v">
                <p:oleObj name="Document" r:id="rId2" imgW="6783613" imgH="906112" progId="Word.Document.8">
                  <p:embed/>
                </p:oleObj>
              </mc:Choice>
              <mc:Fallback>
                <p:oleObj name="Document" r:id="rId2" imgW="6783613" imgH="906112" progId="Word.Document.8">
                  <p:embed/>
                  <p:pic>
                    <p:nvPicPr>
                      <p:cNvPr id="2" name="对象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825" y="425450"/>
                        <a:ext cx="70961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5204102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79243"/>
                                        </p:tgtEl>
                                        <p:attrNameLst>
                                          <p:attrName>style.visibility</p:attrName>
                                        </p:attrNameLst>
                                      </p:cBhvr>
                                      <p:to>
                                        <p:strVal val="visible"/>
                                      </p:to>
                                    </p:set>
                                    <p:animEffect transition="in" filter="wipe(up)">
                                      <p:cBhvr>
                                        <p:cTn id="7" dur="500"/>
                                        <p:tgtEl>
                                          <p:spTgt spid="4792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79244"/>
                                        </p:tgtEl>
                                        <p:attrNameLst>
                                          <p:attrName>style.visibility</p:attrName>
                                        </p:attrNameLst>
                                      </p:cBhvr>
                                      <p:to>
                                        <p:strVal val="visible"/>
                                      </p:to>
                                    </p:set>
                                    <p:animEffect transition="in" filter="wipe(up)">
                                      <p:cBhvr>
                                        <p:cTn id="12" dur="500"/>
                                        <p:tgtEl>
                                          <p:spTgt spid="4792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79245"/>
                                        </p:tgtEl>
                                        <p:attrNameLst>
                                          <p:attrName>style.visibility</p:attrName>
                                        </p:attrNameLst>
                                      </p:cBhvr>
                                      <p:to>
                                        <p:strVal val="visible"/>
                                      </p:to>
                                    </p:set>
                                    <p:animEffect transition="in" filter="wipe(up)">
                                      <p:cBhvr>
                                        <p:cTn id="17" dur="500"/>
                                        <p:tgtEl>
                                          <p:spTgt spid="479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243" grpId="0" autoUpdateAnimBg="0"/>
      <p:bldP spid="479244" grpId="0" autoUpdateAnimBg="0"/>
      <p:bldP spid="479245"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AD409-148D-E94C-A2D7-207697CE7932}"/>
            </a:ext>
          </a:extLst>
        </p:cNvPr>
        <p:cNvGrpSpPr/>
        <p:nvPr/>
      </p:nvGrpSpPr>
      <p:grpSpPr>
        <a:xfrm>
          <a:off x="0" y="0"/>
          <a:ext cx="0" cy="0"/>
          <a:chOff x="0" y="0"/>
          <a:chExt cx="0" cy="0"/>
        </a:xfrm>
      </p:grpSpPr>
      <p:sp>
        <p:nvSpPr>
          <p:cNvPr id="479243" name="Rectangle 11">
            <a:extLst>
              <a:ext uri="{FF2B5EF4-FFF2-40B4-BE49-F238E27FC236}">
                <a16:creationId xmlns:a16="http://schemas.microsoft.com/office/drawing/2014/main" id="{47BF1EC6-8FCD-EC1A-93C2-B1348EA4A296}"/>
              </a:ext>
            </a:extLst>
          </p:cNvPr>
          <p:cNvSpPr>
            <a:spLocks noChangeArrowheads="1"/>
          </p:cNvSpPr>
          <p:nvPr/>
        </p:nvSpPr>
        <p:spPr bwMode="auto">
          <a:xfrm>
            <a:off x="0" y="1345634"/>
            <a:ext cx="91440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23</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a:t>
            </a:r>
            <a:r>
              <a:rPr lang="zh-CN" altLang="en-US" sz="1800" dirty="0">
                <a:solidFill>
                  <a:srgbClr val="000080"/>
                </a:solidFill>
                <a:latin typeface="黑体" pitchFamily="2" charset="-122"/>
                <a:ea typeface="黑体" pitchFamily="2" charset="-122"/>
              </a:rPr>
              <a:t> （多选）下列关于硬件与软件关系的描述中，正确的是</a:t>
            </a:r>
          </a:p>
          <a:p>
            <a:pPr algn="just">
              <a:lnSpc>
                <a:spcPct val="100000"/>
              </a:lnSpc>
              <a:spcBef>
                <a:spcPct val="0"/>
              </a:spcBef>
              <a:buClrTx/>
              <a:buFontTx/>
              <a:buNone/>
              <a:tabLst>
                <a:tab pos="228600" algn="l"/>
              </a:tabLst>
            </a:pPr>
            <a:r>
              <a:rPr lang="en-US" altLang="zh-CN" sz="1800" dirty="0">
                <a:solidFill>
                  <a:srgbClr val="000080"/>
                </a:solidFill>
                <a:latin typeface="黑体" pitchFamily="2" charset="-122"/>
                <a:ea typeface="黑体" pitchFamily="2" charset="-122"/>
              </a:rPr>
              <a:t>         A. </a:t>
            </a:r>
            <a:r>
              <a:rPr lang="zh-CN" altLang="en-US" sz="1800" dirty="0">
                <a:solidFill>
                  <a:srgbClr val="000080"/>
                </a:solidFill>
                <a:latin typeface="黑体" pitchFamily="2" charset="-122"/>
                <a:ea typeface="黑体" pitchFamily="2" charset="-122"/>
              </a:rPr>
              <a:t>软件能完成的功能及性能与硬件有关   </a:t>
            </a:r>
          </a:p>
          <a:p>
            <a:pPr algn="just">
              <a:lnSpc>
                <a:spcPct val="100000"/>
              </a:lnSpc>
              <a:spcBef>
                <a:spcPct val="0"/>
              </a:spcBef>
              <a:buClrTx/>
              <a:buFontTx/>
              <a:buNone/>
              <a:tabLst>
                <a:tab pos="228600" algn="l"/>
              </a:tabLst>
            </a:pPr>
            <a:r>
              <a:rPr lang="en-US" altLang="zh-CN" sz="1800" dirty="0">
                <a:solidFill>
                  <a:srgbClr val="000080"/>
                </a:solidFill>
                <a:latin typeface="黑体" pitchFamily="2" charset="-122"/>
                <a:ea typeface="黑体" pitchFamily="2" charset="-122"/>
              </a:rPr>
              <a:t>         B. </a:t>
            </a:r>
            <a:r>
              <a:rPr lang="zh-CN" altLang="en-US" sz="1800" dirty="0">
                <a:solidFill>
                  <a:srgbClr val="000080"/>
                </a:solidFill>
                <a:latin typeface="黑体" pitchFamily="2" charset="-122"/>
                <a:ea typeface="黑体" pitchFamily="2" charset="-122"/>
              </a:rPr>
              <a:t>硬件是软件运行的基础</a:t>
            </a:r>
          </a:p>
          <a:p>
            <a:pPr algn="just">
              <a:lnSpc>
                <a:spcPct val="100000"/>
              </a:lnSpc>
              <a:spcBef>
                <a:spcPct val="0"/>
              </a:spcBef>
              <a:buClrTx/>
              <a:buFontTx/>
              <a:buNone/>
              <a:tabLst>
                <a:tab pos="228600" algn="l"/>
              </a:tabLst>
            </a:pPr>
            <a:r>
              <a:rPr lang="en-US" altLang="zh-CN" sz="1800" dirty="0">
                <a:solidFill>
                  <a:srgbClr val="000080"/>
                </a:solidFill>
                <a:latin typeface="黑体" pitchFamily="2" charset="-122"/>
                <a:ea typeface="黑体" pitchFamily="2" charset="-122"/>
              </a:rPr>
              <a:t>         C. </a:t>
            </a:r>
            <a:r>
              <a:rPr lang="zh-CN" altLang="en-US" sz="1800" dirty="0">
                <a:solidFill>
                  <a:srgbClr val="000080"/>
                </a:solidFill>
                <a:latin typeface="黑体" pitchFamily="2" charset="-122"/>
                <a:ea typeface="黑体" pitchFamily="2" charset="-122"/>
              </a:rPr>
              <a:t>软件的发展也推动硬件的发展</a:t>
            </a:r>
          </a:p>
          <a:p>
            <a:pPr algn="just">
              <a:lnSpc>
                <a:spcPct val="100000"/>
              </a:lnSpc>
              <a:spcBef>
                <a:spcPct val="0"/>
              </a:spcBef>
              <a:buClrTx/>
              <a:buFontTx/>
              <a:buNone/>
              <a:tabLst>
                <a:tab pos="228600" algn="l"/>
              </a:tabLst>
            </a:pPr>
            <a:r>
              <a:rPr lang="en-US" altLang="zh-CN" sz="1800" dirty="0">
                <a:solidFill>
                  <a:srgbClr val="000080"/>
                </a:solidFill>
                <a:latin typeface="黑体" pitchFamily="2" charset="-122"/>
                <a:ea typeface="黑体" pitchFamily="2" charset="-122"/>
              </a:rPr>
              <a:t>         D. </a:t>
            </a:r>
            <a:r>
              <a:rPr lang="zh-CN" altLang="en-US" sz="1800" dirty="0">
                <a:solidFill>
                  <a:srgbClr val="000080"/>
                </a:solidFill>
                <a:latin typeface="黑体" pitchFamily="2" charset="-122"/>
                <a:ea typeface="黑体" pitchFamily="2" charset="-122"/>
              </a:rPr>
              <a:t>硬件的发展推动了软件的发展</a:t>
            </a:r>
          </a:p>
        </p:txBody>
      </p:sp>
      <p:sp>
        <p:nvSpPr>
          <p:cNvPr id="479245" name="Rectangle 13">
            <a:extLst>
              <a:ext uri="{FF2B5EF4-FFF2-40B4-BE49-F238E27FC236}">
                <a16:creationId xmlns:a16="http://schemas.microsoft.com/office/drawing/2014/main" id="{11C4BA71-B006-F353-B2D3-862A304A5F2B}"/>
              </a:ext>
            </a:extLst>
          </p:cNvPr>
          <p:cNvSpPr>
            <a:spLocks noChangeArrowheads="1"/>
          </p:cNvSpPr>
          <p:nvPr/>
        </p:nvSpPr>
        <p:spPr bwMode="auto">
          <a:xfrm>
            <a:off x="-62345" y="3141420"/>
            <a:ext cx="91440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00000"/>
              </a:lnSpc>
              <a:spcBef>
                <a:spcPct val="0"/>
              </a:spcBef>
              <a:buClrTx/>
              <a:buFontTx/>
              <a:buNone/>
              <a:tabLst>
                <a:tab pos="228600" algn="l"/>
              </a:tabLst>
            </a:pPr>
            <a:r>
              <a:rPr lang="zh-CN" altLang="en-US" sz="700" dirty="0">
                <a:solidFill>
                  <a:srgbClr val="000080"/>
                </a:solidFill>
                <a:latin typeface="黑体" pitchFamily="2" charset="-122"/>
                <a:ea typeface="黑体" pitchFamily="2" charset="-122"/>
              </a:rPr>
              <a:t>                   </a:t>
            </a:r>
            <a:r>
              <a:rPr lang="en-US" altLang="zh-CN" sz="1800" dirty="0">
                <a:solidFill>
                  <a:srgbClr val="000080"/>
                </a:solidFill>
                <a:latin typeface="黑体" pitchFamily="2" charset="-122"/>
                <a:ea typeface="黑体" pitchFamily="2" charset="-122"/>
              </a:rPr>
              <a:t>24</a:t>
            </a:r>
            <a:r>
              <a:rPr lang="zh-CN" altLang="en-US" sz="1800" dirty="0">
                <a:solidFill>
                  <a:srgbClr val="000080"/>
                </a:solidFill>
                <a:latin typeface="黑体" pitchFamily="2" charset="-122"/>
                <a:ea typeface="黑体" pitchFamily="2" charset="-122"/>
              </a:rPr>
              <a:t>.（多选）下列计算机系统性能评价的描述中正确的是</a:t>
            </a:r>
          </a:p>
          <a:p>
            <a:pPr algn="just">
              <a:lnSpc>
                <a:spcPct val="100000"/>
              </a:lnSpc>
              <a:spcBef>
                <a:spcPct val="0"/>
              </a:spcBef>
              <a:buClrTx/>
              <a:buFontTx/>
              <a:buNone/>
              <a:tabLst>
                <a:tab pos="228600" algn="l"/>
              </a:tabLst>
            </a:pPr>
            <a:r>
              <a:rPr lang="en-US" altLang="zh-CN" sz="1800" dirty="0">
                <a:solidFill>
                  <a:srgbClr val="000080"/>
                </a:solidFill>
                <a:latin typeface="黑体" pitchFamily="2" charset="-122"/>
                <a:ea typeface="黑体" pitchFamily="2" charset="-122"/>
              </a:rPr>
              <a:t>        A.</a:t>
            </a:r>
            <a:r>
              <a:rPr lang="zh-CN" altLang="en-US" sz="1800" dirty="0">
                <a:solidFill>
                  <a:srgbClr val="000080"/>
                </a:solidFill>
                <a:latin typeface="黑体" pitchFamily="2" charset="-122"/>
                <a:ea typeface="黑体" pitchFamily="2" charset="-122"/>
              </a:rPr>
              <a:t>同一程序在不同机器上运行时得到的</a:t>
            </a:r>
            <a:r>
              <a:rPr lang="en-US" altLang="zh-CN" sz="1800" dirty="0">
                <a:solidFill>
                  <a:srgbClr val="000080"/>
                </a:solidFill>
                <a:latin typeface="黑体" pitchFamily="2" charset="-122"/>
                <a:ea typeface="黑体" pitchFamily="2" charset="-122"/>
              </a:rPr>
              <a:t>MIPS</a:t>
            </a:r>
            <a:r>
              <a:rPr lang="zh-CN" altLang="en-US" sz="1800" dirty="0">
                <a:solidFill>
                  <a:srgbClr val="000080"/>
                </a:solidFill>
                <a:latin typeface="黑体" pitchFamily="2" charset="-122"/>
                <a:ea typeface="黑体" pitchFamily="2" charset="-122"/>
              </a:rPr>
              <a:t>值不一定相同</a:t>
            </a:r>
          </a:p>
          <a:p>
            <a:pPr algn="just">
              <a:lnSpc>
                <a:spcPct val="100000"/>
              </a:lnSpc>
              <a:spcBef>
                <a:spcPct val="0"/>
              </a:spcBef>
              <a:buClrTx/>
              <a:buFontTx/>
              <a:buNone/>
              <a:tabLst>
                <a:tab pos="228600" algn="l"/>
              </a:tabLst>
            </a:pPr>
            <a:r>
              <a:rPr lang="en-US" altLang="zh-CN" sz="1800" dirty="0">
                <a:solidFill>
                  <a:srgbClr val="000080"/>
                </a:solidFill>
                <a:latin typeface="黑体" pitchFamily="2" charset="-122"/>
                <a:ea typeface="黑体" pitchFamily="2" charset="-122"/>
              </a:rPr>
              <a:t>        B.</a:t>
            </a:r>
            <a:r>
              <a:rPr lang="zh-CN" altLang="en-US" sz="1800" dirty="0">
                <a:solidFill>
                  <a:srgbClr val="000080"/>
                </a:solidFill>
                <a:latin typeface="黑体" pitchFamily="2" charset="-122"/>
                <a:ea typeface="黑体" pitchFamily="2" charset="-122"/>
              </a:rPr>
              <a:t>程序的</a:t>
            </a:r>
            <a:r>
              <a:rPr lang="en-US" altLang="zh-CN" sz="1800" dirty="0">
                <a:solidFill>
                  <a:srgbClr val="000080"/>
                </a:solidFill>
                <a:latin typeface="黑体" pitchFamily="2" charset="-122"/>
                <a:ea typeface="黑体" pitchFamily="2" charset="-122"/>
              </a:rPr>
              <a:t>CPI</a:t>
            </a:r>
            <a:r>
              <a:rPr lang="zh-CN" altLang="en-US" sz="1800" dirty="0">
                <a:solidFill>
                  <a:srgbClr val="000080"/>
                </a:solidFill>
                <a:latin typeface="黑体" pitchFamily="2" charset="-122"/>
                <a:ea typeface="黑体" pitchFamily="2" charset="-122"/>
              </a:rPr>
              <a:t>值越低，计算机的性能越高</a:t>
            </a:r>
          </a:p>
          <a:p>
            <a:pPr algn="just">
              <a:lnSpc>
                <a:spcPct val="100000"/>
              </a:lnSpc>
              <a:spcBef>
                <a:spcPct val="0"/>
              </a:spcBef>
              <a:buClrTx/>
              <a:buFontTx/>
              <a:buNone/>
              <a:tabLst>
                <a:tab pos="228600" algn="l"/>
              </a:tabLst>
            </a:pPr>
            <a:r>
              <a:rPr lang="en-US" altLang="zh-CN" sz="1800" dirty="0">
                <a:solidFill>
                  <a:srgbClr val="000080"/>
                </a:solidFill>
                <a:latin typeface="黑体" pitchFamily="2" charset="-122"/>
                <a:ea typeface="黑体" pitchFamily="2" charset="-122"/>
              </a:rPr>
              <a:t>        C.</a:t>
            </a:r>
            <a:r>
              <a:rPr lang="zh-CN" altLang="en-US" sz="1800" dirty="0">
                <a:solidFill>
                  <a:srgbClr val="000080"/>
                </a:solidFill>
                <a:latin typeface="黑体" pitchFamily="2" charset="-122"/>
                <a:ea typeface="黑体" pitchFamily="2" charset="-122"/>
              </a:rPr>
              <a:t>主频高的机器性能不一定高</a:t>
            </a:r>
          </a:p>
          <a:p>
            <a:pPr algn="just">
              <a:lnSpc>
                <a:spcPct val="100000"/>
              </a:lnSpc>
              <a:spcBef>
                <a:spcPct val="0"/>
              </a:spcBef>
              <a:buClrTx/>
              <a:buFontTx/>
              <a:buNone/>
              <a:tabLst>
                <a:tab pos="228600" algn="l"/>
              </a:tabLst>
            </a:pPr>
            <a:r>
              <a:rPr lang="en-US" altLang="zh-CN" sz="1800" dirty="0">
                <a:solidFill>
                  <a:srgbClr val="000080"/>
                </a:solidFill>
                <a:latin typeface="黑体" pitchFamily="2" charset="-122"/>
                <a:ea typeface="黑体" pitchFamily="2" charset="-122"/>
              </a:rPr>
              <a:t>        D.</a:t>
            </a:r>
            <a:r>
              <a:rPr lang="zh-CN" altLang="en-US" sz="1800" dirty="0">
                <a:solidFill>
                  <a:srgbClr val="000080"/>
                </a:solidFill>
                <a:latin typeface="黑体" pitchFamily="2" charset="-122"/>
                <a:ea typeface="黑体" pitchFamily="2" charset="-122"/>
              </a:rPr>
              <a:t>程序</a:t>
            </a:r>
            <a:r>
              <a:rPr lang="en-US" altLang="zh-CN" sz="1800" dirty="0">
                <a:solidFill>
                  <a:srgbClr val="000080"/>
                </a:solidFill>
                <a:latin typeface="黑体" pitchFamily="2" charset="-122"/>
                <a:ea typeface="黑体" pitchFamily="2" charset="-122"/>
              </a:rPr>
              <a:t>MIPS</a:t>
            </a:r>
            <a:r>
              <a:rPr lang="zh-CN" altLang="en-US" sz="1800" dirty="0">
                <a:solidFill>
                  <a:srgbClr val="000080"/>
                </a:solidFill>
                <a:latin typeface="黑体" pitchFamily="2" charset="-122"/>
                <a:ea typeface="黑体" pitchFamily="2" charset="-122"/>
              </a:rPr>
              <a:t>值越高，计算机的性能越高  </a:t>
            </a:r>
          </a:p>
        </p:txBody>
      </p:sp>
      <p:graphicFrame>
        <p:nvGraphicFramePr>
          <p:cNvPr id="2" name="对象 1">
            <a:extLst>
              <a:ext uri="{FF2B5EF4-FFF2-40B4-BE49-F238E27FC236}">
                <a16:creationId xmlns:a16="http://schemas.microsoft.com/office/drawing/2014/main" id="{BFC4D8C1-02B8-6887-C7BD-8700912C68C9}"/>
              </a:ext>
            </a:extLst>
          </p:cNvPr>
          <p:cNvGraphicFramePr>
            <a:graphicFrameLocks noChangeAspect="1"/>
          </p:cNvGraphicFramePr>
          <p:nvPr/>
        </p:nvGraphicFramePr>
        <p:xfrm>
          <a:off x="758825" y="425450"/>
          <a:ext cx="7096125" cy="946150"/>
        </p:xfrm>
        <a:graphic>
          <a:graphicData uri="http://schemas.openxmlformats.org/presentationml/2006/ole">
            <mc:AlternateContent xmlns:mc="http://schemas.openxmlformats.org/markup-compatibility/2006">
              <mc:Choice xmlns:v="urn:schemas-microsoft-com:vml" Requires="v">
                <p:oleObj name="Document" r:id="rId2" imgW="6783613" imgH="906112" progId="Word.Document.8">
                  <p:embed/>
                </p:oleObj>
              </mc:Choice>
              <mc:Fallback>
                <p:oleObj name="Document" r:id="rId2" imgW="6783613" imgH="906112" progId="Word.Document.8">
                  <p:embed/>
                  <p:pic>
                    <p:nvPicPr>
                      <p:cNvPr id="2" name="对象 1">
                        <a:extLst>
                          <a:ext uri="{FF2B5EF4-FFF2-40B4-BE49-F238E27FC236}">
                            <a16:creationId xmlns:a16="http://schemas.microsoft.com/office/drawing/2014/main" id="{61082C56-59F0-6613-6024-427EB81493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8825" y="425450"/>
                        <a:ext cx="70961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3040382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79243"/>
                                        </p:tgtEl>
                                        <p:attrNameLst>
                                          <p:attrName>style.visibility</p:attrName>
                                        </p:attrNameLst>
                                      </p:cBhvr>
                                      <p:to>
                                        <p:strVal val="visible"/>
                                      </p:to>
                                    </p:set>
                                    <p:animEffect transition="in" filter="wipe(up)">
                                      <p:cBhvr>
                                        <p:cTn id="7" dur="500"/>
                                        <p:tgtEl>
                                          <p:spTgt spid="4792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79245"/>
                                        </p:tgtEl>
                                        <p:attrNameLst>
                                          <p:attrName>style.visibility</p:attrName>
                                        </p:attrNameLst>
                                      </p:cBhvr>
                                      <p:to>
                                        <p:strVal val="visible"/>
                                      </p:to>
                                    </p:set>
                                    <p:animEffect transition="in" filter="wipe(up)">
                                      <p:cBhvr>
                                        <p:cTn id="12" dur="500"/>
                                        <p:tgtEl>
                                          <p:spTgt spid="4792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243" grpId="0" autoUpdateAnimBg="0"/>
      <p:bldP spid="479245"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178" name="Object 3"/>
          <p:cNvGraphicFramePr>
            <a:graphicFrameLocks noChangeAspect="1"/>
          </p:cNvGraphicFramePr>
          <p:nvPr>
            <p:extLst>
              <p:ext uri="{D42A27DB-BD31-4B8C-83A1-F6EECF244321}">
                <p14:modId xmlns:p14="http://schemas.microsoft.com/office/powerpoint/2010/main" val="2818727892"/>
              </p:ext>
            </p:extLst>
          </p:nvPr>
        </p:nvGraphicFramePr>
        <p:xfrm>
          <a:off x="758825" y="436563"/>
          <a:ext cx="7065963" cy="946150"/>
        </p:xfrm>
        <a:graphic>
          <a:graphicData uri="http://schemas.openxmlformats.org/presentationml/2006/ole">
            <mc:AlternateContent xmlns:mc="http://schemas.openxmlformats.org/markup-compatibility/2006">
              <mc:Choice xmlns:v="urn:schemas-microsoft-com:vml" Requires="v">
                <p:oleObj name="Document" r:id="rId2" imgW="6754081" imgH="906502" progId="Word.Document.8">
                  <p:embed/>
                </p:oleObj>
              </mc:Choice>
              <mc:Fallback>
                <p:oleObj name="Document" r:id="rId2" imgW="6754081" imgH="906502" progId="Word.Document.8">
                  <p:embed/>
                  <p:pic>
                    <p:nvPicPr>
                      <p:cNvPr id="0" name="Object 3"/>
                      <p:cNvPicPr>
                        <a:picLocks noChangeAspect="1" noChangeArrowheads="1"/>
                      </p:cNvPicPr>
                      <p:nvPr/>
                    </p:nvPicPr>
                    <p:blipFill>
                      <a:blip r:embed="rId3"/>
                      <a:srcRect/>
                      <a:stretch>
                        <a:fillRect/>
                      </a:stretch>
                    </p:blipFill>
                    <p:spPr bwMode="auto">
                      <a:xfrm>
                        <a:off x="758825" y="436563"/>
                        <a:ext cx="7065963"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80266" name="Rectangle 10"/>
          <p:cNvSpPr>
            <a:spLocks noChangeArrowheads="1"/>
          </p:cNvSpPr>
          <p:nvPr/>
        </p:nvSpPr>
        <p:spPr bwMode="auto">
          <a:xfrm>
            <a:off x="977900" y="1771535"/>
            <a:ext cx="8140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buClrTx/>
              <a:buFontTx/>
              <a:buNone/>
            </a:pPr>
            <a:r>
              <a:rPr lang="zh-CN" altLang="en-US" sz="1800" dirty="0">
                <a:solidFill>
                  <a:srgbClr val="000080"/>
                </a:solidFill>
                <a:latin typeface="黑体" pitchFamily="2" charset="-122"/>
                <a:ea typeface="黑体" pitchFamily="2" charset="-122"/>
              </a:rPr>
              <a:t>2．现在主要采用</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结构作为微/小型计算机硬件之间的连接方式</a:t>
            </a:r>
            <a:r>
              <a:rPr lang="zh-CN" altLang="en-US" sz="1100" dirty="0">
                <a:solidFill>
                  <a:srgbClr val="000080"/>
                </a:solidFill>
                <a:latin typeface="黑体" pitchFamily="2" charset="-122"/>
                <a:ea typeface="黑体" pitchFamily="2" charset="-122"/>
              </a:rPr>
              <a:t> </a:t>
            </a:r>
            <a:endParaRPr lang="zh-CN" altLang="en-US" b="0" dirty="0">
              <a:solidFill>
                <a:srgbClr val="000080"/>
              </a:solidFill>
              <a:latin typeface="黑体" pitchFamily="2" charset="-122"/>
              <a:ea typeface="黑体" pitchFamily="2" charset="-122"/>
            </a:endParaRPr>
          </a:p>
        </p:txBody>
      </p:sp>
      <p:sp>
        <p:nvSpPr>
          <p:cNvPr id="480267" name="Rectangle 11"/>
          <p:cNvSpPr>
            <a:spLocks noChangeArrowheads="1"/>
          </p:cNvSpPr>
          <p:nvPr/>
        </p:nvSpPr>
        <p:spPr bwMode="auto">
          <a:xfrm>
            <a:off x="977900" y="2200971"/>
            <a:ext cx="8140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buClrTx/>
              <a:buFontTx/>
              <a:buNone/>
            </a:pPr>
            <a:r>
              <a:rPr lang="zh-CN" altLang="en-US" sz="1800" dirty="0">
                <a:solidFill>
                  <a:srgbClr val="000080"/>
                </a:solidFill>
                <a:latin typeface="黑体" pitchFamily="2" charset="-122"/>
                <a:ea typeface="黑体" pitchFamily="2" charset="-122"/>
              </a:rPr>
              <a:t>3．三态门电路比普通门电路多一种</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状态。</a:t>
            </a:r>
            <a:r>
              <a:rPr lang="zh-CN" altLang="en-US" sz="1100" dirty="0">
                <a:solidFill>
                  <a:srgbClr val="000080"/>
                </a:solidFill>
                <a:latin typeface="黑体" pitchFamily="2" charset="-122"/>
                <a:ea typeface="黑体" pitchFamily="2" charset="-122"/>
              </a:rPr>
              <a:t> </a:t>
            </a:r>
            <a:endParaRPr lang="zh-CN" altLang="en-US" b="0" dirty="0">
              <a:solidFill>
                <a:srgbClr val="000080"/>
              </a:solidFill>
              <a:latin typeface="黑体" pitchFamily="2" charset="-122"/>
              <a:ea typeface="黑体" pitchFamily="2" charset="-122"/>
            </a:endParaRPr>
          </a:p>
        </p:txBody>
      </p:sp>
      <p:sp>
        <p:nvSpPr>
          <p:cNvPr id="480268" name="Rectangle 12"/>
          <p:cNvSpPr>
            <a:spLocks noChangeArrowheads="1"/>
          </p:cNvSpPr>
          <p:nvPr/>
        </p:nvSpPr>
        <p:spPr bwMode="auto">
          <a:xfrm>
            <a:off x="977900" y="2630407"/>
            <a:ext cx="8128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buClrTx/>
              <a:buFontTx/>
              <a:buNone/>
            </a:pPr>
            <a:r>
              <a:rPr lang="zh-CN" altLang="en-US" sz="1800" dirty="0">
                <a:solidFill>
                  <a:srgbClr val="000080"/>
                </a:solidFill>
                <a:latin typeface="黑体" pitchFamily="2" charset="-122"/>
                <a:ea typeface="黑体" pitchFamily="2" charset="-122"/>
              </a:rPr>
              <a:t>4．计算机系统的层次结构中，位于硬件之外的所有层次统称为</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r>
              <a:rPr lang="zh-CN" altLang="en-US" sz="1100" dirty="0">
                <a:solidFill>
                  <a:srgbClr val="000080"/>
                </a:solidFill>
                <a:latin typeface="黑体" pitchFamily="2" charset="-122"/>
                <a:ea typeface="黑体" pitchFamily="2" charset="-122"/>
              </a:rPr>
              <a:t> </a:t>
            </a:r>
            <a:endParaRPr lang="zh-CN" altLang="en-US" b="0" dirty="0">
              <a:solidFill>
                <a:srgbClr val="000080"/>
              </a:solidFill>
              <a:latin typeface="黑体" pitchFamily="2" charset="-122"/>
              <a:ea typeface="黑体" pitchFamily="2" charset="-122"/>
            </a:endParaRPr>
          </a:p>
        </p:txBody>
      </p:sp>
      <p:sp>
        <p:nvSpPr>
          <p:cNvPr id="50182" name="Rectangle 13"/>
          <p:cNvSpPr>
            <a:spLocks noChangeArrowheads="1"/>
          </p:cNvSpPr>
          <p:nvPr/>
        </p:nvSpPr>
        <p:spPr bwMode="auto">
          <a:xfrm>
            <a:off x="977900" y="1321247"/>
            <a:ext cx="8153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buClrTx/>
              <a:buFontTx/>
              <a:buNone/>
            </a:pPr>
            <a:r>
              <a:rPr lang="zh-CN" altLang="en-US" sz="1800" dirty="0">
                <a:solidFill>
                  <a:srgbClr val="000080"/>
                </a:solidFill>
                <a:latin typeface="黑体" pitchFamily="2" charset="-122"/>
                <a:ea typeface="黑体" pitchFamily="2" charset="-122"/>
              </a:rPr>
              <a:t>1．计算机系统由</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系统和</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系统构成。</a:t>
            </a:r>
            <a:r>
              <a:rPr lang="zh-CN" altLang="en-US" sz="1100" dirty="0">
                <a:solidFill>
                  <a:srgbClr val="000080"/>
                </a:solidFill>
                <a:latin typeface="黑体" pitchFamily="2" charset="-122"/>
                <a:ea typeface="黑体" pitchFamily="2" charset="-122"/>
              </a:rPr>
              <a:t> </a:t>
            </a:r>
            <a:endParaRPr lang="zh-CN" altLang="en-US" b="0" dirty="0">
              <a:solidFill>
                <a:srgbClr val="000080"/>
              </a:solidFill>
              <a:latin typeface="黑体" pitchFamily="2" charset="-122"/>
              <a:ea typeface="黑体" pitchFamily="2" charset="-122"/>
            </a:endParaRPr>
          </a:p>
        </p:txBody>
      </p:sp>
      <p:sp>
        <p:nvSpPr>
          <p:cNvPr id="2" name="Rectangle 12">
            <a:extLst>
              <a:ext uri="{FF2B5EF4-FFF2-40B4-BE49-F238E27FC236}">
                <a16:creationId xmlns:a16="http://schemas.microsoft.com/office/drawing/2014/main" id="{4F677E46-A3F5-E582-B9DD-63CCD0520767}"/>
              </a:ext>
            </a:extLst>
          </p:cNvPr>
          <p:cNvSpPr>
            <a:spLocks noChangeArrowheads="1"/>
          </p:cNvSpPr>
          <p:nvPr/>
        </p:nvSpPr>
        <p:spPr bwMode="auto">
          <a:xfrm>
            <a:off x="977900" y="2997119"/>
            <a:ext cx="8128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buClrTx/>
              <a:buFontTx/>
              <a:buNone/>
            </a:pPr>
            <a:r>
              <a:rPr lang="en-US" altLang="zh-CN" sz="1800" dirty="0">
                <a:solidFill>
                  <a:srgbClr val="000080"/>
                </a:solidFill>
                <a:latin typeface="黑体" pitchFamily="2" charset="-122"/>
                <a:ea typeface="黑体" pitchFamily="2" charset="-122"/>
              </a:rPr>
              <a:t>5</a:t>
            </a:r>
            <a:r>
              <a:rPr lang="zh-CN" altLang="en-US" sz="1800" dirty="0">
                <a:solidFill>
                  <a:srgbClr val="000080"/>
                </a:solidFill>
                <a:latin typeface="黑体" pitchFamily="2" charset="-122"/>
                <a:ea typeface="黑体" pitchFamily="2" charset="-122"/>
              </a:rPr>
              <a:t>．访问</a:t>
            </a:r>
            <a:r>
              <a:rPr lang="en-US" altLang="zh-CN" sz="1800" dirty="0">
                <a:solidFill>
                  <a:srgbClr val="000080"/>
                </a:solidFill>
                <a:latin typeface="黑体" pitchFamily="2" charset="-122"/>
                <a:ea typeface="黑体" pitchFamily="2" charset="-122"/>
              </a:rPr>
              <a:t>256KB</a:t>
            </a:r>
            <a:r>
              <a:rPr lang="zh-CN" altLang="en-US" sz="1800" dirty="0">
                <a:solidFill>
                  <a:srgbClr val="000080"/>
                </a:solidFill>
                <a:latin typeface="黑体" pitchFamily="2" charset="-122"/>
                <a:ea typeface="黑体" pitchFamily="2" charset="-122"/>
              </a:rPr>
              <a:t>的存储空间，需要的地址线数最少为</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根。</a:t>
            </a:r>
            <a:r>
              <a:rPr lang="zh-CN" altLang="en-US" sz="1100" dirty="0">
                <a:solidFill>
                  <a:srgbClr val="000080"/>
                </a:solidFill>
                <a:latin typeface="黑体" pitchFamily="2" charset="-122"/>
                <a:ea typeface="黑体" pitchFamily="2" charset="-122"/>
              </a:rPr>
              <a:t> </a:t>
            </a:r>
            <a:endParaRPr lang="zh-CN" altLang="en-US" b="0" dirty="0">
              <a:solidFill>
                <a:srgbClr val="000080"/>
              </a:solidFill>
              <a:latin typeface="黑体" pitchFamily="2" charset="-122"/>
              <a:ea typeface="黑体" pitchFamily="2" charset="-122"/>
            </a:endParaRPr>
          </a:p>
        </p:txBody>
      </p:sp>
      <p:sp>
        <p:nvSpPr>
          <p:cNvPr id="7" name="Rectangle 12">
            <a:extLst>
              <a:ext uri="{FF2B5EF4-FFF2-40B4-BE49-F238E27FC236}">
                <a16:creationId xmlns:a16="http://schemas.microsoft.com/office/drawing/2014/main" id="{C0A04061-5FF5-C83B-1C59-E341C38B0805}"/>
              </a:ext>
            </a:extLst>
          </p:cNvPr>
          <p:cNvSpPr>
            <a:spLocks noChangeArrowheads="1"/>
          </p:cNvSpPr>
          <p:nvPr/>
        </p:nvSpPr>
        <p:spPr bwMode="auto">
          <a:xfrm>
            <a:off x="977900" y="3399217"/>
            <a:ext cx="81280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buClrTx/>
              <a:buFontTx/>
              <a:buNone/>
            </a:pPr>
            <a:r>
              <a:rPr lang="en-US" altLang="zh-CN" sz="1800" dirty="0">
                <a:solidFill>
                  <a:srgbClr val="000080"/>
                </a:solidFill>
                <a:latin typeface="黑体" pitchFamily="2" charset="-122"/>
                <a:ea typeface="黑体" pitchFamily="2" charset="-122"/>
              </a:rPr>
              <a:t>6</a:t>
            </a:r>
            <a:r>
              <a:rPr lang="zh-CN" altLang="en-US" sz="1800" dirty="0">
                <a:solidFill>
                  <a:srgbClr val="000080"/>
                </a:solidFill>
                <a:latin typeface="黑体" pitchFamily="2" charset="-122"/>
                <a:ea typeface="黑体" pitchFamily="2" charset="-122"/>
              </a:rPr>
              <a:t>．某计算机指令集中共有</a:t>
            </a:r>
            <a:r>
              <a:rPr lang="en-US" altLang="zh-CN" sz="1800" dirty="0">
                <a:solidFill>
                  <a:srgbClr val="000080"/>
                </a:solidFill>
                <a:latin typeface="黑体" pitchFamily="2" charset="-122"/>
                <a:ea typeface="黑体" pitchFamily="2" charset="-122"/>
              </a:rPr>
              <a:t>A</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B</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C</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D</a:t>
            </a:r>
            <a:r>
              <a:rPr lang="zh-CN" altLang="en-US" sz="1800" dirty="0">
                <a:solidFill>
                  <a:srgbClr val="000080"/>
                </a:solidFill>
                <a:latin typeface="黑体" pitchFamily="2" charset="-122"/>
                <a:ea typeface="黑体" pitchFamily="2" charset="-122"/>
              </a:rPr>
              <a:t>四类指令，它们占指令系统的比例分别为</a:t>
            </a:r>
            <a:r>
              <a:rPr lang="en-US" altLang="zh-CN" sz="1800" dirty="0">
                <a:solidFill>
                  <a:srgbClr val="000080"/>
                </a:solidFill>
                <a:latin typeface="黑体" pitchFamily="2" charset="-122"/>
                <a:ea typeface="黑体" pitchFamily="2" charset="-122"/>
              </a:rPr>
              <a:t>40% </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20%</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20%</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20%, </a:t>
            </a:r>
            <a:r>
              <a:rPr lang="zh-CN" altLang="en-US" sz="1800" dirty="0">
                <a:solidFill>
                  <a:srgbClr val="000080"/>
                </a:solidFill>
                <a:latin typeface="黑体" pitchFamily="2" charset="-122"/>
                <a:ea typeface="黑体" pitchFamily="2" charset="-122"/>
              </a:rPr>
              <a:t>各类指令的</a:t>
            </a:r>
            <a:r>
              <a:rPr lang="en-US" altLang="zh-CN" sz="1800" dirty="0">
                <a:solidFill>
                  <a:srgbClr val="000080"/>
                </a:solidFill>
                <a:latin typeface="黑体" pitchFamily="2" charset="-122"/>
                <a:ea typeface="黑体" pitchFamily="2" charset="-122"/>
              </a:rPr>
              <a:t>CPI</a:t>
            </a:r>
            <a:r>
              <a:rPr lang="zh-CN" altLang="en-US" sz="1800" dirty="0">
                <a:solidFill>
                  <a:srgbClr val="000080"/>
                </a:solidFill>
                <a:latin typeface="黑体" pitchFamily="2" charset="-122"/>
                <a:ea typeface="黑体" pitchFamily="2" charset="-122"/>
              </a:rPr>
              <a:t>分别为 </a:t>
            </a:r>
            <a:r>
              <a:rPr lang="en-US" altLang="zh-CN" sz="1800" dirty="0">
                <a:solidFill>
                  <a:srgbClr val="000080"/>
                </a:solidFill>
                <a:latin typeface="黑体" pitchFamily="2" charset="-122"/>
                <a:ea typeface="黑体" pitchFamily="2" charset="-122"/>
              </a:rPr>
              <a:t>2</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3</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4</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5</a:t>
            </a:r>
            <a:r>
              <a:rPr lang="zh-CN" altLang="en-US" sz="1800" dirty="0">
                <a:solidFill>
                  <a:srgbClr val="000080"/>
                </a:solidFill>
                <a:latin typeface="黑体" pitchFamily="2" charset="-122"/>
                <a:ea typeface="黑体" pitchFamily="2" charset="-122"/>
              </a:rPr>
              <a:t>；该机器的主频为</a:t>
            </a:r>
            <a:r>
              <a:rPr lang="en-US" altLang="zh-CN" sz="1800" dirty="0">
                <a:solidFill>
                  <a:srgbClr val="000080"/>
                </a:solidFill>
                <a:latin typeface="黑体" pitchFamily="2" charset="-122"/>
                <a:ea typeface="黑体" pitchFamily="2" charset="-122"/>
              </a:rPr>
              <a:t>600MHZ</a:t>
            </a:r>
            <a:r>
              <a:rPr lang="zh-CN" altLang="en-US" sz="1800" dirty="0">
                <a:solidFill>
                  <a:srgbClr val="000080"/>
                </a:solidFill>
                <a:latin typeface="黑体" pitchFamily="2" charset="-122"/>
                <a:ea typeface="黑体" pitchFamily="2" charset="-122"/>
              </a:rPr>
              <a:t>，则该机的</a:t>
            </a:r>
            <a:r>
              <a:rPr lang="en-US" altLang="zh-CN" sz="1800" dirty="0">
                <a:solidFill>
                  <a:srgbClr val="000080"/>
                </a:solidFill>
                <a:latin typeface="黑体" pitchFamily="2" charset="-122"/>
                <a:ea typeface="黑体" pitchFamily="2" charset="-122"/>
              </a:rPr>
              <a:t>MIPS</a:t>
            </a:r>
            <a:r>
              <a:rPr lang="zh-CN" altLang="en-US" sz="1800" dirty="0">
                <a:solidFill>
                  <a:srgbClr val="000080"/>
                </a:solidFill>
                <a:latin typeface="黑体" pitchFamily="2" charset="-122"/>
                <a:ea typeface="黑体" pitchFamily="2" charset="-122"/>
              </a:rPr>
              <a:t>为</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r>
              <a:rPr lang="zh-CN" altLang="en-US" sz="1800" dirty="0">
                <a:solidFill>
                  <a:schemeClr val="tx1"/>
                </a:solidFill>
                <a:latin typeface="黑体" pitchFamily="2" charset="-122"/>
                <a:ea typeface="黑体" pitchFamily="2" charset="-122"/>
              </a:rPr>
              <a:t>（保留到小数点后一位）</a:t>
            </a:r>
            <a:r>
              <a:rPr lang="zh-CN" altLang="en-US" sz="1100" dirty="0">
                <a:solidFill>
                  <a:schemeClr val="tx1"/>
                </a:solidFill>
                <a:latin typeface="黑体" pitchFamily="2" charset="-122"/>
                <a:ea typeface="黑体" pitchFamily="2" charset="-122"/>
              </a:rPr>
              <a:t> </a:t>
            </a:r>
            <a:endParaRPr lang="zh-CN" altLang="en-US" b="0" dirty="0">
              <a:solidFill>
                <a:schemeClr val="tx1"/>
              </a:solidFill>
              <a:latin typeface="黑体" pitchFamily="2" charset="-122"/>
              <a:ea typeface="黑体" pitchFamily="2" charset="-122"/>
            </a:endParaRPr>
          </a:p>
        </p:txBody>
      </p:sp>
      <p:sp>
        <p:nvSpPr>
          <p:cNvPr id="8" name="Rectangle 12">
            <a:extLst>
              <a:ext uri="{FF2B5EF4-FFF2-40B4-BE49-F238E27FC236}">
                <a16:creationId xmlns:a16="http://schemas.microsoft.com/office/drawing/2014/main" id="{A2F4C9F0-2482-CFEB-CA8F-C15B7E8DE6EB}"/>
              </a:ext>
            </a:extLst>
          </p:cNvPr>
          <p:cNvSpPr>
            <a:spLocks noChangeArrowheads="1"/>
          </p:cNvSpPr>
          <p:nvPr/>
        </p:nvSpPr>
        <p:spPr bwMode="auto">
          <a:xfrm>
            <a:off x="1003300" y="4357933"/>
            <a:ext cx="81280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buClrTx/>
              <a:buFontTx/>
              <a:buNone/>
            </a:pPr>
            <a:r>
              <a:rPr lang="en-US" altLang="zh-CN" sz="1800">
                <a:solidFill>
                  <a:srgbClr val="000080"/>
                </a:solidFill>
                <a:latin typeface="黑体" pitchFamily="2" charset="-122"/>
                <a:ea typeface="黑体" pitchFamily="2" charset="-122"/>
              </a:rPr>
              <a:t>7</a:t>
            </a:r>
            <a:r>
              <a:rPr lang="zh-CN" altLang="en-US" sz="1800">
                <a:solidFill>
                  <a:srgbClr val="000080"/>
                </a:solidFill>
                <a:latin typeface="黑体" pitchFamily="2" charset="-122"/>
                <a:ea typeface="黑体" pitchFamily="2" charset="-122"/>
              </a:rPr>
              <a:t>．</a:t>
            </a:r>
            <a:r>
              <a:rPr lang="zh-CN" altLang="en-US" sz="1800" dirty="0">
                <a:solidFill>
                  <a:srgbClr val="000080"/>
                </a:solidFill>
                <a:latin typeface="黑体" pitchFamily="2" charset="-122"/>
                <a:ea typeface="黑体" pitchFamily="2" charset="-122"/>
              </a:rPr>
              <a:t>若某程序编译后生成的目标代码由</a:t>
            </a:r>
            <a:r>
              <a:rPr lang="en-US" altLang="zh-CN" sz="1800" dirty="0">
                <a:solidFill>
                  <a:srgbClr val="000080"/>
                </a:solidFill>
                <a:latin typeface="黑体" pitchFamily="2" charset="-122"/>
                <a:ea typeface="黑体" pitchFamily="2" charset="-122"/>
              </a:rPr>
              <a:t>A</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B</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C</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D</a:t>
            </a:r>
            <a:r>
              <a:rPr lang="zh-CN" altLang="en-US" sz="1800" dirty="0">
                <a:solidFill>
                  <a:srgbClr val="000080"/>
                </a:solidFill>
                <a:latin typeface="黑体" pitchFamily="2" charset="-122"/>
                <a:ea typeface="黑体" pitchFamily="2" charset="-122"/>
              </a:rPr>
              <a:t>四类指令组成，它们在程序中所占比例分别为</a:t>
            </a:r>
            <a:r>
              <a:rPr lang="en-US" altLang="zh-CN" sz="1800" dirty="0">
                <a:solidFill>
                  <a:srgbClr val="000080"/>
                </a:solidFill>
                <a:latin typeface="黑体" pitchFamily="2" charset="-122"/>
                <a:ea typeface="黑体" pitchFamily="2" charset="-122"/>
              </a:rPr>
              <a:t>20%</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40%</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20%</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20%</a:t>
            </a:r>
            <a:r>
              <a:rPr lang="zh-CN" altLang="en-US" sz="1800" dirty="0">
                <a:solidFill>
                  <a:srgbClr val="000080"/>
                </a:solidFill>
                <a:latin typeface="黑体" pitchFamily="2" charset="-122"/>
                <a:ea typeface="黑体" pitchFamily="2" charset="-122"/>
              </a:rPr>
              <a:t>。已知</a:t>
            </a:r>
            <a:r>
              <a:rPr lang="en-US" altLang="zh-CN" sz="1800" dirty="0">
                <a:solidFill>
                  <a:srgbClr val="000080"/>
                </a:solidFill>
                <a:latin typeface="黑体" pitchFamily="2" charset="-122"/>
                <a:ea typeface="黑体" pitchFamily="2" charset="-122"/>
              </a:rPr>
              <a:t>A</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B</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C</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D</a:t>
            </a:r>
            <a:r>
              <a:rPr lang="zh-CN" altLang="en-US" sz="1800" dirty="0">
                <a:solidFill>
                  <a:srgbClr val="000080"/>
                </a:solidFill>
                <a:latin typeface="黑体" pitchFamily="2" charset="-122"/>
                <a:ea typeface="黑体" pitchFamily="2" charset="-122"/>
              </a:rPr>
              <a:t>四类指令的</a:t>
            </a:r>
            <a:r>
              <a:rPr lang="en-US" altLang="zh-CN" sz="1800" dirty="0">
                <a:solidFill>
                  <a:srgbClr val="000080"/>
                </a:solidFill>
                <a:latin typeface="黑体" pitchFamily="2" charset="-122"/>
                <a:ea typeface="黑体" pitchFamily="2" charset="-122"/>
              </a:rPr>
              <a:t>CPI</a:t>
            </a:r>
            <a:r>
              <a:rPr lang="zh-CN" altLang="en-US" sz="1800" dirty="0">
                <a:solidFill>
                  <a:srgbClr val="000080"/>
                </a:solidFill>
                <a:latin typeface="黑体" pitchFamily="2" charset="-122"/>
                <a:ea typeface="黑体" pitchFamily="2" charset="-122"/>
              </a:rPr>
              <a:t>分别为</a:t>
            </a:r>
            <a:r>
              <a:rPr lang="en-US" altLang="zh-CN" sz="1800" dirty="0">
                <a:solidFill>
                  <a:srgbClr val="000080"/>
                </a:solidFill>
                <a:latin typeface="黑体" pitchFamily="2" charset="-122"/>
                <a:ea typeface="黑体" pitchFamily="2" charset="-122"/>
              </a:rPr>
              <a:t>1</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2</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2</a:t>
            </a:r>
            <a:r>
              <a:rPr lang="zh-CN" altLang="en-US" sz="1800" dirty="0">
                <a:solidFill>
                  <a:srgbClr val="000080"/>
                </a:solidFill>
                <a:latin typeface="黑体" pitchFamily="2" charset="-122"/>
                <a:ea typeface="黑体" pitchFamily="2" charset="-122"/>
              </a:rPr>
              <a:t>、</a:t>
            </a:r>
            <a:r>
              <a:rPr lang="en-US" altLang="zh-CN" sz="1800" dirty="0">
                <a:solidFill>
                  <a:srgbClr val="000080"/>
                </a:solidFill>
                <a:latin typeface="黑体" pitchFamily="2" charset="-122"/>
                <a:ea typeface="黑体" pitchFamily="2" charset="-122"/>
              </a:rPr>
              <a:t>2</a:t>
            </a:r>
            <a:r>
              <a:rPr lang="zh-CN" altLang="en-US" sz="1800" dirty="0">
                <a:solidFill>
                  <a:srgbClr val="000080"/>
                </a:solidFill>
                <a:latin typeface="黑体" pitchFamily="2" charset="-122"/>
                <a:ea typeface="黑体" pitchFamily="2" charset="-122"/>
              </a:rPr>
              <a:t>。现需要对程序进行编译优化，优化后的程序中</a:t>
            </a:r>
            <a:r>
              <a:rPr lang="en-US" altLang="zh-CN" sz="1800" dirty="0">
                <a:solidFill>
                  <a:srgbClr val="000080"/>
                </a:solidFill>
                <a:latin typeface="黑体" pitchFamily="2" charset="-122"/>
                <a:ea typeface="黑体" pitchFamily="2" charset="-122"/>
              </a:rPr>
              <a:t>B</a:t>
            </a:r>
            <a:r>
              <a:rPr lang="zh-CN" altLang="en-US" sz="1800" dirty="0">
                <a:solidFill>
                  <a:srgbClr val="000080"/>
                </a:solidFill>
                <a:latin typeface="黑体" pitchFamily="2" charset="-122"/>
                <a:ea typeface="黑体" pitchFamily="2" charset="-122"/>
              </a:rPr>
              <a:t>类指令条数减少了一半，而其它指令数量未发生变化。假设运行该程序的计算机</a:t>
            </a:r>
            <a:r>
              <a:rPr lang="en-US" altLang="zh-CN" sz="1800" dirty="0">
                <a:solidFill>
                  <a:srgbClr val="000080"/>
                </a:solidFill>
                <a:latin typeface="黑体" pitchFamily="2" charset="-122"/>
                <a:ea typeface="黑体" pitchFamily="2" charset="-122"/>
              </a:rPr>
              <a:t>CPU</a:t>
            </a:r>
            <a:r>
              <a:rPr lang="zh-CN" altLang="en-US" sz="1800" dirty="0">
                <a:solidFill>
                  <a:srgbClr val="000080"/>
                </a:solidFill>
                <a:latin typeface="黑体" pitchFamily="2" charset="-122"/>
                <a:ea typeface="黑体" pitchFamily="2" charset="-122"/>
              </a:rPr>
              <a:t>主频为</a:t>
            </a:r>
            <a:r>
              <a:rPr lang="en-US" altLang="zh-CN" sz="1800" dirty="0">
                <a:solidFill>
                  <a:srgbClr val="000080"/>
                </a:solidFill>
                <a:latin typeface="黑体" pitchFamily="2" charset="-122"/>
                <a:ea typeface="黑体" pitchFamily="2" charset="-122"/>
              </a:rPr>
              <a:t>500MHZ</a:t>
            </a:r>
            <a:r>
              <a:rPr lang="zh-CN" altLang="en-US" sz="1800" dirty="0">
                <a:solidFill>
                  <a:srgbClr val="000080"/>
                </a:solidFill>
                <a:latin typeface="黑体" pitchFamily="2" charset="-122"/>
                <a:ea typeface="黑体" pitchFamily="2" charset="-122"/>
              </a:rPr>
              <a:t>。优化后程序的</a:t>
            </a:r>
            <a:r>
              <a:rPr lang="en-US" altLang="zh-CN" sz="1800" dirty="0">
                <a:solidFill>
                  <a:srgbClr val="000080"/>
                </a:solidFill>
                <a:latin typeface="黑体" pitchFamily="2" charset="-122"/>
                <a:ea typeface="黑体" pitchFamily="2" charset="-122"/>
              </a:rPr>
              <a:t>CPI</a:t>
            </a:r>
            <a:r>
              <a:rPr lang="zh-CN" altLang="en-US" sz="1800" dirty="0">
                <a:solidFill>
                  <a:srgbClr val="000080"/>
                </a:solidFill>
                <a:latin typeface="黑体" pitchFamily="2" charset="-122"/>
                <a:ea typeface="黑体" pitchFamily="2" charset="-122"/>
              </a:rPr>
              <a:t>为</a:t>
            </a:r>
            <a:r>
              <a:rPr lang="zh-CN" altLang="en-US" sz="1800" u="sng" dirty="0">
                <a:solidFill>
                  <a:srgbClr val="000080"/>
                </a:solidFill>
                <a:latin typeface="黑体" pitchFamily="2" charset="-122"/>
                <a:ea typeface="黑体" pitchFamily="2" charset="-122"/>
              </a:rPr>
              <a:t>       </a:t>
            </a:r>
            <a:r>
              <a:rPr lang="zh-CN" altLang="en-US" sz="1800" dirty="0">
                <a:solidFill>
                  <a:srgbClr val="000080"/>
                </a:solidFill>
                <a:latin typeface="黑体" pitchFamily="2" charset="-122"/>
                <a:ea typeface="黑体" pitchFamily="2" charset="-122"/>
              </a:rPr>
              <a:t> 。</a:t>
            </a:r>
            <a:r>
              <a:rPr lang="zh-CN" altLang="en-US" sz="1800" dirty="0">
                <a:solidFill>
                  <a:schemeClr val="tx1"/>
                </a:solidFill>
                <a:latin typeface="黑体" pitchFamily="2" charset="-122"/>
                <a:ea typeface="黑体" pitchFamily="2" charset="-122"/>
              </a:rPr>
              <a:t>（保留到小数点后一位）</a:t>
            </a:r>
            <a:r>
              <a:rPr lang="zh-CN" altLang="en-US" sz="1100" dirty="0">
                <a:solidFill>
                  <a:schemeClr val="tx1"/>
                </a:solidFill>
                <a:latin typeface="黑体" pitchFamily="2" charset="-122"/>
                <a:ea typeface="黑体" pitchFamily="2" charset="-122"/>
              </a:rPr>
              <a:t> </a:t>
            </a:r>
            <a:endParaRPr lang="zh-CN" altLang="en-US" b="0" dirty="0">
              <a:solidFill>
                <a:schemeClr val="tx1"/>
              </a:solidFill>
              <a:latin typeface="黑体" pitchFamily="2" charset="-122"/>
              <a:ea typeface="黑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80266"/>
                                        </p:tgtEl>
                                        <p:attrNameLst>
                                          <p:attrName>style.visibility</p:attrName>
                                        </p:attrNameLst>
                                      </p:cBhvr>
                                      <p:to>
                                        <p:strVal val="visible"/>
                                      </p:to>
                                    </p:set>
                                    <p:animEffect transition="in" filter="wipe(up)">
                                      <p:cBhvr>
                                        <p:cTn id="7" dur="500"/>
                                        <p:tgtEl>
                                          <p:spTgt spid="4802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80267"/>
                                        </p:tgtEl>
                                        <p:attrNameLst>
                                          <p:attrName>style.visibility</p:attrName>
                                        </p:attrNameLst>
                                      </p:cBhvr>
                                      <p:to>
                                        <p:strVal val="visible"/>
                                      </p:to>
                                    </p:set>
                                    <p:animEffect transition="in" filter="wipe(up)">
                                      <p:cBhvr>
                                        <p:cTn id="12" dur="500"/>
                                        <p:tgtEl>
                                          <p:spTgt spid="4802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80268"/>
                                        </p:tgtEl>
                                        <p:attrNameLst>
                                          <p:attrName>style.visibility</p:attrName>
                                        </p:attrNameLst>
                                      </p:cBhvr>
                                      <p:to>
                                        <p:strVal val="visible"/>
                                      </p:to>
                                    </p:set>
                                    <p:animEffect transition="in" filter="wipe(up)">
                                      <p:cBhvr>
                                        <p:cTn id="17" dur="500"/>
                                        <p:tgtEl>
                                          <p:spTgt spid="48026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up)">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up)">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up)">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0266" grpId="0" autoUpdateAnimBg="0"/>
      <p:bldP spid="480267" grpId="0" autoUpdateAnimBg="0"/>
      <p:bldP spid="480268" grpId="0" autoUpdateAnimBg="0"/>
      <p:bldP spid="2" grpId="0" autoUpdateAnimBg="0"/>
      <p:bldP spid="7" grpId="0" autoUpdateAnimBg="0"/>
      <p:bldP spid="8"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F7656-50C5-6203-437D-AD23D1FBD4B7}"/>
            </a:ext>
          </a:extLst>
        </p:cNvPr>
        <p:cNvGrpSpPr/>
        <p:nvPr/>
      </p:nvGrpSpPr>
      <p:grpSpPr>
        <a:xfrm>
          <a:off x="0" y="0"/>
          <a:ext cx="0" cy="0"/>
          <a:chOff x="0" y="0"/>
          <a:chExt cx="0" cy="0"/>
        </a:xfrm>
      </p:grpSpPr>
      <p:graphicFrame>
        <p:nvGraphicFramePr>
          <p:cNvPr id="50178" name="Object 3">
            <a:extLst>
              <a:ext uri="{FF2B5EF4-FFF2-40B4-BE49-F238E27FC236}">
                <a16:creationId xmlns:a16="http://schemas.microsoft.com/office/drawing/2014/main" id="{AA96A300-FDF1-A1A7-CC2C-BF4CB4511438}"/>
              </a:ext>
            </a:extLst>
          </p:cNvPr>
          <p:cNvGraphicFramePr>
            <a:graphicFrameLocks noChangeAspect="1"/>
          </p:cNvGraphicFramePr>
          <p:nvPr>
            <p:extLst>
              <p:ext uri="{D42A27DB-BD31-4B8C-83A1-F6EECF244321}">
                <p14:modId xmlns:p14="http://schemas.microsoft.com/office/powerpoint/2010/main" val="3055642125"/>
              </p:ext>
            </p:extLst>
          </p:nvPr>
        </p:nvGraphicFramePr>
        <p:xfrm>
          <a:off x="757239" y="559666"/>
          <a:ext cx="6911253" cy="963447"/>
        </p:xfrm>
        <a:graphic>
          <a:graphicData uri="http://schemas.openxmlformats.org/presentationml/2006/ole">
            <mc:AlternateContent xmlns:mc="http://schemas.openxmlformats.org/markup-compatibility/2006">
              <mc:Choice xmlns:v="urn:schemas-microsoft-com:vml" Requires="v">
                <p:oleObj name="Document" r:id="rId2" imgW="6754081" imgH="906502" progId="Word.Document.8">
                  <p:embed/>
                </p:oleObj>
              </mc:Choice>
              <mc:Fallback>
                <p:oleObj name="Document" r:id="rId2" imgW="6754081" imgH="906502" progId="Word.Document.8">
                  <p:embed/>
                  <p:pic>
                    <p:nvPicPr>
                      <p:cNvPr id="50178" name="Object 3"/>
                      <p:cNvPicPr>
                        <a:picLocks noChangeAspect="1" noChangeArrowheads="1"/>
                      </p:cNvPicPr>
                      <p:nvPr/>
                    </p:nvPicPr>
                    <p:blipFill>
                      <a:blip r:embed="rId3"/>
                      <a:srcRect/>
                      <a:stretch>
                        <a:fillRect/>
                      </a:stretch>
                    </p:blipFill>
                    <p:spPr bwMode="auto">
                      <a:xfrm>
                        <a:off x="757239" y="559666"/>
                        <a:ext cx="6911253" cy="963447"/>
                      </a:xfrm>
                      <a:prstGeom prst="rect">
                        <a:avLst/>
                      </a:prstGeom>
                      <a:noFill/>
                      <a:ln>
                        <a:noFill/>
                      </a:ln>
                      <a:effectLst/>
                    </p:spPr>
                  </p:pic>
                </p:oleObj>
              </mc:Fallback>
            </mc:AlternateContent>
          </a:graphicData>
        </a:graphic>
      </p:graphicFrame>
      <p:sp>
        <p:nvSpPr>
          <p:cNvPr id="4" name="Rectangle 3">
            <a:extLst>
              <a:ext uri="{FF2B5EF4-FFF2-40B4-BE49-F238E27FC236}">
                <a16:creationId xmlns:a16="http://schemas.microsoft.com/office/drawing/2014/main" id="{AAF8A4C3-06F4-A480-C665-CC8174BD4B1C}"/>
              </a:ext>
            </a:extLst>
          </p:cNvPr>
          <p:cNvSpPr>
            <a:spLocks noChangeArrowheads="1"/>
          </p:cNvSpPr>
          <p:nvPr/>
        </p:nvSpPr>
        <p:spPr bwMode="auto">
          <a:xfrm>
            <a:off x="311150" y="1664957"/>
            <a:ext cx="85217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buClrTx/>
              <a:buFontTx/>
              <a:buNone/>
            </a:pPr>
            <a:r>
              <a:rPr lang="zh-CN" altLang="en-US" sz="1800" dirty="0">
                <a:solidFill>
                  <a:srgbClr val="000080"/>
                </a:solidFill>
                <a:latin typeface="黑体" pitchFamily="2" charset="-122"/>
                <a:ea typeface="黑体" pitchFamily="2" charset="-122"/>
              </a:rPr>
              <a:t>   1．存储程序的基本含义是将编好的程序和原始数据事先存入主存中。 </a:t>
            </a:r>
            <a:endParaRPr lang="zh-CN" altLang="en-US" b="0" dirty="0">
              <a:solidFill>
                <a:srgbClr val="000080"/>
              </a:solidFill>
              <a:latin typeface="黑体" pitchFamily="2" charset="-122"/>
              <a:ea typeface="黑体" pitchFamily="2" charset="-122"/>
            </a:endParaRPr>
          </a:p>
        </p:txBody>
      </p:sp>
      <p:sp>
        <p:nvSpPr>
          <p:cNvPr id="5" name="Rectangle 4">
            <a:extLst>
              <a:ext uri="{FF2B5EF4-FFF2-40B4-BE49-F238E27FC236}">
                <a16:creationId xmlns:a16="http://schemas.microsoft.com/office/drawing/2014/main" id="{49E505F3-F34F-2155-7131-AEE54259DF1D}"/>
              </a:ext>
            </a:extLst>
          </p:cNvPr>
          <p:cNvSpPr>
            <a:spLocks noChangeArrowheads="1"/>
          </p:cNvSpPr>
          <p:nvPr/>
        </p:nvSpPr>
        <p:spPr bwMode="auto">
          <a:xfrm>
            <a:off x="311150" y="2300585"/>
            <a:ext cx="81661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673100" indent="-673100">
              <a:lnSpc>
                <a:spcPct val="100000"/>
              </a:lnSpc>
              <a:spcBef>
                <a:spcPct val="0"/>
              </a:spcBef>
              <a:buClrTx/>
              <a:buFontTx/>
              <a:buNone/>
            </a:pPr>
            <a:r>
              <a:rPr lang="zh-CN" altLang="en-US" sz="1800" dirty="0">
                <a:solidFill>
                  <a:srgbClr val="000080"/>
                </a:solidFill>
                <a:latin typeface="黑体" pitchFamily="2" charset="-122"/>
                <a:ea typeface="黑体" pitchFamily="2" charset="-122"/>
              </a:rPr>
              <a:t>   2．利用大规模集成电路技术把计算机的运算部件和控制部件做在一块集成电路芯片上，这样的一块芯片叫做单片机。 </a:t>
            </a:r>
            <a:endParaRPr lang="zh-CN" altLang="en-US" b="0" dirty="0">
              <a:solidFill>
                <a:srgbClr val="000080"/>
              </a:solidFill>
              <a:latin typeface="黑体" pitchFamily="2" charset="-122"/>
              <a:ea typeface="黑体" pitchFamily="2" charset="-122"/>
            </a:endParaRPr>
          </a:p>
        </p:txBody>
      </p:sp>
      <p:sp>
        <p:nvSpPr>
          <p:cNvPr id="6" name="Rectangle 5">
            <a:extLst>
              <a:ext uri="{FF2B5EF4-FFF2-40B4-BE49-F238E27FC236}">
                <a16:creationId xmlns:a16="http://schemas.microsoft.com/office/drawing/2014/main" id="{BEAA8C91-5987-B289-4FCF-41EC6B701FAB}"/>
              </a:ext>
            </a:extLst>
          </p:cNvPr>
          <p:cNvSpPr>
            <a:spLocks noChangeArrowheads="1"/>
          </p:cNvSpPr>
          <p:nvPr/>
        </p:nvSpPr>
        <p:spPr bwMode="auto">
          <a:xfrm>
            <a:off x="323850" y="3250003"/>
            <a:ext cx="8496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00000"/>
              </a:lnSpc>
              <a:spcBef>
                <a:spcPct val="0"/>
              </a:spcBef>
              <a:buClrTx/>
              <a:buFontTx/>
              <a:buNone/>
            </a:pPr>
            <a:r>
              <a:rPr lang="zh-CN" altLang="en-US" sz="1800" dirty="0">
                <a:solidFill>
                  <a:srgbClr val="000080"/>
                </a:solidFill>
                <a:latin typeface="黑体" pitchFamily="2" charset="-122"/>
                <a:ea typeface="黑体" pitchFamily="2" charset="-122"/>
              </a:rPr>
              <a:t>   3．计算机“运算速度”指标的含义是指每秒钟能执行多少条操作系统的命令。</a:t>
            </a:r>
            <a:r>
              <a:rPr lang="zh-CN" altLang="en-US" sz="1100" dirty="0">
                <a:solidFill>
                  <a:srgbClr val="000080"/>
                </a:solidFill>
                <a:latin typeface="黑体" pitchFamily="2" charset="-122"/>
                <a:ea typeface="黑体" pitchFamily="2" charset="-122"/>
              </a:rPr>
              <a:t> </a:t>
            </a:r>
            <a:endParaRPr lang="zh-CN" altLang="en-US" b="0" dirty="0">
              <a:solidFill>
                <a:srgbClr val="000080"/>
              </a:solidFill>
              <a:latin typeface="黑体" pitchFamily="2" charset="-122"/>
              <a:ea typeface="黑体" pitchFamily="2" charset="-122"/>
            </a:endParaRPr>
          </a:p>
        </p:txBody>
      </p:sp>
    </p:spTree>
    <p:extLst>
      <p:ext uri="{BB962C8B-B14F-4D97-AF65-F5344CB8AC3E}">
        <p14:creationId xmlns:p14="http://schemas.microsoft.com/office/powerpoint/2010/main" val="3121652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ChangeArrowheads="1"/>
          </p:cNvSpPr>
          <p:nvPr/>
        </p:nvSpPr>
        <p:spPr bwMode="auto">
          <a:xfrm>
            <a:off x="558800" y="558800"/>
            <a:ext cx="8216900" cy="5016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82600" indent="-292100" algn="just">
              <a:lnSpc>
                <a:spcPct val="100000"/>
              </a:lnSpc>
              <a:spcBef>
                <a:spcPct val="0"/>
              </a:spcBef>
              <a:buClrTx/>
              <a:buFontTx/>
              <a:buNone/>
              <a:tabLst>
                <a:tab pos="498475" algn="l"/>
              </a:tabLst>
            </a:pPr>
            <a:r>
              <a:rPr lang="zh-CN" altLang="en-US" sz="2000" dirty="0">
                <a:solidFill>
                  <a:srgbClr val="800000"/>
                </a:solidFill>
                <a:latin typeface="黑体" pitchFamily="2" charset="-122"/>
                <a:ea typeface="黑体" pitchFamily="2" charset="-122"/>
              </a:rPr>
              <a:t>课堂同步练习解答：</a:t>
            </a:r>
            <a:endParaRPr lang="zh-CN" altLang="en-US" sz="2000" dirty="0">
              <a:latin typeface="黑体" pitchFamily="2" charset="-122"/>
              <a:ea typeface="黑体" pitchFamily="2" charset="-122"/>
            </a:endParaRPr>
          </a:p>
          <a:p>
            <a:pPr marL="482600" indent="-292100" algn="just" eaLnBrk="0" hangingPunct="0">
              <a:lnSpc>
                <a:spcPct val="100000"/>
              </a:lnSpc>
              <a:spcBef>
                <a:spcPct val="0"/>
              </a:spcBef>
              <a:buClrTx/>
              <a:buFontTx/>
              <a:buNone/>
              <a:tabLst>
                <a:tab pos="498475" algn="l"/>
              </a:tabLst>
            </a:pPr>
            <a:r>
              <a:rPr lang="zh-CN" altLang="en-US" sz="2000" dirty="0">
                <a:solidFill>
                  <a:srgbClr val="000080"/>
                </a:solidFill>
                <a:latin typeface="黑体" pitchFamily="2" charset="-122"/>
                <a:ea typeface="黑体" pitchFamily="2" charset="-122"/>
              </a:rPr>
              <a:t> </a:t>
            </a:r>
            <a:endParaRPr lang="zh-CN" altLang="en-US" sz="2000" dirty="0">
              <a:latin typeface="黑体" pitchFamily="2" charset="-122"/>
              <a:ea typeface="黑体" pitchFamily="2" charset="-122"/>
            </a:endParaRPr>
          </a:p>
          <a:p>
            <a:pPr marL="482600" indent="-292100" algn="just" eaLnBrk="0" hangingPunct="0">
              <a:lnSpc>
                <a:spcPct val="100000"/>
              </a:lnSpc>
              <a:spcBef>
                <a:spcPct val="0"/>
              </a:spcBef>
              <a:buClrTx/>
              <a:buFontTx/>
              <a:buNone/>
              <a:tabLst>
                <a:tab pos="498475" algn="l"/>
              </a:tabLst>
            </a:pPr>
            <a:r>
              <a:rPr lang="zh-CN" altLang="en-US" sz="2000" dirty="0">
                <a:solidFill>
                  <a:srgbClr val="800000"/>
                </a:solidFill>
                <a:latin typeface="黑体" pitchFamily="2" charset="-122"/>
                <a:ea typeface="黑体" pitchFamily="2" charset="-122"/>
              </a:rPr>
              <a:t>一、选择题</a:t>
            </a:r>
            <a:endParaRPr lang="zh-CN" altLang="en-US" sz="2000" dirty="0">
              <a:latin typeface="黑体" pitchFamily="2" charset="-122"/>
              <a:ea typeface="黑体" pitchFamily="2" charset="-122"/>
            </a:endParaRPr>
          </a:p>
          <a:p>
            <a:pPr marL="482600" indent="-292100" algn="just" eaLnBrk="0" hangingPunct="0">
              <a:lnSpc>
                <a:spcPct val="100000"/>
              </a:lnSpc>
              <a:spcBef>
                <a:spcPct val="0"/>
              </a:spcBef>
              <a:buClrTx/>
              <a:buFontTx/>
              <a:buNone/>
              <a:tabLst>
                <a:tab pos="498475" algn="l"/>
              </a:tabLst>
            </a:pPr>
            <a:r>
              <a:rPr lang="en-US" altLang="zh-CN" sz="2000" dirty="0">
                <a:solidFill>
                  <a:srgbClr val="000080"/>
                </a:solidFill>
                <a:latin typeface="黑体" pitchFamily="2" charset="-122"/>
                <a:ea typeface="黑体" pitchFamily="2" charset="-122"/>
              </a:rPr>
              <a:t>    A </a:t>
            </a:r>
            <a:r>
              <a:rPr lang="en-US" altLang="zh-CN" sz="2000" dirty="0" err="1">
                <a:solidFill>
                  <a:srgbClr val="000080"/>
                </a:solidFill>
                <a:latin typeface="黑体" pitchFamily="2" charset="-122"/>
                <a:ea typeface="黑体" pitchFamily="2" charset="-122"/>
              </a:rPr>
              <a:t>A</a:t>
            </a:r>
            <a:r>
              <a:rPr lang="en-US" altLang="zh-CN" sz="2000" dirty="0">
                <a:solidFill>
                  <a:srgbClr val="000080"/>
                </a:solidFill>
                <a:latin typeface="黑体" pitchFamily="2" charset="-122"/>
                <a:ea typeface="黑体" pitchFamily="2" charset="-122"/>
              </a:rPr>
              <a:t> C </a:t>
            </a:r>
            <a:r>
              <a:rPr lang="en-US" altLang="zh-CN" sz="2000" dirty="0" err="1">
                <a:solidFill>
                  <a:srgbClr val="000080"/>
                </a:solidFill>
                <a:latin typeface="黑体" pitchFamily="2" charset="-122"/>
                <a:ea typeface="黑体" pitchFamily="2" charset="-122"/>
              </a:rPr>
              <a:t>C</a:t>
            </a:r>
            <a:r>
              <a:rPr lang="en-US" altLang="zh-CN" sz="2000" dirty="0">
                <a:solidFill>
                  <a:srgbClr val="000080"/>
                </a:solidFill>
                <a:latin typeface="黑体" pitchFamily="2" charset="-122"/>
                <a:ea typeface="黑体" pitchFamily="2" charset="-122"/>
              </a:rPr>
              <a:t> B   D </a:t>
            </a:r>
            <a:r>
              <a:rPr lang="en-US" altLang="zh-CN" sz="2000" dirty="0" err="1">
                <a:solidFill>
                  <a:srgbClr val="000080"/>
                </a:solidFill>
                <a:latin typeface="黑体" pitchFamily="2" charset="-122"/>
                <a:ea typeface="黑体" pitchFamily="2" charset="-122"/>
              </a:rPr>
              <a:t>D</a:t>
            </a:r>
            <a:r>
              <a:rPr lang="en-US" altLang="zh-CN" sz="2000" dirty="0">
                <a:solidFill>
                  <a:srgbClr val="000080"/>
                </a:solidFill>
                <a:latin typeface="黑体" pitchFamily="2" charset="-122"/>
                <a:ea typeface="黑体" pitchFamily="2" charset="-122"/>
              </a:rPr>
              <a:t> </a:t>
            </a:r>
            <a:r>
              <a:rPr lang="en-US" altLang="zh-CN" sz="2000" dirty="0" err="1">
                <a:solidFill>
                  <a:srgbClr val="000080"/>
                </a:solidFill>
                <a:latin typeface="黑体" pitchFamily="2" charset="-122"/>
                <a:ea typeface="黑体" pitchFamily="2" charset="-122"/>
              </a:rPr>
              <a:t>D</a:t>
            </a:r>
            <a:r>
              <a:rPr lang="en-US" altLang="zh-CN" sz="2000" dirty="0">
                <a:solidFill>
                  <a:srgbClr val="000080"/>
                </a:solidFill>
                <a:latin typeface="黑体" pitchFamily="2" charset="-122"/>
                <a:ea typeface="黑体" pitchFamily="2" charset="-122"/>
              </a:rPr>
              <a:t> A D  C </a:t>
            </a:r>
            <a:r>
              <a:rPr lang="en-US" altLang="zh-CN" sz="2000" dirty="0" err="1">
                <a:solidFill>
                  <a:srgbClr val="000080"/>
                </a:solidFill>
                <a:latin typeface="黑体" pitchFamily="2" charset="-122"/>
                <a:ea typeface="黑体" pitchFamily="2" charset="-122"/>
              </a:rPr>
              <a:t>C</a:t>
            </a:r>
            <a:r>
              <a:rPr lang="en-US" altLang="zh-CN" sz="2000" dirty="0">
                <a:solidFill>
                  <a:srgbClr val="000080"/>
                </a:solidFill>
                <a:latin typeface="黑体" pitchFamily="2" charset="-122"/>
                <a:ea typeface="黑体" pitchFamily="2" charset="-122"/>
              </a:rPr>
              <a:t> </a:t>
            </a:r>
            <a:r>
              <a:rPr lang="en-US" altLang="zh-CN" sz="2000" dirty="0" err="1">
                <a:solidFill>
                  <a:srgbClr val="000080"/>
                </a:solidFill>
                <a:latin typeface="黑体" pitchFamily="2" charset="-122"/>
                <a:ea typeface="黑体" pitchFamily="2" charset="-122"/>
              </a:rPr>
              <a:t>C</a:t>
            </a:r>
            <a:r>
              <a:rPr lang="en-US" altLang="zh-CN" sz="2000" dirty="0">
                <a:solidFill>
                  <a:srgbClr val="000080"/>
                </a:solidFill>
                <a:latin typeface="黑体" pitchFamily="2" charset="-122"/>
                <a:ea typeface="黑体" pitchFamily="2" charset="-122"/>
              </a:rPr>
              <a:t> B </a:t>
            </a:r>
            <a:r>
              <a:rPr lang="en-US" altLang="zh-CN" sz="2000" dirty="0" err="1">
                <a:solidFill>
                  <a:srgbClr val="000080"/>
                </a:solidFill>
                <a:latin typeface="黑体" pitchFamily="2" charset="-122"/>
                <a:ea typeface="黑体" pitchFamily="2" charset="-122"/>
              </a:rPr>
              <a:t>B</a:t>
            </a:r>
            <a:r>
              <a:rPr lang="en-US" altLang="zh-CN" sz="2000" dirty="0">
                <a:solidFill>
                  <a:srgbClr val="000080"/>
                </a:solidFill>
                <a:latin typeface="黑体" pitchFamily="2" charset="-122"/>
                <a:ea typeface="黑体" pitchFamily="2" charset="-122"/>
              </a:rPr>
              <a:t>  D B D A D    </a:t>
            </a:r>
          </a:p>
          <a:p>
            <a:pPr marL="482600" indent="-292100" algn="just" eaLnBrk="0" hangingPunct="0">
              <a:lnSpc>
                <a:spcPct val="100000"/>
              </a:lnSpc>
              <a:spcBef>
                <a:spcPct val="0"/>
              </a:spcBef>
              <a:buClrTx/>
              <a:buFontTx/>
              <a:buNone/>
              <a:tabLst>
                <a:tab pos="498475" algn="l"/>
              </a:tabLst>
            </a:pPr>
            <a:r>
              <a:rPr lang="en-US" altLang="zh-CN" sz="2000" dirty="0">
                <a:solidFill>
                  <a:srgbClr val="000080"/>
                </a:solidFill>
                <a:latin typeface="黑体" pitchFamily="2" charset="-122"/>
                <a:ea typeface="黑体" pitchFamily="2" charset="-122"/>
              </a:rPr>
              <a:t>    A   ABCD </a:t>
            </a:r>
            <a:r>
              <a:rPr lang="en-US" altLang="zh-CN" sz="2000" dirty="0" err="1">
                <a:solidFill>
                  <a:srgbClr val="000080"/>
                </a:solidFill>
                <a:latin typeface="黑体" pitchFamily="2" charset="-122"/>
                <a:ea typeface="黑体" pitchFamily="2" charset="-122"/>
              </a:rPr>
              <a:t>ABCD</a:t>
            </a:r>
            <a:r>
              <a:rPr lang="en-US" altLang="zh-CN" sz="2000" dirty="0">
                <a:solidFill>
                  <a:srgbClr val="000080"/>
                </a:solidFill>
                <a:latin typeface="黑体" pitchFamily="2" charset="-122"/>
                <a:ea typeface="黑体" pitchFamily="2" charset="-122"/>
              </a:rPr>
              <a:t>  AC</a:t>
            </a:r>
          </a:p>
          <a:p>
            <a:pPr marL="482600" indent="-292100" algn="just" eaLnBrk="0" hangingPunct="0">
              <a:lnSpc>
                <a:spcPct val="100000"/>
              </a:lnSpc>
              <a:spcBef>
                <a:spcPct val="0"/>
              </a:spcBef>
              <a:buClrTx/>
              <a:buFontTx/>
              <a:buNone/>
              <a:tabLst>
                <a:tab pos="498475" algn="l"/>
              </a:tabLst>
            </a:pPr>
            <a:r>
              <a:rPr lang="en-US" altLang="zh-CN" sz="2000" dirty="0">
                <a:latin typeface="黑体" pitchFamily="2" charset="-122"/>
                <a:ea typeface="黑体" pitchFamily="2" charset="-122"/>
              </a:rPr>
              <a:t>  </a:t>
            </a:r>
          </a:p>
          <a:p>
            <a:pPr marL="482600" indent="-292100" algn="just" eaLnBrk="0" hangingPunct="0">
              <a:lnSpc>
                <a:spcPct val="100000"/>
              </a:lnSpc>
              <a:spcBef>
                <a:spcPct val="0"/>
              </a:spcBef>
              <a:buClrTx/>
              <a:buFontTx/>
              <a:buNone/>
              <a:tabLst>
                <a:tab pos="498475" algn="l"/>
              </a:tabLst>
            </a:pPr>
            <a:r>
              <a:rPr lang="zh-CN" altLang="en-US" sz="2000" dirty="0">
                <a:solidFill>
                  <a:srgbClr val="800000"/>
                </a:solidFill>
                <a:latin typeface="黑体" pitchFamily="2" charset="-122"/>
                <a:ea typeface="黑体" pitchFamily="2" charset="-122"/>
              </a:rPr>
              <a:t>二、填空题</a:t>
            </a:r>
            <a:endParaRPr lang="zh-CN" altLang="en-US" sz="2000" dirty="0">
              <a:latin typeface="黑体" pitchFamily="2" charset="-122"/>
              <a:ea typeface="黑体" pitchFamily="2" charset="-122"/>
            </a:endParaRPr>
          </a:p>
          <a:p>
            <a:pPr marL="482600" indent="-292100" algn="just" eaLnBrk="0" hangingPunct="0">
              <a:lnSpc>
                <a:spcPct val="100000"/>
              </a:lnSpc>
              <a:spcBef>
                <a:spcPct val="0"/>
              </a:spcBef>
              <a:buClrTx/>
              <a:buFontTx/>
              <a:buNone/>
              <a:tabLst>
                <a:tab pos="498475" algn="l"/>
              </a:tabLst>
            </a:pPr>
            <a:r>
              <a:rPr lang="zh-CN" altLang="en-US" sz="2000" dirty="0">
                <a:solidFill>
                  <a:srgbClr val="000080"/>
                </a:solidFill>
                <a:latin typeface="黑体" pitchFamily="2" charset="-122"/>
                <a:ea typeface="黑体" pitchFamily="2" charset="-122"/>
              </a:rPr>
              <a:t>    1．硬件，软件    2．总线    3．浮空（或高阻）</a:t>
            </a:r>
            <a:endParaRPr lang="zh-CN" altLang="en-US" sz="2000" dirty="0">
              <a:latin typeface="黑体" pitchFamily="2" charset="-122"/>
              <a:ea typeface="黑体" pitchFamily="2" charset="-122"/>
            </a:endParaRPr>
          </a:p>
          <a:p>
            <a:pPr marL="482600" indent="-292100" algn="just" eaLnBrk="0" hangingPunct="0">
              <a:lnSpc>
                <a:spcPct val="100000"/>
              </a:lnSpc>
              <a:spcBef>
                <a:spcPct val="0"/>
              </a:spcBef>
              <a:buClrTx/>
              <a:buFontTx/>
              <a:buNone/>
              <a:tabLst>
                <a:tab pos="498475" algn="l"/>
              </a:tabLst>
            </a:pPr>
            <a:r>
              <a:rPr lang="zh-CN" altLang="en-US" sz="2000" dirty="0">
                <a:solidFill>
                  <a:srgbClr val="000080"/>
                </a:solidFill>
                <a:latin typeface="黑体" pitchFamily="2" charset="-122"/>
                <a:ea typeface="黑体" pitchFamily="2" charset="-122"/>
              </a:rPr>
              <a:t>    4．虚拟机器      </a:t>
            </a:r>
            <a:r>
              <a:rPr lang="en-US" altLang="zh-CN" sz="2000" dirty="0">
                <a:solidFill>
                  <a:srgbClr val="000080"/>
                </a:solidFill>
                <a:latin typeface="黑体" pitchFamily="2" charset="-122"/>
                <a:ea typeface="黑体" pitchFamily="2" charset="-122"/>
              </a:rPr>
              <a:t>5</a:t>
            </a:r>
            <a:r>
              <a:rPr lang="zh-CN" altLang="en-US" sz="2000" dirty="0">
                <a:solidFill>
                  <a:srgbClr val="000080"/>
                </a:solidFill>
                <a:latin typeface="黑体" pitchFamily="2" charset="-122"/>
                <a:ea typeface="黑体" pitchFamily="2" charset="-122"/>
              </a:rPr>
              <a:t>．</a:t>
            </a:r>
            <a:r>
              <a:rPr lang="en-US" altLang="zh-CN" sz="2000" dirty="0">
                <a:solidFill>
                  <a:srgbClr val="000080"/>
                </a:solidFill>
                <a:latin typeface="黑体" pitchFamily="2" charset="-122"/>
                <a:ea typeface="黑体" pitchFamily="2" charset="-122"/>
              </a:rPr>
              <a:t>18      6</a:t>
            </a:r>
            <a:r>
              <a:rPr lang="zh-CN" altLang="en-US" sz="2000" dirty="0">
                <a:solidFill>
                  <a:srgbClr val="000080"/>
                </a:solidFill>
                <a:latin typeface="黑体" pitchFamily="2" charset="-122"/>
                <a:ea typeface="黑体" pitchFamily="2" charset="-122"/>
              </a:rPr>
              <a:t>．</a:t>
            </a:r>
            <a:r>
              <a:rPr lang="en-US" altLang="zh-CN" sz="2000" dirty="0">
                <a:solidFill>
                  <a:srgbClr val="000080"/>
                </a:solidFill>
                <a:latin typeface="黑体" pitchFamily="2" charset="-122"/>
                <a:ea typeface="黑体" pitchFamily="2" charset="-122"/>
              </a:rPr>
              <a:t>187.5</a:t>
            </a:r>
          </a:p>
          <a:p>
            <a:pPr marL="482600" indent="-292100" algn="just" eaLnBrk="0" hangingPunct="0">
              <a:lnSpc>
                <a:spcPct val="100000"/>
              </a:lnSpc>
              <a:spcBef>
                <a:spcPct val="0"/>
              </a:spcBef>
              <a:buClrTx/>
              <a:buFontTx/>
              <a:buNone/>
              <a:tabLst>
                <a:tab pos="498475" algn="l"/>
              </a:tabLst>
            </a:pPr>
            <a:r>
              <a:rPr lang="en-US" altLang="zh-CN" sz="2000" dirty="0">
                <a:solidFill>
                  <a:srgbClr val="000080"/>
                </a:solidFill>
                <a:latin typeface="黑体" pitchFamily="2" charset="-122"/>
                <a:ea typeface="黑体" pitchFamily="2" charset="-122"/>
              </a:rPr>
              <a:t>    7</a:t>
            </a:r>
            <a:r>
              <a:rPr lang="zh-CN" altLang="en-US" sz="2000" dirty="0">
                <a:solidFill>
                  <a:srgbClr val="000080"/>
                </a:solidFill>
                <a:latin typeface="黑体" pitchFamily="2" charset="-122"/>
                <a:ea typeface="黑体" pitchFamily="2" charset="-122"/>
              </a:rPr>
              <a:t>．</a:t>
            </a:r>
            <a:r>
              <a:rPr lang="en-US" altLang="zh-CN" sz="2000" dirty="0">
                <a:solidFill>
                  <a:srgbClr val="000080"/>
                </a:solidFill>
                <a:latin typeface="黑体" pitchFamily="2" charset="-122"/>
                <a:ea typeface="黑体" pitchFamily="2" charset="-122"/>
              </a:rPr>
              <a:t>1.75</a:t>
            </a:r>
            <a:endParaRPr lang="zh-CN" altLang="en-US" sz="2000" dirty="0">
              <a:solidFill>
                <a:srgbClr val="000080"/>
              </a:solidFill>
              <a:latin typeface="黑体" pitchFamily="2" charset="-122"/>
              <a:ea typeface="黑体" pitchFamily="2" charset="-122"/>
            </a:endParaRPr>
          </a:p>
          <a:p>
            <a:pPr marL="482600" indent="-292100" algn="just" eaLnBrk="0" hangingPunct="0">
              <a:lnSpc>
                <a:spcPct val="100000"/>
              </a:lnSpc>
              <a:spcBef>
                <a:spcPct val="0"/>
              </a:spcBef>
              <a:buClrTx/>
              <a:buFontTx/>
              <a:buNone/>
              <a:tabLst>
                <a:tab pos="498475" algn="l"/>
              </a:tabLst>
            </a:pPr>
            <a:r>
              <a:rPr lang="zh-CN" altLang="en-US" sz="2000" dirty="0">
                <a:latin typeface="黑体" pitchFamily="2" charset="-122"/>
                <a:ea typeface="黑体" pitchFamily="2" charset="-122"/>
              </a:rPr>
              <a:t> </a:t>
            </a:r>
          </a:p>
          <a:p>
            <a:pPr marL="482600" indent="-292100" algn="just" eaLnBrk="0" hangingPunct="0">
              <a:lnSpc>
                <a:spcPct val="100000"/>
              </a:lnSpc>
              <a:spcBef>
                <a:spcPct val="0"/>
              </a:spcBef>
              <a:buClrTx/>
              <a:buFontTx/>
              <a:buNone/>
              <a:tabLst>
                <a:tab pos="498475" algn="l"/>
              </a:tabLst>
            </a:pPr>
            <a:r>
              <a:rPr lang="zh-CN" altLang="en-US" sz="2000" dirty="0">
                <a:solidFill>
                  <a:srgbClr val="800000"/>
                </a:solidFill>
                <a:latin typeface="黑体" pitchFamily="2" charset="-122"/>
                <a:ea typeface="黑体" pitchFamily="2" charset="-122"/>
              </a:rPr>
              <a:t>三、判断题</a:t>
            </a:r>
            <a:endParaRPr lang="zh-CN" altLang="en-US" sz="2000" dirty="0">
              <a:latin typeface="黑体" pitchFamily="2" charset="-122"/>
              <a:ea typeface="黑体" pitchFamily="2" charset="-122"/>
            </a:endParaRPr>
          </a:p>
          <a:p>
            <a:pPr marL="482600" indent="-292100" algn="just" eaLnBrk="0" hangingPunct="0">
              <a:lnSpc>
                <a:spcPct val="100000"/>
              </a:lnSpc>
              <a:spcBef>
                <a:spcPct val="0"/>
              </a:spcBef>
              <a:buClrTx/>
              <a:buFontTx/>
              <a:buNone/>
              <a:tabLst>
                <a:tab pos="498475" algn="l"/>
              </a:tabLst>
            </a:pPr>
            <a:r>
              <a:rPr lang="zh-CN" altLang="en-US" sz="2000" dirty="0">
                <a:solidFill>
                  <a:srgbClr val="000080"/>
                </a:solidFill>
                <a:latin typeface="黑体" pitchFamily="2" charset="-122"/>
                <a:ea typeface="黑体" pitchFamily="2" charset="-122"/>
              </a:rPr>
              <a:t>    1．对。</a:t>
            </a:r>
            <a:endParaRPr lang="zh-CN" altLang="en-US" sz="2000" dirty="0">
              <a:latin typeface="黑体" pitchFamily="2" charset="-122"/>
              <a:ea typeface="黑体" pitchFamily="2" charset="-122"/>
            </a:endParaRPr>
          </a:p>
          <a:p>
            <a:pPr marL="482600" indent="-292100" algn="just" eaLnBrk="0" hangingPunct="0">
              <a:lnSpc>
                <a:spcPct val="100000"/>
              </a:lnSpc>
              <a:spcBef>
                <a:spcPct val="0"/>
              </a:spcBef>
              <a:buClrTx/>
              <a:buFontTx/>
              <a:buNone/>
              <a:tabLst>
                <a:tab pos="498475" algn="l"/>
              </a:tabLst>
            </a:pPr>
            <a:r>
              <a:rPr lang="zh-CN" altLang="en-US" sz="2000" dirty="0">
                <a:solidFill>
                  <a:srgbClr val="000080"/>
                </a:solidFill>
                <a:latin typeface="黑体" pitchFamily="2" charset="-122"/>
                <a:ea typeface="黑体" pitchFamily="2" charset="-122"/>
              </a:rPr>
              <a:t>    2．错。这样的芯片应成为</a:t>
            </a:r>
            <a:r>
              <a:rPr lang="en-US" altLang="zh-CN" sz="2000" dirty="0">
                <a:solidFill>
                  <a:srgbClr val="000080"/>
                </a:solidFill>
                <a:latin typeface="黑体" pitchFamily="2" charset="-122"/>
                <a:ea typeface="黑体" pitchFamily="2" charset="-122"/>
              </a:rPr>
              <a:t>CPU。</a:t>
            </a:r>
            <a:endParaRPr lang="en-US" altLang="zh-CN" sz="2000" dirty="0">
              <a:latin typeface="黑体" pitchFamily="2" charset="-122"/>
              <a:ea typeface="黑体" pitchFamily="2" charset="-122"/>
            </a:endParaRPr>
          </a:p>
          <a:p>
            <a:pPr marL="482600" indent="-292100" algn="just" eaLnBrk="0" hangingPunct="0">
              <a:lnSpc>
                <a:spcPct val="100000"/>
              </a:lnSpc>
              <a:spcBef>
                <a:spcPct val="0"/>
              </a:spcBef>
              <a:buClrTx/>
              <a:buFontTx/>
              <a:buNone/>
              <a:tabLst>
                <a:tab pos="498475" algn="l"/>
              </a:tabLst>
            </a:pPr>
            <a:r>
              <a:rPr lang="en-US" altLang="zh-CN" sz="2000" dirty="0">
                <a:solidFill>
                  <a:srgbClr val="000080"/>
                </a:solidFill>
                <a:latin typeface="黑体" pitchFamily="2" charset="-122"/>
                <a:ea typeface="黑体" pitchFamily="2" charset="-122"/>
              </a:rPr>
              <a:t>    3．</a:t>
            </a:r>
            <a:r>
              <a:rPr lang="zh-CN" altLang="en-US" sz="2000" dirty="0">
                <a:solidFill>
                  <a:srgbClr val="000080"/>
                </a:solidFill>
                <a:latin typeface="黑体" pitchFamily="2" charset="-122"/>
                <a:ea typeface="黑体" pitchFamily="2" charset="-122"/>
              </a:rPr>
              <a:t>错。应指每秒执行多少条指令或每秒执行多少次浮点运算。</a:t>
            </a:r>
            <a:endParaRPr lang="zh-CN" altLang="en-US" sz="2000" dirty="0">
              <a:latin typeface="黑体" pitchFamily="2" charset="-122"/>
              <a:ea typeface="黑体" pitchFamily="2" charset="-122"/>
            </a:endParaRPr>
          </a:p>
          <a:p>
            <a:pPr marL="482600" indent="-292100" eaLnBrk="0" hangingPunct="0">
              <a:lnSpc>
                <a:spcPct val="100000"/>
              </a:lnSpc>
              <a:spcBef>
                <a:spcPct val="0"/>
              </a:spcBef>
              <a:buClrTx/>
              <a:buFontTx/>
              <a:buNone/>
              <a:tabLst>
                <a:tab pos="498475" algn="l"/>
              </a:tabLst>
            </a:pPr>
            <a:endParaRPr lang="zh-CN" altLang="en-US" sz="2000" dirty="0">
              <a:solidFill>
                <a:schemeClr val="tx1"/>
              </a:solidFill>
              <a:latin typeface="黑体" pitchFamily="2" charset="-122"/>
              <a:ea typeface="黑体" pitchFamily="2" charset="-122"/>
            </a:endParaRPr>
          </a:p>
        </p:txBody>
      </p:sp>
    </p:spTree>
  </p:cSld>
  <p:clrMapOvr>
    <a:masterClrMapping/>
  </p:clrMapOvr>
</p:sld>
</file>

<file path=ppt/theme/theme1.xml><?xml version="1.0" encoding="utf-8"?>
<a:theme xmlns:a="http://schemas.openxmlformats.org/drawingml/2006/main" name="带页脚母版">
  <a:themeElements>
    <a:clrScheme name="带页脚母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带页脚母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带页脚母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带页脚母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带页脚母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带页脚母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带页脚母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带页脚母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带页脚母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带页脚母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带页脚母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带页脚母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带页脚母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带页脚母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演示稿正文">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隶书"/>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609600" marR="0" indent="-609600" algn="ctr" defTabSz="914400" rtl="0" eaLnBrk="1" fontAlgn="base" latinLnBrk="0" hangingPunct="1">
          <a:lnSpc>
            <a:spcPct val="90000"/>
          </a:lnSpc>
          <a:spcBef>
            <a:spcPct val="20000"/>
          </a:spcBef>
          <a:spcAft>
            <a:spcPct val="0"/>
          </a:spcAft>
          <a:buClr>
            <a:schemeClr val="bg1"/>
          </a:buClr>
          <a:buSzTx/>
          <a:buFont typeface="Wingdings" pitchFamily="2" charset="2"/>
          <a:buNone/>
          <a:tabLst/>
          <a:defRPr kumimoji="1" lang="en-US" sz="2600" b="1" i="0" u="none" strike="noStrike" cap="none" normalizeH="0" baseline="0" smtClean="0">
            <a:ln>
              <a:noFill/>
            </a:ln>
            <a:solidFill>
              <a:schemeClr val="tx2"/>
            </a:solidFill>
            <a:effectLst/>
            <a:latin typeface="Tahom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609600" marR="0" indent="-609600" algn="ctr" defTabSz="914400" rtl="0" eaLnBrk="1" fontAlgn="base" latinLnBrk="0" hangingPunct="1">
          <a:lnSpc>
            <a:spcPct val="90000"/>
          </a:lnSpc>
          <a:spcBef>
            <a:spcPct val="20000"/>
          </a:spcBef>
          <a:spcAft>
            <a:spcPct val="0"/>
          </a:spcAft>
          <a:buClr>
            <a:schemeClr val="bg1"/>
          </a:buClr>
          <a:buSzTx/>
          <a:buFont typeface="Wingdings" pitchFamily="2" charset="2"/>
          <a:buNone/>
          <a:tabLst/>
          <a:defRPr kumimoji="1" lang="en-US" sz="2600" b="1" i="0" u="none" strike="noStrike" cap="none" normalizeH="0" baseline="0" smtClean="0">
            <a:ln>
              <a:noFill/>
            </a:ln>
            <a:solidFill>
              <a:schemeClr val="tx2"/>
            </a:solidFill>
            <a:effectLst/>
            <a:latin typeface="Tahoma" pitchFamily="34"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Designs\Artsy.pot</Template>
  <TotalTime>7176</TotalTime>
  <Words>4674</Words>
  <Application>Microsoft Office PowerPoint</Application>
  <PresentationFormat>全屏显示(4:3)</PresentationFormat>
  <Paragraphs>540</Paragraphs>
  <Slides>60</Slides>
  <Notes>0</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8</vt:i4>
      </vt:variant>
      <vt:variant>
        <vt:lpstr>幻灯片标题</vt:lpstr>
      </vt:variant>
      <vt:variant>
        <vt:i4>60</vt:i4>
      </vt:variant>
    </vt:vector>
  </HeadingPairs>
  <TitlesOfParts>
    <vt:vector size="80" baseType="lpstr">
      <vt:lpstr>仿宋_GB2312</vt:lpstr>
      <vt:lpstr>黑体</vt:lpstr>
      <vt:lpstr>华文仿宋</vt:lpstr>
      <vt:lpstr>楷体_GB2312</vt:lpstr>
      <vt:lpstr>宋体</vt:lpstr>
      <vt:lpstr>微软雅黑</vt:lpstr>
      <vt:lpstr>Arial</vt:lpstr>
      <vt:lpstr>Tahoma</vt:lpstr>
      <vt:lpstr>Times New Roman</vt:lpstr>
      <vt:lpstr>Wingdings</vt:lpstr>
      <vt:lpstr>带页脚母版</vt:lpstr>
      <vt:lpstr>演示稿正文</vt:lpstr>
      <vt:lpstr>包</vt:lpstr>
      <vt:lpstr>Clip</vt:lpstr>
      <vt:lpstr>VISIO</vt:lpstr>
      <vt:lpstr>Image</vt:lpstr>
      <vt:lpstr>Document</vt:lpstr>
      <vt:lpstr>Visio</vt:lpstr>
      <vt:lpstr>BMP 图象</vt:lpstr>
      <vt:lpstr>Microsoft Word 97 - 2003 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SWJTU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概论</dc:title>
  <dc:creator>Y.Q.Ma</dc:creator>
  <cp:lastModifiedBy>Jingdong Sun</cp:lastModifiedBy>
  <cp:revision>1160</cp:revision>
  <cp:lastPrinted>2016-09-01T00:12:52Z</cp:lastPrinted>
  <dcterms:created xsi:type="dcterms:W3CDTF">2000-10-10T05:39:14Z</dcterms:created>
  <dcterms:modified xsi:type="dcterms:W3CDTF">2024-02-25T15:02:57Z</dcterms:modified>
</cp:coreProperties>
</file>