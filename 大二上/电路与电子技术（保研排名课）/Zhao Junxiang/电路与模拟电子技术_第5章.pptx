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
  </p:notesMasterIdLst>
  <p:sldIdLst>
    <p:sldId id="256" r:id="rId3"/>
    <p:sldId id="258" r:id="rId5"/>
    <p:sldId id="257"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323" r:id="rId32"/>
    <p:sldId id="284" r:id="rId33"/>
    <p:sldId id="285" r:id="rId34"/>
    <p:sldId id="286" r:id="rId35"/>
    <p:sldId id="287" r:id="rId36"/>
    <p:sldId id="288" r:id="rId37"/>
    <p:sldId id="299" r:id="rId38"/>
    <p:sldId id="300" r:id="rId39"/>
    <p:sldId id="301" r:id="rId40"/>
    <p:sldId id="289" r:id="rId41"/>
    <p:sldId id="290" r:id="rId42"/>
    <p:sldId id="291" r:id="rId43"/>
    <p:sldId id="292" r:id="rId44"/>
    <p:sldId id="293" r:id="rId45"/>
    <p:sldId id="294" r:id="rId46"/>
    <p:sldId id="295" r:id="rId47"/>
    <p:sldId id="296" r:id="rId48"/>
    <p:sldId id="317" r:id="rId49"/>
    <p:sldId id="318" r:id="rId50"/>
    <p:sldId id="298" r:id="rId51"/>
    <p:sldId id="302" r:id="rId52"/>
    <p:sldId id="303" r:id="rId53"/>
    <p:sldId id="319" r:id="rId54"/>
    <p:sldId id="304" r:id="rId55"/>
    <p:sldId id="305" r:id="rId56"/>
    <p:sldId id="306" r:id="rId57"/>
    <p:sldId id="307" r:id="rId58"/>
    <p:sldId id="310" r:id="rId59"/>
    <p:sldId id="308" r:id="rId60"/>
    <p:sldId id="320" r:id="rId61"/>
    <p:sldId id="309" r:id="rId62"/>
    <p:sldId id="311" r:id="rId63"/>
    <p:sldId id="312" r:id="rId64"/>
    <p:sldId id="313" r:id="rId65"/>
    <p:sldId id="321" r:id="rId66"/>
    <p:sldId id="314" r:id="rId67"/>
    <p:sldId id="315" r:id="rId68"/>
    <p:sldId id="316" r:id="rId69"/>
    <p:sldId id="322" r:id="rId70"/>
  </p:sldIdLst>
  <p:sldSz cx="9144000" cy="6858000" type="screen4x3"/>
  <p:notesSz cx="6858000" cy="9144000"/>
  <p:embeddedFontLst>
    <p:embeddedFont>
      <p:font typeface="黑体" panose="02010609060101010101" pitchFamily="49" charset="-122"/>
      <p:regular r:id="rId74"/>
    </p:embeddedFont>
    <p:embeddedFont>
      <p:font typeface="隶书" panose="02010509060101010101" pitchFamily="49" charset="-122"/>
      <p:regular r:id="rId75"/>
    </p:embeddedFont>
    <p:embeddedFont>
      <p:font typeface="华文新魏" panose="02010800040101010101" pitchFamily="2" charset="-122"/>
      <p:regular r:id="rId76"/>
    </p:embeddedFont>
    <p:embeddedFont>
      <p:font typeface="华文中宋" panose="02010600040101010101" pitchFamily="2" charset="-122"/>
      <p:regular r:id="rId77"/>
    </p:embeddedFont>
    <p:embeddedFont>
      <p:font typeface="Arial Unicode MS" panose="020B0604020202020204" pitchFamily="34" charset="-122"/>
      <p:regular r:id="rId78"/>
    </p:embeddedFont>
    <p:embeddedFont>
      <p:font typeface="Calibri" panose="020F0502020204030204" charset="0"/>
      <p:regular r:id="rId79"/>
      <p:bold r:id="rId80"/>
      <p:italic r:id="rId81"/>
      <p:boldItalic r:id="rId82"/>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727" autoAdjust="0"/>
  </p:normalViewPr>
  <p:slideViewPr>
    <p:cSldViewPr showGuides="1">
      <p:cViewPr varScale="1">
        <p:scale>
          <a:sx n="63" d="100"/>
          <a:sy n="63" d="100"/>
        </p:scale>
        <p:origin x="844" y="3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font" Target="fonts/font9.fntdata"/><Relationship Id="rId81" Type="http://schemas.openxmlformats.org/officeDocument/2006/relationships/font" Target="fonts/font8.fntdata"/><Relationship Id="rId80" Type="http://schemas.openxmlformats.org/officeDocument/2006/relationships/font" Target="fonts/font7.fntdata"/><Relationship Id="rId8" Type="http://schemas.openxmlformats.org/officeDocument/2006/relationships/slide" Target="slides/slide5.xml"/><Relationship Id="rId79" Type="http://schemas.openxmlformats.org/officeDocument/2006/relationships/font" Target="fonts/font6.fntdata"/><Relationship Id="rId78" Type="http://schemas.openxmlformats.org/officeDocument/2006/relationships/font" Target="fonts/font5.fntdata"/><Relationship Id="rId77" Type="http://schemas.openxmlformats.org/officeDocument/2006/relationships/font" Target="fonts/font4.fntdata"/><Relationship Id="rId76" Type="http://schemas.openxmlformats.org/officeDocument/2006/relationships/font" Target="fonts/font3.fntdata"/><Relationship Id="rId75" Type="http://schemas.openxmlformats.org/officeDocument/2006/relationships/font" Target="fonts/font2.fntdata"/><Relationship Id="rId74" Type="http://schemas.openxmlformats.org/officeDocument/2006/relationships/font" Target="fonts/font1.fntdata"/><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9" Type="http://schemas.openxmlformats.org/officeDocument/2006/relationships/slide" Target="slides/slide15.xml"/><Relationship Id="rId8" Type="http://schemas.openxmlformats.org/officeDocument/2006/relationships/slide" Target="slides/slide13.xml"/><Relationship Id="rId7" Type="http://schemas.openxmlformats.org/officeDocument/2006/relationships/slide" Target="slides/slide12.xml"/><Relationship Id="rId6" Type="http://schemas.openxmlformats.org/officeDocument/2006/relationships/slide" Target="slides/slide11.xml"/><Relationship Id="rId5" Type="http://schemas.openxmlformats.org/officeDocument/2006/relationships/slide" Target="slides/slide8.xml"/><Relationship Id="rId4" Type="http://schemas.openxmlformats.org/officeDocument/2006/relationships/slide" Target="slides/slide7.xml"/><Relationship Id="rId3" Type="http://schemas.openxmlformats.org/officeDocument/2006/relationships/slide" Target="slides/slide6.xml"/><Relationship Id="rId26" Type="http://schemas.openxmlformats.org/officeDocument/2006/relationships/slide" Target="slides/slide48.xml"/><Relationship Id="rId25" Type="http://schemas.openxmlformats.org/officeDocument/2006/relationships/slide" Target="slides/slide44.xml"/><Relationship Id="rId24" Type="http://schemas.openxmlformats.org/officeDocument/2006/relationships/slide" Target="slides/slide42.xml"/><Relationship Id="rId23" Type="http://schemas.openxmlformats.org/officeDocument/2006/relationships/slide" Target="slides/slide41.xml"/><Relationship Id="rId22" Type="http://schemas.openxmlformats.org/officeDocument/2006/relationships/slide" Target="slides/slide39.xml"/><Relationship Id="rId21" Type="http://schemas.openxmlformats.org/officeDocument/2006/relationships/slide" Target="slides/slide38.xml"/><Relationship Id="rId20" Type="http://schemas.openxmlformats.org/officeDocument/2006/relationships/slide" Target="slides/slide33.xml"/><Relationship Id="rId2" Type="http://schemas.openxmlformats.org/officeDocument/2006/relationships/slide" Target="slides/slide5.xml"/><Relationship Id="rId19" Type="http://schemas.openxmlformats.org/officeDocument/2006/relationships/slide" Target="slides/slide31.xml"/><Relationship Id="rId18" Type="http://schemas.openxmlformats.org/officeDocument/2006/relationships/slide" Target="slides/slide30.xml"/><Relationship Id="rId17" Type="http://schemas.openxmlformats.org/officeDocument/2006/relationships/slide" Target="slides/slide29.xml"/><Relationship Id="rId16" Type="http://schemas.openxmlformats.org/officeDocument/2006/relationships/slide" Target="slides/slide27.xml"/><Relationship Id="rId15" Type="http://schemas.openxmlformats.org/officeDocument/2006/relationships/slide" Target="slides/slide25.xml"/><Relationship Id="rId14" Type="http://schemas.openxmlformats.org/officeDocument/2006/relationships/slide" Target="slides/slide23.xml"/><Relationship Id="rId13" Type="http://schemas.openxmlformats.org/officeDocument/2006/relationships/slide" Target="slides/slide22.xml"/><Relationship Id="rId12" Type="http://schemas.openxmlformats.org/officeDocument/2006/relationships/slide" Target="slides/slide18.xml"/><Relationship Id="rId11" Type="http://schemas.openxmlformats.org/officeDocument/2006/relationships/slide" Target="slides/slide17.xml"/><Relationship Id="rId10" Type="http://schemas.openxmlformats.org/officeDocument/2006/relationships/slide" Target="slides/slide16.xml"/><Relationship Id="rId1"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23.emf"/><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1.vml.rels><?xml version="1.0" encoding="UTF-8" standalone="yes"?>
<Relationships xmlns="http://schemas.openxmlformats.org/package/2006/relationships"><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image" Target="../media/image35.emf"/></Relationships>
</file>

<file path=ppt/drawings/_rels/vmlDrawing13.vml.rels><?xml version="1.0" encoding="UTF-8" standalone="yes"?>
<Relationships xmlns="http://schemas.openxmlformats.org/package/2006/relationships"><Relationship Id="rId7" Type="http://schemas.openxmlformats.org/officeDocument/2006/relationships/image" Target="../media/image44.emf"/><Relationship Id="rId6" Type="http://schemas.openxmlformats.org/officeDocument/2006/relationships/image" Target="../media/image43.emf"/><Relationship Id="rId5" Type="http://schemas.openxmlformats.org/officeDocument/2006/relationships/image" Target="../media/image42.emf"/><Relationship Id="rId4" Type="http://schemas.openxmlformats.org/officeDocument/2006/relationships/image" Target="../media/image41.emf"/><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38.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54.emf"/><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image" Target="../media/image5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image" Target="../media/image5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panose="02010600030101010101" pitchFamily="2" charset="-122"/>
              </a:defRPr>
            </a:lvl1pPr>
          </a:lstStyle>
          <a:p>
            <a:pPr>
              <a:defRPr/>
            </a:pPr>
            <a:fld id="{64F759C7-CF6D-4964-A49C-DFD88DFC1826}"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panose="02010600030101010101" pitchFamily="2" charset="-122"/>
              </a:defRPr>
            </a:lvl1pPr>
          </a:lstStyle>
          <a:p>
            <a:pPr>
              <a:defRPr/>
            </a:pPr>
            <a:fld id="{12C1A9AA-C186-487D-BB9E-CF8FC5C83BB7}"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65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665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20B46F7-6BDC-423D-9A94-D95A9C009272}" type="slidenum">
              <a:rPr lang="zh-CN" altLang="en-US" smtClean="0"/>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etrxyin@scut.edu.cn"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3109" name="Rectangle 37"/>
          <p:cNvSpPr>
            <a:spLocks noChangeArrowheads="1"/>
          </p:cNvSpPr>
          <p:nvPr/>
        </p:nvSpPr>
        <p:spPr bwMode="auto">
          <a:xfrm>
            <a:off x="1600200" y="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25" name="Group 53"/>
          <p:cNvGrpSpPr/>
          <p:nvPr/>
        </p:nvGrpSpPr>
        <p:grpSpPr bwMode="auto">
          <a:xfrm>
            <a:off x="19050" y="2330450"/>
            <a:ext cx="9115425" cy="358775"/>
            <a:chOff x="3827" y="1468"/>
            <a:chExt cx="1927" cy="226"/>
          </a:xfrm>
        </p:grpSpPr>
        <p:sp>
          <p:nvSpPr>
            <p:cNvPr id="3126" name="Line 54"/>
            <p:cNvSpPr>
              <a:spLocks noChangeShapeType="1"/>
            </p:cNvSpPr>
            <p:nvPr/>
          </p:nvSpPr>
          <p:spPr bwMode="white">
            <a:xfrm>
              <a:off x="3827" y="1468"/>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7" name="Line 55"/>
            <p:cNvSpPr>
              <a:spLocks noChangeShapeType="1"/>
            </p:cNvSpPr>
            <p:nvPr/>
          </p:nvSpPr>
          <p:spPr bwMode="white">
            <a:xfrm>
              <a:off x="3827" y="1540"/>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8" name="Line 56"/>
            <p:cNvSpPr>
              <a:spLocks noChangeShapeType="1"/>
            </p:cNvSpPr>
            <p:nvPr/>
          </p:nvSpPr>
          <p:spPr bwMode="white">
            <a:xfrm>
              <a:off x="3827" y="1616"/>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9" name="Line 57"/>
            <p:cNvSpPr>
              <a:spLocks noChangeShapeType="1"/>
            </p:cNvSpPr>
            <p:nvPr/>
          </p:nvSpPr>
          <p:spPr bwMode="white">
            <a:xfrm>
              <a:off x="3827" y="1694"/>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74" name="Rectangle 2"/>
          <p:cNvSpPr>
            <a:spLocks noGrp="1" noChangeArrowheads="1"/>
          </p:cNvSpPr>
          <p:nvPr>
            <p:ph type="ctrTitle"/>
          </p:nvPr>
        </p:nvSpPr>
        <p:spPr bwMode="ltGray">
          <a:xfrm>
            <a:off x="791580" y="1988840"/>
            <a:ext cx="8208912" cy="1728192"/>
          </a:xfrm>
          <a:extLst>
            <a:ext uri="{AF507438-7753-43E0-B8FC-AC1667EBCBE1}">
              <a14:hiddenEffects xmlns:a14="http://schemas.microsoft.com/office/drawing/2010/main">
                <a:effectLst>
                  <a:outerShdw dist="53882" dir="2700000" algn="ctr" rotWithShape="0">
                    <a:srgbClr val="000000"/>
                  </a:outerShdw>
                </a:effectLst>
              </a14:hiddenEffects>
            </a:ext>
          </a:extLst>
        </p:spPr>
        <p:txBody>
          <a:bodyPr/>
          <a:lstStyle>
            <a:lvl1pPr algn="ctr">
              <a:defRPr sz="4800">
                <a:solidFill>
                  <a:schemeClr val="tx2"/>
                </a:solidFill>
              </a:defRPr>
            </a:lvl1pPr>
          </a:lstStyle>
          <a:p>
            <a:pPr lvl="0"/>
            <a:r>
              <a:rPr lang="zh-CN" altLang="en-US" noProof="0" smtClean="0"/>
              <a:t>单击此处编辑母版标题样式</a:t>
            </a:r>
            <a:endParaRPr lang="zh-CN" altLang="en-US" noProof="0" dirty="0" smtClean="0"/>
          </a:p>
        </p:txBody>
      </p:sp>
      <p:sp>
        <p:nvSpPr>
          <p:cNvPr id="3" name="TextBox 2"/>
          <p:cNvSpPr txBox="1"/>
          <p:nvPr/>
        </p:nvSpPr>
        <p:spPr>
          <a:xfrm>
            <a:off x="3195767" y="6372036"/>
            <a:ext cx="4580255" cy="368300"/>
          </a:xfrm>
          <a:prstGeom prst="rect">
            <a:avLst/>
          </a:prstGeom>
          <a:noFill/>
        </p:spPr>
        <p:txBody>
          <a:bodyPr wrap="none" rtlCol="0">
            <a:spAutoFit/>
          </a:bodyPr>
          <a:lstStyle/>
          <a:p>
            <a:pPr algn="ctr"/>
            <a:r>
              <a:rPr lang="en-US" b="1" dirty="0" smtClean="0">
                <a:solidFill>
                  <a:schemeClr val="accent6">
                    <a:lumMod val="50000"/>
                  </a:schemeClr>
                </a:solidFill>
                <a:latin typeface="隶书" panose="02010509060101010101" pitchFamily="49" charset="-122"/>
                <a:ea typeface="隶书" panose="02010509060101010101" pitchFamily="49" charset="-122"/>
              </a:rPr>
              <a:t>Zhichao You</a:t>
            </a:r>
            <a:r>
              <a:rPr lang="zh-CN" altLang="en-US" b="1" dirty="0" smtClean="0">
                <a:solidFill>
                  <a:schemeClr val="accent6">
                    <a:lumMod val="50000"/>
                  </a:schemeClr>
                </a:solidFill>
                <a:latin typeface="隶书" panose="02010509060101010101" pitchFamily="49" charset="-122"/>
                <a:ea typeface="隶书" panose="02010509060101010101" pitchFamily="49" charset="-122"/>
              </a:rPr>
              <a:t>（</a:t>
            </a:r>
            <a:r>
              <a:rPr lang="en-US" altLang="zh-CN" b="1" dirty="0" smtClean="0">
                <a:solidFill>
                  <a:schemeClr val="accent6">
                    <a:lumMod val="50000"/>
                  </a:schemeClr>
                </a:solidFill>
                <a:latin typeface="隶书" panose="02010509060101010101" pitchFamily="49" charset="-122"/>
                <a:ea typeface="隶书" panose="02010509060101010101" pitchFamily="49" charset="-122"/>
              </a:rPr>
              <a:t>PhD) </a:t>
            </a:r>
            <a:r>
              <a:rPr lang="en-US" altLang="zh-CN" b="1" dirty="0" smtClean="0">
                <a:solidFill>
                  <a:schemeClr val="accent6">
                    <a:lumMod val="50000"/>
                  </a:schemeClr>
                </a:solidFill>
                <a:latin typeface="+mn-lt"/>
                <a:ea typeface="隶书" panose="02010509060101010101" pitchFamily="49" charset="-122"/>
                <a:hlinkClick r:id="rId2"/>
              </a:rPr>
              <a:t>youzc@swjtu.edu.cn</a:t>
            </a:r>
            <a:r>
              <a:rPr lang="en-US" altLang="zh-CN" b="1" dirty="0" smtClean="0">
                <a:solidFill>
                  <a:schemeClr val="accent6">
                    <a:lumMod val="50000"/>
                  </a:schemeClr>
                </a:solidFill>
                <a:latin typeface="+mn-lt"/>
                <a:ea typeface="隶书" panose="02010509060101010101" pitchFamily="49" charset="-122"/>
              </a:rPr>
              <a:t> </a:t>
            </a:r>
            <a:endParaRPr lang="zh-CN" altLang="en-US" b="1" dirty="0">
              <a:solidFill>
                <a:schemeClr val="accent6">
                  <a:lumMod val="50000"/>
                </a:schemeClr>
              </a:solidFill>
              <a:latin typeface="+mn-lt"/>
              <a:ea typeface="隶书" panose="02010509060101010101" pitchFamily="49" charset="-122"/>
            </a:endParaRPr>
          </a:p>
        </p:txBody>
      </p:sp>
      <p:pic>
        <p:nvPicPr>
          <p:cNvPr id="14" name="Picture 6"/>
          <p:cNvPicPr>
            <a:picLocks noChangeAspect="1"/>
          </p:cNvPicPr>
          <p:nvPr/>
        </p:nvPicPr>
        <p:blipFill rotWithShape="1">
          <a:blip r:embed="rId3" cstate="email"/>
          <a:srcRect/>
          <a:stretch>
            <a:fillRect/>
          </a:stretch>
        </p:blipFill>
        <p:spPr>
          <a:xfrm>
            <a:off x="0" y="1251"/>
            <a:ext cx="1979712" cy="6858000"/>
          </a:xfrm>
          <a:prstGeom prst="rect">
            <a:avLst/>
          </a:prstGeom>
        </p:spPr>
      </p:pic>
      <p:sp>
        <p:nvSpPr>
          <p:cNvPr id="4" name="TextBox 3"/>
          <p:cNvSpPr txBox="1"/>
          <p:nvPr/>
        </p:nvSpPr>
        <p:spPr>
          <a:xfrm>
            <a:off x="1043608" y="550421"/>
            <a:ext cx="7704856" cy="1445260"/>
          </a:xfrm>
          <a:prstGeom prst="rect">
            <a:avLst/>
          </a:prstGeom>
          <a:noFill/>
        </p:spPr>
        <p:txBody>
          <a:bodyPr wrap="square" rtlCol="0">
            <a:spAutoFit/>
          </a:bodyPr>
          <a:lstStyle/>
          <a:p>
            <a:pPr algn="ctr"/>
            <a:r>
              <a:rPr lang="en-US" altLang="zh-CN" sz="4400" b="1" dirty="0" smtClean="0">
                <a:solidFill>
                  <a:srgbClr val="FF0000"/>
                </a:solidFill>
                <a:latin typeface="华文新魏" panose="02010800040101010101" pitchFamily="2" charset="-122"/>
                <a:ea typeface="华文新魏" panose="02010800040101010101" pitchFamily="2" charset="-122"/>
              </a:rPr>
              <a:t>《</a:t>
            </a:r>
            <a:r>
              <a:rPr lang="zh-CN" altLang="en-US" sz="4400" b="1" dirty="0" smtClean="0">
                <a:solidFill>
                  <a:srgbClr val="FF0000"/>
                </a:solidFill>
                <a:latin typeface="华文新魏" panose="02010800040101010101" pitchFamily="2" charset="-122"/>
                <a:ea typeface="华文新魏" panose="02010800040101010101" pitchFamily="2" charset="-122"/>
              </a:rPr>
              <a:t>电路与电子技术</a:t>
            </a:r>
            <a:r>
              <a:rPr lang="en-US" altLang="zh-CN" sz="4400" b="1" dirty="0" smtClean="0">
                <a:solidFill>
                  <a:srgbClr val="FF0000"/>
                </a:solidFill>
                <a:latin typeface="华文新魏" panose="02010800040101010101" pitchFamily="2" charset="-122"/>
                <a:ea typeface="华文新魏" panose="02010800040101010101" pitchFamily="2" charset="-122"/>
              </a:rPr>
              <a:t>》</a:t>
            </a:r>
            <a:endParaRPr lang="en-US" altLang="zh-CN" sz="4400" b="1" dirty="0" smtClean="0">
              <a:solidFill>
                <a:srgbClr val="FF0000"/>
              </a:solidFill>
              <a:latin typeface="华文新魏" panose="02010800040101010101" pitchFamily="2" charset="-122"/>
              <a:ea typeface="华文新魏" panose="02010800040101010101" pitchFamily="2" charset="-122"/>
            </a:endParaRPr>
          </a:p>
          <a:p>
            <a:pPr algn="ctr"/>
            <a:r>
              <a:rPr lang="zh-CN" altLang="en-US" sz="4400" b="1" dirty="0" smtClean="0">
                <a:solidFill>
                  <a:srgbClr val="FF0000"/>
                </a:solidFill>
                <a:latin typeface="华文新魏" panose="02010800040101010101" pitchFamily="2" charset="-122"/>
                <a:ea typeface="华文新魏" panose="02010800040101010101" pitchFamily="2" charset="-122"/>
              </a:rPr>
              <a:t>课程讲义</a:t>
            </a:r>
            <a:endParaRPr lang="zh-CN" altLang="en-US" sz="4400" b="1" dirty="0">
              <a:solidFill>
                <a:srgbClr val="FF0000"/>
              </a:solidFill>
              <a:latin typeface="华文新魏" panose="02010800040101010101" pitchFamily="2" charset="-122"/>
              <a:ea typeface="华文新魏" panose="02010800040101010101" pitchFamily="2" charset="-122"/>
            </a:endParaRPr>
          </a:p>
        </p:txBody>
      </p:sp>
      <p:sp>
        <p:nvSpPr>
          <p:cNvPr id="17" name="Date Placeholder 3"/>
          <p:cNvSpPr>
            <a:spLocks noGrp="1"/>
          </p:cNvSpPr>
          <p:nvPr>
            <p:ph type="dt" sz="half" idx="2"/>
          </p:nvPr>
        </p:nvSpPr>
        <p:spPr>
          <a:xfrm>
            <a:off x="2669094" y="4509120"/>
            <a:ext cx="4453883" cy="648072"/>
          </a:xfrm>
          <a:prstGeom prst="rect">
            <a:avLst/>
          </a:prstGeom>
        </p:spPr>
        <p:txBody>
          <a:bodyPr vert="horz" lIns="91440" tIns="45720" rIns="91440" bIns="45720" rtlCol="0" anchor="ctr"/>
          <a:lstStyle>
            <a:lvl1pPr algn="ctr" eaLnBrk="1" latinLnBrk="0" hangingPunct="1">
              <a:defRPr kumimoji="0" lang="zh-CN" sz="3600" b="1">
                <a:solidFill>
                  <a:schemeClr val="tx2"/>
                </a:solidFill>
                <a:latin typeface="宋体" panose="02010600030101010101" pitchFamily="2" charset="-122"/>
                <a:ea typeface="宋体" panose="02010600030101010101" pitchFamily="2" charset="-122"/>
              </a:defRPr>
            </a:lvl1pPr>
          </a:lstStyle>
          <a:p>
            <a:pPr algn="ctr"/>
            <a:fld id="{06A76B7E-E845-4BBC-8055-A04EB8C9A00E}" type="datetime3">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wipe(left)">
                                      <p:cBhvr>
                                        <p:cTn id="15" dur="500"/>
                                        <p:tgtEl>
                                          <p:spTgt spid="307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 grpId="0"/>
      <p:bldP spid="4" grpId="0"/>
      <p:bldP spid="1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灯片编号占位符 2"/>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
        <p:nvSpPr>
          <p:cNvPr id="5" name="内容占位符 4"/>
          <p:cNvSpPr>
            <a:spLocks noGrp="1"/>
          </p:cNvSpPr>
          <p:nvPr>
            <p:ph sz="quarter" idx="11"/>
          </p:nvPr>
        </p:nvSpPr>
        <p:spPr>
          <a:xfrm>
            <a:off x="107504" y="764704"/>
            <a:ext cx="8892480" cy="5544616"/>
          </a:xfrm>
        </p:spPr>
        <p:txBody>
          <a:bodyPr/>
          <a:lstStyle>
            <a:lvl1pPr marL="457200" indent="-457200">
              <a:lnSpc>
                <a:spcPct val="150000"/>
              </a:lnSpc>
              <a:spcBef>
                <a:spcPts val="0"/>
              </a:spcBef>
              <a:buFont typeface="Wingdings" panose="05000000000000000000" pitchFamily="2" charset="2"/>
              <a:buChar char="u"/>
              <a:defRPr sz="2800" baseline="0"/>
            </a:lvl1pPr>
            <a:lvl2pPr marL="539750" indent="-360680">
              <a:lnSpc>
                <a:spcPct val="150000"/>
              </a:lnSpc>
              <a:spcBef>
                <a:spcPts val="0"/>
              </a:spcBef>
              <a:buSzPct val="100000"/>
              <a:buFont typeface="Wingdings" panose="05000000000000000000" pitchFamily="2" charset="2"/>
              <a:buChar char="Ø"/>
              <a:defRPr baseline="0"/>
            </a:lvl2pPr>
            <a:lvl3pPr marL="624205" indent="-263525">
              <a:lnSpc>
                <a:spcPct val="150000"/>
              </a:lnSpc>
              <a:spcBef>
                <a:spcPts val="0"/>
              </a:spcBef>
              <a:buFont typeface="Wingdings" panose="05000000000000000000" pitchFamily="2" charset="2"/>
              <a:buChar char="n"/>
              <a:defRPr baseline="0"/>
            </a:lvl3pPr>
            <a:lvl4pPr marL="900430" indent="-360680">
              <a:lnSpc>
                <a:spcPct val="150000"/>
              </a:lnSpc>
              <a:spcBef>
                <a:spcPts val="0"/>
              </a:spcBef>
              <a:buSzPct val="100000"/>
              <a:buFont typeface="Wingdings" panose="05000000000000000000" pitchFamily="2" charset="2"/>
              <a:buChar char="l"/>
              <a:defRPr/>
            </a:lvl4pPr>
            <a:lvl5pPr>
              <a:lnSpc>
                <a:spcPct val="150000"/>
              </a:lnSpc>
              <a:spcBef>
                <a:spcPts val="0"/>
              </a:spcBef>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331640" y="116632"/>
            <a:ext cx="7632848" cy="533400"/>
          </a:xfrm>
        </p:spPr>
        <p:txBody>
          <a:bodyPr/>
          <a:lstStyle/>
          <a:p>
            <a:r>
              <a:rPr lang="zh-CN" altLang="en-US" smtClean="0"/>
              <a:t>单击此处编辑母版标题样式</a:t>
            </a:r>
            <a:endParaRPr lang="zh-CN" altLang="en-US" dirty="0"/>
          </a:p>
        </p:txBody>
      </p:sp>
      <p:sp>
        <p:nvSpPr>
          <p:cNvPr id="3" name="表格占位符 2"/>
          <p:cNvSpPr>
            <a:spLocks noGrp="1"/>
          </p:cNvSpPr>
          <p:nvPr>
            <p:ph type="tbl" idx="1" hasCustomPrompt="1"/>
          </p:nvPr>
        </p:nvSpPr>
        <p:spPr>
          <a:xfrm>
            <a:off x="179512" y="836712"/>
            <a:ext cx="8784976" cy="5484713"/>
          </a:xfrm>
        </p:spPr>
        <p:txBody>
          <a:bodyPr/>
          <a:lstStyle>
            <a:lvl1pPr marL="0" indent="0">
              <a:buNone/>
              <a:defRPr/>
            </a:lvl1pPr>
          </a:lstStyle>
          <a:p>
            <a:r>
              <a:rPr lang="zh-CN" altLang="en-US" smtClean="0"/>
              <a:t>单击图标添加表格</a:t>
            </a:r>
            <a:endParaRPr lang="zh-CN" altLang="en-US" dirty="0"/>
          </a:p>
        </p:txBody>
      </p:sp>
      <p:sp>
        <p:nvSpPr>
          <p:cNvPr id="6" name="灯片编号占位符 5"/>
          <p:cNvSpPr>
            <a:spLocks noGrp="1"/>
          </p:cNvSpPr>
          <p:nvPr>
            <p:ph type="sldNum" sz="quarter" idx="12"/>
          </p:nvPr>
        </p:nvSpPr>
        <p:spPr>
          <a:xfrm>
            <a:off x="7884368" y="6428779"/>
            <a:ext cx="1090464" cy="384597"/>
          </a:xfrm>
        </p:spPr>
        <p:txBody>
          <a:bodyPr/>
          <a:lstStyle>
            <a:lvl1pPr>
              <a:defRPr/>
            </a:lvl1pPr>
          </a:lstStyle>
          <a:p>
            <a:pPr>
              <a:defRPr/>
            </a:pPr>
            <a:fld id="{5FACD15A-44A7-4F94-A04D-50CC66301C9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对象">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5FACD15A-44A7-4F94-A04D-50CC66301C93}" type="slidenum">
              <a:rPr lang="zh-CN" altLang="en-US" smtClean="0"/>
            </a:fld>
            <a:endParaRPr lang="zh-CN" altLang="en-US"/>
          </a:p>
        </p:txBody>
      </p:sp>
      <p:sp>
        <p:nvSpPr>
          <p:cNvPr id="5" name="SmartArt 占位符 4"/>
          <p:cNvSpPr>
            <a:spLocks noGrp="1"/>
          </p:cNvSpPr>
          <p:nvPr>
            <p:ph type="dgm" sz="quarter" idx="11" hasCustomPrompt="1"/>
          </p:nvPr>
        </p:nvSpPr>
        <p:spPr>
          <a:xfrm>
            <a:off x="179512" y="836712"/>
            <a:ext cx="8712968" cy="5472608"/>
          </a:xfrm>
        </p:spPr>
        <p:txBody>
          <a:bodyPr/>
          <a:lstStyle/>
          <a:p>
            <a:r>
              <a:rPr lang="zh-CN" altLang="en-US" smtClean="0"/>
              <a:t>单击图标添加 </a:t>
            </a:r>
            <a:r>
              <a:rPr lang="en-US" altLang="zh-CN" smtClean="0"/>
              <a:t>SmartArt </a:t>
            </a:r>
            <a:r>
              <a:rPr lang="zh-CN" altLang="en-US" smtClean="0"/>
              <a:t>图形</a:t>
            </a:r>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a:xfrm>
            <a:off x="2195736" y="6453336"/>
            <a:ext cx="4464496" cy="384597"/>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162F5428-5ADF-4813-8E04-D0A9AD111460}"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showMasterSp="0">
  <p:cSld name="1_标题幻灯片">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bwMode="grayWhite">
          <a:xfrm>
            <a:off x="1142976" y="4429132"/>
            <a:ext cx="8001024" cy="1171580"/>
          </a:xfrm>
          <a:noFill/>
          <a:ln>
            <a:noFill/>
          </a:ln>
        </p:spPr>
        <p:txBody>
          <a:bodyPr/>
          <a:lstStyle>
            <a:lvl1pPr marL="0" indent="0">
              <a:buFont typeface="Wingdings" panose="05000000000000000000" pitchFamily="2" charset="2"/>
              <a:buNone/>
              <a:defRPr sz="4400" b="1" i="0" baseline="0">
                <a:solidFill>
                  <a:srgbClr val="002060"/>
                </a:solidFill>
                <a:latin typeface="华文中宋" panose="02010600040101010101" pitchFamily="2" charset="-122"/>
                <a:ea typeface="华文中宋" panose="02010600040101010101" pitchFamily="2" charset="-122"/>
              </a:defRPr>
            </a:lvl1pPr>
          </a:lstStyle>
          <a:p>
            <a:r>
              <a:rPr lang="zh-CN" altLang="en-US" smtClean="0"/>
              <a:t>单击此处编辑母版副标题样式</a:t>
            </a:r>
            <a:endParaRPr lang="zh-CN" altLang="en-US" dirty="0"/>
          </a:p>
        </p:txBody>
      </p:sp>
      <p:sp>
        <p:nvSpPr>
          <p:cNvPr id="3074" name="Rectangle 2"/>
          <p:cNvSpPr>
            <a:spLocks noGrp="1" noChangeArrowheads="1"/>
          </p:cNvSpPr>
          <p:nvPr>
            <p:ph type="ctrTitle"/>
          </p:nvPr>
        </p:nvSpPr>
        <p:spPr bwMode="ltGray">
          <a:xfrm>
            <a:off x="585790" y="2819400"/>
            <a:ext cx="8558242" cy="1466856"/>
          </a:xfrm>
        </p:spPr>
        <p:txBody>
          <a:bodyPr/>
          <a:lstStyle>
            <a:lvl1pPr algn="l">
              <a:defRPr sz="5400" b="1" i="0" baseline="0">
                <a:solidFill>
                  <a:srgbClr val="C00000"/>
                </a:solidFill>
                <a:effectLst/>
                <a:latin typeface="Arial Unicode MS" panose="020B0604020202020204" pitchFamily="34" charset="-122"/>
                <a:ea typeface="黑体" panose="02010609060101010101" pitchFamily="49" charset="-122"/>
              </a:defRPr>
            </a:lvl1pPr>
          </a:lstStyle>
          <a:p>
            <a:r>
              <a:rPr lang="zh-CN" altLang="en-US" smtClean="0"/>
              <a:t>单击此处编辑母版标题样式</a:t>
            </a:r>
            <a:endParaRPr lang="zh-CN" altLang="en-US" dirty="0"/>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hyperlink" Target="mailto:etrxyin@scut.edu.cn" TargetMode="External"/><Relationship Id="rId7" Type="http://schemas.openxmlformats.org/officeDocument/2006/relationships/image" Target="../media/image2.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1" name="Rectangle 32"/>
          <p:cNvSpPr>
            <a:spLocks noChangeArrowheads="1"/>
          </p:cNvSpPr>
          <p:nvPr/>
        </p:nvSpPr>
        <p:spPr bwMode="ltGray">
          <a:xfrm>
            <a:off x="-17873" y="6363899"/>
            <a:ext cx="9180782" cy="515624"/>
          </a:xfrm>
          <a:prstGeom prst="rect">
            <a:avLst/>
          </a:prstGeom>
          <a:solidFill>
            <a:srgbClr val="BC0000"/>
          </a:solidFill>
          <a:ln>
            <a:noFill/>
          </a:ln>
          <a:effectLst/>
        </p:spPr>
        <p:txBody>
          <a:bodyPr wrap="none" anchor="ctr"/>
          <a:lstStyle/>
          <a:p>
            <a:endParaRPr lang="zh-CN" altLang="en-US"/>
          </a:p>
        </p:txBody>
      </p:sp>
      <p:grpSp>
        <p:nvGrpSpPr>
          <p:cNvPr id="2" name="组合 1"/>
          <p:cNvGrpSpPr/>
          <p:nvPr/>
        </p:nvGrpSpPr>
        <p:grpSpPr>
          <a:xfrm>
            <a:off x="-17874" y="0"/>
            <a:ext cx="9180783" cy="738282"/>
            <a:chOff x="-17874" y="0"/>
            <a:chExt cx="9180783" cy="738282"/>
          </a:xfrm>
        </p:grpSpPr>
        <p:sp>
          <p:nvSpPr>
            <p:cNvPr id="1056" name="Rectangle 32"/>
            <p:cNvSpPr>
              <a:spLocks noChangeArrowheads="1"/>
            </p:cNvSpPr>
            <p:nvPr/>
          </p:nvSpPr>
          <p:spPr bwMode="ltGray">
            <a:xfrm>
              <a:off x="-17874" y="0"/>
              <a:ext cx="9180783" cy="692696"/>
            </a:xfrm>
            <a:prstGeom prst="rect">
              <a:avLst/>
            </a:prstGeom>
            <a:solidFill>
              <a:srgbClr val="2B0CE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Rectangle 40"/>
            <p:cNvSpPr>
              <a:spLocks noChangeArrowheads="1"/>
            </p:cNvSpPr>
            <p:nvPr userDrawn="1"/>
          </p:nvSpPr>
          <p:spPr bwMode="gray">
            <a:xfrm>
              <a:off x="-11133" y="666845"/>
              <a:ext cx="9160186" cy="71437"/>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6" name="Rectangle 2"/>
          <p:cNvSpPr>
            <a:spLocks noGrp="1" noChangeArrowheads="1"/>
          </p:cNvSpPr>
          <p:nvPr>
            <p:ph type="title"/>
          </p:nvPr>
        </p:nvSpPr>
        <p:spPr bwMode="auto">
          <a:xfrm>
            <a:off x="-1" y="0"/>
            <a:ext cx="9162909" cy="664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158824" y="779239"/>
            <a:ext cx="8877672" cy="545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1030" name="Rectangle 6"/>
          <p:cNvSpPr>
            <a:spLocks noGrp="1" noChangeArrowheads="1"/>
          </p:cNvSpPr>
          <p:nvPr>
            <p:ph type="sldNum" sz="quarter" idx="4"/>
          </p:nvPr>
        </p:nvSpPr>
        <p:spPr bwMode="auto">
          <a:xfrm>
            <a:off x="8194644" y="6496846"/>
            <a:ext cx="864096" cy="286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800" b="1">
                <a:solidFill>
                  <a:srgbClr val="FFFF00"/>
                </a:solidFill>
                <a:ea typeface="宋体" panose="02010600030101010101" pitchFamily="2" charset="-122"/>
              </a:defRPr>
            </a:lvl1pPr>
          </a:lstStyle>
          <a:p>
            <a:pPr>
              <a:defRPr/>
            </a:pPr>
            <a:fld id="{5FACD15A-44A7-4F94-A04D-50CC66301C93}" type="slidenum">
              <a:rPr lang="zh-CN" altLang="en-US" smtClean="0"/>
            </a:fld>
            <a:endParaRPr lang="zh-CN" altLang="en-US"/>
          </a:p>
        </p:txBody>
      </p:sp>
      <p:sp>
        <p:nvSpPr>
          <p:cNvPr id="5" name="矩形 4"/>
          <p:cNvSpPr/>
          <p:nvPr/>
        </p:nvSpPr>
        <p:spPr>
          <a:xfrm>
            <a:off x="179512" y="6474822"/>
            <a:ext cx="8064896" cy="337185"/>
          </a:xfrm>
          <a:prstGeom prst="rect">
            <a:avLst/>
          </a:prstGeom>
        </p:spPr>
        <p:txBody>
          <a:bodyPr wrap="square">
            <a:spAutoFit/>
          </a:bodyPr>
          <a:lstStyle/>
          <a:p>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电路与电子技术</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课程讲义 </a:t>
            </a:r>
            <a:r>
              <a:rPr lang="en-US" altLang="zh-CN" sz="1600" b="1" i="1" dirty="0" smtClean="0">
                <a:solidFill>
                  <a:srgbClr val="FFC000"/>
                </a:solidFill>
                <a:latin typeface="Times New Roman" panose="02020603050405020304" pitchFamily="18" charset="0"/>
                <a:cs typeface="Times New Roman" panose="02020603050405020304" pitchFamily="18" charset="0"/>
              </a:rPr>
              <a:t>Zhichao You </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PhD</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  </a:t>
            </a:r>
            <a:r>
              <a:rPr lang="en-US" altLang="zh-CN" sz="1600" dirty="0" smtClean="0">
                <a:solidFill>
                  <a:srgbClr val="FFC000"/>
                </a:solidFill>
                <a:hlinkClick r:id="rId8"/>
              </a:rPr>
              <a:t>youzc@swjtu.edu.cn</a:t>
            </a:r>
            <a:r>
              <a:rPr lang="en-US" altLang="zh-CN" sz="1600" dirty="0" smtClean="0">
                <a:solidFill>
                  <a:srgbClr val="FFC000"/>
                </a:solidFill>
              </a:rPr>
              <a:t>  </a:t>
            </a:r>
            <a:endParaRPr lang="zh-CN" altLang="en-US" sz="1600" dirty="0">
              <a:solidFill>
                <a:srgbClr val="FFC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iming>
    <p:tnLst>
      <p:par>
        <p:cTn id="1" dur="indefinite" restart="never" nodeType="tmRoot"/>
      </p:par>
    </p:tnLst>
  </p:timing>
  <p:hf hdr="0" ftr="0"/>
  <p:txStyles>
    <p:titleStyle>
      <a:lvl1pPr algn="ctr" rtl="0" eaLnBrk="1" fontAlgn="base" hangingPunct="1">
        <a:spcBef>
          <a:spcPct val="0"/>
        </a:spcBef>
        <a:spcAft>
          <a:spcPct val="0"/>
        </a:spcAft>
        <a:defRPr sz="3600" b="1" baseline="0">
          <a:solidFill>
            <a:srgbClr val="FFFF00"/>
          </a:solidFill>
          <a:latin typeface="Times New Roman" panose="02020603050405020304" pitchFamily="18" charset="0"/>
          <a:ea typeface="黑体" panose="02010609060101010101" pitchFamily="49" charset="-122"/>
          <a:cs typeface="+mj-cs"/>
        </a:defRPr>
      </a:lvl1pPr>
      <a:lvl2pPr algn="r" rtl="0" eaLnBrk="1" fontAlgn="base" hangingPunct="1">
        <a:spcBef>
          <a:spcPct val="0"/>
        </a:spcBef>
        <a:spcAft>
          <a:spcPct val="0"/>
        </a:spcAft>
        <a:defRPr sz="4000">
          <a:solidFill>
            <a:schemeClr val="bg1"/>
          </a:solidFill>
          <a:latin typeface="Arial" panose="020B0604020202020204" pitchFamily="34" charset="0"/>
        </a:defRPr>
      </a:lvl2pPr>
      <a:lvl3pPr algn="r" rtl="0" eaLnBrk="1" fontAlgn="base" hangingPunct="1">
        <a:spcBef>
          <a:spcPct val="0"/>
        </a:spcBef>
        <a:spcAft>
          <a:spcPct val="0"/>
        </a:spcAft>
        <a:defRPr sz="4000">
          <a:solidFill>
            <a:schemeClr val="bg1"/>
          </a:solidFill>
          <a:latin typeface="Arial" panose="020B0604020202020204" pitchFamily="34" charset="0"/>
        </a:defRPr>
      </a:lvl3pPr>
      <a:lvl4pPr algn="r" rtl="0" eaLnBrk="1" fontAlgn="base" hangingPunct="1">
        <a:spcBef>
          <a:spcPct val="0"/>
        </a:spcBef>
        <a:spcAft>
          <a:spcPct val="0"/>
        </a:spcAft>
        <a:defRPr sz="4000">
          <a:solidFill>
            <a:schemeClr val="bg1"/>
          </a:solidFill>
          <a:latin typeface="Arial" panose="020B0604020202020204" pitchFamily="34" charset="0"/>
        </a:defRPr>
      </a:lvl4pPr>
      <a:lvl5pPr algn="r" rtl="0" eaLnBrk="1" fontAlgn="base" hangingPunct="1">
        <a:spcBef>
          <a:spcPct val="0"/>
        </a:spcBef>
        <a:spcAft>
          <a:spcPct val="0"/>
        </a:spcAft>
        <a:defRPr sz="4000">
          <a:solidFill>
            <a:schemeClr val="bg1"/>
          </a:solidFill>
          <a:latin typeface="Arial" panose="020B0604020202020204" pitchFamily="34" charset="0"/>
        </a:defRPr>
      </a:lvl5pPr>
      <a:lvl6pPr marL="457200" algn="r" rtl="0" eaLnBrk="1" fontAlgn="base" hangingPunct="1">
        <a:spcBef>
          <a:spcPct val="0"/>
        </a:spcBef>
        <a:spcAft>
          <a:spcPct val="0"/>
        </a:spcAft>
        <a:defRPr sz="4000">
          <a:solidFill>
            <a:schemeClr val="bg1"/>
          </a:solidFill>
          <a:latin typeface="Arial" panose="020B0604020202020204" pitchFamily="34" charset="0"/>
        </a:defRPr>
      </a:lvl6pPr>
      <a:lvl7pPr marL="914400" algn="r" rtl="0" eaLnBrk="1" fontAlgn="base" hangingPunct="1">
        <a:spcBef>
          <a:spcPct val="0"/>
        </a:spcBef>
        <a:spcAft>
          <a:spcPct val="0"/>
        </a:spcAft>
        <a:defRPr sz="4000">
          <a:solidFill>
            <a:schemeClr val="bg1"/>
          </a:solidFill>
          <a:latin typeface="Arial" panose="020B0604020202020204" pitchFamily="34" charset="0"/>
        </a:defRPr>
      </a:lvl7pPr>
      <a:lvl8pPr marL="1371600" algn="r" rtl="0" eaLnBrk="1" fontAlgn="base" hangingPunct="1">
        <a:spcBef>
          <a:spcPct val="0"/>
        </a:spcBef>
        <a:spcAft>
          <a:spcPct val="0"/>
        </a:spcAft>
        <a:defRPr sz="4000">
          <a:solidFill>
            <a:schemeClr val="bg1"/>
          </a:solidFill>
          <a:latin typeface="Arial" panose="020B0604020202020204" pitchFamily="34" charset="0"/>
        </a:defRPr>
      </a:lvl8pPr>
      <a:lvl9pPr marL="1828800" algn="r" rtl="0" eaLnBrk="1" fontAlgn="base" hangingPunct="1">
        <a:spcBef>
          <a:spcPct val="0"/>
        </a:spcBef>
        <a:spcAft>
          <a:spcPct val="0"/>
        </a:spcAft>
        <a:defRPr sz="4000">
          <a:solidFill>
            <a:schemeClr val="bg1"/>
          </a:solidFill>
          <a:latin typeface="Arial" panose="020B0604020202020204" pitchFamily="34" charset="0"/>
        </a:defRPr>
      </a:lvl9pPr>
    </p:titleStyle>
    <p:bodyStyle>
      <a:lvl1pPr marL="342900" indent="-342900" algn="l" rtl="0" eaLnBrk="1" fontAlgn="base" hangingPunct="1">
        <a:spcBef>
          <a:spcPct val="20000"/>
        </a:spcBef>
        <a:spcAft>
          <a:spcPct val="0"/>
        </a:spcAft>
        <a:buFont typeface="Wingdings" panose="05000000000000000000" pitchFamily="2" charset="2"/>
        <a:buChar char="n"/>
        <a:defRPr sz="2800" b="1" baseline="0">
          <a:solidFill>
            <a:schemeClr val="tx2"/>
          </a:solidFill>
          <a:latin typeface="Times New Roman" panose="02020603050405020304" pitchFamily="18" charset="0"/>
          <a:ea typeface="+mn-ea"/>
          <a:cs typeface="+mn-cs"/>
        </a:defRPr>
      </a:lvl1pPr>
      <a:lvl2pPr marL="742950" indent="-285750" algn="l" rtl="0" eaLnBrk="1" fontAlgn="base" hangingPunct="1">
        <a:spcBef>
          <a:spcPct val="20000"/>
        </a:spcBef>
        <a:spcAft>
          <a:spcPct val="0"/>
        </a:spcAft>
        <a:buSzPct val="100000"/>
        <a:buFont typeface="Wingdings" panose="05000000000000000000" pitchFamily="2" charset="2"/>
        <a:buChar char="u"/>
        <a:defRPr sz="2800" b="1" baseline="0">
          <a:solidFill>
            <a:schemeClr val="tx2"/>
          </a:solidFill>
          <a:latin typeface="Times New Roman" panose="02020603050405020304" pitchFamily="18" charset="0"/>
        </a:defRPr>
      </a:lvl2pPr>
      <a:lvl3pPr marL="1143000" indent="-228600" algn="l" rtl="0" eaLnBrk="1" fontAlgn="base" hangingPunct="1">
        <a:spcBef>
          <a:spcPct val="20000"/>
        </a:spcBef>
        <a:spcAft>
          <a:spcPct val="0"/>
        </a:spcAft>
        <a:buFont typeface="Wingdings" panose="05000000000000000000" pitchFamily="2" charset="2"/>
        <a:buChar char="Ø"/>
        <a:defRPr sz="2400" b="1" baseline="0">
          <a:solidFill>
            <a:schemeClr val="tx2"/>
          </a:solidFill>
          <a:latin typeface="Times New Roman" panose="02020603050405020304" pitchFamily="18" charset="0"/>
        </a:defRPr>
      </a:lvl3pPr>
      <a:lvl4pPr marL="1600200" indent="-228600" algn="l" rtl="0" eaLnBrk="1" fontAlgn="base" hangingPunct="1">
        <a:spcBef>
          <a:spcPct val="20000"/>
        </a:spcBef>
        <a:spcAft>
          <a:spcPct val="0"/>
        </a:spcAft>
        <a:buSzPct val="60000"/>
        <a:buFont typeface="Wingdings 2" panose="05020102010507070707" pitchFamily="18" charset="2"/>
        <a:buChar char=""/>
        <a:defRPr sz="2000" b="1">
          <a:solidFill>
            <a:schemeClr val="tx2"/>
          </a:solidFill>
          <a:latin typeface="+mn-lt"/>
        </a:defRPr>
      </a:lvl4pPr>
      <a:lvl5pPr marL="2057400" indent="-228600" algn="l" rtl="0" eaLnBrk="1" fontAlgn="base" hangingPunct="1">
        <a:spcBef>
          <a:spcPct val="20000"/>
        </a:spcBef>
        <a:spcAft>
          <a:spcPct val="0"/>
        </a:spcAft>
        <a:buFont typeface="Wingdings" panose="05000000000000000000" pitchFamily="2" charset="2"/>
        <a:buChar char="§"/>
        <a:defRPr sz="2000" b="1">
          <a:solidFill>
            <a:schemeClr val="tx2"/>
          </a:solidFill>
          <a:latin typeface="+mn-lt"/>
        </a:defRPr>
      </a:lvl5pPr>
      <a:lvl6pPr marL="25146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5.emf"/><Relationship Id="rId1"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5.xml"/><Relationship Id="rId2" Type="http://schemas.openxmlformats.org/officeDocument/2006/relationships/image" Target="../media/image7.png"/><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oleObject" Target="../embeddings/oleObject3.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1.png"/><Relationship Id="rId1" Type="http://schemas.openxmlformats.org/officeDocument/2006/relationships/hyperlink" Target="Circuit_Files/Chapter5/&#20108;&#26497;&#31649;&#20239;&#23433;&#29305;&#24615;.msm" TargetMode="External"/></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5.xml"/><Relationship Id="rId4" Type="http://schemas.openxmlformats.org/officeDocument/2006/relationships/image" Target="../media/image13.wmf"/><Relationship Id="rId3" Type="http://schemas.openxmlformats.org/officeDocument/2006/relationships/oleObject" Target="../embeddings/oleObject5.bin"/><Relationship Id="rId2" Type="http://schemas.openxmlformats.org/officeDocument/2006/relationships/image" Target="../media/image12.wmf"/><Relationship Id="rId1"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5.xml"/><Relationship Id="rId2" Type="http://schemas.openxmlformats.org/officeDocument/2006/relationships/image" Target="../media/image14.wmf"/><Relationship Id="rId1" Type="http://schemas.openxmlformats.org/officeDocument/2006/relationships/oleObject" Target="../embeddings/oleObject6.bin"/></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5.xml"/><Relationship Id="rId5" Type="http://schemas.openxmlformats.org/officeDocument/2006/relationships/image" Target="../media/image17.wmf"/><Relationship Id="rId4" Type="http://schemas.openxmlformats.org/officeDocument/2006/relationships/image" Target="../media/image16.emf"/><Relationship Id="rId3" Type="http://schemas.openxmlformats.org/officeDocument/2006/relationships/oleObject" Target="../embeddings/oleObject8.bin"/><Relationship Id="rId2" Type="http://schemas.openxmlformats.org/officeDocument/2006/relationships/image" Target="../media/image15.emf"/><Relationship Id="rId1" Type="http://schemas.openxmlformats.org/officeDocument/2006/relationships/oleObject" Target="../embeddings/oleObject7.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8.png"/><Relationship Id="rId1" Type="http://schemas.openxmlformats.org/officeDocument/2006/relationships/hyperlink" Target="Circuit_Files/Chapter5/&#38480;&#24133;&#30005;&#36335;.ms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5.xml"/><Relationship Id="rId2" Type="http://schemas.openxmlformats.org/officeDocument/2006/relationships/image" Target="../media/image19.emf"/><Relationship Id="rId1" Type="http://schemas.openxmlformats.org/officeDocument/2006/relationships/oleObject" Target="../embeddings/oleObject9.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3.emf"/><Relationship Id="rId7" Type="http://schemas.openxmlformats.org/officeDocument/2006/relationships/oleObject" Target="../embeddings/oleObject13.bin"/><Relationship Id="rId6" Type="http://schemas.openxmlformats.org/officeDocument/2006/relationships/image" Target="../media/image22.emf"/><Relationship Id="rId5" Type="http://schemas.openxmlformats.org/officeDocument/2006/relationships/oleObject" Target="../embeddings/oleObject12.bin"/><Relationship Id="rId4" Type="http://schemas.openxmlformats.org/officeDocument/2006/relationships/image" Target="../media/image21.emf"/><Relationship Id="rId3" Type="http://schemas.openxmlformats.org/officeDocument/2006/relationships/oleObject" Target="../embeddings/oleObject11.bin"/><Relationship Id="rId2" Type="http://schemas.openxmlformats.org/officeDocument/2006/relationships/image" Target="../media/image20.emf"/><Relationship Id="rId10" Type="http://schemas.openxmlformats.org/officeDocument/2006/relationships/vmlDrawing" Target="../drawings/vmlDrawing8.vml"/><Relationship Id="rId1" Type="http://schemas.openxmlformats.org/officeDocument/2006/relationships/oleObject" Target="../embeddings/oleObject10.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4.png"/><Relationship Id="rId1" Type="http://schemas.openxmlformats.org/officeDocument/2006/relationships/hyperlink" Target="Circuit_Files/Chapter5/&#21452;&#21521;&#38480;&#24133;&#30005;&#36335;.ms12"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26.emf"/><Relationship Id="rId3" Type="http://schemas.openxmlformats.org/officeDocument/2006/relationships/oleObject" Target="../embeddings/oleObject15.bin"/><Relationship Id="rId2" Type="http://schemas.openxmlformats.org/officeDocument/2006/relationships/image" Target="../media/image25.emf"/><Relationship Id="rId1" Type="http://schemas.openxmlformats.org/officeDocument/2006/relationships/oleObject" Target="../embeddings/oleObject14.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5.xml"/><Relationship Id="rId2" Type="http://schemas.openxmlformats.org/officeDocument/2006/relationships/image" Target="../media/image27.emf"/><Relationship Id="rId1" Type="http://schemas.openxmlformats.org/officeDocument/2006/relationships/oleObject" Target="../embeddings/oleObject16.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31.emf"/><Relationship Id="rId7" Type="http://schemas.openxmlformats.org/officeDocument/2006/relationships/oleObject" Target="../embeddings/oleObject20.bin"/><Relationship Id="rId6" Type="http://schemas.openxmlformats.org/officeDocument/2006/relationships/image" Target="../media/image30.emf"/><Relationship Id="rId5" Type="http://schemas.openxmlformats.org/officeDocument/2006/relationships/oleObject" Target="../embeddings/oleObject19.bin"/><Relationship Id="rId4" Type="http://schemas.openxmlformats.org/officeDocument/2006/relationships/image" Target="../media/image29.emf"/><Relationship Id="rId3" Type="http://schemas.openxmlformats.org/officeDocument/2006/relationships/oleObject" Target="../embeddings/oleObject18.bin"/><Relationship Id="rId2" Type="http://schemas.openxmlformats.org/officeDocument/2006/relationships/image" Target="../media/image28.wmf"/><Relationship Id="rId14" Type="http://schemas.openxmlformats.org/officeDocument/2006/relationships/vmlDrawing" Target="../drawings/vmlDrawing11.vml"/><Relationship Id="rId13" Type="http://schemas.openxmlformats.org/officeDocument/2006/relationships/slideLayout" Target="../slideLayouts/slideLayout5.xml"/><Relationship Id="rId12" Type="http://schemas.openxmlformats.org/officeDocument/2006/relationships/image" Target="../media/image33.emf"/><Relationship Id="rId11" Type="http://schemas.openxmlformats.org/officeDocument/2006/relationships/oleObject" Target="../embeddings/oleObject22.bin"/><Relationship Id="rId10" Type="http://schemas.openxmlformats.org/officeDocument/2006/relationships/image" Target="../media/image32.emf"/><Relationship Id="rId1" Type="http://schemas.openxmlformats.org/officeDocument/2006/relationships/oleObject" Target="../embeddings/oleObject17.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hyperlink" Target="Circuit_Files/Chapter5/&#21322;&#27874;&#25972;&#27969;&#30005;&#36335;.ms12" TargetMode="External"/></Relationships>
</file>

<file path=ppt/slides/_rels/slide41.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oleObject" Target="../embeddings/oleObject25.bin"/><Relationship Id="rId4" Type="http://schemas.openxmlformats.org/officeDocument/2006/relationships/image" Target="../media/image36.emf"/><Relationship Id="rId3" Type="http://schemas.openxmlformats.org/officeDocument/2006/relationships/oleObject" Target="../embeddings/oleObject24.bin"/><Relationship Id="rId2" Type="http://schemas.openxmlformats.org/officeDocument/2006/relationships/image" Target="../media/image35.emf"/><Relationship Id="rId1" Type="http://schemas.openxmlformats.org/officeDocument/2006/relationships/oleObject" Target="../embeddings/oleObject23.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41.emf"/><Relationship Id="rId7" Type="http://schemas.openxmlformats.org/officeDocument/2006/relationships/oleObject" Target="../embeddings/oleObject29.bin"/><Relationship Id="rId6" Type="http://schemas.openxmlformats.org/officeDocument/2006/relationships/image" Target="../media/image40.emf"/><Relationship Id="rId5" Type="http://schemas.openxmlformats.org/officeDocument/2006/relationships/oleObject" Target="../embeddings/oleObject28.bin"/><Relationship Id="rId4" Type="http://schemas.openxmlformats.org/officeDocument/2006/relationships/image" Target="../media/image39.emf"/><Relationship Id="rId3" Type="http://schemas.openxmlformats.org/officeDocument/2006/relationships/oleObject" Target="../embeddings/oleObject27.bin"/><Relationship Id="rId2" Type="http://schemas.openxmlformats.org/officeDocument/2006/relationships/image" Target="../media/image38.emf"/><Relationship Id="rId16" Type="http://schemas.openxmlformats.org/officeDocument/2006/relationships/vmlDrawing" Target="../drawings/vmlDrawing13.vml"/><Relationship Id="rId15" Type="http://schemas.openxmlformats.org/officeDocument/2006/relationships/slideLayout" Target="../slideLayouts/slideLayout2.xml"/><Relationship Id="rId14" Type="http://schemas.openxmlformats.org/officeDocument/2006/relationships/image" Target="../media/image44.emf"/><Relationship Id="rId13" Type="http://schemas.openxmlformats.org/officeDocument/2006/relationships/oleObject" Target="../embeddings/oleObject32.bin"/><Relationship Id="rId12" Type="http://schemas.openxmlformats.org/officeDocument/2006/relationships/image" Target="../media/image43.emf"/><Relationship Id="rId11" Type="http://schemas.openxmlformats.org/officeDocument/2006/relationships/oleObject" Target="../embeddings/oleObject31.bin"/><Relationship Id="rId10" Type="http://schemas.openxmlformats.org/officeDocument/2006/relationships/image" Target="../media/image42.emf"/><Relationship Id="rId1" Type="http://schemas.openxmlformats.org/officeDocument/2006/relationships/oleObject" Target="../embeddings/oleObject26.bin"/></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hyperlink" Target="Circuit_Files/Chapter5/&#26725;&#24335;&#20840;&#27874;&#25972;&#27969;&#30005;&#36335;.ms12"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emf"/></Relationships>
</file>

<file path=ppt/slides/_rels/slide46.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2.xml"/><Relationship Id="rId5" Type="http://schemas.openxmlformats.org/officeDocument/2006/relationships/image" Target="../media/image49.emf"/><Relationship Id="rId4" Type="http://schemas.openxmlformats.org/officeDocument/2006/relationships/oleObject" Target="../embeddings/oleObject34.bin"/><Relationship Id="rId3" Type="http://schemas.openxmlformats.org/officeDocument/2006/relationships/image" Target="../media/image48.emf"/><Relationship Id="rId2" Type="http://schemas.openxmlformats.org/officeDocument/2006/relationships/oleObject" Target="../embeddings/oleObject33.bin"/><Relationship Id="rId1" Type="http://schemas.openxmlformats.org/officeDocument/2006/relationships/image" Target="../media/image4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0.png"/></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4.emf"/><Relationship Id="rId7" Type="http://schemas.openxmlformats.org/officeDocument/2006/relationships/oleObject" Target="../embeddings/oleObject38.bin"/><Relationship Id="rId6" Type="http://schemas.openxmlformats.org/officeDocument/2006/relationships/image" Target="../media/image53.emf"/><Relationship Id="rId5" Type="http://schemas.openxmlformats.org/officeDocument/2006/relationships/oleObject" Target="../embeddings/oleObject37.bin"/><Relationship Id="rId4" Type="http://schemas.openxmlformats.org/officeDocument/2006/relationships/image" Target="../media/image52.emf"/><Relationship Id="rId3" Type="http://schemas.openxmlformats.org/officeDocument/2006/relationships/oleObject" Target="../embeddings/oleObject36.bin"/><Relationship Id="rId2" Type="http://schemas.openxmlformats.org/officeDocument/2006/relationships/image" Target="../media/image51.wmf"/><Relationship Id="rId10" Type="http://schemas.openxmlformats.org/officeDocument/2006/relationships/vmlDrawing" Target="../drawings/vmlDrawing15.vml"/><Relationship Id="rId1" Type="http://schemas.openxmlformats.org/officeDocument/2006/relationships/oleObject" Target="../embeddings/oleObject35.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56.emf"/><Relationship Id="rId3" Type="http://schemas.openxmlformats.org/officeDocument/2006/relationships/oleObject" Target="../embeddings/oleObject40.bin"/><Relationship Id="rId2" Type="http://schemas.openxmlformats.org/officeDocument/2006/relationships/image" Target="../media/image55.emf"/><Relationship Id="rId1" Type="http://schemas.openxmlformats.org/officeDocument/2006/relationships/oleObject" Target="../embeddings/oleObject39.bin"/></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58.emf"/><Relationship Id="rId1" Type="http://schemas.openxmlformats.org/officeDocument/2006/relationships/oleObject" Target="../embeddings/oleObject41.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59.emf"/><Relationship Id="rId1" Type="http://schemas.openxmlformats.org/officeDocument/2006/relationships/oleObject" Target="../embeddings/oleObject42.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60.emf"/><Relationship Id="rId1" Type="http://schemas.openxmlformats.org/officeDocument/2006/relationships/oleObject" Target="../embeddings/oleObject43.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5.xml"/><Relationship Id="rId2" Type="http://schemas.openxmlformats.org/officeDocument/2006/relationships/image" Target="../media/image61.emf"/><Relationship Id="rId1" Type="http://schemas.openxmlformats.org/officeDocument/2006/relationships/oleObject" Target="../embeddings/oleObject44.bin"/></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64.emf"/><Relationship Id="rId1" Type="http://schemas.openxmlformats.org/officeDocument/2006/relationships/oleObject" Target="../embeddings/oleObject45.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6.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7.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标题 3"/>
          <p:cNvSpPr>
            <a:spLocks noGrp="1"/>
          </p:cNvSpPr>
          <p:nvPr>
            <p:ph type="ctrTitle"/>
          </p:nvPr>
        </p:nvSpPr>
        <p:spPr/>
        <p:txBody>
          <a:bodyPr/>
          <a:lstStyle/>
          <a:p>
            <a:r>
              <a:rPr lang="zh-CN" altLang="en-US" dirty="0"/>
              <a:t>第</a:t>
            </a:r>
            <a:r>
              <a:rPr lang="en-US" altLang="zh-CN" dirty="0"/>
              <a:t>5</a:t>
            </a:r>
            <a:r>
              <a:rPr lang="zh-CN" altLang="en-US" dirty="0"/>
              <a:t>章 </a:t>
            </a:r>
            <a:r>
              <a:rPr lang="zh-CN" altLang="en-US" dirty="0" smtClean="0"/>
              <a:t>  半导体器件基础</a:t>
            </a:r>
            <a:br>
              <a:rPr lang="en-US" altLang="zh-CN" dirty="0" smtClean="0"/>
            </a:br>
            <a:r>
              <a:rPr lang="zh-CN" altLang="en-US" dirty="0" smtClean="0"/>
              <a:t>与</a:t>
            </a:r>
            <a:r>
              <a:rPr lang="zh-CN" altLang="en-US" dirty="0"/>
              <a:t>二极管电路</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eaLnBrk="1" hangingPunct="1"/>
            <a:r>
              <a:rPr lang="zh-CN" altLang="en-US" smtClean="0">
                <a:ea typeface="宋体" panose="02010600030101010101" pitchFamily="2" charset="-122"/>
              </a:rPr>
              <a:t>本章教学内容</a:t>
            </a:r>
            <a:endParaRPr lang="zh-CN" altLang="en-US" smtClean="0">
              <a:ea typeface="宋体" panose="02010600030101010101" pitchFamily="2" charset="-122"/>
            </a:endParaRPr>
          </a:p>
        </p:txBody>
      </p:sp>
      <p:sp>
        <p:nvSpPr>
          <p:cNvPr id="25603" name="内容占位符 2"/>
          <p:cNvSpPr>
            <a:spLocks noGrp="1"/>
          </p:cNvSpPr>
          <p:nvPr>
            <p:ph sz="quarter" idx="11"/>
          </p:nvPr>
        </p:nvSpPr>
        <p:spPr/>
        <p:txBody>
          <a:bodyPr/>
          <a:lstStyle/>
          <a:p>
            <a:pPr eaLnBrk="1" hangingPunct="1">
              <a:lnSpc>
                <a:spcPct val="150000"/>
              </a:lnSpc>
              <a:buFont typeface="Wingdings" panose="05000000000000000000" pitchFamily="2" charset="2"/>
              <a:buNone/>
            </a:pPr>
            <a:r>
              <a:rPr lang="en-US" altLang="zh-CN" smtClean="0">
                <a:ea typeface="宋体" panose="02010600030101010101" pitchFamily="2" charset="-122"/>
              </a:rPr>
              <a:t>5.1 </a:t>
            </a:r>
            <a:r>
              <a:rPr lang="zh-CN" altLang="en-US" smtClean="0">
                <a:ea typeface="宋体" panose="02010600030101010101" pitchFamily="2" charset="-122"/>
              </a:rPr>
              <a:t>半导体二极管的工作原理与特性</a:t>
            </a:r>
            <a:endParaRPr lang="en-US" altLang="zh-CN"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5.2 </a:t>
            </a:r>
            <a:r>
              <a:rPr lang="zh-CN" altLang="en-US" smtClean="0">
                <a:ea typeface="宋体" panose="02010600030101010101" pitchFamily="2" charset="-122"/>
              </a:rPr>
              <a:t>二极管整流电路</a:t>
            </a:r>
            <a:endParaRPr lang="en-US" altLang="zh-CN"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5.3 </a:t>
            </a:r>
            <a:r>
              <a:rPr lang="zh-CN" altLang="en-US" smtClean="0">
                <a:ea typeface="宋体" panose="02010600030101010101" pitchFamily="2" charset="-122"/>
              </a:rPr>
              <a:t>二极管峰值采样电路</a:t>
            </a:r>
            <a:endParaRPr lang="en-US" altLang="zh-CN"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5.4 </a:t>
            </a:r>
            <a:r>
              <a:rPr lang="zh-CN" altLang="en-US" smtClean="0">
                <a:ea typeface="宋体" panose="02010600030101010101" pitchFamily="2" charset="-122"/>
              </a:rPr>
              <a:t>二极管检波电路</a:t>
            </a:r>
            <a:endParaRPr lang="en-US" altLang="zh-CN"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3"/>
          <p:cNvSpPr>
            <a:spLocks noGrp="1"/>
          </p:cNvSpPr>
          <p:nvPr>
            <p:ph type="title"/>
          </p:nvPr>
        </p:nvSpPr>
        <p:spPr/>
        <p:txBody>
          <a:bodyPr/>
          <a:lstStyle/>
          <a:p>
            <a:pPr eaLnBrk="1" hangingPunct="1"/>
            <a:r>
              <a:rPr lang="zh-CN" altLang="en-US" smtClean="0">
                <a:ea typeface="宋体" panose="02010600030101010101" pitchFamily="2" charset="-122"/>
              </a:rPr>
              <a:t>本章内容概述</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
        <p:nvSpPr>
          <p:cNvPr id="26627" name="内容占位符 4"/>
          <p:cNvSpPr>
            <a:spLocks noGrp="1"/>
          </p:cNvSpPr>
          <p:nvPr>
            <p:ph sz="quarter" idx="11"/>
          </p:nvPr>
        </p:nvSpPr>
        <p:spPr/>
        <p:txBody>
          <a:bodyPr/>
          <a:lstStyle/>
          <a:p>
            <a:pPr eaLnBrk="1" hangingPunct="1">
              <a:lnSpc>
                <a:spcPct val="150000"/>
              </a:lnSpc>
            </a:pPr>
            <a:r>
              <a:rPr lang="zh-CN" altLang="en-US" dirty="0" smtClean="0">
                <a:ea typeface="宋体" panose="02010600030101010101" pitchFamily="2" charset="-122"/>
              </a:rPr>
              <a:t>半导体器件的出现改变了电子电路的组成格局，从</a:t>
            </a:r>
            <a:r>
              <a:rPr lang="en-US" altLang="zh-CN" dirty="0" smtClean="0">
                <a:ea typeface="宋体" panose="02010600030101010101" pitchFamily="2" charset="-122"/>
              </a:rPr>
              <a:t>20</a:t>
            </a:r>
            <a:r>
              <a:rPr lang="zh-CN" altLang="en-US" dirty="0" smtClean="0">
                <a:ea typeface="宋体" panose="02010600030101010101" pitchFamily="2" charset="-122"/>
              </a:rPr>
              <a:t>世纪</a:t>
            </a:r>
            <a:r>
              <a:rPr lang="en-US" altLang="zh-CN" dirty="0" smtClean="0">
                <a:ea typeface="宋体" panose="02010600030101010101" pitchFamily="2" charset="-122"/>
              </a:rPr>
              <a:t>60</a:t>
            </a:r>
            <a:r>
              <a:rPr lang="zh-CN" altLang="en-US" dirty="0" smtClean="0">
                <a:ea typeface="宋体" panose="02010600030101010101" pitchFamily="2" charset="-122"/>
              </a:rPr>
              <a:t>年代开始，半导体器件开始逐步取代真空管器件，在电子电路中占据绝对主导地位。</a:t>
            </a:r>
            <a:endParaRPr lang="zh-CN" altLang="en-US" dirty="0" smtClean="0">
              <a:ea typeface="宋体" panose="02010600030101010101" pitchFamily="2" charset="-122"/>
            </a:endParaRPr>
          </a:p>
          <a:p>
            <a:pPr eaLnBrk="1" hangingPunct="1">
              <a:lnSpc>
                <a:spcPct val="150000"/>
              </a:lnSpc>
            </a:pPr>
            <a:r>
              <a:rPr lang="zh-CN" altLang="en-US" dirty="0" smtClean="0">
                <a:ea typeface="宋体" panose="02010600030101010101" pitchFamily="2" charset="-122"/>
              </a:rPr>
              <a:t>本章首先介绍半导体器件的基础知识，介绍</a:t>
            </a:r>
            <a:r>
              <a:rPr lang="en-US" altLang="zh-CN" dirty="0" smtClean="0">
                <a:ea typeface="宋体" panose="02010600030101010101" pitchFamily="2" charset="-122"/>
              </a:rPr>
              <a:t>PN</a:t>
            </a:r>
            <a:r>
              <a:rPr lang="zh-CN" altLang="en-US" dirty="0" smtClean="0">
                <a:ea typeface="宋体" panose="02010600030101010101" pitchFamily="2" charset="-122"/>
              </a:rPr>
              <a:t>结的单向导电原理，然后着重介绍半导体二极管器件的外部特性和主要参数，为正确使用器件打下基础，最后介绍几种常用的二极管应用电路。</a:t>
            </a:r>
            <a:endParaRPr lang="zh-CN" altLang="en-US" dirty="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lnSpc>
                <a:spcPct val="150000"/>
              </a:lnSpc>
            </a:pPr>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a:t>
            </a:r>
            <a:endParaRPr lang="en-US" altLang="zh-CN"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27651" name="Rectangle 3"/>
          <p:cNvSpPr>
            <a:spLocks noGrp="1" noChangeArrowheads="1"/>
          </p:cNvSpPr>
          <p:nvPr>
            <p:ph sz="quarter" idx="4294967295"/>
          </p:nvPr>
        </p:nvSpPr>
        <p:spPr>
          <a:xfrm>
            <a:off x="0" y="765175"/>
            <a:ext cx="8891588" cy="5543550"/>
          </a:xfrm>
        </p:spPr>
        <p:txBody>
          <a:bodyPr/>
          <a:lstStyle/>
          <a:p>
            <a:pPr marL="0" indent="0" eaLnBrk="1" hangingPunct="1">
              <a:spcBef>
                <a:spcPts val="0"/>
              </a:spcBef>
            </a:pPr>
            <a:r>
              <a:rPr lang="zh-CN" altLang="en-US" dirty="0" smtClean="0">
                <a:ea typeface="宋体" panose="02010600030101010101" pitchFamily="2" charset="-122"/>
              </a:rPr>
              <a:t>半导体材料</a:t>
            </a:r>
            <a:endParaRPr lang="zh-CN" altLang="en-US" dirty="0" smtClean="0">
              <a:ea typeface="宋体" panose="02010600030101010101" pitchFamily="2" charset="-122"/>
            </a:endParaRPr>
          </a:p>
          <a:p>
            <a:pPr marL="179705" lvl="1" indent="357505" eaLnBrk="1" hangingPunct="1">
              <a:lnSpc>
                <a:spcPct val="150000"/>
              </a:lnSpc>
              <a:spcBef>
                <a:spcPts val="0"/>
              </a:spcBef>
              <a:buFont typeface="Wingdings" panose="05000000000000000000" pitchFamily="2" charset="2"/>
              <a:buNone/>
            </a:pPr>
            <a:r>
              <a:rPr lang="zh-CN" altLang="en-US" sz="2400" dirty="0" smtClean="0"/>
              <a:t>   根据物体导电能力</a:t>
            </a:r>
            <a:r>
              <a:rPr lang="en-US" altLang="zh-CN" sz="2400" dirty="0" smtClean="0"/>
              <a:t>(</a:t>
            </a:r>
            <a:r>
              <a:rPr lang="zh-CN" altLang="en-US" sz="2400" dirty="0" smtClean="0"/>
              <a:t>电阻率</a:t>
            </a:r>
            <a:r>
              <a:rPr lang="en-US" altLang="zh-CN" sz="2400" dirty="0" smtClean="0"/>
              <a:t>)</a:t>
            </a:r>
            <a:r>
              <a:rPr lang="zh-CN" altLang="en-US" sz="2400" dirty="0" smtClean="0"/>
              <a:t>的不同，来划分导体、绝缘体和半导体。典型的半导体有硅</a:t>
            </a:r>
            <a:r>
              <a:rPr lang="en-US" altLang="zh-CN" sz="2400" dirty="0" smtClean="0"/>
              <a:t>Si</a:t>
            </a:r>
            <a:r>
              <a:rPr lang="zh-CN" altLang="en-US" sz="2400" dirty="0" smtClean="0"/>
              <a:t>和锗</a:t>
            </a:r>
            <a:r>
              <a:rPr lang="en-US" altLang="zh-CN" sz="2400" dirty="0" err="1" smtClean="0"/>
              <a:t>Ge</a:t>
            </a:r>
            <a:r>
              <a:rPr lang="zh-CN" altLang="en-US" sz="2400" dirty="0" smtClean="0"/>
              <a:t>以及砷化镓</a:t>
            </a:r>
            <a:r>
              <a:rPr lang="en-US" altLang="zh-CN" sz="2400" dirty="0" err="1" smtClean="0"/>
              <a:t>GaAs</a:t>
            </a:r>
            <a:r>
              <a:rPr lang="zh-CN" altLang="en-US" sz="2400" dirty="0" smtClean="0"/>
              <a:t>等。</a:t>
            </a:r>
            <a:endParaRPr lang="zh-CN" altLang="en-US" sz="2400" dirty="0" smtClean="0"/>
          </a:p>
          <a:p>
            <a:pPr marL="179705" lvl="1" indent="357505" eaLnBrk="1" hangingPunct="1">
              <a:lnSpc>
                <a:spcPct val="150000"/>
              </a:lnSpc>
              <a:spcBef>
                <a:spcPts val="0"/>
              </a:spcBef>
              <a:buFont typeface="Wingdings" panose="05000000000000000000" pitchFamily="2" charset="2"/>
              <a:buNone/>
            </a:pPr>
            <a:r>
              <a:rPr lang="zh-CN" altLang="en-US" sz="2400" dirty="0" smtClean="0"/>
              <a:t>半导体有温敏、光敏和掺杂等导电特性。</a:t>
            </a:r>
            <a:endParaRPr lang="zh-CN" altLang="en-US" sz="2400" dirty="0" smtClean="0"/>
          </a:p>
          <a:p>
            <a:pPr lvl="2" eaLnBrk="1" hangingPunct="1">
              <a:lnSpc>
                <a:spcPct val="130000"/>
              </a:lnSpc>
              <a:spcBef>
                <a:spcPts val="0"/>
              </a:spcBef>
            </a:pPr>
            <a:r>
              <a:rPr lang="zh-CN" altLang="en-US" dirty="0" smtClean="0"/>
              <a:t>热敏性： 当环境温度升高时，导电能力显著增强。（可做成温度敏感元件，如热敏电阻）</a:t>
            </a:r>
            <a:endParaRPr lang="zh-CN" altLang="en-US" dirty="0" smtClean="0"/>
          </a:p>
          <a:p>
            <a:pPr lvl="2" eaLnBrk="1" hangingPunct="1">
              <a:lnSpc>
                <a:spcPct val="130000"/>
              </a:lnSpc>
              <a:spcBef>
                <a:spcPts val="0"/>
              </a:spcBef>
            </a:pPr>
            <a:r>
              <a:rPr lang="zh-CN" altLang="en-US" dirty="0" smtClean="0"/>
              <a:t>光敏性：当受到光照时，导电能力明显变化。（</a:t>
            </a:r>
            <a:r>
              <a:rPr lang="en-US" altLang="zh-CN" dirty="0" smtClean="0"/>
              <a:t>(</a:t>
            </a:r>
            <a:r>
              <a:rPr lang="zh-CN" altLang="en-US" dirty="0" smtClean="0"/>
              <a:t>可做成各种光电元件，如光电电阻、光电二极管、光电晶体管）</a:t>
            </a:r>
            <a:endParaRPr lang="zh-CN" altLang="en-US" dirty="0" smtClean="0"/>
          </a:p>
          <a:p>
            <a:pPr lvl="2" eaLnBrk="1" hangingPunct="1">
              <a:lnSpc>
                <a:spcPct val="130000"/>
              </a:lnSpc>
              <a:spcBef>
                <a:spcPts val="0"/>
              </a:spcBef>
            </a:pPr>
            <a:r>
              <a:rPr lang="zh-CN" altLang="en-US" dirty="0" smtClean="0"/>
              <a:t>掺杂性：往纯净的半导体中掺入某些杂质，导电能力明显改变。（可做成各种不同用途的半导体器件， 如二极管、晶体管和晶闸管等）</a:t>
            </a:r>
            <a:endParaRPr lang="zh-CN" altLang="en-US"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1</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28675"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半导体的共价键结构</a:t>
            </a:r>
            <a:br>
              <a:rPr lang="zh-CN" altLang="en-US" smtClean="0">
                <a:ea typeface="宋体" panose="02010600030101010101" pitchFamily="2" charset="-122"/>
              </a:rPr>
            </a:br>
            <a:r>
              <a:rPr lang="zh-CN" altLang="en-US" smtClean="0">
                <a:ea typeface="宋体" panose="02010600030101010101" pitchFamily="2" charset="-122"/>
              </a:rPr>
              <a:t>硅和锗的原子结构简化模型及晶体结构</a:t>
            </a:r>
            <a:endParaRPr lang="zh-CN" altLang="en-US" smtClean="0">
              <a:ea typeface="宋体" panose="02010600030101010101" pitchFamily="2" charset="-122"/>
            </a:endParaRPr>
          </a:p>
        </p:txBody>
      </p:sp>
      <p:pic>
        <p:nvPicPr>
          <p:cNvPr id="40966" name="Picture 6"/>
          <p:cNvPicPr>
            <a:picLocks noChangeAspect="1" noChangeArrowheads="1"/>
          </p:cNvPicPr>
          <p:nvPr/>
        </p:nvPicPr>
        <p:blipFill>
          <a:blip r:embed="rId1">
            <a:extLst>
              <a:ext uri="{28A0092B-C50C-407E-A947-70E740481C1C}">
                <a14:useLocalDpi xmlns:a14="http://schemas.microsoft.com/office/drawing/2010/main" val="0"/>
              </a:ext>
            </a:extLst>
          </a:blip>
          <a:srcRect l="19235"/>
          <a:stretch>
            <a:fillRect/>
          </a:stretch>
        </p:blipFill>
        <p:spPr bwMode="auto">
          <a:xfrm>
            <a:off x="4240213" y="2159000"/>
            <a:ext cx="4799012" cy="36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40967" name="Rectangle 7"/>
          <p:cNvSpPr>
            <a:spLocks noChangeArrowheads="1"/>
          </p:cNvSpPr>
          <p:nvPr/>
        </p:nvSpPr>
        <p:spPr bwMode="auto">
          <a:xfrm>
            <a:off x="611188" y="2055813"/>
            <a:ext cx="3460750" cy="389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50000"/>
              </a:lnSpc>
              <a:spcBef>
                <a:spcPct val="50000"/>
              </a:spcBef>
            </a:pPr>
            <a:r>
              <a:rPr kumimoji="1" lang="zh-CN" altLang="en-US" sz="2400" b="1">
                <a:solidFill>
                  <a:schemeClr val="tx2"/>
                </a:solidFill>
                <a:latin typeface="Times New Roman" panose="02020603050405020304" pitchFamily="18" charset="0"/>
                <a:cs typeface="Times New Roman" panose="02020603050405020304" pitchFamily="18" charset="0"/>
              </a:rPr>
              <a:t>它们的最外层电子（价电子）都是四个。每个原子与晶格上相邻的</a:t>
            </a:r>
            <a:r>
              <a:rPr kumimoji="1" lang="en-US" altLang="zh-CN" sz="2400" b="1">
                <a:solidFill>
                  <a:schemeClr val="tx2"/>
                </a:solidFill>
                <a:latin typeface="Times New Roman" panose="02020603050405020304" pitchFamily="18" charset="0"/>
                <a:cs typeface="Times New Roman" panose="02020603050405020304" pitchFamily="18" charset="0"/>
              </a:rPr>
              <a:t>4</a:t>
            </a:r>
            <a:r>
              <a:rPr kumimoji="1" lang="zh-CN" altLang="en-US" sz="2400" b="1">
                <a:solidFill>
                  <a:schemeClr val="tx2"/>
                </a:solidFill>
                <a:latin typeface="Times New Roman" panose="02020603050405020304" pitchFamily="18" charset="0"/>
                <a:cs typeface="Times New Roman" panose="02020603050405020304" pitchFamily="18" charset="0"/>
              </a:rPr>
              <a:t>个原子共享价电子（使最外层达到最稳定的</a:t>
            </a:r>
            <a:r>
              <a:rPr kumimoji="1" lang="en-US" altLang="zh-CN" sz="2400" b="1">
                <a:solidFill>
                  <a:schemeClr val="tx2"/>
                </a:solidFill>
                <a:latin typeface="Times New Roman" panose="02020603050405020304" pitchFamily="18" charset="0"/>
                <a:cs typeface="Times New Roman" panose="02020603050405020304" pitchFamily="18" charset="0"/>
              </a:rPr>
              <a:t>8</a:t>
            </a:r>
            <a:r>
              <a:rPr kumimoji="1" lang="zh-CN" altLang="en-US" sz="2400" b="1">
                <a:solidFill>
                  <a:schemeClr val="tx2"/>
                </a:solidFill>
                <a:latin typeface="Times New Roman" panose="02020603050405020304" pitchFamily="18" charset="0"/>
                <a:cs typeface="Times New Roman" panose="02020603050405020304" pitchFamily="18" charset="0"/>
              </a:rPr>
              <a:t>个电子状态，从而形成共价键。</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0966"/>
                                        </p:tgtEl>
                                        <p:attrNameLst>
                                          <p:attrName>style.visibility</p:attrName>
                                        </p:attrNameLst>
                                      </p:cBhvr>
                                      <p:to>
                                        <p:strVal val="visible"/>
                                      </p:to>
                                    </p:set>
                                    <p:animEffect transition="in" filter="slide(fromBottom)">
                                      <p:cBhvr>
                                        <p:cTn id="7" dur="500"/>
                                        <p:tgtEl>
                                          <p:spTgt spid="4096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lt">
                                    <p:tmAbs val="100"/>
                                  </p:iterate>
                                  <p:childTnLst>
                                    <p:set>
                                      <p:cBhvr>
                                        <p:cTn id="11" dur="1" fill="hold">
                                          <p:stCondLst>
                                            <p:cond delay="0"/>
                                          </p:stCondLst>
                                        </p:cTn>
                                        <p:tgtEl>
                                          <p:spTgt spid="409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sz="3200" dirty="0" smtClean="0">
                <a:ea typeface="宋体" panose="02010600030101010101" pitchFamily="2" charset="-122"/>
              </a:rPr>
              <a:t>5.1 </a:t>
            </a:r>
            <a:r>
              <a:rPr lang="zh-CN" altLang="en-US" sz="3200" dirty="0" smtClean="0">
                <a:ea typeface="宋体" panose="02010600030101010101" pitchFamily="2" charset="-122"/>
              </a:rPr>
              <a:t>半导体二极管的工作原理与特性（续</a:t>
            </a:r>
            <a:r>
              <a:rPr lang="en-US" altLang="zh-CN" sz="3200" dirty="0" smtClean="0">
                <a:ea typeface="宋体" panose="02010600030101010101" pitchFamily="2" charset="-122"/>
              </a:rPr>
              <a:t>2</a:t>
            </a:r>
            <a:r>
              <a:rPr lang="zh-CN" altLang="en-US" sz="3200" dirty="0" smtClean="0">
                <a:ea typeface="宋体" panose="02010600030101010101" pitchFamily="2" charset="-122"/>
              </a:rPr>
              <a:t>）</a:t>
            </a:r>
            <a:endParaRPr lang="zh-CN" altLang="en-US" sz="3600" dirty="0" smtClean="0">
              <a:ea typeface="楷体_GB2312" pitchFamily="49" charset="-122"/>
            </a:endParaRPr>
          </a:p>
        </p:txBody>
      </p:sp>
      <p:sp>
        <p:nvSpPr>
          <p:cNvPr id="4" name="灯片编号占位符 3"/>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41987" name="Rectangle 3"/>
          <p:cNvSpPr>
            <a:spLocks noGrp="1" noChangeArrowheads="1"/>
          </p:cNvSpPr>
          <p:nvPr>
            <p:ph sz="quarter" idx="4294967295"/>
          </p:nvPr>
        </p:nvSpPr>
        <p:spPr>
          <a:xfrm>
            <a:off x="0" y="765175"/>
            <a:ext cx="8891588" cy="5543550"/>
          </a:xfrm>
        </p:spPr>
        <p:txBody>
          <a:bodyPr/>
          <a:lstStyle/>
          <a:p>
            <a:pPr eaLnBrk="1" hangingPunct="1"/>
            <a:r>
              <a:rPr lang="zh-CN" altLang="en-US" dirty="0" smtClean="0">
                <a:ea typeface="宋体" panose="02010600030101010101" pitchFamily="2" charset="-122"/>
              </a:rPr>
              <a:t>本征半导体</a:t>
            </a:r>
            <a:endParaRPr lang="zh-CN" altLang="en-US" dirty="0" smtClean="0">
              <a:ea typeface="宋体" panose="02010600030101010101" pitchFamily="2" charset="-122"/>
            </a:endParaRPr>
          </a:p>
          <a:p>
            <a:pPr lvl="1" eaLnBrk="1" hangingPunct="1"/>
            <a:r>
              <a:rPr lang="zh-CN" altLang="en-US" dirty="0" smtClean="0"/>
              <a:t>本征半导体</a:t>
            </a:r>
            <a:r>
              <a:rPr lang="en-US" altLang="zh-CN" dirty="0" smtClean="0"/>
              <a:t>——</a:t>
            </a:r>
            <a:r>
              <a:rPr lang="zh-CN" altLang="en-US" dirty="0" smtClean="0"/>
              <a:t>化学成分纯净的半导体。物理结构上呈单晶体形态。</a:t>
            </a:r>
            <a:endParaRPr lang="zh-CN" altLang="en-US" dirty="0" smtClean="0"/>
          </a:p>
          <a:p>
            <a:pPr lvl="1" eaLnBrk="1" hangingPunct="1"/>
            <a:r>
              <a:rPr lang="zh-CN" altLang="en-US" dirty="0" smtClean="0"/>
              <a:t>电子空穴对</a:t>
            </a:r>
            <a:r>
              <a:rPr lang="en-US" altLang="zh-CN" dirty="0" smtClean="0"/>
              <a:t>——</a:t>
            </a:r>
            <a:r>
              <a:rPr lang="zh-CN" altLang="en-US" dirty="0" smtClean="0"/>
              <a:t>由热激发而</a:t>
            </a:r>
            <a:br>
              <a:rPr lang="zh-CN" altLang="en-US" dirty="0" smtClean="0"/>
            </a:br>
            <a:r>
              <a:rPr lang="zh-CN" altLang="en-US" dirty="0" smtClean="0"/>
              <a:t>产生的自由电子和空穴对。</a:t>
            </a:r>
            <a:endParaRPr lang="zh-CN" altLang="en-US" dirty="0" smtClean="0"/>
          </a:p>
        </p:txBody>
      </p:sp>
      <p:pic>
        <p:nvPicPr>
          <p:cNvPr id="41989"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24625" y="2132856"/>
            <a:ext cx="1920875"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Rectangle 6"/>
          <p:cNvSpPr>
            <a:spLocks noChangeArrowheads="1"/>
          </p:cNvSpPr>
          <p:nvPr/>
        </p:nvSpPr>
        <p:spPr bwMode="auto">
          <a:xfrm>
            <a:off x="5800725" y="3928318"/>
            <a:ext cx="3262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50000"/>
              </a:spcBef>
            </a:pPr>
            <a:r>
              <a:rPr kumimoji="1" lang="zh-CN" altLang="en-US" sz="2400" b="1">
                <a:solidFill>
                  <a:schemeClr val="tx2"/>
                </a:solidFill>
                <a:latin typeface="Times New Roman" panose="02020603050405020304" pitchFamily="18" charset="0"/>
                <a:cs typeface="Times New Roman" panose="02020603050405020304" pitchFamily="18" charset="0"/>
              </a:rPr>
              <a:t>晶体中原子的排列方式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pic>
        <p:nvPicPr>
          <p:cNvPr id="4199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50" y="3344118"/>
            <a:ext cx="2944813"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1992" name="Rectangle 8"/>
          <p:cNvSpPr>
            <a:spLocks noChangeArrowheads="1"/>
          </p:cNvSpPr>
          <p:nvPr/>
        </p:nvSpPr>
        <p:spPr bwMode="auto">
          <a:xfrm>
            <a:off x="-18752" y="3577481"/>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50000"/>
              </a:spcBef>
            </a:pPr>
            <a:r>
              <a:rPr kumimoji="1" lang="zh-CN" altLang="en-US" sz="2400" b="1" dirty="0">
                <a:solidFill>
                  <a:schemeClr val="tx2"/>
                </a:solidFill>
              </a:rPr>
              <a:t>自由电子</a:t>
            </a:r>
            <a:endParaRPr kumimoji="1" lang="zh-CN" altLang="en-US" sz="2400" b="1" dirty="0">
              <a:solidFill>
                <a:schemeClr val="tx2"/>
              </a:solidFill>
            </a:endParaRPr>
          </a:p>
        </p:txBody>
      </p:sp>
      <p:sp>
        <p:nvSpPr>
          <p:cNvPr id="41993" name="Rectangle 9"/>
          <p:cNvSpPr>
            <a:spLocks noChangeArrowheads="1"/>
          </p:cNvSpPr>
          <p:nvPr/>
        </p:nvSpPr>
        <p:spPr bwMode="auto">
          <a:xfrm>
            <a:off x="396875" y="4860181"/>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50000"/>
              </a:spcBef>
            </a:pPr>
            <a:r>
              <a:rPr kumimoji="1" lang="zh-CN" altLang="en-US" sz="2400" b="1">
                <a:solidFill>
                  <a:schemeClr val="tx2"/>
                </a:solidFill>
                <a:latin typeface="Times New Roman" panose="02020603050405020304" pitchFamily="18" charset="0"/>
                <a:cs typeface="Times New Roman" panose="02020603050405020304" pitchFamily="18" charset="0"/>
              </a:rPr>
              <a:t>空穴</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12"/>
          <p:cNvGrpSpPr/>
          <p:nvPr/>
        </p:nvGrpSpPr>
        <p:grpSpPr bwMode="auto">
          <a:xfrm>
            <a:off x="1146175" y="4128343"/>
            <a:ext cx="1828800" cy="1317625"/>
            <a:chOff x="634" y="2746"/>
            <a:chExt cx="1152" cy="830"/>
          </a:xfrm>
        </p:grpSpPr>
        <p:sp>
          <p:nvSpPr>
            <p:cNvPr id="29712" name="Freeform 10"/>
            <p:cNvSpPr/>
            <p:nvPr/>
          </p:nvSpPr>
          <p:spPr bwMode="auto">
            <a:xfrm>
              <a:off x="634" y="2746"/>
              <a:ext cx="1152" cy="291"/>
            </a:xfrm>
            <a:custGeom>
              <a:avLst/>
              <a:gdLst>
                <a:gd name="T0" fmla="*/ 0 w 1152"/>
                <a:gd name="T1" fmla="*/ 65 h 614"/>
                <a:gd name="T2" fmla="*/ 480 w 1152"/>
                <a:gd name="T3" fmla="*/ 20 h 614"/>
                <a:gd name="T4" fmla="*/ 1152 w 1152"/>
                <a:gd name="T5" fmla="*/ 0 h 614"/>
                <a:gd name="T6" fmla="*/ 0 60000 65536"/>
                <a:gd name="T7" fmla="*/ 0 60000 65536"/>
                <a:gd name="T8" fmla="*/ 0 60000 65536"/>
                <a:gd name="T9" fmla="*/ 0 w 1152"/>
                <a:gd name="T10" fmla="*/ 0 h 614"/>
                <a:gd name="T11" fmla="*/ 1152 w 1152"/>
                <a:gd name="T12" fmla="*/ 614 h 614"/>
              </a:gdLst>
              <a:ahLst/>
              <a:cxnLst>
                <a:cxn ang="T6">
                  <a:pos x="T0" y="T1"/>
                </a:cxn>
                <a:cxn ang="T7">
                  <a:pos x="T2" y="T3"/>
                </a:cxn>
                <a:cxn ang="T8">
                  <a:pos x="T4" y="T5"/>
                </a:cxn>
              </a:cxnLst>
              <a:rect l="T9" t="T10" r="T11" b="T12"/>
              <a:pathLst>
                <a:path w="1152" h="614">
                  <a:moveTo>
                    <a:pt x="0" y="614"/>
                  </a:moveTo>
                  <a:cubicBezTo>
                    <a:pt x="80" y="544"/>
                    <a:pt x="288" y="294"/>
                    <a:pt x="480" y="192"/>
                  </a:cubicBezTo>
                  <a:cubicBezTo>
                    <a:pt x="672" y="90"/>
                    <a:pt x="1012" y="40"/>
                    <a:pt x="1152" y="0"/>
                  </a:cubicBezTo>
                </a:path>
              </a:pathLst>
            </a:custGeom>
            <a:noFill/>
            <a:ln w="28575">
              <a:solidFill>
                <a:srgbClr val="FF0000"/>
              </a:solidFill>
              <a:round/>
              <a:tailEnd type="arrow"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9713" name="Freeform 11"/>
            <p:cNvSpPr/>
            <p:nvPr/>
          </p:nvSpPr>
          <p:spPr bwMode="auto">
            <a:xfrm>
              <a:off x="634" y="3285"/>
              <a:ext cx="873" cy="291"/>
            </a:xfrm>
            <a:custGeom>
              <a:avLst/>
              <a:gdLst>
                <a:gd name="T0" fmla="*/ 0 w 873"/>
                <a:gd name="T1" fmla="*/ 62 h 296"/>
                <a:gd name="T2" fmla="*/ 240 w 873"/>
                <a:gd name="T3" fmla="*/ 8 h 296"/>
                <a:gd name="T4" fmla="*/ 480 w 873"/>
                <a:gd name="T5" fmla="*/ 17 h 296"/>
                <a:gd name="T6" fmla="*/ 758 w 873"/>
                <a:gd name="T7" fmla="*/ 88 h 296"/>
                <a:gd name="T8" fmla="*/ 873 w 873"/>
                <a:gd name="T9" fmla="*/ 281 h 296"/>
                <a:gd name="T10" fmla="*/ 0 60000 65536"/>
                <a:gd name="T11" fmla="*/ 0 60000 65536"/>
                <a:gd name="T12" fmla="*/ 0 60000 65536"/>
                <a:gd name="T13" fmla="*/ 0 60000 65536"/>
                <a:gd name="T14" fmla="*/ 0 60000 65536"/>
                <a:gd name="T15" fmla="*/ 0 w 873"/>
                <a:gd name="T16" fmla="*/ 0 h 296"/>
                <a:gd name="T17" fmla="*/ 873 w 873"/>
                <a:gd name="T18" fmla="*/ 296 h 296"/>
              </a:gdLst>
              <a:ahLst/>
              <a:cxnLst>
                <a:cxn ang="T10">
                  <a:pos x="T0" y="T1"/>
                </a:cxn>
                <a:cxn ang="T11">
                  <a:pos x="T2" y="T3"/>
                </a:cxn>
                <a:cxn ang="T12">
                  <a:pos x="T4" y="T5"/>
                </a:cxn>
                <a:cxn ang="T13">
                  <a:pos x="T6" y="T7"/>
                </a:cxn>
                <a:cxn ang="T14">
                  <a:pos x="T8" y="T9"/>
                </a:cxn>
              </a:cxnLst>
              <a:rect l="T15" t="T16" r="T17" b="T18"/>
              <a:pathLst>
                <a:path w="873" h="296">
                  <a:moveTo>
                    <a:pt x="0" y="65"/>
                  </a:moveTo>
                  <a:cubicBezTo>
                    <a:pt x="35" y="52"/>
                    <a:pt x="160" y="16"/>
                    <a:pt x="240" y="8"/>
                  </a:cubicBezTo>
                  <a:cubicBezTo>
                    <a:pt x="320" y="0"/>
                    <a:pt x="394" y="3"/>
                    <a:pt x="480" y="17"/>
                  </a:cubicBezTo>
                  <a:cubicBezTo>
                    <a:pt x="566" y="31"/>
                    <a:pt x="693" y="48"/>
                    <a:pt x="758" y="94"/>
                  </a:cubicBezTo>
                  <a:cubicBezTo>
                    <a:pt x="823" y="140"/>
                    <a:pt x="849" y="254"/>
                    <a:pt x="873" y="296"/>
                  </a:cubicBezTo>
                </a:path>
              </a:pathLst>
            </a:custGeom>
            <a:noFill/>
            <a:ln w="28575">
              <a:solidFill>
                <a:srgbClr val="FF0000"/>
              </a:solidFill>
              <a:round/>
              <a:tailEnd type="arrow"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grpSp>
      <p:grpSp>
        <p:nvGrpSpPr>
          <p:cNvPr id="3" name="Group 15"/>
          <p:cNvGrpSpPr/>
          <p:nvPr/>
        </p:nvGrpSpPr>
        <p:grpSpPr bwMode="auto">
          <a:xfrm>
            <a:off x="1366664" y="3493342"/>
            <a:ext cx="1981200" cy="1663701"/>
            <a:chOff x="816" y="2294"/>
            <a:chExt cx="1248" cy="1048"/>
          </a:xfrm>
        </p:grpSpPr>
        <p:sp>
          <p:nvSpPr>
            <p:cNvPr id="29710" name="Freeform 13"/>
            <p:cNvSpPr/>
            <p:nvPr/>
          </p:nvSpPr>
          <p:spPr bwMode="auto">
            <a:xfrm>
              <a:off x="816" y="2294"/>
              <a:ext cx="1248" cy="427"/>
            </a:xfrm>
            <a:custGeom>
              <a:avLst/>
              <a:gdLst>
                <a:gd name="T0" fmla="*/ 0 w 1210"/>
                <a:gd name="T1" fmla="*/ 83 h 419"/>
                <a:gd name="T2" fmla="*/ 326 w 1210"/>
                <a:gd name="T3" fmla="*/ 15 h 419"/>
                <a:gd name="T4" fmla="*/ 691 w 1210"/>
                <a:gd name="T5" fmla="*/ 6 h 419"/>
                <a:gd name="T6" fmla="*/ 998 w 1210"/>
                <a:gd name="T7" fmla="*/ 47 h 419"/>
                <a:gd name="T8" fmla="*/ 1210 w 1210"/>
                <a:gd name="T9" fmla="*/ 140 h 419"/>
                <a:gd name="T10" fmla="*/ 0 60000 65536"/>
                <a:gd name="T11" fmla="*/ 0 60000 65536"/>
                <a:gd name="T12" fmla="*/ 0 60000 65536"/>
                <a:gd name="T13" fmla="*/ 0 60000 65536"/>
                <a:gd name="T14" fmla="*/ 0 60000 65536"/>
                <a:gd name="T15" fmla="*/ 0 w 1210"/>
                <a:gd name="T16" fmla="*/ 0 h 419"/>
                <a:gd name="T17" fmla="*/ 1210 w 1210"/>
                <a:gd name="T18" fmla="*/ 419 h 419"/>
                <a:gd name="connsiteX0" fmla="*/ 0 w 10314"/>
                <a:gd name="connsiteY0" fmla="*/ 5681 h 14665"/>
                <a:gd name="connsiteX1" fmla="*/ 2694 w 10314"/>
                <a:gd name="connsiteY1" fmla="*/ 884 h 14665"/>
                <a:gd name="connsiteX2" fmla="*/ 5711 w 10314"/>
                <a:gd name="connsiteY2" fmla="*/ 192 h 14665"/>
                <a:gd name="connsiteX3" fmla="*/ 8248 w 10314"/>
                <a:gd name="connsiteY3" fmla="*/ 3175 h 14665"/>
                <a:gd name="connsiteX4" fmla="*/ 10314 w 10314"/>
                <a:gd name="connsiteY4" fmla="*/ 14665 h 14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4" h="14665">
                  <a:moveTo>
                    <a:pt x="0" y="5681"/>
                  </a:moveTo>
                  <a:cubicBezTo>
                    <a:pt x="868" y="3724"/>
                    <a:pt x="1744" y="1791"/>
                    <a:pt x="2694" y="884"/>
                  </a:cubicBezTo>
                  <a:cubicBezTo>
                    <a:pt x="3645" y="-23"/>
                    <a:pt x="4785" y="-190"/>
                    <a:pt x="5711" y="192"/>
                  </a:cubicBezTo>
                  <a:cubicBezTo>
                    <a:pt x="6636" y="574"/>
                    <a:pt x="7537" y="1576"/>
                    <a:pt x="8248" y="3175"/>
                  </a:cubicBezTo>
                  <a:cubicBezTo>
                    <a:pt x="8959" y="4774"/>
                    <a:pt x="9793" y="12135"/>
                    <a:pt x="10314" y="14665"/>
                  </a:cubicBezTo>
                </a:path>
              </a:pathLst>
            </a:custGeom>
            <a:noFill/>
            <a:ln w="28575">
              <a:solidFill>
                <a:srgbClr val="000066"/>
              </a:solidFill>
              <a:round/>
              <a:tailEnd type="arrow"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9711" name="Freeform 14"/>
            <p:cNvSpPr/>
            <p:nvPr/>
          </p:nvSpPr>
          <p:spPr bwMode="auto">
            <a:xfrm>
              <a:off x="861" y="2534"/>
              <a:ext cx="771" cy="808"/>
            </a:xfrm>
            <a:custGeom>
              <a:avLst/>
              <a:gdLst>
                <a:gd name="T0" fmla="*/ 0 w 749"/>
                <a:gd name="T1" fmla="*/ 0 h 845"/>
                <a:gd name="T2" fmla="*/ 403 w 749"/>
                <a:gd name="T3" fmla="*/ 8 h 845"/>
                <a:gd name="T4" fmla="*/ 682 w 749"/>
                <a:gd name="T5" fmla="*/ 18 h 845"/>
                <a:gd name="T6" fmla="*/ 749 w 749"/>
                <a:gd name="T7" fmla="*/ 34 h 845"/>
                <a:gd name="T8" fmla="*/ 0 60000 65536"/>
                <a:gd name="T9" fmla="*/ 0 60000 65536"/>
                <a:gd name="T10" fmla="*/ 0 60000 65536"/>
                <a:gd name="T11" fmla="*/ 0 60000 65536"/>
                <a:gd name="T12" fmla="*/ 0 w 749"/>
                <a:gd name="T13" fmla="*/ 0 h 845"/>
                <a:gd name="T14" fmla="*/ 749 w 749"/>
                <a:gd name="T15" fmla="*/ 845 h 845"/>
              </a:gdLst>
              <a:ahLst/>
              <a:cxnLst>
                <a:cxn ang="T8">
                  <a:pos x="T0" y="T1"/>
                </a:cxn>
                <a:cxn ang="T9">
                  <a:pos x="T2" y="T3"/>
                </a:cxn>
                <a:cxn ang="T10">
                  <a:pos x="T4" y="T5"/>
                </a:cxn>
                <a:cxn ang="T11">
                  <a:pos x="T6" y="T7"/>
                </a:cxn>
              </a:cxnLst>
              <a:rect l="T12" t="T13" r="T14" b="T15"/>
              <a:pathLst>
                <a:path w="749" h="845">
                  <a:moveTo>
                    <a:pt x="0" y="0"/>
                  </a:moveTo>
                  <a:cubicBezTo>
                    <a:pt x="144" y="64"/>
                    <a:pt x="289" y="128"/>
                    <a:pt x="403" y="202"/>
                  </a:cubicBezTo>
                  <a:cubicBezTo>
                    <a:pt x="517" y="276"/>
                    <a:pt x="624" y="335"/>
                    <a:pt x="682" y="442"/>
                  </a:cubicBezTo>
                  <a:cubicBezTo>
                    <a:pt x="740" y="549"/>
                    <a:pt x="744" y="697"/>
                    <a:pt x="749" y="845"/>
                  </a:cubicBezTo>
                </a:path>
              </a:pathLst>
            </a:custGeom>
            <a:noFill/>
            <a:ln w="28575">
              <a:solidFill>
                <a:srgbClr val="000066"/>
              </a:solidFill>
              <a:round/>
              <a:tailEnd type="arrow" w="med" len="med"/>
            </a:ln>
            <a:extLst>
              <a:ext uri="{909E8E84-426E-40DD-AFC4-6F175D3DCCD1}">
                <a14:hiddenFill xmlns:a14="http://schemas.microsoft.com/office/drawing/2010/main">
                  <a:solidFill>
                    <a:srgbClr val="FFFFFF"/>
                  </a:solidFill>
                </a14:hiddenFill>
              </a:ext>
            </a:extLst>
          </p:spPr>
          <p:txBody>
            <a:bodyPr wrap="square">
              <a:spAutoFit/>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grpSp>
      <p:sp>
        <p:nvSpPr>
          <p:cNvPr id="42000" name="Rectangle 16"/>
          <p:cNvSpPr>
            <a:spLocks noChangeArrowheads="1"/>
          </p:cNvSpPr>
          <p:nvPr/>
        </p:nvSpPr>
        <p:spPr bwMode="auto">
          <a:xfrm>
            <a:off x="4068763" y="4034681"/>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50000"/>
              </a:spcBef>
            </a:pPr>
            <a:r>
              <a:rPr kumimoji="1" lang="zh-CN" altLang="en-US" sz="2400" b="1">
                <a:solidFill>
                  <a:schemeClr val="tx2"/>
                </a:solidFill>
                <a:latin typeface="Times New Roman" panose="02020603050405020304" pitchFamily="18" charset="0"/>
                <a:cs typeface="Times New Roman" panose="02020603050405020304" pitchFamily="18" charset="0"/>
              </a:rPr>
              <a:t>价电子</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2001" name="Rectangle 17"/>
          <p:cNvSpPr>
            <a:spLocks noChangeArrowheads="1"/>
          </p:cNvSpPr>
          <p:nvPr/>
        </p:nvSpPr>
        <p:spPr bwMode="auto">
          <a:xfrm>
            <a:off x="971550" y="3493343"/>
            <a:ext cx="4148138" cy="2419350"/>
          </a:xfrm>
          <a:prstGeom prst="rect">
            <a:avLst/>
          </a:prstGeom>
          <a:noFill/>
          <a:ln w="19050" algn="ctr">
            <a:noFill/>
            <a:miter lim="800000"/>
          </a:ln>
          <a:effectLst/>
        </p:spPr>
        <p:txBody>
          <a:bodyPr>
            <a:spAutoFit/>
          </a:bodyPr>
          <a:lstStyle/>
          <a:p>
            <a:pPr algn="just">
              <a:lnSpc>
                <a:spcPct val="105000"/>
              </a:lnSpc>
              <a:spcBef>
                <a:spcPct val="5000"/>
              </a:spcBef>
              <a:defRPr/>
            </a:pPr>
            <a:r>
              <a:rPr kumimoji="1" lang="zh-CN" altLang="en-US" sz="2400" b="1" dirty="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价电子在获得一定能量（温度升高或受光照）后，即可挣脱原子核的束缚，成为自由电子（带负电），同时共价键中留下一个空位，称为空穴（带正电）。</a:t>
            </a:r>
            <a:endParaRPr kumimoji="1" lang="zh-CN" altLang="en-US" sz="2400" b="1" dirty="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42003" name="Text Box 19"/>
          <p:cNvSpPr txBox="1">
            <a:spLocks noChangeArrowheads="1"/>
          </p:cNvSpPr>
          <p:nvPr/>
        </p:nvSpPr>
        <p:spPr bwMode="auto">
          <a:xfrm>
            <a:off x="4706938" y="4409331"/>
            <a:ext cx="4300537"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400" b="1">
                <a:solidFill>
                  <a:schemeClr val="tx2"/>
                </a:solidFill>
                <a:latin typeface="Times New Roman" panose="02020603050405020304" pitchFamily="18" charset="0"/>
                <a:cs typeface="Times New Roman" panose="02020603050405020304" pitchFamily="18" charset="0"/>
              </a:rPr>
              <a:t>自由电子和空穴成对产生的同时，又不断复合。在一定温度下，电子空穴对的产生与复合达到动态平衡，半导体中电子空穴对浓度一定。</a:t>
            </a:r>
            <a:endParaRPr lang="zh-CN" altLang="en-US" sz="2400" b="1">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50"/>
                                  </p:iterate>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50"/>
                                  </p:iterate>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par>
                          <p:cTn id="11" fill="hold">
                            <p:stCondLst>
                              <p:cond delay="1500"/>
                            </p:stCondLst>
                            <p:childTnLst>
                              <p:par>
                                <p:cTn id="12" presetID="12" presetClass="entr" presetSubtype="4" fill="hold" nodeType="afterEffect">
                                  <p:stCondLst>
                                    <p:cond delay="0"/>
                                  </p:stCondLst>
                                  <p:childTnLst>
                                    <p:set>
                                      <p:cBhvr>
                                        <p:cTn id="13" dur="1" fill="hold">
                                          <p:stCondLst>
                                            <p:cond delay="0"/>
                                          </p:stCondLst>
                                        </p:cTn>
                                        <p:tgtEl>
                                          <p:spTgt spid="41989"/>
                                        </p:tgtEl>
                                        <p:attrNameLst>
                                          <p:attrName>style.visibility</p:attrName>
                                        </p:attrNameLst>
                                      </p:cBhvr>
                                      <p:to>
                                        <p:strVal val="visible"/>
                                      </p:to>
                                    </p:set>
                                    <p:animEffect transition="in" filter="slide(fromBottom)">
                                      <p:cBhvr>
                                        <p:cTn id="14" dur="500"/>
                                        <p:tgtEl>
                                          <p:spTgt spid="41989"/>
                                        </p:tgtEl>
                                      </p:cBhvr>
                                    </p:animEffect>
                                  </p:childTnLst>
                                </p:cTn>
                              </p:par>
                            </p:childTnLst>
                          </p:cTn>
                        </p:par>
                        <p:par>
                          <p:cTn id="15" fill="hold">
                            <p:stCondLst>
                              <p:cond delay="2000"/>
                            </p:stCondLst>
                            <p:childTnLst>
                              <p:par>
                                <p:cTn id="16" presetID="12" presetClass="entr" presetSubtype="4" fill="hold" grpId="0" nodeType="afterEffect">
                                  <p:stCondLst>
                                    <p:cond delay="0"/>
                                  </p:stCondLst>
                                  <p:childTnLst>
                                    <p:set>
                                      <p:cBhvr>
                                        <p:cTn id="17" dur="1" fill="hold">
                                          <p:stCondLst>
                                            <p:cond delay="0"/>
                                          </p:stCondLst>
                                        </p:cTn>
                                        <p:tgtEl>
                                          <p:spTgt spid="41990"/>
                                        </p:tgtEl>
                                        <p:attrNameLst>
                                          <p:attrName>style.visibility</p:attrName>
                                        </p:attrNameLst>
                                      </p:cBhvr>
                                      <p:to>
                                        <p:strVal val="visible"/>
                                      </p:to>
                                    </p:set>
                                    <p:animEffect transition="in" filter="slide(fromBottom)">
                                      <p:cBhvr>
                                        <p:cTn id="18" dur="500"/>
                                        <p:tgtEl>
                                          <p:spTgt spid="4199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50"/>
                                  </p:iterate>
                                  <p:childTnLst>
                                    <p:set>
                                      <p:cBhvr>
                                        <p:cTn id="22" dur="1" fill="hold">
                                          <p:stCondLst>
                                            <p:cond delay="0"/>
                                          </p:stCondLst>
                                        </p:cTn>
                                        <p:tgtEl>
                                          <p:spTgt spid="41987">
                                            <p:txEl>
                                              <p:pRg st="2" end="2"/>
                                            </p:txEl>
                                          </p:spTgt>
                                        </p:tgtEl>
                                        <p:attrNameLst>
                                          <p:attrName>style.visibility</p:attrName>
                                        </p:attrNameLst>
                                      </p:cBhvr>
                                      <p:to>
                                        <p:strVal val="visible"/>
                                      </p:to>
                                    </p:set>
                                  </p:childTnLst>
                                </p:cTn>
                              </p:par>
                            </p:childTnLst>
                          </p:cTn>
                        </p:par>
                        <p:par>
                          <p:cTn id="23" fill="hold">
                            <p:stCondLst>
                              <p:cond delay="1200"/>
                            </p:stCondLst>
                            <p:childTnLst>
                              <p:par>
                                <p:cTn id="24" presetID="1" presetClass="entr" presetSubtype="0" fill="hold" grpId="0" nodeType="afterEffect">
                                  <p:stCondLst>
                                    <p:cond delay="0"/>
                                  </p:stCondLst>
                                  <p:iterate type="lt">
                                    <p:tmAbs val="100"/>
                                  </p:iterate>
                                  <p:childTnLst>
                                    <p:set>
                                      <p:cBhvr>
                                        <p:cTn id="25" dur="1" fill="hold">
                                          <p:stCondLst>
                                            <p:cond delay="0"/>
                                          </p:stCondLst>
                                        </p:cTn>
                                        <p:tgtEl>
                                          <p:spTgt spid="42001"/>
                                        </p:tgtEl>
                                        <p:attrNameLst>
                                          <p:attrName>style.visibility</p:attrName>
                                        </p:attrNameLst>
                                      </p:cBhvr>
                                      <p:to>
                                        <p:strVal val="visible"/>
                                      </p:to>
                                    </p:set>
                                  </p:childTnLst>
                                  <p:subTnLst>
                                    <p:set>
                                      <p:cBhvr override="childStyle">
                                        <p:cTn dur="1" fill="hold" display="0" masterRel="nextClick" afterEffect="1"/>
                                        <p:tgtEl>
                                          <p:spTgt spid="42001"/>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41991"/>
                                        </p:tgtEl>
                                        <p:attrNameLst>
                                          <p:attrName>style.visibility</p:attrName>
                                        </p:attrNameLst>
                                      </p:cBhvr>
                                      <p:to>
                                        <p:strVal val="visible"/>
                                      </p:to>
                                    </p:set>
                                    <p:animEffect transition="in" filter="slide(fromBottom)">
                                      <p:cBhvr>
                                        <p:cTn id="30" dur="500"/>
                                        <p:tgtEl>
                                          <p:spTgt spid="41991"/>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42000"/>
                                        </p:tgtEl>
                                        <p:attrNameLst>
                                          <p:attrName>style.visibility</p:attrName>
                                        </p:attrNameLst>
                                      </p:cBhvr>
                                      <p:to>
                                        <p:strVal val="visible"/>
                                      </p:to>
                                    </p:set>
                                    <p:animEffect transition="in" filter="wipe(left)">
                                      <p:cBhvr>
                                        <p:cTn id="34" dur="500"/>
                                        <p:tgtEl>
                                          <p:spTgt spid="4200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1992"/>
                                        </p:tgtEl>
                                        <p:attrNameLst>
                                          <p:attrName>style.visibility</p:attrName>
                                        </p:attrNameLst>
                                      </p:cBhvr>
                                      <p:to>
                                        <p:strVal val="visible"/>
                                      </p:to>
                                    </p:set>
                                    <p:animEffect transition="in" filter="wipe(left)">
                                      <p:cBhvr>
                                        <p:cTn id="42" dur="500"/>
                                        <p:tgtEl>
                                          <p:spTgt spid="41992"/>
                                        </p:tgtEl>
                                      </p:cBhvr>
                                    </p:animEffect>
                                  </p:childTnLst>
                                </p:cTn>
                              </p:par>
                              <p:par>
                                <p:cTn id="43" presetID="22" presetClass="entr" presetSubtype="8" fill="hold" nodeType="with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left)">
                                      <p:cBhvr>
                                        <p:cTn id="45" dur="500"/>
                                        <p:tgtEl>
                                          <p:spTgt spid="2"/>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41993"/>
                                        </p:tgtEl>
                                        <p:attrNameLst>
                                          <p:attrName>style.visibility</p:attrName>
                                        </p:attrNameLst>
                                      </p:cBhvr>
                                      <p:to>
                                        <p:strVal val="visible"/>
                                      </p:to>
                                    </p:set>
                                    <p:animEffect transition="in" filter="wipe(left)">
                                      <p:cBhvr>
                                        <p:cTn id="48" dur="500"/>
                                        <p:tgtEl>
                                          <p:spTgt spid="41993"/>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lt">
                                    <p:tmAbs val="100"/>
                                  </p:iterate>
                                  <p:childTnLst>
                                    <p:set>
                                      <p:cBhvr>
                                        <p:cTn id="52" dur="1" fill="hold">
                                          <p:stCondLst>
                                            <p:cond delay="0"/>
                                          </p:stCondLst>
                                        </p:cTn>
                                        <p:tgtEl>
                                          <p:spTgt spid="42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ldLvl="5" build="p"/>
      <p:bldP spid="41990" grpId="0"/>
      <p:bldP spid="41992" grpId="0"/>
      <p:bldP spid="41993" grpId="0"/>
      <p:bldP spid="42000" grpId="0"/>
      <p:bldP spid="42001" grpId="0"/>
      <p:bldP spid="420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3</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30723" name="Rectangle 3"/>
          <p:cNvSpPr>
            <a:spLocks noGrp="1" noChangeArrowheads="1"/>
          </p:cNvSpPr>
          <p:nvPr>
            <p:ph sz="quarter" idx="4294967295"/>
          </p:nvPr>
        </p:nvSpPr>
        <p:spPr>
          <a:xfrm>
            <a:off x="0" y="765175"/>
            <a:ext cx="8891588" cy="5543550"/>
          </a:xfrm>
        </p:spPr>
        <p:txBody>
          <a:bodyPr/>
          <a:lstStyle/>
          <a:p>
            <a:pPr eaLnBrk="1" hangingPunct="1"/>
            <a:r>
              <a:rPr lang="zh-CN" altLang="en-US" dirty="0" smtClean="0">
                <a:ea typeface="宋体" panose="02010600030101010101" pitchFamily="2" charset="-122"/>
              </a:rPr>
              <a:t>本征半导体的导电机理</a:t>
            </a:r>
            <a:endParaRPr lang="zh-CN" altLang="en-US" dirty="0" smtClean="0">
              <a:ea typeface="宋体" panose="02010600030101010101" pitchFamily="2" charset="-122"/>
            </a:endParaRPr>
          </a:p>
          <a:p>
            <a:pPr lvl="1" eaLnBrk="1" hangingPunct="1">
              <a:lnSpc>
                <a:spcPct val="130000"/>
              </a:lnSpc>
              <a:spcBef>
                <a:spcPts val="0"/>
              </a:spcBef>
              <a:buFont typeface="Wingdings" panose="05000000000000000000" pitchFamily="2" charset="2"/>
              <a:buNone/>
            </a:pPr>
            <a:r>
              <a:rPr lang="zh-CN" altLang="en-US" sz="2400" dirty="0" smtClean="0"/>
              <a:t>外</a:t>
            </a:r>
            <a:r>
              <a:rPr lang="zh-CN" altLang="en-US" sz="2400" dirty="0"/>
              <a:t>加</a:t>
            </a:r>
            <a:r>
              <a:rPr lang="zh-CN" altLang="en-US" sz="2400" dirty="0" smtClean="0"/>
              <a:t>电压时，半导体中将出现两部分电流</a:t>
            </a:r>
            <a:endParaRPr lang="zh-CN" altLang="en-US" sz="2400" dirty="0" smtClean="0"/>
          </a:p>
          <a:p>
            <a:pPr lvl="1" eaLnBrk="1" hangingPunct="1">
              <a:lnSpc>
                <a:spcPct val="130000"/>
              </a:lnSpc>
              <a:spcBef>
                <a:spcPts val="0"/>
              </a:spcBef>
            </a:pPr>
            <a:r>
              <a:rPr lang="zh-CN" altLang="en-US" sz="2400" dirty="0" smtClean="0"/>
              <a:t>自由电子作定向运动形成</a:t>
            </a:r>
            <a:r>
              <a:rPr lang="zh-CN" altLang="en-US" sz="2400" dirty="0" smtClean="0">
                <a:solidFill>
                  <a:srgbClr val="FF0000"/>
                </a:solidFill>
              </a:rPr>
              <a:t>电子电流</a:t>
            </a:r>
            <a:r>
              <a:rPr lang="zh-CN" altLang="en-US" sz="2400" dirty="0" smtClean="0"/>
              <a:t>；类似金属导体导电</a:t>
            </a:r>
            <a:endParaRPr lang="zh-CN" altLang="en-US" sz="2400" dirty="0" smtClean="0"/>
          </a:p>
          <a:p>
            <a:pPr lvl="1" eaLnBrk="1" hangingPunct="1">
              <a:lnSpc>
                <a:spcPct val="130000"/>
              </a:lnSpc>
              <a:spcBef>
                <a:spcPts val="0"/>
              </a:spcBef>
            </a:pPr>
            <a:r>
              <a:rPr lang="zh-CN" altLang="en-US" sz="2400" dirty="0" smtClean="0"/>
              <a:t>相邻价电子递补空穴形成</a:t>
            </a:r>
            <a:r>
              <a:rPr lang="zh-CN" altLang="en-US" sz="2400" dirty="0" smtClean="0">
                <a:solidFill>
                  <a:srgbClr val="FF0000"/>
                </a:solidFill>
              </a:rPr>
              <a:t>空穴电流</a:t>
            </a:r>
            <a:r>
              <a:rPr lang="zh-CN" altLang="en-US" sz="2400" dirty="0" smtClean="0"/>
              <a:t>。</a:t>
            </a:r>
            <a:endParaRPr lang="zh-CN" altLang="en-US" sz="2400" dirty="0" smtClean="0"/>
          </a:p>
          <a:p>
            <a:pPr lvl="1" eaLnBrk="1" hangingPunct="1">
              <a:lnSpc>
                <a:spcPct val="130000"/>
              </a:lnSpc>
              <a:spcBef>
                <a:spcPts val="0"/>
              </a:spcBef>
              <a:buFont typeface="Wingdings" panose="05000000000000000000" pitchFamily="2" charset="2"/>
              <a:buNone/>
            </a:pPr>
            <a:r>
              <a:rPr lang="zh-CN" altLang="en-US" sz="2400" dirty="0" smtClean="0"/>
              <a:t>    能够承载电流的粒子称为载流子，半导体含有两种载流子：自由电子和空穴。</a:t>
            </a:r>
            <a:endParaRPr lang="zh-CN" altLang="en-US" sz="2400" dirty="0" smtClean="0"/>
          </a:p>
          <a:p>
            <a:pPr lvl="1" eaLnBrk="1" hangingPunct="1">
              <a:lnSpc>
                <a:spcPct val="130000"/>
              </a:lnSpc>
              <a:spcBef>
                <a:spcPts val="0"/>
              </a:spcBef>
            </a:pPr>
            <a:r>
              <a:rPr lang="zh-CN" altLang="en-US" sz="2400" dirty="0" smtClean="0"/>
              <a:t>本征半导体中载流子浓度极小，导电性能很差；</a:t>
            </a:r>
            <a:endParaRPr lang="zh-CN" altLang="en-US" sz="2400" dirty="0" smtClean="0"/>
          </a:p>
          <a:p>
            <a:pPr lvl="1" eaLnBrk="1" hangingPunct="1">
              <a:lnSpc>
                <a:spcPct val="130000"/>
              </a:lnSpc>
              <a:spcBef>
                <a:spcPts val="0"/>
              </a:spcBef>
            </a:pPr>
            <a:r>
              <a:rPr lang="zh-CN" altLang="en-US" sz="2400" dirty="0" smtClean="0"/>
              <a:t>温度越高，本征半导体中载流子浓度越高，导电能力越强。因此，半导体导电能力受温度影响很大。</a:t>
            </a:r>
            <a:endParaRPr lang="zh-CN" altLang="en-US" sz="2400" dirty="0" smtClean="0"/>
          </a:p>
          <a:p>
            <a:pPr lvl="1" eaLnBrk="1" hangingPunct="1">
              <a:lnSpc>
                <a:spcPct val="130000"/>
              </a:lnSpc>
              <a:spcBef>
                <a:spcPts val="0"/>
              </a:spcBef>
              <a:buFont typeface="Wingdings" panose="05000000000000000000" pitchFamily="2" charset="2"/>
              <a:buNone/>
            </a:pPr>
            <a:r>
              <a:rPr lang="zh-CN" altLang="en-US" sz="2400" dirty="0" smtClean="0"/>
              <a:t>     </a:t>
            </a:r>
            <a:r>
              <a:rPr lang="en-US" altLang="zh-CN" sz="2400" dirty="0" smtClean="0"/>
              <a:t>300</a:t>
            </a:r>
            <a:r>
              <a:rPr lang="en-US" altLang="zh-CN" sz="2400" dirty="0" smtClean="0">
                <a:cs typeface="Times New Roman" panose="02020603050405020304" pitchFamily="18" charset="0"/>
              </a:rPr>
              <a:t>º</a:t>
            </a:r>
            <a:r>
              <a:rPr lang="en-US" altLang="zh-CN" sz="2400" dirty="0" smtClean="0"/>
              <a:t>K</a:t>
            </a:r>
            <a:r>
              <a:rPr lang="zh-CN" altLang="en-US" sz="2400" dirty="0" smtClean="0"/>
              <a:t>时，本征硅的载流子浓度为</a:t>
            </a:r>
            <a:r>
              <a:rPr lang="en-US" altLang="zh-CN" sz="2400" dirty="0" smtClean="0"/>
              <a:t>1.4×10</a:t>
            </a:r>
            <a:r>
              <a:rPr lang="en-US" altLang="zh-CN" sz="2400" baseline="30000" dirty="0" smtClean="0"/>
              <a:t>10</a:t>
            </a:r>
            <a:r>
              <a:rPr lang="en-US" altLang="zh-CN" sz="2400" dirty="0" smtClean="0"/>
              <a:t>/cm</a:t>
            </a:r>
            <a:r>
              <a:rPr lang="en-US" altLang="zh-CN" sz="2400" baseline="30000" dirty="0" smtClean="0"/>
              <a:t>3</a:t>
            </a:r>
            <a:r>
              <a:rPr lang="zh-CN" altLang="en-US" sz="2400" dirty="0" smtClean="0"/>
              <a:t>，而本征硅的原子浓度</a:t>
            </a:r>
            <a:r>
              <a:rPr lang="en-US" altLang="zh-CN" sz="2400" dirty="0" smtClean="0"/>
              <a:t>: 4.96×10</a:t>
            </a:r>
            <a:r>
              <a:rPr lang="en-US" altLang="zh-CN" sz="2400" baseline="30000" dirty="0" smtClean="0"/>
              <a:t>22</a:t>
            </a:r>
            <a:r>
              <a:rPr lang="en-US" altLang="zh-CN" sz="2400" dirty="0" smtClean="0"/>
              <a:t>/cm</a:t>
            </a:r>
            <a:r>
              <a:rPr lang="en-US" altLang="zh-CN" sz="2400" baseline="30000" dirty="0" smtClean="0"/>
              <a:t>3 </a:t>
            </a:r>
            <a:r>
              <a:rPr lang="zh-CN" altLang="en-US" sz="2400" dirty="0" smtClean="0"/>
              <a:t>。</a:t>
            </a:r>
            <a:endParaRPr lang="en-US" altLang="zh-CN" sz="2400" baseline="300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4</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31747"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杂质半导体</a:t>
            </a:r>
            <a:endParaRPr lang="zh-CN" altLang="en-US" smtClean="0">
              <a:ea typeface="宋体" panose="02010600030101010101" pitchFamily="2" charset="-122"/>
            </a:endParaRPr>
          </a:p>
        </p:txBody>
      </p:sp>
      <p:sp>
        <p:nvSpPr>
          <p:cNvPr id="99332" name="Rectangle 4"/>
          <p:cNvSpPr>
            <a:spLocks noChangeArrowheads="1"/>
          </p:cNvSpPr>
          <p:nvPr/>
        </p:nvSpPr>
        <p:spPr bwMode="auto">
          <a:xfrm>
            <a:off x="642938" y="1525588"/>
            <a:ext cx="83026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r>
              <a:rPr lang="zh-CN" altLang="en-US" sz="2400" b="1">
                <a:solidFill>
                  <a:schemeClr val="tx2"/>
                </a:solidFill>
                <a:latin typeface="Times New Roman" panose="02020603050405020304" pitchFamily="18" charset="0"/>
                <a:cs typeface="Times New Roman" panose="02020603050405020304" pitchFamily="18" charset="0"/>
              </a:rPr>
              <a:t>在本征半导体中掺入某些微量的杂质，就会使半导体的导电性能发生显著变化。</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9333" name="Text Box 5"/>
          <p:cNvSpPr txBox="1">
            <a:spLocks noChangeArrowheads="1"/>
          </p:cNvSpPr>
          <p:nvPr/>
        </p:nvSpPr>
        <p:spPr bwMode="auto">
          <a:xfrm>
            <a:off x="407988" y="2532063"/>
            <a:ext cx="2117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型半导体</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9334" name="Rectangle 6"/>
          <p:cNvSpPr>
            <a:spLocks noChangeArrowheads="1"/>
          </p:cNvSpPr>
          <p:nvPr/>
        </p:nvSpPr>
        <p:spPr bwMode="auto">
          <a:xfrm>
            <a:off x="487363" y="2900363"/>
            <a:ext cx="83058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pPr>
            <a:r>
              <a:rPr kumimoji="1" lang="en-US" altLang="zh-CN" sz="2400" b="1">
                <a:latin typeface="Times New Roman" panose="02020603050405020304" pitchFamily="18" charset="0"/>
                <a:cs typeface="Times New Roman" panose="02020603050405020304" pitchFamily="18" charset="0"/>
              </a:rPr>
              <a:t>        </a:t>
            </a:r>
            <a:r>
              <a:rPr kumimoji="1" lang="zh-CN" altLang="en-US" sz="2400" b="1">
                <a:latin typeface="Times New Roman" panose="02020603050405020304" pitchFamily="18" charset="0"/>
                <a:cs typeface="Times New Roman" panose="02020603050405020304" pitchFamily="18" charset="0"/>
              </a:rPr>
              <a:t>在本征半导体中加入五价元素，这些五价元素在外层含有五个电子，除了四个与其周围的半导体原子构成共价键，还有一个电子成为自由电子，这种半导体中含有较高的自由电子浓度，</a:t>
            </a:r>
            <a:r>
              <a:rPr kumimoji="1" lang="zh-CN" altLang="en-US" sz="2400" b="1">
                <a:solidFill>
                  <a:srgbClr val="FF0000"/>
                </a:solidFill>
                <a:latin typeface="Times New Roman" panose="02020603050405020304" pitchFamily="18" charset="0"/>
                <a:cs typeface="Times New Roman" panose="02020603050405020304" pitchFamily="18" charset="0"/>
              </a:rPr>
              <a:t>自由电子</a:t>
            </a:r>
            <a:r>
              <a:rPr kumimoji="1" lang="zh-CN" altLang="en-US" sz="2400" b="1">
                <a:latin typeface="Times New Roman" panose="02020603050405020304" pitchFamily="18" charset="0"/>
                <a:cs typeface="Times New Roman" panose="02020603050405020304" pitchFamily="18" charset="0"/>
              </a:rPr>
              <a:t>是多数载流子（</a:t>
            </a:r>
            <a:r>
              <a:rPr kumimoji="1" lang="zh-CN" altLang="en-US" sz="2400" b="1">
                <a:solidFill>
                  <a:srgbClr val="FF0000"/>
                </a:solidFill>
                <a:latin typeface="Times New Roman" panose="02020603050405020304" pitchFamily="18" charset="0"/>
                <a:cs typeface="Times New Roman" panose="02020603050405020304" pitchFamily="18" charset="0"/>
              </a:rPr>
              <a:t>多子</a:t>
            </a:r>
            <a:r>
              <a:rPr kumimoji="1" lang="zh-CN" altLang="en-US" sz="2400" b="1">
                <a:latin typeface="Times New Roman" panose="02020603050405020304" pitchFamily="18" charset="0"/>
                <a:cs typeface="Times New Roman" panose="02020603050405020304" pitchFamily="18" charset="0"/>
              </a:rPr>
              <a:t>），</a:t>
            </a:r>
            <a:r>
              <a:rPr kumimoji="1" lang="zh-CN" altLang="en-US" sz="2400" b="1">
                <a:solidFill>
                  <a:srgbClr val="FF0000"/>
                </a:solidFill>
                <a:latin typeface="Times New Roman" panose="02020603050405020304" pitchFamily="18" charset="0"/>
                <a:cs typeface="Times New Roman" panose="02020603050405020304" pitchFamily="18" charset="0"/>
              </a:rPr>
              <a:t>空穴</a:t>
            </a:r>
            <a:r>
              <a:rPr kumimoji="1" lang="zh-CN" altLang="en-US" sz="2400" b="1">
                <a:latin typeface="Times New Roman" panose="02020603050405020304" pitchFamily="18" charset="0"/>
                <a:cs typeface="Times New Roman" panose="02020603050405020304" pitchFamily="18" charset="0"/>
              </a:rPr>
              <a:t>浓度较低，是少数载流子（</a:t>
            </a:r>
            <a:r>
              <a:rPr kumimoji="1" lang="zh-CN" altLang="en-US" sz="2400" b="1">
                <a:solidFill>
                  <a:srgbClr val="FF0000"/>
                </a:solidFill>
                <a:latin typeface="Times New Roman" panose="02020603050405020304" pitchFamily="18" charset="0"/>
                <a:cs typeface="Times New Roman" panose="02020603050405020304" pitchFamily="18" charset="0"/>
              </a:rPr>
              <a:t>少子</a:t>
            </a:r>
            <a:r>
              <a:rPr kumimoji="1" lang="zh-CN" altLang="en-US" sz="2400" b="1">
                <a:latin typeface="Times New Roman" panose="02020603050405020304" pitchFamily="18" charset="0"/>
                <a:cs typeface="Times New Roman" panose="02020603050405020304" pitchFamily="18" charset="0"/>
              </a:rPr>
              <a:t>）。</a:t>
            </a:r>
            <a:endParaRPr kumimoji="1" lang="zh-CN" altLang="en-US" sz="2400" b="1">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993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75"/>
                                  </p:iterate>
                                  <p:childTnLst>
                                    <p:set>
                                      <p:cBhvr>
                                        <p:cTn id="10" dur="1" fill="hold">
                                          <p:stCondLst>
                                            <p:cond delay="74"/>
                                          </p:stCondLst>
                                        </p:cTn>
                                        <p:tgtEl>
                                          <p:spTgt spid="99333">
                                            <p:txEl>
                                              <p:pRg st="0" end="0"/>
                                            </p:txEl>
                                          </p:spTgt>
                                        </p:tgtEl>
                                        <p:attrNameLst>
                                          <p:attrName>style.visibility</p:attrName>
                                        </p:attrNameLst>
                                      </p:cBhvr>
                                      <p:to>
                                        <p:strVal val="visible"/>
                                      </p:to>
                                    </p:set>
                                  </p:childTnLst>
                                </p:cTn>
                              </p:par>
                            </p:childTnLst>
                          </p:cTn>
                        </p:par>
                        <p:par>
                          <p:cTn id="11" fill="hold">
                            <p:stCondLst>
                              <p:cond delay="525"/>
                            </p:stCondLst>
                            <p:childTnLst>
                              <p:par>
                                <p:cTn id="12" presetID="1" presetClass="entr" presetSubtype="0" fill="hold" grpId="0" nodeType="afterEffect">
                                  <p:stCondLst>
                                    <p:cond delay="0"/>
                                  </p:stCondLst>
                                  <p:iterate type="lt">
                                    <p:tmAbs val="75"/>
                                  </p:iterate>
                                  <p:childTnLst>
                                    <p:set>
                                      <p:cBhvr>
                                        <p:cTn id="13" dur="1" fill="hold">
                                          <p:stCondLst>
                                            <p:cond delay="74"/>
                                          </p:stCondLst>
                                        </p:cTn>
                                        <p:tgtEl>
                                          <p:spTgt spid="9933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p:bldP spid="99333" grpId="0" autoUpdateAnimBg="0" build="p"/>
      <p:bldP spid="99334" grpId="0" autoUpdateAnimBg="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5</a:t>
            </a:r>
            <a:r>
              <a:rPr lang="zh-CN" altLang="en-US" sz="3200" smtClean="0">
                <a:ea typeface="宋体" panose="02010600030101010101" pitchFamily="2" charset="-122"/>
              </a:rPr>
              <a:t>）</a:t>
            </a:r>
            <a:endParaRPr lang="zh-CN" altLang="en-US" sz="3600" smtClean="0">
              <a:ea typeface="楷体_GB2312" pitchFamily="49" charset="-122"/>
            </a:endParaRPr>
          </a:p>
        </p:txBody>
      </p:sp>
      <p:grpSp>
        <p:nvGrpSpPr>
          <p:cNvPr id="2" name="Group 4"/>
          <p:cNvGrpSpPr/>
          <p:nvPr/>
        </p:nvGrpSpPr>
        <p:grpSpPr bwMode="auto">
          <a:xfrm>
            <a:off x="969963" y="2146300"/>
            <a:ext cx="2381250" cy="2273300"/>
            <a:chOff x="143" y="2448"/>
            <a:chExt cx="1500" cy="1432"/>
          </a:xfrm>
        </p:grpSpPr>
        <p:sp>
          <p:nvSpPr>
            <p:cNvPr id="32777" name="Oval 5"/>
            <p:cNvSpPr>
              <a:spLocks noChangeArrowheads="1"/>
            </p:cNvSpPr>
            <p:nvPr/>
          </p:nvSpPr>
          <p:spPr bwMode="auto">
            <a:xfrm>
              <a:off x="442" y="2766"/>
              <a:ext cx="240" cy="192"/>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000">
                  <a:solidFill>
                    <a:srgbClr val="000066"/>
                  </a:solidFill>
                </a:rPr>
                <a:t>+5</a:t>
              </a:r>
              <a:endParaRPr kumimoji="1" lang="en-US" altLang="zh-CN" sz="2000">
                <a:solidFill>
                  <a:srgbClr val="000066"/>
                </a:solidFill>
              </a:endParaRPr>
            </a:p>
          </p:txBody>
        </p:sp>
        <p:sp>
          <p:nvSpPr>
            <p:cNvPr id="32778" name="Rectangle 6"/>
            <p:cNvSpPr>
              <a:spLocks noChangeArrowheads="1"/>
            </p:cNvSpPr>
            <p:nvPr/>
          </p:nvSpPr>
          <p:spPr bwMode="auto">
            <a:xfrm>
              <a:off x="776" y="271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779" name="Rectangle 7"/>
            <p:cNvSpPr>
              <a:spLocks noChangeArrowheads="1"/>
            </p:cNvSpPr>
            <p:nvPr/>
          </p:nvSpPr>
          <p:spPr bwMode="auto">
            <a:xfrm>
              <a:off x="490" y="2996"/>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780" name="Oval 8"/>
            <p:cNvSpPr>
              <a:spLocks noChangeArrowheads="1"/>
            </p:cNvSpPr>
            <p:nvPr/>
          </p:nvSpPr>
          <p:spPr bwMode="auto">
            <a:xfrm>
              <a:off x="1116" y="2766"/>
              <a:ext cx="240" cy="192"/>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000">
                  <a:solidFill>
                    <a:srgbClr val="000066"/>
                  </a:solidFill>
                </a:rPr>
                <a:t>+4</a:t>
              </a:r>
              <a:endParaRPr kumimoji="1" lang="en-US" altLang="zh-CN" sz="2000">
                <a:solidFill>
                  <a:srgbClr val="000066"/>
                </a:solidFill>
              </a:endParaRPr>
            </a:p>
          </p:txBody>
        </p:sp>
        <p:sp>
          <p:nvSpPr>
            <p:cNvPr id="32781" name="Rectangle 9"/>
            <p:cNvSpPr>
              <a:spLocks noChangeArrowheads="1"/>
            </p:cNvSpPr>
            <p:nvPr/>
          </p:nvSpPr>
          <p:spPr bwMode="auto">
            <a:xfrm>
              <a:off x="864" y="271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782" name="Rectangle 10"/>
            <p:cNvSpPr>
              <a:spLocks noChangeArrowheads="1"/>
            </p:cNvSpPr>
            <p:nvPr/>
          </p:nvSpPr>
          <p:spPr bwMode="auto">
            <a:xfrm>
              <a:off x="1175" y="2996"/>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783" name="Oval 11"/>
            <p:cNvSpPr>
              <a:spLocks noChangeArrowheads="1"/>
            </p:cNvSpPr>
            <p:nvPr/>
          </p:nvSpPr>
          <p:spPr bwMode="auto">
            <a:xfrm>
              <a:off x="442" y="3390"/>
              <a:ext cx="240" cy="192"/>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000">
                  <a:solidFill>
                    <a:srgbClr val="000066"/>
                  </a:solidFill>
                </a:rPr>
                <a:t>+4</a:t>
              </a:r>
              <a:endParaRPr kumimoji="1" lang="en-US" altLang="zh-CN" sz="2000">
                <a:solidFill>
                  <a:srgbClr val="000066"/>
                </a:solidFill>
              </a:endParaRPr>
            </a:p>
          </p:txBody>
        </p:sp>
        <p:sp>
          <p:nvSpPr>
            <p:cNvPr id="32784" name="Rectangle 12"/>
            <p:cNvSpPr>
              <a:spLocks noChangeArrowheads="1"/>
            </p:cNvSpPr>
            <p:nvPr/>
          </p:nvSpPr>
          <p:spPr bwMode="auto">
            <a:xfrm>
              <a:off x="490" y="310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785" name="Rectangle 13"/>
            <p:cNvSpPr>
              <a:spLocks noChangeArrowheads="1"/>
            </p:cNvSpPr>
            <p:nvPr/>
          </p:nvSpPr>
          <p:spPr bwMode="auto">
            <a:xfrm>
              <a:off x="778" y="334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786" name="Oval 14"/>
            <p:cNvSpPr>
              <a:spLocks noChangeArrowheads="1"/>
            </p:cNvSpPr>
            <p:nvPr/>
          </p:nvSpPr>
          <p:spPr bwMode="auto">
            <a:xfrm>
              <a:off x="1114" y="3390"/>
              <a:ext cx="240" cy="192"/>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000">
                  <a:solidFill>
                    <a:srgbClr val="000066"/>
                  </a:solidFill>
                </a:rPr>
                <a:t>+4</a:t>
              </a:r>
              <a:endParaRPr kumimoji="1" lang="en-US" altLang="zh-CN" sz="2000">
                <a:solidFill>
                  <a:srgbClr val="000066"/>
                </a:solidFill>
              </a:endParaRPr>
            </a:p>
          </p:txBody>
        </p:sp>
        <p:sp>
          <p:nvSpPr>
            <p:cNvPr id="32787" name="Rectangle 15"/>
            <p:cNvSpPr>
              <a:spLocks noChangeArrowheads="1"/>
            </p:cNvSpPr>
            <p:nvPr/>
          </p:nvSpPr>
          <p:spPr bwMode="auto">
            <a:xfrm>
              <a:off x="874" y="334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788" name="Oval 16"/>
            <p:cNvSpPr>
              <a:spLocks noChangeArrowheads="1"/>
            </p:cNvSpPr>
            <p:nvPr/>
          </p:nvSpPr>
          <p:spPr bwMode="auto">
            <a:xfrm>
              <a:off x="728" y="2771"/>
              <a:ext cx="336" cy="144"/>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789" name="Oval 17"/>
            <p:cNvSpPr>
              <a:spLocks noChangeArrowheads="1"/>
            </p:cNvSpPr>
            <p:nvPr/>
          </p:nvSpPr>
          <p:spPr bwMode="auto">
            <a:xfrm>
              <a:off x="730" y="3390"/>
              <a:ext cx="336" cy="144"/>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790" name="Oval 18"/>
            <p:cNvSpPr>
              <a:spLocks noChangeArrowheads="1"/>
            </p:cNvSpPr>
            <p:nvPr/>
          </p:nvSpPr>
          <p:spPr bwMode="auto">
            <a:xfrm rot="-5400000">
              <a:off x="1104" y="3102"/>
              <a:ext cx="336" cy="144"/>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791" name="Oval 19"/>
            <p:cNvSpPr>
              <a:spLocks noChangeArrowheads="1"/>
            </p:cNvSpPr>
            <p:nvPr/>
          </p:nvSpPr>
          <p:spPr bwMode="auto">
            <a:xfrm rot="-5400000">
              <a:off x="394" y="3102"/>
              <a:ext cx="336" cy="144"/>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2792" name="Group 20"/>
            <p:cNvGrpSpPr/>
            <p:nvPr/>
          </p:nvGrpSpPr>
          <p:grpSpPr bwMode="auto">
            <a:xfrm>
              <a:off x="490" y="2448"/>
              <a:ext cx="192" cy="280"/>
              <a:chOff x="490" y="2448"/>
              <a:chExt cx="192" cy="280"/>
            </a:xfrm>
          </p:grpSpPr>
          <p:sp>
            <p:nvSpPr>
              <p:cNvPr id="32830" name="Rectangle 21"/>
              <p:cNvSpPr>
                <a:spLocks noChangeArrowheads="1"/>
              </p:cNvSpPr>
              <p:nvPr/>
            </p:nvSpPr>
            <p:spPr bwMode="auto">
              <a:xfrm>
                <a:off x="490" y="247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31" name="Rectangle 22"/>
              <p:cNvSpPr>
                <a:spLocks noChangeArrowheads="1"/>
              </p:cNvSpPr>
              <p:nvPr/>
            </p:nvSpPr>
            <p:spPr bwMode="auto">
              <a:xfrm>
                <a:off x="490" y="247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32" name="Oval 23"/>
              <p:cNvSpPr>
                <a:spLocks noChangeArrowheads="1"/>
              </p:cNvSpPr>
              <p:nvPr/>
            </p:nvSpPr>
            <p:spPr bwMode="auto">
              <a:xfrm>
                <a:off x="513" y="2478"/>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33" name="Rectangle 24"/>
              <p:cNvSpPr>
                <a:spLocks noChangeArrowheads="1"/>
              </p:cNvSpPr>
              <p:nvPr/>
            </p:nvSpPr>
            <p:spPr bwMode="auto">
              <a:xfrm>
                <a:off x="490" y="2448"/>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p>
            </p:txBody>
          </p:sp>
        </p:grpSp>
        <p:grpSp>
          <p:nvGrpSpPr>
            <p:cNvPr id="32793" name="Group 25"/>
            <p:cNvGrpSpPr/>
            <p:nvPr/>
          </p:nvGrpSpPr>
          <p:grpSpPr bwMode="auto">
            <a:xfrm>
              <a:off x="1114" y="2448"/>
              <a:ext cx="192" cy="280"/>
              <a:chOff x="1114" y="2448"/>
              <a:chExt cx="192" cy="280"/>
            </a:xfrm>
          </p:grpSpPr>
          <p:sp>
            <p:nvSpPr>
              <p:cNvPr id="32826" name="Rectangle 26"/>
              <p:cNvSpPr>
                <a:spLocks noChangeArrowheads="1"/>
              </p:cNvSpPr>
              <p:nvPr/>
            </p:nvSpPr>
            <p:spPr bwMode="auto">
              <a:xfrm>
                <a:off x="1114" y="247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27" name="Rectangle 27"/>
              <p:cNvSpPr>
                <a:spLocks noChangeArrowheads="1"/>
              </p:cNvSpPr>
              <p:nvPr/>
            </p:nvSpPr>
            <p:spPr bwMode="auto">
              <a:xfrm>
                <a:off x="1114" y="247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28" name="Oval 28"/>
              <p:cNvSpPr>
                <a:spLocks noChangeArrowheads="1"/>
              </p:cNvSpPr>
              <p:nvPr/>
            </p:nvSpPr>
            <p:spPr bwMode="auto">
              <a:xfrm>
                <a:off x="1137" y="2478"/>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29" name="Rectangle 29"/>
              <p:cNvSpPr>
                <a:spLocks noChangeArrowheads="1"/>
              </p:cNvSpPr>
              <p:nvPr/>
            </p:nvSpPr>
            <p:spPr bwMode="auto">
              <a:xfrm>
                <a:off x="1114" y="2448"/>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p>
            </p:txBody>
          </p:sp>
        </p:grpSp>
        <p:grpSp>
          <p:nvGrpSpPr>
            <p:cNvPr id="32794" name="Group 30"/>
            <p:cNvGrpSpPr/>
            <p:nvPr/>
          </p:nvGrpSpPr>
          <p:grpSpPr bwMode="auto">
            <a:xfrm>
              <a:off x="1353" y="2765"/>
              <a:ext cx="289" cy="192"/>
              <a:chOff x="1353" y="2765"/>
              <a:chExt cx="289" cy="192"/>
            </a:xfrm>
          </p:grpSpPr>
          <p:sp>
            <p:nvSpPr>
              <p:cNvPr id="32822" name="Rectangle 31"/>
              <p:cNvSpPr>
                <a:spLocks noChangeArrowheads="1"/>
              </p:cNvSpPr>
              <p:nvPr/>
            </p:nvSpPr>
            <p:spPr bwMode="auto">
              <a:xfrm rot="5400000">
                <a:off x="1383" y="2735"/>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23" name="Rectangle 32"/>
              <p:cNvSpPr>
                <a:spLocks noChangeArrowheads="1"/>
              </p:cNvSpPr>
              <p:nvPr/>
            </p:nvSpPr>
            <p:spPr bwMode="auto">
              <a:xfrm rot="5400000">
                <a:off x="1383" y="2735"/>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24" name="Oval 33"/>
              <p:cNvSpPr>
                <a:spLocks noChangeArrowheads="1"/>
              </p:cNvSpPr>
              <p:nvPr/>
            </p:nvSpPr>
            <p:spPr bwMode="auto">
              <a:xfrm rot="5400000">
                <a:off x="1435" y="2764"/>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25" name="Rectangle 34"/>
              <p:cNvSpPr>
                <a:spLocks noChangeArrowheads="1"/>
              </p:cNvSpPr>
              <p:nvPr/>
            </p:nvSpPr>
            <p:spPr bwMode="auto">
              <a:xfrm rot="5400000">
                <a:off x="1498" y="2813"/>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p>
            </p:txBody>
          </p:sp>
        </p:grpSp>
        <p:grpSp>
          <p:nvGrpSpPr>
            <p:cNvPr id="32795" name="Group 35"/>
            <p:cNvGrpSpPr/>
            <p:nvPr/>
          </p:nvGrpSpPr>
          <p:grpSpPr bwMode="auto">
            <a:xfrm>
              <a:off x="1354" y="3390"/>
              <a:ext cx="289" cy="192"/>
              <a:chOff x="1354" y="3390"/>
              <a:chExt cx="289" cy="192"/>
            </a:xfrm>
          </p:grpSpPr>
          <p:sp>
            <p:nvSpPr>
              <p:cNvPr id="32818" name="Rectangle 36"/>
              <p:cNvSpPr>
                <a:spLocks noChangeArrowheads="1"/>
              </p:cNvSpPr>
              <p:nvPr/>
            </p:nvSpPr>
            <p:spPr bwMode="auto">
              <a:xfrm rot="5400000">
                <a:off x="1384" y="3360"/>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19" name="Rectangle 37"/>
              <p:cNvSpPr>
                <a:spLocks noChangeArrowheads="1"/>
              </p:cNvSpPr>
              <p:nvPr/>
            </p:nvSpPr>
            <p:spPr bwMode="auto">
              <a:xfrm rot="5400000">
                <a:off x="1384" y="3360"/>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20" name="Oval 38"/>
              <p:cNvSpPr>
                <a:spLocks noChangeArrowheads="1"/>
              </p:cNvSpPr>
              <p:nvPr/>
            </p:nvSpPr>
            <p:spPr bwMode="auto">
              <a:xfrm rot="5400000">
                <a:off x="1436" y="3389"/>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21" name="Rectangle 39"/>
              <p:cNvSpPr>
                <a:spLocks noChangeArrowheads="1"/>
              </p:cNvSpPr>
              <p:nvPr/>
            </p:nvSpPr>
            <p:spPr bwMode="auto">
              <a:xfrm rot="5400000">
                <a:off x="1499" y="3438"/>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p>
            </p:txBody>
          </p:sp>
        </p:grpSp>
        <p:grpSp>
          <p:nvGrpSpPr>
            <p:cNvPr id="32796" name="Group 40"/>
            <p:cNvGrpSpPr/>
            <p:nvPr/>
          </p:nvGrpSpPr>
          <p:grpSpPr bwMode="auto">
            <a:xfrm>
              <a:off x="442" y="3572"/>
              <a:ext cx="192" cy="298"/>
              <a:chOff x="442" y="3572"/>
              <a:chExt cx="192" cy="298"/>
            </a:xfrm>
          </p:grpSpPr>
          <p:sp>
            <p:nvSpPr>
              <p:cNvPr id="32814" name="Rectangle 41"/>
              <p:cNvSpPr>
                <a:spLocks noChangeArrowheads="1"/>
              </p:cNvSpPr>
              <p:nvPr/>
            </p:nvSpPr>
            <p:spPr bwMode="auto">
              <a:xfrm flipV="1">
                <a:off x="442" y="357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15" name="Rectangle 42"/>
              <p:cNvSpPr>
                <a:spLocks noChangeArrowheads="1"/>
              </p:cNvSpPr>
              <p:nvPr/>
            </p:nvSpPr>
            <p:spPr bwMode="auto">
              <a:xfrm flipV="1">
                <a:off x="442" y="357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16" name="Oval 43"/>
              <p:cNvSpPr>
                <a:spLocks noChangeArrowheads="1"/>
              </p:cNvSpPr>
              <p:nvPr/>
            </p:nvSpPr>
            <p:spPr bwMode="auto">
              <a:xfrm flipV="1">
                <a:off x="465" y="3630"/>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17" name="Rectangle 44"/>
              <p:cNvSpPr>
                <a:spLocks noChangeArrowheads="1"/>
              </p:cNvSpPr>
              <p:nvPr/>
            </p:nvSpPr>
            <p:spPr bwMode="auto">
              <a:xfrm flipV="1">
                <a:off x="442" y="3774"/>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p>
            </p:txBody>
          </p:sp>
        </p:grpSp>
        <p:grpSp>
          <p:nvGrpSpPr>
            <p:cNvPr id="32797" name="Group 45"/>
            <p:cNvGrpSpPr/>
            <p:nvPr/>
          </p:nvGrpSpPr>
          <p:grpSpPr bwMode="auto">
            <a:xfrm>
              <a:off x="1162" y="3582"/>
              <a:ext cx="192" cy="298"/>
              <a:chOff x="1162" y="3582"/>
              <a:chExt cx="192" cy="298"/>
            </a:xfrm>
          </p:grpSpPr>
          <p:sp>
            <p:nvSpPr>
              <p:cNvPr id="32810" name="Rectangle 46"/>
              <p:cNvSpPr>
                <a:spLocks noChangeArrowheads="1"/>
              </p:cNvSpPr>
              <p:nvPr/>
            </p:nvSpPr>
            <p:spPr bwMode="auto">
              <a:xfrm flipH="1" flipV="1">
                <a:off x="1164" y="358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11" name="Rectangle 47"/>
              <p:cNvSpPr>
                <a:spLocks noChangeArrowheads="1"/>
              </p:cNvSpPr>
              <p:nvPr/>
            </p:nvSpPr>
            <p:spPr bwMode="auto">
              <a:xfrm flipH="1" flipV="1">
                <a:off x="1164" y="358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12" name="Oval 48"/>
              <p:cNvSpPr>
                <a:spLocks noChangeArrowheads="1"/>
              </p:cNvSpPr>
              <p:nvPr/>
            </p:nvSpPr>
            <p:spPr bwMode="auto">
              <a:xfrm flipH="1" flipV="1">
                <a:off x="1187" y="3640"/>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13" name="Rectangle 49"/>
              <p:cNvSpPr>
                <a:spLocks noChangeArrowheads="1"/>
              </p:cNvSpPr>
              <p:nvPr/>
            </p:nvSpPr>
            <p:spPr bwMode="auto">
              <a:xfrm flipH="1" flipV="1">
                <a:off x="1162" y="3784"/>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p>
            </p:txBody>
          </p:sp>
        </p:grpSp>
        <p:grpSp>
          <p:nvGrpSpPr>
            <p:cNvPr id="32798" name="Group 50"/>
            <p:cNvGrpSpPr/>
            <p:nvPr/>
          </p:nvGrpSpPr>
          <p:grpSpPr bwMode="auto">
            <a:xfrm>
              <a:off x="143" y="3389"/>
              <a:ext cx="298" cy="192"/>
              <a:chOff x="143" y="3389"/>
              <a:chExt cx="298" cy="192"/>
            </a:xfrm>
          </p:grpSpPr>
          <p:sp>
            <p:nvSpPr>
              <p:cNvPr id="32806" name="Rectangle 51"/>
              <p:cNvSpPr>
                <a:spLocks noChangeArrowheads="1"/>
              </p:cNvSpPr>
              <p:nvPr/>
            </p:nvSpPr>
            <p:spPr bwMode="auto">
              <a:xfrm rot="5400000" flipV="1">
                <a:off x="221" y="3359"/>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07" name="Rectangle 52"/>
              <p:cNvSpPr>
                <a:spLocks noChangeArrowheads="1"/>
              </p:cNvSpPr>
              <p:nvPr/>
            </p:nvSpPr>
            <p:spPr bwMode="auto">
              <a:xfrm rot="5400000" flipV="1">
                <a:off x="221" y="3359"/>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08" name="Oval 53"/>
              <p:cNvSpPr>
                <a:spLocks noChangeArrowheads="1"/>
              </p:cNvSpPr>
              <p:nvPr/>
            </p:nvSpPr>
            <p:spPr bwMode="auto">
              <a:xfrm rot="5400000" flipV="1">
                <a:off x="215" y="3388"/>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09" name="Rectangle 54"/>
              <p:cNvSpPr>
                <a:spLocks noChangeArrowheads="1"/>
              </p:cNvSpPr>
              <p:nvPr/>
            </p:nvSpPr>
            <p:spPr bwMode="auto">
              <a:xfrm rot="5400000" flipV="1">
                <a:off x="95" y="3437"/>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p>
            </p:txBody>
          </p:sp>
        </p:grpSp>
        <p:grpSp>
          <p:nvGrpSpPr>
            <p:cNvPr id="32799" name="Group 55"/>
            <p:cNvGrpSpPr/>
            <p:nvPr/>
          </p:nvGrpSpPr>
          <p:grpSpPr bwMode="auto">
            <a:xfrm>
              <a:off x="153" y="2765"/>
              <a:ext cx="298" cy="192"/>
              <a:chOff x="153" y="2765"/>
              <a:chExt cx="298" cy="192"/>
            </a:xfrm>
          </p:grpSpPr>
          <p:sp>
            <p:nvSpPr>
              <p:cNvPr id="32802" name="Rectangle 56"/>
              <p:cNvSpPr>
                <a:spLocks noChangeArrowheads="1"/>
              </p:cNvSpPr>
              <p:nvPr/>
            </p:nvSpPr>
            <p:spPr bwMode="auto">
              <a:xfrm rot="5400000" flipV="1">
                <a:off x="231" y="2735"/>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03" name="Rectangle 57"/>
              <p:cNvSpPr>
                <a:spLocks noChangeArrowheads="1"/>
              </p:cNvSpPr>
              <p:nvPr/>
            </p:nvSpPr>
            <p:spPr bwMode="auto">
              <a:xfrm rot="5400000" flipV="1">
                <a:off x="231" y="2735"/>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04" name="Oval 58"/>
              <p:cNvSpPr>
                <a:spLocks noChangeArrowheads="1"/>
              </p:cNvSpPr>
              <p:nvPr/>
            </p:nvSpPr>
            <p:spPr bwMode="auto">
              <a:xfrm rot="5400000" flipV="1">
                <a:off x="225" y="2764"/>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05" name="Rectangle 59"/>
              <p:cNvSpPr>
                <a:spLocks noChangeArrowheads="1"/>
              </p:cNvSpPr>
              <p:nvPr/>
            </p:nvSpPr>
            <p:spPr bwMode="auto">
              <a:xfrm rot="5400000" flipV="1">
                <a:off x="105" y="2813"/>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p>
            </p:txBody>
          </p:sp>
        </p:grpSp>
        <p:sp>
          <p:nvSpPr>
            <p:cNvPr id="32800" name="Rectangle 60"/>
            <p:cNvSpPr>
              <a:spLocks noChangeArrowheads="1"/>
            </p:cNvSpPr>
            <p:nvPr/>
          </p:nvSpPr>
          <p:spPr bwMode="auto">
            <a:xfrm>
              <a:off x="1175" y="3140"/>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sp>
          <p:nvSpPr>
            <p:cNvPr id="32801" name="Rectangle 61"/>
            <p:cNvSpPr>
              <a:spLocks noChangeArrowheads="1"/>
            </p:cNvSpPr>
            <p:nvPr/>
          </p:nvSpPr>
          <p:spPr bwMode="auto">
            <a:xfrm>
              <a:off x="672" y="2900"/>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000">
                  <a:solidFill>
                    <a:srgbClr val="000066"/>
                  </a:solidFill>
                  <a:sym typeface="Symbol" panose="05050102010706020507" pitchFamily="18" charset="2"/>
                </a:rPr>
                <a:t></a:t>
              </a:r>
              <a:endParaRPr kumimoji="1" lang="en-US" altLang="zh-CN" sz="2000">
                <a:solidFill>
                  <a:srgbClr val="000066"/>
                </a:solidFill>
                <a:sym typeface="Symbol" panose="05050102010706020507" pitchFamily="18" charset="2"/>
              </a:endParaRPr>
            </a:p>
          </p:txBody>
        </p:sp>
      </p:grpSp>
      <p:sp>
        <p:nvSpPr>
          <p:cNvPr id="100414" name="Line 62"/>
          <p:cNvSpPr>
            <a:spLocks noChangeShapeType="1"/>
          </p:cNvSpPr>
          <p:nvPr/>
        </p:nvSpPr>
        <p:spPr bwMode="auto">
          <a:xfrm flipV="1">
            <a:off x="2055813" y="2270125"/>
            <a:ext cx="1752600" cy="76200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5" name="Text Box 63"/>
          <p:cNvSpPr txBox="1">
            <a:spLocks noChangeArrowheads="1"/>
          </p:cNvSpPr>
          <p:nvPr/>
        </p:nvSpPr>
        <p:spPr bwMode="auto">
          <a:xfrm>
            <a:off x="3684588" y="1868488"/>
            <a:ext cx="5319712"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余下的这个不受共价键束缚的价电子</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在室温下获得的热能也可以使它挣脱原子核的引力而成为自由电子。</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0416" name="Text Box 64"/>
          <p:cNvSpPr txBox="1">
            <a:spLocks noChangeArrowheads="1"/>
          </p:cNvSpPr>
          <p:nvPr/>
        </p:nvSpPr>
        <p:spPr bwMode="auto">
          <a:xfrm>
            <a:off x="760413" y="4397375"/>
            <a:ext cx="795655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五价元素称为施主杂质，它失去一个价电子成为正离子，但不会产生空穴。正离子束缚在晶格中，不能像空穴那样起导电作用。</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0417" name="Line 65"/>
          <p:cNvSpPr>
            <a:spLocks noChangeShapeType="1"/>
          </p:cNvSpPr>
          <p:nvPr/>
        </p:nvSpPr>
        <p:spPr bwMode="auto">
          <a:xfrm flipV="1">
            <a:off x="1752600" y="1584325"/>
            <a:ext cx="701675" cy="1066800"/>
          </a:xfrm>
          <a:prstGeom prst="line">
            <a:avLst/>
          </a:prstGeom>
          <a:noFill/>
          <a:ln w="28575">
            <a:solidFill>
              <a:srgbClr val="000066"/>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0418" name="Text Box 66"/>
          <p:cNvSpPr txBox="1">
            <a:spLocks noChangeArrowheads="1"/>
          </p:cNvSpPr>
          <p:nvPr/>
        </p:nvSpPr>
        <p:spPr bwMode="auto">
          <a:xfrm>
            <a:off x="2468563" y="1079500"/>
            <a:ext cx="2041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a:solidFill>
                  <a:schemeClr val="tx2"/>
                </a:solidFill>
                <a:latin typeface="Times New Roman" panose="02020603050405020304" pitchFamily="18" charset="0"/>
                <a:cs typeface="Times New Roman" panose="02020603050405020304" pitchFamily="18" charset="0"/>
              </a:rPr>
              <a:t>掺杂五价原子</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0417"/>
                                        </p:tgtEl>
                                        <p:attrNameLst>
                                          <p:attrName>style.visibility</p:attrName>
                                        </p:attrNameLst>
                                      </p:cBhvr>
                                      <p:to>
                                        <p:strVal val="visible"/>
                                      </p:to>
                                    </p:set>
                                    <p:animEffect transition="in" filter="wipe(left)">
                                      <p:cBhvr>
                                        <p:cTn id="11" dur="500"/>
                                        <p:tgtEl>
                                          <p:spTgt spid="10041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0418"/>
                                        </p:tgtEl>
                                        <p:attrNameLst>
                                          <p:attrName>style.visibility</p:attrName>
                                        </p:attrNameLst>
                                      </p:cBhvr>
                                      <p:to>
                                        <p:strVal val="visible"/>
                                      </p:to>
                                    </p:set>
                                    <p:animEffect transition="in" filter="wipe(left)">
                                      <p:cBhvr>
                                        <p:cTn id="15" dur="500"/>
                                        <p:tgtEl>
                                          <p:spTgt spid="10041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00414"/>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iterate type="lt">
                                    <p:tmAbs val="75"/>
                                  </p:iterate>
                                  <p:childTnLst>
                                    <p:set>
                                      <p:cBhvr>
                                        <p:cTn id="22" dur="1" fill="hold">
                                          <p:stCondLst>
                                            <p:cond delay="74"/>
                                          </p:stCondLst>
                                        </p:cTn>
                                        <p:tgtEl>
                                          <p:spTgt spid="1004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75"/>
                                  </p:iterate>
                                  <p:childTnLst>
                                    <p:set>
                                      <p:cBhvr>
                                        <p:cTn id="26" dur="1" fill="hold">
                                          <p:stCondLst>
                                            <p:cond delay="74"/>
                                          </p:stCondLst>
                                        </p:cTn>
                                        <p:tgtEl>
                                          <p:spTgt spid="1004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14" grpId="0" animBg="1"/>
      <p:bldP spid="100415" grpId="0" advAuto="0" autoUpdateAnimBg="0" build="p"/>
      <p:bldP spid="100416" grpId="0" autoUpdateAnimBg="0" build="p"/>
      <p:bldP spid="100417" grpId="0" animBg="1"/>
      <p:bldP spid="1004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6</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3" name="灯片编号占位符 2"/>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101380" name="Rectangle 4"/>
          <p:cNvSpPr>
            <a:spLocks noChangeArrowheads="1"/>
          </p:cNvSpPr>
          <p:nvPr/>
        </p:nvSpPr>
        <p:spPr bwMode="auto">
          <a:xfrm>
            <a:off x="442913" y="1331441"/>
            <a:ext cx="83058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30000"/>
              </a:lnSpc>
            </a:pPr>
            <a:r>
              <a:rPr kumimoji="1" lang="zh-CN" altLang="en-US" sz="2400" b="1">
                <a:latin typeface="Times New Roman" panose="02020603050405020304" pitchFamily="18" charset="0"/>
                <a:cs typeface="Times New Roman" panose="02020603050405020304" pitchFamily="18" charset="0"/>
              </a:rPr>
              <a:t>如果在本征半导体中掺入三价元素，则形成</a:t>
            </a:r>
            <a:r>
              <a:rPr kumimoji="1" lang="en-US" altLang="zh-CN" sz="2400" b="1">
                <a:latin typeface="Times New Roman" panose="02020603050405020304" pitchFamily="18" charset="0"/>
                <a:cs typeface="Times New Roman" panose="02020603050405020304" pitchFamily="18" charset="0"/>
              </a:rPr>
              <a:t>P</a:t>
            </a:r>
            <a:r>
              <a:rPr kumimoji="1" lang="zh-CN" altLang="en-US" sz="2400" b="1">
                <a:latin typeface="Times New Roman" panose="02020603050405020304" pitchFamily="18" charset="0"/>
                <a:cs typeface="Times New Roman" panose="02020603050405020304" pitchFamily="18" charset="0"/>
              </a:rPr>
              <a:t>型半导体，</a:t>
            </a:r>
            <a:r>
              <a:rPr kumimoji="1" lang="zh-CN" altLang="en-US" sz="2400" b="1">
                <a:solidFill>
                  <a:srgbClr val="FF0000"/>
                </a:solidFill>
                <a:latin typeface="Times New Roman" panose="02020603050405020304" pitchFamily="18" charset="0"/>
                <a:cs typeface="Times New Roman" panose="02020603050405020304" pitchFamily="18" charset="0"/>
              </a:rPr>
              <a:t>空穴</a:t>
            </a:r>
            <a:r>
              <a:rPr kumimoji="1" lang="zh-CN" altLang="en-US" sz="2400" b="1">
                <a:latin typeface="Times New Roman" panose="02020603050405020304" pitchFamily="18" charset="0"/>
                <a:cs typeface="Times New Roman" panose="02020603050405020304" pitchFamily="18" charset="0"/>
              </a:rPr>
              <a:t>为</a:t>
            </a:r>
            <a:r>
              <a:rPr kumimoji="1" lang="zh-CN" altLang="en-US" sz="2400" b="1">
                <a:solidFill>
                  <a:srgbClr val="FF0000"/>
                </a:solidFill>
                <a:latin typeface="Times New Roman" panose="02020603050405020304" pitchFamily="18" charset="0"/>
                <a:cs typeface="Times New Roman" panose="02020603050405020304" pitchFamily="18" charset="0"/>
              </a:rPr>
              <a:t>多数载流子</a:t>
            </a:r>
            <a:r>
              <a:rPr kumimoji="1" lang="zh-CN" altLang="en-US" sz="2400" b="1">
                <a:latin typeface="Times New Roman" panose="02020603050405020304" pitchFamily="18" charset="0"/>
                <a:cs typeface="Times New Roman" panose="02020603050405020304" pitchFamily="18" charset="0"/>
              </a:rPr>
              <a:t>，而</a:t>
            </a:r>
            <a:r>
              <a:rPr kumimoji="1" lang="zh-CN" altLang="en-US" sz="2400" b="1">
                <a:solidFill>
                  <a:srgbClr val="FF0000"/>
                </a:solidFill>
                <a:latin typeface="Times New Roman" panose="02020603050405020304" pitchFamily="18" charset="0"/>
                <a:cs typeface="Times New Roman" panose="02020603050405020304" pitchFamily="18" charset="0"/>
              </a:rPr>
              <a:t>自由电子</a:t>
            </a:r>
            <a:r>
              <a:rPr kumimoji="1" lang="zh-CN" altLang="en-US" sz="2400" b="1">
                <a:latin typeface="Times New Roman" panose="02020603050405020304" pitchFamily="18" charset="0"/>
                <a:cs typeface="Times New Roman" panose="02020603050405020304" pitchFamily="18" charset="0"/>
              </a:rPr>
              <a:t>为</a:t>
            </a:r>
            <a:r>
              <a:rPr kumimoji="1" lang="zh-CN" altLang="en-US" sz="2400" b="1">
                <a:solidFill>
                  <a:srgbClr val="FF0000"/>
                </a:solidFill>
                <a:latin typeface="Times New Roman" panose="02020603050405020304" pitchFamily="18" charset="0"/>
                <a:cs typeface="Times New Roman" panose="02020603050405020304" pitchFamily="18" charset="0"/>
              </a:rPr>
              <a:t>少数载流子</a:t>
            </a:r>
            <a:r>
              <a:rPr kumimoji="1" lang="zh-CN" altLang="en-US" sz="2400" b="1">
                <a:latin typeface="Times New Roman" panose="02020603050405020304" pitchFamily="18" charset="0"/>
                <a:cs typeface="Times New Roman" panose="02020603050405020304" pitchFamily="18" charset="0"/>
              </a:rPr>
              <a:t>。</a:t>
            </a:r>
            <a:endParaRPr kumimoji="1" lang="zh-CN" altLang="en-US" sz="2400" b="1">
              <a:latin typeface="Times New Roman" panose="02020603050405020304" pitchFamily="18" charset="0"/>
              <a:cs typeface="Times New Roman" panose="02020603050405020304" pitchFamily="18" charset="0"/>
            </a:endParaRPr>
          </a:p>
        </p:txBody>
      </p:sp>
      <p:sp>
        <p:nvSpPr>
          <p:cNvPr id="101381" name="Text Box 5"/>
          <p:cNvSpPr txBox="1">
            <a:spLocks noChangeArrowheads="1"/>
          </p:cNvSpPr>
          <p:nvPr/>
        </p:nvSpPr>
        <p:spPr bwMode="auto">
          <a:xfrm>
            <a:off x="142875" y="764704"/>
            <a:ext cx="2457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cs typeface="Times New Roman" panose="02020603050405020304" pitchFamily="18" charset="0"/>
              </a:rPr>
              <a:t>2</a:t>
            </a:r>
            <a:r>
              <a:rPr kumimoji="1" lang="zh-CN" altLang="en-US" sz="2800" b="1">
                <a:solidFill>
                  <a:schemeClr val="tx2"/>
                </a:solidFill>
                <a:latin typeface="Times New Roman" panose="02020603050405020304" pitchFamily="18" charset="0"/>
                <a:cs typeface="Times New Roman" panose="02020603050405020304" pitchFamily="18" charset="0"/>
              </a:rPr>
              <a:t>、</a:t>
            </a:r>
            <a:r>
              <a:rPr kumimoji="1" lang="en-US" altLang="zh-CN" sz="2800" b="1">
                <a:solidFill>
                  <a:schemeClr val="tx2"/>
                </a:solidFill>
                <a:latin typeface="Times New Roman" panose="02020603050405020304" pitchFamily="18" charset="0"/>
                <a:cs typeface="Times New Roman" panose="02020603050405020304" pitchFamily="18" charset="0"/>
              </a:rPr>
              <a:t>P </a:t>
            </a:r>
            <a:r>
              <a:rPr kumimoji="1" lang="zh-CN" altLang="en-US" sz="2800" b="1">
                <a:solidFill>
                  <a:schemeClr val="tx2"/>
                </a:solidFill>
                <a:latin typeface="Times New Roman" panose="02020603050405020304" pitchFamily="18" charset="0"/>
                <a:cs typeface="Times New Roman" panose="02020603050405020304" pitchFamily="18" charset="0"/>
              </a:rPr>
              <a:t>型半导体</a:t>
            </a:r>
            <a:endParaRPr kumimoji="1" lang="zh-CN" altLang="en-US" sz="2800" b="1">
              <a:solidFill>
                <a:schemeClr val="tx2"/>
              </a:solidFill>
              <a:latin typeface="Times New Roman" panose="02020603050405020304" pitchFamily="18" charset="0"/>
              <a:cs typeface="Times New Roman" panose="02020603050405020304" pitchFamily="18" charset="0"/>
            </a:endParaRPr>
          </a:p>
        </p:txBody>
      </p:sp>
      <p:grpSp>
        <p:nvGrpSpPr>
          <p:cNvPr id="2" name="Group 6"/>
          <p:cNvGrpSpPr/>
          <p:nvPr/>
        </p:nvGrpSpPr>
        <p:grpSpPr bwMode="auto">
          <a:xfrm>
            <a:off x="546100" y="2461741"/>
            <a:ext cx="2382838" cy="2276475"/>
            <a:chOff x="191" y="1632"/>
            <a:chExt cx="1501" cy="1434"/>
          </a:xfrm>
        </p:grpSpPr>
        <p:sp>
          <p:nvSpPr>
            <p:cNvPr id="33803" name="Oval 7"/>
            <p:cNvSpPr>
              <a:spLocks noChangeArrowheads="1"/>
            </p:cNvSpPr>
            <p:nvPr/>
          </p:nvSpPr>
          <p:spPr bwMode="auto">
            <a:xfrm>
              <a:off x="490" y="1920"/>
              <a:ext cx="240" cy="192"/>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800" b="1">
                  <a:solidFill>
                    <a:srgbClr val="000066"/>
                  </a:solidFill>
                  <a:latin typeface="Times New Roman" panose="02020603050405020304" pitchFamily="18" charset="0"/>
                  <a:cs typeface="Times New Roman" panose="02020603050405020304" pitchFamily="18" charset="0"/>
                </a:rPr>
                <a:t>+3</a:t>
              </a:r>
              <a:endParaRPr kumimoji="1" lang="en-US" altLang="zh-CN" sz="2800" b="1">
                <a:solidFill>
                  <a:srgbClr val="000066"/>
                </a:solidFill>
                <a:latin typeface="Times New Roman" panose="02020603050405020304" pitchFamily="18" charset="0"/>
                <a:cs typeface="Times New Roman" panose="02020603050405020304" pitchFamily="18" charset="0"/>
              </a:endParaRPr>
            </a:p>
          </p:txBody>
        </p:sp>
        <p:sp>
          <p:nvSpPr>
            <p:cNvPr id="33804" name="Rectangle 8"/>
            <p:cNvSpPr>
              <a:spLocks noChangeArrowheads="1"/>
            </p:cNvSpPr>
            <p:nvPr/>
          </p:nvSpPr>
          <p:spPr bwMode="auto">
            <a:xfrm>
              <a:off x="824" y="1872"/>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05" name="Oval 9"/>
            <p:cNvSpPr>
              <a:spLocks noChangeArrowheads="1"/>
            </p:cNvSpPr>
            <p:nvPr/>
          </p:nvSpPr>
          <p:spPr bwMode="auto">
            <a:xfrm>
              <a:off x="1164" y="1920"/>
              <a:ext cx="240" cy="192"/>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800" b="1">
                  <a:solidFill>
                    <a:srgbClr val="000066"/>
                  </a:solidFill>
                  <a:latin typeface="Times New Roman" panose="02020603050405020304" pitchFamily="18" charset="0"/>
                  <a:cs typeface="Times New Roman" panose="02020603050405020304" pitchFamily="18" charset="0"/>
                </a:rPr>
                <a:t>+4</a:t>
              </a:r>
              <a:endParaRPr kumimoji="1" lang="en-US" altLang="zh-CN" sz="2800" b="1">
                <a:solidFill>
                  <a:srgbClr val="000066"/>
                </a:solidFill>
                <a:latin typeface="Times New Roman" panose="02020603050405020304" pitchFamily="18" charset="0"/>
                <a:cs typeface="Times New Roman" panose="02020603050405020304" pitchFamily="18" charset="0"/>
              </a:endParaRPr>
            </a:p>
          </p:txBody>
        </p:sp>
        <p:sp>
          <p:nvSpPr>
            <p:cNvPr id="33806" name="Rectangle 10"/>
            <p:cNvSpPr>
              <a:spLocks noChangeArrowheads="1"/>
            </p:cNvSpPr>
            <p:nvPr/>
          </p:nvSpPr>
          <p:spPr bwMode="auto">
            <a:xfrm>
              <a:off x="912" y="1872"/>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07" name="Rectangle 11"/>
            <p:cNvSpPr>
              <a:spLocks noChangeArrowheads="1"/>
            </p:cNvSpPr>
            <p:nvPr/>
          </p:nvSpPr>
          <p:spPr bwMode="auto">
            <a:xfrm>
              <a:off x="1223" y="2150"/>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08" name="Oval 12"/>
            <p:cNvSpPr>
              <a:spLocks noChangeArrowheads="1"/>
            </p:cNvSpPr>
            <p:nvPr/>
          </p:nvSpPr>
          <p:spPr bwMode="auto">
            <a:xfrm>
              <a:off x="490" y="2544"/>
              <a:ext cx="240" cy="192"/>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800" b="1">
                  <a:solidFill>
                    <a:srgbClr val="000066"/>
                  </a:solidFill>
                  <a:latin typeface="Times New Roman" panose="02020603050405020304" pitchFamily="18" charset="0"/>
                  <a:cs typeface="Times New Roman" panose="02020603050405020304" pitchFamily="18" charset="0"/>
                </a:rPr>
                <a:t>+4</a:t>
              </a:r>
              <a:endParaRPr kumimoji="1" lang="en-US" altLang="zh-CN" sz="2800" b="1">
                <a:solidFill>
                  <a:srgbClr val="000066"/>
                </a:solidFill>
                <a:latin typeface="Times New Roman" panose="02020603050405020304" pitchFamily="18" charset="0"/>
                <a:cs typeface="Times New Roman" panose="02020603050405020304" pitchFamily="18" charset="0"/>
              </a:endParaRPr>
            </a:p>
          </p:txBody>
        </p:sp>
        <p:sp>
          <p:nvSpPr>
            <p:cNvPr id="33809" name="Rectangle 13"/>
            <p:cNvSpPr>
              <a:spLocks noChangeArrowheads="1"/>
            </p:cNvSpPr>
            <p:nvPr/>
          </p:nvSpPr>
          <p:spPr bwMode="auto">
            <a:xfrm>
              <a:off x="528" y="2256"/>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10" name="Rectangle 14"/>
            <p:cNvSpPr>
              <a:spLocks noChangeArrowheads="1"/>
            </p:cNvSpPr>
            <p:nvPr/>
          </p:nvSpPr>
          <p:spPr bwMode="auto">
            <a:xfrm>
              <a:off x="826" y="2496"/>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11" name="Oval 15"/>
            <p:cNvSpPr>
              <a:spLocks noChangeArrowheads="1"/>
            </p:cNvSpPr>
            <p:nvPr/>
          </p:nvSpPr>
          <p:spPr bwMode="auto">
            <a:xfrm>
              <a:off x="1162" y="2544"/>
              <a:ext cx="240" cy="192"/>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800" b="1">
                  <a:solidFill>
                    <a:srgbClr val="000066"/>
                  </a:solidFill>
                  <a:latin typeface="Times New Roman" panose="02020603050405020304" pitchFamily="18" charset="0"/>
                  <a:cs typeface="Times New Roman" panose="02020603050405020304" pitchFamily="18" charset="0"/>
                </a:rPr>
                <a:t>+4</a:t>
              </a:r>
              <a:endParaRPr kumimoji="1" lang="en-US" altLang="zh-CN" sz="2800" b="1">
                <a:solidFill>
                  <a:srgbClr val="000066"/>
                </a:solidFill>
                <a:latin typeface="Times New Roman" panose="02020603050405020304" pitchFamily="18" charset="0"/>
                <a:cs typeface="Times New Roman" panose="02020603050405020304" pitchFamily="18" charset="0"/>
              </a:endParaRPr>
            </a:p>
          </p:txBody>
        </p:sp>
        <p:sp>
          <p:nvSpPr>
            <p:cNvPr id="33812" name="Rectangle 16"/>
            <p:cNvSpPr>
              <a:spLocks noChangeArrowheads="1"/>
            </p:cNvSpPr>
            <p:nvPr/>
          </p:nvSpPr>
          <p:spPr bwMode="auto">
            <a:xfrm>
              <a:off x="922" y="2496"/>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13" name="Oval 17"/>
            <p:cNvSpPr>
              <a:spLocks noChangeArrowheads="1"/>
            </p:cNvSpPr>
            <p:nvPr/>
          </p:nvSpPr>
          <p:spPr bwMode="auto">
            <a:xfrm>
              <a:off x="776" y="1920"/>
              <a:ext cx="336" cy="149"/>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14" name="Oval 18"/>
            <p:cNvSpPr>
              <a:spLocks noChangeArrowheads="1"/>
            </p:cNvSpPr>
            <p:nvPr/>
          </p:nvSpPr>
          <p:spPr bwMode="auto">
            <a:xfrm>
              <a:off x="778" y="2544"/>
              <a:ext cx="336" cy="144"/>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15" name="Oval 19"/>
            <p:cNvSpPr>
              <a:spLocks noChangeArrowheads="1"/>
            </p:cNvSpPr>
            <p:nvPr/>
          </p:nvSpPr>
          <p:spPr bwMode="auto">
            <a:xfrm rot="-5400000">
              <a:off x="1152" y="2256"/>
              <a:ext cx="336" cy="144"/>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16" name="Oval 20"/>
            <p:cNvSpPr>
              <a:spLocks noChangeArrowheads="1"/>
            </p:cNvSpPr>
            <p:nvPr/>
          </p:nvSpPr>
          <p:spPr bwMode="auto">
            <a:xfrm rot="-5400000">
              <a:off x="455" y="2256"/>
              <a:ext cx="336" cy="144"/>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nvGrpSpPr>
            <p:cNvPr id="33817" name="Group 21"/>
            <p:cNvGrpSpPr/>
            <p:nvPr/>
          </p:nvGrpSpPr>
          <p:grpSpPr bwMode="auto">
            <a:xfrm>
              <a:off x="538" y="1632"/>
              <a:ext cx="220" cy="330"/>
              <a:chOff x="538" y="1632"/>
              <a:chExt cx="220" cy="330"/>
            </a:xfrm>
          </p:grpSpPr>
          <p:sp>
            <p:nvSpPr>
              <p:cNvPr id="33856" name="Rectangle 22"/>
              <p:cNvSpPr>
                <a:spLocks noChangeArrowheads="1"/>
              </p:cNvSpPr>
              <p:nvPr/>
            </p:nvSpPr>
            <p:spPr bwMode="auto">
              <a:xfrm>
                <a:off x="538" y="1632"/>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57" name="Rectangle 23"/>
              <p:cNvSpPr>
                <a:spLocks noChangeArrowheads="1"/>
              </p:cNvSpPr>
              <p:nvPr/>
            </p:nvSpPr>
            <p:spPr bwMode="auto">
              <a:xfrm>
                <a:off x="538" y="1632"/>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58" name="Oval 24"/>
              <p:cNvSpPr>
                <a:spLocks noChangeArrowheads="1"/>
              </p:cNvSpPr>
              <p:nvPr/>
            </p:nvSpPr>
            <p:spPr bwMode="auto">
              <a:xfrm>
                <a:off x="561" y="1632"/>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59" name="Rectangle 25"/>
              <p:cNvSpPr>
                <a:spLocks noChangeArrowheads="1"/>
              </p:cNvSpPr>
              <p:nvPr/>
            </p:nvSpPr>
            <p:spPr bwMode="auto">
              <a:xfrm>
                <a:off x="538" y="1632"/>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grpSp>
          <p:nvGrpSpPr>
            <p:cNvPr id="33818" name="Group 26"/>
            <p:cNvGrpSpPr/>
            <p:nvPr/>
          </p:nvGrpSpPr>
          <p:grpSpPr bwMode="auto">
            <a:xfrm>
              <a:off x="1162" y="1632"/>
              <a:ext cx="220" cy="330"/>
              <a:chOff x="1162" y="1632"/>
              <a:chExt cx="220" cy="330"/>
            </a:xfrm>
          </p:grpSpPr>
          <p:sp>
            <p:nvSpPr>
              <p:cNvPr id="33852" name="Rectangle 27"/>
              <p:cNvSpPr>
                <a:spLocks noChangeArrowheads="1"/>
              </p:cNvSpPr>
              <p:nvPr/>
            </p:nvSpPr>
            <p:spPr bwMode="auto">
              <a:xfrm>
                <a:off x="1162" y="1632"/>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53" name="Rectangle 28"/>
              <p:cNvSpPr>
                <a:spLocks noChangeArrowheads="1"/>
              </p:cNvSpPr>
              <p:nvPr/>
            </p:nvSpPr>
            <p:spPr bwMode="auto">
              <a:xfrm>
                <a:off x="1162" y="1632"/>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54" name="Oval 29"/>
              <p:cNvSpPr>
                <a:spLocks noChangeArrowheads="1"/>
              </p:cNvSpPr>
              <p:nvPr/>
            </p:nvSpPr>
            <p:spPr bwMode="auto">
              <a:xfrm>
                <a:off x="1185" y="1632"/>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zh-CN" sz="2400" b="1">
                  <a:solidFill>
                    <a:srgbClr val="000066"/>
                  </a:solidFill>
                  <a:latin typeface="Times New Roman" panose="02020603050405020304" pitchFamily="18" charset="0"/>
                  <a:cs typeface="Times New Roman" panose="02020603050405020304" pitchFamily="18" charset="0"/>
                </a:endParaRPr>
              </a:p>
            </p:txBody>
          </p:sp>
          <p:sp>
            <p:nvSpPr>
              <p:cNvPr id="33855" name="Rectangle 30"/>
              <p:cNvSpPr>
                <a:spLocks noChangeArrowheads="1"/>
              </p:cNvSpPr>
              <p:nvPr/>
            </p:nvSpPr>
            <p:spPr bwMode="auto">
              <a:xfrm>
                <a:off x="1162" y="1632"/>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grpSp>
          <p:nvGrpSpPr>
            <p:cNvPr id="33819" name="Group 31"/>
            <p:cNvGrpSpPr/>
            <p:nvPr/>
          </p:nvGrpSpPr>
          <p:grpSpPr bwMode="auto">
            <a:xfrm>
              <a:off x="1361" y="1904"/>
              <a:ext cx="330" cy="220"/>
              <a:chOff x="1361" y="1904"/>
              <a:chExt cx="330" cy="220"/>
            </a:xfrm>
          </p:grpSpPr>
          <p:sp>
            <p:nvSpPr>
              <p:cNvPr id="33848" name="Rectangle 32"/>
              <p:cNvSpPr>
                <a:spLocks noChangeArrowheads="1"/>
              </p:cNvSpPr>
              <p:nvPr/>
            </p:nvSpPr>
            <p:spPr bwMode="auto">
              <a:xfrm rot="5400000">
                <a:off x="1416" y="1849"/>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49" name="Rectangle 33"/>
              <p:cNvSpPr>
                <a:spLocks noChangeArrowheads="1"/>
              </p:cNvSpPr>
              <p:nvPr/>
            </p:nvSpPr>
            <p:spPr bwMode="auto">
              <a:xfrm rot="5400000">
                <a:off x="1416" y="1849"/>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50" name="Oval 34"/>
              <p:cNvSpPr>
                <a:spLocks noChangeArrowheads="1"/>
              </p:cNvSpPr>
              <p:nvPr/>
            </p:nvSpPr>
            <p:spPr bwMode="auto">
              <a:xfrm rot="5400000">
                <a:off x="1483" y="1918"/>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51" name="Rectangle 35"/>
              <p:cNvSpPr>
                <a:spLocks noChangeArrowheads="1"/>
              </p:cNvSpPr>
              <p:nvPr/>
            </p:nvSpPr>
            <p:spPr bwMode="auto">
              <a:xfrm rot="5400000">
                <a:off x="1546" y="1967"/>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grpSp>
          <p:nvGrpSpPr>
            <p:cNvPr id="33820" name="Group 36"/>
            <p:cNvGrpSpPr/>
            <p:nvPr/>
          </p:nvGrpSpPr>
          <p:grpSpPr bwMode="auto">
            <a:xfrm>
              <a:off x="1362" y="2529"/>
              <a:ext cx="330" cy="220"/>
              <a:chOff x="1362" y="2529"/>
              <a:chExt cx="330" cy="220"/>
            </a:xfrm>
          </p:grpSpPr>
          <p:sp>
            <p:nvSpPr>
              <p:cNvPr id="33844" name="Rectangle 37"/>
              <p:cNvSpPr>
                <a:spLocks noChangeArrowheads="1"/>
              </p:cNvSpPr>
              <p:nvPr/>
            </p:nvSpPr>
            <p:spPr bwMode="auto">
              <a:xfrm rot="5400000">
                <a:off x="1417" y="2474"/>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45" name="Rectangle 38"/>
              <p:cNvSpPr>
                <a:spLocks noChangeArrowheads="1"/>
              </p:cNvSpPr>
              <p:nvPr/>
            </p:nvSpPr>
            <p:spPr bwMode="auto">
              <a:xfrm rot="5400000">
                <a:off x="1417" y="2474"/>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46" name="Oval 39"/>
              <p:cNvSpPr>
                <a:spLocks noChangeArrowheads="1"/>
              </p:cNvSpPr>
              <p:nvPr/>
            </p:nvSpPr>
            <p:spPr bwMode="auto">
              <a:xfrm rot="5400000">
                <a:off x="1484" y="2543"/>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47" name="Rectangle 40"/>
              <p:cNvSpPr>
                <a:spLocks noChangeArrowheads="1"/>
              </p:cNvSpPr>
              <p:nvPr/>
            </p:nvSpPr>
            <p:spPr bwMode="auto">
              <a:xfrm rot="5400000">
                <a:off x="1547" y="2592"/>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grpSp>
          <p:nvGrpSpPr>
            <p:cNvPr id="33821" name="Group 41"/>
            <p:cNvGrpSpPr/>
            <p:nvPr/>
          </p:nvGrpSpPr>
          <p:grpSpPr bwMode="auto">
            <a:xfrm>
              <a:off x="490" y="2726"/>
              <a:ext cx="220" cy="330"/>
              <a:chOff x="490" y="2726"/>
              <a:chExt cx="220" cy="330"/>
            </a:xfrm>
          </p:grpSpPr>
          <p:sp>
            <p:nvSpPr>
              <p:cNvPr id="33840" name="Rectangle 42"/>
              <p:cNvSpPr>
                <a:spLocks noChangeArrowheads="1"/>
              </p:cNvSpPr>
              <p:nvPr/>
            </p:nvSpPr>
            <p:spPr bwMode="auto">
              <a:xfrm flipV="1">
                <a:off x="490" y="2726"/>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41" name="Rectangle 43"/>
              <p:cNvSpPr>
                <a:spLocks noChangeArrowheads="1"/>
              </p:cNvSpPr>
              <p:nvPr/>
            </p:nvSpPr>
            <p:spPr bwMode="auto">
              <a:xfrm flipV="1">
                <a:off x="490" y="2726"/>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42" name="Oval 44"/>
              <p:cNvSpPr>
                <a:spLocks noChangeArrowheads="1"/>
              </p:cNvSpPr>
              <p:nvPr/>
            </p:nvSpPr>
            <p:spPr bwMode="auto">
              <a:xfrm flipV="1">
                <a:off x="513" y="2784"/>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43" name="Rectangle 45"/>
              <p:cNvSpPr>
                <a:spLocks noChangeArrowheads="1"/>
              </p:cNvSpPr>
              <p:nvPr/>
            </p:nvSpPr>
            <p:spPr bwMode="auto">
              <a:xfrm flipV="1">
                <a:off x="490" y="2928"/>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grpSp>
          <p:nvGrpSpPr>
            <p:cNvPr id="33822" name="Group 46"/>
            <p:cNvGrpSpPr/>
            <p:nvPr/>
          </p:nvGrpSpPr>
          <p:grpSpPr bwMode="auto">
            <a:xfrm>
              <a:off x="1210" y="2736"/>
              <a:ext cx="222" cy="330"/>
              <a:chOff x="1210" y="2736"/>
              <a:chExt cx="222" cy="330"/>
            </a:xfrm>
          </p:grpSpPr>
          <p:sp>
            <p:nvSpPr>
              <p:cNvPr id="33836" name="Rectangle 47"/>
              <p:cNvSpPr>
                <a:spLocks noChangeArrowheads="1"/>
              </p:cNvSpPr>
              <p:nvPr/>
            </p:nvSpPr>
            <p:spPr bwMode="auto">
              <a:xfrm flipH="1" flipV="1">
                <a:off x="1212" y="2736"/>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37" name="Rectangle 48"/>
              <p:cNvSpPr>
                <a:spLocks noChangeArrowheads="1"/>
              </p:cNvSpPr>
              <p:nvPr/>
            </p:nvSpPr>
            <p:spPr bwMode="auto">
              <a:xfrm flipH="1" flipV="1">
                <a:off x="1212" y="2736"/>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38" name="Oval 49"/>
              <p:cNvSpPr>
                <a:spLocks noChangeArrowheads="1"/>
              </p:cNvSpPr>
              <p:nvPr/>
            </p:nvSpPr>
            <p:spPr bwMode="auto">
              <a:xfrm flipH="1" flipV="1">
                <a:off x="1235" y="2794"/>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39" name="Rectangle 50"/>
              <p:cNvSpPr>
                <a:spLocks noChangeArrowheads="1"/>
              </p:cNvSpPr>
              <p:nvPr/>
            </p:nvSpPr>
            <p:spPr bwMode="auto">
              <a:xfrm flipH="1" flipV="1">
                <a:off x="1210" y="2938"/>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grpSp>
          <p:nvGrpSpPr>
            <p:cNvPr id="33823" name="Group 51"/>
            <p:cNvGrpSpPr/>
            <p:nvPr/>
          </p:nvGrpSpPr>
          <p:grpSpPr bwMode="auto">
            <a:xfrm>
              <a:off x="191" y="2528"/>
              <a:ext cx="338" cy="220"/>
              <a:chOff x="191" y="2528"/>
              <a:chExt cx="338" cy="220"/>
            </a:xfrm>
          </p:grpSpPr>
          <p:sp>
            <p:nvSpPr>
              <p:cNvPr id="33832" name="Rectangle 52"/>
              <p:cNvSpPr>
                <a:spLocks noChangeArrowheads="1"/>
              </p:cNvSpPr>
              <p:nvPr/>
            </p:nvSpPr>
            <p:spPr bwMode="auto">
              <a:xfrm rot="5400000" flipV="1">
                <a:off x="254" y="2473"/>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33" name="Rectangle 53"/>
              <p:cNvSpPr>
                <a:spLocks noChangeArrowheads="1"/>
              </p:cNvSpPr>
              <p:nvPr/>
            </p:nvSpPr>
            <p:spPr bwMode="auto">
              <a:xfrm rot="5400000" flipV="1">
                <a:off x="254" y="2473"/>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34" name="Oval 54"/>
              <p:cNvSpPr>
                <a:spLocks noChangeArrowheads="1"/>
              </p:cNvSpPr>
              <p:nvPr/>
            </p:nvSpPr>
            <p:spPr bwMode="auto">
              <a:xfrm rot="5400000" flipV="1">
                <a:off x="263" y="2542"/>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35" name="Rectangle 55"/>
              <p:cNvSpPr>
                <a:spLocks noChangeArrowheads="1"/>
              </p:cNvSpPr>
              <p:nvPr/>
            </p:nvSpPr>
            <p:spPr bwMode="auto">
              <a:xfrm rot="5400000" flipV="1">
                <a:off x="143" y="2591"/>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grpSp>
          <p:nvGrpSpPr>
            <p:cNvPr id="33824" name="Group 56"/>
            <p:cNvGrpSpPr/>
            <p:nvPr/>
          </p:nvGrpSpPr>
          <p:grpSpPr bwMode="auto">
            <a:xfrm>
              <a:off x="201" y="1904"/>
              <a:ext cx="338" cy="220"/>
              <a:chOff x="201" y="1904"/>
              <a:chExt cx="338" cy="220"/>
            </a:xfrm>
          </p:grpSpPr>
          <p:sp>
            <p:nvSpPr>
              <p:cNvPr id="33828" name="Rectangle 57"/>
              <p:cNvSpPr>
                <a:spLocks noChangeArrowheads="1"/>
              </p:cNvSpPr>
              <p:nvPr/>
            </p:nvSpPr>
            <p:spPr bwMode="auto">
              <a:xfrm rot="5400000" flipV="1">
                <a:off x="264" y="1849"/>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29" name="Rectangle 58"/>
              <p:cNvSpPr>
                <a:spLocks noChangeArrowheads="1"/>
              </p:cNvSpPr>
              <p:nvPr/>
            </p:nvSpPr>
            <p:spPr bwMode="auto">
              <a:xfrm rot="5400000" flipV="1">
                <a:off x="264" y="1849"/>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30" name="Oval 59"/>
              <p:cNvSpPr>
                <a:spLocks noChangeArrowheads="1"/>
              </p:cNvSpPr>
              <p:nvPr/>
            </p:nvSpPr>
            <p:spPr bwMode="auto">
              <a:xfrm rot="5400000" flipV="1">
                <a:off x="273" y="1918"/>
                <a:ext cx="144" cy="192"/>
              </a:xfrm>
              <a:prstGeom prst="ellipse">
                <a:avLst/>
              </a:prstGeom>
              <a:noFill/>
              <a:ln w="12700">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31" name="Rectangle 60"/>
              <p:cNvSpPr>
                <a:spLocks noChangeArrowheads="1"/>
              </p:cNvSpPr>
              <p:nvPr/>
            </p:nvSpPr>
            <p:spPr bwMode="auto">
              <a:xfrm rot="5400000" flipV="1">
                <a:off x="153" y="1967"/>
                <a:ext cx="192" cy="96"/>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sp>
          <p:nvSpPr>
            <p:cNvPr id="33825" name="Rectangle 61"/>
            <p:cNvSpPr>
              <a:spLocks noChangeArrowheads="1"/>
            </p:cNvSpPr>
            <p:nvPr/>
          </p:nvSpPr>
          <p:spPr bwMode="auto">
            <a:xfrm>
              <a:off x="1223" y="2294"/>
              <a:ext cx="22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rgbClr val="000066"/>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26" name="Oval 62"/>
            <p:cNvSpPr>
              <a:spLocks noChangeArrowheads="1"/>
            </p:cNvSpPr>
            <p:nvPr/>
          </p:nvSpPr>
          <p:spPr bwMode="auto">
            <a:xfrm>
              <a:off x="599" y="2256"/>
              <a:ext cx="48" cy="48"/>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33827" name="Arc 63"/>
            <p:cNvSpPr/>
            <p:nvPr/>
          </p:nvSpPr>
          <p:spPr bwMode="auto">
            <a:xfrm flipV="1">
              <a:off x="672" y="2016"/>
              <a:ext cx="336"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sq">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pSp>
      <p:sp>
        <p:nvSpPr>
          <p:cNvPr id="101440" name="Text Box 64"/>
          <p:cNvSpPr txBox="1">
            <a:spLocks noChangeArrowheads="1"/>
          </p:cNvSpPr>
          <p:nvPr/>
        </p:nvSpPr>
        <p:spPr bwMode="auto">
          <a:xfrm>
            <a:off x="3216275" y="2477616"/>
            <a:ext cx="57150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掺杂的三价元素称为受主杂质，受主杂质接受一个电子后形成一个带负电的负离子但不会产生自由电子。负离子在晶格中不能起导电作用。</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1442" name="Rectangle 66"/>
          <p:cNvSpPr>
            <a:spLocks noChangeArrowheads="1"/>
          </p:cNvSpPr>
          <p:nvPr/>
        </p:nvSpPr>
        <p:spPr bwMode="auto">
          <a:xfrm>
            <a:off x="423863" y="5266854"/>
            <a:ext cx="8458200"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掺杂半导体的多子浓度主要由掺杂浓度决定，所以其导电能力也由掺杂浓度决定。</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1443" name="Line 67"/>
          <p:cNvSpPr>
            <a:spLocks noChangeShapeType="1"/>
          </p:cNvSpPr>
          <p:nvPr/>
        </p:nvSpPr>
        <p:spPr bwMode="auto">
          <a:xfrm>
            <a:off x="1371600" y="3142779"/>
            <a:ext cx="563563" cy="1738312"/>
          </a:xfrm>
          <a:prstGeom prst="line">
            <a:avLst/>
          </a:prstGeom>
          <a:noFill/>
          <a:ln w="28575">
            <a:solidFill>
              <a:srgbClr val="000066"/>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444" name="Text Box 68"/>
          <p:cNvSpPr txBox="1">
            <a:spLocks noChangeArrowheads="1"/>
          </p:cNvSpPr>
          <p:nvPr/>
        </p:nvSpPr>
        <p:spPr bwMode="auto">
          <a:xfrm>
            <a:off x="2041525" y="4603279"/>
            <a:ext cx="1895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a:solidFill>
                  <a:schemeClr val="tx2"/>
                </a:solidFill>
                <a:latin typeface="Times New Roman" panose="02020603050405020304" pitchFamily="18" charset="0"/>
                <a:cs typeface="Times New Roman" panose="02020603050405020304" pitchFamily="18" charset="0"/>
              </a:rPr>
              <a:t>掺杂</a:t>
            </a:r>
            <a:r>
              <a:rPr lang="en-US" altLang="zh-CN" sz="2400" b="1">
                <a:solidFill>
                  <a:schemeClr val="tx2"/>
                </a:solidFill>
                <a:latin typeface="Times New Roman" panose="02020603050405020304" pitchFamily="18" charset="0"/>
                <a:cs typeface="Times New Roman" panose="02020603050405020304" pitchFamily="18" charset="0"/>
              </a:rPr>
              <a:t>3</a:t>
            </a:r>
            <a:r>
              <a:rPr lang="zh-CN" altLang="en-US" sz="2400" b="1">
                <a:solidFill>
                  <a:schemeClr val="tx2"/>
                </a:solidFill>
                <a:latin typeface="Times New Roman" panose="02020603050405020304" pitchFamily="18" charset="0"/>
                <a:cs typeface="Times New Roman" panose="02020603050405020304" pitchFamily="18" charset="0"/>
              </a:rPr>
              <a:t>价原子</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1441" name="Text Box 65"/>
          <p:cNvSpPr txBox="1">
            <a:spLocks noChangeArrowheads="1"/>
          </p:cNvSpPr>
          <p:nvPr/>
        </p:nvSpPr>
        <p:spPr bwMode="auto">
          <a:xfrm>
            <a:off x="571500" y="1979141"/>
            <a:ext cx="8275638" cy="2908300"/>
          </a:xfrm>
          <a:prstGeom prst="rect">
            <a:avLst/>
          </a:prstGeom>
          <a:solidFill>
            <a:srgbClr val="DDDDDD"/>
          </a:solidFill>
          <a:ln w="38100" cap="sq">
            <a:solidFill>
              <a:srgbClr val="FF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800" b="1">
                <a:solidFill>
                  <a:schemeClr val="tx2"/>
                </a:solidFill>
                <a:latin typeface="Times New Roman" panose="02020603050405020304" pitchFamily="18" charset="0"/>
                <a:cs typeface="Times New Roman" panose="02020603050405020304" pitchFamily="18" charset="0"/>
              </a:rPr>
              <a:t>N</a:t>
            </a:r>
            <a:r>
              <a:rPr kumimoji="1" lang="zh-CN" altLang="en-US" sz="2800" b="1">
                <a:solidFill>
                  <a:schemeClr val="tx2"/>
                </a:solidFill>
                <a:latin typeface="Times New Roman" panose="02020603050405020304" pitchFamily="18" charset="0"/>
                <a:cs typeface="Times New Roman" panose="02020603050405020304" pitchFamily="18" charset="0"/>
              </a:rPr>
              <a:t>型半导体中多数载流子是自由电子。</a:t>
            </a:r>
            <a:br>
              <a:rPr kumimoji="1" lang="zh-CN" altLang="en-US" sz="2800" b="1">
                <a:solidFill>
                  <a:schemeClr val="tx2"/>
                </a:solidFill>
                <a:latin typeface="Times New Roman" panose="02020603050405020304" pitchFamily="18" charset="0"/>
                <a:cs typeface="Times New Roman" panose="02020603050405020304" pitchFamily="18" charset="0"/>
              </a:rPr>
            </a:br>
            <a:r>
              <a:rPr kumimoji="1" lang="en-US" altLang="zh-CN" sz="2800" b="1">
                <a:solidFill>
                  <a:schemeClr val="tx2"/>
                </a:solidFill>
                <a:latin typeface="Times New Roman" panose="02020603050405020304" pitchFamily="18" charset="0"/>
                <a:cs typeface="Times New Roman" panose="02020603050405020304" pitchFamily="18" charset="0"/>
              </a:rPr>
              <a:t>P</a:t>
            </a:r>
            <a:r>
              <a:rPr kumimoji="1" lang="zh-CN" altLang="en-US" sz="2800" b="1">
                <a:solidFill>
                  <a:schemeClr val="tx2"/>
                </a:solidFill>
                <a:latin typeface="Times New Roman" panose="02020603050405020304" pitchFamily="18" charset="0"/>
                <a:cs typeface="Times New Roman" panose="02020603050405020304" pitchFamily="18" charset="0"/>
              </a:rPr>
              <a:t>型半导体中多数载流子是空穴。</a:t>
            </a:r>
            <a:br>
              <a:rPr kumimoji="1" lang="zh-CN" altLang="en-US" sz="2800" b="1">
                <a:solidFill>
                  <a:schemeClr val="tx2"/>
                </a:solidFill>
                <a:latin typeface="Times New Roman" panose="02020603050405020304" pitchFamily="18" charset="0"/>
                <a:cs typeface="Times New Roman" panose="02020603050405020304" pitchFamily="18" charset="0"/>
              </a:rPr>
            </a:br>
            <a:r>
              <a:rPr kumimoji="1" lang="zh-CN" altLang="en-US" sz="2800" b="1">
                <a:solidFill>
                  <a:schemeClr val="tx2"/>
                </a:solidFill>
                <a:latin typeface="Times New Roman" panose="02020603050405020304" pitchFamily="18" charset="0"/>
                <a:cs typeface="Times New Roman" panose="02020603050405020304" pitchFamily="18" charset="0"/>
              </a:rPr>
              <a:t>不论是</a:t>
            </a:r>
            <a:r>
              <a:rPr kumimoji="1" lang="en-US" altLang="zh-CN" sz="2800" b="1">
                <a:solidFill>
                  <a:schemeClr val="tx2"/>
                </a:solidFill>
                <a:latin typeface="Times New Roman" panose="02020603050405020304" pitchFamily="18" charset="0"/>
                <a:cs typeface="Times New Roman" panose="02020603050405020304" pitchFamily="18" charset="0"/>
              </a:rPr>
              <a:t>N</a:t>
            </a:r>
            <a:r>
              <a:rPr kumimoji="1" lang="zh-CN" altLang="en-US" sz="2800" b="1">
                <a:solidFill>
                  <a:schemeClr val="tx2"/>
                </a:solidFill>
                <a:latin typeface="Times New Roman" panose="02020603050405020304" pitchFamily="18" charset="0"/>
                <a:cs typeface="Times New Roman" panose="02020603050405020304" pitchFamily="18" charset="0"/>
              </a:rPr>
              <a:t>型半导体还是</a:t>
            </a:r>
            <a:r>
              <a:rPr kumimoji="1" lang="en-US" altLang="zh-CN" sz="2800" b="1">
                <a:solidFill>
                  <a:schemeClr val="tx2"/>
                </a:solidFill>
                <a:latin typeface="Times New Roman" panose="02020603050405020304" pitchFamily="18" charset="0"/>
                <a:cs typeface="Times New Roman" panose="02020603050405020304" pitchFamily="18" charset="0"/>
              </a:rPr>
              <a:t>P</a:t>
            </a:r>
            <a:r>
              <a:rPr kumimoji="1" lang="zh-CN" altLang="en-US" sz="2800" b="1">
                <a:solidFill>
                  <a:schemeClr val="tx2"/>
                </a:solidFill>
                <a:latin typeface="Times New Roman" panose="02020603050405020304" pitchFamily="18" charset="0"/>
                <a:cs typeface="Times New Roman" panose="02020603050405020304" pitchFamily="18" charset="0"/>
              </a:rPr>
              <a:t>型半导体，虽然它们都有一种载流子占多数，但整个晶体仍然是不带电的，宏观上保持电中性。</a:t>
            </a:r>
            <a:endParaRPr kumimoji="1" lang="zh-CN" altLang="en-US" sz="2800" b="1">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1013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75"/>
                                  </p:iterate>
                                  <p:childTnLst>
                                    <p:set>
                                      <p:cBhvr>
                                        <p:cTn id="10" dur="1" fill="hold">
                                          <p:stCondLst>
                                            <p:cond delay="74"/>
                                          </p:stCondLst>
                                        </p:cTn>
                                        <p:tgtEl>
                                          <p:spTgt spid="1013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01443"/>
                                        </p:tgtEl>
                                        <p:attrNameLst>
                                          <p:attrName>style.visibility</p:attrName>
                                        </p:attrNameLst>
                                      </p:cBhvr>
                                      <p:to>
                                        <p:strVal val="visible"/>
                                      </p:to>
                                    </p:set>
                                    <p:animEffect transition="in" filter="wipe(left)">
                                      <p:cBhvr>
                                        <p:cTn id="20" dur="500"/>
                                        <p:tgtEl>
                                          <p:spTgt spid="101443"/>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01444"/>
                                        </p:tgtEl>
                                        <p:attrNameLst>
                                          <p:attrName>style.visibility</p:attrName>
                                        </p:attrNameLst>
                                      </p:cBhvr>
                                      <p:to>
                                        <p:strVal val="visible"/>
                                      </p:to>
                                    </p:set>
                                    <p:animEffect transition="in" filter="wipe(left)">
                                      <p:cBhvr>
                                        <p:cTn id="24" dur="500"/>
                                        <p:tgtEl>
                                          <p:spTgt spid="101444"/>
                                        </p:tgtEl>
                                      </p:cBhvr>
                                    </p:animEffect>
                                  </p:childTnLst>
                                </p:cTn>
                              </p:par>
                            </p:childTnLst>
                          </p:cTn>
                        </p:par>
                        <p:par>
                          <p:cTn id="25" fill="hold">
                            <p:stCondLst>
                              <p:cond delay="1500"/>
                            </p:stCondLst>
                            <p:childTnLst>
                              <p:par>
                                <p:cTn id="26" presetID="1" presetClass="entr" presetSubtype="0" fill="hold" grpId="0" nodeType="afterEffect">
                                  <p:stCondLst>
                                    <p:cond delay="0"/>
                                  </p:stCondLst>
                                  <p:iterate type="lt">
                                    <p:tmAbs val="75"/>
                                  </p:iterate>
                                  <p:childTnLst>
                                    <p:set>
                                      <p:cBhvr>
                                        <p:cTn id="27" dur="1" fill="hold">
                                          <p:stCondLst>
                                            <p:cond delay="74"/>
                                          </p:stCondLst>
                                        </p:cTn>
                                        <p:tgtEl>
                                          <p:spTgt spid="10144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lt">
                                    <p:tmAbs val="75"/>
                                  </p:iterate>
                                  <p:childTnLst>
                                    <p:set>
                                      <p:cBhvr>
                                        <p:cTn id="31" dur="1" fill="hold">
                                          <p:stCondLst>
                                            <p:cond delay="74"/>
                                          </p:stCondLst>
                                        </p:cTn>
                                        <p:tgtEl>
                                          <p:spTgt spid="10144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lt">
                                    <p:tmAbs val="75"/>
                                  </p:iterate>
                                  <p:childTnLst>
                                    <p:set>
                                      <p:cBhvr>
                                        <p:cTn id="35" dur="1" fill="hold">
                                          <p:stCondLst>
                                            <p:cond delay="74"/>
                                          </p:stCondLst>
                                        </p:cTn>
                                        <p:tgtEl>
                                          <p:spTgt spid="1014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autoUpdateAnimBg="0"/>
      <p:bldP spid="101381" grpId="0" autoUpdateAnimBg="0"/>
      <p:bldP spid="101440" grpId="0" autoUpdateAnimBg="0"/>
      <p:bldP spid="101442" grpId="0" autoUpdateAnimBg="0"/>
      <p:bldP spid="101443" grpId="0" animBg="1"/>
      <p:bldP spid="101444" grpId="0"/>
      <p:bldP spid="101441"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7</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34819" name="Rectangle 3"/>
          <p:cNvSpPr>
            <a:spLocks noGrp="1" noChangeArrowheads="1"/>
          </p:cNvSpPr>
          <p:nvPr>
            <p:ph sz="quarter" idx="11"/>
          </p:nvPr>
        </p:nvSpPr>
        <p:spPr/>
        <p:txBody>
          <a:bodyPr/>
          <a:lstStyle/>
          <a:p>
            <a:pPr eaLnBrk="1" hangingPunct="1">
              <a:lnSpc>
                <a:spcPct val="120000"/>
              </a:lnSpc>
              <a:spcBef>
                <a:spcPct val="0"/>
              </a:spcBef>
            </a:pPr>
            <a:r>
              <a:rPr lang="zh-CN" altLang="en-US" dirty="0" smtClean="0">
                <a:ea typeface="宋体" panose="02010600030101010101" pitchFamily="2" charset="-122"/>
              </a:rPr>
              <a:t>载流子的运动</a:t>
            </a:r>
            <a:endParaRPr lang="zh-CN" altLang="en-US" dirty="0" smtClean="0">
              <a:ea typeface="宋体" panose="02010600030101010101" pitchFamily="2" charset="-122"/>
            </a:endParaRPr>
          </a:p>
          <a:p>
            <a:pPr marL="636270" lvl="1" indent="-457200" eaLnBrk="1" hangingPunct="1">
              <a:spcBef>
                <a:spcPct val="0"/>
              </a:spcBef>
              <a:buFont typeface="+mj-lt"/>
              <a:buAutoNum type="arabicPeriod"/>
            </a:pPr>
            <a:r>
              <a:rPr lang="zh-CN" altLang="en-US" sz="2400" dirty="0" smtClean="0"/>
              <a:t>载流子在电场作用下的漂移运动</a:t>
            </a:r>
            <a:br>
              <a:rPr lang="zh-CN" altLang="en-US" sz="2400" dirty="0" smtClean="0"/>
            </a:br>
            <a:r>
              <a:rPr lang="zh-CN" altLang="en-US" sz="2400" dirty="0" smtClean="0"/>
              <a:t>没有电场作用时</a:t>
            </a:r>
            <a:r>
              <a:rPr lang="en-US" altLang="zh-CN" sz="2400" dirty="0" smtClean="0"/>
              <a:t>,</a:t>
            </a:r>
            <a:r>
              <a:rPr lang="zh-CN" altLang="en-US" sz="2400" dirty="0" smtClean="0"/>
              <a:t>半导体内部的自由电子和空穴的运动是杂乱无章的热骚动，其运动方向不断改变，因此从平均的意义上来说不会产生电流。</a:t>
            </a:r>
            <a:br>
              <a:rPr lang="zh-CN" altLang="en-US" sz="2400" dirty="0" smtClean="0"/>
            </a:br>
            <a:r>
              <a:rPr lang="zh-CN" altLang="en-US" sz="2400" dirty="0" smtClean="0"/>
              <a:t>当有外电场作用时，自由电子在热运动的同时还要叠加上逆电场方向的运动，空穴则叠加上顺电场方向的运动。</a:t>
            </a:r>
            <a:endParaRPr lang="zh-CN" altLang="en-US" sz="2400" dirty="0" smtClean="0"/>
          </a:p>
        </p:txBody>
      </p:sp>
      <p:sp>
        <p:nvSpPr>
          <p:cNvPr id="102404" name="Rectangle 4"/>
          <p:cNvSpPr>
            <a:spLocks noChangeArrowheads="1"/>
          </p:cNvSpPr>
          <p:nvPr/>
        </p:nvSpPr>
        <p:spPr bwMode="auto">
          <a:xfrm>
            <a:off x="1087487" y="4554994"/>
            <a:ext cx="449262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50000"/>
              </a:lnSpc>
            </a:pPr>
            <a:r>
              <a:rPr lang="zh-CN" altLang="en-US" sz="2400" b="1" dirty="0">
                <a:solidFill>
                  <a:srgbClr val="000000"/>
                </a:solidFill>
              </a:rPr>
              <a:t>在电场作用下载流子的运动称为</a:t>
            </a:r>
            <a:r>
              <a:rPr lang="zh-CN" altLang="en-US" sz="2400" b="1" dirty="0">
                <a:solidFill>
                  <a:srgbClr val="FF0000"/>
                </a:solidFill>
              </a:rPr>
              <a:t>漂移运动</a:t>
            </a:r>
            <a:r>
              <a:rPr lang="zh-CN" altLang="en-US" sz="2400" b="1" dirty="0">
                <a:solidFill>
                  <a:srgbClr val="000000"/>
                </a:solidFill>
              </a:rPr>
              <a:t>。由漂移运动产生的电流为</a:t>
            </a:r>
            <a:r>
              <a:rPr lang="zh-CN" altLang="en-US" sz="2400" b="1" dirty="0">
                <a:solidFill>
                  <a:srgbClr val="FF0000"/>
                </a:solidFill>
              </a:rPr>
              <a:t>漂移电流</a:t>
            </a:r>
            <a:r>
              <a:rPr lang="zh-CN" altLang="en-US" sz="2400" b="1" dirty="0">
                <a:solidFill>
                  <a:srgbClr val="000000"/>
                </a:solidFill>
              </a:rPr>
              <a:t>。</a:t>
            </a:r>
            <a:endParaRPr lang="zh-CN" altLang="en-US" sz="2400" b="1" dirty="0">
              <a:solidFill>
                <a:srgbClr val="000000"/>
              </a:solidFill>
            </a:endParaRPr>
          </a:p>
        </p:txBody>
      </p:sp>
      <p:grpSp>
        <p:nvGrpSpPr>
          <p:cNvPr id="2" name="Group 5"/>
          <p:cNvGrpSpPr/>
          <p:nvPr/>
        </p:nvGrpSpPr>
        <p:grpSpPr bwMode="auto">
          <a:xfrm>
            <a:off x="5867400" y="4559300"/>
            <a:ext cx="2754313" cy="1517650"/>
            <a:chOff x="-121" y="2162"/>
            <a:chExt cx="1735" cy="956"/>
          </a:xfrm>
        </p:grpSpPr>
        <p:grpSp>
          <p:nvGrpSpPr>
            <p:cNvPr id="34822" name="Group 6"/>
            <p:cNvGrpSpPr/>
            <p:nvPr/>
          </p:nvGrpSpPr>
          <p:grpSpPr bwMode="auto">
            <a:xfrm>
              <a:off x="192" y="2494"/>
              <a:ext cx="1248" cy="624"/>
              <a:chOff x="528" y="816"/>
              <a:chExt cx="1248" cy="624"/>
            </a:xfrm>
          </p:grpSpPr>
          <p:sp>
            <p:nvSpPr>
              <p:cNvPr id="34833" name="Line 7"/>
              <p:cNvSpPr>
                <a:spLocks noChangeShapeType="1"/>
              </p:cNvSpPr>
              <p:nvPr/>
            </p:nvSpPr>
            <p:spPr bwMode="auto">
              <a:xfrm>
                <a:off x="528" y="816"/>
                <a:ext cx="1248" cy="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4" name="Line 8"/>
              <p:cNvSpPr>
                <a:spLocks noChangeShapeType="1"/>
              </p:cNvSpPr>
              <p:nvPr/>
            </p:nvSpPr>
            <p:spPr bwMode="auto">
              <a:xfrm>
                <a:off x="528" y="1008"/>
                <a:ext cx="1248" cy="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5" name="Line 9"/>
              <p:cNvSpPr>
                <a:spLocks noChangeShapeType="1"/>
              </p:cNvSpPr>
              <p:nvPr/>
            </p:nvSpPr>
            <p:spPr bwMode="auto">
              <a:xfrm>
                <a:off x="528" y="1200"/>
                <a:ext cx="1248" cy="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6" name="Line 10"/>
              <p:cNvSpPr>
                <a:spLocks noChangeShapeType="1"/>
              </p:cNvSpPr>
              <p:nvPr/>
            </p:nvSpPr>
            <p:spPr bwMode="auto">
              <a:xfrm>
                <a:off x="528" y="1440"/>
                <a:ext cx="1248" cy="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823" name="Text Box 11"/>
            <p:cNvSpPr txBox="1">
              <a:spLocks noChangeArrowheads="1"/>
            </p:cNvSpPr>
            <p:nvPr/>
          </p:nvSpPr>
          <p:spPr bwMode="auto">
            <a:xfrm>
              <a:off x="387" y="2261"/>
              <a:ext cx="6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电场 </a:t>
              </a:r>
              <a:r>
                <a:rPr kumimoji="1" lang="zh-CN" altLang="en-US" sz="2000" b="1" i="1">
                  <a:solidFill>
                    <a:schemeClr val="tx2"/>
                  </a:solidFill>
                  <a:latin typeface="Times New Roman" panose="02020603050405020304" pitchFamily="18" charset="0"/>
                  <a:cs typeface="Times New Roman" panose="02020603050405020304" pitchFamily="18" charset="0"/>
                </a:rPr>
                <a:t> </a:t>
              </a:r>
              <a:r>
                <a:rPr kumimoji="1" lang="en-US" altLang="zh-CN" sz="2000" b="1" i="1">
                  <a:solidFill>
                    <a:schemeClr val="tx2"/>
                  </a:solidFill>
                  <a:latin typeface="Times New Roman" panose="02020603050405020304" pitchFamily="18" charset="0"/>
                  <a:cs typeface="Times New Roman" panose="02020603050405020304" pitchFamily="18" charset="0"/>
                </a:rPr>
                <a:t>E</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34824" name="Text Box 12"/>
            <p:cNvSpPr txBox="1">
              <a:spLocks noChangeArrowheads="1"/>
            </p:cNvSpPr>
            <p:nvPr/>
          </p:nvSpPr>
          <p:spPr bwMode="auto">
            <a:xfrm>
              <a:off x="374" y="2627"/>
              <a:ext cx="1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b="1">
                <a:solidFill>
                  <a:schemeClr val="tx2"/>
                </a:solidFill>
                <a:latin typeface="Times New Roman" panose="02020603050405020304" pitchFamily="18" charset="0"/>
                <a:cs typeface="Times New Roman" panose="02020603050405020304" pitchFamily="18" charset="0"/>
              </a:endParaRPr>
            </a:p>
          </p:txBody>
        </p:sp>
        <p:sp>
          <p:nvSpPr>
            <p:cNvPr id="34825" name="Text Box 13"/>
            <p:cNvSpPr txBox="1">
              <a:spLocks noChangeArrowheads="1"/>
            </p:cNvSpPr>
            <p:nvPr/>
          </p:nvSpPr>
          <p:spPr bwMode="auto">
            <a:xfrm>
              <a:off x="480" y="2662"/>
              <a:ext cx="1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4826" name="Line 14"/>
            <p:cNvSpPr>
              <a:spLocks noChangeShapeType="1"/>
            </p:cNvSpPr>
            <p:nvPr/>
          </p:nvSpPr>
          <p:spPr bwMode="auto">
            <a:xfrm>
              <a:off x="192" y="2780"/>
              <a:ext cx="384" cy="0"/>
            </a:xfrm>
            <a:prstGeom prst="line">
              <a:avLst/>
            </a:prstGeom>
            <a:noFill/>
            <a:ln w="12700" cap="sq">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7" name="Text Box 15"/>
            <p:cNvSpPr txBox="1">
              <a:spLocks noChangeArrowheads="1"/>
            </p:cNvSpPr>
            <p:nvPr/>
          </p:nvSpPr>
          <p:spPr bwMode="auto">
            <a:xfrm>
              <a:off x="-121" y="2224"/>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cs typeface="Times New Roman" panose="02020603050405020304" pitchFamily="18" charset="0"/>
                </a:rPr>
                <a:t>+</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sp>
          <p:nvSpPr>
            <p:cNvPr id="34828" name="Text Box 16"/>
            <p:cNvSpPr txBox="1">
              <a:spLocks noChangeArrowheads="1"/>
            </p:cNvSpPr>
            <p:nvPr/>
          </p:nvSpPr>
          <p:spPr bwMode="auto">
            <a:xfrm>
              <a:off x="1422" y="2162"/>
              <a:ext cx="19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cs typeface="Times New Roman" panose="02020603050405020304" pitchFamily="18" charset="0"/>
                </a:rPr>
                <a:t>-</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sp>
          <p:nvSpPr>
            <p:cNvPr id="34829" name="Oval 17"/>
            <p:cNvSpPr>
              <a:spLocks noChangeArrowheads="1"/>
            </p:cNvSpPr>
            <p:nvPr/>
          </p:nvSpPr>
          <p:spPr bwMode="auto">
            <a:xfrm flipH="1">
              <a:off x="768" y="2950"/>
              <a:ext cx="48" cy="48"/>
            </a:xfrm>
            <a:prstGeom prst="ellipse">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4830" name="Line 18"/>
            <p:cNvSpPr>
              <a:spLocks noChangeShapeType="1"/>
            </p:cNvSpPr>
            <p:nvPr/>
          </p:nvSpPr>
          <p:spPr bwMode="auto">
            <a:xfrm>
              <a:off x="816" y="2974"/>
              <a:ext cx="384" cy="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1" name="Text Box 19"/>
            <p:cNvSpPr txBox="1">
              <a:spLocks noChangeArrowheads="1"/>
            </p:cNvSpPr>
            <p:nvPr/>
          </p:nvSpPr>
          <p:spPr bwMode="auto">
            <a:xfrm>
              <a:off x="615" y="2592"/>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e</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34832" name="Text Box 20"/>
            <p:cNvSpPr txBox="1">
              <a:spLocks noChangeArrowheads="1"/>
            </p:cNvSpPr>
            <p:nvPr/>
          </p:nvSpPr>
          <p:spPr bwMode="auto">
            <a:xfrm>
              <a:off x="556" y="2806"/>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q</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sp>
        <p:nvSpPr>
          <p:cNvPr id="3" name="灯片编号占位符 2"/>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lt">
                                    <p:tmAbs val="100"/>
                                  </p:iterate>
                                  <p:childTnLst>
                                    <p:set>
                                      <p:cBhvr>
                                        <p:cTn id="11" dur="1" fill="hold">
                                          <p:stCondLst>
                                            <p:cond delay="0"/>
                                          </p:stCondLst>
                                        </p:cTn>
                                        <p:tgtEl>
                                          <p:spTgt spid="1024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8</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35843" name="Rectangle 3"/>
          <p:cNvSpPr>
            <a:spLocks noGrp="1" noChangeArrowheads="1"/>
          </p:cNvSpPr>
          <p:nvPr>
            <p:ph sz="quarter" idx="11"/>
          </p:nvPr>
        </p:nvSpPr>
        <p:spPr/>
        <p:txBody>
          <a:bodyPr/>
          <a:lstStyle/>
          <a:p>
            <a:pPr eaLnBrk="1" hangingPunct="1">
              <a:lnSpc>
                <a:spcPct val="130000"/>
              </a:lnSpc>
              <a:spcBef>
                <a:spcPct val="0"/>
              </a:spcBef>
            </a:pPr>
            <a:r>
              <a:rPr lang="zh-CN" altLang="en-US" dirty="0" smtClean="0">
                <a:ea typeface="宋体" panose="02010600030101010101" pitchFamily="2" charset="-122"/>
              </a:rPr>
              <a:t>载流子的运动</a:t>
            </a:r>
            <a:r>
              <a:rPr lang="en-US" altLang="zh-CN" dirty="0" smtClean="0">
                <a:ea typeface="宋体" panose="02010600030101010101" pitchFamily="2" charset="-122"/>
              </a:rPr>
              <a:t>(</a:t>
            </a:r>
            <a:r>
              <a:rPr lang="zh-CN" altLang="en-US" dirty="0" smtClean="0">
                <a:ea typeface="宋体" panose="02010600030101010101" pitchFamily="2" charset="-122"/>
              </a:rPr>
              <a:t>续</a:t>
            </a:r>
            <a:r>
              <a:rPr lang="en-US" altLang="zh-CN" dirty="0" smtClean="0">
                <a:ea typeface="宋体" panose="02010600030101010101" pitchFamily="2" charset="-122"/>
              </a:rPr>
              <a:t>)</a:t>
            </a:r>
            <a:endParaRPr lang="en-US" altLang="zh-CN" dirty="0" smtClean="0">
              <a:ea typeface="宋体" panose="02010600030101010101" pitchFamily="2" charset="-122"/>
            </a:endParaRPr>
          </a:p>
          <a:p>
            <a:pPr marL="693420" lvl="1" indent="-514350" eaLnBrk="1" hangingPunct="1">
              <a:spcBef>
                <a:spcPct val="0"/>
              </a:spcBef>
              <a:buFont typeface="+mj-lt"/>
              <a:buAutoNum type="arabicPeriod" startAt="2"/>
            </a:pPr>
            <a:r>
              <a:rPr kumimoji="1" lang="zh-CN" altLang="en-US" dirty="0" smtClean="0"/>
              <a:t>载流子的扩散运动</a:t>
            </a:r>
            <a:br>
              <a:rPr kumimoji="1" lang="zh-CN" altLang="en-US" dirty="0" smtClean="0"/>
            </a:br>
            <a:r>
              <a:rPr kumimoji="1" lang="zh-CN" altLang="en-US" dirty="0" smtClean="0"/>
              <a:t>如果在半导体中两个区域自由电子和空穴的浓度存在差异，那么载流子将从浓度大的一边向浓度小的一边扩散。</a:t>
            </a:r>
            <a:endParaRPr kumimoji="1" lang="zh-CN" altLang="en-US" dirty="0" smtClean="0"/>
          </a:p>
          <a:p>
            <a:pPr lvl="1" eaLnBrk="1" hangingPunct="1">
              <a:lnSpc>
                <a:spcPct val="130000"/>
              </a:lnSpc>
              <a:spcBef>
                <a:spcPct val="0"/>
              </a:spcBef>
            </a:pPr>
            <a:endParaRPr kumimoji="1" lang="en-US" altLang="zh-CN" dirty="0" smtClean="0"/>
          </a:p>
        </p:txBody>
      </p:sp>
      <p:pic>
        <p:nvPicPr>
          <p:cNvPr id="103492" name="Picture 6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41925" y="4005064"/>
            <a:ext cx="3403600" cy="14763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03493" name="Rectangle 69"/>
          <p:cNvSpPr>
            <a:spLocks noChangeArrowheads="1"/>
          </p:cNvSpPr>
          <p:nvPr/>
        </p:nvSpPr>
        <p:spPr bwMode="auto">
          <a:xfrm>
            <a:off x="1055688" y="4224139"/>
            <a:ext cx="3846512"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30000"/>
              </a:lnSpc>
            </a:pPr>
            <a:r>
              <a:rPr kumimoji="1" lang="zh-CN" altLang="en-US" sz="2400" b="1"/>
              <a:t>由于浓度差引起的载流子运动为</a:t>
            </a:r>
            <a:r>
              <a:rPr kumimoji="1" lang="zh-CN" altLang="en-US" sz="2400" b="1">
                <a:solidFill>
                  <a:srgbClr val="FF0000"/>
                </a:solidFill>
              </a:rPr>
              <a:t>扩散运动</a:t>
            </a:r>
            <a:r>
              <a:rPr kumimoji="1" lang="zh-CN" altLang="en-US" sz="2400" b="1"/>
              <a:t>。相应产生的电流为</a:t>
            </a:r>
            <a:r>
              <a:rPr kumimoji="1" lang="zh-CN" altLang="en-US" sz="2400" b="1">
                <a:solidFill>
                  <a:srgbClr val="FF0000"/>
                </a:solidFill>
              </a:rPr>
              <a:t>扩散电流</a:t>
            </a:r>
            <a:r>
              <a:rPr kumimoji="1" lang="zh-CN" altLang="en-US" sz="2400" b="1"/>
              <a:t>。</a:t>
            </a:r>
            <a:endParaRPr kumimoji="1" lang="zh-CN" altLang="en-US" sz="2400" b="1"/>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03492"/>
                                        </p:tgtEl>
                                        <p:attrNameLst>
                                          <p:attrName>style.visibility</p:attrName>
                                        </p:attrNameLst>
                                      </p:cBhvr>
                                      <p:to>
                                        <p:strVal val="visible"/>
                                      </p:to>
                                    </p:set>
                                    <p:animEffect transition="in" filter="slide(fromBottom)">
                                      <p:cBhvr>
                                        <p:cTn id="7" dur="500"/>
                                        <p:tgtEl>
                                          <p:spTgt spid="10349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lt">
                                    <p:tmAbs val="100"/>
                                  </p:iterate>
                                  <p:childTnLst>
                                    <p:set>
                                      <p:cBhvr>
                                        <p:cTn id="11" dur="1" fill="hold">
                                          <p:stCondLst>
                                            <p:cond delay="0"/>
                                          </p:stCondLst>
                                        </p:cTn>
                                        <p:tgtEl>
                                          <p:spTgt spid="103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9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9</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6" name="灯片编号占位符 5"/>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36867" name="Rectangle 3"/>
          <p:cNvSpPr>
            <a:spLocks noGrp="1" noChangeArrowheads="1"/>
          </p:cNvSpPr>
          <p:nvPr>
            <p:ph sz="quarter" idx="4294967295"/>
          </p:nvPr>
        </p:nvSpPr>
        <p:spPr>
          <a:xfrm>
            <a:off x="0" y="765175"/>
            <a:ext cx="8891588" cy="5543550"/>
          </a:xfrm>
        </p:spPr>
        <p:txBody>
          <a:bodyPr/>
          <a:lstStyle/>
          <a:p>
            <a:pPr eaLnBrk="1" hangingPunct="1"/>
            <a:r>
              <a:rPr lang="en-US" altLang="zh-CN" dirty="0" smtClean="0">
                <a:ea typeface="宋体" panose="02010600030101010101" pitchFamily="2" charset="-122"/>
              </a:rPr>
              <a:t>PN</a:t>
            </a:r>
            <a:r>
              <a:rPr lang="zh-CN" altLang="en-US" dirty="0" smtClean="0">
                <a:ea typeface="宋体" panose="02010600030101010101" pitchFamily="2" charset="-122"/>
              </a:rPr>
              <a:t>结</a:t>
            </a:r>
            <a:endParaRPr lang="zh-CN" altLang="en-US" dirty="0" smtClean="0">
              <a:ea typeface="宋体" panose="02010600030101010101" pitchFamily="2" charset="-122"/>
            </a:endParaRPr>
          </a:p>
          <a:p>
            <a:pPr marL="914400" lvl="1" indent="-457200" eaLnBrk="1" hangingPunct="1">
              <a:lnSpc>
                <a:spcPct val="150000"/>
              </a:lnSpc>
              <a:buFont typeface="+mj-lt"/>
              <a:buAutoNum type="arabicPeriod"/>
            </a:pPr>
            <a:r>
              <a:rPr kumimoji="1" lang="en-US" altLang="zh-CN" sz="2400" dirty="0" smtClean="0"/>
              <a:t>PN</a:t>
            </a:r>
            <a:r>
              <a:rPr kumimoji="1" lang="zh-CN" altLang="en-US" sz="2400" dirty="0" smtClean="0"/>
              <a:t>结的形成</a:t>
            </a:r>
            <a:br>
              <a:rPr kumimoji="1" lang="zh-CN" altLang="en-US" sz="2400" dirty="0" smtClean="0"/>
            </a:br>
            <a:r>
              <a:rPr kumimoji="1" lang="zh-CN" altLang="en-US" sz="2400" dirty="0" smtClean="0"/>
              <a:t>在同一片半导体基片上，分别制造</a:t>
            </a:r>
            <a:r>
              <a:rPr kumimoji="1" lang="en-US" altLang="zh-CN" sz="2400" dirty="0" smtClean="0"/>
              <a:t>P</a:t>
            </a:r>
            <a:r>
              <a:rPr kumimoji="1" lang="zh-CN" altLang="en-US" sz="2400" dirty="0" smtClean="0"/>
              <a:t>型半导体和</a:t>
            </a:r>
            <a:r>
              <a:rPr kumimoji="1" lang="en-US" altLang="zh-CN" sz="2400" dirty="0" smtClean="0"/>
              <a:t>N</a:t>
            </a:r>
            <a:r>
              <a:rPr kumimoji="1" lang="zh-CN" altLang="en-US" sz="2400" dirty="0" smtClean="0"/>
              <a:t>型半导体。将</a:t>
            </a:r>
            <a:r>
              <a:rPr kumimoji="1" lang="en-US" altLang="zh-CN" sz="2400" dirty="0" smtClean="0"/>
              <a:t>P</a:t>
            </a:r>
            <a:r>
              <a:rPr kumimoji="1" lang="zh-CN" altLang="en-US" sz="2400" dirty="0" smtClean="0"/>
              <a:t>型半导体和</a:t>
            </a:r>
            <a:r>
              <a:rPr kumimoji="1" lang="en-US" altLang="zh-CN" sz="2400" dirty="0" smtClean="0"/>
              <a:t>N</a:t>
            </a:r>
            <a:r>
              <a:rPr kumimoji="1" lang="zh-CN" altLang="en-US" sz="2400" dirty="0" smtClean="0"/>
              <a:t>型半导体结合在一起，</a:t>
            </a:r>
            <a:endParaRPr kumimoji="1" lang="zh-CN" altLang="en-US" dirty="0" smtClean="0"/>
          </a:p>
          <a:p>
            <a:pPr lvl="1" eaLnBrk="1" hangingPunct="1"/>
            <a:endParaRPr kumimoji="1" lang="en-US" altLang="zh-CN" dirty="0" smtClean="0"/>
          </a:p>
        </p:txBody>
      </p:sp>
      <p:grpSp>
        <p:nvGrpSpPr>
          <p:cNvPr id="2" name="Group 4"/>
          <p:cNvGrpSpPr/>
          <p:nvPr/>
        </p:nvGrpSpPr>
        <p:grpSpPr bwMode="auto">
          <a:xfrm>
            <a:off x="6356350" y="3336925"/>
            <a:ext cx="1143000" cy="1193800"/>
            <a:chOff x="4198" y="1200"/>
            <a:chExt cx="720" cy="752"/>
          </a:xfrm>
        </p:grpSpPr>
        <p:sp>
          <p:nvSpPr>
            <p:cNvPr id="36884" name="Rectangle 5" descr="实心菱形"/>
            <p:cNvSpPr>
              <a:spLocks noChangeArrowheads="1"/>
            </p:cNvSpPr>
            <p:nvPr/>
          </p:nvSpPr>
          <p:spPr bwMode="auto">
            <a:xfrm>
              <a:off x="4198" y="1472"/>
              <a:ext cx="720" cy="480"/>
            </a:xfrm>
            <a:prstGeom prst="rect">
              <a:avLst/>
            </a:prstGeom>
            <a:pattFill prst="solidDmnd">
              <a:fgClr>
                <a:srgbClr val="000000"/>
              </a:fgClr>
              <a:bgClr>
                <a:srgbClr val="FFFFFF"/>
              </a:bgClr>
            </a:pattFill>
            <a:ln w="12700" cap="sq">
              <a:solidFill>
                <a:schemeClr val="tx1"/>
              </a:solidFill>
              <a:miter lim="800000"/>
              <a:headEnd type="none" w="sm" len="sm"/>
              <a:tailEnd type="none" w="sm" len="sm"/>
            </a:ln>
          </p:spPr>
          <p:txBody>
            <a:bodyPr wrap="none" anchor="ctr"/>
            <a:lstStyle/>
            <a:p>
              <a:endParaRPr kumimoji="1" lang="zh-CN" altLang="zh-CN">
                <a:solidFill>
                  <a:schemeClr val="tx2"/>
                </a:solidFill>
                <a:latin typeface="Times New Roman" panose="02020603050405020304" pitchFamily="18" charset="0"/>
                <a:cs typeface="Times New Roman" panose="02020603050405020304" pitchFamily="18" charset="0"/>
              </a:endParaRPr>
            </a:p>
          </p:txBody>
        </p:sp>
        <p:sp>
          <p:nvSpPr>
            <p:cNvPr id="36885" name="Text Box 6"/>
            <p:cNvSpPr txBox="1">
              <a:spLocks noChangeArrowheads="1"/>
            </p:cNvSpPr>
            <p:nvPr/>
          </p:nvSpPr>
          <p:spPr bwMode="auto">
            <a:xfrm>
              <a:off x="4380" y="1200"/>
              <a:ext cx="3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P</a:t>
              </a:r>
              <a:r>
                <a:rPr kumimoji="1" lang="zh-CN" altLang="en-US">
                  <a:solidFill>
                    <a:schemeClr val="tx2"/>
                  </a:solidFill>
                  <a:latin typeface="Times New Roman" panose="02020603050405020304" pitchFamily="18" charset="0"/>
                  <a:cs typeface="Times New Roman" panose="02020603050405020304" pitchFamily="18" charset="0"/>
                </a:rPr>
                <a:t>型</a:t>
              </a:r>
              <a:endParaRPr kumimoji="1" lang="zh-CN" altLang="en-US">
                <a:solidFill>
                  <a:schemeClr val="tx2"/>
                </a:solidFill>
                <a:latin typeface="Times New Roman" panose="02020603050405020304" pitchFamily="18" charset="0"/>
                <a:cs typeface="Times New Roman" panose="02020603050405020304" pitchFamily="18" charset="0"/>
              </a:endParaRPr>
            </a:p>
          </p:txBody>
        </p:sp>
      </p:grpSp>
      <p:grpSp>
        <p:nvGrpSpPr>
          <p:cNvPr id="3" name="Group 7"/>
          <p:cNvGrpSpPr/>
          <p:nvPr/>
        </p:nvGrpSpPr>
        <p:grpSpPr bwMode="auto">
          <a:xfrm>
            <a:off x="7508875" y="3335338"/>
            <a:ext cx="1143000" cy="1196975"/>
            <a:chOff x="4924" y="1190"/>
            <a:chExt cx="720" cy="754"/>
          </a:xfrm>
        </p:grpSpPr>
        <p:sp>
          <p:nvSpPr>
            <p:cNvPr id="36882" name="Rectangle 8" descr="实心菱形"/>
            <p:cNvSpPr>
              <a:spLocks noChangeArrowheads="1"/>
            </p:cNvSpPr>
            <p:nvPr/>
          </p:nvSpPr>
          <p:spPr bwMode="auto">
            <a:xfrm>
              <a:off x="4924" y="1464"/>
              <a:ext cx="720" cy="480"/>
            </a:xfrm>
            <a:prstGeom prst="rect">
              <a:avLst/>
            </a:prstGeom>
            <a:pattFill prst="solidDmnd">
              <a:fgClr>
                <a:srgbClr val="FF0000"/>
              </a:fgClr>
              <a:bgClr>
                <a:srgbClr val="DDDDDD"/>
              </a:bgClr>
            </a:pattFill>
            <a:ln w="12700" cap="sq">
              <a:solidFill>
                <a:schemeClr val="tx1"/>
              </a:solidFill>
              <a:miter lim="800000"/>
              <a:headEnd type="none" w="sm" len="sm"/>
              <a:tailEnd type="none" w="sm" len="sm"/>
            </a:ln>
          </p:spPr>
          <p:txBody>
            <a:bodyPr wrap="none" anchor="ctr"/>
            <a:lstStyle/>
            <a:p>
              <a:endParaRPr kumimoji="1" lang="zh-CN" altLang="zh-CN">
                <a:solidFill>
                  <a:schemeClr val="tx2"/>
                </a:solidFill>
                <a:latin typeface="Times New Roman" panose="02020603050405020304" pitchFamily="18" charset="0"/>
                <a:cs typeface="Times New Roman" panose="02020603050405020304" pitchFamily="18" charset="0"/>
              </a:endParaRPr>
            </a:p>
          </p:txBody>
        </p:sp>
        <p:sp>
          <p:nvSpPr>
            <p:cNvPr id="36883" name="Text Box 9"/>
            <p:cNvSpPr txBox="1">
              <a:spLocks noChangeArrowheads="1"/>
            </p:cNvSpPr>
            <p:nvPr/>
          </p:nvSpPr>
          <p:spPr bwMode="auto">
            <a:xfrm>
              <a:off x="5052" y="1190"/>
              <a:ext cx="3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N</a:t>
              </a:r>
              <a:r>
                <a:rPr kumimoji="1" lang="zh-CN" altLang="en-US">
                  <a:solidFill>
                    <a:schemeClr val="tx2"/>
                  </a:solidFill>
                  <a:latin typeface="Times New Roman" panose="02020603050405020304" pitchFamily="18" charset="0"/>
                  <a:cs typeface="Times New Roman" panose="02020603050405020304" pitchFamily="18" charset="0"/>
                </a:rPr>
                <a:t>型</a:t>
              </a:r>
              <a:endParaRPr kumimoji="1" lang="zh-CN" altLang="en-US">
                <a:solidFill>
                  <a:schemeClr val="tx2"/>
                </a:solidFill>
                <a:latin typeface="Times New Roman" panose="02020603050405020304" pitchFamily="18" charset="0"/>
                <a:cs typeface="Times New Roman" panose="02020603050405020304" pitchFamily="18" charset="0"/>
              </a:endParaRPr>
            </a:p>
          </p:txBody>
        </p:sp>
      </p:grpSp>
      <p:grpSp>
        <p:nvGrpSpPr>
          <p:cNvPr id="4" name="Group 10"/>
          <p:cNvGrpSpPr/>
          <p:nvPr/>
        </p:nvGrpSpPr>
        <p:grpSpPr bwMode="auto">
          <a:xfrm>
            <a:off x="7242175" y="4629150"/>
            <a:ext cx="609600" cy="95250"/>
            <a:chOff x="4656" y="1776"/>
            <a:chExt cx="288" cy="96"/>
          </a:xfrm>
        </p:grpSpPr>
        <p:sp>
          <p:nvSpPr>
            <p:cNvPr id="36880" name="Oval 11"/>
            <p:cNvSpPr>
              <a:spLocks noChangeArrowheads="1"/>
            </p:cNvSpPr>
            <p:nvPr/>
          </p:nvSpPr>
          <p:spPr bwMode="auto">
            <a:xfrm>
              <a:off x="4656" y="1776"/>
              <a:ext cx="48" cy="96"/>
            </a:xfrm>
            <a:prstGeom prst="ellipse">
              <a:avLst/>
            </a:prstGeom>
            <a:solidFill>
              <a:schemeClr val="tx1"/>
            </a:solidFill>
            <a:ln w="12700" cap="sq">
              <a:solidFill>
                <a:schemeClr val="tx1"/>
              </a:solidFill>
              <a:round/>
              <a:headEnd type="none" w="sm" len="sm"/>
              <a:tailEnd type="none" w="sm" len="sm"/>
            </a:ln>
          </p:spPr>
          <p:txBody>
            <a:bodyPr wrap="none" anchor="ctr"/>
            <a:lstStyle/>
            <a:p>
              <a:endParaRPr lang="zh-CN" altLang="en-US"/>
            </a:p>
          </p:txBody>
        </p:sp>
        <p:sp>
          <p:nvSpPr>
            <p:cNvPr id="36881" name="Line 12"/>
            <p:cNvSpPr>
              <a:spLocks noChangeShapeType="1"/>
            </p:cNvSpPr>
            <p:nvPr/>
          </p:nvSpPr>
          <p:spPr bwMode="auto">
            <a:xfrm>
              <a:off x="4704" y="1824"/>
              <a:ext cx="240"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13"/>
          <p:cNvGrpSpPr/>
          <p:nvPr/>
        </p:nvGrpSpPr>
        <p:grpSpPr bwMode="auto">
          <a:xfrm>
            <a:off x="7239000" y="4819650"/>
            <a:ext cx="574675" cy="114300"/>
            <a:chOff x="4810" y="1920"/>
            <a:chExt cx="278" cy="48"/>
          </a:xfrm>
        </p:grpSpPr>
        <p:sp>
          <p:nvSpPr>
            <p:cNvPr id="36878" name="Oval 14"/>
            <p:cNvSpPr>
              <a:spLocks noChangeArrowheads="1"/>
            </p:cNvSpPr>
            <p:nvPr/>
          </p:nvSpPr>
          <p:spPr bwMode="auto">
            <a:xfrm>
              <a:off x="5040" y="1920"/>
              <a:ext cx="48" cy="48"/>
            </a:xfrm>
            <a:prstGeom prst="ellipse">
              <a:avLst/>
            </a:prstGeom>
            <a:solidFill>
              <a:srgbClr val="FF0000"/>
            </a:solidFill>
            <a:ln w="12700" cap="sq">
              <a:solidFill>
                <a:srgbClr val="FF0000"/>
              </a:solidFill>
              <a:round/>
              <a:headEnd type="none" w="sm" len="sm"/>
              <a:tailEnd type="none" w="sm" len="sm"/>
            </a:ln>
          </p:spPr>
          <p:txBody>
            <a:bodyPr wrap="none" anchor="ctr"/>
            <a:lstStyle/>
            <a:p>
              <a:endParaRPr lang="zh-CN" altLang="en-US"/>
            </a:p>
          </p:txBody>
        </p:sp>
        <p:sp>
          <p:nvSpPr>
            <p:cNvPr id="36879" name="Line 15"/>
            <p:cNvSpPr>
              <a:spLocks noChangeShapeType="1"/>
            </p:cNvSpPr>
            <p:nvPr/>
          </p:nvSpPr>
          <p:spPr bwMode="auto">
            <a:xfrm flipH="1">
              <a:off x="4810" y="1938"/>
              <a:ext cx="240" cy="0"/>
            </a:xfrm>
            <a:prstGeom prst="line">
              <a:avLst/>
            </a:prstGeom>
            <a:noFill/>
            <a:ln w="28575" cap="sq">
              <a:solidFill>
                <a:srgbClr val="FF0000"/>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4464" name="Rectangle 16"/>
          <p:cNvSpPr>
            <a:spLocks noChangeArrowheads="1"/>
          </p:cNvSpPr>
          <p:nvPr/>
        </p:nvSpPr>
        <p:spPr bwMode="auto">
          <a:xfrm>
            <a:off x="7486650" y="3768725"/>
            <a:ext cx="228600" cy="762000"/>
          </a:xfrm>
          <a:prstGeom prst="rect">
            <a:avLst/>
          </a:prstGeom>
          <a:solidFill>
            <a:srgbClr val="FDFDFD"/>
          </a:solidFill>
          <a:ln w="12700" cap="sq">
            <a:solidFill>
              <a:schemeClr val="tx1"/>
            </a:solidFill>
            <a:miter lim="800000"/>
            <a:headEnd type="none" w="sm" len="sm"/>
            <a:tailEnd type="none" w="sm" len="sm"/>
          </a:ln>
        </p:spPr>
        <p:txBody>
          <a:bodyPr wrap="none" anchor="ctr"/>
          <a:lstStyle/>
          <a:p>
            <a:r>
              <a:rPr kumimoji="1" lang="en-US" altLang="zh-CN"/>
              <a:t>+</a:t>
            </a:r>
            <a:endParaRPr kumimoji="1" lang="en-US" altLang="zh-CN"/>
          </a:p>
          <a:p>
            <a:r>
              <a:rPr kumimoji="1" lang="en-US" altLang="zh-CN"/>
              <a:t>+</a:t>
            </a:r>
            <a:endParaRPr kumimoji="1" lang="en-US" altLang="zh-CN"/>
          </a:p>
        </p:txBody>
      </p:sp>
      <p:sp>
        <p:nvSpPr>
          <p:cNvPr id="104465" name="Rectangle 17"/>
          <p:cNvSpPr>
            <a:spLocks noChangeArrowheads="1"/>
          </p:cNvSpPr>
          <p:nvPr/>
        </p:nvSpPr>
        <p:spPr bwMode="auto">
          <a:xfrm>
            <a:off x="7283450" y="3768725"/>
            <a:ext cx="228600" cy="762000"/>
          </a:xfrm>
          <a:prstGeom prst="rect">
            <a:avLst/>
          </a:prstGeom>
          <a:solidFill>
            <a:srgbClr val="FDFDFD"/>
          </a:solidFill>
          <a:ln w="12700" cap="sq">
            <a:solidFill>
              <a:schemeClr val="tx1"/>
            </a:solidFill>
            <a:miter lim="800000"/>
            <a:headEnd type="none" w="sm" len="sm"/>
            <a:tailEnd type="none" w="sm" len="sm"/>
          </a:ln>
        </p:spPr>
        <p:txBody>
          <a:bodyPr wrap="none" anchor="ctr"/>
          <a:lstStyle/>
          <a:p>
            <a:r>
              <a:rPr kumimoji="1" lang="en-US" altLang="zh-CN">
                <a:latin typeface="宋体" panose="02010600030101010101" pitchFamily="2" charset="-122"/>
              </a:rPr>
              <a:t>-</a:t>
            </a:r>
            <a:endParaRPr kumimoji="1" lang="en-US" altLang="zh-CN">
              <a:latin typeface="宋体" panose="02010600030101010101" pitchFamily="2" charset="-122"/>
            </a:endParaRPr>
          </a:p>
          <a:p>
            <a:r>
              <a:rPr kumimoji="1" lang="en-US" altLang="zh-CN">
                <a:latin typeface="宋体" panose="02010600030101010101" pitchFamily="2" charset="-122"/>
              </a:rPr>
              <a:t>-</a:t>
            </a:r>
            <a:endParaRPr kumimoji="1" lang="en-US" altLang="zh-CN"/>
          </a:p>
        </p:txBody>
      </p:sp>
      <p:sp>
        <p:nvSpPr>
          <p:cNvPr id="104466" name="Line 18"/>
          <p:cNvSpPr>
            <a:spLocks noChangeShapeType="1"/>
          </p:cNvSpPr>
          <p:nvPr/>
        </p:nvSpPr>
        <p:spPr bwMode="auto">
          <a:xfrm flipH="1">
            <a:off x="7264400" y="3635375"/>
            <a:ext cx="457200" cy="0"/>
          </a:xfrm>
          <a:prstGeom prst="line">
            <a:avLst/>
          </a:prstGeom>
          <a:noFill/>
          <a:ln w="38100" cap="sq">
            <a:solidFill>
              <a:schemeClr val="hlink"/>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467" name="Text Box 19"/>
          <p:cNvSpPr txBox="1">
            <a:spLocks noChangeArrowheads="1"/>
          </p:cNvSpPr>
          <p:nvPr/>
        </p:nvSpPr>
        <p:spPr bwMode="auto">
          <a:xfrm>
            <a:off x="7340600" y="3184525"/>
            <a:ext cx="338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E</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104471" name="Rectangle 23"/>
          <p:cNvSpPr>
            <a:spLocks noChangeArrowheads="1"/>
          </p:cNvSpPr>
          <p:nvPr/>
        </p:nvSpPr>
        <p:spPr bwMode="auto">
          <a:xfrm>
            <a:off x="234801" y="2852936"/>
            <a:ext cx="592137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p>
            <a:pPr algn="just">
              <a:lnSpc>
                <a:spcPct val="15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在</a:t>
            </a:r>
            <a:r>
              <a:rPr kumimoji="1" lang="en-US" altLang="zh-CN" sz="2400" b="1" dirty="0">
                <a:solidFill>
                  <a:schemeClr val="tx2"/>
                </a:solidFill>
                <a:latin typeface="Times New Roman" panose="02020603050405020304" pitchFamily="18" charset="0"/>
                <a:cs typeface="Times New Roman" panose="02020603050405020304" pitchFamily="18" charset="0"/>
              </a:rPr>
              <a:t>P</a:t>
            </a:r>
            <a:r>
              <a:rPr kumimoji="1" lang="zh-CN" altLang="en-US" sz="2400" b="1" dirty="0">
                <a:solidFill>
                  <a:schemeClr val="tx2"/>
                </a:solidFill>
                <a:latin typeface="Times New Roman" panose="02020603050405020304" pitchFamily="18" charset="0"/>
                <a:cs typeface="Times New Roman" panose="02020603050405020304" pitchFamily="18" charset="0"/>
              </a:rPr>
              <a:t>型半导体一侧，空穴浓度较高，而在</a:t>
            </a:r>
            <a:r>
              <a:rPr kumimoji="1" lang="en-US" altLang="zh-CN" sz="2400" b="1" dirty="0">
                <a:solidFill>
                  <a:schemeClr val="tx2"/>
                </a:solidFill>
                <a:latin typeface="Times New Roman" panose="02020603050405020304" pitchFamily="18" charset="0"/>
                <a:cs typeface="Times New Roman" panose="02020603050405020304" pitchFamily="18" charset="0"/>
              </a:rPr>
              <a:t>N</a:t>
            </a:r>
            <a:r>
              <a:rPr kumimoji="1" lang="zh-CN" altLang="en-US" sz="2400" b="1" dirty="0">
                <a:solidFill>
                  <a:schemeClr val="tx2"/>
                </a:solidFill>
                <a:latin typeface="Times New Roman" panose="02020603050405020304" pitchFamily="18" charset="0"/>
                <a:cs typeface="Times New Roman" panose="02020603050405020304" pitchFamily="18" charset="0"/>
              </a:rPr>
              <a:t>型半导体一侧，自由电子浓度较高，因此，界面处存在载流子浓度梯度，产生多数载流子向对面的扩散运动。</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04472" name="Rectangle 24"/>
          <p:cNvSpPr>
            <a:spLocks noChangeArrowheads="1"/>
          </p:cNvSpPr>
          <p:nvPr/>
        </p:nvSpPr>
        <p:spPr bwMode="auto">
          <a:xfrm>
            <a:off x="36512" y="5036983"/>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p>
            <a:pPr algn="just">
              <a:lnSpc>
                <a:spcPct val="150000"/>
              </a:lnSpc>
            </a:pPr>
            <a:r>
              <a:rPr kumimoji="1" lang="zh-CN" altLang="en-US" sz="2400" b="1" dirty="0">
                <a:solidFill>
                  <a:schemeClr val="tx2"/>
                </a:solidFill>
                <a:latin typeface="Times New Roman" panose="02020603050405020304" pitchFamily="18" charset="0"/>
                <a:cs typeface="Times New Roman" panose="02020603050405020304" pitchFamily="18" charset="0"/>
              </a:rPr>
              <a:t>随着扩散的进行界面附近载流子不断复合，留下带电离子形成空间电荷区（耗尽区），建立起内建电场</a:t>
            </a:r>
            <a:r>
              <a:rPr kumimoji="1" lang="en-US" altLang="zh-CN" sz="2400" b="1" i="1" dirty="0">
                <a:solidFill>
                  <a:schemeClr val="tx2"/>
                </a:solidFill>
                <a:latin typeface="Times New Roman" panose="02020603050405020304" pitchFamily="18" charset="0"/>
                <a:cs typeface="Times New Roman" panose="02020603050405020304" pitchFamily="18" charset="0"/>
              </a:rPr>
              <a:t>E</a:t>
            </a:r>
            <a:r>
              <a:rPr kumimoji="1" lang="zh-CN" altLang="en-US" sz="2400" b="1" dirty="0">
                <a:solidFill>
                  <a:schemeClr val="tx2"/>
                </a:solidFill>
                <a:latin typeface="Times New Roman" panose="02020603050405020304" pitchFamily="18" charset="0"/>
                <a:cs typeface="Times New Roman" panose="02020603050405020304" pitchFamily="18" charset="0"/>
              </a:rPr>
              <a:t>阻止多子扩散进一步进行。</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i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100"/>
                                  </p:iterate>
                                  <p:childTnLst>
                                    <p:set>
                                      <p:cBhvr>
                                        <p:cTn id="15" dur="1" fill="hold">
                                          <p:stCondLst>
                                            <p:cond delay="0"/>
                                          </p:stCondLst>
                                        </p:cTn>
                                        <p:tgtEl>
                                          <p:spTgt spid="104471"/>
                                        </p:tgtEl>
                                        <p:attrNameLst>
                                          <p:attrName>style.visibility</p:attrName>
                                        </p:attrNameLst>
                                      </p:cBhvr>
                                      <p:to>
                                        <p:strVal val="visible"/>
                                      </p:to>
                                    </p:set>
                                  </p:childTnLst>
                                </p:cTn>
                              </p:par>
                            </p:childTnLst>
                          </p:cTn>
                        </p:par>
                        <p:par>
                          <p:cTn id="16" fill="hold">
                            <p:stCondLst>
                              <p:cond delay="6700"/>
                            </p:stCondLst>
                            <p:childTnLst>
                              <p:par>
                                <p:cTn id="17" presetID="22" presetClass="entr" presetSubtype="8"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par>
                          <p:cTn id="20" fill="hold">
                            <p:stCondLst>
                              <p:cond delay="7200"/>
                            </p:stCondLst>
                            <p:childTnLst>
                              <p:par>
                                <p:cTn id="21" presetID="22" presetClass="entr" presetSubtype="8"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100"/>
                                  </p:iterate>
                                  <p:childTnLst>
                                    <p:set>
                                      <p:cBhvr>
                                        <p:cTn id="27" dur="1" fill="hold">
                                          <p:stCondLst>
                                            <p:cond delay="0"/>
                                          </p:stCondLst>
                                        </p:cTn>
                                        <p:tgtEl>
                                          <p:spTgt spid="104472"/>
                                        </p:tgtEl>
                                        <p:attrNameLst>
                                          <p:attrName>style.visibility</p:attrName>
                                        </p:attrNameLst>
                                      </p:cBhvr>
                                      <p:to>
                                        <p:strVal val="visible"/>
                                      </p:to>
                                    </p:set>
                                  </p:childTnLst>
                                </p:cTn>
                              </p:par>
                            </p:childTnLst>
                          </p:cTn>
                        </p:par>
                        <p:par>
                          <p:cTn id="28" fill="hold">
                            <p:stCondLst>
                              <p:cond delay="5800"/>
                            </p:stCondLst>
                            <p:childTnLst>
                              <p:par>
                                <p:cTn id="29" presetID="22" presetClass="entr" presetSubtype="8" fill="hold" grpId="0" nodeType="afterEffect">
                                  <p:stCondLst>
                                    <p:cond delay="0"/>
                                  </p:stCondLst>
                                  <p:iterate type="lt">
                                    <p:tmPct val="100000"/>
                                  </p:iterate>
                                  <p:childTnLst>
                                    <p:set>
                                      <p:cBhvr>
                                        <p:cTn id="30" dur="1" fill="hold">
                                          <p:stCondLst>
                                            <p:cond delay="0"/>
                                          </p:stCondLst>
                                        </p:cTn>
                                        <p:tgtEl>
                                          <p:spTgt spid="104464"/>
                                        </p:tgtEl>
                                        <p:attrNameLst>
                                          <p:attrName>style.visibility</p:attrName>
                                        </p:attrNameLst>
                                      </p:cBhvr>
                                      <p:to>
                                        <p:strVal val="visible"/>
                                      </p:to>
                                    </p:set>
                                    <p:animEffect transition="in" filter="wipe(left)">
                                      <p:cBhvr>
                                        <p:cTn id="31" dur="75"/>
                                        <p:tgtEl>
                                          <p:spTgt spid="104464"/>
                                        </p:tgtEl>
                                      </p:cBhvr>
                                    </p:animEffect>
                                  </p:childTnLst>
                                </p:cTn>
                              </p:par>
                            </p:childTnLst>
                          </p:cTn>
                        </p:par>
                        <p:par>
                          <p:cTn id="32" fill="hold">
                            <p:stCondLst>
                              <p:cond delay="5950"/>
                            </p:stCondLst>
                            <p:childTnLst>
                              <p:par>
                                <p:cTn id="33" presetID="22" presetClass="entr" presetSubtype="8" fill="hold" grpId="0" nodeType="afterEffect">
                                  <p:stCondLst>
                                    <p:cond delay="0"/>
                                  </p:stCondLst>
                                  <p:iterate type="lt">
                                    <p:tmPct val="100000"/>
                                  </p:iterate>
                                  <p:childTnLst>
                                    <p:set>
                                      <p:cBhvr>
                                        <p:cTn id="34" dur="1" fill="hold">
                                          <p:stCondLst>
                                            <p:cond delay="0"/>
                                          </p:stCondLst>
                                        </p:cTn>
                                        <p:tgtEl>
                                          <p:spTgt spid="104465"/>
                                        </p:tgtEl>
                                        <p:attrNameLst>
                                          <p:attrName>style.visibility</p:attrName>
                                        </p:attrNameLst>
                                      </p:cBhvr>
                                      <p:to>
                                        <p:strVal val="visible"/>
                                      </p:to>
                                    </p:set>
                                    <p:animEffect transition="in" filter="wipe(left)">
                                      <p:cBhvr>
                                        <p:cTn id="35" dur="75"/>
                                        <p:tgtEl>
                                          <p:spTgt spid="104465"/>
                                        </p:tgtEl>
                                      </p:cBhvr>
                                    </p:animEffect>
                                  </p:childTnLst>
                                </p:cTn>
                              </p:par>
                            </p:childTnLst>
                          </p:cTn>
                        </p:par>
                        <p:par>
                          <p:cTn id="36" fill="hold">
                            <p:stCondLst>
                              <p:cond delay="6100"/>
                            </p:stCondLst>
                            <p:childTnLst>
                              <p:par>
                                <p:cTn id="37" presetID="22" presetClass="entr" presetSubtype="8" fill="hold" grpId="0" nodeType="afterEffect">
                                  <p:stCondLst>
                                    <p:cond delay="0"/>
                                  </p:stCondLst>
                                  <p:childTnLst>
                                    <p:set>
                                      <p:cBhvr>
                                        <p:cTn id="38" dur="1" fill="hold">
                                          <p:stCondLst>
                                            <p:cond delay="0"/>
                                          </p:stCondLst>
                                        </p:cTn>
                                        <p:tgtEl>
                                          <p:spTgt spid="104466"/>
                                        </p:tgtEl>
                                        <p:attrNameLst>
                                          <p:attrName>style.visibility</p:attrName>
                                        </p:attrNameLst>
                                      </p:cBhvr>
                                      <p:to>
                                        <p:strVal val="visible"/>
                                      </p:to>
                                    </p:set>
                                    <p:animEffect transition="in" filter="wipe(left)">
                                      <p:cBhvr>
                                        <p:cTn id="39" dur="500"/>
                                        <p:tgtEl>
                                          <p:spTgt spid="104466"/>
                                        </p:tgtEl>
                                      </p:cBhvr>
                                    </p:animEffect>
                                  </p:childTnLst>
                                </p:cTn>
                              </p:par>
                            </p:childTnLst>
                          </p:cTn>
                        </p:par>
                        <p:par>
                          <p:cTn id="40" fill="hold">
                            <p:stCondLst>
                              <p:cond delay="6600"/>
                            </p:stCondLst>
                            <p:childTnLst>
                              <p:par>
                                <p:cTn id="41" presetID="22" presetClass="entr" presetSubtype="8" fill="hold" grpId="0" nodeType="afterEffect">
                                  <p:stCondLst>
                                    <p:cond delay="0"/>
                                  </p:stCondLst>
                                  <p:iterate type="lt">
                                    <p:tmPct val="100000"/>
                                  </p:iterate>
                                  <p:childTnLst>
                                    <p:set>
                                      <p:cBhvr>
                                        <p:cTn id="42" dur="1" fill="hold">
                                          <p:stCondLst>
                                            <p:cond delay="0"/>
                                          </p:stCondLst>
                                        </p:cTn>
                                        <p:tgtEl>
                                          <p:spTgt spid="104467"/>
                                        </p:tgtEl>
                                        <p:attrNameLst>
                                          <p:attrName>style.visibility</p:attrName>
                                        </p:attrNameLst>
                                      </p:cBhvr>
                                      <p:to>
                                        <p:strVal val="visible"/>
                                      </p:to>
                                    </p:set>
                                    <p:animEffect transition="in" filter="wipe(left)">
                                      <p:cBhvr>
                                        <p:cTn id="43" dur="75"/>
                                        <p:tgtEl>
                                          <p:spTgt spid="104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4" grpId="0" animBg="1" autoUpdateAnimBg="0"/>
      <p:bldP spid="104465" grpId="0" animBg="1" autoUpdateAnimBg="0"/>
      <p:bldP spid="104466" grpId="0" animBg="1"/>
      <p:bldP spid="104467" grpId="0" autoUpdateAnimBg="0"/>
      <p:bldP spid="104471" grpId="0"/>
      <p:bldP spid="10447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10</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105476" name="Rectangle 4"/>
          <p:cNvSpPr>
            <a:spLocks noChangeArrowheads="1"/>
          </p:cNvSpPr>
          <p:nvPr/>
        </p:nvSpPr>
        <p:spPr bwMode="auto">
          <a:xfrm>
            <a:off x="701675" y="2741141"/>
            <a:ext cx="813911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50000"/>
              </a:lnSpc>
            </a:pP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另一方面，对进入空间电荷区的少子，内建电场又将其驱动到对面（漂移运动），在一定温度下，如果无外界电场的作用，达到动态平衡，形成所谓</a:t>
            </a:r>
            <a:r>
              <a:rPr kumimoji="1" lang="en-US" altLang="zh-CN" sz="2400" b="1" dirty="0">
                <a:solidFill>
                  <a:schemeClr val="tx2"/>
                </a:solidFill>
                <a:latin typeface="Times New Roman" panose="02020603050405020304" pitchFamily="18" charset="0"/>
                <a:cs typeface="Times New Roman" panose="02020603050405020304" pitchFamily="18" charset="0"/>
              </a:rPr>
              <a:t>PN</a:t>
            </a:r>
            <a:r>
              <a:rPr kumimoji="1" lang="zh-CN" altLang="en-US" sz="2400" b="1" dirty="0">
                <a:solidFill>
                  <a:schemeClr val="tx2"/>
                </a:solidFill>
                <a:latin typeface="Times New Roman" panose="02020603050405020304" pitchFamily="18" charset="0"/>
                <a:cs typeface="Times New Roman" panose="02020603050405020304" pitchFamily="18" charset="0"/>
              </a:rPr>
              <a:t>结。这时的扩散电流等于漂移电流。</a:t>
            </a:r>
            <a:r>
              <a:rPr kumimoji="1" lang="en-US" altLang="zh-CN" sz="2400" b="1" dirty="0">
                <a:solidFill>
                  <a:schemeClr val="tx2"/>
                </a:solidFill>
                <a:latin typeface="Times New Roman" panose="02020603050405020304" pitchFamily="18" charset="0"/>
                <a:cs typeface="Times New Roman" panose="02020603050405020304" pitchFamily="18" charset="0"/>
              </a:rPr>
              <a:t>PN</a:t>
            </a:r>
            <a:r>
              <a:rPr kumimoji="1" lang="zh-CN" altLang="en-US" sz="2400" b="1" dirty="0">
                <a:solidFill>
                  <a:schemeClr val="tx2"/>
                </a:solidFill>
                <a:latin typeface="Times New Roman" panose="02020603050405020304" pitchFamily="18" charset="0"/>
                <a:cs typeface="Times New Roman" panose="02020603050405020304" pitchFamily="18" charset="0"/>
              </a:rPr>
              <a:t>结中没有净电流流动。</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37892" name="Group 5"/>
          <p:cNvGrpSpPr/>
          <p:nvPr/>
        </p:nvGrpSpPr>
        <p:grpSpPr bwMode="auto">
          <a:xfrm>
            <a:off x="3429000" y="917104"/>
            <a:ext cx="1143000" cy="1193800"/>
            <a:chOff x="4198" y="1200"/>
            <a:chExt cx="720" cy="752"/>
          </a:xfrm>
        </p:grpSpPr>
        <p:sp>
          <p:nvSpPr>
            <p:cNvPr id="37910" name="Rectangle 6" descr="实心菱形"/>
            <p:cNvSpPr>
              <a:spLocks noChangeArrowheads="1"/>
            </p:cNvSpPr>
            <p:nvPr/>
          </p:nvSpPr>
          <p:spPr bwMode="auto">
            <a:xfrm>
              <a:off x="4198" y="1472"/>
              <a:ext cx="720" cy="480"/>
            </a:xfrm>
            <a:prstGeom prst="rect">
              <a:avLst/>
            </a:prstGeom>
            <a:pattFill prst="solidDmnd">
              <a:fgClr>
                <a:srgbClr val="000000"/>
              </a:fgClr>
              <a:bgClr>
                <a:srgbClr val="FFFFFF"/>
              </a:bgClr>
            </a:pattFill>
            <a:ln w="12700" cap="sq">
              <a:solidFill>
                <a:schemeClr val="tx1"/>
              </a:solidFill>
              <a:miter lim="800000"/>
              <a:headEnd type="none" w="sm" len="sm"/>
              <a:tailEnd type="none" w="sm" len="sm"/>
            </a:ln>
          </p:spPr>
          <p:txBody>
            <a:bodyPr wrap="none" anchor="ctr"/>
            <a:lstStyle/>
            <a:p>
              <a:endParaRPr kumimoji="1" lang="zh-CN" altLang="zh-CN" b="1">
                <a:solidFill>
                  <a:schemeClr val="tx2"/>
                </a:solidFill>
                <a:latin typeface="Times New Roman" panose="02020603050405020304" pitchFamily="18" charset="0"/>
                <a:cs typeface="Times New Roman" panose="02020603050405020304" pitchFamily="18" charset="0"/>
              </a:endParaRPr>
            </a:p>
          </p:txBody>
        </p:sp>
        <p:sp>
          <p:nvSpPr>
            <p:cNvPr id="37911" name="Text Box 7"/>
            <p:cNvSpPr txBox="1">
              <a:spLocks noChangeArrowheads="1"/>
            </p:cNvSpPr>
            <p:nvPr/>
          </p:nvSpPr>
          <p:spPr bwMode="auto">
            <a:xfrm>
              <a:off x="4380" y="1200"/>
              <a:ext cx="3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P</a:t>
              </a:r>
              <a:r>
                <a:rPr kumimoji="1" lang="zh-CN" altLang="en-US" b="1">
                  <a:solidFill>
                    <a:schemeClr val="tx2"/>
                  </a:solidFill>
                  <a:latin typeface="Times New Roman" panose="02020603050405020304" pitchFamily="18" charset="0"/>
                  <a:cs typeface="Times New Roman" panose="02020603050405020304" pitchFamily="18" charset="0"/>
                </a:rPr>
                <a:t>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grpSp>
      <p:grpSp>
        <p:nvGrpSpPr>
          <p:cNvPr id="37893" name="Group 8"/>
          <p:cNvGrpSpPr/>
          <p:nvPr/>
        </p:nvGrpSpPr>
        <p:grpSpPr bwMode="auto">
          <a:xfrm>
            <a:off x="4581525" y="915516"/>
            <a:ext cx="1143000" cy="1196975"/>
            <a:chOff x="4924" y="1190"/>
            <a:chExt cx="720" cy="754"/>
          </a:xfrm>
        </p:grpSpPr>
        <p:sp>
          <p:nvSpPr>
            <p:cNvPr id="37908" name="Rectangle 9" descr="实心菱形"/>
            <p:cNvSpPr>
              <a:spLocks noChangeArrowheads="1"/>
            </p:cNvSpPr>
            <p:nvPr/>
          </p:nvSpPr>
          <p:spPr bwMode="auto">
            <a:xfrm>
              <a:off x="4924" y="1464"/>
              <a:ext cx="720" cy="480"/>
            </a:xfrm>
            <a:prstGeom prst="rect">
              <a:avLst/>
            </a:prstGeom>
            <a:pattFill prst="solidDmnd">
              <a:fgClr>
                <a:srgbClr val="FF0000"/>
              </a:fgClr>
              <a:bgClr>
                <a:srgbClr val="DDDDDD"/>
              </a:bgClr>
            </a:pattFill>
            <a:ln w="12700" cap="sq">
              <a:solidFill>
                <a:schemeClr val="tx1"/>
              </a:solidFill>
              <a:miter lim="800000"/>
              <a:headEnd type="none" w="sm" len="sm"/>
              <a:tailEnd type="none" w="sm" len="sm"/>
            </a:ln>
          </p:spPr>
          <p:txBody>
            <a:bodyPr wrap="none" anchor="ctr"/>
            <a:lstStyle/>
            <a:p>
              <a:endParaRPr kumimoji="1" lang="zh-CN" altLang="zh-CN" b="1">
                <a:solidFill>
                  <a:schemeClr val="tx2"/>
                </a:solidFill>
                <a:latin typeface="Times New Roman" panose="02020603050405020304" pitchFamily="18" charset="0"/>
                <a:cs typeface="Times New Roman" panose="02020603050405020304" pitchFamily="18" charset="0"/>
              </a:endParaRPr>
            </a:p>
          </p:txBody>
        </p:sp>
        <p:sp>
          <p:nvSpPr>
            <p:cNvPr id="37909" name="Text Box 10"/>
            <p:cNvSpPr txBox="1">
              <a:spLocks noChangeArrowheads="1"/>
            </p:cNvSpPr>
            <p:nvPr/>
          </p:nvSpPr>
          <p:spPr bwMode="auto">
            <a:xfrm>
              <a:off x="5052" y="1190"/>
              <a:ext cx="3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N</a:t>
              </a:r>
              <a:r>
                <a:rPr kumimoji="1" lang="zh-CN" altLang="en-US" b="1">
                  <a:solidFill>
                    <a:schemeClr val="tx2"/>
                  </a:solidFill>
                  <a:latin typeface="Times New Roman" panose="02020603050405020304" pitchFamily="18" charset="0"/>
                  <a:cs typeface="Times New Roman" panose="02020603050405020304" pitchFamily="18" charset="0"/>
                </a:rPr>
                <a:t>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grpSp>
      <p:grpSp>
        <p:nvGrpSpPr>
          <p:cNvPr id="37894" name="Group 11"/>
          <p:cNvGrpSpPr/>
          <p:nvPr/>
        </p:nvGrpSpPr>
        <p:grpSpPr bwMode="auto">
          <a:xfrm>
            <a:off x="4362450" y="2209329"/>
            <a:ext cx="609600" cy="95250"/>
            <a:chOff x="4656" y="1776"/>
            <a:chExt cx="288" cy="96"/>
          </a:xfrm>
        </p:grpSpPr>
        <p:sp>
          <p:nvSpPr>
            <p:cNvPr id="37906" name="Oval 12"/>
            <p:cNvSpPr>
              <a:spLocks noChangeArrowheads="1"/>
            </p:cNvSpPr>
            <p:nvPr/>
          </p:nvSpPr>
          <p:spPr bwMode="auto">
            <a:xfrm>
              <a:off x="4656" y="1776"/>
              <a:ext cx="48" cy="96"/>
            </a:xfrm>
            <a:prstGeom prst="ellipse">
              <a:avLst/>
            </a:prstGeom>
            <a:solidFill>
              <a:schemeClr val="tx1"/>
            </a:solidFill>
            <a:ln w="12700" cap="sq">
              <a:solidFill>
                <a:schemeClr val="tx1"/>
              </a:solidFill>
              <a:round/>
              <a:headEnd type="none" w="sm" len="sm"/>
              <a:tailEnd type="none" w="sm" len="sm"/>
            </a:ln>
          </p:spPr>
          <p:txBody>
            <a:bodyPr wrap="none" anchor="ctr"/>
            <a:lstStyle/>
            <a:p>
              <a:endParaRPr lang="zh-CN" altLang="en-US"/>
            </a:p>
          </p:txBody>
        </p:sp>
        <p:sp>
          <p:nvSpPr>
            <p:cNvPr id="37907" name="Line 13"/>
            <p:cNvSpPr>
              <a:spLocks noChangeShapeType="1"/>
            </p:cNvSpPr>
            <p:nvPr/>
          </p:nvSpPr>
          <p:spPr bwMode="auto">
            <a:xfrm>
              <a:off x="4704" y="1824"/>
              <a:ext cx="240"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7895" name="Group 14"/>
          <p:cNvGrpSpPr/>
          <p:nvPr/>
        </p:nvGrpSpPr>
        <p:grpSpPr bwMode="auto">
          <a:xfrm>
            <a:off x="4359275" y="2399829"/>
            <a:ext cx="574675" cy="114300"/>
            <a:chOff x="4810" y="1920"/>
            <a:chExt cx="278" cy="48"/>
          </a:xfrm>
        </p:grpSpPr>
        <p:sp>
          <p:nvSpPr>
            <p:cNvPr id="37904" name="Oval 15"/>
            <p:cNvSpPr>
              <a:spLocks noChangeArrowheads="1"/>
            </p:cNvSpPr>
            <p:nvPr/>
          </p:nvSpPr>
          <p:spPr bwMode="auto">
            <a:xfrm>
              <a:off x="5040" y="1920"/>
              <a:ext cx="48" cy="48"/>
            </a:xfrm>
            <a:prstGeom prst="ellipse">
              <a:avLst/>
            </a:prstGeom>
            <a:solidFill>
              <a:srgbClr val="FF0000"/>
            </a:solidFill>
            <a:ln w="12700" cap="sq">
              <a:solidFill>
                <a:srgbClr val="FF0000"/>
              </a:solidFill>
              <a:round/>
              <a:headEnd type="none" w="sm" len="sm"/>
              <a:tailEnd type="none" w="sm" len="sm"/>
            </a:ln>
          </p:spPr>
          <p:txBody>
            <a:bodyPr wrap="none" anchor="ctr"/>
            <a:lstStyle/>
            <a:p>
              <a:endParaRPr lang="zh-CN" altLang="en-US"/>
            </a:p>
          </p:txBody>
        </p:sp>
        <p:sp>
          <p:nvSpPr>
            <p:cNvPr id="37905" name="Line 16"/>
            <p:cNvSpPr>
              <a:spLocks noChangeShapeType="1"/>
            </p:cNvSpPr>
            <p:nvPr/>
          </p:nvSpPr>
          <p:spPr bwMode="auto">
            <a:xfrm flipH="1">
              <a:off x="4810" y="1938"/>
              <a:ext cx="240" cy="0"/>
            </a:xfrm>
            <a:prstGeom prst="line">
              <a:avLst/>
            </a:prstGeom>
            <a:noFill/>
            <a:ln w="28575" cap="sq">
              <a:solidFill>
                <a:srgbClr val="FF0000"/>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7896" name="Rectangle 17"/>
          <p:cNvSpPr>
            <a:spLocks noChangeArrowheads="1"/>
          </p:cNvSpPr>
          <p:nvPr/>
        </p:nvSpPr>
        <p:spPr bwMode="auto">
          <a:xfrm>
            <a:off x="4606925" y="1348904"/>
            <a:ext cx="228600" cy="762000"/>
          </a:xfrm>
          <a:prstGeom prst="rect">
            <a:avLst/>
          </a:prstGeom>
          <a:solidFill>
            <a:srgbClr val="FDFDFD"/>
          </a:solidFill>
          <a:ln w="12700" cap="sq">
            <a:solidFill>
              <a:schemeClr val="tx1"/>
            </a:solidFill>
            <a:miter lim="800000"/>
            <a:headEnd type="none" w="sm" len="sm"/>
            <a:tailEnd type="none" w="sm" len="sm"/>
          </a:ln>
        </p:spPr>
        <p:txBody>
          <a:bodyPr wrap="none" anchor="ctr"/>
          <a:lstStyle/>
          <a:p>
            <a:r>
              <a:rPr kumimoji="1" lang="en-US" altLang="zh-CN"/>
              <a:t>+</a:t>
            </a:r>
            <a:endParaRPr kumimoji="1" lang="en-US" altLang="zh-CN"/>
          </a:p>
          <a:p>
            <a:r>
              <a:rPr kumimoji="1" lang="en-US" altLang="zh-CN"/>
              <a:t>+</a:t>
            </a:r>
            <a:endParaRPr kumimoji="1" lang="en-US" altLang="zh-CN"/>
          </a:p>
        </p:txBody>
      </p:sp>
      <p:sp>
        <p:nvSpPr>
          <p:cNvPr id="37897" name="Rectangle 18"/>
          <p:cNvSpPr>
            <a:spLocks noChangeArrowheads="1"/>
          </p:cNvSpPr>
          <p:nvPr/>
        </p:nvSpPr>
        <p:spPr bwMode="auto">
          <a:xfrm>
            <a:off x="4403725" y="1348904"/>
            <a:ext cx="228600" cy="762000"/>
          </a:xfrm>
          <a:prstGeom prst="rect">
            <a:avLst/>
          </a:prstGeom>
          <a:solidFill>
            <a:srgbClr val="FDFDFD"/>
          </a:solidFill>
          <a:ln w="12700" cap="sq">
            <a:solidFill>
              <a:schemeClr val="tx1"/>
            </a:solidFill>
            <a:miter lim="800000"/>
            <a:headEnd type="none" w="sm" len="sm"/>
            <a:tailEnd type="none" w="sm" len="sm"/>
          </a:ln>
        </p:spPr>
        <p:txBody>
          <a:bodyPr wrap="none" anchor="ctr"/>
          <a:lstStyle/>
          <a:p>
            <a:r>
              <a:rPr kumimoji="1" lang="en-US" altLang="zh-CN">
                <a:latin typeface="宋体" panose="02010600030101010101" pitchFamily="2" charset="-122"/>
              </a:rPr>
              <a:t>-</a:t>
            </a:r>
            <a:endParaRPr kumimoji="1" lang="en-US" altLang="zh-CN">
              <a:latin typeface="宋体" panose="02010600030101010101" pitchFamily="2" charset="-122"/>
            </a:endParaRPr>
          </a:p>
          <a:p>
            <a:r>
              <a:rPr kumimoji="1" lang="en-US" altLang="zh-CN">
                <a:latin typeface="宋体" panose="02010600030101010101" pitchFamily="2" charset="-122"/>
              </a:rPr>
              <a:t>-</a:t>
            </a:r>
            <a:endParaRPr kumimoji="1" lang="en-US" altLang="zh-CN"/>
          </a:p>
        </p:txBody>
      </p:sp>
      <p:sp>
        <p:nvSpPr>
          <p:cNvPr id="37898" name="Line 19"/>
          <p:cNvSpPr>
            <a:spLocks noChangeShapeType="1"/>
          </p:cNvSpPr>
          <p:nvPr/>
        </p:nvSpPr>
        <p:spPr bwMode="auto">
          <a:xfrm flipH="1">
            <a:off x="4384675" y="1215554"/>
            <a:ext cx="457200" cy="0"/>
          </a:xfrm>
          <a:prstGeom prst="line">
            <a:avLst/>
          </a:prstGeom>
          <a:noFill/>
          <a:ln w="38100" cap="sq">
            <a:solidFill>
              <a:schemeClr val="hlink"/>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899" name="Text Box 20"/>
          <p:cNvSpPr txBox="1">
            <a:spLocks noChangeArrowheads="1"/>
          </p:cNvSpPr>
          <p:nvPr/>
        </p:nvSpPr>
        <p:spPr bwMode="auto">
          <a:xfrm>
            <a:off x="4413250" y="764704"/>
            <a:ext cx="338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E</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nvGrpSpPr>
          <p:cNvPr id="6" name="Group 21"/>
          <p:cNvGrpSpPr/>
          <p:nvPr/>
        </p:nvGrpSpPr>
        <p:grpSpPr bwMode="auto">
          <a:xfrm>
            <a:off x="4581525" y="1790229"/>
            <a:ext cx="1152525" cy="931862"/>
            <a:chOff x="4944" y="1536"/>
            <a:chExt cx="726" cy="555"/>
          </a:xfrm>
        </p:grpSpPr>
        <p:sp>
          <p:nvSpPr>
            <p:cNvPr id="37902" name="Rectangle 22"/>
            <p:cNvSpPr>
              <a:spLocks noChangeArrowheads="1"/>
            </p:cNvSpPr>
            <p:nvPr/>
          </p:nvSpPr>
          <p:spPr bwMode="auto">
            <a:xfrm>
              <a:off x="5206" y="1871"/>
              <a:ext cx="464"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b="1">
                  <a:solidFill>
                    <a:schemeClr val="tx2"/>
                  </a:solidFill>
                  <a:latin typeface="Times New Roman" panose="02020603050405020304" pitchFamily="18" charset="0"/>
                  <a:cs typeface="Times New Roman" panose="02020603050405020304" pitchFamily="18" charset="0"/>
                </a:rPr>
                <a:t>PN</a:t>
              </a:r>
              <a:r>
                <a:rPr kumimoji="1" lang="zh-CN" altLang="en-US" b="1">
                  <a:solidFill>
                    <a:schemeClr val="tx2"/>
                  </a:solidFill>
                  <a:latin typeface="Times New Roman" panose="02020603050405020304" pitchFamily="18" charset="0"/>
                  <a:cs typeface="Times New Roman" panose="02020603050405020304" pitchFamily="18" charset="0"/>
                </a:rPr>
                <a:t>结</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37903" name="Line 23"/>
            <p:cNvSpPr>
              <a:spLocks noChangeShapeType="1"/>
            </p:cNvSpPr>
            <p:nvPr/>
          </p:nvSpPr>
          <p:spPr bwMode="auto">
            <a:xfrm flipH="1" flipV="1">
              <a:off x="4944" y="1536"/>
              <a:ext cx="336" cy="336"/>
            </a:xfrm>
            <a:prstGeom prst="line">
              <a:avLst/>
            </a:prstGeom>
            <a:noFill/>
            <a:ln w="28575" cap="sq">
              <a:solidFill>
                <a:schemeClr val="tx2"/>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5496" name="Rectangle 24"/>
          <p:cNvSpPr>
            <a:spLocks noChangeArrowheads="1"/>
          </p:cNvSpPr>
          <p:nvPr/>
        </p:nvSpPr>
        <p:spPr bwMode="auto">
          <a:xfrm>
            <a:off x="725488" y="5127277"/>
            <a:ext cx="8186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just"/>
            <a:r>
              <a:rPr kumimoji="1" lang="zh-CN" altLang="en-US" sz="2400" b="1">
                <a:solidFill>
                  <a:schemeClr val="tx2"/>
                </a:solidFill>
                <a:latin typeface="Times New Roman" panose="02020603050405020304" pitchFamily="18" charset="0"/>
                <a:cs typeface="Times New Roman" panose="02020603050405020304" pitchFamily="18" charset="0"/>
              </a:rPr>
              <a:t>空间电荷区的叫法很多，有叫耗尽区的，也有叫阻挡层的。</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105476"/>
                                        </p:tgtEl>
                                        <p:attrNameLst>
                                          <p:attrName>style.visibility</p:attrName>
                                        </p:attrNameLst>
                                      </p:cBhvr>
                                      <p:to>
                                        <p:strVal val="visible"/>
                                      </p:to>
                                    </p:set>
                                  </p:childTnLst>
                                </p:cTn>
                              </p:par>
                            </p:childTnLst>
                          </p:cTn>
                        </p:par>
                        <p:par>
                          <p:cTn id="7" fill="hold">
                            <p:stCondLst>
                              <p:cond delay="10300"/>
                            </p:stCondLst>
                            <p:childTnLst>
                              <p:par>
                                <p:cTn id="8" presetID="22" presetClass="entr" presetSubtype="8"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5496"/>
                                        </p:tgtEl>
                                        <p:attrNameLst>
                                          <p:attrName>style.visibility</p:attrName>
                                        </p:attrNameLst>
                                      </p:cBhvr>
                                      <p:to>
                                        <p:strVal val="visible"/>
                                      </p:to>
                                    </p:set>
                                    <p:animEffect transition="in" filter="wipe(left)">
                                      <p:cBhvr>
                                        <p:cTn id="15" dur="1000"/>
                                        <p:tgtEl>
                                          <p:spTgt spid="105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p:bldP spid="10549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11</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6" name="灯片编号占位符 5"/>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38915" name="Rectangle 3"/>
          <p:cNvSpPr>
            <a:spLocks noGrp="1" noChangeArrowheads="1"/>
          </p:cNvSpPr>
          <p:nvPr>
            <p:ph sz="quarter" idx="4294967295"/>
          </p:nvPr>
        </p:nvSpPr>
        <p:spPr>
          <a:xfrm>
            <a:off x="0" y="765175"/>
            <a:ext cx="8891588" cy="5543550"/>
          </a:xfrm>
        </p:spPr>
        <p:txBody>
          <a:bodyPr/>
          <a:lstStyle/>
          <a:p>
            <a:pPr marL="971550" lvl="1" indent="-514350" eaLnBrk="1" hangingPunct="1">
              <a:lnSpc>
                <a:spcPct val="130000"/>
              </a:lnSpc>
              <a:spcBef>
                <a:spcPct val="0"/>
              </a:spcBef>
              <a:buFont typeface="+mj-lt"/>
              <a:buAutoNum type="arabicPeriod" startAt="2"/>
            </a:pPr>
            <a:r>
              <a:rPr lang="en-US" altLang="zh-CN" dirty="0" smtClean="0">
                <a:cs typeface="Times New Roman" panose="02020603050405020304" pitchFamily="18" charset="0"/>
              </a:rPr>
              <a:t>PN</a:t>
            </a:r>
            <a:r>
              <a:rPr lang="zh-CN" altLang="en-US" dirty="0" smtClean="0">
                <a:cs typeface="Times New Roman" panose="02020603050405020304" pitchFamily="18" charset="0"/>
              </a:rPr>
              <a:t>结的单向导电性</a:t>
            </a:r>
            <a:br>
              <a:rPr lang="zh-CN" altLang="en-US" dirty="0" smtClean="0">
                <a:cs typeface="Times New Roman" panose="02020603050405020304" pitchFamily="18" charset="0"/>
              </a:rPr>
            </a:br>
            <a:r>
              <a:rPr lang="zh-CN" altLang="en-US" sz="2400" dirty="0" smtClean="0">
                <a:cs typeface="Times New Roman" panose="02020603050405020304" pitchFamily="18" charset="0"/>
              </a:rPr>
              <a:t>当外加电场加入后，如果外电场方向与内电场方向一致 </a:t>
            </a:r>
            <a:r>
              <a:rPr lang="en-US" altLang="zh-CN" sz="2400" dirty="0" smtClean="0">
                <a:cs typeface="Times New Roman" panose="02020603050405020304" pitchFamily="18" charset="0"/>
              </a:rPr>
              <a:t>( </a:t>
            </a:r>
            <a:r>
              <a:rPr lang="zh-CN" altLang="en-US" sz="2400" dirty="0" smtClean="0">
                <a:cs typeface="Times New Roman" panose="02020603050405020304" pitchFamily="18" charset="0"/>
              </a:rPr>
              <a:t>即，外加电压正端接 </a:t>
            </a:r>
            <a:r>
              <a:rPr lang="en-US" altLang="zh-CN" sz="2400" dirty="0" smtClean="0">
                <a:cs typeface="Times New Roman" panose="02020603050405020304" pitchFamily="18" charset="0"/>
              </a:rPr>
              <a:t>N </a:t>
            </a:r>
            <a:r>
              <a:rPr lang="zh-CN" altLang="en-US" sz="2400" dirty="0" smtClean="0">
                <a:cs typeface="Times New Roman" panose="02020603050405020304" pitchFamily="18" charset="0"/>
              </a:rPr>
              <a:t>区</a:t>
            </a:r>
            <a:r>
              <a:rPr lang="en-US" altLang="zh-CN" sz="2400" dirty="0" smtClean="0">
                <a:cs typeface="Times New Roman" panose="02020603050405020304" pitchFamily="18" charset="0"/>
              </a:rPr>
              <a:t>, </a:t>
            </a:r>
            <a:r>
              <a:rPr lang="zh-CN" altLang="en-US" sz="2400" dirty="0" smtClean="0">
                <a:cs typeface="Times New Roman" panose="02020603050405020304" pitchFamily="18" charset="0"/>
              </a:rPr>
              <a:t>负端接 </a:t>
            </a:r>
            <a:r>
              <a:rPr lang="en-US" altLang="zh-CN" sz="2400" dirty="0" smtClean="0">
                <a:cs typeface="Times New Roman" panose="02020603050405020304" pitchFamily="18" charset="0"/>
              </a:rPr>
              <a:t>P </a:t>
            </a:r>
            <a:r>
              <a:rPr lang="zh-CN" altLang="en-US" sz="2400" dirty="0" smtClean="0">
                <a:cs typeface="Times New Roman" panose="02020603050405020304" pitchFamily="18" charset="0"/>
              </a:rPr>
              <a:t>区</a:t>
            </a:r>
            <a:r>
              <a:rPr lang="en-US" altLang="zh-CN" sz="2400" dirty="0" smtClean="0">
                <a:cs typeface="Times New Roman" panose="02020603050405020304" pitchFamily="18" charset="0"/>
              </a:rPr>
              <a:t>)</a:t>
            </a:r>
            <a:r>
              <a:rPr lang="zh-CN" altLang="en-US" sz="2400" dirty="0" smtClean="0">
                <a:cs typeface="Times New Roman" panose="02020603050405020304" pitchFamily="18" charset="0"/>
              </a:rPr>
              <a:t>。</a:t>
            </a:r>
            <a:endParaRPr lang="en-US" altLang="zh-CN" sz="2400" dirty="0" smtClean="0">
              <a:cs typeface="Times New Roman" panose="02020603050405020304" pitchFamily="18" charset="0"/>
            </a:endParaRPr>
          </a:p>
        </p:txBody>
      </p:sp>
      <p:grpSp>
        <p:nvGrpSpPr>
          <p:cNvPr id="2" name="Group 4"/>
          <p:cNvGrpSpPr/>
          <p:nvPr/>
        </p:nvGrpSpPr>
        <p:grpSpPr bwMode="auto">
          <a:xfrm>
            <a:off x="2844800" y="4068763"/>
            <a:ext cx="3200400" cy="609600"/>
            <a:chOff x="1872" y="816"/>
            <a:chExt cx="2016" cy="384"/>
          </a:xfrm>
        </p:grpSpPr>
        <p:sp>
          <p:nvSpPr>
            <p:cNvPr id="38938" name="Rectangle 5"/>
            <p:cNvSpPr>
              <a:spLocks noChangeArrowheads="1"/>
            </p:cNvSpPr>
            <p:nvPr/>
          </p:nvSpPr>
          <p:spPr bwMode="auto">
            <a:xfrm>
              <a:off x="1872" y="816"/>
              <a:ext cx="1008" cy="384"/>
            </a:xfrm>
            <a:prstGeom prst="rect">
              <a:avLst/>
            </a:prstGeom>
            <a:solidFill>
              <a:srgbClr val="00FF99"/>
            </a:solidFill>
            <a:ln w="12700" cap="sq">
              <a:solidFill>
                <a:schemeClr val="tx1"/>
              </a:solidFill>
              <a:miter lim="800000"/>
              <a:headEnd type="none" w="sm" len="sm"/>
              <a:tailEnd type="none" w="sm" len="sm"/>
            </a:ln>
          </p:spPr>
          <p:txBody>
            <a:bodyPr wrap="none" anchor="ctr"/>
            <a:lstStyle/>
            <a:p>
              <a:r>
                <a:rPr kumimoji="1" lang="en-US" altLang="zh-CN">
                  <a:solidFill>
                    <a:schemeClr val="bg1"/>
                  </a:solidFill>
                </a:rPr>
                <a:t>P</a:t>
              </a:r>
              <a:endParaRPr kumimoji="1" lang="en-US" altLang="zh-CN"/>
            </a:p>
          </p:txBody>
        </p:sp>
        <p:sp>
          <p:nvSpPr>
            <p:cNvPr id="38939" name="Rectangle 6"/>
            <p:cNvSpPr>
              <a:spLocks noChangeArrowheads="1"/>
            </p:cNvSpPr>
            <p:nvPr/>
          </p:nvSpPr>
          <p:spPr bwMode="auto">
            <a:xfrm>
              <a:off x="2880" y="816"/>
              <a:ext cx="1008" cy="384"/>
            </a:xfrm>
            <a:prstGeom prst="rect">
              <a:avLst/>
            </a:prstGeom>
            <a:solidFill>
              <a:srgbClr val="00FF99"/>
            </a:solidFill>
            <a:ln w="12700" cap="sq">
              <a:solidFill>
                <a:schemeClr val="tx1"/>
              </a:solidFill>
              <a:miter lim="800000"/>
              <a:headEnd type="none" w="sm" len="sm"/>
              <a:tailEnd type="none" w="sm" len="sm"/>
            </a:ln>
          </p:spPr>
          <p:txBody>
            <a:bodyPr wrap="none" anchor="ctr"/>
            <a:lstStyle/>
            <a:p>
              <a:r>
                <a:rPr kumimoji="1" lang="en-US" altLang="zh-CN">
                  <a:solidFill>
                    <a:schemeClr val="bg1"/>
                  </a:solidFill>
                </a:rPr>
                <a:t>N</a:t>
              </a:r>
              <a:endParaRPr kumimoji="1" lang="en-US" altLang="zh-CN"/>
            </a:p>
          </p:txBody>
        </p:sp>
      </p:grpSp>
      <p:grpSp>
        <p:nvGrpSpPr>
          <p:cNvPr id="3" name="Group 7"/>
          <p:cNvGrpSpPr/>
          <p:nvPr/>
        </p:nvGrpSpPr>
        <p:grpSpPr bwMode="auto">
          <a:xfrm>
            <a:off x="4229100" y="4079875"/>
            <a:ext cx="457200" cy="593725"/>
            <a:chOff x="663" y="1770"/>
            <a:chExt cx="288" cy="393"/>
          </a:xfrm>
        </p:grpSpPr>
        <p:sp>
          <p:nvSpPr>
            <p:cNvPr id="38936" name="Rectangle 8"/>
            <p:cNvSpPr>
              <a:spLocks noChangeArrowheads="1"/>
            </p:cNvSpPr>
            <p:nvPr/>
          </p:nvSpPr>
          <p:spPr bwMode="auto">
            <a:xfrm>
              <a:off x="663" y="1770"/>
              <a:ext cx="144" cy="393"/>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endParaRPr lang="zh-CN" altLang="en-US"/>
            </a:p>
          </p:txBody>
        </p:sp>
        <p:sp>
          <p:nvSpPr>
            <p:cNvPr id="38937" name="Rectangle 9"/>
            <p:cNvSpPr>
              <a:spLocks noChangeArrowheads="1"/>
            </p:cNvSpPr>
            <p:nvPr/>
          </p:nvSpPr>
          <p:spPr bwMode="auto">
            <a:xfrm>
              <a:off x="807" y="1770"/>
              <a:ext cx="144" cy="393"/>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endParaRPr lang="zh-CN" altLang="en-US"/>
            </a:p>
          </p:txBody>
        </p:sp>
      </p:grpSp>
      <p:grpSp>
        <p:nvGrpSpPr>
          <p:cNvPr id="4" name="Group 10"/>
          <p:cNvGrpSpPr/>
          <p:nvPr/>
        </p:nvGrpSpPr>
        <p:grpSpPr bwMode="auto">
          <a:xfrm>
            <a:off x="4184650" y="3500438"/>
            <a:ext cx="533400" cy="431800"/>
            <a:chOff x="2716" y="458"/>
            <a:chExt cx="336" cy="272"/>
          </a:xfrm>
        </p:grpSpPr>
        <p:sp>
          <p:nvSpPr>
            <p:cNvPr id="38934" name="Line 11"/>
            <p:cNvSpPr>
              <a:spLocks noChangeShapeType="1"/>
            </p:cNvSpPr>
            <p:nvPr/>
          </p:nvSpPr>
          <p:spPr bwMode="auto">
            <a:xfrm flipH="1">
              <a:off x="2716" y="730"/>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5" name="Text Box 12"/>
            <p:cNvSpPr txBox="1">
              <a:spLocks noChangeArrowheads="1"/>
            </p:cNvSpPr>
            <p:nvPr/>
          </p:nvSpPr>
          <p:spPr bwMode="auto">
            <a:xfrm>
              <a:off x="2822" y="458"/>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E</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grpSp>
        <p:nvGrpSpPr>
          <p:cNvPr id="5" name="Group 13"/>
          <p:cNvGrpSpPr/>
          <p:nvPr/>
        </p:nvGrpSpPr>
        <p:grpSpPr bwMode="auto">
          <a:xfrm>
            <a:off x="2524125" y="4373563"/>
            <a:ext cx="3841750" cy="1228725"/>
            <a:chOff x="278" y="864"/>
            <a:chExt cx="2420" cy="774"/>
          </a:xfrm>
        </p:grpSpPr>
        <p:sp>
          <p:nvSpPr>
            <p:cNvPr id="38926" name="Freeform 14"/>
            <p:cNvSpPr/>
            <p:nvPr/>
          </p:nvSpPr>
          <p:spPr bwMode="auto">
            <a:xfrm>
              <a:off x="278" y="864"/>
              <a:ext cx="1104" cy="624"/>
            </a:xfrm>
            <a:custGeom>
              <a:avLst/>
              <a:gdLst>
                <a:gd name="T0" fmla="*/ 220 w 1056"/>
                <a:gd name="T1" fmla="*/ 0 h 624"/>
                <a:gd name="T2" fmla="*/ 0 w 1056"/>
                <a:gd name="T3" fmla="*/ 0 h 624"/>
                <a:gd name="T4" fmla="*/ 0 w 1056"/>
                <a:gd name="T5" fmla="*/ 624 h 624"/>
                <a:gd name="T6" fmla="*/ 1206 w 1056"/>
                <a:gd name="T7" fmla="*/ 624 h 624"/>
                <a:gd name="T8" fmla="*/ 0 60000 65536"/>
                <a:gd name="T9" fmla="*/ 0 60000 65536"/>
                <a:gd name="T10" fmla="*/ 0 60000 65536"/>
                <a:gd name="T11" fmla="*/ 0 60000 65536"/>
                <a:gd name="T12" fmla="*/ 0 w 1056"/>
                <a:gd name="T13" fmla="*/ 0 h 624"/>
                <a:gd name="T14" fmla="*/ 1056 w 1056"/>
                <a:gd name="T15" fmla="*/ 624 h 624"/>
              </a:gdLst>
              <a:ahLst/>
              <a:cxnLst>
                <a:cxn ang="T8">
                  <a:pos x="T0" y="T1"/>
                </a:cxn>
                <a:cxn ang="T9">
                  <a:pos x="T2" y="T3"/>
                </a:cxn>
                <a:cxn ang="T10">
                  <a:pos x="T4" y="T5"/>
                </a:cxn>
                <a:cxn ang="T11">
                  <a:pos x="T6" y="T7"/>
                </a:cxn>
              </a:cxnLst>
              <a:rect l="T12" t="T13" r="T14" b="T15"/>
              <a:pathLst>
                <a:path w="1056" h="624">
                  <a:moveTo>
                    <a:pt x="192" y="0"/>
                  </a:moveTo>
                  <a:lnTo>
                    <a:pt x="0" y="0"/>
                  </a:lnTo>
                  <a:lnTo>
                    <a:pt x="0" y="624"/>
                  </a:lnTo>
                  <a:lnTo>
                    <a:pt x="1056" y="624"/>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8927" name="Freeform 15"/>
            <p:cNvSpPr/>
            <p:nvPr/>
          </p:nvSpPr>
          <p:spPr bwMode="auto">
            <a:xfrm flipH="1">
              <a:off x="1594" y="870"/>
              <a:ext cx="1104" cy="624"/>
            </a:xfrm>
            <a:custGeom>
              <a:avLst/>
              <a:gdLst>
                <a:gd name="T0" fmla="*/ 220 w 1056"/>
                <a:gd name="T1" fmla="*/ 0 h 624"/>
                <a:gd name="T2" fmla="*/ 0 w 1056"/>
                <a:gd name="T3" fmla="*/ 0 h 624"/>
                <a:gd name="T4" fmla="*/ 0 w 1056"/>
                <a:gd name="T5" fmla="*/ 624 h 624"/>
                <a:gd name="T6" fmla="*/ 1206 w 1056"/>
                <a:gd name="T7" fmla="*/ 624 h 624"/>
                <a:gd name="T8" fmla="*/ 0 60000 65536"/>
                <a:gd name="T9" fmla="*/ 0 60000 65536"/>
                <a:gd name="T10" fmla="*/ 0 60000 65536"/>
                <a:gd name="T11" fmla="*/ 0 60000 65536"/>
                <a:gd name="T12" fmla="*/ 0 w 1056"/>
                <a:gd name="T13" fmla="*/ 0 h 624"/>
                <a:gd name="T14" fmla="*/ 1056 w 1056"/>
                <a:gd name="T15" fmla="*/ 624 h 624"/>
              </a:gdLst>
              <a:ahLst/>
              <a:cxnLst>
                <a:cxn ang="T8">
                  <a:pos x="T0" y="T1"/>
                </a:cxn>
                <a:cxn ang="T9">
                  <a:pos x="T2" y="T3"/>
                </a:cxn>
                <a:cxn ang="T10">
                  <a:pos x="T4" y="T5"/>
                </a:cxn>
                <a:cxn ang="T11">
                  <a:pos x="T6" y="T7"/>
                </a:cxn>
              </a:cxnLst>
              <a:rect l="T12" t="T13" r="T14" b="T15"/>
              <a:pathLst>
                <a:path w="1056" h="624">
                  <a:moveTo>
                    <a:pt x="192" y="0"/>
                  </a:moveTo>
                  <a:lnTo>
                    <a:pt x="0" y="0"/>
                  </a:lnTo>
                  <a:lnTo>
                    <a:pt x="0" y="624"/>
                  </a:lnTo>
                  <a:lnTo>
                    <a:pt x="1056" y="624"/>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nvGrpSpPr>
            <p:cNvPr id="38928" name="Group 16"/>
            <p:cNvGrpSpPr/>
            <p:nvPr/>
          </p:nvGrpSpPr>
          <p:grpSpPr bwMode="auto">
            <a:xfrm flipH="1">
              <a:off x="1392" y="1344"/>
              <a:ext cx="184" cy="294"/>
              <a:chOff x="1392" y="1344"/>
              <a:chExt cx="184" cy="294"/>
            </a:xfrm>
          </p:grpSpPr>
          <p:sp>
            <p:nvSpPr>
              <p:cNvPr id="38930" name="Line 17"/>
              <p:cNvSpPr>
                <a:spLocks noChangeShapeType="1"/>
              </p:cNvSpPr>
              <p:nvPr/>
            </p:nvSpPr>
            <p:spPr bwMode="auto">
              <a:xfrm>
                <a:off x="1392" y="1344"/>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1" name="Line 18"/>
              <p:cNvSpPr>
                <a:spLocks noChangeShapeType="1"/>
              </p:cNvSpPr>
              <p:nvPr/>
            </p:nvSpPr>
            <p:spPr bwMode="auto">
              <a:xfrm>
                <a:off x="1440" y="1422"/>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2" name="Line 19"/>
              <p:cNvSpPr>
                <a:spLocks noChangeShapeType="1"/>
              </p:cNvSpPr>
              <p:nvPr/>
            </p:nvSpPr>
            <p:spPr bwMode="auto">
              <a:xfrm>
                <a:off x="1528" y="1350"/>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3" name="Line 20"/>
              <p:cNvSpPr>
                <a:spLocks noChangeShapeType="1"/>
              </p:cNvSpPr>
              <p:nvPr/>
            </p:nvSpPr>
            <p:spPr bwMode="auto">
              <a:xfrm>
                <a:off x="1576" y="1428"/>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8929" name="Text Box 21"/>
            <p:cNvSpPr txBox="1">
              <a:spLocks noChangeArrowheads="1"/>
            </p:cNvSpPr>
            <p:nvPr/>
          </p:nvSpPr>
          <p:spPr bwMode="auto">
            <a:xfrm>
              <a:off x="1619" y="1261"/>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dirty="0">
                  <a:solidFill>
                    <a:schemeClr val="tx2"/>
                  </a:solidFill>
                  <a:latin typeface="Times New Roman" panose="02020603050405020304" pitchFamily="18" charset="0"/>
                  <a:cs typeface="Times New Roman" panose="02020603050405020304" pitchFamily="18" charset="0"/>
                </a:rPr>
                <a:t>U</a:t>
              </a:r>
              <a:endParaRPr kumimoji="1" lang="en-US" altLang="zh-CN" b="1" i="1" dirty="0">
                <a:solidFill>
                  <a:schemeClr val="tx2"/>
                </a:solidFill>
                <a:latin typeface="Times New Roman" panose="02020603050405020304" pitchFamily="18" charset="0"/>
                <a:cs typeface="Times New Roman" panose="02020603050405020304" pitchFamily="18" charset="0"/>
              </a:endParaRPr>
            </a:p>
          </p:txBody>
        </p:sp>
      </p:grpSp>
      <p:sp>
        <p:nvSpPr>
          <p:cNvPr id="44054" name="Line 22"/>
          <p:cNvSpPr>
            <a:spLocks noChangeShapeType="1"/>
          </p:cNvSpPr>
          <p:nvPr/>
        </p:nvSpPr>
        <p:spPr bwMode="auto">
          <a:xfrm>
            <a:off x="2997200" y="4906963"/>
            <a:ext cx="3124200" cy="0"/>
          </a:xfrm>
          <a:prstGeom prst="line">
            <a:avLst/>
          </a:prstGeom>
          <a:noFill/>
          <a:ln w="28575" cap="sq">
            <a:solidFill>
              <a:schemeClr val="tx1"/>
            </a:solidFill>
            <a:round/>
            <a:head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 name="Group 23"/>
          <p:cNvGrpSpPr/>
          <p:nvPr/>
        </p:nvGrpSpPr>
        <p:grpSpPr bwMode="auto">
          <a:xfrm>
            <a:off x="4095750" y="4079875"/>
            <a:ext cx="714375" cy="593725"/>
            <a:chOff x="1124" y="1769"/>
            <a:chExt cx="450" cy="395"/>
          </a:xfrm>
        </p:grpSpPr>
        <p:sp>
          <p:nvSpPr>
            <p:cNvPr id="38924" name="Rectangle 24"/>
            <p:cNvSpPr>
              <a:spLocks noChangeArrowheads="1"/>
            </p:cNvSpPr>
            <p:nvPr/>
          </p:nvSpPr>
          <p:spPr bwMode="auto">
            <a:xfrm>
              <a:off x="1124" y="1769"/>
              <a:ext cx="86" cy="395"/>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endParaRPr lang="zh-CN" altLang="en-US"/>
            </a:p>
          </p:txBody>
        </p:sp>
        <p:sp>
          <p:nvSpPr>
            <p:cNvPr id="38925" name="Rectangle 25"/>
            <p:cNvSpPr>
              <a:spLocks noChangeArrowheads="1"/>
            </p:cNvSpPr>
            <p:nvPr/>
          </p:nvSpPr>
          <p:spPr bwMode="auto">
            <a:xfrm>
              <a:off x="1488" y="1769"/>
              <a:ext cx="86" cy="395"/>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endParaRPr lang="zh-CN" altLang="en-US"/>
            </a:p>
          </p:txBody>
        </p:sp>
      </p:grpSp>
      <p:sp>
        <p:nvSpPr>
          <p:cNvPr id="44058" name="Text Box 26"/>
          <p:cNvSpPr txBox="1">
            <a:spLocks noChangeArrowheads="1"/>
          </p:cNvSpPr>
          <p:nvPr/>
        </p:nvSpPr>
        <p:spPr bwMode="auto">
          <a:xfrm>
            <a:off x="2387600" y="5847357"/>
            <a:ext cx="4921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2"/>
                </a:solidFill>
                <a:latin typeface="Times New Roman" panose="02020603050405020304" pitchFamily="18" charset="0"/>
                <a:cs typeface="Times New Roman" panose="02020603050405020304" pitchFamily="18" charset="0"/>
              </a:rPr>
              <a:t>PN</a:t>
            </a:r>
            <a:r>
              <a:rPr kumimoji="1" lang="zh-CN" altLang="en-US" sz="2400" b="1" dirty="0">
                <a:solidFill>
                  <a:schemeClr val="tx2"/>
                </a:solidFill>
                <a:latin typeface="Times New Roman" panose="02020603050405020304" pitchFamily="18" charset="0"/>
                <a:cs typeface="Times New Roman" panose="02020603050405020304" pitchFamily="18" charset="0"/>
              </a:rPr>
              <a:t>结加反向偏压，不导电（截止）</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44059" name="Rectangle 27"/>
          <p:cNvSpPr>
            <a:spLocks noChangeArrowheads="1"/>
          </p:cNvSpPr>
          <p:nvPr/>
        </p:nvSpPr>
        <p:spPr bwMode="auto">
          <a:xfrm>
            <a:off x="1000125" y="2357438"/>
            <a:ext cx="77343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50000"/>
              </a:lnSpc>
            </a:pPr>
            <a:r>
              <a:rPr kumimoji="1" lang="zh-CN" altLang="en-US" sz="2600" b="1" dirty="0">
                <a:solidFill>
                  <a:schemeClr val="tx2"/>
                </a:solidFill>
                <a:latin typeface="+mn-ea"/>
                <a:ea typeface="+mn-ea"/>
              </a:rPr>
              <a:t>内建电场得到加强，空间电荷区加宽，载流子更难通过，因而不能导电（截止）。</a:t>
            </a:r>
            <a:endParaRPr kumimoji="1" lang="zh-CN" altLang="en-US" sz="2600" b="1" dirty="0">
              <a:solidFill>
                <a:schemeClr val="tx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heckerboard(across)">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up)">
                                      <p:cBhvr>
                                        <p:cTn id="19" dur="500"/>
                                        <p:tgtEl>
                                          <p:spTgt spid="5"/>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4054"/>
                                        </p:tgtEl>
                                        <p:attrNameLst>
                                          <p:attrName>style.visibility</p:attrName>
                                        </p:attrNameLst>
                                      </p:cBhvr>
                                      <p:to>
                                        <p:strVal val="visible"/>
                                      </p:to>
                                    </p:set>
                                    <p:animEffect transition="in" filter="wipe(up)">
                                      <p:cBhvr>
                                        <p:cTn id="23" dur="500"/>
                                        <p:tgtEl>
                                          <p:spTgt spid="4405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100"/>
                                  </p:iterate>
                                  <p:childTnLst>
                                    <p:set>
                                      <p:cBhvr>
                                        <p:cTn id="27" dur="1" fill="hold">
                                          <p:stCondLst>
                                            <p:cond delay="0"/>
                                          </p:stCondLst>
                                        </p:cTn>
                                        <p:tgtEl>
                                          <p:spTgt spid="44059"/>
                                        </p:tgtEl>
                                        <p:attrNameLst>
                                          <p:attrName>style.visibility</p:attrName>
                                        </p:attrNameLst>
                                      </p:cBhvr>
                                      <p:to>
                                        <p:strVal val="visible"/>
                                      </p:to>
                                    </p:set>
                                  </p:childTnLst>
                                </p:cTn>
                              </p:par>
                            </p:childTnLst>
                          </p:cTn>
                        </p:par>
                        <p:par>
                          <p:cTn id="28" fill="hold">
                            <p:stCondLst>
                              <p:cond delay="3600"/>
                            </p:stCondLst>
                            <p:childTnLst>
                              <p:par>
                                <p:cTn id="29" presetID="55"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1000" fill="hold"/>
                                        <p:tgtEl>
                                          <p:spTgt spid="7"/>
                                        </p:tgtEl>
                                        <p:attrNameLst>
                                          <p:attrName>ppt_w</p:attrName>
                                        </p:attrNameLst>
                                      </p:cBhvr>
                                      <p:tavLst>
                                        <p:tav tm="0">
                                          <p:val>
                                            <p:strVal val="#ppt_w*0.70"/>
                                          </p:val>
                                        </p:tav>
                                        <p:tav tm="100000">
                                          <p:val>
                                            <p:strVal val="#ppt_w"/>
                                          </p:val>
                                        </p:tav>
                                      </p:tavLst>
                                    </p:anim>
                                    <p:anim calcmode="lin" valueType="num">
                                      <p:cBhvr>
                                        <p:cTn id="32" dur="1000" fill="hold"/>
                                        <p:tgtEl>
                                          <p:spTgt spid="7"/>
                                        </p:tgtEl>
                                        <p:attrNameLst>
                                          <p:attrName>ppt_h</p:attrName>
                                        </p:attrNameLst>
                                      </p:cBhvr>
                                      <p:tavLst>
                                        <p:tav tm="0">
                                          <p:val>
                                            <p:strVal val="#ppt_h"/>
                                          </p:val>
                                        </p:tav>
                                        <p:tav tm="100000">
                                          <p:val>
                                            <p:strVal val="#ppt_h"/>
                                          </p:val>
                                        </p:tav>
                                      </p:tavLst>
                                    </p:anim>
                                    <p:animEffect transition="in" filter="fade">
                                      <p:cBhvr>
                                        <p:cTn id="33" dur="1000"/>
                                        <p:tgtEl>
                                          <p:spTgt spid="7"/>
                                        </p:tgtEl>
                                      </p:cBhvr>
                                    </p:animEffect>
                                  </p:childTnLst>
                                </p:cTn>
                              </p:par>
                            </p:childTnLst>
                          </p:cTn>
                        </p:par>
                        <p:par>
                          <p:cTn id="34" fill="hold">
                            <p:stCondLst>
                              <p:cond delay="4600"/>
                            </p:stCondLst>
                            <p:childTnLst>
                              <p:par>
                                <p:cTn id="35" presetID="22" presetClass="entr" presetSubtype="8" fill="hold" grpId="0" nodeType="afterEffect">
                                  <p:stCondLst>
                                    <p:cond delay="0"/>
                                  </p:stCondLst>
                                  <p:iterate type="lt">
                                    <p:tmPct val="100000"/>
                                  </p:iterate>
                                  <p:childTnLst>
                                    <p:set>
                                      <p:cBhvr>
                                        <p:cTn id="36" dur="1" fill="hold">
                                          <p:stCondLst>
                                            <p:cond delay="0"/>
                                          </p:stCondLst>
                                        </p:cTn>
                                        <p:tgtEl>
                                          <p:spTgt spid="44058"/>
                                        </p:tgtEl>
                                        <p:attrNameLst>
                                          <p:attrName>style.visibility</p:attrName>
                                        </p:attrNameLst>
                                      </p:cBhvr>
                                      <p:to>
                                        <p:strVal val="visible"/>
                                      </p:to>
                                    </p:set>
                                    <p:animEffect transition="in" filter="wipe(left)">
                                      <p:cBhvr>
                                        <p:cTn id="37" dur="75"/>
                                        <p:tgtEl>
                                          <p:spTgt spid="44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54" grpId="0" animBg="1"/>
      <p:bldP spid="44058" grpId="0" autoUpdateAnimBg="0"/>
      <p:bldP spid="4405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12</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6" name="灯片编号占位符 5"/>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39939" name="Rectangle 3"/>
          <p:cNvSpPr>
            <a:spLocks noGrp="1" noChangeArrowheads="1"/>
          </p:cNvSpPr>
          <p:nvPr>
            <p:ph sz="quarter" idx="4294967295"/>
          </p:nvPr>
        </p:nvSpPr>
        <p:spPr>
          <a:xfrm>
            <a:off x="0" y="765175"/>
            <a:ext cx="8891588" cy="5543550"/>
          </a:xfrm>
        </p:spPr>
        <p:txBody>
          <a:bodyPr/>
          <a:lstStyle/>
          <a:p>
            <a:pPr marL="514350" indent="-514350">
              <a:lnSpc>
                <a:spcPct val="150000"/>
              </a:lnSpc>
              <a:spcBef>
                <a:spcPts val="0"/>
              </a:spcBef>
              <a:buFont typeface="+mj-lt"/>
              <a:buAutoNum type="arabicPeriod" startAt="2"/>
            </a:pPr>
            <a:r>
              <a:rPr lang="en-US" altLang="zh-CN" dirty="0" smtClean="0"/>
              <a:t> PN</a:t>
            </a:r>
            <a:r>
              <a:rPr lang="zh-CN" altLang="en-US" dirty="0" smtClean="0"/>
              <a:t>结的单向导电性（续）</a:t>
            </a:r>
            <a:br>
              <a:rPr lang="zh-CN" altLang="en-US" dirty="0" smtClean="0"/>
            </a:br>
            <a:r>
              <a:rPr lang="zh-CN" altLang="en-US" sz="2400" dirty="0" smtClean="0"/>
              <a:t>当外加电场方向与内电场方向相反（即，外加电压正端接</a:t>
            </a:r>
            <a:r>
              <a:rPr lang="en-US" altLang="zh-CN" sz="2400" dirty="0" smtClean="0"/>
              <a:t>P</a:t>
            </a:r>
            <a:r>
              <a:rPr lang="zh-CN" altLang="en-US" sz="2400" dirty="0" smtClean="0"/>
              <a:t>区，负端接</a:t>
            </a:r>
            <a:r>
              <a:rPr lang="en-US" altLang="zh-CN" sz="2400" dirty="0" smtClean="0"/>
              <a:t>N </a:t>
            </a:r>
            <a:r>
              <a:rPr lang="zh-CN" altLang="en-US" sz="2400" dirty="0" smtClean="0"/>
              <a:t>区）。</a:t>
            </a:r>
            <a:endParaRPr lang="zh-CN" altLang="en-US" sz="2400" dirty="0" smtClean="0"/>
          </a:p>
        </p:txBody>
      </p:sp>
      <p:grpSp>
        <p:nvGrpSpPr>
          <p:cNvPr id="2" name="Group 4"/>
          <p:cNvGrpSpPr/>
          <p:nvPr/>
        </p:nvGrpSpPr>
        <p:grpSpPr bwMode="auto">
          <a:xfrm>
            <a:off x="3385715" y="3493269"/>
            <a:ext cx="3200400" cy="609600"/>
            <a:chOff x="1872" y="816"/>
            <a:chExt cx="2016" cy="384"/>
          </a:xfrm>
        </p:grpSpPr>
        <p:sp>
          <p:nvSpPr>
            <p:cNvPr id="39962" name="Rectangle 5"/>
            <p:cNvSpPr>
              <a:spLocks noChangeArrowheads="1"/>
            </p:cNvSpPr>
            <p:nvPr/>
          </p:nvSpPr>
          <p:spPr bwMode="auto">
            <a:xfrm>
              <a:off x="1872" y="816"/>
              <a:ext cx="1008" cy="384"/>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kumimoji="1" lang="en-US" altLang="zh-CN" b="1">
                  <a:solidFill>
                    <a:schemeClr val="tx2"/>
                  </a:solidFill>
                  <a:latin typeface="Times New Roman" panose="02020603050405020304" pitchFamily="18" charset="0"/>
                  <a:cs typeface="Times New Roman" panose="02020603050405020304" pitchFamily="18" charset="0"/>
                </a:rPr>
                <a:t>P</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9963" name="Rectangle 6"/>
            <p:cNvSpPr>
              <a:spLocks noChangeArrowheads="1"/>
            </p:cNvSpPr>
            <p:nvPr/>
          </p:nvSpPr>
          <p:spPr bwMode="auto">
            <a:xfrm>
              <a:off x="2880" y="816"/>
              <a:ext cx="1008" cy="384"/>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kumimoji="1" lang="en-US" altLang="zh-CN" b="1">
                  <a:solidFill>
                    <a:schemeClr val="tx2"/>
                  </a:solidFill>
                  <a:latin typeface="Times New Roman" panose="02020603050405020304" pitchFamily="18" charset="0"/>
                  <a:cs typeface="Times New Roman" panose="02020603050405020304" pitchFamily="18" charset="0"/>
                </a:rPr>
                <a:t>N</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grpSp>
        <p:nvGrpSpPr>
          <p:cNvPr id="3" name="Group 7"/>
          <p:cNvGrpSpPr/>
          <p:nvPr/>
        </p:nvGrpSpPr>
        <p:grpSpPr bwMode="auto">
          <a:xfrm>
            <a:off x="4770015" y="3507557"/>
            <a:ext cx="452438" cy="590550"/>
            <a:chOff x="4181" y="1754"/>
            <a:chExt cx="288" cy="381"/>
          </a:xfrm>
        </p:grpSpPr>
        <p:sp>
          <p:nvSpPr>
            <p:cNvPr id="39960" name="Rectangle 8"/>
            <p:cNvSpPr>
              <a:spLocks noChangeArrowheads="1"/>
            </p:cNvSpPr>
            <p:nvPr/>
          </p:nvSpPr>
          <p:spPr bwMode="auto">
            <a:xfrm>
              <a:off x="4181" y="1754"/>
              <a:ext cx="144" cy="381"/>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endParaRPr lang="zh-CN" altLang="en-US"/>
            </a:p>
          </p:txBody>
        </p:sp>
        <p:sp>
          <p:nvSpPr>
            <p:cNvPr id="39961" name="Rectangle 9"/>
            <p:cNvSpPr>
              <a:spLocks noChangeArrowheads="1"/>
            </p:cNvSpPr>
            <p:nvPr/>
          </p:nvSpPr>
          <p:spPr bwMode="auto">
            <a:xfrm>
              <a:off x="4325" y="1754"/>
              <a:ext cx="144" cy="381"/>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endParaRPr lang="zh-CN" altLang="en-US"/>
            </a:p>
          </p:txBody>
        </p:sp>
      </p:grpSp>
      <p:grpSp>
        <p:nvGrpSpPr>
          <p:cNvPr id="4" name="Group 10"/>
          <p:cNvGrpSpPr/>
          <p:nvPr/>
        </p:nvGrpSpPr>
        <p:grpSpPr bwMode="auto">
          <a:xfrm>
            <a:off x="4725565" y="2924944"/>
            <a:ext cx="533400" cy="431800"/>
            <a:chOff x="2716" y="458"/>
            <a:chExt cx="336" cy="272"/>
          </a:xfrm>
        </p:grpSpPr>
        <p:sp>
          <p:nvSpPr>
            <p:cNvPr id="39958" name="Line 11"/>
            <p:cNvSpPr>
              <a:spLocks noChangeShapeType="1"/>
            </p:cNvSpPr>
            <p:nvPr/>
          </p:nvSpPr>
          <p:spPr bwMode="auto">
            <a:xfrm flipH="1">
              <a:off x="2716" y="730"/>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9" name="Text Box 12"/>
            <p:cNvSpPr txBox="1">
              <a:spLocks noChangeArrowheads="1"/>
            </p:cNvSpPr>
            <p:nvPr/>
          </p:nvSpPr>
          <p:spPr bwMode="auto">
            <a:xfrm>
              <a:off x="2822" y="458"/>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E</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grpSp>
        <p:nvGrpSpPr>
          <p:cNvPr id="5" name="Group 13"/>
          <p:cNvGrpSpPr/>
          <p:nvPr/>
        </p:nvGrpSpPr>
        <p:grpSpPr bwMode="auto">
          <a:xfrm>
            <a:off x="3065040" y="3798069"/>
            <a:ext cx="3841750" cy="1512888"/>
            <a:chOff x="1670" y="1008"/>
            <a:chExt cx="2420" cy="953"/>
          </a:xfrm>
        </p:grpSpPr>
        <p:sp>
          <p:nvSpPr>
            <p:cNvPr id="39952" name="Freeform 14"/>
            <p:cNvSpPr/>
            <p:nvPr/>
          </p:nvSpPr>
          <p:spPr bwMode="auto">
            <a:xfrm>
              <a:off x="1670" y="1008"/>
              <a:ext cx="1104" cy="624"/>
            </a:xfrm>
            <a:custGeom>
              <a:avLst/>
              <a:gdLst>
                <a:gd name="T0" fmla="*/ 220 w 1056"/>
                <a:gd name="T1" fmla="*/ 0 h 624"/>
                <a:gd name="T2" fmla="*/ 0 w 1056"/>
                <a:gd name="T3" fmla="*/ 0 h 624"/>
                <a:gd name="T4" fmla="*/ 0 w 1056"/>
                <a:gd name="T5" fmla="*/ 624 h 624"/>
                <a:gd name="T6" fmla="*/ 1206 w 1056"/>
                <a:gd name="T7" fmla="*/ 624 h 624"/>
                <a:gd name="T8" fmla="*/ 0 60000 65536"/>
                <a:gd name="T9" fmla="*/ 0 60000 65536"/>
                <a:gd name="T10" fmla="*/ 0 60000 65536"/>
                <a:gd name="T11" fmla="*/ 0 60000 65536"/>
                <a:gd name="T12" fmla="*/ 0 w 1056"/>
                <a:gd name="T13" fmla="*/ 0 h 624"/>
                <a:gd name="T14" fmla="*/ 1056 w 1056"/>
                <a:gd name="T15" fmla="*/ 624 h 624"/>
              </a:gdLst>
              <a:ahLst/>
              <a:cxnLst>
                <a:cxn ang="T8">
                  <a:pos x="T0" y="T1"/>
                </a:cxn>
                <a:cxn ang="T9">
                  <a:pos x="T2" y="T3"/>
                </a:cxn>
                <a:cxn ang="T10">
                  <a:pos x="T4" y="T5"/>
                </a:cxn>
                <a:cxn ang="T11">
                  <a:pos x="T6" y="T7"/>
                </a:cxn>
              </a:cxnLst>
              <a:rect l="T12" t="T13" r="T14" b="T15"/>
              <a:pathLst>
                <a:path w="1056" h="624">
                  <a:moveTo>
                    <a:pt x="192" y="0"/>
                  </a:moveTo>
                  <a:lnTo>
                    <a:pt x="0" y="0"/>
                  </a:lnTo>
                  <a:lnTo>
                    <a:pt x="0" y="624"/>
                  </a:lnTo>
                  <a:lnTo>
                    <a:pt x="1056" y="624"/>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9953" name="Freeform 15"/>
            <p:cNvSpPr/>
            <p:nvPr/>
          </p:nvSpPr>
          <p:spPr bwMode="auto">
            <a:xfrm flipH="1">
              <a:off x="2904" y="1014"/>
              <a:ext cx="1186" cy="624"/>
            </a:xfrm>
            <a:custGeom>
              <a:avLst/>
              <a:gdLst>
                <a:gd name="T0" fmla="*/ 236 w 1056"/>
                <a:gd name="T1" fmla="*/ 0 h 624"/>
                <a:gd name="T2" fmla="*/ 0 w 1056"/>
                <a:gd name="T3" fmla="*/ 0 h 624"/>
                <a:gd name="T4" fmla="*/ 0 w 1056"/>
                <a:gd name="T5" fmla="*/ 624 h 624"/>
                <a:gd name="T6" fmla="*/ 1296 w 1056"/>
                <a:gd name="T7" fmla="*/ 624 h 624"/>
                <a:gd name="T8" fmla="*/ 0 60000 65536"/>
                <a:gd name="T9" fmla="*/ 0 60000 65536"/>
                <a:gd name="T10" fmla="*/ 0 60000 65536"/>
                <a:gd name="T11" fmla="*/ 0 60000 65536"/>
                <a:gd name="T12" fmla="*/ 0 w 1056"/>
                <a:gd name="T13" fmla="*/ 0 h 624"/>
                <a:gd name="T14" fmla="*/ 1056 w 1056"/>
                <a:gd name="T15" fmla="*/ 624 h 624"/>
              </a:gdLst>
              <a:ahLst/>
              <a:cxnLst>
                <a:cxn ang="T8">
                  <a:pos x="T0" y="T1"/>
                </a:cxn>
                <a:cxn ang="T9">
                  <a:pos x="T2" y="T3"/>
                </a:cxn>
                <a:cxn ang="T10">
                  <a:pos x="T4" y="T5"/>
                </a:cxn>
                <a:cxn ang="T11">
                  <a:pos x="T6" y="T7"/>
                </a:cxn>
              </a:cxnLst>
              <a:rect l="T12" t="T13" r="T14" b="T15"/>
              <a:pathLst>
                <a:path w="1056" h="624">
                  <a:moveTo>
                    <a:pt x="192" y="0"/>
                  </a:moveTo>
                  <a:lnTo>
                    <a:pt x="0" y="0"/>
                  </a:lnTo>
                  <a:lnTo>
                    <a:pt x="0" y="624"/>
                  </a:lnTo>
                  <a:lnTo>
                    <a:pt x="1056" y="624"/>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nvGrpSpPr>
            <p:cNvPr id="39954" name="Group 16"/>
            <p:cNvGrpSpPr/>
            <p:nvPr/>
          </p:nvGrpSpPr>
          <p:grpSpPr bwMode="auto">
            <a:xfrm>
              <a:off x="2784" y="1488"/>
              <a:ext cx="75" cy="288"/>
              <a:chOff x="2784" y="1488"/>
              <a:chExt cx="75" cy="288"/>
            </a:xfrm>
          </p:grpSpPr>
          <p:sp>
            <p:nvSpPr>
              <p:cNvPr id="39956" name="Line 17"/>
              <p:cNvSpPr>
                <a:spLocks noChangeShapeType="1"/>
              </p:cNvSpPr>
              <p:nvPr/>
            </p:nvSpPr>
            <p:spPr bwMode="auto">
              <a:xfrm>
                <a:off x="2784" y="1488"/>
                <a:ext cx="0" cy="288"/>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7" name="Line 18"/>
              <p:cNvSpPr>
                <a:spLocks noChangeShapeType="1"/>
              </p:cNvSpPr>
              <p:nvPr/>
            </p:nvSpPr>
            <p:spPr bwMode="auto">
              <a:xfrm>
                <a:off x="2859" y="1566"/>
                <a:ext cx="0" cy="144"/>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9955" name="Text Box 22"/>
            <p:cNvSpPr txBox="1">
              <a:spLocks noChangeArrowheads="1"/>
            </p:cNvSpPr>
            <p:nvPr/>
          </p:nvSpPr>
          <p:spPr bwMode="auto">
            <a:xfrm>
              <a:off x="2736" y="1728"/>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sp>
        <p:nvSpPr>
          <p:cNvPr id="45079" name="Line 23"/>
          <p:cNvSpPr>
            <a:spLocks noChangeShapeType="1"/>
          </p:cNvSpPr>
          <p:nvPr/>
        </p:nvSpPr>
        <p:spPr bwMode="auto">
          <a:xfrm>
            <a:off x="3538115" y="4331469"/>
            <a:ext cx="3124200"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 name="Group 24"/>
          <p:cNvGrpSpPr/>
          <p:nvPr/>
        </p:nvGrpSpPr>
        <p:grpSpPr bwMode="auto">
          <a:xfrm>
            <a:off x="4768428" y="3509144"/>
            <a:ext cx="476250" cy="590550"/>
            <a:chOff x="4174" y="1749"/>
            <a:chExt cx="300" cy="393"/>
          </a:xfrm>
        </p:grpSpPr>
        <p:sp>
          <p:nvSpPr>
            <p:cNvPr id="39950" name="Rectangle 25"/>
            <p:cNvSpPr>
              <a:spLocks noChangeArrowheads="1"/>
            </p:cNvSpPr>
            <p:nvPr/>
          </p:nvSpPr>
          <p:spPr bwMode="auto">
            <a:xfrm>
              <a:off x="4174" y="1749"/>
              <a:ext cx="86" cy="393"/>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endParaRPr lang="zh-CN" altLang="en-US"/>
            </a:p>
          </p:txBody>
        </p:sp>
        <p:sp>
          <p:nvSpPr>
            <p:cNvPr id="39951" name="Rectangle 26"/>
            <p:cNvSpPr>
              <a:spLocks noChangeArrowheads="1"/>
            </p:cNvSpPr>
            <p:nvPr/>
          </p:nvSpPr>
          <p:spPr bwMode="auto">
            <a:xfrm>
              <a:off x="4388" y="1749"/>
              <a:ext cx="86" cy="393"/>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endParaRPr lang="zh-CN" altLang="en-US"/>
            </a:p>
          </p:txBody>
        </p:sp>
      </p:grpSp>
      <p:sp>
        <p:nvSpPr>
          <p:cNvPr id="45083" name="Text Box 27"/>
          <p:cNvSpPr txBox="1">
            <a:spLocks noChangeArrowheads="1"/>
          </p:cNvSpPr>
          <p:nvPr/>
        </p:nvSpPr>
        <p:spPr bwMode="auto">
          <a:xfrm>
            <a:off x="2911053" y="5314132"/>
            <a:ext cx="4613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PN</a:t>
            </a:r>
            <a:r>
              <a:rPr kumimoji="1" lang="zh-CN" altLang="en-US" sz="2400" b="1">
                <a:solidFill>
                  <a:schemeClr val="tx2"/>
                </a:solidFill>
                <a:latin typeface="Times New Roman" panose="02020603050405020304" pitchFamily="18" charset="0"/>
                <a:cs typeface="Times New Roman" panose="02020603050405020304" pitchFamily="18" charset="0"/>
              </a:rPr>
              <a:t>结加正向偏压，导电（导通）</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5084" name="Line 28"/>
          <p:cNvSpPr>
            <a:spLocks noChangeShapeType="1"/>
          </p:cNvSpPr>
          <p:nvPr/>
        </p:nvSpPr>
        <p:spPr bwMode="auto">
          <a:xfrm>
            <a:off x="3903240" y="3683769"/>
            <a:ext cx="2286000" cy="0"/>
          </a:xfrm>
          <a:prstGeom prst="line">
            <a:avLst/>
          </a:prstGeom>
          <a:noFill/>
          <a:ln w="57150">
            <a:solidFill>
              <a:srgbClr val="000066"/>
            </a:solidFill>
            <a:prstDash val="dash"/>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5085" name="Rectangle 29"/>
          <p:cNvSpPr>
            <a:spLocks noChangeArrowheads="1"/>
          </p:cNvSpPr>
          <p:nvPr/>
        </p:nvSpPr>
        <p:spPr bwMode="auto">
          <a:xfrm>
            <a:off x="251520" y="2392363"/>
            <a:ext cx="847655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p>
            <a:pPr algn="just">
              <a:lnSpc>
                <a:spcPct val="15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内建电场受到削弱，空间电荷区变窄，载流子易于通过，因而产生导电现象（导通）。</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45086" name="Rectangle 30"/>
          <p:cNvSpPr>
            <a:spLocks noChangeArrowheads="1"/>
          </p:cNvSpPr>
          <p:nvPr/>
        </p:nvSpPr>
        <p:spPr bwMode="auto">
          <a:xfrm>
            <a:off x="755576" y="5805264"/>
            <a:ext cx="76914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just"/>
            <a:r>
              <a:rPr kumimoji="1" lang="zh-CN" altLang="en-US" sz="2400" b="1" dirty="0">
                <a:solidFill>
                  <a:schemeClr val="tx2"/>
                </a:solidFill>
                <a:latin typeface="Times New Roman" panose="02020603050405020304" pitchFamily="18" charset="0"/>
                <a:cs typeface="Times New Roman" panose="02020603050405020304" pitchFamily="18" charset="0"/>
              </a:rPr>
              <a:t>这种只有一种方向导电的现象称为</a:t>
            </a:r>
            <a:r>
              <a:rPr kumimoji="1" lang="en-US" altLang="zh-CN" sz="2400" b="1" dirty="0">
                <a:solidFill>
                  <a:schemeClr val="tx2"/>
                </a:solidFill>
                <a:latin typeface="Times New Roman" panose="02020603050405020304" pitchFamily="18" charset="0"/>
                <a:cs typeface="Times New Roman" panose="02020603050405020304" pitchFamily="18" charset="0"/>
              </a:rPr>
              <a:t>PN</a:t>
            </a:r>
            <a:r>
              <a:rPr kumimoji="1" lang="zh-CN" altLang="en-US" sz="2400" b="1" dirty="0">
                <a:solidFill>
                  <a:schemeClr val="tx2"/>
                </a:solidFill>
                <a:latin typeface="Times New Roman" panose="02020603050405020304" pitchFamily="18" charset="0"/>
                <a:cs typeface="Times New Roman" panose="02020603050405020304" pitchFamily="18" charset="0"/>
              </a:rPr>
              <a:t>结的单向导电性。</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heckerboard(across)">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5079"/>
                                        </p:tgtEl>
                                        <p:attrNameLst>
                                          <p:attrName>style.visibility</p:attrName>
                                        </p:attrNameLst>
                                      </p:cBhvr>
                                      <p:to>
                                        <p:strVal val="visible"/>
                                      </p:to>
                                    </p:set>
                                    <p:animEffect transition="in" filter="wipe(left)">
                                      <p:cBhvr>
                                        <p:cTn id="23" dur="500"/>
                                        <p:tgtEl>
                                          <p:spTgt spid="4507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100"/>
                                  </p:iterate>
                                  <p:childTnLst>
                                    <p:set>
                                      <p:cBhvr>
                                        <p:cTn id="27" dur="1" fill="hold">
                                          <p:stCondLst>
                                            <p:cond delay="0"/>
                                          </p:stCondLst>
                                        </p:cTn>
                                        <p:tgtEl>
                                          <p:spTgt spid="45085"/>
                                        </p:tgtEl>
                                        <p:attrNameLst>
                                          <p:attrName>style.visibility</p:attrName>
                                        </p:attrNameLst>
                                      </p:cBhvr>
                                      <p:to>
                                        <p:strVal val="visible"/>
                                      </p:to>
                                    </p:set>
                                  </p:childTnLst>
                                </p:cTn>
                              </p:par>
                            </p:childTnLst>
                          </p:cTn>
                        </p:par>
                        <p:par>
                          <p:cTn id="28" fill="hold">
                            <p:stCondLst>
                              <p:cond delay="3799"/>
                            </p:stCondLst>
                            <p:childTnLst>
                              <p:par>
                                <p:cTn id="29" presetID="5" presetClass="entr" presetSubtype="1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checkerboard(across)">
                                      <p:cBhvr>
                                        <p:cTn id="31" dur="500"/>
                                        <p:tgtEl>
                                          <p:spTgt spid="7"/>
                                        </p:tgtEl>
                                      </p:cBhvr>
                                    </p:animEffect>
                                  </p:childTnLst>
                                </p:cTn>
                              </p:par>
                            </p:childTnLst>
                          </p:cTn>
                        </p:par>
                        <p:par>
                          <p:cTn id="32" fill="hold">
                            <p:stCondLst>
                              <p:cond delay="4299"/>
                            </p:stCondLst>
                            <p:childTnLst>
                              <p:par>
                                <p:cTn id="33" presetID="22" presetClass="entr" presetSubtype="8" fill="hold" grpId="0" nodeType="afterEffect">
                                  <p:stCondLst>
                                    <p:cond delay="0"/>
                                  </p:stCondLst>
                                  <p:iterate type="lt">
                                    <p:tmPct val="100000"/>
                                  </p:iterate>
                                  <p:childTnLst>
                                    <p:set>
                                      <p:cBhvr>
                                        <p:cTn id="34" dur="1" fill="hold">
                                          <p:stCondLst>
                                            <p:cond delay="0"/>
                                          </p:stCondLst>
                                        </p:cTn>
                                        <p:tgtEl>
                                          <p:spTgt spid="45083"/>
                                        </p:tgtEl>
                                        <p:attrNameLst>
                                          <p:attrName>style.visibility</p:attrName>
                                        </p:attrNameLst>
                                      </p:cBhvr>
                                      <p:to>
                                        <p:strVal val="visible"/>
                                      </p:to>
                                    </p:set>
                                    <p:animEffect transition="in" filter="wipe(left)">
                                      <p:cBhvr>
                                        <p:cTn id="35" dur="75"/>
                                        <p:tgtEl>
                                          <p:spTgt spid="45083"/>
                                        </p:tgtEl>
                                      </p:cBhvr>
                                    </p:animEffect>
                                  </p:childTnLst>
                                </p:cTn>
                              </p:par>
                            </p:childTnLst>
                          </p:cTn>
                        </p:par>
                        <p:par>
                          <p:cTn id="36" fill="hold">
                            <p:stCondLst>
                              <p:cond delay="5425"/>
                            </p:stCondLst>
                            <p:childTnLst>
                              <p:par>
                                <p:cTn id="37" presetID="22" presetClass="entr" presetSubtype="8" fill="hold" grpId="0" nodeType="afterEffect">
                                  <p:stCondLst>
                                    <p:cond delay="0"/>
                                  </p:stCondLst>
                                  <p:childTnLst>
                                    <p:set>
                                      <p:cBhvr>
                                        <p:cTn id="38" dur="1" fill="hold">
                                          <p:stCondLst>
                                            <p:cond delay="0"/>
                                          </p:stCondLst>
                                        </p:cTn>
                                        <p:tgtEl>
                                          <p:spTgt spid="45084"/>
                                        </p:tgtEl>
                                        <p:attrNameLst>
                                          <p:attrName>style.visibility</p:attrName>
                                        </p:attrNameLst>
                                      </p:cBhvr>
                                      <p:to>
                                        <p:strVal val="visible"/>
                                      </p:to>
                                    </p:set>
                                    <p:animEffect transition="in" filter="wipe(left)">
                                      <p:cBhvr>
                                        <p:cTn id="39" dur="500"/>
                                        <p:tgtEl>
                                          <p:spTgt spid="4508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5086"/>
                                        </p:tgtEl>
                                        <p:attrNameLst>
                                          <p:attrName>style.visibility</p:attrName>
                                        </p:attrNameLst>
                                      </p:cBhvr>
                                      <p:to>
                                        <p:strVal val="visible"/>
                                      </p:to>
                                    </p:set>
                                    <p:animEffect transition="in" filter="wipe(left)">
                                      <p:cBhvr>
                                        <p:cTn id="44" dur="1000"/>
                                        <p:tgtEl>
                                          <p:spTgt spid="45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79" grpId="0" animBg="1"/>
      <p:bldP spid="45083" grpId="0" autoUpdateAnimBg="0"/>
      <p:bldP spid="45084" grpId="0" animBg="1"/>
      <p:bldP spid="45085" grpId="0"/>
      <p:bldP spid="4508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13</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4" name="灯片编号占位符 3"/>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40963" name="Rectangle 3"/>
          <p:cNvSpPr>
            <a:spLocks noGrp="1" noChangeArrowheads="1"/>
          </p:cNvSpPr>
          <p:nvPr>
            <p:ph sz="quarter" idx="4294967295"/>
          </p:nvPr>
        </p:nvSpPr>
        <p:spPr>
          <a:xfrm>
            <a:off x="0" y="765175"/>
            <a:ext cx="8891588" cy="5543550"/>
          </a:xfrm>
        </p:spPr>
        <p:txBody>
          <a:bodyPr/>
          <a:lstStyle/>
          <a:p>
            <a:pPr eaLnBrk="1" hangingPunct="1"/>
            <a:r>
              <a:rPr lang="zh-CN" altLang="en-US" dirty="0" smtClean="0">
                <a:ea typeface="宋体" panose="02010600030101010101" pitchFamily="2" charset="-122"/>
              </a:rPr>
              <a:t>半导体二极管</a:t>
            </a:r>
            <a:endParaRPr lang="zh-CN" altLang="en-US" dirty="0" smtClean="0">
              <a:ea typeface="宋体" panose="02010600030101010101" pitchFamily="2" charset="-122"/>
            </a:endParaRPr>
          </a:p>
          <a:p>
            <a:pPr lvl="1" eaLnBrk="1" hangingPunct="1">
              <a:lnSpc>
                <a:spcPct val="150000"/>
              </a:lnSpc>
            </a:pPr>
            <a:r>
              <a:rPr lang="zh-CN" altLang="en-US" sz="2400" dirty="0" smtClean="0"/>
              <a:t>半导体二极管的电路符号与基本结构</a:t>
            </a:r>
            <a:endParaRPr lang="zh-CN" altLang="en-US" sz="2400" dirty="0" smtClean="0"/>
          </a:p>
          <a:p>
            <a:pPr lvl="1" eaLnBrk="1" hangingPunct="1">
              <a:lnSpc>
                <a:spcPct val="150000"/>
              </a:lnSpc>
              <a:buFont typeface="Wingdings" panose="05000000000000000000" pitchFamily="2" charset="2"/>
              <a:buNone/>
            </a:pPr>
            <a:r>
              <a:rPr lang="zh-CN" altLang="en-US" sz="2400" dirty="0" smtClean="0"/>
              <a:t>    半导体二极管内部就是一个</a:t>
            </a:r>
            <a:r>
              <a:rPr lang="en-US" altLang="zh-CN" sz="2400" dirty="0" smtClean="0"/>
              <a:t>PN</a:t>
            </a:r>
            <a:r>
              <a:rPr lang="zh-CN" altLang="en-US" sz="2400" dirty="0" smtClean="0"/>
              <a:t>结，将其封装并接出两个引出端，从 </a:t>
            </a:r>
            <a:r>
              <a:rPr lang="en-US" altLang="zh-CN" sz="2400" dirty="0" smtClean="0"/>
              <a:t>P </a:t>
            </a:r>
            <a:r>
              <a:rPr lang="zh-CN" altLang="en-US" sz="2400" dirty="0" smtClean="0"/>
              <a:t>区引出的端称为阳极（正极），从 </a:t>
            </a:r>
            <a:r>
              <a:rPr lang="en-US" altLang="zh-CN" sz="2400" dirty="0" smtClean="0"/>
              <a:t>N </a:t>
            </a:r>
            <a:r>
              <a:rPr lang="zh-CN" altLang="en-US" sz="2400" dirty="0" smtClean="0"/>
              <a:t>区引出的端称为阴极（负极）。电路符号如图所示。</a:t>
            </a:r>
            <a:endParaRPr lang="zh-CN" altLang="en-US" sz="2400" dirty="0" smtClean="0"/>
          </a:p>
          <a:p>
            <a:pPr lvl="1" eaLnBrk="1" hangingPunct="1">
              <a:buFont typeface="Wingdings" panose="05000000000000000000" pitchFamily="2" charset="2"/>
              <a:buNone/>
            </a:pPr>
            <a:endParaRPr lang="en-US" altLang="zh-CN" dirty="0" smtClean="0"/>
          </a:p>
        </p:txBody>
      </p:sp>
      <p:grpSp>
        <p:nvGrpSpPr>
          <p:cNvPr id="2" name="Group 31"/>
          <p:cNvGrpSpPr/>
          <p:nvPr/>
        </p:nvGrpSpPr>
        <p:grpSpPr bwMode="auto">
          <a:xfrm rot="5400000" flipH="1">
            <a:off x="7223126" y="3435350"/>
            <a:ext cx="457200" cy="1044575"/>
            <a:chOff x="3264" y="1452"/>
            <a:chExt cx="288" cy="658"/>
          </a:xfrm>
        </p:grpSpPr>
        <p:sp>
          <p:nvSpPr>
            <p:cNvPr id="40978" name="AutoShape 32"/>
            <p:cNvSpPr>
              <a:spLocks noChangeArrowheads="1"/>
            </p:cNvSpPr>
            <p:nvPr/>
          </p:nvSpPr>
          <p:spPr bwMode="auto">
            <a:xfrm>
              <a:off x="3264"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979" name="Line 33"/>
            <p:cNvSpPr>
              <a:spLocks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0" name="Line 34"/>
            <p:cNvSpPr>
              <a:spLocks noChangeShapeType="1"/>
            </p:cNvSpPr>
            <p:nvPr/>
          </p:nvSpPr>
          <p:spPr bwMode="auto">
            <a:xfrm>
              <a:off x="3408" y="1452"/>
              <a:ext cx="0" cy="65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6531" name="Text Box 35"/>
          <p:cNvSpPr txBox="1">
            <a:spLocks noChangeArrowheads="1"/>
          </p:cNvSpPr>
          <p:nvPr/>
        </p:nvSpPr>
        <p:spPr bwMode="auto">
          <a:xfrm>
            <a:off x="6151563" y="3729038"/>
            <a:ext cx="933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阳极</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6532" name="Text Box 36"/>
          <p:cNvSpPr txBox="1">
            <a:spLocks noChangeArrowheads="1"/>
          </p:cNvSpPr>
          <p:nvPr/>
        </p:nvSpPr>
        <p:spPr bwMode="auto">
          <a:xfrm>
            <a:off x="8132763" y="3729038"/>
            <a:ext cx="1011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阴极</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6533" name="Text Box 37"/>
          <p:cNvSpPr txBox="1">
            <a:spLocks noChangeArrowheads="1"/>
          </p:cNvSpPr>
          <p:nvPr/>
        </p:nvSpPr>
        <p:spPr bwMode="auto">
          <a:xfrm>
            <a:off x="7329488" y="3271838"/>
            <a:ext cx="350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cs typeface="Times New Roman" panose="02020603050405020304" pitchFamily="18" charset="0"/>
              </a:rPr>
              <a:t>D</a:t>
            </a:r>
            <a:endParaRPr kumimoji="1" lang="en-US" altLang="zh-CN" b="1">
              <a:latin typeface="Times New Roman" panose="02020603050405020304" pitchFamily="18" charset="0"/>
              <a:cs typeface="Times New Roman" panose="02020603050405020304" pitchFamily="18" charset="0"/>
            </a:endParaRPr>
          </a:p>
        </p:txBody>
      </p:sp>
      <p:sp>
        <p:nvSpPr>
          <p:cNvPr id="106534" name="Text Box 38"/>
          <p:cNvSpPr txBox="1">
            <a:spLocks noChangeArrowheads="1"/>
          </p:cNvSpPr>
          <p:nvPr/>
        </p:nvSpPr>
        <p:spPr bwMode="auto">
          <a:xfrm>
            <a:off x="6338888" y="4359275"/>
            <a:ext cx="2497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二极管电路符号</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6535" name="Text Box 39"/>
          <p:cNvSpPr txBox="1">
            <a:spLocks noChangeArrowheads="1"/>
          </p:cNvSpPr>
          <p:nvPr/>
        </p:nvSpPr>
        <p:spPr bwMode="auto">
          <a:xfrm>
            <a:off x="1065213" y="3467100"/>
            <a:ext cx="4664075"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根据</a:t>
            </a:r>
            <a:r>
              <a:rPr kumimoji="1" lang="en-US" altLang="zh-CN" sz="2400" b="1">
                <a:solidFill>
                  <a:schemeClr val="tx2"/>
                </a:solidFill>
                <a:latin typeface="Times New Roman" panose="02020603050405020304" pitchFamily="18" charset="0"/>
                <a:cs typeface="Times New Roman" panose="02020603050405020304" pitchFamily="18" charset="0"/>
              </a:rPr>
              <a:t>PN</a:t>
            </a:r>
            <a:r>
              <a:rPr kumimoji="1" lang="zh-CN" altLang="en-US" sz="2400" b="1">
                <a:solidFill>
                  <a:schemeClr val="tx2"/>
                </a:solidFill>
                <a:latin typeface="Times New Roman" panose="02020603050405020304" pitchFamily="18" charset="0"/>
                <a:cs typeface="Times New Roman" panose="02020603050405020304" pitchFamily="18" charset="0"/>
              </a:rPr>
              <a:t>结的单向导电性，二极管只有当阳极电位高于阴极电位时，才能按箭头方向导通电流。</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6536" name="Text Box 40"/>
          <p:cNvSpPr txBox="1">
            <a:spLocks noChangeArrowheads="1"/>
          </p:cNvSpPr>
          <p:nvPr/>
        </p:nvSpPr>
        <p:spPr bwMode="auto">
          <a:xfrm>
            <a:off x="573088" y="5383213"/>
            <a:ext cx="736758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符号箭头指示方向为正，色点则表示该端为正极。</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6537" name="Text Box 41"/>
          <p:cNvSpPr txBox="1">
            <a:spLocks noChangeArrowheads="1"/>
          </p:cNvSpPr>
          <p:nvPr/>
        </p:nvSpPr>
        <p:spPr bwMode="auto">
          <a:xfrm>
            <a:off x="446088" y="4941888"/>
            <a:ext cx="598805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zh-CN" sz="2400" b="1">
                <a:solidFill>
                  <a:schemeClr val="tx2"/>
                </a:solidFill>
                <a:latin typeface="Times New Roman" panose="02020603050405020304" pitchFamily="18" charset="0"/>
                <a:cs typeface="Times New Roman" panose="02020603050405020304" pitchFamily="18" charset="0"/>
              </a:rPr>
              <a:t>为了防止使用时极性接错，管壳上标有 “</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3" name="Group 42"/>
          <p:cNvGrpSpPr/>
          <p:nvPr/>
        </p:nvGrpSpPr>
        <p:grpSpPr bwMode="auto">
          <a:xfrm rot="5400000" flipH="1">
            <a:off x="6489701" y="5032375"/>
            <a:ext cx="228600" cy="511175"/>
            <a:chOff x="3264" y="1452"/>
            <a:chExt cx="288" cy="658"/>
          </a:xfrm>
        </p:grpSpPr>
        <p:sp>
          <p:nvSpPr>
            <p:cNvPr id="40975" name="AutoShape 43"/>
            <p:cNvSpPr>
              <a:spLocks noChangeArrowheads="1"/>
            </p:cNvSpPr>
            <p:nvPr/>
          </p:nvSpPr>
          <p:spPr bwMode="auto">
            <a:xfrm>
              <a:off x="3264"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976" name="Line 44"/>
            <p:cNvSpPr>
              <a:spLocks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7" name="Line 45"/>
            <p:cNvSpPr>
              <a:spLocks noChangeShapeType="1"/>
            </p:cNvSpPr>
            <p:nvPr/>
          </p:nvSpPr>
          <p:spPr bwMode="auto">
            <a:xfrm>
              <a:off x="3408" y="1452"/>
              <a:ext cx="0" cy="65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6542" name="Rectangle 46"/>
          <p:cNvSpPr>
            <a:spLocks noChangeArrowheads="1"/>
          </p:cNvSpPr>
          <p:nvPr/>
        </p:nvSpPr>
        <p:spPr bwMode="auto">
          <a:xfrm>
            <a:off x="6846888" y="4932363"/>
            <a:ext cx="254158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符号或色点，</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6543" name="Text Box 47"/>
          <p:cNvSpPr txBox="1">
            <a:spLocks noChangeArrowheads="1"/>
          </p:cNvSpPr>
          <p:nvPr/>
        </p:nvSpPr>
        <p:spPr bwMode="auto">
          <a:xfrm>
            <a:off x="742950" y="4992688"/>
            <a:ext cx="6507163" cy="1052512"/>
          </a:xfrm>
          <a:prstGeom prst="rect">
            <a:avLst/>
          </a:prstGeom>
          <a:solidFill>
            <a:srgbClr val="DDDDDD"/>
          </a:solidFill>
          <a:ln w="38100">
            <a:solidFill>
              <a:srgbClr val="FF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如果二极管极性接错，不仅造成电路无法正常工作，还会烧坏二极管及电路中其他元件。</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4" presetClass="entr" presetSubtype="32" fill="hold" grpId="0" nodeType="afterEffect">
                                  <p:stCondLst>
                                    <p:cond delay="0"/>
                                  </p:stCondLst>
                                  <p:childTnLst>
                                    <p:set>
                                      <p:cBhvr>
                                        <p:cTn id="9" dur="1" fill="hold">
                                          <p:stCondLst>
                                            <p:cond delay="0"/>
                                          </p:stCondLst>
                                        </p:cTn>
                                        <p:tgtEl>
                                          <p:spTgt spid="106534"/>
                                        </p:tgtEl>
                                        <p:attrNameLst>
                                          <p:attrName>style.visibility</p:attrName>
                                        </p:attrNameLst>
                                      </p:cBhvr>
                                      <p:to>
                                        <p:strVal val="visible"/>
                                      </p:to>
                                    </p:set>
                                    <p:animEffect transition="in" filter="box(out)">
                                      <p:cBhvr>
                                        <p:cTn id="10" dur="500"/>
                                        <p:tgtEl>
                                          <p:spTgt spid="106534"/>
                                        </p:tgtEl>
                                      </p:cBhvr>
                                    </p:animEffect>
                                  </p:childTnLst>
                                </p:cTn>
                              </p:par>
                            </p:childTnLst>
                          </p:cTn>
                        </p:par>
                        <p:par>
                          <p:cTn id="11" fill="hold">
                            <p:stCondLst>
                              <p:cond delay="1000"/>
                            </p:stCondLst>
                            <p:childTnLst>
                              <p:par>
                                <p:cTn id="12" presetID="22" presetClass="entr" presetSubtype="8" fill="hold" grpId="0" nodeType="afterEffect">
                                  <p:stCondLst>
                                    <p:cond delay="0"/>
                                  </p:stCondLst>
                                  <p:iterate type="lt">
                                    <p:tmPct val="100000"/>
                                  </p:iterate>
                                  <p:childTnLst>
                                    <p:set>
                                      <p:cBhvr>
                                        <p:cTn id="13" dur="1" fill="hold">
                                          <p:stCondLst>
                                            <p:cond delay="0"/>
                                          </p:stCondLst>
                                        </p:cTn>
                                        <p:tgtEl>
                                          <p:spTgt spid="106531"/>
                                        </p:tgtEl>
                                        <p:attrNameLst>
                                          <p:attrName>style.visibility</p:attrName>
                                        </p:attrNameLst>
                                      </p:cBhvr>
                                      <p:to>
                                        <p:strVal val="visible"/>
                                      </p:to>
                                    </p:set>
                                    <p:animEffect transition="in" filter="wipe(left)">
                                      <p:cBhvr>
                                        <p:cTn id="14" dur="75"/>
                                        <p:tgtEl>
                                          <p:spTgt spid="106531"/>
                                        </p:tgtEl>
                                      </p:cBhvr>
                                    </p:animEffect>
                                  </p:childTnLst>
                                </p:cTn>
                              </p:par>
                            </p:childTnLst>
                          </p:cTn>
                        </p:par>
                        <p:par>
                          <p:cTn id="15" fill="hold">
                            <p:stCondLst>
                              <p:cond delay="1149"/>
                            </p:stCondLst>
                            <p:childTnLst>
                              <p:par>
                                <p:cTn id="16" presetID="22" presetClass="entr" presetSubtype="8" fill="hold" grpId="0" nodeType="afterEffect">
                                  <p:stCondLst>
                                    <p:cond delay="0"/>
                                  </p:stCondLst>
                                  <p:iterate type="lt">
                                    <p:tmPct val="100000"/>
                                  </p:iterate>
                                  <p:childTnLst>
                                    <p:set>
                                      <p:cBhvr>
                                        <p:cTn id="17" dur="1" fill="hold">
                                          <p:stCondLst>
                                            <p:cond delay="0"/>
                                          </p:stCondLst>
                                        </p:cTn>
                                        <p:tgtEl>
                                          <p:spTgt spid="106532"/>
                                        </p:tgtEl>
                                        <p:attrNameLst>
                                          <p:attrName>style.visibility</p:attrName>
                                        </p:attrNameLst>
                                      </p:cBhvr>
                                      <p:to>
                                        <p:strVal val="visible"/>
                                      </p:to>
                                    </p:set>
                                    <p:animEffect transition="in" filter="wipe(left)">
                                      <p:cBhvr>
                                        <p:cTn id="18" dur="75"/>
                                        <p:tgtEl>
                                          <p:spTgt spid="106532"/>
                                        </p:tgtEl>
                                      </p:cBhvr>
                                    </p:animEffect>
                                  </p:childTnLst>
                                </p:cTn>
                              </p:par>
                            </p:childTnLst>
                          </p:cTn>
                        </p:par>
                        <p:par>
                          <p:cTn id="19" fill="hold">
                            <p:stCondLst>
                              <p:cond delay="1299"/>
                            </p:stCondLst>
                            <p:childTnLst>
                              <p:par>
                                <p:cTn id="20" presetID="22" presetClass="entr" presetSubtype="8" fill="hold" grpId="0" nodeType="afterEffect">
                                  <p:stCondLst>
                                    <p:cond delay="0"/>
                                  </p:stCondLst>
                                  <p:iterate type="lt">
                                    <p:tmPct val="100000"/>
                                  </p:iterate>
                                  <p:childTnLst>
                                    <p:set>
                                      <p:cBhvr>
                                        <p:cTn id="21" dur="1" fill="hold">
                                          <p:stCondLst>
                                            <p:cond delay="0"/>
                                          </p:stCondLst>
                                        </p:cTn>
                                        <p:tgtEl>
                                          <p:spTgt spid="106533"/>
                                        </p:tgtEl>
                                        <p:attrNameLst>
                                          <p:attrName>style.visibility</p:attrName>
                                        </p:attrNameLst>
                                      </p:cBhvr>
                                      <p:to>
                                        <p:strVal val="visible"/>
                                      </p:to>
                                    </p:set>
                                    <p:animEffect transition="in" filter="wipe(left)">
                                      <p:cBhvr>
                                        <p:cTn id="22" dur="75"/>
                                        <p:tgtEl>
                                          <p:spTgt spid="1065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06535"/>
                                        </p:tgtEl>
                                        <p:attrNameLst>
                                          <p:attrName>style.visibility</p:attrName>
                                        </p:attrNameLst>
                                      </p:cBhvr>
                                      <p:to>
                                        <p:strVal val="visible"/>
                                      </p:to>
                                    </p:set>
                                    <p:animEffect transition="in" filter="wipe(left)">
                                      <p:cBhvr>
                                        <p:cTn id="27" dur="75"/>
                                        <p:tgtEl>
                                          <p:spTgt spid="106535"/>
                                        </p:tgtEl>
                                      </p:cBhvr>
                                    </p:animEffect>
                                  </p:childTnLst>
                                </p:cTn>
                              </p:par>
                            </p:childTnLst>
                          </p:cTn>
                        </p:par>
                        <p:par>
                          <p:cTn id="28" fill="hold">
                            <p:stCondLst>
                              <p:cond delay="3150"/>
                            </p:stCondLst>
                            <p:childTnLst>
                              <p:par>
                                <p:cTn id="29" presetID="1" presetClass="entr" presetSubtype="0" fill="hold" grpId="0" nodeType="afterEffect">
                                  <p:stCondLst>
                                    <p:cond delay="0"/>
                                  </p:stCondLst>
                                  <p:iterate type="lt">
                                    <p:tmAbs val="75"/>
                                  </p:iterate>
                                  <p:childTnLst>
                                    <p:set>
                                      <p:cBhvr>
                                        <p:cTn id="30" dur="1" fill="hold">
                                          <p:stCondLst>
                                            <p:cond delay="74"/>
                                          </p:stCondLst>
                                        </p:cTn>
                                        <p:tgtEl>
                                          <p:spTgt spid="106537"/>
                                        </p:tgtEl>
                                        <p:attrNameLst>
                                          <p:attrName>style.visibility</p:attrName>
                                        </p:attrNameLst>
                                      </p:cBhvr>
                                      <p:to>
                                        <p:strVal val="visible"/>
                                      </p:to>
                                    </p:set>
                                  </p:childTnLst>
                                </p:cTn>
                              </p:par>
                            </p:childTnLst>
                          </p:cTn>
                        </p:par>
                        <p:par>
                          <p:cTn id="31" fill="hold">
                            <p:stCondLst>
                              <p:cond delay="4575"/>
                            </p:stCondLst>
                            <p:childTnLst>
                              <p:par>
                                <p:cTn id="32" presetID="22" presetClass="entr" presetSubtype="8"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par>
                          <p:cTn id="35" fill="hold">
                            <p:stCondLst>
                              <p:cond delay="5075"/>
                            </p:stCondLst>
                            <p:childTnLst>
                              <p:par>
                                <p:cTn id="36" presetID="1" presetClass="entr" presetSubtype="0" fill="hold" grpId="0" nodeType="afterEffect">
                                  <p:stCondLst>
                                    <p:cond delay="0"/>
                                  </p:stCondLst>
                                  <p:iterate type="lt">
                                    <p:tmAbs val="75"/>
                                  </p:iterate>
                                  <p:childTnLst>
                                    <p:set>
                                      <p:cBhvr>
                                        <p:cTn id="37" dur="1" fill="hold">
                                          <p:stCondLst>
                                            <p:cond delay="74"/>
                                          </p:stCondLst>
                                        </p:cTn>
                                        <p:tgtEl>
                                          <p:spTgt spid="106542"/>
                                        </p:tgtEl>
                                        <p:attrNameLst>
                                          <p:attrName>style.visibility</p:attrName>
                                        </p:attrNameLst>
                                      </p:cBhvr>
                                      <p:to>
                                        <p:strVal val="visible"/>
                                      </p:to>
                                    </p:set>
                                  </p:childTnLst>
                                </p:cTn>
                              </p:par>
                            </p:childTnLst>
                          </p:cTn>
                        </p:par>
                        <p:par>
                          <p:cTn id="38" fill="hold">
                            <p:stCondLst>
                              <p:cond delay="5675"/>
                            </p:stCondLst>
                            <p:childTnLst>
                              <p:par>
                                <p:cTn id="39" presetID="1" presetClass="entr" presetSubtype="0" fill="hold" grpId="0" nodeType="afterEffect">
                                  <p:stCondLst>
                                    <p:cond delay="0"/>
                                  </p:stCondLst>
                                  <p:iterate type="lt">
                                    <p:tmAbs val="75"/>
                                  </p:iterate>
                                  <p:childTnLst>
                                    <p:set>
                                      <p:cBhvr>
                                        <p:cTn id="40" dur="1" fill="hold">
                                          <p:stCondLst>
                                            <p:cond delay="74"/>
                                          </p:stCondLst>
                                        </p:cTn>
                                        <p:tgtEl>
                                          <p:spTgt spid="1065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iterate type="lt">
                                    <p:tmPct val="100000"/>
                                  </p:iterate>
                                  <p:childTnLst>
                                    <p:set>
                                      <p:cBhvr>
                                        <p:cTn id="44" dur="1" fill="hold">
                                          <p:stCondLst>
                                            <p:cond delay="0"/>
                                          </p:stCondLst>
                                        </p:cTn>
                                        <p:tgtEl>
                                          <p:spTgt spid="106543"/>
                                        </p:tgtEl>
                                        <p:attrNameLst>
                                          <p:attrName>style.visibility</p:attrName>
                                        </p:attrNameLst>
                                      </p:cBhvr>
                                      <p:to>
                                        <p:strVal val="visible"/>
                                      </p:to>
                                    </p:set>
                                    <p:animEffect transition="in" filter="wipe(left)">
                                      <p:cBhvr>
                                        <p:cTn id="45" dur="75"/>
                                        <p:tgtEl>
                                          <p:spTgt spid="106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31" grpId="0" autoUpdateAnimBg="0"/>
      <p:bldP spid="106532" grpId="0" autoUpdateAnimBg="0"/>
      <p:bldP spid="106533" grpId="0" autoUpdateAnimBg="0"/>
      <p:bldP spid="106534" grpId="0" autoUpdateAnimBg="0"/>
      <p:bldP spid="106535" grpId="0" autoUpdateAnimBg="0"/>
      <p:bldP spid="106536" grpId="0" autoUpdateAnimBg="0"/>
      <p:bldP spid="106537" grpId="0" autoUpdateAnimBg="0"/>
      <p:bldP spid="106542" grpId="0" autoUpdateAnimBg="0"/>
      <p:bldP spid="106543"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14</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4" name="灯片编号占位符 3"/>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41987" name="Rectangle 3"/>
          <p:cNvSpPr>
            <a:spLocks noGrp="1" noChangeArrowheads="1"/>
          </p:cNvSpPr>
          <p:nvPr>
            <p:ph sz="quarter" idx="4294967295"/>
          </p:nvPr>
        </p:nvSpPr>
        <p:spPr>
          <a:xfrm>
            <a:off x="0" y="765175"/>
            <a:ext cx="8891588" cy="5543550"/>
          </a:xfrm>
        </p:spPr>
        <p:txBody>
          <a:bodyPr/>
          <a:lstStyle/>
          <a:p>
            <a:pPr lvl="1" eaLnBrk="1" hangingPunct="1"/>
            <a:r>
              <a:rPr lang="zh-CN" altLang="en-US" smtClean="0"/>
              <a:t>二极管的基本结构</a:t>
            </a:r>
            <a:endParaRPr lang="zh-CN" altLang="en-US" smtClean="0"/>
          </a:p>
        </p:txBody>
      </p:sp>
      <p:grpSp>
        <p:nvGrpSpPr>
          <p:cNvPr id="2" name="Group 31"/>
          <p:cNvGrpSpPr/>
          <p:nvPr/>
        </p:nvGrpSpPr>
        <p:grpSpPr bwMode="auto">
          <a:xfrm>
            <a:off x="1200150" y="1771650"/>
            <a:ext cx="4038600" cy="3543300"/>
            <a:chOff x="372" y="1612"/>
            <a:chExt cx="2544" cy="2232"/>
          </a:xfrm>
        </p:grpSpPr>
        <p:sp>
          <p:nvSpPr>
            <p:cNvPr id="42001" name="AutoShape 32"/>
            <p:cNvSpPr>
              <a:spLocks noChangeArrowheads="1"/>
            </p:cNvSpPr>
            <p:nvPr/>
          </p:nvSpPr>
          <p:spPr bwMode="auto">
            <a:xfrm>
              <a:off x="852" y="2196"/>
              <a:ext cx="1668" cy="492"/>
            </a:xfrm>
            <a:prstGeom prst="roundRect">
              <a:avLst>
                <a:gd name="adj" fmla="val 16667"/>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2002" name="AutoShape 33"/>
            <p:cNvSpPr>
              <a:spLocks noChangeArrowheads="1"/>
            </p:cNvSpPr>
            <p:nvPr/>
          </p:nvSpPr>
          <p:spPr bwMode="auto">
            <a:xfrm>
              <a:off x="960" y="2280"/>
              <a:ext cx="1452" cy="324"/>
            </a:xfrm>
            <a:prstGeom prst="roundRect">
              <a:avLst>
                <a:gd name="adj" fmla="val 16667"/>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2003" name="Line 34"/>
            <p:cNvSpPr>
              <a:spLocks noChangeShapeType="1"/>
            </p:cNvSpPr>
            <p:nvPr/>
          </p:nvSpPr>
          <p:spPr bwMode="auto">
            <a:xfrm>
              <a:off x="384" y="2448"/>
              <a:ext cx="780"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42004" name="Line 35"/>
            <p:cNvSpPr>
              <a:spLocks noChangeShapeType="1"/>
            </p:cNvSpPr>
            <p:nvPr/>
          </p:nvSpPr>
          <p:spPr bwMode="auto">
            <a:xfrm>
              <a:off x="2136" y="2448"/>
              <a:ext cx="780"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42005" name="Rectangle 36"/>
            <p:cNvSpPr>
              <a:spLocks noChangeArrowheads="1"/>
            </p:cNvSpPr>
            <p:nvPr/>
          </p:nvSpPr>
          <p:spPr bwMode="auto">
            <a:xfrm>
              <a:off x="2064" y="2328"/>
              <a:ext cx="72" cy="240"/>
            </a:xfrm>
            <a:prstGeom prst="rect">
              <a:avLst/>
            </a:prstGeom>
            <a:noFill/>
            <a:ln w="381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42006" name="Line 37"/>
            <p:cNvSpPr>
              <a:spLocks noChangeShapeType="1"/>
            </p:cNvSpPr>
            <p:nvPr/>
          </p:nvSpPr>
          <p:spPr bwMode="auto">
            <a:xfrm>
              <a:off x="1164" y="2388"/>
              <a:ext cx="0" cy="12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2007" name="AutoShape 38"/>
            <p:cNvSpPr/>
            <p:nvPr/>
          </p:nvSpPr>
          <p:spPr bwMode="auto">
            <a:xfrm>
              <a:off x="588" y="2927"/>
              <a:ext cx="576" cy="312"/>
            </a:xfrm>
            <a:prstGeom prst="borderCallout1">
              <a:avLst>
                <a:gd name="adj1" fmla="val 23079"/>
                <a:gd name="adj2" fmla="val -8333"/>
                <a:gd name="adj3" fmla="val -147435"/>
                <a:gd name="adj4" fmla="val -12500"/>
              </a:avLst>
            </a:prstGeom>
            <a:noFill/>
            <a:ln w="38100">
              <a:solidFill>
                <a:schemeClr val="tx1"/>
              </a:solidFill>
              <a:miter lim="800000"/>
              <a:headEnd type="none" w="sm" len="sm"/>
              <a:tailEnd type="triangl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pPr>
                <a:spcBef>
                  <a:spcPct val="50000"/>
                </a:spcBef>
              </a:pPr>
              <a:r>
                <a:rPr kumimoji="1" lang="zh-CN" altLang="en-US"/>
                <a:t>引线</a:t>
              </a:r>
              <a:endParaRPr kumimoji="1" lang="zh-CN" altLang="en-US"/>
            </a:p>
          </p:txBody>
        </p:sp>
        <p:sp>
          <p:nvSpPr>
            <p:cNvPr id="42008" name="AutoShape 39"/>
            <p:cNvSpPr/>
            <p:nvPr/>
          </p:nvSpPr>
          <p:spPr bwMode="auto">
            <a:xfrm>
              <a:off x="390" y="3532"/>
              <a:ext cx="825" cy="312"/>
            </a:xfrm>
            <a:prstGeom prst="borderCallout1">
              <a:avLst>
                <a:gd name="adj1" fmla="val 23079"/>
                <a:gd name="adj2" fmla="val 105819"/>
                <a:gd name="adj3" fmla="val -283653"/>
                <a:gd name="adj4" fmla="val 106907"/>
              </a:avLst>
            </a:prstGeom>
            <a:noFill/>
            <a:ln w="38100">
              <a:solidFill>
                <a:schemeClr val="tx1"/>
              </a:solidFill>
              <a:miter lim="800000"/>
              <a:headEnd type="none" w="sm" len="sm"/>
              <a:tailEnd type="triangl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pPr>
                <a:spcBef>
                  <a:spcPct val="50000"/>
                </a:spcBef>
              </a:pPr>
              <a:r>
                <a:rPr kumimoji="1" lang="zh-CN" altLang="en-US"/>
                <a:t>外壳</a:t>
              </a:r>
              <a:endParaRPr kumimoji="1" lang="zh-CN" altLang="en-US"/>
            </a:p>
          </p:txBody>
        </p:sp>
        <p:sp>
          <p:nvSpPr>
            <p:cNvPr id="42009" name="Freeform 40"/>
            <p:cNvSpPr/>
            <p:nvPr/>
          </p:nvSpPr>
          <p:spPr bwMode="auto">
            <a:xfrm>
              <a:off x="1164" y="2423"/>
              <a:ext cx="853" cy="47"/>
            </a:xfrm>
            <a:custGeom>
              <a:avLst/>
              <a:gdLst>
                <a:gd name="T0" fmla="*/ 0 w 756"/>
                <a:gd name="T1" fmla="*/ 7 h 108"/>
                <a:gd name="T2" fmla="*/ 225 w 756"/>
                <a:gd name="T3" fmla="*/ 0 h 108"/>
                <a:gd name="T4" fmla="*/ 379 w 756"/>
                <a:gd name="T5" fmla="*/ 8 h 108"/>
                <a:gd name="T6" fmla="*/ 810 w 756"/>
                <a:gd name="T7" fmla="*/ 5 h 108"/>
                <a:gd name="T8" fmla="*/ 1085 w 756"/>
                <a:gd name="T9" fmla="*/ 2 h 108"/>
                <a:gd name="T10" fmla="*/ 0 60000 65536"/>
                <a:gd name="T11" fmla="*/ 0 60000 65536"/>
                <a:gd name="T12" fmla="*/ 0 60000 65536"/>
                <a:gd name="T13" fmla="*/ 0 60000 65536"/>
                <a:gd name="T14" fmla="*/ 0 60000 65536"/>
                <a:gd name="T15" fmla="*/ 0 w 756"/>
                <a:gd name="T16" fmla="*/ 0 h 108"/>
                <a:gd name="T17" fmla="*/ 756 w 756"/>
                <a:gd name="T18" fmla="*/ 108 h 108"/>
              </a:gdLst>
              <a:ahLst/>
              <a:cxnLst>
                <a:cxn ang="T10">
                  <a:pos x="T0" y="T1"/>
                </a:cxn>
                <a:cxn ang="T11">
                  <a:pos x="T2" y="T3"/>
                </a:cxn>
                <a:cxn ang="T12">
                  <a:pos x="T4" y="T5"/>
                </a:cxn>
                <a:cxn ang="T13">
                  <a:pos x="T6" y="T7"/>
                </a:cxn>
                <a:cxn ang="T14">
                  <a:pos x="T8" y="T9"/>
                </a:cxn>
              </a:cxnLst>
              <a:rect l="T15" t="T16" r="T17" b="T18"/>
              <a:pathLst>
                <a:path w="756" h="108">
                  <a:moveTo>
                    <a:pt x="0" y="86"/>
                  </a:moveTo>
                  <a:cubicBezTo>
                    <a:pt x="56" y="43"/>
                    <a:pt x="112" y="0"/>
                    <a:pt x="156" y="2"/>
                  </a:cubicBezTo>
                  <a:cubicBezTo>
                    <a:pt x="200" y="4"/>
                    <a:pt x="196" y="88"/>
                    <a:pt x="264" y="98"/>
                  </a:cubicBezTo>
                  <a:cubicBezTo>
                    <a:pt x="332" y="108"/>
                    <a:pt x="482" y="74"/>
                    <a:pt x="564" y="62"/>
                  </a:cubicBezTo>
                  <a:cubicBezTo>
                    <a:pt x="646" y="50"/>
                    <a:pt x="724" y="32"/>
                    <a:pt x="756" y="26"/>
                  </a:cubicBezTo>
                </a:path>
              </a:pathLst>
            </a:custGeom>
            <a:noFill/>
            <a:ln w="254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2010" name="Rectangle 41"/>
            <p:cNvSpPr>
              <a:spLocks noChangeArrowheads="1"/>
            </p:cNvSpPr>
            <p:nvPr/>
          </p:nvSpPr>
          <p:spPr bwMode="auto">
            <a:xfrm flipH="1">
              <a:off x="2017" y="2375"/>
              <a:ext cx="47" cy="133"/>
            </a:xfrm>
            <a:prstGeom prst="rect">
              <a:avLst/>
            </a:prstGeom>
            <a:noFill/>
            <a:ln w="381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2011" name="AutoShape 42"/>
            <p:cNvSpPr/>
            <p:nvPr/>
          </p:nvSpPr>
          <p:spPr bwMode="auto">
            <a:xfrm>
              <a:off x="372" y="1612"/>
              <a:ext cx="780" cy="312"/>
            </a:xfrm>
            <a:prstGeom prst="borderCallout1">
              <a:avLst>
                <a:gd name="adj1" fmla="val 23079"/>
                <a:gd name="adj2" fmla="val 106153"/>
                <a:gd name="adj3" fmla="val 247116"/>
                <a:gd name="adj4" fmla="val 149231"/>
              </a:avLst>
            </a:prstGeom>
            <a:noFill/>
            <a:ln w="38100">
              <a:solidFill>
                <a:schemeClr val="tx1"/>
              </a:solidFill>
              <a:miter lim="800000"/>
              <a:headEnd type="none" w="sm" len="sm"/>
              <a:tailEnd type="triangl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pPr>
                <a:spcBef>
                  <a:spcPct val="50000"/>
                </a:spcBef>
              </a:pPr>
              <a:r>
                <a:rPr kumimoji="1" lang="zh-CN" altLang="en-US"/>
                <a:t>触丝线</a:t>
              </a:r>
              <a:endParaRPr kumimoji="1" lang="zh-CN" altLang="en-US"/>
            </a:p>
          </p:txBody>
        </p:sp>
        <p:sp>
          <p:nvSpPr>
            <p:cNvPr id="42012" name="AutoShape 43"/>
            <p:cNvSpPr/>
            <p:nvPr/>
          </p:nvSpPr>
          <p:spPr bwMode="auto">
            <a:xfrm>
              <a:off x="2076" y="3047"/>
              <a:ext cx="576" cy="312"/>
            </a:xfrm>
            <a:prstGeom prst="borderCallout1">
              <a:avLst>
                <a:gd name="adj1" fmla="val 23079"/>
                <a:gd name="adj2" fmla="val -8333"/>
                <a:gd name="adj3" fmla="val -166667"/>
                <a:gd name="adj4" fmla="val -12500"/>
              </a:avLst>
            </a:prstGeom>
            <a:noFill/>
            <a:ln w="38100">
              <a:solidFill>
                <a:schemeClr val="tx1"/>
              </a:solidFill>
              <a:miter lim="800000"/>
              <a:headEnd type="none" w="sm" len="sm"/>
              <a:tailEnd type="triangl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pPr>
                <a:spcBef>
                  <a:spcPct val="50000"/>
                </a:spcBef>
              </a:pPr>
              <a:r>
                <a:rPr kumimoji="1" lang="zh-CN" altLang="en-US"/>
                <a:t>基片</a:t>
              </a:r>
              <a:endParaRPr kumimoji="1" lang="zh-CN" altLang="en-US"/>
            </a:p>
          </p:txBody>
        </p:sp>
      </p:grpSp>
      <p:sp>
        <p:nvSpPr>
          <p:cNvPr id="107564" name="Text Box 44"/>
          <p:cNvSpPr txBox="1">
            <a:spLocks noChangeArrowheads="1"/>
          </p:cNvSpPr>
          <p:nvPr/>
        </p:nvSpPr>
        <p:spPr bwMode="auto">
          <a:xfrm>
            <a:off x="1414463" y="5634038"/>
            <a:ext cx="1900237"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chemeClr val="tx2"/>
                </a:solidFill>
              </a:rPr>
              <a:t>点接触型</a:t>
            </a:r>
            <a:endParaRPr kumimoji="1" lang="zh-CN" altLang="en-US" sz="3200" b="1">
              <a:solidFill>
                <a:schemeClr val="tx2"/>
              </a:solidFill>
            </a:endParaRPr>
          </a:p>
        </p:txBody>
      </p:sp>
      <p:grpSp>
        <p:nvGrpSpPr>
          <p:cNvPr id="3" name="Group 45"/>
          <p:cNvGrpSpPr/>
          <p:nvPr/>
        </p:nvGrpSpPr>
        <p:grpSpPr bwMode="auto">
          <a:xfrm>
            <a:off x="5314950" y="1657350"/>
            <a:ext cx="3371850" cy="3048000"/>
            <a:chOff x="3588" y="1612"/>
            <a:chExt cx="2124" cy="1920"/>
          </a:xfrm>
        </p:grpSpPr>
        <p:sp>
          <p:nvSpPr>
            <p:cNvPr id="41992" name="Line 46"/>
            <p:cNvSpPr>
              <a:spLocks noChangeShapeType="1"/>
            </p:cNvSpPr>
            <p:nvPr/>
          </p:nvSpPr>
          <p:spPr bwMode="auto">
            <a:xfrm>
              <a:off x="4272" y="2987"/>
              <a:ext cx="0" cy="54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nvGrpSpPr>
            <p:cNvPr id="41993" name="Group 47"/>
            <p:cNvGrpSpPr/>
            <p:nvPr/>
          </p:nvGrpSpPr>
          <p:grpSpPr bwMode="auto">
            <a:xfrm>
              <a:off x="3588" y="1612"/>
              <a:ext cx="2124" cy="1375"/>
              <a:chOff x="3588" y="1612"/>
              <a:chExt cx="2124" cy="1375"/>
            </a:xfrm>
          </p:grpSpPr>
          <p:sp>
            <p:nvSpPr>
              <p:cNvPr id="41994" name="Rectangle 48"/>
              <p:cNvSpPr>
                <a:spLocks noChangeArrowheads="1"/>
              </p:cNvSpPr>
              <p:nvPr/>
            </p:nvSpPr>
            <p:spPr bwMode="auto">
              <a:xfrm>
                <a:off x="3588" y="2795"/>
                <a:ext cx="1368" cy="192"/>
              </a:xfrm>
              <a:prstGeom prst="rect">
                <a:avLst/>
              </a:prstGeom>
              <a:solidFill>
                <a:srgbClr val="969696"/>
              </a:solidFill>
              <a:ln w="38100">
                <a:solidFill>
                  <a:schemeClr val="tx1"/>
                </a:solidFill>
                <a:miter lim="800000"/>
                <a:headEnd type="none" w="sm" len="sm"/>
                <a:tailEnd type="none" w="sm" len="sm"/>
              </a:ln>
            </p:spPr>
            <p:txBody>
              <a:bodyPr lIns="90000" tIns="46800" rIns="90000" bIns="46800" anchor="ctr">
                <a:spAutoFit/>
              </a:bodyPr>
              <a:lstStyle/>
              <a:p>
                <a:endParaRPr lang="zh-CN" altLang="en-US"/>
              </a:p>
            </p:txBody>
          </p:sp>
          <p:sp>
            <p:nvSpPr>
              <p:cNvPr id="41995" name="Rectangle 49"/>
              <p:cNvSpPr>
                <a:spLocks noChangeArrowheads="1"/>
              </p:cNvSpPr>
              <p:nvPr/>
            </p:nvSpPr>
            <p:spPr bwMode="auto">
              <a:xfrm>
                <a:off x="3815" y="2675"/>
                <a:ext cx="925" cy="120"/>
              </a:xfrm>
              <a:prstGeom prst="rect">
                <a:avLst/>
              </a:prstGeom>
              <a:noFill/>
              <a:ln w="381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41996" name="Rectangle 50"/>
              <p:cNvSpPr>
                <a:spLocks noChangeArrowheads="1"/>
              </p:cNvSpPr>
              <p:nvPr/>
            </p:nvSpPr>
            <p:spPr bwMode="auto">
              <a:xfrm>
                <a:off x="4032" y="2316"/>
                <a:ext cx="492" cy="359"/>
              </a:xfrm>
              <a:prstGeom prst="rect">
                <a:avLst/>
              </a:prstGeom>
              <a:noFill/>
              <a:ln w="381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41997" name="Rectangle 51"/>
              <p:cNvSpPr>
                <a:spLocks noChangeArrowheads="1"/>
              </p:cNvSpPr>
              <p:nvPr/>
            </p:nvSpPr>
            <p:spPr bwMode="auto">
              <a:xfrm>
                <a:off x="4188" y="2136"/>
                <a:ext cx="168" cy="300"/>
              </a:xfrm>
              <a:prstGeom prst="rect">
                <a:avLst/>
              </a:prstGeom>
              <a:solidFill>
                <a:schemeClr val="hlink"/>
              </a:solidFill>
              <a:ln w="38100">
                <a:solidFill>
                  <a:schemeClr val="tx1"/>
                </a:solidFill>
                <a:miter lim="800000"/>
                <a:headEnd type="none" w="sm" len="sm"/>
                <a:tailEnd type="none" w="sm" len="sm"/>
              </a:ln>
            </p:spPr>
            <p:txBody>
              <a:bodyPr wrap="none" lIns="90000" tIns="46800" rIns="90000" bIns="46800" anchor="ctr">
                <a:spAutoFit/>
              </a:bodyPr>
              <a:lstStyle/>
              <a:p>
                <a:endParaRPr lang="zh-CN" altLang="en-US"/>
              </a:p>
            </p:txBody>
          </p:sp>
          <p:sp>
            <p:nvSpPr>
              <p:cNvPr id="41998" name="Rectangle 52"/>
              <p:cNvSpPr>
                <a:spLocks noChangeArrowheads="1"/>
              </p:cNvSpPr>
              <p:nvPr/>
            </p:nvSpPr>
            <p:spPr bwMode="auto">
              <a:xfrm>
                <a:off x="4188" y="2316"/>
                <a:ext cx="168" cy="120"/>
              </a:xfrm>
              <a:prstGeom prst="rect">
                <a:avLst/>
              </a:prstGeom>
              <a:solidFill>
                <a:srgbClr val="99CCFF"/>
              </a:solidFill>
              <a:ln w="38100">
                <a:solidFill>
                  <a:schemeClr val="tx1"/>
                </a:solidFill>
                <a:miter lim="800000"/>
                <a:headEnd type="none" w="sm" len="sm"/>
                <a:tailEnd type="none" w="sm" len="sm"/>
              </a:ln>
            </p:spPr>
            <p:txBody>
              <a:bodyPr wrap="none" lIns="90000" tIns="46800" rIns="90000" bIns="46800" anchor="ctr">
                <a:spAutoFit/>
              </a:bodyPr>
              <a:lstStyle/>
              <a:p>
                <a:endParaRPr lang="zh-CN" altLang="en-US"/>
              </a:p>
            </p:txBody>
          </p:sp>
          <p:sp>
            <p:nvSpPr>
              <p:cNvPr id="41999" name="Line 53"/>
              <p:cNvSpPr>
                <a:spLocks noChangeShapeType="1"/>
              </p:cNvSpPr>
              <p:nvPr/>
            </p:nvSpPr>
            <p:spPr bwMode="auto">
              <a:xfrm flipV="1">
                <a:off x="4272" y="1612"/>
                <a:ext cx="0" cy="524"/>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42000" name="AutoShape 54"/>
              <p:cNvSpPr/>
              <p:nvPr/>
            </p:nvSpPr>
            <p:spPr bwMode="auto">
              <a:xfrm>
                <a:off x="5016" y="1983"/>
                <a:ext cx="696" cy="312"/>
              </a:xfrm>
              <a:prstGeom prst="borderCallout1">
                <a:avLst>
                  <a:gd name="adj1" fmla="val 19046"/>
                  <a:gd name="adj2" fmla="val -6898"/>
                  <a:gd name="adj3" fmla="val 147884"/>
                  <a:gd name="adj4" fmla="val -93102"/>
                </a:avLst>
              </a:prstGeom>
              <a:noFill/>
              <a:ln w="38100">
                <a:solidFill>
                  <a:schemeClr val="tx1"/>
                </a:solidFill>
                <a:miter lim="800000"/>
                <a:headEnd type="none" w="sm" len="sm"/>
                <a:tailEnd type="triangle" w="sm" len="sm"/>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pPr>
                  <a:spcBef>
                    <a:spcPct val="50000"/>
                  </a:spcBef>
                </a:pPr>
                <a:r>
                  <a:rPr kumimoji="1" lang="en-US" altLang="zh-CN"/>
                  <a:t>PN</a:t>
                </a:r>
                <a:r>
                  <a:rPr kumimoji="1" lang="zh-CN" altLang="en-US"/>
                  <a:t>结</a:t>
                </a:r>
                <a:endParaRPr kumimoji="1" lang="zh-CN" altLang="en-US" sz="3200"/>
              </a:p>
            </p:txBody>
          </p:sp>
        </p:grpSp>
      </p:grpSp>
      <p:sp>
        <p:nvSpPr>
          <p:cNvPr id="107575" name="Text Box 55"/>
          <p:cNvSpPr txBox="1">
            <a:spLocks noChangeArrowheads="1"/>
          </p:cNvSpPr>
          <p:nvPr/>
        </p:nvSpPr>
        <p:spPr bwMode="auto">
          <a:xfrm>
            <a:off x="5962650" y="5219700"/>
            <a:ext cx="1900238"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chemeClr val="tx2"/>
                </a:solidFill>
              </a:rPr>
              <a:t>面接触型</a:t>
            </a:r>
            <a:endParaRPr kumimoji="1" lang="zh-CN" altLang="en-US" sz="3200" b="1">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07564"/>
                                        </p:tgtEl>
                                        <p:attrNameLst>
                                          <p:attrName>style.visibility</p:attrName>
                                        </p:attrNameLst>
                                      </p:cBhvr>
                                      <p:to>
                                        <p:strVal val="visible"/>
                                      </p:to>
                                    </p:set>
                                    <p:animEffect transition="in" filter="checkerboard(across)">
                                      <p:cBhvr>
                                        <p:cTn id="11" dur="500"/>
                                        <p:tgtEl>
                                          <p:spTgt spid="107564"/>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heckerboard(across)">
                                      <p:cBhvr>
                                        <p:cTn id="16" dur="500"/>
                                        <p:tgtEl>
                                          <p:spTgt spid="3"/>
                                        </p:tgtEl>
                                      </p:cBhvr>
                                    </p:animEffect>
                                  </p:childTnLst>
                                </p:cTn>
                              </p:par>
                            </p:childTnLst>
                          </p:cTn>
                        </p:par>
                        <p:par>
                          <p:cTn id="17" fill="hold">
                            <p:stCondLst>
                              <p:cond delay="500"/>
                            </p:stCondLst>
                            <p:childTnLst>
                              <p:par>
                                <p:cTn id="18" presetID="4" presetClass="entr" presetSubtype="32" fill="hold" grpId="0" nodeType="afterEffect">
                                  <p:stCondLst>
                                    <p:cond delay="0"/>
                                  </p:stCondLst>
                                  <p:childTnLst>
                                    <p:set>
                                      <p:cBhvr>
                                        <p:cTn id="19" dur="1" fill="hold">
                                          <p:stCondLst>
                                            <p:cond delay="0"/>
                                          </p:stCondLst>
                                        </p:cTn>
                                        <p:tgtEl>
                                          <p:spTgt spid="107575"/>
                                        </p:tgtEl>
                                        <p:attrNameLst>
                                          <p:attrName>style.visibility</p:attrName>
                                        </p:attrNameLst>
                                      </p:cBhvr>
                                      <p:to>
                                        <p:strVal val="visible"/>
                                      </p:to>
                                    </p:set>
                                    <p:animEffect transition="in" filter="box(out)">
                                      <p:cBhvr>
                                        <p:cTn id="20" dur="500"/>
                                        <p:tgtEl>
                                          <p:spTgt spid="107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64" grpId="0" autoUpdateAnimBg="0"/>
      <p:bldP spid="10757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15</a:t>
            </a:r>
            <a:r>
              <a:rPr lang="zh-CN" altLang="en-US" sz="2800" smtClean="0">
                <a:ea typeface="宋体" panose="02010600030101010101" pitchFamily="2" charset="-122"/>
              </a:rPr>
              <a:t>）</a:t>
            </a:r>
            <a:endParaRPr lang="zh-CN" altLang="en-US" sz="28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graphicFrame>
        <p:nvGraphicFramePr>
          <p:cNvPr id="1026" name="Object 2"/>
          <p:cNvGraphicFramePr>
            <a:graphicFrameLocks noChangeAspect="1"/>
          </p:cNvGraphicFramePr>
          <p:nvPr/>
        </p:nvGraphicFramePr>
        <p:xfrm>
          <a:off x="1571625" y="1384301"/>
          <a:ext cx="6613697" cy="4781004"/>
        </p:xfrm>
        <a:graphic>
          <a:graphicData uri="http://schemas.openxmlformats.org/presentationml/2006/ole">
            <mc:AlternateContent xmlns:mc="http://schemas.openxmlformats.org/markup-compatibility/2006">
              <mc:Choice xmlns:v="urn:schemas-microsoft-com:vml" Requires="v">
                <p:oleObj spid="_x0000_s1052" name="Bitmap Image" r:id="rId1" imgW="3048000" imgH="2286000" progId="PBrush">
                  <p:embed/>
                </p:oleObj>
              </mc:Choice>
              <mc:Fallback>
                <p:oleObj name="Bitmap Image" r:id="rId1" imgW="3048000" imgH="2286000" progId="PBrush">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1384301"/>
                        <a:ext cx="6613697" cy="4781004"/>
                      </a:xfrm>
                      <a:prstGeom prst="rect">
                        <a:avLst/>
                      </a:prstGeom>
                      <a:noFill/>
                      <a:ln>
                        <a:noFill/>
                      </a:ln>
                    </p:spPr>
                  </p:pic>
                </p:oleObj>
              </mc:Fallback>
            </mc:AlternateContent>
          </a:graphicData>
        </a:graphic>
      </p:graphicFrame>
      <p:sp>
        <p:nvSpPr>
          <p:cNvPr id="1028" name="TextBox 4"/>
          <p:cNvSpPr txBox="1">
            <a:spLocks noChangeArrowheads="1"/>
          </p:cNvSpPr>
          <p:nvPr/>
        </p:nvSpPr>
        <p:spPr bwMode="auto">
          <a:xfrm>
            <a:off x="285750" y="764704"/>
            <a:ext cx="2709863"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800" b="1" dirty="0">
                <a:solidFill>
                  <a:schemeClr val="tx2"/>
                </a:solidFill>
                <a:latin typeface="宋体" panose="02010600030101010101" pitchFamily="2" charset="-122"/>
                <a:cs typeface="Times New Roman" panose="02020603050405020304" pitchFamily="18" charset="0"/>
              </a:rPr>
              <a:t>常见二极管实物</a:t>
            </a:r>
            <a:endParaRPr kumimoji="1" lang="zh-CN" altLang="en-US" sz="2800" b="1" dirty="0">
              <a:solidFill>
                <a:schemeClr val="tx2"/>
              </a:solidFill>
              <a:latin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16</a:t>
            </a:r>
            <a:r>
              <a:rPr lang="zh-CN" altLang="en-US" sz="2800" smtClean="0">
                <a:ea typeface="宋体" panose="02010600030101010101" pitchFamily="2" charset="-122"/>
              </a:rPr>
              <a:t>）</a:t>
            </a:r>
            <a:endParaRPr lang="zh-CN" altLang="en-US" sz="2800" smtClean="0">
              <a:ea typeface="宋体" panose="02010600030101010101" pitchFamily="2" charset="-122"/>
            </a:endParaRPr>
          </a:p>
        </p:txBody>
      </p:sp>
      <p:sp>
        <p:nvSpPr>
          <p:cNvPr id="4" name="灯片编号占位符 3"/>
          <p:cNvSpPr>
            <a:spLocks noGrp="1"/>
          </p:cNvSpPr>
          <p:nvPr>
            <p:ph type="sldNum" sz="quarter" idx="10"/>
          </p:nvPr>
        </p:nvSpPr>
        <p:spPr/>
        <p:txBody>
          <a:bodyPr/>
          <a:lstStyle/>
          <a:p>
            <a:pPr>
              <a:defRPr/>
            </a:pPr>
            <a:r>
              <a:rPr lang="zh-CN" altLang="en-US"/>
              <a:t>第</a:t>
            </a:r>
            <a:fld id="{01DB80A7-A3B0-4E12-A540-6350CFEF07BB}" type="slidenum">
              <a:rPr lang="zh-CN" altLang="en-US"/>
            </a:fld>
            <a:r>
              <a:rPr lang="zh-CN" altLang="en-US"/>
              <a:t>页</a:t>
            </a:r>
            <a:endParaRPr lang="zh-CN" altLang="en-US"/>
          </a:p>
        </p:txBody>
      </p:sp>
      <p:graphicFrame>
        <p:nvGraphicFramePr>
          <p:cNvPr id="2050" name="Object 2"/>
          <p:cNvGraphicFramePr>
            <a:graphicFrameLocks noChangeAspect="1"/>
          </p:cNvGraphicFramePr>
          <p:nvPr/>
        </p:nvGraphicFramePr>
        <p:xfrm>
          <a:off x="1308926" y="1412776"/>
          <a:ext cx="6445250" cy="4867275"/>
        </p:xfrm>
        <a:graphic>
          <a:graphicData uri="http://schemas.openxmlformats.org/presentationml/2006/ole">
            <mc:AlternateContent xmlns:mc="http://schemas.openxmlformats.org/markup-compatibility/2006">
              <mc:Choice xmlns:v="urn:schemas-microsoft-com:vml" Requires="v">
                <p:oleObj spid="_x0000_s2077" name="BMP 图象" r:id="rId1" imgW="3112770" imgH="2359660" progId="PBrush">
                  <p:embed/>
                </p:oleObj>
              </mc:Choice>
              <mc:Fallback>
                <p:oleObj name="BMP 图象" r:id="rId1" imgW="3112770" imgH="2359660" progId="PBrush">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926" y="1412776"/>
                        <a:ext cx="6445250" cy="4867275"/>
                      </a:xfrm>
                      <a:prstGeom prst="rect">
                        <a:avLst/>
                      </a:prstGeom>
                      <a:noFill/>
                      <a:ln>
                        <a:noFill/>
                      </a:ln>
                      <a:extLst>
                        <a:ext uri="{909E8E84-426E-40DD-AFC4-6F175D3DCCD1}">
                          <a14:hiddenFill xmlns:a14="http://schemas.microsoft.com/office/drawing/2010/main">
                            <a:gradFill rotWithShape="0">
                              <a:gsLst>
                                <a:gs pos="0">
                                  <a:srgbClr val="0000FF"/>
                                </a:gs>
                                <a:gs pos="100000">
                                  <a:srgbClr val="66FFFF"/>
                                </a:gs>
                              </a:gsLst>
                              <a:lin ang="5400000" scaled="1"/>
                            </a:gra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053" name="矩形 4"/>
          <p:cNvSpPr>
            <a:spLocks noChangeArrowheads="1"/>
          </p:cNvSpPr>
          <p:nvPr/>
        </p:nvSpPr>
        <p:spPr bwMode="auto">
          <a:xfrm>
            <a:off x="1331640" y="847843"/>
            <a:ext cx="4516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chemeClr val="tx2"/>
                </a:solidFill>
                <a:latin typeface="Times New Roman" panose="02020603050405020304" pitchFamily="18" charset="0"/>
                <a:cs typeface="Times New Roman" panose="02020603050405020304" pitchFamily="18" charset="0"/>
              </a:rPr>
              <a:t>点接触型半导体二极管实物照片</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17</a:t>
            </a:r>
            <a:r>
              <a:rPr lang="zh-CN" altLang="en-US" sz="2800" smtClean="0">
                <a:ea typeface="宋体" panose="02010600030101010101" pitchFamily="2" charset="-122"/>
              </a:rPr>
              <a:t>）</a:t>
            </a:r>
            <a:endParaRPr lang="zh-CN" altLang="en-US" sz="2800" smtClean="0">
              <a:ea typeface="宋体" panose="02010600030101010101" pitchFamily="2" charset="-122"/>
            </a:endParaRPr>
          </a:p>
        </p:txBody>
      </p:sp>
      <p:sp>
        <p:nvSpPr>
          <p:cNvPr id="4" name="灯片编号占位符 3"/>
          <p:cNvSpPr>
            <a:spLocks noGrp="1"/>
          </p:cNvSpPr>
          <p:nvPr>
            <p:ph type="sldNum" sz="quarter" idx="10"/>
          </p:nvPr>
        </p:nvSpPr>
        <p:spPr/>
        <p:txBody>
          <a:bodyPr/>
          <a:lstStyle/>
          <a:p>
            <a:pPr>
              <a:defRPr/>
            </a:pPr>
            <a:r>
              <a:rPr lang="zh-CN" altLang="en-US"/>
              <a:t>第</a:t>
            </a:r>
            <a:fld id="{3D22688C-9F8D-40E3-B97A-41F759F417BC}" type="slidenum">
              <a:rPr lang="zh-CN" altLang="en-US"/>
            </a:fld>
            <a:r>
              <a:rPr lang="zh-CN" altLang="en-US"/>
              <a:t>页</a:t>
            </a:r>
            <a:endParaRPr lang="zh-CN" altLang="en-US"/>
          </a:p>
        </p:txBody>
      </p:sp>
      <p:graphicFrame>
        <p:nvGraphicFramePr>
          <p:cNvPr id="3074" name="Object 2"/>
          <p:cNvGraphicFramePr>
            <a:graphicFrameLocks noChangeAspect="1"/>
          </p:cNvGraphicFramePr>
          <p:nvPr/>
        </p:nvGraphicFramePr>
        <p:xfrm>
          <a:off x="1259632" y="1339786"/>
          <a:ext cx="6203950" cy="4686300"/>
        </p:xfrm>
        <a:graphic>
          <a:graphicData uri="http://schemas.openxmlformats.org/presentationml/2006/ole">
            <mc:AlternateContent xmlns:mc="http://schemas.openxmlformats.org/markup-compatibility/2006">
              <mc:Choice xmlns:v="urn:schemas-microsoft-com:vml" Requires="v">
                <p:oleObj spid="_x0000_s3101" name="BMP 图象" r:id="rId1" imgW="3112770" imgH="2359660" progId="PBrush">
                  <p:embed/>
                </p:oleObj>
              </mc:Choice>
              <mc:Fallback>
                <p:oleObj name="BMP 图象" r:id="rId1" imgW="3112770" imgH="2359660" progId="PBrush">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339786"/>
                        <a:ext cx="6203950" cy="4686300"/>
                      </a:xfrm>
                      <a:prstGeom prst="rect">
                        <a:avLst/>
                      </a:prstGeom>
                      <a:noFill/>
                      <a:ln>
                        <a:noFill/>
                      </a:ln>
                      <a:extLst>
                        <a:ext uri="{909E8E84-426E-40DD-AFC4-6F175D3DCCD1}">
                          <a14:hiddenFill xmlns:a14="http://schemas.microsoft.com/office/drawing/2010/main">
                            <a:gradFill rotWithShape="0">
                              <a:gsLst>
                                <a:gs pos="0">
                                  <a:srgbClr val="0000FF"/>
                                </a:gs>
                                <a:gs pos="100000">
                                  <a:srgbClr val="66FFFF"/>
                                </a:gs>
                              </a:gsLst>
                              <a:lin ang="5400000" scaled="1"/>
                            </a:gra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077" name="矩形 4"/>
          <p:cNvSpPr>
            <a:spLocks noChangeArrowheads="1"/>
          </p:cNvSpPr>
          <p:nvPr/>
        </p:nvSpPr>
        <p:spPr bwMode="auto">
          <a:xfrm>
            <a:off x="1691680" y="877824"/>
            <a:ext cx="45164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chemeClr val="tx2"/>
                </a:solidFill>
              </a:rPr>
              <a:t>面接触型半导体二极管实物照片</a:t>
            </a:r>
            <a:endParaRPr lang="zh-CN" altLang="en-US" sz="2400" b="1" dirty="0">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143000" y="0"/>
            <a:ext cx="7858125" cy="857250"/>
          </a:xfrm>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18</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43011" name="Rectangle 3"/>
          <p:cNvSpPr>
            <a:spLocks noGrp="1" noChangeArrowheads="1"/>
          </p:cNvSpPr>
          <p:nvPr>
            <p:ph sz="quarter" idx="11"/>
          </p:nvPr>
        </p:nvSpPr>
        <p:spPr/>
        <p:txBody>
          <a:bodyPr/>
          <a:lstStyle/>
          <a:p>
            <a:pPr lvl="1" eaLnBrk="1" hangingPunct="1"/>
            <a:r>
              <a:rPr lang="zh-CN" altLang="en-US" smtClean="0"/>
              <a:t>半导体二极管的伏安特性</a:t>
            </a:r>
            <a:endParaRPr lang="zh-CN" altLang="en-US" smtClean="0"/>
          </a:p>
        </p:txBody>
      </p:sp>
      <p:grpSp>
        <p:nvGrpSpPr>
          <p:cNvPr id="2" name="Group 31"/>
          <p:cNvGrpSpPr/>
          <p:nvPr/>
        </p:nvGrpSpPr>
        <p:grpSpPr bwMode="auto">
          <a:xfrm>
            <a:off x="1519238" y="1758950"/>
            <a:ext cx="1333500" cy="1757363"/>
            <a:chOff x="182" y="522"/>
            <a:chExt cx="840" cy="1107"/>
          </a:xfrm>
        </p:grpSpPr>
        <p:grpSp>
          <p:nvGrpSpPr>
            <p:cNvPr id="43030" name="Group 32"/>
            <p:cNvGrpSpPr/>
            <p:nvPr/>
          </p:nvGrpSpPr>
          <p:grpSpPr bwMode="auto">
            <a:xfrm flipV="1">
              <a:off x="432" y="912"/>
              <a:ext cx="288" cy="658"/>
              <a:chOff x="3264" y="1452"/>
              <a:chExt cx="288" cy="658"/>
            </a:xfrm>
          </p:grpSpPr>
          <p:sp>
            <p:nvSpPr>
              <p:cNvPr id="43035" name="AutoShape 33"/>
              <p:cNvSpPr>
                <a:spLocks noChangeArrowheads="1"/>
              </p:cNvSpPr>
              <p:nvPr/>
            </p:nvSpPr>
            <p:spPr bwMode="auto">
              <a:xfrm>
                <a:off x="3264"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43036" name="Line 34"/>
              <p:cNvSpPr>
                <a:spLocks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7" name="Line 35"/>
              <p:cNvSpPr>
                <a:spLocks noChangeShapeType="1"/>
              </p:cNvSpPr>
              <p:nvPr/>
            </p:nvSpPr>
            <p:spPr bwMode="auto">
              <a:xfrm>
                <a:off x="3408" y="1452"/>
                <a:ext cx="0" cy="65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3031" name="Text Box 36"/>
            <p:cNvSpPr txBox="1">
              <a:spLocks noChangeArrowheads="1"/>
            </p:cNvSpPr>
            <p:nvPr/>
          </p:nvSpPr>
          <p:spPr bwMode="auto">
            <a:xfrm>
              <a:off x="230" y="1161"/>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D</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43032" name="Line 37"/>
            <p:cNvSpPr>
              <a:spLocks noChangeShapeType="1"/>
            </p:cNvSpPr>
            <p:nvPr/>
          </p:nvSpPr>
          <p:spPr bwMode="auto">
            <a:xfrm>
              <a:off x="432" y="720"/>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3" name="Text Box 38"/>
            <p:cNvSpPr txBox="1">
              <a:spLocks noChangeArrowheads="1"/>
            </p:cNvSpPr>
            <p:nvPr/>
          </p:nvSpPr>
          <p:spPr bwMode="auto">
            <a:xfrm>
              <a:off x="182" y="522"/>
              <a:ext cx="24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43034" name="Text Box 40"/>
            <p:cNvSpPr txBox="1">
              <a:spLocks noChangeArrowheads="1"/>
            </p:cNvSpPr>
            <p:nvPr/>
          </p:nvSpPr>
          <p:spPr bwMode="auto">
            <a:xfrm>
              <a:off x="710" y="854"/>
              <a:ext cx="312" cy="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a:t>
              </a:r>
              <a:endParaRPr kumimoji="1" lang="en-US" altLang="zh-CN" sz="28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grpSp>
        <p:nvGrpSpPr>
          <p:cNvPr id="4" name="Group 41"/>
          <p:cNvGrpSpPr/>
          <p:nvPr/>
        </p:nvGrpSpPr>
        <p:grpSpPr bwMode="auto">
          <a:xfrm>
            <a:off x="3400425" y="1295400"/>
            <a:ext cx="5495925" cy="2447925"/>
            <a:chOff x="2084" y="384"/>
            <a:chExt cx="3462" cy="1542"/>
          </a:xfrm>
        </p:grpSpPr>
        <p:sp>
          <p:nvSpPr>
            <p:cNvPr id="43025" name="Text Box 42"/>
            <p:cNvSpPr txBox="1">
              <a:spLocks noChangeArrowheads="1"/>
            </p:cNvSpPr>
            <p:nvPr/>
          </p:nvSpPr>
          <p:spPr bwMode="auto">
            <a:xfrm>
              <a:off x="5088" y="1200"/>
              <a:ext cx="45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r>
                <a:rPr kumimoji="1" lang="en-US" altLang="zh-CN" b="1">
                  <a:solidFill>
                    <a:schemeClr val="tx2"/>
                  </a:solidFill>
                  <a:latin typeface="Times New Roman" panose="02020603050405020304" pitchFamily="18" charset="0"/>
                  <a:cs typeface="Times New Roman" panose="02020603050405020304" pitchFamily="18" charset="0"/>
                </a:rPr>
                <a:t>/V</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43026" name="Line 43"/>
            <p:cNvSpPr>
              <a:spLocks noChangeShapeType="1"/>
            </p:cNvSpPr>
            <p:nvPr/>
          </p:nvSpPr>
          <p:spPr bwMode="auto">
            <a:xfrm flipV="1">
              <a:off x="2084" y="1398"/>
              <a:ext cx="297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7" name="Line 44"/>
            <p:cNvSpPr>
              <a:spLocks noChangeShapeType="1"/>
            </p:cNvSpPr>
            <p:nvPr/>
          </p:nvSpPr>
          <p:spPr bwMode="auto">
            <a:xfrm flipV="1">
              <a:off x="3904" y="512"/>
              <a:ext cx="0" cy="141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8" name="Text Box 45"/>
            <p:cNvSpPr txBox="1">
              <a:spLocks noChangeArrowheads="1"/>
            </p:cNvSpPr>
            <p:nvPr/>
          </p:nvSpPr>
          <p:spPr bwMode="auto">
            <a:xfrm>
              <a:off x="3575" y="384"/>
              <a:ext cx="24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43029" name="Text Box 46"/>
            <p:cNvSpPr txBox="1">
              <a:spLocks noChangeArrowheads="1"/>
            </p:cNvSpPr>
            <p:nvPr/>
          </p:nvSpPr>
          <p:spPr bwMode="auto">
            <a:xfrm>
              <a:off x="3740" y="1376"/>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0</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sp>
        <p:nvSpPr>
          <p:cNvPr id="108591" name="Freeform 47"/>
          <p:cNvSpPr/>
          <p:nvPr/>
        </p:nvSpPr>
        <p:spPr bwMode="auto">
          <a:xfrm>
            <a:off x="6262688" y="1362075"/>
            <a:ext cx="1312862" cy="1560513"/>
          </a:xfrm>
          <a:custGeom>
            <a:avLst/>
            <a:gdLst>
              <a:gd name="T0" fmla="*/ 2147483647 w 827"/>
              <a:gd name="T1" fmla="*/ 0 h 983"/>
              <a:gd name="T2" fmla="*/ 2147483647 w 827"/>
              <a:gd name="T3" fmla="*/ 2147483647 h 983"/>
              <a:gd name="T4" fmla="*/ 2147483647 w 827"/>
              <a:gd name="T5" fmla="*/ 2147483647 h 983"/>
              <a:gd name="T6" fmla="*/ 2147483647 w 827"/>
              <a:gd name="T7" fmla="*/ 2147483647 h 983"/>
              <a:gd name="T8" fmla="*/ 2147483647 w 827"/>
              <a:gd name="T9" fmla="*/ 2147483647 h 983"/>
              <a:gd name="T10" fmla="*/ 0 w 827"/>
              <a:gd name="T11" fmla="*/ 2147483647 h 983"/>
              <a:gd name="T12" fmla="*/ 0 60000 65536"/>
              <a:gd name="T13" fmla="*/ 0 60000 65536"/>
              <a:gd name="T14" fmla="*/ 0 60000 65536"/>
              <a:gd name="T15" fmla="*/ 0 60000 65536"/>
              <a:gd name="T16" fmla="*/ 0 60000 65536"/>
              <a:gd name="T17" fmla="*/ 0 60000 65536"/>
              <a:gd name="T18" fmla="*/ 0 w 827"/>
              <a:gd name="T19" fmla="*/ 0 h 983"/>
              <a:gd name="T20" fmla="*/ 827 w 827"/>
              <a:gd name="T21" fmla="*/ 983 h 983"/>
            </a:gdLst>
            <a:ahLst/>
            <a:cxnLst>
              <a:cxn ang="T12">
                <a:pos x="T0" y="T1"/>
              </a:cxn>
              <a:cxn ang="T13">
                <a:pos x="T2" y="T3"/>
              </a:cxn>
              <a:cxn ang="T14">
                <a:pos x="T4" y="T5"/>
              </a:cxn>
              <a:cxn ang="T15">
                <a:pos x="T6" y="T7"/>
              </a:cxn>
              <a:cxn ang="T16">
                <a:pos x="T8" y="T9"/>
              </a:cxn>
              <a:cxn ang="T17">
                <a:pos x="T10" y="T11"/>
              </a:cxn>
            </a:cxnLst>
            <a:rect l="T18" t="T19" r="T20" b="T21"/>
            <a:pathLst>
              <a:path w="827" h="983">
                <a:moveTo>
                  <a:pt x="827" y="0"/>
                </a:moveTo>
                <a:cubicBezTo>
                  <a:pt x="819" y="76"/>
                  <a:pt x="794" y="331"/>
                  <a:pt x="768" y="455"/>
                </a:cubicBezTo>
                <a:cubicBezTo>
                  <a:pt x="742" y="579"/>
                  <a:pt x="735" y="669"/>
                  <a:pt x="672" y="743"/>
                </a:cubicBezTo>
                <a:cubicBezTo>
                  <a:pt x="609" y="817"/>
                  <a:pt x="470" y="865"/>
                  <a:pt x="392" y="900"/>
                </a:cubicBezTo>
                <a:cubicBezTo>
                  <a:pt x="314" y="935"/>
                  <a:pt x="271" y="937"/>
                  <a:pt x="206" y="951"/>
                </a:cubicBezTo>
                <a:cubicBezTo>
                  <a:pt x="141" y="965"/>
                  <a:pt x="43" y="976"/>
                  <a:pt x="0" y="983"/>
                </a:cubicBezTo>
              </a:path>
            </a:pathLst>
          </a:custGeom>
          <a:noFill/>
          <a:ln w="28575" cap="sq">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8593" name="Line 49"/>
          <p:cNvSpPr>
            <a:spLocks noChangeShapeType="1"/>
          </p:cNvSpPr>
          <p:nvPr/>
        </p:nvSpPr>
        <p:spPr bwMode="auto">
          <a:xfrm>
            <a:off x="7356475" y="2524125"/>
            <a:ext cx="0" cy="38100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96" name="Text Box 52"/>
          <p:cNvSpPr txBox="1">
            <a:spLocks noChangeArrowheads="1"/>
          </p:cNvSpPr>
          <p:nvPr/>
        </p:nvSpPr>
        <p:spPr bwMode="auto">
          <a:xfrm>
            <a:off x="7477125" y="176371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正向导通</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8599" name="Text Box 55"/>
          <p:cNvSpPr txBox="1">
            <a:spLocks noChangeArrowheads="1"/>
          </p:cNvSpPr>
          <p:nvPr/>
        </p:nvSpPr>
        <p:spPr bwMode="auto">
          <a:xfrm>
            <a:off x="7105650" y="2919413"/>
            <a:ext cx="504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0.5</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08600" name="Freeform 56"/>
          <p:cNvSpPr/>
          <p:nvPr/>
        </p:nvSpPr>
        <p:spPr bwMode="auto">
          <a:xfrm>
            <a:off x="6219825" y="1498600"/>
            <a:ext cx="711200" cy="1439863"/>
          </a:xfrm>
          <a:custGeom>
            <a:avLst/>
            <a:gdLst>
              <a:gd name="T0" fmla="*/ 2147483647 w 827"/>
              <a:gd name="T1" fmla="*/ 0 h 983"/>
              <a:gd name="T2" fmla="*/ 2147483647 w 827"/>
              <a:gd name="T3" fmla="*/ 2147483647 h 983"/>
              <a:gd name="T4" fmla="*/ 2147483647 w 827"/>
              <a:gd name="T5" fmla="*/ 2147483647 h 983"/>
              <a:gd name="T6" fmla="*/ 2147483647 w 827"/>
              <a:gd name="T7" fmla="*/ 2147483647 h 983"/>
              <a:gd name="T8" fmla="*/ 2147483647 w 827"/>
              <a:gd name="T9" fmla="*/ 2147483647 h 983"/>
              <a:gd name="T10" fmla="*/ 0 w 827"/>
              <a:gd name="T11" fmla="*/ 2147483647 h 983"/>
              <a:gd name="T12" fmla="*/ 0 60000 65536"/>
              <a:gd name="T13" fmla="*/ 0 60000 65536"/>
              <a:gd name="T14" fmla="*/ 0 60000 65536"/>
              <a:gd name="T15" fmla="*/ 0 60000 65536"/>
              <a:gd name="T16" fmla="*/ 0 60000 65536"/>
              <a:gd name="T17" fmla="*/ 0 60000 65536"/>
              <a:gd name="T18" fmla="*/ 0 w 827"/>
              <a:gd name="T19" fmla="*/ 0 h 983"/>
              <a:gd name="T20" fmla="*/ 827 w 827"/>
              <a:gd name="T21" fmla="*/ 983 h 983"/>
            </a:gdLst>
            <a:ahLst/>
            <a:cxnLst>
              <a:cxn ang="T12">
                <a:pos x="T0" y="T1"/>
              </a:cxn>
              <a:cxn ang="T13">
                <a:pos x="T2" y="T3"/>
              </a:cxn>
              <a:cxn ang="T14">
                <a:pos x="T4" y="T5"/>
              </a:cxn>
              <a:cxn ang="T15">
                <a:pos x="T6" y="T7"/>
              </a:cxn>
              <a:cxn ang="T16">
                <a:pos x="T8" y="T9"/>
              </a:cxn>
              <a:cxn ang="T17">
                <a:pos x="T10" y="T11"/>
              </a:cxn>
            </a:cxnLst>
            <a:rect l="T18" t="T19" r="T20" b="T21"/>
            <a:pathLst>
              <a:path w="827" h="983">
                <a:moveTo>
                  <a:pt x="827" y="0"/>
                </a:moveTo>
                <a:cubicBezTo>
                  <a:pt x="819" y="76"/>
                  <a:pt x="794" y="331"/>
                  <a:pt x="768" y="455"/>
                </a:cubicBezTo>
                <a:cubicBezTo>
                  <a:pt x="742" y="579"/>
                  <a:pt x="735" y="669"/>
                  <a:pt x="672" y="743"/>
                </a:cubicBezTo>
                <a:cubicBezTo>
                  <a:pt x="609" y="817"/>
                  <a:pt x="470" y="865"/>
                  <a:pt x="392" y="900"/>
                </a:cubicBezTo>
                <a:cubicBezTo>
                  <a:pt x="314" y="935"/>
                  <a:pt x="271" y="937"/>
                  <a:pt x="206" y="951"/>
                </a:cubicBezTo>
                <a:cubicBezTo>
                  <a:pt x="141" y="965"/>
                  <a:pt x="43" y="976"/>
                  <a:pt x="0" y="983"/>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8602" name="Text Box 58"/>
          <p:cNvSpPr txBox="1">
            <a:spLocks noChangeArrowheads="1"/>
          </p:cNvSpPr>
          <p:nvPr/>
        </p:nvSpPr>
        <p:spPr bwMode="auto">
          <a:xfrm>
            <a:off x="6973888" y="12700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锗</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8603" name="Text Box 59"/>
          <p:cNvSpPr txBox="1">
            <a:spLocks noChangeArrowheads="1"/>
          </p:cNvSpPr>
          <p:nvPr/>
        </p:nvSpPr>
        <p:spPr bwMode="auto">
          <a:xfrm>
            <a:off x="7507288" y="129063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硅</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8604" name="Text Box 60"/>
          <p:cNvSpPr txBox="1">
            <a:spLocks noChangeArrowheads="1"/>
          </p:cNvSpPr>
          <p:nvPr/>
        </p:nvSpPr>
        <p:spPr bwMode="auto">
          <a:xfrm>
            <a:off x="6550025" y="2919413"/>
            <a:ext cx="504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0.2</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08605" name="Line 61"/>
          <p:cNvSpPr>
            <a:spLocks noChangeShapeType="1"/>
          </p:cNvSpPr>
          <p:nvPr/>
        </p:nvSpPr>
        <p:spPr bwMode="auto">
          <a:xfrm>
            <a:off x="6778625" y="2641600"/>
            <a:ext cx="0" cy="22860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606" name="Text Box 62"/>
          <p:cNvSpPr txBox="1">
            <a:spLocks noChangeArrowheads="1"/>
          </p:cNvSpPr>
          <p:nvPr/>
        </p:nvSpPr>
        <p:spPr bwMode="auto">
          <a:xfrm>
            <a:off x="663575" y="3817938"/>
            <a:ext cx="186848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、正向特性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8607" name="Text Box 63"/>
          <p:cNvSpPr txBox="1">
            <a:spLocks noChangeArrowheads="1"/>
          </p:cNvSpPr>
          <p:nvPr/>
        </p:nvSpPr>
        <p:spPr bwMode="auto">
          <a:xfrm>
            <a:off x="547688" y="4325938"/>
            <a:ext cx="8243887"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15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外加正向电压时，正向特性的起始部分，正向电流几乎为零。这一段称为 “死区”。对应于二极管开始导通时的外加电压称为 “死区电压”。锗管约为</a:t>
            </a:r>
            <a:r>
              <a:rPr kumimoji="1" lang="en-US" altLang="zh-CN" sz="2400" b="1">
                <a:solidFill>
                  <a:schemeClr val="tx2"/>
                </a:solidFill>
                <a:latin typeface="Times New Roman" panose="02020603050405020304" pitchFamily="18" charset="0"/>
                <a:cs typeface="Times New Roman" panose="02020603050405020304" pitchFamily="18" charset="0"/>
              </a:rPr>
              <a:t>0.2V, </a:t>
            </a:r>
            <a:r>
              <a:rPr kumimoji="1" lang="zh-CN" altLang="en-US" sz="2400" b="1">
                <a:solidFill>
                  <a:schemeClr val="tx2"/>
                </a:solidFill>
                <a:latin typeface="Times New Roman" panose="02020603050405020304" pitchFamily="18" charset="0"/>
                <a:cs typeface="Times New Roman" panose="02020603050405020304" pitchFamily="18" charset="0"/>
              </a:rPr>
              <a:t>硅管约</a:t>
            </a:r>
            <a:r>
              <a:rPr kumimoji="1" lang="en-US" altLang="zh-CN" sz="2400" b="1">
                <a:solidFill>
                  <a:schemeClr val="tx2"/>
                </a:solidFill>
                <a:latin typeface="Times New Roman" panose="02020603050405020304" pitchFamily="18" charset="0"/>
                <a:cs typeface="Times New Roman" panose="02020603050405020304" pitchFamily="18" charset="0"/>
              </a:rPr>
              <a:t>0.5V</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type="lt">
                                    <p:tmAbs val="75"/>
                                  </p:iterate>
                                  <p:childTnLst>
                                    <p:set>
                                      <p:cBhvr>
                                        <p:cTn id="17" dur="1" fill="hold">
                                          <p:stCondLst>
                                            <p:cond delay="74"/>
                                          </p:stCondLst>
                                        </p:cTn>
                                        <p:tgtEl>
                                          <p:spTgt spid="10860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8591"/>
                                        </p:tgtEl>
                                        <p:attrNameLst>
                                          <p:attrName>style.visibility</p:attrName>
                                        </p:attrNameLst>
                                      </p:cBhvr>
                                      <p:to>
                                        <p:strVal val="visible"/>
                                      </p:to>
                                    </p:set>
                                    <p:animEffect transition="in" filter="wipe(left)">
                                      <p:cBhvr>
                                        <p:cTn id="22" dur="500"/>
                                        <p:tgtEl>
                                          <p:spTgt spid="108591"/>
                                        </p:tgtEl>
                                      </p:cBhvr>
                                    </p:animEffect>
                                  </p:childTnLst>
                                </p:cTn>
                              </p:par>
                            </p:childTnLst>
                          </p:cTn>
                        </p:par>
                        <p:par>
                          <p:cTn id="23" fill="hold">
                            <p:stCondLst>
                              <p:cond delay="500"/>
                            </p:stCondLst>
                            <p:childTnLst>
                              <p:par>
                                <p:cTn id="24" presetID="1" presetClass="entr" presetSubtype="0" fill="hold" grpId="0" nodeType="afterEffect">
                                  <p:stCondLst>
                                    <p:cond delay="0"/>
                                  </p:stCondLst>
                                  <p:iterate type="lt">
                                    <p:tmAbs val="75"/>
                                  </p:iterate>
                                  <p:childTnLst>
                                    <p:set>
                                      <p:cBhvr>
                                        <p:cTn id="25" dur="1" fill="hold">
                                          <p:stCondLst>
                                            <p:cond delay="74"/>
                                          </p:stCondLst>
                                        </p:cTn>
                                        <p:tgtEl>
                                          <p:spTgt spid="108603"/>
                                        </p:tgtEl>
                                        <p:attrNameLst>
                                          <p:attrName>style.visibility</p:attrName>
                                        </p:attrNameLst>
                                      </p:cBhvr>
                                      <p:to>
                                        <p:strVal val="visible"/>
                                      </p:to>
                                    </p:set>
                                  </p:childTnLst>
                                </p:cTn>
                              </p:par>
                            </p:childTnLst>
                          </p:cTn>
                        </p:par>
                        <p:par>
                          <p:cTn id="26" fill="hold">
                            <p:stCondLst>
                              <p:cond delay="574"/>
                            </p:stCondLst>
                            <p:childTnLst>
                              <p:par>
                                <p:cTn id="27" presetID="22" presetClass="entr" presetSubtype="8" fill="hold" grpId="0" nodeType="afterEffect">
                                  <p:stCondLst>
                                    <p:cond delay="0"/>
                                  </p:stCondLst>
                                  <p:childTnLst>
                                    <p:set>
                                      <p:cBhvr>
                                        <p:cTn id="28" dur="1" fill="hold">
                                          <p:stCondLst>
                                            <p:cond delay="0"/>
                                          </p:stCondLst>
                                        </p:cTn>
                                        <p:tgtEl>
                                          <p:spTgt spid="108600"/>
                                        </p:tgtEl>
                                        <p:attrNameLst>
                                          <p:attrName>style.visibility</p:attrName>
                                        </p:attrNameLst>
                                      </p:cBhvr>
                                      <p:to>
                                        <p:strVal val="visible"/>
                                      </p:to>
                                    </p:set>
                                    <p:animEffect transition="in" filter="wipe(left)">
                                      <p:cBhvr>
                                        <p:cTn id="29" dur="500"/>
                                        <p:tgtEl>
                                          <p:spTgt spid="108600"/>
                                        </p:tgtEl>
                                      </p:cBhvr>
                                    </p:animEffect>
                                  </p:childTnLst>
                                </p:cTn>
                              </p:par>
                            </p:childTnLst>
                          </p:cTn>
                        </p:par>
                        <p:par>
                          <p:cTn id="30" fill="hold">
                            <p:stCondLst>
                              <p:cond delay="1074"/>
                            </p:stCondLst>
                            <p:childTnLst>
                              <p:par>
                                <p:cTn id="31" presetID="1" presetClass="entr" presetSubtype="0" fill="hold" grpId="0" nodeType="afterEffect">
                                  <p:stCondLst>
                                    <p:cond delay="0"/>
                                  </p:stCondLst>
                                  <p:iterate type="lt">
                                    <p:tmAbs val="75"/>
                                  </p:iterate>
                                  <p:childTnLst>
                                    <p:set>
                                      <p:cBhvr>
                                        <p:cTn id="32" dur="1" fill="hold">
                                          <p:stCondLst>
                                            <p:cond delay="74"/>
                                          </p:stCondLst>
                                        </p:cTn>
                                        <p:tgtEl>
                                          <p:spTgt spid="108602"/>
                                        </p:tgtEl>
                                        <p:attrNameLst>
                                          <p:attrName>style.visibility</p:attrName>
                                        </p:attrNameLst>
                                      </p:cBhvr>
                                      <p:to>
                                        <p:strVal val="visible"/>
                                      </p:to>
                                    </p:set>
                                  </p:childTnLst>
                                </p:cTn>
                              </p:par>
                            </p:childTnLst>
                          </p:cTn>
                        </p:par>
                        <p:par>
                          <p:cTn id="33" fill="hold">
                            <p:stCondLst>
                              <p:cond delay="1149"/>
                            </p:stCondLst>
                            <p:childTnLst>
                              <p:par>
                                <p:cTn id="34" presetID="22" presetClass="entr" presetSubtype="8" fill="hold" grpId="0" nodeType="afterEffect">
                                  <p:stCondLst>
                                    <p:cond delay="0"/>
                                  </p:stCondLst>
                                  <p:childTnLst>
                                    <p:set>
                                      <p:cBhvr>
                                        <p:cTn id="35" dur="1" fill="hold">
                                          <p:stCondLst>
                                            <p:cond delay="0"/>
                                          </p:stCondLst>
                                        </p:cTn>
                                        <p:tgtEl>
                                          <p:spTgt spid="108593"/>
                                        </p:tgtEl>
                                        <p:attrNameLst>
                                          <p:attrName>style.visibility</p:attrName>
                                        </p:attrNameLst>
                                      </p:cBhvr>
                                      <p:to>
                                        <p:strVal val="visible"/>
                                      </p:to>
                                    </p:set>
                                    <p:animEffect transition="in" filter="wipe(left)">
                                      <p:cBhvr>
                                        <p:cTn id="36" dur="500"/>
                                        <p:tgtEl>
                                          <p:spTgt spid="108593"/>
                                        </p:tgtEl>
                                      </p:cBhvr>
                                    </p:animEffect>
                                  </p:childTnLst>
                                </p:cTn>
                              </p:par>
                            </p:childTnLst>
                          </p:cTn>
                        </p:par>
                        <p:par>
                          <p:cTn id="37" fill="hold">
                            <p:stCondLst>
                              <p:cond delay="1649"/>
                            </p:stCondLst>
                            <p:childTnLst>
                              <p:par>
                                <p:cTn id="38" presetID="22" presetClass="entr" presetSubtype="8" fill="hold" grpId="0" nodeType="afterEffect">
                                  <p:stCondLst>
                                    <p:cond delay="0"/>
                                  </p:stCondLst>
                                  <p:childTnLst>
                                    <p:set>
                                      <p:cBhvr>
                                        <p:cTn id="39" dur="1" fill="hold">
                                          <p:stCondLst>
                                            <p:cond delay="0"/>
                                          </p:stCondLst>
                                        </p:cTn>
                                        <p:tgtEl>
                                          <p:spTgt spid="108605"/>
                                        </p:tgtEl>
                                        <p:attrNameLst>
                                          <p:attrName>style.visibility</p:attrName>
                                        </p:attrNameLst>
                                      </p:cBhvr>
                                      <p:to>
                                        <p:strVal val="visible"/>
                                      </p:to>
                                    </p:set>
                                    <p:animEffect transition="in" filter="wipe(left)">
                                      <p:cBhvr>
                                        <p:cTn id="40" dur="500"/>
                                        <p:tgtEl>
                                          <p:spTgt spid="108605"/>
                                        </p:tgtEl>
                                      </p:cBhvr>
                                    </p:animEffect>
                                  </p:childTnLst>
                                </p:cTn>
                              </p:par>
                            </p:childTnLst>
                          </p:cTn>
                        </p:par>
                        <p:par>
                          <p:cTn id="41" fill="hold">
                            <p:stCondLst>
                              <p:cond delay="2149"/>
                            </p:stCondLst>
                            <p:childTnLst>
                              <p:par>
                                <p:cTn id="42" presetID="22" presetClass="entr" presetSubtype="8" fill="hold" grpId="0" nodeType="afterEffect">
                                  <p:stCondLst>
                                    <p:cond delay="0"/>
                                  </p:stCondLst>
                                  <p:childTnLst>
                                    <p:set>
                                      <p:cBhvr>
                                        <p:cTn id="43" dur="1" fill="hold">
                                          <p:stCondLst>
                                            <p:cond delay="0"/>
                                          </p:stCondLst>
                                        </p:cTn>
                                        <p:tgtEl>
                                          <p:spTgt spid="108599"/>
                                        </p:tgtEl>
                                        <p:attrNameLst>
                                          <p:attrName>style.visibility</p:attrName>
                                        </p:attrNameLst>
                                      </p:cBhvr>
                                      <p:to>
                                        <p:strVal val="visible"/>
                                      </p:to>
                                    </p:set>
                                    <p:animEffect transition="in" filter="wipe(left)">
                                      <p:cBhvr>
                                        <p:cTn id="44" dur="500"/>
                                        <p:tgtEl>
                                          <p:spTgt spid="108599"/>
                                        </p:tgtEl>
                                      </p:cBhvr>
                                    </p:animEffect>
                                  </p:childTnLst>
                                </p:cTn>
                              </p:par>
                            </p:childTnLst>
                          </p:cTn>
                        </p:par>
                        <p:par>
                          <p:cTn id="45" fill="hold">
                            <p:stCondLst>
                              <p:cond delay="2649"/>
                            </p:stCondLst>
                            <p:childTnLst>
                              <p:par>
                                <p:cTn id="46" presetID="22" presetClass="entr" presetSubtype="8" fill="hold" grpId="0" nodeType="afterEffect">
                                  <p:stCondLst>
                                    <p:cond delay="0"/>
                                  </p:stCondLst>
                                  <p:childTnLst>
                                    <p:set>
                                      <p:cBhvr>
                                        <p:cTn id="47" dur="1" fill="hold">
                                          <p:stCondLst>
                                            <p:cond delay="0"/>
                                          </p:stCondLst>
                                        </p:cTn>
                                        <p:tgtEl>
                                          <p:spTgt spid="108604"/>
                                        </p:tgtEl>
                                        <p:attrNameLst>
                                          <p:attrName>style.visibility</p:attrName>
                                        </p:attrNameLst>
                                      </p:cBhvr>
                                      <p:to>
                                        <p:strVal val="visible"/>
                                      </p:to>
                                    </p:set>
                                    <p:animEffect transition="in" filter="wipe(left)">
                                      <p:cBhvr>
                                        <p:cTn id="48" dur="500"/>
                                        <p:tgtEl>
                                          <p:spTgt spid="10860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lt">
                                    <p:tmAbs val="75"/>
                                  </p:iterate>
                                  <p:childTnLst>
                                    <p:set>
                                      <p:cBhvr>
                                        <p:cTn id="52" dur="1" fill="hold">
                                          <p:stCondLst>
                                            <p:cond delay="74"/>
                                          </p:stCondLst>
                                        </p:cTn>
                                        <p:tgtEl>
                                          <p:spTgt spid="10860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type="lt">
                                    <p:tmAbs val="75"/>
                                  </p:iterate>
                                  <p:childTnLst>
                                    <p:set>
                                      <p:cBhvr>
                                        <p:cTn id="56" dur="1" fill="hold">
                                          <p:stCondLst>
                                            <p:cond delay="74"/>
                                          </p:stCondLst>
                                        </p:cTn>
                                        <p:tgtEl>
                                          <p:spTgt spid="108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91" grpId="0" animBg="1"/>
      <p:bldP spid="108593" grpId="0" animBg="1"/>
      <p:bldP spid="108596" grpId="0" autoUpdateAnimBg="0"/>
      <p:bldP spid="108599" grpId="0" autoUpdateAnimBg="0"/>
      <p:bldP spid="108600" grpId="0" animBg="1"/>
      <p:bldP spid="108602" grpId="0" autoUpdateAnimBg="0"/>
      <p:bldP spid="108603" grpId="0" autoUpdateAnimBg="0"/>
      <p:bldP spid="108604" grpId="0" autoUpdateAnimBg="0"/>
      <p:bldP spid="108605" grpId="0" animBg="1"/>
      <p:bldP spid="108606" grpId="0" autoUpdateAnimBg="0"/>
      <p:bldP spid="108607"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19</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44035" name="Rectangle 3"/>
          <p:cNvSpPr>
            <a:spLocks noGrp="1" noChangeArrowheads="1"/>
          </p:cNvSpPr>
          <p:nvPr>
            <p:ph sz="quarter" idx="4294967295"/>
          </p:nvPr>
        </p:nvSpPr>
        <p:spPr>
          <a:xfrm>
            <a:off x="0" y="765175"/>
            <a:ext cx="8891588" cy="5543550"/>
          </a:xfrm>
        </p:spPr>
        <p:txBody>
          <a:bodyPr/>
          <a:lstStyle/>
          <a:p>
            <a:pPr lvl="1" eaLnBrk="1" hangingPunct="1"/>
            <a:r>
              <a:rPr lang="zh-CN" altLang="en-US" smtClean="0"/>
              <a:t>半导体二极管的伏安特性（续）</a:t>
            </a:r>
            <a:endParaRPr lang="zh-CN" altLang="en-US" smtClean="0"/>
          </a:p>
        </p:txBody>
      </p:sp>
      <p:sp>
        <p:nvSpPr>
          <p:cNvPr id="109599" name="Text Box 31"/>
          <p:cNvSpPr txBox="1">
            <a:spLocks noChangeArrowheads="1"/>
          </p:cNvSpPr>
          <p:nvPr/>
        </p:nvSpPr>
        <p:spPr bwMode="auto">
          <a:xfrm>
            <a:off x="539750" y="2924944"/>
            <a:ext cx="18684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b="1">
                <a:solidFill>
                  <a:schemeClr val="tx2"/>
                </a:solidFill>
                <a:latin typeface="Times New Roman" panose="02020603050405020304" pitchFamily="18" charset="0"/>
                <a:cs typeface="Times New Roman" panose="02020603050405020304" pitchFamily="18" charset="0"/>
              </a:rPr>
              <a:t>2. </a:t>
            </a:r>
            <a:r>
              <a:rPr kumimoji="1" lang="zh-CN" altLang="en-US" sz="2400" b="1">
                <a:solidFill>
                  <a:schemeClr val="tx2"/>
                </a:solidFill>
                <a:latin typeface="Times New Roman" panose="02020603050405020304" pitchFamily="18" charset="0"/>
                <a:cs typeface="Times New Roman" panose="02020603050405020304" pitchFamily="18" charset="0"/>
              </a:rPr>
              <a:t>反向特性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9600" name="Rectangle 32"/>
          <p:cNvSpPr>
            <a:spLocks noChangeArrowheads="1"/>
          </p:cNvSpPr>
          <p:nvPr/>
        </p:nvSpPr>
        <p:spPr bwMode="auto">
          <a:xfrm>
            <a:off x="554038" y="3286894"/>
            <a:ext cx="8510587"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76250">
              <a:lnSpc>
                <a:spcPct val="130000"/>
              </a:lnSpc>
            </a:pPr>
            <a:r>
              <a:rPr kumimoji="1" lang="zh-CN" altLang="en-US" sz="2400" b="1">
                <a:latin typeface="Times New Roman" panose="02020603050405020304" pitchFamily="18" charset="0"/>
                <a:cs typeface="Times New Roman" panose="02020603050405020304" pitchFamily="18" charset="0"/>
              </a:rPr>
              <a:t>外加反向电压不超过一定范围时通过二极管的电流是少数载流子漂移运动所形成的很小的反向电流，称为</a:t>
            </a:r>
            <a:r>
              <a:rPr kumimoji="1" lang="zh-CN" altLang="en-US" sz="2400" b="1">
                <a:solidFill>
                  <a:srgbClr val="FF0000"/>
                </a:solidFill>
                <a:latin typeface="Times New Roman" panose="02020603050405020304" pitchFamily="18" charset="0"/>
                <a:cs typeface="Times New Roman" panose="02020603050405020304" pitchFamily="18" charset="0"/>
              </a:rPr>
              <a:t>反向饱和电流</a:t>
            </a:r>
            <a:r>
              <a:rPr kumimoji="1" lang="zh-CN" altLang="en-US" sz="2400" b="1">
                <a:latin typeface="Times New Roman" panose="02020603050405020304" pitchFamily="18" charset="0"/>
                <a:cs typeface="Times New Roman" panose="02020603050405020304" pitchFamily="18" charset="0"/>
              </a:rPr>
              <a:t>或</a:t>
            </a:r>
            <a:r>
              <a:rPr kumimoji="1" lang="zh-CN" altLang="en-US" sz="2400" b="1">
                <a:solidFill>
                  <a:srgbClr val="FF0000"/>
                </a:solidFill>
                <a:latin typeface="Times New Roman" panose="02020603050405020304" pitchFamily="18" charset="0"/>
                <a:cs typeface="Times New Roman" panose="02020603050405020304" pitchFamily="18" charset="0"/>
              </a:rPr>
              <a:t>漏电流</a:t>
            </a:r>
            <a:r>
              <a:rPr kumimoji="1" lang="zh-CN" altLang="en-US" sz="2400" b="1">
                <a:latin typeface="Times New Roman" panose="02020603050405020304" pitchFamily="18" charset="0"/>
                <a:cs typeface="Times New Roman" panose="02020603050405020304" pitchFamily="18" charset="0"/>
              </a:rPr>
              <a:t>。该电流受温度影响很大。</a:t>
            </a:r>
            <a:endParaRPr kumimoji="1" lang="zh-CN" altLang="en-US" sz="2400" b="1">
              <a:latin typeface="Times New Roman" panose="02020603050405020304" pitchFamily="18" charset="0"/>
              <a:cs typeface="Times New Roman" panose="02020603050405020304" pitchFamily="18" charset="0"/>
            </a:endParaRPr>
          </a:p>
        </p:txBody>
      </p:sp>
      <p:sp>
        <p:nvSpPr>
          <p:cNvPr id="109601" name="Text Box 33"/>
          <p:cNvSpPr txBox="1">
            <a:spLocks noChangeArrowheads="1"/>
          </p:cNvSpPr>
          <p:nvPr/>
        </p:nvSpPr>
        <p:spPr bwMode="auto">
          <a:xfrm>
            <a:off x="539750" y="4671194"/>
            <a:ext cx="18684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b="1">
                <a:solidFill>
                  <a:schemeClr val="tx2"/>
                </a:solidFill>
                <a:latin typeface="Times New Roman" panose="02020603050405020304" pitchFamily="18" charset="0"/>
                <a:cs typeface="Times New Roman" panose="02020603050405020304" pitchFamily="18" charset="0"/>
              </a:rPr>
              <a:t>3. </a:t>
            </a:r>
            <a:r>
              <a:rPr kumimoji="1" lang="zh-CN" altLang="en-US" sz="2400" b="1">
                <a:solidFill>
                  <a:schemeClr val="tx2"/>
                </a:solidFill>
                <a:latin typeface="Times New Roman" panose="02020603050405020304" pitchFamily="18" charset="0"/>
                <a:cs typeface="Times New Roman" panose="02020603050405020304" pitchFamily="18" charset="0"/>
              </a:rPr>
              <a:t>击穿特性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09602" name="Text Box 34"/>
          <p:cNvSpPr txBox="1">
            <a:spLocks noChangeArrowheads="1"/>
          </p:cNvSpPr>
          <p:nvPr/>
        </p:nvSpPr>
        <p:spPr bwMode="auto">
          <a:xfrm>
            <a:off x="554038" y="5152207"/>
            <a:ext cx="85534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pPr>
            <a:r>
              <a:rPr kumimoji="1" lang="en-US" altLang="zh-CN" sz="2400" b="1" dirty="0">
                <a:latin typeface="Times New Roman" panose="02020603050405020304" pitchFamily="18" charset="0"/>
                <a:cs typeface="Times New Roman" panose="02020603050405020304" pitchFamily="18" charset="0"/>
              </a:rPr>
              <a:t>        </a:t>
            </a:r>
            <a:r>
              <a:rPr kumimoji="1" lang="zh-CN" altLang="en-US" sz="2400" b="1" dirty="0">
                <a:latin typeface="Times New Roman" panose="02020603050405020304" pitchFamily="18" charset="0"/>
                <a:cs typeface="Times New Roman" panose="02020603050405020304" pitchFamily="18" charset="0"/>
              </a:rPr>
              <a:t>外加反向电压超过某一数值时，反向电流会突然增大，这种现象称为击穿（击穿时，二极管失去单向导电性）。 对应的电压称为</a:t>
            </a:r>
            <a:r>
              <a:rPr kumimoji="1" lang="zh-CN" altLang="en-US" sz="2400" b="1" dirty="0">
                <a:solidFill>
                  <a:srgbClr val="FF0000"/>
                </a:solidFill>
                <a:latin typeface="Times New Roman" panose="02020603050405020304" pitchFamily="18" charset="0"/>
                <a:cs typeface="Times New Roman" panose="02020603050405020304" pitchFamily="18" charset="0"/>
              </a:rPr>
              <a:t>击穿电压</a:t>
            </a:r>
            <a:r>
              <a:rPr kumimoji="1" lang="zh-CN" altLang="en-US" sz="2400" b="1" dirty="0">
                <a:latin typeface="Times New Roman" panose="02020603050405020304" pitchFamily="18" charset="0"/>
                <a:cs typeface="Times New Roman" panose="02020603050405020304" pitchFamily="18" charset="0"/>
              </a:rPr>
              <a:t>。</a:t>
            </a:r>
            <a:endParaRPr kumimoji="1" lang="zh-CN" altLang="en-US" sz="2400" b="1" dirty="0">
              <a:latin typeface="Times New Roman" panose="02020603050405020304" pitchFamily="18" charset="0"/>
              <a:cs typeface="Times New Roman" panose="02020603050405020304" pitchFamily="18" charset="0"/>
            </a:endParaRPr>
          </a:p>
        </p:txBody>
      </p:sp>
      <p:grpSp>
        <p:nvGrpSpPr>
          <p:cNvPr id="44040" name="Group 35"/>
          <p:cNvGrpSpPr/>
          <p:nvPr/>
        </p:nvGrpSpPr>
        <p:grpSpPr bwMode="auto">
          <a:xfrm>
            <a:off x="3581400" y="718096"/>
            <a:ext cx="5534025" cy="2447925"/>
            <a:chOff x="2084" y="384"/>
            <a:chExt cx="3486" cy="1542"/>
          </a:xfrm>
        </p:grpSpPr>
        <p:sp>
          <p:nvSpPr>
            <p:cNvPr id="44057" name="Text Box 36"/>
            <p:cNvSpPr txBox="1">
              <a:spLocks noChangeArrowheads="1"/>
            </p:cNvSpPr>
            <p:nvPr/>
          </p:nvSpPr>
          <p:spPr bwMode="auto">
            <a:xfrm>
              <a:off x="5088" y="1200"/>
              <a:ext cx="48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latin typeface="Times New Roman" panose="02020603050405020304" pitchFamily="18" charset="0"/>
                  <a:cs typeface="Times New Roman" panose="02020603050405020304" pitchFamily="18" charset="0"/>
                </a:rPr>
                <a:t>u</a:t>
              </a:r>
              <a:r>
                <a:rPr kumimoji="1" lang="en-US" altLang="zh-CN" b="1" baseline="-25000">
                  <a:latin typeface="Times New Roman" panose="02020603050405020304" pitchFamily="18" charset="0"/>
                  <a:cs typeface="Times New Roman" panose="02020603050405020304" pitchFamily="18" charset="0"/>
                </a:rPr>
                <a:t>D </a:t>
              </a:r>
              <a:r>
                <a:rPr kumimoji="1" lang="en-US" altLang="zh-CN" b="1">
                  <a:latin typeface="Times New Roman" panose="02020603050405020304" pitchFamily="18" charset="0"/>
                  <a:cs typeface="Times New Roman" panose="02020603050405020304" pitchFamily="18" charset="0"/>
                </a:rPr>
                <a:t>/V</a:t>
              </a:r>
              <a:endParaRPr kumimoji="1" lang="en-US" altLang="zh-CN" b="1">
                <a:latin typeface="Times New Roman" panose="02020603050405020304" pitchFamily="18" charset="0"/>
                <a:cs typeface="Times New Roman" panose="02020603050405020304" pitchFamily="18" charset="0"/>
              </a:endParaRPr>
            </a:p>
          </p:txBody>
        </p:sp>
        <p:sp>
          <p:nvSpPr>
            <p:cNvPr id="44058" name="Line 37"/>
            <p:cNvSpPr>
              <a:spLocks noChangeShapeType="1"/>
            </p:cNvSpPr>
            <p:nvPr/>
          </p:nvSpPr>
          <p:spPr bwMode="auto">
            <a:xfrm flipV="1">
              <a:off x="2084" y="1398"/>
              <a:ext cx="2972"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9" name="Line 38"/>
            <p:cNvSpPr>
              <a:spLocks noChangeShapeType="1"/>
            </p:cNvSpPr>
            <p:nvPr/>
          </p:nvSpPr>
          <p:spPr bwMode="auto">
            <a:xfrm flipV="1">
              <a:off x="3904" y="512"/>
              <a:ext cx="0" cy="1414"/>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0" name="Text Box 39"/>
            <p:cNvSpPr txBox="1">
              <a:spLocks noChangeArrowheads="1"/>
            </p:cNvSpPr>
            <p:nvPr/>
          </p:nvSpPr>
          <p:spPr bwMode="auto">
            <a:xfrm>
              <a:off x="3575" y="384"/>
              <a:ext cx="24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latin typeface="Times New Roman" panose="02020603050405020304" pitchFamily="18" charset="0"/>
                  <a:cs typeface="Times New Roman" panose="02020603050405020304" pitchFamily="18" charset="0"/>
                </a:rPr>
                <a:t>i</a:t>
              </a:r>
              <a:r>
                <a:rPr kumimoji="1" lang="en-US" altLang="zh-CN" b="1" baseline="-25000">
                  <a:latin typeface="Times New Roman" panose="02020603050405020304" pitchFamily="18" charset="0"/>
                  <a:cs typeface="Times New Roman" panose="02020603050405020304" pitchFamily="18" charset="0"/>
                </a:rPr>
                <a:t>D</a:t>
              </a:r>
              <a:endParaRPr kumimoji="1" lang="en-US" altLang="zh-CN" b="1">
                <a:latin typeface="Times New Roman" panose="02020603050405020304" pitchFamily="18" charset="0"/>
                <a:cs typeface="Times New Roman" panose="02020603050405020304" pitchFamily="18" charset="0"/>
              </a:endParaRPr>
            </a:p>
          </p:txBody>
        </p:sp>
        <p:sp>
          <p:nvSpPr>
            <p:cNvPr id="44061" name="Text Box 40"/>
            <p:cNvSpPr txBox="1">
              <a:spLocks noChangeArrowheads="1"/>
            </p:cNvSpPr>
            <p:nvPr/>
          </p:nvSpPr>
          <p:spPr bwMode="auto">
            <a:xfrm>
              <a:off x="3740" y="13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0</a:t>
              </a:r>
              <a:endParaRPr kumimoji="1" lang="en-US" altLang="zh-CN"/>
            </a:p>
          </p:txBody>
        </p:sp>
      </p:grpSp>
      <p:sp>
        <p:nvSpPr>
          <p:cNvPr id="44041" name="Freeform 41"/>
          <p:cNvSpPr/>
          <p:nvPr/>
        </p:nvSpPr>
        <p:spPr bwMode="auto">
          <a:xfrm>
            <a:off x="6443663" y="784771"/>
            <a:ext cx="1312862" cy="1560512"/>
          </a:xfrm>
          <a:custGeom>
            <a:avLst/>
            <a:gdLst>
              <a:gd name="T0" fmla="*/ 2147483647 w 827"/>
              <a:gd name="T1" fmla="*/ 0 h 983"/>
              <a:gd name="T2" fmla="*/ 2147483647 w 827"/>
              <a:gd name="T3" fmla="*/ 2147483647 h 983"/>
              <a:gd name="T4" fmla="*/ 2147483647 w 827"/>
              <a:gd name="T5" fmla="*/ 2147483647 h 983"/>
              <a:gd name="T6" fmla="*/ 2147483647 w 827"/>
              <a:gd name="T7" fmla="*/ 2147483647 h 983"/>
              <a:gd name="T8" fmla="*/ 2147483647 w 827"/>
              <a:gd name="T9" fmla="*/ 2147483647 h 983"/>
              <a:gd name="T10" fmla="*/ 0 w 827"/>
              <a:gd name="T11" fmla="*/ 2147483647 h 983"/>
              <a:gd name="T12" fmla="*/ 0 60000 65536"/>
              <a:gd name="T13" fmla="*/ 0 60000 65536"/>
              <a:gd name="T14" fmla="*/ 0 60000 65536"/>
              <a:gd name="T15" fmla="*/ 0 60000 65536"/>
              <a:gd name="T16" fmla="*/ 0 60000 65536"/>
              <a:gd name="T17" fmla="*/ 0 60000 65536"/>
              <a:gd name="T18" fmla="*/ 0 w 827"/>
              <a:gd name="T19" fmla="*/ 0 h 983"/>
              <a:gd name="T20" fmla="*/ 827 w 827"/>
              <a:gd name="T21" fmla="*/ 983 h 983"/>
            </a:gdLst>
            <a:ahLst/>
            <a:cxnLst>
              <a:cxn ang="T12">
                <a:pos x="T0" y="T1"/>
              </a:cxn>
              <a:cxn ang="T13">
                <a:pos x="T2" y="T3"/>
              </a:cxn>
              <a:cxn ang="T14">
                <a:pos x="T4" y="T5"/>
              </a:cxn>
              <a:cxn ang="T15">
                <a:pos x="T6" y="T7"/>
              </a:cxn>
              <a:cxn ang="T16">
                <a:pos x="T8" y="T9"/>
              </a:cxn>
              <a:cxn ang="T17">
                <a:pos x="T10" y="T11"/>
              </a:cxn>
            </a:cxnLst>
            <a:rect l="T18" t="T19" r="T20" b="T21"/>
            <a:pathLst>
              <a:path w="827" h="983">
                <a:moveTo>
                  <a:pt x="827" y="0"/>
                </a:moveTo>
                <a:cubicBezTo>
                  <a:pt x="819" y="76"/>
                  <a:pt x="794" y="331"/>
                  <a:pt x="768" y="455"/>
                </a:cubicBezTo>
                <a:cubicBezTo>
                  <a:pt x="742" y="579"/>
                  <a:pt x="735" y="669"/>
                  <a:pt x="672" y="743"/>
                </a:cubicBezTo>
                <a:cubicBezTo>
                  <a:pt x="609" y="817"/>
                  <a:pt x="470" y="865"/>
                  <a:pt x="392" y="900"/>
                </a:cubicBezTo>
                <a:cubicBezTo>
                  <a:pt x="314" y="935"/>
                  <a:pt x="271" y="937"/>
                  <a:pt x="206" y="951"/>
                </a:cubicBezTo>
                <a:cubicBezTo>
                  <a:pt x="141" y="965"/>
                  <a:pt x="43" y="976"/>
                  <a:pt x="0" y="983"/>
                </a:cubicBezTo>
              </a:path>
            </a:pathLst>
          </a:custGeom>
          <a:noFill/>
          <a:ln w="28575" cap="sq">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10" name="Freeform 42"/>
          <p:cNvSpPr/>
          <p:nvPr/>
        </p:nvSpPr>
        <p:spPr bwMode="auto">
          <a:xfrm>
            <a:off x="3581400" y="2369096"/>
            <a:ext cx="2862263" cy="1031875"/>
          </a:xfrm>
          <a:custGeom>
            <a:avLst/>
            <a:gdLst>
              <a:gd name="T0" fmla="*/ 2147483647 w 1211"/>
              <a:gd name="T1" fmla="*/ 2147483647 h 1008"/>
              <a:gd name="T2" fmla="*/ 2147483647 w 1211"/>
              <a:gd name="T3" fmla="*/ 2147483647 h 1008"/>
              <a:gd name="T4" fmla="*/ 2147483647 w 1211"/>
              <a:gd name="T5" fmla="*/ 2147483647 h 1008"/>
              <a:gd name="T6" fmla="*/ 2147483647 w 1211"/>
              <a:gd name="T7" fmla="*/ 2147483647 h 1008"/>
              <a:gd name="T8" fmla="*/ 2147483647 w 1211"/>
              <a:gd name="T9" fmla="*/ 2147483647 h 1008"/>
              <a:gd name="T10" fmla="*/ 2147483647 w 1211"/>
              <a:gd name="T11" fmla="*/ 2147483647 h 1008"/>
              <a:gd name="T12" fmla="*/ 0 w 1211"/>
              <a:gd name="T13" fmla="*/ 2147483647 h 1008"/>
              <a:gd name="T14" fmla="*/ 0 60000 65536"/>
              <a:gd name="T15" fmla="*/ 0 60000 65536"/>
              <a:gd name="T16" fmla="*/ 0 60000 65536"/>
              <a:gd name="T17" fmla="*/ 0 60000 65536"/>
              <a:gd name="T18" fmla="*/ 0 60000 65536"/>
              <a:gd name="T19" fmla="*/ 0 60000 65536"/>
              <a:gd name="T20" fmla="*/ 0 60000 65536"/>
              <a:gd name="T21" fmla="*/ 0 w 1211"/>
              <a:gd name="T22" fmla="*/ 0 h 1008"/>
              <a:gd name="T23" fmla="*/ 1211 w 1211"/>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1" h="1008">
                <a:moveTo>
                  <a:pt x="1211" y="5"/>
                </a:moveTo>
                <a:cubicBezTo>
                  <a:pt x="1171" y="10"/>
                  <a:pt x="1098" y="30"/>
                  <a:pt x="972" y="35"/>
                </a:cubicBezTo>
                <a:cubicBezTo>
                  <a:pt x="846" y="40"/>
                  <a:pt x="577" y="35"/>
                  <a:pt x="455" y="35"/>
                </a:cubicBezTo>
                <a:cubicBezTo>
                  <a:pt x="333" y="35"/>
                  <a:pt x="296" y="32"/>
                  <a:pt x="238" y="35"/>
                </a:cubicBezTo>
                <a:cubicBezTo>
                  <a:pt x="180" y="38"/>
                  <a:pt x="140" y="35"/>
                  <a:pt x="104" y="56"/>
                </a:cubicBezTo>
                <a:cubicBezTo>
                  <a:pt x="68" y="77"/>
                  <a:pt x="38" y="0"/>
                  <a:pt x="21" y="159"/>
                </a:cubicBezTo>
                <a:cubicBezTo>
                  <a:pt x="4" y="318"/>
                  <a:pt x="4" y="831"/>
                  <a:pt x="0" y="1008"/>
                </a:cubicBezTo>
              </a:path>
            </a:pathLst>
          </a:custGeom>
          <a:noFill/>
          <a:ln w="28575" cap="sq">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4043" name="Line 43"/>
          <p:cNvSpPr>
            <a:spLocks noChangeShapeType="1"/>
          </p:cNvSpPr>
          <p:nvPr/>
        </p:nvSpPr>
        <p:spPr bwMode="auto">
          <a:xfrm>
            <a:off x="7537450" y="1946821"/>
            <a:ext cx="0" cy="38100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12" name="Line 44"/>
          <p:cNvSpPr>
            <a:spLocks noChangeShapeType="1"/>
          </p:cNvSpPr>
          <p:nvPr/>
        </p:nvSpPr>
        <p:spPr bwMode="auto">
          <a:xfrm>
            <a:off x="5480050" y="1946821"/>
            <a:ext cx="0" cy="38100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13" name="Line 45"/>
          <p:cNvSpPr>
            <a:spLocks noChangeShapeType="1"/>
          </p:cNvSpPr>
          <p:nvPr/>
        </p:nvSpPr>
        <p:spPr bwMode="auto">
          <a:xfrm flipV="1">
            <a:off x="5480050" y="2404021"/>
            <a:ext cx="0" cy="38100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6" name="Text Box 46"/>
          <p:cNvSpPr txBox="1">
            <a:spLocks noChangeArrowheads="1"/>
          </p:cNvSpPr>
          <p:nvPr/>
        </p:nvSpPr>
        <p:spPr bwMode="auto">
          <a:xfrm>
            <a:off x="7658100" y="1108621"/>
            <a:ext cx="1409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t>正向导通</a:t>
            </a:r>
            <a:endParaRPr kumimoji="1" lang="zh-CN" altLang="en-US" b="1"/>
          </a:p>
        </p:txBody>
      </p:sp>
      <p:sp>
        <p:nvSpPr>
          <p:cNvPr id="109615" name="Text Box 47"/>
          <p:cNvSpPr txBox="1">
            <a:spLocks noChangeArrowheads="1"/>
          </p:cNvSpPr>
          <p:nvPr/>
        </p:nvSpPr>
        <p:spPr bwMode="auto">
          <a:xfrm>
            <a:off x="4930775" y="2864396"/>
            <a:ext cx="1409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t>反向截止</a:t>
            </a:r>
            <a:endParaRPr kumimoji="1" lang="zh-CN" altLang="en-US" b="1"/>
          </a:p>
        </p:txBody>
      </p:sp>
      <p:sp>
        <p:nvSpPr>
          <p:cNvPr id="109616" name="Text Box 48"/>
          <p:cNvSpPr txBox="1">
            <a:spLocks noChangeArrowheads="1"/>
          </p:cNvSpPr>
          <p:nvPr/>
        </p:nvSpPr>
        <p:spPr bwMode="auto">
          <a:xfrm>
            <a:off x="3321050" y="2686596"/>
            <a:ext cx="649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t>击穿</a:t>
            </a:r>
            <a:endParaRPr kumimoji="1" lang="zh-CN" altLang="en-US" b="1"/>
          </a:p>
        </p:txBody>
      </p:sp>
      <p:sp>
        <p:nvSpPr>
          <p:cNvPr id="44049" name="Text Box 49"/>
          <p:cNvSpPr txBox="1">
            <a:spLocks noChangeArrowheads="1"/>
          </p:cNvSpPr>
          <p:nvPr/>
        </p:nvSpPr>
        <p:spPr bwMode="auto">
          <a:xfrm>
            <a:off x="7286625" y="2342108"/>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0.5</a:t>
            </a:r>
            <a:endParaRPr kumimoji="1" lang="en-US" altLang="zh-CN" sz="2000"/>
          </a:p>
        </p:txBody>
      </p:sp>
      <p:sp>
        <p:nvSpPr>
          <p:cNvPr id="44050" name="Freeform 50"/>
          <p:cNvSpPr/>
          <p:nvPr/>
        </p:nvSpPr>
        <p:spPr bwMode="auto">
          <a:xfrm>
            <a:off x="6400800" y="921296"/>
            <a:ext cx="711200" cy="1439862"/>
          </a:xfrm>
          <a:custGeom>
            <a:avLst/>
            <a:gdLst>
              <a:gd name="T0" fmla="*/ 2147483647 w 827"/>
              <a:gd name="T1" fmla="*/ 0 h 983"/>
              <a:gd name="T2" fmla="*/ 2147483647 w 827"/>
              <a:gd name="T3" fmla="*/ 2147483647 h 983"/>
              <a:gd name="T4" fmla="*/ 2147483647 w 827"/>
              <a:gd name="T5" fmla="*/ 2147483647 h 983"/>
              <a:gd name="T6" fmla="*/ 2147483647 w 827"/>
              <a:gd name="T7" fmla="*/ 2147483647 h 983"/>
              <a:gd name="T8" fmla="*/ 2147483647 w 827"/>
              <a:gd name="T9" fmla="*/ 2147483647 h 983"/>
              <a:gd name="T10" fmla="*/ 0 w 827"/>
              <a:gd name="T11" fmla="*/ 2147483647 h 983"/>
              <a:gd name="T12" fmla="*/ 0 60000 65536"/>
              <a:gd name="T13" fmla="*/ 0 60000 65536"/>
              <a:gd name="T14" fmla="*/ 0 60000 65536"/>
              <a:gd name="T15" fmla="*/ 0 60000 65536"/>
              <a:gd name="T16" fmla="*/ 0 60000 65536"/>
              <a:gd name="T17" fmla="*/ 0 60000 65536"/>
              <a:gd name="T18" fmla="*/ 0 w 827"/>
              <a:gd name="T19" fmla="*/ 0 h 983"/>
              <a:gd name="T20" fmla="*/ 827 w 827"/>
              <a:gd name="T21" fmla="*/ 983 h 983"/>
            </a:gdLst>
            <a:ahLst/>
            <a:cxnLst>
              <a:cxn ang="T12">
                <a:pos x="T0" y="T1"/>
              </a:cxn>
              <a:cxn ang="T13">
                <a:pos x="T2" y="T3"/>
              </a:cxn>
              <a:cxn ang="T14">
                <a:pos x="T4" y="T5"/>
              </a:cxn>
              <a:cxn ang="T15">
                <a:pos x="T6" y="T7"/>
              </a:cxn>
              <a:cxn ang="T16">
                <a:pos x="T8" y="T9"/>
              </a:cxn>
              <a:cxn ang="T17">
                <a:pos x="T10" y="T11"/>
              </a:cxn>
            </a:cxnLst>
            <a:rect l="T18" t="T19" r="T20" b="T21"/>
            <a:pathLst>
              <a:path w="827" h="983">
                <a:moveTo>
                  <a:pt x="827" y="0"/>
                </a:moveTo>
                <a:cubicBezTo>
                  <a:pt x="819" y="76"/>
                  <a:pt x="794" y="331"/>
                  <a:pt x="768" y="455"/>
                </a:cubicBezTo>
                <a:cubicBezTo>
                  <a:pt x="742" y="579"/>
                  <a:pt x="735" y="669"/>
                  <a:pt x="672" y="743"/>
                </a:cubicBezTo>
                <a:cubicBezTo>
                  <a:pt x="609" y="817"/>
                  <a:pt x="470" y="865"/>
                  <a:pt x="392" y="900"/>
                </a:cubicBezTo>
                <a:cubicBezTo>
                  <a:pt x="314" y="935"/>
                  <a:pt x="271" y="937"/>
                  <a:pt x="206" y="951"/>
                </a:cubicBezTo>
                <a:cubicBezTo>
                  <a:pt x="141" y="965"/>
                  <a:pt x="43" y="976"/>
                  <a:pt x="0" y="983"/>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19" name="Freeform 51"/>
          <p:cNvSpPr/>
          <p:nvPr/>
        </p:nvSpPr>
        <p:spPr bwMode="auto">
          <a:xfrm>
            <a:off x="3962400" y="2369096"/>
            <a:ext cx="2414588" cy="1031875"/>
          </a:xfrm>
          <a:custGeom>
            <a:avLst/>
            <a:gdLst>
              <a:gd name="T0" fmla="*/ 2147483647 w 641"/>
              <a:gd name="T1" fmla="*/ 0 h 1156"/>
              <a:gd name="T2" fmla="*/ 2147483647 w 641"/>
              <a:gd name="T3" fmla="*/ 2147483647 h 1156"/>
              <a:gd name="T4" fmla="*/ 2147483647 w 641"/>
              <a:gd name="T5" fmla="*/ 2147483647 h 1156"/>
              <a:gd name="T6" fmla="*/ 2147483647 w 641"/>
              <a:gd name="T7" fmla="*/ 2147483647 h 1156"/>
              <a:gd name="T8" fmla="*/ 2147483647 w 641"/>
              <a:gd name="T9" fmla="*/ 2147483647 h 1156"/>
              <a:gd name="T10" fmla="*/ 2147483647 w 641"/>
              <a:gd name="T11" fmla="*/ 2147483647 h 1156"/>
              <a:gd name="T12" fmla="*/ 2147483647 w 641"/>
              <a:gd name="T13" fmla="*/ 2147483647 h 1156"/>
              <a:gd name="T14" fmla="*/ 0 w 641"/>
              <a:gd name="T15" fmla="*/ 2147483647 h 1156"/>
              <a:gd name="T16" fmla="*/ 0 60000 65536"/>
              <a:gd name="T17" fmla="*/ 0 60000 65536"/>
              <a:gd name="T18" fmla="*/ 0 60000 65536"/>
              <a:gd name="T19" fmla="*/ 0 60000 65536"/>
              <a:gd name="T20" fmla="*/ 0 60000 65536"/>
              <a:gd name="T21" fmla="*/ 0 60000 65536"/>
              <a:gd name="T22" fmla="*/ 0 60000 65536"/>
              <a:gd name="T23" fmla="*/ 0 60000 65536"/>
              <a:gd name="T24" fmla="*/ 0 w 641"/>
              <a:gd name="T25" fmla="*/ 0 h 1156"/>
              <a:gd name="T26" fmla="*/ 641 w 641"/>
              <a:gd name="T27" fmla="*/ 1156 h 1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41" h="1156">
                <a:moveTo>
                  <a:pt x="641" y="0"/>
                </a:moveTo>
                <a:cubicBezTo>
                  <a:pt x="626" y="24"/>
                  <a:pt x="590" y="109"/>
                  <a:pt x="552" y="146"/>
                </a:cubicBezTo>
                <a:cubicBezTo>
                  <a:pt x="514" y="183"/>
                  <a:pt x="463" y="209"/>
                  <a:pt x="410" y="223"/>
                </a:cubicBezTo>
                <a:cubicBezTo>
                  <a:pt x="357" y="237"/>
                  <a:pt x="282" y="228"/>
                  <a:pt x="234" y="229"/>
                </a:cubicBezTo>
                <a:cubicBezTo>
                  <a:pt x="186" y="230"/>
                  <a:pt x="153" y="226"/>
                  <a:pt x="123" y="229"/>
                </a:cubicBezTo>
                <a:cubicBezTo>
                  <a:pt x="93" y="232"/>
                  <a:pt x="72" y="229"/>
                  <a:pt x="54" y="249"/>
                </a:cubicBezTo>
                <a:cubicBezTo>
                  <a:pt x="35" y="269"/>
                  <a:pt x="20" y="196"/>
                  <a:pt x="11" y="347"/>
                </a:cubicBezTo>
                <a:cubicBezTo>
                  <a:pt x="2" y="499"/>
                  <a:pt x="2" y="987"/>
                  <a:pt x="0" y="1156"/>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4052" name="Text Box 52"/>
          <p:cNvSpPr txBox="1">
            <a:spLocks noChangeArrowheads="1"/>
          </p:cNvSpPr>
          <p:nvPr/>
        </p:nvSpPr>
        <p:spPr bwMode="auto">
          <a:xfrm>
            <a:off x="7154863" y="692696"/>
            <a:ext cx="4175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t>锗</a:t>
            </a:r>
            <a:endParaRPr kumimoji="1" lang="zh-CN" altLang="en-US" b="1"/>
          </a:p>
        </p:txBody>
      </p:sp>
      <p:sp>
        <p:nvSpPr>
          <p:cNvPr id="44053" name="Text Box 53"/>
          <p:cNvSpPr txBox="1">
            <a:spLocks noChangeArrowheads="1"/>
          </p:cNvSpPr>
          <p:nvPr/>
        </p:nvSpPr>
        <p:spPr bwMode="auto">
          <a:xfrm>
            <a:off x="7688263" y="713333"/>
            <a:ext cx="4175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solidFill>
                  <a:srgbClr val="FF0000"/>
                </a:solidFill>
              </a:rPr>
              <a:t>硅</a:t>
            </a:r>
            <a:endParaRPr kumimoji="1" lang="zh-CN" altLang="en-US" b="1">
              <a:solidFill>
                <a:srgbClr val="FF0000"/>
              </a:solidFill>
            </a:endParaRPr>
          </a:p>
        </p:txBody>
      </p:sp>
      <p:sp>
        <p:nvSpPr>
          <p:cNvPr id="44054" name="Text Box 54"/>
          <p:cNvSpPr txBox="1">
            <a:spLocks noChangeArrowheads="1"/>
          </p:cNvSpPr>
          <p:nvPr/>
        </p:nvSpPr>
        <p:spPr bwMode="auto">
          <a:xfrm>
            <a:off x="6731000" y="2342108"/>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0.2</a:t>
            </a:r>
            <a:endParaRPr kumimoji="1" lang="en-US" altLang="zh-CN" sz="2000"/>
          </a:p>
        </p:txBody>
      </p:sp>
      <p:sp>
        <p:nvSpPr>
          <p:cNvPr id="44055" name="Line 55"/>
          <p:cNvSpPr>
            <a:spLocks noChangeShapeType="1"/>
          </p:cNvSpPr>
          <p:nvPr/>
        </p:nvSpPr>
        <p:spPr bwMode="auto">
          <a:xfrm>
            <a:off x="6959600" y="2064296"/>
            <a:ext cx="0" cy="22860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24" name="Text Box 56"/>
          <p:cNvSpPr txBox="1">
            <a:spLocks noChangeArrowheads="1"/>
          </p:cNvSpPr>
          <p:nvPr/>
        </p:nvSpPr>
        <p:spPr bwMode="auto">
          <a:xfrm>
            <a:off x="4768850" y="1492796"/>
            <a:ext cx="2022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t>反向饱和电流</a:t>
            </a:r>
            <a:endParaRPr kumimoji="1" lang="zh-CN" altLang="en-US" b="1"/>
          </a:p>
        </p:txBody>
      </p:sp>
      <mc:AlternateContent xmlns:mc="http://schemas.openxmlformats.org/markup-compatibility/2006">
        <mc:Choice xmlns:a14="http://schemas.microsoft.com/office/drawing/2010/main" Requires="a14">
          <p:sp>
            <p:nvSpPr>
              <p:cNvPr id="31" name="TextBox 30"/>
              <p:cNvSpPr txBox="1"/>
              <p:nvPr/>
            </p:nvSpPr>
            <p:spPr>
              <a:xfrm>
                <a:off x="563326" y="3429000"/>
                <a:ext cx="8473170" cy="2880320"/>
              </a:xfrm>
              <a:prstGeom prst="rect">
                <a:avLst/>
              </a:prstGeom>
              <a:solidFill>
                <a:schemeClr val="bg1"/>
              </a:solidFill>
              <a:ln w="38100">
                <a:solidFill>
                  <a:srgbClr val="FF0000"/>
                </a:solidFill>
              </a:ln>
            </p:spPr>
            <p:txBody>
              <a:bodyPr wrap="square" rtlCol="0">
                <a:noAutofit/>
              </a:bodyPr>
              <a:lstStyle/>
              <a:p>
                <a:pPr>
                  <a:lnSpc>
                    <a:spcPct val="130000"/>
                  </a:lnSpc>
                </a:pPr>
                <a:r>
                  <a:rPr lang="zh-CN" altLang="en-US" sz="2400" b="1" dirty="0" smtClean="0">
                    <a:latin typeface="Times New Roman" panose="02020603050405020304" pitchFamily="18" charset="0"/>
                    <a:cs typeface="Times New Roman" panose="02020603050405020304" pitchFamily="18" charset="0"/>
                  </a:rPr>
                  <a:t>根据半导体物理的分析，二极管伏安特性可以用下式表示</a:t>
                </a:r>
                <a:endParaRPr lang="en-US" altLang="zh-CN" sz="2400" b="1" dirty="0" smtClean="0">
                  <a:latin typeface="Times New Roman" panose="02020603050405020304" pitchFamily="18" charset="0"/>
                  <a:cs typeface="Times New Roman" panose="020206030504050203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a:rPr>
                        <m:t>𝒊</m:t>
                      </m:r>
                      <m:r>
                        <a:rPr lang="en-US" altLang="zh-CN" sz="2400" b="1" i="1" baseline="-25000" smtClean="0">
                          <a:latin typeface="Cambria Math" panose="02040503050406030204"/>
                        </a:rPr>
                        <m:t>𝑫</m:t>
                      </m:r>
                      <m:r>
                        <a:rPr lang="en-US" altLang="zh-CN" sz="2400" b="1" i="1" smtClean="0">
                          <a:latin typeface="Cambria Math" panose="02040503050406030204"/>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𝑰</m:t>
                          </m:r>
                        </m:e>
                        <m:sub>
                          <m:r>
                            <a:rPr lang="en-US" altLang="zh-CN" sz="2400" b="1" i="1" smtClean="0">
                              <a:latin typeface="Cambria Math" panose="02040503050406030204" pitchFamily="18" charset="0"/>
                            </a:rPr>
                            <m:t>𝑺</m:t>
                          </m:r>
                        </m:sub>
                      </m:sSub>
                      <m:d>
                        <m:dPr>
                          <m:begChr m:val="["/>
                          <m:endChr m:val="]"/>
                          <m:ctrlPr>
                            <a:rPr lang="en-US" altLang="zh-CN" sz="2400" b="1" i="1" smtClean="0">
                              <a:latin typeface="Cambria Math" panose="02040503050406030204" pitchFamily="18" charset="0"/>
                            </a:rPr>
                          </m:ctrlPr>
                        </m:dPr>
                        <m:e>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a:rPr>
                                <m:t>𝒆</m:t>
                              </m:r>
                            </m:e>
                            <m:sup>
                              <m:box>
                                <m:boxPr>
                                  <m:ctrlPr>
                                    <a:rPr lang="en-US" altLang="zh-CN" sz="2400" b="1" i="1" smtClean="0">
                                      <a:latin typeface="Cambria Math" panose="02040503050406030204" pitchFamily="18" charset="0"/>
                                    </a:rPr>
                                  </m:ctrlPr>
                                </m:boxPr>
                                <m:e>
                                  <m:f>
                                    <m:fPr>
                                      <m:ctrlPr>
                                        <a:rPr lang="en-US" altLang="zh-CN" sz="2400" b="1" i="1" smtClean="0">
                                          <a:latin typeface="Cambria Math" panose="02040503050406030204" pitchFamily="18" charset="0"/>
                                        </a:rPr>
                                      </m:ctrlPr>
                                    </m:fPr>
                                    <m:num>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a:rPr>
                                            <m:t>𝒖</m:t>
                                          </m:r>
                                        </m:e>
                                        <m:sub>
                                          <m:r>
                                            <a:rPr lang="en-US" altLang="zh-CN" sz="2400" b="1" i="1" smtClean="0">
                                              <a:latin typeface="Cambria Math" panose="02040503050406030204"/>
                                            </a:rPr>
                                            <m:t>𝑫</m:t>
                                          </m:r>
                                        </m:sub>
                                      </m:sSub>
                                    </m:num>
                                    <m:den>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a:rPr>
                                            <m:t>𝑽</m:t>
                                          </m:r>
                                        </m:e>
                                        <m:sub>
                                          <m:r>
                                            <a:rPr lang="en-US" altLang="zh-CN" sz="2400" b="1" i="1" smtClean="0">
                                              <a:latin typeface="Cambria Math" panose="02040503050406030204"/>
                                            </a:rPr>
                                            <m:t>𝑻</m:t>
                                          </m:r>
                                        </m:sub>
                                      </m:sSub>
                                    </m:den>
                                  </m:f>
                                </m:e>
                              </m:box>
                            </m:sup>
                          </m:sSup>
                          <m:r>
                            <a:rPr lang="en-US" altLang="zh-CN" sz="2400" b="1" i="1" smtClean="0">
                              <a:latin typeface="Cambria Math" panose="02040503050406030204"/>
                            </a:rPr>
                            <m:t>−</m:t>
                          </m:r>
                          <m:r>
                            <a:rPr lang="en-US" altLang="zh-CN" sz="2400" b="1" i="1" smtClean="0">
                              <a:latin typeface="Cambria Math" panose="02040503050406030204"/>
                            </a:rPr>
                            <m:t>𝟏</m:t>
                          </m:r>
                        </m:e>
                      </m:d>
                    </m:oMath>
                  </m:oMathPara>
                </a14:m>
                <a:endParaRPr lang="en-US" altLang="zh-CN" sz="2400" b="1" dirty="0" smtClean="0">
                  <a:latin typeface="Times New Roman" panose="02020603050405020304" pitchFamily="18" charset="0"/>
                  <a:cs typeface="Times New Roman" panose="02020603050405020304" pitchFamily="18" charset="0"/>
                </a:endParaRPr>
              </a:p>
              <a:p>
                <a:pPr>
                  <a:lnSpc>
                    <a:spcPct val="130000"/>
                  </a:lnSpc>
                </a:pPr>
                <a:r>
                  <a:rPr lang="zh-CN" altLang="en-US" sz="2400" b="1" dirty="0" smtClean="0">
                    <a:latin typeface="Times New Roman" panose="02020603050405020304" pitchFamily="18" charset="0"/>
                    <a:cs typeface="Times New Roman" panose="02020603050405020304" pitchFamily="18" charset="0"/>
                  </a:rPr>
                  <a:t>其中，</a:t>
                </a:r>
                <a:r>
                  <a:rPr lang="en-US" altLang="zh-CN" sz="2400" b="1" i="1" dirty="0" smtClean="0">
                    <a:latin typeface="Times New Roman" panose="02020603050405020304" pitchFamily="18" charset="0"/>
                    <a:cs typeface="Times New Roman" panose="02020603050405020304" pitchFamily="18" charset="0"/>
                  </a:rPr>
                  <a:t>I</a:t>
                </a:r>
                <a:r>
                  <a:rPr lang="en-US" altLang="zh-CN" sz="2400" b="1" baseline="-25000" dirty="0" smtClean="0">
                    <a:latin typeface="Times New Roman" panose="02020603050405020304" pitchFamily="18" charset="0"/>
                    <a:cs typeface="Times New Roman" panose="02020603050405020304" pitchFamily="18" charset="0"/>
                  </a:rPr>
                  <a:t>S</a:t>
                </a:r>
                <a:r>
                  <a:rPr lang="zh-CN" altLang="en-US" sz="2400" b="1" dirty="0" smtClean="0">
                    <a:latin typeface="Times New Roman" panose="02020603050405020304" pitchFamily="18" charset="0"/>
                    <a:cs typeface="Times New Roman" panose="02020603050405020304" pitchFamily="18" charset="0"/>
                  </a:rPr>
                  <a:t>为反向饱和电流值；</a:t>
                </a:r>
                <a:endParaRPr lang="en-US" altLang="zh-CN" sz="2400" b="1" dirty="0" smtClean="0">
                  <a:latin typeface="Times New Roman" panose="02020603050405020304" pitchFamily="18" charset="0"/>
                  <a:cs typeface="Times New Roman" panose="02020603050405020304" pitchFamily="18" charset="0"/>
                </a:endParaRPr>
              </a:p>
              <a:p>
                <a:pPr>
                  <a:lnSpc>
                    <a:spcPct val="130000"/>
                  </a:lnSpc>
                </a:pP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baseline="-25000" dirty="0" smtClean="0">
                    <a:latin typeface="Times New Roman" panose="02020603050405020304" pitchFamily="18" charset="0"/>
                    <a:cs typeface="Times New Roman" panose="02020603050405020304" pitchFamily="18" charset="0"/>
                  </a:rPr>
                  <a:t>T</a:t>
                </a:r>
                <a:r>
                  <a:rPr lang="zh-CN" altLang="en-US" sz="2400" b="1" dirty="0" smtClean="0">
                    <a:latin typeface="Times New Roman" panose="02020603050405020304" pitchFamily="18" charset="0"/>
                    <a:cs typeface="Times New Roman" panose="02020603050405020304" pitchFamily="18" charset="0"/>
                  </a:rPr>
                  <a:t>为温度电压当量，</a:t>
                </a: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a:rPr>
                          <m:t>𝑽</m:t>
                        </m:r>
                      </m:e>
                      <m:sub>
                        <m:r>
                          <a:rPr lang="en-US" altLang="zh-CN" sz="2400" b="1" i="1" smtClean="0">
                            <a:latin typeface="Cambria Math" panose="02040503050406030204"/>
                          </a:rPr>
                          <m:t>𝑻</m:t>
                        </m:r>
                      </m:sub>
                    </m:sSub>
                    <m:r>
                      <a:rPr lang="en-US" altLang="zh-CN" sz="2400" b="1" i="1" smtClean="0">
                        <a:latin typeface="Cambria Math" panose="02040503050406030204"/>
                      </a:rPr>
                      <m:t>=</m:t>
                    </m:r>
                    <m:box>
                      <m:boxPr>
                        <m:ctrlPr>
                          <a:rPr lang="en-US" altLang="zh-CN" sz="2400" b="1" i="1" smtClean="0">
                            <a:latin typeface="Cambria Math" panose="02040503050406030204" pitchFamily="18" charset="0"/>
                          </a:rPr>
                        </m:ctrlPr>
                      </m:boxPr>
                      <m:e>
                        <m:f>
                          <m:fPr>
                            <m:ctrlPr>
                              <a:rPr lang="en-US" altLang="zh-CN" sz="2400" b="1" i="1" smtClean="0">
                                <a:latin typeface="Cambria Math" panose="02040503050406030204" pitchFamily="18" charset="0"/>
                              </a:rPr>
                            </m:ctrlPr>
                          </m:fPr>
                          <m:num>
                            <m:r>
                              <a:rPr lang="en-US" altLang="zh-CN" sz="2400" b="1" i="1" smtClean="0">
                                <a:latin typeface="Cambria Math" panose="02040503050406030204"/>
                              </a:rPr>
                              <m:t>𝒌𝑻</m:t>
                            </m:r>
                          </m:num>
                          <m:den>
                            <m:r>
                              <a:rPr lang="en-US" altLang="zh-CN" sz="2400" b="1" i="1" smtClean="0">
                                <a:latin typeface="Cambria Math" panose="02040503050406030204"/>
                              </a:rPr>
                              <m:t>𝒒</m:t>
                            </m:r>
                          </m:den>
                        </m:f>
                      </m:e>
                    </m:box>
                  </m:oMath>
                </a14:m>
                <a:r>
                  <a:rPr lang="zh-CN" altLang="en-US" sz="2400" b="1" dirty="0" smtClean="0">
                    <a:latin typeface="Times New Roman" panose="02020603050405020304" pitchFamily="18" charset="0"/>
                    <a:cs typeface="Times New Roman" panose="02020603050405020304" pitchFamily="18" charset="0"/>
                  </a:rPr>
                  <a:t>，常温下为</a:t>
                </a:r>
                <a:r>
                  <a:rPr lang="en-US" altLang="zh-CN" sz="2400" b="1" dirty="0" smtClean="0">
                    <a:latin typeface="Times New Roman" panose="02020603050405020304" pitchFamily="18" charset="0"/>
                    <a:cs typeface="Times New Roman" panose="02020603050405020304" pitchFamily="18" charset="0"/>
                  </a:rPr>
                  <a:t>25.8mV</a:t>
                </a:r>
                <a:r>
                  <a:rPr lang="zh-CN" altLang="en-US" sz="2400" b="1" dirty="0" smtClean="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p:txBody>
          </p:sp>
        </mc:Choice>
        <mc:Fallback>
          <p:sp>
            <p:nvSpPr>
              <p:cNvPr id="31" name="TextBox 30"/>
              <p:cNvSpPr txBox="1">
                <a:spLocks noRot="1" noChangeAspect="1" noMove="1" noResize="1" noEditPoints="1" noAdjustHandles="1" noChangeArrowheads="1" noChangeShapeType="1" noTextEdit="1"/>
              </p:cNvSpPr>
              <p:nvPr/>
            </p:nvSpPr>
            <p:spPr>
              <a:xfrm>
                <a:off x="563326" y="3429000"/>
                <a:ext cx="8473170" cy="2880320"/>
              </a:xfrm>
              <a:prstGeom prst="rect">
                <a:avLst/>
              </a:prstGeom>
              <a:blipFill rotWithShape="1">
                <a:blip r:embed="rId1"/>
                <a:stretch>
                  <a:fillRect l="-226" t="-661" r="-220" b="-641"/>
                </a:stretch>
              </a:blipFill>
              <a:ln w="38100">
                <a:solidFill>
                  <a:srgbClr val="FF0000"/>
                </a:solidFill>
              </a:ln>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095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75"/>
                                  </p:iterate>
                                  <p:childTnLst>
                                    <p:set>
                                      <p:cBhvr>
                                        <p:cTn id="10" dur="1" fill="hold">
                                          <p:stCondLst>
                                            <p:cond delay="74"/>
                                          </p:stCondLst>
                                        </p:cTn>
                                        <p:tgtEl>
                                          <p:spTgt spid="1096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09610"/>
                                        </p:tgtEl>
                                        <p:attrNameLst>
                                          <p:attrName>style.visibility</p:attrName>
                                        </p:attrNameLst>
                                      </p:cBhvr>
                                      <p:to>
                                        <p:strVal val="visible"/>
                                      </p:to>
                                    </p:set>
                                    <p:animEffect transition="in" filter="wipe(right)">
                                      <p:cBhvr>
                                        <p:cTn id="15" dur="500"/>
                                        <p:tgtEl>
                                          <p:spTgt spid="1096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09619"/>
                                        </p:tgtEl>
                                        <p:attrNameLst>
                                          <p:attrName>style.visibility</p:attrName>
                                        </p:attrNameLst>
                                      </p:cBhvr>
                                      <p:to>
                                        <p:strVal val="visible"/>
                                      </p:to>
                                    </p:set>
                                    <p:animEffect transition="in" filter="wipe(right)">
                                      <p:cBhvr>
                                        <p:cTn id="20" dur="500"/>
                                        <p:tgtEl>
                                          <p:spTgt spid="109619"/>
                                        </p:tgtEl>
                                      </p:cBhvr>
                                    </p:animEffect>
                                  </p:childTnLst>
                                </p:cTn>
                              </p:par>
                            </p:childTnLst>
                          </p:cTn>
                        </p:par>
                        <p:par>
                          <p:cTn id="21" fill="hold">
                            <p:stCondLst>
                              <p:cond delay="500"/>
                            </p:stCondLst>
                            <p:childTnLst>
                              <p:par>
                                <p:cTn id="22" presetID="1" presetClass="entr" presetSubtype="0" fill="hold" grpId="0" nodeType="afterEffect">
                                  <p:stCondLst>
                                    <p:cond delay="0"/>
                                  </p:stCondLst>
                                  <p:iterate type="lt">
                                    <p:tmAbs val="75"/>
                                  </p:iterate>
                                  <p:childTnLst>
                                    <p:set>
                                      <p:cBhvr>
                                        <p:cTn id="23" dur="1" fill="hold">
                                          <p:stCondLst>
                                            <p:cond delay="74"/>
                                          </p:stCondLst>
                                        </p:cTn>
                                        <p:tgtEl>
                                          <p:spTgt spid="109615"/>
                                        </p:tgtEl>
                                        <p:attrNameLst>
                                          <p:attrName>style.visibility</p:attrName>
                                        </p:attrNameLst>
                                      </p:cBhvr>
                                      <p:to>
                                        <p:strVal val="visible"/>
                                      </p:to>
                                    </p:set>
                                  </p:childTnLst>
                                </p:cTn>
                              </p:par>
                            </p:childTnLst>
                          </p:cTn>
                        </p:par>
                        <p:par>
                          <p:cTn id="24" fill="hold">
                            <p:stCondLst>
                              <p:cond delay="800"/>
                            </p:stCondLst>
                            <p:childTnLst>
                              <p:par>
                                <p:cTn id="25" presetID="22" presetClass="entr" presetSubtype="8" fill="hold" grpId="0" nodeType="afterEffect">
                                  <p:stCondLst>
                                    <p:cond delay="0"/>
                                  </p:stCondLst>
                                  <p:childTnLst>
                                    <p:set>
                                      <p:cBhvr>
                                        <p:cTn id="26" dur="1" fill="hold">
                                          <p:stCondLst>
                                            <p:cond delay="0"/>
                                          </p:stCondLst>
                                        </p:cTn>
                                        <p:tgtEl>
                                          <p:spTgt spid="109613"/>
                                        </p:tgtEl>
                                        <p:attrNameLst>
                                          <p:attrName>style.visibility</p:attrName>
                                        </p:attrNameLst>
                                      </p:cBhvr>
                                      <p:to>
                                        <p:strVal val="visible"/>
                                      </p:to>
                                    </p:set>
                                    <p:animEffect transition="in" filter="wipe(left)">
                                      <p:cBhvr>
                                        <p:cTn id="27" dur="500"/>
                                        <p:tgtEl>
                                          <p:spTgt spid="109613"/>
                                        </p:tgtEl>
                                      </p:cBhvr>
                                    </p:animEffect>
                                  </p:childTnLst>
                                </p:cTn>
                              </p:par>
                            </p:childTnLst>
                          </p:cTn>
                        </p:par>
                        <p:par>
                          <p:cTn id="28" fill="hold">
                            <p:stCondLst>
                              <p:cond delay="1300"/>
                            </p:stCondLst>
                            <p:childTnLst>
                              <p:par>
                                <p:cTn id="29" presetID="22" presetClass="entr" presetSubtype="8" fill="hold" grpId="0" nodeType="afterEffect">
                                  <p:stCondLst>
                                    <p:cond delay="0"/>
                                  </p:stCondLst>
                                  <p:childTnLst>
                                    <p:set>
                                      <p:cBhvr>
                                        <p:cTn id="30" dur="1" fill="hold">
                                          <p:stCondLst>
                                            <p:cond delay="0"/>
                                          </p:stCondLst>
                                        </p:cTn>
                                        <p:tgtEl>
                                          <p:spTgt spid="109612"/>
                                        </p:tgtEl>
                                        <p:attrNameLst>
                                          <p:attrName>style.visibility</p:attrName>
                                        </p:attrNameLst>
                                      </p:cBhvr>
                                      <p:to>
                                        <p:strVal val="visible"/>
                                      </p:to>
                                    </p:set>
                                    <p:animEffect transition="in" filter="wipe(left)">
                                      <p:cBhvr>
                                        <p:cTn id="31" dur="500"/>
                                        <p:tgtEl>
                                          <p:spTgt spid="109612"/>
                                        </p:tgtEl>
                                      </p:cBhvr>
                                    </p:animEffect>
                                  </p:childTnLst>
                                </p:cTn>
                              </p:par>
                            </p:childTnLst>
                          </p:cTn>
                        </p:par>
                        <p:par>
                          <p:cTn id="32" fill="hold">
                            <p:stCondLst>
                              <p:cond delay="1800"/>
                            </p:stCondLst>
                            <p:childTnLst>
                              <p:par>
                                <p:cTn id="33" presetID="1" presetClass="entr" presetSubtype="0" fill="hold" grpId="0" nodeType="afterEffect">
                                  <p:stCondLst>
                                    <p:cond delay="0"/>
                                  </p:stCondLst>
                                  <p:iterate type="lt">
                                    <p:tmAbs val="75"/>
                                  </p:iterate>
                                  <p:childTnLst>
                                    <p:set>
                                      <p:cBhvr>
                                        <p:cTn id="34" dur="1" fill="hold">
                                          <p:stCondLst>
                                            <p:cond delay="74"/>
                                          </p:stCondLst>
                                        </p:cTn>
                                        <p:tgtEl>
                                          <p:spTgt spid="1096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lt">
                                    <p:tmAbs val="75"/>
                                  </p:iterate>
                                  <p:childTnLst>
                                    <p:set>
                                      <p:cBhvr>
                                        <p:cTn id="38" dur="1" fill="hold">
                                          <p:stCondLst>
                                            <p:cond delay="74"/>
                                          </p:stCondLst>
                                        </p:cTn>
                                        <p:tgtEl>
                                          <p:spTgt spid="10960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lt">
                                    <p:tmAbs val="75"/>
                                  </p:iterate>
                                  <p:childTnLst>
                                    <p:set>
                                      <p:cBhvr>
                                        <p:cTn id="42" dur="1" fill="hold">
                                          <p:stCondLst>
                                            <p:cond delay="74"/>
                                          </p:stCondLst>
                                        </p:cTn>
                                        <p:tgtEl>
                                          <p:spTgt spid="109602"/>
                                        </p:tgtEl>
                                        <p:attrNameLst>
                                          <p:attrName>style.visibility</p:attrName>
                                        </p:attrNameLst>
                                      </p:cBhvr>
                                      <p:to>
                                        <p:strVal val="visible"/>
                                      </p:to>
                                    </p:set>
                                  </p:childTnLst>
                                </p:cTn>
                              </p:par>
                            </p:childTnLst>
                          </p:cTn>
                        </p:par>
                        <p:par>
                          <p:cTn id="43" fill="hold">
                            <p:stCondLst>
                              <p:cond delay="5250"/>
                            </p:stCondLst>
                            <p:childTnLst>
                              <p:par>
                                <p:cTn id="44" presetID="1" presetClass="entr" presetSubtype="0" fill="hold" grpId="0" nodeType="afterEffect">
                                  <p:stCondLst>
                                    <p:cond delay="0"/>
                                  </p:stCondLst>
                                  <p:iterate type="lt">
                                    <p:tmAbs val="75"/>
                                  </p:iterate>
                                  <p:childTnLst>
                                    <p:set>
                                      <p:cBhvr>
                                        <p:cTn id="45" dur="1" fill="hold">
                                          <p:stCondLst>
                                            <p:cond delay="74"/>
                                          </p:stCondLst>
                                        </p:cTn>
                                        <p:tgtEl>
                                          <p:spTgt spid="10961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 calcmode="lin" valueType="num">
                                      <p:cBhvr additive="base">
                                        <p:cTn id="50" dur="500" fill="hold"/>
                                        <p:tgtEl>
                                          <p:spTgt spid="31"/>
                                        </p:tgtEl>
                                        <p:attrNameLst>
                                          <p:attrName>ppt_x</p:attrName>
                                        </p:attrNameLst>
                                      </p:cBhvr>
                                      <p:tavLst>
                                        <p:tav tm="0">
                                          <p:val>
                                            <p:strVal val="#ppt_x"/>
                                          </p:val>
                                        </p:tav>
                                        <p:tav tm="100000">
                                          <p:val>
                                            <p:strVal val="#ppt_x"/>
                                          </p:val>
                                        </p:tav>
                                      </p:tavLst>
                                    </p:anim>
                                    <p:anim calcmode="lin" valueType="num">
                                      <p:cBhvr additive="base">
                                        <p:cTn id="51"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99" grpId="0" autoUpdateAnimBg="0"/>
      <p:bldP spid="109600" grpId="0" autoUpdateAnimBg="0"/>
      <p:bldP spid="109601" grpId="0" autoUpdateAnimBg="0"/>
      <p:bldP spid="109602" grpId="0" autoUpdateAnimBg="0"/>
      <p:bldP spid="109610" grpId="0" animBg="1"/>
      <p:bldP spid="109612" grpId="0" animBg="1"/>
      <p:bldP spid="109613" grpId="0" animBg="1"/>
      <p:bldP spid="109615" grpId="0" autoUpdateAnimBg="0"/>
      <p:bldP spid="109616" grpId="0" autoUpdateAnimBg="0"/>
      <p:bldP spid="109619" grpId="0" animBg="1"/>
      <p:bldP spid="109624" grpId="0" autoUpdateAnimBg="0"/>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20</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pic>
        <p:nvPicPr>
          <p:cNvPr id="45059" name="Picture 5">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t="4462"/>
          <a:stretch>
            <a:fillRect/>
          </a:stretch>
        </p:blipFill>
        <p:spPr bwMode="auto">
          <a:xfrm>
            <a:off x="1371600" y="1500188"/>
            <a:ext cx="6402388" cy="45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6"/>
          <p:cNvSpPr txBox="1">
            <a:spLocks noChangeArrowheads="1"/>
          </p:cNvSpPr>
          <p:nvPr/>
        </p:nvSpPr>
        <p:spPr bwMode="auto">
          <a:xfrm>
            <a:off x="2929602" y="973138"/>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smtClean="0">
                <a:solidFill>
                  <a:schemeClr val="tx2"/>
                </a:solidFill>
              </a:rPr>
              <a:t>测试</a:t>
            </a:r>
            <a:r>
              <a:rPr lang="zh-CN" altLang="en-US" sz="2400" b="1" dirty="0">
                <a:solidFill>
                  <a:schemeClr val="tx2"/>
                </a:solidFill>
              </a:rPr>
              <a:t>二极管伏安特性</a:t>
            </a:r>
            <a:endParaRPr lang="zh-CN" altLang="en-US" sz="2400" b="1" dirty="0">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21</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5" name="灯片编号占位符 4"/>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4101" name="Rectangle 3"/>
          <p:cNvSpPr>
            <a:spLocks noGrp="1" noChangeArrowheads="1"/>
          </p:cNvSpPr>
          <p:nvPr>
            <p:ph sz="quarter" idx="4294967295"/>
          </p:nvPr>
        </p:nvSpPr>
        <p:spPr>
          <a:xfrm>
            <a:off x="0" y="692696"/>
            <a:ext cx="9144000" cy="5392738"/>
          </a:xfrm>
        </p:spPr>
        <p:txBody>
          <a:bodyPr/>
          <a:lstStyle/>
          <a:p>
            <a:pPr>
              <a:lnSpc>
                <a:spcPct val="150000"/>
              </a:lnSpc>
              <a:spcBef>
                <a:spcPct val="0"/>
              </a:spcBef>
              <a:buFont typeface="Wingdings" panose="05000000000000000000" pitchFamily="2" charset="2"/>
              <a:buChar char="u"/>
            </a:pPr>
            <a:r>
              <a:rPr lang="zh-CN" altLang="en-US" dirty="0" smtClean="0"/>
              <a:t>二极管的电路模型</a:t>
            </a:r>
            <a:br>
              <a:rPr lang="zh-CN" altLang="en-US" dirty="0" smtClean="0"/>
            </a:br>
            <a:r>
              <a:rPr kumimoji="1" lang="zh-CN" altLang="en-US" sz="2400" dirty="0" smtClean="0"/>
              <a:t>在实际电路分析、设计中常使用逐段线性的二极管特性</a:t>
            </a:r>
            <a:endParaRPr kumimoji="1" lang="en-US" altLang="en-US" sz="2400" dirty="0" smtClean="0"/>
          </a:p>
        </p:txBody>
      </p:sp>
      <p:sp>
        <p:nvSpPr>
          <p:cNvPr id="111620" name="Text Box 4"/>
          <p:cNvSpPr txBox="1">
            <a:spLocks noChangeArrowheads="1"/>
          </p:cNvSpPr>
          <p:nvPr/>
        </p:nvSpPr>
        <p:spPr bwMode="auto">
          <a:xfrm>
            <a:off x="573088" y="2005013"/>
            <a:ext cx="456565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b="1">
                <a:solidFill>
                  <a:schemeClr val="tx2"/>
                </a:solidFill>
                <a:latin typeface="Times New Roman" panose="02020603050405020304" pitchFamily="18" charset="0"/>
                <a:cs typeface="Times New Roman" panose="02020603050405020304" pitchFamily="18" charset="0"/>
              </a:rPr>
              <a:t>1. </a:t>
            </a:r>
            <a:r>
              <a:rPr kumimoji="1" lang="zh-CN" altLang="en-US" sz="2400" b="1">
                <a:solidFill>
                  <a:schemeClr val="tx2"/>
                </a:solidFill>
                <a:latin typeface="Times New Roman" panose="02020603050405020304" pitchFamily="18" charset="0"/>
                <a:cs typeface="Times New Roman" panose="02020603050405020304" pitchFamily="18" charset="0"/>
              </a:rPr>
              <a:t>理想二极管的电路模型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27"/>
          <p:cNvGrpSpPr/>
          <p:nvPr/>
        </p:nvGrpSpPr>
        <p:grpSpPr bwMode="auto">
          <a:xfrm>
            <a:off x="4692650" y="1881188"/>
            <a:ext cx="1884363" cy="1871662"/>
            <a:chOff x="3311" y="1205"/>
            <a:chExt cx="1255" cy="1246"/>
          </a:xfrm>
        </p:grpSpPr>
        <p:sp>
          <p:nvSpPr>
            <p:cNvPr id="4156" name="Line 6"/>
            <p:cNvSpPr>
              <a:spLocks noChangeShapeType="1"/>
            </p:cNvSpPr>
            <p:nvPr/>
          </p:nvSpPr>
          <p:spPr bwMode="auto">
            <a:xfrm>
              <a:off x="3311" y="2139"/>
              <a:ext cx="1191" cy="2"/>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57" name="Line 7"/>
            <p:cNvSpPr>
              <a:spLocks noChangeShapeType="1"/>
            </p:cNvSpPr>
            <p:nvPr/>
          </p:nvSpPr>
          <p:spPr bwMode="auto">
            <a:xfrm flipV="1">
              <a:off x="3959" y="1323"/>
              <a:ext cx="0" cy="112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58" name="Text Box 8"/>
            <p:cNvSpPr txBox="1">
              <a:spLocks noChangeArrowheads="1"/>
            </p:cNvSpPr>
            <p:nvPr/>
          </p:nvSpPr>
          <p:spPr bwMode="auto">
            <a:xfrm>
              <a:off x="3997" y="1205"/>
              <a:ext cx="23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4159" name="Text Box 9"/>
            <p:cNvSpPr txBox="1">
              <a:spLocks noChangeArrowheads="1"/>
            </p:cNvSpPr>
            <p:nvPr/>
          </p:nvSpPr>
          <p:spPr bwMode="auto">
            <a:xfrm>
              <a:off x="4284" y="1798"/>
              <a:ext cx="28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4160" name="Text Box 10"/>
            <p:cNvSpPr txBox="1">
              <a:spLocks noChangeArrowheads="1"/>
            </p:cNvSpPr>
            <p:nvPr/>
          </p:nvSpPr>
          <p:spPr bwMode="auto">
            <a:xfrm>
              <a:off x="3769" y="2141"/>
              <a:ext cx="23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O</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sp>
        <p:nvSpPr>
          <p:cNvPr id="111627" name="Freeform 11"/>
          <p:cNvSpPr/>
          <p:nvPr/>
        </p:nvSpPr>
        <p:spPr bwMode="auto">
          <a:xfrm>
            <a:off x="4457700" y="2203450"/>
            <a:ext cx="1204913" cy="1066800"/>
          </a:xfrm>
          <a:custGeom>
            <a:avLst/>
            <a:gdLst>
              <a:gd name="T0" fmla="*/ 2147483647 w 1104"/>
              <a:gd name="T1" fmla="*/ 0 h 816"/>
              <a:gd name="T2" fmla="*/ 2147483647 w 1104"/>
              <a:gd name="T3" fmla="*/ 2147483647 h 816"/>
              <a:gd name="T4" fmla="*/ 0 w 1104"/>
              <a:gd name="T5" fmla="*/ 2147483647 h 816"/>
              <a:gd name="T6" fmla="*/ 0 60000 65536"/>
              <a:gd name="T7" fmla="*/ 0 60000 65536"/>
              <a:gd name="T8" fmla="*/ 0 60000 65536"/>
              <a:gd name="T9" fmla="*/ 0 w 1104"/>
              <a:gd name="T10" fmla="*/ 0 h 816"/>
              <a:gd name="T11" fmla="*/ 1104 w 1104"/>
              <a:gd name="T12" fmla="*/ 816 h 816"/>
            </a:gdLst>
            <a:ahLst/>
            <a:cxnLst>
              <a:cxn ang="T6">
                <a:pos x="T0" y="T1"/>
              </a:cxn>
              <a:cxn ang="T7">
                <a:pos x="T2" y="T3"/>
              </a:cxn>
              <a:cxn ang="T8">
                <a:pos x="T4" y="T5"/>
              </a:cxn>
            </a:cxnLst>
            <a:rect l="T9" t="T10" r="T11" b="T12"/>
            <a:pathLst>
              <a:path w="1104" h="816">
                <a:moveTo>
                  <a:pt x="1104" y="0"/>
                </a:moveTo>
                <a:lnTo>
                  <a:pt x="1104" y="816"/>
                </a:lnTo>
                <a:lnTo>
                  <a:pt x="0" y="816"/>
                </a:ln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11629" name="Object 2"/>
          <p:cNvGraphicFramePr>
            <a:graphicFrameLocks noChangeAspect="1"/>
          </p:cNvGraphicFramePr>
          <p:nvPr/>
        </p:nvGraphicFramePr>
        <p:xfrm>
          <a:off x="1092200" y="2579688"/>
          <a:ext cx="2517775" cy="954087"/>
        </p:xfrm>
        <a:graphic>
          <a:graphicData uri="http://schemas.openxmlformats.org/presentationml/2006/ole">
            <mc:AlternateContent xmlns:mc="http://schemas.openxmlformats.org/markup-compatibility/2006">
              <mc:Choice xmlns:v="urn:schemas-microsoft-com:vml" Requires="v">
                <p:oleObj spid="_x0000_s4207" name="Equation" r:id="rId1" imgW="28956000" imgH="10972800" progId="Equation.DSMT4">
                  <p:embed/>
                </p:oleObj>
              </mc:Choice>
              <mc:Fallback>
                <p:oleObj name="Equation" r:id="rId1" imgW="28956000" imgH="10972800" progId="Equation.DSMT4">
                  <p:embed/>
                  <p:pic>
                    <p:nvPicPr>
                      <p:cNvPr id="0" name="Object 2"/>
                      <p:cNvPicPr>
                        <a:picLocks noChangeAspect="1" noChangeArrowheads="1"/>
                      </p:cNvPicPr>
                      <p:nvPr/>
                    </p:nvPicPr>
                    <p:blipFill>
                      <a:blip r:embed="rId2"/>
                      <a:srcRect/>
                      <a:stretch>
                        <a:fillRect/>
                      </a:stretch>
                    </p:blipFill>
                    <p:spPr bwMode="auto">
                      <a:xfrm>
                        <a:off x="1092200" y="2579688"/>
                        <a:ext cx="2517775"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630" name="Text Box 14"/>
          <p:cNvSpPr txBox="1">
            <a:spLocks noChangeArrowheads="1"/>
          </p:cNvSpPr>
          <p:nvPr/>
        </p:nvSpPr>
        <p:spPr bwMode="auto">
          <a:xfrm>
            <a:off x="715963" y="5334000"/>
            <a:ext cx="508317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导通电压</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D</a:t>
            </a:r>
            <a:r>
              <a:rPr kumimoji="1" lang="zh-CN" altLang="en-US" sz="2400" b="1">
                <a:solidFill>
                  <a:schemeClr val="tx2"/>
                </a:solidFill>
                <a:latin typeface="Times New Roman" panose="02020603050405020304" pitchFamily="18" charset="0"/>
                <a:cs typeface="Times New Roman" panose="02020603050405020304" pitchFamily="18" charset="0"/>
              </a:rPr>
              <a:t>与二极管材料有关：</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硅管为</a:t>
            </a:r>
            <a:r>
              <a:rPr kumimoji="1" lang="en-US" altLang="zh-CN" sz="2400" b="1">
                <a:solidFill>
                  <a:schemeClr val="tx2"/>
                </a:solidFill>
                <a:latin typeface="Times New Roman" panose="02020603050405020304" pitchFamily="18" charset="0"/>
                <a:cs typeface="Times New Roman" panose="02020603050405020304" pitchFamily="18" charset="0"/>
              </a:rPr>
              <a:t>0.6~0.7V</a:t>
            </a:r>
            <a:r>
              <a:rPr kumimoji="1" lang="zh-CN" altLang="en-US" sz="2400" b="1">
                <a:solidFill>
                  <a:schemeClr val="tx2"/>
                </a:solidFill>
                <a:latin typeface="Times New Roman" panose="02020603050405020304" pitchFamily="18" charset="0"/>
                <a:cs typeface="Times New Roman" panose="02020603050405020304" pitchFamily="18" charset="0"/>
              </a:rPr>
              <a:t>，锗管为</a:t>
            </a:r>
            <a:r>
              <a:rPr kumimoji="1" lang="en-US" altLang="zh-CN" sz="2400" b="1">
                <a:solidFill>
                  <a:schemeClr val="tx2"/>
                </a:solidFill>
                <a:latin typeface="Times New Roman" panose="02020603050405020304" pitchFamily="18" charset="0"/>
                <a:cs typeface="Times New Roman" panose="02020603050405020304" pitchFamily="18" charset="0"/>
              </a:rPr>
              <a:t>0.2~0.3V</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11631" name="Text Box 15"/>
          <p:cNvSpPr txBox="1">
            <a:spLocks noChangeArrowheads="1"/>
          </p:cNvSpPr>
          <p:nvPr/>
        </p:nvSpPr>
        <p:spPr bwMode="auto">
          <a:xfrm>
            <a:off x="554038" y="3540125"/>
            <a:ext cx="451485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b="1">
                <a:solidFill>
                  <a:schemeClr val="tx2"/>
                </a:solidFill>
                <a:latin typeface="Times New Roman" panose="02020603050405020304" pitchFamily="18" charset="0"/>
                <a:cs typeface="Times New Roman" panose="02020603050405020304" pitchFamily="18" charset="0"/>
              </a:rPr>
              <a:t>2. </a:t>
            </a:r>
            <a:r>
              <a:rPr kumimoji="1" lang="zh-CN" altLang="en-US" sz="2400" b="1">
                <a:solidFill>
                  <a:schemeClr val="tx2"/>
                </a:solidFill>
                <a:latin typeface="Times New Roman" panose="02020603050405020304" pitchFamily="18" charset="0"/>
                <a:cs typeface="Times New Roman" panose="02020603050405020304" pitchFamily="18" charset="0"/>
              </a:rPr>
              <a:t>考虑导通电压的二极管模型：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11632" name="Object 3"/>
          <p:cNvGraphicFramePr>
            <a:graphicFrameLocks noChangeAspect="1"/>
          </p:cNvGraphicFramePr>
          <p:nvPr/>
        </p:nvGraphicFramePr>
        <p:xfrm>
          <a:off x="989013" y="4219575"/>
          <a:ext cx="2862262" cy="1011238"/>
        </p:xfrm>
        <a:graphic>
          <a:graphicData uri="http://schemas.openxmlformats.org/presentationml/2006/ole">
            <mc:AlternateContent xmlns:mc="http://schemas.openxmlformats.org/markup-compatibility/2006">
              <mc:Choice xmlns:v="urn:schemas-microsoft-com:vml" Requires="v">
                <p:oleObj spid="_x0000_s4208" name="Equation" r:id="rId3" imgW="31089600" imgH="10972800" progId="Equation.DSMT4">
                  <p:embed/>
                </p:oleObj>
              </mc:Choice>
              <mc:Fallback>
                <p:oleObj name="Equation" r:id="rId3" imgW="31089600" imgH="10972800" progId="Equation.DSMT4">
                  <p:embed/>
                  <p:pic>
                    <p:nvPicPr>
                      <p:cNvPr id="0" name="Object 3"/>
                      <p:cNvPicPr>
                        <a:picLocks noChangeAspect="1" noChangeArrowheads="1"/>
                      </p:cNvPicPr>
                      <p:nvPr/>
                    </p:nvPicPr>
                    <p:blipFill>
                      <a:blip r:embed="rId4"/>
                      <a:srcRect/>
                      <a:stretch>
                        <a:fillRect/>
                      </a:stretch>
                    </p:blipFill>
                    <p:spPr bwMode="auto">
                      <a:xfrm>
                        <a:off x="989013" y="4219575"/>
                        <a:ext cx="2862262" cy="1011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69"/>
          <p:cNvGrpSpPr/>
          <p:nvPr/>
        </p:nvGrpSpPr>
        <p:grpSpPr bwMode="auto">
          <a:xfrm>
            <a:off x="4724400" y="3933825"/>
            <a:ext cx="2187575" cy="1871663"/>
            <a:chOff x="2976" y="2478"/>
            <a:chExt cx="1456" cy="1246"/>
          </a:xfrm>
        </p:grpSpPr>
        <p:sp>
          <p:nvSpPr>
            <p:cNvPr id="4151" name="Line 18"/>
            <p:cNvSpPr>
              <a:spLocks noChangeShapeType="1"/>
            </p:cNvSpPr>
            <p:nvPr/>
          </p:nvSpPr>
          <p:spPr bwMode="auto">
            <a:xfrm>
              <a:off x="2976" y="3412"/>
              <a:ext cx="1439" cy="2"/>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52" name="Line 19"/>
            <p:cNvSpPr>
              <a:spLocks noChangeShapeType="1"/>
            </p:cNvSpPr>
            <p:nvPr/>
          </p:nvSpPr>
          <p:spPr bwMode="auto">
            <a:xfrm flipV="1">
              <a:off x="3624" y="2596"/>
              <a:ext cx="0" cy="112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53" name="Text Box 20"/>
            <p:cNvSpPr txBox="1">
              <a:spLocks noChangeArrowheads="1"/>
            </p:cNvSpPr>
            <p:nvPr/>
          </p:nvSpPr>
          <p:spPr bwMode="auto">
            <a:xfrm>
              <a:off x="3662" y="2478"/>
              <a:ext cx="23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4154" name="Text Box 21"/>
            <p:cNvSpPr txBox="1">
              <a:spLocks noChangeArrowheads="1"/>
            </p:cNvSpPr>
            <p:nvPr/>
          </p:nvSpPr>
          <p:spPr bwMode="auto">
            <a:xfrm>
              <a:off x="4141" y="3071"/>
              <a:ext cx="29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4155" name="Text Box 22"/>
            <p:cNvSpPr txBox="1">
              <a:spLocks noChangeArrowheads="1"/>
            </p:cNvSpPr>
            <p:nvPr/>
          </p:nvSpPr>
          <p:spPr bwMode="auto">
            <a:xfrm>
              <a:off x="3434" y="3414"/>
              <a:ext cx="23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O</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sp>
        <p:nvSpPr>
          <p:cNvPr id="111639" name="Freeform 23"/>
          <p:cNvSpPr/>
          <p:nvPr/>
        </p:nvSpPr>
        <p:spPr bwMode="auto">
          <a:xfrm>
            <a:off x="4678363" y="4292600"/>
            <a:ext cx="1446212" cy="1028700"/>
          </a:xfrm>
          <a:custGeom>
            <a:avLst/>
            <a:gdLst>
              <a:gd name="T0" fmla="*/ 2147483647 w 1104"/>
              <a:gd name="T1" fmla="*/ 0 h 816"/>
              <a:gd name="T2" fmla="*/ 2147483647 w 1104"/>
              <a:gd name="T3" fmla="*/ 2147483647 h 816"/>
              <a:gd name="T4" fmla="*/ 0 w 1104"/>
              <a:gd name="T5" fmla="*/ 2147483647 h 816"/>
              <a:gd name="T6" fmla="*/ 0 60000 65536"/>
              <a:gd name="T7" fmla="*/ 0 60000 65536"/>
              <a:gd name="T8" fmla="*/ 0 60000 65536"/>
              <a:gd name="T9" fmla="*/ 0 w 1104"/>
              <a:gd name="T10" fmla="*/ 0 h 816"/>
              <a:gd name="T11" fmla="*/ 1104 w 1104"/>
              <a:gd name="T12" fmla="*/ 816 h 816"/>
            </a:gdLst>
            <a:ahLst/>
            <a:cxnLst>
              <a:cxn ang="T6">
                <a:pos x="T0" y="T1"/>
              </a:cxn>
              <a:cxn ang="T7">
                <a:pos x="T2" y="T3"/>
              </a:cxn>
              <a:cxn ang="T8">
                <a:pos x="T4" y="T5"/>
              </a:cxn>
            </a:cxnLst>
            <a:rect l="T9" t="T10" r="T11" b="T12"/>
            <a:pathLst>
              <a:path w="1104" h="816">
                <a:moveTo>
                  <a:pt x="1104" y="0"/>
                </a:moveTo>
                <a:lnTo>
                  <a:pt x="1104" y="816"/>
                </a:lnTo>
                <a:lnTo>
                  <a:pt x="0" y="816"/>
                </a:ln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49" name="AutoShape 33"/>
          <p:cNvSpPr>
            <a:spLocks noChangeArrowheads="1"/>
          </p:cNvSpPr>
          <p:nvPr/>
        </p:nvSpPr>
        <p:spPr bwMode="auto">
          <a:xfrm>
            <a:off x="7454900" y="2911475"/>
            <a:ext cx="473075" cy="427038"/>
          </a:xfrm>
          <a:prstGeom prst="downArrow">
            <a:avLst>
              <a:gd name="adj1" fmla="val 50000"/>
              <a:gd name="adj2" fmla="val 25000"/>
            </a:avLst>
          </a:prstGeom>
          <a:solidFill>
            <a:srgbClr val="FFFFFF"/>
          </a:solidFill>
          <a:ln w="28575" algn="ctr">
            <a:solidFill>
              <a:schemeClr val="tx1"/>
            </a:solidFill>
            <a:miter lim="800000"/>
          </a:ln>
        </p:spPr>
        <p:txBody>
          <a:bodyPr wrap="none" anchor="ctr">
            <a:spAutoFit/>
          </a:bodyPr>
          <a:lstStyle/>
          <a:p>
            <a:endParaRPr lang="zh-CN" altLang="en-US"/>
          </a:p>
        </p:txBody>
      </p:sp>
      <p:grpSp>
        <p:nvGrpSpPr>
          <p:cNvPr id="4" name="Group 68"/>
          <p:cNvGrpSpPr/>
          <p:nvPr/>
        </p:nvGrpSpPr>
        <p:grpSpPr bwMode="auto">
          <a:xfrm>
            <a:off x="6842125" y="1987550"/>
            <a:ext cx="1433513" cy="1025525"/>
            <a:chOff x="4320" y="1300"/>
            <a:chExt cx="903" cy="646"/>
          </a:xfrm>
        </p:grpSpPr>
        <p:sp>
          <p:nvSpPr>
            <p:cNvPr id="4141" name="Text Box 35"/>
            <p:cNvSpPr txBox="1">
              <a:spLocks noChangeArrowheads="1"/>
            </p:cNvSpPr>
            <p:nvPr/>
          </p:nvSpPr>
          <p:spPr bwMode="auto">
            <a:xfrm>
              <a:off x="4981" y="1334"/>
              <a:ext cx="21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cs typeface="Times New Roman" panose="02020603050405020304" pitchFamily="18" charset="0"/>
                </a:rPr>
                <a:t>_</a:t>
              </a:r>
              <a:endParaRPr lang="en-US" altLang="zh-CN">
                <a:cs typeface="Times New Roman" panose="02020603050405020304" pitchFamily="18" charset="0"/>
              </a:endParaRPr>
            </a:p>
          </p:txBody>
        </p:sp>
        <p:grpSp>
          <p:nvGrpSpPr>
            <p:cNvPr id="4142" name="Group 42"/>
            <p:cNvGrpSpPr/>
            <p:nvPr/>
          </p:nvGrpSpPr>
          <p:grpSpPr bwMode="auto">
            <a:xfrm>
              <a:off x="4320" y="1300"/>
              <a:ext cx="903" cy="646"/>
              <a:chOff x="4598" y="1280"/>
              <a:chExt cx="903" cy="646"/>
            </a:xfrm>
          </p:grpSpPr>
          <p:grpSp>
            <p:nvGrpSpPr>
              <p:cNvPr id="4143" name="Group 32"/>
              <p:cNvGrpSpPr/>
              <p:nvPr/>
            </p:nvGrpSpPr>
            <p:grpSpPr bwMode="auto">
              <a:xfrm>
                <a:off x="4627" y="1499"/>
                <a:ext cx="874" cy="259"/>
                <a:chOff x="4886" y="1461"/>
                <a:chExt cx="874" cy="259"/>
              </a:xfrm>
            </p:grpSpPr>
            <p:sp>
              <p:nvSpPr>
                <p:cNvPr id="4148" name="AutoShape 29"/>
                <p:cNvSpPr>
                  <a:spLocks noChangeArrowheads="1"/>
                </p:cNvSpPr>
                <p:nvPr/>
              </p:nvSpPr>
              <p:spPr bwMode="auto">
                <a:xfrm rot="5400000">
                  <a:off x="5198" y="1466"/>
                  <a:ext cx="240" cy="250"/>
                </a:xfrm>
                <a:prstGeom prst="triangle">
                  <a:avLst>
                    <a:gd name="adj" fmla="val 50000"/>
                  </a:avLst>
                </a:prstGeom>
                <a:noFill/>
                <a:ln w="2857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4149" name="Line 30"/>
                <p:cNvSpPr>
                  <a:spLocks noChangeShapeType="1"/>
                </p:cNvSpPr>
                <p:nvPr/>
              </p:nvSpPr>
              <p:spPr bwMode="auto">
                <a:xfrm>
                  <a:off x="5443" y="1461"/>
                  <a:ext cx="0" cy="25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50" name="Line 31"/>
                <p:cNvSpPr>
                  <a:spLocks noChangeShapeType="1"/>
                </p:cNvSpPr>
                <p:nvPr/>
              </p:nvSpPr>
              <p:spPr bwMode="auto">
                <a:xfrm>
                  <a:off x="4886" y="1590"/>
                  <a:ext cx="87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144" name="Text Box 34"/>
              <p:cNvSpPr txBox="1">
                <a:spLocks noChangeArrowheads="1"/>
              </p:cNvSpPr>
              <p:nvPr/>
            </p:nvSpPr>
            <p:spPr bwMode="auto">
              <a:xfrm>
                <a:off x="4612" y="1359"/>
                <a:ext cx="22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cs typeface="Times New Roman" panose="02020603050405020304" pitchFamily="18" charset="0"/>
                  </a:rPr>
                  <a:t>+</a:t>
                </a:r>
                <a:endParaRPr lang="en-US" altLang="zh-CN">
                  <a:cs typeface="Times New Roman" panose="02020603050405020304" pitchFamily="18" charset="0"/>
                </a:endParaRPr>
              </a:p>
            </p:txBody>
          </p:sp>
          <p:sp>
            <p:nvSpPr>
              <p:cNvPr id="4145" name="Rectangle 36"/>
              <p:cNvSpPr>
                <a:spLocks noChangeArrowheads="1"/>
              </p:cNvSpPr>
              <p:nvPr/>
            </p:nvSpPr>
            <p:spPr bwMode="auto">
              <a:xfrm>
                <a:off x="4912" y="1280"/>
                <a:ext cx="2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4146" name="Line 37"/>
              <p:cNvSpPr>
                <a:spLocks noChangeShapeType="1"/>
              </p:cNvSpPr>
              <p:nvPr/>
            </p:nvSpPr>
            <p:spPr bwMode="auto">
              <a:xfrm>
                <a:off x="4598" y="1728"/>
                <a:ext cx="31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47" name="Rectangle 38"/>
              <p:cNvSpPr>
                <a:spLocks noChangeArrowheads="1"/>
              </p:cNvSpPr>
              <p:nvPr/>
            </p:nvSpPr>
            <p:spPr bwMode="auto">
              <a:xfrm>
                <a:off x="4602" y="1693"/>
                <a:ext cx="2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grpSp>
      </p:grpSp>
      <p:grpSp>
        <p:nvGrpSpPr>
          <p:cNvPr id="7" name="Group 41"/>
          <p:cNvGrpSpPr/>
          <p:nvPr/>
        </p:nvGrpSpPr>
        <p:grpSpPr bwMode="auto">
          <a:xfrm>
            <a:off x="7034213" y="3273425"/>
            <a:ext cx="1336675" cy="574675"/>
            <a:chOff x="4769" y="2089"/>
            <a:chExt cx="842" cy="362"/>
          </a:xfrm>
        </p:grpSpPr>
        <p:grpSp>
          <p:nvGrpSpPr>
            <p:cNvPr id="4135" name="Group 28"/>
            <p:cNvGrpSpPr/>
            <p:nvPr/>
          </p:nvGrpSpPr>
          <p:grpSpPr bwMode="auto">
            <a:xfrm rot="5400000" flipH="1">
              <a:off x="5146" y="1987"/>
              <a:ext cx="87" cy="842"/>
              <a:chOff x="5366" y="1411"/>
              <a:chExt cx="87" cy="842"/>
            </a:xfrm>
          </p:grpSpPr>
          <p:sp>
            <p:nvSpPr>
              <p:cNvPr id="4138" name="Line 24"/>
              <p:cNvSpPr>
                <a:spLocks noChangeShapeType="1"/>
              </p:cNvSpPr>
              <p:nvPr/>
            </p:nvSpPr>
            <p:spPr bwMode="auto">
              <a:xfrm>
                <a:off x="5366" y="1411"/>
                <a:ext cx="0" cy="3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39" name="Line 25"/>
              <p:cNvSpPr>
                <a:spLocks noChangeShapeType="1"/>
              </p:cNvSpPr>
              <p:nvPr/>
            </p:nvSpPr>
            <p:spPr bwMode="auto">
              <a:xfrm>
                <a:off x="5373" y="1936"/>
                <a:ext cx="0" cy="3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40" name="Line 26"/>
              <p:cNvSpPr>
                <a:spLocks noChangeShapeType="1"/>
              </p:cNvSpPr>
              <p:nvPr/>
            </p:nvSpPr>
            <p:spPr bwMode="auto">
              <a:xfrm>
                <a:off x="5367" y="1719"/>
                <a:ext cx="86"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136" name="Line 39"/>
            <p:cNvSpPr>
              <a:spLocks noChangeShapeType="1"/>
            </p:cNvSpPr>
            <p:nvPr/>
          </p:nvSpPr>
          <p:spPr bwMode="auto">
            <a:xfrm flipH="1">
              <a:off x="5194" y="2189"/>
              <a:ext cx="172" cy="201"/>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37" name="Rectangle 40"/>
            <p:cNvSpPr>
              <a:spLocks noChangeArrowheads="1"/>
            </p:cNvSpPr>
            <p:nvPr/>
          </p:nvSpPr>
          <p:spPr bwMode="auto">
            <a:xfrm>
              <a:off x="5328" y="2089"/>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grpSp>
      <p:sp>
        <p:nvSpPr>
          <p:cNvPr id="111659" name="Rectangle 43"/>
          <p:cNvSpPr>
            <a:spLocks noChangeArrowheads="1"/>
          </p:cNvSpPr>
          <p:nvPr/>
        </p:nvSpPr>
        <p:spPr bwMode="auto">
          <a:xfrm>
            <a:off x="5910263" y="5356225"/>
            <a:ext cx="520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111660" name="AutoShape 44"/>
          <p:cNvSpPr>
            <a:spLocks noChangeArrowheads="1"/>
          </p:cNvSpPr>
          <p:nvPr/>
        </p:nvSpPr>
        <p:spPr bwMode="auto">
          <a:xfrm>
            <a:off x="7648575" y="4919663"/>
            <a:ext cx="473075" cy="427037"/>
          </a:xfrm>
          <a:prstGeom prst="downArrow">
            <a:avLst>
              <a:gd name="adj1" fmla="val 50000"/>
              <a:gd name="adj2" fmla="val 25000"/>
            </a:avLst>
          </a:prstGeom>
          <a:solidFill>
            <a:srgbClr val="FFFFFF"/>
          </a:solidFill>
          <a:ln w="28575" algn="ctr">
            <a:solidFill>
              <a:schemeClr val="tx1"/>
            </a:solidFill>
            <a:miter lim="800000"/>
          </a:ln>
        </p:spPr>
        <p:txBody>
          <a:bodyPr wrap="none" anchor="ctr">
            <a:spAutoFit/>
          </a:bodyPr>
          <a:lstStyle/>
          <a:p>
            <a:endParaRPr lang="zh-CN" altLang="en-US"/>
          </a:p>
        </p:txBody>
      </p:sp>
      <p:grpSp>
        <p:nvGrpSpPr>
          <p:cNvPr id="9" name="Group 65"/>
          <p:cNvGrpSpPr/>
          <p:nvPr/>
        </p:nvGrpSpPr>
        <p:grpSpPr bwMode="auto">
          <a:xfrm>
            <a:off x="7245350" y="5286375"/>
            <a:ext cx="1501775" cy="1071563"/>
            <a:chOff x="4573" y="3512"/>
            <a:chExt cx="946" cy="675"/>
          </a:xfrm>
        </p:grpSpPr>
        <p:sp>
          <p:nvSpPr>
            <p:cNvPr id="4126" name="Line 56"/>
            <p:cNvSpPr>
              <a:spLocks noChangeShapeType="1"/>
            </p:cNvSpPr>
            <p:nvPr/>
          </p:nvSpPr>
          <p:spPr bwMode="auto">
            <a:xfrm rot="5400000" flipH="1">
              <a:off x="5194" y="3803"/>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27" name="Line 57"/>
            <p:cNvSpPr>
              <a:spLocks noChangeShapeType="1"/>
            </p:cNvSpPr>
            <p:nvPr/>
          </p:nvSpPr>
          <p:spPr bwMode="auto">
            <a:xfrm rot="5400000" flipH="1">
              <a:off x="4732" y="3733"/>
              <a:ext cx="0" cy="3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28" name="Line 58"/>
            <p:cNvSpPr>
              <a:spLocks noChangeShapeType="1"/>
            </p:cNvSpPr>
            <p:nvPr/>
          </p:nvSpPr>
          <p:spPr bwMode="auto">
            <a:xfrm rot="5400000" flipH="1">
              <a:off x="4969" y="3759"/>
              <a:ext cx="86"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29" name="Line 59"/>
            <p:cNvSpPr>
              <a:spLocks noChangeShapeType="1"/>
            </p:cNvSpPr>
            <p:nvPr/>
          </p:nvSpPr>
          <p:spPr bwMode="auto">
            <a:xfrm flipH="1">
              <a:off x="4999" y="3637"/>
              <a:ext cx="172" cy="201"/>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30" name="Rectangle 60"/>
            <p:cNvSpPr>
              <a:spLocks noChangeArrowheads="1"/>
            </p:cNvSpPr>
            <p:nvPr/>
          </p:nvSpPr>
          <p:spPr bwMode="auto">
            <a:xfrm>
              <a:off x="5142" y="3512"/>
              <a:ext cx="2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4131" name="Line 61"/>
            <p:cNvSpPr>
              <a:spLocks noChangeShapeType="1"/>
            </p:cNvSpPr>
            <p:nvPr/>
          </p:nvSpPr>
          <p:spPr bwMode="auto">
            <a:xfrm>
              <a:off x="5286" y="3798"/>
              <a:ext cx="1" cy="1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32" name="Line 62"/>
            <p:cNvSpPr>
              <a:spLocks noChangeShapeType="1"/>
            </p:cNvSpPr>
            <p:nvPr/>
          </p:nvSpPr>
          <p:spPr bwMode="auto">
            <a:xfrm>
              <a:off x="5328" y="3852"/>
              <a:ext cx="0" cy="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33" name="Line 63"/>
            <p:cNvSpPr>
              <a:spLocks noChangeShapeType="1"/>
            </p:cNvSpPr>
            <p:nvPr/>
          </p:nvSpPr>
          <p:spPr bwMode="auto">
            <a:xfrm rot="5400000" flipH="1">
              <a:off x="5423" y="3804"/>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34" name="Rectangle 64"/>
            <p:cNvSpPr>
              <a:spLocks noChangeArrowheads="1"/>
            </p:cNvSpPr>
            <p:nvPr/>
          </p:nvSpPr>
          <p:spPr bwMode="auto">
            <a:xfrm>
              <a:off x="5163" y="3954"/>
              <a:ext cx="2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grpSp>
      <p:grpSp>
        <p:nvGrpSpPr>
          <p:cNvPr id="10" name="Group 67"/>
          <p:cNvGrpSpPr/>
          <p:nvPr/>
        </p:nvGrpSpPr>
        <p:grpSpPr bwMode="auto">
          <a:xfrm>
            <a:off x="7173913" y="4041775"/>
            <a:ext cx="1433512" cy="1030288"/>
            <a:chOff x="4519" y="2652"/>
            <a:chExt cx="903" cy="649"/>
          </a:xfrm>
        </p:grpSpPr>
        <p:grpSp>
          <p:nvGrpSpPr>
            <p:cNvPr id="4116" name="Group 45"/>
            <p:cNvGrpSpPr/>
            <p:nvPr/>
          </p:nvGrpSpPr>
          <p:grpSpPr bwMode="auto">
            <a:xfrm>
              <a:off x="4519" y="2663"/>
              <a:ext cx="903" cy="638"/>
              <a:chOff x="4598" y="1273"/>
              <a:chExt cx="903" cy="638"/>
            </a:xfrm>
          </p:grpSpPr>
          <p:grpSp>
            <p:nvGrpSpPr>
              <p:cNvPr id="4118" name="Group 46"/>
              <p:cNvGrpSpPr/>
              <p:nvPr/>
            </p:nvGrpSpPr>
            <p:grpSpPr bwMode="auto">
              <a:xfrm>
                <a:off x="4627" y="1499"/>
                <a:ext cx="874" cy="259"/>
                <a:chOff x="4886" y="1461"/>
                <a:chExt cx="874" cy="259"/>
              </a:xfrm>
            </p:grpSpPr>
            <p:sp>
              <p:nvSpPr>
                <p:cNvPr id="4123" name="AutoShape 47"/>
                <p:cNvSpPr>
                  <a:spLocks noChangeArrowheads="1"/>
                </p:cNvSpPr>
                <p:nvPr/>
              </p:nvSpPr>
              <p:spPr bwMode="auto">
                <a:xfrm rot="5400000">
                  <a:off x="5198" y="1466"/>
                  <a:ext cx="240" cy="250"/>
                </a:xfrm>
                <a:prstGeom prst="triangle">
                  <a:avLst>
                    <a:gd name="adj" fmla="val 50000"/>
                  </a:avLst>
                </a:prstGeom>
                <a:noFill/>
                <a:ln w="2857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4124" name="Line 48"/>
                <p:cNvSpPr>
                  <a:spLocks noChangeShapeType="1"/>
                </p:cNvSpPr>
                <p:nvPr/>
              </p:nvSpPr>
              <p:spPr bwMode="auto">
                <a:xfrm>
                  <a:off x="5443" y="1461"/>
                  <a:ext cx="0" cy="25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25" name="Line 49"/>
                <p:cNvSpPr>
                  <a:spLocks noChangeShapeType="1"/>
                </p:cNvSpPr>
                <p:nvPr/>
              </p:nvSpPr>
              <p:spPr bwMode="auto">
                <a:xfrm>
                  <a:off x="4886" y="1590"/>
                  <a:ext cx="87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119" name="Text Box 50"/>
              <p:cNvSpPr txBox="1">
                <a:spLocks noChangeArrowheads="1"/>
              </p:cNvSpPr>
              <p:nvPr/>
            </p:nvSpPr>
            <p:spPr bwMode="auto">
              <a:xfrm>
                <a:off x="4612" y="1352"/>
                <a:ext cx="22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cs typeface="Times New Roman" panose="02020603050405020304" pitchFamily="18" charset="0"/>
                  </a:rPr>
                  <a:t>+</a:t>
                </a:r>
                <a:endParaRPr lang="en-US" altLang="zh-CN">
                  <a:cs typeface="Times New Roman" panose="02020603050405020304" pitchFamily="18" charset="0"/>
                </a:endParaRPr>
              </a:p>
            </p:txBody>
          </p:sp>
          <p:sp>
            <p:nvSpPr>
              <p:cNvPr id="4120" name="Rectangle 51"/>
              <p:cNvSpPr>
                <a:spLocks noChangeArrowheads="1"/>
              </p:cNvSpPr>
              <p:nvPr/>
            </p:nvSpPr>
            <p:spPr bwMode="auto">
              <a:xfrm>
                <a:off x="4894" y="1273"/>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4121" name="Line 52"/>
              <p:cNvSpPr>
                <a:spLocks noChangeShapeType="1"/>
              </p:cNvSpPr>
              <p:nvPr/>
            </p:nvSpPr>
            <p:spPr bwMode="auto">
              <a:xfrm>
                <a:off x="4598" y="1728"/>
                <a:ext cx="31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22" name="Rectangle 53"/>
              <p:cNvSpPr>
                <a:spLocks noChangeArrowheads="1"/>
              </p:cNvSpPr>
              <p:nvPr/>
            </p:nvSpPr>
            <p:spPr bwMode="auto">
              <a:xfrm>
                <a:off x="4602" y="1678"/>
                <a:ext cx="2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grpSp>
        <p:sp>
          <p:nvSpPr>
            <p:cNvPr id="4117" name="Text Box 66"/>
            <p:cNvSpPr txBox="1">
              <a:spLocks noChangeArrowheads="1"/>
            </p:cNvSpPr>
            <p:nvPr/>
          </p:nvSpPr>
          <p:spPr bwMode="auto">
            <a:xfrm>
              <a:off x="5104" y="2652"/>
              <a:ext cx="21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cs typeface="Times New Roman" panose="02020603050405020304" pitchFamily="18" charset="0"/>
                </a:rPr>
                <a:t>_</a:t>
              </a:r>
              <a:endParaRPr lang="en-US" altLang="zh-CN">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116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2"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lide(fromRight)">
                                      <p:cBhvr>
                                        <p:cTn id="11" dur="500"/>
                                        <p:tgtEl>
                                          <p:spTgt spid="2"/>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111629"/>
                                        </p:tgtEl>
                                        <p:attrNameLst>
                                          <p:attrName>style.visibility</p:attrName>
                                        </p:attrNameLst>
                                      </p:cBhvr>
                                      <p:to>
                                        <p:strVal val="visible"/>
                                      </p:to>
                                    </p:set>
                                    <p:animEffect transition="in" filter="wipe(left)">
                                      <p:cBhvr>
                                        <p:cTn id="15" dur="500"/>
                                        <p:tgtEl>
                                          <p:spTgt spid="111629"/>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11627"/>
                                        </p:tgtEl>
                                        <p:attrNameLst>
                                          <p:attrName>style.visibility</p:attrName>
                                        </p:attrNameLst>
                                      </p:cBhvr>
                                      <p:to>
                                        <p:strVal val="visible"/>
                                      </p:to>
                                    </p:set>
                                    <p:animEffect transition="in" filter="wipe(left)">
                                      <p:cBhvr>
                                        <p:cTn id="19" dur="500"/>
                                        <p:tgtEl>
                                          <p:spTgt spid="111627"/>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slide(fromBottom)">
                                      <p:cBhvr>
                                        <p:cTn id="24" dur="500"/>
                                        <p:tgtEl>
                                          <p:spTgt spid="4"/>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1649"/>
                                        </p:tgtEl>
                                        <p:attrNameLst>
                                          <p:attrName>style.visibility</p:attrName>
                                        </p:attrNameLst>
                                      </p:cBhvr>
                                      <p:to>
                                        <p:strVal val="visible"/>
                                      </p:to>
                                    </p:set>
                                    <p:animEffect transition="in" filter="wipe(up)">
                                      <p:cBhvr>
                                        <p:cTn id="28" dur="500"/>
                                        <p:tgtEl>
                                          <p:spTgt spid="111649"/>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75"/>
                                  </p:iterate>
                                  <p:childTnLst>
                                    <p:set>
                                      <p:cBhvr>
                                        <p:cTn id="36" dur="1" fill="hold">
                                          <p:stCondLst>
                                            <p:cond delay="74"/>
                                          </p:stCondLst>
                                        </p:cTn>
                                        <p:tgtEl>
                                          <p:spTgt spid="1116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slide(fromBottom)">
                                      <p:cBhvr>
                                        <p:cTn id="41" dur="500"/>
                                        <p:tgtEl>
                                          <p:spTgt spid="3"/>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111632"/>
                                        </p:tgtEl>
                                        <p:attrNameLst>
                                          <p:attrName>style.visibility</p:attrName>
                                        </p:attrNameLst>
                                      </p:cBhvr>
                                      <p:to>
                                        <p:strVal val="visible"/>
                                      </p:to>
                                    </p:set>
                                    <p:animEffect transition="in" filter="wipe(left)">
                                      <p:cBhvr>
                                        <p:cTn id="45" dur="500"/>
                                        <p:tgtEl>
                                          <p:spTgt spid="111632"/>
                                        </p:tgtEl>
                                      </p:cBhvr>
                                    </p:animEffect>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111639"/>
                                        </p:tgtEl>
                                        <p:attrNameLst>
                                          <p:attrName>style.visibility</p:attrName>
                                        </p:attrNameLst>
                                      </p:cBhvr>
                                      <p:to>
                                        <p:strVal val="visible"/>
                                      </p:to>
                                    </p:set>
                                    <p:animEffect transition="in" filter="wipe(left)">
                                      <p:cBhvr>
                                        <p:cTn id="49" dur="500"/>
                                        <p:tgtEl>
                                          <p:spTgt spid="111639"/>
                                        </p:tgtEl>
                                      </p:cBhvr>
                                    </p:animEffect>
                                  </p:childTnLst>
                                </p:cTn>
                              </p:par>
                            </p:childTnLst>
                          </p:cTn>
                        </p:par>
                        <p:par>
                          <p:cTn id="50" fill="hold">
                            <p:stCondLst>
                              <p:cond delay="1500"/>
                            </p:stCondLst>
                            <p:childTnLst>
                              <p:par>
                                <p:cTn id="51" presetID="12" presetClass="entr" presetSubtype="4" fill="hold" grpId="0" nodeType="afterEffect">
                                  <p:stCondLst>
                                    <p:cond delay="0"/>
                                  </p:stCondLst>
                                  <p:childTnLst>
                                    <p:set>
                                      <p:cBhvr>
                                        <p:cTn id="52" dur="1" fill="hold">
                                          <p:stCondLst>
                                            <p:cond delay="0"/>
                                          </p:stCondLst>
                                        </p:cTn>
                                        <p:tgtEl>
                                          <p:spTgt spid="111659"/>
                                        </p:tgtEl>
                                        <p:attrNameLst>
                                          <p:attrName>style.visibility</p:attrName>
                                        </p:attrNameLst>
                                      </p:cBhvr>
                                      <p:to>
                                        <p:strVal val="visible"/>
                                      </p:to>
                                    </p:set>
                                    <p:animEffect transition="in" filter="slide(fromBottom)">
                                      <p:cBhvr>
                                        <p:cTn id="53" dur="500"/>
                                        <p:tgtEl>
                                          <p:spTgt spid="111659"/>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2"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slide(fromRight)">
                                      <p:cBhvr>
                                        <p:cTn id="58" dur="500"/>
                                        <p:tgtEl>
                                          <p:spTgt spid="10"/>
                                        </p:tgtEl>
                                      </p:cBhvr>
                                    </p:animEffec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111660"/>
                                        </p:tgtEl>
                                        <p:attrNameLst>
                                          <p:attrName>style.visibility</p:attrName>
                                        </p:attrNameLst>
                                      </p:cBhvr>
                                      <p:to>
                                        <p:strVal val="visible"/>
                                      </p:to>
                                    </p:set>
                                    <p:animEffect transition="in" filter="wipe(up)">
                                      <p:cBhvr>
                                        <p:cTn id="62" dur="500"/>
                                        <p:tgtEl>
                                          <p:spTgt spid="111660"/>
                                        </p:tgtEl>
                                      </p:cBhvr>
                                    </p:animEffect>
                                  </p:childTnLst>
                                </p:cTn>
                              </p:par>
                            </p:childTnLst>
                          </p:cTn>
                        </p:par>
                        <p:par>
                          <p:cTn id="63" fill="hold">
                            <p:stCondLst>
                              <p:cond delay="1000"/>
                            </p:stCondLst>
                            <p:childTnLst>
                              <p:par>
                                <p:cTn id="64" presetID="22" presetClass="entr" presetSubtype="1" fill="hold" nodeType="after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up)">
                                      <p:cBhvr>
                                        <p:cTn id="66" dur="500"/>
                                        <p:tgtEl>
                                          <p:spTgt spid="9"/>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lt">
                                    <p:tmAbs val="75"/>
                                  </p:iterate>
                                  <p:childTnLst>
                                    <p:set>
                                      <p:cBhvr>
                                        <p:cTn id="70" dur="1" fill="hold">
                                          <p:stCondLst>
                                            <p:cond delay="74"/>
                                          </p:stCondLst>
                                        </p:cTn>
                                        <p:tgtEl>
                                          <p:spTgt spid="1116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autoUpdateAnimBg="0"/>
      <p:bldP spid="111627" grpId="0" animBg="1"/>
      <p:bldP spid="111630" grpId="0" autoUpdateAnimBg="0"/>
      <p:bldP spid="111631" grpId="0" autoUpdateAnimBg="0"/>
      <p:bldP spid="111639" grpId="0" animBg="1"/>
      <p:bldP spid="111649" grpId="0" animBg="1"/>
      <p:bldP spid="111659" grpId="0"/>
      <p:bldP spid="11166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22</a:t>
            </a:r>
            <a:r>
              <a:rPr lang="zh-CN" altLang="en-US" sz="3200" smtClean="0">
                <a:ea typeface="宋体" panose="02010600030101010101" pitchFamily="2" charset="-122"/>
              </a:rPr>
              <a:t>）</a:t>
            </a:r>
            <a:endParaRPr lang="zh-CN" altLang="en-US" sz="3600" smtClean="0">
              <a:ea typeface="楷体_GB2312" pitchFamily="49" charset="-122"/>
            </a:endParaRPr>
          </a:p>
        </p:txBody>
      </p:sp>
      <p:sp>
        <p:nvSpPr>
          <p:cNvPr id="5" name="灯片编号占位符 4"/>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112645" name="Rectangle 5"/>
          <p:cNvSpPr>
            <a:spLocks noChangeArrowheads="1"/>
          </p:cNvSpPr>
          <p:nvPr/>
        </p:nvSpPr>
        <p:spPr bwMode="auto">
          <a:xfrm>
            <a:off x="188243" y="764704"/>
            <a:ext cx="6904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r>
              <a:rPr lang="en-US" altLang="zh-CN" sz="2400" b="1" dirty="0">
                <a:solidFill>
                  <a:schemeClr val="tx2"/>
                </a:solidFill>
                <a:latin typeface="Times New Roman" panose="02020603050405020304" pitchFamily="18" charset="0"/>
                <a:cs typeface="Times New Roman" panose="02020603050405020304" pitchFamily="18" charset="0"/>
              </a:rPr>
              <a:t>3. </a:t>
            </a:r>
            <a:r>
              <a:rPr lang="zh-CN" altLang="en-US" sz="2400" b="1" dirty="0">
                <a:solidFill>
                  <a:schemeClr val="tx2"/>
                </a:solidFill>
                <a:latin typeface="Times New Roman" panose="02020603050405020304" pitchFamily="18" charset="0"/>
                <a:cs typeface="Times New Roman" panose="02020603050405020304" pitchFamily="18" charset="0"/>
              </a:rPr>
              <a:t>考虑正向伏安特性曲线斜率的二极管电路模型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12648" name="Rectangle 8"/>
          <p:cNvSpPr>
            <a:spLocks noChangeArrowheads="1"/>
          </p:cNvSpPr>
          <p:nvPr/>
        </p:nvSpPr>
        <p:spPr bwMode="auto">
          <a:xfrm>
            <a:off x="608013" y="1285875"/>
            <a:ext cx="7939087"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pPr>
              <a:lnSpc>
                <a:spcPct val="150000"/>
              </a:lnSpc>
            </a:pPr>
            <a:r>
              <a:rPr lang="zh-CN" altLang="en-US" sz="2400" b="1">
                <a:solidFill>
                  <a:schemeClr val="tx2"/>
                </a:solidFill>
                <a:latin typeface="Times New Roman" panose="02020603050405020304" pitchFamily="18" charset="0"/>
                <a:cs typeface="Times New Roman" panose="02020603050405020304" pitchFamily="18" charset="0"/>
              </a:rPr>
              <a:t>以动态电阻</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D</a:t>
            </a:r>
            <a:r>
              <a:rPr lang="zh-CN" altLang="en-US" sz="2400" b="1">
                <a:solidFill>
                  <a:schemeClr val="tx2"/>
                </a:solidFill>
                <a:latin typeface="Times New Roman" panose="02020603050405020304" pitchFamily="18" charset="0"/>
                <a:cs typeface="Times New Roman" panose="02020603050405020304" pitchFamily="18" charset="0"/>
              </a:rPr>
              <a:t>表示曲线的斜率，</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D</a:t>
            </a:r>
            <a:r>
              <a:rPr lang="zh-CN" altLang="en-US" sz="2400" b="1">
                <a:solidFill>
                  <a:schemeClr val="tx2"/>
                </a:solidFill>
                <a:latin typeface="Times New Roman" panose="02020603050405020304" pitchFamily="18" charset="0"/>
                <a:cs typeface="Times New Roman" panose="02020603050405020304" pitchFamily="18" charset="0"/>
              </a:rPr>
              <a:t>的值随二极管工作点</a:t>
            </a:r>
            <a:r>
              <a:rPr lang="en-US" altLang="zh-CN" sz="2400" b="1" i="1">
                <a:solidFill>
                  <a:schemeClr val="tx2"/>
                </a:solidFill>
                <a:latin typeface="Times New Roman" panose="02020603050405020304" pitchFamily="18" charset="0"/>
                <a:cs typeface="Times New Roman" panose="02020603050405020304" pitchFamily="18" charset="0"/>
              </a:rPr>
              <a:t>Q</a:t>
            </a:r>
            <a:r>
              <a:rPr lang="zh-CN" altLang="en-US" sz="2400" b="1">
                <a:solidFill>
                  <a:schemeClr val="tx2"/>
                </a:solidFill>
                <a:latin typeface="Times New Roman" panose="02020603050405020304" pitchFamily="18" charset="0"/>
                <a:cs typeface="Times New Roman" panose="02020603050405020304" pitchFamily="18" charset="0"/>
              </a:rPr>
              <a:t>变化而变化）</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41"/>
          <p:cNvGrpSpPr/>
          <p:nvPr/>
        </p:nvGrpSpPr>
        <p:grpSpPr bwMode="auto">
          <a:xfrm>
            <a:off x="1203325" y="2638425"/>
            <a:ext cx="2725738" cy="1978025"/>
            <a:chOff x="2976" y="2478"/>
            <a:chExt cx="1717" cy="1246"/>
          </a:xfrm>
        </p:grpSpPr>
        <p:sp>
          <p:nvSpPr>
            <p:cNvPr id="5155" name="Line 42"/>
            <p:cNvSpPr>
              <a:spLocks noChangeShapeType="1"/>
            </p:cNvSpPr>
            <p:nvPr/>
          </p:nvSpPr>
          <p:spPr bwMode="auto">
            <a:xfrm>
              <a:off x="2976" y="3412"/>
              <a:ext cx="1439" cy="2"/>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6" name="Line 43"/>
            <p:cNvSpPr>
              <a:spLocks noChangeShapeType="1"/>
            </p:cNvSpPr>
            <p:nvPr/>
          </p:nvSpPr>
          <p:spPr bwMode="auto">
            <a:xfrm flipV="1">
              <a:off x="3624" y="2596"/>
              <a:ext cx="0" cy="112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7" name="Text Box 44"/>
            <p:cNvSpPr txBox="1">
              <a:spLocks noChangeArrowheads="1"/>
            </p:cNvSpPr>
            <p:nvPr/>
          </p:nvSpPr>
          <p:spPr bwMode="auto">
            <a:xfrm>
              <a:off x="3662" y="2478"/>
              <a:ext cx="2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5158" name="Text Box 45"/>
            <p:cNvSpPr txBox="1">
              <a:spLocks noChangeArrowheads="1"/>
            </p:cNvSpPr>
            <p:nvPr/>
          </p:nvSpPr>
          <p:spPr bwMode="auto">
            <a:xfrm>
              <a:off x="4426" y="3283"/>
              <a:ext cx="2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5159" name="Text Box 46"/>
            <p:cNvSpPr txBox="1">
              <a:spLocks noChangeArrowheads="1"/>
            </p:cNvSpPr>
            <p:nvPr/>
          </p:nvSpPr>
          <p:spPr bwMode="auto">
            <a:xfrm>
              <a:off x="3434" y="3414"/>
              <a:ext cx="2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O</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sp>
        <p:nvSpPr>
          <p:cNvPr id="112687" name="Freeform 47"/>
          <p:cNvSpPr/>
          <p:nvPr/>
        </p:nvSpPr>
        <p:spPr bwMode="auto">
          <a:xfrm>
            <a:off x="1157288" y="3140075"/>
            <a:ext cx="1920875" cy="976313"/>
          </a:xfrm>
          <a:custGeom>
            <a:avLst/>
            <a:gdLst>
              <a:gd name="T0" fmla="*/ 2147483647 w 1210"/>
              <a:gd name="T1" fmla="*/ 0 h 615"/>
              <a:gd name="T2" fmla="*/ 2147483647 w 1210"/>
              <a:gd name="T3" fmla="*/ 2147483647 h 615"/>
              <a:gd name="T4" fmla="*/ 0 w 1210"/>
              <a:gd name="T5" fmla="*/ 2147483647 h 615"/>
              <a:gd name="T6" fmla="*/ 0 60000 65536"/>
              <a:gd name="T7" fmla="*/ 0 60000 65536"/>
              <a:gd name="T8" fmla="*/ 0 60000 65536"/>
              <a:gd name="T9" fmla="*/ 0 w 1210"/>
              <a:gd name="T10" fmla="*/ 0 h 615"/>
              <a:gd name="T11" fmla="*/ 1210 w 1210"/>
              <a:gd name="T12" fmla="*/ 615 h 615"/>
            </a:gdLst>
            <a:ahLst/>
            <a:cxnLst>
              <a:cxn ang="T6">
                <a:pos x="T0" y="T1"/>
              </a:cxn>
              <a:cxn ang="T7">
                <a:pos x="T2" y="T3"/>
              </a:cxn>
              <a:cxn ang="T8">
                <a:pos x="T4" y="T5"/>
              </a:cxn>
            </a:cxnLst>
            <a:rect l="T9" t="T10" r="T11" b="T12"/>
            <a:pathLst>
              <a:path w="1210" h="615">
                <a:moveTo>
                  <a:pt x="1210" y="0"/>
                </a:moveTo>
                <a:lnTo>
                  <a:pt x="911" y="615"/>
                </a:lnTo>
                <a:lnTo>
                  <a:pt x="0" y="615"/>
                </a:ln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688" name="Rectangle 48"/>
          <p:cNvSpPr>
            <a:spLocks noChangeArrowheads="1"/>
          </p:cNvSpPr>
          <p:nvPr/>
        </p:nvSpPr>
        <p:spPr bwMode="auto">
          <a:xfrm>
            <a:off x="2389188" y="4060825"/>
            <a:ext cx="461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112689" name="AutoShape 49"/>
          <p:cNvSpPr>
            <a:spLocks noChangeArrowheads="1"/>
          </p:cNvSpPr>
          <p:nvPr/>
        </p:nvSpPr>
        <p:spPr bwMode="auto">
          <a:xfrm>
            <a:off x="6581775" y="3790950"/>
            <a:ext cx="473075" cy="427038"/>
          </a:xfrm>
          <a:prstGeom prst="downArrow">
            <a:avLst>
              <a:gd name="adj1" fmla="val 50000"/>
              <a:gd name="adj2" fmla="val 25000"/>
            </a:avLst>
          </a:prstGeom>
          <a:solidFill>
            <a:srgbClr val="FFFFFF"/>
          </a:solidFill>
          <a:ln w="28575" algn="ctr">
            <a:solidFill>
              <a:schemeClr val="tx1"/>
            </a:solidFill>
            <a:miter lim="800000"/>
          </a:ln>
        </p:spPr>
        <p:txBody>
          <a:bodyPr wrap="none" anchor="ctr">
            <a:spAutoFit/>
          </a:bodyPr>
          <a:lstStyle/>
          <a:p>
            <a:endParaRPr lang="zh-CN" altLang="en-US"/>
          </a:p>
        </p:txBody>
      </p:sp>
      <p:grpSp>
        <p:nvGrpSpPr>
          <p:cNvPr id="3" name="Group 50"/>
          <p:cNvGrpSpPr/>
          <p:nvPr/>
        </p:nvGrpSpPr>
        <p:grpSpPr bwMode="auto">
          <a:xfrm>
            <a:off x="5645150" y="4344988"/>
            <a:ext cx="1501775" cy="1155700"/>
            <a:chOff x="4573" y="3447"/>
            <a:chExt cx="946" cy="728"/>
          </a:xfrm>
        </p:grpSpPr>
        <p:sp>
          <p:nvSpPr>
            <p:cNvPr id="5146" name="Line 51"/>
            <p:cNvSpPr>
              <a:spLocks noChangeShapeType="1"/>
            </p:cNvSpPr>
            <p:nvPr/>
          </p:nvSpPr>
          <p:spPr bwMode="auto">
            <a:xfrm rot="5400000" flipH="1">
              <a:off x="5194" y="3803"/>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7" name="Line 52"/>
            <p:cNvSpPr>
              <a:spLocks noChangeShapeType="1"/>
            </p:cNvSpPr>
            <p:nvPr/>
          </p:nvSpPr>
          <p:spPr bwMode="auto">
            <a:xfrm rot="5400000" flipH="1">
              <a:off x="4732" y="3733"/>
              <a:ext cx="0" cy="3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8" name="Line 53"/>
            <p:cNvSpPr>
              <a:spLocks noChangeShapeType="1"/>
            </p:cNvSpPr>
            <p:nvPr/>
          </p:nvSpPr>
          <p:spPr bwMode="auto">
            <a:xfrm rot="5400000" flipH="1">
              <a:off x="4969" y="3759"/>
              <a:ext cx="86"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9" name="Line 54"/>
            <p:cNvSpPr>
              <a:spLocks noChangeShapeType="1"/>
            </p:cNvSpPr>
            <p:nvPr/>
          </p:nvSpPr>
          <p:spPr bwMode="auto">
            <a:xfrm flipH="1">
              <a:off x="4999" y="3637"/>
              <a:ext cx="172" cy="201"/>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50" name="Rectangle 55"/>
            <p:cNvSpPr>
              <a:spLocks noChangeArrowheads="1"/>
            </p:cNvSpPr>
            <p:nvPr/>
          </p:nvSpPr>
          <p:spPr bwMode="auto">
            <a:xfrm>
              <a:off x="5140" y="3447"/>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5151" name="Line 56"/>
            <p:cNvSpPr>
              <a:spLocks noChangeShapeType="1"/>
            </p:cNvSpPr>
            <p:nvPr/>
          </p:nvSpPr>
          <p:spPr bwMode="auto">
            <a:xfrm>
              <a:off x="5286" y="3798"/>
              <a:ext cx="1" cy="1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52" name="Line 57"/>
            <p:cNvSpPr>
              <a:spLocks noChangeShapeType="1"/>
            </p:cNvSpPr>
            <p:nvPr/>
          </p:nvSpPr>
          <p:spPr bwMode="auto">
            <a:xfrm>
              <a:off x="5328" y="3852"/>
              <a:ext cx="0" cy="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53" name="Line 58"/>
            <p:cNvSpPr>
              <a:spLocks noChangeShapeType="1"/>
            </p:cNvSpPr>
            <p:nvPr/>
          </p:nvSpPr>
          <p:spPr bwMode="auto">
            <a:xfrm rot="5400000" flipH="1">
              <a:off x="5423" y="3804"/>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54" name="Rectangle 59"/>
            <p:cNvSpPr>
              <a:spLocks noChangeArrowheads="1"/>
            </p:cNvSpPr>
            <p:nvPr/>
          </p:nvSpPr>
          <p:spPr bwMode="auto">
            <a:xfrm>
              <a:off x="5163" y="3942"/>
              <a:ext cx="2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grpSp>
      <p:grpSp>
        <p:nvGrpSpPr>
          <p:cNvPr id="4" name="Group 60"/>
          <p:cNvGrpSpPr/>
          <p:nvPr/>
        </p:nvGrpSpPr>
        <p:grpSpPr bwMode="auto">
          <a:xfrm>
            <a:off x="6075363" y="2357438"/>
            <a:ext cx="1433512" cy="1155700"/>
            <a:chOff x="4519" y="2599"/>
            <a:chExt cx="903" cy="728"/>
          </a:xfrm>
        </p:grpSpPr>
        <p:grpSp>
          <p:nvGrpSpPr>
            <p:cNvPr id="5136" name="Group 61"/>
            <p:cNvGrpSpPr/>
            <p:nvPr/>
          </p:nvGrpSpPr>
          <p:grpSpPr bwMode="auto">
            <a:xfrm>
              <a:off x="4519" y="2599"/>
              <a:ext cx="903" cy="728"/>
              <a:chOff x="4598" y="1209"/>
              <a:chExt cx="903" cy="728"/>
            </a:xfrm>
          </p:grpSpPr>
          <p:grpSp>
            <p:nvGrpSpPr>
              <p:cNvPr id="5138" name="Group 62"/>
              <p:cNvGrpSpPr/>
              <p:nvPr/>
            </p:nvGrpSpPr>
            <p:grpSpPr bwMode="auto">
              <a:xfrm>
                <a:off x="4627" y="1499"/>
                <a:ext cx="874" cy="259"/>
                <a:chOff x="4886" y="1461"/>
                <a:chExt cx="874" cy="259"/>
              </a:xfrm>
            </p:grpSpPr>
            <p:sp>
              <p:nvSpPr>
                <p:cNvPr id="5143" name="AutoShape 63"/>
                <p:cNvSpPr>
                  <a:spLocks noChangeArrowheads="1"/>
                </p:cNvSpPr>
                <p:nvPr/>
              </p:nvSpPr>
              <p:spPr bwMode="auto">
                <a:xfrm rot="5400000">
                  <a:off x="5198" y="1466"/>
                  <a:ext cx="240" cy="250"/>
                </a:xfrm>
                <a:prstGeom prst="triangle">
                  <a:avLst>
                    <a:gd name="adj" fmla="val 50000"/>
                  </a:avLst>
                </a:prstGeom>
                <a:noFill/>
                <a:ln w="2857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5144" name="Line 64"/>
                <p:cNvSpPr>
                  <a:spLocks noChangeShapeType="1"/>
                </p:cNvSpPr>
                <p:nvPr/>
              </p:nvSpPr>
              <p:spPr bwMode="auto">
                <a:xfrm>
                  <a:off x="5443" y="1461"/>
                  <a:ext cx="0" cy="25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5" name="Line 65"/>
                <p:cNvSpPr>
                  <a:spLocks noChangeShapeType="1"/>
                </p:cNvSpPr>
                <p:nvPr/>
              </p:nvSpPr>
              <p:spPr bwMode="auto">
                <a:xfrm>
                  <a:off x="4886" y="1590"/>
                  <a:ext cx="87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5139" name="Text Box 66"/>
              <p:cNvSpPr txBox="1">
                <a:spLocks noChangeArrowheads="1"/>
              </p:cNvSpPr>
              <p:nvPr/>
            </p:nvSpPr>
            <p:spPr bwMode="auto">
              <a:xfrm>
                <a:off x="4612" y="1325"/>
                <a:ext cx="22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cs typeface="Times New Roman" panose="02020603050405020304" pitchFamily="18" charset="0"/>
                  </a:rPr>
                  <a:t>+</a:t>
                </a:r>
                <a:endParaRPr lang="en-US" altLang="zh-CN">
                  <a:cs typeface="Times New Roman" panose="02020603050405020304" pitchFamily="18" charset="0"/>
                </a:endParaRPr>
              </a:p>
            </p:txBody>
          </p:sp>
          <p:sp>
            <p:nvSpPr>
              <p:cNvPr id="5140" name="Rectangle 67"/>
              <p:cNvSpPr>
                <a:spLocks noChangeArrowheads="1"/>
              </p:cNvSpPr>
              <p:nvPr/>
            </p:nvSpPr>
            <p:spPr bwMode="auto">
              <a:xfrm>
                <a:off x="4912" y="1209"/>
                <a:ext cx="2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5141" name="Line 68"/>
              <p:cNvSpPr>
                <a:spLocks noChangeShapeType="1"/>
              </p:cNvSpPr>
              <p:nvPr/>
            </p:nvSpPr>
            <p:spPr bwMode="auto">
              <a:xfrm>
                <a:off x="4598" y="1728"/>
                <a:ext cx="31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2" name="Rectangle 69"/>
              <p:cNvSpPr>
                <a:spLocks noChangeArrowheads="1"/>
              </p:cNvSpPr>
              <p:nvPr/>
            </p:nvSpPr>
            <p:spPr bwMode="auto">
              <a:xfrm>
                <a:off x="4602" y="1704"/>
                <a:ext cx="2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grpSp>
        <p:sp>
          <p:nvSpPr>
            <p:cNvPr id="5137" name="Text Box 70"/>
            <p:cNvSpPr txBox="1">
              <a:spLocks noChangeArrowheads="1"/>
            </p:cNvSpPr>
            <p:nvPr/>
          </p:nvSpPr>
          <p:spPr bwMode="auto">
            <a:xfrm>
              <a:off x="5115" y="2644"/>
              <a:ext cx="21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cs typeface="Times New Roman" panose="02020603050405020304" pitchFamily="18" charset="0"/>
                </a:rPr>
                <a:t>_</a:t>
              </a:r>
              <a:endParaRPr lang="en-US" altLang="zh-CN">
                <a:cs typeface="Times New Roman" panose="02020603050405020304" pitchFamily="18" charset="0"/>
              </a:endParaRPr>
            </a:p>
          </p:txBody>
        </p:sp>
      </p:grpSp>
      <p:graphicFrame>
        <p:nvGraphicFramePr>
          <p:cNvPr id="112712" name="Object 2"/>
          <p:cNvGraphicFramePr>
            <a:graphicFrameLocks noChangeAspect="1"/>
          </p:cNvGraphicFramePr>
          <p:nvPr/>
        </p:nvGraphicFramePr>
        <p:xfrm>
          <a:off x="3197225" y="2641600"/>
          <a:ext cx="1316038" cy="950913"/>
        </p:xfrm>
        <a:graphic>
          <a:graphicData uri="http://schemas.openxmlformats.org/presentationml/2006/ole">
            <mc:AlternateContent xmlns:mc="http://schemas.openxmlformats.org/markup-compatibility/2006">
              <mc:Choice xmlns:v="urn:schemas-microsoft-com:vml" Requires="v">
                <p:oleObj spid="_x0000_s5183" name="Equation" r:id="rId1" imgW="596900" imgH="431800" progId="Equation.DSMT4">
                  <p:embed/>
                </p:oleObj>
              </mc:Choice>
              <mc:Fallback>
                <p:oleObj name="Equation" r:id="rId1" imgW="596900" imgH="431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7225" y="2641600"/>
                        <a:ext cx="1316038" cy="950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76"/>
          <p:cNvGrpSpPr/>
          <p:nvPr/>
        </p:nvGrpSpPr>
        <p:grpSpPr bwMode="auto">
          <a:xfrm>
            <a:off x="7146925" y="4500563"/>
            <a:ext cx="762000" cy="649287"/>
            <a:chOff x="4502" y="2835"/>
            <a:chExt cx="480" cy="409"/>
          </a:xfrm>
        </p:grpSpPr>
        <p:sp>
          <p:nvSpPr>
            <p:cNvPr id="5133" name="Rectangle 73"/>
            <p:cNvSpPr>
              <a:spLocks noChangeArrowheads="1"/>
            </p:cNvSpPr>
            <p:nvPr/>
          </p:nvSpPr>
          <p:spPr bwMode="auto">
            <a:xfrm>
              <a:off x="4502" y="3129"/>
              <a:ext cx="269" cy="115"/>
            </a:xfrm>
            <a:prstGeom prst="rect">
              <a:avLst/>
            </a:prstGeom>
            <a:solidFill>
              <a:srgbClr val="FFFFFF"/>
            </a:solidFill>
            <a:ln w="28575" algn="ctr">
              <a:solidFill>
                <a:schemeClr val="tx1"/>
              </a:solidFill>
              <a:miter lim="800000"/>
            </a:ln>
          </p:spPr>
          <p:txBody>
            <a:bodyPr wrap="none" anchor="ctr">
              <a:spAutoFit/>
            </a:bodyPr>
            <a:lstStyle/>
            <a:p>
              <a:endParaRPr lang="zh-CN" altLang="en-US"/>
            </a:p>
          </p:txBody>
        </p:sp>
        <p:sp>
          <p:nvSpPr>
            <p:cNvPr id="5134" name="Line 74"/>
            <p:cNvSpPr>
              <a:spLocks noChangeShapeType="1"/>
            </p:cNvSpPr>
            <p:nvPr/>
          </p:nvSpPr>
          <p:spPr bwMode="auto">
            <a:xfrm>
              <a:off x="4781" y="3178"/>
              <a:ext cx="201"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35" name="Rectangle 75"/>
            <p:cNvSpPr>
              <a:spLocks noChangeArrowheads="1"/>
            </p:cNvSpPr>
            <p:nvPr/>
          </p:nvSpPr>
          <p:spPr bwMode="auto">
            <a:xfrm>
              <a:off x="4534" y="2835"/>
              <a:ext cx="2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lang="en-US" altLang="zh-CN" b="1" i="1">
                  <a:solidFill>
                    <a:schemeClr val="tx2"/>
                  </a:solidFill>
                  <a:latin typeface="Times New Roman" panose="02020603050405020304" pitchFamily="18" charset="0"/>
                  <a:cs typeface="Times New Roman" panose="02020603050405020304" pitchFamily="18" charset="0"/>
                </a:rPr>
                <a:t>r</a:t>
              </a:r>
              <a:r>
                <a:rPr lang="en-US" altLang="zh-CN" b="1" baseline="-25000">
                  <a:solidFill>
                    <a:schemeClr val="tx2"/>
                  </a:solidFill>
                  <a:latin typeface="Times New Roman" panose="02020603050405020304" pitchFamily="18" charset="0"/>
                  <a:cs typeface="Times New Roman" panose="02020603050405020304" pitchFamily="18" charset="0"/>
                </a:rPr>
                <a:t>D</a:t>
              </a:r>
              <a:endParaRPr lang="en-US" altLang="zh-CN" b="1" baseline="-25000">
                <a:solidFill>
                  <a:schemeClr val="tx2"/>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45"/>
                                        </p:tgtEl>
                                        <p:attrNameLst>
                                          <p:attrName>style.visibility</p:attrName>
                                        </p:attrNameLst>
                                      </p:cBhvr>
                                      <p:to>
                                        <p:strVal val="visible"/>
                                      </p:to>
                                    </p:set>
                                    <p:animEffect transition="in" filter="wipe(left)">
                                      <p:cBhvr>
                                        <p:cTn id="7" dur="1000"/>
                                        <p:tgtEl>
                                          <p:spTgt spid="112645"/>
                                        </p:tgtEl>
                                      </p:cBhvr>
                                    </p:animEffect>
                                  </p:childTnLst>
                                </p:cTn>
                              </p:par>
                            </p:childTnLst>
                          </p:cTn>
                        </p:par>
                        <p:par>
                          <p:cTn id="8" fill="hold">
                            <p:stCondLst>
                              <p:cond delay="1000"/>
                            </p:stCondLst>
                            <p:childTnLst>
                              <p:par>
                                <p:cTn id="9" presetID="1" presetClass="entr" presetSubtype="0" fill="hold" grpId="0" nodeType="afterEffect">
                                  <p:stCondLst>
                                    <p:cond delay="0"/>
                                  </p:stCondLst>
                                  <p:iterate type="lt">
                                    <p:tmAbs val="100"/>
                                  </p:iterate>
                                  <p:childTnLst>
                                    <p:set>
                                      <p:cBhvr>
                                        <p:cTn id="10" dur="1" fill="hold">
                                          <p:stCondLst>
                                            <p:cond delay="0"/>
                                          </p:stCondLst>
                                        </p:cTn>
                                        <p:tgtEl>
                                          <p:spTgt spid="1126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lide(fromBottom)">
                                      <p:cBhvr>
                                        <p:cTn id="15" dur="500"/>
                                        <p:tgtEl>
                                          <p:spTgt spid="2"/>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12687"/>
                                        </p:tgtEl>
                                        <p:attrNameLst>
                                          <p:attrName>style.visibility</p:attrName>
                                        </p:attrNameLst>
                                      </p:cBhvr>
                                      <p:to>
                                        <p:strVal val="visible"/>
                                      </p:to>
                                    </p:set>
                                    <p:animEffect transition="in" filter="wipe(left)">
                                      <p:cBhvr>
                                        <p:cTn id="19" dur="500"/>
                                        <p:tgtEl>
                                          <p:spTgt spid="112687"/>
                                        </p:tgtEl>
                                      </p:cBhvr>
                                    </p:animEffect>
                                  </p:childTnLst>
                                </p:cTn>
                              </p:par>
                            </p:childTnLst>
                          </p:cTn>
                        </p:par>
                        <p:par>
                          <p:cTn id="20" fill="hold">
                            <p:stCondLst>
                              <p:cond delay="1000"/>
                            </p:stCondLst>
                            <p:childTnLst>
                              <p:par>
                                <p:cTn id="21" presetID="12" presetClass="entr" presetSubtype="4" fill="hold" grpId="0" nodeType="afterEffect">
                                  <p:stCondLst>
                                    <p:cond delay="0"/>
                                  </p:stCondLst>
                                  <p:childTnLst>
                                    <p:set>
                                      <p:cBhvr>
                                        <p:cTn id="22" dur="1" fill="hold">
                                          <p:stCondLst>
                                            <p:cond delay="0"/>
                                          </p:stCondLst>
                                        </p:cTn>
                                        <p:tgtEl>
                                          <p:spTgt spid="112688"/>
                                        </p:tgtEl>
                                        <p:attrNameLst>
                                          <p:attrName>style.visibility</p:attrName>
                                        </p:attrNameLst>
                                      </p:cBhvr>
                                      <p:to>
                                        <p:strVal val="visible"/>
                                      </p:to>
                                    </p:set>
                                    <p:animEffect transition="in" filter="slide(fromBottom)">
                                      <p:cBhvr>
                                        <p:cTn id="23" dur="500"/>
                                        <p:tgtEl>
                                          <p:spTgt spid="11268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2712"/>
                                        </p:tgtEl>
                                        <p:attrNameLst>
                                          <p:attrName>style.visibility</p:attrName>
                                        </p:attrNameLst>
                                      </p:cBhvr>
                                      <p:to>
                                        <p:strVal val="visible"/>
                                      </p:to>
                                    </p:set>
                                    <p:animEffect transition="in" filter="wipe(left)">
                                      <p:cBhvr>
                                        <p:cTn id="28" dur="500"/>
                                        <p:tgtEl>
                                          <p:spTgt spid="112712"/>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slide(fromRight)">
                                      <p:cBhvr>
                                        <p:cTn id="33" dur="500"/>
                                        <p:tgtEl>
                                          <p:spTgt spid="4"/>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112689"/>
                                        </p:tgtEl>
                                        <p:attrNameLst>
                                          <p:attrName>style.visibility</p:attrName>
                                        </p:attrNameLst>
                                      </p:cBhvr>
                                      <p:to>
                                        <p:strVal val="visible"/>
                                      </p:to>
                                    </p:set>
                                    <p:animEffect transition="in" filter="wipe(up)">
                                      <p:cBhvr>
                                        <p:cTn id="37" dur="500"/>
                                        <p:tgtEl>
                                          <p:spTgt spid="112689"/>
                                        </p:tgtEl>
                                      </p:cBhvr>
                                    </p:animEffect>
                                  </p:childTnLst>
                                </p:cTn>
                              </p:par>
                            </p:childTnLst>
                          </p:cTn>
                        </p:par>
                        <p:par>
                          <p:cTn id="38" fill="hold">
                            <p:stCondLst>
                              <p:cond delay="1000"/>
                            </p:stCondLst>
                            <p:childTnLst>
                              <p:par>
                                <p:cTn id="39" presetID="22" presetClass="entr" presetSubtype="1" fill="hold" nodeType="after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wipe(up)">
                                      <p:cBhvr>
                                        <p:cTn id="41" dur="500"/>
                                        <p:tgtEl>
                                          <p:spTgt spid="3"/>
                                        </p:tgtEl>
                                      </p:cBhvr>
                                    </p:animEffect>
                                  </p:childTnLst>
                                </p:cTn>
                              </p:par>
                            </p:childTnLst>
                          </p:cTn>
                        </p:par>
                        <p:par>
                          <p:cTn id="42" fill="hold">
                            <p:stCondLst>
                              <p:cond delay="1500"/>
                            </p:stCondLst>
                            <p:childTnLst>
                              <p:par>
                                <p:cTn id="43" presetID="22" presetClass="entr" presetSubtype="8" fill="hold"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p:bldP spid="112648" grpId="0"/>
      <p:bldP spid="112687" grpId="0" animBg="1"/>
      <p:bldP spid="112688" grpId="0"/>
      <p:bldP spid="11268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spAutoFit/>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23</a:t>
            </a:r>
            <a:r>
              <a:rPr lang="zh-CN" altLang="en-US" sz="2800" smtClean="0">
                <a:ea typeface="宋体" panose="02010600030101010101" pitchFamily="2" charset="-122"/>
              </a:rPr>
              <a:t>）</a:t>
            </a:r>
            <a:endParaRPr lang="zh-CN" altLang="en-US" sz="3200" smtClean="0">
              <a:ea typeface="楷体_GB2312" pitchFamily="49" charset="-122"/>
            </a:endParaRPr>
          </a:p>
        </p:txBody>
      </p:sp>
      <p:sp>
        <p:nvSpPr>
          <p:cNvPr id="3" name="灯片编号占位符 2"/>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6149" name="Rectangle 3"/>
          <p:cNvSpPr>
            <a:spLocks noGrp="1" noChangeArrowheads="1"/>
          </p:cNvSpPr>
          <p:nvPr>
            <p:ph sz="quarter" idx="4294967295"/>
          </p:nvPr>
        </p:nvSpPr>
        <p:spPr>
          <a:xfrm>
            <a:off x="-61128" y="815975"/>
            <a:ext cx="8550275" cy="904863"/>
          </a:xfrm>
        </p:spPr>
        <p:txBody>
          <a:bodyPr>
            <a:spAutoFit/>
          </a:bodyPr>
          <a:lstStyle/>
          <a:p>
            <a:pPr eaLnBrk="1" hangingPunct="1"/>
            <a:r>
              <a:rPr kumimoji="1" lang="zh-CN" altLang="en-US" sz="2400" dirty="0" smtClean="0">
                <a:ea typeface="宋体" panose="02010600030101010101" pitchFamily="2" charset="-122"/>
              </a:rPr>
              <a:t>理想二极管应用电路实例</a:t>
            </a:r>
            <a:endParaRPr kumimoji="1" lang="zh-CN" altLang="en-US" sz="2400" dirty="0" smtClean="0">
              <a:ea typeface="宋体" panose="02010600030101010101" pitchFamily="2" charset="-122"/>
            </a:endParaRPr>
          </a:p>
          <a:p>
            <a:pPr lvl="1" eaLnBrk="1" hangingPunct="1"/>
            <a:r>
              <a:rPr kumimoji="1" lang="zh-CN" altLang="en-US" sz="2400" dirty="0" smtClean="0"/>
              <a:t>限幅电路</a:t>
            </a:r>
            <a:endParaRPr kumimoji="1" lang="zh-CN" altLang="en-US" sz="2400" dirty="0" smtClean="0"/>
          </a:p>
        </p:txBody>
      </p:sp>
      <p:grpSp>
        <p:nvGrpSpPr>
          <p:cNvPr id="2" name="Group 4"/>
          <p:cNvGrpSpPr/>
          <p:nvPr/>
        </p:nvGrpSpPr>
        <p:grpSpPr bwMode="auto">
          <a:xfrm>
            <a:off x="6215063" y="949325"/>
            <a:ext cx="2741612" cy="1231900"/>
            <a:chOff x="172" y="896"/>
            <a:chExt cx="1727" cy="776"/>
          </a:xfrm>
        </p:grpSpPr>
        <p:sp>
          <p:nvSpPr>
            <p:cNvPr id="6185" name="Rectangle 5"/>
            <p:cNvSpPr>
              <a:spLocks noChangeArrowheads="1"/>
            </p:cNvSpPr>
            <p:nvPr/>
          </p:nvSpPr>
          <p:spPr bwMode="auto">
            <a:xfrm>
              <a:off x="732" y="896"/>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pSp>
          <p:nvGrpSpPr>
            <p:cNvPr id="6186" name="Group 6"/>
            <p:cNvGrpSpPr>
              <a:grpSpLocks noChangeAspect="1"/>
            </p:cNvGrpSpPr>
            <p:nvPr/>
          </p:nvGrpSpPr>
          <p:grpSpPr bwMode="auto">
            <a:xfrm flipV="1">
              <a:off x="1166" y="934"/>
              <a:ext cx="184" cy="489"/>
              <a:chOff x="3264" y="1344"/>
              <a:chExt cx="288" cy="766"/>
            </a:xfrm>
          </p:grpSpPr>
          <p:sp>
            <p:nvSpPr>
              <p:cNvPr id="6201" name="AutoShape 7"/>
              <p:cNvSpPr>
                <a:spLocks noChangeAspect="1" noChangeArrowheads="1"/>
              </p:cNvSpPr>
              <p:nvPr/>
            </p:nvSpPr>
            <p:spPr bwMode="auto">
              <a:xfrm>
                <a:off x="3264"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6202" name="Line 8"/>
              <p:cNvSpPr>
                <a:spLocks noChangeAspect="1"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203" name="Line 9"/>
              <p:cNvSpPr>
                <a:spLocks noChangeAspect="1" noChangeShapeType="1"/>
              </p:cNvSpPr>
              <p:nvPr/>
            </p:nvSpPr>
            <p:spPr bwMode="auto">
              <a:xfrm>
                <a:off x="3399" y="1344"/>
                <a:ext cx="9" cy="76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6187" name="Group 10"/>
            <p:cNvGrpSpPr/>
            <p:nvPr/>
          </p:nvGrpSpPr>
          <p:grpSpPr bwMode="auto">
            <a:xfrm>
              <a:off x="1166" y="1423"/>
              <a:ext cx="192" cy="48"/>
              <a:chOff x="908" y="1989"/>
              <a:chExt cx="192" cy="48"/>
            </a:xfrm>
          </p:grpSpPr>
          <p:sp>
            <p:nvSpPr>
              <p:cNvPr id="6199" name="Line 11"/>
              <p:cNvSpPr>
                <a:spLocks noChangeShapeType="1"/>
              </p:cNvSpPr>
              <p:nvPr/>
            </p:nvSpPr>
            <p:spPr bwMode="auto">
              <a:xfrm>
                <a:off x="908" y="1989"/>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200" name="Line 12"/>
              <p:cNvSpPr>
                <a:spLocks noChangeShapeType="1"/>
              </p:cNvSpPr>
              <p:nvPr/>
            </p:nvSpPr>
            <p:spPr bwMode="auto">
              <a:xfrm>
                <a:off x="956" y="2037"/>
                <a:ext cx="9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6188" name="Line 15"/>
            <p:cNvSpPr>
              <a:spLocks noChangeShapeType="1"/>
            </p:cNvSpPr>
            <p:nvPr/>
          </p:nvSpPr>
          <p:spPr bwMode="auto">
            <a:xfrm>
              <a:off x="252" y="934"/>
              <a:ext cx="48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89" name="Line 16"/>
            <p:cNvSpPr>
              <a:spLocks noChangeShapeType="1"/>
            </p:cNvSpPr>
            <p:nvPr/>
          </p:nvSpPr>
          <p:spPr bwMode="auto">
            <a:xfrm>
              <a:off x="972" y="934"/>
              <a:ext cx="72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90" name="Line 17"/>
            <p:cNvSpPr>
              <a:spLocks noChangeShapeType="1"/>
            </p:cNvSpPr>
            <p:nvPr/>
          </p:nvSpPr>
          <p:spPr bwMode="auto">
            <a:xfrm>
              <a:off x="252" y="1654"/>
              <a:ext cx="14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91" name="Line 18"/>
            <p:cNvSpPr>
              <a:spLocks noChangeShapeType="1"/>
            </p:cNvSpPr>
            <p:nvPr/>
          </p:nvSpPr>
          <p:spPr bwMode="auto">
            <a:xfrm>
              <a:off x="1260" y="1510"/>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92" name="Text Box 21"/>
            <p:cNvSpPr txBox="1">
              <a:spLocks noChangeArrowheads="1"/>
            </p:cNvSpPr>
            <p:nvPr/>
          </p:nvSpPr>
          <p:spPr bwMode="auto">
            <a:xfrm>
              <a:off x="172" y="1018"/>
              <a:ext cx="259"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i</a:t>
              </a:r>
              <a:endParaRPr kumimoji="1" lang="en-US" altLang="zh-CN" b="1" i="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_</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193" name="Text Box 22"/>
            <p:cNvSpPr txBox="1">
              <a:spLocks noChangeArrowheads="1"/>
            </p:cNvSpPr>
            <p:nvPr/>
          </p:nvSpPr>
          <p:spPr bwMode="auto">
            <a:xfrm>
              <a:off x="1612" y="973"/>
              <a:ext cx="287"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_</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194" name="Text Box 23"/>
            <p:cNvSpPr txBox="1">
              <a:spLocks noChangeArrowheads="1"/>
            </p:cNvSpPr>
            <p:nvPr/>
          </p:nvSpPr>
          <p:spPr bwMode="auto">
            <a:xfrm>
              <a:off x="734" y="100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R</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6195" name="Text Box 24"/>
            <p:cNvSpPr txBox="1">
              <a:spLocks noChangeArrowheads="1"/>
            </p:cNvSpPr>
            <p:nvPr/>
          </p:nvSpPr>
          <p:spPr bwMode="auto">
            <a:xfrm>
              <a:off x="909" y="1002"/>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000" i="1"/>
            </a:p>
          </p:txBody>
        </p:sp>
        <p:sp>
          <p:nvSpPr>
            <p:cNvPr id="6196" name="Text Box 25"/>
            <p:cNvSpPr txBox="1">
              <a:spLocks noChangeArrowheads="1"/>
            </p:cNvSpPr>
            <p:nvPr/>
          </p:nvSpPr>
          <p:spPr bwMode="auto">
            <a:xfrm>
              <a:off x="914" y="1279"/>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E</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6197" name="Oval 26"/>
            <p:cNvSpPr>
              <a:spLocks noChangeArrowheads="1"/>
            </p:cNvSpPr>
            <p:nvPr/>
          </p:nvSpPr>
          <p:spPr bwMode="auto">
            <a:xfrm>
              <a:off x="1234" y="902"/>
              <a:ext cx="48" cy="48"/>
            </a:xfrm>
            <a:prstGeom prst="ellipse">
              <a:avLst/>
            </a:prstGeom>
            <a:solidFill>
              <a:schemeClr val="tx1"/>
            </a:solidFill>
            <a:ln w="28575">
              <a:solidFill>
                <a:schemeClr val="tx1"/>
              </a:solidFill>
              <a:round/>
            </a:ln>
          </p:spPr>
          <p:txBody>
            <a:bodyPr anchor="ctr">
              <a:spAutoFit/>
            </a:bodyPr>
            <a:lstStyle/>
            <a:p>
              <a:endParaRPr lang="zh-CN" altLang="en-US"/>
            </a:p>
          </p:txBody>
        </p:sp>
        <p:sp>
          <p:nvSpPr>
            <p:cNvPr id="6198" name="Oval 27"/>
            <p:cNvSpPr>
              <a:spLocks noChangeArrowheads="1"/>
            </p:cNvSpPr>
            <p:nvPr/>
          </p:nvSpPr>
          <p:spPr bwMode="auto">
            <a:xfrm>
              <a:off x="1238" y="1624"/>
              <a:ext cx="48" cy="48"/>
            </a:xfrm>
            <a:prstGeom prst="ellipse">
              <a:avLst/>
            </a:prstGeom>
            <a:solidFill>
              <a:schemeClr val="tx1"/>
            </a:solidFill>
            <a:ln w="28575">
              <a:solidFill>
                <a:schemeClr val="tx1"/>
              </a:solidFill>
              <a:round/>
            </a:ln>
          </p:spPr>
          <p:txBody>
            <a:bodyPr anchor="ctr">
              <a:spAutoFit/>
            </a:bodyPr>
            <a:lstStyle/>
            <a:p>
              <a:endParaRPr lang="zh-CN" altLang="en-US"/>
            </a:p>
          </p:txBody>
        </p:sp>
      </p:grpSp>
      <p:sp>
        <p:nvSpPr>
          <p:cNvPr id="113692" name="Text Box 28"/>
          <p:cNvSpPr txBox="1">
            <a:spLocks noChangeArrowheads="1"/>
          </p:cNvSpPr>
          <p:nvPr/>
        </p:nvSpPr>
        <p:spPr bwMode="auto">
          <a:xfrm>
            <a:off x="1055688" y="1844824"/>
            <a:ext cx="3248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输入电压为一正弦波。</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13693" name="Text Box 29"/>
          <p:cNvSpPr txBox="1">
            <a:spLocks noChangeArrowheads="1"/>
          </p:cNvSpPr>
          <p:nvPr/>
        </p:nvSpPr>
        <p:spPr bwMode="auto">
          <a:xfrm>
            <a:off x="1049338" y="2302024"/>
            <a:ext cx="24653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电池电压：</a:t>
            </a:r>
            <a:r>
              <a:rPr kumimoji="1" lang="en-US" altLang="zh-CN" sz="2400" b="1" i="1">
                <a:solidFill>
                  <a:schemeClr val="tx2"/>
                </a:solidFill>
                <a:latin typeface="Times New Roman" panose="02020603050405020304" pitchFamily="18" charset="0"/>
                <a:cs typeface="Times New Roman" panose="02020603050405020304" pitchFamily="18" charset="0"/>
              </a:rPr>
              <a:t>E=</a:t>
            </a:r>
            <a:r>
              <a:rPr kumimoji="1" lang="en-US" altLang="zh-CN" sz="2400" b="1">
                <a:solidFill>
                  <a:schemeClr val="tx2"/>
                </a:solidFill>
                <a:latin typeface="Times New Roman" panose="02020603050405020304" pitchFamily="18" charset="0"/>
                <a:cs typeface="Times New Roman" panose="02020603050405020304" pitchFamily="18" charset="0"/>
              </a:rPr>
              <a:t>4V</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aphicFrame>
        <p:nvGraphicFramePr>
          <p:cNvPr id="113694" name="Object 2"/>
          <p:cNvGraphicFramePr>
            <a:graphicFrameLocks noChangeAspect="1"/>
          </p:cNvGraphicFramePr>
          <p:nvPr/>
        </p:nvGraphicFramePr>
        <p:xfrm>
          <a:off x="7005638" y="2344738"/>
          <a:ext cx="1716087" cy="411162"/>
        </p:xfrm>
        <a:graphic>
          <a:graphicData uri="http://schemas.openxmlformats.org/presentationml/2006/ole">
            <mc:AlternateContent xmlns:mc="http://schemas.openxmlformats.org/markup-compatibility/2006">
              <mc:Choice xmlns:v="urn:schemas-microsoft-com:vml" Requires="v">
                <p:oleObj spid="_x0000_s6250" name="Equation" r:id="rId1" imgW="1270000" imgH="304800" progId="Equation.DSMT4">
                  <p:embed/>
                </p:oleObj>
              </mc:Choice>
              <mc:Fallback>
                <p:oleObj name="Equation" r:id="rId1" imgW="1270000" imgH="304800" progId="Equation.DSMT4">
                  <p:embed/>
                  <p:pic>
                    <p:nvPicPr>
                      <p:cNvPr id="0" name="Object 2"/>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638" y="2344738"/>
                        <a:ext cx="1716087"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31"/>
          <p:cNvGrpSpPr/>
          <p:nvPr/>
        </p:nvGrpSpPr>
        <p:grpSpPr bwMode="auto">
          <a:xfrm>
            <a:off x="5810250" y="2527300"/>
            <a:ext cx="2905125" cy="1676400"/>
            <a:chOff x="3720" y="816"/>
            <a:chExt cx="1830" cy="1056"/>
          </a:xfrm>
        </p:grpSpPr>
        <p:grpSp>
          <p:nvGrpSpPr>
            <p:cNvPr id="6178" name="Group 32"/>
            <p:cNvGrpSpPr/>
            <p:nvPr/>
          </p:nvGrpSpPr>
          <p:grpSpPr bwMode="auto">
            <a:xfrm>
              <a:off x="3720" y="816"/>
              <a:ext cx="1786" cy="1056"/>
              <a:chOff x="2966" y="1248"/>
              <a:chExt cx="1786" cy="1056"/>
            </a:xfrm>
          </p:grpSpPr>
          <p:sp>
            <p:nvSpPr>
              <p:cNvPr id="6180" name="Line 33"/>
              <p:cNvSpPr>
                <a:spLocks noChangeShapeType="1"/>
              </p:cNvSpPr>
              <p:nvPr/>
            </p:nvSpPr>
            <p:spPr bwMode="auto">
              <a:xfrm>
                <a:off x="3168" y="1834"/>
                <a:ext cx="158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81" name="Freeform 34"/>
              <p:cNvSpPr/>
              <p:nvPr/>
            </p:nvSpPr>
            <p:spPr bwMode="auto">
              <a:xfrm>
                <a:off x="3193" y="1420"/>
                <a:ext cx="1367" cy="801"/>
              </a:xfrm>
              <a:custGeom>
                <a:avLst/>
                <a:gdLst>
                  <a:gd name="T0" fmla="*/ 16 w 1367"/>
                  <a:gd name="T1" fmla="*/ 324 h 812"/>
                  <a:gd name="T2" fmla="*/ 35 w 1367"/>
                  <a:gd name="T3" fmla="*/ 249 h 812"/>
                  <a:gd name="T4" fmla="*/ 54 w 1367"/>
                  <a:gd name="T5" fmla="*/ 179 h 812"/>
                  <a:gd name="T6" fmla="*/ 73 w 1367"/>
                  <a:gd name="T7" fmla="*/ 114 h 812"/>
                  <a:gd name="T8" fmla="*/ 92 w 1367"/>
                  <a:gd name="T9" fmla="*/ 65 h 812"/>
                  <a:gd name="T10" fmla="*/ 117 w 1367"/>
                  <a:gd name="T11" fmla="*/ 19 h 812"/>
                  <a:gd name="T12" fmla="*/ 171 w 1367"/>
                  <a:gd name="T13" fmla="*/ 16 h 812"/>
                  <a:gd name="T14" fmla="*/ 196 w 1367"/>
                  <a:gd name="T15" fmla="*/ 63 h 812"/>
                  <a:gd name="T16" fmla="*/ 215 w 1367"/>
                  <a:gd name="T17" fmla="*/ 112 h 812"/>
                  <a:gd name="T18" fmla="*/ 231 w 1367"/>
                  <a:gd name="T19" fmla="*/ 174 h 812"/>
                  <a:gd name="T20" fmla="*/ 250 w 1367"/>
                  <a:gd name="T21" fmla="*/ 244 h 812"/>
                  <a:gd name="T22" fmla="*/ 268 w 1367"/>
                  <a:gd name="T23" fmla="*/ 320 h 812"/>
                  <a:gd name="T24" fmla="*/ 287 w 1367"/>
                  <a:gd name="T25" fmla="*/ 400 h 812"/>
                  <a:gd name="T26" fmla="*/ 303 w 1367"/>
                  <a:gd name="T27" fmla="*/ 478 h 812"/>
                  <a:gd name="T28" fmla="*/ 322 w 1367"/>
                  <a:gd name="T29" fmla="*/ 556 h 812"/>
                  <a:gd name="T30" fmla="*/ 341 w 1367"/>
                  <a:gd name="T31" fmla="*/ 626 h 812"/>
                  <a:gd name="T32" fmla="*/ 360 w 1367"/>
                  <a:gd name="T33" fmla="*/ 688 h 812"/>
                  <a:gd name="T34" fmla="*/ 379 w 1367"/>
                  <a:gd name="T35" fmla="*/ 737 h 812"/>
                  <a:gd name="T36" fmla="*/ 404 w 1367"/>
                  <a:gd name="T37" fmla="*/ 784 h 812"/>
                  <a:gd name="T38" fmla="*/ 458 w 1367"/>
                  <a:gd name="T39" fmla="*/ 779 h 812"/>
                  <a:gd name="T40" fmla="*/ 483 w 1367"/>
                  <a:gd name="T41" fmla="*/ 733 h 812"/>
                  <a:gd name="T42" fmla="*/ 502 w 1367"/>
                  <a:gd name="T43" fmla="*/ 681 h 812"/>
                  <a:gd name="T44" fmla="*/ 521 w 1367"/>
                  <a:gd name="T45" fmla="*/ 618 h 812"/>
                  <a:gd name="T46" fmla="*/ 540 w 1367"/>
                  <a:gd name="T47" fmla="*/ 547 h 812"/>
                  <a:gd name="T48" fmla="*/ 556 w 1367"/>
                  <a:gd name="T49" fmla="*/ 470 h 812"/>
                  <a:gd name="T50" fmla="*/ 575 w 1367"/>
                  <a:gd name="T51" fmla="*/ 390 h 812"/>
                  <a:gd name="T52" fmla="*/ 594 w 1367"/>
                  <a:gd name="T53" fmla="*/ 310 h 812"/>
                  <a:gd name="T54" fmla="*/ 612 w 1367"/>
                  <a:gd name="T55" fmla="*/ 235 h 812"/>
                  <a:gd name="T56" fmla="*/ 628 w 1367"/>
                  <a:gd name="T57" fmla="*/ 164 h 812"/>
                  <a:gd name="T58" fmla="*/ 647 w 1367"/>
                  <a:gd name="T59" fmla="*/ 106 h 812"/>
                  <a:gd name="T60" fmla="*/ 666 w 1367"/>
                  <a:gd name="T61" fmla="*/ 56 h 812"/>
                  <a:gd name="T62" fmla="*/ 698 w 1367"/>
                  <a:gd name="T63" fmla="*/ 9 h 812"/>
                  <a:gd name="T64" fmla="*/ 751 w 1367"/>
                  <a:gd name="T65" fmla="*/ 28 h 812"/>
                  <a:gd name="T66" fmla="*/ 773 w 1367"/>
                  <a:gd name="T67" fmla="*/ 75 h 812"/>
                  <a:gd name="T68" fmla="*/ 792 w 1367"/>
                  <a:gd name="T69" fmla="*/ 129 h 812"/>
                  <a:gd name="T70" fmla="*/ 808 w 1367"/>
                  <a:gd name="T71" fmla="*/ 192 h 812"/>
                  <a:gd name="T72" fmla="*/ 827 w 1367"/>
                  <a:gd name="T73" fmla="*/ 265 h 812"/>
                  <a:gd name="T74" fmla="*/ 846 w 1367"/>
                  <a:gd name="T75" fmla="*/ 342 h 812"/>
                  <a:gd name="T76" fmla="*/ 865 w 1367"/>
                  <a:gd name="T77" fmla="*/ 422 h 812"/>
                  <a:gd name="T78" fmla="*/ 881 w 1367"/>
                  <a:gd name="T79" fmla="*/ 502 h 812"/>
                  <a:gd name="T80" fmla="*/ 900 w 1367"/>
                  <a:gd name="T81" fmla="*/ 575 h 812"/>
                  <a:gd name="T82" fmla="*/ 919 w 1367"/>
                  <a:gd name="T83" fmla="*/ 643 h 812"/>
                  <a:gd name="T84" fmla="*/ 937 w 1367"/>
                  <a:gd name="T85" fmla="*/ 702 h 812"/>
                  <a:gd name="T86" fmla="*/ 956 w 1367"/>
                  <a:gd name="T87" fmla="*/ 752 h 812"/>
                  <a:gd name="T88" fmla="*/ 991 w 1367"/>
                  <a:gd name="T89" fmla="*/ 798 h 812"/>
                  <a:gd name="T90" fmla="*/ 1042 w 1367"/>
                  <a:gd name="T91" fmla="*/ 765 h 812"/>
                  <a:gd name="T92" fmla="*/ 1061 w 1367"/>
                  <a:gd name="T93" fmla="*/ 718 h 812"/>
                  <a:gd name="T94" fmla="*/ 1080 w 1367"/>
                  <a:gd name="T95" fmla="*/ 662 h 812"/>
                  <a:gd name="T96" fmla="*/ 1098 w 1367"/>
                  <a:gd name="T97" fmla="*/ 599 h 812"/>
                  <a:gd name="T98" fmla="*/ 1117 w 1367"/>
                  <a:gd name="T99" fmla="*/ 526 h 812"/>
                  <a:gd name="T100" fmla="*/ 1133 w 1367"/>
                  <a:gd name="T101" fmla="*/ 446 h 812"/>
                  <a:gd name="T102" fmla="*/ 1152 w 1367"/>
                  <a:gd name="T103" fmla="*/ 366 h 812"/>
                  <a:gd name="T104" fmla="*/ 1171 w 1367"/>
                  <a:gd name="T105" fmla="*/ 289 h 812"/>
                  <a:gd name="T106" fmla="*/ 1190 w 1367"/>
                  <a:gd name="T107" fmla="*/ 213 h 812"/>
                  <a:gd name="T108" fmla="*/ 1206 w 1367"/>
                  <a:gd name="T109" fmla="*/ 148 h 812"/>
                  <a:gd name="T110" fmla="*/ 1225 w 1367"/>
                  <a:gd name="T111" fmla="*/ 92 h 812"/>
                  <a:gd name="T112" fmla="*/ 1247 w 1367"/>
                  <a:gd name="T113" fmla="*/ 42 h 812"/>
                  <a:gd name="T114" fmla="*/ 1288 w 1367"/>
                  <a:gd name="T115" fmla="*/ 0 h 812"/>
                  <a:gd name="T116" fmla="*/ 1329 w 1367"/>
                  <a:gd name="T117" fmla="*/ 42 h 812"/>
                  <a:gd name="T118" fmla="*/ 1351 w 1367"/>
                  <a:gd name="T119" fmla="*/ 89 h 81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367"/>
                  <a:gd name="T181" fmla="*/ 0 h 812"/>
                  <a:gd name="T182" fmla="*/ 1367 w 1367"/>
                  <a:gd name="T183" fmla="*/ 812 h 81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367" h="812">
                    <a:moveTo>
                      <a:pt x="0" y="407"/>
                    </a:moveTo>
                    <a:lnTo>
                      <a:pt x="0" y="402"/>
                    </a:lnTo>
                    <a:lnTo>
                      <a:pt x="3" y="397"/>
                    </a:lnTo>
                    <a:lnTo>
                      <a:pt x="3" y="393"/>
                    </a:lnTo>
                    <a:lnTo>
                      <a:pt x="3" y="390"/>
                    </a:lnTo>
                    <a:lnTo>
                      <a:pt x="3" y="385"/>
                    </a:lnTo>
                    <a:lnTo>
                      <a:pt x="7" y="381"/>
                    </a:lnTo>
                    <a:lnTo>
                      <a:pt x="7" y="378"/>
                    </a:lnTo>
                    <a:lnTo>
                      <a:pt x="7" y="374"/>
                    </a:lnTo>
                    <a:lnTo>
                      <a:pt x="10" y="369"/>
                    </a:lnTo>
                    <a:lnTo>
                      <a:pt x="10" y="364"/>
                    </a:lnTo>
                    <a:lnTo>
                      <a:pt x="10" y="362"/>
                    </a:lnTo>
                    <a:lnTo>
                      <a:pt x="10" y="357"/>
                    </a:lnTo>
                    <a:lnTo>
                      <a:pt x="13" y="352"/>
                    </a:lnTo>
                    <a:lnTo>
                      <a:pt x="13" y="350"/>
                    </a:lnTo>
                    <a:lnTo>
                      <a:pt x="13" y="345"/>
                    </a:lnTo>
                    <a:lnTo>
                      <a:pt x="16" y="340"/>
                    </a:lnTo>
                    <a:lnTo>
                      <a:pt x="16" y="338"/>
                    </a:lnTo>
                    <a:lnTo>
                      <a:pt x="16" y="333"/>
                    </a:lnTo>
                    <a:lnTo>
                      <a:pt x="16" y="328"/>
                    </a:lnTo>
                    <a:lnTo>
                      <a:pt x="19" y="326"/>
                    </a:lnTo>
                    <a:lnTo>
                      <a:pt x="19" y="321"/>
                    </a:lnTo>
                    <a:lnTo>
                      <a:pt x="19" y="316"/>
                    </a:lnTo>
                    <a:lnTo>
                      <a:pt x="22" y="314"/>
                    </a:lnTo>
                    <a:lnTo>
                      <a:pt x="22" y="309"/>
                    </a:lnTo>
                    <a:lnTo>
                      <a:pt x="22" y="305"/>
                    </a:lnTo>
                    <a:lnTo>
                      <a:pt x="25" y="302"/>
                    </a:lnTo>
                    <a:lnTo>
                      <a:pt x="25" y="297"/>
                    </a:lnTo>
                    <a:lnTo>
                      <a:pt x="25" y="293"/>
                    </a:lnTo>
                    <a:lnTo>
                      <a:pt x="25" y="290"/>
                    </a:lnTo>
                    <a:lnTo>
                      <a:pt x="29" y="285"/>
                    </a:lnTo>
                    <a:lnTo>
                      <a:pt x="29" y="281"/>
                    </a:lnTo>
                    <a:lnTo>
                      <a:pt x="29" y="278"/>
                    </a:lnTo>
                    <a:lnTo>
                      <a:pt x="32" y="274"/>
                    </a:lnTo>
                    <a:lnTo>
                      <a:pt x="32" y="271"/>
                    </a:lnTo>
                    <a:lnTo>
                      <a:pt x="32" y="266"/>
                    </a:lnTo>
                    <a:lnTo>
                      <a:pt x="32" y="262"/>
                    </a:lnTo>
                    <a:lnTo>
                      <a:pt x="35" y="259"/>
                    </a:lnTo>
                    <a:lnTo>
                      <a:pt x="35" y="255"/>
                    </a:lnTo>
                    <a:lnTo>
                      <a:pt x="35" y="252"/>
                    </a:lnTo>
                    <a:lnTo>
                      <a:pt x="38" y="247"/>
                    </a:lnTo>
                    <a:lnTo>
                      <a:pt x="38" y="245"/>
                    </a:lnTo>
                    <a:lnTo>
                      <a:pt x="38" y="240"/>
                    </a:lnTo>
                    <a:lnTo>
                      <a:pt x="38" y="235"/>
                    </a:lnTo>
                    <a:lnTo>
                      <a:pt x="41" y="233"/>
                    </a:lnTo>
                    <a:lnTo>
                      <a:pt x="41" y="228"/>
                    </a:lnTo>
                    <a:lnTo>
                      <a:pt x="41" y="226"/>
                    </a:lnTo>
                    <a:lnTo>
                      <a:pt x="44" y="221"/>
                    </a:lnTo>
                    <a:lnTo>
                      <a:pt x="44" y="219"/>
                    </a:lnTo>
                    <a:lnTo>
                      <a:pt x="44" y="214"/>
                    </a:lnTo>
                    <a:lnTo>
                      <a:pt x="44" y="212"/>
                    </a:lnTo>
                    <a:lnTo>
                      <a:pt x="48" y="207"/>
                    </a:lnTo>
                    <a:lnTo>
                      <a:pt x="48" y="205"/>
                    </a:lnTo>
                    <a:lnTo>
                      <a:pt x="48" y="200"/>
                    </a:lnTo>
                    <a:lnTo>
                      <a:pt x="51" y="197"/>
                    </a:lnTo>
                    <a:lnTo>
                      <a:pt x="51" y="193"/>
                    </a:lnTo>
                    <a:lnTo>
                      <a:pt x="51" y="190"/>
                    </a:lnTo>
                    <a:lnTo>
                      <a:pt x="51" y="185"/>
                    </a:lnTo>
                    <a:lnTo>
                      <a:pt x="54" y="183"/>
                    </a:lnTo>
                    <a:lnTo>
                      <a:pt x="54" y="181"/>
                    </a:lnTo>
                    <a:lnTo>
                      <a:pt x="54" y="176"/>
                    </a:lnTo>
                    <a:lnTo>
                      <a:pt x="57" y="174"/>
                    </a:lnTo>
                    <a:lnTo>
                      <a:pt x="57" y="169"/>
                    </a:lnTo>
                    <a:lnTo>
                      <a:pt x="57" y="166"/>
                    </a:lnTo>
                    <a:lnTo>
                      <a:pt x="57" y="164"/>
                    </a:lnTo>
                    <a:lnTo>
                      <a:pt x="60" y="159"/>
                    </a:lnTo>
                    <a:lnTo>
                      <a:pt x="60" y="157"/>
                    </a:lnTo>
                    <a:lnTo>
                      <a:pt x="60" y="155"/>
                    </a:lnTo>
                    <a:lnTo>
                      <a:pt x="63" y="150"/>
                    </a:lnTo>
                    <a:lnTo>
                      <a:pt x="63" y="147"/>
                    </a:lnTo>
                    <a:lnTo>
                      <a:pt x="63" y="145"/>
                    </a:lnTo>
                    <a:lnTo>
                      <a:pt x="63" y="140"/>
                    </a:lnTo>
                    <a:lnTo>
                      <a:pt x="66" y="138"/>
                    </a:lnTo>
                    <a:lnTo>
                      <a:pt x="66" y="136"/>
                    </a:lnTo>
                    <a:lnTo>
                      <a:pt x="66" y="133"/>
                    </a:lnTo>
                    <a:lnTo>
                      <a:pt x="70" y="128"/>
                    </a:lnTo>
                    <a:lnTo>
                      <a:pt x="70" y="126"/>
                    </a:lnTo>
                    <a:lnTo>
                      <a:pt x="70" y="124"/>
                    </a:lnTo>
                    <a:lnTo>
                      <a:pt x="73" y="121"/>
                    </a:lnTo>
                    <a:lnTo>
                      <a:pt x="73" y="116"/>
                    </a:lnTo>
                    <a:lnTo>
                      <a:pt x="73" y="114"/>
                    </a:lnTo>
                    <a:lnTo>
                      <a:pt x="73" y="112"/>
                    </a:lnTo>
                    <a:lnTo>
                      <a:pt x="76" y="109"/>
                    </a:lnTo>
                    <a:lnTo>
                      <a:pt x="76" y="107"/>
                    </a:lnTo>
                    <a:lnTo>
                      <a:pt x="76" y="105"/>
                    </a:lnTo>
                    <a:lnTo>
                      <a:pt x="79" y="100"/>
                    </a:lnTo>
                    <a:lnTo>
                      <a:pt x="79" y="97"/>
                    </a:lnTo>
                    <a:lnTo>
                      <a:pt x="79" y="95"/>
                    </a:lnTo>
                    <a:lnTo>
                      <a:pt x="79" y="93"/>
                    </a:lnTo>
                    <a:lnTo>
                      <a:pt x="82" y="90"/>
                    </a:lnTo>
                    <a:lnTo>
                      <a:pt x="82" y="88"/>
                    </a:lnTo>
                    <a:lnTo>
                      <a:pt x="82" y="86"/>
                    </a:lnTo>
                    <a:lnTo>
                      <a:pt x="85" y="83"/>
                    </a:lnTo>
                    <a:lnTo>
                      <a:pt x="85" y="81"/>
                    </a:lnTo>
                    <a:lnTo>
                      <a:pt x="85" y="78"/>
                    </a:lnTo>
                    <a:lnTo>
                      <a:pt x="85" y="76"/>
                    </a:lnTo>
                    <a:lnTo>
                      <a:pt x="89" y="74"/>
                    </a:lnTo>
                    <a:lnTo>
                      <a:pt x="89" y="71"/>
                    </a:lnTo>
                    <a:lnTo>
                      <a:pt x="89" y="69"/>
                    </a:lnTo>
                    <a:lnTo>
                      <a:pt x="92" y="66"/>
                    </a:lnTo>
                    <a:lnTo>
                      <a:pt x="92" y="64"/>
                    </a:lnTo>
                    <a:lnTo>
                      <a:pt x="92" y="62"/>
                    </a:lnTo>
                    <a:lnTo>
                      <a:pt x="92" y="59"/>
                    </a:lnTo>
                    <a:lnTo>
                      <a:pt x="95" y="57"/>
                    </a:lnTo>
                    <a:lnTo>
                      <a:pt x="95" y="55"/>
                    </a:lnTo>
                    <a:lnTo>
                      <a:pt x="98" y="52"/>
                    </a:lnTo>
                    <a:lnTo>
                      <a:pt x="98" y="50"/>
                    </a:lnTo>
                    <a:lnTo>
                      <a:pt x="98" y="47"/>
                    </a:lnTo>
                    <a:lnTo>
                      <a:pt x="101" y="45"/>
                    </a:lnTo>
                    <a:lnTo>
                      <a:pt x="101" y="43"/>
                    </a:lnTo>
                    <a:lnTo>
                      <a:pt x="101" y="40"/>
                    </a:lnTo>
                    <a:lnTo>
                      <a:pt x="104" y="38"/>
                    </a:lnTo>
                    <a:lnTo>
                      <a:pt x="104" y="36"/>
                    </a:lnTo>
                    <a:lnTo>
                      <a:pt x="108" y="33"/>
                    </a:lnTo>
                    <a:lnTo>
                      <a:pt x="108" y="31"/>
                    </a:lnTo>
                    <a:lnTo>
                      <a:pt x="111" y="28"/>
                    </a:lnTo>
                    <a:lnTo>
                      <a:pt x="111" y="26"/>
                    </a:lnTo>
                    <a:lnTo>
                      <a:pt x="114" y="24"/>
                    </a:lnTo>
                    <a:lnTo>
                      <a:pt x="114" y="21"/>
                    </a:lnTo>
                    <a:lnTo>
                      <a:pt x="117" y="19"/>
                    </a:lnTo>
                    <a:lnTo>
                      <a:pt x="117" y="16"/>
                    </a:lnTo>
                    <a:lnTo>
                      <a:pt x="120" y="14"/>
                    </a:lnTo>
                    <a:lnTo>
                      <a:pt x="123" y="12"/>
                    </a:lnTo>
                    <a:lnTo>
                      <a:pt x="123" y="9"/>
                    </a:lnTo>
                    <a:lnTo>
                      <a:pt x="126" y="7"/>
                    </a:lnTo>
                    <a:lnTo>
                      <a:pt x="130" y="5"/>
                    </a:lnTo>
                    <a:lnTo>
                      <a:pt x="133" y="2"/>
                    </a:lnTo>
                    <a:lnTo>
                      <a:pt x="136" y="0"/>
                    </a:lnTo>
                    <a:lnTo>
                      <a:pt x="139" y="0"/>
                    </a:lnTo>
                    <a:lnTo>
                      <a:pt x="142" y="0"/>
                    </a:lnTo>
                    <a:lnTo>
                      <a:pt x="145" y="0"/>
                    </a:lnTo>
                    <a:lnTo>
                      <a:pt x="149" y="0"/>
                    </a:lnTo>
                    <a:lnTo>
                      <a:pt x="152" y="2"/>
                    </a:lnTo>
                    <a:lnTo>
                      <a:pt x="155" y="5"/>
                    </a:lnTo>
                    <a:lnTo>
                      <a:pt x="158" y="5"/>
                    </a:lnTo>
                    <a:lnTo>
                      <a:pt x="161" y="7"/>
                    </a:lnTo>
                    <a:lnTo>
                      <a:pt x="164" y="9"/>
                    </a:lnTo>
                    <a:lnTo>
                      <a:pt x="167" y="12"/>
                    </a:lnTo>
                    <a:lnTo>
                      <a:pt x="167" y="14"/>
                    </a:lnTo>
                    <a:lnTo>
                      <a:pt x="171" y="16"/>
                    </a:lnTo>
                    <a:lnTo>
                      <a:pt x="171" y="19"/>
                    </a:lnTo>
                    <a:lnTo>
                      <a:pt x="174" y="21"/>
                    </a:lnTo>
                    <a:lnTo>
                      <a:pt x="174" y="24"/>
                    </a:lnTo>
                    <a:lnTo>
                      <a:pt x="177" y="26"/>
                    </a:lnTo>
                    <a:lnTo>
                      <a:pt x="177" y="28"/>
                    </a:lnTo>
                    <a:lnTo>
                      <a:pt x="180" y="31"/>
                    </a:lnTo>
                    <a:lnTo>
                      <a:pt x="180" y="33"/>
                    </a:lnTo>
                    <a:lnTo>
                      <a:pt x="183" y="36"/>
                    </a:lnTo>
                    <a:lnTo>
                      <a:pt x="183" y="38"/>
                    </a:lnTo>
                    <a:lnTo>
                      <a:pt x="183" y="40"/>
                    </a:lnTo>
                    <a:lnTo>
                      <a:pt x="186" y="43"/>
                    </a:lnTo>
                    <a:lnTo>
                      <a:pt x="186" y="45"/>
                    </a:lnTo>
                    <a:lnTo>
                      <a:pt x="186" y="47"/>
                    </a:lnTo>
                    <a:lnTo>
                      <a:pt x="190" y="50"/>
                    </a:lnTo>
                    <a:lnTo>
                      <a:pt x="190" y="52"/>
                    </a:lnTo>
                    <a:lnTo>
                      <a:pt x="193" y="55"/>
                    </a:lnTo>
                    <a:lnTo>
                      <a:pt x="193" y="57"/>
                    </a:lnTo>
                    <a:lnTo>
                      <a:pt x="193" y="59"/>
                    </a:lnTo>
                    <a:lnTo>
                      <a:pt x="193" y="62"/>
                    </a:lnTo>
                    <a:lnTo>
                      <a:pt x="196" y="64"/>
                    </a:lnTo>
                    <a:lnTo>
                      <a:pt x="196" y="66"/>
                    </a:lnTo>
                    <a:lnTo>
                      <a:pt x="196" y="69"/>
                    </a:lnTo>
                    <a:lnTo>
                      <a:pt x="199" y="71"/>
                    </a:lnTo>
                    <a:lnTo>
                      <a:pt x="199" y="74"/>
                    </a:lnTo>
                    <a:lnTo>
                      <a:pt x="199" y="76"/>
                    </a:lnTo>
                    <a:lnTo>
                      <a:pt x="202" y="78"/>
                    </a:lnTo>
                    <a:lnTo>
                      <a:pt x="202" y="81"/>
                    </a:lnTo>
                    <a:lnTo>
                      <a:pt x="202" y="83"/>
                    </a:lnTo>
                    <a:lnTo>
                      <a:pt x="202" y="86"/>
                    </a:lnTo>
                    <a:lnTo>
                      <a:pt x="205" y="88"/>
                    </a:lnTo>
                    <a:lnTo>
                      <a:pt x="205" y="90"/>
                    </a:lnTo>
                    <a:lnTo>
                      <a:pt x="205" y="93"/>
                    </a:lnTo>
                    <a:lnTo>
                      <a:pt x="209" y="95"/>
                    </a:lnTo>
                    <a:lnTo>
                      <a:pt x="209" y="97"/>
                    </a:lnTo>
                    <a:lnTo>
                      <a:pt x="209" y="100"/>
                    </a:lnTo>
                    <a:lnTo>
                      <a:pt x="209" y="102"/>
                    </a:lnTo>
                    <a:lnTo>
                      <a:pt x="212" y="105"/>
                    </a:lnTo>
                    <a:lnTo>
                      <a:pt x="212" y="109"/>
                    </a:lnTo>
                    <a:lnTo>
                      <a:pt x="212" y="112"/>
                    </a:lnTo>
                    <a:lnTo>
                      <a:pt x="215" y="114"/>
                    </a:lnTo>
                    <a:lnTo>
                      <a:pt x="215" y="116"/>
                    </a:lnTo>
                    <a:lnTo>
                      <a:pt x="215" y="119"/>
                    </a:lnTo>
                    <a:lnTo>
                      <a:pt x="215" y="124"/>
                    </a:lnTo>
                    <a:lnTo>
                      <a:pt x="218" y="126"/>
                    </a:lnTo>
                    <a:lnTo>
                      <a:pt x="218" y="128"/>
                    </a:lnTo>
                    <a:lnTo>
                      <a:pt x="218" y="131"/>
                    </a:lnTo>
                    <a:lnTo>
                      <a:pt x="221" y="136"/>
                    </a:lnTo>
                    <a:lnTo>
                      <a:pt x="221" y="138"/>
                    </a:lnTo>
                    <a:lnTo>
                      <a:pt x="221" y="140"/>
                    </a:lnTo>
                    <a:lnTo>
                      <a:pt x="221" y="143"/>
                    </a:lnTo>
                    <a:lnTo>
                      <a:pt x="224" y="147"/>
                    </a:lnTo>
                    <a:lnTo>
                      <a:pt x="224" y="150"/>
                    </a:lnTo>
                    <a:lnTo>
                      <a:pt x="224" y="152"/>
                    </a:lnTo>
                    <a:lnTo>
                      <a:pt x="227" y="157"/>
                    </a:lnTo>
                    <a:lnTo>
                      <a:pt x="227" y="159"/>
                    </a:lnTo>
                    <a:lnTo>
                      <a:pt x="227" y="162"/>
                    </a:lnTo>
                    <a:lnTo>
                      <a:pt x="227" y="166"/>
                    </a:lnTo>
                    <a:lnTo>
                      <a:pt x="231" y="169"/>
                    </a:lnTo>
                    <a:lnTo>
                      <a:pt x="231" y="174"/>
                    </a:lnTo>
                    <a:lnTo>
                      <a:pt x="231" y="176"/>
                    </a:lnTo>
                    <a:lnTo>
                      <a:pt x="234" y="178"/>
                    </a:lnTo>
                    <a:lnTo>
                      <a:pt x="234" y="183"/>
                    </a:lnTo>
                    <a:lnTo>
                      <a:pt x="234" y="185"/>
                    </a:lnTo>
                    <a:lnTo>
                      <a:pt x="234" y="190"/>
                    </a:lnTo>
                    <a:lnTo>
                      <a:pt x="237" y="193"/>
                    </a:lnTo>
                    <a:lnTo>
                      <a:pt x="237" y="197"/>
                    </a:lnTo>
                    <a:lnTo>
                      <a:pt x="237" y="200"/>
                    </a:lnTo>
                    <a:lnTo>
                      <a:pt x="240" y="205"/>
                    </a:lnTo>
                    <a:lnTo>
                      <a:pt x="240" y="207"/>
                    </a:lnTo>
                    <a:lnTo>
                      <a:pt x="240" y="212"/>
                    </a:lnTo>
                    <a:lnTo>
                      <a:pt x="240" y="214"/>
                    </a:lnTo>
                    <a:lnTo>
                      <a:pt x="243" y="219"/>
                    </a:lnTo>
                    <a:lnTo>
                      <a:pt x="243" y="221"/>
                    </a:lnTo>
                    <a:lnTo>
                      <a:pt x="243" y="226"/>
                    </a:lnTo>
                    <a:lnTo>
                      <a:pt x="246" y="228"/>
                    </a:lnTo>
                    <a:lnTo>
                      <a:pt x="246" y="233"/>
                    </a:lnTo>
                    <a:lnTo>
                      <a:pt x="246" y="235"/>
                    </a:lnTo>
                    <a:lnTo>
                      <a:pt x="250" y="240"/>
                    </a:lnTo>
                    <a:lnTo>
                      <a:pt x="250" y="243"/>
                    </a:lnTo>
                    <a:lnTo>
                      <a:pt x="250" y="247"/>
                    </a:lnTo>
                    <a:lnTo>
                      <a:pt x="250" y="250"/>
                    </a:lnTo>
                    <a:lnTo>
                      <a:pt x="253" y="255"/>
                    </a:lnTo>
                    <a:lnTo>
                      <a:pt x="253" y="259"/>
                    </a:lnTo>
                    <a:lnTo>
                      <a:pt x="253" y="262"/>
                    </a:lnTo>
                    <a:lnTo>
                      <a:pt x="256" y="266"/>
                    </a:lnTo>
                    <a:lnTo>
                      <a:pt x="256" y="269"/>
                    </a:lnTo>
                    <a:lnTo>
                      <a:pt x="256" y="274"/>
                    </a:lnTo>
                    <a:lnTo>
                      <a:pt x="256" y="278"/>
                    </a:lnTo>
                    <a:lnTo>
                      <a:pt x="259" y="281"/>
                    </a:lnTo>
                    <a:lnTo>
                      <a:pt x="259" y="285"/>
                    </a:lnTo>
                    <a:lnTo>
                      <a:pt x="259" y="288"/>
                    </a:lnTo>
                    <a:lnTo>
                      <a:pt x="262" y="293"/>
                    </a:lnTo>
                    <a:lnTo>
                      <a:pt x="262" y="297"/>
                    </a:lnTo>
                    <a:lnTo>
                      <a:pt x="262" y="300"/>
                    </a:lnTo>
                    <a:lnTo>
                      <a:pt x="262" y="305"/>
                    </a:lnTo>
                    <a:lnTo>
                      <a:pt x="265" y="309"/>
                    </a:lnTo>
                    <a:lnTo>
                      <a:pt x="265" y="312"/>
                    </a:lnTo>
                    <a:lnTo>
                      <a:pt x="265" y="316"/>
                    </a:lnTo>
                    <a:lnTo>
                      <a:pt x="268" y="321"/>
                    </a:lnTo>
                    <a:lnTo>
                      <a:pt x="268" y="324"/>
                    </a:lnTo>
                    <a:lnTo>
                      <a:pt x="268" y="328"/>
                    </a:lnTo>
                    <a:lnTo>
                      <a:pt x="268" y="333"/>
                    </a:lnTo>
                    <a:lnTo>
                      <a:pt x="272" y="335"/>
                    </a:lnTo>
                    <a:lnTo>
                      <a:pt x="272" y="340"/>
                    </a:lnTo>
                    <a:lnTo>
                      <a:pt x="272" y="345"/>
                    </a:lnTo>
                    <a:lnTo>
                      <a:pt x="275" y="347"/>
                    </a:lnTo>
                    <a:lnTo>
                      <a:pt x="275" y="352"/>
                    </a:lnTo>
                    <a:lnTo>
                      <a:pt x="275" y="357"/>
                    </a:lnTo>
                    <a:lnTo>
                      <a:pt x="275" y="362"/>
                    </a:lnTo>
                    <a:lnTo>
                      <a:pt x="278" y="364"/>
                    </a:lnTo>
                    <a:lnTo>
                      <a:pt x="278" y="369"/>
                    </a:lnTo>
                    <a:lnTo>
                      <a:pt x="278" y="374"/>
                    </a:lnTo>
                    <a:lnTo>
                      <a:pt x="281" y="376"/>
                    </a:lnTo>
                    <a:lnTo>
                      <a:pt x="281" y="381"/>
                    </a:lnTo>
                    <a:lnTo>
                      <a:pt x="281" y="385"/>
                    </a:lnTo>
                    <a:lnTo>
                      <a:pt x="281" y="388"/>
                    </a:lnTo>
                    <a:lnTo>
                      <a:pt x="284" y="393"/>
                    </a:lnTo>
                    <a:lnTo>
                      <a:pt x="284" y="397"/>
                    </a:lnTo>
                    <a:lnTo>
                      <a:pt x="284" y="402"/>
                    </a:lnTo>
                    <a:lnTo>
                      <a:pt x="287" y="405"/>
                    </a:lnTo>
                    <a:lnTo>
                      <a:pt x="287" y="409"/>
                    </a:lnTo>
                    <a:lnTo>
                      <a:pt x="287" y="414"/>
                    </a:lnTo>
                    <a:lnTo>
                      <a:pt x="291" y="416"/>
                    </a:lnTo>
                    <a:lnTo>
                      <a:pt x="291" y="421"/>
                    </a:lnTo>
                    <a:lnTo>
                      <a:pt x="291" y="426"/>
                    </a:lnTo>
                    <a:lnTo>
                      <a:pt x="291" y="428"/>
                    </a:lnTo>
                    <a:lnTo>
                      <a:pt x="294" y="433"/>
                    </a:lnTo>
                    <a:lnTo>
                      <a:pt x="294" y="438"/>
                    </a:lnTo>
                    <a:lnTo>
                      <a:pt x="294" y="443"/>
                    </a:lnTo>
                    <a:lnTo>
                      <a:pt x="297" y="445"/>
                    </a:lnTo>
                    <a:lnTo>
                      <a:pt x="297" y="450"/>
                    </a:lnTo>
                    <a:lnTo>
                      <a:pt x="297" y="455"/>
                    </a:lnTo>
                    <a:lnTo>
                      <a:pt x="297" y="457"/>
                    </a:lnTo>
                    <a:lnTo>
                      <a:pt x="300" y="462"/>
                    </a:lnTo>
                    <a:lnTo>
                      <a:pt x="300" y="466"/>
                    </a:lnTo>
                    <a:lnTo>
                      <a:pt x="300" y="469"/>
                    </a:lnTo>
                    <a:lnTo>
                      <a:pt x="303" y="474"/>
                    </a:lnTo>
                    <a:lnTo>
                      <a:pt x="303" y="478"/>
                    </a:lnTo>
                    <a:lnTo>
                      <a:pt x="303" y="481"/>
                    </a:lnTo>
                    <a:lnTo>
                      <a:pt x="303" y="485"/>
                    </a:lnTo>
                    <a:lnTo>
                      <a:pt x="306" y="490"/>
                    </a:lnTo>
                    <a:lnTo>
                      <a:pt x="306" y="493"/>
                    </a:lnTo>
                    <a:lnTo>
                      <a:pt x="306" y="497"/>
                    </a:lnTo>
                    <a:lnTo>
                      <a:pt x="309" y="502"/>
                    </a:lnTo>
                    <a:lnTo>
                      <a:pt x="309" y="505"/>
                    </a:lnTo>
                    <a:lnTo>
                      <a:pt x="309" y="509"/>
                    </a:lnTo>
                    <a:lnTo>
                      <a:pt x="309" y="514"/>
                    </a:lnTo>
                    <a:lnTo>
                      <a:pt x="313" y="516"/>
                    </a:lnTo>
                    <a:lnTo>
                      <a:pt x="313" y="521"/>
                    </a:lnTo>
                    <a:lnTo>
                      <a:pt x="313" y="526"/>
                    </a:lnTo>
                    <a:lnTo>
                      <a:pt x="316" y="528"/>
                    </a:lnTo>
                    <a:lnTo>
                      <a:pt x="316" y="533"/>
                    </a:lnTo>
                    <a:lnTo>
                      <a:pt x="316" y="535"/>
                    </a:lnTo>
                    <a:lnTo>
                      <a:pt x="316" y="540"/>
                    </a:lnTo>
                    <a:lnTo>
                      <a:pt x="319" y="545"/>
                    </a:lnTo>
                    <a:lnTo>
                      <a:pt x="319" y="547"/>
                    </a:lnTo>
                    <a:lnTo>
                      <a:pt x="319" y="552"/>
                    </a:lnTo>
                    <a:lnTo>
                      <a:pt x="322" y="555"/>
                    </a:lnTo>
                    <a:lnTo>
                      <a:pt x="322" y="559"/>
                    </a:lnTo>
                    <a:lnTo>
                      <a:pt x="322" y="564"/>
                    </a:lnTo>
                    <a:lnTo>
                      <a:pt x="322" y="566"/>
                    </a:lnTo>
                    <a:lnTo>
                      <a:pt x="325" y="571"/>
                    </a:lnTo>
                    <a:lnTo>
                      <a:pt x="325" y="574"/>
                    </a:lnTo>
                    <a:lnTo>
                      <a:pt x="325" y="578"/>
                    </a:lnTo>
                    <a:lnTo>
                      <a:pt x="328" y="581"/>
                    </a:lnTo>
                    <a:lnTo>
                      <a:pt x="328" y="585"/>
                    </a:lnTo>
                    <a:lnTo>
                      <a:pt x="328" y="588"/>
                    </a:lnTo>
                    <a:lnTo>
                      <a:pt x="328" y="593"/>
                    </a:lnTo>
                    <a:lnTo>
                      <a:pt x="332" y="597"/>
                    </a:lnTo>
                    <a:lnTo>
                      <a:pt x="332" y="600"/>
                    </a:lnTo>
                    <a:lnTo>
                      <a:pt x="332" y="602"/>
                    </a:lnTo>
                    <a:lnTo>
                      <a:pt x="335" y="607"/>
                    </a:lnTo>
                    <a:lnTo>
                      <a:pt x="335" y="609"/>
                    </a:lnTo>
                    <a:lnTo>
                      <a:pt x="335" y="614"/>
                    </a:lnTo>
                    <a:lnTo>
                      <a:pt x="338" y="616"/>
                    </a:lnTo>
                    <a:lnTo>
                      <a:pt x="338" y="621"/>
                    </a:lnTo>
                    <a:lnTo>
                      <a:pt x="338" y="624"/>
                    </a:lnTo>
                    <a:lnTo>
                      <a:pt x="338" y="628"/>
                    </a:lnTo>
                    <a:lnTo>
                      <a:pt x="341" y="631"/>
                    </a:lnTo>
                    <a:lnTo>
                      <a:pt x="341" y="635"/>
                    </a:lnTo>
                    <a:lnTo>
                      <a:pt x="341" y="638"/>
                    </a:lnTo>
                    <a:lnTo>
                      <a:pt x="344" y="640"/>
                    </a:lnTo>
                    <a:lnTo>
                      <a:pt x="344" y="645"/>
                    </a:lnTo>
                    <a:lnTo>
                      <a:pt x="344" y="647"/>
                    </a:lnTo>
                    <a:lnTo>
                      <a:pt x="344" y="650"/>
                    </a:lnTo>
                    <a:lnTo>
                      <a:pt x="347" y="655"/>
                    </a:lnTo>
                    <a:lnTo>
                      <a:pt x="347" y="657"/>
                    </a:lnTo>
                    <a:lnTo>
                      <a:pt x="347" y="659"/>
                    </a:lnTo>
                    <a:lnTo>
                      <a:pt x="351" y="664"/>
                    </a:lnTo>
                    <a:lnTo>
                      <a:pt x="351" y="666"/>
                    </a:lnTo>
                    <a:lnTo>
                      <a:pt x="351" y="669"/>
                    </a:lnTo>
                    <a:lnTo>
                      <a:pt x="351" y="674"/>
                    </a:lnTo>
                    <a:lnTo>
                      <a:pt x="354" y="676"/>
                    </a:lnTo>
                    <a:lnTo>
                      <a:pt x="354" y="678"/>
                    </a:lnTo>
                    <a:lnTo>
                      <a:pt x="354" y="683"/>
                    </a:lnTo>
                    <a:lnTo>
                      <a:pt x="357" y="685"/>
                    </a:lnTo>
                    <a:lnTo>
                      <a:pt x="357" y="688"/>
                    </a:lnTo>
                    <a:lnTo>
                      <a:pt x="357" y="690"/>
                    </a:lnTo>
                    <a:lnTo>
                      <a:pt x="357" y="693"/>
                    </a:lnTo>
                    <a:lnTo>
                      <a:pt x="360" y="697"/>
                    </a:lnTo>
                    <a:lnTo>
                      <a:pt x="360" y="700"/>
                    </a:lnTo>
                    <a:lnTo>
                      <a:pt x="360" y="702"/>
                    </a:lnTo>
                    <a:lnTo>
                      <a:pt x="363" y="704"/>
                    </a:lnTo>
                    <a:lnTo>
                      <a:pt x="363" y="707"/>
                    </a:lnTo>
                    <a:lnTo>
                      <a:pt x="363" y="709"/>
                    </a:lnTo>
                    <a:lnTo>
                      <a:pt x="363" y="714"/>
                    </a:lnTo>
                    <a:lnTo>
                      <a:pt x="366" y="716"/>
                    </a:lnTo>
                    <a:lnTo>
                      <a:pt x="366" y="719"/>
                    </a:lnTo>
                    <a:lnTo>
                      <a:pt x="366" y="721"/>
                    </a:lnTo>
                    <a:lnTo>
                      <a:pt x="369" y="724"/>
                    </a:lnTo>
                    <a:lnTo>
                      <a:pt x="369" y="726"/>
                    </a:lnTo>
                    <a:lnTo>
                      <a:pt x="369" y="728"/>
                    </a:lnTo>
                    <a:lnTo>
                      <a:pt x="369" y="731"/>
                    </a:lnTo>
                    <a:lnTo>
                      <a:pt x="373" y="733"/>
                    </a:lnTo>
                    <a:lnTo>
                      <a:pt x="373" y="735"/>
                    </a:lnTo>
                    <a:lnTo>
                      <a:pt x="373" y="738"/>
                    </a:lnTo>
                    <a:lnTo>
                      <a:pt x="376" y="740"/>
                    </a:lnTo>
                    <a:lnTo>
                      <a:pt x="376" y="743"/>
                    </a:lnTo>
                    <a:lnTo>
                      <a:pt x="376" y="745"/>
                    </a:lnTo>
                    <a:lnTo>
                      <a:pt x="379" y="747"/>
                    </a:lnTo>
                    <a:lnTo>
                      <a:pt x="379" y="750"/>
                    </a:lnTo>
                    <a:lnTo>
                      <a:pt x="379" y="752"/>
                    </a:lnTo>
                    <a:lnTo>
                      <a:pt x="382" y="754"/>
                    </a:lnTo>
                    <a:lnTo>
                      <a:pt x="382" y="757"/>
                    </a:lnTo>
                    <a:lnTo>
                      <a:pt x="382" y="759"/>
                    </a:lnTo>
                    <a:lnTo>
                      <a:pt x="385" y="762"/>
                    </a:lnTo>
                    <a:lnTo>
                      <a:pt x="385" y="764"/>
                    </a:lnTo>
                    <a:lnTo>
                      <a:pt x="385" y="766"/>
                    </a:lnTo>
                    <a:lnTo>
                      <a:pt x="388" y="769"/>
                    </a:lnTo>
                    <a:lnTo>
                      <a:pt x="388" y="771"/>
                    </a:lnTo>
                    <a:lnTo>
                      <a:pt x="392" y="774"/>
                    </a:lnTo>
                    <a:lnTo>
                      <a:pt x="392" y="776"/>
                    </a:lnTo>
                    <a:lnTo>
                      <a:pt x="392" y="778"/>
                    </a:lnTo>
                    <a:lnTo>
                      <a:pt x="395" y="781"/>
                    </a:lnTo>
                    <a:lnTo>
                      <a:pt x="395" y="783"/>
                    </a:lnTo>
                    <a:lnTo>
                      <a:pt x="398" y="785"/>
                    </a:lnTo>
                    <a:lnTo>
                      <a:pt x="398" y="788"/>
                    </a:lnTo>
                    <a:lnTo>
                      <a:pt x="401" y="790"/>
                    </a:lnTo>
                    <a:lnTo>
                      <a:pt x="401" y="793"/>
                    </a:lnTo>
                    <a:lnTo>
                      <a:pt x="404" y="795"/>
                    </a:lnTo>
                    <a:lnTo>
                      <a:pt x="404" y="797"/>
                    </a:lnTo>
                    <a:lnTo>
                      <a:pt x="407" y="800"/>
                    </a:lnTo>
                    <a:lnTo>
                      <a:pt x="410" y="802"/>
                    </a:lnTo>
                    <a:lnTo>
                      <a:pt x="414" y="804"/>
                    </a:lnTo>
                    <a:lnTo>
                      <a:pt x="417" y="807"/>
                    </a:lnTo>
                    <a:lnTo>
                      <a:pt x="420" y="809"/>
                    </a:lnTo>
                    <a:lnTo>
                      <a:pt x="423" y="812"/>
                    </a:lnTo>
                    <a:lnTo>
                      <a:pt x="426" y="812"/>
                    </a:lnTo>
                    <a:lnTo>
                      <a:pt x="429" y="812"/>
                    </a:lnTo>
                    <a:lnTo>
                      <a:pt x="433" y="812"/>
                    </a:lnTo>
                    <a:lnTo>
                      <a:pt x="436" y="809"/>
                    </a:lnTo>
                    <a:lnTo>
                      <a:pt x="439" y="809"/>
                    </a:lnTo>
                    <a:lnTo>
                      <a:pt x="442" y="807"/>
                    </a:lnTo>
                    <a:lnTo>
                      <a:pt x="445" y="804"/>
                    </a:lnTo>
                    <a:lnTo>
                      <a:pt x="448" y="802"/>
                    </a:lnTo>
                    <a:lnTo>
                      <a:pt x="451" y="800"/>
                    </a:lnTo>
                    <a:lnTo>
                      <a:pt x="455" y="797"/>
                    </a:lnTo>
                    <a:lnTo>
                      <a:pt x="458" y="795"/>
                    </a:lnTo>
                    <a:lnTo>
                      <a:pt x="458" y="793"/>
                    </a:lnTo>
                    <a:lnTo>
                      <a:pt x="458" y="790"/>
                    </a:lnTo>
                    <a:lnTo>
                      <a:pt x="461" y="788"/>
                    </a:lnTo>
                    <a:lnTo>
                      <a:pt x="464" y="785"/>
                    </a:lnTo>
                    <a:lnTo>
                      <a:pt x="464" y="783"/>
                    </a:lnTo>
                    <a:lnTo>
                      <a:pt x="467" y="781"/>
                    </a:lnTo>
                    <a:lnTo>
                      <a:pt x="467" y="778"/>
                    </a:lnTo>
                    <a:lnTo>
                      <a:pt x="467" y="776"/>
                    </a:lnTo>
                    <a:lnTo>
                      <a:pt x="470" y="774"/>
                    </a:lnTo>
                    <a:lnTo>
                      <a:pt x="470" y="771"/>
                    </a:lnTo>
                    <a:lnTo>
                      <a:pt x="474" y="769"/>
                    </a:lnTo>
                    <a:lnTo>
                      <a:pt x="474" y="766"/>
                    </a:lnTo>
                    <a:lnTo>
                      <a:pt x="474" y="764"/>
                    </a:lnTo>
                    <a:lnTo>
                      <a:pt x="477" y="762"/>
                    </a:lnTo>
                    <a:lnTo>
                      <a:pt x="477" y="759"/>
                    </a:lnTo>
                    <a:lnTo>
                      <a:pt x="477" y="757"/>
                    </a:lnTo>
                    <a:lnTo>
                      <a:pt x="480" y="754"/>
                    </a:lnTo>
                    <a:lnTo>
                      <a:pt x="480" y="752"/>
                    </a:lnTo>
                    <a:lnTo>
                      <a:pt x="480" y="750"/>
                    </a:lnTo>
                    <a:lnTo>
                      <a:pt x="480" y="747"/>
                    </a:lnTo>
                    <a:lnTo>
                      <a:pt x="483" y="745"/>
                    </a:lnTo>
                    <a:lnTo>
                      <a:pt x="483" y="743"/>
                    </a:lnTo>
                    <a:lnTo>
                      <a:pt x="483" y="740"/>
                    </a:lnTo>
                    <a:lnTo>
                      <a:pt x="486" y="738"/>
                    </a:lnTo>
                    <a:lnTo>
                      <a:pt x="486" y="735"/>
                    </a:lnTo>
                    <a:lnTo>
                      <a:pt x="486" y="733"/>
                    </a:lnTo>
                    <a:lnTo>
                      <a:pt x="489" y="728"/>
                    </a:lnTo>
                    <a:lnTo>
                      <a:pt x="489" y="726"/>
                    </a:lnTo>
                    <a:lnTo>
                      <a:pt x="489" y="724"/>
                    </a:lnTo>
                    <a:lnTo>
                      <a:pt x="493" y="721"/>
                    </a:lnTo>
                    <a:lnTo>
                      <a:pt x="493" y="719"/>
                    </a:lnTo>
                    <a:lnTo>
                      <a:pt x="493" y="716"/>
                    </a:lnTo>
                    <a:lnTo>
                      <a:pt x="493" y="714"/>
                    </a:lnTo>
                    <a:lnTo>
                      <a:pt x="496" y="712"/>
                    </a:lnTo>
                    <a:lnTo>
                      <a:pt x="496" y="709"/>
                    </a:lnTo>
                    <a:lnTo>
                      <a:pt x="496" y="707"/>
                    </a:lnTo>
                    <a:lnTo>
                      <a:pt x="499" y="704"/>
                    </a:lnTo>
                    <a:lnTo>
                      <a:pt x="499" y="700"/>
                    </a:lnTo>
                    <a:lnTo>
                      <a:pt x="499" y="697"/>
                    </a:lnTo>
                    <a:lnTo>
                      <a:pt x="499" y="695"/>
                    </a:lnTo>
                    <a:lnTo>
                      <a:pt x="502" y="693"/>
                    </a:lnTo>
                    <a:lnTo>
                      <a:pt x="502" y="690"/>
                    </a:lnTo>
                    <a:lnTo>
                      <a:pt x="502" y="685"/>
                    </a:lnTo>
                    <a:lnTo>
                      <a:pt x="505" y="683"/>
                    </a:lnTo>
                    <a:lnTo>
                      <a:pt x="505" y="681"/>
                    </a:lnTo>
                    <a:lnTo>
                      <a:pt x="505" y="678"/>
                    </a:lnTo>
                    <a:lnTo>
                      <a:pt x="505" y="674"/>
                    </a:lnTo>
                    <a:lnTo>
                      <a:pt x="508" y="671"/>
                    </a:lnTo>
                    <a:lnTo>
                      <a:pt x="508" y="669"/>
                    </a:lnTo>
                    <a:lnTo>
                      <a:pt x="508" y="664"/>
                    </a:lnTo>
                    <a:lnTo>
                      <a:pt x="511" y="662"/>
                    </a:lnTo>
                    <a:lnTo>
                      <a:pt x="511" y="659"/>
                    </a:lnTo>
                    <a:lnTo>
                      <a:pt x="511" y="655"/>
                    </a:lnTo>
                    <a:lnTo>
                      <a:pt x="515" y="652"/>
                    </a:lnTo>
                    <a:lnTo>
                      <a:pt x="515" y="650"/>
                    </a:lnTo>
                    <a:lnTo>
                      <a:pt x="515" y="645"/>
                    </a:lnTo>
                    <a:lnTo>
                      <a:pt x="515" y="643"/>
                    </a:lnTo>
                    <a:lnTo>
                      <a:pt x="518" y="640"/>
                    </a:lnTo>
                    <a:lnTo>
                      <a:pt x="518" y="635"/>
                    </a:lnTo>
                    <a:lnTo>
                      <a:pt x="518" y="633"/>
                    </a:lnTo>
                    <a:lnTo>
                      <a:pt x="521" y="628"/>
                    </a:lnTo>
                    <a:lnTo>
                      <a:pt x="521" y="626"/>
                    </a:lnTo>
                    <a:lnTo>
                      <a:pt x="521" y="624"/>
                    </a:lnTo>
                    <a:lnTo>
                      <a:pt x="521" y="619"/>
                    </a:lnTo>
                    <a:lnTo>
                      <a:pt x="524" y="616"/>
                    </a:lnTo>
                    <a:lnTo>
                      <a:pt x="524" y="612"/>
                    </a:lnTo>
                    <a:lnTo>
                      <a:pt x="524" y="609"/>
                    </a:lnTo>
                    <a:lnTo>
                      <a:pt x="527" y="605"/>
                    </a:lnTo>
                    <a:lnTo>
                      <a:pt x="527" y="602"/>
                    </a:lnTo>
                    <a:lnTo>
                      <a:pt x="527" y="597"/>
                    </a:lnTo>
                    <a:lnTo>
                      <a:pt x="527" y="595"/>
                    </a:lnTo>
                    <a:lnTo>
                      <a:pt x="530" y="590"/>
                    </a:lnTo>
                    <a:lnTo>
                      <a:pt x="530" y="588"/>
                    </a:lnTo>
                    <a:lnTo>
                      <a:pt x="530" y="583"/>
                    </a:lnTo>
                    <a:lnTo>
                      <a:pt x="534" y="581"/>
                    </a:lnTo>
                    <a:lnTo>
                      <a:pt x="534" y="576"/>
                    </a:lnTo>
                    <a:lnTo>
                      <a:pt x="534" y="574"/>
                    </a:lnTo>
                    <a:lnTo>
                      <a:pt x="534" y="569"/>
                    </a:lnTo>
                    <a:lnTo>
                      <a:pt x="537" y="564"/>
                    </a:lnTo>
                    <a:lnTo>
                      <a:pt x="537" y="562"/>
                    </a:lnTo>
                    <a:lnTo>
                      <a:pt x="537" y="557"/>
                    </a:lnTo>
                    <a:lnTo>
                      <a:pt x="540" y="555"/>
                    </a:lnTo>
                    <a:lnTo>
                      <a:pt x="540" y="550"/>
                    </a:lnTo>
                    <a:lnTo>
                      <a:pt x="540" y="545"/>
                    </a:lnTo>
                    <a:lnTo>
                      <a:pt x="540" y="543"/>
                    </a:lnTo>
                    <a:lnTo>
                      <a:pt x="543" y="538"/>
                    </a:lnTo>
                    <a:lnTo>
                      <a:pt x="543" y="535"/>
                    </a:lnTo>
                    <a:lnTo>
                      <a:pt x="543" y="531"/>
                    </a:lnTo>
                    <a:lnTo>
                      <a:pt x="546" y="526"/>
                    </a:lnTo>
                    <a:lnTo>
                      <a:pt x="546" y="524"/>
                    </a:lnTo>
                    <a:lnTo>
                      <a:pt x="546" y="519"/>
                    </a:lnTo>
                    <a:lnTo>
                      <a:pt x="546" y="516"/>
                    </a:lnTo>
                    <a:lnTo>
                      <a:pt x="549" y="512"/>
                    </a:lnTo>
                    <a:lnTo>
                      <a:pt x="549" y="507"/>
                    </a:lnTo>
                    <a:lnTo>
                      <a:pt x="549" y="505"/>
                    </a:lnTo>
                    <a:lnTo>
                      <a:pt x="552" y="500"/>
                    </a:lnTo>
                    <a:lnTo>
                      <a:pt x="552" y="495"/>
                    </a:lnTo>
                    <a:lnTo>
                      <a:pt x="552" y="493"/>
                    </a:lnTo>
                    <a:lnTo>
                      <a:pt x="556" y="488"/>
                    </a:lnTo>
                    <a:lnTo>
                      <a:pt x="556" y="483"/>
                    </a:lnTo>
                    <a:lnTo>
                      <a:pt x="556" y="481"/>
                    </a:lnTo>
                    <a:lnTo>
                      <a:pt x="556" y="476"/>
                    </a:lnTo>
                    <a:lnTo>
                      <a:pt x="559" y="471"/>
                    </a:lnTo>
                    <a:lnTo>
                      <a:pt x="559" y="469"/>
                    </a:lnTo>
                    <a:lnTo>
                      <a:pt x="559" y="464"/>
                    </a:lnTo>
                    <a:lnTo>
                      <a:pt x="562" y="459"/>
                    </a:lnTo>
                    <a:lnTo>
                      <a:pt x="562" y="455"/>
                    </a:lnTo>
                    <a:lnTo>
                      <a:pt x="562" y="452"/>
                    </a:lnTo>
                    <a:lnTo>
                      <a:pt x="562" y="447"/>
                    </a:lnTo>
                    <a:lnTo>
                      <a:pt x="565" y="443"/>
                    </a:lnTo>
                    <a:lnTo>
                      <a:pt x="565" y="440"/>
                    </a:lnTo>
                    <a:lnTo>
                      <a:pt x="565" y="435"/>
                    </a:lnTo>
                    <a:lnTo>
                      <a:pt x="568" y="431"/>
                    </a:lnTo>
                    <a:lnTo>
                      <a:pt x="568" y="428"/>
                    </a:lnTo>
                    <a:lnTo>
                      <a:pt x="568" y="424"/>
                    </a:lnTo>
                    <a:lnTo>
                      <a:pt x="568" y="419"/>
                    </a:lnTo>
                    <a:lnTo>
                      <a:pt x="571" y="414"/>
                    </a:lnTo>
                    <a:lnTo>
                      <a:pt x="571" y="412"/>
                    </a:lnTo>
                    <a:lnTo>
                      <a:pt x="571" y="407"/>
                    </a:lnTo>
                    <a:lnTo>
                      <a:pt x="575" y="402"/>
                    </a:lnTo>
                    <a:lnTo>
                      <a:pt x="575" y="400"/>
                    </a:lnTo>
                    <a:lnTo>
                      <a:pt x="575" y="395"/>
                    </a:lnTo>
                    <a:lnTo>
                      <a:pt x="575" y="390"/>
                    </a:lnTo>
                    <a:lnTo>
                      <a:pt x="578" y="388"/>
                    </a:lnTo>
                    <a:lnTo>
                      <a:pt x="578" y="383"/>
                    </a:lnTo>
                    <a:lnTo>
                      <a:pt x="578" y="378"/>
                    </a:lnTo>
                    <a:lnTo>
                      <a:pt x="581" y="374"/>
                    </a:lnTo>
                    <a:lnTo>
                      <a:pt x="581" y="371"/>
                    </a:lnTo>
                    <a:lnTo>
                      <a:pt x="581" y="366"/>
                    </a:lnTo>
                    <a:lnTo>
                      <a:pt x="581" y="362"/>
                    </a:lnTo>
                    <a:lnTo>
                      <a:pt x="584" y="359"/>
                    </a:lnTo>
                    <a:lnTo>
                      <a:pt x="584" y="355"/>
                    </a:lnTo>
                    <a:lnTo>
                      <a:pt x="584" y="350"/>
                    </a:lnTo>
                    <a:lnTo>
                      <a:pt x="587" y="347"/>
                    </a:lnTo>
                    <a:lnTo>
                      <a:pt x="587" y="343"/>
                    </a:lnTo>
                    <a:lnTo>
                      <a:pt x="587" y="338"/>
                    </a:lnTo>
                    <a:lnTo>
                      <a:pt x="587" y="335"/>
                    </a:lnTo>
                    <a:lnTo>
                      <a:pt x="590" y="331"/>
                    </a:lnTo>
                    <a:lnTo>
                      <a:pt x="590" y="326"/>
                    </a:lnTo>
                    <a:lnTo>
                      <a:pt x="590" y="321"/>
                    </a:lnTo>
                    <a:lnTo>
                      <a:pt x="594" y="319"/>
                    </a:lnTo>
                    <a:lnTo>
                      <a:pt x="594" y="314"/>
                    </a:lnTo>
                    <a:lnTo>
                      <a:pt x="594" y="309"/>
                    </a:lnTo>
                    <a:lnTo>
                      <a:pt x="594" y="307"/>
                    </a:lnTo>
                    <a:lnTo>
                      <a:pt x="597" y="302"/>
                    </a:lnTo>
                    <a:lnTo>
                      <a:pt x="597" y="300"/>
                    </a:lnTo>
                    <a:lnTo>
                      <a:pt x="597" y="295"/>
                    </a:lnTo>
                    <a:lnTo>
                      <a:pt x="600" y="290"/>
                    </a:lnTo>
                    <a:lnTo>
                      <a:pt x="600" y="288"/>
                    </a:lnTo>
                    <a:lnTo>
                      <a:pt x="600" y="283"/>
                    </a:lnTo>
                    <a:lnTo>
                      <a:pt x="603" y="278"/>
                    </a:lnTo>
                    <a:lnTo>
                      <a:pt x="603" y="276"/>
                    </a:lnTo>
                    <a:lnTo>
                      <a:pt x="603" y="271"/>
                    </a:lnTo>
                    <a:lnTo>
                      <a:pt x="603" y="269"/>
                    </a:lnTo>
                    <a:lnTo>
                      <a:pt x="606" y="264"/>
                    </a:lnTo>
                    <a:lnTo>
                      <a:pt x="606" y="259"/>
                    </a:lnTo>
                    <a:lnTo>
                      <a:pt x="606" y="257"/>
                    </a:lnTo>
                    <a:lnTo>
                      <a:pt x="609" y="252"/>
                    </a:lnTo>
                    <a:lnTo>
                      <a:pt x="609" y="250"/>
                    </a:lnTo>
                    <a:lnTo>
                      <a:pt x="609" y="245"/>
                    </a:lnTo>
                    <a:lnTo>
                      <a:pt x="609" y="240"/>
                    </a:lnTo>
                    <a:lnTo>
                      <a:pt x="612" y="238"/>
                    </a:lnTo>
                    <a:lnTo>
                      <a:pt x="612" y="233"/>
                    </a:lnTo>
                    <a:lnTo>
                      <a:pt x="612" y="231"/>
                    </a:lnTo>
                    <a:lnTo>
                      <a:pt x="616" y="226"/>
                    </a:lnTo>
                    <a:lnTo>
                      <a:pt x="616" y="224"/>
                    </a:lnTo>
                    <a:lnTo>
                      <a:pt x="616" y="219"/>
                    </a:lnTo>
                    <a:lnTo>
                      <a:pt x="616" y="216"/>
                    </a:lnTo>
                    <a:lnTo>
                      <a:pt x="619" y="212"/>
                    </a:lnTo>
                    <a:lnTo>
                      <a:pt x="619" y="209"/>
                    </a:lnTo>
                    <a:lnTo>
                      <a:pt x="619" y="205"/>
                    </a:lnTo>
                    <a:lnTo>
                      <a:pt x="622" y="202"/>
                    </a:lnTo>
                    <a:lnTo>
                      <a:pt x="622" y="197"/>
                    </a:lnTo>
                    <a:lnTo>
                      <a:pt x="622" y="195"/>
                    </a:lnTo>
                    <a:lnTo>
                      <a:pt x="622" y="190"/>
                    </a:lnTo>
                    <a:lnTo>
                      <a:pt x="625" y="188"/>
                    </a:lnTo>
                    <a:lnTo>
                      <a:pt x="625" y="185"/>
                    </a:lnTo>
                    <a:lnTo>
                      <a:pt x="625" y="181"/>
                    </a:lnTo>
                    <a:lnTo>
                      <a:pt x="628" y="178"/>
                    </a:lnTo>
                    <a:lnTo>
                      <a:pt x="628" y="174"/>
                    </a:lnTo>
                    <a:lnTo>
                      <a:pt x="628" y="171"/>
                    </a:lnTo>
                    <a:lnTo>
                      <a:pt x="628" y="166"/>
                    </a:lnTo>
                    <a:lnTo>
                      <a:pt x="631" y="164"/>
                    </a:lnTo>
                    <a:lnTo>
                      <a:pt x="631" y="162"/>
                    </a:lnTo>
                    <a:lnTo>
                      <a:pt x="631" y="157"/>
                    </a:lnTo>
                    <a:lnTo>
                      <a:pt x="635" y="155"/>
                    </a:lnTo>
                    <a:lnTo>
                      <a:pt x="635" y="152"/>
                    </a:lnTo>
                    <a:lnTo>
                      <a:pt x="635" y="147"/>
                    </a:lnTo>
                    <a:lnTo>
                      <a:pt x="635" y="145"/>
                    </a:lnTo>
                    <a:lnTo>
                      <a:pt x="638" y="143"/>
                    </a:lnTo>
                    <a:lnTo>
                      <a:pt x="638" y="138"/>
                    </a:lnTo>
                    <a:lnTo>
                      <a:pt x="638" y="136"/>
                    </a:lnTo>
                    <a:lnTo>
                      <a:pt x="641" y="133"/>
                    </a:lnTo>
                    <a:lnTo>
                      <a:pt x="641" y="131"/>
                    </a:lnTo>
                    <a:lnTo>
                      <a:pt x="641" y="126"/>
                    </a:lnTo>
                    <a:lnTo>
                      <a:pt x="644" y="124"/>
                    </a:lnTo>
                    <a:lnTo>
                      <a:pt x="644" y="121"/>
                    </a:lnTo>
                    <a:lnTo>
                      <a:pt x="644" y="119"/>
                    </a:lnTo>
                    <a:lnTo>
                      <a:pt x="644" y="116"/>
                    </a:lnTo>
                    <a:lnTo>
                      <a:pt x="647" y="112"/>
                    </a:lnTo>
                    <a:lnTo>
                      <a:pt x="647" y="109"/>
                    </a:lnTo>
                    <a:lnTo>
                      <a:pt x="647" y="107"/>
                    </a:lnTo>
                    <a:lnTo>
                      <a:pt x="650" y="105"/>
                    </a:lnTo>
                    <a:lnTo>
                      <a:pt x="650" y="102"/>
                    </a:lnTo>
                    <a:lnTo>
                      <a:pt x="650" y="100"/>
                    </a:lnTo>
                    <a:lnTo>
                      <a:pt x="650" y="97"/>
                    </a:lnTo>
                    <a:lnTo>
                      <a:pt x="653" y="93"/>
                    </a:lnTo>
                    <a:lnTo>
                      <a:pt x="653" y="90"/>
                    </a:lnTo>
                    <a:lnTo>
                      <a:pt x="653" y="88"/>
                    </a:lnTo>
                    <a:lnTo>
                      <a:pt x="657" y="86"/>
                    </a:lnTo>
                    <a:lnTo>
                      <a:pt x="657" y="83"/>
                    </a:lnTo>
                    <a:lnTo>
                      <a:pt x="657" y="81"/>
                    </a:lnTo>
                    <a:lnTo>
                      <a:pt x="657" y="78"/>
                    </a:lnTo>
                    <a:lnTo>
                      <a:pt x="660" y="76"/>
                    </a:lnTo>
                    <a:lnTo>
                      <a:pt x="660" y="74"/>
                    </a:lnTo>
                    <a:lnTo>
                      <a:pt x="660" y="71"/>
                    </a:lnTo>
                    <a:lnTo>
                      <a:pt x="663" y="69"/>
                    </a:lnTo>
                    <a:lnTo>
                      <a:pt x="663" y="66"/>
                    </a:lnTo>
                    <a:lnTo>
                      <a:pt x="663" y="64"/>
                    </a:lnTo>
                    <a:lnTo>
                      <a:pt x="666" y="62"/>
                    </a:lnTo>
                    <a:lnTo>
                      <a:pt x="666" y="59"/>
                    </a:lnTo>
                    <a:lnTo>
                      <a:pt x="666" y="57"/>
                    </a:lnTo>
                    <a:lnTo>
                      <a:pt x="669" y="55"/>
                    </a:lnTo>
                    <a:lnTo>
                      <a:pt x="669" y="52"/>
                    </a:lnTo>
                    <a:lnTo>
                      <a:pt x="669" y="50"/>
                    </a:lnTo>
                    <a:lnTo>
                      <a:pt x="672" y="47"/>
                    </a:lnTo>
                    <a:lnTo>
                      <a:pt x="672" y="45"/>
                    </a:lnTo>
                    <a:lnTo>
                      <a:pt x="672" y="43"/>
                    </a:lnTo>
                    <a:lnTo>
                      <a:pt x="676" y="40"/>
                    </a:lnTo>
                    <a:lnTo>
                      <a:pt x="676" y="38"/>
                    </a:lnTo>
                    <a:lnTo>
                      <a:pt x="676" y="36"/>
                    </a:lnTo>
                    <a:lnTo>
                      <a:pt x="679" y="33"/>
                    </a:lnTo>
                    <a:lnTo>
                      <a:pt x="679" y="31"/>
                    </a:lnTo>
                    <a:lnTo>
                      <a:pt x="682" y="28"/>
                    </a:lnTo>
                    <a:lnTo>
                      <a:pt x="685" y="26"/>
                    </a:lnTo>
                    <a:lnTo>
                      <a:pt x="685" y="24"/>
                    </a:lnTo>
                    <a:lnTo>
                      <a:pt x="685" y="21"/>
                    </a:lnTo>
                    <a:lnTo>
                      <a:pt x="688" y="19"/>
                    </a:lnTo>
                    <a:lnTo>
                      <a:pt x="691" y="16"/>
                    </a:lnTo>
                    <a:lnTo>
                      <a:pt x="691" y="14"/>
                    </a:lnTo>
                    <a:lnTo>
                      <a:pt x="694" y="12"/>
                    </a:lnTo>
                    <a:lnTo>
                      <a:pt x="698" y="9"/>
                    </a:lnTo>
                    <a:lnTo>
                      <a:pt x="701" y="7"/>
                    </a:lnTo>
                    <a:lnTo>
                      <a:pt x="704" y="5"/>
                    </a:lnTo>
                    <a:lnTo>
                      <a:pt x="707" y="2"/>
                    </a:lnTo>
                    <a:lnTo>
                      <a:pt x="710" y="0"/>
                    </a:lnTo>
                    <a:lnTo>
                      <a:pt x="713" y="0"/>
                    </a:lnTo>
                    <a:lnTo>
                      <a:pt x="717" y="0"/>
                    </a:lnTo>
                    <a:lnTo>
                      <a:pt x="720" y="0"/>
                    </a:lnTo>
                    <a:lnTo>
                      <a:pt x="723" y="2"/>
                    </a:lnTo>
                    <a:lnTo>
                      <a:pt x="726" y="2"/>
                    </a:lnTo>
                    <a:lnTo>
                      <a:pt x="729" y="5"/>
                    </a:lnTo>
                    <a:lnTo>
                      <a:pt x="732" y="7"/>
                    </a:lnTo>
                    <a:lnTo>
                      <a:pt x="736" y="9"/>
                    </a:lnTo>
                    <a:lnTo>
                      <a:pt x="739" y="12"/>
                    </a:lnTo>
                    <a:lnTo>
                      <a:pt x="742" y="14"/>
                    </a:lnTo>
                    <a:lnTo>
                      <a:pt x="742" y="16"/>
                    </a:lnTo>
                    <a:lnTo>
                      <a:pt x="745" y="19"/>
                    </a:lnTo>
                    <a:lnTo>
                      <a:pt x="745" y="21"/>
                    </a:lnTo>
                    <a:lnTo>
                      <a:pt x="748" y="24"/>
                    </a:lnTo>
                    <a:lnTo>
                      <a:pt x="748" y="26"/>
                    </a:lnTo>
                    <a:lnTo>
                      <a:pt x="751" y="28"/>
                    </a:lnTo>
                    <a:lnTo>
                      <a:pt x="751" y="31"/>
                    </a:lnTo>
                    <a:lnTo>
                      <a:pt x="751" y="33"/>
                    </a:lnTo>
                    <a:lnTo>
                      <a:pt x="754" y="36"/>
                    </a:lnTo>
                    <a:lnTo>
                      <a:pt x="754" y="38"/>
                    </a:lnTo>
                    <a:lnTo>
                      <a:pt x="758" y="40"/>
                    </a:lnTo>
                    <a:lnTo>
                      <a:pt x="758" y="43"/>
                    </a:lnTo>
                    <a:lnTo>
                      <a:pt x="758" y="45"/>
                    </a:lnTo>
                    <a:lnTo>
                      <a:pt x="761" y="47"/>
                    </a:lnTo>
                    <a:lnTo>
                      <a:pt x="761" y="50"/>
                    </a:lnTo>
                    <a:lnTo>
                      <a:pt x="764" y="52"/>
                    </a:lnTo>
                    <a:lnTo>
                      <a:pt x="764" y="55"/>
                    </a:lnTo>
                    <a:lnTo>
                      <a:pt x="764" y="57"/>
                    </a:lnTo>
                    <a:lnTo>
                      <a:pt x="764" y="59"/>
                    </a:lnTo>
                    <a:lnTo>
                      <a:pt x="767" y="62"/>
                    </a:lnTo>
                    <a:lnTo>
                      <a:pt x="767" y="64"/>
                    </a:lnTo>
                    <a:lnTo>
                      <a:pt x="770" y="66"/>
                    </a:lnTo>
                    <a:lnTo>
                      <a:pt x="770" y="69"/>
                    </a:lnTo>
                    <a:lnTo>
                      <a:pt x="770" y="71"/>
                    </a:lnTo>
                    <a:lnTo>
                      <a:pt x="773" y="74"/>
                    </a:lnTo>
                    <a:lnTo>
                      <a:pt x="773" y="76"/>
                    </a:lnTo>
                    <a:lnTo>
                      <a:pt x="773" y="78"/>
                    </a:lnTo>
                    <a:lnTo>
                      <a:pt x="773" y="81"/>
                    </a:lnTo>
                    <a:lnTo>
                      <a:pt x="777" y="83"/>
                    </a:lnTo>
                    <a:lnTo>
                      <a:pt x="777" y="86"/>
                    </a:lnTo>
                    <a:lnTo>
                      <a:pt x="777" y="88"/>
                    </a:lnTo>
                    <a:lnTo>
                      <a:pt x="780" y="93"/>
                    </a:lnTo>
                    <a:lnTo>
                      <a:pt x="780" y="95"/>
                    </a:lnTo>
                    <a:lnTo>
                      <a:pt x="780" y="97"/>
                    </a:lnTo>
                    <a:lnTo>
                      <a:pt x="780" y="100"/>
                    </a:lnTo>
                    <a:lnTo>
                      <a:pt x="783" y="102"/>
                    </a:lnTo>
                    <a:lnTo>
                      <a:pt x="783" y="105"/>
                    </a:lnTo>
                    <a:lnTo>
                      <a:pt x="783" y="107"/>
                    </a:lnTo>
                    <a:lnTo>
                      <a:pt x="786" y="109"/>
                    </a:lnTo>
                    <a:lnTo>
                      <a:pt x="786" y="114"/>
                    </a:lnTo>
                    <a:lnTo>
                      <a:pt x="786" y="116"/>
                    </a:lnTo>
                    <a:lnTo>
                      <a:pt x="786" y="119"/>
                    </a:lnTo>
                    <a:lnTo>
                      <a:pt x="789" y="121"/>
                    </a:lnTo>
                    <a:lnTo>
                      <a:pt x="789" y="124"/>
                    </a:lnTo>
                    <a:lnTo>
                      <a:pt x="789" y="128"/>
                    </a:lnTo>
                    <a:lnTo>
                      <a:pt x="792" y="131"/>
                    </a:lnTo>
                    <a:lnTo>
                      <a:pt x="792" y="133"/>
                    </a:lnTo>
                    <a:lnTo>
                      <a:pt x="792" y="136"/>
                    </a:lnTo>
                    <a:lnTo>
                      <a:pt x="792" y="140"/>
                    </a:lnTo>
                    <a:lnTo>
                      <a:pt x="795" y="143"/>
                    </a:lnTo>
                    <a:lnTo>
                      <a:pt x="795" y="145"/>
                    </a:lnTo>
                    <a:lnTo>
                      <a:pt x="795" y="150"/>
                    </a:lnTo>
                    <a:lnTo>
                      <a:pt x="799" y="152"/>
                    </a:lnTo>
                    <a:lnTo>
                      <a:pt x="799" y="155"/>
                    </a:lnTo>
                    <a:lnTo>
                      <a:pt x="799" y="159"/>
                    </a:lnTo>
                    <a:lnTo>
                      <a:pt x="799" y="162"/>
                    </a:lnTo>
                    <a:lnTo>
                      <a:pt x="802" y="164"/>
                    </a:lnTo>
                    <a:lnTo>
                      <a:pt x="802" y="169"/>
                    </a:lnTo>
                    <a:lnTo>
                      <a:pt x="802" y="171"/>
                    </a:lnTo>
                    <a:lnTo>
                      <a:pt x="805" y="176"/>
                    </a:lnTo>
                    <a:lnTo>
                      <a:pt x="805" y="178"/>
                    </a:lnTo>
                    <a:lnTo>
                      <a:pt x="805" y="181"/>
                    </a:lnTo>
                    <a:lnTo>
                      <a:pt x="805" y="185"/>
                    </a:lnTo>
                    <a:lnTo>
                      <a:pt x="808" y="188"/>
                    </a:lnTo>
                    <a:lnTo>
                      <a:pt x="808" y="193"/>
                    </a:lnTo>
                    <a:lnTo>
                      <a:pt x="808" y="195"/>
                    </a:lnTo>
                    <a:lnTo>
                      <a:pt x="811" y="200"/>
                    </a:lnTo>
                    <a:lnTo>
                      <a:pt x="811" y="202"/>
                    </a:lnTo>
                    <a:lnTo>
                      <a:pt x="811" y="207"/>
                    </a:lnTo>
                    <a:lnTo>
                      <a:pt x="811" y="209"/>
                    </a:lnTo>
                    <a:lnTo>
                      <a:pt x="814" y="214"/>
                    </a:lnTo>
                    <a:lnTo>
                      <a:pt x="814" y="216"/>
                    </a:lnTo>
                    <a:lnTo>
                      <a:pt x="814" y="221"/>
                    </a:lnTo>
                    <a:lnTo>
                      <a:pt x="818" y="224"/>
                    </a:lnTo>
                    <a:lnTo>
                      <a:pt x="818" y="228"/>
                    </a:lnTo>
                    <a:lnTo>
                      <a:pt x="818" y="231"/>
                    </a:lnTo>
                    <a:lnTo>
                      <a:pt x="821" y="235"/>
                    </a:lnTo>
                    <a:lnTo>
                      <a:pt x="821" y="238"/>
                    </a:lnTo>
                    <a:lnTo>
                      <a:pt x="821" y="243"/>
                    </a:lnTo>
                    <a:lnTo>
                      <a:pt x="821" y="245"/>
                    </a:lnTo>
                    <a:lnTo>
                      <a:pt x="824" y="250"/>
                    </a:lnTo>
                    <a:lnTo>
                      <a:pt x="824" y="255"/>
                    </a:lnTo>
                    <a:lnTo>
                      <a:pt x="824" y="257"/>
                    </a:lnTo>
                    <a:lnTo>
                      <a:pt x="827" y="262"/>
                    </a:lnTo>
                    <a:lnTo>
                      <a:pt x="827" y="264"/>
                    </a:lnTo>
                    <a:lnTo>
                      <a:pt x="827" y="269"/>
                    </a:lnTo>
                    <a:lnTo>
                      <a:pt x="827" y="271"/>
                    </a:lnTo>
                    <a:lnTo>
                      <a:pt x="830" y="276"/>
                    </a:lnTo>
                    <a:lnTo>
                      <a:pt x="830" y="281"/>
                    </a:lnTo>
                    <a:lnTo>
                      <a:pt x="830" y="283"/>
                    </a:lnTo>
                    <a:lnTo>
                      <a:pt x="833" y="288"/>
                    </a:lnTo>
                    <a:lnTo>
                      <a:pt x="833" y="293"/>
                    </a:lnTo>
                    <a:lnTo>
                      <a:pt x="833" y="295"/>
                    </a:lnTo>
                    <a:lnTo>
                      <a:pt x="833" y="300"/>
                    </a:lnTo>
                    <a:lnTo>
                      <a:pt x="837" y="305"/>
                    </a:lnTo>
                    <a:lnTo>
                      <a:pt x="837" y="307"/>
                    </a:lnTo>
                    <a:lnTo>
                      <a:pt x="837" y="312"/>
                    </a:lnTo>
                    <a:lnTo>
                      <a:pt x="840" y="314"/>
                    </a:lnTo>
                    <a:lnTo>
                      <a:pt x="840" y="319"/>
                    </a:lnTo>
                    <a:lnTo>
                      <a:pt x="840" y="324"/>
                    </a:lnTo>
                    <a:lnTo>
                      <a:pt x="840" y="326"/>
                    </a:lnTo>
                    <a:lnTo>
                      <a:pt x="843" y="331"/>
                    </a:lnTo>
                    <a:lnTo>
                      <a:pt x="843" y="335"/>
                    </a:lnTo>
                    <a:lnTo>
                      <a:pt x="843" y="340"/>
                    </a:lnTo>
                    <a:lnTo>
                      <a:pt x="846" y="343"/>
                    </a:lnTo>
                    <a:lnTo>
                      <a:pt x="846" y="347"/>
                    </a:lnTo>
                    <a:lnTo>
                      <a:pt x="846" y="352"/>
                    </a:lnTo>
                    <a:lnTo>
                      <a:pt x="846" y="355"/>
                    </a:lnTo>
                    <a:lnTo>
                      <a:pt x="849" y="359"/>
                    </a:lnTo>
                    <a:lnTo>
                      <a:pt x="849" y="364"/>
                    </a:lnTo>
                    <a:lnTo>
                      <a:pt x="849" y="366"/>
                    </a:lnTo>
                    <a:lnTo>
                      <a:pt x="852" y="371"/>
                    </a:lnTo>
                    <a:lnTo>
                      <a:pt x="852" y="376"/>
                    </a:lnTo>
                    <a:lnTo>
                      <a:pt x="852" y="378"/>
                    </a:lnTo>
                    <a:lnTo>
                      <a:pt x="852" y="383"/>
                    </a:lnTo>
                    <a:lnTo>
                      <a:pt x="855" y="388"/>
                    </a:lnTo>
                    <a:lnTo>
                      <a:pt x="855" y="393"/>
                    </a:lnTo>
                    <a:lnTo>
                      <a:pt x="855" y="395"/>
                    </a:lnTo>
                    <a:lnTo>
                      <a:pt x="859" y="400"/>
                    </a:lnTo>
                    <a:lnTo>
                      <a:pt x="859" y="405"/>
                    </a:lnTo>
                    <a:lnTo>
                      <a:pt x="859" y="407"/>
                    </a:lnTo>
                    <a:lnTo>
                      <a:pt x="862" y="412"/>
                    </a:lnTo>
                    <a:lnTo>
                      <a:pt x="862" y="416"/>
                    </a:lnTo>
                    <a:lnTo>
                      <a:pt x="862" y="421"/>
                    </a:lnTo>
                    <a:lnTo>
                      <a:pt x="862" y="424"/>
                    </a:lnTo>
                    <a:lnTo>
                      <a:pt x="865" y="428"/>
                    </a:lnTo>
                    <a:lnTo>
                      <a:pt x="865" y="433"/>
                    </a:lnTo>
                    <a:lnTo>
                      <a:pt x="865" y="435"/>
                    </a:lnTo>
                    <a:lnTo>
                      <a:pt x="868" y="440"/>
                    </a:lnTo>
                    <a:lnTo>
                      <a:pt x="868" y="445"/>
                    </a:lnTo>
                    <a:lnTo>
                      <a:pt x="868" y="447"/>
                    </a:lnTo>
                    <a:lnTo>
                      <a:pt x="868" y="452"/>
                    </a:lnTo>
                    <a:lnTo>
                      <a:pt x="871" y="457"/>
                    </a:lnTo>
                    <a:lnTo>
                      <a:pt x="871" y="459"/>
                    </a:lnTo>
                    <a:lnTo>
                      <a:pt x="871" y="464"/>
                    </a:lnTo>
                    <a:lnTo>
                      <a:pt x="874" y="469"/>
                    </a:lnTo>
                    <a:lnTo>
                      <a:pt x="874" y="474"/>
                    </a:lnTo>
                    <a:lnTo>
                      <a:pt x="874" y="476"/>
                    </a:lnTo>
                    <a:lnTo>
                      <a:pt x="874" y="481"/>
                    </a:lnTo>
                    <a:lnTo>
                      <a:pt x="878" y="485"/>
                    </a:lnTo>
                    <a:lnTo>
                      <a:pt x="878" y="488"/>
                    </a:lnTo>
                    <a:lnTo>
                      <a:pt x="878" y="493"/>
                    </a:lnTo>
                    <a:lnTo>
                      <a:pt x="881" y="497"/>
                    </a:lnTo>
                    <a:lnTo>
                      <a:pt x="881" y="500"/>
                    </a:lnTo>
                    <a:lnTo>
                      <a:pt x="881" y="505"/>
                    </a:lnTo>
                    <a:lnTo>
                      <a:pt x="881" y="509"/>
                    </a:lnTo>
                    <a:lnTo>
                      <a:pt x="884" y="512"/>
                    </a:lnTo>
                    <a:lnTo>
                      <a:pt x="884" y="516"/>
                    </a:lnTo>
                    <a:lnTo>
                      <a:pt x="884" y="519"/>
                    </a:lnTo>
                    <a:lnTo>
                      <a:pt x="887" y="524"/>
                    </a:lnTo>
                    <a:lnTo>
                      <a:pt x="887" y="528"/>
                    </a:lnTo>
                    <a:lnTo>
                      <a:pt x="887" y="531"/>
                    </a:lnTo>
                    <a:lnTo>
                      <a:pt x="887" y="535"/>
                    </a:lnTo>
                    <a:lnTo>
                      <a:pt x="890" y="540"/>
                    </a:lnTo>
                    <a:lnTo>
                      <a:pt x="890" y="543"/>
                    </a:lnTo>
                    <a:lnTo>
                      <a:pt x="890" y="547"/>
                    </a:lnTo>
                    <a:lnTo>
                      <a:pt x="893" y="550"/>
                    </a:lnTo>
                    <a:lnTo>
                      <a:pt x="893" y="555"/>
                    </a:lnTo>
                    <a:lnTo>
                      <a:pt x="893" y="559"/>
                    </a:lnTo>
                    <a:lnTo>
                      <a:pt x="893" y="562"/>
                    </a:lnTo>
                    <a:lnTo>
                      <a:pt x="896" y="566"/>
                    </a:lnTo>
                    <a:lnTo>
                      <a:pt x="896" y="569"/>
                    </a:lnTo>
                    <a:lnTo>
                      <a:pt x="896" y="574"/>
                    </a:lnTo>
                    <a:lnTo>
                      <a:pt x="900" y="576"/>
                    </a:lnTo>
                    <a:lnTo>
                      <a:pt x="900" y="581"/>
                    </a:lnTo>
                    <a:lnTo>
                      <a:pt x="900" y="583"/>
                    </a:lnTo>
                    <a:lnTo>
                      <a:pt x="900" y="588"/>
                    </a:lnTo>
                    <a:lnTo>
                      <a:pt x="903" y="593"/>
                    </a:lnTo>
                    <a:lnTo>
                      <a:pt x="903" y="595"/>
                    </a:lnTo>
                    <a:lnTo>
                      <a:pt x="903" y="600"/>
                    </a:lnTo>
                    <a:lnTo>
                      <a:pt x="906" y="602"/>
                    </a:lnTo>
                    <a:lnTo>
                      <a:pt x="906" y="607"/>
                    </a:lnTo>
                    <a:lnTo>
                      <a:pt x="906" y="609"/>
                    </a:lnTo>
                    <a:lnTo>
                      <a:pt x="909" y="612"/>
                    </a:lnTo>
                    <a:lnTo>
                      <a:pt x="909" y="616"/>
                    </a:lnTo>
                    <a:lnTo>
                      <a:pt x="909" y="619"/>
                    </a:lnTo>
                    <a:lnTo>
                      <a:pt x="909" y="624"/>
                    </a:lnTo>
                    <a:lnTo>
                      <a:pt x="912" y="626"/>
                    </a:lnTo>
                    <a:lnTo>
                      <a:pt x="912" y="631"/>
                    </a:lnTo>
                    <a:lnTo>
                      <a:pt x="912" y="633"/>
                    </a:lnTo>
                    <a:lnTo>
                      <a:pt x="915" y="638"/>
                    </a:lnTo>
                    <a:lnTo>
                      <a:pt x="915" y="640"/>
                    </a:lnTo>
                    <a:lnTo>
                      <a:pt x="915" y="643"/>
                    </a:lnTo>
                    <a:lnTo>
                      <a:pt x="915" y="647"/>
                    </a:lnTo>
                    <a:lnTo>
                      <a:pt x="919" y="650"/>
                    </a:lnTo>
                    <a:lnTo>
                      <a:pt x="919" y="652"/>
                    </a:lnTo>
                    <a:lnTo>
                      <a:pt x="919" y="657"/>
                    </a:lnTo>
                    <a:lnTo>
                      <a:pt x="922" y="659"/>
                    </a:lnTo>
                    <a:lnTo>
                      <a:pt x="922" y="662"/>
                    </a:lnTo>
                    <a:lnTo>
                      <a:pt x="922" y="666"/>
                    </a:lnTo>
                    <a:lnTo>
                      <a:pt x="922" y="669"/>
                    </a:lnTo>
                    <a:lnTo>
                      <a:pt x="925" y="671"/>
                    </a:lnTo>
                    <a:lnTo>
                      <a:pt x="925" y="676"/>
                    </a:lnTo>
                    <a:lnTo>
                      <a:pt x="925" y="678"/>
                    </a:lnTo>
                    <a:lnTo>
                      <a:pt x="928" y="681"/>
                    </a:lnTo>
                    <a:lnTo>
                      <a:pt x="928" y="683"/>
                    </a:lnTo>
                    <a:lnTo>
                      <a:pt x="928" y="688"/>
                    </a:lnTo>
                    <a:lnTo>
                      <a:pt x="928" y="690"/>
                    </a:lnTo>
                    <a:lnTo>
                      <a:pt x="931" y="693"/>
                    </a:lnTo>
                    <a:lnTo>
                      <a:pt x="931" y="695"/>
                    </a:lnTo>
                    <a:lnTo>
                      <a:pt x="931" y="697"/>
                    </a:lnTo>
                    <a:lnTo>
                      <a:pt x="934" y="702"/>
                    </a:lnTo>
                    <a:lnTo>
                      <a:pt x="934" y="704"/>
                    </a:lnTo>
                    <a:lnTo>
                      <a:pt x="934" y="707"/>
                    </a:lnTo>
                    <a:lnTo>
                      <a:pt x="934" y="709"/>
                    </a:lnTo>
                    <a:lnTo>
                      <a:pt x="937" y="712"/>
                    </a:lnTo>
                    <a:lnTo>
                      <a:pt x="937" y="714"/>
                    </a:lnTo>
                    <a:lnTo>
                      <a:pt x="937" y="716"/>
                    </a:lnTo>
                    <a:lnTo>
                      <a:pt x="941" y="719"/>
                    </a:lnTo>
                    <a:lnTo>
                      <a:pt x="941" y="724"/>
                    </a:lnTo>
                    <a:lnTo>
                      <a:pt x="941" y="726"/>
                    </a:lnTo>
                    <a:lnTo>
                      <a:pt x="941" y="728"/>
                    </a:lnTo>
                    <a:lnTo>
                      <a:pt x="944" y="731"/>
                    </a:lnTo>
                    <a:lnTo>
                      <a:pt x="944" y="733"/>
                    </a:lnTo>
                    <a:lnTo>
                      <a:pt x="944" y="735"/>
                    </a:lnTo>
                    <a:lnTo>
                      <a:pt x="947" y="738"/>
                    </a:lnTo>
                    <a:lnTo>
                      <a:pt x="947" y="740"/>
                    </a:lnTo>
                    <a:lnTo>
                      <a:pt x="947" y="743"/>
                    </a:lnTo>
                    <a:lnTo>
                      <a:pt x="950" y="745"/>
                    </a:lnTo>
                    <a:lnTo>
                      <a:pt x="950" y="747"/>
                    </a:lnTo>
                    <a:lnTo>
                      <a:pt x="950" y="750"/>
                    </a:lnTo>
                    <a:lnTo>
                      <a:pt x="953" y="752"/>
                    </a:lnTo>
                    <a:lnTo>
                      <a:pt x="953" y="754"/>
                    </a:lnTo>
                    <a:lnTo>
                      <a:pt x="953" y="757"/>
                    </a:lnTo>
                    <a:lnTo>
                      <a:pt x="956" y="759"/>
                    </a:lnTo>
                    <a:lnTo>
                      <a:pt x="956" y="762"/>
                    </a:lnTo>
                    <a:lnTo>
                      <a:pt x="956" y="764"/>
                    </a:lnTo>
                    <a:lnTo>
                      <a:pt x="960" y="766"/>
                    </a:lnTo>
                    <a:lnTo>
                      <a:pt x="960" y="769"/>
                    </a:lnTo>
                    <a:lnTo>
                      <a:pt x="963" y="771"/>
                    </a:lnTo>
                    <a:lnTo>
                      <a:pt x="963" y="774"/>
                    </a:lnTo>
                    <a:lnTo>
                      <a:pt x="963" y="776"/>
                    </a:lnTo>
                    <a:lnTo>
                      <a:pt x="966" y="778"/>
                    </a:lnTo>
                    <a:lnTo>
                      <a:pt x="966" y="781"/>
                    </a:lnTo>
                    <a:lnTo>
                      <a:pt x="969" y="783"/>
                    </a:lnTo>
                    <a:lnTo>
                      <a:pt x="969" y="785"/>
                    </a:lnTo>
                    <a:lnTo>
                      <a:pt x="972" y="788"/>
                    </a:lnTo>
                    <a:lnTo>
                      <a:pt x="972" y="790"/>
                    </a:lnTo>
                    <a:lnTo>
                      <a:pt x="975" y="793"/>
                    </a:lnTo>
                    <a:lnTo>
                      <a:pt x="975" y="795"/>
                    </a:lnTo>
                    <a:lnTo>
                      <a:pt x="979" y="797"/>
                    </a:lnTo>
                    <a:lnTo>
                      <a:pt x="982" y="800"/>
                    </a:lnTo>
                    <a:lnTo>
                      <a:pt x="982" y="802"/>
                    </a:lnTo>
                    <a:lnTo>
                      <a:pt x="985" y="804"/>
                    </a:lnTo>
                    <a:lnTo>
                      <a:pt x="988" y="807"/>
                    </a:lnTo>
                    <a:lnTo>
                      <a:pt x="991" y="809"/>
                    </a:lnTo>
                    <a:lnTo>
                      <a:pt x="994" y="812"/>
                    </a:lnTo>
                    <a:lnTo>
                      <a:pt x="997" y="812"/>
                    </a:lnTo>
                    <a:lnTo>
                      <a:pt x="1001" y="812"/>
                    </a:lnTo>
                    <a:lnTo>
                      <a:pt x="1004" y="812"/>
                    </a:lnTo>
                    <a:lnTo>
                      <a:pt x="1007" y="812"/>
                    </a:lnTo>
                    <a:lnTo>
                      <a:pt x="1010" y="809"/>
                    </a:lnTo>
                    <a:lnTo>
                      <a:pt x="1013" y="807"/>
                    </a:lnTo>
                    <a:lnTo>
                      <a:pt x="1016" y="804"/>
                    </a:lnTo>
                    <a:lnTo>
                      <a:pt x="1020" y="802"/>
                    </a:lnTo>
                    <a:lnTo>
                      <a:pt x="1023" y="800"/>
                    </a:lnTo>
                    <a:lnTo>
                      <a:pt x="1026" y="797"/>
                    </a:lnTo>
                    <a:lnTo>
                      <a:pt x="1029" y="795"/>
                    </a:lnTo>
                    <a:lnTo>
                      <a:pt x="1029" y="793"/>
                    </a:lnTo>
                    <a:lnTo>
                      <a:pt x="1032" y="790"/>
                    </a:lnTo>
                    <a:lnTo>
                      <a:pt x="1032" y="788"/>
                    </a:lnTo>
                    <a:lnTo>
                      <a:pt x="1035" y="785"/>
                    </a:lnTo>
                    <a:lnTo>
                      <a:pt x="1038" y="783"/>
                    </a:lnTo>
                    <a:lnTo>
                      <a:pt x="1038" y="781"/>
                    </a:lnTo>
                    <a:lnTo>
                      <a:pt x="1038" y="778"/>
                    </a:lnTo>
                    <a:lnTo>
                      <a:pt x="1042" y="776"/>
                    </a:lnTo>
                    <a:lnTo>
                      <a:pt x="1042" y="774"/>
                    </a:lnTo>
                    <a:lnTo>
                      <a:pt x="1045" y="771"/>
                    </a:lnTo>
                    <a:lnTo>
                      <a:pt x="1045" y="769"/>
                    </a:lnTo>
                    <a:lnTo>
                      <a:pt x="1045" y="766"/>
                    </a:lnTo>
                    <a:lnTo>
                      <a:pt x="1048" y="764"/>
                    </a:lnTo>
                    <a:lnTo>
                      <a:pt x="1048" y="762"/>
                    </a:lnTo>
                    <a:lnTo>
                      <a:pt x="1048" y="759"/>
                    </a:lnTo>
                    <a:lnTo>
                      <a:pt x="1051" y="757"/>
                    </a:lnTo>
                    <a:lnTo>
                      <a:pt x="1051" y="754"/>
                    </a:lnTo>
                    <a:lnTo>
                      <a:pt x="1051" y="752"/>
                    </a:lnTo>
                    <a:lnTo>
                      <a:pt x="1054" y="750"/>
                    </a:lnTo>
                    <a:lnTo>
                      <a:pt x="1054" y="747"/>
                    </a:lnTo>
                    <a:lnTo>
                      <a:pt x="1054" y="745"/>
                    </a:lnTo>
                    <a:lnTo>
                      <a:pt x="1057" y="743"/>
                    </a:lnTo>
                    <a:lnTo>
                      <a:pt x="1057" y="740"/>
                    </a:lnTo>
                    <a:lnTo>
                      <a:pt x="1057" y="738"/>
                    </a:lnTo>
                    <a:lnTo>
                      <a:pt x="1057" y="735"/>
                    </a:lnTo>
                    <a:lnTo>
                      <a:pt x="1061" y="733"/>
                    </a:lnTo>
                    <a:lnTo>
                      <a:pt x="1061" y="731"/>
                    </a:lnTo>
                    <a:lnTo>
                      <a:pt x="1061" y="728"/>
                    </a:lnTo>
                    <a:lnTo>
                      <a:pt x="1064" y="726"/>
                    </a:lnTo>
                    <a:lnTo>
                      <a:pt x="1064" y="724"/>
                    </a:lnTo>
                    <a:lnTo>
                      <a:pt x="1064" y="721"/>
                    </a:lnTo>
                    <a:lnTo>
                      <a:pt x="1064" y="719"/>
                    </a:lnTo>
                    <a:lnTo>
                      <a:pt x="1067" y="714"/>
                    </a:lnTo>
                    <a:lnTo>
                      <a:pt x="1067" y="712"/>
                    </a:lnTo>
                    <a:lnTo>
                      <a:pt x="1067" y="709"/>
                    </a:lnTo>
                    <a:lnTo>
                      <a:pt x="1070" y="707"/>
                    </a:lnTo>
                    <a:lnTo>
                      <a:pt x="1070" y="704"/>
                    </a:lnTo>
                    <a:lnTo>
                      <a:pt x="1070" y="702"/>
                    </a:lnTo>
                    <a:lnTo>
                      <a:pt x="1070" y="700"/>
                    </a:lnTo>
                    <a:lnTo>
                      <a:pt x="1073" y="695"/>
                    </a:lnTo>
                    <a:lnTo>
                      <a:pt x="1073" y="693"/>
                    </a:lnTo>
                    <a:lnTo>
                      <a:pt x="1073" y="690"/>
                    </a:lnTo>
                    <a:lnTo>
                      <a:pt x="1076" y="688"/>
                    </a:lnTo>
                    <a:lnTo>
                      <a:pt x="1076" y="685"/>
                    </a:lnTo>
                    <a:lnTo>
                      <a:pt x="1076" y="681"/>
                    </a:lnTo>
                    <a:lnTo>
                      <a:pt x="1076" y="678"/>
                    </a:lnTo>
                    <a:lnTo>
                      <a:pt x="1080" y="676"/>
                    </a:lnTo>
                    <a:lnTo>
                      <a:pt x="1080" y="671"/>
                    </a:lnTo>
                    <a:lnTo>
                      <a:pt x="1080" y="669"/>
                    </a:lnTo>
                    <a:lnTo>
                      <a:pt x="1083" y="666"/>
                    </a:lnTo>
                    <a:lnTo>
                      <a:pt x="1083" y="664"/>
                    </a:lnTo>
                    <a:lnTo>
                      <a:pt x="1083" y="659"/>
                    </a:lnTo>
                    <a:lnTo>
                      <a:pt x="1086" y="657"/>
                    </a:lnTo>
                    <a:lnTo>
                      <a:pt x="1086" y="655"/>
                    </a:lnTo>
                    <a:lnTo>
                      <a:pt x="1086" y="650"/>
                    </a:lnTo>
                    <a:lnTo>
                      <a:pt x="1086" y="647"/>
                    </a:lnTo>
                    <a:lnTo>
                      <a:pt x="1089" y="643"/>
                    </a:lnTo>
                    <a:lnTo>
                      <a:pt x="1089" y="640"/>
                    </a:lnTo>
                    <a:lnTo>
                      <a:pt x="1089" y="638"/>
                    </a:lnTo>
                    <a:lnTo>
                      <a:pt x="1092" y="633"/>
                    </a:lnTo>
                    <a:lnTo>
                      <a:pt x="1092" y="631"/>
                    </a:lnTo>
                    <a:lnTo>
                      <a:pt x="1092" y="626"/>
                    </a:lnTo>
                    <a:lnTo>
                      <a:pt x="1092" y="624"/>
                    </a:lnTo>
                    <a:lnTo>
                      <a:pt x="1095" y="621"/>
                    </a:lnTo>
                    <a:lnTo>
                      <a:pt x="1095" y="616"/>
                    </a:lnTo>
                    <a:lnTo>
                      <a:pt x="1095" y="614"/>
                    </a:lnTo>
                    <a:lnTo>
                      <a:pt x="1098" y="609"/>
                    </a:lnTo>
                    <a:lnTo>
                      <a:pt x="1098" y="607"/>
                    </a:lnTo>
                    <a:lnTo>
                      <a:pt x="1098" y="602"/>
                    </a:lnTo>
                    <a:lnTo>
                      <a:pt x="1098" y="600"/>
                    </a:lnTo>
                    <a:lnTo>
                      <a:pt x="1102" y="595"/>
                    </a:lnTo>
                    <a:lnTo>
                      <a:pt x="1102" y="593"/>
                    </a:lnTo>
                    <a:lnTo>
                      <a:pt x="1102" y="588"/>
                    </a:lnTo>
                    <a:lnTo>
                      <a:pt x="1105" y="585"/>
                    </a:lnTo>
                    <a:lnTo>
                      <a:pt x="1105" y="581"/>
                    </a:lnTo>
                    <a:lnTo>
                      <a:pt x="1105" y="578"/>
                    </a:lnTo>
                    <a:lnTo>
                      <a:pt x="1105" y="574"/>
                    </a:lnTo>
                    <a:lnTo>
                      <a:pt x="1108" y="569"/>
                    </a:lnTo>
                    <a:lnTo>
                      <a:pt x="1108" y="566"/>
                    </a:lnTo>
                    <a:lnTo>
                      <a:pt x="1108" y="562"/>
                    </a:lnTo>
                    <a:lnTo>
                      <a:pt x="1111" y="559"/>
                    </a:lnTo>
                    <a:lnTo>
                      <a:pt x="1111" y="555"/>
                    </a:lnTo>
                    <a:lnTo>
                      <a:pt x="1111" y="552"/>
                    </a:lnTo>
                    <a:lnTo>
                      <a:pt x="1111" y="547"/>
                    </a:lnTo>
                    <a:lnTo>
                      <a:pt x="1114" y="543"/>
                    </a:lnTo>
                    <a:lnTo>
                      <a:pt x="1114" y="540"/>
                    </a:lnTo>
                    <a:lnTo>
                      <a:pt x="1114" y="535"/>
                    </a:lnTo>
                    <a:lnTo>
                      <a:pt x="1117" y="533"/>
                    </a:lnTo>
                    <a:lnTo>
                      <a:pt x="1117" y="528"/>
                    </a:lnTo>
                    <a:lnTo>
                      <a:pt x="1117" y="524"/>
                    </a:lnTo>
                    <a:lnTo>
                      <a:pt x="1117" y="521"/>
                    </a:lnTo>
                    <a:lnTo>
                      <a:pt x="1121" y="516"/>
                    </a:lnTo>
                    <a:lnTo>
                      <a:pt x="1121" y="512"/>
                    </a:lnTo>
                    <a:lnTo>
                      <a:pt x="1121" y="509"/>
                    </a:lnTo>
                    <a:lnTo>
                      <a:pt x="1124" y="505"/>
                    </a:lnTo>
                    <a:lnTo>
                      <a:pt x="1124" y="500"/>
                    </a:lnTo>
                    <a:lnTo>
                      <a:pt x="1124" y="497"/>
                    </a:lnTo>
                    <a:lnTo>
                      <a:pt x="1127" y="493"/>
                    </a:lnTo>
                    <a:lnTo>
                      <a:pt x="1127" y="488"/>
                    </a:lnTo>
                    <a:lnTo>
                      <a:pt x="1127" y="485"/>
                    </a:lnTo>
                    <a:lnTo>
                      <a:pt x="1127" y="481"/>
                    </a:lnTo>
                    <a:lnTo>
                      <a:pt x="1130" y="476"/>
                    </a:lnTo>
                    <a:lnTo>
                      <a:pt x="1130" y="474"/>
                    </a:lnTo>
                    <a:lnTo>
                      <a:pt x="1130" y="469"/>
                    </a:lnTo>
                    <a:lnTo>
                      <a:pt x="1133" y="464"/>
                    </a:lnTo>
                    <a:lnTo>
                      <a:pt x="1133" y="462"/>
                    </a:lnTo>
                    <a:lnTo>
                      <a:pt x="1133" y="457"/>
                    </a:lnTo>
                    <a:lnTo>
                      <a:pt x="1133" y="452"/>
                    </a:lnTo>
                    <a:lnTo>
                      <a:pt x="1136" y="450"/>
                    </a:lnTo>
                    <a:lnTo>
                      <a:pt x="1136" y="445"/>
                    </a:lnTo>
                    <a:lnTo>
                      <a:pt x="1136" y="440"/>
                    </a:lnTo>
                    <a:lnTo>
                      <a:pt x="1139" y="438"/>
                    </a:lnTo>
                    <a:lnTo>
                      <a:pt x="1139" y="433"/>
                    </a:lnTo>
                    <a:lnTo>
                      <a:pt x="1139" y="428"/>
                    </a:lnTo>
                    <a:lnTo>
                      <a:pt x="1139" y="424"/>
                    </a:lnTo>
                    <a:lnTo>
                      <a:pt x="1143" y="421"/>
                    </a:lnTo>
                    <a:lnTo>
                      <a:pt x="1143" y="416"/>
                    </a:lnTo>
                    <a:lnTo>
                      <a:pt x="1143" y="412"/>
                    </a:lnTo>
                    <a:lnTo>
                      <a:pt x="1146" y="409"/>
                    </a:lnTo>
                    <a:lnTo>
                      <a:pt x="1146" y="405"/>
                    </a:lnTo>
                    <a:lnTo>
                      <a:pt x="1146" y="400"/>
                    </a:lnTo>
                    <a:lnTo>
                      <a:pt x="1146" y="395"/>
                    </a:lnTo>
                    <a:lnTo>
                      <a:pt x="1149" y="393"/>
                    </a:lnTo>
                    <a:lnTo>
                      <a:pt x="1149" y="388"/>
                    </a:lnTo>
                    <a:lnTo>
                      <a:pt x="1149" y="383"/>
                    </a:lnTo>
                    <a:lnTo>
                      <a:pt x="1152" y="381"/>
                    </a:lnTo>
                    <a:lnTo>
                      <a:pt x="1152" y="376"/>
                    </a:lnTo>
                    <a:lnTo>
                      <a:pt x="1152" y="371"/>
                    </a:lnTo>
                    <a:lnTo>
                      <a:pt x="1152" y="369"/>
                    </a:lnTo>
                    <a:lnTo>
                      <a:pt x="1155" y="364"/>
                    </a:lnTo>
                    <a:lnTo>
                      <a:pt x="1155" y="359"/>
                    </a:lnTo>
                    <a:lnTo>
                      <a:pt x="1155" y="355"/>
                    </a:lnTo>
                    <a:lnTo>
                      <a:pt x="1158" y="352"/>
                    </a:lnTo>
                    <a:lnTo>
                      <a:pt x="1158" y="347"/>
                    </a:lnTo>
                    <a:lnTo>
                      <a:pt x="1158" y="343"/>
                    </a:lnTo>
                    <a:lnTo>
                      <a:pt x="1158" y="340"/>
                    </a:lnTo>
                    <a:lnTo>
                      <a:pt x="1162" y="335"/>
                    </a:lnTo>
                    <a:lnTo>
                      <a:pt x="1162" y="331"/>
                    </a:lnTo>
                    <a:lnTo>
                      <a:pt x="1162" y="328"/>
                    </a:lnTo>
                    <a:lnTo>
                      <a:pt x="1165" y="324"/>
                    </a:lnTo>
                    <a:lnTo>
                      <a:pt x="1165" y="319"/>
                    </a:lnTo>
                    <a:lnTo>
                      <a:pt x="1165" y="316"/>
                    </a:lnTo>
                    <a:lnTo>
                      <a:pt x="1165" y="312"/>
                    </a:lnTo>
                    <a:lnTo>
                      <a:pt x="1168" y="307"/>
                    </a:lnTo>
                    <a:lnTo>
                      <a:pt x="1168" y="305"/>
                    </a:lnTo>
                    <a:lnTo>
                      <a:pt x="1168" y="300"/>
                    </a:lnTo>
                    <a:lnTo>
                      <a:pt x="1171" y="295"/>
                    </a:lnTo>
                    <a:lnTo>
                      <a:pt x="1171" y="293"/>
                    </a:lnTo>
                    <a:lnTo>
                      <a:pt x="1171" y="288"/>
                    </a:lnTo>
                    <a:lnTo>
                      <a:pt x="1174" y="285"/>
                    </a:lnTo>
                    <a:lnTo>
                      <a:pt x="1174" y="281"/>
                    </a:lnTo>
                    <a:lnTo>
                      <a:pt x="1174" y="276"/>
                    </a:lnTo>
                    <a:lnTo>
                      <a:pt x="1174" y="274"/>
                    </a:lnTo>
                    <a:lnTo>
                      <a:pt x="1177" y="269"/>
                    </a:lnTo>
                    <a:lnTo>
                      <a:pt x="1177" y="264"/>
                    </a:lnTo>
                    <a:lnTo>
                      <a:pt x="1177" y="262"/>
                    </a:lnTo>
                    <a:lnTo>
                      <a:pt x="1180" y="257"/>
                    </a:lnTo>
                    <a:lnTo>
                      <a:pt x="1180" y="255"/>
                    </a:lnTo>
                    <a:lnTo>
                      <a:pt x="1180" y="250"/>
                    </a:lnTo>
                    <a:lnTo>
                      <a:pt x="1180" y="247"/>
                    </a:lnTo>
                    <a:lnTo>
                      <a:pt x="1184" y="243"/>
                    </a:lnTo>
                    <a:lnTo>
                      <a:pt x="1184" y="238"/>
                    </a:lnTo>
                    <a:lnTo>
                      <a:pt x="1184" y="235"/>
                    </a:lnTo>
                    <a:lnTo>
                      <a:pt x="1187" y="231"/>
                    </a:lnTo>
                    <a:lnTo>
                      <a:pt x="1187" y="228"/>
                    </a:lnTo>
                    <a:lnTo>
                      <a:pt x="1187" y="224"/>
                    </a:lnTo>
                    <a:lnTo>
                      <a:pt x="1187" y="221"/>
                    </a:lnTo>
                    <a:lnTo>
                      <a:pt x="1190" y="216"/>
                    </a:lnTo>
                    <a:lnTo>
                      <a:pt x="1190" y="214"/>
                    </a:lnTo>
                    <a:lnTo>
                      <a:pt x="1190" y="209"/>
                    </a:lnTo>
                    <a:lnTo>
                      <a:pt x="1193" y="207"/>
                    </a:lnTo>
                    <a:lnTo>
                      <a:pt x="1193" y="202"/>
                    </a:lnTo>
                    <a:lnTo>
                      <a:pt x="1193" y="200"/>
                    </a:lnTo>
                    <a:lnTo>
                      <a:pt x="1193" y="195"/>
                    </a:lnTo>
                    <a:lnTo>
                      <a:pt x="1196" y="193"/>
                    </a:lnTo>
                    <a:lnTo>
                      <a:pt x="1196" y="188"/>
                    </a:lnTo>
                    <a:lnTo>
                      <a:pt x="1196" y="185"/>
                    </a:lnTo>
                    <a:lnTo>
                      <a:pt x="1199" y="183"/>
                    </a:lnTo>
                    <a:lnTo>
                      <a:pt x="1199" y="178"/>
                    </a:lnTo>
                    <a:lnTo>
                      <a:pt x="1199" y="176"/>
                    </a:lnTo>
                    <a:lnTo>
                      <a:pt x="1199" y="171"/>
                    </a:lnTo>
                    <a:lnTo>
                      <a:pt x="1203" y="169"/>
                    </a:lnTo>
                    <a:lnTo>
                      <a:pt x="1203" y="166"/>
                    </a:lnTo>
                    <a:lnTo>
                      <a:pt x="1203" y="162"/>
                    </a:lnTo>
                    <a:lnTo>
                      <a:pt x="1206" y="159"/>
                    </a:lnTo>
                    <a:lnTo>
                      <a:pt x="1206" y="155"/>
                    </a:lnTo>
                    <a:lnTo>
                      <a:pt x="1206" y="152"/>
                    </a:lnTo>
                    <a:lnTo>
                      <a:pt x="1206" y="150"/>
                    </a:lnTo>
                    <a:lnTo>
                      <a:pt x="1209" y="145"/>
                    </a:lnTo>
                    <a:lnTo>
                      <a:pt x="1209" y="143"/>
                    </a:lnTo>
                    <a:lnTo>
                      <a:pt x="1209" y="140"/>
                    </a:lnTo>
                    <a:lnTo>
                      <a:pt x="1212" y="138"/>
                    </a:lnTo>
                    <a:lnTo>
                      <a:pt x="1212" y="133"/>
                    </a:lnTo>
                    <a:lnTo>
                      <a:pt x="1212" y="131"/>
                    </a:lnTo>
                    <a:lnTo>
                      <a:pt x="1215" y="128"/>
                    </a:lnTo>
                    <a:lnTo>
                      <a:pt x="1215" y="126"/>
                    </a:lnTo>
                    <a:lnTo>
                      <a:pt x="1215" y="121"/>
                    </a:lnTo>
                    <a:lnTo>
                      <a:pt x="1215" y="119"/>
                    </a:lnTo>
                    <a:lnTo>
                      <a:pt x="1218" y="116"/>
                    </a:lnTo>
                    <a:lnTo>
                      <a:pt x="1218" y="114"/>
                    </a:lnTo>
                    <a:lnTo>
                      <a:pt x="1218" y="112"/>
                    </a:lnTo>
                    <a:lnTo>
                      <a:pt x="1222" y="107"/>
                    </a:lnTo>
                    <a:lnTo>
                      <a:pt x="1222" y="105"/>
                    </a:lnTo>
                    <a:lnTo>
                      <a:pt x="1222" y="102"/>
                    </a:lnTo>
                    <a:lnTo>
                      <a:pt x="1222" y="100"/>
                    </a:lnTo>
                    <a:lnTo>
                      <a:pt x="1225" y="97"/>
                    </a:lnTo>
                    <a:lnTo>
                      <a:pt x="1225" y="95"/>
                    </a:lnTo>
                    <a:lnTo>
                      <a:pt x="1225" y="93"/>
                    </a:lnTo>
                    <a:lnTo>
                      <a:pt x="1228" y="90"/>
                    </a:lnTo>
                    <a:lnTo>
                      <a:pt x="1228" y="88"/>
                    </a:lnTo>
                    <a:lnTo>
                      <a:pt x="1228" y="86"/>
                    </a:lnTo>
                    <a:lnTo>
                      <a:pt x="1228" y="81"/>
                    </a:lnTo>
                    <a:lnTo>
                      <a:pt x="1231" y="78"/>
                    </a:lnTo>
                    <a:lnTo>
                      <a:pt x="1231" y="76"/>
                    </a:lnTo>
                    <a:lnTo>
                      <a:pt x="1231" y="74"/>
                    </a:lnTo>
                    <a:lnTo>
                      <a:pt x="1234" y="71"/>
                    </a:lnTo>
                    <a:lnTo>
                      <a:pt x="1234" y="69"/>
                    </a:lnTo>
                    <a:lnTo>
                      <a:pt x="1234" y="66"/>
                    </a:lnTo>
                    <a:lnTo>
                      <a:pt x="1237" y="64"/>
                    </a:lnTo>
                    <a:lnTo>
                      <a:pt x="1237" y="62"/>
                    </a:lnTo>
                    <a:lnTo>
                      <a:pt x="1237" y="59"/>
                    </a:lnTo>
                    <a:lnTo>
                      <a:pt x="1240" y="57"/>
                    </a:lnTo>
                    <a:lnTo>
                      <a:pt x="1240" y="55"/>
                    </a:lnTo>
                    <a:lnTo>
                      <a:pt x="1240" y="52"/>
                    </a:lnTo>
                    <a:lnTo>
                      <a:pt x="1244" y="50"/>
                    </a:lnTo>
                    <a:lnTo>
                      <a:pt x="1244" y="47"/>
                    </a:lnTo>
                    <a:lnTo>
                      <a:pt x="1244" y="45"/>
                    </a:lnTo>
                    <a:lnTo>
                      <a:pt x="1247" y="43"/>
                    </a:lnTo>
                    <a:lnTo>
                      <a:pt x="1247" y="40"/>
                    </a:lnTo>
                    <a:lnTo>
                      <a:pt x="1247" y="38"/>
                    </a:lnTo>
                    <a:lnTo>
                      <a:pt x="1250" y="36"/>
                    </a:lnTo>
                    <a:lnTo>
                      <a:pt x="1250" y="33"/>
                    </a:lnTo>
                    <a:lnTo>
                      <a:pt x="1253" y="31"/>
                    </a:lnTo>
                    <a:lnTo>
                      <a:pt x="1253" y="28"/>
                    </a:lnTo>
                    <a:lnTo>
                      <a:pt x="1256" y="26"/>
                    </a:lnTo>
                    <a:lnTo>
                      <a:pt x="1256" y="24"/>
                    </a:lnTo>
                    <a:lnTo>
                      <a:pt x="1259" y="21"/>
                    </a:lnTo>
                    <a:lnTo>
                      <a:pt x="1259" y="19"/>
                    </a:lnTo>
                    <a:lnTo>
                      <a:pt x="1263" y="16"/>
                    </a:lnTo>
                    <a:lnTo>
                      <a:pt x="1266" y="14"/>
                    </a:lnTo>
                    <a:lnTo>
                      <a:pt x="1266" y="12"/>
                    </a:lnTo>
                    <a:lnTo>
                      <a:pt x="1269" y="9"/>
                    </a:lnTo>
                    <a:lnTo>
                      <a:pt x="1272" y="7"/>
                    </a:lnTo>
                    <a:lnTo>
                      <a:pt x="1275" y="5"/>
                    </a:lnTo>
                    <a:lnTo>
                      <a:pt x="1278" y="2"/>
                    </a:lnTo>
                    <a:lnTo>
                      <a:pt x="1281" y="0"/>
                    </a:lnTo>
                    <a:lnTo>
                      <a:pt x="1285" y="0"/>
                    </a:lnTo>
                    <a:lnTo>
                      <a:pt x="1288" y="0"/>
                    </a:lnTo>
                    <a:lnTo>
                      <a:pt x="1291" y="0"/>
                    </a:lnTo>
                    <a:lnTo>
                      <a:pt x="1294" y="2"/>
                    </a:lnTo>
                    <a:lnTo>
                      <a:pt x="1297" y="2"/>
                    </a:lnTo>
                    <a:lnTo>
                      <a:pt x="1300" y="5"/>
                    </a:lnTo>
                    <a:lnTo>
                      <a:pt x="1304" y="7"/>
                    </a:lnTo>
                    <a:lnTo>
                      <a:pt x="1307" y="9"/>
                    </a:lnTo>
                    <a:lnTo>
                      <a:pt x="1310" y="12"/>
                    </a:lnTo>
                    <a:lnTo>
                      <a:pt x="1313" y="14"/>
                    </a:lnTo>
                    <a:lnTo>
                      <a:pt x="1316" y="16"/>
                    </a:lnTo>
                    <a:lnTo>
                      <a:pt x="1316" y="19"/>
                    </a:lnTo>
                    <a:lnTo>
                      <a:pt x="1319" y="21"/>
                    </a:lnTo>
                    <a:lnTo>
                      <a:pt x="1319" y="24"/>
                    </a:lnTo>
                    <a:lnTo>
                      <a:pt x="1322" y="26"/>
                    </a:lnTo>
                    <a:lnTo>
                      <a:pt x="1322" y="28"/>
                    </a:lnTo>
                    <a:lnTo>
                      <a:pt x="1322" y="31"/>
                    </a:lnTo>
                    <a:lnTo>
                      <a:pt x="1326" y="33"/>
                    </a:lnTo>
                    <a:lnTo>
                      <a:pt x="1326" y="36"/>
                    </a:lnTo>
                    <a:lnTo>
                      <a:pt x="1329" y="38"/>
                    </a:lnTo>
                    <a:lnTo>
                      <a:pt x="1329" y="40"/>
                    </a:lnTo>
                    <a:lnTo>
                      <a:pt x="1329" y="43"/>
                    </a:lnTo>
                    <a:lnTo>
                      <a:pt x="1332" y="45"/>
                    </a:lnTo>
                    <a:lnTo>
                      <a:pt x="1332" y="47"/>
                    </a:lnTo>
                    <a:lnTo>
                      <a:pt x="1335" y="50"/>
                    </a:lnTo>
                    <a:lnTo>
                      <a:pt x="1335" y="52"/>
                    </a:lnTo>
                    <a:lnTo>
                      <a:pt x="1335" y="55"/>
                    </a:lnTo>
                    <a:lnTo>
                      <a:pt x="1335" y="57"/>
                    </a:lnTo>
                    <a:lnTo>
                      <a:pt x="1338" y="59"/>
                    </a:lnTo>
                    <a:lnTo>
                      <a:pt x="1338" y="62"/>
                    </a:lnTo>
                    <a:lnTo>
                      <a:pt x="1341" y="64"/>
                    </a:lnTo>
                    <a:lnTo>
                      <a:pt x="1341" y="66"/>
                    </a:lnTo>
                    <a:lnTo>
                      <a:pt x="1341" y="69"/>
                    </a:lnTo>
                    <a:lnTo>
                      <a:pt x="1341" y="71"/>
                    </a:lnTo>
                    <a:lnTo>
                      <a:pt x="1345" y="74"/>
                    </a:lnTo>
                    <a:lnTo>
                      <a:pt x="1345" y="76"/>
                    </a:lnTo>
                    <a:lnTo>
                      <a:pt x="1345" y="78"/>
                    </a:lnTo>
                    <a:lnTo>
                      <a:pt x="1348" y="81"/>
                    </a:lnTo>
                    <a:lnTo>
                      <a:pt x="1348" y="83"/>
                    </a:lnTo>
                    <a:lnTo>
                      <a:pt x="1348" y="86"/>
                    </a:lnTo>
                    <a:lnTo>
                      <a:pt x="1351" y="88"/>
                    </a:lnTo>
                    <a:lnTo>
                      <a:pt x="1351" y="90"/>
                    </a:lnTo>
                    <a:lnTo>
                      <a:pt x="1351" y="93"/>
                    </a:lnTo>
                    <a:lnTo>
                      <a:pt x="1351" y="95"/>
                    </a:lnTo>
                    <a:lnTo>
                      <a:pt x="1354" y="100"/>
                    </a:lnTo>
                    <a:lnTo>
                      <a:pt x="1354" y="102"/>
                    </a:lnTo>
                    <a:lnTo>
                      <a:pt x="1354" y="105"/>
                    </a:lnTo>
                    <a:lnTo>
                      <a:pt x="1357" y="107"/>
                    </a:lnTo>
                    <a:lnTo>
                      <a:pt x="1357" y="109"/>
                    </a:lnTo>
                    <a:lnTo>
                      <a:pt x="1357" y="112"/>
                    </a:lnTo>
                    <a:lnTo>
                      <a:pt x="1357" y="114"/>
                    </a:lnTo>
                    <a:lnTo>
                      <a:pt x="1360" y="119"/>
                    </a:lnTo>
                    <a:lnTo>
                      <a:pt x="1360" y="121"/>
                    </a:lnTo>
                    <a:lnTo>
                      <a:pt x="1360" y="124"/>
                    </a:lnTo>
                    <a:lnTo>
                      <a:pt x="1364" y="126"/>
                    </a:lnTo>
                    <a:lnTo>
                      <a:pt x="1364" y="131"/>
                    </a:lnTo>
                    <a:lnTo>
                      <a:pt x="1364" y="133"/>
                    </a:lnTo>
                    <a:lnTo>
                      <a:pt x="1364" y="136"/>
                    </a:lnTo>
                    <a:lnTo>
                      <a:pt x="1367" y="138"/>
                    </a:lnTo>
                    <a:lnTo>
                      <a:pt x="1367" y="143"/>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182" name="Line 35"/>
              <p:cNvSpPr>
                <a:spLocks noChangeShapeType="1"/>
              </p:cNvSpPr>
              <p:nvPr/>
            </p:nvSpPr>
            <p:spPr bwMode="auto">
              <a:xfrm flipV="1">
                <a:off x="3188" y="1248"/>
                <a:ext cx="0" cy="1056"/>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83" name="Text Box 36"/>
              <p:cNvSpPr txBox="1">
                <a:spLocks noChangeArrowheads="1"/>
              </p:cNvSpPr>
              <p:nvPr/>
            </p:nvSpPr>
            <p:spPr bwMode="auto">
              <a:xfrm>
                <a:off x="2966" y="1737"/>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0</a:t>
                </a:r>
                <a:endParaRPr kumimoji="1" lang="en-US" altLang="zh-CN" sz="2000">
                  <a:latin typeface="Times New Roman" panose="02020603050405020304" pitchFamily="18" charset="0"/>
                  <a:cs typeface="Times New Roman" panose="02020603050405020304" pitchFamily="18" charset="0"/>
                </a:endParaRPr>
              </a:p>
            </p:txBody>
          </p:sp>
          <p:sp>
            <p:nvSpPr>
              <p:cNvPr id="6184" name="Text Box 37"/>
              <p:cNvSpPr txBox="1">
                <a:spLocks noChangeArrowheads="1"/>
              </p:cNvSpPr>
              <p:nvPr/>
            </p:nvSpPr>
            <p:spPr bwMode="auto">
              <a:xfrm>
                <a:off x="2966" y="130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rPr>
                  <a:t>8</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grpSp>
        <p:sp>
          <p:nvSpPr>
            <p:cNvPr id="6179" name="Text Box 38"/>
            <p:cNvSpPr txBox="1">
              <a:spLocks noChangeArrowheads="1"/>
            </p:cNvSpPr>
            <p:nvPr/>
          </p:nvSpPr>
          <p:spPr bwMode="auto">
            <a:xfrm>
              <a:off x="5390" y="1401"/>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cs typeface="Times New Roman" panose="02020603050405020304" pitchFamily="18" charset="0"/>
                </a:rPr>
                <a:t>t</a:t>
              </a:r>
              <a:endParaRPr kumimoji="1" lang="en-US" altLang="zh-CN" sz="2000" i="1">
                <a:latin typeface="Times New Roman" panose="02020603050405020304" pitchFamily="18" charset="0"/>
                <a:cs typeface="Times New Roman" panose="02020603050405020304" pitchFamily="18" charset="0"/>
              </a:endParaRPr>
            </a:p>
          </p:txBody>
        </p:sp>
      </p:grpSp>
      <p:sp>
        <p:nvSpPr>
          <p:cNvPr id="113705" name="Text Box 41"/>
          <p:cNvSpPr txBox="1">
            <a:spLocks noChangeArrowheads="1"/>
          </p:cNvSpPr>
          <p:nvPr/>
        </p:nvSpPr>
        <p:spPr bwMode="auto">
          <a:xfrm>
            <a:off x="5788025" y="515778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4</a:t>
            </a:r>
            <a:endParaRPr kumimoji="1" lang="en-US" altLang="zh-CN" sz="2000"/>
          </a:p>
        </p:txBody>
      </p:sp>
      <p:grpSp>
        <p:nvGrpSpPr>
          <p:cNvPr id="7" name="Group 42"/>
          <p:cNvGrpSpPr/>
          <p:nvPr/>
        </p:nvGrpSpPr>
        <p:grpSpPr bwMode="auto">
          <a:xfrm>
            <a:off x="5838825" y="4508500"/>
            <a:ext cx="2919413" cy="1968500"/>
            <a:chOff x="3802" y="2231"/>
            <a:chExt cx="1839" cy="1240"/>
          </a:xfrm>
        </p:grpSpPr>
        <p:graphicFrame>
          <p:nvGraphicFramePr>
            <p:cNvPr id="6147" name="Object 3"/>
            <p:cNvGraphicFramePr>
              <a:graphicFrameLocks noChangeAspect="1"/>
            </p:cNvGraphicFramePr>
            <p:nvPr/>
          </p:nvGraphicFramePr>
          <p:xfrm>
            <a:off x="4024" y="2231"/>
            <a:ext cx="239" cy="289"/>
          </p:xfrm>
          <a:graphic>
            <a:graphicData uri="http://schemas.openxmlformats.org/presentationml/2006/ole">
              <mc:AlternateContent xmlns:mc="http://schemas.openxmlformats.org/markup-compatibility/2006">
                <mc:Choice xmlns:v="urn:schemas-microsoft-com:vml" Requires="v">
                  <p:oleObj spid="_x0000_s6251" name="Equation" r:id="rId3" imgW="254000" imgH="304800" progId="Equation.DSMT4">
                    <p:embed/>
                  </p:oleObj>
                </mc:Choice>
                <mc:Fallback>
                  <p:oleObj name="Equation" r:id="rId3" imgW="254000" imgH="304800" progId="Equation.DSMT4">
                    <p:embed/>
                    <p:pic>
                      <p:nvPicPr>
                        <p:cNvPr id="0" name="Object 3"/>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 y="2231"/>
                          <a:ext cx="239" cy="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74" name="Line 44"/>
            <p:cNvSpPr>
              <a:spLocks noChangeShapeType="1"/>
            </p:cNvSpPr>
            <p:nvPr/>
          </p:nvSpPr>
          <p:spPr bwMode="auto">
            <a:xfrm>
              <a:off x="4004" y="3001"/>
              <a:ext cx="158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75" name="Line 45"/>
            <p:cNvSpPr>
              <a:spLocks noChangeShapeType="1"/>
            </p:cNvSpPr>
            <p:nvPr/>
          </p:nvSpPr>
          <p:spPr bwMode="auto">
            <a:xfrm flipV="1">
              <a:off x="4004" y="2415"/>
              <a:ext cx="0" cy="1056"/>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76" name="Text Box 46"/>
            <p:cNvSpPr txBox="1">
              <a:spLocks noChangeArrowheads="1"/>
            </p:cNvSpPr>
            <p:nvPr/>
          </p:nvSpPr>
          <p:spPr bwMode="auto">
            <a:xfrm>
              <a:off x="3802" y="2873"/>
              <a:ext cx="2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cs typeface="Times New Roman" panose="02020603050405020304" pitchFamily="18" charset="0"/>
                </a:rPr>
                <a:t>0</a:t>
              </a:r>
              <a:endParaRPr kumimoji="1" lang="en-US" altLang="zh-CN">
                <a:latin typeface="Times New Roman" panose="02020603050405020304" pitchFamily="18" charset="0"/>
                <a:cs typeface="Times New Roman" panose="02020603050405020304" pitchFamily="18" charset="0"/>
              </a:endParaRPr>
            </a:p>
          </p:txBody>
        </p:sp>
        <p:sp>
          <p:nvSpPr>
            <p:cNvPr id="6177" name="Text Box 47"/>
            <p:cNvSpPr txBox="1">
              <a:spLocks noChangeArrowheads="1"/>
            </p:cNvSpPr>
            <p:nvPr/>
          </p:nvSpPr>
          <p:spPr bwMode="auto">
            <a:xfrm>
              <a:off x="5472" y="3017"/>
              <a:ext cx="16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cs typeface="Times New Roman" panose="02020603050405020304" pitchFamily="18" charset="0"/>
                </a:rPr>
                <a:t>t</a:t>
              </a:r>
              <a:endParaRPr kumimoji="1" lang="en-US" altLang="zh-CN" i="1">
                <a:latin typeface="Times New Roman" panose="02020603050405020304" pitchFamily="18" charset="0"/>
                <a:cs typeface="Times New Roman" panose="02020603050405020304" pitchFamily="18" charset="0"/>
              </a:endParaRPr>
            </a:p>
          </p:txBody>
        </p:sp>
      </p:grpSp>
      <p:sp>
        <p:nvSpPr>
          <p:cNvPr id="113712" name="Line 48"/>
          <p:cNvSpPr>
            <a:spLocks noChangeAspect="1" noChangeShapeType="1"/>
          </p:cNvSpPr>
          <p:nvPr/>
        </p:nvSpPr>
        <p:spPr bwMode="auto">
          <a:xfrm>
            <a:off x="6261100" y="5391150"/>
            <a:ext cx="274638" cy="1588"/>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3713" name="Line 49"/>
          <p:cNvSpPr>
            <a:spLocks noChangeShapeType="1"/>
          </p:cNvSpPr>
          <p:nvPr/>
        </p:nvSpPr>
        <p:spPr bwMode="auto">
          <a:xfrm flipV="1">
            <a:off x="8077200" y="5391150"/>
            <a:ext cx="209550" cy="1588"/>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3714" name="Text Box 50"/>
          <p:cNvSpPr txBox="1">
            <a:spLocks noChangeArrowheads="1"/>
          </p:cNvSpPr>
          <p:nvPr/>
        </p:nvSpPr>
        <p:spPr bwMode="auto">
          <a:xfrm>
            <a:off x="7500938" y="4484688"/>
            <a:ext cx="492125"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截止</a:t>
            </a:r>
            <a:endParaRPr kumimoji="1" lang="zh-CN" altLang="en-US" sz="2000" b="1">
              <a:solidFill>
                <a:schemeClr val="tx2"/>
              </a:solidFill>
            </a:endParaRPr>
          </a:p>
        </p:txBody>
      </p:sp>
      <p:sp>
        <p:nvSpPr>
          <p:cNvPr id="113715" name="Text Box 51"/>
          <p:cNvSpPr txBox="1">
            <a:spLocks noChangeArrowheads="1"/>
          </p:cNvSpPr>
          <p:nvPr/>
        </p:nvSpPr>
        <p:spPr bwMode="auto">
          <a:xfrm>
            <a:off x="6621463" y="4468813"/>
            <a:ext cx="49212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截止</a:t>
            </a:r>
            <a:endParaRPr kumimoji="1" lang="zh-CN" altLang="en-US" sz="2000" b="1">
              <a:solidFill>
                <a:schemeClr val="tx2"/>
              </a:solidFill>
            </a:endParaRPr>
          </a:p>
        </p:txBody>
      </p:sp>
      <p:sp>
        <p:nvSpPr>
          <p:cNvPr id="113716" name="Text Box 52"/>
          <p:cNvSpPr txBox="1">
            <a:spLocks noChangeArrowheads="1"/>
          </p:cNvSpPr>
          <p:nvPr/>
        </p:nvSpPr>
        <p:spPr bwMode="auto">
          <a:xfrm>
            <a:off x="7056438" y="3830638"/>
            <a:ext cx="492125"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导通</a:t>
            </a:r>
            <a:endParaRPr kumimoji="1" lang="zh-CN" altLang="en-US" sz="2000" b="1">
              <a:solidFill>
                <a:schemeClr val="tx2"/>
              </a:solidFill>
            </a:endParaRPr>
          </a:p>
        </p:txBody>
      </p:sp>
      <p:sp>
        <p:nvSpPr>
          <p:cNvPr id="113717" name="Text Box 53"/>
          <p:cNvSpPr txBox="1">
            <a:spLocks noChangeArrowheads="1"/>
          </p:cNvSpPr>
          <p:nvPr/>
        </p:nvSpPr>
        <p:spPr bwMode="auto">
          <a:xfrm>
            <a:off x="6140450" y="3857625"/>
            <a:ext cx="4921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导通</a:t>
            </a:r>
            <a:endParaRPr kumimoji="1" lang="zh-CN" altLang="en-US" sz="2000" b="1">
              <a:solidFill>
                <a:schemeClr val="tx2"/>
              </a:solidFill>
            </a:endParaRPr>
          </a:p>
        </p:txBody>
      </p:sp>
      <p:sp>
        <p:nvSpPr>
          <p:cNvPr id="113718" name="Rectangle 54"/>
          <p:cNvSpPr>
            <a:spLocks noChangeArrowheads="1"/>
          </p:cNvSpPr>
          <p:nvPr/>
        </p:nvSpPr>
        <p:spPr bwMode="auto">
          <a:xfrm>
            <a:off x="730250" y="5210175"/>
            <a:ext cx="459263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如果考虑二极管导通电压，则此时输出电压应为</a:t>
            </a:r>
            <a:r>
              <a:rPr kumimoji="1" lang="en-US" altLang="zh-CN" sz="2400" b="1" dirty="0">
                <a:solidFill>
                  <a:schemeClr val="tx2"/>
                </a:solidFill>
                <a:latin typeface="Times New Roman" panose="02020603050405020304" pitchFamily="18" charset="0"/>
                <a:cs typeface="Times New Roman" panose="02020603050405020304" pitchFamily="18" charset="0"/>
              </a:rPr>
              <a:t>4.7V</a:t>
            </a:r>
            <a:r>
              <a:rPr kumimoji="1" lang="zh-CN" altLang="en-US" sz="2400" b="1" dirty="0">
                <a:solidFill>
                  <a:schemeClr val="tx2"/>
                </a:solidFill>
                <a:latin typeface="Times New Roman" panose="02020603050405020304" pitchFamily="18" charset="0"/>
                <a:cs typeface="Times New Roman" panose="02020603050405020304" pitchFamily="18" charset="0"/>
              </a:rPr>
              <a:t>。</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pic>
        <p:nvPicPr>
          <p:cNvPr id="113719" name="Picture 55"/>
          <p:cNvPicPr preferRelativeResize="0">
            <a:picLocks noChangeAspect="1" noChangeArrowheads="1"/>
          </p:cNvPicPr>
          <p:nvPr/>
        </p:nvPicPr>
        <p:blipFill>
          <a:blip r:embed="rId5" cstate="print">
            <a:extLst>
              <a:ext uri="{28A0092B-C50C-407E-A947-70E740481C1C}">
                <a14:useLocalDpi xmlns:a14="http://schemas.microsoft.com/office/drawing/2010/main" val="0"/>
              </a:ext>
            </a:extLst>
          </a:blip>
          <a:srcRect t="21523"/>
          <a:stretch>
            <a:fillRect/>
          </a:stretch>
        </p:blipFill>
        <p:spPr bwMode="auto">
          <a:xfrm>
            <a:off x="6159500" y="3079750"/>
            <a:ext cx="221615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20" name="Picture 56"/>
          <p:cNvPicPr preferRelativeResize="0">
            <a:picLocks noChangeAspect="1" noChangeArrowheads="1"/>
          </p:cNvPicPr>
          <p:nvPr/>
        </p:nvPicPr>
        <p:blipFill>
          <a:blip r:embed="rId5" cstate="print">
            <a:extLst>
              <a:ext uri="{28A0092B-C50C-407E-A947-70E740481C1C}">
                <a14:useLocalDpi xmlns:a14="http://schemas.microsoft.com/office/drawing/2010/main" val="0"/>
              </a:ext>
            </a:extLst>
          </a:blip>
          <a:srcRect t="21523"/>
          <a:stretch>
            <a:fillRect/>
          </a:stretch>
        </p:blipFill>
        <p:spPr bwMode="auto">
          <a:xfrm>
            <a:off x="6153150" y="5383213"/>
            <a:ext cx="221615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57"/>
          <p:cNvGrpSpPr/>
          <p:nvPr/>
        </p:nvGrpSpPr>
        <p:grpSpPr bwMode="auto">
          <a:xfrm>
            <a:off x="6262688" y="3000375"/>
            <a:ext cx="1817687" cy="2727325"/>
            <a:chOff x="4005" y="1068"/>
            <a:chExt cx="1145" cy="1668"/>
          </a:xfrm>
        </p:grpSpPr>
        <p:sp>
          <p:nvSpPr>
            <p:cNvPr id="6169" name="Line 58"/>
            <p:cNvSpPr>
              <a:spLocks noChangeShapeType="1"/>
            </p:cNvSpPr>
            <p:nvPr/>
          </p:nvSpPr>
          <p:spPr bwMode="auto">
            <a:xfrm flipH="1">
              <a:off x="4173" y="1068"/>
              <a:ext cx="3" cy="1668"/>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70" name="Line 59"/>
            <p:cNvSpPr>
              <a:spLocks noChangeShapeType="1"/>
            </p:cNvSpPr>
            <p:nvPr/>
          </p:nvSpPr>
          <p:spPr bwMode="auto">
            <a:xfrm flipH="1">
              <a:off x="4575" y="1068"/>
              <a:ext cx="3" cy="1668"/>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71" name="Line 60"/>
            <p:cNvSpPr>
              <a:spLocks noChangeShapeType="1"/>
            </p:cNvSpPr>
            <p:nvPr/>
          </p:nvSpPr>
          <p:spPr bwMode="auto">
            <a:xfrm flipH="1">
              <a:off x="4749" y="1068"/>
              <a:ext cx="3" cy="1668"/>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72" name="Line 61"/>
            <p:cNvSpPr>
              <a:spLocks noChangeShapeType="1"/>
            </p:cNvSpPr>
            <p:nvPr/>
          </p:nvSpPr>
          <p:spPr bwMode="auto">
            <a:xfrm flipH="1">
              <a:off x="5147" y="1068"/>
              <a:ext cx="3" cy="1668"/>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73" name="Line 62"/>
            <p:cNvSpPr>
              <a:spLocks noChangeShapeType="1"/>
            </p:cNvSpPr>
            <p:nvPr/>
          </p:nvSpPr>
          <p:spPr bwMode="auto">
            <a:xfrm flipH="1">
              <a:off x="4005" y="1068"/>
              <a:ext cx="3" cy="1668"/>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113727" name="Line 63"/>
          <p:cNvSpPr>
            <a:spLocks noChangeAspect="1" noChangeShapeType="1"/>
          </p:cNvSpPr>
          <p:nvPr/>
        </p:nvSpPr>
        <p:spPr bwMode="auto">
          <a:xfrm>
            <a:off x="7161213" y="5391150"/>
            <a:ext cx="274637" cy="1588"/>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3703" name="Text Box 39"/>
          <p:cNvSpPr txBox="1">
            <a:spLocks noChangeArrowheads="1"/>
          </p:cNvSpPr>
          <p:nvPr/>
        </p:nvSpPr>
        <p:spPr bwMode="auto">
          <a:xfrm>
            <a:off x="624364" y="2872672"/>
            <a:ext cx="4881562"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当输入电压小于电池电压时，二极管两端电压处于反向偏置，截止，没有电流流过，所以输出电压跟随输入电压变化。</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13704" name="Text Box 40"/>
          <p:cNvSpPr txBox="1">
            <a:spLocks noChangeArrowheads="1"/>
          </p:cNvSpPr>
          <p:nvPr/>
        </p:nvSpPr>
        <p:spPr bwMode="auto">
          <a:xfrm>
            <a:off x="692618" y="2928218"/>
            <a:ext cx="4752975" cy="2012950"/>
          </a:xfrm>
          <a:prstGeom prst="rect">
            <a:avLst/>
          </a:prstGeom>
          <a:solidFill>
            <a:schemeClr val="bg1"/>
          </a:solid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当输入电压大于电池电压时，二极管两端电压处于正向偏置，导通，二极管两端电压为</a:t>
            </a:r>
            <a:r>
              <a:rPr kumimoji="1" lang="en-US" altLang="zh-CN" sz="2400" b="1" dirty="0">
                <a:solidFill>
                  <a:schemeClr val="tx2"/>
                </a:solidFill>
                <a:latin typeface="Times New Roman" panose="02020603050405020304" pitchFamily="18" charset="0"/>
                <a:cs typeface="Times New Roman" panose="02020603050405020304" pitchFamily="18" charset="0"/>
              </a:rPr>
              <a:t>0</a:t>
            </a:r>
            <a:r>
              <a:rPr kumimoji="1" lang="zh-CN" altLang="en-US" sz="2400" b="1" dirty="0">
                <a:solidFill>
                  <a:schemeClr val="tx2"/>
                </a:solidFill>
                <a:latin typeface="Times New Roman" panose="02020603050405020304" pitchFamily="18" charset="0"/>
                <a:cs typeface="Times New Roman" panose="02020603050405020304" pitchFamily="18" charset="0"/>
              </a:rPr>
              <a:t>，所以输出电压与电池电压相同，为</a:t>
            </a:r>
            <a:r>
              <a:rPr kumimoji="1" lang="en-US" altLang="zh-CN" sz="2400" b="1" dirty="0">
                <a:solidFill>
                  <a:schemeClr val="tx2"/>
                </a:solidFill>
                <a:latin typeface="Times New Roman" panose="02020603050405020304" pitchFamily="18" charset="0"/>
                <a:cs typeface="Times New Roman" panose="02020603050405020304" pitchFamily="18" charset="0"/>
              </a:rPr>
              <a:t>4V</a:t>
            </a:r>
            <a:r>
              <a:rPr kumimoji="1" lang="zh-CN" altLang="en-US" sz="2400" b="1" dirty="0">
                <a:solidFill>
                  <a:schemeClr val="tx2"/>
                </a:solidFill>
                <a:latin typeface="Times New Roman" panose="02020603050405020304" pitchFamily="18" charset="0"/>
                <a:cs typeface="Times New Roman" panose="02020603050405020304" pitchFamily="18" charset="0"/>
              </a:rPr>
              <a:t>。</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75"/>
                                  </p:iterate>
                                  <p:childTnLst>
                                    <p:set>
                                      <p:cBhvr>
                                        <p:cTn id="12" dur="1" fill="hold">
                                          <p:stCondLst>
                                            <p:cond delay="74"/>
                                          </p:stCondLst>
                                        </p:cTn>
                                        <p:tgtEl>
                                          <p:spTgt spid="113692"/>
                                        </p:tgtEl>
                                        <p:attrNameLst>
                                          <p:attrName>style.visibility</p:attrName>
                                        </p:attrNameLst>
                                      </p:cBhvr>
                                      <p:to>
                                        <p:strVal val="visible"/>
                                      </p:to>
                                    </p:set>
                                  </p:childTnLst>
                                </p:cTn>
                              </p:par>
                            </p:childTnLst>
                          </p:cTn>
                        </p:par>
                        <p:par>
                          <p:cTn id="13" fill="hold">
                            <p:stCondLst>
                              <p:cond delay="750"/>
                            </p:stCondLst>
                            <p:childTnLst>
                              <p:par>
                                <p:cTn id="14" presetID="1" presetClass="entr" presetSubtype="0" fill="hold" nodeType="afterEffect">
                                  <p:stCondLst>
                                    <p:cond delay="0"/>
                                  </p:stCondLst>
                                  <p:childTnLst>
                                    <p:set>
                                      <p:cBhvr>
                                        <p:cTn id="15" dur="1" fill="hold">
                                          <p:stCondLst>
                                            <p:cond delay="499"/>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13694"/>
                                        </p:tgtEl>
                                        <p:attrNameLst>
                                          <p:attrName>style.visibility</p:attrName>
                                        </p:attrNameLst>
                                      </p:cBhvr>
                                      <p:to>
                                        <p:strVal val="visible"/>
                                      </p:to>
                                    </p:set>
                                    <p:animEffect transition="in" filter="wipe(left)">
                                      <p:cBhvr>
                                        <p:cTn id="20" dur="500"/>
                                        <p:tgtEl>
                                          <p:spTgt spid="11369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75"/>
                                  </p:iterate>
                                  <p:childTnLst>
                                    <p:set>
                                      <p:cBhvr>
                                        <p:cTn id="24" dur="1" fill="hold">
                                          <p:stCondLst>
                                            <p:cond delay="74"/>
                                          </p:stCondLst>
                                        </p:cTn>
                                        <p:tgtEl>
                                          <p:spTgt spid="113693"/>
                                        </p:tgtEl>
                                        <p:attrNameLst>
                                          <p:attrName>style.visibility</p:attrName>
                                        </p:attrNameLst>
                                      </p:cBhvr>
                                      <p:to>
                                        <p:strVal val="visible"/>
                                      </p:to>
                                    </p:set>
                                  </p:childTnLst>
                                </p:cTn>
                              </p:par>
                            </p:childTnLst>
                          </p:cTn>
                        </p:par>
                        <p:par>
                          <p:cTn id="25" fill="hold">
                            <p:stCondLst>
                              <p:cond delay="675"/>
                            </p:stCondLst>
                            <p:childTnLst>
                              <p:par>
                                <p:cTn id="26" presetID="1" presetClass="entr" presetSubtype="0" fill="hold" grpId="0" nodeType="afterEffect">
                                  <p:stCondLst>
                                    <p:cond delay="0"/>
                                  </p:stCondLst>
                                  <p:iterate type="lt">
                                    <p:tmAbs val="75"/>
                                  </p:iterate>
                                  <p:childTnLst>
                                    <p:set>
                                      <p:cBhvr>
                                        <p:cTn id="27" dur="1" fill="hold">
                                          <p:stCondLst>
                                            <p:cond delay="74"/>
                                          </p:stCondLst>
                                        </p:cTn>
                                        <p:tgtEl>
                                          <p:spTgt spid="113703"/>
                                        </p:tgtEl>
                                        <p:attrNameLst>
                                          <p:attrName>style.visibility</p:attrName>
                                        </p:attrNameLst>
                                      </p:cBhvr>
                                      <p:to>
                                        <p:strVal val="visible"/>
                                      </p:to>
                                    </p:set>
                                  </p:childTnLst>
                                </p:cTn>
                              </p:par>
                            </p:childTnLst>
                          </p:cTn>
                        </p:par>
                        <p:par>
                          <p:cTn id="28" fill="hold">
                            <p:stCondLst>
                              <p:cond delay="4575"/>
                            </p:stCondLst>
                            <p:childTnLst>
                              <p:par>
                                <p:cTn id="29" presetID="1" presetClass="entr" presetSubtype="0" fill="hold" nodeType="afterEffect">
                                  <p:stCondLst>
                                    <p:cond delay="0"/>
                                  </p:stCondLst>
                                  <p:childTnLst>
                                    <p:set>
                                      <p:cBhvr>
                                        <p:cTn id="30" dur="1" fill="hold">
                                          <p:stCondLst>
                                            <p:cond delay="499"/>
                                          </p:stCondLst>
                                        </p:cTn>
                                        <p:tgtEl>
                                          <p:spTgt spid="113719"/>
                                        </p:tgtEl>
                                        <p:attrNameLst>
                                          <p:attrName>style.visibility</p:attrName>
                                        </p:attrNameLst>
                                      </p:cBhvr>
                                      <p:to>
                                        <p:strVal val="visible"/>
                                      </p:to>
                                    </p:set>
                                  </p:childTnLst>
                                </p:cTn>
                              </p:par>
                            </p:childTnLst>
                          </p:cTn>
                        </p:par>
                        <p:par>
                          <p:cTn id="31" fill="hold">
                            <p:stCondLst>
                              <p:cond delay="5075"/>
                            </p:stCondLst>
                            <p:childTnLst>
                              <p:par>
                                <p:cTn id="32" presetID="1" presetClass="entr" presetSubtype="0" fill="hold" nodeType="afterEffect">
                                  <p:stCondLst>
                                    <p:cond delay="0"/>
                                  </p:stCondLst>
                                  <p:childTnLst>
                                    <p:set>
                                      <p:cBhvr>
                                        <p:cTn id="33" dur="1" fill="hold">
                                          <p:stCondLst>
                                            <p:cond delay="499"/>
                                          </p:stCondLst>
                                        </p:cTn>
                                        <p:tgtEl>
                                          <p:spTgt spid="7"/>
                                        </p:tgtEl>
                                        <p:attrNameLst>
                                          <p:attrName>style.visibility</p:attrName>
                                        </p:attrNameLst>
                                      </p:cBhvr>
                                      <p:to>
                                        <p:strVal val="visible"/>
                                      </p:to>
                                    </p:set>
                                  </p:childTnLst>
                                </p:cTn>
                              </p:par>
                            </p:childTnLst>
                          </p:cTn>
                        </p:par>
                        <p:par>
                          <p:cTn id="34" fill="hold">
                            <p:stCondLst>
                              <p:cond delay="5575"/>
                            </p:stCondLst>
                            <p:childTnLst>
                              <p:par>
                                <p:cTn id="35" presetID="1" presetClass="entr" presetSubtype="0" fill="hold" nodeType="afterEffect">
                                  <p:stCondLst>
                                    <p:cond delay="0"/>
                                  </p:stCondLst>
                                  <p:childTnLst>
                                    <p:set>
                                      <p:cBhvr>
                                        <p:cTn id="36" dur="1" fill="hold">
                                          <p:stCondLst>
                                            <p:cond delay="499"/>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iterate type="lt">
                                    <p:tmPct val="100000"/>
                                  </p:iterate>
                                  <p:childTnLst>
                                    <p:set>
                                      <p:cBhvr>
                                        <p:cTn id="40" dur="1" fill="hold">
                                          <p:stCondLst>
                                            <p:cond delay="0"/>
                                          </p:stCondLst>
                                        </p:cTn>
                                        <p:tgtEl>
                                          <p:spTgt spid="113715"/>
                                        </p:tgtEl>
                                        <p:attrNameLst>
                                          <p:attrName>style.visibility</p:attrName>
                                        </p:attrNameLst>
                                      </p:cBhvr>
                                      <p:to>
                                        <p:strVal val="visible"/>
                                      </p:to>
                                    </p:set>
                                    <p:animEffect transition="in" filter="wipe(left)">
                                      <p:cBhvr>
                                        <p:cTn id="41" dur="75"/>
                                        <p:tgtEl>
                                          <p:spTgt spid="11371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iterate type="lt">
                                    <p:tmPct val="100000"/>
                                  </p:iterate>
                                  <p:childTnLst>
                                    <p:set>
                                      <p:cBhvr>
                                        <p:cTn id="45" dur="1" fill="hold">
                                          <p:stCondLst>
                                            <p:cond delay="0"/>
                                          </p:stCondLst>
                                        </p:cTn>
                                        <p:tgtEl>
                                          <p:spTgt spid="113714"/>
                                        </p:tgtEl>
                                        <p:attrNameLst>
                                          <p:attrName>style.visibility</p:attrName>
                                        </p:attrNameLst>
                                      </p:cBhvr>
                                      <p:to>
                                        <p:strVal val="visible"/>
                                      </p:to>
                                    </p:set>
                                    <p:animEffect transition="in" filter="wipe(left)">
                                      <p:cBhvr>
                                        <p:cTn id="46" dur="75"/>
                                        <p:tgtEl>
                                          <p:spTgt spid="113714"/>
                                        </p:tgtEl>
                                      </p:cBhvr>
                                    </p:animEffect>
                                  </p:childTnLst>
                                </p:cTn>
                              </p:par>
                            </p:childTnLst>
                          </p:cTn>
                        </p:par>
                        <p:par>
                          <p:cTn id="47" fill="hold">
                            <p:stCondLst>
                              <p:cond delay="150"/>
                            </p:stCondLst>
                            <p:childTnLst>
                              <p:par>
                                <p:cTn id="48" presetID="1" presetClass="entr" presetSubtype="0" fill="hold" nodeType="afterEffect">
                                  <p:stCondLst>
                                    <p:cond delay="0"/>
                                  </p:stCondLst>
                                  <p:childTnLst>
                                    <p:set>
                                      <p:cBhvr>
                                        <p:cTn id="49" dur="1" fill="hold">
                                          <p:stCondLst>
                                            <p:cond delay="499"/>
                                          </p:stCondLst>
                                        </p:cTn>
                                        <p:tgtEl>
                                          <p:spTgt spid="1137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iterate type="lt">
                                    <p:tmAbs val="75"/>
                                  </p:iterate>
                                  <p:childTnLst>
                                    <p:set>
                                      <p:cBhvr>
                                        <p:cTn id="53" dur="1" fill="hold">
                                          <p:stCondLst>
                                            <p:cond delay="74"/>
                                          </p:stCondLst>
                                        </p:cTn>
                                        <p:tgtEl>
                                          <p:spTgt spid="11370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iterate type="lt">
                                    <p:tmPct val="100000"/>
                                  </p:iterate>
                                  <p:childTnLst>
                                    <p:set>
                                      <p:cBhvr>
                                        <p:cTn id="57" dur="1" fill="hold">
                                          <p:stCondLst>
                                            <p:cond delay="0"/>
                                          </p:stCondLst>
                                        </p:cTn>
                                        <p:tgtEl>
                                          <p:spTgt spid="113717"/>
                                        </p:tgtEl>
                                        <p:attrNameLst>
                                          <p:attrName>style.visibility</p:attrName>
                                        </p:attrNameLst>
                                      </p:cBhvr>
                                      <p:to>
                                        <p:strVal val="visible"/>
                                      </p:to>
                                    </p:set>
                                    <p:animEffect transition="in" filter="wipe(left)">
                                      <p:cBhvr>
                                        <p:cTn id="58" dur="75"/>
                                        <p:tgtEl>
                                          <p:spTgt spid="11371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iterate type="lt">
                                    <p:tmPct val="100000"/>
                                  </p:iterate>
                                  <p:childTnLst>
                                    <p:set>
                                      <p:cBhvr>
                                        <p:cTn id="62" dur="1" fill="hold">
                                          <p:stCondLst>
                                            <p:cond delay="0"/>
                                          </p:stCondLst>
                                        </p:cTn>
                                        <p:tgtEl>
                                          <p:spTgt spid="113716"/>
                                        </p:tgtEl>
                                        <p:attrNameLst>
                                          <p:attrName>style.visibility</p:attrName>
                                        </p:attrNameLst>
                                      </p:cBhvr>
                                      <p:to>
                                        <p:strVal val="visible"/>
                                      </p:to>
                                    </p:set>
                                    <p:animEffect transition="in" filter="wipe(left)">
                                      <p:cBhvr>
                                        <p:cTn id="63" dur="75"/>
                                        <p:tgtEl>
                                          <p:spTgt spid="113716"/>
                                        </p:tgtEl>
                                      </p:cBhvr>
                                    </p:animEffect>
                                  </p:childTnLst>
                                </p:cTn>
                              </p:par>
                            </p:childTnLst>
                          </p:cTn>
                        </p:par>
                        <p:par>
                          <p:cTn id="64" fill="hold">
                            <p:stCondLst>
                              <p:cond delay="150"/>
                            </p:stCondLst>
                            <p:childTnLst>
                              <p:par>
                                <p:cTn id="65" presetID="22" presetClass="entr" presetSubtype="8" fill="hold" grpId="0" nodeType="afterEffect">
                                  <p:stCondLst>
                                    <p:cond delay="0"/>
                                  </p:stCondLst>
                                  <p:iterate type="lt">
                                    <p:tmPct val="100000"/>
                                  </p:iterate>
                                  <p:childTnLst>
                                    <p:set>
                                      <p:cBhvr>
                                        <p:cTn id="66" dur="1" fill="hold">
                                          <p:stCondLst>
                                            <p:cond delay="0"/>
                                          </p:stCondLst>
                                        </p:cTn>
                                        <p:tgtEl>
                                          <p:spTgt spid="113705"/>
                                        </p:tgtEl>
                                        <p:attrNameLst>
                                          <p:attrName>style.visibility</p:attrName>
                                        </p:attrNameLst>
                                      </p:cBhvr>
                                      <p:to>
                                        <p:strVal val="visible"/>
                                      </p:to>
                                    </p:set>
                                    <p:animEffect transition="in" filter="wipe(left)">
                                      <p:cBhvr>
                                        <p:cTn id="67" dur="75"/>
                                        <p:tgtEl>
                                          <p:spTgt spid="113705"/>
                                        </p:tgtEl>
                                      </p:cBhvr>
                                    </p:animEffect>
                                  </p:childTnLst>
                                </p:cTn>
                              </p:par>
                            </p:childTnLst>
                          </p:cTn>
                        </p:par>
                        <p:par>
                          <p:cTn id="68" fill="hold">
                            <p:stCondLst>
                              <p:cond delay="225"/>
                            </p:stCondLst>
                            <p:childTnLst>
                              <p:par>
                                <p:cTn id="69" presetID="22" presetClass="entr" presetSubtype="8" fill="hold" grpId="0" nodeType="afterEffect">
                                  <p:stCondLst>
                                    <p:cond delay="0"/>
                                  </p:stCondLst>
                                  <p:childTnLst>
                                    <p:set>
                                      <p:cBhvr>
                                        <p:cTn id="70" dur="1" fill="hold">
                                          <p:stCondLst>
                                            <p:cond delay="0"/>
                                          </p:stCondLst>
                                        </p:cTn>
                                        <p:tgtEl>
                                          <p:spTgt spid="113712"/>
                                        </p:tgtEl>
                                        <p:attrNameLst>
                                          <p:attrName>style.visibility</p:attrName>
                                        </p:attrNameLst>
                                      </p:cBhvr>
                                      <p:to>
                                        <p:strVal val="visible"/>
                                      </p:to>
                                    </p:set>
                                    <p:animEffect transition="in" filter="wipe(left)">
                                      <p:cBhvr>
                                        <p:cTn id="71" dur="500"/>
                                        <p:tgtEl>
                                          <p:spTgt spid="113712"/>
                                        </p:tgtEl>
                                      </p:cBhvr>
                                    </p:animEffect>
                                  </p:childTnLst>
                                </p:cTn>
                              </p:par>
                            </p:childTnLst>
                          </p:cTn>
                        </p:par>
                        <p:par>
                          <p:cTn id="72" fill="hold">
                            <p:stCondLst>
                              <p:cond delay="725"/>
                            </p:stCondLst>
                            <p:childTnLst>
                              <p:par>
                                <p:cTn id="73" presetID="22" presetClass="entr" presetSubtype="8" fill="hold" grpId="0" nodeType="afterEffect">
                                  <p:stCondLst>
                                    <p:cond delay="0"/>
                                  </p:stCondLst>
                                  <p:childTnLst>
                                    <p:set>
                                      <p:cBhvr>
                                        <p:cTn id="74" dur="1" fill="hold">
                                          <p:stCondLst>
                                            <p:cond delay="0"/>
                                          </p:stCondLst>
                                        </p:cTn>
                                        <p:tgtEl>
                                          <p:spTgt spid="113727"/>
                                        </p:tgtEl>
                                        <p:attrNameLst>
                                          <p:attrName>style.visibility</p:attrName>
                                        </p:attrNameLst>
                                      </p:cBhvr>
                                      <p:to>
                                        <p:strVal val="visible"/>
                                      </p:to>
                                    </p:set>
                                    <p:animEffect transition="in" filter="wipe(left)">
                                      <p:cBhvr>
                                        <p:cTn id="75" dur="500"/>
                                        <p:tgtEl>
                                          <p:spTgt spid="113727"/>
                                        </p:tgtEl>
                                      </p:cBhvr>
                                    </p:animEffect>
                                  </p:childTnLst>
                                </p:cTn>
                              </p:par>
                            </p:childTnLst>
                          </p:cTn>
                        </p:par>
                        <p:par>
                          <p:cTn id="76" fill="hold">
                            <p:stCondLst>
                              <p:cond delay="1225"/>
                            </p:stCondLst>
                            <p:childTnLst>
                              <p:par>
                                <p:cTn id="77" presetID="22" presetClass="entr" presetSubtype="8" fill="hold" grpId="0" nodeType="afterEffect">
                                  <p:stCondLst>
                                    <p:cond delay="0"/>
                                  </p:stCondLst>
                                  <p:childTnLst>
                                    <p:set>
                                      <p:cBhvr>
                                        <p:cTn id="78" dur="1" fill="hold">
                                          <p:stCondLst>
                                            <p:cond delay="0"/>
                                          </p:stCondLst>
                                        </p:cTn>
                                        <p:tgtEl>
                                          <p:spTgt spid="113713"/>
                                        </p:tgtEl>
                                        <p:attrNameLst>
                                          <p:attrName>style.visibility</p:attrName>
                                        </p:attrNameLst>
                                      </p:cBhvr>
                                      <p:to>
                                        <p:strVal val="visible"/>
                                      </p:to>
                                    </p:set>
                                    <p:animEffect transition="in" filter="wipe(left)">
                                      <p:cBhvr>
                                        <p:cTn id="79" dur="500"/>
                                        <p:tgtEl>
                                          <p:spTgt spid="113713"/>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iterate type="lt">
                                    <p:tmAbs val="75"/>
                                  </p:iterate>
                                  <p:childTnLst>
                                    <p:set>
                                      <p:cBhvr>
                                        <p:cTn id="83" dur="1" fill="hold">
                                          <p:stCondLst>
                                            <p:cond delay="74"/>
                                          </p:stCondLst>
                                        </p:cTn>
                                        <p:tgtEl>
                                          <p:spTgt spid="1137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92" grpId="0" autoUpdateAnimBg="0"/>
      <p:bldP spid="113693" grpId="0" autoUpdateAnimBg="0"/>
      <p:bldP spid="113705" grpId="0" autoUpdateAnimBg="0"/>
      <p:bldP spid="113712" grpId="0" animBg="1"/>
      <p:bldP spid="113713" grpId="0" animBg="1"/>
      <p:bldP spid="113714" grpId="0" autoUpdateAnimBg="0"/>
      <p:bldP spid="113715" grpId="0" autoUpdateAnimBg="0"/>
      <p:bldP spid="113716" grpId="0" autoUpdateAnimBg="0"/>
      <p:bldP spid="113717" grpId="0" autoUpdateAnimBg="0"/>
      <p:bldP spid="113718" grpId="0" autoUpdateAnimBg="0"/>
      <p:bldP spid="113727" grpId="0" animBg="1"/>
      <p:bldP spid="113703" grpId="0" autoUpdateAnimBg="0"/>
      <p:bldP spid="113704"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5.1 </a:t>
            </a:r>
            <a:r>
              <a:rPr lang="zh-CN" altLang="en-US" sz="3200" smtClean="0">
                <a:ea typeface="宋体" panose="02010600030101010101" pitchFamily="2" charset="-122"/>
              </a:rPr>
              <a:t>半导体二极管的工作原理与特性（续</a:t>
            </a:r>
            <a:r>
              <a:rPr lang="en-US" altLang="zh-CN" sz="3200" smtClean="0">
                <a:ea typeface="宋体" panose="02010600030101010101" pitchFamily="2" charset="-122"/>
              </a:rPr>
              <a:t>24</a:t>
            </a:r>
            <a:r>
              <a:rPr lang="zh-CN" altLang="en-US" sz="3200" smtClean="0">
                <a:ea typeface="宋体" panose="02010600030101010101" pitchFamily="2" charset="-122"/>
              </a:rPr>
              <a:t>）</a:t>
            </a:r>
            <a:endParaRPr lang="en-US" altLang="zh-CN"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pic>
        <p:nvPicPr>
          <p:cNvPr id="46083" name="Picture 5">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763" y="1420912"/>
            <a:ext cx="6677025"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46084" name="Rectangle 6"/>
          <p:cNvSpPr>
            <a:spLocks noChangeArrowheads="1"/>
          </p:cNvSpPr>
          <p:nvPr/>
        </p:nvSpPr>
        <p:spPr bwMode="auto">
          <a:xfrm>
            <a:off x="1747838" y="836712"/>
            <a:ext cx="42066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lang="zh-CN" altLang="en-US" sz="2400" b="1" dirty="0" smtClean="0">
                <a:solidFill>
                  <a:schemeClr val="tx2"/>
                </a:solidFill>
              </a:rPr>
              <a:t>观察</a:t>
            </a:r>
            <a:r>
              <a:rPr lang="zh-CN" altLang="en-US" sz="2400" b="1" dirty="0">
                <a:solidFill>
                  <a:schemeClr val="tx2"/>
                </a:solidFill>
              </a:rPr>
              <a:t>二极管限幅电路工作情况</a:t>
            </a:r>
            <a:endParaRPr lang="zh-CN" altLang="en-US" sz="2400" b="1" dirty="0">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1" y="70883"/>
            <a:ext cx="9162909" cy="523220"/>
          </a:xfrm>
        </p:spPr>
        <p:txBody>
          <a:bodyPr>
            <a:spAutoFit/>
          </a:bodyPr>
          <a:lstStyle/>
          <a:p>
            <a:pPr eaLnBrk="1" hangingPunct="1"/>
            <a:r>
              <a:rPr lang="en-US" altLang="zh-CN" sz="2800" dirty="0" smtClean="0">
                <a:ea typeface="宋体" panose="02010600030101010101" pitchFamily="2" charset="-122"/>
              </a:rPr>
              <a:t>5.1 </a:t>
            </a:r>
            <a:r>
              <a:rPr lang="zh-CN" altLang="en-US" sz="2800" dirty="0" smtClean="0">
                <a:ea typeface="宋体" panose="02010600030101010101" pitchFamily="2" charset="-122"/>
              </a:rPr>
              <a:t>半导体二极管的工作原理与</a:t>
            </a:r>
            <a:r>
              <a:rPr lang="zh-CN" altLang="en-US" sz="2800" dirty="0" smtClean="0">
                <a:ea typeface="宋体" panose="02010600030101010101" pitchFamily="2" charset="-122"/>
              </a:rPr>
              <a:t>特性</a:t>
            </a:r>
            <a:endParaRPr lang="zh-CN" altLang="en-US" sz="3200" dirty="0" smtClean="0">
              <a:ea typeface="楷体_GB2312" pitchFamily="49" charset="-122"/>
            </a:endParaRPr>
          </a:p>
        </p:txBody>
      </p:sp>
      <p:sp>
        <p:nvSpPr>
          <p:cNvPr id="3" name="灯片编号占位符 2"/>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6149" name="Rectangle 3"/>
          <p:cNvSpPr>
            <a:spLocks noGrp="1" noChangeArrowheads="1"/>
          </p:cNvSpPr>
          <p:nvPr>
            <p:ph sz="quarter" idx="4294967295"/>
          </p:nvPr>
        </p:nvSpPr>
        <p:spPr>
          <a:xfrm>
            <a:off x="-61128" y="815975"/>
            <a:ext cx="8550275" cy="904863"/>
          </a:xfrm>
        </p:spPr>
        <p:txBody>
          <a:bodyPr>
            <a:spAutoFit/>
          </a:bodyPr>
          <a:lstStyle/>
          <a:p>
            <a:pPr eaLnBrk="1" hangingPunct="1"/>
            <a:r>
              <a:rPr kumimoji="1" lang="zh-CN" altLang="en-US" sz="2400" dirty="0" smtClean="0">
                <a:ea typeface="宋体" panose="02010600030101010101" pitchFamily="2" charset="-122"/>
              </a:rPr>
              <a:t>理想二极管应用电路实例</a:t>
            </a:r>
            <a:endParaRPr kumimoji="1" lang="zh-CN" altLang="en-US" sz="2400" dirty="0" smtClean="0">
              <a:ea typeface="宋体" panose="02010600030101010101" pitchFamily="2" charset="-122"/>
            </a:endParaRPr>
          </a:p>
          <a:p>
            <a:pPr lvl="1" eaLnBrk="1" hangingPunct="1"/>
            <a:r>
              <a:rPr kumimoji="1" lang="zh-CN" altLang="en-US" sz="2400" dirty="0" smtClean="0"/>
              <a:t>双向限幅</a:t>
            </a:r>
            <a:r>
              <a:rPr kumimoji="1" lang="zh-CN" altLang="en-US" sz="2400" dirty="0" smtClean="0"/>
              <a:t>电路</a:t>
            </a:r>
            <a:endParaRPr kumimoji="1" lang="zh-CN" altLang="en-US" sz="2400" dirty="0" smtClean="0"/>
          </a:p>
        </p:txBody>
      </p:sp>
      <p:grpSp>
        <p:nvGrpSpPr>
          <p:cNvPr id="2" name="Group 4"/>
          <p:cNvGrpSpPr/>
          <p:nvPr/>
        </p:nvGrpSpPr>
        <p:grpSpPr bwMode="auto">
          <a:xfrm>
            <a:off x="4749532" y="1180313"/>
            <a:ext cx="3351212" cy="1231900"/>
            <a:chOff x="172" y="896"/>
            <a:chExt cx="2111" cy="776"/>
          </a:xfrm>
        </p:grpSpPr>
        <p:sp>
          <p:nvSpPr>
            <p:cNvPr id="6185" name="Rectangle 5"/>
            <p:cNvSpPr>
              <a:spLocks noChangeArrowheads="1"/>
            </p:cNvSpPr>
            <p:nvPr/>
          </p:nvSpPr>
          <p:spPr bwMode="auto">
            <a:xfrm>
              <a:off x="732" y="896"/>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pSp>
          <p:nvGrpSpPr>
            <p:cNvPr id="6186" name="Group 6"/>
            <p:cNvGrpSpPr>
              <a:grpSpLocks noChangeAspect="1"/>
            </p:cNvGrpSpPr>
            <p:nvPr/>
          </p:nvGrpSpPr>
          <p:grpSpPr bwMode="auto">
            <a:xfrm flipV="1">
              <a:off x="1166" y="934"/>
              <a:ext cx="184" cy="489"/>
              <a:chOff x="3264" y="1344"/>
              <a:chExt cx="288" cy="766"/>
            </a:xfrm>
          </p:grpSpPr>
          <p:sp>
            <p:nvSpPr>
              <p:cNvPr id="6201" name="AutoShape 7"/>
              <p:cNvSpPr>
                <a:spLocks noChangeAspect="1" noChangeArrowheads="1"/>
              </p:cNvSpPr>
              <p:nvPr/>
            </p:nvSpPr>
            <p:spPr bwMode="auto">
              <a:xfrm>
                <a:off x="3264"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6202" name="Line 8"/>
              <p:cNvSpPr>
                <a:spLocks noChangeAspect="1"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203" name="Line 9"/>
              <p:cNvSpPr>
                <a:spLocks noChangeAspect="1" noChangeShapeType="1"/>
              </p:cNvSpPr>
              <p:nvPr/>
            </p:nvSpPr>
            <p:spPr bwMode="auto">
              <a:xfrm>
                <a:off x="3399" y="1344"/>
                <a:ext cx="9" cy="76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6187" name="Group 10"/>
            <p:cNvGrpSpPr/>
            <p:nvPr/>
          </p:nvGrpSpPr>
          <p:grpSpPr bwMode="auto">
            <a:xfrm>
              <a:off x="1166" y="1423"/>
              <a:ext cx="192" cy="48"/>
              <a:chOff x="908" y="1989"/>
              <a:chExt cx="192" cy="48"/>
            </a:xfrm>
          </p:grpSpPr>
          <p:sp>
            <p:nvSpPr>
              <p:cNvPr id="6199" name="Line 11"/>
              <p:cNvSpPr>
                <a:spLocks noChangeShapeType="1"/>
              </p:cNvSpPr>
              <p:nvPr/>
            </p:nvSpPr>
            <p:spPr bwMode="auto">
              <a:xfrm>
                <a:off x="908" y="1989"/>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200" name="Line 12"/>
              <p:cNvSpPr>
                <a:spLocks noChangeShapeType="1"/>
              </p:cNvSpPr>
              <p:nvPr/>
            </p:nvSpPr>
            <p:spPr bwMode="auto">
              <a:xfrm>
                <a:off x="956" y="2037"/>
                <a:ext cx="9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6188" name="Line 15"/>
            <p:cNvSpPr>
              <a:spLocks noChangeShapeType="1"/>
            </p:cNvSpPr>
            <p:nvPr/>
          </p:nvSpPr>
          <p:spPr bwMode="auto">
            <a:xfrm>
              <a:off x="252" y="934"/>
              <a:ext cx="48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89" name="Line 16"/>
            <p:cNvSpPr>
              <a:spLocks noChangeShapeType="1"/>
            </p:cNvSpPr>
            <p:nvPr/>
          </p:nvSpPr>
          <p:spPr bwMode="auto">
            <a:xfrm flipV="1">
              <a:off x="972" y="932"/>
              <a:ext cx="1084" cy="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6190" name="Line 17"/>
            <p:cNvSpPr>
              <a:spLocks noChangeShapeType="1"/>
            </p:cNvSpPr>
            <p:nvPr/>
          </p:nvSpPr>
          <p:spPr bwMode="auto">
            <a:xfrm>
              <a:off x="305" y="1642"/>
              <a:ext cx="1751" cy="15"/>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6191" name="Line 18"/>
            <p:cNvSpPr>
              <a:spLocks noChangeShapeType="1"/>
            </p:cNvSpPr>
            <p:nvPr/>
          </p:nvSpPr>
          <p:spPr bwMode="auto">
            <a:xfrm>
              <a:off x="1260" y="1510"/>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92" name="Text Box 21"/>
            <p:cNvSpPr txBox="1">
              <a:spLocks noChangeArrowheads="1"/>
            </p:cNvSpPr>
            <p:nvPr/>
          </p:nvSpPr>
          <p:spPr bwMode="auto">
            <a:xfrm>
              <a:off x="172" y="1018"/>
              <a:ext cx="259"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i</a:t>
              </a:r>
              <a:endParaRPr kumimoji="1" lang="en-US" altLang="zh-CN" b="1" i="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_</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193" name="Text Box 22"/>
            <p:cNvSpPr txBox="1">
              <a:spLocks noChangeArrowheads="1"/>
            </p:cNvSpPr>
            <p:nvPr/>
          </p:nvSpPr>
          <p:spPr bwMode="auto">
            <a:xfrm>
              <a:off x="1996" y="987"/>
              <a:ext cx="287"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dirty="0">
                  <a:solidFill>
                    <a:schemeClr val="tx2"/>
                  </a:solidFill>
                  <a:latin typeface="Times New Roman" panose="02020603050405020304" pitchFamily="18" charset="0"/>
                  <a:cs typeface="Times New Roman" panose="02020603050405020304" pitchFamily="18" charset="0"/>
                </a:rPr>
                <a:t>+</a:t>
              </a:r>
              <a:endParaRPr kumimoji="1" lang="en-US" altLang="zh-CN" b="1" i="1" dirty="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dirty="0" err="1">
                  <a:solidFill>
                    <a:schemeClr val="tx2"/>
                  </a:solidFill>
                  <a:latin typeface="Times New Roman" panose="02020603050405020304" pitchFamily="18" charset="0"/>
                  <a:cs typeface="Times New Roman" panose="02020603050405020304" pitchFamily="18" charset="0"/>
                </a:rPr>
                <a:t>u</a:t>
              </a:r>
              <a:r>
                <a:rPr kumimoji="1" lang="en-US" altLang="zh-CN" b="1" baseline="-25000" dirty="0" err="1">
                  <a:solidFill>
                    <a:schemeClr val="tx2"/>
                  </a:solidFill>
                  <a:latin typeface="Times New Roman" panose="02020603050405020304" pitchFamily="18" charset="0"/>
                  <a:cs typeface="Times New Roman" panose="02020603050405020304" pitchFamily="18" charset="0"/>
                </a:rPr>
                <a:t>O</a:t>
              </a:r>
              <a:endParaRPr kumimoji="1" lang="en-US" altLang="zh-CN" b="1" baseline="-25000" dirty="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dirty="0">
                  <a:solidFill>
                    <a:schemeClr val="tx2"/>
                  </a:solidFill>
                  <a:latin typeface="Times New Roman" panose="02020603050405020304" pitchFamily="18" charset="0"/>
                  <a:cs typeface="Times New Roman" panose="02020603050405020304" pitchFamily="18" charset="0"/>
                </a:rPr>
                <a:t>_</a:t>
              </a:r>
              <a:endParaRPr kumimoji="1" lang="en-US" altLang="zh-CN" b="1" i="1" dirty="0">
                <a:solidFill>
                  <a:schemeClr val="tx2"/>
                </a:solidFill>
                <a:latin typeface="Times New Roman" panose="02020603050405020304" pitchFamily="18" charset="0"/>
                <a:cs typeface="Times New Roman" panose="02020603050405020304" pitchFamily="18" charset="0"/>
              </a:endParaRPr>
            </a:p>
          </p:txBody>
        </p:sp>
        <p:sp>
          <p:nvSpPr>
            <p:cNvPr id="6194" name="Text Box 23"/>
            <p:cNvSpPr txBox="1">
              <a:spLocks noChangeArrowheads="1"/>
            </p:cNvSpPr>
            <p:nvPr/>
          </p:nvSpPr>
          <p:spPr bwMode="auto">
            <a:xfrm>
              <a:off x="734" y="100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R</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6195" name="Text Box 24"/>
            <p:cNvSpPr txBox="1">
              <a:spLocks noChangeArrowheads="1"/>
            </p:cNvSpPr>
            <p:nvPr/>
          </p:nvSpPr>
          <p:spPr bwMode="auto">
            <a:xfrm>
              <a:off x="909" y="1002"/>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000" i="1"/>
            </a:p>
          </p:txBody>
        </p:sp>
        <p:sp>
          <p:nvSpPr>
            <p:cNvPr id="6196" name="Text Box 25"/>
            <p:cNvSpPr txBox="1">
              <a:spLocks noChangeArrowheads="1"/>
            </p:cNvSpPr>
            <p:nvPr/>
          </p:nvSpPr>
          <p:spPr bwMode="auto">
            <a:xfrm>
              <a:off x="922" y="1315"/>
              <a:ext cx="48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dirty="0" smtClean="0">
                  <a:solidFill>
                    <a:schemeClr val="tx2"/>
                  </a:solidFill>
                  <a:latin typeface="Times New Roman" panose="02020603050405020304" pitchFamily="18" charset="0"/>
                  <a:cs typeface="Times New Roman" panose="02020603050405020304" pitchFamily="18" charset="0"/>
                </a:rPr>
                <a:t>E</a:t>
              </a:r>
              <a:r>
                <a:rPr kumimoji="1" lang="en-US" altLang="zh-CN" sz="2000" b="1" baseline="-25000" dirty="0" smtClean="0">
                  <a:solidFill>
                    <a:schemeClr val="tx2"/>
                  </a:solidFill>
                  <a:latin typeface="Times New Roman" panose="02020603050405020304" pitchFamily="18" charset="0"/>
                  <a:cs typeface="Times New Roman" panose="02020603050405020304" pitchFamily="18" charset="0"/>
                </a:rPr>
                <a:t>1</a:t>
              </a:r>
              <a:endParaRPr kumimoji="1" lang="en-US" altLang="zh-CN" sz="2000" b="1" baseline="-25000" dirty="0">
                <a:solidFill>
                  <a:schemeClr val="tx2"/>
                </a:solidFill>
                <a:latin typeface="Times New Roman" panose="02020603050405020304" pitchFamily="18" charset="0"/>
                <a:cs typeface="Times New Roman" panose="02020603050405020304" pitchFamily="18" charset="0"/>
              </a:endParaRPr>
            </a:p>
          </p:txBody>
        </p:sp>
        <p:sp>
          <p:nvSpPr>
            <p:cNvPr id="6197" name="Oval 26"/>
            <p:cNvSpPr>
              <a:spLocks noChangeArrowheads="1"/>
            </p:cNvSpPr>
            <p:nvPr/>
          </p:nvSpPr>
          <p:spPr bwMode="auto">
            <a:xfrm>
              <a:off x="1234" y="902"/>
              <a:ext cx="48" cy="48"/>
            </a:xfrm>
            <a:prstGeom prst="ellipse">
              <a:avLst/>
            </a:prstGeom>
            <a:solidFill>
              <a:schemeClr val="tx1"/>
            </a:solidFill>
            <a:ln w="28575">
              <a:solidFill>
                <a:schemeClr val="tx1"/>
              </a:solidFill>
              <a:round/>
            </a:ln>
          </p:spPr>
          <p:txBody>
            <a:bodyPr anchor="ctr">
              <a:spAutoFit/>
            </a:bodyPr>
            <a:lstStyle/>
            <a:p>
              <a:endParaRPr lang="zh-CN" altLang="en-US"/>
            </a:p>
          </p:txBody>
        </p:sp>
        <p:sp>
          <p:nvSpPr>
            <p:cNvPr id="6198" name="Oval 27"/>
            <p:cNvSpPr>
              <a:spLocks noChangeArrowheads="1"/>
            </p:cNvSpPr>
            <p:nvPr/>
          </p:nvSpPr>
          <p:spPr bwMode="auto">
            <a:xfrm>
              <a:off x="1238" y="1624"/>
              <a:ext cx="48" cy="48"/>
            </a:xfrm>
            <a:prstGeom prst="ellipse">
              <a:avLst/>
            </a:prstGeom>
            <a:solidFill>
              <a:schemeClr val="tx1"/>
            </a:solidFill>
            <a:ln w="28575">
              <a:solidFill>
                <a:schemeClr val="tx1"/>
              </a:solidFill>
              <a:round/>
            </a:ln>
          </p:spPr>
          <p:txBody>
            <a:bodyPr anchor="ctr">
              <a:spAutoFit/>
            </a:bodyPr>
            <a:lstStyle/>
            <a:p>
              <a:endParaRPr lang="zh-CN" altLang="en-US"/>
            </a:p>
          </p:txBody>
        </p:sp>
      </p:grpSp>
      <p:sp>
        <p:nvSpPr>
          <p:cNvPr id="113704" name="Text Box 40"/>
          <p:cNvSpPr txBox="1">
            <a:spLocks noChangeArrowheads="1"/>
          </p:cNvSpPr>
          <p:nvPr/>
        </p:nvSpPr>
        <p:spPr bwMode="auto">
          <a:xfrm>
            <a:off x="709603" y="1983106"/>
            <a:ext cx="2350229" cy="572464"/>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dirty="0" smtClean="0">
                <a:solidFill>
                  <a:schemeClr val="tx2"/>
                </a:solidFill>
                <a:latin typeface="Times New Roman" panose="02020603050405020304" pitchFamily="18" charset="0"/>
                <a:cs typeface="Times New Roman" panose="02020603050405020304" pitchFamily="18" charset="0"/>
              </a:rPr>
              <a:t>电压传输特性</a:t>
            </a:r>
            <a:r>
              <a:rPr kumimoji="1" lang="zh-CN" altLang="en-US" sz="2400" b="1" dirty="0" smtClean="0">
                <a:solidFill>
                  <a:schemeClr val="tx2"/>
                </a:solidFill>
                <a:latin typeface="Times New Roman" panose="02020603050405020304" pitchFamily="18" charset="0"/>
                <a:cs typeface="Times New Roman" panose="02020603050405020304" pitchFamily="18" charset="0"/>
              </a:rPr>
              <a:t>：</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18" name="组合 17"/>
          <p:cNvGrpSpPr/>
          <p:nvPr/>
        </p:nvGrpSpPr>
        <p:grpSpPr>
          <a:xfrm>
            <a:off x="6660232" y="1197640"/>
            <a:ext cx="768350" cy="1225912"/>
            <a:chOff x="6660232" y="1197640"/>
            <a:chExt cx="768350" cy="1225912"/>
          </a:xfrm>
        </p:grpSpPr>
        <p:grpSp>
          <p:nvGrpSpPr>
            <p:cNvPr id="4" name="组合 3"/>
            <p:cNvGrpSpPr/>
            <p:nvPr/>
          </p:nvGrpSpPr>
          <p:grpSpPr>
            <a:xfrm>
              <a:off x="7000607" y="1215340"/>
              <a:ext cx="314960" cy="1143000"/>
              <a:chOff x="9153584" y="1393038"/>
              <a:chExt cx="314960" cy="1143000"/>
            </a:xfrm>
          </p:grpSpPr>
          <p:sp>
            <p:nvSpPr>
              <p:cNvPr id="61" name="AutoShape 7"/>
              <p:cNvSpPr>
                <a:spLocks noChangeAspect="1" noChangeArrowheads="1"/>
              </p:cNvSpPr>
              <p:nvPr/>
            </p:nvSpPr>
            <p:spPr bwMode="auto">
              <a:xfrm>
                <a:off x="9153584" y="1634235"/>
                <a:ext cx="292100" cy="243223"/>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62" name="Line 9"/>
              <p:cNvSpPr>
                <a:spLocks noChangeAspect="1" noChangeShapeType="1"/>
              </p:cNvSpPr>
              <p:nvPr/>
            </p:nvSpPr>
            <p:spPr bwMode="auto">
              <a:xfrm>
                <a:off x="9300666" y="1393038"/>
                <a:ext cx="9128" cy="77628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3" name="Line 11"/>
              <p:cNvSpPr>
                <a:spLocks noChangeShapeType="1"/>
              </p:cNvSpPr>
              <p:nvPr/>
            </p:nvSpPr>
            <p:spPr bwMode="auto">
              <a:xfrm flipV="1">
                <a:off x="9163744" y="2270926"/>
                <a:ext cx="3048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4" name="Line 18"/>
              <p:cNvSpPr>
                <a:spLocks noChangeShapeType="1"/>
              </p:cNvSpPr>
              <p:nvPr/>
            </p:nvSpPr>
            <p:spPr bwMode="auto">
              <a:xfrm flipV="1">
                <a:off x="9312969" y="2307438"/>
                <a:ext cx="0" cy="22860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5" name="Line 12"/>
              <p:cNvSpPr>
                <a:spLocks noChangeShapeType="1"/>
              </p:cNvSpPr>
              <p:nvPr/>
            </p:nvSpPr>
            <p:spPr bwMode="auto">
              <a:xfrm>
                <a:off x="9231312" y="2204864"/>
                <a:ext cx="1524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6" name="Line 11"/>
              <p:cNvSpPr>
                <a:spLocks noChangeShapeType="1"/>
              </p:cNvSpPr>
              <p:nvPr/>
            </p:nvSpPr>
            <p:spPr bwMode="auto">
              <a:xfrm flipV="1">
                <a:off x="9163744" y="1644395"/>
                <a:ext cx="3048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68" name="Oval 26"/>
            <p:cNvSpPr>
              <a:spLocks noChangeArrowheads="1"/>
            </p:cNvSpPr>
            <p:nvPr/>
          </p:nvSpPr>
          <p:spPr bwMode="auto">
            <a:xfrm>
              <a:off x="7119456" y="1197640"/>
              <a:ext cx="76200" cy="76200"/>
            </a:xfrm>
            <a:prstGeom prst="ellipse">
              <a:avLst/>
            </a:prstGeom>
            <a:solidFill>
              <a:schemeClr val="tx1"/>
            </a:solidFill>
            <a:ln w="28575">
              <a:solidFill>
                <a:schemeClr val="tx1"/>
              </a:solidFill>
              <a:round/>
            </a:ln>
          </p:spPr>
          <p:txBody>
            <a:bodyPr anchor="ctr">
              <a:spAutoFit/>
            </a:bodyPr>
            <a:lstStyle/>
            <a:p>
              <a:endParaRPr lang="zh-CN" altLang="en-US"/>
            </a:p>
          </p:txBody>
        </p:sp>
        <p:sp>
          <p:nvSpPr>
            <p:cNvPr id="69" name="Oval 26"/>
            <p:cNvSpPr>
              <a:spLocks noChangeArrowheads="1"/>
            </p:cNvSpPr>
            <p:nvPr/>
          </p:nvSpPr>
          <p:spPr bwMode="auto">
            <a:xfrm>
              <a:off x="7128728" y="2347352"/>
              <a:ext cx="76200" cy="76200"/>
            </a:xfrm>
            <a:prstGeom prst="ellipse">
              <a:avLst/>
            </a:prstGeom>
            <a:solidFill>
              <a:schemeClr val="tx1"/>
            </a:solidFill>
            <a:ln w="28575">
              <a:solidFill>
                <a:schemeClr val="tx1"/>
              </a:solidFill>
              <a:round/>
            </a:ln>
          </p:spPr>
          <p:txBody>
            <a:bodyPr anchor="ctr">
              <a:spAutoFit/>
            </a:bodyPr>
            <a:lstStyle/>
            <a:p>
              <a:endParaRPr lang="zh-CN" altLang="en-US"/>
            </a:p>
          </p:txBody>
        </p:sp>
        <p:sp>
          <p:nvSpPr>
            <p:cNvPr id="70" name="Text Box 25"/>
            <p:cNvSpPr txBox="1">
              <a:spLocks noChangeArrowheads="1"/>
            </p:cNvSpPr>
            <p:nvPr/>
          </p:nvSpPr>
          <p:spPr bwMode="auto">
            <a:xfrm>
              <a:off x="6660232" y="1876822"/>
              <a:ext cx="768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dirty="0" smtClean="0">
                  <a:solidFill>
                    <a:schemeClr val="tx2"/>
                  </a:solidFill>
                  <a:latin typeface="Times New Roman" panose="02020603050405020304" pitchFamily="18" charset="0"/>
                  <a:cs typeface="Times New Roman" panose="02020603050405020304" pitchFamily="18" charset="0"/>
                </a:rPr>
                <a:t>E</a:t>
              </a:r>
              <a:r>
                <a:rPr kumimoji="1" lang="en-US" altLang="zh-CN" sz="2000" b="1" baseline="-25000" dirty="0" smtClean="0">
                  <a:solidFill>
                    <a:schemeClr val="tx2"/>
                  </a:solidFill>
                  <a:latin typeface="Times New Roman" panose="02020603050405020304" pitchFamily="18" charset="0"/>
                  <a:cs typeface="Times New Roman" panose="02020603050405020304" pitchFamily="18" charset="0"/>
                </a:rPr>
                <a:t>2</a:t>
              </a:r>
              <a:endParaRPr kumimoji="1" lang="en-US" altLang="zh-CN" sz="2000" b="1" baseline="-25000" dirty="0">
                <a:solidFill>
                  <a:schemeClr val="tx2"/>
                </a:solidFill>
                <a:latin typeface="Times New Roman" panose="02020603050405020304" pitchFamily="18" charset="0"/>
                <a:cs typeface="Times New Roman" panose="02020603050405020304" pitchFamily="18" charset="0"/>
              </a:endParaRPr>
            </a:p>
          </p:txBody>
        </p:sp>
      </p:grpSp>
      <p:grpSp>
        <p:nvGrpSpPr>
          <p:cNvPr id="20" name="组合 19"/>
          <p:cNvGrpSpPr/>
          <p:nvPr/>
        </p:nvGrpSpPr>
        <p:grpSpPr>
          <a:xfrm>
            <a:off x="1331640" y="2977208"/>
            <a:ext cx="5544616" cy="2900063"/>
            <a:chOff x="1331640" y="2977208"/>
            <a:chExt cx="5544616" cy="2900063"/>
          </a:xfrm>
        </p:grpSpPr>
        <p:grpSp>
          <p:nvGrpSpPr>
            <p:cNvPr id="7" name="Group 42"/>
            <p:cNvGrpSpPr/>
            <p:nvPr/>
          </p:nvGrpSpPr>
          <p:grpSpPr bwMode="auto">
            <a:xfrm>
              <a:off x="1331640" y="3179062"/>
              <a:ext cx="5544616" cy="2698209"/>
              <a:chOff x="4004" y="2415"/>
              <a:chExt cx="1980" cy="1056"/>
            </a:xfrm>
          </p:grpSpPr>
          <p:sp>
            <p:nvSpPr>
              <p:cNvPr id="6174" name="Line 44"/>
              <p:cNvSpPr>
                <a:spLocks noChangeShapeType="1"/>
              </p:cNvSpPr>
              <p:nvPr/>
            </p:nvSpPr>
            <p:spPr bwMode="auto">
              <a:xfrm>
                <a:off x="4004" y="3001"/>
                <a:ext cx="158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75" name="Line 45"/>
              <p:cNvSpPr>
                <a:spLocks noChangeShapeType="1"/>
              </p:cNvSpPr>
              <p:nvPr/>
            </p:nvSpPr>
            <p:spPr bwMode="auto">
              <a:xfrm flipV="1">
                <a:off x="4714" y="2415"/>
                <a:ext cx="0" cy="1056"/>
              </a:xfrm>
              <a:prstGeom prst="line">
                <a:avLst/>
              </a:prstGeom>
              <a:noFill/>
              <a:ln w="28575" cap="sq">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76" name="Text Box 46"/>
              <p:cNvSpPr txBox="1">
                <a:spLocks noChangeArrowheads="1"/>
              </p:cNvSpPr>
              <p:nvPr/>
            </p:nvSpPr>
            <p:spPr bwMode="auto">
              <a:xfrm>
                <a:off x="4714" y="3001"/>
                <a:ext cx="2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cs typeface="Times New Roman" panose="02020603050405020304" pitchFamily="18" charset="0"/>
                  </a:rPr>
                  <a:t>0</a:t>
                </a:r>
                <a:endParaRPr kumimoji="1" lang="en-US" altLang="zh-CN" sz="2400" dirty="0">
                  <a:latin typeface="Times New Roman" panose="02020603050405020304" pitchFamily="18" charset="0"/>
                  <a:cs typeface="Times New Roman" panose="02020603050405020304" pitchFamily="18" charset="0"/>
                </a:endParaRPr>
              </a:p>
            </p:txBody>
          </p:sp>
          <p:sp>
            <p:nvSpPr>
              <p:cNvPr id="6177" name="Text Box 47"/>
              <p:cNvSpPr txBox="1">
                <a:spLocks noChangeArrowheads="1"/>
              </p:cNvSpPr>
              <p:nvPr/>
            </p:nvSpPr>
            <p:spPr bwMode="auto">
              <a:xfrm>
                <a:off x="5645" y="2870"/>
                <a:ext cx="339"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dirty="0" err="1" smtClean="0">
                    <a:latin typeface="Times New Roman" panose="02020603050405020304" pitchFamily="18" charset="0"/>
                    <a:cs typeface="Times New Roman" panose="02020603050405020304" pitchFamily="18" charset="0"/>
                  </a:rPr>
                  <a:t>u</a:t>
                </a:r>
                <a:r>
                  <a:rPr kumimoji="1" lang="en-US" altLang="zh-CN" sz="2800" b="1" i="1" baseline="-25000" dirty="0" err="1" smtClean="0">
                    <a:latin typeface="Times New Roman" panose="02020603050405020304" pitchFamily="18" charset="0"/>
                    <a:cs typeface="Times New Roman" panose="02020603050405020304" pitchFamily="18" charset="0"/>
                  </a:rPr>
                  <a:t>i</a:t>
                </a:r>
                <a:endParaRPr kumimoji="1" lang="en-US" altLang="zh-CN" sz="2800" b="1" i="1" baseline="-25000" dirty="0">
                  <a:latin typeface="Times New Roman" panose="02020603050405020304" pitchFamily="18" charset="0"/>
                  <a:cs typeface="Times New Roman" panose="02020603050405020304" pitchFamily="18" charset="0"/>
                </a:endParaRPr>
              </a:p>
            </p:txBody>
          </p:sp>
        </p:grpSp>
        <p:sp>
          <p:nvSpPr>
            <p:cNvPr id="71" name="Text Box 47"/>
            <p:cNvSpPr txBox="1">
              <a:spLocks noChangeArrowheads="1"/>
            </p:cNvSpPr>
            <p:nvPr/>
          </p:nvSpPr>
          <p:spPr bwMode="auto">
            <a:xfrm>
              <a:off x="3347864" y="2977208"/>
              <a:ext cx="949305" cy="52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dirty="0" err="1" smtClean="0">
                  <a:latin typeface="Times New Roman" panose="02020603050405020304" pitchFamily="18" charset="0"/>
                  <a:cs typeface="Times New Roman" panose="02020603050405020304" pitchFamily="18" charset="0"/>
                </a:rPr>
                <a:t>u</a:t>
              </a:r>
              <a:r>
                <a:rPr kumimoji="1" lang="en-US" altLang="zh-CN" sz="2800" b="1" baseline="-25000" dirty="0" err="1" smtClean="0">
                  <a:latin typeface="Times New Roman" panose="02020603050405020304" pitchFamily="18" charset="0"/>
                  <a:cs typeface="Times New Roman" panose="02020603050405020304" pitchFamily="18" charset="0"/>
                </a:rPr>
                <a:t>o</a:t>
              </a:r>
              <a:endParaRPr kumimoji="1" lang="en-US" altLang="zh-CN" sz="2800" b="1" baseline="-25000" dirty="0">
                <a:latin typeface="Times New Roman" panose="02020603050405020304" pitchFamily="18" charset="0"/>
                <a:cs typeface="Times New Roman" panose="02020603050405020304" pitchFamily="18" charset="0"/>
              </a:endParaRPr>
            </a:p>
          </p:txBody>
        </p:sp>
      </p:grpSp>
      <p:grpSp>
        <p:nvGrpSpPr>
          <p:cNvPr id="19" name="组合 18"/>
          <p:cNvGrpSpPr/>
          <p:nvPr/>
        </p:nvGrpSpPr>
        <p:grpSpPr>
          <a:xfrm>
            <a:off x="1547664" y="3850000"/>
            <a:ext cx="3487752" cy="1584176"/>
            <a:chOff x="1547664" y="3850000"/>
            <a:chExt cx="3487752" cy="1584176"/>
          </a:xfrm>
        </p:grpSpPr>
        <p:cxnSp>
          <p:nvCxnSpPr>
            <p:cNvPr id="9" name="直接连接符 8"/>
            <p:cNvCxnSpPr/>
            <p:nvPr/>
          </p:nvCxnSpPr>
          <p:spPr>
            <a:xfrm flipV="1">
              <a:off x="2525296" y="3850000"/>
              <a:ext cx="1658233" cy="15841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1547664" y="5434176"/>
              <a:ext cx="97763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173369" y="3850000"/>
              <a:ext cx="86204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5" name="直接连接符 14"/>
          <p:cNvCxnSpPr/>
          <p:nvPr/>
        </p:nvCxnSpPr>
        <p:spPr>
          <a:xfrm flipH="1">
            <a:off x="3319861" y="3850000"/>
            <a:ext cx="85350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627784" y="5434176"/>
            <a:ext cx="72662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2" name="Text Box 47"/>
          <p:cNvSpPr txBox="1">
            <a:spLocks noChangeArrowheads="1"/>
          </p:cNvSpPr>
          <p:nvPr/>
        </p:nvSpPr>
        <p:spPr bwMode="auto">
          <a:xfrm>
            <a:off x="3419872" y="5229200"/>
            <a:ext cx="949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dirty="0" smtClean="0">
                <a:latin typeface="Times New Roman" panose="02020603050405020304" pitchFamily="18" charset="0"/>
                <a:cs typeface="Times New Roman" panose="02020603050405020304" pitchFamily="18" charset="0"/>
              </a:rPr>
              <a:t>-E</a:t>
            </a:r>
            <a:r>
              <a:rPr kumimoji="1" lang="en-US" altLang="zh-CN" sz="2000" b="1" baseline="-25000" dirty="0" smtClean="0">
                <a:latin typeface="Times New Roman" panose="02020603050405020304" pitchFamily="18" charset="0"/>
                <a:cs typeface="Times New Roman" panose="02020603050405020304" pitchFamily="18" charset="0"/>
              </a:rPr>
              <a:t>2</a:t>
            </a:r>
            <a:endParaRPr kumimoji="1" lang="en-US" altLang="zh-CN" sz="2000" b="1" baseline="-25000" dirty="0">
              <a:latin typeface="Times New Roman" panose="02020603050405020304" pitchFamily="18" charset="0"/>
              <a:cs typeface="Times New Roman" panose="02020603050405020304" pitchFamily="18" charset="0"/>
            </a:endParaRPr>
          </a:p>
        </p:txBody>
      </p:sp>
      <p:sp>
        <p:nvSpPr>
          <p:cNvPr id="83" name="Text Box 47"/>
          <p:cNvSpPr txBox="1">
            <a:spLocks noChangeArrowheads="1"/>
          </p:cNvSpPr>
          <p:nvPr/>
        </p:nvSpPr>
        <p:spPr bwMode="auto">
          <a:xfrm>
            <a:off x="2771800" y="3641577"/>
            <a:ext cx="949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dirty="0" smtClean="0">
                <a:latin typeface="Times New Roman" panose="02020603050405020304" pitchFamily="18" charset="0"/>
                <a:cs typeface="Times New Roman" panose="02020603050405020304" pitchFamily="18" charset="0"/>
              </a:rPr>
              <a:t>E</a:t>
            </a:r>
            <a:r>
              <a:rPr kumimoji="1" lang="en-US" altLang="zh-CN" sz="2000" b="1" baseline="-25000" dirty="0" smtClean="0">
                <a:latin typeface="Times New Roman" panose="02020603050405020304" pitchFamily="18" charset="0"/>
                <a:cs typeface="Times New Roman" panose="02020603050405020304" pitchFamily="18" charset="0"/>
              </a:rPr>
              <a:t>1</a:t>
            </a:r>
            <a:endParaRPr kumimoji="1" lang="en-US" altLang="zh-CN" sz="2000" b="1" baseline="-25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3704"/>
                                        </p:tgtEl>
                                        <p:attrNameLst>
                                          <p:attrName>style.visibility</p:attrName>
                                        </p:attrNameLst>
                                      </p:cBhvr>
                                      <p:to>
                                        <p:strVal val="visible"/>
                                      </p:to>
                                    </p:set>
                                    <p:animEffect transition="in" filter="wipe(left)">
                                      <p:cBhvr>
                                        <p:cTn id="17" dur="500"/>
                                        <p:tgtEl>
                                          <p:spTgt spid="113704"/>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82"/>
                                        </p:tgtEl>
                                        <p:attrNameLst>
                                          <p:attrName>style.visibility</p:attrName>
                                        </p:attrNameLst>
                                      </p:cBhvr>
                                      <p:to>
                                        <p:strVal val="visible"/>
                                      </p:to>
                                    </p:set>
                                    <p:animEffect transition="in" filter="wipe(down)">
                                      <p:cBhvr>
                                        <p:cTn id="34" dur="500"/>
                                        <p:tgtEl>
                                          <p:spTgt spid="8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right)">
                                      <p:cBhvr>
                                        <p:cTn id="39" dur="500"/>
                                        <p:tgtEl>
                                          <p:spTgt spid="15"/>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83"/>
                                        </p:tgtEl>
                                        <p:attrNameLst>
                                          <p:attrName>style.visibility</p:attrName>
                                        </p:attrNameLst>
                                      </p:cBhvr>
                                      <p:to>
                                        <p:strVal val="visible"/>
                                      </p:to>
                                    </p:set>
                                    <p:animEffect transition="in" filter="wipe(down)">
                                      <p:cBhvr>
                                        <p:cTn id="43"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04" grpId="0" animBg="1"/>
      <p:bldP spid="82" grpId="0"/>
      <p:bldP spid="8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spAutoFit/>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25</a:t>
            </a:r>
            <a:r>
              <a:rPr lang="zh-CN" altLang="en-US" sz="2800" smtClean="0">
                <a:ea typeface="宋体" panose="02010600030101010101" pitchFamily="2" charset="-122"/>
              </a:rPr>
              <a:t>）</a:t>
            </a:r>
            <a:endParaRPr lang="zh-CN" altLang="en-US" sz="3200" smtClean="0">
              <a:ea typeface="楷体_GB2312" pitchFamily="49" charset="-122"/>
            </a:endParaRPr>
          </a:p>
        </p:txBody>
      </p:sp>
      <p:sp>
        <p:nvSpPr>
          <p:cNvPr id="3" name="灯片编号占位符 2"/>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7172" name="Rectangle 3"/>
          <p:cNvSpPr>
            <a:spLocks noGrp="1" noChangeArrowheads="1"/>
          </p:cNvSpPr>
          <p:nvPr>
            <p:ph sz="quarter" idx="4294967295"/>
          </p:nvPr>
        </p:nvSpPr>
        <p:spPr>
          <a:xfrm>
            <a:off x="0" y="836712"/>
            <a:ext cx="8550275" cy="530225"/>
          </a:xfrm>
        </p:spPr>
        <p:txBody>
          <a:bodyPr>
            <a:spAutoFit/>
          </a:bodyPr>
          <a:lstStyle/>
          <a:p>
            <a:pPr eaLnBrk="1" hangingPunct="1">
              <a:buFont typeface="Wingdings" panose="05000000000000000000" pitchFamily="2" charset="2"/>
              <a:buChar char="u"/>
            </a:pPr>
            <a:r>
              <a:rPr kumimoji="1" lang="zh-CN" altLang="en-US" dirty="0" smtClean="0">
                <a:ea typeface="宋体" panose="02010600030101010101" pitchFamily="2" charset="-122"/>
              </a:rPr>
              <a:t>“或”门电路</a:t>
            </a:r>
            <a:endParaRPr kumimoji="1" lang="zh-CN" altLang="en-US" dirty="0" smtClean="0">
              <a:ea typeface="宋体" panose="02010600030101010101" pitchFamily="2" charset="-122"/>
            </a:endParaRPr>
          </a:p>
        </p:txBody>
      </p:sp>
      <p:sp>
        <p:nvSpPr>
          <p:cNvPr id="115716" name="Text Box 4"/>
          <p:cNvSpPr txBox="1">
            <a:spLocks noChangeArrowheads="1"/>
          </p:cNvSpPr>
          <p:nvPr/>
        </p:nvSpPr>
        <p:spPr bwMode="auto">
          <a:xfrm>
            <a:off x="685800" y="1385888"/>
            <a:ext cx="7702550"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62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假定二极管导通电压忽略不计，我们用列表的方法来分析输入信号</a:t>
            </a:r>
            <a:r>
              <a:rPr kumimoji="1" lang="en-US" altLang="zh-CN" sz="2400" b="1" i="1">
                <a:solidFill>
                  <a:schemeClr val="tx2"/>
                </a:solidFill>
                <a:latin typeface="Times New Roman" panose="02020603050405020304" pitchFamily="18" charset="0"/>
                <a:cs typeface="Times New Roman" panose="02020603050405020304" pitchFamily="18" charset="0"/>
              </a:rPr>
              <a:t>V</a:t>
            </a:r>
            <a:r>
              <a:rPr kumimoji="1" lang="en-US" altLang="zh-CN" sz="2400" b="1" baseline="-25000">
                <a:solidFill>
                  <a:schemeClr val="tx2"/>
                </a:solidFill>
                <a:latin typeface="Times New Roman" panose="02020603050405020304" pitchFamily="18" charset="0"/>
                <a:cs typeface="Times New Roman" panose="02020603050405020304" pitchFamily="18" charset="0"/>
              </a:rPr>
              <a:t>A</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V</a:t>
            </a:r>
            <a:r>
              <a:rPr kumimoji="1" lang="en-US" altLang="zh-CN" sz="2400" b="1" baseline="-25000">
                <a:solidFill>
                  <a:schemeClr val="tx2"/>
                </a:solidFill>
                <a:latin typeface="Times New Roman" panose="02020603050405020304" pitchFamily="18" charset="0"/>
                <a:cs typeface="Times New Roman" panose="02020603050405020304" pitchFamily="18" charset="0"/>
              </a:rPr>
              <a:t>B</a:t>
            </a:r>
            <a:r>
              <a:rPr kumimoji="1" lang="zh-CN" altLang="en-US" sz="2400" b="1">
                <a:solidFill>
                  <a:schemeClr val="tx2"/>
                </a:solidFill>
                <a:latin typeface="Times New Roman" panose="02020603050405020304" pitchFamily="18" charset="0"/>
                <a:cs typeface="Times New Roman" panose="02020603050405020304" pitchFamily="18" charset="0"/>
              </a:rPr>
              <a:t>和输出信号</a:t>
            </a:r>
            <a:r>
              <a:rPr kumimoji="1" lang="en-US" altLang="zh-CN" sz="2400" b="1" i="1">
                <a:solidFill>
                  <a:schemeClr val="tx2"/>
                </a:solidFill>
                <a:latin typeface="Times New Roman" panose="02020603050405020304" pitchFamily="18" charset="0"/>
                <a:cs typeface="Times New Roman" panose="02020603050405020304" pitchFamily="18" charset="0"/>
              </a:rPr>
              <a:t>V</a:t>
            </a:r>
            <a:r>
              <a:rPr kumimoji="1" lang="en-US" altLang="zh-CN" sz="2400" b="1" baseline="-25000">
                <a:solidFill>
                  <a:schemeClr val="tx2"/>
                </a:solidFill>
                <a:latin typeface="Times New Roman" panose="02020603050405020304" pitchFamily="18" charset="0"/>
                <a:cs typeface="Times New Roman" panose="02020603050405020304" pitchFamily="18" charset="0"/>
              </a:rPr>
              <a:t>F</a:t>
            </a:r>
            <a:r>
              <a:rPr kumimoji="1" lang="zh-CN" altLang="en-US" sz="2400" b="1">
                <a:solidFill>
                  <a:schemeClr val="tx2"/>
                </a:solidFill>
                <a:latin typeface="Times New Roman" panose="02020603050405020304" pitchFamily="18" charset="0"/>
                <a:cs typeface="Times New Roman" panose="02020603050405020304" pitchFamily="18" charset="0"/>
              </a:rPr>
              <a:t>的关系：</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15717" name="Object 2"/>
          <p:cNvGraphicFramePr>
            <a:graphicFrameLocks noChangeAspect="1"/>
          </p:cNvGraphicFramePr>
          <p:nvPr/>
        </p:nvGraphicFramePr>
        <p:xfrm>
          <a:off x="3687763" y="2854325"/>
          <a:ext cx="4868862" cy="2555875"/>
        </p:xfrm>
        <a:graphic>
          <a:graphicData uri="http://schemas.openxmlformats.org/presentationml/2006/ole">
            <mc:AlternateContent xmlns:mc="http://schemas.openxmlformats.org/markup-compatibility/2006">
              <mc:Choice xmlns:v="urn:schemas-microsoft-com:vml" Requires="v">
                <p:oleObj spid="_x0000_s7252" name="文档" r:id="rId1" imgW="6489700" imgH="5092700" progId="Word.Document.8">
                  <p:embed/>
                </p:oleObj>
              </mc:Choice>
              <mc:Fallback>
                <p:oleObj name="文档" r:id="rId1" imgW="6489700" imgH="5092700" progId="Word.Document.8">
                  <p:embed/>
                  <p:pic>
                    <p:nvPicPr>
                      <p:cNvPr id="0" name="Object 2"/>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b="33028"/>
                      <a:stretch>
                        <a:fillRect/>
                      </a:stretch>
                    </p:blipFill>
                    <p:spPr bwMode="auto">
                      <a:xfrm>
                        <a:off x="3687763" y="2854325"/>
                        <a:ext cx="4868862" cy="255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18" name="Text Box 6"/>
          <p:cNvSpPr txBox="1">
            <a:spLocks noChangeArrowheads="1"/>
          </p:cNvSpPr>
          <p:nvPr/>
        </p:nvSpPr>
        <p:spPr bwMode="auto">
          <a:xfrm>
            <a:off x="4129088" y="2784475"/>
            <a:ext cx="536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V</a:t>
            </a:r>
            <a:r>
              <a:rPr kumimoji="1" lang="en-US" altLang="zh-CN" sz="2400" b="1" baseline="-25000">
                <a:solidFill>
                  <a:schemeClr val="tx2"/>
                </a:solidFill>
                <a:latin typeface="Times New Roman" panose="02020603050405020304" pitchFamily="18" charset="0"/>
                <a:cs typeface="Times New Roman" panose="02020603050405020304" pitchFamily="18" charset="0"/>
              </a:rPr>
              <a:t>A</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15719" name="Text Box 7"/>
          <p:cNvSpPr txBox="1">
            <a:spLocks noChangeArrowheads="1"/>
          </p:cNvSpPr>
          <p:nvPr/>
        </p:nvSpPr>
        <p:spPr bwMode="auto">
          <a:xfrm>
            <a:off x="4983163" y="2784475"/>
            <a:ext cx="525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V</a:t>
            </a:r>
            <a:r>
              <a:rPr kumimoji="1" lang="en-US" altLang="zh-CN" sz="2400" b="1" baseline="-25000">
                <a:solidFill>
                  <a:schemeClr val="tx2"/>
                </a:solidFill>
                <a:latin typeface="Times New Roman" panose="02020603050405020304" pitchFamily="18" charset="0"/>
                <a:cs typeface="Times New Roman" panose="02020603050405020304" pitchFamily="18" charset="0"/>
              </a:rPr>
              <a:t>B</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15720" name="Text Box 8"/>
          <p:cNvSpPr txBox="1">
            <a:spLocks noChangeArrowheads="1"/>
          </p:cNvSpPr>
          <p:nvPr/>
        </p:nvSpPr>
        <p:spPr bwMode="auto">
          <a:xfrm>
            <a:off x="7650163" y="2784475"/>
            <a:ext cx="514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V</a:t>
            </a:r>
            <a:r>
              <a:rPr kumimoji="1" lang="en-US" altLang="zh-CN" sz="2400" b="1" baseline="-25000">
                <a:solidFill>
                  <a:schemeClr val="tx2"/>
                </a:solidFill>
                <a:latin typeface="Times New Roman" panose="02020603050405020304" pitchFamily="18" charset="0"/>
                <a:cs typeface="Times New Roman" panose="02020603050405020304" pitchFamily="18" charset="0"/>
              </a:rPr>
              <a:t>F</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15721" name="Text Box 9"/>
          <p:cNvSpPr txBox="1">
            <a:spLocks noChangeArrowheads="1"/>
          </p:cNvSpPr>
          <p:nvPr/>
        </p:nvSpPr>
        <p:spPr bwMode="auto">
          <a:xfrm>
            <a:off x="6735763" y="2857500"/>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2</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22" name="Text Box 10"/>
          <p:cNvSpPr txBox="1">
            <a:spLocks noChangeArrowheads="1"/>
          </p:cNvSpPr>
          <p:nvPr/>
        </p:nvSpPr>
        <p:spPr bwMode="auto">
          <a:xfrm>
            <a:off x="5897563" y="2857500"/>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1</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23" name="Text Box 11"/>
          <p:cNvSpPr txBox="1">
            <a:spLocks noChangeArrowheads="1"/>
          </p:cNvSpPr>
          <p:nvPr/>
        </p:nvSpPr>
        <p:spPr bwMode="auto">
          <a:xfrm>
            <a:off x="4052888" y="38592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24" name="Text Box 12"/>
          <p:cNvSpPr txBox="1">
            <a:spLocks noChangeArrowheads="1"/>
          </p:cNvSpPr>
          <p:nvPr/>
        </p:nvSpPr>
        <p:spPr bwMode="auto">
          <a:xfrm>
            <a:off x="4983163" y="47736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25" name="Text Box 13"/>
          <p:cNvSpPr txBox="1">
            <a:spLocks noChangeArrowheads="1"/>
          </p:cNvSpPr>
          <p:nvPr/>
        </p:nvSpPr>
        <p:spPr bwMode="auto">
          <a:xfrm>
            <a:off x="4983163" y="43164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26" name="Text Box 14"/>
          <p:cNvSpPr txBox="1">
            <a:spLocks noChangeArrowheads="1"/>
          </p:cNvSpPr>
          <p:nvPr/>
        </p:nvSpPr>
        <p:spPr bwMode="auto">
          <a:xfrm>
            <a:off x="4068763" y="47736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27" name="Text Box 15"/>
          <p:cNvSpPr txBox="1">
            <a:spLocks noChangeArrowheads="1"/>
          </p:cNvSpPr>
          <p:nvPr/>
        </p:nvSpPr>
        <p:spPr bwMode="auto">
          <a:xfrm>
            <a:off x="4052888" y="34655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28" name="Text Box 16"/>
          <p:cNvSpPr txBox="1">
            <a:spLocks noChangeArrowheads="1"/>
          </p:cNvSpPr>
          <p:nvPr/>
        </p:nvSpPr>
        <p:spPr bwMode="auto">
          <a:xfrm>
            <a:off x="4068763" y="43164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29" name="Text Box 17"/>
          <p:cNvSpPr txBox="1">
            <a:spLocks noChangeArrowheads="1"/>
          </p:cNvSpPr>
          <p:nvPr/>
        </p:nvSpPr>
        <p:spPr bwMode="auto">
          <a:xfrm>
            <a:off x="4959350" y="38592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30" name="Text Box 18"/>
          <p:cNvSpPr txBox="1">
            <a:spLocks noChangeArrowheads="1"/>
          </p:cNvSpPr>
          <p:nvPr/>
        </p:nvSpPr>
        <p:spPr bwMode="auto">
          <a:xfrm>
            <a:off x="4962525" y="34655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31" name="Text Box 19"/>
          <p:cNvSpPr txBox="1">
            <a:spLocks noChangeArrowheads="1"/>
          </p:cNvSpPr>
          <p:nvPr/>
        </p:nvSpPr>
        <p:spPr bwMode="auto">
          <a:xfrm>
            <a:off x="5805488" y="346868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导通</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15732" name="Text Box 20"/>
          <p:cNvSpPr txBox="1">
            <a:spLocks noChangeArrowheads="1"/>
          </p:cNvSpPr>
          <p:nvPr/>
        </p:nvSpPr>
        <p:spPr bwMode="auto">
          <a:xfrm>
            <a:off x="5805488" y="477678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导通</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15733" name="Text Box 21"/>
          <p:cNvSpPr txBox="1">
            <a:spLocks noChangeArrowheads="1"/>
          </p:cNvSpPr>
          <p:nvPr/>
        </p:nvSpPr>
        <p:spPr bwMode="auto">
          <a:xfrm>
            <a:off x="6551613" y="477678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导通</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15734" name="Text Box 22"/>
          <p:cNvSpPr txBox="1">
            <a:spLocks noChangeArrowheads="1"/>
          </p:cNvSpPr>
          <p:nvPr/>
        </p:nvSpPr>
        <p:spPr bwMode="auto">
          <a:xfrm>
            <a:off x="6551613" y="431958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导通</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15735" name="Text Box 23"/>
          <p:cNvSpPr txBox="1">
            <a:spLocks noChangeArrowheads="1"/>
          </p:cNvSpPr>
          <p:nvPr/>
        </p:nvSpPr>
        <p:spPr bwMode="auto">
          <a:xfrm>
            <a:off x="6551613" y="346868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导通</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15736" name="Text Box 24"/>
          <p:cNvSpPr txBox="1">
            <a:spLocks noChangeArrowheads="1"/>
          </p:cNvSpPr>
          <p:nvPr/>
        </p:nvSpPr>
        <p:spPr bwMode="auto">
          <a:xfrm>
            <a:off x="5805488" y="386238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导通</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15737" name="Text Box 25"/>
          <p:cNvSpPr txBox="1">
            <a:spLocks noChangeArrowheads="1"/>
          </p:cNvSpPr>
          <p:nvPr/>
        </p:nvSpPr>
        <p:spPr bwMode="auto">
          <a:xfrm>
            <a:off x="6580188" y="386238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截止</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15738" name="Text Box 26"/>
          <p:cNvSpPr txBox="1">
            <a:spLocks noChangeArrowheads="1"/>
          </p:cNvSpPr>
          <p:nvPr/>
        </p:nvSpPr>
        <p:spPr bwMode="auto">
          <a:xfrm>
            <a:off x="5821363" y="431958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截止</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15739" name="Text Box 27"/>
          <p:cNvSpPr txBox="1">
            <a:spLocks noChangeArrowheads="1"/>
          </p:cNvSpPr>
          <p:nvPr/>
        </p:nvSpPr>
        <p:spPr bwMode="auto">
          <a:xfrm>
            <a:off x="7550150" y="38592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40" name="Text Box 28"/>
          <p:cNvSpPr txBox="1">
            <a:spLocks noChangeArrowheads="1"/>
          </p:cNvSpPr>
          <p:nvPr/>
        </p:nvSpPr>
        <p:spPr bwMode="auto">
          <a:xfrm>
            <a:off x="7550150" y="34655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41" name="Text Box 29"/>
          <p:cNvSpPr txBox="1">
            <a:spLocks noChangeArrowheads="1"/>
          </p:cNvSpPr>
          <p:nvPr/>
        </p:nvSpPr>
        <p:spPr bwMode="auto">
          <a:xfrm>
            <a:off x="7550150" y="47736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42" name="Text Box 30"/>
          <p:cNvSpPr txBox="1">
            <a:spLocks noChangeArrowheads="1"/>
          </p:cNvSpPr>
          <p:nvPr/>
        </p:nvSpPr>
        <p:spPr bwMode="auto">
          <a:xfrm>
            <a:off x="7550150" y="431641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5743" name="Text Box 31"/>
          <p:cNvSpPr txBox="1">
            <a:spLocks noChangeArrowheads="1"/>
          </p:cNvSpPr>
          <p:nvPr/>
        </p:nvSpPr>
        <p:spPr bwMode="auto">
          <a:xfrm>
            <a:off x="639763" y="5292725"/>
            <a:ext cx="8275637"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62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如果定义 </a:t>
            </a:r>
            <a:r>
              <a:rPr kumimoji="1" lang="en-US" altLang="zh-CN" sz="2400" b="1">
                <a:solidFill>
                  <a:schemeClr val="tx2"/>
                </a:solidFill>
                <a:latin typeface="Times New Roman" panose="02020603050405020304" pitchFamily="18" charset="0"/>
                <a:cs typeface="Times New Roman" panose="02020603050405020304" pitchFamily="18" charset="0"/>
              </a:rPr>
              <a:t>3V</a:t>
            </a:r>
            <a:r>
              <a:rPr kumimoji="1" lang="zh-CN" altLang="en-US" sz="2400" b="1">
                <a:solidFill>
                  <a:schemeClr val="tx2"/>
                </a:solidFill>
                <a:latin typeface="Times New Roman" panose="02020603050405020304" pitchFamily="18" charset="0"/>
                <a:cs typeface="Times New Roman" panose="02020603050405020304" pitchFamily="18" charset="0"/>
              </a:rPr>
              <a:t>电平为逻辑 </a:t>
            </a:r>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0V</a:t>
            </a:r>
            <a:r>
              <a:rPr kumimoji="1" lang="zh-CN" altLang="en-US" sz="2400" b="1">
                <a:solidFill>
                  <a:schemeClr val="tx2"/>
                </a:solidFill>
                <a:latin typeface="Times New Roman" panose="02020603050405020304" pitchFamily="18" charset="0"/>
                <a:cs typeface="Times New Roman" panose="02020603050405020304" pitchFamily="18" charset="0"/>
              </a:rPr>
              <a:t>电平为逻辑 </a:t>
            </a:r>
            <a:r>
              <a:rPr kumimoji="1" lang="en-US" altLang="zh-CN" sz="2400" b="1">
                <a:solidFill>
                  <a:schemeClr val="tx2"/>
                </a:solidFill>
                <a:latin typeface="Times New Roman" panose="02020603050405020304" pitchFamily="18" charset="0"/>
                <a:cs typeface="Times New Roman" panose="02020603050405020304" pitchFamily="18" charset="0"/>
              </a:rPr>
              <a:t>0</a:t>
            </a:r>
            <a:r>
              <a:rPr kumimoji="1" lang="zh-CN" altLang="en-US" sz="2400" b="1">
                <a:solidFill>
                  <a:schemeClr val="tx2"/>
                </a:solidFill>
                <a:latin typeface="Times New Roman" panose="02020603050405020304" pitchFamily="18" charset="0"/>
                <a:cs typeface="Times New Roman" panose="02020603050405020304" pitchFamily="18" charset="0"/>
              </a:rPr>
              <a:t>，则，该电路实现逻辑“</a:t>
            </a:r>
            <a:r>
              <a:rPr kumimoji="1" lang="zh-CN" altLang="en-US" sz="2400" b="1">
                <a:solidFill>
                  <a:schemeClr val="tx2"/>
                </a:solidFill>
                <a:latin typeface="黑体" panose="02010609060101010101" pitchFamily="49" charset="-122"/>
                <a:ea typeface="黑体" panose="02010609060101010101" pitchFamily="49" charset="-122"/>
              </a:rPr>
              <a:t>或</a:t>
            </a:r>
            <a:r>
              <a:rPr kumimoji="1" lang="zh-CN" altLang="en-US" sz="2400" b="1">
                <a:solidFill>
                  <a:schemeClr val="tx2"/>
                </a:solidFill>
                <a:latin typeface="Times New Roman" panose="02020603050405020304" pitchFamily="18" charset="0"/>
                <a:cs typeface="Times New Roman" panose="02020603050405020304" pitchFamily="18" charset="0"/>
              </a:rPr>
              <a:t>”的功能：</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5744" name="Text Box 32"/>
          <p:cNvSpPr txBox="1">
            <a:spLocks noChangeArrowheads="1"/>
          </p:cNvSpPr>
          <p:nvPr/>
        </p:nvSpPr>
        <p:spPr bwMode="auto">
          <a:xfrm>
            <a:off x="4449763" y="5824538"/>
            <a:ext cx="1163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F=A+B</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grpSp>
        <p:nvGrpSpPr>
          <p:cNvPr id="2" name="Group 33"/>
          <p:cNvGrpSpPr/>
          <p:nvPr/>
        </p:nvGrpSpPr>
        <p:grpSpPr bwMode="auto">
          <a:xfrm>
            <a:off x="446088" y="2679700"/>
            <a:ext cx="3116262" cy="2646363"/>
            <a:chOff x="144" y="990"/>
            <a:chExt cx="1963" cy="1667"/>
          </a:xfrm>
        </p:grpSpPr>
        <p:grpSp>
          <p:nvGrpSpPr>
            <p:cNvPr id="7202" name="Group 34"/>
            <p:cNvGrpSpPr/>
            <p:nvPr/>
          </p:nvGrpSpPr>
          <p:grpSpPr bwMode="auto">
            <a:xfrm>
              <a:off x="144" y="990"/>
              <a:ext cx="1963" cy="1667"/>
              <a:chOff x="144" y="990"/>
              <a:chExt cx="1963" cy="1667"/>
            </a:xfrm>
          </p:grpSpPr>
          <p:sp>
            <p:nvSpPr>
              <p:cNvPr id="7204" name="Oval 35"/>
              <p:cNvSpPr>
                <a:spLocks noChangeArrowheads="1"/>
              </p:cNvSpPr>
              <p:nvPr/>
            </p:nvSpPr>
            <p:spPr bwMode="auto">
              <a:xfrm>
                <a:off x="1526" y="1608"/>
                <a:ext cx="48" cy="48"/>
              </a:xfrm>
              <a:prstGeom prst="ellipse">
                <a:avLst/>
              </a:prstGeom>
              <a:solidFill>
                <a:schemeClr val="tx1"/>
              </a:solidFill>
              <a:ln w="28575">
                <a:solidFill>
                  <a:schemeClr val="tx1"/>
                </a:solidFill>
                <a:round/>
              </a:ln>
            </p:spPr>
            <p:txBody>
              <a:bodyPr wrap="none" anchor="ctr">
                <a:spAutoFit/>
              </a:bodyPr>
              <a:lstStyle/>
              <a:p>
                <a:endParaRPr lang="zh-CN" altLang="en-US"/>
              </a:p>
            </p:txBody>
          </p:sp>
          <p:grpSp>
            <p:nvGrpSpPr>
              <p:cNvPr id="7205" name="Group 36"/>
              <p:cNvGrpSpPr>
                <a:grpSpLocks noChangeAspect="1"/>
              </p:cNvGrpSpPr>
              <p:nvPr/>
            </p:nvGrpSpPr>
            <p:grpSpPr bwMode="auto">
              <a:xfrm rot="5400000" flipH="1">
                <a:off x="873" y="1013"/>
                <a:ext cx="173" cy="394"/>
                <a:chOff x="3264" y="1452"/>
                <a:chExt cx="289" cy="658"/>
              </a:xfrm>
            </p:grpSpPr>
            <p:sp>
              <p:nvSpPr>
                <p:cNvPr id="7226" name="AutoShape 37"/>
                <p:cNvSpPr>
                  <a:spLocks noChangeAspect="1" noChangeArrowheads="1"/>
                </p:cNvSpPr>
                <p:nvPr/>
              </p:nvSpPr>
              <p:spPr bwMode="auto">
                <a:xfrm>
                  <a:off x="3265"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227" name="Line 38"/>
                <p:cNvSpPr>
                  <a:spLocks noChangeAspect="1"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228" name="Line 39"/>
                <p:cNvSpPr>
                  <a:spLocks noChangeAspect="1" noChangeShapeType="1"/>
                </p:cNvSpPr>
                <p:nvPr/>
              </p:nvSpPr>
              <p:spPr bwMode="auto">
                <a:xfrm>
                  <a:off x="3408" y="1452"/>
                  <a:ext cx="0" cy="65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7206" name="Group 40"/>
              <p:cNvGrpSpPr>
                <a:grpSpLocks noChangeAspect="1"/>
              </p:cNvGrpSpPr>
              <p:nvPr/>
            </p:nvGrpSpPr>
            <p:grpSpPr bwMode="auto">
              <a:xfrm rot="5400000" flipH="1">
                <a:off x="888" y="1424"/>
                <a:ext cx="173" cy="394"/>
                <a:chOff x="3264" y="1452"/>
                <a:chExt cx="289" cy="658"/>
              </a:xfrm>
            </p:grpSpPr>
            <p:sp>
              <p:nvSpPr>
                <p:cNvPr id="7223" name="AutoShape 41"/>
                <p:cNvSpPr>
                  <a:spLocks noChangeAspect="1" noChangeArrowheads="1"/>
                </p:cNvSpPr>
                <p:nvPr/>
              </p:nvSpPr>
              <p:spPr bwMode="auto">
                <a:xfrm>
                  <a:off x="3265"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224" name="Line 42"/>
                <p:cNvSpPr>
                  <a:spLocks noChangeAspect="1"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225" name="Line 43"/>
                <p:cNvSpPr>
                  <a:spLocks noChangeAspect="1" noChangeShapeType="1"/>
                </p:cNvSpPr>
                <p:nvPr/>
              </p:nvSpPr>
              <p:spPr bwMode="auto">
                <a:xfrm>
                  <a:off x="3408" y="1452"/>
                  <a:ext cx="0" cy="65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7207" name="Line 44"/>
              <p:cNvSpPr>
                <a:spLocks noChangeShapeType="1"/>
              </p:cNvSpPr>
              <p:nvPr/>
            </p:nvSpPr>
            <p:spPr bwMode="auto">
              <a:xfrm>
                <a:off x="510" y="1215"/>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208" name="Line 45"/>
              <p:cNvSpPr>
                <a:spLocks noChangeShapeType="1"/>
              </p:cNvSpPr>
              <p:nvPr/>
            </p:nvSpPr>
            <p:spPr bwMode="auto">
              <a:xfrm>
                <a:off x="516" y="1626"/>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209" name="Line 46"/>
              <p:cNvSpPr>
                <a:spLocks noChangeShapeType="1"/>
              </p:cNvSpPr>
              <p:nvPr/>
            </p:nvSpPr>
            <p:spPr bwMode="auto">
              <a:xfrm>
                <a:off x="1162" y="1626"/>
                <a:ext cx="86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210" name="Line 47"/>
              <p:cNvSpPr>
                <a:spLocks noChangeShapeType="1"/>
              </p:cNvSpPr>
              <p:nvPr/>
            </p:nvSpPr>
            <p:spPr bwMode="auto">
              <a:xfrm>
                <a:off x="1546" y="2116"/>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211" name="Freeform 48"/>
              <p:cNvSpPr/>
              <p:nvPr/>
            </p:nvSpPr>
            <p:spPr bwMode="auto">
              <a:xfrm>
                <a:off x="1162" y="1214"/>
                <a:ext cx="384" cy="672"/>
              </a:xfrm>
              <a:custGeom>
                <a:avLst/>
                <a:gdLst>
                  <a:gd name="T0" fmla="*/ 0 w 384"/>
                  <a:gd name="T1" fmla="*/ 0 h 672"/>
                  <a:gd name="T2" fmla="*/ 384 w 384"/>
                  <a:gd name="T3" fmla="*/ 0 h 672"/>
                  <a:gd name="T4" fmla="*/ 384 w 384"/>
                  <a:gd name="T5" fmla="*/ 672 h 672"/>
                  <a:gd name="T6" fmla="*/ 0 60000 65536"/>
                  <a:gd name="T7" fmla="*/ 0 60000 65536"/>
                  <a:gd name="T8" fmla="*/ 0 60000 65536"/>
                  <a:gd name="T9" fmla="*/ 0 w 384"/>
                  <a:gd name="T10" fmla="*/ 0 h 672"/>
                  <a:gd name="T11" fmla="*/ 384 w 384"/>
                  <a:gd name="T12" fmla="*/ 672 h 672"/>
                </a:gdLst>
                <a:ahLst/>
                <a:cxnLst>
                  <a:cxn ang="T6">
                    <a:pos x="T0" y="T1"/>
                  </a:cxn>
                  <a:cxn ang="T7">
                    <a:pos x="T2" y="T3"/>
                  </a:cxn>
                  <a:cxn ang="T8">
                    <a:pos x="T4" y="T5"/>
                  </a:cxn>
                </a:cxnLst>
                <a:rect l="T9" t="T10" r="T11" b="T12"/>
                <a:pathLst>
                  <a:path w="384" h="672">
                    <a:moveTo>
                      <a:pt x="0" y="0"/>
                    </a:moveTo>
                    <a:lnTo>
                      <a:pt x="384" y="0"/>
                    </a:lnTo>
                    <a:lnTo>
                      <a:pt x="384" y="67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212" name="Oval 49"/>
              <p:cNvSpPr>
                <a:spLocks noChangeArrowheads="1"/>
              </p:cNvSpPr>
              <p:nvPr/>
            </p:nvSpPr>
            <p:spPr bwMode="auto">
              <a:xfrm>
                <a:off x="454" y="1193"/>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213" name="Oval 50"/>
              <p:cNvSpPr>
                <a:spLocks noChangeArrowheads="1"/>
              </p:cNvSpPr>
              <p:nvPr/>
            </p:nvSpPr>
            <p:spPr bwMode="auto">
              <a:xfrm>
                <a:off x="470" y="160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214" name="Oval 51"/>
              <p:cNvSpPr>
                <a:spLocks noChangeArrowheads="1"/>
              </p:cNvSpPr>
              <p:nvPr/>
            </p:nvSpPr>
            <p:spPr bwMode="auto">
              <a:xfrm>
                <a:off x="2026" y="1610"/>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215" name="Oval 52"/>
              <p:cNvSpPr>
                <a:spLocks noChangeArrowheads="1"/>
              </p:cNvSpPr>
              <p:nvPr/>
            </p:nvSpPr>
            <p:spPr bwMode="auto">
              <a:xfrm>
                <a:off x="1526" y="2354"/>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216" name="Text Box 53"/>
              <p:cNvSpPr txBox="1">
                <a:spLocks noChangeArrowheads="1"/>
              </p:cNvSpPr>
              <p:nvPr/>
            </p:nvSpPr>
            <p:spPr bwMode="auto">
              <a:xfrm>
                <a:off x="853" y="1274"/>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1</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7217" name="Text Box 54"/>
              <p:cNvSpPr txBox="1">
                <a:spLocks noChangeArrowheads="1"/>
              </p:cNvSpPr>
              <p:nvPr/>
            </p:nvSpPr>
            <p:spPr bwMode="auto">
              <a:xfrm>
                <a:off x="864" y="1710"/>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2</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7218" name="Text Box 55"/>
              <p:cNvSpPr txBox="1">
                <a:spLocks noChangeArrowheads="1"/>
              </p:cNvSpPr>
              <p:nvPr/>
            </p:nvSpPr>
            <p:spPr bwMode="auto">
              <a:xfrm>
                <a:off x="1248" y="1854"/>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7219" name="Text Box 56"/>
              <p:cNvSpPr txBox="1">
                <a:spLocks noChangeArrowheads="1"/>
              </p:cNvSpPr>
              <p:nvPr/>
            </p:nvSpPr>
            <p:spPr bwMode="auto">
              <a:xfrm>
                <a:off x="1344" y="2405"/>
                <a:ext cx="4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-12V</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7220" name="Text Box 57"/>
              <p:cNvSpPr txBox="1">
                <a:spLocks noChangeArrowheads="1"/>
              </p:cNvSpPr>
              <p:nvPr/>
            </p:nvSpPr>
            <p:spPr bwMode="auto">
              <a:xfrm>
                <a:off x="144" y="990"/>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V</a:t>
                </a:r>
                <a:r>
                  <a:rPr kumimoji="1" lang="en-US" altLang="zh-CN" b="1" baseline="-25000">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7221" name="Text Box 58"/>
              <p:cNvSpPr txBox="1">
                <a:spLocks noChangeArrowheads="1"/>
              </p:cNvSpPr>
              <p:nvPr/>
            </p:nvSpPr>
            <p:spPr bwMode="auto">
              <a:xfrm>
                <a:off x="165" y="1444"/>
                <a:ext cx="27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V</a:t>
                </a:r>
                <a:r>
                  <a:rPr kumimoji="1" lang="en-US" altLang="zh-CN" b="1" baseline="-25000">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7222" name="Text Box 59"/>
              <p:cNvSpPr txBox="1">
                <a:spLocks noChangeArrowheads="1"/>
              </p:cNvSpPr>
              <p:nvPr/>
            </p:nvSpPr>
            <p:spPr bwMode="auto">
              <a:xfrm>
                <a:off x="1834" y="1300"/>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V</a:t>
                </a:r>
                <a:r>
                  <a:rPr kumimoji="1" lang="en-US" altLang="zh-CN" b="1" baseline="-25000">
                    <a:solidFill>
                      <a:schemeClr val="tx2"/>
                    </a:solidFill>
                    <a:latin typeface="Times New Roman" panose="02020603050405020304" pitchFamily="18" charset="0"/>
                    <a:cs typeface="Times New Roman" panose="02020603050405020304" pitchFamily="18" charset="0"/>
                  </a:rPr>
                  <a:t>F</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sp>
          <p:nvSpPr>
            <p:cNvPr id="7203" name="Rectangle 60"/>
            <p:cNvSpPr>
              <a:spLocks noChangeArrowheads="1"/>
            </p:cNvSpPr>
            <p:nvPr/>
          </p:nvSpPr>
          <p:spPr bwMode="auto">
            <a:xfrm rot="-5400000">
              <a:off x="1426" y="1954"/>
              <a:ext cx="240" cy="96"/>
            </a:xfrm>
            <a:prstGeom prst="rect">
              <a:avLst/>
            </a:prstGeom>
            <a:solidFill>
              <a:srgbClr val="DDDDDD"/>
            </a:solidFill>
            <a:ln w="28575">
              <a:solidFill>
                <a:schemeClr val="tx1"/>
              </a:solidFill>
              <a:miter lim="800000"/>
            </a:ln>
          </p:spPr>
          <p:txBody>
            <a:bodyPr wrap="none" anchor="ctr">
              <a:spAutoFit/>
            </a:bodyPr>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lt">
                                    <p:tmAbs val="75"/>
                                  </p:iterate>
                                  <p:childTnLst>
                                    <p:set>
                                      <p:cBhvr>
                                        <p:cTn id="11" dur="1" fill="hold">
                                          <p:stCondLst>
                                            <p:cond delay="74"/>
                                          </p:stCondLst>
                                        </p:cTn>
                                        <p:tgtEl>
                                          <p:spTgt spid="115716">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115717"/>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115718"/>
                                        </p:tgtEl>
                                        <p:attrNameLst>
                                          <p:attrName>style.visibility</p:attrName>
                                        </p:attrNameLst>
                                      </p:cBhvr>
                                      <p:to>
                                        <p:strVal val="visible"/>
                                      </p:to>
                                    </p:set>
                                  </p:childTnLst>
                                </p:cTn>
                              </p:par>
                            </p:childTnLst>
                          </p:cTn>
                        </p:par>
                        <p:par>
                          <p:cTn id="19" fill="hold">
                            <p:stCondLst>
                              <p:cond delay="1000"/>
                            </p:stCondLst>
                            <p:childTnLst>
                              <p:par>
                                <p:cTn id="20" presetID="1" presetClass="entr" presetSubtype="0" fill="hold" grpId="0" nodeType="afterEffect">
                                  <p:stCondLst>
                                    <p:cond delay="0"/>
                                  </p:stCondLst>
                                  <p:childTnLst>
                                    <p:set>
                                      <p:cBhvr>
                                        <p:cTn id="21" dur="1" fill="hold">
                                          <p:stCondLst>
                                            <p:cond delay="499"/>
                                          </p:stCondLst>
                                        </p:cTn>
                                        <p:tgtEl>
                                          <p:spTgt spid="115719"/>
                                        </p:tgtEl>
                                        <p:attrNameLst>
                                          <p:attrName>style.visibility</p:attrName>
                                        </p:attrNameLst>
                                      </p:cBhvr>
                                      <p:to>
                                        <p:strVal val="visible"/>
                                      </p:to>
                                    </p:set>
                                  </p:childTnLst>
                                </p:cTn>
                              </p:par>
                            </p:childTnLst>
                          </p:cTn>
                        </p:par>
                        <p:par>
                          <p:cTn id="22" fill="hold">
                            <p:stCondLst>
                              <p:cond delay="1500"/>
                            </p:stCondLst>
                            <p:childTnLst>
                              <p:par>
                                <p:cTn id="23" presetID="1" presetClass="entr" presetSubtype="0" fill="hold" grpId="0" nodeType="afterEffect">
                                  <p:stCondLst>
                                    <p:cond delay="0"/>
                                  </p:stCondLst>
                                  <p:childTnLst>
                                    <p:set>
                                      <p:cBhvr>
                                        <p:cTn id="24" dur="1" fill="hold">
                                          <p:stCondLst>
                                            <p:cond delay="499"/>
                                          </p:stCondLst>
                                        </p:cTn>
                                        <p:tgtEl>
                                          <p:spTgt spid="115722"/>
                                        </p:tgtEl>
                                        <p:attrNameLst>
                                          <p:attrName>style.visibility</p:attrName>
                                        </p:attrNameLst>
                                      </p:cBhvr>
                                      <p:to>
                                        <p:strVal val="visible"/>
                                      </p:to>
                                    </p:set>
                                  </p:childTnLst>
                                </p:cTn>
                              </p:par>
                            </p:childTnLst>
                          </p:cTn>
                        </p:par>
                        <p:par>
                          <p:cTn id="25" fill="hold">
                            <p:stCondLst>
                              <p:cond delay="2000"/>
                            </p:stCondLst>
                            <p:childTnLst>
                              <p:par>
                                <p:cTn id="26" presetID="1" presetClass="entr" presetSubtype="0" fill="hold" grpId="0" nodeType="afterEffect">
                                  <p:stCondLst>
                                    <p:cond delay="0"/>
                                  </p:stCondLst>
                                  <p:childTnLst>
                                    <p:set>
                                      <p:cBhvr>
                                        <p:cTn id="27" dur="1" fill="hold">
                                          <p:stCondLst>
                                            <p:cond delay="499"/>
                                          </p:stCondLst>
                                        </p:cTn>
                                        <p:tgtEl>
                                          <p:spTgt spid="115721"/>
                                        </p:tgtEl>
                                        <p:attrNameLst>
                                          <p:attrName>style.visibility</p:attrName>
                                        </p:attrNameLst>
                                      </p:cBhvr>
                                      <p:to>
                                        <p:strVal val="visible"/>
                                      </p:to>
                                    </p:set>
                                  </p:childTnLst>
                                </p:cTn>
                              </p:par>
                            </p:childTnLst>
                          </p:cTn>
                        </p:par>
                        <p:par>
                          <p:cTn id="28" fill="hold">
                            <p:stCondLst>
                              <p:cond delay="2500"/>
                            </p:stCondLst>
                            <p:childTnLst>
                              <p:par>
                                <p:cTn id="29" presetID="1" presetClass="entr" presetSubtype="0" fill="hold" grpId="0" nodeType="afterEffect">
                                  <p:stCondLst>
                                    <p:cond delay="0"/>
                                  </p:stCondLst>
                                  <p:childTnLst>
                                    <p:set>
                                      <p:cBhvr>
                                        <p:cTn id="30" dur="1" fill="hold">
                                          <p:stCondLst>
                                            <p:cond delay="499"/>
                                          </p:stCondLst>
                                        </p:cTn>
                                        <p:tgtEl>
                                          <p:spTgt spid="1157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15727"/>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499"/>
                                          </p:stCondLst>
                                        </p:cTn>
                                        <p:tgtEl>
                                          <p:spTgt spid="115730"/>
                                        </p:tgtEl>
                                        <p:attrNameLst>
                                          <p:attrName>style.visibility</p:attrName>
                                        </p:attrNameLst>
                                      </p:cBhvr>
                                      <p:to>
                                        <p:strVal val="visible"/>
                                      </p:to>
                                    </p:set>
                                  </p:childTnLst>
                                </p:cTn>
                              </p:par>
                            </p:childTnLst>
                          </p:cTn>
                        </p:par>
                        <p:par>
                          <p:cTn id="38" fill="hold">
                            <p:stCondLst>
                              <p:cond delay="1000"/>
                            </p:stCondLst>
                            <p:childTnLst>
                              <p:par>
                                <p:cTn id="39" presetID="1" presetClass="entr" presetSubtype="0" fill="hold" grpId="0" nodeType="afterEffect">
                                  <p:stCondLst>
                                    <p:cond delay="0"/>
                                  </p:stCondLst>
                                  <p:childTnLst>
                                    <p:set>
                                      <p:cBhvr>
                                        <p:cTn id="40" dur="1" fill="hold">
                                          <p:stCondLst>
                                            <p:cond delay="499"/>
                                          </p:stCondLst>
                                        </p:cTn>
                                        <p:tgtEl>
                                          <p:spTgt spid="115731"/>
                                        </p:tgtEl>
                                        <p:attrNameLst>
                                          <p:attrName>style.visibility</p:attrName>
                                        </p:attrNameLst>
                                      </p:cBhvr>
                                      <p:to>
                                        <p:strVal val="visible"/>
                                      </p:to>
                                    </p:set>
                                  </p:childTnLst>
                                </p:cTn>
                              </p:par>
                            </p:childTnLst>
                          </p:cTn>
                        </p:par>
                        <p:par>
                          <p:cTn id="41" fill="hold">
                            <p:stCondLst>
                              <p:cond delay="1500"/>
                            </p:stCondLst>
                            <p:childTnLst>
                              <p:par>
                                <p:cTn id="42" presetID="1" presetClass="entr" presetSubtype="0" fill="hold" grpId="0" nodeType="afterEffect">
                                  <p:stCondLst>
                                    <p:cond delay="0"/>
                                  </p:stCondLst>
                                  <p:childTnLst>
                                    <p:set>
                                      <p:cBhvr>
                                        <p:cTn id="43" dur="1" fill="hold">
                                          <p:stCondLst>
                                            <p:cond delay="499"/>
                                          </p:stCondLst>
                                        </p:cTn>
                                        <p:tgtEl>
                                          <p:spTgt spid="115735"/>
                                        </p:tgtEl>
                                        <p:attrNameLst>
                                          <p:attrName>style.visibility</p:attrName>
                                        </p:attrNameLst>
                                      </p:cBhvr>
                                      <p:to>
                                        <p:strVal val="visible"/>
                                      </p:to>
                                    </p:set>
                                  </p:childTnLst>
                                </p:cTn>
                              </p:par>
                            </p:childTnLst>
                          </p:cTn>
                        </p:par>
                        <p:par>
                          <p:cTn id="44" fill="hold">
                            <p:stCondLst>
                              <p:cond delay="2000"/>
                            </p:stCondLst>
                            <p:childTnLst>
                              <p:par>
                                <p:cTn id="45" presetID="1" presetClass="entr" presetSubtype="0" fill="hold" grpId="0" nodeType="afterEffect">
                                  <p:stCondLst>
                                    <p:cond delay="0"/>
                                  </p:stCondLst>
                                  <p:childTnLst>
                                    <p:set>
                                      <p:cBhvr>
                                        <p:cTn id="46" dur="1" fill="hold">
                                          <p:stCondLst>
                                            <p:cond delay="499"/>
                                          </p:stCondLst>
                                        </p:cTn>
                                        <p:tgtEl>
                                          <p:spTgt spid="1157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5723"/>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499"/>
                                          </p:stCondLst>
                                        </p:cTn>
                                        <p:tgtEl>
                                          <p:spTgt spid="115729"/>
                                        </p:tgtEl>
                                        <p:attrNameLst>
                                          <p:attrName>style.visibility</p:attrName>
                                        </p:attrNameLst>
                                      </p:cBhvr>
                                      <p:to>
                                        <p:strVal val="visible"/>
                                      </p:to>
                                    </p:set>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115736"/>
                                        </p:tgtEl>
                                        <p:attrNameLst>
                                          <p:attrName>style.visibility</p:attrName>
                                        </p:attrNameLst>
                                      </p:cBhvr>
                                      <p:to>
                                        <p:strVal val="visible"/>
                                      </p:to>
                                    </p:set>
                                  </p:childTnLst>
                                </p:cTn>
                              </p:par>
                            </p:childTnLst>
                          </p:cTn>
                        </p:par>
                        <p:par>
                          <p:cTn id="57" fill="hold">
                            <p:stCondLst>
                              <p:cond delay="1500"/>
                            </p:stCondLst>
                            <p:childTnLst>
                              <p:par>
                                <p:cTn id="58" presetID="1" presetClass="entr" presetSubtype="0" fill="hold" grpId="0" nodeType="afterEffect">
                                  <p:stCondLst>
                                    <p:cond delay="0"/>
                                  </p:stCondLst>
                                  <p:childTnLst>
                                    <p:set>
                                      <p:cBhvr>
                                        <p:cTn id="59" dur="1" fill="hold">
                                          <p:stCondLst>
                                            <p:cond delay="499"/>
                                          </p:stCondLst>
                                        </p:cTn>
                                        <p:tgtEl>
                                          <p:spTgt spid="115737"/>
                                        </p:tgtEl>
                                        <p:attrNameLst>
                                          <p:attrName>style.visibility</p:attrName>
                                        </p:attrNameLst>
                                      </p:cBhvr>
                                      <p:to>
                                        <p:strVal val="visible"/>
                                      </p:to>
                                    </p:set>
                                  </p:childTnLst>
                                </p:cTn>
                              </p:par>
                            </p:childTnLst>
                          </p:cTn>
                        </p:par>
                        <p:par>
                          <p:cTn id="60" fill="hold">
                            <p:stCondLst>
                              <p:cond delay="2000"/>
                            </p:stCondLst>
                            <p:childTnLst>
                              <p:par>
                                <p:cTn id="61" presetID="1" presetClass="entr" presetSubtype="0" fill="hold" grpId="0" nodeType="afterEffect">
                                  <p:stCondLst>
                                    <p:cond delay="0"/>
                                  </p:stCondLst>
                                  <p:childTnLst>
                                    <p:set>
                                      <p:cBhvr>
                                        <p:cTn id="62" dur="1" fill="hold">
                                          <p:stCondLst>
                                            <p:cond delay="499"/>
                                          </p:stCondLst>
                                        </p:cTn>
                                        <p:tgtEl>
                                          <p:spTgt spid="11573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15728"/>
                                        </p:tgtEl>
                                        <p:attrNameLst>
                                          <p:attrName>style.visibility</p:attrName>
                                        </p:attrNameLst>
                                      </p:cBhvr>
                                      <p:to>
                                        <p:strVal val="visible"/>
                                      </p:to>
                                    </p:set>
                                  </p:childTnLst>
                                </p:cTn>
                              </p:par>
                            </p:childTnLst>
                          </p:cTn>
                        </p:par>
                        <p:par>
                          <p:cTn id="67" fill="hold">
                            <p:stCondLst>
                              <p:cond delay="500"/>
                            </p:stCondLst>
                            <p:childTnLst>
                              <p:par>
                                <p:cTn id="68" presetID="1" presetClass="entr" presetSubtype="0" fill="hold" grpId="0" nodeType="afterEffect">
                                  <p:stCondLst>
                                    <p:cond delay="0"/>
                                  </p:stCondLst>
                                  <p:childTnLst>
                                    <p:set>
                                      <p:cBhvr>
                                        <p:cTn id="69" dur="1" fill="hold">
                                          <p:stCondLst>
                                            <p:cond delay="499"/>
                                          </p:stCondLst>
                                        </p:cTn>
                                        <p:tgtEl>
                                          <p:spTgt spid="115725"/>
                                        </p:tgtEl>
                                        <p:attrNameLst>
                                          <p:attrName>style.visibility</p:attrName>
                                        </p:attrNameLst>
                                      </p:cBhvr>
                                      <p:to>
                                        <p:strVal val="visible"/>
                                      </p:to>
                                    </p:set>
                                  </p:childTnLst>
                                </p:cTn>
                              </p:par>
                            </p:childTnLst>
                          </p:cTn>
                        </p:par>
                        <p:par>
                          <p:cTn id="70" fill="hold">
                            <p:stCondLst>
                              <p:cond delay="1000"/>
                            </p:stCondLst>
                            <p:childTnLst>
                              <p:par>
                                <p:cTn id="71" presetID="1" presetClass="entr" presetSubtype="0" fill="hold" grpId="0" nodeType="afterEffect">
                                  <p:stCondLst>
                                    <p:cond delay="0"/>
                                  </p:stCondLst>
                                  <p:childTnLst>
                                    <p:set>
                                      <p:cBhvr>
                                        <p:cTn id="72" dur="1" fill="hold">
                                          <p:stCondLst>
                                            <p:cond delay="499"/>
                                          </p:stCondLst>
                                        </p:cTn>
                                        <p:tgtEl>
                                          <p:spTgt spid="115738"/>
                                        </p:tgtEl>
                                        <p:attrNameLst>
                                          <p:attrName>style.visibility</p:attrName>
                                        </p:attrNameLst>
                                      </p:cBhvr>
                                      <p:to>
                                        <p:strVal val="visible"/>
                                      </p:to>
                                    </p:set>
                                  </p:childTnLst>
                                </p:cTn>
                              </p:par>
                            </p:childTnLst>
                          </p:cTn>
                        </p:par>
                        <p:par>
                          <p:cTn id="73" fill="hold">
                            <p:stCondLst>
                              <p:cond delay="1500"/>
                            </p:stCondLst>
                            <p:childTnLst>
                              <p:par>
                                <p:cTn id="74" presetID="1" presetClass="entr" presetSubtype="0" fill="hold" grpId="0" nodeType="afterEffect">
                                  <p:stCondLst>
                                    <p:cond delay="0"/>
                                  </p:stCondLst>
                                  <p:childTnLst>
                                    <p:set>
                                      <p:cBhvr>
                                        <p:cTn id="75" dur="1" fill="hold">
                                          <p:stCondLst>
                                            <p:cond delay="499"/>
                                          </p:stCondLst>
                                        </p:cTn>
                                        <p:tgtEl>
                                          <p:spTgt spid="115734"/>
                                        </p:tgtEl>
                                        <p:attrNameLst>
                                          <p:attrName>style.visibility</p:attrName>
                                        </p:attrNameLst>
                                      </p:cBhvr>
                                      <p:to>
                                        <p:strVal val="visible"/>
                                      </p:to>
                                    </p:set>
                                  </p:childTnLst>
                                </p:cTn>
                              </p:par>
                            </p:childTnLst>
                          </p:cTn>
                        </p:par>
                        <p:par>
                          <p:cTn id="76" fill="hold">
                            <p:stCondLst>
                              <p:cond delay="2000"/>
                            </p:stCondLst>
                            <p:childTnLst>
                              <p:par>
                                <p:cTn id="77" presetID="1" presetClass="entr" presetSubtype="0" fill="hold" grpId="0" nodeType="afterEffect">
                                  <p:stCondLst>
                                    <p:cond delay="0"/>
                                  </p:stCondLst>
                                  <p:childTnLst>
                                    <p:set>
                                      <p:cBhvr>
                                        <p:cTn id="78" dur="1" fill="hold">
                                          <p:stCondLst>
                                            <p:cond delay="499"/>
                                          </p:stCondLst>
                                        </p:cTn>
                                        <p:tgtEl>
                                          <p:spTgt spid="11574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15726"/>
                                        </p:tgtEl>
                                        <p:attrNameLst>
                                          <p:attrName>style.visibility</p:attrName>
                                        </p:attrNameLst>
                                      </p:cBhvr>
                                      <p:to>
                                        <p:strVal val="visible"/>
                                      </p:to>
                                    </p:set>
                                  </p:childTnLst>
                                </p:cTn>
                              </p:par>
                            </p:childTnLst>
                          </p:cTn>
                        </p:par>
                        <p:par>
                          <p:cTn id="83" fill="hold">
                            <p:stCondLst>
                              <p:cond delay="500"/>
                            </p:stCondLst>
                            <p:childTnLst>
                              <p:par>
                                <p:cTn id="84" presetID="1" presetClass="entr" presetSubtype="0" fill="hold" grpId="0" nodeType="afterEffect">
                                  <p:stCondLst>
                                    <p:cond delay="0"/>
                                  </p:stCondLst>
                                  <p:childTnLst>
                                    <p:set>
                                      <p:cBhvr>
                                        <p:cTn id="85" dur="1" fill="hold">
                                          <p:stCondLst>
                                            <p:cond delay="499"/>
                                          </p:stCondLst>
                                        </p:cTn>
                                        <p:tgtEl>
                                          <p:spTgt spid="115724"/>
                                        </p:tgtEl>
                                        <p:attrNameLst>
                                          <p:attrName>style.visibility</p:attrName>
                                        </p:attrNameLst>
                                      </p:cBhvr>
                                      <p:to>
                                        <p:strVal val="visible"/>
                                      </p:to>
                                    </p:set>
                                  </p:childTnLst>
                                </p:cTn>
                              </p:par>
                            </p:childTnLst>
                          </p:cTn>
                        </p:par>
                        <p:par>
                          <p:cTn id="86" fill="hold">
                            <p:stCondLst>
                              <p:cond delay="1000"/>
                            </p:stCondLst>
                            <p:childTnLst>
                              <p:par>
                                <p:cTn id="87" presetID="1" presetClass="entr" presetSubtype="0" fill="hold" grpId="0" nodeType="afterEffect">
                                  <p:stCondLst>
                                    <p:cond delay="0"/>
                                  </p:stCondLst>
                                  <p:childTnLst>
                                    <p:set>
                                      <p:cBhvr>
                                        <p:cTn id="88" dur="1" fill="hold">
                                          <p:stCondLst>
                                            <p:cond delay="499"/>
                                          </p:stCondLst>
                                        </p:cTn>
                                        <p:tgtEl>
                                          <p:spTgt spid="115732"/>
                                        </p:tgtEl>
                                        <p:attrNameLst>
                                          <p:attrName>style.visibility</p:attrName>
                                        </p:attrNameLst>
                                      </p:cBhvr>
                                      <p:to>
                                        <p:strVal val="visible"/>
                                      </p:to>
                                    </p:set>
                                  </p:childTnLst>
                                </p:cTn>
                              </p:par>
                            </p:childTnLst>
                          </p:cTn>
                        </p:par>
                        <p:par>
                          <p:cTn id="89" fill="hold">
                            <p:stCondLst>
                              <p:cond delay="1500"/>
                            </p:stCondLst>
                            <p:childTnLst>
                              <p:par>
                                <p:cTn id="90" presetID="1" presetClass="entr" presetSubtype="0" fill="hold" grpId="0" nodeType="afterEffect">
                                  <p:stCondLst>
                                    <p:cond delay="0"/>
                                  </p:stCondLst>
                                  <p:childTnLst>
                                    <p:set>
                                      <p:cBhvr>
                                        <p:cTn id="91" dur="1" fill="hold">
                                          <p:stCondLst>
                                            <p:cond delay="499"/>
                                          </p:stCondLst>
                                        </p:cTn>
                                        <p:tgtEl>
                                          <p:spTgt spid="115733"/>
                                        </p:tgtEl>
                                        <p:attrNameLst>
                                          <p:attrName>style.visibility</p:attrName>
                                        </p:attrNameLst>
                                      </p:cBhvr>
                                      <p:to>
                                        <p:strVal val="visible"/>
                                      </p:to>
                                    </p:set>
                                  </p:childTnLst>
                                </p:cTn>
                              </p:par>
                            </p:childTnLst>
                          </p:cTn>
                        </p:par>
                        <p:par>
                          <p:cTn id="92" fill="hold">
                            <p:stCondLst>
                              <p:cond delay="2000"/>
                            </p:stCondLst>
                            <p:childTnLst>
                              <p:par>
                                <p:cTn id="93" presetID="1" presetClass="entr" presetSubtype="0" fill="hold" grpId="0" nodeType="afterEffect">
                                  <p:stCondLst>
                                    <p:cond delay="0"/>
                                  </p:stCondLst>
                                  <p:childTnLst>
                                    <p:set>
                                      <p:cBhvr>
                                        <p:cTn id="94" dur="1" fill="hold">
                                          <p:stCondLst>
                                            <p:cond delay="499"/>
                                          </p:stCondLst>
                                        </p:cTn>
                                        <p:tgtEl>
                                          <p:spTgt spid="11574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lt">
                                    <p:tmAbs val="75"/>
                                  </p:iterate>
                                  <p:childTnLst>
                                    <p:set>
                                      <p:cBhvr>
                                        <p:cTn id="98" dur="1" fill="hold">
                                          <p:stCondLst>
                                            <p:cond delay="74"/>
                                          </p:stCondLst>
                                        </p:cTn>
                                        <p:tgtEl>
                                          <p:spTgt spid="115743">
                                            <p:txEl>
                                              <p:pRg st="0" end="0"/>
                                            </p:txEl>
                                          </p:spTgt>
                                        </p:tgtEl>
                                        <p:attrNameLst>
                                          <p:attrName>style.visibility</p:attrName>
                                        </p:attrNameLst>
                                      </p:cBhvr>
                                      <p:to>
                                        <p:strVal val="visible"/>
                                      </p:to>
                                    </p:set>
                                  </p:childTnLst>
                                </p:cTn>
                              </p:par>
                            </p:childTnLst>
                          </p:cTn>
                        </p:par>
                        <p:par>
                          <p:cTn id="99" fill="hold">
                            <p:stCondLst>
                              <p:cond delay="3075"/>
                            </p:stCondLst>
                            <p:childTnLst>
                              <p:par>
                                <p:cTn id="100" presetID="22" presetClass="entr" presetSubtype="8" fill="hold" grpId="0" nodeType="afterEffect">
                                  <p:stCondLst>
                                    <p:cond delay="0"/>
                                  </p:stCondLst>
                                  <p:iterate type="lt">
                                    <p:tmPct val="100000"/>
                                  </p:iterate>
                                  <p:childTnLst>
                                    <p:set>
                                      <p:cBhvr>
                                        <p:cTn id="101" dur="1" fill="hold">
                                          <p:stCondLst>
                                            <p:cond delay="0"/>
                                          </p:stCondLst>
                                        </p:cTn>
                                        <p:tgtEl>
                                          <p:spTgt spid="115744"/>
                                        </p:tgtEl>
                                        <p:attrNameLst>
                                          <p:attrName>style.visibility</p:attrName>
                                        </p:attrNameLst>
                                      </p:cBhvr>
                                      <p:to>
                                        <p:strVal val="visible"/>
                                      </p:to>
                                    </p:set>
                                    <p:animEffect transition="in" filter="wipe(left)">
                                      <p:cBhvr>
                                        <p:cTn id="102" dur="75"/>
                                        <p:tgtEl>
                                          <p:spTgt spid="115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utoUpdateAnimBg="0" build="p"/>
      <p:bldP spid="115718" grpId="0" autoUpdateAnimBg="0"/>
      <p:bldP spid="115719" grpId="0" autoUpdateAnimBg="0"/>
      <p:bldP spid="115720" grpId="0" autoUpdateAnimBg="0"/>
      <p:bldP spid="115721" grpId="0" autoUpdateAnimBg="0"/>
      <p:bldP spid="115722" grpId="0" autoUpdateAnimBg="0"/>
      <p:bldP spid="115723" grpId="0" autoUpdateAnimBg="0"/>
      <p:bldP spid="115724" grpId="0" autoUpdateAnimBg="0"/>
      <p:bldP spid="115725" grpId="0" autoUpdateAnimBg="0"/>
      <p:bldP spid="115726" grpId="0" autoUpdateAnimBg="0"/>
      <p:bldP spid="115727" grpId="0" autoUpdateAnimBg="0"/>
      <p:bldP spid="115728" grpId="0" autoUpdateAnimBg="0"/>
      <p:bldP spid="115729" grpId="0" autoUpdateAnimBg="0"/>
      <p:bldP spid="115730" grpId="0" autoUpdateAnimBg="0"/>
      <p:bldP spid="115731" grpId="0" autoUpdateAnimBg="0"/>
      <p:bldP spid="115732" grpId="0" autoUpdateAnimBg="0"/>
      <p:bldP spid="115733" grpId="0" autoUpdateAnimBg="0"/>
      <p:bldP spid="115734" grpId="0" autoUpdateAnimBg="0"/>
      <p:bldP spid="115735" grpId="0" autoUpdateAnimBg="0"/>
      <p:bldP spid="115736" grpId="0" autoUpdateAnimBg="0"/>
      <p:bldP spid="115737" grpId="0" autoUpdateAnimBg="0"/>
      <p:bldP spid="115738" grpId="0" autoUpdateAnimBg="0"/>
      <p:bldP spid="115739" grpId="0" autoUpdateAnimBg="0"/>
      <p:bldP spid="115740" grpId="0" autoUpdateAnimBg="0"/>
      <p:bldP spid="115741" grpId="0" autoUpdateAnimBg="0"/>
      <p:bldP spid="115742" grpId="0" autoUpdateAnimBg="0"/>
      <p:bldP spid="115743" grpId="0" autoUpdateAnimBg="0" build="p"/>
      <p:bldP spid="115744"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26</a:t>
            </a:r>
            <a:r>
              <a:rPr lang="zh-CN" altLang="en-US" sz="2800" smtClean="0">
                <a:ea typeface="宋体" panose="02010600030101010101" pitchFamily="2" charset="-122"/>
              </a:rPr>
              <a:t>）</a:t>
            </a:r>
            <a:endParaRPr lang="zh-CN" altLang="en-US" sz="3200" smtClean="0">
              <a:ea typeface="楷体_GB2312" pitchFamily="49" charset="-122"/>
            </a:endParaRPr>
          </a:p>
        </p:txBody>
      </p:sp>
      <p:sp>
        <p:nvSpPr>
          <p:cNvPr id="3" name="灯片编号占位符 2"/>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47107" name="Rectangle 3"/>
          <p:cNvSpPr>
            <a:spLocks noGrp="1" noChangeArrowheads="1"/>
          </p:cNvSpPr>
          <p:nvPr>
            <p:ph sz="quarter" idx="4294967295"/>
          </p:nvPr>
        </p:nvSpPr>
        <p:spPr>
          <a:xfrm>
            <a:off x="0" y="765175"/>
            <a:ext cx="8891588" cy="5543550"/>
          </a:xfrm>
        </p:spPr>
        <p:txBody>
          <a:bodyPr/>
          <a:lstStyle/>
          <a:p>
            <a:pPr eaLnBrk="1" hangingPunct="1"/>
            <a:r>
              <a:rPr kumimoji="1" lang="zh-CN" altLang="en-US" smtClean="0">
                <a:ea typeface="宋体" panose="02010600030101010101" pitchFamily="2" charset="-122"/>
              </a:rPr>
              <a:t>半导体二极管主要参数</a:t>
            </a:r>
            <a:endParaRPr kumimoji="1" lang="zh-CN" altLang="en-US" smtClean="0">
              <a:ea typeface="宋体" panose="02010600030101010101" pitchFamily="2" charset="-122"/>
            </a:endParaRPr>
          </a:p>
        </p:txBody>
      </p:sp>
      <p:grpSp>
        <p:nvGrpSpPr>
          <p:cNvPr id="2" name="Group 4"/>
          <p:cNvGrpSpPr/>
          <p:nvPr/>
        </p:nvGrpSpPr>
        <p:grpSpPr bwMode="auto">
          <a:xfrm>
            <a:off x="3140075" y="727075"/>
            <a:ext cx="4292600" cy="3111500"/>
            <a:chOff x="3084" y="1824"/>
            <a:chExt cx="2704" cy="1960"/>
          </a:xfrm>
        </p:grpSpPr>
        <p:sp>
          <p:nvSpPr>
            <p:cNvPr id="47111" name="Freeform 5"/>
            <p:cNvSpPr/>
            <p:nvPr/>
          </p:nvSpPr>
          <p:spPr bwMode="auto">
            <a:xfrm>
              <a:off x="4438" y="2210"/>
              <a:ext cx="853" cy="841"/>
            </a:xfrm>
            <a:custGeom>
              <a:avLst/>
              <a:gdLst>
                <a:gd name="T0" fmla="*/ 853 w 853"/>
                <a:gd name="T1" fmla="*/ 0 h 841"/>
                <a:gd name="T2" fmla="*/ 792 w 853"/>
                <a:gd name="T3" fmla="*/ 389 h 841"/>
                <a:gd name="T4" fmla="*/ 693 w 853"/>
                <a:gd name="T5" fmla="*/ 636 h 841"/>
                <a:gd name="T6" fmla="*/ 575 w 853"/>
                <a:gd name="T7" fmla="*/ 714 h 841"/>
                <a:gd name="T8" fmla="*/ 493 w 853"/>
                <a:gd name="T9" fmla="*/ 745 h 841"/>
                <a:gd name="T10" fmla="*/ 420 w 853"/>
                <a:gd name="T11" fmla="*/ 777 h 841"/>
                <a:gd name="T12" fmla="*/ 306 w 853"/>
                <a:gd name="T13" fmla="*/ 808 h 841"/>
                <a:gd name="T14" fmla="*/ 193 w 853"/>
                <a:gd name="T15" fmla="*/ 818 h 841"/>
                <a:gd name="T16" fmla="*/ 0 w 853"/>
                <a:gd name="T17" fmla="*/ 841 h 8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53"/>
                <a:gd name="T28" fmla="*/ 0 h 841"/>
                <a:gd name="T29" fmla="*/ 853 w 853"/>
                <a:gd name="T30" fmla="*/ 841 h 8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53" h="841">
                  <a:moveTo>
                    <a:pt x="853" y="0"/>
                  </a:moveTo>
                  <a:cubicBezTo>
                    <a:pt x="845" y="65"/>
                    <a:pt x="819" y="283"/>
                    <a:pt x="792" y="389"/>
                  </a:cubicBezTo>
                  <a:cubicBezTo>
                    <a:pt x="765" y="495"/>
                    <a:pt x="729" y="582"/>
                    <a:pt x="693" y="636"/>
                  </a:cubicBezTo>
                  <a:cubicBezTo>
                    <a:pt x="657" y="690"/>
                    <a:pt x="608" y="696"/>
                    <a:pt x="575" y="714"/>
                  </a:cubicBezTo>
                  <a:cubicBezTo>
                    <a:pt x="542" y="732"/>
                    <a:pt x="519" y="734"/>
                    <a:pt x="493" y="745"/>
                  </a:cubicBezTo>
                  <a:cubicBezTo>
                    <a:pt x="467" y="756"/>
                    <a:pt x="451" y="766"/>
                    <a:pt x="420" y="777"/>
                  </a:cubicBezTo>
                  <a:cubicBezTo>
                    <a:pt x="389" y="788"/>
                    <a:pt x="344" y="801"/>
                    <a:pt x="306" y="808"/>
                  </a:cubicBezTo>
                  <a:cubicBezTo>
                    <a:pt x="268" y="815"/>
                    <a:pt x="244" y="812"/>
                    <a:pt x="193" y="818"/>
                  </a:cubicBezTo>
                  <a:cubicBezTo>
                    <a:pt x="142" y="824"/>
                    <a:pt x="40" y="836"/>
                    <a:pt x="0" y="841"/>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12" name="Freeform 6"/>
            <p:cNvSpPr/>
            <p:nvPr/>
          </p:nvSpPr>
          <p:spPr bwMode="auto">
            <a:xfrm>
              <a:off x="3200" y="3059"/>
              <a:ext cx="1213" cy="725"/>
            </a:xfrm>
            <a:custGeom>
              <a:avLst/>
              <a:gdLst>
                <a:gd name="T0" fmla="*/ 1213 w 1213"/>
                <a:gd name="T1" fmla="*/ 0 h 725"/>
                <a:gd name="T2" fmla="*/ 970 w 1213"/>
                <a:gd name="T3" fmla="*/ 80 h 725"/>
                <a:gd name="T4" fmla="*/ 453 w 1213"/>
                <a:gd name="T5" fmla="*/ 80 h 725"/>
                <a:gd name="T6" fmla="*/ 236 w 1213"/>
                <a:gd name="T7" fmla="*/ 80 h 725"/>
                <a:gd name="T8" fmla="*/ 102 w 1213"/>
                <a:gd name="T9" fmla="*/ 103 h 725"/>
                <a:gd name="T10" fmla="*/ 19 w 1213"/>
                <a:gd name="T11" fmla="*/ 216 h 725"/>
                <a:gd name="T12" fmla="*/ 0 w 1213"/>
                <a:gd name="T13" fmla="*/ 725 h 725"/>
                <a:gd name="T14" fmla="*/ 0 60000 65536"/>
                <a:gd name="T15" fmla="*/ 0 60000 65536"/>
                <a:gd name="T16" fmla="*/ 0 60000 65536"/>
                <a:gd name="T17" fmla="*/ 0 60000 65536"/>
                <a:gd name="T18" fmla="*/ 0 60000 65536"/>
                <a:gd name="T19" fmla="*/ 0 60000 65536"/>
                <a:gd name="T20" fmla="*/ 0 60000 65536"/>
                <a:gd name="T21" fmla="*/ 0 w 1213"/>
                <a:gd name="T22" fmla="*/ 0 h 725"/>
                <a:gd name="T23" fmla="*/ 1213 w 1213"/>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3" h="725">
                  <a:moveTo>
                    <a:pt x="1213" y="0"/>
                  </a:moveTo>
                  <a:cubicBezTo>
                    <a:pt x="1173" y="12"/>
                    <a:pt x="1097" y="67"/>
                    <a:pt x="970" y="80"/>
                  </a:cubicBezTo>
                  <a:cubicBezTo>
                    <a:pt x="843" y="93"/>
                    <a:pt x="575" y="80"/>
                    <a:pt x="453" y="80"/>
                  </a:cubicBezTo>
                  <a:cubicBezTo>
                    <a:pt x="331" y="80"/>
                    <a:pt x="294" y="77"/>
                    <a:pt x="236" y="80"/>
                  </a:cubicBezTo>
                  <a:cubicBezTo>
                    <a:pt x="178" y="84"/>
                    <a:pt x="138" y="80"/>
                    <a:pt x="102" y="103"/>
                  </a:cubicBezTo>
                  <a:cubicBezTo>
                    <a:pt x="66" y="126"/>
                    <a:pt x="36" y="112"/>
                    <a:pt x="19" y="216"/>
                  </a:cubicBezTo>
                  <a:cubicBezTo>
                    <a:pt x="2" y="320"/>
                    <a:pt x="4" y="619"/>
                    <a:pt x="0" y="725"/>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13" name="Line 7"/>
            <p:cNvSpPr>
              <a:spLocks noChangeShapeType="1"/>
            </p:cNvSpPr>
            <p:nvPr/>
          </p:nvSpPr>
          <p:spPr bwMode="auto">
            <a:xfrm>
              <a:off x="3084" y="3056"/>
              <a:ext cx="2352"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Text Box 8"/>
            <p:cNvSpPr txBox="1">
              <a:spLocks noChangeArrowheads="1"/>
            </p:cNvSpPr>
            <p:nvPr/>
          </p:nvSpPr>
          <p:spPr bwMode="auto">
            <a:xfrm>
              <a:off x="5504" y="2880"/>
              <a:ext cx="28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ea typeface="经典繁方篆" pitchFamily="49" charset="-122"/>
                </a:rPr>
                <a:t>u</a:t>
              </a:r>
              <a:r>
                <a:rPr kumimoji="1" lang="en-US" altLang="zh-CN" sz="2000" b="1" baseline="-25000">
                  <a:solidFill>
                    <a:schemeClr val="tx2"/>
                  </a:solidFill>
                  <a:latin typeface="Times New Roman" panose="02020603050405020304" pitchFamily="18" charset="0"/>
                  <a:ea typeface="经典繁方篆" pitchFamily="49" charset="-122"/>
                </a:rPr>
                <a:t>D</a:t>
              </a:r>
              <a:endParaRPr kumimoji="1" lang="en-US" altLang="zh-CN" sz="2000" b="1">
                <a:solidFill>
                  <a:schemeClr val="tx2"/>
                </a:solidFill>
                <a:latin typeface="Times New Roman" panose="02020603050405020304" pitchFamily="18" charset="0"/>
                <a:ea typeface="经典繁方篆" pitchFamily="49" charset="-122"/>
              </a:endParaRPr>
            </a:p>
          </p:txBody>
        </p:sp>
        <p:sp>
          <p:nvSpPr>
            <p:cNvPr id="47115" name="Line 9"/>
            <p:cNvSpPr>
              <a:spLocks noChangeShapeType="1"/>
            </p:cNvSpPr>
            <p:nvPr/>
          </p:nvSpPr>
          <p:spPr bwMode="auto">
            <a:xfrm flipV="1">
              <a:off x="4404" y="1990"/>
              <a:ext cx="0" cy="1584"/>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6" name="Text Box 10"/>
            <p:cNvSpPr txBox="1">
              <a:spLocks noChangeArrowheads="1"/>
            </p:cNvSpPr>
            <p:nvPr/>
          </p:nvSpPr>
          <p:spPr bwMode="auto">
            <a:xfrm>
              <a:off x="4490" y="1824"/>
              <a:ext cx="2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ea typeface="经典繁方篆" pitchFamily="49" charset="-122"/>
                </a:rPr>
                <a:t>i</a:t>
              </a:r>
              <a:r>
                <a:rPr kumimoji="1" lang="en-US" altLang="zh-CN" sz="2000" b="1" baseline="-25000">
                  <a:solidFill>
                    <a:schemeClr val="tx2"/>
                  </a:solidFill>
                  <a:latin typeface="Times New Roman" panose="02020603050405020304" pitchFamily="18" charset="0"/>
                  <a:ea typeface="经典繁方篆" pitchFamily="49" charset="-122"/>
                </a:rPr>
                <a:t>D</a:t>
              </a:r>
              <a:endParaRPr kumimoji="1" lang="en-US" altLang="zh-CN" sz="2000" b="1">
                <a:solidFill>
                  <a:schemeClr val="tx2"/>
                </a:solidFill>
                <a:latin typeface="Times New Roman" panose="02020603050405020304" pitchFamily="18" charset="0"/>
                <a:ea typeface="经典繁方篆" pitchFamily="49" charset="-122"/>
              </a:endParaRPr>
            </a:p>
          </p:txBody>
        </p:sp>
        <p:sp>
          <p:nvSpPr>
            <p:cNvPr id="47117" name="Text Box 11"/>
            <p:cNvSpPr txBox="1">
              <a:spLocks noChangeArrowheads="1"/>
            </p:cNvSpPr>
            <p:nvPr/>
          </p:nvSpPr>
          <p:spPr bwMode="auto">
            <a:xfrm>
              <a:off x="4240" y="30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0</a:t>
              </a:r>
              <a:endParaRPr kumimoji="1" lang="en-US" altLang="zh-CN"/>
            </a:p>
          </p:txBody>
        </p:sp>
        <p:sp>
          <p:nvSpPr>
            <p:cNvPr id="47118" name="Line 12"/>
            <p:cNvSpPr>
              <a:spLocks noChangeShapeType="1"/>
            </p:cNvSpPr>
            <p:nvPr/>
          </p:nvSpPr>
          <p:spPr bwMode="auto">
            <a:xfrm>
              <a:off x="4400" y="2296"/>
              <a:ext cx="864" cy="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9" name="Line 13"/>
            <p:cNvSpPr>
              <a:spLocks noChangeShapeType="1"/>
            </p:cNvSpPr>
            <p:nvPr/>
          </p:nvSpPr>
          <p:spPr bwMode="auto">
            <a:xfrm>
              <a:off x="3728" y="3064"/>
              <a:ext cx="0" cy="96"/>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0" name="Line 14"/>
            <p:cNvSpPr>
              <a:spLocks noChangeShapeType="1"/>
            </p:cNvSpPr>
            <p:nvPr/>
          </p:nvSpPr>
          <p:spPr bwMode="auto">
            <a:xfrm>
              <a:off x="3200" y="3064"/>
              <a:ext cx="0" cy="24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1" name="Rectangle 15"/>
            <p:cNvSpPr>
              <a:spLocks noChangeArrowheads="1"/>
            </p:cNvSpPr>
            <p:nvPr/>
          </p:nvSpPr>
          <p:spPr bwMode="auto">
            <a:xfrm>
              <a:off x="3709" y="2728"/>
              <a:ext cx="5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sz="2000" b="1" i="1">
                  <a:solidFill>
                    <a:schemeClr val="tx2"/>
                  </a:solidFill>
                  <a:latin typeface="Times New Roman" panose="02020603050405020304" pitchFamily="18" charset="0"/>
                  <a:ea typeface="经典繁方篆" pitchFamily="49" charset="-122"/>
                </a:rPr>
                <a:t>U</a:t>
              </a:r>
              <a:r>
                <a:rPr kumimoji="1" lang="en-US" altLang="zh-CN" sz="2000" b="1" baseline="-25000">
                  <a:solidFill>
                    <a:schemeClr val="tx2"/>
                  </a:solidFill>
                  <a:latin typeface="Times New Roman" panose="02020603050405020304" pitchFamily="18" charset="0"/>
                  <a:ea typeface="经典繁方篆" pitchFamily="49" charset="-122"/>
                </a:rPr>
                <a:t>RWM</a:t>
              </a:r>
              <a:endParaRPr kumimoji="1" lang="en-US" altLang="zh-CN" sz="2000" b="1" baseline="-25000">
                <a:solidFill>
                  <a:schemeClr val="tx2"/>
                </a:solidFill>
                <a:latin typeface="Times New Roman" panose="02020603050405020304" pitchFamily="18" charset="0"/>
                <a:ea typeface="经典繁方篆" pitchFamily="49" charset="-122"/>
              </a:endParaRPr>
            </a:p>
          </p:txBody>
        </p:sp>
        <p:sp>
          <p:nvSpPr>
            <p:cNvPr id="47122" name="Line 16"/>
            <p:cNvSpPr>
              <a:spLocks noChangeShapeType="1"/>
            </p:cNvSpPr>
            <p:nvPr/>
          </p:nvSpPr>
          <p:spPr bwMode="auto">
            <a:xfrm flipV="1">
              <a:off x="3728" y="3160"/>
              <a:ext cx="0" cy="144"/>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Rectangle 17"/>
            <p:cNvSpPr>
              <a:spLocks noChangeArrowheads="1"/>
            </p:cNvSpPr>
            <p:nvPr/>
          </p:nvSpPr>
          <p:spPr bwMode="auto">
            <a:xfrm>
              <a:off x="3680" y="330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sz="2000" b="1" i="1">
                  <a:solidFill>
                    <a:schemeClr val="tx2"/>
                  </a:solidFill>
                  <a:latin typeface="Times New Roman" panose="02020603050405020304" pitchFamily="18" charset="0"/>
                  <a:ea typeface="经典繁方篆" pitchFamily="49" charset="-122"/>
                </a:rPr>
                <a:t>I</a:t>
              </a:r>
              <a:r>
                <a:rPr kumimoji="1" lang="en-US" altLang="zh-CN" sz="2000" b="1" baseline="-25000">
                  <a:solidFill>
                    <a:schemeClr val="tx2"/>
                  </a:solidFill>
                  <a:latin typeface="Times New Roman" panose="02020603050405020304" pitchFamily="18" charset="0"/>
                  <a:ea typeface="经典繁方篆" pitchFamily="49" charset="-122"/>
                </a:rPr>
                <a:t>R</a:t>
              </a:r>
              <a:endParaRPr kumimoji="1" lang="en-US" altLang="zh-CN" sz="2000" b="1" baseline="-25000">
                <a:solidFill>
                  <a:schemeClr val="tx2"/>
                </a:solidFill>
                <a:latin typeface="Times New Roman" panose="02020603050405020304" pitchFamily="18" charset="0"/>
                <a:ea typeface="经典繁方篆" pitchFamily="49" charset="-122"/>
              </a:endParaRPr>
            </a:p>
          </p:txBody>
        </p:sp>
        <p:sp>
          <p:nvSpPr>
            <p:cNvPr id="47124" name="Line 18"/>
            <p:cNvSpPr>
              <a:spLocks noChangeShapeType="1"/>
            </p:cNvSpPr>
            <p:nvPr/>
          </p:nvSpPr>
          <p:spPr bwMode="auto">
            <a:xfrm>
              <a:off x="3728" y="2872"/>
              <a:ext cx="0" cy="19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5" name="Rectangle 19"/>
            <p:cNvSpPr>
              <a:spLocks noChangeArrowheads="1"/>
            </p:cNvSpPr>
            <p:nvPr/>
          </p:nvSpPr>
          <p:spPr bwMode="auto">
            <a:xfrm>
              <a:off x="4016" y="2152"/>
              <a:ext cx="3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sz="2000" b="1" i="1">
                  <a:solidFill>
                    <a:schemeClr val="tx2"/>
                  </a:solidFill>
                  <a:latin typeface="Times New Roman" panose="02020603050405020304" pitchFamily="18" charset="0"/>
                  <a:ea typeface="经典繁方篆" pitchFamily="49" charset="-122"/>
                </a:rPr>
                <a:t>I</a:t>
              </a:r>
              <a:r>
                <a:rPr kumimoji="1" lang="en-US" altLang="zh-CN" sz="2000" b="1" baseline="-25000">
                  <a:solidFill>
                    <a:schemeClr val="tx2"/>
                  </a:solidFill>
                  <a:latin typeface="Times New Roman" panose="02020603050405020304" pitchFamily="18" charset="0"/>
                  <a:ea typeface="经典繁方篆" pitchFamily="49" charset="-122"/>
                </a:rPr>
                <a:t>OM</a:t>
              </a:r>
              <a:endParaRPr kumimoji="1" lang="en-US" altLang="zh-CN" sz="2000" b="1" baseline="-25000">
                <a:solidFill>
                  <a:schemeClr val="tx2"/>
                </a:solidFill>
                <a:latin typeface="Times New Roman" panose="02020603050405020304" pitchFamily="18" charset="0"/>
                <a:ea typeface="经典繁方篆" pitchFamily="49" charset="-122"/>
              </a:endParaRPr>
            </a:p>
          </p:txBody>
        </p:sp>
        <p:sp>
          <p:nvSpPr>
            <p:cNvPr id="47126" name="Text Box 20"/>
            <p:cNvSpPr txBox="1">
              <a:spLocks noChangeArrowheads="1"/>
            </p:cNvSpPr>
            <p:nvPr/>
          </p:nvSpPr>
          <p:spPr bwMode="auto">
            <a:xfrm>
              <a:off x="3094" y="2754"/>
              <a:ext cx="38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ea typeface="经典繁方篆" pitchFamily="49" charset="-122"/>
                </a:rPr>
                <a:t>U</a:t>
              </a:r>
              <a:r>
                <a:rPr kumimoji="1" lang="en-US" altLang="zh-CN" sz="2000" b="1" baseline="-25000">
                  <a:solidFill>
                    <a:schemeClr val="tx2"/>
                  </a:solidFill>
                  <a:latin typeface="Times New Roman" panose="02020603050405020304" pitchFamily="18" charset="0"/>
                  <a:ea typeface="经典繁方篆" pitchFamily="49" charset="-122"/>
                </a:rPr>
                <a:t>BR</a:t>
              </a:r>
              <a:endParaRPr kumimoji="1" lang="en-US" altLang="zh-CN" sz="2000" b="1">
                <a:solidFill>
                  <a:schemeClr val="tx2"/>
                </a:solidFill>
                <a:latin typeface="Times New Roman" panose="02020603050405020304" pitchFamily="18" charset="0"/>
                <a:ea typeface="经典繁方篆" pitchFamily="49" charset="-122"/>
              </a:endParaRPr>
            </a:p>
          </p:txBody>
        </p:sp>
      </p:grpSp>
      <p:sp>
        <p:nvSpPr>
          <p:cNvPr id="116757" name="Text Box 21"/>
          <p:cNvSpPr txBox="1">
            <a:spLocks noChangeArrowheads="1"/>
          </p:cNvSpPr>
          <p:nvPr/>
        </p:nvSpPr>
        <p:spPr bwMode="auto">
          <a:xfrm>
            <a:off x="395288" y="3654425"/>
            <a:ext cx="8196262"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76250" indent="-4762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b="1">
                <a:latin typeface="Times New Roman" panose="02020603050405020304" pitchFamily="18" charset="0"/>
                <a:cs typeface="Times New Roman" panose="02020603050405020304" pitchFamily="18" charset="0"/>
              </a:rPr>
              <a:t>1. </a:t>
            </a:r>
            <a:r>
              <a:rPr kumimoji="1" lang="zh-CN" altLang="en-US" sz="2400" b="1">
                <a:solidFill>
                  <a:srgbClr val="FF0000"/>
                </a:solidFill>
                <a:latin typeface="Times New Roman" panose="02020603050405020304" pitchFamily="18" charset="0"/>
                <a:cs typeface="Times New Roman" panose="02020603050405020304" pitchFamily="18" charset="0"/>
              </a:rPr>
              <a:t>最大整流电流 </a:t>
            </a:r>
            <a:r>
              <a:rPr kumimoji="1" lang="en-US" altLang="zh-CN" sz="2400" b="1" i="1">
                <a:solidFill>
                  <a:srgbClr val="FF0000"/>
                </a:solidFill>
                <a:latin typeface="Times New Roman" panose="02020603050405020304" pitchFamily="18" charset="0"/>
                <a:cs typeface="Times New Roman" panose="02020603050405020304" pitchFamily="18" charset="0"/>
              </a:rPr>
              <a:t>I</a:t>
            </a:r>
            <a:r>
              <a:rPr kumimoji="1" lang="en-US" altLang="zh-CN" sz="2400" b="1" baseline="-25000">
                <a:solidFill>
                  <a:srgbClr val="FF0000"/>
                </a:solidFill>
                <a:latin typeface="Times New Roman" panose="02020603050405020304" pitchFamily="18" charset="0"/>
                <a:cs typeface="Times New Roman" panose="02020603050405020304" pitchFamily="18" charset="0"/>
              </a:rPr>
              <a:t>OM</a:t>
            </a:r>
            <a:r>
              <a:rPr kumimoji="1" lang="zh-CN" altLang="en-US" sz="2400" b="1">
                <a:latin typeface="Times New Roman" panose="02020603050405020304" pitchFamily="18" charset="0"/>
                <a:cs typeface="Times New Roman" panose="02020603050405020304" pitchFamily="18" charset="0"/>
              </a:rPr>
              <a:t>：二极管长时间安全工作所允许流过的最大正向平均电流。由</a:t>
            </a:r>
            <a:r>
              <a:rPr kumimoji="1" lang="en-US" altLang="zh-CN" sz="2400" b="1">
                <a:latin typeface="Times New Roman" panose="02020603050405020304" pitchFamily="18" charset="0"/>
                <a:cs typeface="Times New Roman" panose="02020603050405020304" pitchFamily="18" charset="0"/>
              </a:rPr>
              <a:t>PN</a:t>
            </a:r>
            <a:r>
              <a:rPr kumimoji="1" lang="zh-CN" altLang="en-US" sz="2400" b="1">
                <a:latin typeface="Times New Roman" panose="02020603050405020304" pitchFamily="18" charset="0"/>
                <a:cs typeface="Times New Roman" panose="02020603050405020304" pitchFamily="18" charset="0"/>
              </a:rPr>
              <a:t>结结面积和散热条件决定，超过此值工作可能导致过热而损坏。</a:t>
            </a:r>
            <a:endParaRPr kumimoji="1" lang="zh-CN" altLang="en-US" sz="2400" b="1">
              <a:latin typeface="Times New Roman" panose="02020603050405020304" pitchFamily="18" charset="0"/>
              <a:cs typeface="Times New Roman" panose="02020603050405020304" pitchFamily="18" charset="0"/>
            </a:endParaRPr>
          </a:p>
        </p:txBody>
      </p:sp>
      <p:sp>
        <p:nvSpPr>
          <p:cNvPr id="116758" name="Text Box 22"/>
          <p:cNvSpPr txBox="1">
            <a:spLocks noChangeArrowheads="1"/>
          </p:cNvSpPr>
          <p:nvPr/>
        </p:nvSpPr>
        <p:spPr bwMode="auto">
          <a:xfrm>
            <a:off x="395288" y="5256213"/>
            <a:ext cx="8551862"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81000" indent="-3810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b="1">
                <a:latin typeface="Times New Roman" panose="02020603050405020304" pitchFamily="18" charset="0"/>
                <a:cs typeface="Times New Roman" panose="02020603050405020304" pitchFamily="18" charset="0"/>
              </a:rPr>
              <a:t>2. </a:t>
            </a:r>
            <a:r>
              <a:rPr kumimoji="1" lang="zh-CN" altLang="en-US" sz="2400" b="1">
                <a:solidFill>
                  <a:srgbClr val="FF0000"/>
                </a:solidFill>
                <a:latin typeface="Times New Roman" panose="02020603050405020304" pitchFamily="18" charset="0"/>
                <a:cs typeface="Times New Roman" panose="02020603050405020304" pitchFamily="18" charset="0"/>
              </a:rPr>
              <a:t>反向工作峰值电压</a:t>
            </a:r>
            <a:r>
              <a:rPr kumimoji="1" lang="en-US" altLang="zh-CN" sz="2400" b="1" i="1">
                <a:solidFill>
                  <a:srgbClr val="FF0000"/>
                </a:solidFill>
                <a:latin typeface="Times New Roman" panose="02020603050405020304" pitchFamily="18" charset="0"/>
                <a:cs typeface="Times New Roman" panose="02020603050405020304" pitchFamily="18" charset="0"/>
              </a:rPr>
              <a:t>U</a:t>
            </a:r>
            <a:r>
              <a:rPr kumimoji="1" lang="en-US" altLang="zh-CN" sz="2400" b="1" baseline="-25000">
                <a:solidFill>
                  <a:srgbClr val="FF0000"/>
                </a:solidFill>
                <a:latin typeface="Times New Roman" panose="02020603050405020304" pitchFamily="18" charset="0"/>
                <a:cs typeface="Times New Roman" panose="02020603050405020304" pitchFamily="18" charset="0"/>
              </a:rPr>
              <a:t>RWM</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zh-CN" altLang="en-US" sz="2400" b="1">
                <a:latin typeface="Times New Roman" panose="02020603050405020304" pitchFamily="18" charset="0"/>
                <a:cs typeface="Times New Roman" panose="02020603050405020304" pitchFamily="18" charset="0"/>
              </a:rPr>
              <a:t>为保证二极管不被反向击穿而规定的最大反向工作电压，一般为反向击穿电压的一半。</a:t>
            </a:r>
            <a:endParaRPr kumimoji="1" lang="zh-CN" altLang="en-US" sz="2400" b="1">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16757"/>
                                        </p:tgtEl>
                                        <p:attrNameLst>
                                          <p:attrName>style.visibility</p:attrName>
                                        </p:attrNameLst>
                                      </p:cBhvr>
                                      <p:to>
                                        <p:strVal val="visible"/>
                                      </p:to>
                                    </p:set>
                                    <p:animEffect transition="in" filter="wipe(left)">
                                      <p:cBhvr>
                                        <p:cTn id="12" dur="75"/>
                                        <p:tgtEl>
                                          <p:spTgt spid="1167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16758"/>
                                        </p:tgtEl>
                                        <p:attrNameLst>
                                          <p:attrName>style.visibility</p:attrName>
                                        </p:attrNameLst>
                                      </p:cBhvr>
                                      <p:to>
                                        <p:strVal val="visible"/>
                                      </p:to>
                                    </p:set>
                                    <p:animEffect transition="in" filter="wipe(left)">
                                      <p:cBhvr>
                                        <p:cTn id="17" dur="75"/>
                                        <p:tgtEl>
                                          <p:spTgt spid="116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57" grpId="0" autoUpdateAnimBg="0"/>
      <p:bldP spid="116758"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27</a:t>
            </a:r>
            <a:r>
              <a:rPr lang="zh-CN" altLang="en-US" sz="2800" smtClean="0">
                <a:ea typeface="宋体" panose="02010600030101010101" pitchFamily="2" charset="-122"/>
              </a:rPr>
              <a:t>）</a:t>
            </a:r>
            <a:endParaRPr lang="zh-CN" altLang="en-US" sz="3200" smtClean="0">
              <a:ea typeface="楷体_GB2312" pitchFamily="49"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grpSp>
        <p:nvGrpSpPr>
          <p:cNvPr id="48131" name="Group 4"/>
          <p:cNvGrpSpPr/>
          <p:nvPr/>
        </p:nvGrpSpPr>
        <p:grpSpPr bwMode="auto">
          <a:xfrm>
            <a:off x="2562225" y="725512"/>
            <a:ext cx="4306888" cy="3111500"/>
            <a:chOff x="3084" y="1824"/>
            <a:chExt cx="2713" cy="1960"/>
          </a:xfrm>
        </p:grpSpPr>
        <p:sp>
          <p:nvSpPr>
            <p:cNvPr id="48134" name="Freeform 5"/>
            <p:cNvSpPr/>
            <p:nvPr/>
          </p:nvSpPr>
          <p:spPr bwMode="auto">
            <a:xfrm>
              <a:off x="4438" y="2210"/>
              <a:ext cx="853" cy="841"/>
            </a:xfrm>
            <a:custGeom>
              <a:avLst/>
              <a:gdLst>
                <a:gd name="T0" fmla="*/ 853 w 853"/>
                <a:gd name="T1" fmla="*/ 0 h 841"/>
                <a:gd name="T2" fmla="*/ 792 w 853"/>
                <a:gd name="T3" fmla="*/ 389 h 841"/>
                <a:gd name="T4" fmla="*/ 693 w 853"/>
                <a:gd name="T5" fmla="*/ 636 h 841"/>
                <a:gd name="T6" fmla="*/ 575 w 853"/>
                <a:gd name="T7" fmla="*/ 714 h 841"/>
                <a:gd name="T8" fmla="*/ 493 w 853"/>
                <a:gd name="T9" fmla="*/ 745 h 841"/>
                <a:gd name="T10" fmla="*/ 420 w 853"/>
                <a:gd name="T11" fmla="*/ 777 h 841"/>
                <a:gd name="T12" fmla="*/ 306 w 853"/>
                <a:gd name="T13" fmla="*/ 808 h 841"/>
                <a:gd name="T14" fmla="*/ 193 w 853"/>
                <a:gd name="T15" fmla="*/ 818 h 841"/>
                <a:gd name="T16" fmla="*/ 0 w 853"/>
                <a:gd name="T17" fmla="*/ 841 h 8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53"/>
                <a:gd name="T28" fmla="*/ 0 h 841"/>
                <a:gd name="T29" fmla="*/ 853 w 853"/>
                <a:gd name="T30" fmla="*/ 841 h 8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53" h="841">
                  <a:moveTo>
                    <a:pt x="853" y="0"/>
                  </a:moveTo>
                  <a:cubicBezTo>
                    <a:pt x="845" y="65"/>
                    <a:pt x="819" y="283"/>
                    <a:pt x="792" y="389"/>
                  </a:cubicBezTo>
                  <a:cubicBezTo>
                    <a:pt x="765" y="495"/>
                    <a:pt x="729" y="582"/>
                    <a:pt x="693" y="636"/>
                  </a:cubicBezTo>
                  <a:cubicBezTo>
                    <a:pt x="657" y="690"/>
                    <a:pt x="608" y="696"/>
                    <a:pt x="575" y="714"/>
                  </a:cubicBezTo>
                  <a:cubicBezTo>
                    <a:pt x="542" y="732"/>
                    <a:pt x="519" y="734"/>
                    <a:pt x="493" y="745"/>
                  </a:cubicBezTo>
                  <a:cubicBezTo>
                    <a:pt x="467" y="756"/>
                    <a:pt x="451" y="766"/>
                    <a:pt x="420" y="777"/>
                  </a:cubicBezTo>
                  <a:cubicBezTo>
                    <a:pt x="389" y="788"/>
                    <a:pt x="344" y="801"/>
                    <a:pt x="306" y="808"/>
                  </a:cubicBezTo>
                  <a:cubicBezTo>
                    <a:pt x="268" y="815"/>
                    <a:pt x="244" y="812"/>
                    <a:pt x="193" y="818"/>
                  </a:cubicBezTo>
                  <a:cubicBezTo>
                    <a:pt x="142" y="824"/>
                    <a:pt x="40" y="836"/>
                    <a:pt x="0" y="841"/>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135" name="Freeform 6"/>
            <p:cNvSpPr/>
            <p:nvPr/>
          </p:nvSpPr>
          <p:spPr bwMode="auto">
            <a:xfrm>
              <a:off x="3200" y="3059"/>
              <a:ext cx="1213" cy="725"/>
            </a:xfrm>
            <a:custGeom>
              <a:avLst/>
              <a:gdLst>
                <a:gd name="T0" fmla="*/ 1213 w 1213"/>
                <a:gd name="T1" fmla="*/ 0 h 725"/>
                <a:gd name="T2" fmla="*/ 970 w 1213"/>
                <a:gd name="T3" fmla="*/ 80 h 725"/>
                <a:gd name="T4" fmla="*/ 453 w 1213"/>
                <a:gd name="T5" fmla="*/ 80 h 725"/>
                <a:gd name="T6" fmla="*/ 236 w 1213"/>
                <a:gd name="T7" fmla="*/ 80 h 725"/>
                <a:gd name="T8" fmla="*/ 102 w 1213"/>
                <a:gd name="T9" fmla="*/ 103 h 725"/>
                <a:gd name="T10" fmla="*/ 19 w 1213"/>
                <a:gd name="T11" fmla="*/ 216 h 725"/>
                <a:gd name="T12" fmla="*/ 0 w 1213"/>
                <a:gd name="T13" fmla="*/ 725 h 725"/>
                <a:gd name="T14" fmla="*/ 0 60000 65536"/>
                <a:gd name="T15" fmla="*/ 0 60000 65536"/>
                <a:gd name="T16" fmla="*/ 0 60000 65536"/>
                <a:gd name="T17" fmla="*/ 0 60000 65536"/>
                <a:gd name="T18" fmla="*/ 0 60000 65536"/>
                <a:gd name="T19" fmla="*/ 0 60000 65536"/>
                <a:gd name="T20" fmla="*/ 0 60000 65536"/>
                <a:gd name="T21" fmla="*/ 0 w 1213"/>
                <a:gd name="T22" fmla="*/ 0 h 725"/>
                <a:gd name="T23" fmla="*/ 1213 w 1213"/>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3" h="725">
                  <a:moveTo>
                    <a:pt x="1213" y="0"/>
                  </a:moveTo>
                  <a:cubicBezTo>
                    <a:pt x="1173" y="12"/>
                    <a:pt x="1097" y="67"/>
                    <a:pt x="970" y="80"/>
                  </a:cubicBezTo>
                  <a:cubicBezTo>
                    <a:pt x="843" y="93"/>
                    <a:pt x="575" y="80"/>
                    <a:pt x="453" y="80"/>
                  </a:cubicBezTo>
                  <a:cubicBezTo>
                    <a:pt x="331" y="80"/>
                    <a:pt x="294" y="77"/>
                    <a:pt x="236" y="80"/>
                  </a:cubicBezTo>
                  <a:cubicBezTo>
                    <a:pt x="178" y="84"/>
                    <a:pt x="138" y="80"/>
                    <a:pt x="102" y="103"/>
                  </a:cubicBezTo>
                  <a:cubicBezTo>
                    <a:pt x="66" y="126"/>
                    <a:pt x="36" y="112"/>
                    <a:pt x="19" y="216"/>
                  </a:cubicBezTo>
                  <a:cubicBezTo>
                    <a:pt x="2" y="320"/>
                    <a:pt x="4" y="619"/>
                    <a:pt x="0" y="725"/>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136" name="Line 7"/>
            <p:cNvSpPr>
              <a:spLocks noChangeShapeType="1"/>
            </p:cNvSpPr>
            <p:nvPr/>
          </p:nvSpPr>
          <p:spPr bwMode="auto">
            <a:xfrm>
              <a:off x="3084" y="3056"/>
              <a:ext cx="2352"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7" name="Text Box 8"/>
            <p:cNvSpPr txBox="1">
              <a:spLocks noChangeArrowheads="1"/>
            </p:cNvSpPr>
            <p:nvPr/>
          </p:nvSpPr>
          <p:spPr bwMode="auto">
            <a:xfrm>
              <a:off x="5504" y="2880"/>
              <a:ext cx="2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D</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48138" name="Line 9"/>
            <p:cNvSpPr>
              <a:spLocks noChangeShapeType="1"/>
            </p:cNvSpPr>
            <p:nvPr/>
          </p:nvSpPr>
          <p:spPr bwMode="auto">
            <a:xfrm flipV="1">
              <a:off x="4404" y="1990"/>
              <a:ext cx="0" cy="1584"/>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9" name="Text Box 10"/>
            <p:cNvSpPr txBox="1">
              <a:spLocks noChangeArrowheads="1"/>
            </p:cNvSpPr>
            <p:nvPr/>
          </p:nvSpPr>
          <p:spPr bwMode="auto">
            <a:xfrm>
              <a:off x="4490" y="1824"/>
              <a:ext cx="2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000" b="1" baseline="-25000">
                  <a:solidFill>
                    <a:schemeClr val="tx2"/>
                  </a:solidFill>
                  <a:latin typeface="Times New Roman" panose="02020603050405020304" pitchFamily="18" charset="0"/>
                  <a:cs typeface="Times New Roman" panose="02020603050405020304" pitchFamily="18" charset="0"/>
                </a:rPr>
                <a:t>D</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48140" name="Text Box 11"/>
            <p:cNvSpPr txBox="1">
              <a:spLocks noChangeArrowheads="1"/>
            </p:cNvSpPr>
            <p:nvPr/>
          </p:nvSpPr>
          <p:spPr bwMode="auto">
            <a:xfrm>
              <a:off x="4240" y="30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0</a:t>
              </a:r>
              <a:endParaRPr kumimoji="1" lang="en-US" altLang="zh-CN"/>
            </a:p>
          </p:txBody>
        </p:sp>
        <p:sp>
          <p:nvSpPr>
            <p:cNvPr id="48141" name="Line 12"/>
            <p:cNvSpPr>
              <a:spLocks noChangeShapeType="1"/>
            </p:cNvSpPr>
            <p:nvPr/>
          </p:nvSpPr>
          <p:spPr bwMode="auto">
            <a:xfrm>
              <a:off x="4400" y="2296"/>
              <a:ext cx="864" cy="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2" name="Line 13"/>
            <p:cNvSpPr>
              <a:spLocks noChangeShapeType="1"/>
            </p:cNvSpPr>
            <p:nvPr/>
          </p:nvSpPr>
          <p:spPr bwMode="auto">
            <a:xfrm>
              <a:off x="3728" y="3064"/>
              <a:ext cx="0" cy="96"/>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3" name="Line 14"/>
            <p:cNvSpPr>
              <a:spLocks noChangeShapeType="1"/>
            </p:cNvSpPr>
            <p:nvPr/>
          </p:nvSpPr>
          <p:spPr bwMode="auto">
            <a:xfrm>
              <a:off x="3200" y="3064"/>
              <a:ext cx="0" cy="24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4" name="Rectangle 15"/>
            <p:cNvSpPr>
              <a:spLocks noChangeArrowheads="1"/>
            </p:cNvSpPr>
            <p:nvPr/>
          </p:nvSpPr>
          <p:spPr bwMode="auto">
            <a:xfrm>
              <a:off x="3709" y="2728"/>
              <a:ext cx="5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RWM</a:t>
              </a:r>
              <a:endParaRPr kumimoji="1" lang="en-US" altLang="zh-CN" sz="2000" b="1" baseline="-25000">
                <a:solidFill>
                  <a:schemeClr val="tx2"/>
                </a:solidFill>
                <a:latin typeface="Times New Roman" panose="02020603050405020304" pitchFamily="18" charset="0"/>
                <a:cs typeface="Times New Roman" panose="02020603050405020304" pitchFamily="18" charset="0"/>
              </a:endParaRPr>
            </a:p>
          </p:txBody>
        </p:sp>
        <p:sp>
          <p:nvSpPr>
            <p:cNvPr id="48145" name="Line 16"/>
            <p:cNvSpPr>
              <a:spLocks noChangeShapeType="1"/>
            </p:cNvSpPr>
            <p:nvPr/>
          </p:nvSpPr>
          <p:spPr bwMode="auto">
            <a:xfrm flipV="1">
              <a:off x="3728" y="3160"/>
              <a:ext cx="0" cy="144"/>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6" name="Rectangle 17"/>
            <p:cNvSpPr>
              <a:spLocks noChangeArrowheads="1"/>
            </p:cNvSpPr>
            <p:nvPr/>
          </p:nvSpPr>
          <p:spPr bwMode="auto">
            <a:xfrm>
              <a:off x="3680" y="330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000" b="1" baseline="-25000">
                  <a:solidFill>
                    <a:schemeClr val="tx2"/>
                  </a:solidFill>
                  <a:latin typeface="Times New Roman" panose="02020603050405020304" pitchFamily="18" charset="0"/>
                  <a:cs typeface="Times New Roman" panose="02020603050405020304" pitchFamily="18" charset="0"/>
                </a:rPr>
                <a:t>R</a:t>
              </a:r>
              <a:endParaRPr kumimoji="1" lang="en-US" altLang="zh-CN" sz="2000" b="1" baseline="-25000">
                <a:solidFill>
                  <a:schemeClr val="tx2"/>
                </a:solidFill>
                <a:latin typeface="Times New Roman" panose="02020603050405020304" pitchFamily="18" charset="0"/>
                <a:cs typeface="Times New Roman" panose="02020603050405020304" pitchFamily="18" charset="0"/>
              </a:endParaRPr>
            </a:p>
          </p:txBody>
        </p:sp>
        <p:sp>
          <p:nvSpPr>
            <p:cNvPr id="48147" name="Line 18"/>
            <p:cNvSpPr>
              <a:spLocks noChangeShapeType="1"/>
            </p:cNvSpPr>
            <p:nvPr/>
          </p:nvSpPr>
          <p:spPr bwMode="auto">
            <a:xfrm>
              <a:off x="3728" y="2872"/>
              <a:ext cx="0" cy="19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8" name="Rectangle 19"/>
            <p:cNvSpPr>
              <a:spLocks noChangeArrowheads="1"/>
            </p:cNvSpPr>
            <p:nvPr/>
          </p:nvSpPr>
          <p:spPr bwMode="auto">
            <a:xfrm>
              <a:off x="4016" y="2152"/>
              <a:ext cx="3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000" b="1" baseline="-25000">
                  <a:solidFill>
                    <a:schemeClr val="tx2"/>
                  </a:solidFill>
                  <a:latin typeface="Times New Roman" panose="02020603050405020304" pitchFamily="18" charset="0"/>
                  <a:cs typeface="Times New Roman" panose="02020603050405020304" pitchFamily="18" charset="0"/>
                </a:rPr>
                <a:t>OM</a:t>
              </a:r>
              <a:endParaRPr kumimoji="1" lang="en-US" altLang="zh-CN" sz="2000" b="1" baseline="-25000">
                <a:solidFill>
                  <a:schemeClr val="tx2"/>
                </a:solidFill>
                <a:latin typeface="Times New Roman" panose="02020603050405020304" pitchFamily="18" charset="0"/>
                <a:cs typeface="Times New Roman" panose="02020603050405020304" pitchFamily="18" charset="0"/>
              </a:endParaRPr>
            </a:p>
          </p:txBody>
        </p:sp>
        <p:sp>
          <p:nvSpPr>
            <p:cNvPr id="48149" name="Text Box 20"/>
            <p:cNvSpPr txBox="1">
              <a:spLocks noChangeArrowheads="1"/>
            </p:cNvSpPr>
            <p:nvPr/>
          </p:nvSpPr>
          <p:spPr bwMode="auto">
            <a:xfrm>
              <a:off x="3094" y="2754"/>
              <a:ext cx="38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BR</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sp>
        <p:nvSpPr>
          <p:cNvPr id="117781" name="Text Box 21"/>
          <p:cNvSpPr txBox="1">
            <a:spLocks noChangeArrowheads="1"/>
          </p:cNvSpPr>
          <p:nvPr/>
        </p:nvSpPr>
        <p:spPr bwMode="auto">
          <a:xfrm>
            <a:off x="287338" y="3683024"/>
            <a:ext cx="8610600"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60680" indent="-36068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en-US" altLang="zh-CN" sz="2400" b="1">
                <a:latin typeface="Times New Roman" panose="02020603050405020304" pitchFamily="18" charset="0"/>
                <a:cs typeface="Times New Roman" panose="02020603050405020304" pitchFamily="18" charset="0"/>
              </a:rPr>
              <a:t>3. </a:t>
            </a:r>
            <a:r>
              <a:rPr kumimoji="1" lang="zh-CN" altLang="en-US" sz="2400" b="1">
                <a:solidFill>
                  <a:srgbClr val="FF0000"/>
                </a:solidFill>
                <a:latin typeface="Times New Roman" panose="02020603050405020304" pitchFamily="18" charset="0"/>
                <a:cs typeface="Times New Roman" panose="02020603050405020304" pitchFamily="18" charset="0"/>
              </a:rPr>
              <a:t>反向电流 </a:t>
            </a:r>
            <a:r>
              <a:rPr kumimoji="1" lang="en-US" altLang="zh-CN" sz="2400" b="1" i="1">
                <a:solidFill>
                  <a:srgbClr val="FF0000"/>
                </a:solidFill>
                <a:latin typeface="Times New Roman" panose="02020603050405020304" pitchFamily="18" charset="0"/>
                <a:cs typeface="Times New Roman" panose="02020603050405020304" pitchFamily="18" charset="0"/>
              </a:rPr>
              <a:t>I</a:t>
            </a:r>
            <a:r>
              <a:rPr kumimoji="1" lang="en-US" altLang="zh-CN" sz="2400" b="1" baseline="-25000">
                <a:solidFill>
                  <a:srgbClr val="FF0000"/>
                </a:solidFill>
                <a:latin typeface="Times New Roman" panose="02020603050405020304" pitchFamily="18" charset="0"/>
                <a:cs typeface="Times New Roman" panose="02020603050405020304" pitchFamily="18" charset="0"/>
              </a:rPr>
              <a:t>R</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zh-CN" altLang="en-US" sz="2400" b="1">
                <a:latin typeface="Times New Roman" panose="02020603050405020304" pitchFamily="18" charset="0"/>
                <a:cs typeface="Times New Roman" panose="02020603050405020304" pitchFamily="18" charset="0"/>
              </a:rPr>
              <a:t>二极管未被击穿时，流过二极管的反向电流。此值越小，单向导电性越好。硅管优于锗管。</a:t>
            </a:r>
            <a:endParaRPr kumimoji="1" lang="zh-CN" altLang="en-US" sz="2400" b="1">
              <a:latin typeface="Times New Roman" panose="02020603050405020304" pitchFamily="18" charset="0"/>
              <a:cs typeface="Times New Roman" panose="02020603050405020304" pitchFamily="18" charset="0"/>
            </a:endParaRPr>
          </a:p>
        </p:txBody>
      </p:sp>
      <p:sp>
        <p:nvSpPr>
          <p:cNvPr id="117782" name="Text Box 22"/>
          <p:cNvSpPr txBox="1">
            <a:spLocks noChangeArrowheads="1"/>
          </p:cNvSpPr>
          <p:nvPr/>
        </p:nvSpPr>
        <p:spPr bwMode="auto">
          <a:xfrm>
            <a:off x="271463" y="4705374"/>
            <a:ext cx="845820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60680" indent="-36068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en-US" altLang="zh-CN" sz="2400" b="1">
                <a:latin typeface="Times New Roman" panose="02020603050405020304" pitchFamily="18" charset="0"/>
                <a:cs typeface="Times New Roman" panose="02020603050405020304" pitchFamily="18" charset="0"/>
              </a:rPr>
              <a:t>4. </a:t>
            </a:r>
            <a:r>
              <a:rPr kumimoji="1" lang="zh-CN" altLang="en-US" sz="2400" b="1">
                <a:solidFill>
                  <a:srgbClr val="FF0000"/>
                </a:solidFill>
                <a:latin typeface="Times New Roman" panose="02020603050405020304" pitchFamily="18" charset="0"/>
                <a:cs typeface="Times New Roman" panose="02020603050405020304" pitchFamily="18" charset="0"/>
              </a:rPr>
              <a:t>最高工作频率 </a:t>
            </a:r>
            <a:r>
              <a:rPr kumimoji="1" lang="en-US" altLang="zh-CN" sz="2400" b="1" i="1">
                <a:solidFill>
                  <a:srgbClr val="FF0000"/>
                </a:solidFill>
                <a:latin typeface="Times New Roman" panose="02020603050405020304" pitchFamily="18" charset="0"/>
                <a:cs typeface="Times New Roman" panose="02020603050405020304" pitchFamily="18" charset="0"/>
              </a:rPr>
              <a:t>f</a:t>
            </a:r>
            <a:r>
              <a:rPr kumimoji="1" lang="en-US" altLang="zh-CN" sz="2400" b="1" baseline="-25000">
                <a:solidFill>
                  <a:srgbClr val="FF0000"/>
                </a:solidFill>
                <a:latin typeface="Times New Roman" panose="02020603050405020304" pitchFamily="18" charset="0"/>
                <a:cs typeface="Times New Roman" panose="02020603050405020304" pitchFamily="18" charset="0"/>
              </a:rPr>
              <a:t>M</a:t>
            </a:r>
            <a:r>
              <a:rPr kumimoji="1" lang="en-US" altLang="zh-CN" sz="2400" b="1" i="1" baseline="-25000">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zh-CN" altLang="en-US" sz="2400" b="1">
                <a:latin typeface="Times New Roman" panose="02020603050405020304" pitchFamily="18" charset="0"/>
                <a:cs typeface="Times New Roman" panose="02020603050405020304" pitchFamily="18" charset="0"/>
              </a:rPr>
              <a:t>二极管维持单向导电性的最高工作频率。由于二极管中存在结电容，当频率很高时，电流可直接通过结电容，破坏二极管的单向导电性。</a:t>
            </a:r>
            <a:endParaRPr kumimoji="1" lang="zh-CN" altLang="en-US" sz="2400" b="1">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17781"/>
                                        </p:tgtEl>
                                        <p:attrNameLst>
                                          <p:attrName>style.visibility</p:attrName>
                                        </p:attrNameLst>
                                      </p:cBhvr>
                                      <p:to>
                                        <p:strVal val="visible"/>
                                      </p:to>
                                    </p:set>
                                    <p:animEffect transition="in" filter="wipe(left)">
                                      <p:cBhvr>
                                        <p:cTn id="7" dur="75"/>
                                        <p:tgtEl>
                                          <p:spTgt spid="1177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17782"/>
                                        </p:tgtEl>
                                        <p:attrNameLst>
                                          <p:attrName>style.visibility</p:attrName>
                                        </p:attrNameLst>
                                      </p:cBhvr>
                                      <p:to>
                                        <p:strVal val="visible"/>
                                      </p:to>
                                    </p:set>
                                    <p:animEffect transition="in" filter="wipe(left)">
                                      <p:cBhvr>
                                        <p:cTn id="12" dur="75"/>
                                        <p:tgtEl>
                                          <p:spTgt spid="117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1" grpId="0" autoUpdateAnimBg="0"/>
      <p:bldP spid="11778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28</a:t>
            </a:r>
            <a:r>
              <a:rPr lang="zh-CN" altLang="en-US" sz="2800" smtClean="0">
                <a:ea typeface="宋体" panose="02010600030101010101" pitchFamily="2" charset="-122"/>
              </a:rPr>
              <a:t>）</a:t>
            </a:r>
            <a:endParaRPr lang="zh-CN" altLang="en-US" sz="3200" smtClean="0">
              <a:ea typeface="楷体_GB2312" pitchFamily="49" charset="-122"/>
            </a:endParaRPr>
          </a:p>
        </p:txBody>
      </p:sp>
      <p:sp>
        <p:nvSpPr>
          <p:cNvPr id="8199" name="Rectangle 3"/>
          <p:cNvSpPr>
            <a:spLocks noGrp="1" noChangeArrowheads="1"/>
          </p:cNvSpPr>
          <p:nvPr>
            <p:ph sz="quarter" idx="11"/>
          </p:nvPr>
        </p:nvSpPr>
        <p:spPr/>
        <p:txBody>
          <a:bodyPr/>
          <a:lstStyle/>
          <a:p>
            <a:pPr marL="0" indent="0" algn="just" eaLnBrk="1" hangingPunct="1">
              <a:spcBef>
                <a:spcPct val="0"/>
              </a:spcBef>
              <a:buFontTx/>
              <a:buNone/>
            </a:pPr>
            <a:r>
              <a:rPr kumimoji="1" lang="zh-CN" altLang="en-US" sz="2400" smtClean="0">
                <a:ea typeface="宋体" panose="02010600030101010101" pitchFamily="2" charset="-122"/>
                <a:cs typeface="Times New Roman" panose="02020603050405020304" pitchFamily="18" charset="0"/>
              </a:rPr>
              <a:t>二极管应用分析举例：二极管电路如图，</a:t>
            </a:r>
            <a:r>
              <a:rPr kumimoji="1" lang="en-US" altLang="zh-CN" sz="2400" smtClean="0">
                <a:ea typeface="宋体" panose="02010600030101010101" pitchFamily="2" charset="-122"/>
                <a:cs typeface="Times New Roman" panose="02020603050405020304" pitchFamily="18" charset="0"/>
              </a:rPr>
              <a:t>D</a:t>
            </a:r>
            <a:r>
              <a:rPr kumimoji="1" lang="en-US" altLang="zh-CN" sz="2400" baseline="-25000" smtClean="0">
                <a:ea typeface="宋体" panose="02010600030101010101" pitchFamily="2" charset="-122"/>
                <a:cs typeface="Times New Roman" panose="02020603050405020304" pitchFamily="18" charset="0"/>
              </a:rPr>
              <a:t>1</a:t>
            </a:r>
            <a:r>
              <a:rPr kumimoji="1" lang="zh-CN" altLang="en-US" sz="2400" smtClean="0">
                <a:ea typeface="宋体" panose="02010600030101010101" pitchFamily="2" charset="-122"/>
                <a:cs typeface="Times New Roman" panose="02020603050405020304" pitchFamily="18" charset="0"/>
              </a:rPr>
              <a:t>、</a:t>
            </a:r>
            <a:r>
              <a:rPr kumimoji="1" lang="en-US" altLang="zh-CN" sz="2400" smtClean="0">
                <a:ea typeface="宋体" panose="02010600030101010101" pitchFamily="2" charset="-122"/>
                <a:cs typeface="Times New Roman" panose="02020603050405020304" pitchFamily="18" charset="0"/>
              </a:rPr>
              <a:t>D</a:t>
            </a:r>
            <a:r>
              <a:rPr kumimoji="1" lang="en-US" altLang="zh-CN" sz="2400" baseline="-25000" smtClean="0">
                <a:ea typeface="宋体" panose="02010600030101010101" pitchFamily="2" charset="-122"/>
                <a:cs typeface="Times New Roman" panose="02020603050405020304" pitchFamily="18" charset="0"/>
              </a:rPr>
              <a:t>2</a:t>
            </a:r>
            <a:r>
              <a:rPr kumimoji="1" lang="zh-CN" altLang="en-US" sz="2400" smtClean="0">
                <a:ea typeface="宋体" panose="02010600030101010101" pitchFamily="2" charset="-122"/>
                <a:cs typeface="Times New Roman" panose="02020603050405020304" pitchFamily="18" charset="0"/>
              </a:rPr>
              <a:t>为理想二极管，试画出</a:t>
            </a:r>
            <a:r>
              <a:rPr kumimoji="1" lang="zh-CN" altLang="en-US" sz="2400" smtClean="0">
                <a:ea typeface="宋体" panose="02010600030101010101" pitchFamily="2" charset="-122"/>
                <a:cs typeface="Times New Roman" panose="02020603050405020304" pitchFamily="18" charset="0"/>
                <a:sym typeface="Symbol" panose="05050102010706020507" pitchFamily="18" charset="2"/>
              </a:rPr>
              <a:t></a:t>
            </a:r>
            <a:r>
              <a:rPr kumimoji="1" lang="en-US" altLang="zh-CN" sz="2400" smtClean="0">
                <a:ea typeface="宋体" panose="02010600030101010101" pitchFamily="2" charset="-122"/>
                <a:cs typeface="Times New Roman" panose="02020603050405020304" pitchFamily="18" charset="0"/>
              </a:rPr>
              <a:t>10V</a:t>
            </a:r>
            <a:r>
              <a:rPr kumimoji="1" lang="en-US" altLang="zh-CN" sz="2400" smtClean="0">
                <a:ea typeface="宋体" panose="02010600030101010101" pitchFamily="2" charset="-122"/>
                <a:cs typeface="Times New Roman" panose="02020603050405020304" pitchFamily="18" charset="0"/>
                <a:sym typeface="Symbol" panose="05050102010706020507" pitchFamily="18" charset="2"/>
              </a:rPr>
              <a:t></a:t>
            </a:r>
            <a:r>
              <a:rPr kumimoji="1" lang="en-US" altLang="zh-CN" sz="2400" i="1" smtClean="0">
                <a:ea typeface="宋体" panose="02010600030101010101" pitchFamily="2" charset="-122"/>
                <a:cs typeface="Times New Roman" panose="02020603050405020304" pitchFamily="18" charset="0"/>
                <a:sym typeface="Symbol" panose="05050102010706020507" pitchFamily="18" charset="2"/>
              </a:rPr>
              <a:t> u</a:t>
            </a:r>
            <a:r>
              <a:rPr kumimoji="1" lang="en-US" altLang="zh-CN" sz="2400" i="1" baseline="-25000" smtClean="0">
                <a:ea typeface="宋体" panose="02010600030101010101" pitchFamily="2" charset="-122"/>
                <a:cs typeface="Times New Roman" panose="02020603050405020304" pitchFamily="18" charset="0"/>
                <a:sym typeface="Symbol" panose="05050102010706020507" pitchFamily="18" charset="2"/>
              </a:rPr>
              <a:t>i </a:t>
            </a:r>
            <a:r>
              <a:rPr kumimoji="1" lang="en-US" altLang="zh-CN" sz="2400" smtClean="0">
                <a:ea typeface="宋体" panose="02010600030101010101" pitchFamily="2" charset="-122"/>
                <a:cs typeface="Times New Roman" panose="02020603050405020304" pitchFamily="18" charset="0"/>
                <a:sym typeface="Symbol" panose="05050102010706020507" pitchFamily="18" charset="2"/>
              </a:rPr>
              <a:t>10V</a:t>
            </a:r>
            <a:r>
              <a:rPr kumimoji="1" lang="zh-CN" altLang="en-US" sz="2400" smtClean="0">
                <a:ea typeface="宋体" panose="02010600030101010101" pitchFamily="2" charset="-122"/>
                <a:cs typeface="Times New Roman" panose="02020603050405020304" pitchFamily="18" charset="0"/>
                <a:sym typeface="Symbol" panose="05050102010706020507" pitchFamily="18" charset="2"/>
              </a:rPr>
              <a:t>范围内的电压传输特性曲线。</a:t>
            </a:r>
            <a:endParaRPr kumimoji="1" lang="zh-CN" altLang="en-US" sz="2400" smtClean="0">
              <a:ea typeface="宋体" panose="02010600030101010101" pitchFamily="2" charset="-122"/>
              <a:cs typeface="Times New Roman" panose="02020603050405020304" pitchFamily="18" charset="0"/>
              <a:sym typeface="Symbol" panose="05050102010706020507" pitchFamily="18" charset="2"/>
            </a:endParaRPr>
          </a:p>
          <a:p>
            <a:pPr marL="0" indent="0" algn="just" eaLnBrk="1" hangingPunct="1">
              <a:spcBef>
                <a:spcPct val="0"/>
              </a:spcBef>
              <a:buFontTx/>
              <a:buNone/>
            </a:pPr>
            <a:endParaRPr kumimoji="1" lang="zh-CN" altLang="en-US" sz="2400" smtClean="0">
              <a:ea typeface="宋体" panose="02010600030101010101" pitchFamily="2" charset="-122"/>
              <a:cs typeface="Times New Roman" panose="02020603050405020304" pitchFamily="18" charset="0"/>
            </a:endParaRPr>
          </a:p>
          <a:p>
            <a:pPr marL="0" indent="0" eaLnBrk="1" hangingPunct="1"/>
            <a:endParaRPr lang="en-US" altLang="zh-CN" sz="2400" smtClean="0">
              <a:ea typeface="宋体" panose="02010600030101010101" pitchFamily="2" charset="-122"/>
              <a:cs typeface="Times New Roman" panose="02020603050405020304" pitchFamily="18" charset="0"/>
            </a:endParaRPr>
          </a:p>
        </p:txBody>
      </p:sp>
      <p:graphicFrame>
        <p:nvGraphicFramePr>
          <p:cNvPr id="118788" name="Object 2"/>
          <p:cNvGraphicFramePr>
            <a:graphicFrameLocks noChangeAspect="1"/>
          </p:cNvGraphicFramePr>
          <p:nvPr/>
        </p:nvGraphicFramePr>
        <p:xfrm>
          <a:off x="427038" y="1882775"/>
          <a:ext cx="1649412" cy="549275"/>
        </p:xfrm>
        <a:graphic>
          <a:graphicData uri="http://schemas.openxmlformats.org/presentationml/2006/ole">
            <mc:AlternateContent xmlns:mc="http://schemas.openxmlformats.org/markup-compatibility/2006">
              <mc:Choice xmlns:v="urn:schemas-microsoft-com:vml" Requires="v">
                <p:oleObj spid="_x0000_s8360" name="Equation" r:id="rId1" imgW="914400" imgH="304800" progId="Equation.DSMT4">
                  <p:embed/>
                </p:oleObj>
              </mc:Choice>
              <mc:Fallback>
                <p:oleObj name="Equation" r:id="rId1" imgW="914400" imgH="304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38" y="1882775"/>
                        <a:ext cx="1649412"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89" name="Object 3"/>
          <p:cNvGraphicFramePr>
            <a:graphicFrameLocks noChangeAspect="1"/>
          </p:cNvGraphicFramePr>
          <p:nvPr/>
        </p:nvGraphicFramePr>
        <p:xfrm>
          <a:off x="4835525" y="1922463"/>
          <a:ext cx="2189163" cy="455612"/>
        </p:xfrm>
        <a:graphic>
          <a:graphicData uri="http://schemas.openxmlformats.org/presentationml/2006/ole">
            <mc:AlternateContent xmlns:mc="http://schemas.openxmlformats.org/markup-compatibility/2006">
              <mc:Choice xmlns:v="urn:schemas-microsoft-com:vml" Requires="v">
                <p:oleObj spid="_x0000_s8361" name="Equation" r:id="rId3" imgW="1460500" imgH="304800" progId="Equation.DSMT4">
                  <p:embed/>
                </p:oleObj>
              </mc:Choice>
              <mc:Fallback>
                <p:oleObj name="Equation" r:id="rId3" imgW="1460500" imgH="304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5525" y="1922463"/>
                        <a:ext cx="2189163"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790" name="Text Box 6"/>
          <p:cNvSpPr txBox="1">
            <a:spLocks noChangeArrowheads="1"/>
          </p:cNvSpPr>
          <p:nvPr/>
        </p:nvSpPr>
        <p:spPr bwMode="auto">
          <a:xfrm>
            <a:off x="3863975" y="1924050"/>
            <a:ext cx="930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(1) </a:t>
            </a:r>
            <a:r>
              <a:rPr kumimoji="1" lang="zh-CN" altLang="en-US" sz="2400" b="1">
                <a:solidFill>
                  <a:schemeClr val="tx2"/>
                </a:solidFill>
                <a:latin typeface="Times New Roman" panose="02020603050405020304" pitchFamily="18" charset="0"/>
                <a:cs typeface="Times New Roman" panose="02020603050405020304" pitchFamily="18" charset="0"/>
              </a:rPr>
              <a:t>当</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8793" name="Text Box 9"/>
          <p:cNvSpPr txBox="1">
            <a:spLocks noChangeArrowheads="1"/>
          </p:cNvSpPr>
          <p:nvPr/>
        </p:nvSpPr>
        <p:spPr bwMode="auto">
          <a:xfrm>
            <a:off x="4308475" y="2325688"/>
            <a:ext cx="4567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D</a:t>
            </a:r>
            <a:r>
              <a:rPr kumimoji="1" lang="en-US" altLang="zh-CN" sz="2400" b="1" baseline="-25000">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管截止，</a:t>
            </a:r>
            <a:r>
              <a:rPr kumimoji="1" lang="en-US" altLang="zh-CN" sz="2400" b="1">
                <a:solidFill>
                  <a:schemeClr val="tx2"/>
                </a:solidFill>
                <a:latin typeface="Times New Roman" panose="02020603050405020304" pitchFamily="18" charset="0"/>
                <a:cs typeface="Times New Roman" panose="02020603050405020304" pitchFamily="18" charset="0"/>
              </a:rPr>
              <a:t>D</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r>
              <a:rPr kumimoji="1" lang="zh-CN" altLang="en-US" sz="2400" b="1">
                <a:solidFill>
                  <a:schemeClr val="tx2"/>
                </a:solidFill>
                <a:latin typeface="Times New Roman" panose="02020603050405020304" pitchFamily="18" charset="0"/>
                <a:cs typeface="Times New Roman" panose="02020603050405020304" pitchFamily="18" charset="0"/>
              </a:rPr>
              <a:t>管导通。</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O </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rPr>
              <a:t>5V</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18794" name="Line 10"/>
          <p:cNvSpPr>
            <a:spLocks noChangeShapeType="1"/>
          </p:cNvSpPr>
          <p:nvPr/>
        </p:nvSpPr>
        <p:spPr bwMode="auto">
          <a:xfrm>
            <a:off x="755576" y="5863952"/>
            <a:ext cx="609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11"/>
          <p:cNvGrpSpPr/>
          <p:nvPr/>
        </p:nvGrpSpPr>
        <p:grpSpPr bwMode="auto">
          <a:xfrm>
            <a:off x="115888" y="4019550"/>
            <a:ext cx="4419600" cy="2514600"/>
            <a:chOff x="133" y="2436"/>
            <a:chExt cx="2784" cy="1584"/>
          </a:xfrm>
        </p:grpSpPr>
        <p:sp>
          <p:nvSpPr>
            <p:cNvPr id="8252" name="Line 12"/>
            <p:cNvSpPr>
              <a:spLocks noChangeShapeType="1"/>
            </p:cNvSpPr>
            <p:nvPr/>
          </p:nvSpPr>
          <p:spPr bwMode="auto">
            <a:xfrm>
              <a:off x="1285" y="2628"/>
              <a:ext cx="0" cy="1392"/>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3" name="Line 13"/>
            <p:cNvSpPr>
              <a:spLocks noChangeShapeType="1"/>
            </p:cNvSpPr>
            <p:nvPr/>
          </p:nvSpPr>
          <p:spPr bwMode="auto">
            <a:xfrm>
              <a:off x="133" y="3300"/>
              <a:ext cx="27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4" name="Line 14"/>
            <p:cNvSpPr>
              <a:spLocks noChangeShapeType="1"/>
            </p:cNvSpPr>
            <p:nvPr/>
          </p:nvSpPr>
          <p:spPr bwMode="auto">
            <a:xfrm>
              <a:off x="853" y="3252"/>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5" name="Line 15"/>
            <p:cNvSpPr>
              <a:spLocks noChangeShapeType="1"/>
            </p:cNvSpPr>
            <p:nvPr/>
          </p:nvSpPr>
          <p:spPr bwMode="auto">
            <a:xfrm>
              <a:off x="1285" y="3252"/>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6" name="Line 16"/>
            <p:cNvSpPr>
              <a:spLocks noChangeShapeType="1"/>
            </p:cNvSpPr>
            <p:nvPr/>
          </p:nvSpPr>
          <p:spPr bwMode="auto">
            <a:xfrm>
              <a:off x="1669" y="3252"/>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7" name="Line 17"/>
            <p:cNvSpPr>
              <a:spLocks noChangeShapeType="1"/>
            </p:cNvSpPr>
            <p:nvPr/>
          </p:nvSpPr>
          <p:spPr bwMode="auto">
            <a:xfrm>
              <a:off x="2101" y="3252"/>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8" name="Line 18"/>
            <p:cNvSpPr>
              <a:spLocks noChangeShapeType="1"/>
            </p:cNvSpPr>
            <p:nvPr/>
          </p:nvSpPr>
          <p:spPr bwMode="auto">
            <a:xfrm>
              <a:off x="2533" y="3252"/>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9" name="Line 19"/>
            <p:cNvSpPr>
              <a:spLocks noChangeShapeType="1"/>
            </p:cNvSpPr>
            <p:nvPr/>
          </p:nvSpPr>
          <p:spPr bwMode="auto">
            <a:xfrm rot="-5400000">
              <a:off x="1309" y="2940"/>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60" name="Text Box 20"/>
            <p:cNvSpPr txBox="1">
              <a:spLocks noChangeArrowheads="1"/>
            </p:cNvSpPr>
            <p:nvPr/>
          </p:nvSpPr>
          <p:spPr bwMode="auto">
            <a:xfrm>
              <a:off x="734" y="3309"/>
              <a:ext cx="2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-5</a:t>
              </a:r>
              <a:endParaRPr kumimoji="1" lang="zh-CN" altLang="zh-CN" sz="2000">
                <a:latin typeface="Times New Roman" panose="02020603050405020304" pitchFamily="18" charset="0"/>
                <a:cs typeface="Times New Roman" panose="02020603050405020304" pitchFamily="18" charset="0"/>
              </a:endParaRPr>
            </a:p>
          </p:txBody>
        </p:sp>
        <p:sp>
          <p:nvSpPr>
            <p:cNvPr id="8261" name="Text Box 21"/>
            <p:cNvSpPr txBox="1">
              <a:spLocks noChangeArrowheads="1"/>
            </p:cNvSpPr>
            <p:nvPr/>
          </p:nvSpPr>
          <p:spPr bwMode="auto">
            <a:xfrm>
              <a:off x="1081" y="3283"/>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0</a:t>
              </a:r>
              <a:endParaRPr kumimoji="1" lang="zh-CN" altLang="zh-CN" sz="2000">
                <a:latin typeface="Times New Roman" panose="02020603050405020304" pitchFamily="18" charset="0"/>
                <a:cs typeface="Times New Roman" panose="02020603050405020304" pitchFamily="18" charset="0"/>
              </a:endParaRPr>
            </a:p>
          </p:txBody>
        </p:sp>
        <p:sp>
          <p:nvSpPr>
            <p:cNvPr id="8262" name="Text Box 22"/>
            <p:cNvSpPr txBox="1">
              <a:spLocks noChangeArrowheads="1"/>
            </p:cNvSpPr>
            <p:nvPr/>
          </p:nvSpPr>
          <p:spPr bwMode="auto">
            <a:xfrm>
              <a:off x="1558" y="3283"/>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+5</a:t>
              </a:r>
              <a:endParaRPr kumimoji="1" lang="en-US" altLang="zh-CN" sz="2000">
                <a:latin typeface="Times New Roman" panose="02020603050405020304" pitchFamily="18" charset="0"/>
                <a:cs typeface="Times New Roman" panose="02020603050405020304" pitchFamily="18" charset="0"/>
              </a:endParaRPr>
            </a:p>
          </p:txBody>
        </p:sp>
        <p:sp>
          <p:nvSpPr>
            <p:cNvPr id="8263" name="Text Box 23"/>
            <p:cNvSpPr txBox="1">
              <a:spLocks noChangeArrowheads="1"/>
            </p:cNvSpPr>
            <p:nvPr/>
          </p:nvSpPr>
          <p:spPr bwMode="auto">
            <a:xfrm>
              <a:off x="1918" y="3309"/>
              <a:ext cx="3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+10</a:t>
              </a:r>
              <a:endParaRPr kumimoji="1" lang="en-US" altLang="zh-CN" sz="2000">
                <a:latin typeface="Times New Roman" panose="02020603050405020304" pitchFamily="18" charset="0"/>
                <a:cs typeface="Times New Roman" panose="02020603050405020304" pitchFamily="18" charset="0"/>
              </a:endParaRPr>
            </a:p>
          </p:txBody>
        </p:sp>
        <p:sp>
          <p:nvSpPr>
            <p:cNvPr id="8264" name="Line 24"/>
            <p:cNvSpPr>
              <a:spLocks noChangeShapeType="1"/>
            </p:cNvSpPr>
            <p:nvPr/>
          </p:nvSpPr>
          <p:spPr bwMode="auto">
            <a:xfrm>
              <a:off x="469" y="3252"/>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65" name="Text Box 25"/>
            <p:cNvSpPr txBox="1">
              <a:spLocks noChangeArrowheads="1"/>
            </p:cNvSpPr>
            <p:nvPr/>
          </p:nvSpPr>
          <p:spPr bwMode="auto">
            <a:xfrm>
              <a:off x="262" y="3283"/>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-10</a:t>
              </a:r>
              <a:endParaRPr kumimoji="1" lang="en-US" altLang="zh-CN" sz="2000">
                <a:latin typeface="Times New Roman" panose="02020603050405020304" pitchFamily="18" charset="0"/>
                <a:cs typeface="Times New Roman" panose="02020603050405020304" pitchFamily="18" charset="0"/>
              </a:endParaRPr>
            </a:p>
          </p:txBody>
        </p:sp>
        <p:sp>
          <p:nvSpPr>
            <p:cNvPr id="8266" name="Text Box 26"/>
            <p:cNvSpPr txBox="1">
              <a:spLocks noChangeArrowheads="1"/>
            </p:cNvSpPr>
            <p:nvPr/>
          </p:nvSpPr>
          <p:spPr bwMode="auto">
            <a:xfrm>
              <a:off x="2586" y="2935"/>
              <a:ext cx="2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400" b="1" i="1" baseline="-25000">
                  <a:solidFill>
                    <a:schemeClr val="tx2"/>
                  </a:solidFill>
                  <a:latin typeface="Times New Roman" panose="02020603050405020304" pitchFamily="18" charset="0"/>
                  <a:cs typeface="Times New Roman" panose="02020603050405020304" pitchFamily="18" charset="0"/>
                </a:rPr>
                <a:t>i</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sp>
          <p:nvSpPr>
            <p:cNvPr id="8267" name="Text Box 27"/>
            <p:cNvSpPr txBox="1">
              <a:spLocks noChangeArrowheads="1"/>
            </p:cNvSpPr>
            <p:nvPr/>
          </p:nvSpPr>
          <p:spPr bwMode="auto">
            <a:xfrm>
              <a:off x="2533" y="3350"/>
              <a:ext cx="3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(V)</a:t>
              </a:r>
              <a:endParaRPr kumimoji="1" lang="en-US" altLang="zh-CN" sz="2000">
                <a:latin typeface="Times New Roman" panose="02020603050405020304" pitchFamily="18" charset="0"/>
                <a:cs typeface="Times New Roman" panose="02020603050405020304" pitchFamily="18" charset="0"/>
              </a:endParaRPr>
            </a:p>
          </p:txBody>
        </p:sp>
        <p:sp>
          <p:nvSpPr>
            <p:cNvPr id="8268" name="Text Box 28"/>
            <p:cNvSpPr txBox="1">
              <a:spLocks noChangeArrowheads="1"/>
            </p:cNvSpPr>
            <p:nvPr/>
          </p:nvSpPr>
          <p:spPr bwMode="auto">
            <a:xfrm>
              <a:off x="1030" y="2829"/>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+5</a:t>
              </a:r>
              <a:endParaRPr kumimoji="1" lang="en-US" altLang="zh-CN" sz="2000">
                <a:latin typeface="Times New Roman" panose="02020603050405020304" pitchFamily="18" charset="0"/>
                <a:cs typeface="Times New Roman" panose="02020603050405020304" pitchFamily="18" charset="0"/>
              </a:endParaRPr>
            </a:p>
          </p:txBody>
        </p:sp>
        <p:sp>
          <p:nvSpPr>
            <p:cNvPr id="8269" name="Line 29"/>
            <p:cNvSpPr>
              <a:spLocks noChangeShapeType="1"/>
            </p:cNvSpPr>
            <p:nvPr/>
          </p:nvSpPr>
          <p:spPr bwMode="auto">
            <a:xfrm rot="5400000">
              <a:off x="1309" y="3612"/>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70" name="Text Box 30"/>
            <p:cNvSpPr txBox="1">
              <a:spLocks noChangeArrowheads="1"/>
            </p:cNvSpPr>
            <p:nvPr/>
          </p:nvSpPr>
          <p:spPr bwMode="auto">
            <a:xfrm>
              <a:off x="1032" y="3523"/>
              <a:ext cx="2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-5</a:t>
              </a:r>
              <a:endParaRPr kumimoji="1" lang="en-US" altLang="zh-CN" sz="2000">
                <a:latin typeface="Times New Roman" panose="02020603050405020304" pitchFamily="18" charset="0"/>
                <a:cs typeface="Times New Roman" panose="02020603050405020304" pitchFamily="18" charset="0"/>
              </a:endParaRPr>
            </a:p>
          </p:txBody>
        </p:sp>
        <p:sp>
          <p:nvSpPr>
            <p:cNvPr id="8271" name="Text Box 31"/>
            <p:cNvSpPr txBox="1">
              <a:spLocks noChangeArrowheads="1"/>
            </p:cNvSpPr>
            <p:nvPr/>
          </p:nvSpPr>
          <p:spPr bwMode="auto">
            <a:xfrm>
              <a:off x="1292" y="2436"/>
              <a:ext cx="2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o</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sp>
        <p:nvSpPr>
          <p:cNvPr id="118816" name="Line 32"/>
          <p:cNvSpPr>
            <a:spLocks noChangeShapeType="1"/>
          </p:cNvSpPr>
          <p:nvPr/>
        </p:nvSpPr>
        <p:spPr bwMode="auto">
          <a:xfrm flipV="1">
            <a:off x="1365176" y="4797152"/>
            <a:ext cx="1295400" cy="10668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7" name="Line 33"/>
          <p:cNvSpPr>
            <a:spLocks noChangeShapeType="1"/>
          </p:cNvSpPr>
          <p:nvPr/>
        </p:nvSpPr>
        <p:spPr bwMode="auto">
          <a:xfrm>
            <a:off x="2660576" y="4797152"/>
            <a:ext cx="6858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8818" name="Object 4"/>
          <p:cNvGraphicFramePr>
            <a:graphicFrameLocks noChangeAspect="1"/>
          </p:cNvGraphicFramePr>
          <p:nvPr/>
        </p:nvGraphicFramePr>
        <p:xfrm>
          <a:off x="4903788" y="2843213"/>
          <a:ext cx="2038350" cy="455612"/>
        </p:xfrm>
        <a:graphic>
          <a:graphicData uri="http://schemas.openxmlformats.org/presentationml/2006/ole">
            <mc:AlternateContent xmlns:mc="http://schemas.openxmlformats.org/markup-compatibility/2006">
              <mc:Choice xmlns:v="urn:schemas-microsoft-com:vml" Requires="v">
                <p:oleObj spid="_x0000_s8362" name="Equation" r:id="rId5" imgW="1358900" imgH="304800" progId="Equation.DSMT4">
                  <p:embed/>
                </p:oleObj>
              </mc:Choice>
              <mc:Fallback>
                <p:oleObj name="Equation" r:id="rId5" imgW="1358900" imgH="304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3788" y="2843213"/>
                        <a:ext cx="2038350"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819" name="Text Box 35"/>
          <p:cNvSpPr txBox="1">
            <a:spLocks noChangeArrowheads="1"/>
          </p:cNvSpPr>
          <p:nvPr/>
        </p:nvSpPr>
        <p:spPr bwMode="auto">
          <a:xfrm>
            <a:off x="3863975" y="2813050"/>
            <a:ext cx="930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(2) </a:t>
            </a:r>
            <a:r>
              <a:rPr kumimoji="1" lang="zh-CN" altLang="en-US" sz="2400" b="1">
                <a:solidFill>
                  <a:schemeClr val="tx2"/>
                </a:solidFill>
                <a:latin typeface="Times New Roman" panose="02020603050405020304" pitchFamily="18" charset="0"/>
                <a:cs typeface="Times New Roman" panose="02020603050405020304" pitchFamily="18" charset="0"/>
              </a:rPr>
              <a:t>当</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8820" name="Text Box 36"/>
          <p:cNvSpPr txBox="1">
            <a:spLocks noChangeArrowheads="1"/>
          </p:cNvSpPr>
          <p:nvPr/>
        </p:nvSpPr>
        <p:spPr bwMode="auto">
          <a:xfrm>
            <a:off x="4360863" y="3292475"/>
            <a:ext cx="42529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D</a:t>
            </a:r>
            <a:r>
              <a:rPr kumimoji="1" lang="en-US" altLang="zh-CN" sz="2400" b="1" baseline="-25000">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管截止，</a:t>
            </a:r>
            <a:r>
              <a:rPr kumimoji="1" lang="en-US" altLang="zh-CN" sz="2400" b="1">
                <a:solidFill>
                  <a:schemeClr val="tx2"/>
                </a:solidFill>
                <a:latin typeface="Times New Roman" panose="02020603050405020304" pitchFamily="18" charset="0"/>
                <a:cs typeface="Times New Roman" panose="02020603050405020304" pitchFamily="18" charset="0"/>
              </a:rPr>
              <a:t>D</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r>
              <a:rPr kumimoji="1" lang="zh-CN" altLang="en-US" sz="2400" b="1">
                <a:solidFill>
                  <a:schemeClr val="tx2"/>
                </a:solidFill>
                <a:latin typeface="Times New Roman" panose="02020603050405020304" pitchFamily="18" charset="0"/>
                <a:cs typeface="Times New Roman" panose="02020603050405020304" pitchFamily="18" charset="0"/>
              </a:rPr>
              <a:t>管截止。</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O </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i="1" baseline="-25000">
                <a:solidFill>
                  <a:schemeClr val="tx2"/>
                </a:solidFill>
                <a:latin typeface="Times New Roman" panose="02020603050405020304" pitchFamily="18" charset="0"/>
                <a:cs typeface="Times New Roman" panose="02020603050405020304" pitchFamily="18" charset="0"/>
              </a:rPr>
              <a:t>i</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graphicFrame>
        <p:nvGraphicFramePr>
          <p:cNvPr id="118821" name="Object 5"/>
          <p:cNvGraphicFramePr>
            <a:graphicFrameLocks noChangeAspect="1"/>
          </p:cNvGraphicFramePr>
          <p:nvPr/>
        </p:nvGraphicFramePr>
        <p:xfrm>
          <a:off x="4876800" y="3835400"/>
          <a:ext cx="2189163" cy="455613"/>
        </p:xfrm>
        <a:graphic>
          <a:graphicData uri="http://schemas.openxmlformats.org/presentationml/2006/ole">
            <mc:AlternateContent xmlns:mc="http://schemas.openxmlformats.org/markup-compatibility/2006">
              <mc:Choice xmlns:v="urn:schemas-microsoft-com:vml" Requires="v">
                <p:oleObj spid="_x0000_s8363" name="Equation" r:id="rId7" imgW="1460500" imgH="304800" progId="Equation.DSMT4">
                  <p:embed/>
                </p:oleObj>
              </mc:Choice>
              <mc:Fallback>
                <p:oleObj name="Equation" r:id="rId7" imgW="1460500" imgH="3048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3835400"/>
                        <a:ext cx="2189163"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822" name="Text Box 38"/>
          <p:cNvSpPr txBox="1">
            <a:spLocks noChangeArrowheads="1"/>
          </p:cNvSpPr>
          <p:nvPr/>
        </p:nvSpPr>
        <p:spPr bwMode="auto">
          <a:xfrm>
            <a:off x="3944938" y="3821113"/>
            <a:ext cx="930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(3) </a:t>
            </a:r>
            <a:r>
              <a:rPr kumimoji="1" lang="zh-CN" altLang="en-US" sz="2400" b="1">
                <a:solidFill>
                  <a:schemeClr val="tx2"/>
                </a:solidFill>
                <a:latin typeface="Times New Roman" panose="02020603050405020304" pitchFamily="18" charset="0"/>
                <a:cs typeface="Times New Roman" panose="02020603050405020304" pitchFamily="18" charset="0"/>
              </a:rPr>
              <a:t>当</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8823" name="Text Box 39"/>
          <p:cNvSpPr txBox="1">
            <a:spLocks noChangeArrowheads="1"/>
          </p:cNvSpPr>
          <p:nvPr/>
        </p:nvSpPr>
        <p:spPr bwMode="auto">
          <a:xfrm>
            <a:off x="4378325" y="4376738"/>
            <a:ext cx="4438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D</a:t>
            </a:r>
            <a:r>
              <a:rPr kumimoji="1" lang="en-US" altLang="zh-CN" sz="2400" b="1" baseline="-25000">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管导通，</a:t>
            </a:r>
            <a:r>
              <a:rPr kumimoji="1" lang="en-US" altLang="zh-CN" sz="2400" b="1">
                <a:solidFill>
                  <a:schemeClr val="tx2"/>
                </a:solidFill>
                <a:latin typeface="Times New Roman" panose="02020603050405020304" pitchFamily="18" charset="0"/>
                <a:cs typeface="Times New Roman" panose="02020603050405020304" pitchFamily="18" charset="0"/>
              </a:rPr>
              <a:t>D</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r>
              <a:rPr kumimoji="1" lang="zh-CN" altLang="en-US" sz="2400" b="1">
                <a:solidFill>
                  <a:schemeClr val="tx2"/>
                </a:solidFill>
                <a:latin typeface="Times New Roman" panose="02020603050405020304" pitchFamily="18" charset="0"/>
                <a:cs typeface="Times New Roman" panose="02020603050405020304" pitchFamily="18" charset="0"/>
              </a:rPr>
              <a:t>管截止。</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O</a:t>
            </a:r>
            <a:r>
              <a:rPr kumimoji="1" lang="en-US" altLang="zh-CN" sz="2400" b="1">
                <a:solidFill>
                  <a:schemeClr val="tx2"/>
                </a:solidFill>
                <a:latin typeface="Times New Roman" panose="02020603050405020304" pitchFamily="18" charset="0"/>
                <a:cs typeface="Times New Roman" panose="02020603050405020304" pitchFamily="18" charset="0"/>
              </a:rPr>
              <a:t>= +5V</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nvGrpSpPr>
          <p:cNvPr id="3" name="Group 40"/>
          <p:cNvGrpSpPr/>
          <p:nvPr/>
        </p:nvGrpSpPr>
        <p:grpSpPr bwMode="auto">
          <a:xfrm>
            <a:off x="428625" y="2487613"/>
            <a:ext cx="3471863" cy="1566862"/>
            <a:chOff x="139" y="1169"/>
            <a:chExt cx="2187" cy="987"/>
          </a:xfrm>
        </p:grpSpPr>
        <p:sp>
          <p:nvSpPr>
            <p:cNvPr id="8212" name="Rectangle 41"/>
            <p:cNvSpPr>
              <a:spLocks noChangeArrowheads="1"/>
            </p:cNvSpPr>
            <p:nvPr/>
          </p:nvSpPr>
          <p:spPr bwMode="auto">
            <a:xfrm>
              <a:off x="697" y="1376"/>
              <a:ext cx="240" cy="9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13" name="Line 42"/>
            <p:cNvSpPr>
              <a:spLocks noChangeShapeType="1"/>
            </p:cNvSpPr>
            <p:nvPr/>
          </p:nvSpPr>
          <p:spPr bwMode="auto">
            <a:xfrm>
              <a:off x="217" y="1420"/>
              <a:ext cx="4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214" name="Group 43"/>
            <p:cNvGrpSpPr/>
            <p:nvPr/>
          </p:nvGrpSpPr>
          <p:grpSpPr bwMode="auto">
            <a:xfrm>
              <a:off x="1129" y="1404"/>
              <a:ext cx="192" cy="720"/>
              <a:chOff x="1154" y="1270"/>
              <a:chExt cx="192" cy="720"/>
            </a:xfrm>
          </p:grpSpPr>
          <p:grpSp>
            <p:nvGrpSpPr>
              <p:cNvPr id="8242" name="Group 44"/>
              <p:cNvGrpSpPr>
                <a:grpSpLocks noChangeAspect="1"/>
              </p:cNvGrpSpPr>
              <p:nvPr/>
            </p:nvGrpSpPr>
            <p:grpSpPr bwMode="auto">
              <a:xfrm flipV="1">
                <a:off x="1154" y="1270"/>
                <a:ext cx="184" cy="420"/>
                <a:chOff x="3264" y="1452"/>
                <a:chExt cx="288" cy="658"/>
              </a:xfrm>
            </p:grpSpPr>
            <p:sp>
              <p:nvSpPr>
                <p:cNvPr id="8249" name="AutoShape 45"/>
                <p:cNvSpPr>
                  <a:spLocks noChangeAspect="1" noChangeArrowheads="1"/>
                </p:cNvSpPr>
                <p:nvPr/>
              </p:nvSpPr>
              <p:spPr bwMode="auto">
                <a:xfrm>
                  <a:off x="3264" y="1632"/>
                  <a:ext cx="288" cy="240"/>
                </a:xfrm>
                <a:prstGeom prst="triangle">
                  <a:avLst>
                    <a:gd name="adj"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50" name="Line 46"/>
                <p:cNvSpPr>
                  <a:spLocks noChangeAspect="1" noChangeShapeType="1"/>
                </p:cNvSpPr>
                <p:nvPr/>
              </p:nvSpPr>
              <p:spPr bwMode="auto">
                <a:xfrm>
                  <a:off x="3264" y="1630"/>
                  <a:ext cx="28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1" name="Line 47"/>
                <p:cNvSpPr>
                  <a:spLocks noChangeAspect="1" noChangeShapeType="1"/>
                </p:cNvSpPr>
                <p:nvPr/>
              </p:nvSpPr>
              <p:spPr bwMode="auto">
                <a:xfrm>
                  <a:off x="3408" y="1452"/>
                  <a:ext cx="0" cy="65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43" name="Group 48"/>
              <p:cNvGrpSpPr/>
              <p:nvPr/>
            </p:nvGrpSpPr>
            <p:grpSpPr bwMode="auto">
              <a:xfrm>
                <a:off x="1154" y="1690"/>
                <a:ext cx="192" cy="134"/>
                <a:chOff x="908" y="1920"/>
                <a:chExt cx="192" cy="134"/>
              </a:xfrm>
            </p:grpSpPr>
            <p:sp>
              <p:nvSpPr>
                <p:cNvPr id="8245" name="Line 49"/>
                <p:cNvSpPr>
                  <a:spLocks noChangeShapeType="1"/>
                </p:cNvSpPr>
                <p:nvPr/>
              </p:nvSpPr>
              <p:spPr bwMode="auto">
                <a:xfrm>
                  <a:off x="908" y="1920"/>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46" name="Line 50"/>
                <p:cNvSpPr>
                  <a:spLocks noChangeShapeType="1"/>
                </p:cNvSpPr>
                <p:nvPr/>
              </p:nvSpPr>
              <p:spPr bwMode="auto">
                <a:xfrm>
                  <a:off x="956" y="1968"/>
                  <a:ext cx="9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47" name="Line 51"/>
                <p:cNvSpPr>
                  <a:spLocks noChangeShapeType="1"/>
                </p:cNvSpPr>
                <p:nvPr/>
              </p:nvSpPr>
              <p:spPr bwMode="auto">
                <a:xfrm>
                  <a:off x="908" y="2006"/>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48" name="Line 52"/>
                <p:cNvSpPr>
                  <a:spLocks noChangeShapeType="1"/>
                </p:cNvSpPr>
                <p:nvPr/>
              </p:nvSpPr>
              <p:spPr bwMode="auto">
                <a:xfrm>
                  <a:off x="956" y="2054"/>
                  <a:ext cx="9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44" name="Line 53"/>
              <p:cNvSpPr>
                <a:spLocks noChangeShapeType="1"/>
              </p:cNvSpPr>
              <p:nvPr/>
            </p:nvSpPr>
            <p:spPr bwMode="auto">
              <a:xfrm>
                <a:off x="1248" y="1846"/>
                <a:ext cx="0"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15" name="Text Box 56"/>
            <p:cNvSpPr txBox="1">
              <a:spLocks noChangeArrowheads="1"/>
            </p:cNvSpPr>
            <p:nvPr/>
          </p:nvSpPr>
          <p:spPr bwMode="auto">
            <a:xfrm>
              <a:off x="139" y="1495"/>
              <a:ext cx="22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i</a:t>
              </a:r>
              <a:endParaRPr kumimoji="1" lang="en-US" altLang="zh-CN" b="1" i="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_</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8216" name="Text Box 57"/>
            <p:cNvSpPr txBox="1">
              <a:spLocks noChangeArrowheads="1"/>
            </p:cNvSpPr>
            <p:nvPr/>
          </p:nvSpPr>
          <p:spPr bwMode="auto">
            <a:xfrm>
              <a:off x="2053" y="1447"/>
              <a:ext cx="27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_</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8217" name="Text Box 58"/>
            <p:cNvSpPr txBox="1">
              <a:spLocks noChangeArrowheads="1"/>
            </p:cNvSpPr>
            <p:nvPr/>
          </p:nvSpPr>
          <p:spPr bwMode="auto">
            <a:xfrm>
              <a:off x="687" y="1169"/>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8218" name="Text Box 59"/>
            <p:cNvSpPr txBox="1">
              <a:spLocks noChangeArrowheads="1"/>
            </p:cNvSpPr>
            <p:nvPr/>
          </p:nvSpPr>
          <p:spPr bwMode="auto">
            <a:xfrm>
              <a:off x="815" y="1445"/>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1</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8219" name="Text Box 60"/>
            <p:cNvSpPr txBox="1">
              <a:spLocks noChangeArrowheads="1"/>
            </p:cNvSpPr>
            <p:nvPr/>
          </p:nvSpPr>
          <p:spPr bwMode="auto">
            <a:xfrm>
              <a:off x="769" y="1764"/>
              <a:ext cx="29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b="1">
                  <a:solidFill>
                    <a:schemeClr val="tx2"/>
                  </a:solidFill>
                  <a:latin typeface="Times New Roman" panose="02020603050405020304" pitchFamily="18" charset="0"/>
                  <a:cs typeface="Times New Roman" panose="02020603050405020304" pitchFamily="18" charset="0"/>
                </a:rPr>
                <a:t>5</a:t>
              </a:r>
              <a:r>
                <a:rPr kumimoji="1" lang="en-US" altLang="zh-CN" b="1">
                  <a:solidFill>
                    <a:schemeClr val="tx2"/>
                  </a:solidFill>
                  <a:latin typeface="Times New Roman" panose="02020603050405020304" pitchFamily="18" charset="0"/>
                  <a:cs typeface="Times New Roman" panose="02020603050405020304" pitchFamily="18" charset="0"/>
                </a:rPr>
                <a:t>V</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nvGrpSpPr>
            <p:cNvPr id="8220" name="Group 61"/>
            <p:cNvGrpSpPr>
              <a:grpSpLocks noChangeAspect="1"/>
            </p:cNvGrpSpPr>
            <p:nvPr/>
          </p:nvGrpSpPr>
          <p:grpSpPr bwMode="auto">
            <a:xfrm>
              <a:off x="1665" y="1404"/>
              <a:ext cx="184" cy="420"/>
              <a:chOff x="3264" y="1452"/>
              <a:chExt cx="288" cy="658"/>
            </a:xfrm>
          </p:grpSpPr>
          <p:sp>
            <p:nvSpPr>
              <p:cNvPr id="8239" name="AutoShape 62"/>
              <p:cNvSpPr>
                <a:spLocks noChangeAspect="1" noChangeArrowheads="1"/>
              </p:cNvSpPr>
              <p:nvPr/>
            </p:nvSpPr>
            <p:spPr bwMode="auto">
              <a:xfrm>
                <a:off x="3264" y="1632"/>
                <a:ext cx="288" cy="240"/>
              </a:xfrm>
              <a:prstGeom prst="triangle">
                <a:avLst>
                  <a:gd name="adj"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40" name="Line 63"/>
              <p:cNvSpPr>
                <a:spLocks noChangeAspect="1" noChangeShapeType="1"/>
              </p:cNvSpPr>
              <p:nvPr/>
            </p:nvSpPr>
            <p:spPr bwMode="auto">
              <a:xfrm>
                <a:off x="3264" y="1630"/>
                <a:ext cx="28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41" name="Line 64"/>
              <p:cNvSpPr>
                <a:spLocks noChangeAspect="1" noChangeShapeType="1"/>
              </p:cNvSpPr>
              <p:nvPr/>
            </p:nvSpPr>
            <p:spPr bwMode="auto">
              <a:xfrm>
                <a:off x="3408" y="1452"/>
                <a:ext cx="0" cy="65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21" name="Line 65"/>
            <p:cNvSpPr>
              <a:spLocks noChangeShapeType="1"/>
            </p:cNvSpPr>
            <p:nvPr/>
          </p:nvSpPr>
          <p:spPr bwMode="auto">
            <a:xfrm>
              <a:off x="1759" y="1980"/>
              <a:ext cx="0"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222" name="Group 66"/>
            <p:cNvGrpSpPr/>
            <p:nvPr/>
          </p:nvGrpSpPr>
          <p:grpSpPr bwMode="auto">
            <a:xfrm flipV="1">
              <a:off x="1657" y="1836"/>
              <a:ext cx="192" cy="134"/>
              <a:chOff x="908" y="1920"/>
              <a:chExt cx="192" cy="134"/>
            </a:xfrm>
          </p:grpSpPr>
          <p:sp>
            <p:nvSpPr>
              <p:cNvPr id="8235" name="Line 67"/>
              <p:cNvSpPr>
                <a:spLocks noChangeShapeType="1"/>
              </p:cNvSpPr>
              <p:nvPr/>
            </p:nvSpPr>
            <p:spPr bwMode="auto">
              <a:xfrm>
                <a:off x="908" y="1920"/>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6" name="Line 68"/>
              <p:cNvSpPr>
                <a:spLocks noChangeShapeType="1"/>
              </p:cNvSpPr>
              <p:nvPr/>
            </p:nvSpPr>
            <p:spPr bwMode="auto">
              <a:xfrm>
                <a:off x="956" y="1968"/>
                <a:ext cx="9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7" name="Line 69"/>
              <p:cNvSpPr>
                <a:spLocks noChangeShapeType="1"/>
              </p:cNvSpPr>
              <p:nvPr/>
            </p:nvSpPr>
            <p:spPr bwMode="auto">
              <a:xfrm>
                <a:off x="908" y="2006"/>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8" name="Line 70"/>
              <p:cNvSpPr>
                <a:spLocks noChangeShapeType="1"/>
              </p:cNvSpPr>
              <p:nvPr/>
            </p:nvSpPr>
            <p:spPr bwMode="auto">
              <a:xfrm>
                <a:off x="956" y="2054"/>
                <a:ext cx="9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23" name="Line 71"/>
            <p:cNvSpPr>
              <a:spLocks noChangeShapeType="1"/>
            </p:cNvSpPr>
            <p:nvPr/>
          </p:nvSpPr>
          <p:spPr bwMode="auto">
            <a:xfrm>
              <a:off x="937" y="1422"/>
              <a:ext cx="12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4" name="Line 72"/>
            <p:cNvSpPr>
              <a:spLocks noChangeShapeType="1"/>
            </p:cNvSpPr>
            <p:nvPr/>
          </p:nvSpPr>
          <p:spPr bwMode="auto">
            <a:xfrm>
              <a:off x="169" y="2124"/>
              <a:ext cx="201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5" name="Text Box 73"/>
            <p:cNvSpPr txBox="1">
              <a:spLocks noChangeArrowheads="1"/>
            </p:cNvSpPr>
            <p:nvPr/>
          </p:nvSpPr>
          <p:spPr bwMode="auto">
            <a:xfrm>
              <a:off x="1361" y="1421"/>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2</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8226" name="Text Box 74"/>
            <p:cNvSpPr txBox="1">
              <a:spLocks noChangeArrowheads="1"/>
            </p:cNvSpPr>
            <p:nvPr/>
          </p:nvSpPr>
          <p:spPr bwMode="auto">
            <a:xfrm>
              <a:off x="1351" y="1788"/>
              <a:ext cx="4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b="1">
                  <a:solidFill>
                    <a:schemeClr val="tx2"/>
                  </a:solidFill>
                  <a:latin typeface="Times New Roman" panose="02020603050405020304" pitchFamily="18" charset="0"/>
                  <a:cs typeface="Times New Roman" panose="02020603050405020304" pitchFamily="18" charset="0"/>
                </a:rPr>
                <a:t>5</a:t>
              </a:r>
              <a:r>
                <a:rPr kumimoji="1" lang="en-US" altLang="zh-CN" b="1">
                  <a:solidFill>
                    <a:schemeClr val="tx2"/>
                  </a:solidFill>
                  <a:latin typeface="Times New Roman" panose="02020603050405020304" pitchFamily="18" charset="0"/>
                  <a:cs typeface="Times New Roman" panose="02020603050405020304" pitchFamily="18" charset="0"/>
                </a:rPr>
                <a:t>V</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8227" name="Oval 75"/>
            <p:cNvSpPr>
              <a:spLocks noChangeArrowheads="1"/>
            </p:cNvSpPr>
            <p:nvPr/>
          </p:nvSpPr>
          <p:spPr bwMode="auto">
            <a:xfrm>
              <a:off x="1194" y="1392"/>
              <a:ext cx="56" cy="56"/>
            </a:xfrm>
            <a:prstGeom prst="ellipse">
              <a:avLst/>
            </a:prstGeom>
            <a:solidFill>
              <a:schemeClr val="tx1"/>
            </a:solidFill>
            <a:ln w="9525">
              <a:solidFill>
                <a:schemeClr val="tx1"/>
              </a:solidFill>
              <a:round/>
            </a:ln>
          </p:spPr>
          <p:txBody>
            <a:bodyPr wrap="none" anchor="ctr"/>
            <a:lstStyle/>
            <a:p>
              <a:endParaRPr lang="zh-CN" altLang="en-US"/>
            </a:p>
          </p:txBody>
        </p:sp>
        <p:sp>
          <p:nvSpPr>
            <p:cNvPr id="8228" name="Oval 76"/>
            <p:cNvSpPr>
              <a:spLocks noChangeArrowheads="1"/>
            </p:cNvSpPr>
            <p:nvPr/>
          </p:nvSpPr>
          <p:spPr bwMode="auto">
            <a:xfrm>
              <a:off x="1728" y="1398"/>
              <a:ext cx="56" cy="56"/>
            </a:xfrm>
            <a:prstGeom prst="ellipse">
              <a:avLst/>
            </a:prstGeom>
            <a:solidFill>
              <a:schemeClr val="tx1"/>
            </a:solidFill>
            <a:ln w="9525">
              <a:solidFill>
                <a:schemeClr val="tx1"/>
              </a:solidFill>
              <a:round/>
            </a:ln>
          </p:spPr>
          <p:txBody>
            <a:bodyPr wrap="none" anchor="ctr"/>
            <a:lstStyle/>
            <a:p>
              <a:endParaRPr lang="zh-CN" altLang="en-US"/>
            </a:p>
          </p:txBody>
        </p:sp>
        <p:sp>
          <p:nvSpPr>
            <p:cNvPr id="8229" name="Oval 77"/>
            <p:cNvSpPr>
              <a:spLocks noChangeArrowheads="1"/>
            </p:cNvSpPr>
            <p:nvPr/>
          </p:nvSpPr>
          <p:spPr bwMode="auto">
            <a:xfrm>
              <a:off x="1194" y="2100"/>
              <a:ext cx="56" cy="56"/>
            </a:xfrm>
            <a:prstGeom prst="ellipse">
              <a:avLst/>
            </a:prstGeom>
            <a:solidFill>
              <a:schemeClr val="tx1"/>
            </a:solidFill>
            <a:ln w="9525">
              <a:solidFill>
                <a:schemeClr val="tx1"/>
              </a:solidFill>
              <a:round/>
            </a:ln>
          </p:spPr>
          <p:txBody>
            <a:bodyPr wrap="none" anchor="ctr"/>
            <a:lstStyle/>
            <a:p>
              <a:endParaRPr lang="zh-CN" altLang="en-US"/>
            </a:p>
          </p:txBody>
        </p:sp>
        <p:sp>
          <p:nvSpPr>
            <p:cNvPr id="8230" name="Oval 78"/>
            <p:cNvSpPr>
              <a:spLocks noChangeArrowheads="1"/>
            </p:cNvSpPr>
            <p:nvPr/>
          </p:nvSpPr>
          <p:spPr bwMode="auto">
            <a:xfrm>
              <a:off x="1728" y="2094"/>
              <a:ext cx="56" cy="56"/>
            </a:xfrm>
            <a:prstGeom prst="ellipse">
              <a:avLst/>
            </a:prstGeom>
            <a:solidFill>
              <a:schemeClr val="tx1"/>
            </a:solidFill>
            <a:ln w="9525">
              <a:solidFill>
                <a:schemeClr val="tx1"/>
              </a:solidFill>
              <a:round/>
            </a:ln>
          </p:spPr>
          <p:txBody>
            <a:bodyPr wrap="none" anchor="ctr"/>
            <a:lstStyle/>
            <a:p>
              <a:endParaRPr lang="zh-CN" altLang="en-US"/>
            </a:p>
          </p:txBody>
        </p:sp>
        <p:sp>
          <p:nvSpPr>
            <p:cNvPr id="8231" name="Oval 79"/>
            <p:cNvSpPr>
              <a:spLocks noChangeArrowheads="1"/>
            </p:cNvSpPr>
            <p:nvPr/>
          </p:nvSpPr>
          <p:spPr bwMode="auto">
            <a:xfrm flipV="1">
              <a:off x="162" y="2097"/>
              <a:ext cx="51" cy="57"/>
            </a:xfrm>
            <a:prstGeom prst="ellipse">
              <a:avLst/>
            </a:prstGeom>
            <a:solidFill>
              <a:srgbClr val="000099"/>
            </a:solidFill>
            <a:ln w="12700">
              <a:solidFill>
                <a:schemeClr val="tx1"/>
              </a:solidFill>
              <a:round/>
            </a:ln>
          </p:spPr>
          <p:txBody>
            <a:bodyPr wrap="none" anchor="ctr"/>
            <a:lstStyle/>
            <a:p>
              <a:endParaRPr lang="zh-CN" altLang="en-US"/>
            </a:p>
          </p:txBody>
        </p:sp>
        <p:sp>
          <p:nvSpPr>
            <p:cNvPr id="8232" name="Oval 80"/>
            <p:cNvSpPr>
              <a:spLocks noChangeArrowheads="1"/>
            </p:cNvSpPr>
            <p:nvPr/>
          </p:nvSpPr>
          <p:spPr bwMode="auto">
            <a:xfrm flipV="1">
              <a:off x="162" y="1395"/>
              <a:ext cx="51" cy="57"/>
            </a:xfrm>
            <a:prstGeom prst="ellipse">
              <a:avLst/>
            </a:prstGeom>
            <a:solidFill>
              <a:srgbClr val="000099"/>
            </a:solidFill>
            <a:ln w="12700">
              <a:solidFill>
                <a:schemeClr val="tx1"/>
              </a:solidFill>
              <a:round/>
            </a:ln>
          </p:spPr>
          <p:txBody>
            <a:bodyPr wrap="none" anchor="ctr"/>
            <a:lstStyle/>
            <a:p>
              <a:endParaRPr lang="zh-CN" altLang="en-US"/>
            </a:p>
          </p:txBody>
        </p:sp>
        <p:sp>
          <p:nvSpPr>
            <p:cNvPr id="8233" name="Oval 81"/>
            <p:cNvSpPr>
              <a:spLocks noChangeArrowheads="1"/>
            </p:cNvSpPr>
            <p:nvPr/>
          </p:nvSpPr>
          <p:spPr bwMode="auto">
            <a:xfrm flipV="1">
              <a:off x="2166" y="2091"/>
              <a:ext cx="51" cy="57"/>
            </a:xfrm>
            <a:prstGeom prst="ellipse">
              <a:avLst/>
            </a:prstGeom>
            <a:solidFill>
              <a:srgbClr val="000099"/>
            </a:solidFill>
            <a:ln w="12700">
              <a:solidFill>
                <a:schemeClr val="tx1"/>
              </a:solidFill>
              <a:round/>
            </a:ln>
          </p:spPr>
          <p:txBody>
            <a:bodyPr wrap="none" anchor="ctr"/>
            <a:lstStyle/>
            <a:p>
              <a:endParaRPr lang="zh-CN" altLang="en-US"/>
            </a:p>
          </p:txBody>
        </p:sp>
        <p:sp>
          <p:nvSpPr>
            <p:cNvPr id="8234" name="Oval 82"/>
            <p:cNvSpPr>
              <a:spLocks noChangeArrowheads="1"/>
            </p:cNvSpPr>
            <p:nvPr/>
          </p:nvSpPr>
          <p:spPr bwMode="auto">
            <a:xfrm flipV="1">
              <a:off x="2166" y="1389"/>
              <a:ext cx="51" cy="57"/>
            </a:xfrm>
            <a:prstGeom prst="ellipse">
              <a:avLst/>
            </a:prstGeom>
            <a:solidFill>
              <a:srgbClr val="000099"/>
            </a:solidFill>
            <a:ln w="12700">
              <a:solidFill>
                <a:schemeClr val="tx1"/>
              </a:solidFill>
              <a:round/>
            </a:ln>
          </p:spPr>
          <p:txBody>
            <a:bodyPr wrap="none" anchor="ctr"/>
            <a:lstStyle/>
            <a:p>
              <a:endParaRPr lang="zh-CN" altLang="en-US"/>
            </a:p>
          </p:txBody>
        </p:sp>
      </p:grpSp>
      <p:sp>
        <p:nvSpPr>
          <p:cNvPr id="118867" name="Text Box 83"/>
          <p:cNvSpPr txBox="1">
            <a:spLocks noChangeArrowheads="1"/>
          </p:cNvSpPr>
          <p:nvPr/>
        </p:nvSpPr>
        <p:spPr bwMode="auto">
          <a:xfrm>
            <a:off x="4676775" y="5162550"/>
            <a:ext cx="36766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电路把超过</a:t>
            </a:r>
            <a:r>
              <a:rPr kumimoji="1" lang="en-US" altLang="zh-CN" sz="2400" b="1">
                <a:solidFill>
                  <a:schemeClr val="tx2"/>
                </a:solidFill>
                <a:latin typeface="Times New Roman" panose="02020603050405020304" pitchFamily="18" charset="0"/>
                <a:cs typeface="Times New Roman" panose="02020603050405020304" pitchFamily="18" charset="0"/>
              </a:rPr>
              <a:t>±5V</a:t>
            </a:r>
            <a:r>
              <a:rPr kumimoji="1" lang="zh-CN" altLang="en-US" sz="2400" b="1">
                <a:solidFill>
                  <a:schemeClr val="tx2"/>
                </a:solidFill>
                <a:latin typeface="Times New Roman" panose="02020603050405020304" pitchFamily="18" charset="0"/>
                <a:cs typeface="Times New Roman" panose="02020603050405020304" pitchFamily="18" charset="0"/>
              </a:rPr>
              <a:t>的输入信号部分限制掉。</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wipe(left)">
                                      <p:cBhvr>
                                        <p:cTn id="7" dur="500"/>
                                        <p:tgtEl>
                                          <p:spTgt spid="118788"/>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out)">
                                      <p:cBhvr>
                                        <p:cTn id="11" dur="500"/>
                                        <p:tgtEl>
                                          <p:spTgt spid="3"/>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75"/>
                                  </p:iterate>
                                  <p:childTnLst>
                                    <p:set>
                                      <p:cBhvr>
                                        <p:cTn id="18" dur="1" fill="hold">
                                          <p:stCondLst>
                                            <p:cond delay="74"/>
                                          </p:stCondLst>
                                        </p:cTn>
                                        <p:tgtEl>
                                          <p:spTgt spid="118790"/>
                                        </p:tgtEl>
                                        <p:attrNameLst>
                                          <p:attrName>style.visibility</p:attrName>
                                        </p:attrNameLst>
                                      </p:cBhvr>
                                      <p:to>
                                        <p:strVal val="visible"/>
                                      </p:to>
                                    </p:set>
                                  </p:childTnLst>
                                </p:cTn>
                              </p:par>
                            </p:childTnLst>
                          </p:cTn>
                        </p:par>
                        <p:par>
                          <p:cTn id="19" fill="hold">
                            <p:stCondLst>
                              <p:cond delay="375"/>
                            </p:stCondLst>
                            <p:childTnLst>
                              <p:par>
                                <p:cTn id="20" presetID="22" presetClass="entr" presetSubtype="8" fill="hold" nodeType="afterEffect">
                                  <p:stCondLst>
                                    <p:cond delay="0"/>
                                  </p:stCondLst>
                                  <p:childTnLst>
                                    <p:set>
                                      <p:cBhvr>
                                        <p:cTn id="21" dur="1" fill="hold">
                                          <p:stCondLst>
                                            <p:cond delay="0"/>
                                          </p:stCondLst>
                                        </p:cTn>
                                        <p:tgtEl>
                                          <p:spTgt spid="118789"/>
                                        </p:tgtEl>
                                        <p:attrNameLst>
                                          <p:attrName>style.visibility</p:attrName>
                                        </p:attrNameLst>
                                      </p:cBhvr>
                                      <p:to>
                                        <p:strVal val="visible"/>
                                      </p:to>
                                    </p:set>
                                    <p:animEffect transition="in" filter="wipe(left)">
                                      <p:cBhvr>
                                        <p:cTn id="22" dur="500"/>
                                        <p:tgtEl>
                                          <p:spTgt spid="118789"/>
                                        </p:tgtEl>
                                      </p:cBhvr>
                                    </p:animEffect>
                                  </p:childTnLst>
                                </p:cTn>
                              </p:par>
                            </p:childTnLst>
                          </p:cTn>
                        </p:par>
                        <p:par>
                          <p:cTn id="23" fill="hold">
                            <p:stCondLst>
                              <p:cond delay="875"/>
                            </p:stCondLst>
                            <p:childTnLst>
                              <p:par>
                                <p:cTn id="24" presetID="22" presetClass="entr" presetSubtype="8" fill="hold" grpId="0" nodeType="afterEffect">
                                  <p:stCondLst>
                                    <p:cond delay="0"/>
                                  </p:stCondLst>
                                  <p:childTnLst>
                                    <p:set>
                                      <p:cBhvr>
                                        <p:cTn id="25" dur="1" fill="hold">
                                          <p:stCondLst>
                                            <p:cond delay="0"/>
                                          </p:stCondLst>
                                        </p:cTn>
                                        <p:tgtEl>
                                          <p:spTgt spid="118793"/>
                                        </p:tgtEl>
                                        <p:attrNameLst>
                                          <p:attrName>style.visibility</p:attrName>
                                        </p:attrNameLst>
                                      </p:cBhvr>
                                      <p:to>
                                        <p:strVal val="visible"/>
                                      </p:to>
                                    </p:set>
                                    <p:animEffect transition="in" filter="wipe(left)">
                                      <p:cBhvr>
                                        <p:cTn id="26" dur="500"/>
                                        <p:tgtEl>
                                          <p:spTgt spid="118793"/>
                                        </p:tgtEl>
                                      </p:cBhvr>
                                    </p:animEffect>
                                  </p:childTnLst>
                                </p:cTn>
                              </p:par>
                            </p:childTnLst>
                          </p:cTn>
                        </p:par>
                        <p:par>
                          <p:cTn id="27" fill="hold">
                            <p:stCondLst>
                              <p:cond delay="1375"/>
                            </p:stCondLst>
                            <p:childTnLst>
                              <p:par>
                                <p:cTn id="28" presetID="22" presetClass="entr" presetSubtype="8" fill="hold" grpId="0" nodeType="afterEffect">
                                  <p:stCondLst>
                                    <p:cond delay="0"/>
                                  </p:stCondLst>
                                  <p:childTnLst>
                                    <p:set>
                                      <p:cBhvr>
                                        <p:cTn id="29" dur="1" fill="hold">
                                          <p:stCondLst>
                                            <p:cond delay="0"/>
                                          </p:stCondLst>
                                        </p:cTn>
                                        <p:tgtEl>
                                          <p:spTgt spid="118794"/>
                                        </p:tgtEl>
                                        <p:attrNameLst>
                                          <p:attrName>style.visibility</p:attrName>
                                        </p:attrNameLst>
                                      </p:cBhvr>
                                      <p:to>
                                        <p:strVal val="visible"/>
                                      </p:to>
                                    </p:set>
                                    <p:animEffect transition="in" filter="wipe(left)">
                                      <p:cBhvr>
                                        <p:cTn id="30" dur="500"/>
                                        <p:tgtEl>
                                          <p:spTgt spid="11879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75"/>
                                  </p:iterate>
                                  <p:childTnLst>
                                    <p:set>
                                      <p:cBhvr>
                                        <p:cTn id="34" dur="1" fill="hold">
                                          <p:stCondLst>
                                            <p:cond delay="74"/>
                                          </p:stCondLst>
                                        </p:cTn>
                                        <p:tgtEl>
                                          <p:spTgt spid="118819"/>
                                        </p:tgtEl>
                                        <p:attrNameLst>
                                          <p:attrName>style.visibility</p:attrName>
                                        </p:attrNameLst>
                                      </p:cBhvr>
                                      <p:to>
                                        <p:strVal val="visible"/>
                                      </p:to>
                                    </p:set>
                                  </p:childTnLst>
                                </p:cTn>
                              </p:par>
                            </p:childTnLst>
                          </p:cTn>
                        </p:par>
                        <p:par>
                          <p:cTn id="35" fill="hold">
                            <p:stCondLst>
                              <p:cond delay="375"/>
                            </p:stCondLst>
                            <p:childTnLst>
                              <p:par>
                                <p:cTn id="36" presetID="22" presetClass="entr" presetSubtype="8" fill="hold" nodeType="afterEffect">
                                  <p:stCondLst>
                                    <p:cond delay="0"/>
                                  </p:stCondLst>
                                  <p:childTnLst>
                                    <p:set>
                                      <p:cBhvr>
                                        <p:cTn id="37" dur="1" fill="hold">
                                          <p:stCondLst>
                                            <p:cond delay="0"/>
                                          </p:stCondLst>
                                        </p:cTn>
                                        <p:tgtEl>
                                          <p:spTgt spid="118818"/>
                                        </p:tgtEl>
                                        <p:attrNameLst>
                                          <p:attrName>style.visibility</p:attrName>
                                        </p:attrNameLst>
                                      </p:cBhvr>
                                      <p:to>
                                        <p:strVal val="visible"/>
                                      </p:to>
                                    </p:set>
                                    <p:animEffect transition="in" filter="wipe(left)">
                                      <p:cBhvr>
                                        <p:cTn id="38" dur="500"/>
                                        <p:tgtEl>
                                          <p:spTgt spid="118818"/>
                                        </p:tgtEl>
                                      </p:cBhvr>
                                    </p:animEffect>
                                  </p:childTnLst>
                                </p:cTn>
                              </p:par>
                            </p:childTnLst>
                          </p:cTn>
                        </p:par>
                        <p:par>
                          <p:cTn id="39" fill="hold">
                            <p:stCondLst>
                              <p:cond delay="875"/>
                            </p:stCondLst>
                            <p:childTnLst>
                              <p:par>
                                <p:cTn id="40" presetID="22" presetClass="entr" presetSubtype="8" fill="hold" grpId="0" nodeType="afterEffect">
                                  <p:stCondLst>
                                    <p:cond delay="0"/>
                                  </p:stCondLst>
                                  <p:childTnLst>
                                    <p:set>
                                      <p:cBhvr>
                                        <p:cTn id="41" dur="1" fill="hold">
                                          <p:stCondLst>
                                            <p:cond delay="0"/>
                                          </p:stCondLst>
                                        </p:cTn>
                                        <p:tgtEl>
                                          <p:spTgt spid="118820"/>
                                        </p:tgtEl>
                                        <p:attrNameLst>
                                          <p:attrName>style.visibility</p:attrName>
                                        </p:attrNameLst>
                                      </p:cBhvr>
                                      <p:to>
                                        <p:strVal val="visible"/>
                                      </p:to>
                                    </p:set>
                                    <p:animEffect transition="in" filter="wipe(left)">
                                      <p:cBhvr>
                                        <p:cTn id="42" dur="500"/>
                                        <p:tgtEl>
                                          <p:spTgt spid="118820"/>
                                        </p:tgtEl>
                                      </p:cBhvr>
                                    </p:animEffect>
                                  </p:childTnLst>
                                </p:cTn>
                              </p:par>
                            </p:childTnLst>
                          </p:cTn>
                        </p:par>
                        <p:par>
                          <p:cTn id="43" fill="hold">
                            <p:stCondLst>
                              <p:cond delay="1375"/>
                            </p:stCondLst>
                            <p:childTnLst>
                              <p:par>
                                <p:cTn id="44" presetID="22" presetClass="entr" presetSubtype="8" fill="hold" grpId="0" nodeType="afterEffect">
                                  <p:stCondLst>
                                    <p:cond delay="0"/>
                                  </p:stCondLst>
                                  <p:childTnLst>
                                    <p:set>
                                      <p:cBhvr>
                                        <p:cTn id="45" dur="1" fill="hold">
                                          <p:stCondLst>
                                            <p:cond delay="0"/>
                                          </p:stCondLst>
                                        </p:cTn>
                                        <p:tgtEl>
                                          <p:spTgt spid="118816"/>
                                        </p:tgtEl>
                                        <p:attrNameLst>
                                          <p:attrName>style.visibility</p:attrName>
                                        </p:attrNameLst>
                                      </p:cBhvr>
                                      <p:to>
                                        <p:strVal val="visible"/>
                                      </p:to>
                                    </p:set>
                                    <p:animEffect transition="in" filter="wipe(left)">
                                      <p:cBhvr>
                                        <p:cTn id="46" dur="500"/>
                                        <p:tgtEl>
                                          <p:spTgt spid="118816"/>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lt">
                                    <p:tmAbs val="75"/>
                                  </p:iterate>
                                  <p:childTnLst>
                                    <p:set>
                                      <p:cBhvr>
                                        <p:cTn id="50" dur="1" fill="hold">
                                          <p:stCondLst>
                                            <p:cond delay="74"/>
                                          </p:stCondLst>
                                        </p:cTn>
                                        <p:tgtEl>
                                          <p:spTgt spid="118822"/>
                                        </p:tgtEl>
                                        <p:attrNameLst>
                                          <p:attrName>style.visibility</p:attrName>
                                        </p:attrNameLst>
                                      </p:cBhvr>
                                      <p:to>
                                        <p:strVal val="visible"/>
                                      </p:to>
                                    </p:set>
                                  </p:childTnLst>
                                </p:cTn>
                              </p:par>
                            </p:childTnLst>
                          </p:cTn>
                        </p:par>
                        <p:par>
                          <p:cTn id="51" fill="hold">
                            <p:stCondLst>
                              <p:cond delay="375"/>
                            </p:stCondLst>
                            <p:childTnLst>
                              <p:par>
                                <p:cTn id="52" presetID="22" presetClass="entr" presetSubtype="8" fill="hold" nodeType="afterEffect">
                                  <p:stCondLst>
                                    <p:cond delay="0"/>
                                  </p:stCondLst>
                                  <p:childTnLst>
                                    <p:set>
                                      <p:cBhvr>
                                        <p:cTn id="53" dur="1" fill="hold">
                                          <p:stCondLst>
                                            <p:cond delay="0"/>
                                          </p:stCondLst>
                                        </p:cTn>
                                        <p:tgtEl>
                                          <p:spTgt spid="118821"/>
                                        </p:tgtEl>
                                        <p:attrNameLst>
                                          <p:attrName>style.visibility</p:attrName>
                                        </p:attrNameLst>
                                      </p:cBhvr>
                                      <p:to>
                                        <p:strVal val="visible"/>
                                      </p:to>
                                    </p:set>
                                    <p:animEffect transition="in" filter="wipe(left)">
                                      <p:cBhvr>
                                        <p:cTn id="54" dur="500"/>
                                        <p:tgtEl>
                                          <p:spTgt spid="118821"/>
                                        </p:tgtEl>
                                      </p:cBhvr>
                                    </p:animEffect>
                                  </p:childTnLst>
                                </p:cTn>
                              </p:par>
                            </p:childTnLst>
                          </p:cTn>
                        </p:par>
                        <p:par>
                          <p:cTn id="55" fill="hold">
                            <p:stCondLst>
                              <p:cond delay="875"/>
                            </p:stCondLst>
                            <p:childTnLst>
                              <p:par>
                                <p:cTn id="56" presetID="22" presetClass="entr" presetSubtype="8" fill="hold" grpId="0" nodeType="afterEffect">
                                  <p:stCondLst>
                                    <p:cond delay="0"/>
                                  </p:stCondLst>
                                  <p:childTnLst>
                                    <p:set>
                                      <p:cBhvr>
                                        <p:cTn id="57" dur="1" fill="hold">
                                          <p:stCondLst>
                                            <p:cond delay="0"/>
                                          </p:stCondLst>
                                        </p:cTn>
                                        <p:tgtEl>
                                          <p:spTgt spid="118823"/>
                                        </p:tgtEl>
                                        <p:attrNameLst>
                                          <p:attrName>style.visibility</p:attrName>
                                        </p:attrNameLst>
                                      </p:cBhvr>
                                      <p:to>
                                        <p:strVal val="visible"/>
                                      </p:to>
                                    </p:set>
                                    <p:animEffect transition="in" filter="wipe(left)">
                                      <p:cBhvr>
                                        <p:cTn id="58" dur="500"/>
                                        <p:tgtEl>
                                          <p:spTgt spid="118823"/>
                                        </p:tgtEl>
                                      </p:cBhvr>
                                    </p:animEffect>
                                  </p:childTnLst>
                                </p:cTn>
                              </p:par>
                            </p:childTnLst>
                          </p:cTn>
                        </p:par>
                        <p:par>
                          <p:cTn id="59" fill="hold">
                            <p:stCondLst>
                              <p:cond delay="1375"/>
                            </p:stCondLst>
                            <p:childTnLst>
                              <p:par>
                                <p:cTn id="60" presetID="22" presetClass="entr" presetSubtype="8" fill="hold" grpId="0" nodeType="afterEffect">
                                  <p:stCondLst>
                                    <p:cond delay="0"/>
                                  </p:stCondLst>
                                  <p:childTnLst>
                                    <p:set>
                                      <p:cBhvr>
                                        <p:cTn id="61" dur="1" fill="hold">
                                          <p:stCondLst>
                                            <p:cond delay="0"/>
                                          </p:stCondLst>
                                        </p:cTn>
                                        <p:tgtEl>
                                          <p:spTgt spid="118817"/>
                                        </p:tgtEl>
                                        <p:attrNameLst>
                                          <p:attrName>style.visibility</p:attrName>
                                        </p:attrNameLst>
                                      </p:cBhvr>
                                      <p:to>
                                        <p:strVal val="visible"/>
                                      </p:to>
                                    </p:set>
                                    <p:animEffect transition="in" filter="wipe(left)">
                                      <p:cBhvr>
                                        <p:cTn id="62" dur="500"/>
                                        <p:tgtEl>
                                          <p:spTgt spid="118817"/>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lt">
                                    <p:tmAbs val="75"/>
                                  </p:iterate>
                                  <p:childTnLst>
                                    <p:set>
                                      <p:cBhvr>
                                        <p:cTn id="66" dur="1" fill="hold">
                                          <p:stCondLst>
                                            <p:cond delay="74"/>
                                          </p:stCondLst>
                                        </p:cTn>
                                        <p:tgtEl>
                                          <p:spTgt spid="1188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0" grpId="0" autoUpdateAnimBg="0"/>
      <p:bldP spid="118793" grpId="0" autoUpdateAnimBg="0"/>
      <p:bldP spid="118794" grpId="0" animBg="1"/>
      <p:bldP spid="118816" grpId="0" animBg="1"/>
      <p:bldP spid="118817" grpId="0" animBg="1"/>
      <p:bldP spid="118819" grpId="0" autoUpdateAnimBg="0"/>
      <p:bldP spid="118820" grpId="0" autoUpdateAnimBg="0"/>
      <p:bldP spid="118822" grpId="0" autoUpdateAnimBg="0"/>
      <p:bldP spid="118823" grpId="0" autoUpdateAnimBg="0"/>
      <p:bldP spid="11886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29</a:t>
            </a:r>
            <a:r>
              <a:rPr lang="zh-CN" altLang="en-US" sz="2800" smtClean="0">
                <a:ea typeface="宋体" panose="02010600030101010101" pitchFamily="2" charset="-122"/>
              </a:rPr>
              <a:t>）</a:t>
            </a:r>
            <a:endParaRPr lang="zh-CN" altLang="en-US" sz="3200" smtClean="0">
              <a:ea typeface="楷体_GB2312" pitchFamily="49" charset="-122"/>
            </a:endParaRPr>
          </a:p>
        </p:txBody>
      </p:sp>
      <p:sp>
        <p:nvSpPr>
          <p:cNvPr id="2" name="灯片编号占位符 1"/>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pic>
        <p:nvPicPr>
          <p:cNvPr id="49155" name="Picture 5">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788" y="1268760"/>
            <a:ext cx="6873701" cy="4949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49156" name="Rectangle 6"/>
          <p:cNvSpPr>
            <a:spLocks noChangeArrowheads="1"/>
          </p:cNvSpPr>
          <p:nvPr/>
        </p:nvSpPr>
        <p:spPr bwMode="auto">
          <a:xfrm>
            <a:off x="1474832" y="735087"/>
            <a:ext cx="4825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lang="zh-CN" altLang="en-US" sz="2400" b="1" dirty="0" smtClean="0">
                <a:solidFill>
                  <a:schemeClr val="tx2"/>
                </a:solidFill>
              </a:rPr>
              <a:t>观察</a:t>
            </a:r>
            <a:r>
              <a:rPr lang="zh-CN" altLang="en-US" sz="2400" b="1" dirty="0">
                <a:solidFill>
                  <a:schemeClr val="tx2"/>
                </a:solidFill>
              </a:rPr>
              <a:t>二极管双向限幅电路传输特性</a:t>
            </a:r>
            <a:endParaRPr lang="zh-CN" altLang="en-US" sz="2400" b="1" dirty="0">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30</a:t>
            </a:r>
            <a:r>
              <a:rPr lang="zh-CN" altLang="en-US" sz="2800" smtClean="0">
                <a:ea typeface="宋体" panose="02010600030101010101" pitchFamily="2" charset="-122"/>
              </a:rPr>
              <a:t>）</a:t>
            </a:r>
            <a:endParaRPr lang="zh-CN" altLang="en-US" sz="2800"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
        <p:nvSpPr>
          <p:cNvPr id="50179" name="Rectangle 3"/>
          <p:cNvSpPr>
            <a:spLocks noGrp="1" noChangeArrowheads="1"/>
          </p:cNvSpPr>
          <p:nvPr>
            <p:ph sz="quarter" idx="11"/>
          </p:nvPr>
        </p:nvSpPr>
        <p:spPr>
          <a:xfrm>
            <a:off x="107504" y="620688"/>
            <a:ext cx="8892480" cy="5544616"/>
          </a:xfrm>
        </p:spPr>
        <p:txBody>
          <a:bodyPr/>
          <a:lstStyle/>
          <a:p>
            <a:pPr marL="0" indent="0" eaLnBrk="1" hangingPunct="1"/>
            <a:r>
              <a:rPr lang="zh-CN" altLang="en-US" dirty="0" smtClean="0">
                <a:latin typeface="宋体" panose="02010600030101010101" pitchFamily="2" charset="-122"/>
                <a:ea typeface="宋体" panose="02010600030101010101" pitchFamily="2" charset="-122"/>
              </a:rPr>
              <a:t>稳压二极管</a:t>
            </a:r>
            <a:r>
              <a:rPr lang="en-US" altLang="zh-CN" sz="2400" dirty="0" smtClean="0">
                <a:ea typeface="楷体_GB2312" pitchFamily="49" charset="-122"/>
              </a:rPr>
              <a:t>        </a:t>
            </a:r>
            <a:endParaRPr lang="en-US" altLang="zh-CN" sz="2400" dirty="0" smtClean="0">
              <a:ea typeface="楷体_GB2312" pitchFamily="49" charset="-122"/>
            </a:endParaRPr>
          </a:p>
          <a:p>
            <a:pPr marL="0" indent="0" eaLnBrk="1" hangingPunct="1">
              <a:lnSpc>
                <a:spcPct val="125000"/>
              </a:lnSpc>
              <a:spcBef>
                <a:spcPts val="0"/>
              </a:spcBef>
              <a:buFont typeface="Wingdings" panose="05000000000000000000" pitchFamily="2" charset="2"/>
              <a:buNone/>
            </a:pPr>
            <a:r>
              <a:rPr lang="zh-CN" altLang="en-US" sz="2400" dirty="0" smtClean="0">
                <a:ea typeface="宋体" panose="02010600030101010101" pitchFamily="2" charset="-122"/>
                <a:cs typeface="Times New Roman" panose="02020603050405020304" pitchFamily="18" charset="0"/>
              </a:rPr>
              <a:t>稳压管是一种特殊的硅二极管。它允许通过较大的反向电流，经过特殊工艺使其反向击穿电压比普通二极管低得多（几到几十伏）。利用其反向击穿特性，配以合适的电阻，在电路中可起稳压的作用。</a:t>
            </a:r>
            <a:endParaRPr lang="zh-CN" altLang="en-US" sz="2400" dirty="0" smtClean="0">
              <a:ea typeface="宋体" panose="02010600030101010101" pitchFamily="2" charset="-122"/>
              <a:cs typeface="Times New Roman" panose="02020603050405020304" pitchFamily="18" charset="0"/>
            </a:endParaRPr>
          </a:p>
          <a:p>
            <a:pPr marL="0" indent="0" eaLnBrk="1" hangingPunct="1">
              <a:lnSpc>
                <a:spcPct val="125000"/>
              </a:lnSpc>
              <a:spcBef>
                <a:spcPts val="0"/>
              </a:spcBef>
              <a:buFont typeface="Wingdings" panose="05000000000000000000" pitchFamily="2" charset="2"/>
              <a:buNone/>
            </a:pPr>
            <a:r>
              <a:rPr lang="zh-CN" altLang="en-US" sz="2400" dirty="0" smtClean="0">
                <a:ea typeface="宋体" panose="02010600030101010101" pitchFamily="2" charset="-122"/>
                <a:cs typeface="Times New Roman" panose="02020603050405020304" pitchFamily="18" charset="0"/>
              </a:rPr>
              <a:t>        二极管在加反向偏置电压时，处于截</a:t>
            </a:r>
            <a:br>
              <a:rPr lang="zh-CN" altLang="en-US" sz="2400" dirty="0" smtClean="0">
                <a:ea typeface="宋体" panose="02010600030101010101" pitchFamily="2" charset="-122"/>
                <a:cs typeface="Times New Roman" panose="02020603050405020304" pitchFamily="18" charset="0"/>
              </a:rPr>
            </a:br>
            <a:r>
              <a:rPr lang="zh-CN" altLang="en-US" sz="2400" dirty="0" smtClean="0">
                <a:ea typeface="宋体" panose="02010600030101010101" pitchFamily="2" charset="-122"/>
                <a:cs typeface="Times New Roman" panose="02020603050405020304" pitchFamily="18" charset="0"/>
              </a:rPr>
              <a:t>止状态，仅有很小的反向饱和电流。但是</a:t>
            </a:r>
            <a:br>
              <a:rPr lang="zh-CN" altLang="en-US" sz="2400" dirty="0" smtClean="0">
                <a:ea typeface="宋体" panose="02010600030101010101" pitchFamily="2" charset="-122"/>
                <a:cs typeface="Times New Roman" panose="02020603050405020304" pitchFamily="18" charset="0"/>
              </a:rPr>
            </a:br>
            <a:r>
              <a:rPr lang="zh-CN" altLang="en-US" sz="2400" dirty="0" smtClean="0">
                <a:ea typeface="宋体" panose="02010600030101010101" pitchFamily="2" charset="-122"/>
                <a:cs typeface="Times New Roman" panose="02020603050405020304" pitchFamily="18" charset="0"/>
              </a:rPr>
              <a:t>如果反向电压增大到一定值时，</a:t>
            </a:r>
            <a:r>
              <a:rPr lang="en-US" altLang="zh-CN" sz="2400" dirty="0" smtClean="0">
                <a:ea typeface="宋体" panose="02010600030101010101" pitchFamily="2" charset="-122"/>
                <a:cs typeface="Times New Roman" panose="02020603050405020304" pitchFamily="18" charset="0"/>
              </a:rPr>
              <a:t>PN</a:t>
            </a:r>
            <a:r>
              <a:rPr lang="zh-CN" altLang="en-US" sz="2400" dirty="0" smtClean="0">
                <a:ea typeface="宋体" panose="02010600030101010101" pitchFamily="2" charset="-122"/>
                <a:cs typeface="Times New Roman" panose="02020603050405020304" pitchFamily="18" charset="0"/>
              </a:rPr>
              <a:t>结的电</a:t>
            </a:r>
            <a:br>
              <a:rPr lang="zh-CN" altLang="en-US" sz="2400" dirty="0" smtClean="0">
                <a:ea typeface="宋体" panose="02010600030101010101" pitchFamily="2" charset="-122"/>
                <a:cs typeface="Times New Roman" panose="02020603050405020304" pitchFamily="18" charset="0"/>
              </a:rPr>
            </a:br>
            <a:r>
              <a:rPr lang="zh-CN" altLang="en-US" sz="2400" dirty="0" smtClean="0">
                <a:ea typeface="宋体" panose="02010600030101010101" pitchFamily="2" charset="-122"/>
                <a:cs typeface="Times New Roman" panose="02020603050405020304" pitchFamily="18" charset="0"/>
              </a:rPr>
              <a:t>场强度太大，将导致二极管的</a:t>
            </a:r>
            <a:br>
              <a:rPr lang="zh-CN" altLang="en-US" sz="2400" dirty="0" smtClean="0">
                <a:ea typeface="宋体" panose="02010600030101010101" pitchFamily="2" charset="-122"/>
                <a:cs typeface="Times New Roman" panose="02020603050405020304" pitchFamily="18" charset="0"/>
              </a:rPr>
            </a:br>
            <a:r>
              <a:rPr lang="zh-CN" altLang="en-US" sz="2400" dirty="0" smtClean="0">
                <a:ea typeface="宋体" panose="02010600030101010101" pitchFamily="2" charset="-122"/>
                <a:cs typeface="Times New Roman" panose="02020603050405020304" pitchFamily="18" charset="0"/>
              </a:rPr>
              <a:t>反向击穿，这时，二极管反向</a:t>
            </a:r>
            <a:br>
              <a:rPr lang="zh-CN" altLang="en-US" sz="2400" dirty="0" smtClean="0">
                <a:ea typeface="宋体" panose="02010600030101010101" pitchFamily="2" charset="-122"/>
                <a:cs typeface="Times New Roman" panose="02020603050405020304" pitchFamily="18" charset="0"/>
              </a:rPr>
            </a:br>
            <a:r>
              <a:rPr lang="zh-CN" altLang="en-US" sz="2400" dirty="0" smtClean="0">
                <a:ea typeface="宋体" panose="02010600030101010101" pitchFamily="2" charset="-122"/>
                <a:cs typeface="Times New Roman" panose="02020603050405020304" pitchFamily="18" charset="0"/>
              </a:rPr>
              <a:t>电流迅速增大而电压却基本不变</a:t>
            </a:r>
            <a:br>
              <a:rPr lang="zh-CN" altLang="en-US" sz="2400" dirty="0" smtClean="0">
                <a:ea typeface="宋体" panose="02010600030101010101" pitchFamily="2" charset="-122"/>
                <a:cs typeface="Times New Roman" panose="02020603050405020304" pitchFamily="18" charset="0"/>
              </a:rPr>
            </a:br>
            <a:r>
              <a:rPr lang="en-US" altLang="zh-CN" sz="2400" dirty="0" smtClean="0">
                <a:ea typeface="宋体" panose="02010600030101010101" pitchFamily="2" charset="-122"/>
                <a:cs typeface="Times New Roman" panose="02020603050405020304" pitchFamily="18" charset="0"/>
              </a:rPr>
              <a:t>——</a:t>
            </a:r>
            <a:r>
              <a:rPr lang="zh-CN" altLang="en-US" sz="2400" dirty="0" smtClean="0">
                <a:ea typeface="宋体" panose="02010600030101010101" pitchFamily="2" charset="-122"/>
                <a:cs typeface="Times New Roman" panose="02020603050405020304" pitchFamily="18" charset="0"/>
              </a:rPr>
              <a:t>反向击穿。</a:t>
            </a:r>
            <a:endParaRPr lang="zh-CN" altLang="en-US" sz="2400" dirty="0" smtClean="0">
              <a:ea typeface="宋体" panose="02010600030101010101" pitchFamily="2" charset="-122"/>
              <a:cs typeface="Times New Roman" panose="02020603050405020304" pitchFamily="18" charset="0"/>
            </a:endParaRPr>
          </a:p>
        </p:txBody>
      </p:sp>
      <p:grpSp>
        <p:nvGrpSpPr>
          <p:cNvPr id="2" name="Group 4"/>
          <p:cNvGrpSpPr/>
          <p:nvPr/>
        </p:nvGrpSpPr>
        <p:grpSpPr bwMode="auto">
          <a:xfrm>
            <a:off x="4860032" y="3023319"/>
            <a:ext cx="4265612" cy="3502025"/>
            <a:chOff x="3025" y="1298"/>
            <a:chExt cx="2687" cy="2206"/>
          </a:xfrm>
        </p:grpSpPr>
        <p:sp>
          <p:nvSpPr>
            <p:cNvPr id="50181" name="Freeform 5"/>
            <p:cNvSpPr/>
            <p:nvPr/>
          </p:nvSpPr>
          <p:spPr bwMode="auto">
            <a:xfrm>
              <a:off x="4379" y="1684"/>
              <a:ext cx="853" cy="841"/>
            </a:xfrm>
            <a:custGeom>
              <a:avLst/>
              <a:gdLst>
                <a:gd name="T0" fmla="*/ 853 w 853"/>
                <a:gd name="T1" fmla="*/ 0 h 841"/>
                <a:gd name="T2" fmla="*/ 792 w 853"/>
                <a:gd name="T3" fmla="*/ 389 h 841"/>
                <a:gd name="T4" fmla="*/ 693 w 853"/>
                <a:gd name="T5" fmla="*/ 636 h 841"/>
                <a:gd name="T6" fmla="*/ 575 w 853"/>
                <a:gd name="T7" fmla="*/ 714 h 841"/>
                <a:gd name="T8" fmla="*/ 493 w 853"/>
                <a:gd name="T9" fmla="*/ 745 h 841"/>
                <a:gd name="T10" fmla="*/ 420 w 853"/>
                <a:gd name="T11" fmla="*/ 777 h 841"/>
                <a:gd name="T12" fmla="*/ 306 w 853"/>
                <a:gd name="T13" fmla="*/ 808 h 841"/>
                <a:gd name="T14" fmla="*/ 193 w 853"/>
                <a:gd name="T15" fmla="*/ 818 h 841"/>
                <a:gd name="T16" fmla="*/ 0 w 853"/>
                <a:gd name="T17" fmla="*/ 841 h 8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53"/>
                <a:gd name="T28" fmla="*/ 0 h 841"/>
                <a:gd name="T29" fmla="*/ 853 w 853"/>
                <a:gd name="T30" fmla="*/ 841 h 8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53" h="841">
                  <a:moveTo>
                    <a:pt x="853" y="0"/>
                  </a:moveTo>
                  <a:cubicBezTo>
                    <a:pt x="845" y="65"/>
                    <a:pt x="819" y="283"/>
                    <a:pt x="792" y="389"/>
                  </a:cubicBezTo>
                  <a:cubicBezTo>
                    <a:pt x="765" y="495"/>
                    <a:pt x="729" y="582"/>
                    <a:pt x="693" y="636"/>
                  </a:cubicBezTo>
                  <a:cubicBezTo>
                    <a:pt x="657" y="690"/>
                    <a:pt x="608" y="696"/>
                    <a:pt x="575" y="714"/>
                  </a:cubicBezTo>
                  <a:cubicBezTo>
                    <a:pt x="542" y="732"/>
                    <a:pt x="519" y="734"/>
                    <a:pt x="493" y="745"/>
                  </a:cubicBezTo>
                  <a:cubicBezTo>
                    <a:pt x="467" y="756"/>
                    <a:pt x="451" y="766"/>
                    <a:pt x="420" y="777"/>
                  </a:cubicBezTo>
                  <a:cubicBezTo>
                    <a:pt x="389" y="788"/>
                    <a:pt x="344" y="801"/>
                    <a:pt x="306" y="808"/>
                  </a:cubicBezTo>
                  <a:cubicBezTo>
                    <a:pt x="268" y="815"/>
                    <a:pt x="244" y="812"/>
                    <a:pt x="193" y="818"/>
                  </a:cubicBezTo>
                  <a:cubicBezTo>
                    <a:pt x="142" y="824"/>
                    <a:pt x="40" y="836"/>
                    <a:pt x="0" y="841"/>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182" name="Freeform 6"/>
            <p:cNvSpPr/>
            <p:nvPr/>
          </p:nvSpPr>
          <p:spPr bwMode="auto">
            <a:xfrm>
              <a:off x="3141" y="2533"/>
              <a:ext cx="1213" cy="971"/>
            </a:xfrm>
            <a:custGeom>
              <a:avLst/>
              <a:gdLst>
                <a:gd name="T0" fmla="*/ 1213 w 1213"/>
                <a:gd name="T1" fmla="*/ 0 h 725"/>
                <a:gd name="T2" fmla="*/ 970 w 1213"/>
                <a:gd name="T3" fmla="*/ 192 h 725"/>
                <a:gd name="T4" fmla="*/ 453 w 1213"/>
                <a:gd name="T5" fmla="*/ 192 h 725"/>
                <a:gd name="T6" fmla="*/ 236 w 1213"/>
                <a:gd name="T7" fmla="*/ 192 h 725"/>
                <a:gd name="T8" fmla="*/ 102 w 1213"/>
                <a:gd name="T9" fmla="*/ 248 h 725"/>
                <a:gd name="T10" fmla="*/ 19 w 1213"/>
                <a:gd name="T11" fmla="*/ 518 h 725"/>
                <a:gd name="T12" fmla="*/ 0 w 1213"/>
                <a:gd name="T13" fmla="*/ 1741 h 725"/>
                <a:gd name="T14" fmla="*/ 0 60000 65536"/>
                <a:gd name="T15" fmla="*/ 0 60000 65536"/>
                <a:gd name="T16" fmla="*/ 0 60000 65536"/>
                <a:gd name="T17" fmla="*/ 0 60000 65536"/>
                <a:gd name="T18" fmla="*/ 0 60000 65536"/>
                <a:gd name="T19" fmla="*/ 0 60000 65536"/>
                <a:gd name="T20" fmla="*/ 0 60000 65536"/>
                <a:gd name="T21" fmla="*/ 0 w 1213"/>
                <a:gd name="T22" fmla="*/ 0 h 725"/>
                <a:gd name="T23" fmla="*/ 1213 w 1213"/>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3" h="725">
                  <a:moveTo>
                    <a:pt x="1213" y="0"/>
                  </a:moveTo>
                  <a:cubicBezTo>
                    <a:pt x="1173" y="12"/>
                    <a:pt x="1097" y="67"/>
                    <a:pt x="970" y="80"/>
                  </a:cubicBezTo>
                  <a:cubicBezTo>
                    <a:pt x="843" y="93"/>
                    <a:pt x="575" y="80"/>
                    <a:pt x="453" y="80"/>
                  </a:cubicBezTo>
                  <a:cubicBezTo>
                    <a:pt x="331" y="80"/>
                    <a:pt x="294" y="77"/>
                    <a:pt x="236" y="80"/>
                  </a:cubicBezTo>
                  <a:cubicBezTo>
                    <a:pt x="178" y="84"/>
                    <a:pt x="138" y="80"/>
                    <a:pt x="102" y="103"/>
                  </a:cubicBezTo>
                  <a:cubicBezTo>
                    <a:pt x="66" y="126"/>
                    <a:pt x="36" y="112"/>
                    <a:pt x="19" y="216"/>
                  </a:cubicBezTo>
                  <a:cubicBezTo>
                    <a:pt x="2" y="320"/>
                    <a:pt x="4" y="619"/>
                    <a:pt x="0" y="725"/>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183" name="Line 7"/>
            <p:cNvSpPr>
              <a:spLocks noChangeShapeType="1"/>
            </p:cNvSpPr>
            <p:nvPr/>
          </p:nvSpPr>
          <p:spPr bwMode="auto">
            <a:xfrm>
              <a:off x="3025" y="2530"/>
              <a:ext cx="235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4" name="Text Box 8"/>
            <p:cNvSpPr txBox="1">
              <a:spLocks noChangeArrowheads="1"/>
            </p:cNvSpPr>
            <p:nvPr/>
          </p:nvSpPr>
          <p:spPr bwMode="auto">
            <a:xfrm>
              <a:off x="5445" y="2354"/>
              <a:ext cx="2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50185" name="Line 9"/>
            <p:cNvSpPr>
              <a:spLocks noChangeShapeType="1"/>
            </p:cNvSpPr>
            <p:nvPr/>
          </p:nvSpPr>
          <p:spPr bwMode="auto">
            <a:xfrm flipV="1">
              <a:off x="4345" y="1464"/>
              <a:ext cx="0" cy="158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6" name="Text Box 10"/>
            <p:cNvSpPr txBox="1">
              <a:spLocks noChangeArrowheads="1"/>
            </p:cNvSpPr>
            <p:nvPr/>
          </p:nvSpPr>
          <p:spPr bwMode="auto">
            <a:xfrm>
              <a:off x="4431" y="1298"/>
              <a:ext cx="2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50187" name="Text Box 11"/>
            <p:cNvSpPr txBox="1">
              <a:spLocks noChangeArrowheads="1"/>
            </p:cNvSpPr>
            <p:nvPr/>
          </p:nvSpPr>
          <p:spPr bwMode="auto">
            <a:xfrm>
              <a:off x="4319" y="2521"/>
              <a:ext cx="2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t>O</a:t>
              </a:r>
              <a:endParaRPr kumimoji="1" lang="en-US" altLang="zh-CN" i="1"/>
            </a:p>
          </p:txBody>
        </p:sp>
        <p:sp>
          <p:nvSpPr>
            <p:cNvPr id="50188" name="Line 12"/>
            <p:cNvSpPr>
              <a:spLocks noChangeShapeType="1"/>
            </p:cNvSpPr>
            <p:nvPr/>
          </p:nvSpPr>
          <p:spPr bwMode="auto">
            <a:xfrm>
              <a:off x="3141" y="2538"/>
              <a:ext cx="0" cy="24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9" name="Text Box 13"/>
            <p:cNvSpPr txBox="1">
              <a:spLocks noChangeArrowheads="1"/>
            </p:cNvSpPr>
            <p:nvPr/>
          </p:nvSpPr>
          <p:spPr bwMode="auto">
            <a:xfrm>
              <a:off x="3035" y="2228"/>
              <a:ext cx="3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BR</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9">
                                            <p:txEl>
                                              <p:pRg st="1" end="1"/>
                                            </p:txEl>
                                          </p:spTgt>
                                        </p:tgtEl>
                                        <p:attrNameLst>
                                          <p:attrName>style.visibility</p:attrName>
                                        </p:attrNameLst>
                                      </p:cBhvr>
                                      <p:to>
                                        <p:strVal val="visible"/>
                                      </p:to>
                                    </p:set>
                                    <p:anim calcmode="lin" valueType="num">
                                      <p:cBhvr additive="base">
                                        <p:cTn id="7" dur="500" fill="hold"/>
                                        <p:tgtEl>
                                          <p:spTgt spid="501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1" end="1"/>
                                            </p:txEl>
                                          </p:spTgt>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anim calcmode="lin" valueType="num">
                                      <p:cBhvr additive="base">
                                        <p:cTn id="15" dur="500" fill="hold"/>
                                        <p:tgtEl>
                                          <p:spTgt spid="5017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1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31</a:t>
            </a:r>
            <a:r>
              <a:rPr lang="zh-CN" altLang="en-US" sz="2800" smtClean="0">
                <a:ea typeface="宋体" panose="02010600030101010101" pitchFamily="2" charset="-122"/>
              </a:rPr>
              <a:t>）</a:t>
            </a:r>
            <a:endParaRPr lang="zh-CN" altLang="en-US" sz="3200" smtClean="0">
              <a:ea typeface="楷体_GB2312" pitchFamily="49" charset="-122"/>
            </a:endParaRPr>
          </a:p>
        </p:txBody>
      </p:sp>
      <p:sp>
        <p:nvSpPr>
          <p:cNvPr id="3" name="灯片编号占位符 2"/>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61444" name="Text Box 4"/>
          <p:cNvSpPr txBox="1">
            <a:spLocks noChangeArrowheads="1"/>
          </p:cNvSpPr>
          <p:nvPr/>
        </p:nvSpPr>
        <p:spPr bwMode="auto">
          <a:xfrm>
            <a:off x="427484" y="782067"/>
            <a:ext cx="3586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2"/>
                </a:solidFill>
                <a:latin typeface="Times New Roman" panose="02020603050405020304" pitchFamily="18" charset="0"/>
                <a:cs typeface="Times New Roman" panose="02020603050405020304" pitchFamily="18" charset="0"/>
              </a:rPr>
              <a:t>1. </a:t>
            </a:r>
            <a:r>
              <a:rPr kumimoji="1" lang="zh-CN" altLang="en-US" sz="2400" b="1" dirty="0">
                <a:solidFill>
                  <a:schemeClr val="tx2"/>
                </a:solidFill>
                <a:latin typeface="Times New Roman" panose="02020603050405020304" pitchFamily="18" charset="0"/>
                <a:cs typeface="Times New Roman" panose="02020603050405020304" pitchFamily="18" charset="0"/>
              </a:rPr>
              <a:t>稳压二极管的电路符号</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2" name="Group 5"/>
          <p:cNvGrpSpPr/>
          <p:nvPr/>
        </p:nvGrpSpPr>
        <p:grpSpPr bwMode="auto">
          <a:xfrm>
            <a:off x="1246634" y="1169417"/>
            <a:ext cx="1466850" cy="2185987"/>
            <a:chOff x="278" y="730"/>
            <a:chExt cx="924" cy="1377"/>
          </a:xfrm>
        </p:grpSpPr>
        <p:sp>
          <p:nvSpPr>
            <p:cNvPr id="51240" name="Text Box 6"/>
            <p:cNvSpPr txBox="1">
              <a:spLocks noChangeArrowheads="1"/>
            </p:cNvSpPr>
            <p:nvPr/>
          </p:nvSpPr>
          <p:spPr bwMode="auto">
            <a:xfrm>
              <a:off x="356" y="1857"/>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000"/>
            </a:p>
          </p:txBody>
        </p:sp>
        <p:grpSp>
          <p:nvGrpSpPr>
            <p:cNvPr id="51241" name="Group 7"/>
            <p:cNvGrpSpPr/>
            <p:nvPr/>
          </p:nvGrpSpPr>
          <p:grpSpPr bwMode="auto">
            <a:xfrm>
              <a:off x="278" y="730"/>
              <a:ext cx="924" cy="999"/>
              <a:chOff x="278" y="730"/>
              <a:chExt cx="924" cy="999"/>
            </a:xfrm>
          </p:grpSpPr>
          <p:grpSp>
            <p:nvGrpSpPr>
              <p:cNvPr id="51242" name="Group 8"/>
              <p:cNvGrpSpPr/>
              <p:nvPr/>
            </p:nvGrpSpPr>
            <p:grpSpPr bwMode="auto">
              <a:xfrm>
                <a:off x="576" y="1056"/>
                <a:ext cx="288" cy="624"/>
                <a:chOff x="3984" y="1536"/>
                <a:chExt cx="177" cy="394"/>
              </a:xfrm>
            </p:grpSpPr>
            <p:grpSp>
              <p:nvGrpSpPr>
                <p:cNvPr id="51249" name="Group 9"/>
                <p:cNvGrpSpPr>
                  <a:grpSpLocks noChangeAspect="1"/>
                </p:cNvGrpSpPr>
                <p:nvPr/>
              </p:nvGrpSpPr>
              <p:grpSpPr bwMode="auto">
                <a:xfrm>
                  <a:off x="3984" y="1536"/>
                  <a:ext cx="172" cy="394"/>
                  <a:chOff x="3264" y="1452"/>
                  <a:chExt cx="288" cy="658"/>
                </a:xfrm>
              </p:grpSpPr>
              <p:sp>
                <p:nvSpPr>
                  <p:cNvPr id="51251" name="AutoShape 10"/>
                  <p:cNvSpPr>
                    <a:spLocks noChangeAspect="1" noChangeArrowheads="1"/>
                  </p:cNvSpPr>
                  <p:nvPr/>
                </p:nvSpPr>
                <p:spPr bwMode="auto">
                  <a:xfrm>
                    <a:off x="3264"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252" name="Line 11"/>
                  <p:cNvSpPr>
                    <a:spLocks noChangeAspect="1"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53" name="Line 12"/>
                  <p:cNvSpPr>
                    <a:spLocks noChangeAspect="1" noChangeShapeType="1"/>
                  </p:cNvSpPr>
                  <p:nvPr/>
                </p:nvSpPr>
                <p:spPr bwMode="auto">
                  <a:xfrm>
                    <a:off x="3408" y="1452"/>
                    <a:ext cx="0" cy="65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50" name="Line 13"/>
                <p:cNvSpPr>
                  <a:spLocks noChangeShapeType="1"/>
                </p:cNvSpPr>
                <p:nvPr/>
              </p:nvSpPr>
              <p:spPr bwMode="auto">
                <a:xfrm>
                  <a:off x="4161" y="1644"/>
                  <a:ext cx="0" cy="6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43" name="Text Box 14"/>
              <p:cNvSpPr txBox="1">
                <a:spLocks noChangeArrowheads="1"/>
              </p:cNvSpPr>
              <p:nvPr/>
            </p:nvSpPr>
            <p:spPr bwMode="auto">
              <a:xfrm>
                <a:off x="278" y="1257"/>
                <a:ext cx="3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Z</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1244" name="Text Box 15"/>
              <p:cNvSpPr txBox="1">
                <a:spLocks noChangeArrowheads="1"/>
              </p:cNvSpPr>
              <p:nvPr/>
            </p:nvSpPr>
            <p:spPr bwMode="auto">
              <a:xfrm>
                <a:off x="902" y="1017"/>
                <a:ext cx="2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51245" name="Text Box 16"/>
              <p:cNvSpPr txBox="1">
                <a:spLocks noChangeArrowheads="1"/>
              </p:cNvSpPr>
              <p:nvPr/>
            </p:nvSpPr>
            <p:spPr bwMode="auto">
              <a:xfrm>
                <a:off x="904" y="1479"/>
                <a:ext cx="1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51246" name="Text Box 17"/>
              <p:cNvSpPr txBox="1">
                <a:spLocks noChangeArrowheads="1"/>
              </p:cNvSpPr>
              <p:nvPr/>
            </p:nvSpPr>
            <p:spPr bwMode="auto">
              <a:xfrm>
                <a:off x="893" y="1135"/>
                <a:ext cx="30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u</a:t>
                </a:r>
                <a:r>
                  <a:rPr kumimoji="1" lang="en-US" altLang="zh-CN" sz="2800" b="1" baseline="-25000">
                    <a:solidFill>
                      <a:schemeClr val="tx2"/>
                    </a:solidFill>
                    <a:latin typeface="Times New Roman" panose="02020603050405020304" pitchFamily="18" charset="0"/>
                    <a:cs typeface="Times New Roman" panose="02020603050405020304" pitchFamily="18" charset="0"/>
                  </a:rPr>
                  <a:t>z</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sp>
            <p:nvSpPr>
              <p:cNvPr id="51247" name="Line 18"/>
              <p:cNvSpPr>
                <a:spLocks noChangeShapeType="1"/>
              </p:cNvSpPr>
              <p:nvPr/>
            </p:nvSpPr>
            <p:spPr bwMode="auto">
              <a:xfrm>
                <a:off x="624" y="912"/>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8" name="Text Box 19"/>
              <p:cNvSpPr txBox="1">
                <a:spLocks noChangeArrowheads="1"/>
              </p:cNvSpPr>
              <p:nvPr/>
            </p:nvSpPr>
            <p:spPr bwMode="auto">
              <a:xfrm>
                <a:off x="353" y="730"/>
                <a:ext cx="24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i</a:t>
                </a:r>
                <a:r>
                  <a:rPr kumimoji="1" lang="en-US" altLang="zh-CN" sz="2800" b="1" baseline="-25000">
                    <a:solidFill>
                      <a:schemeClr val="tx2"/>
                    </a:solidFill>
                    <a:latin typeface="Times New Roman" panose="02020603050405020304" pitchFamily="18" charset="0"/>
                    <a:cs typeface="Times New Roman" panose="02020603050405020304" pitchFamily="18" charset="0"/>
                  </a:rPr>
                  <a:t>z</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grpSp>
      </p:grpSp>
      <p:grpSp>
        <p:nvGrpSpPr>
          <p:cNvPr id="6" name="Group 20"/>
          <p:cNvGrpSpPr/>
          <p:nvPr/>
        </p:nvGrpSpPr>
        <p:grpSpPr bwMode="auto">
          <a:xfrm>
            <a:off x="2823021" y="1240854"/>
            <a:ext cx="1604963" cy="2116138"/>
            <a:chOff x="1488" y="774"/>
            <a:chExt cx="1011" cy="1333"/>
          </a:xfrm>
        </p:grpSpPr>
        <p:sp>
          <p:nvSpPr>
            <p:cNvPr id="51225" name="Text Box 21"/>
            <p:cNvSpPr txBox="1">
              <a:spLocks noChangeArrowheads="1"/>
            </p:cNvSpPr>
            <p:nvPr/>
          </p:nvSpPr>
          <p:spPr bwMode="auto">
            <a:xfrm>
              <a:off x="1718" y="1857"/>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000"/>
            </a:p>
          </p:txBody>
        </p:sp>
        <p:grpSp>
          <p:nvGrpSpPr>
            <p:cNvPr id="51226" name="Group 22"/>
            <p:cNvGrpSpPr/>
            <p:nvPr/>
          </p:nvGrpSpPr>
          <p:grpSpPr bwMode="auto">
            <a:xfrm>
              <a:off x="1488" y="774"/>
              <a:ext cx="1011" cy="981"/>
              <a:chOff x="1488" y="774"/>
              <a:chExt cx="1011" cy="981"/>
            </a:xfrm>
          </p:grpSpPr>
          <p:grpSp>
            <p:nvGrpSpPr>
              <p:cNvPr id="51227" name="Group 23"/>
              <p:cNvGrpSpPr/>
              <p:nvPr/>
            </p:nvGrpSpPr>
            <p:grpSpPr bwMode="auto">
              <a:xfrm>
                <a:off x="1776" y="1104"/>
                <a:ext cx="432" cy="576"/>
                <a:chOff x="2256" y="2160"/>
                <a:chExt cx="261" cy="394"/>
              </a:xfrm>
            </p:grpSpPr>
            <p:grpSp>
              <p:nvGrpSpPr>
                <p:cNvPr id="51234" name="Group 24"/>
                <p:cNvGrpSpPr>
                  <a:grpSpLocks noChangeAspect="1"/>
                </p:cNvGrpSpPr>
                <p:nvPr/>
              </p:nvGrpSpPr>
              <p:grpSpPr bwMode="auto">
                <a:xfrm>
                  <a:off x="2304" y="2160"/>
                  <a:ext cx="172" cy="394"/>
                  <a:chOff x="3264" y="1452"/>
                  <a:chExt cx="288" cy="658"/>
                </a:xfrm>
              </p:grpSpPr>
              <p:sp>
                <p:nvSpPr>
                  <p:cNvPr id="51237" name="AutoShape 25"/>
                  <p:cNvSpPr>
                    <a:spLocks noChangeAspect="1" noChangeArrowheads="1"/>
                  </p:cNvSpPr>
                  <p:nvPr/>
                </p:nvSpPr>
                <p:spPr bwMode="auto">
                  <a:xfrm>
                    <a:off x="3264" y="1632"/>
                    <a:ext cx="288" cy="240"/>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238" name="Line 26"/>
                  <p:cNvSpPr>
                    <a:spLocks noChangeAspect="1" noChangeShapeType="1"/>
                  </p:cNvSpPr>
                  <p:nvPr/>
                </p:nvSpPr>
                <p:spPr bwMode="auto">
                  <a:xfrm>
                    <a:off x="3264" y="163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9" name="Line 27"/>
                  <p:cNvSpPr>
                    <a:spLocks noChangeAspect="1" noChangeShapeType="1"/>
                  </p:cNvSpPr>
                  <p:nvPr/>
                </p:nvSpPr>
                <p:spPr bwMode="auto">
                  <a:xfrm>
                    <a:off x="3408" y="1452"/>
                    <a:ext cx="0" cy="65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35" name="Line 28"/>
                <p:cNvSpPr>
                  <a:spLocks noChangeShapeType="1"/>
                </p:cNvSpPr>
                <p:nvPr/>
              </p:nvSpPr>
              <p:spPr bwMode="auto">
                <a:xfrm flipV="1">
                  <a:off x="2256" y="2264"/>
                  <a:ext cx="48" cy="4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6" name="Line 29"/>
                <p:cNvSpPr>
                  <a:spLocks noChangeShapeType="1"/>
                </p:cNvSpPr>
                <p:nvPr/>
              </p:nvSpPr>
              <p:spPr bwMode="auto">
                <a:xfrm flipV="1">
                  <a:off x="2469" y="2217"/>
                  <a:ext cx="48" cy="4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28" name="Text Box 30"/>
              <p:cNvSpPr txBox="1">
                <a:spLocks noChangeArrowheads="1"/>
              </p:cNvSpPr>
              <p:nvPr/>
            </p:nvSpPr>
            <p:spPr bwMode="auto">
              <a:xfrm>
                <a:off x="1488" y="1231"/>
                <a:ext cx="3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Z</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1229" name="Text Box 31"/>
              <p:cNvSpPr txBox="1">
                <a:spLocks noChangeArrowheads="1"/>
              </p:cNvSpPr>
              <p:nvPr/>
            </p:nvSpPr>
            <p:spPr bwMode="auto">
              <a:xfrm>
                <a:off x="2208" y="1039"/>
                <a:ext cx="2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51230" name="Text Box 32"/>
              <p:cNvSpPr txBox="1">
                <a:spLocks noChangeArrowheads="1"/>
              </p:cNvSpPr>
              <p:nvPr/>
            </p:nvSpPr>
            <p:spPr bwMode="auto">
              <a:xfrm>
                <a:off x="2208" y="1505"/>
                <a:ext cx="1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51231" name="Text Box 33"/>
              <p:cNvSpPr txBox="1">
                <a:spLocks noChangeArrowheads="1"/>
              </p:cNvSpPr>
              <p:nvPr/>
            </p:nvSpPr>
            <p:spPr bwMode="auto">
              <a:xfrm>
                <a:off x="2190" y="1134"/>
                <a:ext cx="30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u</a:t>
                </a:r>
                <a:r>
                  <a:rPr kumimoji="1" lang="en-US" altLang="zh-CN" sz="2800" b="1" baseline="-25000">
                    <a:solidFill>
                      <a:schemeClr val="tx2"/>
                    </a:solidFill>
                    <a:latin typeface="Times New Roman" panose="02020603050405020304" pitchFamily="18" charset="0"/>
                    <a:cs typeface="Times New Roman" panose="02020603050405020304" pitchFamily="18" charset="0"/>
                  </a:rPr>
                  <a:t>z</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sp>
            <p:nvSpPr>
              <p:cNvPr id="51232" name="Text Box 34"/>
              <p:cNvSpPr txBox="1">
                <a:spLocks noChangeArrowheads="1"/>
              </p:cNvSpPr>
              <p:nvPr/>
            </p:nvSpPr>
            <p:spPr bwMode="auto">
              <a:xfrm>
                <a:off x="1650" y="774"/>
                <a:ext cx="24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i</a:t>
                </a:r>
                <a:r>
                  <a:rPr kumimoji="1" lang="en-US" altLang="zh-CN" sz="2800" b="1" baseline="-25000">
                    <a:solidFill>
                      <a:schemeClr val="tx2"/>
                    </a:solidFill>
                    <a:latin typeface="Times New Roman" panose="02020603050405020304" pitchFamily="18" charset="0"/>
                    <a:cs typeface="Times New Roman" panose="02020603050405020304" pitchFamily="18" charset="0"/>
                  </a:rPr>
                  <a:t>z</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sp>
            <p:nvSpPr>
              <p:cNvPr id="51233" name="Line 35"/>
              <p:cNvSpPr>
                <a:spLocks noChangeShapeType="1"/>
              </p:cNvSpPr>
              <p:nvPr/>
            </p:nvSpPr>
            <p:spPr bwMode="auto">
              <a:xfrm>
                <a:off x="1940" y="960"/>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61476" name="Text Box 36"/>
          <p:cNvSpPr txBox="1">
            <a:spLocks noChangeArrowheads="1"/>
          </p:cNvSpPr>
          <p:nvPr/>
        </p:nvSpPr>
        <p:spPr bwMode="auto">
          <a:xfrm>
            <a:off x="452834" y="2862100"/>
            <a:ext cx="2967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2. </a:t>
            </a:r>
            <a:r>
              <a:rPr kumimoji="1" lang="zh-CN" altLang="en-US" sz="2400" b="1">
                <a:solidFill>
                  <a:schemeClr val="tx2"/>
                </a:solidFill>
                <a:latin typeface="Times New Roman" panose="02020603050405020304" pitchFamily="18" charset="0"/>
                <a:cs typeface="Times New Roman" panose="02020603050405020304" pitchFamily="18" charset="0"/>
              </a:rPr>
              <a:t>稳压二极管的特性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10" name="Group 37"/>
          <p:cNvGrpSpPr/>
          <p:nvPr/>
        </p:nvGrpSpPr>
        <p:grpSpPr bwMode="auto">
          <a:xfrm>
            <a:off x="4953000" y="772519"/>
            <a:ext cx="4089400" cy="2366963"/>
            <a:chOff x="3120" y="957"/>
            <a:chExt cx="2576" cy="1491"/>
          </a:xfrm>
        </p:grpSpPr>
        <p:sp>
          <p:nvSpPr>
            <p:cNvPr id="51220" name="Line 38"/>
            <p:cNvSpPr>
              <a:spLocks noChangeShapeType="1"/>
            </p:cNvSpPr>
            <p:nvPr/>
          </p:nvSpPr>
          <p:spPr bwMode="auto">
            <a:xfrm>
              <a:off x="3120" y="2016"/>
              <a:ext cx="235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1" name="Line 39"/>
            <p:cNvSpPr>
              <a:spLocks noChangeShapeType="1"/>
            </p:cNvSpPr>
            <p:nvPr/>
          </p:nvSpPr>
          <p:spPr bwMode="auto">
            <a:xfrm flipV="1">
              <a:off x="3648" y="1033"/>
              <a:ext cx="0" cy="1415"/>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2" name="Text Box 40"/>
            <p:cNvSpPr txBox="1">
              <a:spLocks noChangeArrowheads="1"/>
            </p:cNvSpPr>
            <p:nvPr/>
          </p:nvSpPr>
          <p:spPr bwMode="auto">
            <a:xfrm>
              <a:off x="3690" y="957"/>
              <a:ext cx="24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dirty="0" err="1">
                  <a:solidFill>
                    <a:schemeClr val="tx2"/>
                  </a:solidFill>
                  <a:latin typeface="Times New Roman" panose="02020603050405020304" pitchFamily="18" charset="0"/>
                  <a:cs typeface="Times New Roman" panose="02020603050405020304" pitchFamily="18" charset="0"/>
                </a:rPr>
                <a:t>i</a:t>
              </a:r>
              <a:r>
                <a:rPr kumimoji="1" lang="en-US" altLang="zh-CN" sz="2800" b="1" baseline="-25000" dirty="0" err="1">
                  <a:solidFill>
                    <a:schemeClr val="tx2"/>
                  </a:solidFill>
                  <a:latin typeface="Times New Roman" panose="02020603050405020304" pitchFamily="18" charset="0"/>
                  <a:cs typeface="Times New Roman" panose="02020603050405020304" pitchFamily="18" charset="0"/>
                </a:rPr>
                <a:t>z</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51223" name="Text Box 41"/>
            <p:cNvSpPr txBox="1">
              <a:spLocks noChangeArrowheads="1"/>
            </p:cNvSpPr>
            <p:nvPr/>
          </p:nvSpPr>
          <p:spPr bwMode="auto">
            <a:xfrm>
              <a:off x="5414" y="1926"/>
              <a:ext cx="2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z</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51224" name="Text Box 42"/>
            <p:cNvSpPr txBox="1">
              <a:spLocks noChangeArrowheads="1"/>
            </p:cNvSpPr>
            <p:nvPr/>
          </p:nvSpPr>
          <p:spPr bwMode="auto">
            <a:xfrm>
              <a:off x="3638" y="2029"/>
              <a:ext cx="2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t>O</a:t>
              </a:r>
              <a:endParaRPr kumimoji="1" lang="en-US" altLang="zh-CN" i="1"/>
            </a:p>
          </p:txBody>
        </p:sp>
      </p:grpSp>
      <p:sp>
        <p:nvSpPr>
          <p:cNvPr id="61483" name="Freeform 43"/>
          <p:cNvSpPr/>
          <p:nvPr/>
        </p:nvSpPr>
        <p:spPr bwMode="auto">
          <a:xfrm>
            <a:off x="5791200" y="2225080"/>
            <a:ext cx="1524000" cy="228600"/>
          </a:xfrm>
          <a:custGeom>
            <a:avLst/>
            <a:gdLst>
              <a:gd name="T0" fmla="*/ 2147483647 w 960"/>
              <a:gd name="T1" fmla="*/ 0 h 144"/>
              <a:gd name="T2" fmla="*/ 2147483647 w 960"/>
              <a:gd name="T3" fmla="*/ 2147483647 h 144"/>
              <a:gd name="T4" fmla="*/ 2147483647 w 960"/>
              <a:gd name="T5" fmla="*/ 2147483647 h 144"/>
              <a:gd name="T6" fmla="*/ 2147483647 w 960"/>
              <a:gd name="T7" fmla="*/ 2147483647 h 144"/>
              <a:gd name="T8" fmla="*/ 2147483647 w 960"/>
              <a:gd name="T9" fmla="*/ 2147483647 h 144"/>
              <a:gd name="T10" fmla="*/ 0 w 960"/>
              <a:gd name="T11" fmla="*/ 2147483647 h 144"/>
              <a:gd name="T12" fmla="*/ 0 60000 65536"/>
              <a:gd name="T13" fmla="*/ 0 60000 65536"/>
              <a:gd name="T14" fmla="*/ 0 60000 65536"/>
              <a:gd name="T15" fmla="*/ 0 60000 65536"/>
              <a:gd name="T16" fmla="*/ 0 60000 65536"/>
              <a:gd name="T17" fmla="*/ 0 60000 65536"/>
              <a:gd name="T18" fmla="*/ 0 w 960"/>
              <a:gd name="T19" fmla="*/ 0 h 144"/>
              <a:gd name="T20" fmla="*/ 960 w 960"/>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960" h="144">
                <a:moveTo>
                  <a:pt x="960" y="0"/>
                </a:moveTo>
                <a:cubicBezTo>
                  <a:pt x="951" y="12"/>
                  <a:pt x="926" y="58"/>
                  <a:pt x="903" y="73"/>
                </a:cubicBezTo>
                <a:cubicBezTo>
                  <a:pt x="880" y="88"/>
                  <a:pt x="864" y="86"/>
                  <a:pt x="821" y="93"/>
                </a:cubicBezTo>
                <a:cubicBezTo>
                  <a:pt x="778" y="100"/>
                  <a:pt x="693" y="110"/>
                  <a:pt x="645" y="114"/>
                </a:cubicBezTo>
                <a:cubicBezTo>
                  <a:pt x="597" y="118"/>
                  <a:pt x="638" y="109"/>
                  <a:pt x="531" y="114"/>
                </a:cubicBezTo>
                <a:cubicBezTo>
                  <a:pt x="424" y="119"/>
                  <a:pt x="111" y="138"/>
                  <a:pt x="0" y="144"/>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4" name="Line 44"/>
          <p:cNvSpPr>
            <a:spLocks noChangeShapeType="1"/>
          </p:cNvSpPr>
          <p:nvPr/>
        </p:nvSpPr>
        <p:spPr bwMode="auto">
          <a:xfrm>
            <a:off x="7315200" y="548680"/>
            <a:ext cx="0" cy="1676400"/>
          </a:xfrm>
          <a:prstGeom prst="line">
            <a:avLst/>
          </a:prstGeom>
          <a:noFill/>
          <a:ln w="3810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5" name="Freeform 45"/>
          <p:cNvSpPr/>
          <p:nvPr/>
        </p:nvSpPr>
        <p:spPr bwMode="auto">
          <a:xfrm>
            <a:off x="5124450" y="2453680"/>
            <a:ext cx="666750" cy="839788"/>
          </a:xfrm>
          <a:custGeom>
            <a:avLst/>
            <a:gdLst>
              <a:gd name="T0" fmla="*/ 2147483647 w 420"/>
              <a:gd name="T1" fmla="*/ 2147483647 h 529"/>
              <a:gd name="T2" fmla="*/ 2147483647 w 420"/>
              <a:gd name="T3" fmla="*/ 2147483647 h 529"/>
              <a:gd name="T4" fmla="*/ 2147483647 w 420"/>
              <a:gd name="T5" fmla="*/ 2147483647 h 529"/>
              <a:gd name="T6" fmla="*/ 0 w 420"/>
              <a:gd name="T7" fmla="*/ 2147483647 h 529"/>
              <a:gd name="T8" fmla="*/ 0 60000 65536"/>
              <a:gd name="T9" fmla="*/ 0 60000 65536"/>
              <a:gd name="T10" fmla="*/ 0 60000 65536"/>
              <a:gd name="T11" fmla="*/ 0 60000 65536"/>
              <a:gd name="T12" fmla="*/ 0 w 420"/>
              <a:gd name="T13" fmla="*/ 0 h 529"/>
              <a:gd name="T14" fmla="*/ 420 w 420"/>
              <a:gd name="T15" fmla="*/ 529 h 529"/>
            </a:gdLst>
            <a:ahLst/>
            <a:cxnLst>
              <a:cxn ang="T8">
                <a:pos x="T0" y="T1"/>
              </a:cxn>
              <a:cxn ang="T9">
                <a:pos x="T2" y="T3"/>
              </a:cxn>
              <a:cxn ang="T10">
                <a:pos x="T4" y="T5"/>
              </a:cxn>
              <a:cxn ang="T11">
                <a:pos x="T6" y="T7"/>
              </a:cxn>
            </a:cxnLst>
            <a:rect l="T12" t="T13" r="T14" b="T15"/>
            <a:pathLst>
              <a:path w="420" h="529">
                <a:moveTo>
                  <a:pt x="420" y="1"/>
                </a:moveTo>
                <a:cubicBezTo>
                  <a:pt x="396" y="5"/>
                  <a:pt x="322" y="9"/>
                  <a:pt x="276" y="23"/>
                </a:cubicBezTo>
                <a:cubicBezTo>
                  <a:pt x="230" y="37"/>
                  <a:pt x="187" y="0"/>
                  <a:pt x="141" y="84"/>
                </a:cubicBezTo>
                <a:cubicBezTo>
                  <a:pt x="95" y="168"/>
                  <a:pt x="35" y="347"/>
                  <a:pt x="0" y="529"/>
                </a:cubicBezTo>
              </a:path>
            </a:pathLst>
          </a:cu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6" name="Text Box 46"/>
          <p:cNvSpPr txBox="1">
            <a:spLocks noChangeArrowheads="1"/>
          </p:cNvSpPr>
          <p:nvPr/>
        </p:nvSpPr>
        <p:spPr bwMode="auto">
          <a:xfrm>
            <a:off x="609600" y="3284984"/>
            <a:ext cx="822801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当稳压二极管处于正向偏置时，其特性和普通二极管相同。</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61487" name="Text Box 47"/>
          <p:cNvSpPr txBox="1">
            <a:spLocks noChangeArrowheads="1"/>
          </p:cNvSpPr>
          <p:nvPr/>
        </p:nvSpPr>
        <p:spPr bwMode="auto">
          <a:xfrm>
            <a:off x="600075" y="3677096"/>
            <a:ext cx="81534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当稳压二极管处于反向偏置时，如果电压较小，则二极管处于截止状态，电流近似为 </a:t>
            </a:r>
            <a:r>
              <a:rPr kumimoji="1" lang="en-US" altLang="zh-CN" sz="2400" b="1">
                <a:solidFill>
                  <a:schemeClr val="tx2"/>
                </a:solidFill>
                <a:latin typeface="Times New Roman" panose="02020603050405020304" pitchFamily="18" charset="0"/>
                <a:cs typeface="Times New Roman" panose="02020603050405020304" pitchFamily="18" charset="0"/>
              </a:rPr>
              <a:t>0</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1488" name="Rectangle 48"/>
          <p:cNvSpPr>
            <a:spLocks noChangeArrowheads="1"/>
          </p:cNvSpPr>
          <p:nvPr/>
        </p:nvSpPr>
        <p:spPr bwMode="auto">
          <a:xfrm>
            <a:off x="604838" y="4624834"/>
            <a:ext cx="8061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kumimoji="1" lang="zh-CN" altLang="en-US" sz="2400" b="1" dirty="0">
                <a:solidFill>
                  <a:schemeClr val="tx2"/>
                </a:solidFill>
                <a:latin typeface="Times New Roman" panose="02020603050405020304" pitchFamily="18" charset="0"/>
                <a:cs typeface="Times New Roman" panose="02020603050405020304" pitchFamily="18" charset="0"/>
              </a:rPr>
              <a:t>如果电压达到击穿电压值时，电流迅速增大，稳压二极管处于稳压状态。</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11" name="Group 49"/>
          <p:cNvGrpSpPr/>
          <p:nvPr/>
        </p:nvGrpSpPr>
        <p:grpSpPr bwMode="auto">
          <a:xfrm>
            <a:off x="7070725" y="2148880"/>
            <a:ext cx="544513" cy="766763"/>
            <a:chOff x="4454" y="1824"/>
            <a:chExt cx="343" cy="483"/>
          </a:xfrm>
        </p:grpSpPr>
        <p:sp>
          <p:nvSpPr>
            <p:cNvPr id="51218" name="Line 50"/>
            <p:cNvSpPr>
              <a:spLocks noChangeShapeType="1"/>
            </p:cNvSpPr>
            <p:nvPr/>
          </p:nvSpPr>
          <p:spPr bwMode="auto">
            <a:xfrm>
              <a:off x="4608" y="1824"/>
              <a:ext cx="0" cy="192"/>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9" name="Text Box 51"/>
            <p:cNvSpPr txBox="1">
              <a:spLocks noChangeArrowheads="1"/>
            </p:cNvSpPr>
            <p:nvPr/>
          </p:nvSpPr>
          <p:spPr bwMode="auto">
            <a:xfrm>
              <a:off x="4454" y="2016"/>
              <a:ext cx="3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dirty="0">
                  <a:solidFill>
                    <a:schemeClr val="tx2"/>
                  </a:solidFill>
                  <a:latin typeface="Times New Roman" panose="02020603050405020304" pitchFamily="18" charset="0"/>
                  <a:cs typeface="Times New Roman" panose="02020603050405020304" pitchFamily="18" charset="0"/>
                </a:rPr>
                <a:t>U</a:t>
              </a:r>
              <a:r>
                <a:rPr kumimoji="1" lang="en-US" altLang="zh-CN" sz="2400" b="1" baseline="-25000" dirty="0">
                  <a:solidFill>
                    <a:schemeClr val="tx2"/>
                  </a:solidFill>
                  <a:latin typeface="Times New Roman" panose="02020603050405020304" pitchFamily="18" charset="0"/>
                  <a:cs typeface="Times New Roman" panose="02020603050405020304" pitchFamily="18" charset="0"/>
                </a:rPr>
                <a:t>Z</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p:txBody>
        </p:sp>
      </p:grpSp>
      <p:sp>
        <p:nvSpPr>
          <p:cNvPr id="61492" name="Text Box 52"/>
          <p:cNvSpPr txBox="1">
            <a:spLocks noChangeArrowheads="1"/>
          </p:cNvSpPr>
          <p:nvPr/>
        </p:nvSpPr>
        <p:spPr bwMode="auto">
          <a:xfrm>
            <a:off x="1687513" y="5328816"/>
            <a:ext cx="7554912"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b="1" dirty="0">
                <a:solidFill>
                  <a:schemeClr val="tx2"/>
                </a:solidFill>
                <a:latin typeface="Times New Roman" panose="02020603050405020304" pitchFamily="18" charset="0"/>
                <a:cs typeface="Times New Roman" panose="02020603050405020304" pitchFamily="18" charset="0"/>
              </a:rPr>
              <a:t>1</a:t>
            </a:r>
            <a:r>
              <a:rPr kumimoji="1" lang="zh-CN" altLang="en-US" sz="2400" b="1" dirty="0">
                <a:solidFill>
                  <a:schemeClr val="tx2"/>
                </a:solidFill>
                <a:latin typeface="Times New Roman" panose="02020603050405020304" pitchFamily="18" charset="0"/>
                <a:cs typeface="Times New Roman" panose="02020603050405020304" pitchFamily="18" charset="0"/>
              </a:rPr>
              <a:t>）</a:t>
            </a:r>
            <a:r>
              <a:rPr kumimoji="1" lang="en-US" altLang="zh-CN" sz="2400" b="1" dirty="0">
                <a:solidFill>
                  <a:schemeClr val="tx2"/>
                </a:solidFill>
                <a:latin typeface="Times New Roman" panose="02020603050405020304" pitchFamily="18" charset="0"/>
                <a:cs typeface="Times New Roman" panose="02020603050405020304" pitchFamily="18" charset="0"/>
              </a:rPr>
              <a:t>PN</a:t>
            </a:r>
            <a:r>
              <a:rPr kumimoji="1" lang="zh-CN" altLang="en-US" sz="2400" b="1" dirty="0">
                <a:solidFill>
                  <a:schemeClr val="tx2"/>
                </a:solidFill>
                <a:latin typeface="Times New Roman" panose="02020603050405020304" pitchFamily="18" charset="0"/>
                <a:cs typeface="Times New Roman" panose="02020603050405020304" pitchFamily="18" charset="0"/>
              </a:rPr>
              <a:t>结易于击穿（击穿电压比普通二极管低很多）。</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130000"/>
              </a:lnSpc>
            </a:pPr>
            <a:r>
              <a:rPr kumimoji="1" lang="en-US" altLang="zh-CN" sz="2400" b="1" dirty="0">
                <a:solidFill>
                  <a:schemeClr val="tx2"/>
                </a:solidFill>
                <a:latin typeface="Times New Roman" panose="02020603050405020304" pitchFamily="18" charset="0"/>
                <a:cs typeface="Times New Roman" panose="02020603050405020304" pitchFamily="18" charset="0"/>
              </a:rPr>
              <a:t>2</a:t>
            </a:r>
            <a:r>
              <a:rPr kumimoji="1" lang="zh-CN" altLang="en-US" sz="2400" b="1" dirty="0">
                <a:solidFill>
                  <a:schemeClr val="tx2"/>
                </a:solidFill>
                <a:latin typeface="Times New Roman" panose="02020603050405020304" pitchFamily="18" charset="0"/>
                <a:cs typeface="Times New Roman" panose="02020603050405020304" pitchFamily="18" charset="0"/>
              </a:rPr>
              <a:t>）</a:t>
            </a:r>
            <a:r>
              <a:rPr kumimoji="1" lang="en-US" altLang="zh-CN" sz="2400" b="1" dirty="0">
                <a:solidFill>
                  <a:schemeClr val="tx2"/>
                </a:solidFill>
                <a:latin typeface="Times New Roman" panose="02020603050405020304" pitchFamily="18" charset="0"/>
                <a:cs typeface="Times New Roman" panose="02020603050405020304" pitchFamily="18" charset="0"/>
              </a:rPr>
              <a:t>PN</a:t>
            </a:r>
            <a:r>
              <a:rPr kumimoji="1" lang="zh-CN" altLang="en-US" sz="2400" b="1" dirty="0">
                <a:solidFill>
                  <a:schemeClr val="tx2"/>
                </a:solidFill>
                <a:latin typeface="Times New Roman" panose="02020603050405020304" pitchFamily="18" charset="0"/>
                <a:cs typeface="Times New Roman" panose="02020603050405020304" pitchFamily="18" charset="0"/>
              </a:rPr>
              <a:t>结面积大，散热条件好，使反向击穿是可逆的。</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61493" name="Text Box 53"/>
          <p:cNvSpPr txBox="1">
            <a:spLocks noChangeArrowheads="1"/>
          </p:cNvSpPr>
          <p:nvPr/>
        </p:nvSpPr>
        <p:spPr bwMode="auto">
          <a:xfrm>
            <a:off x="460375" y="5505995"/>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特点</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1494" name="AutoShape 54"/>
          <p:cNvSpPr>
            <a:spLocks noChangeArrowheads="1"/>
          </p:cNvSpPr>
          <p:nvPr/>
        </p:nvSpPr>
        <p:spPr bwMode="auto">
          <a:xfrm>
            <a:off x="1230313" y="5620295"/>
            <a:ext cx="381000" cy="228600"/>
          </a:xfrm>
          <a:prstGeom prst="rightArrow">
            <a:avLst>
              <a:gd name="adj1" fmla="val 50000"/>
              <a:gd name="adj2" fmla="val 41667"/>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61444"/>
                                        </p:tgtEl>
                                        <p:attrNameLst>
                                          <p:attrName>style.visibility</p:attrName>
                                        </p:attrNameLst>
                                      </p:cBhvr>
                                      <p:to>
                                        <p:strVal val="visible"/>
                                      </p:to>
                                    </p:set>
                                    <p:animEffect transition="in" filter="wipe(left)">
                                      <p:cBhvr>
                                        <p:cTn id="7" dur="75"/>
                                        <p:tgtEl>
                                          <p:spTgt spid="6144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61476"/>
                                        </p:tgtEl>
                                        <p:attrNameLst>
                                          <p:attrName>style.visibility</p:attrName>
                                        </p:attrNameLst>
                                      </p:cBhvr>
                                      <p:to>
                                        <p:strVal val="visible"/>
                                      </p:to>
                                    </p:set>
                                    <p:animEffect transition="in" filter="wipe(left)">
                                      <p:cBhvr>
                                        <p:cTn id="20" dur="75"/>
                                        <p:tgtEl>
                                          <p:spTgt spid="6147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lt">
                                    <p:tmPct val="100000"/>
                                  </p:iterate>
                                  <p:childTnLst>
                                    <p:set>
                                      <p:cBhvr>
                                        <p:cTn id="28" dur="1" fill="hold">
                                          <p:stCondLst>
                                            <p:cond delay="0"/>
                                          </p:stCondLst>
                                        </p:cTn>
                                        <p:tgtEl>
                                          <p:spTgt spid="61486"/>
                                        </p:tgtEl>
                                        <p:attrNameLst>
                                          <p:attrName>style.visibility</p:attrName>
                                        </p:attrNameLst>
                                      </p:cBhvr>
                                      <p:to>
                                        <p:strVal val="visible"/>
                                      </p:to>
                                    </p:set>
                                    <p:animEffect transition="in" filter="wipe(left)">
                                      <p:cBhvr>
                                        <p:cTn id="29" dur="75"/>
                                        <p:tgtEl>
                                          <p:spTgt spid="61486"/>
                                        </p:tgtEl>
                                      </p:cBhvr>
                                    </p:animEffect>
                                  </p:childTnLst>
                                </p:cTn>
                              </p:par>
                            </p:childTnLst>
                          </p:cTn>
                        </p:par>
                        <p:par>
                          <p:cTn id="30" fill="hold">
                            <p:stCondLst>
                              <p:cond delay="1950"/>
                            </p:stCondLst>
                            <p:childTnLst>
                              <p:par>
                                <p:cTn id="31" presetID="22" presetClass="entr" presetSubtype="2" fill="hold" grpId="0" nodeType="afterEffect">
                                  <p:stCondLst>
                                    <p:cond delay="0"/>
                                  </p:stCondLst>
                                  <p:childTnLst>
                                    <p:set>
                                      <p:cBhvr>
                                        <p:cTn id="32" dur="1" fill="hold">
                                          <p:stCondLst>
                                            <p:cond delay="0"/>
                                          </p:stCondLst>
                                        </p:cTn>
                                        <p:tgtEl>
                                          <p:spTgt spid="61485"/>
                                        </p:tgtEl>
                                        <p:attrNameLst>
                                          <p:attrName>style.visibility</p:attrName>
                                        </p:attrNameLst>
                                      </p:cBhvr>
                                      <p:to>
                                        <p:strVal val="visible"/>
                                      </p:to>
                                    </p:set>
                                    <p:animEffect transition="in" filter="wipe(right)">
                                      <p:cBhvr>
                                        <p:cTn id="33" dur="500"/>
                                        <p:tgtEl>
                                          <p:spTgt spid="6148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lt">
                                    <p:tmPct val="100000"/>
                                  </p:iterate>
                                  <p:childTnLst>
                                    <p:set>
                                      <p:cBhvr>
                                        <p:cTn id="37" dur="1" fill="hold">
                                          <p:stCondLst>
                                            <p:cond delay="0"/>
                                          </p:stCondLst>
                                        </p:cTn>
                                        <p:tgtEl>
                                          <p:spTgt spid="61487"/>
                                        </p:tgtEl>
                                        <p:attrNameLst>
                                          <p:attrName>style.visibility</p:attrName>
                                        </p:attrNameLst>
                                      </p:cBhvr>
                                      <p:to>
                                        <p:strVal val="visible"/>
                                      </p:to>
                                    </p:set>
                                    <p:animEffect transition="in" filter="wipe(left)">
                                      <p:cBhvr>
                                        <p:cTn id="38" dur="75"/>
                                        <p:tgtEl>
                                          <p:spTgt spid="61487"/>
                                        </p:tgtEl>
                                      </p:cBhvr>
                                    </p:animEffect>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61483"/>
                                        </p:tgtEl>
                                        <p:attrNameLst>
                                          <p:attrName>style.visibility</p:attrName>
                                        </p:attrNameLst>
                                      </p:cBhvr>
                                      <p:to>
                                        <p:strVal val="visible"/>
                                      </p:to>
                                    </p:set>
                                    <p:animEffect transition="in" filter="wipe(left)">
                                      <p:cBhvr>
                                        <p:cTn id="42" dur="500"/>
                                        <p:tgtEl>
                                          <p:spTgt spid="6148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61488"/>
                                        </p:tgtEl>
                                        <p:attrNameLst>
                                          <p:attrName>style.visibility</p:attrName>
                                        </p:attrNameLst>
                                      </p:cBhvr>
                                      <p:to>
                                        <p:strVal val="visible"/>
                                      </p:to>
                                    </p:set>
                                    <p:animEffect transition="in" filter="wipe(left)">
                                      <p:cBhvr>
                                        <p:cTn id="47" dur="75"/>
                                        <p:tgtEl>
                                          <p:spTgt spid="61488"/>
                                        </p:tgtEl>
                                      </p:cBhvr>
                                    </p:animEffect>
                                  </p:childTnLst>
                                </p:cTn>
                              </p:par>
                            </p:childTnLst>
                          </p:cTn>
                        </p:par>
                        <p:par>
                          <p:cTn id="48" fill="hold">
                            <p:stCondLst>
                              <p:cond delay="2400"/>
                            </p:stCondLst>
                            <p:childTnLst>
                              <p:par>
                                <p:cTn id="49" presetID="1" presetClass="entr" presetSubtype="0" fill="hold" nodeType="afterEffect">
                                  <p:stCondLst>
                                    <p:cond delay="0"/>
                                  </p:stCondLst>
                                  <p:childTnLst>
                                    <p:set>
                                      <p:cBhvr>
                                        <p:cTn id="50" dur="1" fill="hold">
                                          <p:stCondLst>
                                            <p:cond delay="499"/>
                                          </p:stCondLst>
                                        </p:cTn>
                                        <p:tgtEl>
                                          <p:spTgt spid="11"/>
                                        </p:tgtEl>
                                        <p:attrNameLst>
                                          <p:attrName>style.visibility</p:attrName>
                                        </p:attrNameLst>
                                      </p:cBhvr>
                                      <p:to>
                                        <p:strVal val="visible"/>
                                      </p:to>
                                    </p:set>
                                  </p:childTnLst>
                                </p:cTn>
                              </p:par>
                            </p:childTnLst>
                          </p:cTn>
                        </p:par>
                        <p:par>
                          <p:cTn id="51" fill="hold">
                            <p:stCondLst>
                              <p:cond delay="2900"/>
                            </p:stCondLst>
                            <p:childTnLst>
                              <p:par>
                                <p:cTn id="52" presetID="22" presetClass="entr" presetSubtype="4" fill="hold" grpId="0" nodeType="afterEffect">
                                  <p:stCondLst>
                                    <p:cond delay="1000"/>
                                  </p:stCondLst>
                                  <p:childTnLst>
                                    <p:set>
                                      <p:cBhvr>
                                        <p:cTn id="53" dur="1" fill="hold">
                                          <p:stCondLst>
                                            <p:cond delay="0"/>
                                          </p:stCondLst>
                                        </p:cTn>
                                        <p:tgtEl>
                                          <p:spTgt spid="61484"/>
                                        </p:tgtEl>
                                        <p:attrNameLst>
                                          <p:attrName>style.visibility</p:attrName>
                                        </p:attrNameLst>
                                      </p:cBhvr>
                                      <p:to>
                                        <p:strVal val="visible"/>
                                      </p:to>
                                    </p:set>
                                    <p:animEffect transition="in" filter="wipe(down)">
                                      <p:cBhvr>
                                        <p:cTn id="54" dur="500"/>
                                        <p:tgtEl>
                                          <p:spTgt spid="6148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iterate type="lt">
                                    <p:tmPct val="100000"/>
                                  </p:iterate>
                                  <p:childTnLst>
                                    <p:set>
                                      <p:cBhvr>
                                        <p:cTn id="58" dur="1" fill="hold">
                                          <p:stCondLst>
                                            <p:cond delay="0"/>
                                          </p:stCondLst>
                                        </p:cTn>
                                        <p:tgtEl>
                                          <p:spTgt spid="61493"/>
                                        </p:tgtEl>
                                        <p:attrNameLst>
                                          <p:attrName>style.visibility</p:attrName>
                                        </p:attrNameLst>
                                      </p:cBhvr>
                                      <p:to>
                                        <p:strVal val="visible"/>
                                      </p:to>
                                    </p:set>
                                    <p:animEffect transition="in" filter="wipe(left)">
                                      <p:cBhvr>
                                        <p:cTn id="59" dur="75"/>
                                        <p:tgtEl>
                                          <p:spTgt spid="6149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61494"/>
                                        </p:tgtEl>
                                        <p:attrNameLst>
                                          <p:attrName>style.visibility</p:attrName>
                                        </p:attrNameLst>
                                      </p:cBhvr>
                                      <p:to>
                                        <p:strVal val="visible"/>
                                      </p:to>
                                    </p:set>
                                    <p:animEffect transition="in" filter="wipe(left)">
                                      <p:cBhvr>
                                        <p:cTn id="64" dur="500"/>
                                        <p:tgtEl>
                                          <p:spTgt spid="6149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iterate type="lt">
                                    <p:tmPct val="100000"/>
                                  </p:iterate>
                                  <p:childTnLst>
                                    <p:set>
                                      <p:cBhvr>
                                        <p:cTn id="68" dur="1" fill="hold">
                                          <p:stCondLst>
                                            <p:cond delay="0"/>
                                          </p:stCondLst>
                                        </p:cTn>
                                        <p:tgtEl>
                                          <p:spTgt spid="61492"/>
                                        </p:tgtEl>
                                        <p:attrNameLst>
                                          <p:attrName>style.visibility</p:attrName>
                                        </p:attrNameLst>
                                      </p:cBhvr>
                                      <p:to>
                                        <p:strVal val="visible"/>
                                      </p:to>
                                    </p:set>
                                    <p:animEffect transition="in" filter="wipe(left)">
                                      <p:cBhvr>
                                        <p:cTn id="69" dur="75"/>
                                        <p:tgtEl>
                                          <p:spTgt spid="61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utoUpdateAnimBg="0"/>
      <p:bldP spid="61476" grpId="0" autoUpdateAnimBg="0"/>
      <p:bldP spid="61483" grpId="0" animBg="1"/>
      <p:bldP spid="61484" grpId="0" animBg="1"/>
      <p:bldP spid="61485" grpId="0" animBg="1"/>
      <p:bldP spid="61486" grpId="0" autoUpdateAnimBg="0"/>
      <p:bldP spid="61487" grpId="0" autoUpdateAnimBg="0"/>
      <p:bldP spid="61488" grpId="0" autoUpdateAnimBg="0"/>
      <p:bldP spid="61492" grpId="0" autoUpdateAnimBg="0"/>
      <p:bldP spid="61493" grpId="0" autoUpdateAnimBg="0"/>
      <p:bldP spid="6149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eaLnBrk="1" hangingPunct="1"/>
            <a:r>
              <a:rPr lang="en-US" altLang="zh-CN" sz="2800" smtClean="0">
                <a:ea typeface="宋体" panose="02010600030101010101" pitchFamily="2" charset="-122"/>
              </a:rPr>
              <a:t>5.1 </a:t>
            </a:r>
            <a:r>
              <a:rPr lang="zh-CN" altLang="en-US" sz="2800" smtClean="0">
                <a:ea typeface="宋体" panose="02010600030101010101" pitchFamily="2" charset="-122"/>
              </a:rPr>
              <a:t>半导体二极管的工作原理与特性（续</a:t>
            </a:r>
            <a:r>
              <a:rPr lang="en-US" altLang="zh-CN" sz="2800" smtClean="0">
                <a:ea typeface="宋体" panose="02010600030101010101" pitchFamily="2" charset="-122"/>
              </a:rPr>
              <a:t>32</a:t>
            </a:r>
            <a:r>
              <a:rPr lang="zh-CN" altLang="en-US" sz="2800" smtClean="0">
                <a:ea typeface="宋体" panose="02010600030101010101" pitchFamily="2" charset="-122"/>
              </a:rPr>
              <a:t>）</a:t>
            </a:r>
            <a:endParaRPr lang="zh-CN" altLang="en-US" sz="3200" smtClean="0">
              <a:ea typeface="楷体_GB2312" pitchFamily="49" charset="-122"/>
            </a:endParaRPr>
          </a:p>
        </p:txBody>
      </p:sp>
      <p:sp>
        <p:nvSpPr>
          <p:cNvPr id="9221"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稳压二极管的主要参数</a:t>
            </a:r>
            <a:endParaRPr lang="zh-CN" altLang="en-US" smtClean="0">
              <a:ea typeface="宋体" panose="02010600030101010101" pitchFamily="2" charset="-122"/>
            </a:endParaRPr>
          </a:p>
          <a:p>
            <a:pPr eaLnBrk="1" hangingPunct="1"/>
            <a:endParaRPr lang="en-US" altLang="zh-CN" smtClean="0">
              <a:ea typeface="宋体" panose="02010600030101010101" pitchFamily="2" charset="-122"/>
            </a:endParaRPr>
          </a:p>
        </p:txBody>
      </p:sp>
      <p:grpSp>
        <p:nvGrpSpPr>
          <p:cNvPr id="2" name="Group 14"/>
          <p:cNvGrpSpPr/>
          <p:nvPr/>
        </p:nvGrpSpPr>
        <p:grpSpPr bwMode="auto">
          <a:xfrm>
            <a:off x="5076056" y="806698"/>
            <a:ext cx="4013200" cy="2886075"/>
            <a:chOff x="3120" y="630"/>
            <a:chExt cx="2528" cy="1818"/>
          </a:xfrm>
        </p:grpSpPr>
        <p:sp>
          <p:nvSpPr>
            <p:cNvPr id="9257" name="Line 15"/>
            <p:cNvSpPr>
              <a:spLocks noChangeShapeType="1"/>
            </p:cNvSpPr>
            <p:nvPr/>
          </p:nvSpPr>
          <p:spPr bwMode="auto">
            <a:xfrm>
              <a:off x="3120" y="2016"/>
              <a:ext cx="235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8" name="Line 16"/>
            <p:cNvSpPr>
              <a:spLocks noChangeShapeType="1"/>
            </p:cNvSpPr>
            <p:nvPr/>
          </p:nvSpPr>
          <p:spPr bwMode="auto">
            <a:xfrm flipV="1">
              <a:off x="3648" y="720"/>
              <a:ext cx="0" cy="172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9" name="Text Box 17"/>
            <p:cNvSpPr txBox="1">
              <a:spLocks noChangeArrowheads="1"/>
            </p:cNvSpPr>
            <p:nvPr/>
          </p:nvSpPr>
          <p:spPr bwMode="auto">
            <a:xfrm>
              <a:off x="3734" y="630"/>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dirty="0" err="1">
                  <a:latin typeface="Times New Roman" panose="02020603050405020304" pitchFamily="18" charset="0"/>
                  <a:cs typeface="Times New Roman" panose="02020603050405020304" pitchFamily="18" charset="0"/>
                </a:rPr>
                <a:t>i</a:t>
              </a:r>
              <a:r>
                <a:rPr kumimoji="1" lang="en-US" altLang="zh-CN" sz="2400" i="1" baseline="-25000" dirty="0" err="1">
                  <a:latin typeface="Times New Roman" panose="02020603050405020304" pitchFamily="18" charset="0"/>
                  <a:cs typeface="Times New Roman" panose="02020603050405020304" pitchFamily="18" charset="0"/>
                </a:rPr>
                <a:t>z</a:t>
              </a:r>
              <a:endParaRPr kumimoji="1" lang="en-US" altLang="zh-CN" sz="2400" i="1" dirty="0">
                <a:latin typeface="Times New Roman" panose="02020603050405020304" pitchFamily="18" charset="0"/>
                <a:cs typeface="Times New Roman" panose="02020603050405020304" pitchFamily="18" charset="0"/>
              </a:endParaRPr>
            </a:p>
          </p:txBody>
        </p:sp>
        <p:sp>
          <p:nvSpPr>
            <p:cNvPr id="9260" name="Text Box 18"/>
            <p:cNvSpPr txBox="1">
              <a:spLocks noChangeArrowheads="1"/>
            </p:cNvSpPr>
            <p:nvPr/>
          </p:nvSpPr>
          <p:spPr bwMode="auto">
            <a:xfrm>
              <a:off x="5414" y="1946"/>
              <a:ext cx="23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z</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9261" name="Text Box 19"/>
            <p:cNvSpPr txBox="1">
              <a:spLocks noChangeArrowheads="1"/>
            </p:cNvSpPr>
            <p:nvPr/>
          </p:nvSpPr>
          <p:spPr bwMode="auto">
            <a:xfrm>
              <a:off x="3638" y="196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0</a:t>
              </a:r>
              <a:endParaRPr kumimoji="1" lang="en-US" altLang="zh-CN"/>
            </a:p>
          </p:txBody>
        </p:sp>
      </p:grpSp>
      <p:grpSp>
        <p:nvGrpSpPr>
          <p:cNvPr id="3" name="Group 20"/>
          <p:cNvGrpSpPr/>
          <p:nvPr/>
        </p:nvGrpSpPr>
        <p:grpSpPr bwMode="auto">
          <a:xfrm>
            <a:off x="5244331" y="1101973"/>
            <a:ext cx="2346325" cy="2759075"/>
            <a:chOff x="3226" y="816"/>
            <a:chExt cx="1478" cy="1738"/>
          </a:xfrm>
        </p:grpSpPr>
        <p:sp>
          <p:nvSpPr>
            <p:cNvPr id="9254" name="Freeform 21"/>
            <p:cNvSpPr/>
            <p:nvPr/>
          </p:nvSpPr>
          <p:spPr bwMode="auto">
            <a:xfrm>
              <a:off x="3648" y="1872"/>
              <a:ext cx="960" cy="144"/>
            </a:xfrm>
            <a:custGeom>
              <a:avLst/>
              <a:gdLst>
                <a:gd name="T0" fmla="*/ 960 w 960"/>
                <a:gd name="T1" fmla="*/ 0 h 144"/>
                <a:gd name="T2" fmla="*/ 903 w 960"/>
                <a:gd name="T3" fmla="*/ 73 h 144"/>
                <a:gd name="T4" fmla="*/ 821 w 960"/>
                <a:gd name="T5" fmla="*/ 93 h 144"/>
                <a:gd name="T6" fmla="*/ 645 w 960"/>
                <a:gd name="T7" fmla="*/ 114 h 144"/>
                <a:gd name="T8" fmla="*/ 531 w 960"/>
                <a:gd name="T9" fmla="*/ 114 h 144"/>
                <a:gd name="T10" fmla="*/ 0 w 960"/>
                <a:gd name="T11" fmla="*/ 144 h 144"/>
                <a:gd name="T12" fmla="*/ 0 60000 65536"/>
                <a:gd name="T13" fmla="*/ 0 60000 65536"/>
                <a:gd name="T14" fmla="*/ 0 60000 65536"/>
                <a:gd name="T15" fmla="*/ 0 60000 65536"/>
                <a:gd name="T16" fmla="*/ 0 60000 65536"/>
                <a:gd name="T17" fmla="*/ 0 60000 65536"/>
                <a:gd name="T18" fmla="*/ 0 w 960"/>
                <a:gd name="T19" fmla="*/ 0 h 144"/>
                <a:gd name="T20" fmla="*/ 960 w 960"/>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960" h="144">
                  <a:moveTo>
                    <a:pt x="960" y="0"/>
                  </a:moveTo>
                  <a:cubicBezTo>
                    <a:pt x="951" y="12"/>
                    <a:pt x="926" y="58"/>
                    <a:pt x="903" y="73"/>
                  </a:cubicBezTo>
                  <a:cubicBezTo>
                    <a:pt x="880" y="88"/>
                    <a:pt x="864" y="86"/>
                    <a:pt x="821" y="93"/>
                  </a:cubicBezTo>
                  <a:cubicBezTo>
                    <a:pt x="778" y="100"/>
                    <a:pt x="693" y="110"/>
                    <a:pt x="645" y="114"/>
                  </a:cubicBezTo>
                  <a:cubicBezTo>
                    <a:pt x="597" y="118"/>
                    <a:pt x="638" y="109"/>
                    <a:pt x="531" y="114"/>
                  </a:cubicBezTo>
                  <a:cubicBezTo>
                    <a:pt x="424" y="119"/>
                    <a:pt x="111" y="138"/>
                    <a:pt x="0" y="144"/>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9255" name="Line 22"/>
            <p:cNvSpPr>
              <a:spLocks noChangeShapeType="1"/>
            </p:cNvSpPr>
            <p:nvPr/>
          </p:nvSpPr>
          <p:spPr bwMode="auto">
            <a:xfrm flipH="1">
              <a:off x="4608" y="816"/>
              <a:ext cx="96" cy="1056"/>
            </a:xfrm>
            <a:prstGeom prst="line">
              <a:avLst/>
            </a:prstGeom>
            <a:noFill/>
            <a:ln w="3810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6" name="Freeform 23"/>
            <p:cNvSpPr/>
            <p:nvPr/>
          </p:nvSpPr>
          <p:spPr bwMode="auto">
            <a:xfrm>
              <a:off x="3226" y="1984"/>
              <a:ext cx="432" cy="570"/>
            </a:xfrm>
            <a:custGeom>
              <a:avLst/>
              <a:gdLst>
                <a:gd name="T0" fmla="*/ 432 w 432"/>
                <a:gd name="T1" fmla="*/ 42 h 570"/>
                <a:gd name="T2" fmla="*/ 280 w 432"/>
                <a:gd name="T3" fmla="*/ 33 h 570"/>
                <a:gd name="T4" fmla="*/ 144 w 432"/>
                <a:gd name="T5" fmla="*/ 90 h 570"/>
                <a:gd name="T6" fmla="*/ 0 w 432"/>
                <a:gd name="T7" fmla="*/ 570 h 570"/>
                <a:gd name="T8" fmla="*/ 0 60000 65536"/>
                <a:gd name="T9" fmla="*/ 0 60000 65536"/>
                <a:gd name="T10" fmla="*/ 0 60000 65536"/>
                <a:gd name="T11" fmla="*/ 0 60000 65536"/>
                <a:gd name="T12" fmla="*/ 0 w 432"/>
                <a:gd name="T13" fmla="*/ 0 h 570"/>
                <a:gd name="T14" fmla="*/ 432 w 432"/>
                <a:gd name="T15" fmla="*/ 570 h 570"/>
              </a:gdLst>
              <a:ahLst/>
              <a:cxnLst>
                <a:cxn ang="T8">
                  <a:pos x="T0" y="T1"/>
                </a:cxn>
                <a:cxn ang="T9">
                  <a:pos x="T2" y="T3"/>
                </a:cxn>
                <a:cxn ang="T10">
                  <a:pos x="T4" y="T5"/>
                </a:cxn>
                <a:cxn ang="T11">
                  <a:pos x="T6" y="T7"/>
                </a:cxn>
              </a:cxnLst>
              <a:rect l="T12" t="T13" r="T14" b="T15"/>
              <a:pathLst>
                <a:path w="432" h="570">
                  <a:moveTo>
                    <a:pt x="432" y="42"/>
                  </a:moveTo>
                  <a:cubicBezTo>
                    <a:pt x="407" y="40"/>
                    <a:pt x="328" y="25"/>
                    <a:pt x="280" y="33"/>
                  </a:cubicBezTo>
                  <a:cubicBezTo>
                    <a:pt x="232" y="41"/>
                    <a:pt x="191" y="0"/>
                    <a:pt x="144" y="90"/>
                  </a:cubicBezTo>
                  <a:cubicBezTo>
                    <a:pt x="97" y="180"/>
                    <a:pt x="36" y="374"/>
                    <a:pt x="0" y="570"/>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grpSp>
      <p:grpSp>
        <p:nvGrpSpPr>
          <p:cNvPr id="4" name="Group 24"/>
          <p:cNvGrpSpPr/>
          <p:nvPr/>
        </p:nvGrpSpPr>
        <p:grpSpPr bwMode="auto">
          <a:xfrm>
            <a:off x="7228706" y="2702173"/>
            <a:ext cx="474663" cy="704850"/>
            <a:chOff x="4454" y="1824"/>
            <a:chExt cx="299" cy="444"/>
          </a:xfrm>
        </p:grpSpPr>
        <p:sp>
          <p:nvSpPr>
            <p:cNvPr id="9252" name="Line 25"/>
            <p:cNvSpPr>
              <a:spLocks noChangeShapeType="1"/>
            </p:cNvSpPr>
            <p:nvPr/>
          </p:nvSpPr>
          <p:spPr bwMode="auto">
            <a:xfrm>
              <a:off x="4608" y="1824"/>
              <a:ext cx="0" cy="192"/>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3" name="Text Box 26"/>
            <p:cNvSpPr txBox="1">
              <a:spLocks noChangeArrowheads="1"/>
            </p:cNvSpPr>
            <p:nvPr/>
          </p:nvSpPr>
          <p:spPr bwMode="auto">
            <a:xfrm>
              <a:off x="4454" y="2016"/>
              <a:ext cx="2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i="1" baseline="-25000">
                  <a:solidFill>
                    <a:schemeClr val="tx2"/>
                  </a:solidFill>
                  <a:latin typeface="Times New Roman" panose="02020603050405020304" pitchFamily="18" charset="0"/>
                  <a:cs typeface="Times New Roman" panose="02020603050405020304" pitchFamily="18" charset="0"/>
                </a:rPr>
                <a:t>Z</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grpSp>
        <p:nvGrpSpPr>
          <p:cNvPr id="5" name="Group 27"/>
          <p:cNvGrpSpPr/>
          <p:nvPr/>
        </p:nvGrpSpPr>
        <p:grpSpPr bwMode="auto">
          <a:xfrm>
            <a:off x="5533256" y="2397373"/>
            <a:ext cx="1927225" cy="400050"/>
            <a:chOff x="3394" y="1610"/>
            <a:chExt cx="1214" cy="252"/>
          </a:xfrm>
        </p:grpSpPr>
        <p:sp>
          <p:nvSpPr>
            <p:cNvPr id="9250" name="Line 28"/>
            <p:cNvSpPr>
              <a:spLocks noChangeShapeType="1"/>
            </p:cNvSpPr>
            <p:nvPr/>
          </p:nvSpPr>
          <p:spPr bwMode="auto">
            <a:xfrm>
              <a:off x="3648" y="1776"/>
              <a:ext cx="960" cy="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1" name="Text Box 29"/>
            <p:cNvSpPr txBox="1">
              <a:spLocks noChangeArrowheads="1"/>
            </p:cNvSpPr>
            <p:nvPr/>
          </p:nvSpPr>
          <p:spPr bwMode="auto">
            <a:xfrm>
              <a:off x="3394" y="1610"/>
              <a:ext cx="2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000" b="1" i="1" baseline="-25000">
                  <a:solidFill>
                    <a:schemeClr val="tx2"/>
                  </a:solidFill>
                  <a:latin typeface="Times New Roman" panose="02020603050405020304" pitchFamily="18" charset="0"/>
                  <a:cs typeface="Times New Roman" panose="02020603050405020304" pitchFamily="18" charset="0"/>
                </a:rPr>
                <a:t>Z</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grpSp>
        <p:nvGrpSpPr>
          <p:cNvPr id="6" name="Group 30"/>
          <p:cNvGrpSpPr/>
          <p:nvPr/>
        </p:nvGrpSpPr>
        <p:grpSpPr bwMode="auto">
          <a:xfrm>
            <a:off x="5380856" y="1101973"/>
            <a:ext cx="2225675" cy="400050"/>
            <a:chOff x="3302" y="794"/>
            <a:chExt cx="1402" cy="252"/>
          </a:xfrm>
        </p:grpSpPr>
        <p:sp>
          <p:nvSpPr>
            <p:cNvPr id="9248" name="Line 31"/>
            <p:cNvSpPr>
              <a:spLocks noChangeShapeType="1"/>
            </p:cNvSpPr>
            <p:nvPr/>
          </p:nvSpPr>
          <p:spPr bwMode="auto">
            <a:xfrm>
              <a:off x="3648" y="960"/>
              <a:ext cx="1056" cy="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9" name="Text Box 32"/>
            <p:cNvSpPr txBox="1">
              <a:spLocks noChangeArrowheads="1"/>
            </p:cNvSpPr>
            <p:nvPr/>
          </p:nvSpPr>
          <p:spPr bwMode="auto">
            <a:xfrm>
              <a:off x="3302" y="794"/>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000" b="1" i="1" baseline="-25000">
                  <a:solidFill>
                    <a:schemeClr val="tx2"/>
                  </a:solidFill>
                  <a:latin typeface="Times New Roman" panose="02020603050405020304" pitchFamily="18" charset="0"/>
                  <a:cs typeface="Times New Roman" panose="02020603050405020304" pitchFamily="18" charset="0"/>
                </a:rPr>
                <a:t>ZM</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sp>
        <p:nvSpPr>
          <p:cNvPr id="62497" name="Line 33"/>
          <p:cNvSpPr>
            <a:spLocks noChangeShapeType="1"/>
          </p:cNvSpPr>
          <p:nvPr/>
        </p:nvSpPr>
        <p:spPr bwMode="auto">
          <a:xfrm>
            <a:off x="7609706" y="1346448"/>
            <a:ext cx="0" cy="16764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 name="Group 34"/>
          <p:cNvGrpSpPr/>
          <p:nvPr/>
        </p:nvGrpSpPr>
        <p:grpSpPr bwMode="auto">
          <a:xfrm>
            <a:off x="7000106" y="2565648"/>
            <a:ext cx="1239838" cy="338138"/>
            <a:chOff x="4464" y="2160"/>
            <a:chExt cx="781" cy="213"/>
          </a:xfrm>
        </p:grpSpPr>
        <p:sp>
          <p:nvSpPr>
            <p:cNvPr id="9245" name="Line 35"/>
            <p:cNvSpPr>
              <a:spLocks noChangeShapeType="1"/>
            </p:cNvSpPr>
            <p:nvPr/>
          </p:nvSpPr>
          <p:spPr bwMode="auto">
            <a:xfrm>
              <a:off x="4464" y="2352"/>
              <a:ext cx="288"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6" name="Line 36"/>
            <p:cNvSpPr>
              <a:spLocks noChangeShapeType="1"/>
            </p:cNvSpPr>
            <p:nvPr/>
          </p:nvSpPr>
          <p:spPr bwMode="auto">
            <a:xfrm flipH="1">
              <a:off x="4848" y="2352"/>
              <a:ext cx="240" cy="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7" name="Text Box 37"/>
            <p:cNvSpPr txBox="1">
              <a:spLocks noChangeArrowheads="1"/>
            </p:cNvSpPr>
            <p:nvPr/>
          </p:nvSpPr>
          <p:spPr bwMode="auto">
            <a:xfrm>
              <a:off x="4848" y="2160"/>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b="1">
                  <a:solidFill>
                    <a:schemeClr val="tx2"/>
                  </a:solidFill>
                  <a:latin typeface="Times New Roman" panose="02020603050405020304" pitchFamily="18" charset="0"/>
                  <a:cs typeface="Times New Roman" panose="02020603050405020304" pitchFamily="18" charset="0"/>
                </a:rPr>
                <a:t>△U</a:t>
              </a:r>
              <a:r>
                <a:rPr kumimoji="1" lang="en-US" altLang="zh-CN" sz="1600" b="1" baseline="-25000">
                  <a:solidFill>
                    <a:schemeClr val="tx2"/>
                  </a:solidFill>
                  <a:latin typeface="Times New Roman" panose="02020603050405020304" pitchFamily="18" charset="0"/>
                  <a:cs typeface="Times New Roman" panose="02020603050405020304" pitchFamily="18" charset="0"/>
                </a:rPr>
                <a:t>Z</a:t>
              </a:r>
              <a:endParaRPr kumimoji="1" lang="en-US" altLang="zh-CN" sz="1600" b="1">
                <a:solidFill>
                  <a:schemeClr val="tx2"/>
                </a:solidFill>
                <a:latin typeface="Times New Roman" panose="02020603050405020304" pitchFamily="18" charset="0"/>
                <a:cs typeface="Times New Roman" panose="02020603050405020304" pitchFamily="18" charset="0"/>
              </a:endParaRPr>
            </a:p>
          </p:txBody>
        </p:sp>
      </p:grpSp>
      <p:grpSp>
        <p:nvGrpSpPr>
          <p:cNvPr id="8" name="Group 38"/>
          <p:cNvGrpSpPr/>
          <p:nvPr/>
        </p:nvGrpSpPr>
        <p:grpSpPr bwMode="auto">
          <a:xfrm>
            <a:off x="7457306" y="965448"/>
            <a:ext cx="1371600" cy="2057400"/>
            <a:chOff x="4752" y="1152"/>
            <a:chExt cx="864" cy="1296"/>
          </a:xfrm>
        </p:grpSpPr>
        <p:sp>
          <p:nvSpPr>
            <p:cNvPr id="9240" name="Line 39"/>
            <p:cNvSpPr>
              <a:spLocks noChangeShapeType="1"/>
            </p:cNvSpPr>
            <p:nvPr/>
          </p:nvSpPr>
          <p:spPr bwMode="auto">
            <a:xfrm>
              <a:off x="5376" y="1152"/>
              <a:ext cx="0" cy="24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1" name="Line 40"/>
            <p:cNvSpPr>
              <a:spLocks noChangeShapeType="1"/>
            </p:cNvSpPr>
            <p:nvPr/>
          </p:nvSpPr>
          <p:spPr bwMode="auto">
            <a:xfrm>
              <a:off x="5376" y="2208"/>
              <a:ext cx="0" cy="240"/>
            </a:xfrm>
            <a:prstGeom prst="line">
              <a:avLst/>
            </a:prstGeom>
            <a:noFill/>
            <a:ln w="12700" cap="sq">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2" name="Rectangle 41"/>
            <p:cNvSpPr>
              <a:spLocks noChangeArrowheads="1"/>
            </p:cNvSpPr>
            <p:nvPr/>
          </p:nvSpPr>
          <p:spPr bwMode="auto">
            <a:xfrm rot="16200000" flipH="1">
              <a:off x="5209" y="1647"/>
              <a:ext cx="3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sz="1600" b="1">
                  <a:solidFill>
                    <a:schemeClr val="tx2"/>
                  </a:solidFill>
                  <a:latin typeface="Times New Roman" panose="02020603050405020304" pitchFamily="18" charset="0"/>
                  <a:cs typeface="Times New Roman" panose="02020603050405020304" pitchFamily="18" charset="0"/>
                </a:rPr>
                <a:t>△I</a:t>
              </a:r>
              <a:r>
                <a:rPr kumimoji="1" lang="en-US" altLang="zh-CN" sz="1600" b="1" baseline="-25000">
                  <a:solidFill>
                    <a:schemeClr val="tx2"/>
                  </a:solidFill>
                  <a:latin typeface="Times New Roman" panose="02020603050405020304" pitchFamily="18" charset="0"/>
                  <a:cs typeface="Times New Roman" panose="02020603050405020304" pitchFamily="18" charset="0"/>
                </a:rPr>
                <a:t>Z</a:t>
              </a:r>
              <a:endParaRPr kumimoji="1" lang="en-US" altLang="zh-CN" sz="1600" b="1" baseline="-25000">
                <a:solidFill>
                  <a:schemeClr val="tx2"/>
                </a:solidFill>
                <a:latin typeface="Times New Roman" panose="02020603050405020304" pitchFamily="18" charset="0"/>
                <a:cs typeface="Times New Roman" panose="02020603050405020304" pitchFamily="18" charset="0"/>
              </a:endParaRPr>
            </a:p>
          </p:txBody>
        </p:sp>
        <p:sp>
          <p:nvSpPr>
            <p:cNvPr id="9243" name="Line 42"/>
            <p:cNvSpPr>
              <a:spLocks noChangeShapeType="1"/>
            </p:cNvSpPr>
            <p:nvPr/>
          </p:nvSpPr>
          <p:spPr bwMode="auto">
            <a:xfrm>
              <a:off x="4848" y="1392"/>
              <a:ext cx="72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4" name="Line 43"/>
            <p:cNvSpPr>
              <a:spLocks noChangeShapeType="1"/>
            </p:cNvSpPr>
            <p:nvPr/>
          </p:nvSpPr>
          <p:spPr bwMode="auto">
            <a:xfrm>
              <a:off x="4752" y="2208"/>
              <a:ext cx="864"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2508" name="Text Box 44"/>
          <p:cNvSpPr txBox="1">
            <a:spLocks noChangeArrowheads="1"/>
          </p:cNvSpPr>
          <p:nvPr/>
        </p:nvSpPr>
        <p:spPr bwMode="auto">
          <a:xfrm>
            <a:off x="628650" y="1457325"/>
            <a:ext cx="1870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(1) </a:t>
            </a:r>
            <a:r>
              <a:rPr kumimoji="1" lang="zh-CN" altLang="en-US" sz="2000" b="1">
                <a:solidFill>
                  <a:schemeClr val="tx2"/>
                </a:solidFill>
                <a:latin typeface="Times New Roman" panose="02020603050405020304" pitchFamily="18" charset="0"/>
                <a:cs typeface="Times New Roman" panose="02020603050405020304" pitchFamily="18" charset="0"/>
              </a:rPr>
              <a:t>稳定电压</a:t>
            </a:r>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Z</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62509" name="Text Box 45"/>
          <p:cNvSpPr txBox="1">
            <a:spLocks noChangeArrowheads="1"/>
          </p:cNvSpPr>
          <p:nvPr/>
        </p:nvSpPr>
        <p:spPr bwMode="auto">
          <a:xfrm>
            <a:off x="641275" y="1844824"/>
            <a:ext cx="4722813"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81000" indent="-3810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000" b="1" dirty="0">
                <a:solidFill>
                  <a:schemeClr val="tx2"/>
                </a:solidFill>
                <a:latin typeface="Times New Roman" panose="02020603050405020304" pitchFamily="18" charset="0"/>
                <a:cs typeface="Times New Roman" panose="02020603050405020304" pitchFamily="18" charset="0"/>
              </a:rPr>
              <a:t>(2) </a:t>
            </a:r>
            <a:r>
              <a:rPr kumimoji="1" lang="zh-CN" altLang="en-US" sz="2000" b="1" dirty="0">
                <a:solidFill>
                  <a:schemeClr val="tx2"/>
                </a:solidFill>
                <a:latin typeface="Times New Roman" panose="02020603050405020304" pitchFamily="18" charset="0"/>
                <a:cs typeface="Times New Roman" panose="02020603050405020304" pitchFamily="18" charset="0"/>
              </a:rPr>
              <a:t>稳定电流 </a:t>
            </a:r>
            <a:r>
              <a:rPr kumimoji="1" lang="en-US" altLang="zh-CN" sz="2000" b="1" i="1" dirty="0">
                <a:solidFill>
                  <a:schemeClr val="tx2"/>
                </a:solidFill>
                <a:latin typeface="Times New Roman" panose="02020603050405020304" pitchFamily="18" charset="0"/>
                <a:cs typeface="Times New Roman" panose="02020603050405020304" pitchFamily="18" charset="0"/>
              </a:rPr>
              <a:t>I</a:t>
            </a:r>
            <a:r>
              <a:rPr kumimoji="1" lang="en-US" altLang="zh-CN" sz="2000" b="1" baseline="-25000" dirty="0">
                <a:solidFill>
                  <a:schemeClr val="tx2"/>
                </a:solidFill>
                <a:latin typeface="Times New Roman" panose="02020603050405020304" pitchFamily="18" charset="0"/>
                <a:cs typeface="Times New Roman" panose="02020603050405020304" pitchFamily="18" charset="0"/>
              </a:rPr>
              <a:t>Z</a:t>
            </a:r>
            <a:r>
              <a:rPr kumimoji="1" lang="en-US" altLang="zh-CN" sz="2000" b="1" dirty="0">
                <a:solidFill>
                  <a:schemeClr val="tx2"/>
                </a:solidFill>
                <a:latin typeface="Times New Roman" panose="02020603050405020304" pitchFamily="18" charset="0"/>
                <a:cs typeface="Times New Roman" panose="02020603050405020304" pitchFamily="18" charset="0"/>
              </a:rPr>
              <a:t> </a:t>
            </a:r>
            <a:endParaRPr kumimoji="1" lang="en-US" altLang="zh-CN" sz="2000" b="1" dirty="0">
              <a:solidFill>
                <a:schemeClr val="tx2"/>
              </a:solidFill>
              <a:latin typeface="Times New Roman" panose="02020603050405020304" pitchFamily="18" charset="0"/>
              <a:cs typeface="Times New Roman" panose="02020603050405020304" pitchFamily="18" charset="0"/>
            </a:endParaRPr>
          </a:p>
          <a:p>
            <a:pPr eaLnBrk="1" hangingPunct="1">
              <a:lnSpc>
                <a:spcPct val="130000"/>
              </a:lnSpc>
            </a:pPr>
            <a:r>
              <a:rPr kumimoji="1" lang="zh-CN" altLang="en-US" sz="2000" b="1" dirty="0">
                <a:solidFill>
                  <a:schemeClr val="tx2"/>
                </a:solidFill>
                <a:latin typeface="Times New Roman" panose="02020603050405020304" pitchFamily="18" charset="0"/>
                <a:cs typeface="Times New Roman" panose="02020603050405020304" pitchFamily="18" charset="0"/>
              </a:rPr>
              <a:t>    保证稳压管稳压性能的最小工作电流。   </a:t>
            </a:r>
            <a:endParaRPr kumimoji="1" lang="zh-CN" altLang="en-US" sz="2000" b="1" dirty="0">
              <a:solidFill>
                <a:schemeClr val="tx2"/>
              </a:solidFill>
              <a:latin typeface="Times New Roman" panose="02020603050405020304" pitchFamily="18" charset="0"/>
              <a:cs typeface="Times New Roman" panose="02020603050405020304" pitchFamily="18" charset="0"/>
            </a:endParaRPr>
          </a:p>
        </p:txBody>
      </p:sp>
      <p:sp>
        <p:nvSpPr>
          <p:cNvPr id="62510" name="Text Box 46"/>
          <p:cNvSpPr txBox="1">
            <a:spLocks noChangeArrowheads="1"/>
          </p:cNvSpPr>
          <p:nvPr/>
        </p:nvSpPr>
        <p:spPr bwMode="auto">
          <a:xfrm>
            <a:off x="628650" y="2780928"/>
            <a:ext cx="2643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dirty="0">
                <a:solidFill>
                  <a:schemeClr val="tx2"/>
                </a:solidFill>
                <a:latin typeface="Times New Roman" panose="02020603050405020304" pitchFamily="18" charset="0"/>
                <a:cs typeface="Times New Roman" panose="02020603050405020304" pitchFamily="18" charset="0"/>
              </a:rPr>
              <a:t>(3) </a:t>
            </a:r>
            <a:r>
              <a:rPr kumimoji="1" lang="zh-CN" altLang="en-US" sz="2000" b="1" dirty="0">
                <a:solidFill>
                  <a:schemeClr val="tx2"/>
                </a:solidFill>
                <a:latin typeface="Times New Roman" panose="02020603050405020304" pitchFamily="18" charset="0"/>
                <a:cs typeface="Times New Roman" panose="02020603050405020304" pitchFamily="18" charset="0"/>
              </a:rPr>
              <a:t>最大稳定电流 </a:t>
            </a:r>
            <a:r>
              <a:rPr kumimoji="1" lang="en-US" altLang="zh-CN" sz="2000" b="1" i="1" dirty="0">
                <a:solidFill>
                  <a:schemeClr val="tx2"/>
                </a:solidFill>
                <a:latin typeface="Times New Roman" panose="02020603050405020304" pitchFamily="18" charset="0"/>
                <a:cs typeface="Times New Roman" panose="02020603050405020304" pitchFamily="18" charset="0"/>
              </a:rPr>
              <a:t>I</a:t>
            </a:r>
            <a:r>
              <a:rPr kumimoji="1" lang="en-US" altLang="zh-CN" sz="2000" b="1" baseline="-25000" dirty="0">
                <a:solidFill>
                  <a:schemeClr val="tx2"/>
                </a:solidFill>
                <a:latin typeface="Times New Roman" panose="02020603050405020304" pitchFamily="18" charset="0"/>
                <a:cs typeface="Times New Roman" panose="02020603050405020304" pitchFamily="18" charset="0"/>
              </a:rPr>
              <a:t>ZM</a:t>
            </a:r>
            <a:r>
              <a:rPr kumimoji="1" lang="en-US" altLang="zh-CN" sz="2000" b="1" dirty="0">
                <a:solidFill>
                  <a:schemeClr val="tx2"/>
                </a:solidFill>
                <a:latin typeface="Times New Roman" panose="02020603050405020304" pitchFamily="18" charset="0"/>
                <a:cs typeface="Times New Roman" panose="02020603050405020304" pitchFamily="18" charset="0"/>
              </a:rPr>
              <a:t> </a:t>
            </a:r>
            <a:r>
              <a:rPr kumimoji="1" lang="en-US" altLang="zh-CN" sz="2000" b="1" i="1" dirty="0">
                <a:solidFill>
                  <a:schemeClr val="tx2"/>
                </a:solidFill>
                <a:latin typeface="Times New Roman" panose="02020603050405020304" pitchFamily="18" charset="0"/>
                <a:cs typeface="Times New Roman" panose="02020603050405020304" pitchFamily="18" charset="0"/>
              </a:rPr>
              <a:t> </a:t>
            </a:r>
            <a:endParaRPr kumimoji="1" lang="en-US" altLang="zh-CN" sz="2000" b="1" dirty="0">
              <a:solidFill>
                <a:schemeClr val="tx2"/>
              </a:solidFill>
              <a:latin typeface="Times New Roman" panose="02020603050405020304" pitchFamily="18" charset="0"/>
              <a:cs typeface="Times New Roman" panose="02020603050405020304" pitchFamily="18" charset="0"/>
            </a:endParaRPr>
          </a:p>
        </p:txBody>
      </p:sp>
      <p:sp>
        <p:nvSpPr>
          <p:cNvPr id="62511" name="Text Box 47"/>
          <p:cNvSpPr txBox="1">
            <a:spLocks noChangeArrowheads="1"/>
          </p:cNvSpPr>
          <p:nvPr/>
        </p:nvSpPr>
        <p:spPr bwMode="auto">
          <a:xfrm>
            <a:off x="628650" y="4216177"/>
            <a:ext cx="3025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(4) </a:t>
            </a:r>
            <a:r>
              <a:rPr kumimoji="1" lang="zh-CN" altLang="en-US" sz="2000" b="1">
                <a:solidFill>
                  <a:schemeClr val="tx2"/>
                </a:solidFill>
                <a:latin typeface="Times New Roman" panose="02020603050405020304" pitchFamily="18" charset="0"/>
                <a:cs typeface="Times New Roman" panose="02020603050405020304" pitchFamily="18" charset="0"/>
              </a:rPr>
              <a:t>最大允许耗散功率</a:t>
            </a:r>
            <a:r>
              <a:rPr kumimoji="1" lang="en-US" altLang="zh-CN" sz="2000" b="1" i="1">
                <a:solidFill>
                  <a:schemeClr val="tx2"/>
                </a:solidFill>
                <a:latin typeface="Times New Roman" panose="02020603050405020304" pitchFamily="18" charset="0"/>
                <a:cs typeface="Times New Roman" panose="02020603050405020304" pitchFamily="18" charset="0"/>
              </a:rPr>
              <a:t>P</a:t>
            </a:r>
            <a:r>
              <a:rPr kumimoji="1" lang="en-US" altLang="zh-CN" sz="2000" b="1" baseline="-25000">
                <a:solidFill>
                  <a:schemeClr val="tx2"/>
                </a:solidFill>
                <a:latin typeface="Times New Roman" panose="02020603050405020304" pitchFamily="18" charset="0"/>
                <a:cs typeface="Times New Roman" panose="02020603050405020304" pitchFamily="18" charset="0"/>
              </a:rPr>
              <a:t>ZM</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62512" name="Text Box 48"/>
          <p:cNvSpPr txBox="1">
            <a:spLocks noChangeArrowheads="1"/>
          </p:cNvSpPr>
          <p:nvPr/>
        </p:nvSpPr>
        <p:spPr bwMode="auto">
          <a:xfrm>
            <a:off x="628650" y="5157564"/>
            <a:ext cx="1579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(5) </a:t>
            </a:r>
            <a:r>
              <a:rPr kumimoji="1" lang="zh-CN" altLang="en-US" sz="2000" b="1">
                <a:solidFill>
                  <a:schemeClr val="tx2"/>
                </a:solidFill>
                <a:latin typeface="Times New Roman" panose="02020603050405020304" pitchFamily="18" charset="0"/>
                <a:cs typeface="Times New Roman" panose="02020603050405020304" pitchFamily="18" charset="0"/>
              </a:rPr>
              <a:t>动态电阻</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62513" name="Text Box 49"/>
          <p:cNvSpPr txBox="1">
            <a:spLocks noChangeArrowheads="1"/>
          </p:cNvSpPr>
          <p:nvPr/>
        </p:nvSpPr>
        <p:spPr bwMode="auto">
          <a:xfrm>
            <a:off x="628650" y="5805264"/>
            <a:ext cx="2381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dirty="0">
                <a:solidFill>
                  <a:schemeClr val="tx2"/>
                </a:solidFill>
                <a:latin typeface="Times New Roman" panose="02020603050405020304" pitchFamily="18" charset="0"/>
                <a:cs typeface="Times New Roman" panose="02020603050405020304" pitchFamily="18" charset="0"/>
              </a:rPr>
              <a:t>(6) </a:t>
            </a:r>
            <a:r>
              <a:rPr kumimoji="1" lang="zh-CN" altLang="en-US" sz="2000" b="1" dirty="0">
                <a:solidFill>
                  <a:schemeClr val="tx2"/>
                </a:solidFill>
                <a:latin typeface="Times New Roman" panose="02020603050405020304" pitchFamily="18" charset="0"/>
                <a:cs typeface="Times New Roman" panose="02020603050405020304" pitchFamily="18" charset="0"/>
              </a:rPr>
              <a:t>电压温度系数</a:t>
            </a:r>
            <a:r>
              <a:rPr kumimoji="1" lang="zh-CN" altLang="en-US"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endParaRPr kumimoji="1" lang="en-US" altLang="zh-CN"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62514" name="Object 2"/>
          <p:cNvGraphicFramePr>
            <a:graphicFrameLocks noChangeAspect="1"/>
          </p:cNvGraphicFramePr>
          <p:nvPr/>
        </p:nvGraphicFramePr>
        <p:xfrm>
          <a:off x="1120775" y="4649564"/>
          <a:ext cx="1819275" cy="430213"/>
        </p:xfrm>
        <a:graphic>
          <a:graphicData uri="http://schemas.openxmlformats.org/presentationml/2006/ole">
            <mc:AlternateContent xmlns:mc="http://schemas.openxmlformats.org/markup-compatibility/2006">
              <mc:Choice xmlns:v="urn:schemas-microsoft-com:vml" Requires="v">
                <p:oleObj spid="_x0000_s9308" name="Equation" r:id="rId1" imgW="1054100" imgH="266700" progId="Equation.DSMT4">
                  <p:embed/>
                </p:oleObj>
              </mc:Choice>
              <mc:Fallback>
                <p:oleObj name="Equation" r:id="rId1" imgW="1054100" imgH="2667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775" y="4649564"/>
                        <a:ext cx="1819275"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515" name="Text Box 51"/>
          <p:cNvSpPr txBox="1">
            <a:spLocks noChangeArrowheads="1"/>
          </p:cNvSpPr>
          <p:nvPr/>
        </p:nvSpPr>
        <p:spPr bwMode="auto">
          <a:xfrm>
            <a:off x="3027363" y="4674964"/>
            <a:ext cx="45450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稳压管不发生热击穿的最大功率损耗。</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62516" name="Object 3"/>
          <p:cNvGraphicFramePr>
            <a:graphicFrameLocks noChangeAspect="1"/>
          </p:cNvGraphicFramePr>
          <p:nvPr/>
        </p:nvGraphicFramePr>
        <p:xfrm>
          <a:off x="2405137" y="5013176"/>
          <a:ext cx="1374775" cy="917575"/>
        </p:xfrm>
        <a:graphic>
          <a:graphicData uri="http://schemas.openxmlformats.org/presentationml/2006/ole">
            <mc:AlternateContent xmlns:mc="http://schemas.openxmlformats.org/markup-compatibility/2006">
              <mc:Choice xmlns:v="urn:schemas-microsoft-com:vml" Requires="v">
                <p:oleObj spid="_x0000_s9309" name="Equation" r:id="rId3" imgW="800100" imgH="571500" progId="Equation.DSMT4">
                  <p:embed/>
                </p:oleObj>
              </mc:Choice>
              <mc:Fallback>
                <p:oleObj name="Equation" r:id="rId3" imgW="800100" imgH="571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5137" y="5013176"/>
                        <a:ext cx="1374775"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517" name="Text Box 53"/>
          <p:cNvSpPr txBox="1">
            <a:spLocks noChangeArrowheads="1"/>
          </p:cNvSpPr>
          <p:nvPr/>
        </p:nvSpPr>
        <p:spPr bwMode="auto">
          <a:xfrm>
            <a:off x="4014788" y="5278214"/>
            <a:ext cx="431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动态电阻越小稳压管稳压效果越好。</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62518" name="Text Box 54"/>
          <p:cNvSpPr txBox="1">
            <a:spLocks noChangeArrowheads="1"/>
          </p:cNvSpPr>
          <p:nvPr/>
        </p:nvSpPr>
        <p:spPr bwMode="auto">
          <a:xfrm>
            <a:off x="4049713" y="5822727"/>
            <a:ext cx="3775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稳压管受温度变化的影响系数。</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62519" name="Rectangle 55"/>
          <p:cNvSpPr>
            <a:spLocks noChangeArrowheads="1"/>
          </p:cNvSpPr>
          <p:nvPr/>
        </p:nvSpPr>
        <p:spPr bwMode="auto">
          <a:xfrm>
            <a:off x="809625" y="3301355"/>
            <a:ext cx="7558088"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a:lnSpc>
                <a:spcPct val="130000"/>
              </a:lnSpc>
            </a:pPr>
            <a:r>
              <a:rPr kumimoji="1" lang="zh-CN" altLang="en-US" sz="2000" b="1" dirty="0">
                <a:solidFill>
                  <a:schemeClr val="tx2"/>
                </a:solidFill>
              </a:rPr>
              <a:t>不同型号的稳 压管，都规定一</a:t>
            </a:r>
            <a:br>
              <a:rPr kumimoji="1" lang="zh-CN" altLang="en-US" sz="2000" b="1" dirty="0">
                <a:solidFill>
                  <a:schemeClr val="tx2"/>
                </a:solidFill>
              </a:rPr>
            </a:br>
            <a:r>
              <a:rPr kumimoji="1" lang="zh-CN" altLang="en-US" sz="2000" b="1" dirty="0">
                <a:solidFill>
                  <a:schemeClr val="tx2"/>
                </a:solidFill>
              </a:rPr>
              <a:t>个最大稳定电流， 防止稳压管过流发生热击穿而损。</a:t>
            </a:r>
            <a:endParaRPr kumimoji="1" lang="zh-CN" altLang="en-US" sz="2000" b="1" dirty="0">
              <a:solidFill>
                <a:schemeClr val="tx2"/>
              </a:solidFill>
            </a:endParaRPr>
          </a:p>
        </p:txBody>
      </p:sp>
      <p:sp>
        <p:nvSpPr>
          <p:cNvPr id="9" name="灯片编号占位符 8"/>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5"/>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499"/>
                                          </p:stCondLst>
                                        </p:cTn>
                                        <p:tgtEl>
                                          <p:spTgt spid="6"/>
                                        </p:tgtEl>
                                        <p:attrNameLst>
                                          <p:attrName>style.visibility</p:attrName>
                                        </p:attrNameLst>
                                      </p:cBhvr>
                                      <p:to>
                                        <p:strVal val="visible"/>
                                      </p:to>
                                    </p:set>
                                  </p:childTnLst>
                                </p:cTn>
                              </p:par>
                            </p:childTnLst>
                          </p:cTn>
                        </p:par>
                        <p:par>
                          <p:cTn id="20" fill="hold">
                            <p:stCondLst>
                              <p:cond delay="1500"/>
                            </p:stCondLst>
                            <p:childTnLst>
                              <p:par>
                                <p:cTn id="21" presetID="1" presetClass="entr" presetSubtype="0" fill="hold" grpId="0" nodeType="afterEffect">
                                  <p:stCondLst>
                                    <p:cond delay="0"/>
                                  </p:stCondLst>
                                  <p:childTnLst>
                                    <p:set>
                                      <p:cBhvr>
                                        <p:cTn id="22" dur="1" fill="hold">
                                          <p:stCondLst>
                                            <p:cond delay="499"/>
                                          </p:stCondLst>
                                        </p:cTn>
                                        <p:tgtEl>
                                          <p:spTgt spid="62497"/>
                                        </p:tgtEl>
                                        <p:attrNameLst>
                                          <p:attrName>style.visibility</p:attrName>
                                        </p:attrNameLst>
                                      </p:cBhvr>
                                      <p:to>
                                        <p:strVal val="visible"/>
                                      </p:to>
                                    </p:set>
                                  </p:childTnLst>
                                </p:cTn>
                              </p:par>
                            </p:childTnLst>
                          </p:cTn>
                        </p:par>
                        <p:par>
                          <p:cTn id="23" fill="hold">
                            <p:stCondLst>
                              <p:cond delay="2000"/>
                            </p:stCondLst>
                            <p:childTnLst>
                              <p:par>
                                <p:cTn id="24" presetID="1" presetClass="entr" presetSubtype="0" fill="hold" nodeType="afterEffect">
                                  <p:stCondLst>
                                    <p:cond delay="0"/>
                                  </p:stCondLst>
                                  <p:childTnLst>
                                    <p:set>
                                      <p:cBhvr>
                                        <p:cTn id="25" dur="1" fill="hold">
                                          <p:stCondLst>
                                            <p:cond delay="499"/>
                                          </p:stCondLst>
                                        </p:cTn>
                                        <p:tgtEl>
                                          <p:spTgt spid="7"/>
                                        </p:tgtEl>
                                        <p:attrNameLst>
                                          <p:attrName>style.visibility</p:attrName>
                                        </p:attrNameLst>
                                      </p:cBhvr>
                                      <p:to>
                                        <p:strVal val="visible"/>
                                      </p:to>
                                    </p:se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3000"/>
                            </p:stCondLst>
                            <p:childTnLst>
                              <p:par>
                                <p:cTn id="31" presetID="22" presetClass="entr" presetSubtype="8" fill="hold" grpId="0" nodeType="afterEffect">
                                  <p:stCondLst>
                                    <p:cond delay="0"/>
                                  </p:stCondLst>
                                  <p:iterate type="lt">
                                    <p:tmPct val="100000"/>
                                  </p:iterate>
                                  <p:childTnLst>
                                    <p:set>
                                      <p:cBhvr>
                                        <p:cTn id="32" dur="1" fill="hold">
                                          <p:stCondLst>
                                            <p:cond delay="0"/>
                                          </p:stCondLst>
                                        </p:cTn>
                                        <p:tgtEl>
                                          <p:spTgt spid="62508"/>
                                        </p:tgtEl>
                                        <p:attrNameLst>
                                          <p:attrName>style.visibility</p:attrName>
                                        </p:attrNameLst>
                                      </p:cBhvr>
                                      <p:to>
                                        <p:strVal val="visible"/>
                                      </p:to>
                                    </p:set>
                                    <p:animEffect transition="in" filter="wipe(left)">
                                      <p:cBhvr>
                                        <p:cTn id="33" dur="75"/>
                                        <p:tgtEl>
                                          <p:spTgt spid="6250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lt">
                                    <p:tmPct val="100000"/>
                                  </p:iterate>
                                  <p:childTnLst>
                                    <p:set>
                                      <p:cBhvr>
                                        <p:cTn id="37" dur="1" fill="hold">
                                          <p:stCondLst>
                                            <p:cond delay="0"/>
                                          </p:stCondLst>
                                        </p:cTn>
                                        <p:tgtEl>
                                          <p:spTgt spid="62509"/>
                                        </p:tgtEl>
                                        <p:attrNameLst>
                                          <p:attrName>style.visibility</p:attrName>
                                        </p:attrNameLst>
                                      </p:cBhvr>
                                      <p:to>
                                        <p:strVal val="visible"/>
                                      </p:to>
                                    </p:set>
                                    <p:animEffect transition="in" filter="wipe(left)">
                                      <p:cBhvr>
                                        <p:cTn id="38" dur="75"/>
                                        <p:tgtEl>
                                          <p:spTgt spid="6250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62510"/>
                                        </p:tgtEl>
                                        <p:attrNameLst>
                                          <p:attrName>style.visibility</p:attrName>
                                        </p:attrNameLst>
                                      </p:cBhvr>
                                      <p:to>
                                        <p:strVal val="visible"/>
                                      </p:to>
                                    </p:set>
                                    <p:animEffect transition="in" filter="wipe(left)">
                                      <p:cBhvr>
                                        <p:cTn id="43" dur="75"/>
                                        <p:tgtEl>
                                          <p:spTgt spid="6251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iterate type="lt">
                                    <p:tmPct val="100000"/>
                                  </p:iterate>
                                  <p:childTnLst>
                                    <p:set>
                                      <p:cBhvr>
                                        <p:cTn id="47" dur="1" fill="hold">
                                          <p:stCondLst>
                                            <p:cond delay="0"/>
                                          </p:stCondLst>
                                        </p:cTn>
                                        <p:tgtEl>
                                          <p:spTgt spid="62519"/>
                                        </p:tgtEl>
                                        <p:attrNameLst>
                                          <p:attrName>style.visibility</p:attrName>
                                        </p:attrNameLst>
                                      </p:cBhvr>
                                      <p:to>
                                        <p:strVal val="visible"/>
                                      </p:to>
                                    </p:set>
                                    <p:animEffect transition="in" filter="wipe(left)">
                                      <p:cBhvr>
                                        <p:cTn id="48" dur="75"/>
                                        <p:tgtEl>
                                          <p:spTgt spid="6251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iterate type="lt">
                                    <p:tmPct val="100000"/>
                                  </p:iterate>
                                  <p:childTnLst>
                                    <p:set>
                                      <p:cBhvr>
                                        <p:cTn id="52" dur="1" fill="hold">
                                          <p:stCondLst>
                                            <p:cond delay="0"/>
                                          </p:stCondLst>
                                        </p:cTn>
                                        <p:tgtEl>
                                          <p:spTgt spid="62511"/>
                                        </p:tgtEl>
                                        <p:attrNameLst>
                                          <p:attrName>style.visibility</p:attrName>
                                        </p:attrNameLst>
                                      </p:cBhvr>
                                      <p:to>
                                        <p:strVal val="visible"/>
                                      </p:to>
                                    </p:set>
                                    <p:animEffect transition="in" filter="wipe(left)">
                                      <p:cBhvr>
                                        <p:cTn id="53" dur="75"/>
                                        <p:tgtEl>
                                          <p:spTgt spid="62511"/>
                                        </p:tgtEl>
                                      </p:cBhvr>
                                    </p:animEffect>
                                  </p:childTnLst>
                                </p:cTn>
                              </p:par>
                            </p:childTnLst>
                          </p:cTn>
                        </p:par>
                        <p:par>
                          <p:cTn id="54" fill="hold">
                            <p:stCondLst>
                              <p:cond delay="1125"/>
                            </p:stCondLst>
                            <p:childTnLst>
                              <p:par>
                                <p:cTn id="55" presetID="22" presetClass="entr" presetSubtype="8" fill="hold" nodeType="afterEffect">
                                  <p:stCondLst>
                                    <p:cond delay="0"/>
                                  </p:stCondLst>
                                  <p:childTnLst>
                                    <p:set>
                                      <p:cBhvr>
                                        <p:cTn id="56" dur="1" fill="hold">
                                          <p:stCondLst>
                                            <p:cond delay="0"/>
                                          </p:stCondLst>
                                        </p:cTn>
                                        <p:tgtEl>
                                          <p:spTgt spid="62514"/>
                                        </p:tgtEl>
                                        <p:attrNameLst>
                                          <p:attrName>style.visibility</p:attrName>
                                        </p:attrNameLst>
                                      </p:cBhvr>
                                      <p:to>
                                        <p:strVal val="visible"/>
                                      </p:to>
                                    </p:set>
                                    <p:animEffect transition="in" filter="wipe(left)">
                                      <p:cBhvr>
                                        <p:cTn id="57" dur="500"/>
                                        <p:tgtEl>
                                          <p:spTgt spid="625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62515"/>
                                        </p:tgtEl>
                                        <p:attrNameLst>
                                          <p:attrName>style.visibility</p:attrName>
                                        </p:attrNameLst>
                                      </p:cBhvr>
                                      <p:to>
                                        <p:strVal val="visible"/>
                                      </p:to>
                                    </p:set>
                                    <p:animEffect transition="in" filter="wipe(left)">
                                      <p:cBhvr>
                                        <p:cTn id="62" dur="75"/>
                                        <p:tgtEl>
                                          <p:spTgt spid="625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iterate type="lt">
                                    <p:tmPct val="100000"/>
                                  </p:iterate>
                                  <p:childTnLst>
                                    <p:set>
                                      <p:cBhvr>
                                        <p:cTn id="66" dur="1" fill="hold">
                                          <p:stCondLst>
                                            <p:cond delay="0"/>
                                          </p:stCondLst>
                                        </p:cTn>
                                        <p:tgtEl>
                                          <p:spTgt spid="62512"/>
                                        </p:tgtEl>
                                        <p:attrNameLst>
                                          <p:attrName>style.visibility</p:attrName>
                                        </p:attrNameLst>
                                      </p:cBhvr>
                                      <p:to>
                                        <p:strVal val="visible"/>
                                      </p:to>
                                    </p:set>
                                    <p:animEffect transition="in" filter="wipe(left)">
                                      <p:cBhvr>
                                        <p:cTn id="67" dur="75"/>
                                        <p:tgtEl>
                                          <p:spTgt spid="62512"/>
                                        </p:tgtEl>
                                      </p:cBhvr>
                                    </p:animEffect>
                                  </p:childTnLst>
                                </p:cTn>
                              </p:par>
                            </p:childTnLst>
                          </p:cTn>
                        </p:par>
                        <p:par>
                          <p:cTn id="68" fill="hold">
                            <p:stCondLst>
                              <p:cond delay="600"/>
                            </p:stCondLst>
                            <p:childTnLst>
                              <p:par>
                                <p:cTn id="69" presetID="22" presetClass="entr" presetSubtype="8" fill="hold" nodeType="afterEffect">
                                  <p:stCondLst>
                                    <p:cond delay="0"/>
                                  </p:stCondLst>
                                  <p:childTnLst>
                                    <p:set>
                                      <p:cBhvr>
                                        <p:cTn id="70" dur="1" fill="hold">
                                          <p:stCondLst>
                                            <p:cond delay="0"/>
                                          </p:stCondLst>
                                        </p:cTn>
                                        <p:tgtEl>
                                          <p:spTgt spid="62516"/>
                                        </p:tgtEl>
                                        <p:attrNameLst>
                                          <p:attrName>style.visibility</p:attrName>
                                        </p:attrNameLst>
                                      </p:cBhvr>
                                      <p:to>
                                        <p:strVal val="visible"/>
                                      </p:to>
                                    </p:set>
                                    <p:animEffect transition="in" filter="wipe(left)">
                                      <p:cBhvr>
                                        <p:cTn id="71" dur="500"/>
                                        <p:tgtEl>
                                          <p:spTgt spid="6251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iterate type="lt">
                                    <p:tmPct val="100000"/>
                                  </p:iterate>
                                  <p:childTnLst>
                                    <p:set>
                                      <p:cBhvr>
                                        <p:cTn id="75" dur="1" fill="hold">
                                          <p:stCondLst>
                                            <p:cond delay="0"/>
                                          </p:stCondLst>
                                        </p:cTn>
                                        <p:tgtEl>
                                          <p:spTgt spid="62517"/>
                                        </p:tgtEl>
                                        <p:attrNameLst>
                                          <p:attrName>style.visibility</p:attrName>
                                        </p:attrNameLst>
                                      </p:cBhvr>
                                      <p:to>
                                        <p:strVal val="visible"/>
                                      </p:to>
                                    </p:set>
                                    <p:animEffect transition="in" filter="wipe(left)">
                                      <p:cBhvr>
                                        <p:cTn id="76" dur="75"/>
                                        <p:tgtEl>
                                          <p:spTgt spid="6251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iterate type="lt">
                                    <p:tmPct val="100000"/>
                                  </p:iterate>
                                  <p:childTnLst>
                                    <p:set>
                                      <p:cBhvr>
                                        <p:cTn id="80" dur="1" fill="hold">
                                          <p:stCondLst>
                                            <p:cond delay="0"/>
                                          </p:stCondLst>
                                        </p:cTn>
                                        <p:tgtEl>
                                          <p:spTgt spid="62513"/>
                                        </p:tgtEl>
                                        <p:attrNameLst>
                                          <p:attrName>style.visibility</p:attrName>
                                        </p:attrNameLst>
                                      </p:cBhvr>
                                      <p:to>
                                        <p:strVal val="visible"/>
                                      </p:to>
                                    </p:set>
                                    <p:animEffect transition="in" filter="wipe(left)">
                                      <p:cBhvr>
                                        <p:cTn id="81" dur="75"/>
                                        <p:tgtEl>
                                          <p:spTgt spid="6251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iterate type="lt">
                                    <p:tmPct val="100000"/>
                                  </p:iterate>
                                  <p:childTnLst>
                                    <p:set>
                                      <p:cBhvr>
                                        <p:cTn id="85" dur="1" fill="hold">
                                          <p:stCondLst>
                                            <p:cond delay="0"/>
                                          </p:stCondLst>
                                        </p:cTn>
                                        <p:tgtEl>
                                          <p:spTgt spid="62518"/>
                                        </p:tgtEl>
                                        <p:attrNameLst>
                                          <p:attrName>style.visibility</p:attrName>
                                        </p:attrNameLst>
                                      </p:cBhvr>
                                      <p:to>
                                        <p:strVal val="visible"/>
                                      </p:to>
                                    </p:set>
                                    <p:animEffect transition="in" filter="wipe(left)">
                                      <p:cBhvr>
                                        <p:cTn id="86" dur="75"/>
                                        <p:tgtEl>
                                          <p:spTgt spid="62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97" grpId="0" animBg="1"/>
      <p:bldP spid="62508" grpId="0" autoUpdateAnimBg="0"/>
      <p:bldP spid="62509" grpId="0" autoUpdateAnimBg="0"/>
      <p:bldP spid="62510" grpId="0" autoUpdateAnimBg="0"/>
      <p:bldP spid="62511" grpId="0" autoUpdateAnimBg="0"/>
      <p:bldP spid="62512" grpId="0" autoUpdateAnimBg="0"/>
      <p:bldP spid="62513" grpId="0" autoUpdateAnimBg="0"/>
      <p:bldP spid="62515" grpId="0" autoUpdateAnimBg="0"/>
      <p:bldP spid="62517" grpId="0" autoUpdateAnimBg="0"/>
      <p:bldP spid="62518" grpId="0" autoUpdateAnimBg="0"/>
      <p:bldP spid="6251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endParaRPr lang="zh-CN" altLang="en-US" sz="3600" smtClean="0">
              <a:ea typeface="宋体" panose="02010600030101010101" pitchFamily="2" charset="-122"/>
            </a:endParaRPr>
          </a:p>
        </p:txBody>
      </p:sp>
      <p:sp>
        <p:nvSpPr>
          <p:cNvPr id="4" name="灯片编号占位符 3"/>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10244" name="Rectangle 3"/>
          <p:cNvSpPr>
            <a:spLocks noGrp="1" noChangeArrowheads="1"/>
          </p:cNvSpPr>
          <p:nvPr>
            <p:ph sz="quarter" idx="4294967295"/>
          </p:nvPr>
        </p:nvSpPr>
        <p:spPr>
          <a:xfrm>
            <a:off x="0" y="765175"/>
            <a:ext cx="8891588" cy="5543550"/>
          </a:xfrm>
        </p:spPr>
        <p:txBody>
          <a:bodyPr/>
          <a:lstStyle/>
          <a:p>
            <a:pPr eaLnBrk="1" hangingPunct="1">
              <a:lnSpc>
                <a:spcPct val="150000"/>
              </a:lnSpc>
              <a:buFont typeface="Wingdings" panose="05000000000000000000" pitchFamily="2" charset="2"/>
              <a:buNone/>
            </a:pPr>
            <a:r>
              <a:rPr lang="en-US" altLang="zh-CN" sz="2400" smtClean="0">
                <a:ea typeface="宋体" panose="02010600030101010101" pitchFamily="2" charset="-122"/>
              </a:rPr>
              <a:t>     </a:t>
            </a:r>
            <a:r>
              <a:rPr lang="zh-CN" altLang="en-US" sz="2400" smtClean="0">
                <a:ea typeface="宋体" panose="02010600030101010101" pitchFamily="2" charset="-122"/>
              </a:rPr>
              <a:t>整流电路的目的是把交流电压转变为直流脉动的电压。常见的整流电路有单相半波、全波、桥式整流等。</a:t>
            </a:r>
            <a:endParaRPr lang="zh-CN" altLang="en-US"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单相半波整流电路</a:t>
            </a:r>
            <a:endParaRPr lang="zh-CN" altLang="en-US" sz="2400" smtClean="0">
              <a:ea typeface="宋体" panose="02010600030101010101" pitchFamily="2" charset="-122"/>
            </a:endParaRPr>
          </a:p>
        </p:txBody>
      </p:sp>
      <p:sp>
        <p:nvSpPr>
          <p:cNvPr id="33796" name="Text Box 4"/>
          <p:cNvSpPr txBox="1">
            <a:spLocks noChangeArrowheads="1"/>
          </p:cNvSpPr>
          <p:nvPr/>
        </p:nvSpPr>
        <p:spPr bwMode="auto">
          <a:xfrm>
            <a:off x="5638800" y="4267200"/>
            <a:ext cx="3505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2 </a:t>
            </a:r>
            <a:r>
              <a:rPr kumimoji="1" lang="en-US" altLang="zh-CN" sz="2400" b="1">
                <a:solidFill>
                  <a:schemeClr val="tx2"/>
                </a:solidFill>
                <a:latin typeface="Times New Roman" panose="02020603050405020304" pitchFamily="18" charset="0"/>
                <a:cs typeface="Times New Roman" panose="02020603050405020304" pitchFamily="18" charset="0"/>
              </a:rPr>
              <a:t>&gt;0</a:t>
            </a:r>
            <a:r>
              <a:rPr kumimoji="1" lang="zh-CN" altLang="zh-CN" sz="2400" b="1">
                <a:solidFill>
                  <a:schemeClr val="tx2"/>
                </a:solidFill>
                <a:latin typeface="Times New Roman" panose="02020603050405020304" pitchFamily="18" charset="0"/>
                <a:cs typeface="Times New Roman" panose="02020603050405020304" pitchFamily="18" charset="0"/>
              </a:rPr>
              <a:t>时，二极管导通。</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5"/>
          <p:cNvGrpSpPr/>
          <p:nvPr/>
        </p:nvGrpSpPr>
        <p:grpSpPr bwMode="auto">
          <a:xfrm>
            <a:off x="3181350" y="3792538"/>
            <a:ext cx="1204913" cy="1231900"/>
            <a:chOff x="2101" y="2671"/>
            <a:chExt cx="759" cy="776"/>
          </a:xfrm>
        </p:grpSpPr>
        <p:sp>
          <p:nvSpPr>
            <p:cNvPr id="10286" name="Freeform 6"/>
            <p:cNvSpPr/>
            <p:nvPr/>
          </p:nvSpPr>
          <p:spPr bwMode="auto">
            <a:xfrm>
              <a:off x="2101" y="2671"/>
              <a:ext cx="759" cy="776"/>
            </a:xfrm>
            <a:custGeom>
              <a:avLst/>
              <a:gdLst>
                <a:gd name="T0" fmla="*/ 0 w 759"/>
                <a:gd name="T1" fmla="*/ 22 h 776"/>
                <a:gd name="T2" fmla="*/ 263 w 759"/>
                <a:gd name="T3" fmla="*/ 13 h 776"/>
                <a:gd name="T4" fmla="*/ 509 w 759"/>
                <a:gd name="T5" fmla="*/ 13 h 776"/>
                <a:gd name="T6" fmla="*/ 718 w 759"/>
                <a:gd name="T7" fmla="*/ 94 h 776"/>
                <a:gd name="T8" fmla="*/ 754 w 759"/>
                <a:gd name="T9" fmla="*/ 485 h 776"/>
                <a:gd name="T10" fmla="*/ 745 w 759"/>
                <a:gd name="T11" fmla="*/ 776 h 776"/>
                <a:gd name="T12" fmla="*/ 0 60000 65536"/>
                <a:gd name="T13" fmla="*/ 0 60000 65536"/>
                <a:gd name="T14" fmla="*/ 0 60000 65536"/>
                <a:gd name="T15" fmla="*/ 0 60000 65536"/>
                <a:gd name="T16" fmla="*/ 0 60000 65536"/>
                <a:gd name="T17" fmla="*/ 0 60000 65536"/>
                <a:gd name="T18" fmla="*/ 0 w 759"/>
                <a:gd name="T19" fmla="*/ 0 h 776"/>
                <a:gd name="T20" fmla="*/ 759 w 759"/>
                <a:gd name="T21" fmla="*/ 776 h 776"/>
              </a:gdLst>
              <a:ahLst/>
              <a:cxnLst>
                <a:cxn ang="T12">
                  <a:pos x="T0" y="T1"/>
                </a:cxn>
                <a:cxn ang="T13">
                  <a:pos x="T2" y="T3"/>
                </a:cxn>
                <a:cxn ang="T14">
                  <a:pos x="T4" y="T5"/>
                </a:cxn>
                <a:cxn ang="T15">
                  <a:pos x="T6" y="T7"/>
                </a:cxn>
                <a:cxn ang="T16">
                  <a:pos x="T8" y="T9"/>
                </a:cxn>
                <a:cxn ang="T17">
                  <a:pos x="T10" y="T11"/>
                </a:cxn>
              </a:cxnLst>
              <a:rect l="T18" t="T19" r="T20" b="T21"/>
              <a:pathLst>
                <a:path w="759" h="776">
                  <a:moveTo>
                    <a:pt x="0" y="22"/>
                  </a:moveTo>
                  <a:cubicBezTo>
                    <a:pt x="45" y="24"/>
                    <a:pt x="178" y="14"/>
                    <a:pt x="263" y="13"/>
                  </a:cubicBezTo>
                  <a:cubicBezTo>
                    <a:pt x="348" y="12"/>
                    <a:pt x="433" y="0"/>
                    <a:pt x="509" y="13"/>
                  </a:cubicBezTo>
                  <a:cubicBezTo>
                    <a:pt x="585" y="26"/>
                    <a:pt x="677" y="15"/>
                    <a:pt x="718" y="94"/>
                  </a:cubicBezTo>
                  <a:cubicBezTo>
                    <a:pt x="759" y="173"/>
                    <a:pt x="749" y="371"/>
                    <a:pt x="754" y="485"/>
                  </a:cubicBezTo>
                  <a:cubicBezTo>
                    <a:pt x="759" y="599"/>
                    <a:pt x="747" y="716"/>
                    <a:pt x="745" y="776"/>
                  </a:cubicBezTo>
                </a:path>
              </a:pathLst>
            </a:custGeom>
            <a:noFill/>
            <a:ln w="38100">
              <a:solidFill>
                <a:schemeClr val="tx2"/>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7" name="Text Box 7"/>
            <p:cNvSpPr txBox="1">
              <a:spLocks noChangeArrowheads="1"/>
            </p:cNvSpPr>
            <p:nvPr/>
          </p:nvSpPr>
          <p:spPr bwMode="auto">
            <a:xfrm>
              <a:off x="2164" y="2682"/>
              <a:ext cx="41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i="1">
                  <a:solidFill>
                    <a:schemeClr val="tx2"/>
                  </a:solidFill>
                  <a:latin typeface="Times New Roman" panose="02020603050405020304" pitchFamily="18" charset="0"/>
                  <a:cs typeface="Times New Roman" panose="02020603050405020304" pitchFamily="18" charset="0"/>
                </a:rPr>
                <a:t>I</a:t>
              </a:r>
              <a:r>
                <a:rPr kumimoji="1" lang="en-US" altLang="zh-CN" sz="2800" b="1" baseline="-25000">
                  <a:solidFill>
                    <a:schemeClr val="tx2"/>
                  </a:solidFill>
                  <a:latin typeface="Times New Roman" panose="02020603050405020304" pitchFamily="18" charset="0"/>
                  <a:cs typeface="Times New Roman" panose="02020603050405020304" pitchFamily="18" charset="0"/>
                </a:rPr>
                <a:t>0</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grpSp>
      <p:sp>
        <p:nvSpPr>
          <p:cNvPr id="33800" name="Rectangle 8"/>
          <p:cNvSpPr>
            <a:spLocks noChangeArrowheads="1"/>
          </p:cNvSpPr>
          <p:nvPr/>
        </p:nvSpPr>
        <p:spPr bwMode="auto">
          <a:xfrm>
            <a:off x="5638800" y="4940300"/>
            <a:ext cx="32766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CN" altLang="zh-CN" sz="2400" b="1">
                <a:solidFill>
                  <a:schemeClr val="tx2"/>
                </a:solidFill>
                <a:latin typeface="Times New Roman" panose="02020603050405020304" pitchFamily="18" charset="0"/>
                <a:cs typeface="Times New Roman" panose="02020603050405020304" pitchFamily="18" charset="0"/>
              </a:rPr>
              <a:t>忽略二极管正向压降：</a:t>
            </a:r>
            <a:endParaRPr kumimoji="1" lang="zh-CN" altLang="zh-CN" sz="2400" b="1">
              <a:solidFill>
                <a:schemeClr val="tx2"/>
              </a:solidFill>
              <a:latin typeface="Times New Roman" panose="02020603050405020304" pitchFamily="18" charset="0"/>
              <a:cs typeface="Times New Roman" panose="02020603050405020304" pitchFamily="18" charset="0"/>
            </a:endParaRPr>
          </a:p>
          <a:p>
            <a:r>
              <a:rPr kumimoji="1" lang="zh-CN" altLang="en-US">
                <a:solidFill>
                  <a:schemeClr val="tx2"/>
                </a:solidFill>
                <a:latin typeface="Times New Roman" panose="02020603050405020304" pitchFamily="18" charset="0"/>
                <a:cs typeface="Times New Roman" panose="02020603050405020304" pitchFamily="18" charset="0"/>
              </a:rPr>
              <a:t>      </a:t>
            </a:r>
            <a:r>
              <a:rPr kumimoji="1" lang="en-US" altLang="zh-CN" sz="2800" i="1">
                <a:solidFill>
                  <a:srgbClr val="FF0000"/>
                </a:solidFill>
                <a:latin typeface="Times New Roman" panose="02020603050405020304" pitchFamily="18" charset="0"/>
                <a:cs typeface="Times New Roman" panose="02020603050405020304" pitchFamily="18" charset="0"/>
              </a:rPr>
              <a:t>u</a:t>
            </a:r>
            <a:r>
              <a:rPr kumimoji="1" lang="en-US" altLang="zh-CN" sz="2800" baseline="-25000">
                <a:solidFill>
                  <a:srgbClr val="FF0000"/>
                </a:solidFill>
                <a:latin typeface="Times New Roman" panose="02020603050405020304" pitchFamily="18" charset="0"/>
                <a:cs typeface="Times New Roman" panose="02020603050405020304" pitchFamily="18" charset="0"/>
              </a:rPr>
              <a:t>0</a:t>
            </a:r>
            <a:r>
              <a:rPr kumimoji="1" lang="en-US" altLang="zh-CN" sz="2800">
                <a:solidFill>
                  <a:srgbClr val="FF0000"/>
                </a:solidFill>
                <a:latin typeface="Times New Roman" panose="02020603050405020304" pitchFamily="18" charset="0"/>
                <a:cs typeface="Times New Roman" panose="02020603050405020304" pitchFamily="18" charset="0"/>
              </a:rPr>
              <a:t>=</a:t>
            </a:r>
            <a:r>
              <a:rPr kumimoji="1" lang="en-US" altLang="zh-CN" sz="2800" i="1">
                <a:solidFill>
                  <a:srgbClr val="FF0000"/>
                </a:solidFill>
                <a:latin typeface="Times New Roman" panose="02020603050405020304" pitchFamily="18" charset="0"/>
                <a:cs typeface="Times New Roman" panose="02020603050405020304" pitchFamily="18" charset="0"/>
              </a:rPr>
              <a:t>u</a:t>
            </a:r>
            <a:r>
              <a:rPr kumimoji="1" lang="en-US" altLang="zh-CN" sz="2800" baseline="-25000">
                <a:solidFill>
                  <a:srgbClr val="FF0000"/>
                </a:solidFill>
                <a:latin typeface="Times New Roman" panose="02020603050405020304" pitchFamily="18" charset="0"/>
                <a:cs typeface="Times New Roman" panose="02020603050405020304" pitchFamily="18" charset="0"/>
              </a:rPr>
              <a:t>2</a:t>
            </a:r>
            <a:endParaRPr kumimoji="1" lang="en-US" altLang="zh-CN" sz="2800">
              <a:solidFill>
                <a:srgbClr val="FF0000"/>
              </a:solidFill>
              <a:latin typeface="Times New Roman" panose="02020603050405020304" pitchFamily="18" charset="0"/>
              <a:cs typeface="Times New Roman" panose="02020603050405020304" pitchFamily="18" charset="0"/>
            </a:endParaRPr>
          </a:p>
        </p:txBody>
      </p:sp>
      <p:sp>
        <p:nvSpPr>
          <p:cNvPr id="33801" name="Text Box 9"/>
          <p:cNvSpPr txBox="1">
            <a:spLocks noChangeArrowheads="1"/>
          </p:cNvSpPr>
          <p:nvPr/>
        </p:nvSpPr>
        <p:spPr bwMode="auto">
          <a:xfrm>
            <a:off x="5570538" y="2527300"/>
            <a:ext cx="3116262"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r>
              <a:rPr kumimoji="1" lang="en-US" altLang="zh-CN" sz="2400" b="1">
                <a:solidFill>
                  <a:schemeClr val="tx2"/>
                </a:solidFill>
                <a:latin typeface="Times New Roman" panose="02020603050405020304" pitchFamily="18" charset="0"/>
                <a:cs typeface="Times New Roman" panose="02020603050405020304" pitchFamily="18" charset="0"/>
              </a:rPr>
              <a:t>&lt;0</a:t>
            </a:r>
            <a:r>
              <a:rPr kumimoji="1" lang="zh-CN" altLang="zh-CN" sz="2400" b="1">
                <a:solidFill>
                  <a:schemeClr val="tx2"/>
                </a:solidFill>
                <a:latin typeface="Times New Roman" panose="02020603050405020304" pitchFamily="18" charset="0"/>
                <a:cs typeface="Times New Roman" panose="02020603050405020304" pitchFamily="18" charset="0"/>
              </a:rPr>
              <a:t>，二极管截止,</a:t>
            </a:r>
            <a:endParaRPr kumimoji="1" lang="en-US" altLang="zh-CN" sz="2400" b="1">
              <a:solidFill>
                <a:schemeClr val="tx2"/>
              </a:solidFill>
              <a:latin typeface="Times New Roman" panose="02020603050405020304" pitchFamily="18" charset="0"/>
              <a:cs typeface="Times New Roman" panose="02020603050405020304" pitchFamily="18" charset="0"/>
            </a:endParaRPr>
          </a:p>
          <a:p>
            <a:pPr eaLnBrk="1" hangingPunct="1">
              <a:spcBef>
                <a:spcPct val="50000"/>
              </a:spcBef>
            </a:pPr>
            <a:r>
              <a:rPr kumimoji="1" lang="zh-CN" altLang="zh-CN" sz="2400" b="1">
                <a:solidFill>
                  <a:schemeClr val="tx2"/>
                </a:solidFill>
                <a:latin typeface="Times New Roman" panose="02020603050405020304" pitchFamily="18" charset="0"/>
                <a:cs typeface="Times New Roman" panose="02020603050405020304" pitchFamily="18" charset="0"/>
              </a:rPr>
              <a:t>输出电流</a:t>
            </a:r>
            <a:r>
              <a:rPr kumimoji="1" lang="zh-CN" altLang="en-US" sz="2400" b="1">
                <a:solidFill>
                  <a:schemeClr val="tx2"/>
                </a:solidFill>
                <a:latin typeface="Times New Roman" panose="02020603050405020304" pitchFamily="18" charset="0"/>
                <a:cs typeface="Times New Roman" panose="02020603050405020304" pitchFamily="18" charset="0"/>
              </a:rPr>
              <a:t>为</a:t>
            </a:r>
            <a:r>
              <a:rPr kumimoji="1" lang="en-US" altLang="zh-CN" sz="2400" b="1">
                <a:solidFill>
                  <a:schemeClr val="tx2"/>
                </a:solidFill>
                <a:latin typeface="Times New Roman" panose="02020603050405020304" pitchFamily="18" charset="0"/>
                <a:cs typeface="Times New Roman" panose="02020603050405020304" pitchFamily="18" charset="0"/>
              </a:rPr>
              <a:t>0</a:t>
            </a:r>
            <a:r>
              <a:rPr kumimoji="1" lang="zh-CN" altLang="zh-CN"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eaLnBrk="1" hangingPunct="1"/>
            <a:r>
              <a:rPr kumimoji="1" lang="zh-CN" altLang="en-US" sz="3200" i="1">
                <a:solidFill>
                  <a:schemeClr val="tx2"/>
                </a:solidFill>
                <a:latin typeface="Times New Roman" panose="02020603050405020304" pitchFamily="18" charset="0"/>
                <a:cs typeface="Times New Roman" panose="02020603050405020304" pitchFamily="18" charset="0"/>
              </a:rPr>
              <a:t>    </a:t>
            </a:r>
            <a:r>
              <a:rPr kumimoji="1" lang="en-US" altLang="zh-CN" sz="3200" i="1">
                <a:solidFill>
                  <a:srgbClr val="FF0000"/>
                </a:solidFill>
                <a:latin typeface="Times New Roman" panose="02020603050405020304" pitchFamily="18" charset="0"/>
                <a:cs typeface="Times New Roman" panose="02020603050405020304" pitchFamily="18" charset="0"/>
              </a:rPr>
              <a:t>u</a:t>
            </a:r>
            <a:r>
              <a:rPr kumimoji="1" lang="en-US" altLang="zh-CN" sz="2800" baseline="-25000">
                <a:solidFill>
                  <a:srgbClr val="FF0000"/>
                </a:solidFill>
                <a:latin typeface="Times New Roman" panose="02020603050405020304" pitchFamily="18" charset="0"/>
                <a:cs typeface="Times New Roman" panose="02020603050405020304" pitchFamily="18" charset="0"/>
              </a:rPr>
              <a:t>0 </a:t>
            </a:r>
            <a:r>
              <a:rPr kumimoji="1" lang="en-US" altLang="zh-CN" sz="2800">
                <a:solidFill>
                  <a:srgbClr val="FF0000"/>
                </a:solidFill>
                <a:latin typeface="Times New Roman" panose="02020603050405020304" pitchFamily="18" charset="0"/>
                <a:cs typeface="Times New Roman" panose="02020603050405020304" pitchFamily="18" charset="0"/>
              </a:rPr>
              <a:t>= 0</a:t>
            </a:r>
            <a:endParaRPr kumimoji="1" lang="en-US" altLang="zh-CN" sz="2800">
              <a:solidFill>
                <a:srgbClr val="FF0000"/>
              </a:solidFill>
              <a:latin typeface="Times New Roman" panose="02020603050405020304" pitchFamily="18" charset="0"/>
              <a:cs typeface="Times New Roman" panose="02020603050405020304" pitchFamily="18" charset="0"/>
            </a:endParaRPr>
          </a:p>
        </p:txBody>
      </p:sp>
      <p:grpSp>
        <p:nvGrpSpPr>
          <p:cNvPr id="3" name="Group 10"/>
          <p:cNvGrpSpPr/>
          <p:nvPr/>
        </p:nvGrpSpPr>
        <p:grpSpPr bwMode="auto">
          <a:xfrm>
            <a:off x="273050" y="2916238"/>
            <a:ext cx="5013325" cy="2544762"/>
            <a:chOff x="11" y="689"/>
            <a:chExt cx="3158" cy="1603"/>
          </a:xfrm>
        </p:grpSpPr>
        <p:grpSp>
          <p:nvGrpSpPr>
            <p:cNvPr id="10253" name="Group 11"/>
            <p:cNvGrpSpPr/>
            <p:nvPr/>
          </p:nvGrpSpPr>
          <p:grpSpPr bwMode="auto">
            <a:xfrm>
              <a:off x="156" y="689"/>
              <a:ext cx="3013" cy="1603"/>
              <a:chOff x="528" y="2069"/>
              <a:chExt cx="3013" cy="1603"/>
            </a:xfrm>
          </p:grpSpPr>
          <p:sp>
            <p:nvSpPr>
              <p:cNvPr id="10255" name="Line 12"/>
              <p:cNvSpPr>
                <a:spLocks noChangeShapeType="1"/>
              </p:cNvSpPr>
              <p:nvPr/>
            </p:nvSpPr>
            <p:spPr bwMode="auto">
              <a:xfrm>
                <a:off x="942" y="2402"/>
                <a:ext cx="57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6" name="Oval 13"/>
              <p:cNvSpPr>
                <a:spLocks noChangeArrowheads="1"/>
              </p:cNvSpPr>
              <p:nvPr/>
            </p:nvSpPr>
            <p:spPr bwMode="auto">
              <a:xfrm>
                <a:off x="904" y="2376"/>
                <a:ext cx="48" cy="48"/>
              </a:xfrm>
              <a:prstGeom prst="ellipse">
                <a:avLst/>
              </a:prstGeom>
              <a:solidFill>
                <a:srgbClr val="000099"/>
              </a:solidFill>
              <a:ln w="28575">
                <a:solidFill>
                  <a:schemeClr val="tx1"/>
                </a:solidFill>
                <a:round/>
              </a:ln>
            </p:spPr>
            <p:txBody>
              <a:bodyPr wrap="none" anchor="ctr"/>
              <a:lstStyle/>
              <a:p>
                <a:endParaRPr lang="zh-CN" altLang="en-US"/>
              </a:p>
            </p:txBody>
          </p:sp>
          <p:sp>
            <p:nvSpPr>
              <p:cNvPr id="10257" name="Line 14"/>
              <p:cNvSpPr>
                <a:spLocks noChangeShapeType="1"/>
              </p:cNvSpPr>
              <p:nvPr/>
            </p:nvSpPr>
            <p:spPr bwMode="auto">
              <a:xfrm>
                <a:off x="942" y="3650"/>
                <a:ext cx="57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8" name="Oval 15"/>
              <p:cNvSpPr>
                <a:spLocks noChangeArrowheads="1"/>
              </p:cNvSpPr>
              <p:nvPr/>
            </p:nvSpPr>
            <p:spPr bwMode="auto">
              <a:xfrm>
                <a:off x="904" y="3624"/>
                <a:ext cx="48" cy="48"/>
              </a:xfrm>
              <a:prstGeom prst="ellipse">
                <a:avLst/>
              </a:prstGeom>
              <a:solidFill>
                <a:srgbClr val="000099"/>
              </a:solidFill>
              <a:ln w="28575">
                <a:solidFill>
                  <a:schemeClr val="tx1"/>
                </a:solidFill>
                <a:round/>
              </a:ln>
            </p:spPr>
            <p:txBody>
              <a:bodyPr wrap="none" anchor="ctr"/>
              <a:lstStyle/>
              <a:p>
                <a:endParaRPr lang="zh-CN" altLang="en-US"/>
              </a:p>
            </p:txBody>
          </p:sp>
          <p:sp>
            <p:nvSpPr>
              <p:cNvPr id="10259" name="Freeform 16"/>
              <p:cNvSpPr/>
              <p:nvPr/>
            </p:nvSpPr>
            <p:spPr bwMode="auto">
              <a:xfrm>
                <a:off x="1517" y="2664"/>
                <a:ext cx="48" cy="720"/>
              </a:xfrm>
              <a:custGeom>
                <a:avLst/>
                <a:gdLst>
                  <a:gd name="T0" fmla="*/ 0 w 48"/>
                  <a:gd name="T1" fmla="*/ 0 h 768"/>
                  <a:gd name="T2" fmla="*/ 48 w 48"/>
                  <a:gd name="T3" fmla="*/ 79 h 768"/>
                  <a:gd name="T4" fmla="*/ 0 w 48"/>
                  <a:gd name="T5" fmla="*/ 158 h 768"/>
                  <a:gd name="T6" fmla="*/ 48 w 48"/>
                  <a:gd name="T7" fmla="*/ 237 h 768"/>
                  <a:gd name="T8" fmla="*/ 0 w 48"/>
                  <a:gd name="T9" fmla="*/ 317 h 768"/>
                  <a:gd name="T10" fmla="*/ 48 w 48"/>
                  <a:gd name="T11" fmla="*/ 396 h 768"/>
                  <a:gd name="T12" fmla="*/ 0 w 48"/>
                  <a:gd name="T13" fmla="*/ 474 h 768"/>
                  <a:gd name="T14" fmla="*/ 48 w 48"/>
                  <a:gd name="T15" fmla="*/ 554 h 768"/>
                  <a:gd name="T16" fmla="*/ 0 w 48"/>
                  <a:gd name="T17" fmla="*/ 633 h 7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768"/>
                  <a:gd name="T29" fmla="*/ 48 w 48"/>
                  <a:gd name="T30" fmla="*/ 768 h 7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0" name="Freeform 17"/>
              <p:cNvSpPr/>
              <p:nvPr/>
            </p:nvSpPr>
            <p:spPr bwMode="auto">
              <a:xfrm flipH="1">
                <a:off x="1731" y="2664"/>
                <a:ext cx="48" cy="720"/>
              </a:xfrm>
              <a:custGeom>
                <a:avLst/>
                <a:gdLst>
                  <a:gd name="T0" fmla="*/ 0 w 48"/>
                  <a:gd name="T1" fmla="*/ 0 h 768"/>
                  <a:gd name="T2" fmla="*/ 48 w 48"/>
                  <a:gd name="T3" fmla="*/ 79 h 768"/>
                  <a:gd name="T4" fmla="*/ 0 w 48"/>
                  <a:gd name="T5" fmla="*/ 158 h 768"/>
                  <a:gd name="T6" fmla="*/ 48 w 48"/>
                  <a:gd name="T7" fmla="*/ 237 h 768"/>
                  <a:gd name="T8" fmla="*/ 0 w 48"/>
                  <a:gd name="T9" fmla="*/ 317 h 768"/>
                  <a:gd name="T10" fmla="*/ 48 w 48"/>
                  <a:gd name="T11" fmla="*/ 396 h 768"/>
                  <a:gd name="T12" fmla="*/ 0 w 48"/>
                  <a:gd name="T13" fmla="*/ 474 h 768"/>
                  <a:gd name="T14" fmla="*/ 48 w 48"/>
                  <a:gd name="T15" fmla="*/ 554 h 768"/>
                  <a:gd name="T16" fmla="*/ 0 w 48"/>
                  <a:gd name="T17" fmla="*/ 633 h 7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768"/>
                  <a:gd name="T29" fmla="*/ 48 w 48"/>
                  <a:gd name="T30" fmla="*/ 768 h 7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1" name="Line 18"/>
              <p:cNvSpPr>
                <a:spLocks noChangeShapeType="1"/>
              </p:cNvSpPr>
              <p:nvPr/>
            </p:nvSpPr>
            <p:spPr bwMode="auto">
              <a:xfrm>
                <a:off x="1652" y="2520"/>
                <a:ext cx="0" cy="100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2" name="Line 19"/>
              <p:cNvSpPr>
                <a:spLocks noChangeShapeType="1"/>
              </p:cNvSpPr>
              <p:nvPr/>
            </p:nvSpPr>
            <p:spPr bwMode="auto">
              <a:xfrm>
                <a:off x="1779" y="2402"/>
                <a:ext cx="132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3" name="Line 20"/>
              <p:cNvSpPr>
                <a:spLocks noChangeShapeType="1"/>
              </p:cNvSpPr>
              <p:nvPr/>
            </p:nvSpPr>
            <p:spPr bwMode="auto">
              <a:xfrm flipV="1">
                <a:off x="1776" y="3647"/>
                <a:ext cx="1335" cy="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264" name="Group 21"/>
              <p:cNvGrpSpPr/>
              <p:nvPr/>
            </p:nvGrpSpPr>
            <p:grpSpPr bwMode="auto">
              <a:xfrm>
                <a:off x="588" y="2719"/>
                <a:ext cx="702" cy="399"/>
                <a:chOff x="1089" y="2072"/>
                <a:chExt cx="702" cy="399"/>
              </a:xfrm>
            </p:grpSpPr>
            <p:sp>
              <p:nvSpPr>
                <p:cNvPr id="10284" name="Line 22"/>
                <p:cNvSpPr>
                  <a:spLocks noChangeShapeType="1"/>
                </p:cNvSpPr>
                <p:nvPr/>
              </p:nvSpPr>
              <p:spPr bwMode="auto">
                <a:xfrm flipV="1">
                  <a:off x="1089" y="2072"/>
                  <a:ext cx="0" cy="399"/>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5" name="Line 23"/>
                <p:cNvSpPr>
                  <a:spLocks noChangeShapeType="1"/>
                </p:cNvSpPr>
                <p:nvPr/>
              </p:nvSpPr>
              <p:spPr bwMode="auto">
                <a:xfrm>
                  <a:off x="1089" y="2471"/>
                  <a:ext cx="70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65" name="Freeform 24"/>
              <p:cNvSpPr>
                <a:spLocks noChangeAspect="1"/>
              </p:cNvSpPr>
              <p:nvPr/>
            </p:nvSpPr>
            <p:spPr bwMode="auto">
              <a:xfrm>
                <a:off x="586" y="2917"/>
                <a:ext cx="509" cy="376"/>
              </a:xfrm>
              <a:custGeom>
                <a:avLst/>
                <a:gdLst>
                  <a:gd name="T0" fmla="*/ 0 w 1932"/>
                  <a:gd name="T1" fmla="*/ 47 h 753"/>
                  <a:gd name="T2" fmla="*/ 9 w 1932"/>
                  <a:gd name="T3" fmla="*/ 0 h 753"/>
                  <a:gd name="T4" fmla="*/ 18 w 1932"/>
                  <a:gd name="T5" fmla="*/ 45 h 753"/>
                  <a:gd name="T6" fmla="*/ 27 w 1932"/>
                  <a:gd name="T7" fmla="*/ 93 h 753"/>
                  <a:gd name="T8" fmla="*/ 35 w 1932"/>
                  <a:gd name="T9" fmla="*/ 47 h 753"/>
                  <a:gd name="T10" fmla="*/ 0 60000 65536"/>
                  <a:gd name="T11" fmla="*/ 0 60000 65536"/>
                  <a:gd name="T12" fmla="*/ 0 60000 65536"/>
                  <a:gd name="T13" fmla="*/ 0 60000 65536"/>
                  <a:gd name="T14" fmla="*/ 0 60000 65536"/>
                  <a:gd name="T15" fmla="*/ 0 w 1932"/>
                  <a:gd name="T16" fmla="*/ 0 h 753"/>
                  <a:gd name="T17" fmla="*/ 1932 w 1932"/>
                  <a:gd name="T18" fmla="*/ 753 h 753"/>
                </a:gdLst>
                <a:ahLst/>
                <a:cxnLst>
                  <a:cxn ang="T10">
                    <a:pos x="T0" y="T1"/>
                  </a:cxn>
                  <a:cxn ang="T11">
                    <a:pos x="T2" y="T3"/>
                  </a:cxn>
                  <a:cxn ang="T12">
                    <a:pos x="T4" y="T5"/>
                  </a:cxn>
                  <a:cxn ang="T13">
                    <a:pos x="T6" y="T7"/>
                  </a:cxn>
                  <a:cxn ang="T14">
                    <a:pos x="T8" y="T9"/>
                  </a:cxn>
                </a:cxnLst>
                <a:rect l="T15" t="T16" r="T17" b="T18"/>
                <a:pathLst>
                  <a:path w="1932" h="753">
                    <a:moveTo>
                      <a:pt x="0" y="376"/>
                    </a:moveTo>
                    <a:cubicBezTo>
                      <a:pt x="166" y="190"/>
                      <a:pt x="332" y="4"/>
                      <a:pt x="492" y="2"/>
                    </a:cubicBezTo>
                    <a:cubicBezTo>
                      <a:pt x="652" y="0"/>
                      <a:pt x="798" y="239"/>
                      <a:pt x="960" y="364"/>
                    </a:cubicBezTo>
                    <a:cubicBezTo>
                      <a:pt x="1122" y="489"/>
                      <a:pt x="1301" y="749"/>
                      <a:pt x="1463" y="751"/>
                    </a:cubicBezTo>
                    <a:cubicBezTo>
                      <a:pt x="1625" y="753"/>
                      <a:pt x="1854" y="439"/>
                      <a:pt x="1932" y="376"/>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6" name="Text Box 25"/>
              <p:cNvSpPr txBox="1">
                <a:spLocks noChangeArrowheads="1"/>
              </p:cNvSpPr>
              <p:nvPr/>
            </p:nvSpPr>
            <p:spPr bwMode="auto">
              <a:xfrm>
                <a:off x="528" y="2457"/>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1</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0267" name="Text Box 26"/>
              <p:cNvSpPr txBox="1">
                <a:spLocks noChangeArrowheads="1"/>
              </p:cNvSpPr>
              <p:nvPr/>
            </p:nvSpPr>
            <p:spPr bwMode="auto">
              <a:xfrm>
                <a:off x="1861" y="2527"/>
                <a:ext cx="354"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2</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_</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0268" name="Line 27"/>
              <p:cNvSpPr>
                <a:spLocks noChangeShapeType="1"/>
              </p:cNvSpPr>
              <p:nvPr/>
            </p:nvSpPr>
            <p:spPr bwMode="auto">
              <a:xfrm>
                <a:off x="1517" y="2399"/>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9" name="Line 28"/>
              <p:cNvSpPr>
                <a:spLocks noChangeShapeType="1"/>
              </p:cNvSpPr>
              <p:nvPr/>
            </p:nvSpPr>
            <p:spPr bwMode="auto">
              <a:xfrm>
                <a:off x="1517" y="3384"/>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0" name="Line 29"/>
              <p:cNvSpPr>
                <a:spLocks noChangeShapeType="1"/>
              </p:cNvSpPr>
              <p:nvPr/>
            </p:nvSpPr>
            <p:spPr bwMode="auto">
              <a:xfrm>
                <a:off x="1779" y="2401"/>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1" name="Line 30"/>
              <p:cNvSpPr>
                <a:spLocks noChangeShapeType="1"/>
              </p:cNvSpPr>
              <p:nvPr/>
            </p:nvSpPr>
            <p:spPr bwMode="auto">
              <a:xfrm>
                <a:off x="1779" y="3384"/>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2" name="Line 31"/>
              <p:cNvSpPr>
                <a:spLocks noChangeShapeType="1"/>
              </p:cNvSpPr>
              <p:nvPr/>
            </p:nvSpPr>
            <p:spPr bwMode="auto">
              <a:xfrm>
                <a:off x="3105" y="2399"/>
                <a:ext cx="6" cy="125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3" name="Text Box 35"/>
              <p:cNvSpPr txBox="1">
                <a:spLocks noChangeArrowheads="1"/>
              </p:cNvSpPr>
              <p:nvPr/>
            </p:nvSpPr>
            <p:spPr bwMode="auto">
              <a:xfrm>
                <a:off x="1099" y="2482"/>
                <a:ext cx="417"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a:p>
                <a:pPr algn="r" eaLnBrk="1" hangingPunct="1"/>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1</a:t>
                </a:r>
                <a:r>
                  <a:rPr kumimoji="1" lang="en-US" altLang="zh-CN" b="1">
                    <a:solidFill>
                      <a:schemeClr val="tx2"/>
                    </a:solidFill>
                    <a:latin typeface="Times New Roman" panose="02020603050405020304" pitchFamily="18" charset="0"/>
                    <a:cs typeface="Times New Roman" panose="02020603050405020304" pitchFamily="18" charset="0"/>
                  </a:rPr>
                  <a:t> </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r>
                  <a:rPr kumimoji="1" lang="en-US" altLang="zh-CN" b="1" baseline="-25000">
                    <a:solidFill>
                      <a:schemeClr val="tx2"/>
                    </a:solidFill>
                    <a:latin typeface="黑体" panose="02010609060101010101" pitchFamily="49" charset="-122"/>
                    <a:ea typeface="黑体" panose="02010609060101010101" pitchFamily="49" charset="-122"/>
                  </a:rPr>
                  <a:t>-</a:t>
                </a:r>
                <a:endParaRPr kumimoji="1" lang="en-US" altLang="zh-CN" b="1" baseline="-25000">
                  <a:solidFill>
                    <a:schemeClr val="tx2"/>
                  </a:solidFill>
                  <a:latin typeface="黑体" panose="02010609060101010101" pitchFamily="49" charset="-122"/>
                  <a:ea typeface="黑体" panose="02010609060101010101" pitchFamily="49" charset="-122"/>
                </a:endParaRPr>
              </a:p>
            </p:txBody>
          </p:sp>
          <p:sp>
            <p:nvSpPr>
              <p:cNvPr id="10274" name="Text Box 36"/>
              <p:cNvSpPr txBox="1">
                <a:spLocks noChangeArrowheads="1"/>
              </p:cNvSpPr>
              <p:nvPr/>
            </p:nvSpPr>
            <p:spPr bwMode="auto">
              <a:xfrm>
                <a:off x="1786" y="2392"/>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0275" name="Text Box 37"/>
              <p:cNvSpPr txBox="1">
                <a:spLocks noChangeArrowheads="1"/>
              </p:cNvSpPr>
              <p:nvPr/>
            </p:nvSpPr>
            <p:spPr bwMode="auto">
              <a:xfrm>
                <a:off x="1531" y="2204"/>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0276" name="Text Box 38"/>
              <p:cNvSpPr txBox="1">
                <a:spLocks noChangeArrowheads="1"/>
              </p:cNvSpPr>
              <p:nvPr/>
            </p:nvSpPr>
            <p:spPr bwMode="auto">
              <a:xfrm>
                <a:off x="1786" y="342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0277" name="Text Box 39"/>
              <p:cNvSpPr txBox="1">
                <a:spLocks noChangeArrowheads="1"/>
              </p:cNvSpPr>
              <p:nvPr/>
            </p:nvSpPr>
            <p:spPr bwMode="auto">
              <a:xfrm>
                <a:off x="2394" y="2069"/>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0278" name="Text Box 40"/>
              <p:cNvSpPr txBox="1">
                <a:spLocks noChangeArrowheads="1"/>
              </p:cNvSpPr>
              <p:nvPr/>
            </p:nvSpPr>
            <p:spPr bwMode="auto">
              <a:xfrm>
                <a:off x="2610" y="2811"/>
                <a:ext cx="63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r>
                  <a:rPr kumimoji="1" lang="en-US" altLang="zh-CN" b="1" baseline="-25000">
                    <a:solidFill>
                      <a:schemeClr val="tx2"/>
                    </a:solidFill>
                    <a:latin typeface="Times New Roman" panose="02020603050405020304" pitchFamily="18" charset="0"/>
                    <a:cs typeface="Times New Roman" panose="02020603050405020304" pitchFamily="18" charset="0"/>
                  </a:rPr>
                  <a:t>L</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nvGrpSpPr>
              <p:cNvPr id="10279" name="Group 41"/>
              <p:cNvGrpSpPr/>
              <p:nvPr/>
            </p:nvGrpSpPr>
            <p:grpSpPr bwMode="auto">
              <a:xfrm flipH="1">
                <a:off x="2385" y="2257"/>
                <a:ext cx="206" cy="292"/>
                <a:chOff x="2793" y="1735"/>
                <a:chExt cx="206" cy="292"/>
              </a:xfrm>
            </p:grpSpPr>
            <p:sp>
              <p:nvSpPr>
                <p:cNvPr id="10282" name="AutoShape 42"/>
                <p:cNvSpPr>
                  <a:spLocks noChangeArrowheads="1"/>
                </p:cNvSpPr>
                <p:nvPr/>
              </p:nvSpPr>
              <p:spPr bwMode="auto">
                <a:xfrm rot="-5400000">
                  <a:off x="2759" y="1787"/>
                  <a:ext cx="288" cy="192"/>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3" name="Line 43"/>
                <p:cNvSpPr>
                  <a:spLocks noChangeShapeType="1"/>
                </p:cNvSpPr>
                <p:nvPr/>
              </p:nvSpPr>
              <p:spPr bwMode="auto">
                <a:xfrm rot="-5400000">
                  <a:off x="2648" y="1880"/>
                  <a:ext cx="29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80" name="Rectangle 44"/>
              <p:cNvSpPr>
                <a:spLocks noChangeArrowheads="1"/>
              </p:cNvSpPr>
              <p:nvPr/>
            </p:nvSpPr>
            <p:spPr bwMode="auto">
              <a:xfrm>
                <a:off x="3051" y="2811"/>
                <a:ext cx="117" cy="387"/>
              </a:xfrm>
              <a:prstGeom prst="rect">
                <a:avLst/>
              </a:prstGeom>
              <a:solidFill>
                <a:srgbClr val="DDDDDD"/>
              </a:solidFill>
              <a:ln w="28575">
                <a:solidFill>
                  <a:schemeClr val="tx1"/>
                </a:solidFill>
                <a:miter lim="800000"/>
              </a:ln>
            </p:spPr>
            <p:txBody>
              <a:bodyPr wrap="none" anchor="ctr"/>
              <a:lstStyle/>
              <a:p>
                <a:endParaRPr lang="zh-CN" altLang="en-US"/>
              </a:p>
            </p:txBody>
          </p:sp>
          <p:sp>
            <p:nvSpPr>
              <p:cNvPr id="10281" name="Text Box 45"/>
              <p:cNvSpPr txBox="1">
                <a:spLocks noChangeArrowheads="1"/>
              </p:cNvSpPr>
              <p:nvPr/>
            </p:nvSpPr>
            <p:spPr bwMode="auto">
              <a:xfrm>
                <a:off x="3187" y="2707"/>
                <a:ext cx="35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baseline="-25000">
                    <a:solidFill>
                      <a:schemeClr val="tx2"/>
                    </a:solidFill>
                    <a:latin typeface="Times New Roman" panose="02020603050405020304" pitchFamily="18" charset="0"/>
                    <a:cs typeface="Times New Roman" panose="02020603050405020304" pitchFamily="18" charset="0"/>
                  </a:rPr>
                  <a:t>_</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sp>
          <p:nvSpPr>
            <p:cNvPr id="10254" name="Text Box 46"/>
            <p:cNvSpPr txBox="1">
              <a:spLocks noChangeArrowheads="1"/>
            </p:cNvSpPr>
            <p:nvPr/>
          </p:nvSpPr>
          <p:spPr bwMode="auto">
            <a:xfrm>
              <a:off x="11" y="1660"/>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cs typeface="Times New Roman" panose="02020603050405020304" pitchFamily="18" charset="0"/>
                </a:rPr>
                <a:t>O</a:t>
              </a:r>
              <a:endParaRPr kumimoji="1" lang="en-US" altLang="zh-CN" sz="2000" i="1">
                <a:latin typeface="Times New Roman" panose="02020603050405020304" pitchFamily="18" charset="0"/>
                <a:cs typeface="Times New Roman" panose="02020603050405020304" pitchFamily="18" charset="0"/>
              </a:endParaRPr>
            </a:p>
          </p:txBody>
        </p:sp>
        <p:graphicFrame>
          <p:nvGraphicFramePr>
            <p:cNvPr id="10242" name="Object 2"/>
            <p:cNvGraphicFramePr>
              <a:graphicFrameLocks noChangeAspect="1"/>
            </p:cNvGraphicFramePr>
            <p:nvPr/>
          </p:nvGraphicFramePr>
          <p:xfrm>
            <a:off x="730" y="1777"/>
            <a:ext cx="297" cy="221"/>
          </p:xfrm>
          <a:graphic>
            <a:graphicData uri="http://schemas.openxmlformats.org/presentationml/2006/ole">
              <mc:AlternateContent xmlns:mc="http://schemas.openxmlformats.org/markup-compatibility/2006">
                <mc:Choice xmlns:v="urn:schemas-microsoft-com:vml" Requires="v">
                  <p:oleObj spid="_x0000_s10310" name="Equation" r:id="rId1" imgW="266700" imgH="203200" progId="Equation.DSMT4">
                    <p:embed/>
                  </p:oleObj>
                </mc:Choice>
                <mc:Fallback>
                  <p:oleObj name="Equation" r:id="rId1" imgW="2667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 y="1777"/>
                          <a:ext cx="2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pSp>
      <p:grpSp>
        <p:nvGrpSpPr>
          <p:cNvPr id="7" name="Group 48"/>
          <p:cNvGrpSpPr/>
          <p:nvPr/>
        </p:nvGrpSpPr>
        <p:grpSpPr bwMode="auto">
          <a:xfrm>
            <a:off x="3276600" y="3124200"/>
            <a:ext cx="666750" cy="630238"/>
            <a:chOff x="1973" y="1747"/>
            <a:chExt cx="282" cy="180"/>
          </a:xfrm>
        </p:grpSpPr>
        <p:sp>
          <p:nvSpPr>
            <p:cNvPr id="10251" name="Line 49"/>
            <p:cNvSpPr>
              <a:spLocks noChangeShapeType="1"/>
            </p:cNvSpPr>
            <p:nvPr/>
          </p:nvSpPr>
          <p:spPr bwMode="auto">
            <a:xfrm flipH="1">
              <a:off x="1973" y="1747"/>
              <a:ext cx="282" cy="180"/>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2" name="Line 50"/>
            <p:cNvSpPr>
              <a:spLocks noChangeShapeType="1"/>
            </p:cNvSpPr>
            <p:nvPr/>
          </p:nvSpPr>
          <p:spPr bwMode="auto">
            <a:xfrm flipH="1" flipV="1">
              <a:off x="1973" y="1747"/>
              <a:ext cx="282" cy="180"/>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33801">
                                            <p:txEl>
                                              <p:pRg st="0" end="0"/>
                                            </p:txEl>
                                          </p:spTgt>
                                        </p:tgtEl>
                                        <p:attrNameLst>
                                          <p:attrName>style.visibility</p:attrName>
                                        </p:attrNameLst>
                                      </p:cBhvr>
                                      <p:to>
                                        <p:strVal val="visible"/>
                                      </p:to>
                                    </p:set>
                                    <p:animEffect transition="in" filter="wipe(left)">
                                      <p:cBhvr>
                                        <p:cTn id="10" dur="500"/>
                                        <p:tgtEl>
                                          <p:spTgt spid="33801">
                                            <p:txEl>
                                              <p:pRg st="0" end="0"/>
                                            </p:txEl>
                                          </p:spTgt>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33801">
                                            <p:txEl>
                                              <p:pRg st="1" end="1"/>
                                            </p:txEl>
                                          </p:spTgt>
                                        </p:tgtEl>
                                        <p:attrNameLst>
                                          <p:attrName>style.visibility</p:attrName>
                                        </p:attrNameLst>
                                      </p:cBhvr>
                                      <p:to>
                                        <p:strVal val="visible"/>
                                      </p:to>
                                    </p:set>
                                    <p:animEffect transition="in" filter="wipe(left)">
                                      <p:cBhvr>
                                        <p:cTn id="14" dur="500"/>
                                        <p:tgtEl>
                                          <p:spTgt spid="33801">
                                            <p:txEl>
                                              <p:pRg st="1" end="1"/>
                                            </p:txEl>
                                          </p:spTgt>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33801">
                                            <p:txEl>
                                              <p:pRg st="2" end="2"/>
                                            </p:txEl>
                                          </p:spTgt>
                                        </p:tgtEl>
                                        <p:attrNameLst>
                                          <p:attrName>style.visibility</p:attrName>
                                        </p:attrNameLst>
                                      </p:cBhvr>
                                      <p:to>
                                        <p:strVal val="visible"/>
                                      </p:to>
                                    </p:set>
                                    <p:animEffect transition="in" filter="wipe(left)">
                                      <p:cBhvr>
                                        <p:cTn id="18" dur="500"/>
                                        <p:tgtEl>
                                          <p:spTgt spid="33801">
                                            <p:txEl>
                                              <p:pRg st="2" end="2"/>
                                            </p:txEl>
                                          </p:spTgt>
                                        </p:tgtEl>
                                      </p:cBhvr>
                                    </p:animEffect>
                                  </p:childTnLst>
                                </p:cTn>
                              </p:par>
                            </p:childTnLst>
                          </p:cTn>
                        </p:par>
                        <p:par>
                          <p:cTn id="19" fill="hold">
                            <p:stCondLst>
                              <p:cond delay="2000"/>
                            </p:stCondLst>
                            <p:childTnLst>
                              <p:par>
                                <p:cTn id="20" presetID="1" presetClass="entr" presetSubtype="0" fill="hold" nodeType="afterEffect">
                                  <p:stCondLst>
                                    <p:cond delay="0"/>
                                  </p:stCondLst>
                                  <p:childTnLst>
                                    <p:set>
                                      <p:cBhvr>
                                        <p:cTn id="21"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3796">
                                            <p:txEl>
                                              <p:pRg st="0" end="0"/>
                                            </p:txEl>
                                          </p:spTgt>
                                        </p:tgtEl>
                                        <p:attrNameLst>
                                          <p:attrName>style.visibility</p:attrName>
                                        </p:attrNameLst>
                                      </p:cBhvr>
                                      <p:to>
                                        <p:strVal val="visible"/>
                                      </p:to>
                                    </p:set>
                                    <p:animEffect transition="in" filter="wipe(left)">
                                      <p:cBhvr>
                                        <p:cTn id="26" dur="500"/>
                                        <p:tgtEl>
                                          <p:spTgt spid="33796">
                                            <p:txEl>
                                              <p:pRg st="0" end="0"/>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33800">
                                            <p:txEl>
                                              <p:pRg st="0" end="0"/>
                                            </p:txEl>
                                          </p:spTgt>
                                        </p:tgtEl>
                                        <p:attrNameLst>
                                          <p:attrName>style.visibility</p:attrName>
                                        </p:attrNameLst>
                                      </p:cBhvr>
                                      <p:to>
                                        <p:strVal val="visible"/>
                                      </p:to>
                                    </p:set>
                                    <p:animEffect transition="in" filter="wipe(left)">
                                      <p:cBhvr>
                                        <p:cTn id="34" dur="500"/>
                                        <p:tgtEl>
                                          <p:spTgt spid="33800">
                                            <p:txEl>
                                              <p:pRg st="0" end="0"/>
                                            </p:txEl>
                                          </p:spTgt>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33800">
                                            <p:txEl>
                                              <p:pRg st="1" end="1"/>
                                            </p:txEl>
                                          </p:spTgt>
                                        </p:tgtEl>
                                        <p:attrNameLst>
                                          <p:attrName>style.visibility</p:attrName>
                                        </p:attrNameLst>
                                      </p:cBhvr>
                                      <p:to>
                                        <p:strVal val="visible"/>
                                      </p:to>
                                    </p:set>
                                    <p:animEffect transition="in" filter="wipe(left)">
                                      <p:cBhvr>
                                        <p:cTn id="38" dur="500"/>
                                        <p:tgtEl>
                                          <p:spTgt spid="338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utoUpdateAnimBg="0" build="p"/>
      <p:bldP spid="33800" grpId="0" advAuto="0" autoUpdateAnimBg="0" build="p"/>
      <p:bldP spid="33801" grpId="0" advAuto="0" autoUpdateAnimBg="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1</a:t>
            </a:r>
            <a:r>
              <a:rPr lang="zh-CN" altLang="en-US" sz="3600" smtClean="0">
                <a:ea typeface="楷体_GB2312" pitchFamily="49" charset="-122"/>
              </a:rPr>
              <a:t>）</a:t>
            </a:r>
            <a:endParaRPr lang="zh-CN" altLang="en-US" sz="3600" smtClean="0">
              <a:ea typeface="楷体_GB2312" pitchFamily="49" charset="-122"/>
            </a:endParaRPr>
          </a:p>
        </p:txBody>
      </p:sp>
      <p:sp>
        <p:nvSpPr>
          <p:cNvPr id="3" name="灯片编号占位符 2"/>
          <p:cNvSpPr>
            <a:spLocks noGrp="1"/>
          </p:cNvSpPr>
          <p:nvPr>
            <p:ph type="sldNum" sz="quarter" idx="12"/>
          </p:nvPr>
        </p:nvSpPr>
        <p:spPr/>
        <p:txBody>
          <a:bodyPr/>
          <a:lstStyle/>
          <a:p>
            <a:pPr>
              <a:defRPr/>
            </a:pPr>
            <a:fld id="{D6763493-88BC-4F6A-91CB-961B18CAE9A5}" type="slidenum">
              <a:rPr lang="zh-CN" altLang="en-US" smtClean="0"/>
            </a:fld>
            <a:endParaRPr lang="zh-CN" altLang="en-US"/>
          </a:p>
        </p:txBody>
      </p:sp>
      <p:sp>
        <p:nvSpPr>
          <p:cNvPr id="11273" name="Rectangle 3"/>
          <p:cNvSpPr>
            <a:spLocks noGrp="1" noChangeArrowheads="1"/>
          </p:cNvSpPr>
          <p:nvPr>
            <p:ph sz="quarter" idx="4294967295"/>
          </p:nvPr>
        </p:nvSpPr>
        <p:spPr>
          <a:xfrm>
            <a:off x="0" y="765175"/>
            <a:ext cx="8891588" cy="5543550"/>
          </a:xfrm>
        </p:spPr>
        <p:txBody>
          <a:bodyPr/>
          <a:lstStyle/>
          <a:p>
            <a:pPr eaLnBrk="1" hangingPunct="1"/>
            <a:r>
              <a:rPr lang="zh-CN" altLang="en-US" sz="2400" smtClean="0">
                <a:ea typeface="宋体" panose="02010600030101010101" pitchFamily="2" charset="-122"/>
              </a:rPr>
              <a:t>单相半波整流电路</a:t>
            </a:r>
            <a:r>
              <a:rPr lang="en-US" altLang="zh-CN" sz="2400" smtClean="0">
                <a:ea typeface="宋体" panose="02010600030101010101" pitchFamily="2" charset="-122"/>
              </a:rPr>
              <a:t>(</a:t>
            </a:r>
            <a:r>
              <a:rPr lang="zh-CN" altLang="en-US" sz="2400" smtClean="0">
                <a:ea typeface="宋体" panose="02010600030101010101" pitchFamily="2" charset="-122"/>
              </a:rPr>
              <a:t>续</a:t>
            </a:r>
            <a:r>
              <a:rPr lang="en-US" altLang="zh-CN" sz="2400" smtClean="0">
                <a:ea typeface="宋体" panose="02010600030101010101" pitchFamily="2" charset="-122"/>
              </a:rPr>
              <a:t>)</a:t>
            </a:r>
            <a:endParaRPr lang="en-US" altLang="zh-CN" sz="2400" smtClean="0">
              <a:ea typeface="宋体" panose="02010600030101010101" pitchFamily="2" charset="-122"/>
            </a:endParaRPr>
          </a:p>
        </p:txBody>
      </p:sp>
      <p:sp>
        <p:nvSpPr>
          <p:cNvPr id="46084" name="Text Box 4"/>
          <p:cNvSpPr txBox="1">
            <a:spLocks noChangeArrowheads="1"/>
          </p:cNvSpPr>
          <p:nvPr/>
        </p:nvSpPr>
        <p:spPr bwMode="auto">
          <a:xfrm>
            <a:off x="584200" y="4347518"/>
            <a:ext cx="4418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chemeClr val="tx2"/>
                </a:solidFill>
                <a:latin typeface="Times New Roman" panose="02020603050405020304" pitchFamily="18" charset="0"/>
                <a:cs typeface="Times New Roman" panose="02020603050405020304" pitchFamily="18" charset="0"/>
              </a:rPr>
              <a:t>输出电压平均值</a:t>
            </a:r>
            <a:r>
              <a:rPr kumimoji="1" lang="en-US" altLang="zh-CN" sz="2400" b="1" dirty="0">
                <a:solidFill>
                  <a:schemeClr val="tx2"/>
                </a:solidFill>
                <a:latin typeface="Times New Roman" panose="02020603050405020304" pitchFamily="18" charset="0"/>
                <a:cs typeface="Times New Roman" panose="02020603050405020304" pitchFamily="18" charset="0"/>
              </a:rPr>
              <a:t>(</a:t>
            </a:r>
            <a:r>
              <a:rPr kumimoji="1" lang="en-US" altLang="zh-CN" sz="2400" b="1" i="1" dirty="0">
                <a:solidFill>
                  <a:schemeClr val="tx2"/>
                </a:solidFill>
                <a:latin typeface="Times New Roman" panose="02020603050405020304" pitchFamily="18" charset="0"/>
                <a:cs typeface="Times New Roman" panose="02020603050405020304" pitchFamily="18" charset="0"/>
              </a:rPr>
              <a:t>U</a:t>
            </a:r>
            <a:r>
              <a:rPr kumimoji="1" lang="en-US" altLang="zh-CN" sz="2400" b="1" baseline="-25000" dirty="0">
                <a:solidFill>
                  <a:schemeClr val="tx2"/>
                </a:solidFill>
                <a:latin typeface="Times New Roman" panose="02020603050405020304" pitchFamily="18" charset="0"/>
                <a:cs typeface="Times New Roman" panose="02020603050405020304" pitchFamily="18" charset="0"/>
              </a:rPr>
              <a:t>O</a:t>
            </a:r>
            <a:r>
              <a:rPr kumimoji="1" lang="en-US" altLang="zh-CN" sz="2400" b="1" dirty="0">
                <a:solidFill>
                  <a:schemeClr val="tx2"/>
                </a:solidFill>
                <a:latin typeface="Times New Roman" panose="02020603050405020304" pitchFamily="18" charset="0"/>
                <a:cs typeface="Times New Roman" panose="02020603050405020304" pitchFamily="18" charset="0"/>
              </a:rPr>
              <a:t>)</a:t>
            </a:r>
            <a:r>
              <a:rPr kumimoji="1" lang="zh-CN" altLang="en-US" sz="2400" b="1" dirty="0">
                <a:solidFill>
                  <a:schemeClr val="tx2"/>
                </a:solidFill>
                <a:latin typeface="Times New Roman" panose="02020603050405020304" pitchFamily="18" charset="0"/>
                <a:cs typeface="Times New Roman" panose="02020603050405020304" pitchFamily="18" charset="0"/>
              </a:rPr>
              <a:t>：</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1266" name="Object 2"/>
          <p:cNvGraphicFramePr>
            <a:graphicFrameLocks noChangeAspect="1"/>
          </p:cNvGraphicFramePr>
          <p:nvPr/>
        </p:nvGraphicFramePr>
        <p:xfrm>
          <a:off x="4737100" y="3703638"/>
          <a:ext cx="112713" cy="214312"/>
        </p:xfrm>
        <a:graphic>
          <a:graphicData uri="http://schemas.openxmlformats.org/presentationml/2006/ole">
            <mc:AlternateContent xmlns:mc="http://schemas.openxmlformats.org/markup-compatibility/2006">
              <mc:Choice xmlns:v="urn:schemas-microsoft-com:vml" Requires="v">
                <p:oleObj spid="_x0000_s11465"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7100" y="3703638"/>
                        <a:ext cx="112713" cy="214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6" name="Text Box 6"/>
          <p:cNvSpPr txBox="1">
            <a:spLocks noChangeArrowheads="1"/>
          </p:cNvSpPr>
          <p:nvPr/>
        </p:nvSpPr>
        <p:spPr bwMode="auto">
          <a:xfrm>
            <a:off x="4546600" y="1409700"/>
            <a:ext cx="4198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tx2"/>
                </a:solidFill>
                <a:latin typeface="Times New Roman" panose="02020603050405020304" pitchFamily="18" charset="0"/>
                <a:cs typeface="Times New Roman" panose="02020603050405020304" pitchFamily="18" charset="0"/>
              </a:rPr>
              <a:t>半波整流输入输出电压波形：</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6087" name="Object 3"/>
          <p:cNvGraphicFramePr/>
          <p:nvPr/>
        </p:nvGraphicFramePr>
        <p:xfrm>
          <a:off x="3679825" y="4149080"/>
          <a:ext cx="4829175" cy="863600"/>
        </p:xfrm>
        <a:graphic>
          <a:graphicData uri="http://schemas.openxmlformats.org/presentationml/2006/ole">
            <mc:AlternateContent xmlns:mc="http://schemas.openxmlformats.org/markup-compatibility/2006">
              <mc:Choice xmlns:v="urn:schemas-microsoft-com:vml" Requires="v">
                <p:oleObj spid="_x0000_s11466" name="Equation" r:id="rId3" imgW="3213100" imgH="571500" progId="Equation.DSMT4">
                  <p:embed/>
                </p:oleObj>
              </mc:Choice>
              <mc:Fallback>
                <p:oleObj name="Equation" r:id="rId3" imgW="3213100" imgH="571500" progId="Equation.DSMT4">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9825" y="4149080"/>
                        <a:ext cx="482917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09" name="Text Box 29"/>
          <p:cNvSpPr txBox="1">
            <a:spLocks noChangeArrowheads="1"/>
          </p:cNvSpPr>
          <p:nvPr/>
        </p:nvSpPr>
        <p:spPr bwMode="auto">
          <a:xfrm>
            <a:off x="606425" y="5719118"/>
            <a:ext cx="4035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tx2"/>
                </a:solidFill>
                <a:latin typeface="Times New Roman" panose="02020603050405020304" pitchFamily="18" charset="0"/>
                <a:cs typeface="Times New Roman" panose="02020603050405020304" pitchFamily="18" charset="0"/>
              </a:rPr>
              <a:t>二极管上承受的最高电压：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6110" name="Object 4"/>
          <p:cNvGraphicFramePr>
            <a:graphicFrameLocks noChangeAspect="1"/>
          </p:cNvGraphicFramePr>
          <p:nvPr/>
        </p:nvGraphicFramePr>
        <p:xfrm>
          <a:off x="4352925" y="5723880"/>
          <a:ext cx="1444625" cy="455613"/>
        </p:xfrm>
        <a:graphic>
          <a:graphicData uri="http://schemas.openxmlformats.org/presentationml/2006/ole">
            <mc:AlternateContent xmlns:mc="http://schemas.openxmlformats.org/markup-compatibility/2006">
              <mc:Choice xmlns:v="urn:schemas-microsoft-com:vml" Requires="v">
                <p:oleObj spid="_x0000_s11467" name="Equation" r:id="rId5" imgW="1066800" imgH="342900" progId="Equation.DSMT4">
                  <p:embed/>
                </p:oleObj>
              </mc:Choice>
              <mc:Fallback>
                <p:oleObj name="Equation" r:id="rId5" imgW="1066800" imgH="3429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2925" y="5723880"/>
                        <a:ext cx="1444625"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11" name="Text Box 31"/>
          <p:cNvSpPr txBox="1">
            <a:spLocks noChangeArrowheads="1"/>
          </p:cNvSpPr>
          <p:nvPr/>
        </p:nvSpPr>
        <p:spPr bwMode="auto">
          <a:xfrm>
            <a:off x="592138" y="5049193"/>
            <a:ext cx="3516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tx2"/>
                </a:solidFill>
                <a:latin typeface="Times New Roman" panose="02020603050405020304" pitchFamily="18" charset="0"/>
                <a:cs typeface="Times New Roman" panose="02020603050405020304" pitchFamily="18" charset="0"/>
              </a:rPr>
              <a:t>二极管上的平均电流：</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6112" name="Rectangle 32"/>
          <p:cNvSpPr>
            <a:spLocks noChangeArrowheads="1"/>
          </p:cNvSpPr>
          <p:nvPr/>
        </p:nvSpPr>
        <p:spPr bwMode="auto">
          <a:xfrm>
            <a:off x="3889375" y="5030143"/>
            <a:ext cx="977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D </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0</a:t>
            </a:r>
            <a:endParaRPr kumimoji="1" lang="en-US" altLang="zh-CN" sz="2400" b="1" baseline="-25000">
              <a:solidFill>
                <a:schemeClr val="tx2"/>
              </a:solidFill>
              <a:latin typeface="Times New Roman" panose="02020603050405020304" pitchFamily="18" charset="0"/>
              <a:cs typeface="Times New Roman" panose="02020603050405020304" pitchFamily="18" charset="0"/>
            </a:endParaRPr>
          </a:p>
        </p:txBody>
      </p:sp>
      <p:grpSp>
        <p:nvGrpSpPr>
          <p:cNvPr id="2" name="Group 73"/>
          <p:cNvGrpSpPr/>
          <p:nvPr/>
        </p:nvGrpSpPr>
        <p:grpSpPr bwMode="auto">
          <a:xfrm>
            <a:off x="5629275" y="1768475"/>
            <a:ext cx="3394075" cy="2244725"/>
            <a:chOff x="3546" y="1114"/>
            <a:chExt cx="2138" cy="1414"/>
          </a:xfrm>
        </p:grpSpPr>
        <p:sp>
          <p:nvSpPr>
            <p:cNvPr id="11314" name="Line 12"/>
            <p:cNvSpPr>
              <a:spLocks noChangeShapeType="1"/>
            </p:cNvSpPr>
            <p:nvPr/>
          </p:nvSpPr>
          <p:spPr bwMode="auto">
            <a:xfrm flipV="1">
              <a:off x="3702" y="2084"/>
              <a:ext cx="0" cy="37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5" name="Line 13"/>
            <p:cNvSpPr>
              <a:spLocks noChangeShapeType="1"/>
            </p:cNvSpPr>
            <p:nvPr/>
          </p:nvSpPr>
          <p:spPr bwMode="auto">
            <a:xfrm>
              <a:off x="3702" y="2349"/>
              <a:ext cx="1714" cy="1"/>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69" name="Object 5"/>
            <p:cNvGraphicFramePr>
              <a:graphicFrameLocks noChangeAspect="1"/>
            </p:cNvGraphicFramePr>
            <p:nvPr/>
          </p:nvGraphicFramePr>
          <p:xfrm>
            <a:off x="5421" y="2231"/>
            <a:ext cx="263" cy="216"/>
          </p:xfrm>
          <a:graphic>
            <a:graphicData uri="http://schemas.openxmlformats.org/presentationml/2006/ole">
              <mc:AlternateContent xmlns:mc="http://schemas.openxmlformats.org/markup-compatibility/2006">
                <mc:Choice xmlns:v="urn:schemas-microsoft-com:vml" Requires="v">
                  <p:oleObj spid="_x0000_s11468" name="Equation" r:id="rId7" imgW="266700" imgH="203200" progId="Equation.DSMT4">
                    <p:embed/>
                  </p:oleObj>
                </mc:Choice>
                <mc:Fallback>
                  <p:oleObj name="Equation" r:id="rId7" imgW="266700"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1" y="2231"/>
                          <a:ext cx="26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1316" name="Text Box 15"/>
            <p:cNvSpPr txBox="1">
              <a:spLocks noChangeArrowheads="1"/>
            </p:cNvSpPr>
            <p:nvPr/>
          </p:nvSpPr>
          <p:spPr bwMode="auto">
            <a:xfrm>
              <a:off x="3586" y="1882"/>
              <a:ext cx="2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0</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11317" name="Text Box 16"/>
            <p:cNvSpPr txBox="1">
              <a:spLocks noChangeArrowheads="1"/>
            </p:cNvSpPr>
            <p:nvPr/>
          </p:nvSpPr>
          <p:spPr bwMode="auto">
            <a:xfrm>
              <a:off x="3546" y="227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0</a:t>
              </a:r>
              <a:endParaRPr kumimoji="1" lang="en-US" altLang="zh-CN" sz="2000"/>
            </a:p>
          </p:txBody>
        </p:sp>
        <p:grpSp>
          <p:nvGrpSpPr>
            <p:cNvPr id="11318" name="Group 17"/>
            <p:cNvGrpSpPr/>
            <p:nvPr/>
          </p:nvGrpSpPr>
          <p:grpSpPr bwMode="auto">
            <a:xfrm>
              <a:off x="3546" y="1114"/>
              <a:ext cx="2138" cy="646"/>
              <a:chOff x="3406" y="1149"/>
              <a:chExt cx="2138" cy="646"/>
            </a:xfrm>
          </p:grpSpPr>
          <p:sp>
            <p:nvSpPr>
              <p:cNvPr id="11326" name="Freeform 18"/>
              <p:cNvSpPr/>
              <p:nvPr/>
            </p:nvSpPr>
            <p:spPr bwMode="auto">
              <a:xfrm flipV="1">
                <a:off x="3568" y="1435"/>
                <a:ext cx="492" cy="176"/>
              </a:xfrm>
              <a:custGeom>
                <a:avLst/>
                <a:gdLst>
                  <a:gd name="T0" fmla="*/ 0 w 864"/>
                  <a:gd name="T1" fmla="*/ 0 h 480"/>
                  <a:gd name="T2" fmla="*/ 80 w 864"/>
                  <a:gd name="T3" fmla="*/ 24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27" name="Freeform 19"/>
              <p:cNvSpPr/>
              <p:nvPr/>
            </p:nvSpPr>
            <p:spPr bwMode="auto">
              <a:xfrm flipV="1">
                <a:off x="4547" y="1435"/>
                <a:ext cx="492" cy="176"/>
              </a:xfrm>
              <a:custGeom>
                <a:avLst/>
                <a:gdLst>
                  <a:gd name="T0" fmla="*/ 0 w 864"/>
                  <a:gd name="T1" fmla="*/ 0 h 480"/>
                  <a:gd name="T2" fmla="*/ 80 w 864"/>
                  <a:gd name="T3" fmla="*/ 24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28" name="Line 20"/>
              <p:cNvSpPr>
                <a:spLocks noChangeShapeType="1"/>
              </p:cNvSpPr>
              <p:nvPr/>
            </p:nvSpPr>
            <p:spPr bwMode="auto">
              <a:xfrm flipV="1">
                <a:off x="3562" y="1351"/>
                <a:ext cx="0" cy="37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9" name="Line 21"/>
              <p:cNvSpPr>
                <a:spLocks noChangeShapeType="1"/>
              </p:cNvSpPr>
              <p:nvPr/>
            </p:nvSpPr>
            <p:spPr bwMode="auto">
              <a:xfrm>
                <a:off x="3562" y="1616"/>
                <a:ext cx="1714" cy="1"/>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70" name="Object 6"/>
              <p:cNvGraphicFramePr>
                <a:graphicFrameLocks noChangeAspect="1"/>
              </p:cNvGraphicFramePr>
              <p:nvPr/>
            </p:nvGraphicFramePr>
            <p:xfrm>
              <a:off x="5281" y="1498"/>
              <a:ext cx="263" cy="216"/>
            </p:xfrm>
            <a:graphic>
              <a:graphicData uri="http://schemas.openxmlformats.org/presentationml/2006/ole">
                <mc:AlternateContent xmlns:mc="http://schemas.openxmlformats.org/markup-compatibility/2006">
                  <mc:Choice xmlns:v="urn:schemas-microsoft-com:vml" Requires="v">
                    <p:oleObj spid="_x0000_s11469" name="Equation" r:id="rId9" imgW="266700" imgH="203200" progId="Equation.DSMT4">
                      <p:embed/>
                    </p:oleObj>
                  </mc:Choice>
                  <mc:Fallback>
                    <p:oleObj name="Equation" r:id="rId9" imgW="266700" imgH="203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1" y="1498"/>
                            <a:ext cx="26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1330" name="Text Box 23"/>
              <p:cNvSpPr txBox="1">
                <a:spLocks noChangeArrowheads="1"/>
              </p:cNvSpPr>
              <p:nvPr/>
            </p:nvSpPr>
            <p:spPr bwMode="auto">
              <a:xfrm>
                <a:off x="3446" y="1149"/>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i</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11331" name="Text Box 24"/>
              <p:cNvSpPr txBox="1">
                <a:spLocks noChangeArrowheads="1"/>
              </p:cNvSpPr>
              <p:nvPr/>
            </p:nvSpPr>
            <p:spPr bwMode="auto">
              <a:xfrm>
                <a:off x="3406" y="154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0</a:t>
                </a:r>
                <a:endParaRPr kumimoji="1" lang="en-US" altLang="zh-CN" sz="2000"/>
              </a:p>
            </p:txBody>
          </p:sp>
          <p:sp>
            <p:nvSpPr>
              <p:cNvPr id="11332" name="Freeform 25"/>
              <p:cNvSpPr/>
              <p:nvPr/>
            </p:nvSpPr>
            <p:spPr bwMode="auto">
              <a:xfrm>
                <a:off x="4054" y="1609"/>
                <a:ext cx="492" cy="176"/>
              </a:xfrm>
              <a:custGeom>
                <a:avLst/>
                <a:gdLst>
                  <a:gd name="T0" fmla="*/ 0 w 864"/>
                  <a:gd name="T1" fmla="*/ 0 h 480"/>
                  <a:gd name="T2" fmla="*/ 80 w 864"/>
                  <a:gd name="T3" fmla="*/ 24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319" name="Line 26"/>
            <p:cNvSpPr>
              <a:spLocks noChangeShapeType="1"/>
            </p:cNvSpPr>
            <p:nvPr/>
          </p:nvSpPr>
          <p:spPr bwMode="auto">
            <a:xfrm>
              <a:off x="4196" y="1585"/>
              <a:ext cx="0" cy="744"/>
            </a:xfrm>
            <a:prstGeom prst="line">
              <a:avLst/>
            </a:prstGeom>
            <a:noFill/>
            <a:ln w="127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11320" name="Line 27"/>
            <p:cNvSpPr>
              <a:spLocks noChangeShapeType="1"/>
            </p:cNvSpPr>
            <p:nvPr/>
          </p:nvSpPr>
          <p:spPr bwMode="auto">
            <a:xfrm>
              <a:off x="4676" y="1585"/>
              <a:ext cx="0" cy="768"/>
            </a:xfrm>
            <a:prstGeom prst="line">
              <a:avLst/>
            </a:prstGeom>
            <a:noFill/>
            <a:ln w="127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11321" name="Line 28"/>
            <p:cNvSpPr>
              <a:spLocks noChangeShapeType="1"/>
            </p:cNvSpPr>
            <p:nvPr/>
          </p:nvSpPr>
          <p:spPr bwMode="auto">
            <a:xfrm>
              <a:off x="5168" y="1597"/>
              <a:ext cx="0" cy="744"/>
            </a:xfrm>
            <a:prstGeom prst="line">
              <a:avLst/>
            </a:prstGeom>
            <a:noFill/>
            <a:ln w="127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nvGrpSpPr>
            <p:cNvPr id="11322" name="Group 72"/>
            <p:cNvGrpSpPr/>
            <p:nvPr/>
          </p:nvGrpSpPr>
          <p:grpSpPr bwMode="auto">
            <a:xfrm>
              <a:off x="3708" y="2168"/>
              <a:ext cx="1471" cy="184"/>
              <a:chOff x="3708" y="2168"/>
              <a:chExt cx="1471" cy="184"/>
            </a:xfrm>
          </p:grpSpPr>
          <p:sp>
            <p:nvSpPr>
              <p:cNvPr id="11323" name="Freeform 10"/>
              <p:cNvSpPr/>
              <p:nvPr/>
            </p:nvSpPr>
            <p:spPr bwMode="auto">
              <a:xfrm flipV="1">
                <a:off x="3708" y="2168"/>
                <a:ext cx="492" cy="176"/>
              </a:xfrm>
              <a:custGeom>
                <a:avLst/>
                <a:gdLst>
                  <a:gd name="T0" fmla="*/ 0 w 864"/>
                  <a:gd name="T1" fmla="*/ 0 h 480"/>
                  <a:gd name="T2" fmla="*/ 80 w 864"/>
                  <a:gd name="T3" fmla="*/ 24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24" name="Freeform 11"/>
              <p:cNvSpPr/>
              <p:nvPr/>
            </p:nvSpPr>
            <p:spPr bwMode="auto">
              <a:xfrm flipV="1">
                <a:off x="4687" y="2168"/>
                <a:ext cx="492" cy="176"/>
              </a:xfrm>
              <a:custGeom>
                <a:avLst/>
                <a:gdLst>
                  <a:gd name="T0" fmla="*/ 0 w 864"/>
                  <a:gd name="T1" fmla="*/ 0 h 480"/>
                  <a:gd name="T2" fmla="*/ 80 w 864"/>
                  <a:gd name="T3" fmla="*/ 24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25" name="Line 71"/>
              <p:cNvSpPr>
                <a:spLocks noChangeShapeType="1"/>
              </p:cNvSpPr>
              <p:nvPr/>
            </p:nvSpPr>
            <p:spPr bwMode="auto">
              <a:xfrm>
                <a:off x="4214" y="2352"/>
                <a:ext cx="461"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grpSp>
        <p:nvGrpSpPr>
          <p:cNvPr id="11280" name="Group 10"/>
          <p:cNvGrpSpPr/>
          <p:nvPr/>
        </p:nvGrpSpPr>
        <p:grpSpPr bwMode="auto">
          <a:xfrm>
            <a:off x="130175" y="1357313"/>
            <a:ext cx="5013325" cy="2544762"/>
            <a:chOff x="11" y="689"/>
            <a:chExt cx="3158" cy="1603"/>
          </a:xfrm>
        </p:grpSpPr>
        <p:grpSp>
          <p:nvGrpSpPr>
            <p:cNvPr id="11281" name="Group 11"/>
            <p:cNvGrpSpPr/>
            <p:nvPr/>
          </p:nvGrpSpPr>
          <p:grpSpPr bwMode="auto">
            <a:xfrm>
              <a:off x="156" y="689"/>
              <a:ext cx="3013" cy="1603"/>
              <a:chOff x="528" y="2069"/>
              <a:chExt cx="3013" cy="1603"/>
            </a:xfrm>
          </p:grpSpPr>
          <p:sp>
            <p:nvSpPr>
              <p:cNvPr id="11283" name="Line 12"/>
              <p:cNvSpPr>
                <a:spLocks noChangeShapeType="1"/>
              </p:cNvSpPr>
              <p:nvPr/>
            </p:nvSpPr>
            <p:spPr bwMode="auto">
              <a:xfrm>
                <a:off x="942" y="2402"/>
                <a:ext cx="57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4" name="Oval 13"/>
              <p:cNvSpPr>
                <a:spLocks noChangeArrowheads="1"/>
              </p:cNvSpPr>
              <p:nvPr/>
            </p:nvSpPr>
            <p:spPr bwMode="auto">
              <a:xfrm>
                <a:off x="904" y="2376"/>
                <a:ext cx="48" cy="48"/>
              </a:xfrm>
              <a:prstGeom prst="ellipse">
                <a:avLst/>
              </a:prstGeom>
              <a:solidFill>
                <a:srgbClr val="000099"/>
              </a:solidFill>
              <a:ln w="28575">
                <a:solidFill>
                  <a:schemeClr val="tx1"/>
                </a:solidFill>
                <a:round/>
              </a:ln>
            </p:spPr>
            <p:txBody>
              <a:bodyPr wrap="none" anchor="ctr"/>
              <a:lstStyle/>
              <a:p>
                <a:endParaRPr lang="zh-CN" altLang="en-US"/>
              </a:p>
            </p:txBody>
          </p:sp>
          <p:sp>
            <p:nvSpPr>
              <p:cNvPr id="11285" name="Line 14"/>
              <p:cNvSpPr>
                <a:spLocks noChangeShapeType="1"/>
              </p:cNvSpPr>
              <p:nvPr/>
            </p:nvSpPr>
            <p:spPr bwMode="auto">
              <a:xfrm>
                <a:off x="942" y="3650"/>
                <a:ext cx="57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6" name="Oval 15"/>
              <p:cNvSpPr>
                <a:spLocks noChangeArrowheads="1"/>
              </p:cNvSpPr>
              <p:nvPr/>
            </p:nvSpPr>
            <p:spPr bwMode="auto">
              <a:xfrm>
                <a:off x="904" y="3624"/>
                <a:ext cx="48" cy="48"/>
              </a:xfrm>
              <a:prstGeom prst="ellipse">
                <a:avLst/>
              </a:prstGeom>
              <a:solidFill>
                <a:srgbClr val="000099"/>
              </a:solidFill>
              <a:ln w="28575">
                <a:solidFill>
                  <a:schemeClr val="tx1"/>
                </a:solidFill>
                <a:round/>
              </a:ln>
            </p:spPr>
            <p:txBody>
              <a:bodyPr wrap="none" anchor="ctr"/>
              <a:lstStyle/>
              <a:p>
                <a:endParaRPr lang="zh-CN" altLang="en-US"/>
              </a:p>
            </p:txBody>
          </p:sp>
          <p:sp>
            <p:nvSpPr>
              <p:cNvPr id="11287" name="Freeform 16"/>
              <p:cNvSpPr/>
              <p:nvPr/>
            </p:nvSpPr>
            <p:spPr bwMode="auto">
              <a:xfrm>
                <a:off x="1517" y="2664"/>
                <a:ext cx="48" cy="720"/>
              </a:xfrm>
              <a:custGeom>
                <a:avLst/>
                <a:gdLst>
                  <a:gd name="T0" fmla="*/ 0 w 48"/>
                  <a:gd name="T1" fmla="*/ 0 h 768"/>
                  <a:gd name="T2" fmla="*/ 48 w 48"/>
                  <a:gd name="T3" fmla="*/ 79 h 768"/>
                  <a:gd name="T4" fmla="*/ 0 w 48"/>
                  <a:gd name="T5" fmla="*/ 158 h 768"/>
                  <a:gd name="T6" fmla="*/ 48 w 48"/>
                  <a:gd name="T7" fmla="*/ 237 h 768"/>
                  <a:gd name="T8" fmla="*/ 0 w 48"/>
                  <a:gd name="T9" fmla="*/ 317 h 768"/>
                  <a:gd name="T10" fmla="*/ 48 w 48"/>
                  <a:gd name="T11" fmla="*/ 396 h 768"/>
                  <a:gd name="T12" fmla="*/ 0 w 48"/>
                  <a:gd name="T13" fmla="*/ 474 h 768"/>
                  <a:gd name="T14" fmla="*/ 48 w 48"/>
                  <a:gd name="T15" fmla="*/ 554 h 768"/>
                  <a:gd name="T16" fmla="*/ 0 w 48"/>
                  <a:gd name="T17" fmla="*/ 633 h 7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768"/>
                  <a:gd name="T29" fmla="*/ 48 w 48"/>
                  <a:gd name="T30" fmla="*/ 768 h 7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88" name="Freeform 17"/>
              <p:cNvSpPr/>
              <p:nvPr/>
            </p:nvSpPr>
            <p:spPr bwMode="auto">
              <a:xfrm flipH="1">
                <a:off x="1731" y="2664"/>
                <a:ext cx="48" cy="720"/>
              </a:xfrm>
              <a:custGeom>
                <a:avLst/>
                <a:gdLst>
                  <a:gd name="T0" fmla="*/ 0 w 48"/>
                  <a:gd name="T1" fmla="*/ 0 h 768"/>
                  <a:gd name="T2" fmla="*/ 48 w 48"/>
                  <a:gd name="T3" fmla="*/ 79 h 768"/>
                  <a:gd name="T4" fmla="*/ 0 w 48"/>
                  <a:gd name="T5" fmla="*/ 158 h 768"/>
                  <a:gd name="T6" fmla="*/ 48 w 48"/>
                  <a:gd name="T7" fmla="*/ 237 h 768"/>
                  <a:gd name="T8" fmla="*/ 0 w 48"/>
                  <a:gd name="T9" fmla="*/ 317 h 768"/>
                  <a:gd name="T10" fmla="*/ 48 w 48"/>
                  <a:gd name="T11" fmla="*/ 396 h 768"/>
                  <a:gd name="T12" fmla="*/ 0 w 48"/>
                  <a:gd name="T13" fmla="*/ 474 h 768"/>
                  <a:gd name="T14" fmla="*/ 48 w 48"/>
                  <a:gd name="T15" fmla="*/ 554 h 768"/>
                  <a:gd name="T16" fmla="*/ 0 w 48"/>
                  <a:gd name="T17" fmla="*/ 633 h 7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768"/>
                  <a:gd name="T29" fmla="*/ 48 w 48"/>
                  <a:gd name="T30" fmla="*/ 768 h 7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89" name="Line 18"/>
              <p:cNvSpPr>
                <a:spLocks noChangeShapeType="1"/>
              </p:cNvSpPr>
              <p:nvPr/>
            </p:nvSpPr>
            <p:spPr bwMode="auto">
              <a:xfrm>
                <a:off x="1652" y="2520"/>
                <a:ext cx="0" cy="100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 name="Line 19"/>
              <p:cNvSpPr>
                <a:spLocks noChangeShapeType="1"/>
              </p:cNvSpPr>
              <p:nvPr/>
            </p:nvSpPr>
            <p:spPr bwMode="auto">
              <a:xfrm>
                <a:off x="1779" y="2402"/>
                <a:ext cx="132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 name="Line 20"/>
              <p:cNvSpPr>
                <a:spLocks noChangeShapeType="1"/>
              </p:cNvSpPr>
              <p:nvPr/>
            </p:nvSpPr>
            <p:spPr bwMode="auto">
              <a:xfrm flipV="1">
                <a:off x="1776" y="3647"/>
                <a:ext cx="1335" cy="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292" name="Group 21"/>
              <p:cNvGrpSpPr/>
              <p:nvPr/>
            </p:nvGrpSpPr>
            <p:grpSpPr bwMode="auto">
              <a:xfrm>
                <a:off x="588" y="2719"/>
                <a:ext cx="702" cy="399"/>
                <a:chOff x="1089" y="2072"/>
                <a:chExt cx="702" cy="399"/>
              </a:xfrm>
            </p:grpSpPr>
            <p:sp>
              <p:nvSpPr>
                <p:cNvPr id="11312" name="Line 22"/>
                <p:cNvSpPr>
                  <a:spLocks noChangeShapeType="1"/>
                </p:cNvSpPr>
                <p:nvPr/>
              </p:nvSpPr>
              <p:spPr bwMode="auto">
                <a:xfrm flipV="1">
                  <a:off x="1089" y="2072"/>
                  <a:ext cx="0" cy="399"/>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3" name="Line 23"/>
                <p:cNvSpPr>
                  <a:spLocks noChangeShapeType="1"/>
                </p:cNvSpPr>
                <p:nvPr/>
              </p:nvSpPr>
              <p:spPr bwMode="auto">
                <a:xfrm>
                  <a:off x="1089" y="2471"/>
                  <a:ext cx="70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93" name="Freeform 24"/>
              <p:cNvSpPr>
                <a:spLocks noChangeAspect="1"/>
              </p:cNvSpPr>
              <p:nvPr/>
            </p:nvSpPr>
            <p:spPr bwMode="auto">
              <a:xfrm>
                <a:off x="586" y="2917"/>
                <a:ext cx="509" cy="376"/>
              </a:xfrm>
              <a:custGeom>
                <a:avLst/>
                <a:gdLst>
                  <a:gd name="T0" fmla="*/ 0 w 1932"/>
                  <a:gd name="T1" fmla="*/ 47 h 753"/>
                  <a:gd name="T2" fmla="*/ 9 w 1932"/>
                  <a:gd name="T3" fmla="*/ 0 h 753"/>
                  <a:gd name="T4" fmla="*/ 18 w 1932"/>
                  <a:gd name="T5" fmla="*/ 45 h 753"/>
                  <a:gd name="T6" fmla="*/ 27 w 1932"/>
                  <a:gd name="T7" fmla="*/ 93 h 753"/>
                  <a:gd name="T8" fmla="*/ 35 w 1932"/>
                  <a:gd name="T9" fmla="*/ 47 h 753"/>
                  <a:gd name="T10" fmla="*/ 0 60000 65536"/>
                  <a:gd name="T11" fmla="*/ 0 60000 65536"/>
                  <a:gd name="T12" fmla="*/ 0 60000 65536"/>
                  <a:gd name="T13" fmla="*/ 0 60000 65536"/>
                  <a:gd name="T14" fmla="*/ 0 60000 65536"/>
                  <a:gd name="T15" fmla="*/ 0 w 1932"/>
                  <a:gd name="T16" fmla="*/ 0 h 753"/>
                  <a:gd name="T17" fmla="*/ 1932 w 1932"/>
                  <a:gd name="T18" fmla="*/ 753 h 753"/>
                </a:gdLst>
                <a:ahLst/>
                <a:cxnLst>
                  <a:cxn ang="T10">
                    <a:pos x="T0" y="T1"/>
                  </a:cxn>
                  <a:cxn ang="T11">
                    <a:pos x="T2" y="T3"/>
                  </a:cxn>
                  <a:cxn ang="T12">
                    <a:pos x="T4" y="T5"/>
                  </a:cxn>
                  <a:cxn ang="T13">
                    <a:pos x="T6" y="T7"/>
                  </a:cxn>
                  <a:cxn ang="T14">
                    <a:pos x="T8" y="T9"/>
                  </a:cxn>
                </a:cxnLst>
                <a:rect l="T15" t="T16" r="T17" b="T18"/>
                <a:pathLst>
                  <a:path w="1932" h="753">
                    <a:moveTo>
                      <a:pt x="0" y="376"/>
                    </a:moveTo>
                    <a:cubicBezTo>
                      <a:pt x="166" y="190"/>
                      <a:pt x="332" y="4"/>
                      <a:pt x="492" y="2"/>
                    </a:cubicBezTo>
                    <a:cubicBezTo>
                      <a:pt x="652" y="0"/>
                      <a:pt x="798" y="239"/>
                      <a:pt x="960" y="364"/>
                    </a:cubicBezTo>
                    <a:cubicBezTo>
                      <a:pt x="1122" y="489"/>
                      <a:pt x="1301" y="749"/>
                      <a:pt x="1463" y="751"/>
                    </a:cubicBezTo>
                    <a:cubicBezTo>
                      <a:pt x="1625" y="753"/>
                      <a:pt x="1854" y="439"/>
                      <a:pt x="1932" y="376"/>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4" name="Text Box 25"/>
              <p:cNvSpPr txBox="1">
                <a:spLocks noChangeArrowheads="1"/>
              </p:cNvSpPr>
              <p:nvPr/>
            </p:nvSpPr>
            <p:spPr bwMode="auto">
              <a:xfrm>
                <a:off x="528" y="2457"/>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1</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1295" name="Text Box 26"/>
              <p:cNvSpPr txBox="1">
                <a:spLocks noChangeArrowheads="1"/>
              </p:cNvSpPr>
              <p:nvPr/>
            </p:nvSpPr>
            <p:spPr bwMode="auto">
              <a:xfrm>
                <a:off x="1861" y="2527"/>
                <a:ext cx="354"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2</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_</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1296" name="Line 27"/>
              <p:cNvSpPr>
                <a:spLocks noChangeShapeType="1"/>
              </p:cNvSpPr>
              <p:nvPr/>
            </p:nvSpPr>
            <p:spPr bwMode="auto">
              <a:xfrm>
                <a:off x="1517" y="2399"/>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7" name="Line 28"/>
              <p:cNvSpPr>
                <a:spLocks noChangeShapeType="1"/>
              </p:cNvSpPr>
              <p:nvPr/>
            </p:nvSpPr>
            <p:spPr bwMode="auto">
              <a:xfrm>
                <a:off x="1517" y="3384"/>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8" name="Line 29"/>
              <p:cNvSpPr>
                <a:spLocks noChangeShapeType="1"/>
              </p:cNvSpPr>
              <p:nvPr/>
            </p:nvSpPr>
            <p:spPr bwMode="auto">
              <a:xfrm>
                <a:off x="1779" y="2401"/>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9" name="Line 30"/>
              <p:cNvSpPr>
                <a:spLocks noChangeShapeType="1"/>
              </p:cNvSpPr>
              <p:nvPr/>
            </p:nvSpPr>
            <p:spPr bwMode="auto">
              <a:xfrm>
                <a:off x="1779" y="3384"/>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0" name="Line 31"/>
              <p:cNvSpPr>
                <a:spLocks noChangeShapeType="1"/>
              </p:cNvSpPr>
              <p:nvPr/>
            </p:nvSpPr>
            <p:spPr bwMode="auto">
              <a:xfrm>
                <a:off x="3105" y="2399"/>
                <a:ext cx="6" cy="125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1" name="Text Box 35"/>
              <p:cNvSpPr txBox="1">
                <a:spLocks noChangeArrowheads="1"/>
              </p:cNvSpPr>
              <p:nvPr/>
            </p:nvSpPr>
            <p:spPr bwMode="auto">
              <a:xfrm>
                <a:off x="1099" y="2482"/>
                <a:ext cx="417"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a:p>
                <a:pPr algn="r" eaLnBrk="1" hangingPunct="1"/>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1</a:t>
                </a:r>
                <a:r>
                  <a:rPr kumimoji="1" lang="en-US" altLang="zh-CN" b="1">
                    <a:solidFill>
                      <a:schemeClr val="tx2"/>
                    </a:solidFill>
                    <a:latin typeface="Times New Roman" panose="02020603050405020304" pitchFamily="18" charset="0"/>
                    <a:cs typeface="Times New Roman" panose="02020603050405020304" pitchFamily="18" charset="0"/>
                  </a:rPr>
                  <a:t> </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algn="r" eaLnBrk="1" hangingPunct="1"/>
                <a:r>
                  <a:rPr kumimoji="1" lang="en-US" altLang="zh-CN" b="1" baseline="-25000">
                    <a:solidFill>
                      <a:schemeClr val="tx2"/>
                    </a:solidFill>
                    <a:latin typeface="黑体" panose="02010609060101010101" pitchFamily="49" charset="-122"/>
                    <a:ea typeface="黑体" panose="02010609060101010101" pitchFamily="49" charset="-122"/>
                  </a:rPr>
                  <a:t>-</a:t>
                </a:r>
                <a:endParaRPr kumimoji="1" lang="en-US" altLang="zh-CN" b="1" baseline="-25000">
                  <a:solidFill>
                    <a:schemeClr val="tx2"/>
                  </a:solidFill>
                  <a:latin typeface="黑体" panose="02010609060101010101" pitchFamily="49" charset="-122"/>
                  <a:ea typeface="黑体" panose="02010609060101010101" pitchFamily="49" charset="-122"/>
                </a:endParaRPr>
              </a:p>
            </p:txBody>
          </p:sp>
          <p:sp>
            <p:nvSpPr>
              <p:cNvPr id="11302" name="Text Box 36"/>
              <p:cNvSpPr txBox="1">
                <a:spLocks noChangeArrowheads="1"/>
              </p:cNvSpPr>
              <p:nvPr/>
            </p:nvSpPr>
            <p:spPr bwMode="auto">
              <a:xfrm>
                <a:off x="1786" y="2392"/>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1303" name="Text Box 37"/>
              <p:cNvSpPr txBox="1">
                <a:spLocks noChangeArrowheads="1"/>
              </p:cNvSpPr>
              <p:nvPr/>
            </p:nvSpPr>
            <p:spPr bwMode="auto">
              <a:xfrm>
                <a:off x="1531" y="2204"/>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1304" name="Text Box 38"/>
              <p:cNvSpPr txBox="1">
                <a:spLocks noChangeArrowheads="1"/>
              </p:cNvSpPr>
              <p:nvPr/>
            </p:nvSpPr>
            <p:spPr bwMode="auto">
              <a:xfrm>
                <a:off x="1786" y="342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1305" name="Text Box 39"/>
              <p:cNvSpPr txBox="1">
                <a:spLocks noChangeArrowheads="1"/>
              </p:cNvSpPr>
              <p:nvPr/>
            </p:nvSpPr>
            <p:spPr bwMode="auto">
              <a:xfrm>
                <a:off x="2394" y="2069"/>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1306" name="Text Box 40"/>
              <p:cNvSpPr txBox="1">
                <a:spLocks noChangeArrowheads="1"/>
              </p:cNvSpPr>
              <p:nvPr/>
            </p:nvSpPr>
            <p:spPr bwMode="auto">
              <a:xfrm>
                <a:off x="2610" y="2811"/>
                <a:ext cx="63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r>
                  <a:rPr kumimoji="1" lang="en-US" altLang="zh-CN" b="1" baseline="-25000">
                    <a:solidFill>
                      <a:schemeClr val="tx2"/>
                    </a:solidFill>
                    <a:latin typeface="Times New Roman" panose="02020603050405020304" pitchFamily="18" charset="0"/>
                    <a:cs typeface="Times New Roman" panose="02020603050405020304" pitchFamily="18" charset="0"/>
                  </a:rPr>
                  <a:t>L</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nvGrpSpPr>
              <p:cNvPr id="11307" name="Group 41"/>
              <p:cNvGrpSpPr/>
              <p:nvPr/>
            </p:nvGrpSpPr>
            <p:grpSpPr bwMode="auto">
              <a:xfrm flipH="1">
                <a:off x="2385" y="2257"/>
                <a:ext cx="206" cy="292"/>
                <a:chOff x="2793" y="1735"/>
                <a:chExt cx="206" cy="292"/>
              </a:xfrm>
            </p:grpSpPr>
            <p:sp>
              <p:nvSpPr>
                <p:cNvPr id="11310" name="AutoShape 42"/>
                <p:cNvSpPr>
                  <a:spLocks noChangeArrowheads="1"/>
                </p:cNvSpPr>
                <p:nvPr/>
              </p:nvSpPr>
              <p:spPr bwMode="auto">
                <a:xfrm rot="-5400000">
                  <a:off x="2759" y="1787"/>
                  <a:ext cx="288" cy="192"/>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11" name="Line 43"/>
                <p:cNvSpPr>
                  <a:spLocks noChangeShapeType="1"/>
                </p:cNvSpPr>
                <p:nvPr/>
              </p:nvSpPr>
              <p:spPr bwMode="auto">
                <a:xfrm rot="-5400000">
                  <a:off x="2648" y="1880"/>
                  <a:ext cx="29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308" name="Rectangle 44"/>
              <p:cNvSpPr>
                <a:spLocks noChangeArrowheads="1"/>
              </p:cNvSpPr>
              <p:nvPr/>
            </p:nvSpPr>
            <p:spPr bwMode="auto">
              <a:xfrm>
                <a:off x="3051" y="2811"/>
                <a:ext cx="117" cy="387"/>
              </a:xfrm>
              <a:prstGeom prst="rect">
                <a:avLst/>
              </a:prstGeom>
              <a:solidFill>
                <a:srgbClr val="DDDDDD"/>
              </a:solidFill>
              <a:ln w="28575">
                <a:solidFill>
                  <a:schemeClr val="tx1"/>
                </a:solidFill>
                <a:miter lim="800000"/>
              </a:ln>
            </p:spPr>
            <p:txBody>
              <a:bodyPr wrap="none" anchor="ctr"/>
              <a:lstStyle/>
              <a:p>
                <a:endParaRPr lang="zh-CN" altLang="en-US"/>
              </a:p>
            </p:txBody>
          </p:sp>
          <p:sp>
            <p:nvSpPr>
              <p:cNvPr id="11309" name="Text Box 45"/>
              <p:cNvSpPr txBox="1">
                <a:spLocks noChangeArrowheads="1"/>
              </p:cNvSpPr>
              <p:nvPr/>
            </p:nvSpPr>
            <p:spPr bwMode="auto">
              <a:xfrm>
                <a:off x="3187" y="2707"/>
                <a:ext cx="35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baseline="-25000">
                    <a:solidFill>
                      <a:schemeClr val="tx2"/>
                    </a:solidFill>
                    <a:latin typeface="Times New Roman" panose="02020603050405020304" pitchFamily="18" charset="0"/>
                    <a:cs typeface="Times New Roman" panose="02020603050405020304" pitchFamily="18" charset="0"/>
                  </a:rPr>
                  <a:t>_</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sp>
          <p:nvSpPr>
            <p:cNvPr id="11282" name="Text Box 46"/>
            <p:cNvSpPr txBox="1">
              <a:spLocks noChangeArrowheads="1"/>
            </p:cNvSpPr>
            <p:nvPr/>
          </p:nvSpPr>
          <p:spPr bwMode="auto">
            <a:xfrm>
              <a:off x="11" y="1660"/>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cs typeface="Times New Roman" panose="02020603050405020304" pitchFamily="18" charset="0"/>
                </a:rPr>
                <a:t>O</a:t>
              </a:r>
              <a:endParaRPr kumimoji="1" lang="en-US" altLang="zh-CN" sz="2000" i="1">
                <a:latin typeface="Times New Roman" panose="02020603050405020304" pitchFamily="18" charset="0"/>
                <a:cs typeface="Times New Roman" panose="02020603050405020304" pitchFamily="18" charset="0"/>
              </a:endParaRPr>
            </a:p>
          </p:txBody>
        </p:sp>
        <p:graphicFrame>
          <p:nvGraphicFramePr>
            <p:cNvPr id="11271" name="Object 2"/>
            <p:cNvGraphicFramePr>
              <a:graphicFrameLocks noChangeAspect="1"/>
            </p:cNvGraphicFramePr>
            <p:nvPr/>
          </p:nvGraphicFramePr>
          <p:xfrm>
            <a:off x="730" y="1777"/>
            <a:ext cx="297" cy="221"/>
          </p:xfrm>
          <a:graphic>
            <a:graphicData uri="http://schemas.openxmlformats.org/presentationml/2006/ole">
              <mc:AlternateContent xmlns:mc="http://schemas.openxmlformats.org/markup-compatibility/2006">
                <mc:Choice xmlns:v="urn:schemas-microsoft-com:vml" Requires="v">
                  <p:oleObj spid="_x0000_s11470" name="Equation" r:id="rId11" imgW="266700" imgH="203200" progId="Equation.DSMT4">
                    <p:embed/>
                  </p:oleObj>
                </mc:Choice>
                <mc:Fallback>
                  <p:oleObj name="Equation" r:id="rId11" imgW="266700" imgH="203200" progId="Equation.DSMT4">
                    <p:embed/>
                    <p:pic>
                      <p:nvPicPr>
                        <p:cNvPr id="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0" y="1777"/>
                          <a:ext cx="2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086"/>
                                        </p:tgtEl>
                                        <p:attrNameLst>
                                          <p:attrName>style.visibility</p:attrName>
                                        </p:attrNameLst>
                                      </p:cBhvr>
                                      <p:to>
                                        <p:strVal val="visible"/>
                                      </p:to>
                                    </p:set>
                                    <p:animEffect transition="in" filter="wipe(left)">
                                      <p:cBhvr>
                                        <p:cTn id="7" dur="500"/>
                                        <p:tgtEl>
                                          <p:spTgt spid="46086"/>
                                        </p:tgtEl>
                                      </p:cBhvr>
                                    </p:animEffect>
                                  </p:childTnLst>
                                </p:cTn>
                              </p:par>
                            </p:childTnLst>
                          </p:cTn>
                        </p:par>
                        <p:par>
                          <p:cTn id="8" fill="hold">
                            <p:stCondLst>
                              <p:cond delay="500"/>
                            </p:stCondLst>
                            <p:childTnLst>
                              <p:par>
                                <p:cTn id="9" presetID="55"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ppt_w*0.70"/>
                                          </p:val>
                                        </p:tav>
                                        <p:tav tm="100000">
                                          <p:val>
                                            <p:strVal val="#ppt_w"/>
                                          </p:val>
                                        </p:tav>
                                      </p:tavLst>
                                    </p:anim>
                                    <p:anim calcmode="lin" valueType="num">
                                      <p:cBhvr>
                                        <p:cTn id="12" dur="1000" fill="hold"/>
                                        <p:tgtEl>
                                          <p:spTgt spid="2"/>
                                        </p:tgtEl>
                                        <p:attrNameLst>
                                          <p:attrName>ppt_h</p:attrName>
                                        </p:attrNameLst>
                                      </p:cBhvr>
                                      <p:tavLst>
                                        <p:tav tm="0">
                                          <p:val>
                                            <p:strVal val="#ppt_h"/>
                                          </p:val>
                                        </p:tav>
                                        <p:tav tm="100000">
                                          <p:val>
                                            <p:strVal val="#ppt_h"/>
                                          </p:val>
                                        </p:tav>
                                      </p:tavLst>
                                    </p:anim>
                                    <p:animEffect transition="in" filter="fade">
                                      <p:cBhvr>
                                        <p:cTn id="13" dur="1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6084"/>
                                        </p:tgtEl>
                                        <p:attrNameLst>
                                          <p:attrName>style.visibility</p:attrName>
                                        </p:attrNameLst>
                                      </p:cBhvr>
                                      <p:to>
                                        <p:strVal val="visible"/>
                                      </p:to>
                                    </p:set>
                                    <p:animEffect transition="in" filter="wipe(left)">
                                      <p:cBhvr>
                                        <p:cTn id="18" dur="500"/>
                                        <p:tgtEl>
                                          <p:spTgt spid="46084"/>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46087"/>
                                        </p:tgtEl>
                                        <p:attrNameLst>
                                          <p:attrName>style.visibility</p:attrName>
                                        </p:attrNameLst>
                                      </p:cBhvr>
                                      <p:to>
                                        <p:strVal val="visible"/>
                                      </p:to>
                                    </p:set>
                                    <p:animEffect transition="in" filter="dissolve">
                                      <p:cBhvr>
                                        <p:cTn id="22" dur="500"/>
                                        <p:tgtEl>
                                          <p:spTgt spid="460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6111"/>
                                        </p:tgtEl>
                                        <p:attrNameLst>
                                          <p:attrName>style.visibility</p:attrName>
                                        </p:attrNameLst>
                                      </p:cBhvr>
                                      <p:to>
                                        <p:strVal val="visible"/>
                                      </p:to>
                                    </p:set>
                                    <p:animEffect transition="in" filter="wipe(left)">
                                      <p:cBhvr>
                                        <p:cTn id="27" dur="500"/>
                                        <p:tgtEl>
                                          <p:spTgt spid="46111"/>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46112"/>
                                        </p:tgtEl>
                                        <p:attrNameLst>
                                          <p:attrName>style.visibility</p:attrName>
                                        </p:attrNameLst>
                                      </p:cBhvr>
                                      <p:to>
                                        <p:strVal val="visible"/>
                                      </p:to>
                                    </p:set>
                                    <p:animEffect transition="in" filter="wipe(left)">
                                      <p:cBhvr>
                                        <p:cTn id="31" dur="500"/>
                                        <p:tgtEl>
                                          <p:spTgt spid="461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6109"/>
                                        </p:tgtEl>
                                        <p:attrNameLst>
                                          <p:attrName>style.visibility</p:attrName>
                                        </p:attrNameLst>
                                      </p:cBhvr>
                                      <p:to>
                                        <p:strVal val="visible"/>
                                      </p:to>
                                    </p:set>
                                    <p:animEffect transition="in" filter="wipe(left)">
                                      <p:cBhvr>
                                        <p:cTn id="36" dur="500"/>
                                        <p:tgtEl>
                                          <p:spTgt spid="46109"/>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46110"/>
                                        </p:tgtEl>
                                        <p:attrNameLst>
                                          <p:attrName>style.visibility</p:attrName>
                                        </p:attrNameLst>
                                      </p:cBhvr>
                                      <p:to>
                                        <p:strVal val="visible"/>
                                      </p:to>
                                    </p:set>
                                    <p:animEffect transition="in" filter="wipe(left)">
                                      <p:cBhvr>
                                        <p:cTn id="40" dur="500"/>
                                        <p:tgtEl>
                                          <p:spTgt spid="46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6086" grpId="0"/>
      <p:bldP spid="46109" grpId="0"/>
      <p:bldP spid="46111" grpId="0" autoUpdateAnimBg="0"/>
      <p:bldP spid="4611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2</a:t>
            </a:r>
            <a:r>
              <a:rPr lang="zh-CN" altLang="en-US" sz="3600" smtClean="0">
                <a:ea typeface="楷体_GB2312" pitchFamily="49" charset="-122"/>
              </a:rPr>
              <a:t>）</a:t>
            </a:r>
            <a:endParaRPr lang="zh-CN" altLang="en-US" sz="3600" smtClean="0">
              <a:ea typeface="楷体_GB2312" pitchFamily="49" charset="-122"/>
            </a:endParaRPr>
          </a:p>
        </p:txBody>
      </p:sp>
      <p:pic>
        <p:nvPicPr>
          <p:cNvPr id="52227" name="Picture 5">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630" y="1280578"/>
            <a:ext cx="6791665" cy="4860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52228" name="Rectangle 6"/>
          <p:cNvSpPr>
            <a:spLocks noChangeArrowheads="1"/>
          </p:cNvSpPr>
          <p:nvPr/>
        </p:nvSpPr>
        <p:spPr bwMode="auto">
          <a:xfrm>
            <a:off x="1509713" y="842963"/>
            <a:ext cx="6415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lang="zh-CN" altLang="en-US" sz="2400" b="1">
                <a:solidFill>
                  <a:schemeClr val="tx2"/>
                </a:solidFill>
              </a:rPr>
              <a:t>利用</a:t>
            </a:r>
            <a:r>
              <a:rPr lang="en-US" altLang="zh-CN" sz="2400" b="1">
                <a:solidFill>
                  <a:schemeClr val="tx2"/>
                </a:solidFill>
              </a:rPr>
              <a:t>Multisim</a:t>
            </a:r>
            <a:r>
              <a:rPr lang="zh-CN" altLang="en-US" sz="2400" b="1">
                <a:solidFill>
                  <a:schemeClr val="tx2"/>
                </a:solidFill>
              </a:rPr>
              <a:t>观察单相半波整流电路工作波形</a:t>
            </a:r>
            <a:endParaRPr lang="zh-CN" altLang="en-US" sz="2400" b="1">
              <a:solidFill>
                <a:schemeClr val="tx2"/>
              </a:solidFill>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3</a:t>
            </a:r>
            <a:r>
              <a:rPr lang="zh-CN" altLang="en-US" sz="3600" smtClean="0">
                <a:ea typeface="楷体_GB2312" pitchFamily="49" charset="-122"/>
              </a:rPr>
              <a:t>）</a:t>
            </a:r>
            <a:endParaRPr lang="zh-CN" altLang="en-US" sz="3600" smtClean="0">
              <a:ea typeface="楷体_GB2312" pitchFamily="49" charset="-122"/>
            </a:endParaRPr>
          </a:p>
        </p:txBody>
      </p:sp>
      <p:sp>
        <p:nvSpPr>
          <p:cNvPr id="12294" name="Rectangle 3"/>
          <p:cNvSpPr>
            <a:spLocks noGrp="1" noChangeArrowheads="1"/>
          </p:cNvSpPr>
          <p:nvPr>
            <p:ph sz="quarter" idx="11"/>
          </p:nvPr>
        </p:nvSpPr>
        <p:spPr/>
        <p:txBody>
          <a:bodyPr/>
          <a:lstStyle/>
          <a:p>
            <a:pPr eaLnBrk="1" hangingPunct="1"/>
            <a:r>
              <a:rPr lang="zh-CN" altLang="en-US" sz="2400" smtClean="0">
                <a:ea typeface="宋体" panose="02010600030101010101" pitchFamily="2" charset="-122"/>
              </a:rPr>
              <a:t>单相桥式全波整流</a:t>
            </a:r>
            <a:endParaRPr lang="zh-CN" altLang="en-US" sz="2400" smtClean="0">
              <a:ea typeface="宋体" panose="02010600030101010101" pitchFamily="2" charset="-122"/>
            </a:endParaRPr>
          </a:p>
        </p:txBody>
      </p:sp>
      <p:grpSp>
        <p:nvGrpSpPr>
          <p:cNvPr id="2" name="Group 4"/>
          <p:cNvGrpSpPr/>
          <p:nvPr/>
        </p:nvGrpSpPr>
        <p:grpSpPr bwMode="auto">
          <a:xfrm>
            <a:off x="1982788" y="1273175"/>
            <a:ext cx="7477125" cy="2859088"/>
            <a:chOff x="442" y="1313"/>
            <a:chExt cx="4710" cy="1801"/>
          </a:xfrm>
        </p:grpSpPr>
        <p:sp>
          <p:nvSpPr>
            <p:cNvPr id="12356" name="Line 5"/>
            <p:cNvSpPr>
              <a:spLocks noChangeShapeType="1"/>
            </p:cNvSpPr>
            <p:nvPr/>
          </p:nvSpPr>
          <p:spPr bwMode="auto">
            <a:xfrm>
              <a:off x="953" y="1559"/>
              <a:ext cx="57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57" name="Oval 6"/>
            <p:cNvSpPr>
              <a:spLocks noChangeArrowheads="1"/>
            </p:cNvSpPr>
            <p:nvPr/>
          </p:nvSpPr>
          <p:spPr bwMode="auto">
            <a:xfrm>
              <a:off x="915" y="1533"/>
              <a:ext cx="48" cy="48"/>
            </a:xfrm>
            <a:prstGeom prst="ellipse">
              <a:avLst/>
            </a:prstGeom>
            <a:solidFill>
              <a:srgbClr val="000099"/>
            </a:solidFill>
            <a:ln w="28575">
              <a:solidFill>
                <a:schemeClr val="tx1"/>
              </a:solidFill>
              <a:round/>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58" name="Line 7"/>
            <p:cNvSpPr>
              <a:spLocks noChangeShapeType="1"/>
            </p:cNvSpPr>
            <p:nvPr/>
          </p:nvSpPr>
          <p:spPr bwMode="auto">
            <a:xfrm>
              <a:off x="953" y="2807"/>
              <a:ext cx="57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59" name="Oval 8"/>
            <p:cNvSpPr>
              <a:spLocks noChangeArrowheads="1"/>
            </p:cNvSpPr>
            <p:nvPr/>
          </p:nvSpPr>
          <p:spPr bwMode="auto">
            <a:xfrm>
              <a:off x="909" y="2781"/>
              <a:ext cx="48" cy="48"/>
            </a:xfrm>
            <a:prstGeom prst="ellipse">
              <a:avLst/>
            </a:prstGeom>
            <a:solidFill>
              <a:srgbClr val="000099"/>
            </a:solidFill>
            <a:ln w="28575">
              <a:solidFill>
                <a:schemeClr val="tx1"/>
              </a:solidFill>
              <a:round/>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60" name="Freeform 9"/>
            <p:cNvSpPr/>
            <p:nvPr/>
          </p:nvSpPr>
          <p:spPr bwMode="auto">
            <a:xfrm>
              <a:off x="1528" y="1827"/>
              <a:ext cx="48" cy="720"/>
            </a:xfrm>
            <a:custGeom>
              <a:avLst/>
              <a:gdLst>
                <a:gd name="T0" fmla="*/ 0 w 48"/>
                <a:gd name="T1" fmla="*/ 0 h 768"/>
                <a:gd name="T2" fmla="*/ 48 w 48"/>
                <a:gd name="T3" fmla="*/ 79 h 768"/>
                <a:gd name="T4" fmla="*/ 0 w 48"/>
                <a:gd name="T5" fmla="*/ 158 h 768"/>
                <a:gd name="T6" fmla="*/ 48 w 48"/>
                <a:gd name="T7" fmla="*/ 237 h 768"/>
                <a:gd name="T8" fmla="*/ 0 w 48"/>
                <a:gd name="T9" fmla="*/ 317 h 768"/>
                <a:gd name="T10" fmla="*/ 48 w 48"/>
                <a:gd name="T11" fmla="*/ 396 h 768"/>
                <a:gd name="T12" fmla="*/ 0 w 48"/>
                <a:gd name="T13" fmla="*/ 474 h 768"/>
                <a:gd name="T14" fmla="*/ 48 w 48"/>
                <a:gd name="T15" fmla="*/ 554 h 768"/>
                <a:gd name="T16" fmla="*/ 0 w 48"/>
                <a:gd name="T17" fmla="*/ 633 h 7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768"/>
                <a:gd name="T29" fmla="*/ 48 w 48"/>
                <a:gd name="T30" fmla="*/ 768 h 7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61" name="Freeform 10"/>
            <p:cNvSpPr/>
            <p:nvPr/>
          </p:nvSpPr>
          <p:spPr bwMode="auto">
            <a:xfrm flipH="1">
              <a:off x="1742" y="1827"/>
              <a:ext cx="48" cy="720"/>
            </a:xfrm>
            <a:custGeom>
              <a:avLst/>
              <a:gdLst>
                <a:gd name="T0" fmla="*/ 0 w 48"/>
                <a:gd name="T1" fmla="*/ 0 h 768"/>
                <a:gd name="T2" fmla="*/ 48 w 48"/>
                <a:gd name="T3" fmla="*/ 79 h 768"/>
                <a:gd name="T4" fmla="*/ 0 w 48"/>
                <a:gd name="T5" fmla="*/ 158 h 768"/>
                <a:gd name="T6" fmla="*/ 48 w 48"/>
                <a:gd name="T7" fmla="*/ 237 h 768"/>
                <a:gd name="T8" fmla="*/ 0 w 48"/>
                <a:gd name="T9" fmla="*/ 317 h 768"/>
                <a:gd name="T10" fmla="*/ 48 w 48"/>
                <a:gd name="T11" fmla="*/ 396 h 768"/>
                <a:gd name="T12" fmla="*/ 0 w 48"/>
                <a:gd name="T13" fmla="*/ 474 h 768"/>
                <a:gd name="T14" fmla="*/ 48 w 48"/>
                <a:gd name="T15" fmla="*/ 554 h 768"/>
                <a:gd name="T16" fmla="*/ 0 w 48"/>
                <a:gd name="T17" fmla="*/ 633 h 7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768"/>
                <a:gd name="T29" fmla="*/ 48 w 48"/>
                <a:gd name="T30" fmla="*/ 768 h 7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62" name="Line 11"/>
            <p:cNvSpPr>
              <a:spLocks noChangeShapeType="1"/>
            </p:cNvSpPr>
            <p:nvPr/>
          </p:nvSpPr>
          <p:spPr bwMode="auto">
            <a:xfrm>
              <a:off x="1663" y="1683"/>
              <a:ext cx="0" cy="100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63" name="Line 12"/>
            <p:cNvSpPr>
              <a:spLocks noChangeShapeType="1"/>
            </p:cNvSpPr>
            <p:nvPr/>
          </p:nvSpPr>
          <p:spPr bwMode="auto">
            <a:xfrm>
              <a:off x="1790" y="1559"/>
              <a:ext cx="132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64" name="Line 13"/>
            <p:cNvSpPr>
              <a:spLocks noChangeShapeType="1"/>
            </p:cNvSpPr>
            <p:nvPr/>
          </p:nvSpPr>
          <p:spPr bwMode="auto">
            <a:xfrm>
              <a:off x="1781" y="2807"/>
              <a:ext cx="1335" cy="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65" name="Line 14"/>
            <p:cNvSpPr>
              <a:spLocks noChangeShapeType="1"/>
            </p:cNvSpPr>
            <p:nvPr/>
          </p:nvSpPr>
          <p:spPr bwMode="auto">
            <a:xfrm>
              <a:off x="3725" y="1539"/>
              <a:ext cx="737"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66" name="Rectangle 15"/>
            <p:cNvSpPr>
              <a:spLocks noChangeArrowheads="1"/>
            </p:cNvSpPr>
            <p:nvPr/>
          </p:nvSpPr>
          <p:spPr bwMode="auto">
            <a:xfrm>
              <a:off x="4394" y="2069"/>
              <a:ext cx="117" cy="387"/>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67" name="Line 16"/>
            <p:cNvSpPr>
              <a:spLocks noChangeShapeType="1"/>
            </p:cNvSpPr>
            <p:nvPr/>
          </p:nvSpPr>
          <p:spPr bwMode="auto">
            <a:xfrm>
              <a:off x="2403" y="3114"/>
              <a:ext cx="2059"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368" name="Group 17"/>
            <p:cNvGrpSpPr/>
            <p:nvPr/>
          </p:nvGrpSpPr>
          <p:grpSpPr bwMode="auto">
            <a:xfrm>
              <a:off x="599" y="1882"/>
              <a:ext cx="702" cy="399"/>
              <a:chOff x="1089" y="2072"/>
              <a:chExt cx="702" cy="399"/>
            </a:xfrm>
          </p:grpSpPr>
          <p:sp>
            <p:nvSpPr>
              <p:cNvPr id="12410" name="Line 18"/>
              <p:cNvSpPr>
                <a:spLocks noChangeShapeType="1"/>
              </p:cNvSpPr>
              <p:nvPr/>
            </p:nvSpPr>
            <p:spPr bwMode="auto">
              <a:xfrm flipV="1">
                <a:off x="1089" y="2072"/>
                <a:ext cx="0" cy="399"/>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11" name="Line 19"/>
              <p:cNvSpPr>
                <a:spLocks noChangeShapeType="1"/>
              </p:cNvSpPr>
              <p:nvPr/>
            </p:nvSpPr>
            <p:spPr bwMode="auto">
              <a:xfrm>
                <a:off x="1089" y="2471"/>
                <a:ext cx="70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369" name="Freeform 20"/>
            <p:cNvSpPr>
              <a:spLocks noChangeAspect="1"/>
            </p:cNvSpPr>
            <p:nvPr/>
          </p:nvSpPr>
          <p:spPr bwMode="auto">
            <a:xfrm>
              <a:off x="597" y="2080"/>
              <a:ext cx="509" cy="376"/>
            </a:xfrm>
            <a:custGeom>
              <a:avLst/>
              <a:gdLst>
                <a:gd name="T0" fmla="*/ 0 w 1932"/>
                <a:gd name="T1" fmla="*/ 47 h 753"/>
                <a:gd name="T2" fmla="*/ 9 w 1932"/>
                <a:gd name="T3" fmla="*/ 0 h 753"/>
                <a:gd name="T4" fmla="*/ 18 w 1932"/>
                <a:gd name="T5" fmla="*/ 45 h 753"/>
                <a:gd name="T6" fmla="*/ 27 w 1932"/>
                <a:gd name="T7" fmla="*/ 93 h 753"/>
                <a:gd name="T8" fmla="*/ 35 w 1932"/>
                <a:gd name="T9" fmla="*/ 47 h 753"/>
                <a:gd name="T10" fmla="*/ 0 60000 65536"/>
                <a:gd name="T11" fmla="*/ 0 60000 65536"/>
                <a:gd name="T12" fmla="*/ 0 60000 65536"/>
                <a:gd name="T13" fmla="*/ 0 60000 65536"/>
                <a:gd name="T14" fmla="*/ 0 60000 65536"/>
                <a:gd name="T15" fmla="*/ 0 w 1932"/>
                <a:gd name="T16" fmla="*/ 0 h 753"/>
                <a:gd name="T17" fmla="*/ 1932 w 1932"/>
                <a:gd name="T18" fmla="*/ 753 h 753"/>
              </a:gdLst>
              <a:ahLst/>
              <a:cxnLst>
                <a:cxn ang="T10">
                  <a:pos x="T0" y="T1"/>
                </a:cxn>
                <a:cxn ang="T11">
                  <a:pos x="T2" y="T3"/>
                </a:cxn>
                <a:cxn ang="T12">
                  <a:pos x="T4" y="T5"/>
                </a:cxn>
                <a:cxn ang="T13">
                  <a:pos x="T6" y="T7"/>
                </a:cxn>
                <a:cxn ang="T14">
                  <a:pos x="T8" y="T9"/>
                </a:cxn>
              </a:cxnLst>
              <a:rect l="T15" t="T16" r="T17" b="T18"/>
              <a:pathLst>
                <a:path w="1932" h="753">
                  <a:moveTo>
                    <a:pt x="0" y="376"/>
                  </a:moveTo>
                  <a:cubicBezTo>
                    <a:pt x="166" y="190"/>
                    <a:pt x="332" y="4"/>
                    <a:pt x="492" y="2"/>
                  </a:cubicBezTo>
                  <a:cubicBezTo>
                    <a:pt x="652" y="0"/>
                    <a:pt x="798" y="239"/>
                    <a:pt x="960" y="364"/>
                  </a:cubicBezTo>
                  <a:cubicBezTo>
                    <a:pt x="1122" y="489"/>
                    <a:pt x="1301" y="749"/>
                    <a:pt x="1463" y="751"/>
                  </a:cubicBezTo>
                  <a:cubicBezTo>
                    <a:pt x="1625" y="753"/>
                    <a:pt x="1854" y="439"/>
                    <a:pt x="1932" y="376"/>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70" name="Text Box 21"/>
            <p:cNvSpPr txBox="1">
              <a:spLocks noChangeArrowheads="1"/>
            </p:cNvSpPr>
            <p:nvPr/>
          </p:nvSpPr>
          <p:spPr bwMode="auto">
            <a:xfrm>
              <a:off x="479" y="1632"/>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1</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71" name="Text Box 22"/>
            <p:cNvSpPr txBox="1">
              <a:spLocks noChangeArrowheads="1"/>
            </p:cNvSpPr>
            <p:nvPr/>
          </p:nvSpPr>
          <p:spPr bwMode="auto">
            <a:xfrm>
              <a:off x="1854" y="1681"/>
              <a:ext cx="354"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2</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_</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72" name="Line 23"/>
            <p:cNvSpPr>
              <a:spLocks noChangeShapeType="1"/>
            </p:cNvSpPr>
            <p:nvPr/>
          </p:nvSpPr>
          <p:spPr bwMode="auto">
            <a:xfrm>
              <a:off x="1528" y="1562"/>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73" name="Line 24"/>
            <p:cNvSpPr>
              <a:spLocks noChangeShapeType="1"/>
            </p:cNvSpPr>
            <p:nvPr/>
          </p:nvSpPr>
          <p:spPr bwMode="auto">
            <a:xfrm>
              <a:off x="1528" y="2547"/>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74" name="Line 25"/>
            <p:cNvSpPr>
              <a:spLocks noChangeShapeType="1"/>
            </p:cNvSpPr>
            <p:nvPr/>
          </p:nvSpPr>
          <p:spPr bwMode="auto">
            <a:xfrm>
              <a:off x="1790" y="1564"/>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75" name="Line 26"/>
            <p:cNvSpPr>
              <a:spLocks noChangeShapeType="1"/>
            </p:cNvSpPr>
            <p:nvPr/>
          </p:nvSpPr>
          <p:spPr bwMode="auto">
            <a:xfrm>
              <a:off x="1784" y="2547"/>
              <a:ext cx="0" cy="2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76" name="Line 27"/>
            <p:cNvSpPr>
              <a:spLocks noChangeShapeType="1"/>
            </p:cNvSpPr>
            <p:nvPr/>
          </p:nvSpPr>
          <p:spPr bwMode="auto">
            <a:xfrm>
              <a:off x="3116" y="1562"/>
              <a:ext cx="0" cy="14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77" name="Line 28"/>
            <p:cNvSpPr>
              <a:spLocks noChangeShapeType="1"/>
            </p:cNvSpPr>
            <p:nvPr/>
          </p:nvSpPr>
          <p:spPr bwMode="auto">
            <a:xfrm flipV="1">
              <a:off x="3116" y="2691"/>
              <a:ext cx="0" cy="11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78" name="Rectangle 29"/>
            <p:cNvSpPr>
              <a:spLocks noChangeArrowheads="1"/>
            </p:cNvSpPr>
            <p:nvPr/>
          </p:nvSpPr>
          <p:spPr bwMode="auto">
            <a:xfrm rot="2700000">
              <a:off x="2758" y="1847"/>
              <a:ext cx="700" cy="699"/>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nvGrpSpPr>
            <p:cNvPr id="12379" name="Group 30"/>
            <p:cNvGrpSpPr/>
            <p:nvPr/>
          </p:nvGrpSpPr>
          <p:grpSpPr bwMode="auto">
            <a:xfrm>
              <a:off x="2765" y="1802"/>
              <a:ext cx="155" cy="254"/>
              <a:chOff x="2216" y="2436"/>
              <a:chExt cx="156" cy="254"/>
            </a:xfrm>
          </p:grpSpPr>
          <p:sp>
            <p:nvSpPr>
              <p:cNvPr id="12408" name="Line 31"/>
              <p:cNvSpPr>
                <a:spLocks noChangeShapeType="1"/>
              </p:cNvSpPr>
              <p:nvPr/>
            </p:nvSpPr>
            <p:spPr bwMode="auto">
              <a:xfrm rot="2700000">
                <a:off x="2245" y="2536"/>
                <a:ext cx="199"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09" name="AutoShape 32"/>
              <p:cNvSpPr>
                <a:spLocks noChangeArrowheads="1"/>
              </p:cNvSpPr>
              <p:nvPr/>
            </p:nvSpPr>
            <p:spPr bwMode="auto">
              <a:xfrm rot="2700000">
                <a:off x="2201" y="2520"/>
                <a:ext cx="185" cy="156"/>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grpSp>
          <p:nvGrpSpPr>
            <p:cNvPr id="12380" name="Group 33"/>
            <p:cNvGrpSpPr/>
            <p:nvPr/>
          </p:nvGrpSpPr>
          <p:grpSpPr bwMode="auto">
            <a:xfrm>
              <a:off x="3285" y="2269"/>
              <a:ext cx="156" cy="254"/>
              <a:chOff x="2216" y="2436"/>
              <a:chExt cx="156" cy="254"/>
            </a:xfrm>
          </p:grpSpPr>
          <p:sp>
            <p:nvSpPr>
              <p:cNvPr id="12406" name="Line 34"/>
              <p:cNvSpPr>
                <a:spLocks noChangeShapeType="1"/>
              </p:cNvSpPr>
              <p:nvPr/>
            </p:nvSpPr>
            <p:spPr bwMode="auto">
              <a:xfrm rot="2700000">
                <a:off x="2245" y="2536"/>
                <a:ext cx="199"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07" name="AutoShape 35"/>
              <p:cNvSpPr>
                <a:spLocks noChangeArrowheads="1"/>
              </p:cNvSpPr>
              <p:nvPr/>
            </p:nvSpPr>
            <p:spPr bwMode="auto">
              <a:xfrm rot="2700000">
                <a:off x="2201" y="2520"/>
                <a:ext cx="185" cy="156"/>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grpSp>
          <p:nvGrpSpPr>
            <p:cNvPr id="12381" name="Group 36"/>
            <p:cNvGrpSpPr/>
            <p:nvPr/>
          </p:nvGrpSpPr>
          <p:grpSpPr bwMode="auto">
            <a:xfrm rot="5400000">
              <a:off x="3302" y="1822"/>
              <a:ext cx="156" cy="254"/>
              <a:chOff x="2216" y="2436"/>
              <a:chExt cx="156" cy="254"/>
            </a:xfrm>
          </p:grpSpPr>
          <p:sp>
            <p:nvSpPr>
              <p:cNvPr id="12404" name="Line 37"/>
              <p:cNvSpPr>
                <a:spLocks noChangeShapeType="1"/>
              </p:cNvSpPr>
              <p:nvPr/>
            </p:nvSpPr>
            <p:spPr bwMode="auto">
              <a:xfrm rot="2700000">
                <a:off x="2245" y="2536"/>
                <a:ext cx="199"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05" name="AutoShape 38"/>
              <p:cNvSpPr>
                <a:spLocks noChangeArrowheads="1"/>
              </p:cNvSpPr>
              <p:nvPr/>
            </p:nvSpPr>
            <p:spPr bwMode="auto">
              <a:xfrm rot="2700000">
                <a:off x="2201" y="2520"/>
                <a:ext cx="185" cy="156"/>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grpSp>
          <p:nvGrpSpPr>
            <p:cNvPr id="12382" name="Group 39"/>
            <p:cNvGrpSpPr/>
            <p:nvPr/>
          </p:nvGrpSpPr>
          <p:grpSpPr bwMode="auto">
            <a:xfrm rot="5400000">
              <a:off x="2810" y="2312"/>
              <a:ext cx="156" cy="253"/>
              <a:chOff x="2216" y="2436"/>
              <a:chExt cx="156" cy="254"/>
            </a:xfrm>
          </p:grpSpPr>
          <p:sp>
            <p:nvSpPr>
              <p:cNvPr id="12402" name="Line 40"/>
              <p:cNvSpPr>
                <a:spLocks noChangeShapeType="1"/>
              </p:cNvSpPr>
              <p:nvPr/>
            </p:nvSpPr>
            <p:spPr bwMode="auto">
              <a:xfrm rot="2700000">
                <a:off x="2245" y="2536"/>
                <a:ext cx="199"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03" name="AutoShape 41"/>
              <p:cNvSpPr>
                <a:spLocks noChangeArrowheads="1"/>
              </p:cNvSpPr>
              <p:nvPr/>
            </p:nvSpPr>
            <p:spPr bwMode="auto">
              <a:xfrm rot="2700000">
                <a:off x="2201" y="2520"/>
                <a:ext cx="185" cy="156"/>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sp>
          <p:nvSpPr>
            <p:cNvPr id="12383" name="Line 42"/>
            <p:cNvSpPr>
              <a:spLocks noChangeShapeType="1"/>
            </p:cNvSpPr>
            <p:nvPr/>
          </p:nvSpPr>
          <p:spPr bwMode="auto">
            <a:xfrm flipH="1">
              <a:off x="2403" y="2210"/>
              <a:ext cx="211"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84" name="Line 43"/>
            <p:cNvSpPr>
              <a:spLocks noChangeShapeType="1"/>
            </p:cNvSpPr>
            <p:nvPr/>
          </p:nvSpPr>
          <p:spPr bwMode="auto">
            <a:xfrm>
              <a:off x="2403" y="2210"/>
              <a:ext cx="0" cy="90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85" name="Line 44"/>
            <p:cNvSpPr>
              <a:spLocks noChangeShapeType="1"/>
            </p:cNvSpPr>
            <p:nvPr/>
          </p:nvSpPr>
          <p:spPr bwMode="auto">
            <a:xfrm>
              <a:off x="4462" y="2456"/>
              <a:ext cx="0" cy="65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86" name="Line 45"/>
            <p:cNvSpPr>
              <a:spLocks noChangeShapeType="1"/>
            </p:cNvSpPr>
            <p:nvPr/>
          </p:nvSpPr>
          <p:spPr bwMode="auto">
            <a:xfrm flipV="1">
              <a:off x="4462" y="1539"/>
              <a:ext cx="0" cy="5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87" name="Line 46"/>
            <p:cNvSpPr>
              <a:spLocks noChangeShapeType="1"/>
            </p:cNvSpPr>
            <p:nvPr/>
          </p:nvSpPr>
          <p:spPr bwMode="auto">
            <a:xfrm>
              <a:off x="3725" y="1539"/>
              <a:ext cx="0" cy="67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88" name="Line 47"/>
            <p:cNvSpPr>
              <a:spLocks noChangeShapeType="1"/>
            </p:cNvSpPr>
            <p:nvPr/>
          </p:nvSpPr>
          <p:spPr bwMode="auto">
            <a:xfrm>
              <a:off x="3599" y="2200"/>
              <a:ext cx="12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89" name="Text Box 50"/>
            <p:cNvSpPr txBox="1">
              <a:spLocks noChangeArrowheads="1"/>
            </p:cNvSpPr>
            <p:nvPr/>
          </p:nvSpPr>
          <p:spPr bwMode="auto">
            <a:xfrm>
              <a:off x="1803" y="1546"/>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0" name="Text Box 51"/>
            <p:cNvSpPr txBox="1">
              <a:spLocks noChangeArrowheads="1"/>
            </p:cNvSpPr>
            <p:nvPr/>
          </p:nvSpPr>
          <p:spPr bwMode="auto">
            <a:xfrm>
              <a:off x="1491" y="1313"/>
              <a:ext cx="2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Tr</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1" name="Text Box 52"/>
            <p:cNvSpPr txBox="1">
              <a:spLocks noChangeArrowheads="1"/>
            </p:cNvSpPr>
            <p:nvPr/>
          </p:nvSpPr>
          <p:spPr bwMode="auto">
            <a:xfrm>
              <a:off x="1803" y="2581"/>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2" name="Text Box 53"/>
            <p:cNvSpPr txBox="1">
              <a:spLocks noChangeArrowheads="1"/>
            </p:cNvSpPr>
            <p:nvPr/>
          </p:nvSpPr>
          <p:spPr bwMode="auto">
            <a:xfrm>
              <a:off x="2529" y="1718"/>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4</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3" name="Text Box 54"/>
            <p:cNvSpPr txBox="1">
              <a:spLocks noChangeArrowheads="1"/>
            </p:cNvSpPr>
            <p:nvPr/>
          </p:nvSpPr>
          <p:spPr bwMode="auto">
            <a:xfrm>
              <a:off x="3478" y="2389"/>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2</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4" name="Text Box 55"/>
            <p:cNvSpPr txBox="1">
              <a:spLocks noChangeArrowheads="1"/>
            </p:cNvSpPr>
            <p:nvPr/>
          </p:nvSpPr>
          <p:spPr bwMode="auto">
            <a:xfrm>
              <a:off x="3086" y="1917"/>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1</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5" name="Text Box 56"/>
            <p:cNvSpPr txBox="1">
              <a:spLocks noChangeArrowheads="1"/>
            </p:cNvSpPr>
            <p:nvPr/>
          </p:nvSpPr>
          <p:spPr bwMode="auto">
            <a:xfrm>
              <a:off x="2857" y="2163"/>
              <a:ext cx="35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3</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6" name="Text Box 57"/>
            <p:cNvSpPr txBox="1">
              <a:spLocks noChangeArrowheads="1"/>
            </p:cNvSpPr>
            <p:nvPr/>
          </p:nvSpPr>
          <p:spPr bwMode="auto">
            <a:xfrm>
              <a:off x="4094" y="2113"/>
              <a:ext cx="40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r>
                <a:rPr kumimoji="1" lang="en-US" altLang="zh-CN" b="1" baseline="-25000">
                  <a:solidFill>
                    <a:schemeClr val="tx2"/>
                  </a:solidFill>
                  <a:latin typeface="Times New Roman" panose="02020603050405020304" pitchFamily="18" charset="0"/>
                  <a:cs typeface="Times New Roman" panose="02020603050405020304" pitchFamily="18" charset="0"/>
                </a:rPr>
                <a:t>L</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7" name="Text Box 58"/>
            <p:cNvSpPr txBox="1">
              <a:spLocks noChangeArrowheads="1"/>
            </p:cNvSpPr>
            <p:nvPr/>
          </p:nvSpPr>
          <p:spPr bwMode="auto">
            <a:xfrm>
              <a:off x="4688" y="2141"/>
              <a:ext cx="46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98" name="Line 59"/>
            <p:cNvSpPr>
              <a:spLocks noChangeShapeType="1"/>
            </p:cNvSpPr>
            <p:nvPr/>
          </p:nvSpPr>
          <p:spPr bwMode="auto">
            <a:xfrm>
              <a:off x="4672" y="2105"/>
              <a:ext cx="0" cy="36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9" name="Text Box 60"/>
            <p:cNvSpPr txBox="1">
              <a:spLocks noChangeArrowheads="1"/>
            </p:cNvSpPr>
            <p:nvPr/>
          </p:nvSpPr>
          <p:spPr bwMode="auto">
            <a:xfrm>
              <a:off x="442" y="2193"/>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2400" name="Text Box 61"/>
            <p:cNvSpPr txBox="1">
              <a:spLocks noChangeArrowheads="1"/>
            </p:cNvSpPr>
            <p:nvPr/>
          </p:nvSpPr>
          <p:spPr bwMode="auto">
            <a:xfrm>
              <a:off x="1098" y="2242"/>
              <a:ext cx="2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t</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12401" name="Text Box 62"/>
            <p:cNvSpPr txBox="1">
              <a:spLocks noChangeArrowheads="1"/>
            </p:cNvSpPr>
            <p:nvPr/>
          </p:nvSpPr>
          <p:spPr bwMode="auto">
            <a:xfrm>
              <a:off x="1263" y="1650"/>
              <a:ext cx="354"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1</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_</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sp>
        <p:nvSpPr>
          <p:cNvPr id="48191" name="Text Box 63"/>
          <p:cNvSpPr txBox="1">
            <a:spLocks noChangeArrowheads="1"/>
          </p:cNvSpPr>
          <p:nvPr/>
        </p:nvSpPr>
        <p:spPr bwMode="auto">
          <a:xfrm>
            <a:off x="5416550" y="4767263"/>
            <a:ext cx="343852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000" b="1">
                <a:solidFill>
                  <a:schemeClr val="tx2"/>
                </a:solidFill>
                <a:latin typeface="Times New Roman" panose="02020603050405020304" pitchFamily="18" charset="0"/>
                <a:cs typeface="Times New Roman" panose="02020603050405020304" pitchFamily="18" charset="0"/>
              </a:rPr>
              <a:t>输入电压为正半周时，</a:t>
            </a:r>
            <a:r>
              <a:rPr kumimoji="1" lang="en-US" altLang="zh-CN" sz="2000" b="1" i="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1</a:t>
            </a:r>
            <a:r>
              <a:rPr kumimoji="1" lang="en-US" altLang="zh-CN" sz="2000" b="1" i="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3</a:t>
            </a:r>
            <a:r>
              <a:rPr kumimoji="1" lang="zh-CN" altLang="en-US" sz="2000" b="1">
                <a:solidFill>
                  <a:schemeClr val="tx2"/>
                </a:solidFill>
                <a:latin typeface="Times New Roman" panose="02020603050405020304" pitchFamily="18" charset="0"/>
                <a:cs typeface="Times New Roman" panose="02020603050405020304" pitchFamily="18" charset="0"/>
              </a:rPr>
              <a:t>导通， </a:t>
            </a:r>
            <a:r>
              <a:rPr kumimoji="1" lang="en-US" altLang="zh-CN" sz="2000" b="1" i="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2</a:t>
            </a:r>
            <a:r>
              <a:rPr kumimoji="1" lang="en-US" altLang="zh-CN" sz="2000" b="1" i="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4</a:t>
            </a:r>
            <a:r>
              <a:rPr kumimoji="1" lang="zh-CN" altLang="en-US" sz="2000" b="1">
                <a:solidFill>
                  <a:schemeClr val="tx2"/>
                </a:solidFill>
                <a:latin typeface="Times New Roman" panose="02020603050405020304" pitchFamily="18" charset="0"/>
                <a:cs typeface="Times New Roman" panose="02020603050405020304" pitchFamily="18" charset="0"/>
              </a:rPr>
              <a:t>截止。</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8" name="Group 64"/>
          <p:cNvGrpSpPr/>
          <p:nvPr/>
        </p:nvGrpSpPr>
        <p:grpSpPr bwMode="auto">
          <a:xfrm>
            <a:off x="4376738" y="1430338"/>
            <a:ext cx="4224337" cy="2916237"/>
            <a:chOff x="1938" y="1376"/>
            <a:chExt cx="2661" cy="1837"/>
          </a:xfrm>
        </p:grpSpPr>
        <p:sp>
          <p:nvSpPr>
            <p:cNvPr id="12354" name="Freeform 65"/>
            <p:cNvSpPr/>
            <p:nvPr/>
          </p:nvSpPr>
          <p:spPr bwMode="auto">
            <a:xfrm>
              <a:off x="1938" y="1376"/>
              <a:ext cx="2661" cy="1837"/>
            </a:xfrm>
            <a:custGeom>
              <a:avLst/>
              <a:gdLst>
                <a:gd name="T0" fmla="*/ 0 w 2661"/>
                <a:gd name="T1" fmla="*/ 22 h 1837"/>
                <a:gd name="T2" fmla="*/ 390 w 2661"/>
                <a:gd name="T3" fmla="*/ 22 h 1837"/>
                <a:gd name="T4" fmla="*/ 720 w 2661"/>
                <a:gd name="T5" fmla="*/ 22 h 1837"/>
                <a:gd name="T6" fmla="*/ 960 w 2661"/>
                <a:gd name="T7" fmla="*/ 28 h 1837"/>
                <a:gd name="T8" fmla="*/ 1200 w 2661"/>
                <a:gd name="T9" fmla="*/ 52 h 1837"/>
                <a:gd name="T10" fmla="*/ 1320 w 2661"/>
                <a:gd name="T11" fmla="*/ 172 h 1837"/>
                <a:gd name="T12" fmla="*/ 1608 w 2661"/>
                <a:gd name="T13" fmla="*/ 526 h 1837"/>
                <a:gd name="T14" fmla="*/ 1710 w 2661"/>
                <a:gd name="T15" fmla="*/ 526 h 1837"/>
                <a:gd name="T16" fmla="*/ 1716 w 2661"/>
                <a:gd name="T17" fmla="*/ 370 h 1837"/>
                <a:gd name="T18" fmla="*/ 1716 w 2661"/>
                <a:gd name="T19" fmla="*/ 148 h 1837"/>
                <a:gd name="T20" fmla="*/ 1734 w 2661"/>
                <a:gd name="T21" fmla="*/ 40 h 1837"/>
                <a:gd name="T22" fmla="*/ 1920 w 2661"/>
                <a:gd name="T23" fmla="*/ 16 h 1837"/>
                <a:gd name="T24" fmla="*/ 2370 w 2661"/>
                <a:gd name="T25" fmla="*/ 4 h 1837"/>
                <a:gd name="T26" fmla="*/ 2592 w 2661"/>
                <a:gd name="T27" fmla="*/ 40 h 1837"/>
                <a:gd name="T28" fmla="*/ 2640 w 2661"/>
                <a:gd name="T29" fmla="*/ 178 h 1837"/>
                <a:gd name="T30" fmla="*/ 2646 w 2661"/>
                <a:gd name="T31" fmla="*/ 562 h 1837"/>
                <a:gd name="T32" fmla="*/ 2646 w 2661"/>
                <a:gd name="T33" fmla="*/ 1546 h 1837"/>
                <a:gd name="T34" fmla="*/ 2628 w 2661"/>
                <a:gd name="T35" fmla="*/ 1750 h 1837"/>
                <a:gd name="T36" fmla="*/ 2496 w 2661"/>
                <a:gd name="T37" fmla="*/ 1816 h 1837"/>
                <a:gd name="T38" fmla="*/ 1638 w 2661"/>
                <a:gd name="T39" fmla="*/ 1822 h 1837"/>
                <a:gd name="T40" fmla="*/ 564 w 2661"/>
                <a:gd name="T41" fmla="*/ 1828 h 1837"/>
                <a:gd name="T42" fmla="*/ 432 w 2661"/>
                <a:gd name="T43" fmla="*/ 1804 h 1837"/>
                <a:gd name="T44" fmla="*/ 396 w 2661"/>
                <a:gd name="T45" fmla="*/ 1714 h 1837"/>
                <a:gd name="T46" fmla="*/ 402 w 2661"/>
                <a:gd name="T47" fmla="*/ 1066 h 1837"/>
                <a:gd name="T48" fmla="*/ 438 w 2661"/>
                <a:gd name="T49" fmla="*/ 976 h 1837"/>
                <a:gd name="T50" fmla="*/ 528 w 2661"/>
                <a:gd name="T51" fmla="*/ 922 h 1837"/>
                <a:gd name="T52" fmla="*/ 660 w 2661"/>
                <a:gd name="T53" fmla="*/ 922 h 1837"/>
                <a:gd name="T54" fmla="*/ 966 w 2661"/>
                <a:gd name="T55" fmla="*/ 1288 h 1837"/>
                <a:gd name="T56" fmla="*/ 1038 w 2661"/>
                <a:gd name="T57" fmla="*/ 1366 h 1837"/>
                <a:gd name="T58" fmla="*/ 1050 w 2661"/>
                <a:gd name="T59" fmla="*/ 1444 h 1837"/>
                <a:gd name="T60" fmla="*/ 1002 w 2661"/>
                <a:gd name="T61" fmla="*/ 1522 h 1837"/>
                <a:gd name="T62" fmla="*/ 804 w 2661"/>
                <a:gd name="T63" fmla="*/ 1546 h 1837"/>
                <a:gd name="T64" fmla="*/ 618 w 2661"/>
                <a:gd name="T65" fmla="*/ 1540 h 1837"/>
                <a:gd name="T66" fmla="*/ 84 w 2661"/>
                <a:gd name="T67" fmla="*/ 1540 h 18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61"/>
                <a:gd name="T103" fmla="*/ 0 h 1837"/>
                <a:gd name="T104" fmla="*/ 2661 w 2661"/>
                <a:gd name="T105" fmla="*/ 1837 h 183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61" h="1837">
                  <a:moveTo>
                    <a:pt x="0" y="22"/>
                  </a:moveTo>
                  <a:cubicBezTo>
                    <a:pt x="135" y="22"/>
                    <a:pt x="270" y="22"/>
                    <a:pt x="390" y="22"/>
                  </a:cubicBezTo>
                  <a:cubicBezTo>
                    <a:pt x="510" y="22"/>
                    <a:pt x="625" y="21"/>
                    <a:pt x="720" y="22"/>
                  </a:cubicBezTo>
                  <a:cubicBezTo>
                    <a:pt x="815" y="23"/>
                    <a:pt x="880" y="23"/>
                    <a:pt x="960" y="28"/>
                  </a:cubicBezTo>
                  <a:cubicBezTo>
                    <a:pt x="1040" y="33"/>
                    <a:pt x="1140" y="28"/>
                    <a:pt x="1200" y="52"/>
                  </a:cubicBezTo>
                  <a:cubicBezTo>
                    <a:pt x="1260" y="76"/>
                    <a:pt x="1252" y="93"/>
                    <a:pt x="1320" y="172"/>
                  </a:cubicBezTo>
                  <a:cubicBezTo>
                    <a:pt x="1388" y="251"/>
                    <a:pt x="1543" y="467"/>
                    <a:pt x="1608" y="526"/>
                  </a:cubicBezTo>
                  <a:cubicBezTo>
                    <a:pt x="1673" y="585"/>
                    <a:pt x="1692" y="552"/>
                    <a:pt x="1710" y="526"/>
                  </a:cubicBezTo>
                  <a:cubicBezTo>
                    <a:pt x="1728" y="500"/>
                    <a:pt x="1715" y="433"/>
                    <a:pt x="1716" y="370"/>
                  </a:cubicBezTo>
                  <a:cubicBezTo>
                    <a:pt x="1717" y="307"/>
                    <a:pt x="1713" y="203"/>
                    <a:pt x="1716" y="148"/>
                  </a:cubicBezTo>
                  <a:cubicBezTo>
                    <a:pt x="1719" y="93"/>
                    <a:pt x="1700" y="62"/>
                    <a:pt x="1734" y="40"/>
                  </a:cubicBezTo>
                  <a:cubicBezTo>
                    <a:pt x="1768" y="18"/>
                    <a:pt x="1814" y="22"/>
                    <a:pt x="1920" y="16"/>
                  </a:cubicBezTo>
                  <a:cubicBezTo>
                    <a:pt x="2026" y="10"/>
                    <a:pt x="2258" y="0"/>
                    <a:pt x="2370" y="4"/>
                  </a:cubicBezTo>
                  <a:cubicBezTo>
                    <a:pt x="2482" y="8"/>
                    <a:pt x="2547" y="11"/>
                    <a:pt x="2592" y="40"/>
                  </a:cubicBezTo>
                  <a:cubicBezTo>
                    <a:pt x="2637" y="69"/>
                    <a:pt x="2631" y="91"/>
                    <a:pt x="2640" y="178"/>
                  </a:cubicBezTo>
                  <a:cubicBezTo>
                    <a:pt x="2649" y="265"/>
                    <a:pt x="2645" y="334"/>
                    <a:pt x="2646" y="562"/>
                  </a:cubicBezTo>
                  <a:cubicBezTo>
                    <a:pt x="2647" y="790"/>
                    <a:pt x="2649" y="1348"/>
                    <a:pt x="2646" y="1546"/>
                  </a:cubicBezTo>
                  <a:cubicBezTo>
                    <a:pt x="2643" y="1744"/>
                    <a:pt x="2653" y="1705"/>
                    <a:pt x="2628" y="1750"/>
                  </a:cubicBezTo>
                  <a:cubicBezTo>
                    <a:pt x="2603" y="1795"/>
                    <a:pt x="2661" y="1804"/>
                    <a:pt x="2496" y="1816"/>
                  </a:cubicBezTo>
                  <a:cubicBezTo>
                    <a:pt x="2331" y="1828"/>
                    <a:pt x="1960" y="1820"/>
                    <a:pt x="1638" y="1822"/>
                  </a:cubicBezTo>
                  <a:cubicBezTo>
                    <a:pt x="1316" y="1824"/>
                    <a:pt x="765" y="1831"/>
                    <a:pt x="564" y="1828"/>
                  </a:cubicBezTo>
                  <a:cubicBezTo>
                    <a:pt x="363" y="1825"/>
                    <a:pt x="460" y="1823"/>
                    <a:pt x="432" y="1804"/>
                  </a:cubicBezTo>
                  <a:cubicBezTo>
                    <a:pt x="404" y="1785"/>
                    <a:pt x="401" y="1837"/>
                    <a:pt x="396" y="1714"/>
                  </a:cubicBezTo>
                  <a:cubicBezTo>
                    <a:pt x="391" y="1591"/>
                    <a:pt x="395" y="1189"/>
                    <a:pt x="402" y="1066"/>
                  </a:cubicBezTo>
                  <a:cubicBezTo>
                    <a:pt x="409" y="943"/>
                    <a:pt x="417" y="1000"/>
                    <a:pt x="438" y="976"/>
                  </a:cubicBezTo>
                  <a:cubicBezTo>
                    <a:pt x="459" y="952"/>
                    <a:pt x="491" y="931"/>
                    <a:pt x="528" y="922"/>
                  </a:cubicBezTo>
                  <a:cubicBezTo>
                    <a:pt x="565" y="913"/>
                    <a:pt x="587" y="861"/>
                    <a:pt x="660" y="922"/>
                  </a:cubicBezTo>
                  <a:cubicBezTo>
                    <a:pt x="733" y="983"/>
                    <a:pt x="903" y="1214"/>
                    <a:pt x="966" y="1288"/>
                  </a:cubicBezTo>
                  <a:cubicBezTo>
                    <a:pt x="1029" y="1362"/>
                    <a:pt x="1024" y="1340"/>
                    <a:pt x="1038" y="1366"/>
                  </a:cubicBezTo>
                  <a:cubicBezTo>
                    <a:pt x="1052" y="1392"/>
                    <a:pt x="1056" y="1418"/>
                    <a:pt x="1050" y="1444"/>
                  </a:cubicBezTo>
                  <a:cubicBezTo>
                    <a:pt x="1044" y="1470"/>
                    <a:pt x="1043" y="1505"/>
                    <a:pt x="1002" y="1522"/>
                  </a:cubicBezTo>
                  <a:cubicBezTo>
                    <a:pt x="961" y="1539"/>
                    <a:pt x="868" y="1543"/>
                    <a:pt x="804" y="1546"/>
                  </a:cubicBezTo>
                  <a:cubicBezTo>
                    <a:pt x="740" y="1549"/>
                    <a:pt x="738" y="1541"/>
                    <a:pt x="618" y="1540"/>
                  </a:cubicBezTo>
                  <a:cubicBezTo>
                    <a:pt x="498" y="1539"/>
                    <a:pt x="177" y="1541"/>
                    <a:pt x="84" y="1540"/>
                  </a:cubicBezTo>
                </a:path>
              </a:pathLst>
            </a:custGeom>
            <a:noFill/>
            <a:ln w="38100">
              <a:solidFill>
                <a:schemeClr val="tx2"/>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55" name="Line 66"/>
            <p:cNvSpPr>
              <a:spLocks noChangeShapeType="1"/>
            </p:cNvSpPr>
            <p:nvPr/>
          </p:nvSpPr>
          <p:spPr bwMode="auto">
            <a:xfrm flipH="1">
              <a:off x="4584" y="2028"/>
              <a:ext cx="0" cy="492"/>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8195" name="Text Box 67"/>
          <p:cNvSpPr txBox="1">
            <a:spLocks noChangeArrowheads="1"/>
          </p:cNvSpPr>
          <p:nvPr/>
        </p:nvSpPr>
        <p:spPr bwMode="auto">
          <a:xfrm>
            <a:off x="5360988" y="4794250"/>
            <a:ext cx="3413125" cy="8921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000" b="1">
                <a:solidFill>
                  <a:schemeClr val="tx2"/>
                </a:solidFill>
                <a:latin typeface="Times New Roman" panose="02020603050405020304" pitchFamily="18" charset="0"/>
                <a:cs typeface="Times New Roman" panose="02020603050405020304" pitchFamily="18" charset="0"/>
              </a:rPr>
              <a:t>输入电压为负半周时，</a:t>
            </a:r>
            <a:r>
              <a:rPr kumimoji="1" lang="en-US" altLang="zh-CN" sz="2000" b="1" i="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2</a:t>
            </a:r>
            <a:r>
              <a:rPr kumimoji="1" lang="en-US" altLang="zh-CN" sz="2000" b="1" i="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4</a:t>
            </a:r>
            <a:r>
              <a:rPr kumimoji="1" lang="zh-CN" altLang="en-US" sz="2000" b="1">
                <a:solidFill>
                  <a:schemeClr val="tx2"/>
                </a:solidFill>
                <a:latin typeface="Times New Roman" panose="02020603050405020304" pitchFamily="18" charset="0"/>
                <a:cs typeface="Times New Roman" panose="02020603050405020304" pitchFamily="18" charset="0"/>
              </a:rPr>
              <a:t>导通， </a:t>
            </a:r>
            <a:r>
              <a:rPr kumimoji="1" lang="en-US" altLang="zh-CN" sz="2000" b="1" i="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1</a:t>
            </a:r>
            <a:r>
              <a:rPr kumimoji="1" lang="en-US" altLang="zh-CN" sz="2000" b="1" i="1">
                <a:solidFill>
                  <a:schemeClr val="tx2"/>
                </a:solidFill>
                <a:latin typeface="Times New Roman" panose="02020603050405020304" pitchFamily="18" charset="0"/>
                <a:cs typeface="Times New Roman" panose="02020603050405020304" pitchFamily="18" charset="0"/>
              </a:rPr>
              <a:t>D</a:t>
            </a:r>
            <a:r>
              <a:rPr kumimoji="1" lang="en-US" altLang="zh-CN" sz="2000" b="1" baseline="-25000">
                <a:solidFill>
                  <a:schemeClr val="tx2"/>
                </a:solidFill>
                <a:latin typeface="Times New Roman" panose="02020603050405020304" pitchFamily="18" charset="0"/>
                <a:cs typeface="Times New Roman" panose="02020603050405020304" pitchFamily="18" charset="0"/>
              </a:rPr>
              <a:t>3</a:t>
            </a:r>
            <a:r>
              <a:rPr kumimoji="1" lang="zh-CN" altLang="en-US" sz="2000" b="1">
                <a:solidFill>
                  <a:schemeClr val="tx2"/>
                </a:solidFill>
                <a:latin typeface="Times New Roman" panose="02020603050405020304" pitchFamily="18" charset="0"/>
                <a:cs typeface="Times New Roman" panose="02020603050405020304" pitchFamily="18" charset="0"/>
              </a:rPr>
              <a:t>截止。</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9" name="Group 68"/>
          <p:cNvGrpSpPr/>
          <p:nvPr/>
        </p:nvGrpSpPr>
        <p:grpSpPr bwMode="auto">
          <a:xfrm>
            <a:off x="4452938" y="1765300"/>
            <a:ext cx="3744912" cy="2722563"/>
            <a:chOff x="1998" y="1587"/>
            <a:chExt cx="2359" cy="1715"/>
          </a:xfrm>
        </p:grpSpPr>
        <p:sp>
          <p:nvSpPr>
            <p:cNvPr id="12352" name="Freeform 69"/>
            <p:cNvSpPr/>
            <p:nvPr/>
          </p:nvSpPr>
          <p:spPr bwMode="auto">
            <a:xfrm>
              <a:off x="1998" y="1587"/>
              <a:ext cx="2359" cy="1715"/>
            </a:xfrm>
            <a:custGeom>
              <a:avLst/>
              <a:gdLst>
                <a:gd name="T0" fmla="*/ 30 w 2359"/>
                <a:gd name="T1" fmla="*/ 1437 h 1715"/>
                <a:gd name="T2" fmla="*/ 834 w 2359"/>
                <a:gd name="T3" fmla="*/ 1437 h 1715"/>
                <a:gd name="T4" fmla="*/ 1014 w 2359"/>
                <a:gd name="T5" fmla="*/ 1425 h 1715"/>
                <a:gd name="T6" fmla="*/ 1122 w 2359"/>
                <a:gd name="T7" fmla="*/ 1383 h 1715"/>
                <a:gd name="T8" fmla="*/ 1242 w 2359"/>
                <a:gd name="T9" fmla="*/ 1251 h 1715"/>
                <a:gd name="T10" fmla="*/ 1344 w 2359"/>
                <a:gd name="T11" fmla="*/ 1155 h 1715"/>
                <a:gd name="T12" fmla="*/ 1554 w 2359"/>
                <a:gd name="T13" fmla="*/ 915 h 1715"/>
                <a:gd name="T14" fmla="*/ 1686 w 2359"/>
                <a:gd name="T15" fmla="*/ 735 h 1715"/>
                <a:gd name="T16" fmla="*/ 1800 w 2359"/>
                <a:gd name="T17" fmla="*/ 597 h 1715"/>
                <a:gd name="T18" fmla="*/ 1818 w 2359"/>
                <a:gd name="T19" fmla="*/ 447 h 1715"/>
                <a:gd name="T20" fmla="*/ 1818 w 2359"/>
                <a:gd name="T21" fmla="*/ 297 h 1715"/>
                <a:gd name="T22" fmla="*/ 1830 w 2359"/>
                <a:gd name="T23" fmla="*/ 117 h 1715"/>
                <a:gd name="T24" fmla="*/ 1848 w 2359"/>
                <a:gd name="T25" fmla="*/ 51 h 1715"/>
                <a:gd name="T26" fmla="*/ 1896 w 2359"/>
                <a:gd name="T27" fmla="*/ 15 h 1715"/>
                <a:gd name="T28" fmla="*/ 2058 w 2359"/>
                <a:gd name="T29" fmla="*/ 9 h 1715"/>
                <a:gd name="T30" fmla="*/ 2250 w 2359"/>
                <a:gd name="T31" fmla="*/ 3 h 1715"/>
                <a:gd name="T32" fmla="*/ 2316 w 2359"/>
                <a:gd name="T33" fmla="*/ 27 h 1715"/>
                <a:gd name="T34" fmla="*/ 2346 w 2359"/>
                <a:gd name="T35" fmla="*/ 87 h 1715"/>
                <a:gd name="T36" fmla="*/ 2340 w 2359"/>
                <a:gd name="T37" fmla="*/ 177 h 1715"/>
                <a:gd name="T38" fmla="*/ 2328 w 2359"/>
                <a:gd name="T39" fmla="*/ 591 h 1715"/>
                <a:gd name="T40" fmla="*/ 2322 w 2359"/>
                <a:gd name="T41" fmla="*/ 723 h 1715"/>
                <a:gd name="T42" fmla="*/ 2334 w 2359"/>
                <a:gd name="T43" fmla="*/ 933 h 1715"/>
                <a:gd name="T44" fmla="*/ 2340 w 2359"/>
                <a:gd name="T45" fmla="*/ 1089 h 1715"/>
                <a:gd name="T46" fmla="*/ 2334 w 2359"/>
                <a:gd name="T47" fmla="*/ 1149 h 1715"/>
                <a:gd name="T48" fmla="*/ 2340 w 2359"/>
                <a:gd name="T49" fmla="*/ 1245 h 1715"/>
                <a:gd name="T50" fmla="*/ 2340 w 2359"/>
                <a:gd name="T51" fmla="*/ 1299 h 1715"/>
                <a:gd name="T52" fmla="*/ 2352 w 2359"/>
                <a:gd name="T53" fmla="*/ 1581 h 1715"/>
                <a:gd name="T54" fmla="*/ 2298 w 2359"/>
                <a:gd name="T55" fmla="*/ 1683 h 1715"/>
                <a:gd name="T56" fmla="*/ 2076 w 2359"/>
                <a:gd name="T57" fmla="*/ 1701 h 1715"/>
                <a:gd name="T58" fmla="*/ 1602 w 2359"/>
                <a:gd name="T59" fmla="*/ 1713 h 1715"/>
                <a:gd name="T60" fmla="*/ 1128 w 2359"/>
                <a:gd name="T61" fmla="*/ 1713 h 1715"/>
                <a:gd name="T62" fmla="*/ 672 w 2359"/>
                <a:gd name="T63" fmla="*/ 1707 h 1715"/>
                <a:gd name="T64" fmla="*/ 522 w 2359"/>
                <a:gd name="T65" fmla="*/ 1701 h 1715"/>
                <a:gd name="T66" fmla="*/ 504 w 2359"/>
                <a:gd name="T67" fmla="*/ 1671 h 1715"/>
                <a:gd name="T68" fmla="*/ 480 w 2359"/>
                <a:gd name="T69" fmla="*/ 1593 h 1715"/>
                <a:gd name="T70" fmla="*/ 468 w 2359"/>
                <a:gd name="T71" fmla="*/ 1377 h 1715"/>
                <a:gd name="T72" fmla="*/ 468 w 2359"/>
                <a:gd name="T73" fmla="*/ 1293 h 1715"/>
                <a:gd name="T74" fmla="*/ 462 w 2359"/>
                <a:gd name="T75" fmla="*/ 999 h 1715"/>
                <a:gd name="T76" fmla="*/ 516 w 2359"/>
                <a:gd name="T77" fmla="*/ 849 h 1715"/>
                <a:gd name="T78" fmla="*/ 612 w 2359"/>
                <a:gd name="T79" fmla="*/ 765 h 1715"/>
                <a:gd name="T80" fmla="*/ 894 w 2359"/>
                <a:gd name="T81" fmla="*/ 537 h 1715"/>
                <a:gd name="T82" fmla="*/ 1074 w 2359"/>
                <a:gd name="T83" fmla="*/ 333 h 1715"/>
                <a:gd name="T84" fmla="*/ 1056 w 2359"/>
                <a:gd name="T85" fmla="*/ 141 h 1715"/>
                <a:gd name="T86" fmla="*/ 1056 w 2359"/>
                <a:gd name="T87" fmla="*/ 129 h 1715"/>
                <a:gd name="T88" fmla="*/ 954 w 2359"/>
                <a:gd name="T89" fmla="*/ 105 h 1715"/>
                <a:gd name="T90" fmla="*/ 492 w 2359"/>
                <a:gd name="T91" fmla="*/ 105 h 1715"/>
                <a:gd name="T92" fmla="*/ 150 w 2359"/>
                <a:gd name="T93" fmla="*/ 105 h 1715"/>
                <a:gd name="T94" fmla="*/ 0 w 2359"/>
                <a:gd name="T95" fmla="*/ 99 h 171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59"/>
                <a:gd name="T145" fmla="*/ 0 h 1715"/>
                <a:gd name="T146" fmla="*/ 2359 w 2359"/>
                <a:gd name="T147" fmla="*/ 1715 h 171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59" h="1715">
                  <a:moveTo>
                    <a:pt x="30" y="1437"/>
                  </a:moveTo>
                  <a:cubicBezTo>
                    <a:pt x="350" y="1438"/>
                    <a:pt x="670" y="1439"/>
                    <a:pt x="834" y="1437"/>
                  </a:cubicBezTo>
                  <a:cubicBezTo>
                    <a:pt x="998" y="1435"/>
                    <a:pt x="966" y="1434"/>
                    <a:pt x="1014" y="1425"/>
                  </a:cubicBezTo>
                  <a:cubicBezTo>
                    <a:pt x="1062" y="1416"/>
                    <a:pt x="1084" y="1412"/>
                    <a:pt x="1122" y="1383"/>
                  </a:cubicBezTo>
                  <a:cubicBezTo>
                    <a:pt x="1160" y="1354"/>
                    <a:pt x="1205" y="1289"/>
                    <a:pt x="1242" y="1251"/>
                  </a:cubicBezTo>
                  <a:cubicBezTo>
                    <a:pt x="1279" y="1213"/>
                    <a:pt x="1292" y="1211"/>
                    <a:pt x="1344" y="1155"/>
                  </a:cubicBezTo>
                  <a:cubicBezTo>
                    <a:pt x="1396" y="1099"/>
                    <a:pt x="1497" y="985"/>
                    <a:pt x="1554" y="915"/>
                  </a:cubicBezTo>
                  <a:cubicBezTo>
                    <a:pt x="1611" y="845"/>
                    <a:pt x="1645" y="788"/>
                    <a:pt x="1686" y="735"/>
                  </a:cubicBezTo>
                  <a:cubicBezTo>
                    <a:pt x="1727" y="682"/>
                    <a:pt x="1778" y="645"/>
                    <a:pt x="1800" y="597"/>
                  </a:cubicBezTo>
                  <a:cubicBezTo>
                    <a:pt x="1822" y="549"/>
                    <a:pt x="1815" y="497"/>
                    <a:pt x="1818" y="447"/>
                  </a:cubicBezTo>
                  <a:cubicBezTo>
                    <a:pt x="1821" y="397"/>
                    <a:pt x="1816" y="352"/>
                    <a:pt x="1818" y="297"/>
                  </a:cubicBezTo>
                  <a:cubicBezTo>
                    <a:pt x="1820" y="242"/>
                    <a:pt x="1825" y="158"/>
                    <a:pt x="1830" y="117"/>
                  </a:cubicBezTo>
                  <a:cubicBezTo>
                    <a:pt x="1835" y="76"/>
                    <a:pt x="1837" y="68"/>
                    <a:pt x="1848" y="51"/>
                  </a:cubicBezTo>
                  <a:cubicBezTo>
                    <a:pt x="1859" y="34"/>
                    <a:pt x="1861" y="22"/>
                    <a:pt x="1896" y="15"/>
                  </a:cubicBezTo>
                  <a:cubicBezTo>
                    <a:pt x="1931" y="8"/>
                    <a:pt x="1999" y="11"/>
                    <a:pt x="2058" y="9"/>
                  </a:cubicBezTo>
                  <a:cubicBezTo>
                    <a:pt x="2117" y="7"/>
                    <a:pt x="2207" y="0"/>
                    <a:pt x="2250" y="3"/>
                  </a:cubicBezTo>
                  <a:cubicBezTo>
                    <a:pt x="2293" y="6"/>
                    <a:pt x="2300" y="13"/>
                    <a:pt x="2316" y="27"/>
                  </a:cubicBezTo>
                  <a:cubicBezTo>
                    <a:pt x="2332" y="41"/>
                    <a:pt x="2342" y="62"/>
                    <a:pt x="2346" y="87"/>
                  </a:cubicBezTo>
                  <a:cubicBezTo>
                    <a:pt x="2350" y="112"/>
                    <a:pt x="2343" y="93"/>
                    <a:pt x="2340" y="177"/>
                  </a:cubicBezTo>
                  <a:cubicBezTo>
                    <a:pt x="2337" y="261"/>
                    <a:pt x="2331" y="500"/>
                    <a:pt x="2328" y="591"/>
                  </a:cubicBezTo>
                  <a:cubicBezTo>
                    <a:pt x="2325" y="682"/>
                    <a:pt x="2321" y="666"/>
                    <a:pt x="2322" y="723"/>
                  </a:cubicBezTo>
                  <a:cubicBezTo>
                    <a:pt x="2323" y="780"/>
                    <a:pt x="2331" y="872"/>
                    <a:pt x="2334" y="933"/>
                  </a:cubicBezTo>
                  <a:cubicBezTo>
                    <a:pt x="2337" y="994"/>
                    <a:pt x="2340" y="1053"/>
                    <a:pt x="2340" y="1089"/>
                  </a:cubicBezTo>
                  <a:cubicBezTo>
                    <a:pt x="2340" y="1125"/>
                    <a:pt x="2334" y="1123"/>
                    <a:pt x="2334" y="1149"/>
                  </a:cubicBezTo>
                  <a:cubicBezTo>
                    <a:pt x="2334" y="1175"/>
                    <a:pt x="2339" y="1220"/>
                    <a:pt x="2340" y="1245"/>
                  </a:cubicBezTo>
                  <a:cubicBezTo>
                    <a:pt x="2341" y="1270"/>
                    <a:pt x="2338" y="1243"/>
                    <a:pt x="2340" y="1299"/>
                  </a:cubicBezTo>
                  <a:cubicBezTo>
                    <a:pt x="2342" y="1355"/>
                    <a:pt x="2359" y="1517"/>
                    <a:pt x="2352" y="1581"/>
                  </a:cubicBezTo>
                  <a:cubicBezTo>
                    <a:pt x="2345" y="1645"/>
                    <a:pt x="2344" y="1663"/>
                    <a:pt x="2298" y="1683"/>
                  </a:cubicBezTo>
                  <a:cubicBezTo>
                    <a:pt x="2252" y="1703"/>
                    <a:pt x="2192" y="1696"/>
                    <a:pt x="2076" y="1701"/>
                  </a:cubicBezTo>
                  <a:cubicBezTo>
                    <a:pt x="1960" y="1706"/>
                    <a:pt x="1760" y="1711"/>
                    <a:pt x="1602" y="1713"/>
                  </a:cubicBezTo>
                  <a:cubicBezTo>
                    <a:pt x="1444" y="1715"/>
                    <a:pt x="1283" y="1714"/>
                    <a:pt x="1128" y="1713"/>
                  </a:cubicBezTo>
                  <a:cubicBezTo>
                    <a:pt x="973" y="1712"/>
                    <a:pt x="773" y="1709"/>
                    <a:pt x="672" y="1707"/>
                  </a:cubicBezTo>
                  <a:cubicBezTo>
                    <a:pt x="571" y="1705"/>
                    <a:pt x="550" y="1707"/>
                    <a:pt x="522" y="1701"/>
                  </a:cubicBezTo>
                  <a:cubicBezTo>
                    <a:pt x="494" y="1695"/>
                    <a:pt x="511" y="1689"/>
                    <a:pt x="504" y="1671"/>
                  </a:cubicBezTo>
                  <a:cubicBezTo>
                    <a:pt x="497" y="1653"/>
                    <a:pt x="486" y="1642"/>
                    <a:pt x="480" y="1593"/>
                  </a:cubicBezTo>
                  <a:cubicBezTo>
                    <a:pt x="474" y="1544"/>
                    <a:pt x="470" y="1427"/>
                    <a:pt x="468" y="1377"/>
                  </a:cubicBezTo>
                  <a:cubicBezTo>
                    <a:pt x="466" y="1327"/>
                    <a:pt x="469" y="1356"/>
                    <a:pt x="468" y="1293"/>
                  </a:cubicBezTo>
                  <a:cubicBezTo>
                    <a:pt x="467" y="1230"/>
                    <a:pt x="454" y="1073"/>
                    <a:pt x="462" y="999"/>
                  </a:cubicBezTo>
                  <a:cubicBezTo>
                    <a:pt x="470" y="925"/>
                    <a:pt x="491" y="888"/>
                    <a:pt x="516" y="849"/>
                  </a:cubicBezTo>
                  <a:cubicBezTo>
                    <a:pt x="541" y="810"/>
                    <a:pt x="549" y="817"/>
                    <a:pt x="612" y="765"/>
                  </a:cubicBezTo>
                  <a:cubicBezTo>
                    <a:pt x="675" y="713"/>
                    <a:pt x="817" y="609"/>
                    <a:pt x="894" y="537"/>
                  </a:cubicBezTo>
                  <a:cubicBezTo>
                    <a:pt x="971" y="465"/>
                    <a:pt x="1047" y="399"/>
                    <a:pt x="1074" y="333"/>
                  </a:cubicBezTo>
                  <a:cubicBezTo>
                    <a:pt x="1101" y="267"/>
                    <a:pt x="1059" y="175"/>
                    <a:pt x="1056" y="141"/>
                  </a:cubicBezTo>
                  <a:cubicBezTo>
                    <a:pt x="1053" y="107"/>
                    <a:pt x="1073" y="135"/>
                    <a:pt x="1056" y="129"/>
                  </a:cubicBezTo>
                  <a:cubicBezTo>
                    <a:pt x="1039" y="123"/>
                    <a:pt x="1048" y="109"/>
                    <a:pt x="954" y="105"/>
                  </a:cubicBezTo>
                  <a:cubicBezTo>
                    <a:pt x="860" y="101"/>
                    <a:pt x="626" y="105"/>
                    <a:pt x="492" y="105"/>
                  </a:cubicBezTo>
                  <a:cubicBezTo>
                    <a:pt x="358" y="105"/>
                    <a:pt x="232" y="106"/>
                    <a:pt x="150" y="105"/>
                  </a:cubicBezTo>
                  <a:cubicBezTo>
                    <a:pt x="68" y="104"/>
                    <a:pt x="25" y="100"/>
                    <a:pt x="0" y="99"/>
                  </a:cubicBezTo>
                </a:path>
              </a:pathLst>
            </a:custGeom>
            <a:noFill/>
            <a:ln w="38100">
              <a:solidFill>
                <a:srgbClr val="FF0000"/>
              </a:solidFill>
              <a:prstDash val="sysDot"/>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53" name="Line 70"/>
            <p:cNvSpPr>
              <a:spLocks noChangeShapeType="1"/>
            </p:cNvSpPr>
            <p:nvPr/>
          </p:nvSpPr>
          <p:spPr bwMode="auto">
            <a:xfrm>
              <a:off x="4332" y="1980"/>
              <a:ext cx="0" cy="552"/>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8199" name="Text Box 71"/>
          <p:cNvSpPr txBox="1">
            <a:spLocks noChangeArrowheads="1"/>
          </p:cNvSpPr>
          <p:nvPr/>
        </p:nvSpPr>
        <p:spPr bwMode="auto">
          <a:xfrm>
            <a:off x="5353050" y="4675188"/>
            <a:ext cx="3560763" cy="129222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000" b="1">
                <a:solidFill>
                  <a:schemeClr val="tx2"/>
                </a:solidFill>
                <a:latin typeface="Times New Roman" panose="02020603050405020304" pitchFamily="18" charset="0"/>
                <a:cs typeface="Times New Roman" panose="02020603050405020304" pitchFamily="18" charset="0"/>
              </a:rPr>
              <a:t>输入电压的正负半周都有电流流过负载而且电流方向一致（单向脉动）。</a:t>
            </a:r>
            <a:endParaRPr kumimoji="1" lang="zh-CN" altLang="en-US" sz="2000" b="1" i="1">
              <a:solidFill>
                <a:schemeClr val="tx2"/>
              </a:solidFill>
              <a:latin typeface="Times New Roman" panose="02020603050405020304" pitchFamily="18" charset="0"/>
              <a:cs typeface="Times New Roman" panose="02020603050405020304" pitchFamily="18" charset="0"/>
            </a:endParaRPr>
          </a:p>
        </p:txBody>
      </p:sp>
      <p:grpSp>
        <p:nvGrpSpPr>
          <p:cNvPr id="10" name="Group 72"/>
          <p:cNvGrpSpPr/>
          <p:nvPr/>
        </p:nvGrpSpPr>
        <p:grpSpPr bwMode="auto">
          <a:xfrm>
            <a:off x="4144963" y="1052513"/>
            <a:ext cx="473075" cy="3128962"/>
            <a:chOff x="1740" y="985"/>
            <a:chExt cx="298" cy="2421"/>
          </a:xfrm>
        </p:grpSpPr>
        <p:sp>
          <p:nvSpPr>
            <p:cNvPr id="12350" name="Text Box 73"/>
            <p:cNvSpPr txBox="1">
              <a:spLocks noChangeArrowheads="1"/>
            </p:cNvSpPr>
            <p:nvPr/>
          </p:nvSpPr>
          <p:spPr bwMode="auto">
            <a:xfrm>
              <a:off x="1740" y="985"/>
              <a:ext cx="298"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a:solidFill>
                    <a:schemeClr val="tx2"/>
                  </a:solidFill>
                </a:rPr>
                <a:t>+</a:t>
              </a:r>
              <a:endParaRPr kumimoji="1" lang="en-US" altLang="zh-CN" sz="4000">
                <a:solidFill>
                  <a:schemeClr val="tx2"/>
                </a:solidFill>
              </a:endParaRPr>
            </a:p>
          </p:txBody>
        </p:sp>
        <p:sp>
          <p:nvSpPr>
            <p:cNvPr id="12351" name="Text Box 74"/>
            <p:cNvSpPr txBox="1">
              <a:spLocks noChangeArrowheads="1"/>
            </p:cNvSpPr>
            <p:nvPr/>
          </p:nvSpPr>
          <p:spPr bwMode="auto">
            <a:xfrm>
              <a:off x="1744" y="2863"/>
              <a:ext cx="223"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a:solidFill>
                    <a:schemeClr val="tx2"/>
                  </a:solidFill>
                </a:rPr>
                <a:t>-</a:t>
              </a:r>
              <a:endParaRPr kumimoji="1" lang="en-US" altLang="zh-CN" sz="4000">
                <a:solidFill>
                  <a:schemeClr val="tx2"/>
                </a:solidFill>
              </a:endParaRPr>
            </a:p>
          </p:txBody>
        </p:sp>
      </p:grpSp>
      <p:grpSp>
        <p:nvGrpSpPr>
          <p:cNvPr id="11" name="Group 75"/>
          <p:cNvGrpSpPr/>
          <p:nvPr/>
        </p:nvGrpSpPr>
        <p:grpSpPr bwMode="auto">
          <a:xfrm>
            <a:off x="4168775" y="985838"/>
            <a:ext cx="473075" cy="3249612"/>
            <a:chOff x="1717" y="1035"/>
            <a:chExt cx="298" cy="2451"/>
          </a:xfrm>
        </p:grpSpPr>
        <p:sp>
          <p:nvSpPr>
            <p:cNvPr id="12348" name="Text Box 76"/>
            <p:cNvSpPr txBox="1">
              <a:spLocks noChangeArrowheads="1"/>
            </p:cNvSpPr>
            <p:nvPr/>
          </p:nvSpPr>
          <p:spPr bwMode="auto">
            <a:xfrm>
              <a:off x="1732" y="1035"/>
              <a:ext cx="223"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a:solidFill>
                    <a:srgbClr val="FF0000"/>
                  </a:solidFill>
                </a:rPr>
                <a:t>-</a:t>
              </a:r>
              <a:endParaRPr kumimoji="1" lang="en-US" altLang="zh-CN" sz="4000">
                <a:solidFill>
                  <a:srgbClr val="FF0000"/>
                </a:solidFill>
              </a:endParaRPr>
            </a:p>
          </p:txBody>
        </p:sp>
        <p:sp>
          <p:nvSpPr>
            <p:cNvPr id="12349" name="Text Box 77"/>
            <p:cNvSpPr txBox="1">
              <a:spLocks noChangeArrowheads="1"/>
            </p:cNvSpPr>
            <p:nvPr/>
          </p:nvSpPr>
          <p:spPr bwMode="auto">
            <a:xfrm>
              <a:off x="1717" y="2957"/>
              <a:ext cx="298"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a:solidFill>
                    <a:srgbClr val="FF0000"/>
                  </a:solidFill>
                </a:rPr>
                <a:t>+</a:t>
              </a:r>
              <a:endParaRPr kumimoji="1" lang="en-US" altLang="zh-CN" sz="4000">
                <a:solidFill>
                  <a:srgbClr val="FF0000"/>
                </a:solidFill>
              </a:endParaRPr>
            </a:p>
          </p:txBody>
        </p:sp>
      </p:grpSp>
      <p:sp>
        <p:nvSpPr>
          <p:cNvPr id="48206" name="Freeform 78"/>
          <p:cNvSpPr/>
          <p:nvPr/>
        </p:nvSpPr>
        <p:spPr bwMode="auto">
          <a:xfrm>
            <a:off x="849313" y="4154488"/>
            <a:ext cx="3908425" cy="582612"/>
          </a:xfrm>
          <a:custGeom>
            <a:avLst/>
            <a:gdLst>
              <a:gd name="T0" fmla="*/ 0 w 4320"/>
              <a:gd name="T1" fmla="*/ 2147483647 h 960"/>
              <a:gd name="T2" fmla="*/ 2147483647 w 4320"/>
              <a:gd name="T3" fmla="*/ 0 h 960"/>
              <a:gd name="T4" fmla="*/ 2147483647 w 4320"/>
              <a:gd name="T5" fmla="*/ 2147483647 h 960"/>
              <a:gd name="T6" fmla="*/ 2147483647 w 4320"/>
              <a:gd name="T7" fmla="*/ 2147483647 h 960"/>
              <a:gd name="T8" fmla="*/ 2147483647 w 4320"/>
              <a:gd name="T9" fmla="*/ 2147483647 h 960"/>
              <a:gd name="T10" fmla="*/ 2147483647 w 4320"/>
              <a:gd name="T11" fmla="*/ 0 h 960"/>
              <a:gd name="T12" fmla="*/ 2147483647 w 4320"/>
              <a:gd name="T13" fmla="*/ 2147483647 h 960"/>
              <a:gd name="T14" fmla="*/ 2147483647 w 4320"/>
              <a:gd name="T15" fmla="*/ 2147483647 h 960"/>
              <a:gd name="T16" fmla="*/ 2147483647 w 4320"/>
              <a:gd name="T17" fmla="*/ 2147483647 h 960"/>
              <a:gd name="T18" fmla="*/ 2147483647 w 4320"/>
              <a:gd name="T19" fmla="*/ 0 h 960"/>
              <a:gd name="T20" fmla="*/ 2147483647 w 4320"/>
              <a:gd name="T21" fmla="*/ 2147483647 h 9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20"/>
              <a:gd name="T34" fmla="*/ 0 h 960"/>
              <a:gd name="T35" fmla="*/ 4320 w 4320"/>
              <a:gd name="T36" fmla="*/ 960 h 96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20" h="960">
                <a:moveTo>
                  <a:pt x="0" y="480"/>
                </a:moveTo>
                <a:cubicBezTo>
                  <a:pt x="144" y="240"/>
                  <a:pt x="288" y="0"/>
                  <a:pt x="432" y="0"/>
                </a:cubicBezTo>
                <a:cubicBezTo>
                  <a:pt x="576" y="0"/>
                  <a:pt x="720" y="320"/>
                  <a:pt x="864" y="480"/>
                </a:cubicBezTo>
                <a:cubicBezTo>
                  <a:pt x="1008" y="640"/>
                  <a:pt x="1152" y="960"/>
                  <a:pt x="1296" y="960"/>
                </a:cubicBezTo>
                <a:cubicBezTo>
                  <a:pt x="1440" y="960"/>
                  <a:pt x="1584" y="640"/>
                  <a:pt x="1728" y="480"/>
                </a:cubicBezTo>
                <a:cubicBezTo>
                  <a:pt x="1872" y="320"/>
                  <a:pt x="2016" y="0"/>
                  <a:pt x="2160" y="0"/>
                </a:cubicBezTo>
                <a:cubicBezTo>
                  <a:pt x="2304" y="0"/>
                  <a:pt x="2448" y="320"/>
                  <a:pt x="2592" y="480"/>
                </a:cubicBezTo>
                <a:cubicBezTo>
                  <a:pt x="2736" y="640"/>
                  <a:pt x="2880" y="960"/>
                  <a:pt x="3024" y="960"/>
                </a:cubicBezTo>
                <a:cubicBezTo>
                  <a:pt x="3168" y="960"/>
                  <a:pt x="3312" y="640"/>
                  <a:pt x="3456" y="480"/>
                </a:cubicBezTo>
                <a:cubicBezTo>
                  <a:pt x="3600" y="320"/>
                  <a:pt x="3744" y="0"/>
                  <a:pt x="3888" y="0"/>
                </a:cubicBezTo>
                <a:cubicBezTo>
                  <a:pt x="4032" y="0"/>
                  <a:pt x="4176" y="240"/>
                  <a:pt x="4320" y="480"/>
                </a:cubicBezTo>
              </a:path>
            </a:pathLst>
          </a:custGeom>
          <a:noFill/>
          <a:ln w="38100">
            <a:solidFill>
              <a:srgbClr val="FF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2" name="Group 79"/>
          <p:cNvGrpSpPr/>
          <p:nvPr/>
        </p:nvGrpSpPr>
        <p:grpSpPr bwMode="auto">
          <a:xfrm>
            <a:off x="849313" y="5807075"/>
            <a:ext cx="3908425" cy="290513"/>
            <a:chOff x="304" y="3790"/>
            <a:chExt cx="2462" cy="183"/>
          </a:xfrm>
        </p:grpSpPr>
        <p:sp>
          <p:nvSpPr>
            <p:cNvPr id="12345" name="Freeform 80"/>
            <p:cNvSpPr/>
            <p:nvPr/>
          </p:nvSpPr>
          <p:spPr bwMode="auto">
            <a:xfrm flipV="1">
              <a:off x="304" y="3790"/>
              <a:ext cx="492" cy="183"/>
            </a:xfrm>
            <a:custGeom>
              <a:avLst/>
              <a:gdLst>
                <a:gd name="T0" fmla="*/ 0 w 864"/>
                <a:gd name="T1" fmla="*/ 0 h 480"/>
                <a:gd name="T2" fmla="*/ 80 w 864"/>
                <a:gd name="T3" fmla="*/ 27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6" name="Freeform 81"/>
            <p:cNvSpPr/>
            <p:nvPr/>
          </p:nvSpPr>
          <p:spPr bwMode="auto">
            <a:xfrm flipV="1">
              <a:off x="1289" y="3790"/>
              <a:ext cx="492" cy="183"/>
            </a:xfrm>
            <a:custGeom>
              <a:avLst/>
              <a:gdLst>
                <a:gd name="T0" fmla="*/ 0 w 864"/>
                <a:gd name="T1" fmla="*/ 0 h 480"/>
                <a:gd name="T2" fmla="*/ 80 w 864"/>
                <a:gd name="T3" fmla="*/ 27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7" name="Freeform 82"/>
            <p:cNvSpPr/>
            <p:nvPr/>
          </p:nvSpPr>
          <p:spPr bwMode="auto">
            <a:xfrm flipV="1">
              <a:off x="2274" y="3790"/>
              <a:ext cx="492" cy="183"/>
            </a:xfrm>
            <a:custGeom>
              <a:avLst/>
              <a:gdLst>
                <a:gd name="T0" fmla="*/ 0 w 864"/>
                <a:gd name="T1" fmla="*/ 0 h 480"/>
                <a:gd name="T2" fmla="*/ 80 w 864"/>
                <a:gd name="T3" fmla="*/ 27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3" name="Group 83"/>
          <p:cNvGrpSpPr/>
          <p:nvPr/>
        </p:nvGrpSpPr>
        <p:grpSpPr bwMode="auto">
          <a:xfrm>
            <a:off x="1630363" y="5807075"/>
            <a:ext cx="2346325" cy="290513"/>
            <a:chOff x="796" y="3790"/>
            <a:chExt cx="1478" cy="183"/>
          </a:xfrm>
        </p:grpSpPr>
        <p:sp>
          <p:nvSpPr>
            <p:cNvPr id="12343" name="Freeform 84"/>
            <p:cNvSpPr/>
            <p:nvPr/>
          </p:nvSpPr>
          <p:spPr bwMode="auto">
            <a:xfrm flipV="1">
              <a:off x="796" y="3790"/>
              <a:ext cx="493" cy="183"/>
            </a:xfrm>
            <a:custGeom>
              <a:avLst/>
              <a:gdLst>
                <a:gd name="T0" fmla="*/ 0 w 864"/>
                <a:gd name="T1" fmla="*/ 0 h 480"/>
                <a:gd name="T2" fmla="*/ 80 w 864"/>
                <a:gd name="T3" fmla="*/ 27 h 480"/>
                <a:gd name="T4" fmla="*/ 160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4" name="Freeform 85"/>
            <p:cNvSpPr/>
            <p:nvPr/>
          </p:nvSpPr>
          <p:spPr bwMode="auto">
            <a:xfrm flipV="1">
              <a:off x="1781" y="3790"/>
              <a:ext cx="493" cy="183"/>
            </a:xfrm>
            <a:custGeom>
              <a:avLst/>
              <a:gdLst>
                <a:gd name="T0" fmla="*/ 0 w 864"/>
                <a:gd name="T1" fmla="*/ 0 h 480"/>
                <a:gd name="T2" fmla="*/ 80 w 864"/>
                <a:gd name="T3" fmla="*/ 27 h 480"/>
                <a:gd name="T4" fmla="*/ 160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4" name="Group 86"/>
          <p:cNvGrpSpPr/>
          <p:nvPr/>
        </p:nvGrpSpPr>
        <p:grpSpPr bwMode="auto">
          <a:xfrm>
            <a:off x="827088" y="4475163"/>
            <a:ext cx="3925887" cy="947737"/>
            <a:chOff x="2798" y="3011"/>
            <a:chExt cx="2473" cy="597"/>
          </a:xfrm>
        </p:grpSpPr>
        <p:grpSp>
          <p:nvGrpSpPr>
            <p:cNvPr id="12338" name="Group 87"/>
            <p:cNvGrpSpPr/>
            <p:nvPr/>
          </p:nvGrpSpPr>
          <p:grpSpPr bwMode="auto">
            <a:xfrm>
              <a:off x="2810" y="3425"/>
              <a:ext cx="2461" cy="183"/>
              <a:chOff x="48" y="3120"/>
              <a:chExt cx="4320" cy="480"/>
            </a:xfrm>
          </p:grpSpPr>
          <p:sp>
            <p:nvSpPr>
              <p:cNvPr id="12340" name="Freeform 88"/>
              <p:cNvSpPr/>
              <p:nvPr/>
            </p:nvSpPr>
            <p:spPr bwMode="auto">
              <a:xfrm>
                <a:off x="48" y="3120"/>
                <a:ext cx="864" cy="480"/>
              </a:xfrm>
              <a:custGeom>
                <a:avLst/>
                <a:gdLst>
                  <a:gd name="T0" fmla="*/ 0 w 864"/>
                  <a:gd name="T1" fmla="*/ 0 h 480"/>
                  <a:gd name="T2" fmla="*/ 432 w 864"/>
                  <a:gd name="T3" fmla="*/ 480 h 480"/>
                  <a:gd name="T4" fmla="*/ 864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41" name="Freeform 89"/>
              <p:cNvSpPr/>
              <p:nvPr/>
            </p:nvSpPr>
            <p:spPr bwMode="auto">
              <a:xfrm>
                <a:off x="1776" y="3120"/>
                <a:ext cx="864" cy="480"/>
              </a:xfrm>
              <a:custGeom>
                <a:avLst/>
                <a:gdLst>
                  <a:gd name="T0" fmla="*/ 0 w 864"/>
                  <a:gd name="T1" fmla="*/ 0 h 480"/>
                  <a:gd name="T2" fmla="*/ 432 w 864"/>
                  <a:gd name="T3" fmla="*/ 480 h 480"/>
                  <a:gd name="T4" fmla="*/ 864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42" name="Freeform 90"/>
              <p:cNvSpPr/>
              <p:nvPr/>
            </p:nvSpPr>
            <p:spPr bwMode="auto">
              <a:xfrm>
                <a:off x="3504" y="3120"/>
                <a:ext cx="864" cy="480"/>
              </a:xfrm>
              <a:custGeom>
                <a:avLst/>
                <a:gdLst>
                  <a:gd name="T0" fmla="*/ 0 w 864"/>
                  <a:gd name="T1" fmla="*/ 0 h 480"/>
                  <a:gd name="T2" fmla="*/ 432 w 864"/>
                  <a:gd name="T3" fmla="*/ 480 h 480"/>
                  <a:gd name="T4" fmla="*/ 864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sp>
          <p:nvSpPr>
            <p:cNvPr id="12339" name="Text Box 91"/>
            <p:cNvSpPr txBox="1">
              <a:spLocks noChangeArrowheads="1"/>
            </p:cNvSpPr>
            <p:nvPr/>
          </p:nvSpPr>
          <p:spPr bwMode="auto">
            <a:xfrm>
              <a:off x="2798" y="3011"/>
              <a:ext cx="55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D4</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D2</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grpSp>
        <p:nvGrpSpPr>
          <p:cNvPr id="16" name="Group 92"/>
          <p:cNvGrpSpPr/>
          <p:nvPr/>
        </p:nvGrpSpPr>
        <p:grpSpPr bwMode="auto">
          <a:xfrm>
            <a:off x="1606550" y="4532313"/>
            <a:ext cx="2346325" cy="909637"/>
            <a:chOff x="782" y="2987"/>
            <a:chExt cx="1477" cy="573"/>
          </a:xfrm>
        </p:grpSpPr>
        <p:grpSp>
          <p:nvGrpSpPr>
            <p:cNvPr id="12334" name="Group 93"/>
            <p:cNvGrpSpPr/>
            <p:nvPr/>
          </p:nvGrpSpPr>
          <p:grpSpPr bwMode="auto">
            <a:xfrm>
              <a:off x="782" y="3377"/>
              <a:ext cx="1477" cy="183"/>
              <a:chOff x="782" y="3377"/>
              <a:chExt cx="1477" cy="183"/>
            </a:xfrm>
          </p:grpSpPr>
          <p:sp>
            <p:nvSpPr>
              <p:cNvPr id="12336" name="Freeform 94"/>
              <p:cNvSpPr/>
              <p:nvPr/>
            </p:nvSpPr>
            <p:spPr bwMode="auto">
              <a:xfrm>
                <a:off x="782" y="3377"/>
                <a:ext cx="492" cy="183"/>
              </a:xfrm>
              <a:custGeom>
                <a:avLst/>
                <a:gdLst>
                  <a:gd name="T0" fmla="*/ 0 w 864"/>
                  <a:gd name="T1" fmla="*/ 0 h 480"/>
                  <a:gd name="T2" fmla="*/ 80 w 864"/>
                  <a:gd name="T3" fmla="*/ 27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37" name="Freeform 95"/>
              <p:cNvSpPr/>
              <p:nvPr/>
            </p:nvSpPr>
            <p:spPr bwMode="auto">
              <a:xfrm>
                <a:off x="1766" y="3377"/>
                <a:ext cx="493" cy="183"/>
              </a:xfrm>
              <a:custGeom>
                <a:avLst/>
                <a:gdLst>
                  <a:gd name="T0" fmla="*/ 0 w 864"/>
                  <a:gd name="T1" fmla="*/ 0 h 480"/>
                  <a:gd name="T2" fmla="*/ 80 w 864"/>
                  <a:gd name="T3" fmla="*/ 27 h 480"/>
                  <a:gd name="T4" fmla="*/ 160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sp>
          <p:nvSpPr>
            <p:cNvPr id="12335" name="Text Box 96"/>
            <p:cNvSpPr txBox="1">
              <a:spLocks noChangeArrowheads="1"/>
            </p:cNvSpPr>
            <p:nvPr/>
          </p:nvSpPr>
          <p:spPr bwMode="auto">
            <a:xfrm>
              <a:off x="1227" y="2987"/>
              <a:ext cx="55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D3</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D1</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grpSp>
        <p:nvGrpSpPr>
          <p:cNvPr id="18" name="Group 97"/>
          <p:cNvGrpSpPr/>
          <p:nvPr/>
        </p:nvGrpSpPr>
        <p:grpSpPr bwMode="auto">
          <a:xfrm>
            <a:off x="366713" y="3686175"/>
            <a:ext cx="4995862" cy="2652713"/>
            <a:chOff x="2508" y="2526"/>
            <a:chExt cx="3147" cy="1671"/>
          </a:xfrm>
        </p:grpSpPr>
        <p:sp>
          <p:nvSpPr>
            <p:cNvPr id="12310" name="Line 98"/>
            <p:cNvSpPr>
              <a:spLocks noChangeShapeType="1"/>
            </p:cNvSpPr>
            <p:nvPr/>
          </p:nvSpPr>
          <p:spPr bwMode="auto">
            <a:xfrm>
              <a:off x="3304" y="3004"/>
              <a:ext cx="0" cy="94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1" name="Line 99"/>
            <p:cNvSpPr>
              <a:spLocks noChangeShapeType="1"/>
            </p:cNvSpPr>
            <p:nvPr/>
          </p:nvSpPr>
          <p:spPr bwMode="auto">
            <a:xfrm>
              <a:off x="3798" y="3028"/>
              <a:ext cx="0" cy="94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2" name="Line 100"/>
            <p:cNvSpPr>
              <a:spLocks noChangeShapeType="1"/>
            </p:cNvSpPr>
            <p:nvPr/>
          </p:nvSpPr>
          <p:spPr bwMode="auto">
            <a:xfrm>
              <a:off x="4280" y="3028"/>
              <a:ext cx="0" cy="94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3" name="Line 101"/>
            <p:cNvSpPr>
              <a:spLocks noChangeShapeType="1"/>
            </p:cNvSpPr>
            <p:nvPr/>
          </p:nvSpPr>
          <p:spPr bwMode="auto">
            <a:xfrm>
              <a:off x="4784" y="3028"/>
              <a:ext cx="0" cy="94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4" name="Line 102"/>
            <p:cNvSpPr>
              <a:spLocks noChangeShapeType="1"/>
            </p:cNvSpPr>
            <p:nvPr/>
          </p:nvSpPr>
          <p:spPr bwMode="auto">
            <a:xfrm>
              <a:off x="5274" y="3004"/>
              <a:ext cx="0" cy="94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315" name="Group 103"/>
            <p:cNvGrpSpPr/>
            <p:nvPr/>
          </p:nvGrpSpPr>
          <p:grpSpPr bwMode="auto">
            <a:xfrm>
              <a:off x="2508" y="2526"/>
              <a:ext cx="3147" cy="615"/>
              <a:chOff x="2508" y="2526"/>
              <a:chExt cx="3147" cy="615"/>
            </a:xfrm>
          </p:grpSpPr>
          <p:grpSp>
            <p:nvGrpSpPr>
              <p:cNvPr id="12328" name="Group 104"/>
              <p:cNvGrpSpPr/>
              <p:nvPr/>
            </p:nvGrpSpPr>
            <p:grpSpPr bwMode="auto">
              <a:xfrm>
                <a:off x="2508" y="2526"/>
                <a:ext cx="3147" cy="570"/>
                <a:chOff x="2508" y="2526"/>
                <a:chExt cx="3147" cy="570"/>
              </a:xfrm>
            </p:grpSpPr>
            <p:grpSp>
              <p:nvGrpSpPr>
                <p:cNvPr id="12330" name="Group 105"/>
                <p:cNvGrpSpPr/>
                <p:nvPr/>
              </p:nvGrpSpPr>
              <p:grpSpPr bwMode="auto">
                <a:xfrm>
                  <a:off x="2812" y="2705"/>
                  <a:ext cx="2577" cy="311"/>
                  <a:chOff x="304" y="2441"/>
                  <a:chExt cx="2577" cy="311"/>
                </a:xfrm>
              </p:grpSpPr>
              <p:sp>
                <p:nvSpPr>
                  <p:cNvPr id="12332" name="Line 106"/>
                  <p:cNvSpPr>
                    <a:spLocks noChangeShapeType="1"/>
                  </p:cNvSpPr>
                  <p:nvPr/>
                </p:nvSpPr>
                <p:spPr bwMode="auto">
                  <a:xfrm flipV="1">
                    <a:off x="304" y="2441"/>
                    <a:ext cx="0" cy="311"/>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33" name="Line 107"/>
                  <p:cNvSpPr>
                    <a:spLocks noChangeShapeType="1"/>
                  </p:cNvSpPr>
                  <p:nvPr/>
                </p:nvSpPr>
                <p:spPr bwMode="auto">
                  <a:xfrm>
                    <a:off x="304" y="2740"/>
                    <a:ext cx="2577" cy="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331" name="Text Box 108"/>
                <p:cNvSpPr txBox="1">
                  <a:spLocks noChangeArrowheads="1"/>
                </p:cNvSpPr>
                <p:nvPr/>
              </p:nvSpPr>
              <p:spPr bwMode="auto">
                <a:xfrm>
                  <a:off x="2508" y="2526"/>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2</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aphicFrame>
              <p:nvGraphicFramePr>
                <p:cNvPr id="12292" name="Object 4"/>
                <p:cNvGraphicFramePr>
                  <a:graphicFrameLocks noChangeAspect="1"/>
                </p:cNvGraphicFramePr>
                <p:nvPr/>
              </p:nvGraphicFramePr>
              <p:xfrm>
                <a:off x="5452" y="2966"/>
                <a:ext cx="203" cy="130"/>
              </p:xfrm>
              <a:graphic>
                <a:graphicData uri="http://schemas.openxmlformats.org/presentationml/2006/ole">
                  <mc:AlternateContent xmlns:mc="http://schemas.openxmlformats.org/markup-compatibility/2006">
                    <mc:Choice xmlns:v="urn:schemas-microsoft-com:vml" Requires="v">
                      <p:oleObj spid="_x0000_s12478" name="公式" r:id="rId1" imgW="254000" imgH="203200" progId="Equation.3">
                        <p:embed/>
                      </p:oleObj>
                    </mc:Choice>
                    <mc:Fallback>
                      <p:oleObj name="公式" r:id="rId1" imgW="254000" imgH="203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2" y="2966"/>
                              <a:ext cx="20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12329" name="Text Box 110"/>
              <p:cNvSpPr txBox="1">
                <a:spLocks noChangeArrowheads="1"/>
              </p:cNvSpPr>
              <p:nvPr/>
            </p:nvSpPr>
            <p:spPr bwMode="auto">
              <a:xfrm>
                <a:off x="2626" y="2889"/>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grpSp>
          <p:nvGrpSpPr>
            <p:cNvPr id="12316" name="Group 111"/>
            <p:cNvGrpSpPr/>
            <p:nvPr/>
          </p:nvGrpSpPr>
          <p:grpSpPr bwMode="auto">
            <a:xfrm>
              <a:off x="2626" y="3091"/>
              <a:ext cx="3005" cy="548"/>
              <a:chOff x="2626" y="3079"/>
              <a:chExt cx="3005" cy="548"/>
            </a:xfrm>
          </p:grpSpPr>
          <p:grpSp>
            <p:nvGrpSpPr>
              <p:cNvPr id="12323" name="Group 112"/>
              <p:cNvGrpSpPr/>
              <p:nvPr/>
            </p:nvGrpSpPr>
            <p:grpSpPr bwMode="auto">
              <a:xfrm>
                <a:off x="2807" y="3079"/>
                <a:ext cx="2824" cy="548"/>
                <a:chOff x="2807" y="3079"/>
                <a:chExt cx="2824" cy="548"/>
              </a:xfrm>
            </p:grpSpPr>
            <p:grpSp>
              <p:nvGrpSpPr>
                <p:cNvPr id="12325" name="Group 113"/>
                <p:cNvGrpSpPr/>
                <p:nvPr/>
              </p:nvGrpSpPr>
              <p:grpSpPr bwMode="auto">
                <a:xfrm>
                  <a:off x="2807" y="3079"/>
                  <a:ext cx="2577" cy="548"/>
                  <a:chOff x="3013" y="1728"/>
                  <a:chExt cx="2577" cy="548"/>
                </a:xfrm>
              </p:grpSpPr>
              <p:sp>
                <p:nvSpPr>
                  <p:cNvPr id="12326" name="Line 114"/>
                  <p:cNvSpPr>
                    <a:spLocks noChangeShapeType="1"/>
                  </p:cNvSpPr>
                  <p:nvPr/>
                </p:nvSpPr>
                <p:spPr bwMode="auto">
                  <a:xfrm flipV="1">
                    <a:off x="3013" y="1728"/>
                    <a:ext cx="0" cy="54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7" name="Line 115"/>
                  <p:cNvSpPr>
                    <a:spLocks noChangeShapeType="1"/>
                  </p:cNvSpPr>
                  <p:nvPr/>
                </p:nvSpPr>
                <p:spPr bwMode="auto">
                  <a:xfrm>
                    <a:off x="3013" y="2064"/>
                    <a:ext cx="2577"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2291" name="Object 3"/>
                <p:cNvGraphicFramePr>
                  <a:graphicFrameLocks noChangeAspect="1"/>
                </p:cNvGraphicFramePr>
                <p:nvPr/>
              </p:nvGraphicFramePr>
              <p:xfrm>
                <a:off x="5428" y="3366"/>
                <a:ext cx="203" cy="131"/>
              </p:xfrm>
              <a:graphic>
                <a:graphicData uri="http://schemas.openxmlformats.org/presentationml/2006/ole">
                  <mc:AlternateContent xmlns:mc="http://schemas.openxmlformats.org/markup-compatibility/2006">
                    <mc:Choice xmlns:v="urn:schemas-microsoft-com:vml" Requires="v">
                      <p:oleObj spid="_x0000_s12479" name="公式" r:id="rId3" imgW="254000" imgH="203200" progId="Equation.3">
                        <p:embed/>
                      </p:oleObj>
                    </mc:Choice>
                    <mc:Fallback>
                      <p:oleObj name="公式" r:id="rId3" imgW="254000" imgH="203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8" y="3366"/>
                              <a:ext cx="203"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12324" name="Text Box 117"/>
              <p:cNvSpPr txBox="1">
                <a:spLocks noChangeArrowheads="1"/>
              </p:cNvSpPr>
              <p:nvPr/>
            </p:nvSpPr>
            <p:spPr bwMode="auto">
              <a:xfrm>
                <a:off x="2626" y="3309"/>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grpSp>
          <p:nvGrpSpPr>
            <p:cNvPr id="12317" name="Group 118"/>
            <p:cNvGrpSpPr/>
            <p:nvPr/>
          </p:nvGrpSpPr>
          <p:grpSpPr bwMode="auto">
            <a:xfrm>
              <a:off x="2511" y="3581"/>
              <a:ext cx="3108" cy="616"/>
              <a:chOff x="2511" y="3581"/>
              <a:chExt cx="3108" cy="616"/>
            </a:xfrm>
          </p:grpSpPr>
          <p:grpSp>
            <p:nvGrpSpPr>
              <p:cNvPr id="12318" name="Group 119"/>
              <p:cNvGrpSpPr/>
              <p:nvPr/>
            </p:nvGrpSpPr>
            <p:grpSpPr bwMode="auto">
              <a:xfrm>
                <a:off x="2788" y="3769"/>
                <a:ext cx="2577" cy="386"/>
                <a:chOff x="304" y="3433"/>
                <a:chExt cx="2577" cy="386"/>
              </a:xfrm>
            </p:grpSpPr>
            <p:sp>
              <p:nvSpPr>
                <p:cNvPr id="12321" name="Line 120"/>
                <p:cNvSpPr>
                  <a:spLocks noChangeShapeType="1"/>
                </p:cNvSpPr>
                <p:nvPr/>
              </p:nvSpPr>
              <p:spPr bwMode="auto">
                <a:xfrm flipV="1">
                  <a:off x="304" y="3433"/>
                  <a:ext cx="0" cy="38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2" name="Line 121"/>
                <p:cNvSpPr>
                  <a:spLocks noChangeShapeType="1"/>
                </p:cNvSpPr>
                <p:nvPr/>
              </p:nvSpPr>
              <p:spPr bwMode="auto">
                <a:xfrm>
                  <a:off x="304" y="3708"/>
                  <a:ext cx="2577" cy="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2290" name="Object 2"/>
              <p:cNvGraphicFramePr>
                <a:graphicFrameLocks noChangeAspect="1"/>
              </p:cNvGraphicFramePr>
              <p:nvPr/>
            </p:nvGraphicFramePr>
            <p:xfrm>
              <a:off x="5416" y="3990"/>
              <a:ext cx="203" cy="129"/>
            </p:xfrm>
            <a:graphic>
              <a:graphicData uri="http://schemas.openxmlformats.org/presentationml/2006/ole">
                <mc:AlternateContent xmlns:mc="http://schemas.openxmlformats.org/markup-compatibility/2006">
                  <mc:Choice xmlns:v="urn:schemas-microsoft-com:vml" Requires="v">
                    <p:oleObj spid="_x0000_s12480" name="公式" r:id="rId5" imgW="254000" imgH="203200" progId="Equation.3">
                      <p:embed/>
                    </p:oleObj>
                  </mc:Choice>
                  <mc:Fallback>
                    <p:oleObj name="公式" r:id="rId5" imgW="254000" imgH="203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6" y="3990"/>
                            <a:ext cx="20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2319" name="Text Box 123"/>
              <p:cNvSpPr txBox="1">
                <a:spLocks noChangeArrowheads="1"/>
              </p:cNvSpPr>
              <p:nvPr/>
            </p:nvSpPr>
            <p:spPr bwMode="auto">
              <a:xfrm>
                <a:off x="2511" y="3581"/>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12320" name="Text Box 124"/>
              <p:cNvSpPr txBox="1">
                <a:spLocks noChangeArrowheads="1"/>
              </p:cNvSpPr>
              <p:nvPr/>
            </p:nvSpPr>
            <p:spPr bwMode="auto">
              <a:xfrm>
                <a:off x="2602" y="3945"/>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grpSp>
      <p:sp>
        <p:nvSpPr>
          <p:cNvPr id="48253" name="Oval 125"/>
          <p:cNvSpPr>
            <a:spLocks noChangeArrowheads="1"/>
          </p:cNvSpPr>
          <p:nvPr/>
        </p:nvSpPr>
        <p:spPr bwMode="auto">
          <a:xfrm>
            <a:off x="4264025" y="1593850"/>
            <a:ext cx="139700" cy="139700"/>
          </a:xfrm>
          <a:prstGeom prst="ellipse">
            <a:avLst/>
          </a:prstGeom>
          <a:solidFill>
            <a:srgbClr val="FF0000"/>
          </a:solidFill>
          <a:ln w="9525">
            <a:solidFill>
              <a:schemeClr val="tx2"/>
            </a:solidFill>
            <a:round/>
          </a:ln>
        </p:spPr>
        <p:txBody>
          <a:bodyPr wrap="none" anchor="ctr"/>
          <a:lstStyle/>
          <a:p>
            <a:endParaRPr lang="zh-CN" altLang="en-US"/>
          </a:p>
        </p:txBody>
      </p:sp>
      <p:sp>
        <p:nvSpPr>
          <p:cNvPr id="3" name="灯片编号占位符 2"/>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checkerboard(across)">
                                      <p:cBhvr>
                                        <p:cTn id="12" dur="500"/>
                                        <p:tgtEl>
                                          <p:spTgt spid="1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8206"/>
                                        </p:tgtEl>
                                        <p:attrNameLst>
                                          <p:attrName>style.visibility</p:attrName>
                                        </p:attrNameLst>
                                      </p:cBhvr>
                                      <p:to>
                                        <p:strVal val="visible"/>
                                      </p:to>
                                    </p:set>
                                    <p:animEffect transition="in" filter="wipe(left)">
                                      <p:cBhvr>
                                        <p:cTn id="16" dur="500"/>
                                        <p:tgtEl>
                                          <p:spTgt spid="4820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48191"/>
                                        </p:tgtEl>
                                        <p:attrNameLst>
                                          <p:attrName>style.visibility</p:attrName>
                                        </p:attrNameLst>
                                      </p:cBhvr>
                                      <p:to>
                                        <p:strVal val="visible"/>
                                      </p:to>
                                    </p:set>
                                    <p:animEffect transition="in" filter="wipe(left)">
                                      <p:cBhvr>
                                        <p:cTn id="21" dur="75"/>
                                        <p:tgtEl>
                                          <p:spTgt spid="48191"/>
                                        </p:tgtEl>
                                      </p:cBhvr>
                                    </p:animEffect>
                                  </p:childTnLst>
                                </p:cTn>
                              </p:par>
                            </p:childTnLst>
                          </p:cTn>
                        </p:par>
                        <p:par>
                          <p:cTn id="22" fill="hold">
                            <p:stCondLst>
                              <p:cond delay="1875"/>
                            </p:stCondLst>
                            <p:childTnLst>
                              <p:par>
                                <p:cTn id="23" presetID="22" presetClass="entr" presetSubtype="8"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par>
                          <p:cTn id="26" fill="hold">
                            <p:stCondLst>
                              <p:cond delay="2375"/>
                            </p:stCondLst>
                            <p:childTnLst>
                              <p:par>
                                <p:cTn id="27" presetID="9" presetClass="entr" presetSubtype="0" fill="hold" nodeType="afterEffect">
                                  <p:stCondLst>
                                    <p:cond delay="500"/>
                                  </p:stCondLst>
                                  <p:childTnLst>
                                    <p:set>
                                      <p:cBhvr>
                                        <p:cTn id="28" dur="1" fill="hold">
                                          <p:stCondLst>
                                            <p:cond delay="0"/>
                                          </p:stCondLst>
                                        </p:cTn>
                                        <p:tgtEl>
                                          <p:spTgt spid="8"/>
                                        </p:tgtEl>
                                        <p:attrNameLst>
                                          <p:attrName>style.visibility</p:attrName>
                                        </p:attrNameLst>
                                      </p:cBhvr>
                                      <p:to>
                                        <p:strVal val="visible"/>
                                      </p:to>
                                    </p:set>
                                    <p:animEffect transition="in" filter="dissolve">
                                      <p:cBhvr>
                                        <p:cTn id="29"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48195"/>
                                        </p:tgtEl>
                                        <p:attrNameLst>
                                          <p:attrName>style.visibility</p:attrName>
                                        </p:attrNameLst>
                                      </p:cBhvr>
                                      <p:to>
                                        <p:strVal val="visible"/>
                                      </p:to>
                                    </p:set>
                                    <p:animEffect transition="in" filter="wipe(left)">
                                      <p:cBhvr>
                                        <p:cTn id="43" dur="75"/>
                                        <p:tgtEl>
                                          <p:spTgt spid="48195"/>
                                        </p:tgtEl>
                                      </p:cBhvr>
                                    </p:animEffect>
                                  </p:childTnLst>
                                </p:cTn>
                              </p:par>
                            </p:childTnLst>
                          </p:cTn>
                        </p:par>
                        <p:par>
                          <p:cTn id="44" fill="hold">
                            <p:stCondLst>
                              <p:cond delay="1875"/>
                            </p:stCondLst>
                            <p:childTnLst>
                              <p:par>
                                <p:cTn id="45" presetID="22" presetClass="entr" presetSubtype="8" fill="hold"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par>
                          <p:cTn id="48" fill="hold">
                            <p:stCondLst>
                              <p:cond delay="2375"/>
                            </p:stCondLst>
                            <p:childTnLst>
                              <p:par>
                                <p:cTn id="49" presetID="9" presetClass="entr" presetSubtype="0" fill="hold" nodeType="afterEffect">
                                  <p:stCondLst>
                                    <p:cond delay="500"/>
                                  </p:stCondLst>
                                  <p:childTnLst>
                                    <p:set>
                                      <p:cBhvr>
                                        <p:cTn id="50" dur="1" fill="hold">
                                          <p:stCondLst>
                                            <p:cond delay="0"/>
                                          </p:stCondLst>
                                        </p:cTn>
                                        <p:tgtEl>
                                          <p:spTgt spid="9"/>
                                        </p:tgtEl>
                                        <p:attrNameLst>
                                          <p:attrName>style.visibility</p:attrName>
                                        </p:attrNameLst>
                                      </p:cBhvr>
                                      <p:to>
                                        <p:strVal val="visible"/>
                                      </p:to>
                                    </p:set>
                                    <p:animEffect transition="in" filter="dissolve">
                                      <p:cBhvr>
                                        <p:cTn id="5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500"/>
                                        <p:tgtEl>
                                          <p:spTgt spid="16"/>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left)">
                                      <p:cBhvr>
                                        <p:cTn id="60" dur="500"/>
                                        <p:tgtEl>
                                          <p:spTgt spid="13"/>
                                        </p:tgtEl>
                                      </p:cBhvr>
                                    </p:animEffect>
                                  </p:childTnLst>
                                </p:cTn>
                              </p:par>
                            </p:childTnLst>
                          </p:cTn>
                        </p:par>
                        <p:par>
                          <p:cTn id="61" fill="hold">
                            <p:stCondLst>
                              <p:cond delay="1000"/>
                            </p:stCondLst>
                            <p:childTnLst>
                              <p:par>
                                <p:cTn id="62" presetID="22" presetClass="entr" presetSubtype="8" fill="hold" grpId="0" nodeType="afterEffect">
                                  <p:stCondLst>
                                    <p:cond delay="0"/>
                                  </p:stCondLst>
                                  <p:iterate type="lt">
                                    <p:tmPct val="100000"/>
                                  </p:iterate>
                                  <p:childTnLst>
                                    <p:set>
                                      <p:cBhvr>
                                        <p:cTn id="63" dur="1" fill="hold">
                                          <p:stCondLst>
                                            <p:cond delay="0"/>
                                          </p:stCondLst>
                                        </p:cTn>
                                        <p:tgtEl>
                                          <p:spTgt spid="48199"/>
                                        </p:tgtEl>
                                        <p:attrNameLst>
                                          <p:attrName>style.visibility</p:attrName>
                                        </p:attrNameLst>
                                      </p:cBhvr>
                                      <p:to>
                                        <p:strVal val="visible"/>
                                      </p:to>
                                    </p:set>
                                    <p:animEffect transition="in" filter="wipe(left)">
                                      <p:cBhvr>
                                        <p:cTn id="64" dur="75"/>
                                        <p:tgtEl>
                                          <p:spTgt spid="48199"/>
                                        </p:tgtEl>
                                      </p:cBhvr>
                                    </p:animEffect>
                                  </p:childTnLst>
                                </p:cTn>
                              </p:par>
                            </p:childTnLst>
                          </p:cTn>
                        </p:par>
                        <p:par>
                          <p:cTn id="65" fill="hold">
                            <p:stCondLst>
                              <p:cond delay="3400"/>
                            </p:stCondLst>
                            <p:childTnLst>
                              <p:par>
                                <p:cTn id="66" presetID="1" presetClass="entr" presetSubtype="0" fill="hold" grpId="0" nodeType="afterEffect">
                                  <p:stCondLst>
                                    <p:cond delay="0"/>
                                  </p:stCondLst>
                                  <p:childTnLst>
                                    <p:set>
                                      <p:cBhvr>
                                        <p:cTn id="67" dur="1" fill="hold">
                                          <p:stCondLst>
                                            <p:cond delay="0"/>
                                          </p:stCondLst>
                                        </p:cTn>
                                        <p:tgtEl>
                                          <p:spTgt spid="48253"/>
                                        </p:tgtEl>
                                        <p:attrNameLst>
                                          <p:attrName>style.visibility</p:attrName>
                                        </p:attrNameLst>
                                      </p:cBhvr>
                                      <p:to>
                                        <p:strVal val="visible"/>
                                      </p:to>
                                    </p:set>
                                  </p:childTnLst>
                                </p:cTn>
                              </p:par>
                            </p:childTnLst>
                          </p:cTn>
                        </p:par>
                        <p:par>
                          <p:cTn id="68" fill="hold">
                            <p:stCondLst>
                              <p:cond delay="3400"/>
                            </p:stCondLst>
                            <p:childTnLst>
                              <p:par>
                                <p:cTn id="69" presetID="0" presetClass="path" presetSubtype="0" repeatCount="indefinite" accel="50000" decel="50000" fill="hold" grpId="1" nodeType="afterEffect">
                                  <p:stCondLst>
                                    <p:cond delay="0"/>
                                  </p:stCondLst>
                                  <p:childTnLst>
                                    <p:animMotion origin="layout" path="M -2.77778E-7 9.96524E-7 L 0.2033 0.00208 L 0.2033 0.03499 L 0.28854 0.15086 L 0.3066 0.15318 L 0.30972 -0.00673 L 0.43594 -0.00441 L 0.43924 0.36106 L 0.07865 0.35874 L 0.08195 0.15086 L 0.11962 0.15086 L 0.2033 0.26697 L 0.2033 0.29316 L -0.02795 0.29084 L 0.20156 0.29316 L 0.20486 0.26025 L 0.28681 0.15318 L 0.31302 0.15086 L 0.31302 9.96524E-7 L 0.44097 9.96524E-7 L 0.43767 0.35874 L 0.08021 0.35434 L 0.08021 0.15318 L 0.12118 0.14878 L 0.2033 0.03707 L 0.2033 -0.00232 L -2.77778E-7 9.96524E-7 Z " pathEditMode="relative" ptsTypes="AAAAAAAAAAAAAAAAAAAAAAAAAAA">
                                      <p:cBhvr>
                                        <p:cTn id="70" dur="30000" fill="hold"/>
                                        <p:tgtEl>
                                          <p:spTgt spid="4825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91" grpId="0" autoUpdateAnimBg="0"/>
      <p:bldP spid="48195" grpId="0" animBg="1" autoUpdateAnimBg="0"/>
      <p:bldP spid="48199" grpId="0" animBg="1" autoUpdateAnimBg="0"/>
      <p:bldP spid="48206" grpId="0" animBg="1"/>
      <p:bldP spid="48253" grpId="0" animBg="1"/>
      <p:bldP spid="48253"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1"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4</a:t>
            </a:r>
            <a:r>
              <a:rPr lang="zh-CN" altLang="en-US" sz="3600" smtClean="0">
                <a:ea typeface="楷体_GB2312" pitchFamily="49" charset="-122"/>
              </a:rPr>
              <a:t>）</a:t>
            </a:r>
            <a:endParaRPr lang="zh-CN" altLang="en-US" sz="3600" smtClean="0">
              <a:ea typeface="楷体_GB2312" pitchFamily="49" charset="-122"/>
            </a:endParaRPr>
          </a:p>
        </p:txBody>
      </p:sp>
      <p:sp>
        <p:nvSpPr>
          <p:cNvPr id="49156" name="Text Box 4"/>
          <p:cNvSpPr txBox="1">
            <a:spLocks noChangeArrowheads="1"/>
          </p:cNvSpPr>
          <p:nvPr/>
        </p:nvSpPr>
        <p:spPr bwMode="auto">
          <a:xfrm>
            <a:off x="4376738" y="1090613"/>
            <a:ext cx="4767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输出电压</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O</a:t>
            </a:r>
            <a:r>
              <a:rPr kumimoji="1" lang="zh-CN" altLang="en-US" sz="2400" b="1">
                <a:solidFill>
                  <a:schemeClr val="tx2"/>
                </a:solidFill>
                <a:latin typeface="Times New Roman" panose="02020603050405020304" pitchFamily="18" charset="0"/>
                <a:cs typeface="Times New Roman" panose="02020603050405020304" pitchFamily="18" charset="0"/>
              </a:rPr>
              <a:t>平均值（直流分量）：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9157" name="Object 2"/>
          <p:cNvGraphicFramePr>
            <a:graphicFrameLocks noChangeAspect="1"/>
          </p:cNvGraphicFramePr>
          <p:nvPr/>
        </p:nvGraphicFramePr>
        <p:xfrm>
          <a:off x="5054600" y="1693863"/>
          <a:ext cx="3859213" cy="1816100"/>
        </p:xfrm>
        <a:graphic>
          <a:graphicData uri="http://schemas.openxmlformats.org/presentationml/2006/ole">
            <mc:AlternateContent xmlns:mc="http://schemas.openxmlformats.org/markup-compatibility/2006">
              <mc:Choice xmlns:v="urn:schemas-microsoft-com:vml" Requires="v">
                <p:oleObj spid="_x0000_s13516" name="Equation" r:id="rId1" imgW="2374900" imgH="1117600" progId="Equation.DSMT4">
                  <p:embed/>
                </p:oleObj>
              </mc:Choice>
              <mc:Fallback>
                <p:oleObj name="Equation" r:id="rId1" imgW="2374900" imgH="1117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4600" y="1693863"/>
                        <a:ext cx="3859213" cy="181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6"/>
          <p:cNvGrpSpPr/>
          <p:nvPr/>
        </p:nvGrpSpPr>
        <p:grpSpPr bwMode="auto">
          <a:xfrm>
            <a:off x="285750" y="952500"/>
            <a:ext cx="4995863" cy="2182813"/>
            <a:chOff x="0" y="488"/>
            <a:chExt cx="3147" cy="1375"/>
          </a:xfrm>
        </p:grpSpPr>
        <p:grpSp>
          <p:nvGrpSpPr>
            <p:cNvPr id="13327" name="Group 7"/>
            <p:cNvGrpSpPr/>
            <p:nvPr/>
          </p:nvGrpSpPr>
          <p:grpSpPr bwMode="auto">
            <a:xfrm>
              <a:off x="0" y="546"/>
              <a:ext cx="3147" cy="1317"/>
              <a:chOff x="2508" y="2526"/>
              <a:chExt cx="3147" cy="1317"/>
            </a:xfrm>
          </p:grpSpPr>
          <p:sp>
            <p:nvSpPr>
              <p:cNvPr id="13329" name="Freeform 8"/>
              <p:cNvSpPr/>
              <p:nvPr/>
            </p:nvSpPr>
            <p:spPr bwMode="auto">
              <a:xfrm>
                <a:off x="2812" y="2821"/>
                <a:ext cx="2462" cy="367"/>
              </a:xfrm>
              <a:custGeom>
                <a:avLst/>
                <a:gdLst>
                  <a:gd name="T0" fmla="*/ 0 w 4320"/>
                  <a:gd name="T1" fmla="*/ 27 h 960"/>
                  <a:gd name="T2" fmla="*/ 80 w 4320"/>
                  <a:gd name="T3" fmla="*/ 0 h 960"/>
                  <a:gd name="T4" fmla="*/ 160 w 4320"/>
                  <a:gd name="T5" fmla="*/ 27 h 960"/>
                  <a:gd name="T6" fmla="*/ 240 w 4320"/>
                  <a:gd name="T7" fmla="*/ 54 h 960"/>
                  <a:gd name="T8" fmla="*/ 320 w 4320"/>
                  <a:gd name="T9" fmla="*/ 27 h 960"/>
                  <a:gd name="T10" fmla="*/ 400 w 4320"/>
                  <a:gd name="T11" fmla="*/ 0 h 960"/>
                  <a:gd name="T12" fmla="*/ 480 w 4320"/>
                  <a:gd name="T13" fmla="*/ 27 h 960"/>
                  <a:gd name="T14" fmla="*/ 560 w 4320"/>
                  <a:gd name="T15" fmla="*/ 54 h 960"/>
                  <a:gd name="T16" fmla="*/ 640 w 4320"/>
                  <a:gd name="T17" fmla="*/ 27 h 960"/>
                  <a:gd name="T18" fmla="*/ 720 w 4320"/>
                  <a:gd name="T19" fmla="*/ 0 h 960"/>
                  <a:gd name="T20" fmla="*/ 800 w 4320"/>
                  <a:gd name="T21" fmla="*/ 27 h 9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20"/>
                  <a:gd name="T34" fmla="*/ 0 h 960"/>
                  <a:gd name="T35" fmla="*/ 4320 w 4320"/>
                  <a:gd name="T36" fmla="*/ 960 h 96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20" h="960">
                    <a:moveTo>
                      <a:pt x="0" y="480"/>
                    </a:moveTo>
                    <a:cubicBezTo>
                      <a:pt x="144" y="240"/>
                      <a:pt x="288" y="0"/>
                      <a:pt x="432" y="0"/>
                    </a:cubicBezTo>
                    <a:cubicBezTo>
                      <a:pt x="576" y="0"/>
                      <a:pt x="720" y="320"/>
                      <a:pt x="864" y="480"/>
                    </a:cubicBezTo>
                    <a:cubicBezTo>
                      <a:pt x="1008" y="640"/>
                      <a:pt x="1152" y="960"/>
                      <a:pt x="1296" y="960"/>
                    </a:cubicBezTo>
                    <a:cubicBezTo>
                      <a:pt x="1440" y="960"/>
                      <a:pt x="1584" y="640"/>
                      <a:pt x="1728" y="480"/>
                    </a:cubicBezTo>
                    <a:cubicBezTo>
                      <a:pt x="1872" y="320"/>
                      <a:pt x="2016" y="0"/>
                      <a:pt x="2160" y="0"/>
                    </a:cubicBezTo>
                    <a:cubicBezTo>
                      <a:pt x="2304" y="0"/>
                      <a:pt x="2448" y="320"/>
                      <a:pt x="2592" y="480"/>
                    </a:cubicBezTo>
                    <a:cubicBezTo>
                      <a:pt x="2736" y="640"/>
                      <a:pt x="2880" y="960"/>
                      <a:pt x="3024" y="960"/>
                    </a:cubicBezTo>
                    <a:cubicBezTo>
                      <a:pt x="3168" y="960"/>
                      <a:pt x="3312" y="640"/>
                      <a:pt x="3456" y="480"/>
                    </a:cubicBezTo>
                    <a:cubicBezTo>
                      <a:pt x="3600" y="320"/>
                      <a:pt x="3744" y="0"/>
                      <a:pt x="3888" y="0"/>
                    </a:cubicBezTo>
                    <a:cubicBezTo>
                      <a:pt x="4032" y="0"/>
                      <a:pt x="4176" y="240"/>
                      <a:pt x="4320" y="480"/>
                    </a:cubicBezTo>
                  </a:path>
                </a:pathLst>
              </a:custGeom>
              <a:noFill/>
              <a:ln w="38100">
                <a:solidFill>
                  <a:srgbClr val="FF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13330" name="Group 9"/>
              <p:cNvGrpSpPr/>
              <p:nvPr/>
            </p:nvGrpSpPr>
            <p:grpSpPr bwMode="auto">
              <a:xfrm>
                <a:off x="2812" y="3430"/>
                <a:ext cx="2462" cy="183"/>
                <a:chOff x="304" y="3790"/>
                <a:chExt cx="2462" cy="183"/>
              </a:xfrm>
            </p:grpSpPr>
            <p:sp>
              <p:nvSpPr>
                <p:cNvPr id="13352" name="Freeform 10"/>
                <p:cNvSpPr/>
                <p:nvPr/>
              </p:nvSpPr>
              <p:spPr bwMode="auto">
                <a:xfrm flipV="1">
                  <a:off x="304" y="3790"/>
                  <a:ext cx="492" cy="183"/>
                </a:xfrm>
                <a:custGeom>
                  <a:avLst/>
                  <a:gdLst>
                    <a:gd name="T0" fmla="*/ 0 w 864"/>
                    <a:gd name="T1" fmla="*/ 0 h 480"/>
                    <a:gd name="T2" fmla="*/ 80 w 864"/>
                    <a:gd name="T3" fmla="*/ 27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3353" name="Freeform 11"/>
                <p:cNvSpPr/>
                <p:nvPr/>
              </p:nvSpPr>
              <p:spPr bwMode="auto">
                <a:xfrm flipV="1">
                  <a:off x="1289" y="3790"/>
                  <a:ext cx="492" cy="183"/>
                </a:xfrm>
                <a:custGeom>
                  <a:avLst/>
                  <a:gdLst>
                    <a:gd name="T0" fmla="*/ 0 w 864"/>
                    <a:gd name="T1" fmla="*/ 0 h 480"/>
                    <a:gd name="T2" fmla="*/ 80 w 864"/>
                    <a:gd name="T3" fmla="*/ 27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3354" name="Freeform 12"/>
                <p:cNvSpPr/>
                <p:nvPr/>
              </p:nvSpPr>
              <p:spPr bwMode="auto">
                <a:xfrm flipV="1">
                  <a:off x="2274" y="3790"/>
                  <a:ext cx="492" cy="183"/>
                </a:xfrm>
                <a:custGeom>
                  <a:avLst/>
                  <a:gdLst>
                    <a:gd name="T0" fmla="*/ 0 w 864"/>
                    <a:gd name="T1" fmla="*/ 0 h 480"/>
                    <a:gd name="T2" fmla="*/ 80 w 864"/>
                    <a:gd name="T3" fmla="*/ 27 h 480"/>
                    <a:gd name="T4" fmla="*/ 159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grpSp>
          <p:grpSp>
            <p:nvGrpSpPr>
              <p:cNvPr id="13331" name="Group 13"/>
              <p:cNvGrpSpPr/>
              <p:nvPr/>
            </p:nvGrpSpPr>
            <p:grpSpPr bwMode="auto">
              <a:xfrm>
                <a:off x="3304" y="3430"/>
                <a:ext cx="1478" cy="183"/>
                <a:chOff x="796" y="3790"/>
                <a:chExt cx="1478" cy="183"/>
              </a:xfrm>
            </p:grpSpPr>
            <p:sp>
              <p:nvSpPr>
                <p:cNvPr id="13350" name="Freeform 14"/>
                <p:cNvSpPr/>
                <p:nvPr/>
              </p:nvSpPr>
              <p:spPr bwMode="auto">
                <a:xfrm flipV="1">
                  <a:off x="796" y="3790"/>
                  <a:ext cx="493" cy="183"/>
                </a:xfrm>
                <a:custGeom>
                  <a:avLst/>
                  <a:gdLst>
                    <a:gd name="T0" fmla="*/ 0 w 864"/>
                    <a:gd name="T1" fmla="*/ 0 h 480"/>
                    <a:gd name="T2" fmla="*/ 80 w 864"/>
                    <a:gd name="T3" fmla="*/ 27 h 480"/>
                    <a:gd name="T4" fmla="*/ 160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3351" name="Freeform 15"/>
                <p:cNvSpPr/>
                <p:nvPr/>
              </p:nvSpPr>
              <p:spPr bwMode="auto">
                <a:xfrm flipV="1">
                  <a:off x="1781" y="3790"/>
                  <a:ext cx="493" cy="183"/>
                </a:xfrm>
                <a:custGeom>
                  <a:avLst/>
                  <a:gdLst>
                    <a:gd name="T0" fmla="*/ 0 w 864"/>
                    <a:gd name="T1" fmla="*/ 0 h 480"/>
                    <a:gd name="T2" fmla="*/ 80 w 864"/>
                    <a:gd name="T3" fmla="*/ 27 h 480"/>
                    <a:gd name="T4" fmla="*/ 160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grpSp>
          <p:sp>
            <p:nvSpPr>
              <p:cNvPr id="13332" name="Line 16"/>
              <p:cNvSpPr>
                <a:spLocks noChangeShapeType="1"/>
              </p:cNvSpPr>
              <p:nvPr/>
            </p:nvSpPr>
            <p:spPr bwMode="auto">
              <a:xfrm>
                <a:off x="3292" y="2992"/>
                <a:ext cx="0" cy="80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3" name="Line 17"/>
              <p:cNvSpPr>
                <a:spLocks noChangeShapeType="1"/>
              </p:cNvSpPr>
              <p:nvPr/>
            </p:nvSpPr>
            <p:spPr bwMode="auto">
              <a:xfrm>
                <a:off x="3798" y="3028"/>
                <a:ext cx="0" cy="72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4" name="Line 18"/>
              <p:cNvSpPr>
                <a:spLocks noChangeShapeType="1"/>
              </p:cNvSpPr>
              <p:nvPr/>
            </p:nvSpPr>
            <p:spPr bwMode="auto">
              <a:xfrm>
                <a:off x="4280" y="3028"/>
                <a:ext cx="0" cy="74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5" name="Line 19"/>
              <p:cNvSpPr>
                <a:spLocks noChangeShapeType="1"/>
              </p:cNvSpPr>
              <p:nvPr/>
            </p:nvSpPr>
            <p:spPr bwMode="auto">
              <a:xfrm>
                <a:off x="4784" y="3028"/>
                <a:ext cx="12" cy="72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6" name="Line 20"/>
              <p:cNvSpPr>
                <a:spLocks noChangeShapeType="1"/>
              </p:cNvSpPr>
              <p:nvPr/>
            </p:nvSpPr>
            <p:spPr bwMode="auto">
              <a:xfrm>
                <a:off x="5274" y="3004"/>
                <a:ext cx="0" cy="792"/>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337" name="Group 21"/>
              <p:cNvGrpSpPr/>
              <p:nvPr/>
            </p:nvGrpSpPr>
            <p:grpSpPr bwMode="auto">
              <a:xfrm>
                <a:off x="2508" y="2526"/>
                <a:ext cx="3147" cy="693"/>
                <a:chOff x="2508" y="2526"/>
                <a:chExt cx="3147" cy="693"/>
              </a:xfrm>
            </p:grpSpPr>
            <p:grpSp>
              <p:nvGrpSpPr>
                <p:cNvPr id="13344" name="Group 22"/>
                <p:cNvGrpSpPr/>
                <p:nvPr/>
              </p:nvGrpSpPr>
              <p:grpSpPr bwMode="auto">
                <a:xfrm>
                  <a:off x="2508" y="2526"/>
                  <a:ext cx="3147" cy="570"/>
                  <a:chOff x="2508" y="2526"/>
                  <a:chExt cx="3147" cy="570"/>
                </a:xfrm>
              </p:grpSpPr>
              <p:grpSp>
                <p:nvGrpSpPr>
                  <p:cNvPr id="13346" name="Group 23"/>
                  <p:cNvGrpSpPr/>
                  <p:nvPr/>
                </p:nvGrpSpPr>
                <p:grpSpPr bwMode="auto">
                  <a:xfrm>
                    <a:off x="2812" y="2705"/>
                    <a:ext cx="2577" cy="311"/>
                    <a:chOff x="304" y="2441"/>
                    <a:chExt cx="2577" cy="311"/>
                  </a:xfrm>
                </p:grpSpPr>
                <p:sp>
                  <p:nvSpPr>
                    <p:cNvPr id="13348" name="Line 24"/>
                    <p:cNvSpPr>
                      <a:spLocks noChangeShapeType="1"/>
                    </p:cNvSpPr>
                    <p:nvPr/>
                  </p:nvSpPr>
                  <p:spPr bwMode="auto">
                    <a:xfrm flipV="1">
                      <a:off x="304" y="2441"/>
                      <a:ext cx="0" cy="311"/>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9" name="Line 25"/>
                    <p:cNvSpPr>
                      <a:spLocks noChangeShapeType="1"/>
                    </p:cNvSpPr>
                    <p:nvPr/>
                  </p:nvSpPr>
                  <p:spPr bwMode="auto">
                    <a:xfrm>
                      <a:off x="304" y="2740"/>
                      <a:ext cx="2577" cy="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347" name="Text Box 26"/>
                  <p:cNvSpPr txBox="1">
                    <a:spLocks noChangeArrowheads="1"/>
                  </p:cNvSpPr>
                  <p:nvPr/>
                </p:nvSpPr>
                <p:spPr bwMode="auto">
                  <a:xfrm>
                    <a:off x="2508" y="2526"/>
                    <a:ext cx="3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aphicFrame>
                <p:nvGraphicFramePr>
                  <p:cNvPr id="13320" name="Object 8"/>
                  <p:cNvGraphicFramePr>
                    <a:graphicFrameLocks noChangeAspect="1"/>
                  </p:cNvGraphicFramePr>
                  <p:nvPr/>
                </p:nvGraphicFramePr>
                <p:xfrm>
                  <a:off x="5452" y="2966"/>
                  <a:ext cx="203" cy="130"/>
                </p:xfrm>
                <a:graphic>
                  <a:graphicData uri="http://schemas.openxmlformats.org/presentationml/2006/ole">
                    <mc:AlternateContent xmlns:mc="http://schemas.openxmlformats.org/markup-compatibility/2006">
                      <mc:Choice xmlns:v="urn:schemas-microsoft-com:vml" Requires="v">
                        <p:oleObj spid="_x0000_s13517" name="公式" r:id="rId3" imgW="254000" imgH="203200" progId="Equation.3">
                          <p:embed/>
                        </p:oleObj>
                      </mc:Choice>
                      <mc:Fallback>
                        <p:oleObj name="公式" r:id="rId3" imgW="254000" imgH="2032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2" y="2966"/>
                                <a:ext cx="20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13345" name="Text Box 28"/>
                <p:cNvSpPr txBox="1">
                  <a:spLocks noChangeArrowheads="1"/>
                </p:cNvSpPr>
                <p:nvPr/>
              </p:nvSpPr>
              <p:spPr bwMode="auto">
                <a:xfrm>
                  <a:off x="2626" y="2889"/>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cs typeface="Times New Roman" panose="02020603050405020304" pitchFamily="18" charset="0"/>
                    </a:rPr>
                    <a:t>0</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grpSp>
          <p:grpSp>
            <p:nvGrpSpPr>
              <p:cNvPr id="13338" name="Group 29"/>
              <p:cNvGrpSpPr/>
              <p:nvPr/>
            </p:nvGrpSpPr>
            <p:grpSpPr bwMode="auto">
              <a:xfrm>
                <a:off x="2511" y="3149"/>
                <a:ext cx="3108" cy="694"/>
                <a:chOff x="2511" y="3581"/>
                <a:chExt cx="3108" cy="694"/>
              </a:xfrm>
            </p:grpSpPr>
            <p:grpSp>
              <p:nvGrpSpPr>
                <p:cNvPr id="13339" name="Group 30"/>
                <p:cNvGrpSpPr/>
                <p:nvPr/>
              </p:nvGrpSpPr>
              <p:grpSpPr bwMode="auto">
                <a:xfrm>
                  <a:off x="2788" y="3769"/>
                  <a:ext cx="2577" cy="386"/>
                  <a:chOff x="304" y="3433"/>
                  <a:chExt cx="2577" cy="386"/>
                </a:xfrm>
              </p:grpSpPr>
              <p:sp>
                <p:nvSpPr>
                  <p:cNvPr id="13342" name="Line 31"/>
                  <p:cNvSpPr>
                    <a:spLocks noChangeShapeType="1"/>
                  </p:cNvSpPr>
                  <p:nvPr/>
                </p:nvSpPr>
                <p:spPr bwMode="auto">
                  <a:xfrm flipV="1">
                    <a:off x="304" y="3433"/>
                    <a:ext cx="0" cy="38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3" name="Line 32"/>
                  <p:cNvSpPr>
                    <a:spLocks noChangeShapeType="1"/>
                  </p:cNvSpPr>
                  <p:nvPr/>
                </p:nvSpPr>
                <p:spPr bwMode="auto">
                  <a:xfrm>
                    <a:off x="304" y="3708"/>
                    <a:ext cx="2577" cy="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3319" name="Object 7"/>
                <p:cNvGraphicFramePr>
                  <a:graphicFrameLocks noChangeAspect="1"/>
                </p:cNvGraphicFramePr>
                <p:nvPr/>
              </p:nvGraphicFramePr>
              <p:xfrm>
                <a:off x="5416" y="3990"/>
                <a:ext cx="203" cy="129"/>
              </p:xfrm>
              <a:graphic>
                <a:graphicData uri="http://schemas.openxmlformats.org/presentationml/2006/ole">
                  <mc:AlternateContent xmlns:mc="http://schemas.openxmlformats.org/markup-compatibility/2006">
                    <mc:Choice xmlns:v="urn:schemas-microsoft-com:vml" Requires="v">
                      <p:oleObj spid="_x0000_s13518" name="公式" r:id="rId5" imgW="254000" imgH="203200" progId="Equation.3">
                        <p:embed/>
                      </p:oleObj>
                    </mc:Choice>
                    <mc:Fallback>
                      <p:oleObj name="公式" r:id="rId5" imgW="254000" imgH="203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6" y="3990"/>
                              <a:ext cx="20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340" name="Text Box 34"/>
                <p:cNvSpPr txBox="1">
                  <a:spLocks noChangeArrowheads="1"/>
                </p:cNvSpPr>
                <p:nvPr/>
              </p:nvSpPr>
              <p:spPr bwMode="auto">
                <a:xfrm>
                  <a:off x="2511" y="3581"/>
                  <a:ext cx="28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o</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3341" name="Text Box 35"/>
                <p:cNvSpPr txBox="1">
                  <a:spLocks noChangeArrowheads="1"/>
                </p:cNvSpPr>
                <p:nvPr/>
              </p:nvSpPr>
              <p:spPr bwMode="auto">
                <a:xfrm>
                  <a:off x="2602" y="3945"/>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cs typeface="Times New Roman" panose="02020603050405020304" pitchFamily="18" charset="0"/>
                    </a:rPr>
                    <a:t>0</a:t>
                  </a:r>
                  <a:endParaRPr kumimoji="1" lang="en-US" altLang="zh-CN" sz="2800" b="1">
                    <a:solidFill>
                      <a:schemeClr val="tx2"/>
                    </a:solidFill>
                    <a:latin typeface="Times New Roman" panose="02020603050405020304" pitchFamily="18" charset="0"/>
                    <a:cs typeface="Times New Roman" panose="02020603050405020304" pitchFamily="18" charset="0"/>
                  </a:endParaRPr>
                </a:p>
              </p:txBody>
            </p:sp>
          </p:grpSp>
        </p:grpSp>
        <p:graphicFrame>
          <p:nvGraphicFramePr>
            <p:cNvPr id="13318" name="Object 6"/>
            <p:cNvGraphicFramePr>
              <a:graphicFrameLocks noChangeAspect="1"/>
            </p:cNvGraphicFramePr>
            <p:nvPr/>
          </p:nvGraphicFramePr>
          <p:xfrm>
            <a:off x="797" y="488"/>
            <a:ext cx="1299" cy="288"/>
          </p:xfrm>
          <a:graphic>
            <a:graphicData uri="http://schemas.openxmlformats.org/presentationml/2006/ole">
              <mc:AlternateContent xmlns:mc="http://schemas.openxmlformats.org/markup-compatibility/2006">
                <mc:Choice xmlns:v="urn:schemas-microsoft-com:vml" Requires="v">
                  <p:oleObj spid="_x0000_s13519" name="Equation" r:id="rId7" imgW="1524000" imgH="342900" progId="Equation.DSMT4">
                    <p:embed/>
                  </p:oleObj>
                </mc:Choice>
                <mc:Fallback>
                  <p:oleObj name="Equation" r:id="rId7" imgW="1524000" imgH="3429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7" y="488"/>
                          <a:ext cx="129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8" name="Line 37"/>
            <p:cNvSpPr>
              <a:spLocks noChangeShapeType="1"/>
            </p:cNvSpPr>
            <p:nvPr/>
          </p:nvSpPr>
          <p:spPr bwMode="auto">
            <a:xfrm flipH="1">
              <a:off x="816" y="756"/>
              <a:ext cx="156" cy="12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190" name="Rectangle 38"/>
          <p:cNvSpPr>
            <a:spLocks noChangeArrowheads="1"/>
          </p:cNvSpPr>
          <p:nvPr/>
        </p:nvSpPr>
        <p:spPr bwMode="auto">
          <a:xfrm>
            <a:off x="434975" y="3340100"/>
            <a:ext cx="2646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sz="2400" b="1">
                <a:solidFill>
                  <a:schemeClr val="tx2"/>
                </a:solidFill>
                <a:latin typeface="Times New Roman" panose="02020603050405020304" pitchFamily="18" charset="0"/>
                <a:cs typeface="Times New Roman" panose="02020603050405020304" pitchFamily="18" charset="0"/>
              </a:rPr>
              <a:t>负载平均电流为：</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9191" name="Object 3"/>
          <p:cNvGraphicFramePr>
            <a:graphicFrameLocks noChangeAspect="1"/>
          </p:cNvGraphicFramePr>
          <p:nvPr/>
        </p:nvGraphicFramePr>
        <p:xfrm>
          <a:off x="2987824" y="3068960"/>
          <a:ext cx="1006475" cy="776288"/>
        </p:xfrm>
        <a:graphic>
          <a:graphicData uri="http://schemas.openxmlformats.org/presentationml/2006/ole">
            <mc:AlternateContent xmlns:mc="http://schemas.openxmlformats.org/markup-compatibility/2006">
              <mc:Choice xmlns:v="urn:schemas-microsoft-com:vml" Requires="v">
                <p:oleObj spid="_x0000_s13520" name="Equation" r:id="rId9" imgW="749300" imgH="571500" progId="Equation.DSMT4">
                  <p:embed/>
                </p:oleObj>
              </mc:Choice>
              <mc:Fallback>
                <p:oleObj name="Equation" r:id="rId9" imgW="749300" imgH="57150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7824" y="3068960"/>
                        <a:ext cx="1006475" cy="776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92" name="Rectangle 40"/>
          <p:cNvSpPr>
            <a:spLocks noChangeArrowheads="1"/>
          </p:cNvSpPr>
          <p:nvPr/>
        </p:nvSpPr>
        <p:spPr bwMode="auto">
          <a:xfrm>
            <a:off x="358775" y="3779838"/>
            <a:ext cx="6362700"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每个二极管中流过的电流是负载电流的一半。选择整流二极管要求最大整流电流满足：</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9193" name="Object 4"/>
          <p:cNvGraphicFramePr>
            <a:graphicFrameLocks noChangeAspect="1"/>
          </p:cNvGraphicFramePr>
          <p:nvPr/>
        </p:nvGraphicFramePr>
        <p:xfrm>
          <a:off x="6553200" y="3835400"/>
          <a:ext cx="2335213" cy="922338"/>
        </p:xfrm>
        <a:graphic>
          <a:graphicData uri="http://schemas.openxmlformats.org/presentationml/2006/ole">
            <mc:AlternateContent xmlns:mc="http://schemas.openxmlformats.org/markup-compatibility/2006">
              <mc:Choice xmlns:v="urn:schemas-microsoft-com:vml" Requires="v">
                <p:oleObj spid="_x0000_s13521" name="Equation" r:id="rId11" imgW="1460500" imgH="571500" progId="Equation.DSMT4">
                  <p:embed/>
                </p:oleObj>
              </mc:Choice>
              <mc:Fallback>
                <p:oleObj name="Equation" r:id="rId11" imgW="1460500" imgH="571500" progId="Equation.DSMT4">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53200" y="3835400"/>
                        <a:ext cx="2335213"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94" name="Text Box 42"/>
          <p:cNvSpPr txBox="1">
            <a:spLocks noChangeArrowheads="1"/>
          </p:cNvSpPr>
          <p:nvPr/>
        </p:nvSpPr>
        <p:spPr bwMode="auto">
          <a:xfrm>
            <a:off x="396875" y="4784725"/>
            <a:ext cx="8629650"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一对二极管在反向截止时，每个管子承受的电压都是变压器二次电压的峰值，选择整流二极管时要求反向工作峰值电压满足：</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9195" name="Object 5"/>
          <p:cNvGraphicFramePr>
            <a:graphicFrameLocks noChangeAspect="1"/>
          </p:cNvGraphicFramePr>
          <p:nvPr/>
        </p:nvGraphicFramePr>
        <p:xfrm>
          <a:off x="1252538" y="5808663"/>
          <a:ext cx="2757487" cy="522287"/>
        </p:xfrm>
        <a:graphic>
          <a:graphicData uri="http://schemas.openxmlformats.org/presentationml/2006/ole">
            <mc:AlternateContent xmlns:mc="http://schemas.openxmlformats.org/markup-compatibility/2006">
              <mc:Choice xmlns:v="urn:schemas-microsoft-com:vml" Requires="v">
                <p:oleObj spid="_x0000_s13522" name="Equation" r:id="rId13" imgW="1778000" imgH="342900" progId="Equation.DSMT4">
                  <p:embed/>
                </p:oleObj>
              </mc:Choice>
              <mc:Fallback>
                <p:oleObj name="Equation" r:id="rId13" imgW="1778000" imgH="342900" progId="Equation.DSMT4">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2538" y="5808663"/>
                        <a:ext cx="2757487"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9156"/>
                                        </p:tgtEl>
                                        <p:attrNameLst>
                                          <p:attrName>style.visibility</p:attrName>
                                        </p:attrNameLst>
                                      </p:cBhvr>
                                      <p:to>
                                        <p:strVal val="visible"/>
                                      </p:to>
                                    </p:set>
                                    <p:animEffect transition="in" filter="wipe(left)">
                                      <p:cBhvr>
                                        <p:cTn id="12" dur="75"/>
                                        <p:tgtEl>
                                          <p:spTgt spid="49156"/>
                                        </p:tgtEl>
                                      </p:cBhvr>
                                    </p:animEffect>
                                  </p:childTnLst>
                                </p:cTn>
                              </p:par>
                            </p:childTnLst>
                          </p:cTn>
                        </p:par>
                        <p:par>
                          <p:cTn id="13" fill="hold">
                            <p:stCondLst>
                              <p:cond delay="1200"/>
                            </p:stCondLst>
                            <p:childTnLst>
                              <p:par>
                                <p:cTn id="14" presetID="22" presetClass="entr" presetSubtype="8" fill="hold" nodeType="afterEffect">
                                  <p:stCondLst>
                                    <p:cond delay="0"/>
                                  </p:stCondLst>
                                  <p:childTnLst>
                                    <p:set>
                                      <p:cBhvr>
                                        <p:cTn id="15" dur="1" fill="hold">
                                          <p:stCondLst>
                                            <p:cond delay="0"/>
                                          </p:stCondLst>
                                        </p:cTn>
                                        <p:tgtEl>
                                          <p:spTgt spid="49157"/>
                                        </p:tgtEl>
                                        <p:attrNameLst>
                                          <p:attrName>style.visibility</p:attrName>
                                        </p:attrNameLst>
                                      </p:cBhvr>
                                      <p:to>
                                        <p:strVal val="visible"/>
                                      </p:to>
                                    </p:set>
                                    <p:animEffect transition="in" filter="wipe(left)">
                                      <p:cBhvr>
                                        <p:cTn id="16" dur="500"/>
                                        <p:tgtEl>
                                          <p:spTgt spid="4915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49190"/>
                                        </p:tgtEl>
                                        <p:attrNameLst>
                                          <p:attrName>style.visibility</p:attrName>
                                        </p:attrNameLst>
                                      </p:cBhvr>
                                      <p:to>
                                        <p:strVal val="visible"/>
                                      </p:to>
                                    </p:set>
                                    <p:animEffect transition="in" filter="wipe(left)">
                                      <p:cBhvr>
                                        <p:cTn id="21" dur="75"/>
                                        <p:tgtEl>
                                          <p:spTgt spid="4919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9191"/>
                                        </p:tgtEl>
                                        <p:attrNameLst>
                                          <p:attrName>style.visibility</p:attrName>
                                        </p:attrNameLst>
                                      </p:cBhvr>
                                      <p:to>
                                        <p:strVal val="visible"/>
                                      </p:to>
                                    </p:set>
                                    <p:animEffect transition="in" filter="wipe(left)">
                                      <p:cBhvr>
                                        <p:cTn id="26" dur="500"/>
                                        <p:tgtEl>
                                          <p:spTgt spid="4919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lt">
                                    <p:tmPct val="100000"/>
                                  </p:iterate>
                                  <p:childTnLst>
                                    <p:set>
                                      <p:cBhvr>
                                        <p:cTn id="30" dur="1" fill="hold">
                                          <p:stCondLst>
                                            <p:cond delay="0"/>
                                          </p:stCondLst>
                                        </p:cTn>
                                        <p:tgtEl>
                                          <p:spTgt spid="49192"/>
                                        </p:tgtEl>
                                        <p:attrNameLst>
                                          <p:attrName>style.visibility</p:attrName>
                                        </p:attrNameLst>
                                      </p:cBhvr>
                                      <p:to>
                                        <p:strVal val="visible"/>
                                      </p:to>
                                    </p:set>
                                    <p:animEffect transition="in" filter="wipe(left)">
                                      <p:cBhvr>
                                        <p:cTn id="31" dur="75"/>
                                        <p:tgtEl>
                                          <p:spTgt spid="49192"/>
                                        </p:tgtEl>
                                      </p:cBhvr>
                                    </p:animEffect>
                                  </p:childTnLst>
                                </p:cTn>
                              </p:par>
                            </p:childTnLst>
                          </p:cTn>
                        </p:par>
                        <p:par>
                          <p:cTn id="32" fill="hold">
                            <p:stCondLst>
                              <p:cond delay="2850"/>
                            </p:stCondLst>
                            <p:childTnLst>
                              <p:par>
                                <p:cTn id="33" presetID="22" presetClass="entr" presetSubtype="8" fill="hold" nodeType="afterEffect">
                                  <p:stCondLst>
                                    <p:cond delay="0"/>
                                  </p:stCondLst>
                                  <p:childTnLst>
                                    <p:set>
                                      <p:cBhvr>
                                        <p:cTn id="34" dur="1" fill="hold">
                                          <p:stCondLst>
                                            <p:cond delay="0"/>
                                          </p:stCondLst>
                                        </p:cTn>
                                        <p:tgtEl>
                                          <p:spTgt spid="49193"/>
                                        </p:tgtEl>
                                        <p:attrNameLst>
                                          <p:attrName>style.visibility</p:attrName>
                                        </p:attrNameLst>
                                      </p:cBhvr>
                                      <p:to>
                                        <p:strVal val="visible"/>
                                      </p:to>
                                    </p:set>
                                    <p:animEffect transition="in" filter="wipe(left)">
                                      <p:cBhvr>
                                        <p:cTn id="35" dur="500"/>
                                        <p:tgtEl>
                                          <p:spTgt spid="4919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iterate type="lt">
                                    <p:tmPct val="100000"/>
                                  </p:iterate>
                                  <p:childTnLst>
                                    <p:set>
                                      <p:cBhvr>
                                        <p:cTn id="39" dur="1" fill="hold">
                                          <p:stCondLst>
                                            <p:cond delay="0"/>
                                          </p:stCondLst>
                                        </p:cTn>
                                        <p:tgtEl>
                                          <p:spTgt spid="49194"/>
                                        </p:tgtEl>
                                        <p:attrNameLst>
                                          <p:attrName>style.visibility</p:attrName>
                                        </p:attrNameLst>
                                      </p:cBhvr>
                                      <p:to>
                                        <p:strVal val="visible"/>
                                      </p:to>
                                    </p:set>
                                    <p:animEffect transition="in" filter="wipe(left)">
                                      <p:cBhvr>
                                        <p:cTn id="40" dur="75"/>
                                        <p:tgtEl>
                                          <p:spTgt spid="49194"/>
                                        </p:tgtEl>
                                      </p:cBhvr>
                                    </p:animEffect>
                                  </p:childTnLst>
                                </p:cTn>
                              </p:par>
                            </p:childTnLst>
                          </p:cTn>
                        </p:par>
                        <p:par>
                          <p:cTn id="41" fill="hold">
                            <p:stCondLst>
                              <p:cond delay="4125"/>
                            </p:stCondLst>
                            <p:childTnLst>
                              <p:par>
                                <p:cTn id="42" presetID="22" presetClass="entr" presetSubtype="8" fill="hold" nodeType="afterEffect">
                                  <p:stCondLst>
                                    <p:cond delay="0"/>
                                  </p:stCondLst>
                                  <p:childTnLst>
                                    <p:set>
                                      <p:cBhvr>
                                        <p:cTn id="43" dur="1" fill="hold">
                                          <p:stCondLst>
                                            <p:cond delay="0"/>
                                          </p:stCondLst>
                                        </p:cTn>
                                        <p:tgtEl>
                                          <p:spTgt spid="49195"/>
                                        </p:tgtEl>
                                        <p:attrNameLst>
                                          <p:attrName>style.visibility</p:attrName>
                                        </p:attrNameLst>
                                      </p:cBhvr>
                                      <p:to>
                                        <p:strVal val="visible"/>
                                      </p:to>
                                    </p:set>
                                    <p:animEffect transition="in" filter="wipe(left)">
                                      <p:cBhvr>
                                        <p:cTn id="44" dur="500"/>
                                        <p:tgtEl>
                                          <p:spTgt spid="49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utoUpdateAnimBg="0"/>
      <p:bldP spid="49190" grpId="0" autoUpdateAnimBg="0"/>
      <p:bldP spid="49192" grpId="0" autoUpdateAnimBg="0"/>
      <p:bldP spid="49194"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5</a:t>
            </a:r>
            <a:r>
              <a:rPr lang="zh-CN" altLang="en-US" sz="3600" smtClean="0">
                <a:ea typeface="楷体_GB2312" pitchFamily="49" charset="-122"/>
              </a:rPr>
              <a:t>）</a:t>
            </a:r>
            <a:endParaRPr lang="zh-CN" altLang="en-US" sz="3600" smtClean="0">
              <a:ea typeface="楷体_GB2312" pitchFamily="49" charset="-122"/>
            </a:endParaRPr>
          </a:p>
        </p:txBody>
      </p:sp>
      <p:pic>
        <p:nvPicPr>
          <p:cNvPr id="53251" name="Picture 5">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188" y="1285875"/>
            <a:ext cx="7026275"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53252" name="Rectangle 6"/>
          <p:cNvSpPr>
            <a:spLocks noChangeArrowheads="1"/>
          </p:cNvSpPr>
          <p:nvPr/>
        </p:nvSpPr>
        <p:spPr bwMode="auto">
          <a:xfrm>
            <a:off x="1203325" y="842963"/>
            <a:ext cx="70342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lang="zh-CN" altLang="en-US" sz="2400" b="1" dirty="0">
                <a:solidFill>
                  <a:schemeClr val="tx2"/>
                </a:solidFill>
              </a:rPr>
              <a:t>利用</a:t>
            </a:r>
            <a:r>
              <a:rPr lang="en-US" altLang="zh-CN" sz="2400" b="1" dirty="0">
                <a:solidFill>
                  <a:schemeClr val="tx2"/>
                </a:solidFill>
              </a:rPr>
              <a:t>Multisim</a:t>
            </a:r>
            <a:r>
              <a:rPr lang="zh-CN" altLang="en-US" sz="2400" b="1" dirty="0">
                <a:solidFill>
                  <a:schemeClr val="tx2"/>
                </a:solidFill>
              </a:rPr>
              <a:t>观察单相桥式全波整流电路工作波形</a:t>
            </a:r>
            <a:endParaRPr lang="zh-CN" altLang="en-US" sz="2400" b="1" dirty="0">
              <a:solidFill>
                <a:schemeClr val="tx2"/>
              </a:solidFill>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6</a:t>
            </a:r>
            <a:r>
              <a:rPr lang="zh-CN" altLang="en-US" sz="3600" smtClean="0">
                <a:ea typeface="楷体_GB2312" pitchFamily="49" charset="-122"/>
              </a:rPr>
              <a:t>）</a:t>
            </a:r>
            <a:endParaRPr lang="zh-CN" altLang="en-US" sz="3600" smtClean="0">
              <a:ea typeface="楷体_GB2312" pitchFamily="49" charset="-122"/>
            </a:endParaRPr>
          </a:p>
        </p:txBody>
      </p:sp>
      <p:sp>
        <p:nvSpPr>
          <p:cNvPr id="54275" name="Rectangle 3"/>
          <p:cNvSpPr>
            <a:spLocks noGrp="1" noChangeArrowheads="1"/>
          </p:cNvSpPr>
          <p:nvPr>
            <p:ph sz="quarter" idx="11"/>
          </p:nvPr>
        </p:nvSpPr>
        <p:spPr/>
        <p:txBody>
          <a:bodyPr/>
          <a:lstStyle/>
          <a:p>
            <a:pPr marL="0" indent="0" eaLnBrk="1" hangingPunct="1">
              <a:lnSpc>
                <a:spcPct val="120000"/>
              </a:lnSpc>
              <a:spcBef>
                <a:spcPct val="0"/>
              </a:spcBef>
            </a:pPr>
            <a:r>
              <a:rPr lang="en-US" altLang="zh-CN" dirty="0" smtClean="0">
                <a:latin typeface="宋体" panose="02010600030101010101" pitchFamily="2" charset="-122"/>
                <a:ea typeface="宋体" panose="02010600030101010101" pitchFamily="2" charset="-122"/>
              </a:rPr>
              <a:t> </a:t>
            </a:r>
            <a:r>
              <a:rPr lang="zh-CN" altLang="en-US" dirty="0" smtClean="0">
                <a:latin typeface="宋体" panose="02010600030101010101" pitchFamily="2" charset="-122"/>
                <a:ea typeface="宋体" panose="02010600030101010101" pitchFamily="2" charset="-122"/>
              </a:rPr>
              <a:t>三相桥式整流电路</a:t>
            </a:r>
            <a:endParaRPr lang="zh-CN" altLang="en-US" dirty="0" smtClean="0">
              <a:latin typeface="宋体" panose="02010600030101010101" pitchFamily="2" charset="-122"/>
              <a:ea typeface="宋体" panose="02010600030101010101" pitchFamily="2" charset="-122"/>
            </a:endParaRPr>
          </a:p>
          <a:p>
            <a:pPr marL="179705" lvl="1" indent="278130" eaLnBrk="1" hangingPunct="1">
              <a:lnSpc>
                <a:spcPct val="120000"/>
              </a:lnSpc>
              <a:spcBef>
                <a:spcPct val="0"/>
              </a:spcBef>
              <a:buFont typeface="Wingdings" panose="05000000000000000000" pitchFamily="2" charset="2"/>
              <a:buNone/>
            </a:pPr>
            <a:r>
              <a:rPr lang="zh-CN" altLang="en-US" sz="2400" dirty="0" smtClean="0">
                <a:latin typeface="宋体" panose="02010600030101010101" pitchFamily="2" charset="-122"/>
                <a:ea typeface="宋体" panose="02010600030101010101" pitchFamily="2" charset="-122"/>
              </a:rPr>
              <a:t>单相整流电路功率一般为几瓦到几百瓦，常用在电子仪器中。对于大功率整流（如上千瓦以上），如果仍采用单相整流电路，会造成三相电网负载不平衡，影响供电质量，因此常采用三相整流电路。在某些场合，虽然整流功率不大，但要求整流电压脉动成分更少，也采用三相整流电路。其中三相桥式整流电路较常用。</a:t>
            </a:r>
            <a:endParaRPr lang="zh-CN" altLang="en-US" sz="2400" dirty="0" smtClean="0">
              <a:latin typeface="宋体" panose="02010600030101010101" pitchFamily="2" charset="-122"/>
              <a:ea typeface="宋体" panose="02010600030101010101" pitchFamily="2" charset="-122"/>
            </a:endParaRPr>
          </a:p>
          <a:p>
            <a:pPr marL="179705" lvl="1" indent="278130" eaLnBrk="1" hangingPunct="1">
              <a:lnSpc>
                <a:spcPct val="120000"/>
              </a:lnSpc>
              <a:spcBef>
                <a:spcPct val="0"/>
              </a:spcBef>
              <a:buFont typeface="Wingdings" panose="05000000000000000000" pitchFamily="2" charset="2"/>
              <a:buNone/>
            </a:pPr>
            <a:r>
              <a:rPr lang="zh-CN" altLang="en-US" sz="2400" dirty="0" smtClean="0">
                <a:latin typeface="宋体" panose="02010600030101010101" pitchFamily="2" charset="-122"/>
                <a:ea typeface="宋体" panose="02010600030101010101" pitchFamily="2" charset="-122"/>
              </a:rPr>
              <a:t>三相交流电源经三相变压器，接到三相桥式整流电路，变压器副边采用星形联结，三相桥式整流电路由六只二极管分成两组构成，第一组采用共阴极接法，第二组采用共阳极接法，在同一时间内各组中仅有一个二极管导通。</a:t>
            </a:r>
            <a:endParaRPr lang="zh-CN" altLang="en-US" sz="2400" dirty="0" smtClean="0">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7</a:t>
            </a:r>
            <a:r>
              <a:rPr lang="zh-CN" altLang="en-US" sz="3600" smtClean="0">
                <a:ea typeface="楷体_GB2312" pitchFamily="49" charset="-122"/>
              </a:rPr>
              <a:t>）</a:t>
            </a:r>
            <a:endParaRPr lang="zh-CN" altLang="en-US" sz="3600" smtClean="0">
              <a:ea typeface="楷体_GB2312" pitchFamily="49" charset="-122"/>
            </a:endParaRPr>
          </a:p>
        </p:txBody>
      </p:sp>
      <p:pic>
        <p:nvPicPr>
          <p:cNvPr id="55299"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95425" y="791170"/>
            <a:ext cx="626745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2232" name="Rectangle 8"/>
          <p:cNvSpPr>
            <a:spLocks noChangeArrowheads="1"/>
          </p:cNvSpPr>
          <p:nvPr/>
        </p:nvSpPr>
        <p:spPr bwMode="auto">
          <a:xfrm>
            <a:off x="4684713" y="3435945"/>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zh-CN" altLang="en-US" sz="2400" b="1">
                <a:solidFill>
                  <a:srgbClr val="003399"/>
                </a:solidFill>
              </a:rPr>
              <a:t>共阳极组</a:t>
            </a:r>
            <a:endParaRPr kumimoji="1" lang="zh-CN" altLang="en-US" sz="2400" b="1">
              <a:solidFill>
                <a:srgbClr val="003399"/>
              </a:solidFill>
            </a:endParaRPr>
          </a:p>
        </p:txBody>
      </p:sp>
      <p:sp>
        <p:nvSpPr>
          <p:cNvPr id="52233" name="Rectangle 9"/>
          <p:cNvSpPr>
            <a:spLocks noChangeArrowheads="1"/>
          </p:cNvSpPr>
          <p:nvPr/>
        </p:nvSpPr>
        <p:spPr bwMode="auto">
          <a:xfrm>
            <a:off x="4767263" y="91916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kumimoji="1" lang="zh-CN" altLang="en-US" sz="2400" b="1">
                <a:solidFill>
                  <a:srgbClr val="FF3300"/>
                </a:solidFill>
              </a:rPr>
              <a:t>共阴极组</a:t>
            </a:r>
            <a:endParaRPr kumimoji="1" lang="zh-CN" altLang="en-US" sz="2400" b="1">
              <a:solidFill>
                <a:srgbClr val="FF3300"/>
              </a:solidFill>
            </a:endParaRPr>
          </a:p>
        </p:txBody>
      </p:sp>
      <p:sp>
        <p:nvSpPr>
          <p:cNvPr id="52234" name="Rectangle 10"/>
          <p:cNvSpPr>
            <a:spLocks noChangeArrowheads="1"/>
          </p:cNvSpPr>
          <p:nvPr/>
        </p:nvSpPr>
        <p:spPr bwMode="auto">
          <a:xfrm>
            <a:off x="622300" y="4001095"/>
            <a:ext cx="80930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lgn="just">
              <a:lnSpc>
                <a:spcPct val="15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变压器二次侧为三相对称电压</a:t>
            </a:r>
            <a:r>
              <a:rPr kumimoji="1" lang="en-US" altLang="zh-CN" sz="2400" b="1" i="1" dirty="0" err="1">
                <a:solidFill>
                  <a:schemeClr val="tx2"/>
                </a:solidFill>
                <a:latin typeface="Times New Roman" panose="02020603050405020304" pitchFamily="18" charset="0"/>
                <a:cs typeface="Times New Roman" panose="02020603050405020304" pitchFamily="18" charset="0"/>
              </a:rPr>
              <a:t>u</a:t>
            </a:r>
            <a:r>
              <a:rPr kumimoji="1" lang="en-US" altLang="zh-CN" sz="2400" b="1" baseline="-25000" dirty="0" err="1">
                <a:solidFill>
                  <a:schemeClr val="tx2"/>
                </a:solidFill>
                <a:latin typeface="Times New Roman" panose="02020603050405020304" pitchFamily="18" charset="0"/>
                <a:cs typeface="Times New Roman" panose="02020603050405020304" pitchFamily="18" charset="0"/>
              </a:rPr>
              <a:t>a</a:t>
            </a:r>
            <a:r>
              <a:rPr kumimoji="1" lang="zh-CN" altLang="en-US" sz="2400" b="1" i="1" dirty="0">
                <a:solidFill>
                  <a:schemeClr val="tx2"/>
                </a:solidFill>
                <a:latin typeface="Times New Roman" panose="02020603050405020304" pitchFamily="18" charset="0"/>
                <a:cs typeface="Times New Roman" panose="02020603050405020304" pitchFamily="18" charset="0"/>
              </a:rPr>
              <a:t>、</a:t>
            </a:r>
            <a:r>
              <a:rPr kumimoji="1" lang="en-US" altLang="zh-CN" sz="2400" b="1" i="1" dirty="0" err="1">
                <a:solidFill>
                  <a:schemeClr val="tx2"/>
                </a:solidFill>
                <a:latin typeface="Times New Roman" panose="02020603050405020304" pitchFamily="18" charset="0"/>
                <a:cs typeface="Times New Roman" panose="02020603050405020304" pitchFamily="18" charset="0"/>
              </a:rPr>
              <a:t>u</a:t>
            </a:r>
            <a:r>
              <a:rPr kumimoji="1" lang="en-US" altLang="zh-CN" sz="2400" b="1" baseline="-25000" dirty="0" err="1">
                <a:solidFill>
                  <a:schemeClr val="tx2"/>
                </a:solidFill>
                <a:latin typeface="Times New Roman" panose="02020603050405020304" pitchFamily="18" charset="0"/>
                <a:cs typeface="Times New Roman" panose="02020603050405020304" pitchFamily="18" charset="0"/>
              </a:rPr>
              <a:t>b</a:t>
            </a:r>
            <a:r>
              <a:rPr kumimoji="1" lang="zh-CN" altLang="en-US" sz="2400" b="1" i="1" dirty="0">
                <a:solidFill>
                  <a:schemeClr val="tx2"/>
                </a:solidFill>
                <a:latin typeface="Times New Roman" panose="02020603050405020304" pitchFamily="18" charset="0"/>
                <a:cs typeface="Times New Roman" panose="02020603050405020304" pitchFamily="18" charset="0"/>
              </a:rPr>
              <a:t>、</a:t>
            </a:r>
            <a:r>
              <a:rPr kumimoji="1" lang="en-US" altLang="zh-CN" sz="2400" b="1" i="1" dirty="0" err="1">
                <a:solidFill>
                  <a:schemeClr val="tx2"/>
                </a:solidFill>
                <a:latin typeface="Times New Roman" panose="02020603050405020304" pitchFamily="18" charset="0"/>
                <a:cs typeface="Times New Roman" panose="02020603050405020304" pitchFamily="18" charset="0"/>
              </a:rPr>
              <a:t>u</a:t>
            </a:r>
            <a:r>
              <a:rPr kumimoji="1" lang="en-US" altLang="zh-CN" sz="2400" b="1" baseline="-25000" dirty="0" err="1">
                <a:solidFill>
                  <a:schemeClr val="tx2"/>
                </a:solidFill>
                <a:latin typeface="Times New Roman" panose="02020603050405020304" pitchFamily="18" charset="0"/>
                <a:cs typeface="Times New Roman" panose="02020603050405020304" pitchFamily="18" charset="0"/>
              </a:rPr>
              <a:t>c</a:t>
            </a:r>
            <a:r>
              <a:rPr kumimoji="1" lang="zh-CN" altLang="en-US" sz="2400" b="1" dirty="0">
                <a:solidFill>
                  <a:schemeClr val="tx2"/>
                </a:solidFill>
                <a:latin typeface="Times New Roman" panose="02020603050405020304" pitchFamily="18" charset="0"/>
                <a:cs typeface="Times New Roman" panose="02020603050405020304" pitchFamily="18" charset="0"/>
              </a:rPr>
              <a:t>，分别接在共阴极组三个二极管的阳极和共阳极组三个二极管的阴极，在每一瞬间，共阴极组中阳极电位最高的二极管导通；共阳极组中阴极电位最低的二极管导通。</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52233"/>
                                        </p:tgtEl>
                                        <p:attrNameLst>
                                          <p:attrName>style.visibility</p:attrName>
                                        </p:attrNameLst>
                                      </p:cBhvr>
                                      <p:to>
                                        <p:strVal val="visible"/>
                                      </p:to>
                                    </p:set>
                                    <p:animEffect transition="in" filter="slide(fromRight)">
                                      <p:cBhvr>
                                        <p:cTn id="7" dur="500"/>
                                        <p:tgtEl>
                                          <p:spTgt spid="5223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2232"/>
                                        </p:tgtEl>
                                        <p:attrNameLst>
                                          <p:attrName>style.visibility</p:attrName>
                                        </p:attrNameLst>
                                      </p:cBhvr>
                                      <p:to>
                                        <p:strVal val="visible"/>
                                      </p:to>
                                    </p:set>
                                    <p:animEffect transition="in" filter="slide(fromLeft)">
                                      <p:cBhvr>
                                        <p:cTn id="12" dur="500"/>
                                        <p:tgtEl>
                                          <p:spTgt spid="5223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100"/>
                                  </p:iterate>
                                  <p:childTnLst>
                                    <p:set>
                                      <p:cBhvr>
                                        <p:cTn id="16" dur="1" fill="hold">
                                          <p:stCondLst>
                                            <p:cond delay="0"/>
                                          </p:stCondLst>
                                        </p:cTn>
                                        <p:tgtEl>
                                          <p:spTgt spid="52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2" grpId="0"/>
      <p:bldP spid="52233" grpId="0"/>
      <p:bldP spid="5223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8</a:t>
            </a:r>
            <a:r>
              <a:rPr lang="zh-CN" altLang="en-US" sz="3600" smtClean="0">
                <a:ea typeface="楷体_GB2312" pitchFamily="49" charset="-122"/>
              </a:rPr>
              <a:t>）</a:t>
            </a:r>
            <a:endParaRPr lang="zh-CN" altLang="en-US" sz="3600" smtClean="0">
              <a:ea typeface="楷体_GB2312" pitchFamily="49" charset="-122"/>
            </a:endParaRPr>
          </a:p>
        </p:txBody>
      </p:sp>
      <p:pic>
        <p:nvPicPr>
          <p:cNvPr id="14341" name="Picture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1675" y="908050"/>
            <a:ext cx="3810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grpSp>
        <p:nvGrpSpPr>
          <p:cNvPr id="2" name="Group 21"/>
          <p:cNvGrpSpPr/>
          <p:nvPr/>
        </p:nvGrpSpPr>
        <p:grpSpPr bwMode="auto">
          <a:xfrm>
            <a:off x="5264150" y="654050"/>
            <a:ext cx="3635375" cy="2836863"/>
            <a:chOff x="158" y="421"/>
            <a:chExt cx="2290" cy="1787"/>
          </a:xfrm>
        </p:grpSpPr>
        <p:sp>
          <p:nvSpPr>
            <p:cNvPr id="14401" name="Text Box 22"/>
            <p:cNvSpPr txBox="1">
              <a:spLocks noChangeArrowheads="1"/>
            </p:cNvSpPr>
            <p:nvPr/>
          </p:nvSpPr>
          <p:spPr bwMode="auto">
            <a:xfrm>
              <a:off x="158" y="421"/>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i="1">
                  <a:latin typeface="Times New Roman" panose="02020603050405020304" pitchFamily="18" charset="0"/>
                  <a:cs typeface="Times New Roman" panose="02020603050405020304" pitchFamily="18" charset="0"/>
                </a:rPr>
                <a:t>u</a:t>
              </a:r>
              <a:endParaRPr lang="en-US" altLang="zh-CN" sz="2800">
                <a:latin typeface="Times New Roman" panose="02020603050405020304" pitchFamily="18" charset="0"/>
                <a:cs typeface="Times New Roman" panose="02020603050405020304" pitchFamily="18" charset="0"/>
              </a:endParaRPr>
            </a:p>
          </p:txBody>
        </p:sp>
        <p:sp>
          <p:nvSpPr>
            <p:cNvPr id="14402" name="Line 23"/>
            <p:cNvSpPr>
              <a:spLocks noChangeShapeType="1"/>
            </p:cNvSpPr>
            <p:nvPr/>
          </p:nvSpPr>
          <p:spPr bwMode="auto">
            <a:xfrm flipH="1" flipV="1">
              <a:off x="377" y="610"/>
              <a:ext cx="0" cy="1598"/>
            </a:xfrm>
            <a:prstGeom prst="line">
              <a:avLst/>
            </a:prstGeom>
            <a:noFill/>
            <a:ln w="38100">
              <a:solidFill>
                <a:schemeClr val="tx1"/>
              </a:solidFill>
              <a:round/>
              <a:tailEnd type="arrow"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03" name="Freeform 24"/>
            <p:cNvSpPr/>
            <p:nvPr/>
          </p:nvSpPr>
          <p:spPr bwMode="auto">
            <a:xfrm flipV="1">
              <a:off x="377" y="877"/>
              <a:ext cx="583" cy="597"/>
            </a:xfrm>
            <a:custGeom>
              <a:avLst/>
              <a:gdLst>
                <a:gd name="T0" fmla="*/ 0 w 864"/>
                <a:gd name="T1" fmla="*/ 0 h 480"/>
                <a:gd name="T2" fmla="*/ 133 w 864"/>
                <a:gd name="T3" fmla="*/ 924 h 480"/>
                <a:gd name="T4" fmla="*/ 265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04" name="Freeform 25"/>
            <p:cNvSpPr/>
            <p:nvPr/>
          </p:nvSpPr>
          <p:spPr bwMode="auto">
            <a:xfrm flipV="1">
              <a:off x="766" y="877"/>
              <a:ext cx="583" cy="597"/>
            </a:xfrm>
            <a:custGeom>
              <a:avLst/>
              <a:gdLst>
                <a:gd name="T0" fmla="*/ 0 w 864"/>
                <a:gd name="T1" fmla="*/ 0 h 480"/>
                <a:gd name="T2" fmla="*/ 133 w 864"/>
                <a:gd name="T3" fmla="*/ 924 h 480"/>
                <a:gd name="T4" fmla="*/ 265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339933"/>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05" name="Freeform 26"/>
            <p:cNvSpPr/>
            <p:nvPr/>
          </p:nvSpPr>
          <p:spPr bwMode="auto">
            <a:xfrm>
              <a:off x="381" y="1474"/>
              <a:ext cx="385" cy="595"/>
            </a:xfrm>
            <a:custGeom>
              <a:avLst/>
              <a:gdLst>
                <a:gd name="T0" fmla="*/ 0 w 385"/>
                <a:gd name="T1" fmla="*/ 518 h 595"/>
                <a:gd name="T2" fmla="*/ 110 w 385"/>
                <a:gd name="T3" fmla="*/ 592 h 595"/>
                <a:gd name="T4" fmla="*/ 183 w 385"/>
                <a:gd name="T5" fmla="*/ 499 h 595"/>
                <a:gd name="T6" fmla="*/ 237 w 385"/>
                <a:gd name="T7" fmla="*/ 390 h 595"/>
                <a:gd name="T8" fmla="*/ 292 w 385"/>
                <a:gd name="T9" fmla="*/ 281 h 595"/>
                <a:gd name="T10" fmla="*/ 337 w 385"/>
                <a:gd name="T11" fmla="*/ 153 h 595"/>
                <a:gd name="T12" fmla="*/ 385 w 385"/>
                <a:gd name="T13" fmla="*/ 0 h 595"/>
                <a:gd name="T14" fmla="*/ 0 60000 65536"/>
                <a:gd name="T15" fmla="*/ 0 60000 65536"/>
                <a:gd name="T16" fmla="*/ 0 60000 65536"/>
                <a:gd name="T17" fmla="*/ 0 60000 65536"/>
                <a:gd name="T18" fmla="*/ 0 60000 65536"/>
                <a:gd name="T19" fmla="*/ 0 60000 65536"/>
                <a:gd name="T20" fmla="*/ 0 60000 65536"/>
                <a:gd name="T21" fmla="*/ 0 w 385"/>
                <a:gd name="T22" fmla="*/ 0 h 595"/>
                <a:gd name="T23" fmla="*/ 385 w 385"/>
                <a:gd name="T24" fmla="*/ 595 h 5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5" h="595">
                  <a:moveTo>
                    <a:pt x="0" y="518"/>
                  </a:moveTo>
                  <a:cubicBezTo>
                    <a:pt x="19" y="531"/>
                    <a:pt x="80" y="595"/>
                    <a:pt x="110" y="592"/>
                  </a:cubicBezTo>
                  <a:cubicBezTo>
                    <a:pt x="140" y="589"/>
                    <a:pt x="162" y="533"/>
                    <a:pt x="183" y="499"/>
                  </a:cubicBezTo>
                  <a:cubicBezTo>
                    <a:pt x="204" y="465"/>
                    <a:pt x="219" y="426"/>
                    <a:pt x="237" y="390"/>
                  </a:cubicBezTo>
                  <a:cubicBezTo>
                    <a:pt x="255" y="354"/>
                    <a:pt x="275" y="320"/>
                    <a:pt x="292" y="281"/>
                  </a:cubicBezTo>
                  <a:cubicBezTo>
                    <a:pt x="309" y="242"/>
                    <a:pt x="322" y="200"/>
                    <a:pt x="337" y="153"/>
                  </a:cubicBezTo>
                  <a:cubicBezTo>
                    <a:pt x="352" y="106"/>
                    <a:pt x="375" y="32"/>
                    <a:pt x="385" y="0"/>
                  </a:cubicBezTo>
                </a:path>
              </a:pathLst>
            </a:custGeom>
            <a:noFill/>
            <a:ln w="38100">
              <a:solidFill>
                <a:srgbClr val="339933"/>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06" name="Line 27"/>
            <p:cNvSpPr>
              <a:spLocks noChangeShapeType="1"/>
            </p:cNvSpPr>
            <p:nvPr/>
          </p:nvSpPr>
          <p:spPr bwMode="auto">
            <a:xfrm>
              <a:off x="377" y="1474"/>
              <a:ext cx="1944" cy="0"/>
            </a:xfrm>
            <a:prstGeom prst="line">
              <a:avLst/>
            </a:prstGeom>
            <a:noFill/>
            <a:ln w="28575">
              <a:solidFill>
                <a:srgbClr val="000000"/>
              </a:solidFill>
              <a:round/>
              <a:tailEnd type="arrow"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07" name="Text Box 28"/>
            <p:cNvSpPr txBox="1">
              <a:spLocks noChangeArrowheads="1"/>
            </p:cNvSpPr>
            <p:nvPr/>
          </p:nvSpPr>
          <p:spPr bwMode="auto">
            <a:xfrm>
              <a:off x="183" y="1378"/>
              <a:ext cx="23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cs typeface="Times New Roman" panose="02020603050405020304" pitchFamily="18" charset="0"/>
                </a:rPr>
                <a:t>0</a:t>
              </a:r>
              <a:endParaRPr kumimoji="1" lang="en-US" altLang="zh-CN">
                <a:latin typeface="Times New Roman" panose="02020603050405020304" pitchFamily="18" charset="0"/>
                <a:cs typeface="Times New Roman" panose="02020603050405020304" pitchFamily="18" charset="0"/>
              </a:endParaRPr>
            </a:p>
          </p:txBody>
        </p:sp>
        <p:sp>
          <p:nvSpPr>
            <p:cNvPr id="14408" name="Rectangle 29"/>
            <p:cNvSpPr>
              <a:spLocks noChangeArrowheads="1"/>
            </p:cNvSpPr>
            <p:nvPr/>
          </p:nvSpPr>
          <p:spPr bwMode="auto">
            <a:xfrm>
              <a:off x="508" y="576"/>
              <a:ext cx="3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i="1">
                  <a:latin typeface="Times New Roman" panose="02020603050405020304" pitchFamily="18" charset="0"/>
                  <a:cs typeface="Times New Roman" panose="02020603050405020304" pitchFamily="18" charset="0"/>
                </a:rPr>
                <a:t>u</a:t>
              </a:r>
              <a:r>
                <a:rPr lang="en-US" altLang="zh-CN" sz="2800" baseline="-25000">
                  <a:latin typeface="Times New Roman" panose="02020603050405020304" pitchFamily="18" charset="0"/>
                  <a:cs typeface="Times New Roman" panose="02020603050405020304" pitchFamily="18" charset="0"/>
                </a:rPr>
                <a:t>a</a:t>
              </a:r>
              <a:endParaRPr lang="en-US" altLang="zh-CN" sz="2800" i="1">
                <a:latin typeface="Times New Roman" panose="02020603050405020304" pitchFamily="18" charset="0"/>
                <a:cs typeface="Times New Roman" panose="02020603050405020304" pitchFamily="18" charset="0"/>
              </a:endParaRPr>
            </a:p>
          </p:txBody>
        </p:sp>
        <p:sp>
          <p:nvSpPr>
            <p:cNvPr id="14409" name="Rectangle 30"/>
            <p:cNvSpPr>
              <a:spLocks noChangeArrowheads="1"/>
            </p:cNvSpPr>
            <p:nvPr/>
          </p:nvSpPr>
          <p:spPr bwMode="auto">
            <a:xfrm>
              <a:off x="905" y="576"/>
              <a:ext cx="30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sz="2800" i="1">
                  <a:solidFill>
                    <a:srgbClr val="339933"/>
                  </a:solidFill>
                  <a:latin typeface="Times New Roman" panose="02020603050405020304" pitchFamily="18" charset="0"/>
                  <a:cs typeface="Times New Roman" panose="02020603050405020304" pitchFamily="18" charset="0"/>
                </a:rPr>
                <a:t>u</a:t>
              </a:r>
              <a:r>
                <a:rPr lang="en-US" altLang="zh-CN" sz="2800" baseline="-25000">
                  <a:solidFill>
                    <a:srgbClr val="339933"/>
                  </a:solidFill>
                  <a:latin typeface="Times New Roman" panose="02020603050405020304" pitchFamily="18" charset="0"/>
                  <a:cs typeface="Times New Roman" panose="02020603050405020304" pitchFamily="18" charset="0"/>
                </a:rPr>
                <a:t>b</a:t>
              </a:r>
              <a:endParaRPr lang="en-US" altLang="zh-CN" sz="2800" i="1" baseline="-25000">
                <a:solidFill>
                  <a:srgbClr val="339933"/>
                </a:solidFill>
                <a:latin typeface="Times New Roman" panose="02020603050405020304" pitchFamily="18" charset="0"/>
                <a:cs typeface="Times New Roman" panose="02020603050405020304" pitchFamily="18" charset="0"/>
              </a:endParaRPr>
            </a:p>
          </p:txBody>
        </p:sp>
        <p:sp>
          <p:nvSpPr>
            <p:cNvPr id="14410" name="Rectangle 31"/>
            <p:cNvSpPr>
              <a:spLocks noChangeArrowheads="1"/>
            </p:cNvSpPr>
            <p:nvPr/>
          </p:nvSpPr>
          <p:spPr bwMode="auto">
            <a:xfrm>
              <a:off x="1319" y="576"/>
              <a:ext cx="29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sz="2800" i="1">
                  <a:solidFill>
                    <a:srgbClr val="FF0000"/>
                  </a:solidFill>
                  <a:latin typeface="Times New Roman" panose="02020603050405020304" pitchFamily="18" charset="0"/>
                  <a:cs typeface="Times New Roman" panose="02020603050405020304" pitchFamily="18" charset="0"/>
                </a:rPr>
                <a:t>u</a:t>
              </a:r>
              <a:r>
                <a:rPr lang="en-US" altLang="zh-CN" sz="2800" baseline="-25000">
                  <a:solidFill>
                    <a:srgbClr val="FF0000"/>
                  </a:solidFill>
                  <a:latin typeface="Times New Roman" panose="02020603050405020304" pitchFamily="18" charset="0"/>
                  <a:cs typeface="Times New Roman" panose="02020603050405020304" pitchFamily="18" charset="0"/>
                </a:rPr>
                <a:t>c</a:t>
              </a:r>
              <a:endParaRPr lang="en-US" altLang="zh-CN" sz="2800" i="1" baseline="-25000">
                <a:solidFill>
                  <a:srgbClr val="FFFF00"/>
                </a:solidFill>
                <a:latin typeface="Times New Roman" panose="02020603050405020304" pitchFamily="18" charset="0"/>
                <a:cs typeface="Times New Roman" panose="02020603050405020304" pitchFamily="18" charset="0"/>
              </a:endParaRPr>
            </a:p>
          </p:txBody>
        </p:sp>
        <p:sp>
          <p:nvSpPr>
            <p:cNvPr id="14411" name="Freeform 32"/>
            <p:cNvSpPr/>
            <p:nvPr/>
          </p:nvSpPr>
          <p:spPr bwMode="auto">
            <a:xfrm flipV="1">
              <a:off x="1155" y="869"/>
              <a:ext cx="583" cy="605"/>
            </a:xfrm>
            <a:custGeom>
              <a:avLst/>
              <a:gdLst>
                <a:gd name="T0" fmla="*/ 0 w 864"/>
                <a:gd name="T1" fmla="*/ 0 h 480"/>
                <a:gd name="T2" fmla="*/ 133 w 864"/>
                <a:gd name="T3" fmla="*/ 962 h 480"/>
                <a:gd name="T4" fmla="*/ 265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12" name="Freeform 33"/>
            <p:cNvSpPr/>
            <p:nvPr/>
          </p:nvSpPr>
          <p:spPr bwMode="auto">
            <a:xfrm flipV="1">
              <a:off x="1543" y="877"/>
              <a:ext cx="583" cy="597"/>
            </a:xfrm>
            <a:custGeom>
              <a:avLst/>
              <a:gdLst>
                <a:gd name="T0" fmla="*/ 0 w 864"/>
                <a:gd name="T1" fmla="*/ 0 h 480"/>
                <a:gd name="T2" fmla="*/ 133 w 864"/>
                <a:gd name="T3" fmla="*/ 924 h 480"/>
                <a:gd name="T4" fmla="*/ 265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13" name="Freeform 34"/>
            <p:cNvSpPr/>
            <p:nvPr/>
          </p:nvSpPr>
          <p:spPr bwMode="auto">
            <a:xfrm>
              <a:off x="960" y="1474"/>
              <a:ext cx="583" cy="604"/>
            </a:xfrm>
            <a:custGeom>
              <a:avLst/>
              <a:gdLst>
                <a:gd name="T0" fmla="*/ 0 w 864"/>
                <a:gd name="T1" fmla="*/ 0 h 480"/>
                <a:gd name="T2" fmla="*/ 133 w 864"/>
                <a:gd name="T3" fmla="*/ 956 h 480"/>
                <a:gd name="T4" fmla="*/ 265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14" name="Freeform 35"/>
            <p:cNvSpPr/>
            <p:nvPr/>
          </p:nvSpPr>
          <p:spPr bwMode="auto">
            <a:xfrm>
              <a:off x="1349" y="1474"/>
              <a:ext cx="583" cy="604"/>
            </a:xfrm>
            <a:custGeom>
              <a:avLst/>
              <a:gdLst>
                <a:gd name="T0" fmla="*/ 0 w 864"/>
                <a:gd name="T1" fmla="*/ 0 h 480"/>
                <a:gd name="T2" fmla="*/ 133 w 864"/>
                <a:gd name="T3" fmla="*/ 956 h 480"/>
                <a:gd name="T4" fmla="*/ 265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339933"/>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15" name="Freeform 36"/>
            <p:cNvSpPr/>
            <p:nvPr/>
          </p:nvSpPr>
          <p:spPr bwMode="auto">
            <a:xfrm>
              <a:off x="572" y="1474"/>
              <a:ext cx="583" cy="596"/>
            </a:xfrm>
            <a:custGeom>
              <a:avLst/>
              <a:gdLst>
                <a:gd name="T0" fmla="*/ 0 w 864"/>
                <a:gd name="T1" fmla="*/ 0 h 480"/>
                <a:gd name="T2" fmla="*/ 133 w 864"/>
                <a:gd name="T3" fmla="*/ 919 h 480"/>
                <a:gd name="T4" fmla="*/ 265 w 864"/>
                <a:gd name="T5" fmla="*/ 0 h 480"/>
                <a:gd name="T6" fmla="*/ 0 60000 65536"/>
                <a:gd name="T7" fmla="*/ 0 60000 65536"/>
                <a:gd name="T8" fmla="*/ 0 60000 65536"/>
                <a:gd name="T9" fmla="*/ 0 w 864"/>
                <a:gd name="T10" fmla="*/ 0 h 480"/>
                <a:gd name="T11" fmla="*/ 864 w 864"/>
                <a:gd name="T12" fmla="*/ 480 h 480"/>
              </a:gdLst>
              <a:ahLst/>
              <a:cxnLst>
                <a:cxn ang="T6">
                  <a:pos x="T0" y="T1"/>
                </a:cxn>
                <a:cxn ang="T7">
                  <a:pos x="T2" y="T3"/>
                </a:cxn>
                <a:cxn ang="T8">
                  <a:pos x="T4" y="T5"/>
                </a:cxn>
              </a:cxnLst>
              <a:rect l="T9" t="T10" r="T11" b="T12"/>
              <a:pathLst>
                <a:path w="864" h="480">
                  <a:moveTo>
                    <a:pt x="0" y="0"/>
                  </a:moveTo>
                  <a:cubicBezTo>
                    <a:pt x="144" y="240"/>
                    <a:pt x="288" y="480"/>
                    <a:pt x="432" y="480"/>
                  </a:cubicBezTo>
                  <a:cubicBezTo>
                    <a:pt x="576" y="480"/>
                    <a:pt x="720" y="240"/>
                    <a:pt x="864" y="0"/>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16" name="Text Box 37"/>
            <p:cNvSpPr txBox="1">
              <a:spLocks noChangeArrowheads="1"/>
            </p:cNvSpPr>
            <p:nvPr/>
          </p:nvSpPr>
          <p:spPr bwMode="auto">
            <a:xfrm>
              <a:off x="1431" y="1421"/>
              <a:ext cx="41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cs typeface="Times New Roman" panose="02020603050405020304" pitchFamily="18" charset="0"/>
                </a:rPr>
                <a:t>2</a:t>
              </a:r>
              <a:r>
                <a:rPr kumimoji="1" lang="en-US" altLang="zh-CN">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a:latin typeface="Times New Roman" panose="02020603050405020304" pitchFamily="18" charset="0"/>
                <a:cs typeface="Times New Roman" panose="02020603050405020304" pitchFamily="18" charset="0"/>
              </a:endParaRPr>
            </a:p>
          </p:txBody>
        </p:sp>
        <p:sp>
          <p:nvSpPr>
            <p:cNvPr id="14417" name="Rectangle 38"/>
            <p:cNvSpPr>
              <a:spLocks noChangeArrowheads="1"/>
            </p:cNvSpPr>
            <p:nvPr/>
          </p:nvSpPr>
          <p:spPr bwMode="auto">
            <a:xfrm>
              <a:off x="931" y="1392"/>
              <a:ext cx="1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a:latin typeface="Times New Roman" panose="02020603050405020304" pitchFamily="18" charset="0"/>
                <a:cs typeface="Times New Roman" panose="02020603050405020304" pitchFamily="18" charset="0"/>
                <a:sym typeface="Symbol" panose="05050102010706020507" pitchFamily="18" charset="2"/>
              </a:endParaRPr>
            </a:p>
          </p:txBody>
        </p:sp>
        <p:sp>
          <p:nvSpPr>
            <p:cNvPr id="14418" name="Rectangle 39"/>
            <p:cNvSpPr>
              <a:spLocks noChangeArrowheads="1"/>
            </p:cNvSpPr>
            <p:nvPr/>
          </p:nvSpPr>
          <p:spPr bwMode="auto">
            <a:xfrm>
              <a:off x="887" y="1189"/>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endParaRPr kumimoji="1" lang="zh-CN" altLang="zh-CN" sz="2800">
                <a:solidFill>
                  <a:srgbClr val="FF00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4419" name="Rectangle 40"/>
            <p:cNvSpPr>
              <a:spLocks noChangeArrowheads="1"/>
            </p:cNvSpPr>
            <p:nvPr/>
          </p:nvSpPr>
          <p:spPr bwMode="auto">
            <a:xfrm>
              <a:off x="1275" y="1189"/>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endParaRPr kumimoji="1" lang="zh-CN" altLang="zh-CN" sz="2800">
                <a:solidFill>
                  <a:srgbClr val="FF0000"/>
                </a:solidFill>
                <a:latin typeface="Times New Roman" panose="02020603050405020304" pitchFamily="18" charset="0"/>
                <a:cs typeface="Times New Roman" panose="02020603050405020304" pitchFamily="18" charset="0"/>
                <a:sym typeface="Symbol" panose="05050102010706020507" pitchFamily="18" charset="2"/>
              </a:endParaRPr>
            </a:p>
          </p:txBody>
        </p:sp>
        <p:graphicFrame>
          <p:nvGraphicFramePr>
            <p:cNvPr id="14339" name="Object 3"/>
            <p:cNvGraphicFramePr>
              <a:graphicFrameLocks noChangeAspect="1"/>
            </p:cNvGraphicFramePr>
            <p:nvPr/>
          </p:nvGraphicFramePr>
          <p:xfrm>
            <a:off x="2186" y="1474"/>
            <a:ext cx="262" cy="216"/>
          </p:xfrm>
          <a:graphic>
            <a:graphicData uri="http://schemas.openxmlformats.org/presentationml/2006/ole">
              <mc:AlternateContent xmlns:mc="http://schemas.openxmlformats.org/markup-compatibility/2006">
                <mc:Choice xmlns:v="urn:schemas-microsoft-com:vml" Requires="v">
                  <p:oleObj spid="_x0000_s14467" name="公式" r:id="rId2" imgW="266700" imgH="215900" progId="Equation.3">
                    <p:embed/>
                  </p:oleObj>
                </mc:Choice>
                <mc:Fallback>
                  <p:oleObj name="公式" r:id="rId2" imgW="266700" imgH="2159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6" y="1474"/>
                          <a:ext cx="26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14420" name="Freeform 42"/>
            <p:cNvSpPr/>
            <p:nvPr/>
          </p:nvSpPr>
          <p:spPr bwMode="auto">
            <a:xfrm>
              <a:off x="1932" y="869"/>
              <a:ext cx="272" cy="605"/>
            </a:xfrm>
            <a:custGeom>
              <a:avLst/>
              <a:gdLst>
                <a:gd name="T0" fmla="*/ 0 w 336"/>
                <a:gd name="T1" fmla="*/ 491 h 672"/>
                <a:gd name="T2" fmla="*/ 51 w 336"/>
                <a:gd name="T3" fmla="*/ 315 h 672"/>
                <a:gd name="T4" fmla="*/ 77 w 336"/>
                <a:gd name="T5" fmla="*/ 210 h 672"/>
                <a:gd name="T6" fmla="*/ 101 w 336"/>
                <a:gd name="T7" fmla="*/ 140 h 672"/>
                <a:gd name="T8" fmla="*/ 127 w 336"/>
                <a:gd name="T9" fmla="*/ 69 h 672"/>
                <a:gd name="T10" fmla="*/ 153 w 336"/>
                <a:gd name="T11" fmla="*/ 35 h 672"/>
                <a:gd name="T12" fmla="*/ 178 w 336"/>
                <a:gd name="T13" fmla="*/ 0 h 672"/>
                <a:gd name="T14" fmla="*/ 0 60000 65536"/>
                <a:gd name="T15" fmla="*/ 0 60000 65536"/>
                <a:gd name="T16" fmla="*/ 0 60000 65536"/>
                <a:gd name="T17" fmla="*/ 0 60000 65536"/>
                <a:gd name="T18" fmla="*/ 0 60000 65536"/>
                <a:gd name="T19" fmla="*/ 0 60000 65536"/>
                <a:gd name="T20" fmla="*/ 0 60000 65536"/>
                <a:gd name="T21" fmla="*/ 0 w 336"/>
                <a:gd name="T22" fmla="*/ 0 h 672"/>
                <a:gd name="T23" fmla="*/ 336 w 336"/>
                <a:gd name="T24" fmla="*/ 672 h 6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672">
                  <a:moveTo>
                    <a:pt x="0" y="672"/>
                  </a:moveTo>
                  <a:cubicBezTo>
                    <a:pt x="36" y="584"/>
                    <a:pt x="72" y="496"/>
                    <a:pt x="96" y="432"/>
                  </a:cubicBezTo>
                  <a:cubicBezTo>
                    <a:pt x="120" y="368"/>
                    <a:pt x="128" y="328"/>
                    <a:pt x="144" y="288"/>
                  </a:cubicBezTo>
                  <a:cubicBezTo>
                    <a:pt x="160" y="248"/>
                    <a:pt x="176" y="224"/>
                    <a:pt x="192" y="192"/>
                  </a:cubicBezTo>
                  <a:cubicBezTo>
                    <a:pt x="208" y="160"/>
                    <a:pt x="224" y="120"/>
                    <a:pt x="240" y="96"/>
                  </a:cubicBezTo>
                  <a:cubicBezTo>
                    <a:pt x="256" y="72"/>
                    <a:pt x="272" y="64"/>
                    <a:pt x="288" y="48"/>
                  </a:cubicBezTo>
                  <a:cubicBezTo>
                    <a:pt x="304" y="32"/>
                    <a:pt x="320" y="8"/>
                    <a:pt x="336" y="0"/>
                  </a:cubicBezTo>
                </a:path>
              </a:pathLst>
            </a:custGeom>
            <a:noFill/>
            <a:ln w="38100">
              <a:solidFill>
                <a:srgbClr val="339933"/>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421" name="Freeform 43"/>
            <p:cNvSpPr/>
            <p:nvPr/>
          </p:nvSpPr>
          <p:spPr bwMode="auto">
            <a:xfrm>
              <a:off x="1738" y="1474"/>
              <a:ext cx="427" cy="619"/>
            </a:xfrm>
            <a:custGeom>
              <a:avLst/>
              <a:gdLst>
                <a:gd name="T0" fmla="*/ 0 w 528"/>
                <a:gd name="T1" fmla="*/ 0 h 688"/>
                <a:gd name="T2" fmla="*/ 101 w 528"/>
                <a:gd name="T3" fmla="*/ 384 h 688"/>
                <a:gd name="T4" fmla="*/ 204 w 528"/>
                <a:gd name="T5" fmla="*/ 489 h 688"/>
                <a:gd name="T6" fmla="*/ 279 w 528"/>
                <a:gd name="T7" fmla="*/ 315 h 688"/>
                <a:gd name="T8" fmla="*/ 0 60000 65536"/>
                <a:gd name="T9" fmla="*/ 0 60000 65536"/>
                <a:gd name="T10" fmla="*/ 0 60000 65536"/>
                <a:gd name="T11" fmla="*/ 0 60000 65536"/>
                <a:gd name="T12" fmla="*/ 0 w 528"/>
                <a:gd name="T13" fmla="*/ 0 h 688"/>
                <a:gd name="T14" fmla="*/ 528 w 528"/>
                <a:gd name="T15" fmla="*/ 688 h 688"/>
              </a:gdLst>
              <a:ahLst/>
              <a:cxnLst>
                <a:cxn ang="T8">
                  <a:pos x="T0" y="T1"/>
                </a:cxn>
                <a:cxn ang="T9">
                  <a:pos x="T2" y="T3"/>
                </a:cxn>
                <a:cxn ang="T10">
                  <a:pos x="T4" y="T5"/>
                </a:cxn>
                <a:cxn ang="T11">
                  <a:pos x="T6" y="T7"/>
                </a:cxn>
              </a:cxnLst>
              <a:rect l="T12" t="T13" r="T14" b="T15"/>
              <a:pathLst>
                <a:path w="528" h="688">
                  <a:moveTo>
                    <a:pt x="0" y="0"/>
                  </a:moveTo>
                  <a:cubicBezTo>
                    <a:pt x="64" y="208"/>
                    <a:pt x="128" y="416"/>
                    <a:pt x="192" y="528"/>
                  </a:cubicBezTo>
                  <a:cubicBezTo>
                    <a:pt x="256" y="640"/>
                    <a:pt x="328" y="688"/>
                    <a:pt x="384" y="672"/>
                  </a:cubicBezTo>
                  <a:cubicBezTo>
                    <a:pt x="440" y="656"/>
                    <a:pt x="504" y="480"/>
                    <a:pt x="528" y="4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422" name="Freeform 44"/>
            <p:cNvSpPr/>
            <p:nvPr/>
          </p:nvSpPr>
          <p:spPr bwMode="auto">
            <a:xfrm>
              <a:off x="391" y="1008"/>
              <a:ext cx="182" cy="477"/>
            </a:xfrm>
            <a:custGeom>
              <a:avLst/>
              <a:gdLst>
                <a:gd name="T0" fmla="*/ 0 w 224"/>
                <a:gd name="T1" fmla="*/ 0 h 530"/>
                <a:gd name="T2" fmla="*/ 72 w 224"/>
                <a:gd name="T3" fmla="*/ 215 h 530"/>
                <a:gd name="T4" fmla="*/ 120 w 224"/>
                <a:gd name="T5" fmla="*/ 386 h 530"/>
                <a:gd name="T6" fmla="*/ 0 60000 65536"/>
                <a:gd name="T7" fmla="*/ 0 60000 65536"/>
                <a:gd name="T8" fmla="*/ 0 60000 65536"/>
                <a:gd name="T9" fmla="*/ 0 w 224"/>
                <a:gd name="T10" fmla="*/ 0 h 530"/>
                <a:gd name="T11" fmla="*/ 224 w 224"/>
                <a:gd name="T12" fmla="*/ 530 h 530"/>
              </a:gdLst>
              <a:ahLst/>
              <a:cxnLst>
                <a:cxn ang="T6">
                  <a:pos x="T0" y="T1"/>
                </a:cxn>
                <a:cxn ang="T7">
                  <a:pos x="T2" y="T3"/>
                </a:cxn>
                <a:cxn ang="T8">
                  <a:pos x="T4" y="T5"/>
                </a:cxn>
              </a:cxnLst>
              <a:rect l="T9" t="T10" r="T11" b="T12"/>
              <a:pathLst>
                <a:path w="224" h="530">
                  <a:moveTo>
                    <a:pt x="0" y="0"/>
                  </a:moveTo>
                  <a:cubicBezTo>
                    <a:pt x="22" y="49"/>
                    <a:pt x="96" y="206"/>
                    <a:pt x="133" y="294"/>
                  </a:cubicBezTo>
                  <a:cubicBezTo>
                    <a:pt x="170" y="382"/>
                    <a:pt x="205" y="481"/>
                    <a:pt x="224" y="530"/>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nvGrpSpPr>
          <p:cNvPr id="3" name="Group 69"/>
          <p:cNvGrpSpPr/>
          <p:nvPr/>
        </p:nvGrpSpPr>
        <p:grpSpPr bwMode="auto">
          <a:xfrm>
            <a:off x="5103813" y="1385888"/>
            <a:ext cx="3657600" cy="4537075"/>
            <a:chOff x="3215" y="873"/>
            <a:chExt cx="2304" cy="2858"/>
          </a:xfrm>
        </p:grpSpPr>
        <p:sp>
          <p:nvSpPr>
            <p:cNvPr id="14379" name="Line 46"/>
            <p:cNvSpPr>
              <a:spLocks noChangeShapeType="1"/>
            </p:cNvSpPr>
            <p:nvPr/>
          </p:nvSpPr>
          <p:spPr bwMode="auto">
            <a:xfrm>
              <a:off x="3631" y="1235"/>
              <a:ext cx="26" cy="2256"/>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80" name="Rectangle 47"/>
            <p:cNvSpPr>
              <a:spLocks noChangeArrowheads="1"/>
            </p:cNvSpPr>
            <p:nvPr/>
          </p:nvSpPr>
          <p:spPr bwMode="auto">
            <a:xfrm>
              <a:off x="3546" y="345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1</a:t>
              </a:r>
              <a:endParaRPr kumimoji="1" lang="en-US" altLang="zh-CN" baseline="-25000">
                <a:latin typeface="Times New Roman" panose="02020603050405020304" pitchFamily="18" charset="0"/>
                <a:cs typeface="Times New Roman" panose="02020603050405020304" pitchFamily="18" charset="0"/>
              </a:endParaRPr>
            </a:p>
          </p:txBody>
        </p:sp>
        <p:sp>
          <p:nvSpPr>
            <p:cNvPr id="14381" name="Text Box 48"/>
            <p:cNvSpPr txBox="1">
              <a:spLocks noChangeArrowheads="1"/>
            </p:cNvSpPr>
            <p:nvPr/>
          </p:nvSpPr>
          <p:spPr bwMode="auto">
            <a:xfrm>
              <a:off x="3215" y="2003"/>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i="1">
                  <a:latin typeface="Times New Roman" panose="02020603050405020304" pitchFamily="18" charset="0"/>
                  <a:cs typeface="Times New Roman" panose="02020603050405020304" pitchFamily="18" charset="0"/>
                </a:rPr>
                <a:t>u</a:t>
              </a:r>
              <a:r>
                <a:rPr lang="en-US" altLang="zh-CN" sz="2800" baseline="-25000">
                  <a:latin typeface="Times New Roman" panose="02020603050405020304" pitchFamily="18" charset="0"/>
                  <a:cs typeface="Times New Roman" panose="02020603050405020304" pitchFamily="18" charset="0"/>
                </a:rPr>
                <a:t>o</a:t>
              </a:r>
              <a:endParaRPr lang="en-US" altLang="zh-CN" sz="2800">
                <a:latin typeface="Times New Roman" panose="02020603050405020304" pitchFamily="18" charset="0"/>
                <a:cs typeface="Times New Roman" panose="02020603050405020304" pitchFamily="18" charset="0"/>
              </a:endParaRPr>
            </a:p>
          </p:txBody>
        </p:sp>
        <p:sp>
          <p:nvSpPr>
            <p:cNvPr id="14382" name="Line 49"/>
            <p:cNvSpPr>
              <a:spLocks noChangeShapeType="1"/>
            </p:cNvSpPr>
            <p:nvPr/>
          </p:nvSpPr>
          <p:spPr bwMode="auto">
            <a:xfrm flipH="1" flipV="1">
              <a:off x="3530" y="2277"/>
              <a:ext cx="0" cy="1236"/>
            </a:xfrm>
            <a:prstGeom prst="line">
              <a:avLst/>
            </a:prstGeom>
            <a:noFill/>
            <a:ln w="38100">
              <a:solidFill>
                <a:schemeClr val="tx1"/>
              </a:solidFill>
              <a:round/>
              <a:tailEnd type="arrow"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83" name="Line 50"/>
            <p:cNvSpPr>
              <a:spLocks noChangeShapeType="1"/>
            </p:cNvSpPr>
            <p:nvPr/>
          </p:nvSpPr>
          <p:spPr bwMode="auto">
            <a:xfrm>
              <a:off x="3518" y="3511"/>
              <a:ext cx="1944" cy="0"/>
            </a:xfrm>
            <a:prstGeom prst="line">
              <a:avLst/>
            </a:prstGeom>
            <a:noFill/>
            <a:ln w="38100">
              <a:solidFill>
                <a:srgbClr val="000000"/>
              </a:solidFill>
              <a:round/>
              <a:tailEnd type="arrow"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84" name="Text Box 51"/>
            <p:cNvSpPr txBox="1">
              <a:spLocks noChangeArrowheads="1"/>
            </p:cNvSpPr>
            <p:nvPr/>
          </p:nvSpPr>
          <p:spPr bwMode="auto">
            <a:xfrm>
              <a:off x="3311" y="3395"/>
              <a:ext cx="23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cs typeface="Times New Roman" panose="02020603050405020304" pitchFamily="18" charset="0"/>
                </a:rPr>
                <a:t>0</a:t>
              </a:r>
              <a:endParaRPr kumimoji="1" lang="en-US" altLang="zh-CN">
                <a:latin typeface="Times New Roman" panose="02020603050405020304" pitchFamily="18" charset="0"/>
                <a:cs typeface="Times New Roman" panose="02020603050405020304" pitchFamily="18" charset="0"/>
              </a:endParaRPr>
            </a:p>
          </p:txBody>
        </p:sp>
        <p:graphicFrame>
          <p:nvGraphicFramePr>
            <p:cNvPr id="14338" name="Object 2"/>
            <p:cNvGraphicFramePr>
              <a:graphicFrameLocks noChangeAspect="1"/>
            </p:cNvGraphicFramePr>
            <p:nvPr/>
          </p:nvGraphicFramePr>
          <p:xfrm>
            <a:off x="5257" y="3515"/>
            <a:ext cx="262" cy="216"/>
          </p:xfrm>
          <a:graphic>
            <a:graphicData uri="http://schemas.openxmlformats.org/presentationml/2006/ole">
              <mc:AlternateContent xmlns:mc="http://schemas.openxmlformats.org/markup-compatibility/2006">
                <mc:Choice xmlns:v="urn:schemas-microsoft-com:vml" Requires="v">
                  <p:oleObj spid="_x0000_s14468" name="公式" r:id="rId4" imgW="266700" imgH="215900" progId="Equation.3">
                    <p:embed/>
                  </p:oleObj>
                </mc:Choice>
                <mc:Fallback>
                  <p:oleObj name="公式" r:id="rId4" imgW="266700" imgH="2159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 y="3515"/>
                          <a:ext cx="26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14385" name="Line 53"/>
            <p:cNvSpPr>
              <a:spLocks noChangeShapeType="1"/>
            </p:cNvSpPr>
            <p:nvPr/>
          </p:nvSpPr>
          <p:spPr bwMode="auto">
            <a:xfrm>
              <a:off x="3827" y="873"/>
              <a:ext cx="0" cy="2618"/>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86" name="Line 54"/>
            <p:cNvSpPr>
              <a:spLocks noChangeShapeType="1"/>
            </p:cNvSpPr>
            <p:nvPr/>
          </p:nvSpPr>
          <p:spPr bwMode="auto">
            <a:xfrm>
              <a:off x="4021" y="1235"/>
              <a:ext cx="0" cy="2256"/>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87" name="Line 55"/>
            <p:cNvSpPr>
              <a:spLocks noChangeShapeType="1"/>
            </p:cNvSpPr>
            <p:nvPr/>
          </p:nvSpPr>
          <p:spPr bwMode="auto">
            <a:xfrm>
              <a:off x="4413" y="1235"/>
              <a:ext cx="0" cy="2256"/>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88" name="Line 56"/>
            <p:cNvSpPr>
              <a:spLocks noChangeShapeType="1"/>
            </p:cNvSpPr>
            <p:nvPr/>
          </p:nvSpPr>
          <p:spPr bwMode="auto">
            <a:xfrm>
              <a:off x="4223" y="873"/>
              <a:ext cx="0" cy="2618"/>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89" name="Line 57"/>
            <p:cNvSpPr>
              <a:spLocks noChangeShapeType="1"/>
            </p:cNvSpPr>
            <p:nvPr/>
          </p:nvSpPr>
          <p:spPr bwMode="auto">
            <a:xfrm>
              <a:off x="4799" y="1235"/>
              <a:ext cx="0" cy="2256"/>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90" name="Line 58"/>
            <p:cNvSpPr>
              <a:spLocks noChangeShapeType="1"/>
            </p:cNvSpPr>
            <p:nvPr/>
          </p:nvSpPr>
          <p:spPr bwMode="auto">
            <a:xfrm>
              <a:off x="5195" y="1235"/>
              <a:ext cx="0" cy="2256"/>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91" name="Line 59"/>
            <p:cNvSpPr>
              <a:spLocks noChangeShapeType="1"/>
            </p:cNvSpPr>
            <p:nvPr/>
          </p:nvSpPr>
          <p:spPr bwMode="auto">
            <a:xfrm>
              <a:off x="4606" y="873"/>
              <a:ext cx="0" cy="2618"/>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92" name="Line 60"/>
            <p:cNvSpPr>
              <a:spLocks noChangeShapeType="1"/>
            </p:cNvSpPr>
            <p:nvPr/>
          </p:nvSpPr>
          <p:spPr bwMode="auto">
            <a:xfrm>
              <a:off x="4993" y="873"/>
              <a:ext cx="0" cy="2618"/>
            </a:xfrm>
            <a:prstGeom prst="line">
              <a:avLst/>
            </a:prstGeom>
            <a:noFill/>
            <a:ln w="28575">
              <a:solidFill>
                <a:schemeClr val="bg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93" name="Rectangle 61"/>
            <p:cNvSpPr>
              <a:spLocks noChangeArrowheads="1"/>
            </p:cNvSpPr>
            <p:nvPr/>
          </p:nvSpPr>
          <p:spPr bwMode="auto">
            <a:xfrm>
              <a:off x="3720" y="344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2</a:t>
              </a:r>
              <a:endParaRPr kumimoji="1" lang="en-US" altLang="zh-CN" baseline="-25000">
                <a:latin typeface="Times New Roman" panose="02020603050405020304" pitchFamily="18" charset="0"/>
                <a:cs typeface="Times New Roman" panose="02020603050405020304" pitchFamily="18" charset="0"/>
              </a:endParaRPr>
            </a:p>
          </p:txBody>
        </p:sp>
        <p:sp>
          <p:nvSpPr>
            <p:cNvPr id="14394" name="Rectangle 62"/>
            <p:cNvSpPr>
              <a:spLocks noChangeArrowheads="1"/>
            </p:cNvSpPr>
            <p:nvPr/>
          </p:nvSpPr>
          <p:spPr bwMode="auto">
            <a:xfrm>
              <a:off x="3922" y="344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3</a:t>
              </a:r>
              <a:endParaRPr kumimoji="1" lang="en-US" altLang="zh-CN" baseline="-25000">
                <a:latin typeface="Times New Roman" panose="02020603050405020304" pitchFamily="18" charset="0"/>
                <a:cs typeface="Times New Roman" panose="02020603050405020304" pitchFamily="18" charset="0"/>
              </a:endParaRPr>
            </a:p>
          </p:txBody>
        </p:sp>
        <p:sp>
          <p:nvSpPr>
            <p:cNvPr id="14395" name="Rectangle 63"/>
            <p:cNvSpPr>
              <a:spLocks noChangeArrowheads="1"/>
            </p:cNvSpPr>
            <p:nvPr/>
          </p:nvSpPr>
          <p:spPr bwMode="auto">
            <a:xfrm>
              <a:off x="4127" y="344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4</a:t>
              </a:r>
              <a:endParaRPr kumimoji="1" lang="en-US" altLang="zh-CN" baseline="-25000">
                <a:latin typeface="Times New Roman" panose="02020603050405020304" pitchFamily="18" charset="0"/>
                <a:cs typeface="Times New Roman" panose="02020603050405020304" pitchFamily="18" charset="0"/>
              </a:endParaRPr>
            </a:p>
          </p:txBody>
        </p:sp>
        <p:sp>
          <p:nvSpPr>
            <p:cNvPr id="14396" name="Rectangle 64"/>
            <p:cNvSpPr>
              <a:spLocks noChangeArrowheads="1"/>
            </p:cNvSpPr>
            <p:nvPr/>
          </p:nvSpPr>
          <p:spPr bwMode="auto">
            <a:xfrm>
              <a:off x="4319" y="344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5</a:t>
              </a:r>
              <a:endParaRPr kumimoji="1" lang="en-US" altLang="zh-CN" baseline="-25000">
                <a:latin typeface="Times New Roman" panose="02020603050405020304" pitchFamily="18" charset="0"/>
                <a:cs typeface="Times New Roman" panose="02020603050405020304" pitchFamily="18" charset="0"/>
              </a:endParaRPr>
            </a:p>
          </p:txBody>
        </p:sp>
        <p:sp>
          <p:nvSpPr>
            <p:cNvPr id="14397" name="Rectangle 65"/>
            <p:cNvSpPr>
              <a:spLocks noChangeArrowheads="1"/>
            </p:cNvSpPr>
            <p:nvPr/>
          </p:nvSpPr>
          <p:spPr bwMode="auto">
            <a:xfrm>
              <a:off x="4500" y="344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6</a:t>
              </a:r>
              <a:endParaRPr kumimoji="1" lang="en-US" altLang="zh-CN" baseline="-25000">
                <a:latin typeface="Times New Roman" panose="02020603050405020304" pitchFamily="18" charset="0"/>
                <a:cs typeface="Times New Roman" panose="02020603050405020304" pitchFamily="18" charset="0"/>
              </a:endParaRPr>
            </a:p>
          </p:txBody>
        </p:sp>
        <p:sp>
          <p:nvSpPr>
            <p:cNvPr id="14398" name="Rectangle 66"/>
            <p:cNvSpPr>
              <a:spLocks noChangeArrowheads="1"/>
            </p:cNvSpPr>
            <p:nvPr/>
          </p:nvSpPr>
          <p:spPr bwMode="auto">
            <a:xfrm>
              <a:off x="4703" y="344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7</a:t>
              </a:r>
              <a:endParaRPr kumimoji="1" lang="en-US" altLang="zh-CN" baseline="-25000">
                <a:latin typeface="Times New Roman" panose="02020603050405020304" pitchFamily="18" charset="0"/>
                <a:cs typeface="Times New Roman" panose="02020603050405020304" pitchFamily="18" charset="0"/>
              </a:endParaRPr>
            </a:p>
          </p:txBody>
        </p:sp>
        <p:sp>
          <p:nvSpPr>
            <p:cNvPr id="14399" name="Rectangle 67"/>
            <p:cNvSpPr>
              <a:spLocks noChangeArrowheads="1"/>
            </p:cNvSpPr>
            <p:nvPr/>
          </p:nvSpPr>
          <p:spPr bwMode="auto">
            <a:xfrm>
              <a:off x="4895" y="344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8</a:t>
              </a:r>
              <a:endParaRPr kumimoji="1" lang="en-US" altLang="zh-CN" baseline="-25000">
                <a:latin typeface="Times New Roman" panose="02020603050405020304" pitchFamily="18" charset="0"/>
                <a:cs typeface="Times New Roman" panose="02020603050405020304" pitchFamily="18" charset="0"/>
              </a:endParaRPr>
            </a:p>
          </p:txBody>
        </p:sp>
        <p:sp>
          <p:nvSpPr>
            <p:cNvPr id="14400" name="Rectangle 68"/>
            <p:cNvSpPr>
              <a:spLocks noChangeArrowheads="1"/>
            </p:cNvSpPr>
            <p:nvPr/>
          </p:nvSpPr>
          <p:spPr bwMode="auto">
            <a:xfrm>
              <a:off x="5087" y="344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1" lang="en-US" altLang="zh-CN" i="1">
                  <a:latin typeface="Times New Roman" panose="02020603050405020304" pitchFamily="18" charset="0"/>
                  <a:cs typeface="Times New Roman" panose="02020603050405020304" pitchFamily="18" charset="0"/>
                </a:rPr>
                <a:t>t</a:t>
              </a:r>
              <a:r>
                <a:rPr kumimoji="1" lang="en-US" altLang="zh-CN" baseline="-25000">
                  <a:latin typeface="Times New Roman" panose="02020603050405020304" pitchFamily="18" charset="0"/>
                  <a:cs typeface="Times New Roman" panose="02020603050405020304" pitchFamily="18" charset="0"/>
                </a:rPr>
                <a:t>9</a:t>
              </a:r>
              <a:endParaRPr kumimoji="1" lang="en-US" altLang="zh-CN" baseline="-25000">
                <a:latin typeface="Times New Roman" panose="02020603050405020304" pitchFamily="18" charset="0"/>
                <a:cs typeface="Times New Roman" panose="02020603050405020304" pitchFamily="18" charset="0"/>
              </a:endParaRPr>
            </a:p>
          </p:txBody>
        </p:sp>
      </p:grpSp>
      <p:sp>
        <p:nvSpPr>
          <p:cNvPr id="127046" name="Rectangle 70"/>
          <p:cNvSpPr>
            <a:spLocks noChangeArrowheads="1"/>
          </p:cNvSpPr>
          <p:nvPr/>
        </p:nvSpPr>
        <p:spPr bwMode="auto">
          <a:xfrm>
            <a:off x="260350" y="3833813"/>
            <a:ext cx="4937125"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5000"/>
              </a:lnSpc>
            </a:pP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0 </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baseline="-25000">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1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c</a:t>
            </a:r>
            <a:r>
              <a:rPr kumimoji="1" lang="zh-CN" altLang="en-US" b="1">
                <a:solidFill>
                  <a:schemeClr val="tx2"/>
                </a:solidFill>
                <a:latin typeface="Times New Roman" panose="02020603050405020304" pitchFamily="18" charset="0"/>
                <a:cs typeface="Times New Roman" panose="02020603050405020304" pitchFamily="18" charset="0"/>
              </a:rPr>
              <a:t>最高，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b</a:t>
            </a:r>
            <a:r>
              <a:rPr kumimoji="1" lang="zh-CN" altLang="en-US" b="1">
                <a:solidFill>
                  <a:schemeClr val="tx2"/>
                </a:solidFill>
                <a:latin typeface="Times New Roman" panose="02020603050405020304" pitchFamily="18" charset="0"/>
                <a:cs typeface="Times New Roman" panose="02020603050405020304" pitchFamily="18" charset="0"/>
              </a:rPr>
              <a:t>最低，</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5</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4</a:t>
            </a:r>
            <a:r>
              <a:rPr kumimoji="1" lang="zh-CN" altLang="en-US" b="1">
                <a:solidFill>
                  <a:schemeClr val="tx2"/>
                </a:solidFill>
                <a:latin typeface="Times New Roman" panose="02020603050405020304" pitchFamily="18" charset="0"/>
                <a:cs typeface="Times New Roman" panose="02020603050405020304" pitchFamily="18" charset="0"/>
              </a:rPr>
              <a:t>通，</a:t>
            </a:r>
            <a:br>
              <a:rPr kumimoji="1" lang="zh-CN" altLang="en-US" b="1">
                <a:solidFill>
                  <a:schemeClr val="tx2"/>
                </a:solidFill>
                <a:latin typeface="Times New Roman" panose="02020603050405020304" pitchFamily="18" charset="0"/>
                <a:cs typeface="Times New Roman" panose="02020603050405020304" pitchFamily="18" charset="0"/>
              </a:rPr>
            </a:br>
            <a:r>
              <a:rPr kumimoji="1" lang="zh-CN" altLang="en-US"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cb  </a:t>
            </a:r>
            <a:r>
              <a:rPr kumimoji="1" lang="zh-CN" altLang="en-US" b="1">
                <a:solidFill>
                  <a:schemeClr val="tx2"/>
                </a:solidFill>
                <a:latin typeface="Times New Roman" panose="02020603050405020304" pitchFamily="18" charset="0"/>
                <a:cs typeface="Times New Roman" panose="02020603050405020304" pitchFamily="18" charset="0"/>
              </a:rPr>
              <a:t>（线电压）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127047" name="Freeform 71"/>
          <p:cNvSpPr/>
          <p:nvPr/>
        </p:nvSpPr>
        <p:spPr bwMode="auto">
          <a:xfrm>
            <a:off x="1173163" y="1203325"/>
            <a:ext cx="2957512" cy="2286000"/>
          </a:xfrm>
          <a:custGeom>
            <a:avLst/>
            <a:gdLst>
              <a:gd name="T0" fmla="*/ 0 w 1863"/>
              <a:gd name="T1" fmla="*/ 2147483647 h 1440"/>
              <a:gd name="T2" fmla="*/ 2147483647 w 1863"/>
              <a:gd name="T3" fmla="*/ 2147483647 h 1440"/>
              <a:gd name="T4" fmla="*/ 2147483647 w 1863"/>
              <a:gd name="T5" fmla="*/ 0 h 1440"/>
              <a:gd name="T6" fmla="*/ 2147483647 w 1863"/>
              <a:gd name="T7" fmla="*/ 0 h 1440"/>
              <a:gd name="T8" fmla="*/ 2147483647 w 1863"/>
              <a:gd name="T9" fmla="*/ 2147483647 h 1440"/>
              <a:gd name="T10" fmla="*/ 2147483647 w 1863"/>
              <a:gd name="T11" fmla="*/ 2147483647 h 1440"/>
              <a:gd name="T12" fmla="*/ 2147483647 w 1863"/>
              <a:gd name="T13" fmla="*/ 2147483647 h 1440"/>
              <a:gd name="T14" fmla="*/ 2147483647 w 1863"/>
              <a:gd name="T15" fmla="*/ 2147483647 h 1440"/>
              <a:gd name="T16" fmla="*/ 0 60000 65536"/>
              <a:gd name="T17" fmla="*/ 0 60000 65536"/>
              <a:gd name="T18" fmla="*/ 0 60000 65536"/>
              <a:gd name="T19" fmla="*/ 0 60000 65536"/>
              <a:gd name="T20" fmla="*/ 0 60000 65536"/>
              <a:gd name="T21" fmla="*/ 0 60000 65536"/>
              <a:gd name="T22" fmla="*/ 0 60000 65536"/>
              <a:gd name="T23" fmla="*/ 0 60000 65536"/>
              <a:gd name="T24" fmla="*/ 0 w 1863"/>
              <a:gd name="T25" fmla="*/ 0 h 1440"/>
              <a:gd name="T26" fmla="*/ 1863 w 1863"/>
              <a:gd name="T27" fmla="*/ 1440 h 14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63" h="1440">
                <a:moveTo>
                  <a:pt x="0" y="538"/>
                </a:moveTo>
                <a:lnTo>
                  <a:pt x="259" y="538"/>
                </a:lnTo>
                <a:lnTo>
                  <a:pt x="269" y="0"/>
                </a:lnTo>
                <a:lnTo>
                  <a:pt x="1863" y="0"/>
                </a:lnTo>
                <a:lnTo>
                  <a:pt x="1853" y="1440"/>
                </a:lnTo>
                <a:lnTo>
                  <a:pt x="720" y="1440"/>
                </a:lnTo>
                <a:lnTo>
                  <a:pt x="720" y="768"/>
                </a:lnTo>
                <a:lnTo>
                  <a:pt x="10" y="768"/>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27048" name="Rectangle 72"/>
          <p:cNvSpPr>
            <a:spLocks noChangeArrowheads="1"/>
          </p:cNvSpPr>
          <p:nvPr/>
        </p:nvSpPr>
        <p:spPr bwMode="auto">
          <a:xfrm>
            <a:off x="228600" y="3860800"/>
            <a:ext cx="493712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5000"/>
              </a:lnSpc>
            </a:pP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1 </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baseline="-25000">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2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a</a:t>
            </a:r>
            <a:r>
              <a:rPr kumimoji="1" lang="zh-CN" altLang="en-US" b="1">
                <a:solidFill>
                  <a:schemeClr val="tx2"/>
                </a:solidFill>
                <a:latin typeface="Times New Roman" panose="02020603050405020304" pitchFamily="18" charset="0"/>
                <a:cs typeface="Times New Roman" panose="02020603050405020304" pitchFamily="18" charset="0"/>
              </a:rPr>
              <a:t>最高，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b</a:t>
            </a:r>
            <a:r>
              <a:rPr kumimoji="1" lang="zh-CN" altLang="en-US" b="1">
                <a:solidFill>
                  <a:schemeClr val="tx2"/>
                </a:solidFill>
                <a:latin typeface="Times New Roman" panose="02020603050405020304" pitchFamily="18" charset="0"/>
                <a:cs typeface="Times New Roman" panose="02020603050405020304" pitchFamily="18" charset="0"/>
              </a:rPr>
              <a:t>最低，</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1</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4</a:t>
            </a:r>
            <a:r>
              <a:rPr kumimoji="1" lang="zh-CN" altLang="en-US" b="1">
                <a:solidFill>
                  <a:schemeClr val="tx2"/>
                </a:solidFill>
                <a:latin typeface="Times New Roman" panose="02020603050405020304" pitchFamily="18" charset="0"/>
                <a:cs typeface="Times New Roman" panose="02020603050405020304" pitchFamily="18" charset="0"/>
              </a:rPr>
              <a:t>通，</a:t>
            </a:r>
            <a:br>
              <a:rPr kumimoji="1" lang="zh-CN" altLang="en-US" b="1">
                <a:solidFill>
                  <a:schemeClr val="tx2"/>
                </a:solidFill>
                <a:latin typeface="Times New Roman" panose="02020603050405020304" pitchFamily="18" charset="0"/>
                <a:cs typeface="Times New Roman" panose="02020603050405020304" pitchFamily="18" charset="0"/>
              </a:rPr>
            </a:br>
            <a:r>
              <a:rPr kumimoji="1" lang="zh-CN" altLang="en-US"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ab  </a:t>
            </a:r>
            <a:r>
              <a:rPr kumimoji="1" lang="zh-CN" altLang="en-US" b="1">
                <a:solidFill>
                  <a:schemeClr val="tx2"/>
                </a:solidFill>
                <a:latin typeface="Times New Roman" panose="02020603050405020304" pitchFamily="18" charset="0"/>
                <a:cs typeface="Times New Roman" panose="02020603050405020304" pitchFamily="18" charset="0"/>
              </a:rPr>
              <a:t>（线电压）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127049" name="Freeform 73"/>
          <p:cNvSpPr/>
          <p:nvPr/>
        </p:nvSpPr>
        <p:spPr bwMode="auto">
          <a:xfrm>
            <a:off x="1219200" y="1304925"/>
            <a:ext cx="2651125" cy="2101850"/>
          </a:xfrm>
          <a:custGeom>
            <a:avLst/>
            <a:gdLst>
              <a:gd name="T0" fmla="*/ 2147483647 w 1670"/>
              <a:gd name="T1" fmla="*/ 2147483647 h 1324"/>
              <a:gd name="T2" fmla="*/ 2147483647 w 1670"/>
              <a:gd name="T3" fmla="*/ 2147483647 h 1324"/>
              <a:gd name="T4" fmla="*/ 2147483647 w 1670"/>
              <a:gd name="T5" fmla="*/ 0 h 1324"/>
              <a:gd name="T6" fmla="*/ 2147483647 w 1670"/>
              <a:gd name="T7" fmla="*/ 0 h 1324"/>
              <a:gd name="T8" fmla="*/ 2147483647 w 1670"/>
              <a:gd name="T9" fmla="*/ 2147483647 h 1324"/>
              <a:gd name="T10" fmla="*/ 2147483647 w 1670"/>
              <a:gd name="T11" fmla="*/ 2147483647 h 1324"/>
              <a:gd name="T12" fmla="*/ 2147483647 w 1670"/>
              <a:gd name="T13" fmla="*/ 2147483647 h 1324"/>
              <a:gd name="T14" fmla="*/ 0 w 1670"/>
              <a:gd name="T15" fmla="*/ 2147483647 h 1324"/>
              <a:gd name="T16" fmla="*/ 0 60000 65536"/>
              <a:gd name="T17" fmla="*/ 0 60000 65536"/>
              <a:gd name="T18" fmla="*/ 0 60000 65536"/>
              <a:gd name="T19" fmla="*/ 0 60000 65536"/>
              <a:gd name="T20" fmla="*/ 0 60000 65536"/>
              <a:gd name="T21" fmla="*/ 0 60000 65536"/>
              <a:gd name="T22" fmla="*/ 0 60000 65536"/>
              <a:gd name="T23" fmla="*/ 0 60000 65536"/>
              <a:gd name="T24" fmla="*/ 0 w 1670"/>
              <a:gd name="T25" fmla="*/ 0 h 1324"/>
              <a:gd name="T26" fmla="*/ 1670 w 1670"/>
              <a:gd name="T27" fmla="*/ 1324 h 13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70" h="1324">
                <a:moveTo>
                  <a:pt x="10" y="844"/>
                </a:moveTo>
                <a:lnTo>
                  <a:pt x="1152" y="844"/>
                </a:lnTo>
                <a:lnTo>
                  <a:pt x="1152" y="0"/>
                </a:lnTo>
                <a:lnTo>
                  <a:pt x="1661" y="0"/>
                </a:lnTo>
                <a:lnTo>
                  <a:pt x="1670" y="1324"/>
                </a:lnTo>
                <a:lnTo>
                  <a:pt x="816" y="1324"/>
                </a:lnTo>
                <a:lnTo>
                  <a:pt x="797" y="589"/>
                </a:lnTo>
                <a:lnTo>
                  <a:pt x="0" y="580"/>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27051" name="Freeform 75"/>
          <p:cNvSpPr/>
          <p:nvPr/>
        </p:nvSpPr>
        <p:spPr bwMode="auto">
          <a:xfrm>
            <a:off x="5605463" y="4224338"/>
            <a:ext cx="185737" cy="165100"/>
          </a:xfrm>
          <a:custGeom>
            <a:avLst/>
            <a:gdLst>
              <a:gd name="T0" fmla="*/ 0 w 132"/>
              <a:gd name="T1" fmla="*/ 0 h 132"/>
              <a:gd name="T2" fmla="*/ 2147483647 w 132"/>
              <a:gd name="T3" fmla="*/ 2147483647 h 132"/>
              <a:gd name="T4" fmla="*/ 2147483647 w 132"/>
              <a:gd name="T5" fmla="*/ 2147483647 h 132"/>
              <a:gd name="T6" fmla="*/ 2147483647 w 132"/>
              <a:gd name="T7" fmla="*/ 2147483647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 name="Group 80"/>
          <p:cNvGrpSpPr/>
          <p:nvPr/>
        </p:nvGrpSpPr>
        <p:grpSpPr bwMode="auto">
          <a:xfrm>
            <a:off x="5781675" y="4224338"/>
            <a:ext cx="290513" cy="165100"/>
            <a:chOff x="2561" y="3552"/>
            <a:chExt cx="259" cy="132"/>
          </a:xfrm>
        </p:grpSpPr>
        <p:sp>
          <p:nvSpPr>
            <p:cNvPr id="14377" name="Freeform 81"/>
            <p:cNvSpPr/>
            <p:nvPr/>
          </p:nvSpPr>
          <p:spPr bwMode="auto">
            <a:xfrm>
              <a:off x="2688"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78" name="Freeform 82"/>
            <p:cNvSpPr/>
            <p:nvPr/>
          </p:nvSpPr>
          <p:spPr bwMode="auto">
            <a:xfrm flipH="1">
              <a:off x="2561"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 name="Group 83"/>
          <p:cNvGrpSpPr/>
          <p:nvPr/>
        </p:nvGrpSpPr>
        <p:grpSpPr bwMode="auto">
          <a:xfrm>
            <a:off x="6091238" y="4224338"/>
            <a:ext cx="290512" cy="165100"/>
            <a:chOff x="2561" y="3552"/>
            <a:chExt cx="259" cy="132"/>
          </a:xfrm>
        </p:grpSpPr>
        <p:sp>
          <p:nvSpPr>
            <p:cNvPr id="14375" name="Freeform 84"/>
            <p:cNvSpPr/>
            <p:nvPr/>
          </p:nvSpPr>
          <p:spPr bwMode="auto">
            <a:xfrm>
              <a:off x="2688"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76" name="Freeform 85"/>
            <p:cNvSpPr/>
            <p:nvPr/>
          </p:nvSpPr>
          <p:spPr bwMode="auto">
            <a:xfrm flipH="1">
              <a:off x="2561"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6" name="Group 86"/>
          <p:cNvGrpSpPr/>
          <p:nvPr/>
        </p:nvGrpSpPr>
        <p:grpSpPr bwMode="auto">
          <a:xfrm>
            <a:off x="6400800" y="4224338"/>
            <a:ext cx="290513" cy="165100"/>
            <a:chOff x="2561" y="3552"/>
            <a:chExt cx="259" cy="132"/>
          </a:xfrm>
        </p:grpSpPr>
        <p:sp>
          <p:nvSpPr>
            <p:cNvPr id="14373" name="Freeform 87"/>
            <p:cNvSpPr/>
            <p:nvPr/>
          </p:nvSpPr>
          <p:spPr bwMode="auto">
            <a:xfrm>
              <a:off x="2688"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74" name="Freeform 88"/>
            <p:cNvSpPr/>
            <p:nvPr/>
          </p:nvSpPr>
          <p:spPr bwMode="auto">
            <a:xfrm flipH="1">
              <a:off x="2561"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7" name="Group 89"/>
          <p:cNvGrpSpPr/>
          <p:nvPr/>
        </p:nvGrpSpPr>
        <p:grpSpPr bwMode="auto">
          <a:xfrm>
            <a:off x="6710363" y="4224338"/>
            <a:ext cx="290512" cy="165100"/>
            <a:chOff x="2561" y="3552"/>
            <a:chExt cx="259" cy="132"/>
          </a:xfrm>
        </p:grpSpPr>
        <p:sp>
          <p:nvSpPr>
            <p:cNvPr id="14371" name="Freeform 90"/>
            <p:cNvSpPr/>
            <p:nvPr/>
          </p:nvSpPr>
          <p:spPr bwMode="auto">
            <a:xfrm>
              <a:off x="2688"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72" name="Freeform 91"/>
            <p:cNvSpPr/>
            <p:nvPr/>
          </p:nvSpPr>
          <p:spPr bwMode="auto">
            <a:xfrm flipH="1">
              <a:off x="2561"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8" name="Group 92"/>
          <p:cNvGrpSpPr/>
          <p:nvPr/>
        </p:nvGrpSpPr>
        <p:grpSpPr bwMode="auto">
          <a:xfrm>
            <a:off x="7019925" y="4224338"/>
            <a:ext cx="290513" cy="165100"/>
            <a:chOff x="2561" y="3552"/>
            <a:chExt cx="259" cy="132"/>
          </a:xfrm>
        </p:grpSpPr>
        <p:sp>
          <p:nvSpPr>
            <p:cNvPr id="14369" name="Freeform 93"/>
            <p:cNvSpPr/>
            <p:nvPr/>
          </p:nvSpPr>
          <p:spPr bwMode="auto">
            <a:xfrm>
              <a:off x="2688"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70" name="Freeform 94"/>
            <p:cNvSpPr/>
            <p:nvPr/>
          </p:nvSpPr>
          <p:spPr bwMode="auto">
            <a:xfrm flipH="1">
              <a:off x="2561"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9" name="Group 95"/>
          <p:cNvGrpSpPr/>
          <p:nvPr/>
        </p:nvGrpSpPr>
        <p:grpSpPr bwMode="auto">
          <a:xfrm>
            <a:off x="7329488" y="4224338"/>
            <a:ext cx="290512" cy="165100"/>
            <a:chOff x="2561" y="3552"/>
            <a:chExt cx="259" cy="132"/>
          </a:xfrm>
        </p:grpSpPr>
        <p:sp>
          <p:nvSpPr>
            <p:cNvPr id="14367" name="Freeform 96"/>
            <p:cNvSpPr/>
            <p:nvPr/>
          </p:nvSpPr>
          <p:spPr bwMode="auto">
            <a:xfrm>
              <a:off x="2688"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68" name="Freeform 97"/>
            <p:cNvSpPr/>
            <p:nvPr/>
          </p:nvSpPr>
          <p:spPr bwMode="auto">
            <a:xfrm flipH="1">
              <a:off x="2561" y="3552"/>
              <a:ext cx="132" cy="132"/>
            </a:xfrm>
            <a:custGeom>
              <a:avLst/>
              <a:gdLst>
                <a:gd name="T0" fmla="*/ 0 w 132"/>
                <a:gd name="T1" fmla="*/ 0 h 132"/>
                <a:gd name="T2" fmla="*/ 52 w 132"/>
                <a:gd name="T3" fmla="*/ 12 h 132"/>
                <a:gd name="T4" fmla="*/ 100 w 132"/>
                <a:gd name="T5" fmla="*/ 64 h 132"/>
                <a:gd name="T6" fmla="*/ 132 w 132"/>
                <a:gd name="T7" fmla="*/ 132 h 132"/>
                <a:gd name="T8" fmla="*/ 0 60000 65536"/>
                <a:gd name="T9" fmla="*/ 0 60000 65536"/>
                <a:gd name="T10" fmla="*/ 0 60000 65536"/>
                <a:gd name="T11" fmla="*/ 0 60000 65536"/>
                <a:gd name="T12" fmla="*/ 0 w 132"/>
                <a:gd name="T13" fmla="*/ 0 h 132"/>
                <a:gd name="T14" fmla="*/ 132 w 132"/>
                <a:gd name="T15" fmla="*/ 132 h 132"/>
              </a:gdLst>
              <a:ahLst/>
              <a:cxnLst>
                <a:cxn ang="T8">
                  <a:pos x="T0" y="T1"/>
                </a:cxn>
                <a:cxn ang="T9">
                  <a:pos x="T2" y="T3"/>
                </a:cxn>
                <a:cxn ang="T10">
                  <a:pos x="T4" y="T5"/>
                </a:cxn>
                <a:cxn ang="T11">
                  <a:pos x="T6" y="T7"/>
                </a:cxn>
              </a:cxnLst>
              <a:rect l="T12" t="T13" r="T14" b="T15"/>
              <a:pathLst>
                <a:path w="132" h="132">
                  <a:moveTo>
                    <a:pt x="0" y="0"/>
                  </a:moveTo>
                  <a:cubicBezTo>
                    <a:pt x="9" y="2"/>
                    <a:pt x="35" y="1"/>
                    <a:pt x="52" y="12"/>
                  </a:cubicBezTo>
                  <a:cubicBezTo>
                    <a:pt x="69" y="23"/>
                    <a:pt x="87" y="44"/>
                    <a:pt x="100" y="64"/>
                  </a:cubicBezTo>
                  <a:cubicBezTo>
                    <a:pt x="113" y="84"/>
                    <a:pt x="125" y="118"/>
                    <a:pt x="132" y="132"/>
                  </a:cubicBez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27074" name="Rectangle 98"/>
          <p:cNvSpPr>
            <a:spLocks noChangeArrowheads="1"/>
          </p:cNvSpPr>
          <p:nvPr/>
        </p:nvSpPr>
        <p:spPr bwMode="auto">
          <a:xfrm>
            <a:off x="211138" y="3917950"/>
            <a:ext cx="493712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5000"/>
              </a:lnSpc>
            </a:pP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2 </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baseline="-25000">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3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a</a:t>
            </a:r>
            <a:r>
              <a:rPr kumimoji="1" lang="zh-CN" altLang="en-US" b="1">
                <a:solidFill>
                  <a:schemeClr val="tx2"/>
                </a:solidFill>
                <a:latin typeface="Times New Roman" panose="02020603050405020304" pitchFamily="18" charset="0"/>
                <a:cs typeface="Times New Roman" panose="02020603050405020304" pitchFamily="18" charset="0"/>
              </a:rPr>
              <a:t>最高，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c</a:t>
            </a:r>
            <a:r>
              <a:rPr kumimoji="1" lang="zh-CN" altLang="en-US" b="1">
                <a:solidFill>
                  <a:schemeClr val="tx2"/>
                </a:solidFill>
                <a:latin typeface="Times New Roman" panose="02020603050405020304" pitchFamily="18" charset="0"/>
                <a:cs typeface="Times New Roman" panose="02020603050405020304" pitchFamily="18" charset="0"/>
              </a:rPr>
              <a:t>最低，</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1</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6</a:t>
            </a:r>
            <a:r>
              <a:rPr kumimoji="1" lang="zh-CN" altLang="en-US" b="1">
                <a:solidFill>
                  <a:schemeClr val="tx2"/>
                </a:solidFill>
                <a:latin typeface="Times New Roman" panose="02020603050405020304" pitchFamily="18" charset="0"/>
                <a:cs typeface="Times New Roman" panose="02020603050405020304" pitchFamily="18" charset="0"/>
              </a:rPr>
              <a:t>通，</a:t>
            </a:r>
            <a:br>
              <a:rPr kumimoji="1" lang="zh-CN" altLang="en-US" b="1">
                <a:solidFill>
                  <a:schemeClr val="tx2"/>
                </a:solidFill>
                <a:latin typeface="Times New Roman" panose="02020603050405020304" pitchFamily="18" charset="0"/>
                <a:cs typeface="Times New Roman" panose="02020603050405020304" pitchFamily="18" charset="0"/>
              </a:rPr>
            </a:br>
            <a:r>
              <a:rPr kumimoji="1" lang="zh-CN" altLang="en-US"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ac  </a:t>
            </a:r>
            <a:r>
              <a:rPr kumimoji="1" lang="zh-CN" altLang="en-US" b="1">
                <a:solidFill>
                  <a:schemeClr val="tx2"/>
                </a:solidFill>
                <a:latin typeface="Times New Roman" panose="02020603050405020304" pitchFamily="18" charset="0"/>
                <a:cs typeface="Times New Roman" panose="02020603050405020304" pitchFamily="18" charset="0"/>
              </a:rPr>
              <a:t>（线电压）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127075" name="Freeform 99"/>
          <p:cNvSpPr/>
          <p:nvPr/>
        </p:nvSpPr>
        <p:spPr bwMode="auto">
          <a:xfrm>
            <a:off x="1189038" y="1173163"/>
            <a:ext cx="2925762" cy="2271712"/>
          </a:xfrm>
          <a:custGeom>
            <a:avLst/>
            <a:gdLst>
              <a:gd name="T0" fmla="*/ 2147483647 w 1843"/>
              <a:gd name="T1" fmla="*/ 2147483647 h 1431"/>
              <a:gd name="T2" fmla="*/ 2147483647 w 1843"/>
              <a:gd name="T3" fmla="*/ 2147483647 h 1431"/>
              <a:gd name="T4" fmla="*/ 2147483647 w 1843"/>
              <a:gd name="T5" fmla="*/ 0 h 1431"/>
              <a:gd name="T6" fmla="*/ 2147483647 w 1843"/>
              <a:gd name="T7" fmla="*/ 2147483647 h 1431"/>
              <a:gd name="T8" fmla="*/ 2147483647 w 1843"/>
              <a:gd name="T9" fmla="*/ 2147483647 h 1431"/>
              <a:gd name="T10" fmla="*/ 2147483647 w 1843"/>
              <a:gd name="T11" fmla="*/ 2147483647 h 1431"/>
              <a:gd name="T12" fmla="*/ 2147483647 w 1843"/>
              <a:gd name="T13" fmla="*/ 2147483647 h 1431"/>
              <a:gd name="T14" fmla="*/ 0 w 1843"/>
              <a:gd name="T15" fmla="*/ 2147483647 h 1431"/>
              <a:gd name="T16" fmla="*/ 0 60000 65536"/>
              <a:gd name="T17" fmla="*/ 0 60000 65536"/>
              <a:gd name="T18" fmla="*/ 0 60000 65536"/>
              <a:gd name="T19" fmla="*/ 0 60000 65536"/>
              <a:gd name="T20" fmla="*/ 0 60000 65536"/>
              <a:gd name="T21" fmla="*/ 0 60000 65536"/>
              <a:gd name="T22" fmla="*/ 0 60000 65536"/>
              <a:gd name="T23" fmla="*/ 0 60000 65536"/>
              <a:gd name="T24" fmla="*/ 0 w 1843"/>
              <a:gd name="T25" fmla="*/ 0 h 1431"/>
              <a:gd name="T26" fmla="*/ 1843 w 1843"/>
              <a:gd name="T27" fmla="*/ 1431 h 14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43" h="1431">
                <a:moveTo>
                  <a:pt x="19" y="557"/>
                </a:moveTo>
                <a:lnTo>
                  <a:pt x="249" y="547"/>
                </a:lnTo>
                <a:lnTo>
                  <a:pt x="249" y="0"/>
                </a:lnTo>
                <a:lnTo>
                  <a:pt x="1833" y="10"/>
                </a:lnTo>
                <a:lnTo>
                  <a:pt x="1843" y="1431"/>
                </a:lnTo>
                <a:lnTo>
                  <a:pt x="1209" y="1431"/>
                </a:lnTo>
                <a:lnTo>
                  <a:pt x="1209" y="1008"/>
                </a:lnTo>
                <a:lnTo>
                  <a:pt x="0" y="1008"/>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27076" name="Rectangle 100"/>
          <p:cNvSpPr>
            <a:spLocks noChangeArrowheads="1"/>
          </p:cNvSpPr>
          <p:nvPr/>
        </p:nvSpPr>
        <p:spPr bwMode="auto">
          <a:xfrm>
            <a:off x="223838" y="3914775"/>
            <a:ext cx="493712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5000"/>
              </a:lnSpc>
            </a:pP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3 </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baseline="-25000">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4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b</a:t>
            </a:r>
            <a:r>
              <a:rPr kumimoji="1" lang="zh-CN" altLang="en-US" b="1">
                <a:solidFill>
                  <a:schemeClr val="tx2"/>
                </a:solidFill>
                <a:latin typeface="Times New Roman" panose="02020603050405020304" pitchFamily="18" charset="0"/>
                <a:cs typeface="Times New Roman" panose="02020603050405020304" pitchFamily="18" charset="0"/>
              </a:rPr>
              <a:t>最高，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c</a:t>
            </a:r>
            <a:r>
              <a:rPr kumimoji="1" lang="zh-CN" altLang="en-US" b="1">
                <a:solidFill>
                  <a:schemeClr val="tx2"/>
                </a:solidFill>
                <a:latin typeface="Times New Roman" panose="02020603050405020304" pitchFamily="18" charset="0"/>
                <a:cs typeface="Times New Roman" panose="02020603050405020304" pitchFamily="18" charset="0"/>
              </a:rPr>
              <a:t>最低，</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3</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6</a:t>
            </a:r>
            <a:r>
              <a:rPr kumimoji="1" lang="zh-CN" altLang="en-US" b="1">
                <a:solidFill>
                  <a:schemeClr val="tx2"/>
                </a:solidFill>
                <a:latin typeface="Times New Roman" panose="02020603050405020304" pitchFamily="18" charset="0"/>
                <a:cs typeface="Times New Roman" panose="02020603050405020304" pitchFamily="18" charset="0"/>
              </a:rPr>
              <a:t>通，</a:t>
            </a:r>
            <a:br>
              <a:rPr kumimoji="1" lang="zh-CN" altLang="en-US" b="1">
                <a:solidFill>
                  <a:schemeClr val="tx2"/>
                </a:solidFill>
                <a:latin typeface="Times New Roman" panose="02020603050405020304" pitchFamily="18" charset="0"/>
                <a:cs typeface="Times New Roman" panose="02020603050405020304" pitchFamily="18" charset="0"/>
              </a:rPr>
            </a:br>
            <a:r>
              <a:rPr kumimoji="1" lang="zh-CN" altLang="en-US"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bc  </a:t>
            </a:r>
            <a:r>
              <a:rPr kumimoji="1" lang="zh-CN" altLang="en-US" b="1">
                <a:solidFill>
                  <a:schemeClr val="tx2"/>
                </a:solidFill>
                <a:latin typeface="Times New Roman" panose="02020603050405020304" pitchFamily="18" charset="0"/>
                <a:cs typeface="Times New Roman" panose="02020603050405020304" pitchFamily="18" charset="0"/>
              </a:rPr>
              <a:t>（线电压）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127077" name="Freeform 101"/>
          <p:cNvSpPr/>
          <p:nvPr/>
        </p:nvSpPr>
        <p:spPr bwMode="auto">
          <a:xfrm>
            <a:off x="1235075" y="1279525"/>
            <a:ext cx="2819400" cy="2119313"/>
          </a:xfrm>
          <a:custGeom>
            <a:avLst/>
            <a:gdLst>
              <a:gd name="T0" fmla="*/ 0 w 1776"/>
              <a:gd name="T1" fmla="*/ 2147483647 h 1335"/>
              <a:gd name="T2" fmla="*/ 2147483647 w 1776"/>
              <a:gd name="T3" fmla="*/ 2147483647 h 1335"/>
              <a:gd name="T4" fmla="*/ 2147483647 w 1776"/>
              <a:gd name="T5" fmla="*/ 0 h 1335"/>
              <a:gd name="T6" fmla="*/ 2147483647 w 1776"/>
              <a:gd name="T7" fmla="*/ 0 h 1335"/>
              <a:gd name="T8" fmla="*/ 2147483647 w 1776"/>
              <a:gd name="T9" fmla="*/ 2147483647 h 1335"/>
              <a:gd name="T10" fmla="*/ 2147483647 w 1776"/>
              <a:gd name="T11" fmla="*/ 2147483647 h 1335"/>
              <a:gd name="T12" fmla="*/ 2147483647 w 1776"/>
              <a:gd name="T13" fmla="*/ 2147483647 h 1335"/>
              <a:gd name="T14" fmla="*/ 2147483647 w 1776"/>
              <a:gd name="T15" fmla="*/ 2147483647 h 1335"/>
              <a:gd name="T16" fmla="*/ 0 60000 65536"/>
              <a:gd name="T17" fmla="*/ 0 60000 65536"/>
              <a:gd name="T18" fmla="*/ 0 60000 65536"/>
              <a:gd name="T19" fmla="*/ 0 60000 65536"/>
              <a:gd name="T20" fmla="*/ 0 60000 65536"/>
              <a:gd name="T21" fmla="*/ 0 60000 65536"/>
              <a:gd name="T22" fmla="*/ 0 60000 65536"/>
              <a:gd name="T23" fmla="*/ 0 60000 65536"/>
              <a:gd name="T24" fmla="*/ 0 w 1776"/>
              <a:gd name="T25" fmla="*/ 0 h 1335"/>
              <a:gd name="T26" fmla="*/ 1776 w 1776"/>
              <a:gd name="T27" fmla="*/ 1335 h 133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76" h="1335">
                <a:moveTo>
                  <a:pt x="0" y="596"/>
                </a:moveTo>
                <a:lnTo>
                  <a:pt x="710" y="596"/>
                </a:lnTo>
                <a:lnTo>
                  <a:pt x="710" y="0"/>
                </a:lnTo>
                <a:lnTo>
                  <a:pt x="1776" y="0"/>
                </a:lnTo>
                <a:lnTo>
                  <a:pt x="1766" y="1325"/>
                </a:lnTo>
                <a:lnTo>
                  <a:pt x="1180" y="1335"/>
                </a:lnTo>
                <a:lnTo>
                  <a:pt x="1180" y="941"/>
                </a:lnTo>
                <a:lnTo>
                  <a:pt x="9" y="941"/>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27078" name="Rectangle 102"/>
          <p:cNvSpPr>
            <a:spLocks noChangeArrowheads="1"/>
          </p:cNvSpPr>
          <p:nvPr/>
        </p:nvSpPr>
        <p:spPr bwMode="auto">
          <a:xfrm>
            <a:off x="309563" y="3833813"/>
            <a:ext cx="4937125"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5000"/>
              </a:lnSpc>
            </a:pP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4 </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baseline="-25000">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5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b</a:t>
            </a:r>
            <a:r>
              <a:rPr kumimoji="1" lang="zh-CN" altLang="en-US" b="1">
                <a:solidFill>
                  <a:schemeClr val="tx2"/>
                </a:solidFill>
                <a:latin typeface="Times New Roman" panose="02020603050405020304" pitchFamily="18" charset="0"/>
                <a:cs typeface="Times New Roman" panose="02020603050405020304" pitchFamily="18" charset="0"/>
              </a:rPr>
              <a:t>最高，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a</a:t>
            </a:r>
            <a:r>
              <a:rPr kumimoji="1" lang="zh-CN" altLang="en-US" b="1">
                <a:solidFill>
                  <a:schemeClr val="tx2"/>
                </a:solidFill>
                <a:latin typeface="Times New Roman" panose="02020603050405020304" pitchFamily="18" charset="0"/>
                <a:cs typeface="Times New Roman" panose="02020603050405020304" pitchFamily="18" charset="0"/>
              </a:rPr>
              <a:t>最低，</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3</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2</a:t>
            </a:r>
            <a:r>
              <a:rPr kumimoji="1" lang="zh-CN" altLang="en-US" b="1">
                <a:solidFill>
                  <a:schemeClr val="tx2"/>
                </a:solidFill>
                <a:latin typeface="Times New Roman" panose="02020603050405020304" pitchFamily="18" charset="0"/>
                <a:cs typeface="Times New Roman" panose="02020603050405020304" pitchFamily="18" charset="0"/>
              </a:rPr>
              <a:t>通，</a:t>
            </a:r>
            <a:br>
              <a:rPr kumimoji="1" lang="zh-CN" altLang="en-US" b="1">
                <a:solidFill>
                  <a:schemeClr val="tx2"/>
                </a:solidFill>
                <a:latin typeface="Times New Roman" panose="02020603050405020304" pitchFamily="18" charset="0"/>
                <a:cs typeface="Times New Roman" panose="02020603050405020304" pitchFamily="18" charset="0"/>
              </a:rPr>
            </a:br>
            <a:r>
              <a:rPr kumimoji="1" lang="zh-CN" altLang="en-US"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ba  </a:t>
            </a:r>
            <a:r>
              <a:rPr kumimoji="1" lang="zh-CN" altLang="en-US" b="1">
                <a:solidFill>
                  <a:schemeClr val="tx2"/>
                </a:solidFill>
                <a:latin typeface="Times New Roman" panose="02020603050405020304" pitchFamily="18" charset="0"/>
                <a:cs typeface="Times New Roman" panose="02020603050405020304" pitchFamily="18" charset="0"/>
              </a:rPr>
              <a:t>（线电压）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127079" name="Freeform 103"/>
          <p:cNvSpPr/>
          <p:nvPr/>
        </p:nvSpPr>
        <p:spPr bwMode="auto">
          <a:xfrm>
            <a:off x="1189038" y="1279525"/>
            <a:ext cx="2773362" cy="2012950"/>
          </a:xfrm>
          <a:custGeom>
            <a:avLst/>
            <a:gdLst>
              <a:gd name="T0" fmla="*/ 0 w 1747"/>
              <a:gd name="T1" fmla="*/ 2147483647 h 1268"/>
              <a:gd name="T2" fmla="*/ 2147483647 w 1747"/>
              <a:gd name="T3" fmla="*/ 2147483647 h 1268"/>
              <a:gd name="T4" fmla="*/ 2147483647 w 1747"/>
              <a:gd name="T5" fmla="*/ 0 h 1268"/>
              <a:gd name="T6" fmla="*/ 2147483647 w 1747"/>
              <a:gd name="T7" fmla="*/ 0 h 1268"/>
              <a:gd name="T8" fmla="*/ 2147483647 w 1747"/>
              <a:gd name="T9" fmla="*/ 2147483647 h 1268"/>
              <a:gd name="T10" fmla="*/ 2147483647 w 1747"/>
              <a:gd name="T11" fmla="*/ 2147483647 h 1268"/>
              <a:gd name="T12" fmla="*/ 2147483647 w 1747"/>
              <a:gd name="T13" fmla="*/ 2147483647 h 1268"/>
              <a:gd name="T14" fmla="*/ 2147483647 w 1747"/>
              <a:gd name="T15" fmla="*/ 2147483647 h 1268"/>
              <a:gd name="T16" fmla="*/ 0 60000 65536"/>
              <a:gd name="T17" fmla="*/ 0 60000 65536"/>
              <a:gd name="T18" fmla="*/ 0 60000 65536"/>
              <a:gd name="T19" fmla="*/ 0 60000 65536"/>
              <a:gd name="T20" fmla="*/ 0 60000 65536"/>
              <a:gd name="T21" fmla="*/ 0 60000 65536"/>
              <a:gd name="T22" fmla="*/ 0 60000 65536"/>
              <a:gd name="T23" fmla="*/ 0 60000 65536"/>
              <a:gd name="T24" fmla="*/ 0 w 1747"/>
              <a:gd name="T25" fmla="*/ 0 h 1268"/>
              <a:gd name="T26" fmla="*/ 1747 w 1747"/>
              <a:gd name="T27" fmla="*/ 1268 h 12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47" h="1268">
                <a:moveTo>
                  <a:pt x="0" y="682"/>
                </a:moveTo>
                <a:lnTo>
                  <a:pt x="710" y="682"/>
                </a:lnTo>
                <a:lnTo>
                  <a:pt x="710" y="0"/>
                </a:lnTo>
                <a:lnTo>
                  <a:pt x="1737" y="0"/>
                </a:lnTo>
                <a:lnTo>
                  <a:pt x="1747" y="1268"/>
                </a:lnTo>
                <a:lnTo>
                  <a:pt x="297" y="1268"/>
                </a:lnTo>
                <a:lnTo>
                  <a:pt x="297" y="432"/>
                </a:lnTo>
                <a:lnTo>
                  <a:pt x="9" y="432"/>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27080" name="Rectangle 104"/>
          <p:cNvSpPr>
            <a:spLocks noChangeArrowheads="1"/>
          </p:cNvSpPr>
          <p:nvPr/>
        </p:nvSpPr>
        <p:spPr bwMode="auto">
          <a:xfrm>
            <a:off x="276225" y="3814763"/>
            <a:ext cx="4937125"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5000"/>
              </a:lnSpc>
            </a:pP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5 </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baseline="-25000">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6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c</a:t>
            </a:r>
            <a:r>
              <a:rPr kumimoji="1" lang="zh-CN" altLang="en-US" b="1">
                <a:solidFill>
                  <a:schemeClr val="tx2"/>
                </a:solidFill>
                <a:latin typeface="Times New Roman" panose="02020603050405020304" pitchFamily="18" charset="0"/>
                <a:cs typeface="Times New Roman" panose="02020603050405020304" pitchFamily="18" charset="0"/>
              </a:rPr>
              <a:t>最高，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a</a:t>
            </a:r>
            <a:r>
              <a:rPr kumimoji="1" lang="zh-CN" altLang="en-US" b="1">
                <a:solidFill>
                  <a:schemeClr val="tx2"/>
                </a:solidFill>
                <a:latin typeface="Times New Roman" panose="02020603050405020304" pitchFamily="18" charset="0"/>
                <a:cs typeface="Times New Roman" panose="02020603050405020304" pitchFamily="18" charset="0"/>
              </a:rPr>
              <a:t>最低，</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5</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2</a:t>
            </a:r>
            <a:r>
              <a:rPr kumimoji="1" lang="zh-CN" altLang="en-US" b="1">
                <a:solidFill>
                  <a:schemeClr val="tx2"/>
                </a:solidFill>
                <a:latin typeface="Times New Roman" panose="02020603050405020304" pitchFamily="18" charset="0"/>
                <a:cs typeface="Times New Roman" panose="02020603050405020304" pitchFamily="18" charset="0"/>
              </a:rPr>
              <a:t>通，</a:t>
            </a:r>
            <a:br>
              <a:rPr kumimoji="1" lang="zh-CN" altLang="en-US" b="1">
                <a:solidFill>
                  <a:schemeClr val="tx2"/>
                </a:solidFill>
                <a:latin typeface="Times New Roman" panose="02020603050405020304" pitchFamily="18" charset="0"/>
                <a:cs typeface="Times New Roman" panose="02020603050405020304" pitchFamily="18" charset="0"/>
              </a:rPr>
            </a:br>
            <a:r>
              <a:rPr kumimoji="1" lang="zh-CN" altLang="en-US"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ca  </a:t>
            </a:r>
            <a:r>
              <a:rPr kumimoji="1" lang="zh-CN" altLang="en-US" b="1">
                <a:solidFill>
                  <a:schemeClr val="tx2"/>
                </a:solidFill>
                <a:latin typeface="Times New Roman" panose="02020603050405020304" pitchFamily="18" charset="0"/>
                <a:cs typeface="Times New Roman" panose="02020603050405020304" pitchFamily="18" charset="0"/>
              </a:rPr>
              <a:t>（线电压）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127081" name="Freeform 105"/>
          <p:cNvSpPr/>
          <p:nvPr/>
        </p:nvSpPr>
        <p:spPr bwMode="auto">
          <a:xfrm>
            <a:off x="1189038" y="1265238"/>
            <a:ext cx="2833687" cy="2103437"/>
          </a:xfrm>
          <a:custGeom>
            <a:avLst/>
            <a:gdLst>
              <a:gd name="T0" fmla="*/ 0 w 1785"/>
              <a:gd name="T1" fmla="*/ 2147483647 h 1325"/>
              <a:gd name="T2" fmla="*/ 2147483647 w 1785"/>
              <a:gd name="T3" fmla="*/ 2147483647 h 1325"/>
              <a:gd name="T4" fmla="*/ 2147483647 w 1785"/>
              <a:gd name="T5" fmla="*/ 0 h 1325"/>
              <a:gd name="T6" fmla="*/ 2147483647 w 1785"/>
              <a:gd name="T7" fmla="*/ 0 h 1325"/>
              <a:gd name="T8" fmla="*/ 2147483647 w 1785"/>
              <a:gd name="T9" fmla="*/ 2147483647 h 1325"/>
              <a:gd name="T10" fmla="*/ 2147483647 w 1785"/>
              <a:gd name="T11" fmla="*/ 2147483647 h 1325"/>
              <a:gd name="T12" fmla="*/ 2147483647 w 1785"/>
              <a:gd name="T13" fmla="*/ 2147483647 h 1325"/>
              <a:gd name="T14" fmla="*/ 2147483647 w 1785"/>
              <a:gd name="T15" fmla="*/ 2147483647 h 1325"/>
              <a:gd name="T16" fmla="*/ 0 60000 65536"/>
              <a:gd name="T17" fmla="*/ 0 60000 65536"/>
              <a:gd name="T18" fmla="*/ 0 60000 65536"/>
              <a:gd name="T19" fmla="*/ 0 60000 65536"/>
              <a:gd name="T20" fmla="*/ 0 60000 65536"/>
              <a:gd name="T21" fmla="*/ 0 60000 65536"/>
              <a:gd name="T22" fmla="*/ 0 60000 65536"/>
              <a:gd name="T23" fmla="*/ 0 60000 65536"/>
              <a:gd name="T24" fmla="*/ 0 w 1785"/>
              <a:gd name="T25" fmla="*/ 0 h 1325"/>
              <a:gd name="T26" fmla="*/ 1785 w 1785"/>
              <a:gd name="T27" fmla="*/ 1325 h 13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85" h="1325">
                <a:moveTo>
                  <a:pt x="0" y="950"/>
                </a:moveTo>
                <a:lnTo>
                  <a:pt x="1219" y="950"/>
                </a:lnTo>
                <a:lnTo>
                  <a:pt x="1219" y="0"/>
                </a:lnTo>
                <a:lnTo>
                  <a:pt x="1785" y="0"/>
                </a:lnTo>
                <a:lnTo>
                  <a:pt x="1785" y="1325"/>
                </a:lnTo>
                <a:lnTo>
                  <a:pt x="278" y="1305"/>
                </a:lnTo>
                <a:lnTo>
                  <a:pt x="278" y="441"/>
                </a:lnTo>
                <a:lnTo>
                  <a:pt x="19" y="441"/>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27082" name="Rectangle 106"/>
          <p:cNvSpPr>
            <a:spLocks noChangeArrowheads="1"/>
          </p:cNvSpPr>
          <p:nvPr/>
        </p:nvSpPr>
        <p:spPr bwMode="auto">
          <a:xfrm>
            <a:off x="242888" y="3871913"/>
            <a:ext cx="4937125"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5000"/>
              </a:lnSpc>
            </a:pP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6 </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baseline="-25000">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t</a:t>
            </a:r>
            <a:r>
              <a:rPr kumimoji="1" lang="en-US" altLang="zh-CN" b="1" baseline="-25000">
                <a:solidFill>
                  <a:schemeClr val="tx2"/>
                </a:solidFill>
                <a:latin typeface="Times New Roman" panose="02020603050405020304" pitchFamily="18" charset="0"/>
                <a:cs typeface="Times New Roman" panose="02020603050405020304" pitchFamily="18" charset="0"/>
              </a:rPr>
              <a:t>7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c</a:t>
            </a:r>
            <a:r>
              <a:rPr kumimoji="1" lang="zh-CN" altLang="en-US" b="1">
                <a:solidFill>
                  <a:schemeClr val="tx2"/>
                </a:solidFill>
                <a:latin typeface="Times New Roman" panose="02020603050405020304" pitchFamily="18" charset="0"/>
                <a:cs typeface="Times New Roman" panose="02020603050405020304" pitchFamily="18" charset="0"/>
              </a:rPr>
              <a:t>最高，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b</a:t>
            </a:r>
            <a:r>
              <a:rPr kumimoji="1" lang="zh-CN" altLang="en-US" b="1">
                <a:solidFill>
                  <a:schemeClr val="tx2"/>
                </a:solidFill>
                <a:latin typeface="Times New Roman" panose="02020603050405020304" pitchFamily="18" charset="0"/>
                <a:cs typeface="Times New Roman" panose="02020603050405020304" pitchFamily="18" charset="0"/>
              </a:rPr>
              <a:t>最低，</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5</a:t>
            </a:r>
            <a:r>
              <a:rPr kumimoji="1" lang="en-US" altLang="zh-CN" b="1" i="1">
                <a:solidFill>
                  <a:schemeClr val="tx2"/>
                </a:solidFill>
                <a:latin typeface="Times New Roman" panose="02020603050405020304" pitchFamily="18" charset="0"/>
                <a:cs typeface="Times New Roman" panose="02020603050405020304" pitchFamily="18" charset="0"/>
              </a:rPr>
              <a:t>D</a:t>
            </a:r>
            <a:r>
              <a:rPr kumimoji="1" lang="en-US" altLang="zh-CN" b="1" baseline="-25000">
                <a:solidFill>
                  <a:schemeClr val="tx2"/>
                </a:solidFill>
                <a:latin typeface="Times New Roman" panose="02020603050405020304" pitchFamily="18" charset="0"/>
                <a:cs typeface="Times New Roman" panose="02020603050405020304" pitchFamily="18" charset="0"/>
              </a:rPr>
              <a:t>4</a:t>
            </a:r>
            <a:r>
              <a:rPr kumimoji="1" lang="zh-CN" altLang="en-US" b="1">
                <a:solidFill>
                  <a:schemeClr val="tx2"/>
                </a:solidFill>
                <a:latin typeface="Times New Roman" panose="02020603050405020304" pitchFamily="18" charset="0"/>
                <a:cs typeface="Times New Roman" panose="02020603050405020304" pitchFamily="18" charset="0"/>
              </a:rPr>
              <a:t>通，</a:t>
            </a:r>
            <a:br>
              <a:rPr kumimoji="1" lang="zh-CN" altLang="en-US" b="1">
                <a:solidFill>
                  <a:schemeClr val="tx2"/>
                </a:solidFill>
                <a:latin typeface="Times New Roman" panose="02020603050405020304" pitchFamily="18" charset="0"/>
                <a:cs typeface="Times New Roman" panose="02020603050405020304" pitchFamily="18" charset="0"/>
              </a:rPr>
            </a:br>
            <a:r>
              <a:rPr kumimoji="1" lang="zh-CN" altLang="en-US"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a:t>
            </a:r>
            <a:r>
              <a:rPr kumimoji="1" lang="en-US" altLang="zh-CN" b="1">
                <a:solidFill>
                  <a:schemeClr val="tx2"/>
                </a:solidFill>
                <a:latin typeface="Times New Roman" panose="02020603050405020304" pitchFamily="18" charset="0"/>
                <a:cs typeface="Times New Roman" panose="02020603050405020304" pitchFamily="18" charset="0"/>
              </a:rPr>
              <a:t>=</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i="1" baseline="-25000">
                <a:solidFill>
                  <a:schemeClr val="tx2"/>
                </a:solidFill>
                <a:latin typeface="Times New Roman" panose="02020603050405020304" pitchFamily="18" charset="0"/>
                <a:cs typeface="Times New Roman" panose="02020603050405020304" pitchFamily="18" charset="0"/>
              </a:rPr>
              <a:t>cb  </a:t>
            </a:r>
            <a:r>
              <a:rPr kumimoji="1" lang="zh-CN" altLang="en-US" b="1">
                <a:solidFill>
                  <a:schemeClr val="tx2"/>
                </a:solidFill>
                <a:latin typeface="Times New Roman" panose="02020603050405020304" pitchFamily="18" charset="0"/>
                <a:cs typeface="Times New Roman" panose="02020603050405020304" pitchFamily="18" charset="0"/>
              </a:rPr>
              <a:t>（线电压）</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127083" name="Freeform 107"/>
          <p:cNvSpPr/>
          <p:nvPr/>
        </p:nvSpPr>
        <p:spPr bwMode="auto">
          <a:xfrm>
            <a:off x="1203325" y="1295400"/>
            <a:ext cx="2789238" cy="2087563"/>
          </a:xfrm>
          <a:custGeom>
            <a:avLst/>
            <a:gdLst>
              <a:gd name="T0" fmla="*/ 0 w 1757"/>
              <a:gd name="T1" fmla="*/ 2147483647 h 1315"/>
              <a:gd name="T2" fmla="*/ 2147483647 w 1757"/>
              <a:gd name="T3" fmla="*/ 2147483647 h 1315"/>
              <a:gd name="T4" fmla="*/ 2147483647 w 1757"/>
              <a:gd name="T5" fmla="*/ 0 h 1315"/>
              <a:gd name="T6" fmla="*/ 2147483647 w 1757"/>
              <a:gd name="T7" fmla="*/ 0 h 1315"/>
              <a:gd name="T8" fmla="*/ 2147483647 w 1757"/>
              <a:gd name="T9" fmla="*/ 2147483647 h 1315"/>
              <a:gd name="T10" fmla="*/ 2147483647 w 1757"/>
              <a:gd name="T11" fmla="*/ 2147483647 h 1315"/>
              <a:gd name="T12" fmla="*/ 2147483647 w 1757"/>
              <a:gd name="T13" fmla="*/ 2147483647 h 1315"/>
              <a:gd name="T14" fmla="*/ 2147483647 w 1757"/>
              <a:gd name="T15" fmla="*/ 2147483647 h 1315"/>
              <a:gd name="T16" fmla="*/ 0 60000 65536"/>
              <a:gd name="T17" fmla="*/ 0 60000 65536"/>
              <a:gd name="T18" fmla="*/ 0 60000 65536"/>
              <a:gd name="T19" fmla="*/ 0 60000 65536"/>
              <a:gd name="T20" fmla="*/ 0 60000 65536"/>
              <a:gd name="T21" fmla="*/ 0 60000 65536"/>
              <a:gd name="T22" fmla="*/ 0 60000 65536"/>
              <a:gd name="T23" fmla="*/ 0 60000 65536"/>
              <a:gd name="T24" fmla="*/ 0 w 1757"/>
              <a:gd name="T25" fmla="*/ 0 h 1315"/>
              <a:gd name="T26" fmla="*/ 1757 w 1757"/>
              <a:gd name="T27" fmla="*/ 1315 h 13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57" h="1315">
                <a:moveTo>
                  <a:pt x="0" y="931"/>
                </a:moveTo>
                <a:lnTo>
                  <a:pt x="1210" y="931"/>
                </a:lnTo>
                <a:lnTo>
                  <a:pt x="1210" y="0"/>
                </a:lnTo>
                <a:lnTo>
                  <a:pt x="1757" y="0"/>
                </a:lnTo>
                <a:lnTo>
                  <a:pt x="1757" y="1315"/>
                </a:lnTo>
                <a:lnTo>
                  <a:pt x="740" y="1315"/>
                </a:lnTo>
                <a:lnTo>
                  <a:pt x="740" y="691"/>
                </a:lnTo>
                <a:lnTo>
                  <a:pt x="10" y="691"/>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27084" name="Rectangle 108"/>
          <p:cNvSpPr>
            <a:spLocks noChangeArrowheads="1"/>
          </p:cNvSpPr>
          <p:nvPr/>
        </p:nvSpPr>
        <p:spPr bwMode="auto">
          <a:xfrm>
            <a:off x="449263" y="3806825"/>
            <a:ext cx="4343400" cy="965200"/>
          </a:xfrm>
          <a:prstGeom prst="rect">
            <a:avLst/>
          </a:prstGeom>
          <a:noFill/>
          <a:ln w="9525">
            <a:noFill/>
            <a:miter lim="800000"/>
          </a:ln>
          <a:effectLst/>
        </p:spPr>
        <p:txBody>
          <a:bodyPr>
            <a:spAutoFit/>
          </a:bodyPr>
          <a:lstStyle/>
          <a:p>
            <a:pPr>
              <a:lnSpc>
                <a:spcPct val="105000"/>
              </a:lnSpc>
              <a:defRPr/>
            </a:pPr>
            <a:r>
              <a:rPr kumimoji="1" lang="zh-CN" altLang="en-US"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结论：</a:t>
            </a:r>
            <a:r>
              <a:rPr kumimoji="1" lang="zh-CN" altLang="en-US" b="1">
                <a:solidFill>
                  <a:schemeClr val="tx2"/>
                </a:solidFill>
                <a:latin typeface="Times New Roman" panose="02020603050405020304" pitchFamily="18" charset="0"/>
                <a:cs typeface="Times New Roman" panose="02020603050405020304" pitchFamily="18" charset="0"/>
              </a:rPr>
              <a:t> </a:t>
            </a:r>
            <a:endParaRPr kumimoji="1" lang="zh-CN" altLang="en-US" b="1">
              <a:solidFill>
                <a:schemeClr val="tx2"/>
              </a:solidFill>
              <a:latin typeface="Times New Roman" panose="02020603050405020304" pitchFamily="18" charset="0"/>
              <a:cs typeface="Times New Roman" panose="02020603050405020304" pitchFamily="18" charset="0"/>
            </a:endParaRPr>
          </a:p>
          <a:p>
            <a:pPr>
              <a:lnSpc>
                <a:spcPct val="105000"/>
              </a:lnSpc>
              <a:defRPr/>
            </a:pPr>
            <a:r>
              <a:rPr kumimoji="1" lang="zh-CN" altLang="en-US" b="1">
                <a:solidFill>
                  <a:schemeClr val="tx2"/>
                </a:solidFill>
                <a:latin typeface="Times New Roman" panose="02020603050405020304" pitchFamily="18" charset="0"/>
                <a:cs typeface="Times New Roman" panose="02020603050405020304" pitchFamily="18" charset="0"/>
              </a:rPr>
              <a:t>在一个周期中，每个二极管只有三分之一的时间导通（导通角为</a:t>
            </a:r>
            <a:r>
              <a:rPr kumimoji="1" lang="en-US" altLang="zh-CN" b="1">
                <a:solidFill>
                  <a:schemeClr val="tx2"/>
                </a:solidFill>
                <a:latin typeface="Times New Roman" panose="02020603050405020304" pitchFamily="18" charset="0"/>
                <a:cs typeface="Times New Roman" panose="02020603050405020304" pitchFamily="18" charset="0"/>
              </a:rPr>
              <a:t>120°</a:t>
            </a:r>
            <a:r>
              <a:rPr kumimoji="1" lang="zh-CN" altLang="en-US" b="1">
                <a:solidFill>
                  <a:schemeClr val="tx2"/>
                </a:solidFill>
                <a:latin typeface="Times New Roman" panose="02020603050405020304" pitchFamily="18" charset="0"/>
                <a:cs typeface="Times New Roman" panose="02020603050405020304" pitchFamily="18" charset="0"/>
              </a:rPr>
              <a:t>）。</a:t>
            </a:r>
            <a:endParaRPr kumimoji="1" lang="zh-CN" altLang="en-US" b="1">
              <a:solidFill>
                <a:schemeClr val="tx2"/>
              </a:solidFill>
              <a:latin typeface="Times New Roman" panose="02020603050405020304" pitchFamily="18" charset="0"/>
              <a:cs typeface="Times New Roman" panose="02020603050405020304" pitchFamily="18" charset="0"/>
            </a:endParaRPr>
          </a:p>
        </p:txBody>
      </p:sp>
      <p:sp>
        <p:nvSpPr>
          <p:cNvPr id="127085" name="Rectangle 109" descr="70%"/>
          <p:cNvSpPr>
            <a:spLocks noChangeArrowheads="1"/>
          </p:cNvSpPr>
          <p:nvPr/>
        </p:nvSpPr>
        <p:spPr bwMode="auto">
          <a:xfrm>
            <a:off x="473075" y="5280025"/>
            <a:ext cx="4648200" cy="773113"/>
          </a:xfrm>
          <a:prstGeom prst="rect">
            <a:avLst/>
          </a:prstGeom>
          <a:noFill/>
          <a:ln w="9525">
            <a:noFill/>
            <a:miter lim="800000"/>
          </a:ln>
          <a:effectLst/>
        </p:spPr>
        <p:txBody>
          <a:bodyPr>
            <a:spAutoFit/>
          </a:bodyPr>
          <a:lstStyle/>
          <a:p>
            <a:pPr>
              <a:lnSpc>
                <a:spcPct val="130000"/>
              </a:lnSpc>
              <a:defRPr/>
            </a:pPr>
            <a:r>
              <a:rPr kumimoji="1" lang="zh-CN" altLang="en-US"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负载两端的电压为线电压（绝对值）。输出电压脉动程度小。</a:t>
            </a:r>
            <a:endParaRPr kumimoji="1" lang="zh-CN" altLang="en-US"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10" name="灯片编号占位符 9"/>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100"/>
                                  </p:iterate>
                                  <p:childTnLst>
                                    <p:set>
                                      <p:cBhvr>
                                        <p:cTn id="15" dur="1" fill="hold">
                                          <p:stCondLst>
                                            <p:cond delay="0"/>
                                          </p:stCondLst>
                                        </p:cTn>
                                        <p:tgtEl>
                                          <p:spTgt spid="127046">
                                            <p:txEl>
                                              <p:pRg st="0" end="0"/>
                                            </p:txEl>
                                          </p:spTgt>
                                        </p:tgtEl>
                                        <p:attrNameLst>
                                          <p:attrName>style.visibility</p:attrName>
                                        </p:attrNameLst>
                                      </p:cBhvr>
                                      <p:to>
                                        <p:strVal val="visible"/>
                                      </p:to>
                                    </p:set>
                                  </p:childTnLst>
                                  <p:subTnLst>
                                    <p:set>
                                      <p:cBhvr override="childStyle">
                                        <p:cTn dur="1" fill="hold" display="0" masterRel="nextClick" afterEffect="1"/>
                                        <p:tgtEl>
                                          <p:spTgt spid="127046">
                                            <p:txEl>
                                              <p:pRg st="0" end="0"/>
                                            </p:txEl>
                                          </p:spTgt>
                                        </p:tgtEl>
                                        <p:attrNameLst>
                                          <p:attrName>style.visibility</p:attrName>
                                        </p:attrNameLst>
                                      </p:cBhvr>
                                      <p:to>
                                        <p:strVal val="hidden"/>
                                      </p:to>
                                    </p:set>
                                  </p:subTnLst>
                                </p:cTn>
                              </p:par>
                              <p:par>
                                <p:cTn id="16" presetID="22" presetClass="entr" presetSubtype="8" fill="hold" grpId="0" nodeType="withEffect">
                                  <p:stCondLst>
                                    <p:cond delay="0"/>
                                  </p:stCondLst>
                                  <p:childTnLst>
                                    <p:set>
                                      <p:cBhvr>
                                        <p:cTn id="17" dur="1" fill="hold">
                                          <p:stCondLst>
                                            <p:cond delay="0"/>
                                          </p:stCondLst>
                                        </p:cTn>
                                        <p:tgtEl>
                                          <p:spTgt spid="127049"/>
                                        </p:tgtEl>
                                        <p:attrNameLst>
                                          <p:attrName>style.visibility</p:attrName>
                                        </p:attrNameLst>
                                      </p:cBhvr>
                                      <p:to>
                                        <p:strVal val="visible"/>
                                      </p:to>
                                    </p:set>
                                    <p:animEffect transition="in" filter="wipe(left)">
                                      <p:cBhvr>
                                        <p:cTn id="18" dur="1000"/>
                                        <p:tgtEl>
                                          <p:spTgt spid="127049"/>
                                        </p:tgtEl>
                                      </p:cBhvr>
                                    </p:animEffect>
                                  </p:childTnLst>
                                  <p:subTnLst>
                                    <p:set>
                                      <p:cBhvr override="childStyle">
                                        <p:cTn dur="1" fill="hold" display="0" masterRel="nextClick" afterEffect="1"/>
                                        <p:tgtEl>
                                          <p:spTgt spid="127049"/>
                                        </p:tgtEl>
                                        <p:attrNameLst>
                                          <p:attrName>style.visibility</p:attrName>
                                        </p:attrNameLst>
                                      </p:cBhvr>
                                      <p:to>
                                        <p:strVal val="hidden"/>
                                      </p:to>
                                    </p:set>
                                  </p:subTnLst>
                                </p:cTn>
                              </p:par>
                              <p:par>
                                <p:cTn id="19" presetID="22" presetClass="entr" presetSubtype="8" fill="hold" grpId="0" nodeType="withEffect">
                                  <p:stCondLst>
                                    <p:cond delay="0"/>
                                  </p:stCondLst>
                                  <p:childTnLst>
                                    <p:set>
                                      <p:cBhvr>
                                        <p:cTn id="20" dur="1" fill="hold">
                                          <p:stCondLst>
                                            <p:cond delay="0"/>
                                          </p:stCondLst>
                                        </p:cTn>
                                        <p:tgtEl>
                                          <p:spTgt spid="127051"/>
                                        </p:tgtEl>
                                        <p:attrNameLst>
                                          <p:attrName>style.visibility</p:attrName>
                                        </p:attrNameLst>
                                      </p:cBhvr>
                                      <p:to>
                                        <p:strVal val="visible"/>
                                      </p:to>
                                    </p:set>
                                    <p:animEffect transition="in" filter="wipe(left)">
                                      <p:cBhvr>
                                        <p:cTn id="21" dur="1000"/>
                                        <p:tgtEl>
                                          <p:spTgt spid="12705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type="lt">
                                    <p:tmAbs val="100"/>
                                  </p:iterate>
                                  <p:childTnLst>
                                    <p:set>
                                      <p:cBhvr>
                                        <p:cTn id="25" dur="1" fill="hold">
                                          <p:stCondLst>
                                            <p:cond delay="0"/>
                                          </p:stCondLst>
                                        </p:cTn>
                                        <p:tgtEl>
                                          <p:spTgt spid="127048">
                                            <p:txEl>
                                              <p:pRg st="0" end="0"/>
                                            </p:txEl>
                                          </p:spTgt>
                                        </p:tgtEl>
                                        <p:attrNameLst>
                                          <p:attrName>style.visibility</p:attrName>
                                        </p:attrNameLst>
                                      </p:cBhvr>
                                      <p:to>
                                        <p:strVal val="visible"/>
                                      </p:to>
                                    </p:set>
                                  </p:childTnLst>
                                  <p:subTnLst>
                                    <p:set>
                                      <p:cBhvr override="childStyle">
                                        <p:cTn dur="1" fill="hold" display="0" masterRel="nextClick" afterEffect="1"/>
                                        <p:tgtEl>
                                          <p:spTgt spid="127048">
                                            <p:txEl>
                                              <p:pRg st="0" end="0"/>
                                            </p:txEl>
                                          </p:spTgt>
                                        </p:tgtEl>
                                        <p:attrNameLst>
                                          <p:attrName>style.visibility</p:attrName>
                                        </p:attrNameLst>
                                      </p:cBhvr>
                                      <p:to>
                                        <p:strVal val="hidden"/>
                                      </p:to>
                                    </p:set>
                                  </p:subTnLst>
                                </p:cTn>
                              </p:par>
                              <p:par>
                                <p:cTn id="26" presetID="22" presetClass="entr" presetSubtype="8" fill="hold" grpId="0" nodeType="withEffect">
                                  <p:stCondLst>
                                    <p:cond delay="0"/>
                                  </p:stCondLst>
                                  <p:childTnLst>
                                    <p:set>
                                      <p:cBhvr>
                                        <p:cTn id="27" dur="1" fill="hold">
                                          <p:stCondLst>
                                            <p:cond delay="0"/>
                                          </p:stCondLst>
                                        </p:cTn>
                                        <p:tgtEl>
                                          <p:spTgt spid="127047"/>
                                        </p:tgtEl>
                                        <p:attrNameLst>
                                          <p:attrName>style.visibility</p:attrName>
                                        </p:attrNameLst>
                                      </p:cBhvr>
                                      <p:to>
                                        <p:strVal val="visible"/>
                                      </p:to>
                                    </p:set>
                                    <p:animEffect transition="in" filter="wipe(left)">
                                      <p:cBhvr>
                                        <p:cTn id="28" dur="500"/>
                                        <p:tgtEl>
                                          <p:spTgt spid="127047"/>
                                        </p:tgtEl>
                                      </p:cBhvr>
                                    </p:animEffect>
                                  </p:childTnLst>
                                  <p:subTnLst>
                                    <p:set>
                                      <p:cBhvr override="childStyle">
                                        <p:cTn dur="1" fill="hold" display="0" masterRel="nextClick" afterEffect="1"/>
                                        <p:tgtEl>
                                          <p:spTgt spid="127047"/>
                                        </p:tgtEl>
                                        <p:attrNameLst>
                                          <p:attrName>style.visibility</p:attrName>
                                        </p:attrNameLst>
                                      </p:cBhvr>
                                      <p:to>
                                        <p:strVal val="hidden"/>
                                      </p:to>
                                    </p:set>
                                  </p:subTnLst>
                                </p:cTn>
                              </p:par>
                              <p:par>
                                <p:cTn id="29" presetID="22" presetClass="entr" presetSubtype="8"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lt">
                                    <p:tmAbs val="100"/>
                                  </p:iterate>
                                  <p:childTnLst>
                                    <p:set>
                                      <p:cBhvr>
                                        <p:cTn id="35" dur="1" fill="hold">
                                          <p:stCondLst>
                                            <p:cond delay="0"/>
                                          </p:stCondLst>
                                        </p:cTn>
                                        <p:tgtEl>
                                          <p:spTgt spid="127074">
                                            <p:txEl>
                                              <p:pRg st="0" end="0"/>
                                            </p:txEl>
                                          </p:spTgt>
                                        </p:tgtEl>
                                        <p:attrNameLst>
                                          <p:attrName>style.visibility</p:attrName>
                                        </p:attrNameLst>
                                      </p:cBhvr>
                                      <p:to>
                                        <p:strVal val="visible"/>
                                      </p:to>
                                    </p:set>
                                  </p:childTnLst>
                                  <p:subTnLst>
                                    <p:set>
                                      <p:cBhvr override="childStyle">
                                        <p:cTn dur="1" fill="hold" display="0" masterRel="nextClick" afterEffect="1"/>
                                        <p:tgtEl>
                                          <p:spTgt spid="127074">
                                            <p:txEl>
                                              <p:pRg st="0" end="0"/>
                                            </p:txEl>
                                          </p:spTgt>
                                        </p:tgtEl>
                                        <p:attrNameLst>
                                          <p:attrName>style.visibility</p:attrName>
                                        </p:attrNameLst>
                                      </p:cBhvr>
                                      <p:to>
                                        <p:strVal val="hidden"/>
                                      </p:to>
                                    </p:set>
                                  </p:subTnLst>
                                </p:cTn>
                              </p:par>
                              <p:par>
                                <p:cTn id="36" presetID="22" presetClass="entr" presetSubtype="8" fill="hold" grpId="0" nodeType="withEffect">
                                  <p:stCondLst>
                                    <p:cond delay="0"/>
                                  </p:stCondLst>
                                  <p:childTnLst>
                                    <p:set>
                                      <p:cBhvr>
                                        <p:cTn id="37" dur="1" fill="hold">
                                          <p:stCondLst>
                                            <p:cond delay="0"/>
                                          </p:stCondLst>
                                        </p:cTn>
                                        <p:tgtEl>
                                          <p:spTgt spid="127075"/>
                                        </p:tgtEl>
                                        <p:attrNameLst>
                                          <p:attrName>style.visibility</p:attrName>
                                        </p:attrNameLst>
                                      </p:cBhvr>
                                      <p:to>
                                        <p:strVal val="visible"/>
                                      </p:to>
                                    </p:set>
                                    <p:animEffect transition="in" filter="wipe(left)">
                                      <p:cBhvr>
                                        <p:cTn id="38" dur="1000"/>
                                        <p:tgtEl>
                                          <p:spTgt spid="127075"/>
                                        </p:tgtEl>
                                      </p:cBhvr>
                                    </p:animEffect>
                                  </p:childTnLst>
                                  <p:subTnLst>
                                    <p:set>
                                      <p:cBhvr override="childStyle">
                                        <p:cTn dur="1" fill="hold" display="0" masterRel="nextClick" afterEffect="1"/>
                                        <p:tgtEl>
                                          <p:spTgt spid="127075"/>
                                        </p:tgtEl>
                                        <p:attrNameLst>
                                          <p:attrName>style.visibility</p:attrName>
                                        </p:attrNameLst>
                                      </p:cBhvr>
                                      <p:to>
                                        <p:strVal val="hidden"/>
                                      </p:to>
                                    </p:set>
                                  </p:subTnLst>
                                </p:cTn>
                              </p:par>
                              <p:par>
                                <p:cTn id="39" presetID="22" presetClass="entr" presetSubtype="8"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10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iterate type="lt">
                                    <p:tmAbs val="100"/>
                                  </p:iterate>
                                  <p:childTnLst>
                                    <p:set>
                                      <p:cBhvr>
                                        <p:cTn id="45" dur="1" fill="hold">
                                          <p:stCondLst>
                                            <p:cond delay="0"/>
                                          </p:stCondLst>
                                        </p:cTn>
                                        <p:tgtEl>
                                          <p:spTgt spid="127076">
                                            <p:txEl>
                                              <p:pRg st="0" end="0"/>
                                            </p:txEl>
                                          </p:spTgt>
                                        </p:tgtEl>
                                        <p:attrNameLst>
                                          <p:attrName>style.visibility</p:attrName>
                                        </p:attrNameLst>
                                      </p:cBhvr>
                                      <p:to>
                                        <p:strVal val="visible"/>
                                      </p:to>
                                    </p:set>
                                  </p:childTnLst>
                                  <p:subTnLst>
                                    <p:set>
                                      <p:cBhvr override="childStyle">
                                        <p:cTn dur="1" fill="hold" display="0" masterRel="nextClick" afterEffect="1"/>
                                        <p:tgtEl>
                                          <p:spTgt spid="127076">
                                            <p:txEl>
                                              <p:pRg st="0" end="0"/>
                                            </p:txEl>
                                          </p:spTgt>
                                        </p:tgtEl>
                                        <p:attrNameLst>
                                          <p:attrName>style.visibility</p:attrName>
                                        </p:attrNameLst>
                                      </p:cBhvr>
                                      <p:to>
                                        <p:strVal val="hidden"/>
                                      </p:to>
                                    </p:set>
                                  </p:subTnLst>
                                </p:cTn>
                              </p:par>
                              <p:par>
                                <p:cTn id="46" presetID="22" presetClass="entr" presetSubtype="8" fill="hold" grpId="0" nodeType="withEffect">
                                  <p:stCondLst>
                                    <p:cond delay="0"/>
                                  </p:stCondLst>
                                  <p:childTnLst>
                                    <p:set>
                                      <p:cBhvr>
                                        <p:cTn id="47" dur="1" fill="hold">
                                          <p:stCondLst>
                                            <p:cond delay="0"/>
                                          </p:stCondLst>
                                        </p:cTn>
                                        <p:tgtEl>
                                          <p:spTgt spid="127077"/>
                                        </p:tgtEl>
                                        <p:attrNameLst>
                                          <p:attrName>style.visibility</p:attrName>
                                        </p:attrNameLst>
                                      </p:cBhvr>
                                      <p:to>
                                        <p:strVal val="visible"/>
                                      </p:to>
                                    </p:set>
                                    <p:animEffect transition="in" filter="wipe(left)">
                                      <p:cBhvr>
                                        <p:cTn id="48" dur="1000"/>
                                        <p:tgtEl>
                                          <p:spTgt spid="127077"/>
                                        </p:tgtEl>
                                      </p:cBhvr>
                                    </p:animEffect>
                                  </p:childTnLst>
                                  <p:subTnLst>
                                    <p:set>
                                      <p:cBhvr override="childStyle">
                                        <p:cTn dur="1" fill="hold" display="0" masterRel="nextClick" afterEffect="1"/>
                                        <p:tgtEl>
                                          <p:spTgt spid="127077"/>
                                        </p:tgtEl>
                                        <p:attrNameLst>
                                          <p:attrName>style.visibility</p:attrName>
                                        </p:attrNameLst>
                                      </p:cBhvr>
                                      <p:to>
                                        <p:strVal val="hidden"/>
                                      </p:to>
                                    </p:set>
                                  </p:subTnLst>
                                </p:cTn>
                              </p:par>
                              <p:par>
                                <p:cTn id="49" presetID="22" presetClass="entr" presetSubtype="8"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10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type="lt">
                                    <p:tmAbs val="100"/>
                                  </p:iterate>
                                  <p:childTnLst>
                                    <p:set>
                                      <p:cBhvr>
                                        <p:cTn id="55" dur="1" fill="hold">
                                          <p:stCondLst>
                                            <p:cond delay="0"/>
                                          </p:stCondLst>
                                        </p:cTn>
                                        <p:tgtEl>
                                          <p:spTgt spid="127078">
                                            <p:txEl>
                                              <p:pRg st="0" end="0"/>
                                            </p:txEl>
                                          </p:spTgt>
                                        </p:tgtEl>
                                        <p:attrNameLst>
                                          <p:attrName>style.visibility</p:attrName>
                                        </p:attrNameLst>
                                      </p:cBhvr>
                                      <p:to>
                                        <p:strVal val="visible"/>
                                      </p:to>
                                    </p:set>
                                  </p:childTnLst>
                                  <p:subTnLst>
                                    <p:set>
                                      <p:cBhvr override="childStyle">
                                        <p:cTn dur="1" fill="hold" display="0" masterRel="nextClick" afterEffect="1"/>
                                        <p:tgtEl>
                                          <p:spTgt spid="127078">
                                            <p:txEl>
                                              <p:pRg st="0" end="0"/>
                                            </p:txEl>
                                          </p:spTgt>
                                        </p:tgtEl>
                                        <p:attrNameLst>
                                          <p:attrName>style.visibility</p:attrName>
                                        </p:attrNameLst>
                                      </p:cBhvr>
                                      <p:to>
                                        <p:strVal val="hidden"/>
                                      </p:to>
                                    </p:set>
                                  </p:subTnLst>
                                </p:cTn>
                              </p:par>
                              <p:par>
                                <p:cTn id="56" presetID="22" presetClass="entr" presetSubtype="8" fill="hold" grpId="0" nodeType="withEffect">
                                  <p:stCondLst>
                                    <p:cond delay="0"/>
                                  </p:stCondLst>
                                  <p:childTnLst>
                                    <p:set>
                                      <p:cBhvr>
                                        <p:cTn id="57" dur="1" fill="hold">
                                          <p:stCondLst>
                                            <p:cond delay="0"/>
                                          </p:stCondLst>
                                        </p:cTn>
                                        <p:tgtEl>
                                          <p:spTgt spid="127079"/>
                                        </p:tgtEl>
                                        <p:attrNameLst>
                                          <p:attrName>style.visibility</p:attrName>
                                        </p:attrNameLst>
                                      </p:cBhvr>
                                      <p:to>
                                        <p:strVal val="visible"/>
                                      </p:to>
                                    </p:set>
                                    <p:animEffect transition="in" filter="wipe(left)">
                                      <p:cBhvr>
                                        <p:cTn id="58" dur="1000"/>
                                        <p:tgtEl>
                                          <p:spTgt spid="127079"/>
                                        </p:tgtEl>
                                      </p:cBhvr>
                                    </p:animEffect>
                                  </p:childTnLst>
                                  <p:subTnLst>
                                    <p:set>
                                      <p:cBhvr override="childStyle">
                                        <p:cTn dur="1" fill="hold" display="0" masterRel="nextClick" afterEffect="1"/>
                                        <p:tgtEl>
                                          <p:spTgt spid="127079"/>
                                        </p:tgtEl>
                                        <p:attrNameLst>
                                          <p:attrName>style.visibility</p:attrName>
                                        </p:attrNameLst>
                                      </p:cBhvr>
                                      <p:to>
                                        <p:strVal val="hidden"/>
                                      </p:to>
                                    </p:set>
                                  </p:subTnLst>
                                </p:cTn>
                              </p:par>
                              <p:par>
                                <p:cTn id="59" presetID="22" presetClass="entr" presetSubtype="8" fill="hold" nodeType="with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left)">
                                      <p:cBhvr>
                                        <p:cTn id="61" dur="1000"/>
                                        <p:tgtEl>
                                          <p:spTgt spid="7"/>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iterate type="lt">
                                    <p:tmAbs val="100"/>
                                  </p:iterate>
                                  <p:childTnLst>
                                    <p:set>
                                      <p:cBhvr>
                                        <p:cTn id="65" dur="1" fill="hold">
                                          <p:stCondLst>
                                            <p:cond delay="0"/>
                                          </p:stCondLst>
                                        </p:cTn>
                                        <p:tgtEl>
                                          <p:spTgt spid="127080">
                                            <p:txEl>
                                              <p:pRg st="0" end="0"/>
                                            </p:txEl>
                                          </p:spTgt>
                                        </p:tgtEl>
                                        <p:attrNameLst>
                                          <p:attrName>style.visibility</p:attrName>
                                        </p:attrNameLst>
                                      </p:cBhvr>
                                      <p:to>
                                        <p:strVal val="visible"/>
                                      </p:to>
                                    </p:set>
                                  </p:childTnLst>
                                  <p:subTnLst>
                                    <p:set>
                                      <p:cBhvr override="childStyle">
                                        <p:cTn dur="1" fill="hold" display="0" masterRel="nextClick" afterEffect="1"/>
                                        <p:tgtEl>
                                          <p:spTgt spid="127080">
                                            <p:txEl>
                                              <p:pRg st="0" end="0"/>
                                            </p:txEl>
                                          </p:spTgt>
                                        </p:tgtEl>
                                        <p:attrNameLst>
                                          <p:attrName>style.visibility</p:attrName>
                                        </p:attrNameLst>
                                      </p:cBhvr>
                                      <p:to>
                                        <p:strVal val="hidden"/>
                                      </p:to>
                                    </p:set>
                                  </p:subTnLst>
                                </p:cTn>
                              </p:par>
                              <p:par>
                                <p:cTn id="66" presetID="22" presetClass="entr" presetSubtype="8" fill="hold" grpId="0" nodeType="withEffect">
                                  <p:stCondLst>
                                    <p:cond delay="0"/>
                                  </p:stCondLst>
                                  <p:childTnLst>
                                    <p:set>
                                      <p:cBhvr>
                                        <p:cTn id="67" dur="1" fill="hold">
                                          <p:stCondLst>
                                            <p:cond delay="0"/>
                                          </p:stCondLst>
                                        </p:cTn>
                                        <p:tgtEl>
                                          <p:spTgt spid="127081"/>
                                        </p:tgtEl>
                                        <p:attrNameLst>
                                          <p:attrName>style.visibility</p:attrName>
                                        </p:attrNameLst>
                                      </p:cBhvr>
                                      <p:to>
                                        <p:strVal val="visible"/>
                                      </p:to>
                                    </p:set>
                                    <p:animEffect transition="in" filter="wipe(left)">
                                      <p:cBhvr>
                                        <p:cTn id="68" dur="1000"/>
                                        <p:tgtEl>
                                          <p:spTgt spid="127081"/>
                                        </p:tgtEl>
                                      </p:cBhvr>
                                    </p:animEffect>
                                  </p:childTnLst>
                                  <p:subTnLst>
                                    <p:set>
                                      <p:cBhvr override="childStyle">
                                        <p:cTn dur="1" fill="hold" display="0" masterRel="nextClick" afterEffect="1"/>
                                        <p:tgtEl>
                                          <p:spTgt spid="127081"/>
                                        </p:tgtEl>
                                        <p:attrNameLst>
                                          <p:attrName>style.visibility</p:attrName>
                                        </p:attrNameLst>
                                      </p:cBhvr>
                                      <p:to>
                                        <p:strVal val="hidden"/>
                                      </p:to>
                                    </p:set>
                                  </p:subTnLst>
                                </p:cTn>
                              </p:par>
                              <p:par>
                                <p:cTn id="69" presetID="22" presetClass="entr" presetSubtype="8" fill="hold"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ipe(left)">
                                      <p:cBhvr>
                                        <p:cTn id="71" dur="1000"/>
                                        <p:tgtEl>
                                          <p:spTgt spid="8"/>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iterate type="lt">
                                    <p:tmAbs val="100"/>
                                  </p:iterate>
                                  <p:childTnLst>
                                    <p:set>
                                      <p:cBhvr>
                                        <p:cTn id="75" dur="1" fill="hold">
                                          <p:stCondLst>
                                            <p:cond delay="0"/>
                                          </p:stCondLst>
                                        </p:cTn>
                                        <p:tgtEl>
                                          <p:spTgt spid="127082">
                                            <p:txEl>
                                              <p:pRg st="0" end="0"/>
                                            </p:txEl>
                                          </p:spTgt>
                                        </p:tgtEl>
                                        <p:attrNameLst>
                                          <p:attrName>style.visibility</p:attrName>
                                        </p:attrNameLst>
                                      </p:cBhvr>
                                      <p:to>
                                        <p:strVal val="visible"/>
                                      </p:to>
                                    </p:set>
                                  </p:childTnLst>
                                  <p:subTnLst>
                                    <p:set>
                                      <p:cBhvr override="childStyle">
                                        <p:cTn dur="1" fill="hold" display="0" masterRel="nextClick" afterEffect="1"/>
                                        <p:tgtEl>
                                          <p:spTgt spid="127082">
                                            <p:txEl>
                                              <p:pRg st="0" end="0"/>
                                            </p:txEl>
                                          </p:spTgt>
                                        </p:tgtEl>
                                        <p:attrNameLst>
                                          <p:attrName>style.visibility</p:attrName>
                                        </p:attrNameLst>
                                      </p:cBhvr>
                                      <p:to>
                                        <p:strVal val="hidden"/>
                                      </p:to>
                                    </p:set>
                                  </p:subTnLst>
                                </p:cTn>
                              </p:par>
                              <p:par>
                                <p:cTn id="76" presetID="22" presetClass="entr" presetSubtype="8" fill="hold" grpId="0" nodeType="withEffect">
                                  <p:stCondLst>
                                    <p:cond delay="0"/>
                                  </p:stCondLst>
                                  <p:childTnLst>
                                    <p:set>
                                      <p:cBhvr>
                                        <p:cTn id="77" dur="1" fill="hold">
                                          <p:stCondLst>
                                            <p:cond delay="0"/>
                                          </p:stCondLst>
                                        </p:cTn>
                                        <p:tgtEl>
                                          <p:spTgt spid="127083"/>
                                        </p:tgtEl>
                                        <p:attrNameLst>
                                          <p:attrName>style.visibility</p:attrName>
                                        </p:attrNameLst>
                                      </p:cBhvr>
                                      <p:to>
                                        <p:strVal val="visible"/>
                                      </p:to>
                                    </p:set>
                                    <p:animEffect transition="in" filter="wipe(left)">
                                      <p:cBhvr>
                                        <p:cTn id="78" dur="1000"/>
                                        <p:tgtEl>
                                          <p:spTgt spid="127083"/>
                                        </p:tgtEl>
                                      </p:cBhvr>
                                    </p:animEffect>
                                  </p:childTnLst>
                                  <p:subTnLst>
                                    <p:set>
                                      <p:cBhvr override="childStyle">
                                        <p:cTn dur="1" fill="hold" display="0" masterRel="nextClick" afterEffect="1"/>
                                        <p:tgtEl>
                                          <p:spTgt spid="127083"/>
                                        </p:tgtEl>
                                        <p:attrNameLst>
                                          <p:attrName>style.visibility</p:attrName>
                                        </p:attrNameLst>
                                      </p:cBhvr>
                                      <p:to>
                                        <p:strVal val="hidden"/>
                                      </p:to>
                                    </p:set>
                                  </p:subTnLst>
                                </p:cTn>
                              </p:par>
                              <p:par>
                                <p:cTn id="79" presetID="22" presetClass="entr" presetSubtype="8" fill="hold" nodeType="with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left)">
                                      <p:cBhvr>
                                        <p:cTn id="81" dur="10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iterate type="lt">
                                    <p:tmAbs val="100"/>
                                  </p:iterate>
                                  <p:childTnLst>
                                    <p:set>
                                      <p:cBhvr>
                                        <p:cTn id="85" dur="1" fill="hold">
                                          <p:stCondLst>
                                            <p:cond delay="0"/>
                                          </p:stCondLst>
                                        </p:cTn>
                                        <p:tgtEl>
                                          <p:spTgt spid="127084"/>
                                        </p:tgtEl>
                                        <p:attrNameLst>
                                          <p:attrName>style.visibility</p:attrName>
                                        </p:attrNameLst>
                                      </p:cBhvr>
                                      <p:to>
                                        <p:strVal val="visible"/>
                                      </p:to>
                                    </p:set>
                                  </p:childTnLst>
                                </p:cTn>
                              </p:par>
                            </p:childTnLst>
                          </p:cTn>
                        </p:par>
                        <p:par>
                          <p:cTn id="86" fill="hold">
                            <p:stCondLst>
                              <p:cond delay="3799"/>
                            </p:stCondLst>
                            <p:childTnLst>
                              <p:par>
                                <p:cTn id="87" presetID="1" presetClass="entr" presetSubtype="0" fill="hold" grpId="0" nodeType="afterEffect">
                                  <p:stCondLst>
                                    <p:cond delay="0"/>
                                  </p:stCondLst>
                                  <p:iterate type="lt">
                                    <p:tmAbs val="100"/>
                                  </p:iterate>
                                  <p:childTnLst>
                                    <p:set>
                                      <p:cBhvr>
                                        <p:cTn id="88" dur="1" fill="hold">
                                          <p:stCondLst>
                                            <p:cond delay="0"/>
                                          </p:stCondLst>
                                        </p:cTn>
                                        <p:tgtEl>
                                          <p:spTgt spid="1270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046" grpId="0" autoUpdateAnimBg="0" build="p"/>
      <p:bldP spid="127047" grpId="0" animBg="1"/>
      <p:bldP spid="127048" grpId="0" autoUpdateAnimBg="0" build="p"/>
      <p:bldP spid="127049" grpId="0" animBg="1"/>
      <p:bldP spid="127051" grpId="0" animBg="1"/>
      <p:bldP spid="127074" grpId="0" autoUpdateAnimBg="0" build="p"/>
      <p:bldP spid="127075" grpId="0" animBg="1"/>
      <p:bldP spid="127076" grpId="0" autoUpdateAnimBg="0" build="p"/>
      <p:bldP spid="127077" grpId="0" animBg="1"/>
      <p:bldP spid="127078" grpId="0" autoUpdateAnimBg="0" build="p"/>
      <p:bldP spid="127079" grpId="0" animBg="1"/>
      <p:bldP spid="127080" grpId="0" autoUpdateAnimBg="0" build="p"/>
      <p:bldP spid="127081" grpId="0" animBg="1"/>
      <p:bldP spid="127082" grpId="0" autoUpdateAnimBg="0" build="p"/>
      <p:bldP spid="127083" grpId="0" animBg="1"/>
      <p:bldP spid="127084" grpId="0" autoUpdateAnimBg="0"/>
      <p:bldP spid="127085"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三相整流电路仿真</a:t>
            </a:r>
            <a:endParaRPr lang="zh-CN" altLang="en-US" dirty="0"/>
          </a:p>
        </p:txBody>
      </p:sp>
      <p:sp>
        <p:nvSpPr>
          <p:cNvPr id="3" name="灯片编号占位符 2"/>
          <p:cNvSpPr>
            <a:spLocks noGrp="1"/>
          </p:cNvSpPr>
          <p:nvPr>
            <p:ph type="sldNum" sz="quarter" idx="12"/>
          </p:nvPr>
        </p:nvSpPr>
        <p:spPr/>
        <p:txBody>
          <a:bodyPr/>
          <a:lstStyle/>
          <a:p>
            <a:pPr>
              <a:defRPr/>
            </a:pPr>
            <a:fld id="{162F5428-5ADF-4813-8E04-D0A9AD111460}"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748992" y="836712"/>
            <a:ext cx="7664921" cy="5350845"/>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5.2  </a:t>
            </a:r>
            <a:r>
              <a:rPr lang="zh-CN" altLang="en-US" sz="3600" smtClean="0">
                <a:ea typeface="宋体" panose="02010600030101010101" pitchFamily="2" charset="-122"/>
              </a:rPr>
              <a:t>二极管整流电路</a:t>
            </a:r>
            <a:r>
              <a:rPr lang="zh-CN" altLang="en-US" sz="3600" smtClean="0">
                <a:ea typeface="楷体_GB2312" pitchFamily="49" charset="-122"/>
              </a:rPr>
              <a:t>（续</a:t>
            </a:r>
            <a:r>
              <a:rPr lang="en-US" altLang="zh-CN" sz="3600" smtClean="0">
                <a:ea typeface="楷体_GB2312" pitchFamily="49" charset="-122"/>
              </a:rPr>
              <a:t>9</a:t>
            </a:r>
            <a:r>
              <a:rPr lang="zh-CN" altLang="en-US" sz="3600" smtClean="0">
                <a:ea typeface="楷体_GB2312" pitchFamily="49" charset="-122"/>
              </a:rPr>
              <a:t>）</a:t>
            </a:r>
            <a:endParaRPr lang="zh-CN" altLang="en-US" sz="3600" smtClean="0">
              <a:ea typeface="楷体_GB2312" pitchFamily="49" charset="-122"/>
            </a:endParaRPr>
          </a:p>
        </p:txBody>
      </p:sp>
      <p:sp>
        <p:nvSpPr>
          <p:cNvPr id="128004" name="Rectangle 4"/>
          <p:cNvSpPr>
            <a:spLocks noChangeArrowheads="1"/>
          </p:cNvSpPr>
          <p:nvPr/>
        </p:nvSpPr>
        <p:spPr bwMode="auto">
          <a:xfrm>
            <a:off x="430213" y="991071"/>
            <a:ext cx="4648200" cy="461963"/>
          </a:xfrm>
          <a:prstGeom prst="rect">
            <a:avLst/>
          </a:prstGeom>
          <a:noFill/>
          <a:ln w="9525">
            <a:noFill/>
            <a:miter lim="800000"/>
          </a:ln>
          <a:effectLst/>
        </p:spPr>
        <p:txBody>
          <a:bodyPr>
            <a:spAutoFit/>
          </a:bodyPr>
          <a:lstStyle/>
          <a:p>
            <a:pPr>
              <a:defRPr/>
            </a:pPr>
            <a:r>
              <a:rPr kumimoji="1" lang="en-US" altLang="zh-CN"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1) </a:t>
            </a:r>
            <a:r>
              <a:rPr kumimoji="1" lang="zh-CN" altLang="en-US"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整流电压平均值 </a:t>
            </a:r>
            <a:r>
              <a:rPr kumimoji="1" lang="en-US" altLang="zh-CN" sz="2400" b="1" i="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U</a:t>
            </a:r>
            <a:r>
              <a:rPr kumimoji="1" lang="en-US" altLang="zh-CN" sz="3600" b="1" baseline="-2500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o</a:t>
            </a:r>
            <a:endParaRPr kumimoji="1" lang="en-US" altLang="zh-CN" sz="3600" b="1" baseline="-2500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aphicFrame>
        <p:nvGraphicFramePr>
          <p:cNvPr id="128005" name="Object 2"/>
          <p:cNvGraphicFramePr>
            <a:graphicFrameLocks noChangeAspect="1"/>
          </p:cNvGraphicFramePr>
          <p:nvPr/>
        </p:nvGraphicFramePr>
        <p:xfrm>
          <a:off x="1636713" y="1489546"/>
          <a:ext cx="5778500" cy="976313"/>
        </p:xfrm>
        <a:graphic>
          <a:graphicData uri="http://schemas.openxmlformats.org/presentationml/2006/ole">
            <mc:AlternateContent xmlns:mc="http://schemas.openxmlformats.org/markup-compatibility/2006">
              <mc:Choice xmlns:v="urn:schemas-microsoft-com:vml" Requires="v">
                <p:oleObj spid="_x0000_s15460" name="Equation" r:id="rId1" imgW="2717800" imgH="457200" progId="Equation.DSMT4">
                  <p:embed/>
                </p:oleObj>
              </mc:Choice>
              <mc:Fallback>
                <p:oleObj name="Equation" r:id="rId1" imgW="2717800" imgH="457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6713" y="1489546"/>
                        <a:ext cx="5778500"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009" name="Rectangle 9"/>
          <p:cNvSpPr>
            <a:spLocks noChangeArrowheads="1"/>
          </p:cNvSpPr>
          <p:nvPr/>
        </p:nvSpPr>
        <p:spPr bwMode="auto">
          <a:xfrm>
            <a:off x="430213" y="2445221"/>
            <a:ext cx="4267200" cy="461963"/>
          </a:xfrm>
          <a:prstGeom prst="rect">
            <a:avLst/>
          </a:prstGeom>
          <a:noFill/>
          <a:ln w="9525">
            <a:noFill/>
            <a:miter lim="800000"/>
          </a:ln>
          <a:effectLst/>
        </p:spPr>
        <p:txBody>
          <a:bodyPr>
            <a:spAutoFit/>
          </a:bodyPr>
          <a:lstStyle/>
          <a:p>
            <a:pPr>
              <a:defRPr/>
            </a:pPr>
            <a:r>
              <a:rPr kumimoji="1" lang="en-US" altLang="zh-CN"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2) </a:t>
            </a:r>
            <a:r>
              <a:rPr kumimoji="1" lang="zh-CN" altLang="en-US"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整流电流平均值 </a:t>
            </a:r>
            <a:r>
              <a:rPr kumimoji="1" lang="en-US" altLang="zh-CN" sz="2400" b="1" i="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a:t>
            </a:r>
            <a:r>
              <a:rPr kumimoji="1" lang="en-US" altLang="zh-CN" sz="2400" b="1" baseline="-2500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o</a:t>
            </a:r>
            <a:endParaRPr kumimoji="1" lang="en-US" altLang="zh-CN"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aphicFrame>
        <p:nvGraphicFramePr>
          <p:cNvPr id="128010" name="Object 3"/>
          <p:cNvGraphicFramePr>
            <a:graphicFrameLocks noChangeAspect="1"/>
          </p:cNvGraphicFramePr>
          <p:nvPr/>
        </p:nvGraphicFramePr>
        <p:xfrm>
          <a:off x="1624013" y="2930996"/>
          <a:ext cx="2274887" cy="828675"/>
        </p:xfrm>
        <a:graphic>
          <a:graphicData uri="http://schemas.openxmlformats.org/presentationml/2006/ole">
            <mc:AlternateContent xmlns:mc="http://schemas.openxmlformats.org/markup-compatibility/2006">
              <mc:Choice xmlns:v="urn:schemas-microsoft-com:vml" Requires="v">
                <p:oleObj spid="_x0000_s15461" name="Equation" r:id="rId3" imgW="1574800" imgH="571500" progId="Equation.DSMT4">
                  <p:embed/>
                </p:oleObj>
              </mc:Choice>
              <mc:Fallback>
                <p:oleObj name="Equation" r:id="rId3" imgW="1574800" imgH="571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4013" y="2930996"/>
                        <a:ext cx="2274887"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011" name="Rectangle 11"/>
          <p:cNvSpPr>
            <a:spLocks noChangeArrowheads="1"/>
          </p:cNvSpPr>
          <p:nvPr/>
        </p:nvSpPr>
        <p:spPr bwMode="auto">
          <a:xfrm>
            <a:off x="430213" y="3794596"/>
            <a:ext cx="5105400" cy="461963"/>
          </a:xfrm>
          <a:prstGeom prst="rect">
            <a:avLst/>
          </a:prstGeom>
          <a:noFill/>
          <a:ln w="9525">
            <a:noFill/>
            <a:miter lim="800000"/>
          </a:ln>
          <a:effectLst/>
        </p:spPr>
        <p:txBody>
          <a:bodyPr>
            <a:spAutoFit/>
          </a:bodyPr>
          <a:lstStyle/>
          <a:p>
            <a:pPr>
              <a:defRPr/>
            </a:pPr>
            <a:r>
              <a:rPr kumimoji="1" lang="en-US" altLang="zh-CN"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3) </a:t>
            </a:r>
            <a:r>
              <a:rPr kumimoji="1" lang="zh-CN" altLang="en-US"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流过每管电流平均值 </a:t>
            </a:r>
            <a:r>
              <a:rPr kumimoji="1" lang="en-US" altLang="zh-CN" sz="2400" b="1" i="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a:t>
            </a:r>
            <a:r>
              <a:rPr kumimoji="1" lang="en-US" altLang="zh-CN" sz="2400" b="1" baseline="-2500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a:t>
            </a:r>
            <a:endParaRPr kumimoji="1" lang="en-US" altLang="zh-CN" sz="2400" b="1" i="1" baseline="-2500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aphicFrame>
        <p:nvGraphicFramePr>
          <p:cNvPr id="128012" name="Object 4"/>
          <p:cNvGraphicFramePr>
            <a:graphicFrameLocks noChangeAspect="1"/>
          </p:cNvGraphicFramePr>
          <p:nvPr/>
        </p:nvGraphicFramePr>
        <p:xfrm>
          <a:off x="1624013" y="4356571"/>
          <a:ext cx="2432050" cy="862013"/>
        </p:xfrm>
        <a:graphic>
          <a:graphicData uri="http://schemas.openxmlformats.org/presentationml/2006/ole">
            <mc:AlternateContent xmlns:mc="http://schemas.openxmlformats.org/markup-compatibility/2006">
              <mc:Choice xmlns:v="urn:schemas-microsoft-com:vml" Requires="v">
                <p:oleObj spid="_x0000_s15462" name="Equation" r:id="rId5" imgW="1625600" imgH="571500" progId="Equation.DSMT4">
                  <p:embed/>
                </p:oleObj>
              </mc:Choice>
              <mc:Fallback>
                <p:oleObj name="Equation" r:id="rId5" imgW="1625600" imgH="5715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4013" y="4356571"/>
                        <a:ext cx="2432050"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013" name="Rectangle 13"/>
          <p:cNvSpPr>
            <a:spLocks noChangeArrowheads="1"/>
          </p:cNvSpPr>
          <p:nvPr/>
        </p:nvSpPr>
        <p:spPr bwMode="auto">
          <a:xfrm>
            <a:off x="430213" y="5099521"/>
            <a:ext cx="4710112" cy="461963"/>
          </a:xfrm>
          <a:prstGeom prst="rect">
            <a:avLst/>
          </a:prstGeom>
          <a:noFill/>
          <a:ln w="9525">
            <a:noFill/>
            <a:miter lim="800000"/>
          </a:ln>
          <a:effectLst/>
        </p:spPr>
        <p:txBody>
          <a:bodyPr wrap="none">
            <a:spAutoFit/>
          </a:bodyPr>
          <a:lstStyle/>
          <a:p>
            <a:pPr>
              <a:defRPr/>
            </a:pPr>
            <a:r>
              <a:rPr kumimoji="1" lang="en-US" altLang="zh-CN"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4) </a:t>
            </a:r>
            <a:r>
              <a:rPr kumimoji="1" lang="zh-CN" altLang="en-US" sz="2400" b="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每管承受的最高反向电压 </a:t>
            </a:r>
            <a:r>
              <a:rPr kumimoji="1" lang="en-US" altLang="zh-CN" sz="2400" b="1" i="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U</a:t>
            </a:r>
            <a:r>
              <a:rPr kumimoji="1" lang="en-US" altLang="zh-CN" sz="2400" b="1" baseline="-2500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DRM</a:t>
            </a:r>
            <a:endParaRPr kumimoji="1" lang="en-US" altLang="zh-CN" sz="2400" b="1" baseline="-25000">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aphicFrame>
        <p:nvGraphicFramePr>
          <p:cNvPr id="128014" name="Object 5"/>
          <p:cNvGraphicFramePr>
            <a:graphicFrameLocks noChangeAspect="1"/>
          </p:cNvGraphicFramePr>
          <p:nvPr/>
        </p:nvGraphicFramePr>
        <p:xfrm>
          <a:off x="1624013" y="5621809"/>
          <a:ext cx="2554287" cy="471487"/>
        </p:xfrm>
        <a:graphic>
          <a:graphicData uri="http://schemas.openxmlformats.org/presentationml/2006/ole">
            <mc:AlternateContent xmlns:mc="http://schemas.openxmlformats.org/markup-compatibility/2006">
              <mc:Choice xmlns:v="urn:schemas-microsoft-com:vml" Requires="v">
                <p:oleObj spid="_x0000_s15463" name="Equation" r:id="rId7" imgW="2184400" imgH="342900" progId="Equation.DSMT4">
                  <p:embed/>
                </p:oleObj>
              </mc:Choice>
              <mc:Fallback>
                <p:oleObj name="Equation" r:id="rId7" imgW="2184400" imgH="3429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4013" y="5621809"/>
                        <a:ext cx="2554287" cy="471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015" name="AutoShape 15"/>
          <p:cNvSpPr>
            <a:spLocks noChangeArrowheads="1"/>
          </p:cNvSpPr>
          <p:nvPr/>
        </p:nvSpPr>
        <p:spPr bwMode="auto">
          <a:xfrm>
            <a:off x="3670300" y="987896"/>
            <a:ext cx="3905250" cy="579438"/>
          </a:xfrm>
          <a:prstGeom prst="wedgeRoundRectCallout">
            <a:avLst>
              <a:gd name="adj1" fmla="val 39431"/>
              <a:gd name="adj2" fmla="val 88903"/>
              <a:gd name="adj3" fmla="val 16667"/>
            </a:avLst>
          </a:prstGeom>
          <a:noFill/>
          <a:ln w="28575" algn="ctr">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sz="2400" b="1">
                <a:solidFill>
                  <a:schemeClr val="tx2"/>
                </a:solidFill>
                <a:latin typeface="Times New Roman" panose="02020603050405020304" pitchFamily="18" charset="0"/>
                <a:cs typeface="Times New Roman" panose="02020603050405020304" pitchFamily="18" charset="0"/>
              </a:rPr>
              <a:t>变压器二次相电压有效值</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blinds(vertical)">
                                      <p:cBhvr>
                                        <p:cTn id="7" dur="500"/>
                                        <p:tgtEl>
                                          <p:spTgt spid="128004"/>
                                        </p:tgtEl>
                                      </p:cBhvr>
                                    </p:animEffect>
                                  </p:childTnLst>
                                </p:cTn>
                              </p:par>
                            </p:childTnLst>
                          </p:cTn>
                        </p:par>
                        <p:par>
                          <p:cTn id="8" fill="hold">
                            <p:stCondLst>
                              <p:cond delay="500"/>
                            </p:stCondLst>
                            <p:childTnLst>
                              <p:par>
                                <p:cTn id="9" presetID="3" presetClass="entr" presetSubtype="5" fill="hold" nodeType="afterEffect">
                                  <p:stCondLst>
                                    <p:cond delay="0"/>
                                  </p:stCondLst>
                                  <p:childTnLst>
                                    <p:set>
                                      <p:cBhvr>
                                        <p:cTn id="10" dur="1" fill="hold">
                                          <p:stCondLst>
                                            <p:cond delay="0"/>
                                          </p:stCondLst>
                                        </p:cTn>
                                        <p:tgtEl>
                                          <p:spTgt spid="128005"/>
                                        </p:tgtEl>
                                        <p:attrNameLst>
                                          <p:attrName>style.visibility</p:attrName>
                                        </p:attrNameLst>
                                      </p:cBhvr>
                                      <p:to>
                                        <p:strVal val="visible"/>
                                      </p:to>
                                    </p:set>
                                    <p:animEffect transition="in" filter="blinds(vertical)">
                                      <p:cBhvr>
                                        <p:cTn id="11" dur="500"/>
                                        <p:tgtEl>
                                          <p:spTgt spid="12800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5" fill="hold" grpId="0" nodeType="clickEffect">
                                  <p:stCondLst>
                                    <p:cond delay="0"/>
                                  </p:stCondLst>
                                  <p:childTnLst>
                                    <p:set>
                                      <p:cBhvr>
                                        <p:cTn id="15" dur="1" fill="hold">
                                          <p:stCondLst>
                                            <p:cond delay="0"/>
                                          </p:stCondLst>
                                        </p:cTn>
                                        <p:tgtEl>
                                          <p:spTgt spid="128009"/>
                                        </p:tgtEl>
                                        <p:attrNameLst>
                                          <p:attrName>style.visibility</p:attrName>
                                        </p:attrNameLst>
                                      </p:cBhvr>
                                      <p:to>
                                        <p:strVal val="visible"/>
                                      </p:to>
                                    </p:set>
                                    <p:animEffect transition="in" filter="blinds(vertical)">
                                      <p:cBhvr>
                                        <p:cTn id="16" dur="500"/>
                                        <p:tgtEl>
                                          <p:spTgt spid="128009"/>
                                        </p:tgtEl>
                                      </p:cBhvr>
                                    </p:animEffect>
                                  </p:childTnLst>
                                </p:cTn>
                              </p:par>
                            </p:childTnLst>
                          </p:cTn>
                        </p:par>
                        <p:par>
                          <p:cTn id="17" fill="hold">
                            <p:stCondLst>
                              <p:cond delay="500"/>
                            </p:stCondLst>
                            <p:childTnLst>
                              <p:par>
                                <p:cTn id="18" presetID="3" presetClass="entr" presetSubtype="5" fill="hold" nodeType="afterEffect">
                                  <p:stCondLst>
                                    <p:cond delay="0"/>
                                  </p:stCondLst>
                                  <p:childTnLst>
                                    <p:set>
                                      <p:cBhvr>
                                        <p:cTn id="19" dur="1" fill="hold">
                                          <p:stCondLst>
                                            <p:cond delay="0"/>
                                          </p:stCondLst>
                                        </p:cTn>
                                        <p:tgtEl>
                                          <p:spTgt spid="128010"/>
                                        </p:tgtEl>
                                        <p:attrNameLst>
                                          <p:attrName>style.visibility</p:attrName>
                                        </p:attrNameLst>
                                      </p:cBhvr>
                                      <p:to>
                                        <p:strVal val="visible"/>
                                      </p:to>
                                    </p:set>
                                    <p:animEffect transition="in" filter="blinds(vertical)">
                                      <p:cBhvr>
                                        <p:cTn id="20" dur="500"/>
                                        <p:tgtEl>
                                          <p:spTgt spid="12801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128011"/>
                                        </p:tgtEl>
                                        <p:attrNameLst>
                                          <p:attrName>style.visibility</p:attrName>
                                        </p:attrNameLst>
                                      </p:cBhvr>
                                      <p:to>
                                        <p:strVal val="visible"/>
                                      </p:to>
                                    </p:set>
                                    <p:animEffect transition="in" filter="blinds(vertical)">
                                      <p:cBhvr>
                                        <p:cTn id="25" dur="500"/>
                                        <p:tgtEl>
                                          <p:spTgt spid="128011"/>
                                        </p:tgtEl>
                                      </p:cBhvr>
                                    </p:animEffect>
                                  </p:childTnLst>
                                </p:cTn>
                              </p:par>
                            </p:childTnLst>
                          </p:cTn>
                        </p:par>
                        <p:par>
                          <p:cTn id="26" fill="hold">
                            <p:stCondLst>
                              <p:cond delay="500"/>
                            </p:stCondLst>
                            <p:childTnLst>
                              <p:par>
                                <p:cTn id="27" presetID="3" presetClass="entr" presetSubtype="5" fill="hold" nodeType="afterEffect">
                                  <p:stCondLst>
                                    <p:cond delay="0"/>
                                  </p:stCondLst>
                                  <p:childTnLst>
                                    <p:set>
                                      <p:cBhvr>
                                        <p:cTn id="28" dur="1" fill="hold">
                                          <p:stCondLst>
                                            <p:cond delay="0"/>
                                          </p:stCondLst>
                                        </p:cTn>
                                        <p:tgtEl>
                                          <p:spTgt spid="128012"/>
                                        </p:tgtEl>
                                        <p:attrNameLst>
                                          <p:attrName>style.visibility</p:attrName>
                                        </p:attrNameLst>
                                      </p:cBhvr>
                                      <p:to>
                                        <p:strVal val="visible"/>
                                      </p:to>
                                    </p:set>
                                    <p:animEffect transition="in" filter="blinds(vertical)">
                                      <p:cBhvr>
                                        <p:cTn id="29" dur="500"/>
                                        <p:tgtEl>
                                          <p:spTgt spid="128012"/>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5" fill="hold" grpId="0" nodeType="clickEffect">
                                  <p:stCondLst>
                                    <p:cond delay="0"/>
                                  </p:stCondLst>
                                  <p:childTnLst>
                                    <p:set>
                                      <p:cBhvr>
                                        <p:cTn id="33" dur="1" fill="hold">
                                          <p:stCondLst>
                                            <p:cond delay="0"/>
                                          </p:stCondLst>
                                        </p:cTn>
                                        <p:tgtEl>
                                          <p:spTgt spid="128013"/>
                                        </p:tgtEl>
                                        <p:attrNameLst>
                                          <p:attrName>style.visibility</p:attrName>
                                        </p:attrNameLst>
                                      </p:cBhvr>
                                      <p:to>
                                        <p:strVal val="visible"/>
                                      </p:to>
                                    </p:set>
                                    <p:animEffect transition="in" filter="blinds(vertical)">
                                      <p:cBhvr>
                                        <p:cTn id="34" dur="500"/>
                                        <p:tgtEl>
                                          <p:spTgt spid="128013"/>
                                        </p:tgtEl>
                                      </p:cBhvr>
                                    </p:animEffect>
                                  </p:childTnLst>
                                </p:cTn>
                              </p:par>
                            </p:childTnLst>
                          </p:cTn>
                        </p:par>
                        <p:par>
                          <p:cTn id="35" fill="hold">
                            <p:stCondLst>
                              <p:cond delay="500"/>
                            </p:stCondLst>
                            <p:childTnLst>
                              <p:par>
                                <p:cTn id="36" presetID="3" presetClass="entr" presetSubtype="5" fill="hold" nodeType="afterEffect">
                                  <p:stCondLst>
                                    <p:cond delay="0"/>
                                  </p:stCondLst>
                                  <p:childTnLst>
                                    <p:set>
                                      <p:cBhvr>
                                        <p:cTn id="37" dur="1" fill="hold">
                                          <p:stCondLst>
                                            <p:cond delay="0"/>
                                          </p:stCondLst>
                                        </p:cTn>
                                        <p:tgtEl>
                                          <p:spTgt spid="128014"/>
                                        </p:tgtEl>
                                        <p:attrNameLst>
                                          <p:attrName>style.visibility</p:attrName>
                                        </p:attrNameLst>
                                      </p:cBhvr>
                                      <p:to>
                                        <p:strVal val="visible"/>
                                      </p:to>
                                    </p:set>
                                    <p:animEffect transition="in" filter="blinds(vertical)">
                                      <p:cBhvr>
                                        <p:cTn id="38" dur="500"/>
                                        <p:tgtEl>
                                          <p:spTgt spid="1280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28015"/>
                                        </p:tgtEl>
                                        <p:attrNameLst>
                                          <p:attrName>style.visibility</p:attrName>
                                        </p:attrNameLst>
                                      </p:cBhvr>
                                      <p:to>
                                        <p:strVal val="visible"/>
                                      </p:to>
                                    </p:set>
                                    <p:animEffect transition="in" filter="wipe(down)">
                                      <p:cBhvr>
                                        <p:cTn id="43" dur="500"/>
                                        <p:tgtEl>
                                          <p:spTgt spid="128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autoUpdateAnimBg="0"/>
      <p:bldP spid="128009" grpId="0" autoUpdateAnimBg="0"/>
      <p:bldP spid="128011" grpId="0" autoUpdateAnimBg="0"/>
      <p:bldP spid="128013" grpId="0" autoUpdateAnimBg="0"/>
      <p:bldP spid="128015"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pPr eaLnBrk="1" hangingPunct="1"/>
            <a:r>
              <a:rPr lang="en-US" altLang="zh-CN" smtClean="0">
                <a:ea typeface="宋体" panose="02010600030101010101" pitchFamily="2" charset="-122"/>
              </a:rPr>
              <a:t>5.3 </a:t>
            </a:r>
            <a:r>
              <a:rPr lang="zh-CN" altLang="en-US" smtClean="0">
                <a:ea typeface="宋体" panose="02010600030101010101" pitchFamily="2" charset="-122"/>
              </a:rPr>
              <a:t>二极管峰值采样电路</a:t>
            </a:r>
            <a:endParaRPr lang="zh-CN" altLang="en-US" smtClean="0">
              <a:ea typeface="宋体" panose="02010600030101010101" pitchFamily="2" charset="-122"/>
            </a:endParaRPr>
          </a:p>
        </p:txBody>
      </p:sp>
      <p:sp>
        <p:nvSpPr>
          <p:cNvPr id="56323" name="内容占位符 2"/>
          <p:cNvSpPr>
            <a:spLocks noGrp="1"/>
          </p:cNvSpPr>
          <p:nvPr>
            <p:ph sz="quarter" idx="11"/>
          </p:nvPr>
        </p:nvSpPr>
        <p:spPr/>
        <p:txBody>
          <a:bodyPr/>
          <a:lstStyle/>
          <a:p>
            <a:pPr eaLnBrk="1" hangingPunct="1">
              <a:lnSpc>
                <a:spcPct val="150000"/>
              </a:lnSpc>
            </a:pPr>
            <a:r>
              <a:rPr lang="zh-CN" altLang="en-US" sz="2400" smtClean="0">
                <a:ea typeface="宋体" panose="02010600030101010101" pitchFamily="2" charset="-122"/>
              </a:rPr>
              <a:t>在半波整流电路中利用二极管单向导电性，将交流电压转化为直流脉动电压，分析过程中，二极管正向偏置导通时，输入电压直接传输到输出端。</a:t>
            </a:r>
            <a:endParaRPr lang="en-US" altLang="zh-CN"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如果把这个电压记忆并保存住，那么半波整流电路的二极管偏置将同时受到输入端和输出端电压的影响，只有当输入电压超过输出端记忆的电压二极管才导通，并更新输出端电压。</a:t>
            </a:r>
            <a:endParaRPr lang="en-US" altLang="zh-CN"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最终保留在输出端的将是输入电压的最大值</a:t>
            </a:r>
            <a:r>
              <a:rPr lang="en-US" altLang="zh-CN" sz="2400" smtClean="0">
                <a:ea typeface="宋体" panose="02010600030101010101" pitchFamily="2" charset="-122"/>
              </a:rPr>
              <a:t>——</a:t>
            </a:r>
            <a:r>
              <a:rPr lang="zh-CN" altLang="en-US" sz="2400" smtClean="0">
                <a:ea typeface="宋体" panose="02010600030101010101" pitchFamily="2" charset="-122"/>
              </a:rPr>
              <a:t>峰值，这就是峰值采样电路。</a:t>
            </a:r>
            <a:endParaRPr lang="zh-CN" altLang="en-US" sz="240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8" name="标题 1"/>
          <p:cNvSpPr>
            <a:spLocks noGrp="1"/>
          </p:cNvSpPr>
          <p:nvPr>
            <p:ph type="title"/>
          </p:nvPr>
        </p:nvSpPr>
        <p:spPr/>
        <p:txBody>
          <a:bodyPr/>
          <a:lstStyle/>
          <a:p>
            <a:pPr eaLnBrk="1" hangingPunct="1"/>
            <a:r>
              <a:rPr lang="en-US" altLang="zh-CN" smtClean="0">
                <a:ea typeface="宋体" panose="02010600030101010101" pitchFamily="2" charset="-122"/>
              </a:rPr>
              <a:t>5.3 </a:t>
            </a:r>
            <a:r>
              <a:rPr lang="zh-CN" altLang="en-US" smtClean="0">
                <a:ea typeface="宋体" panose="02010600030101010101" pitchFamily="2" charset="-122"/>
              </a:rPr>
              <a:t>二极管峰值采样电路（续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1638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16386" name="Object 1"/>
          <p:cNvGraphicFramePr>
            <a:graphicFrameLocks noChangeAspect="1"/>
          </p:cNvGraphicFramePr>
          <p:nvPr/>
        </p:nvGraphicFramePr>
        <p:xfrm>
          <a:off x="4500563" y="1143000"/>
          <a:ext cx="4370387" cy="2286000"/>
        </p:xfrm>
        <a:graphic>
          <a:graphicData uri="http://schemas.openxmlformats.org/presentationml/2006/ole">
            <mc:AlternateContent xmlns:mc="http://schemas.openxmlformats.org/markup-compatibility/2006">
              <mc:Choice xmlns:v="urn:schemas-microsoft-com:vml" Requires="v">
                <p:oleObj spid="_x0000_s16440" name="Visio" r:id="rId1" imgW="1259840" imgH="662305" progId="Visio.Drawing.11">
                  <p:embed/>
                </p:oleObj>
              </mc:Choice>
              <mc:Fallback>
                <p:oleObj name="Visio" r:id="rId1" imgW="1259840" imgH="662305"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1143000"/>
                        <a:ext cx="4370387"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0" name="矩形 5"/>
          <p:cNvSpPr>
            <a:spLocks noChangeArrowheads="1"/>
          </p:cNvSpPr>
          <p:nvPr/>
        </p:nvSpPr>
        <p:spPr bwMode="auto">
          <a:xfrm>
            <a:off x="5365750" y="3244850"/>
            <a:ext cx="2968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chemeClr val="tx2"/>
                </a:solidFill>
              </a:rPr>
              <a:t>二极管峰值采样电路</a:t>
            </a:r>
            <a:endParaRPr lang="zh-CN" altLang="en-US" sz="2400" b="1" dirty="0">
              <a:solidFill>
                <a:schemeClr val="tx2"/>
              </a:solidFill>
            </a:endParaRPr>
          </a:p>
        </p:txBody>
      </p:sp>
      <p:sp>
        <p:nvSpPr>
          <p:cNvPr id="16391" name="矩形 6"/>
          <p:cNvSpPr>
            <a:spLocks noChangeArrowheads="1"/>
          </p:cNvSpPr>
          <p:nvPr/>
        </p:nvSpPr>
        <p:spPr bwMode="auto">
          <a:xfrm>
            <a:off x="214313" y="1071563"/>
            <a:ext cx="428625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电路中用于记忆并保存峰值电压的器件是电容器，每当输入电压出现新的峰值，二极管处于正向偏值导通状态，输入电压通过导通的二极管向电容器充电，使之捕捉到输入电压的峰值，将峰值电压存储在电容器中输出。</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639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16387" name="Object 3"/>
          <p:cNvGraphicFramePr>
            <a:graphicFrameLocks noChangeAspect="1"/>
          </p:cNvGraphicFramePr>
          <p:nvPr/>
        </p:nvGraphicFramePr>
        <p:xfrm>
          <a:off x="5072063" y="3929063"/>
          <a:ext cx="3698875" cy="2000250"/>
        </p:xfrm>
        <a:graphic>
          <a:graphicData uri="http://schemas.openxmlformats.org/presentationml/2006/ole">
            <mc:AlternateContent xmlns:mc="http://schemas.openxmlformats.org/markup-compatibility/2006">
              <mc:Choice xmlns:v="urn:schemas-microsoft-com:vml" Requires="v">
                <p:oleObj spid="_x0000_s16441" name="Visio" r:id="rId3" imgW="1238250" imgH="683895" progId="Visio.Drawing.11">
                  <p:embed/>
                </p:oleObj>
              </mc:Choice>
              <mc:Fallback>
                <p:oleObj name="Visio" r:id="rId3" imgW="1238250" imgH="683895"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063" y="3929063"/>
                        <a:ext cx="3698875" cy="200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3" name="矩形 9"/>
          <p:cNvSpPr>
            <a:spLocks noChangeArrowheads="1"/>
          </p:cNvSpPr>
          <p:nvPr/>
        </p:nvSpPr>
        <p:spPr bwMode="auto">
          <a:xfrm>
            <a:off x="6286500" y="592931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chemeClr val="tx2"/>
                </a:solidFill>
              </a:rPr>
              <a:t>工作波形</a:t>
            </a:r>
            <a:endParaRPr lang="zh-CN" altLang="en-US" sz="2400" b="1" dirty="0">
              <a:solidFill>
                <a:schemeClr val="tx2"/>
              </a:solidFill>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391"/>
                                        </p:tgtEl>
                                        <p:attrNameLst>
                                          <p:attrName>style.visibility</p:attrName>
                                        </p:attrNameLst>
                                      </p:cBhvr>
                                      <p:to>
                                        <p:strVal val="visible"/>
                                      </p:to>
                                    </p:set>
                                    <p:animEffect transition="in" filter="wipe(up)">
                                      <p:cBhvr>
                                        <p:cTn id="7" dur="500"/>
                                        <p:tgtEl>
                                          <p:spTgt spid="16391"/>
                                        </p:tgtEl>
                                      </p:cBhvr>
                                    </p:animEffect>
                                  </p:childTnLst>
                                </p:cTn>
                              </p:par>
                              <p:par>
                                <p:cTn id="8" presetID="22" presetClass="entr" presetSubtype="4" fill="hold" nodeType="withEffect">
                                  <p:stCondLst>
                                    <p:cond delay="0"/>
                                  </p:stCondLst>
                                  <p:childTnLst>
                                    <p:set>
                                      <p:cBhvr>
                                        <p:cTn id="9" dur="1" fill="hold">
                                          <p:stCondLst>
                                            <p:cond delay="0"/>
                                          </p:stCondLst>
                                        </p:cTn>
                                        <p:tgtEl>
                                          <p:spTgt spid="16386"/>
                                        </p:tgtEl>
                                        <p:attrNameLst>
                                          <p:attrName>style.visibility</p:attrName>
                                        </p:attrNameLst>
                                      </p:cBhvr>
                                      <p:to>
                                        <p:strVal val="visible"/>
                                      </p:to>
                                    </p:set>
                                    <p:animEffect transition="in" filter="wipe(down)">
                                      <p:cBhvr>
                                        <p:cTn id="10" dur="500"/>
                                        <p:tgtEl>
                                          <p:spTgt spid="1638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6390"/>
                                        </p:tgtEl>
                                        <p:attrNameLst>
                                          <p:attrName>style.visibility</p:attrName>
                                        </p:attrNameLst>
                                      </p:cBhvr>
                                      <p:to>
                                        <p:strVal val="visible"/>
                                      </p:to>
                                    </p:set>
                                    <p:animEffect transition="in" filter="wipe(left)">
                                      <p:cBhvr>
                                        <p:cTn id="14" dur="500"/>
                                        <p:tgtEl>
                                          <p:spTgt spid="1639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6387"/>
                                        </p:tgtEl>
                                        <p:attrNameLst>
                                          <p:attrName>style.visibility</p:attrName>
                                        </p:attrNameLst>
                                      </p:cBhvr>
                                      <p:to>
                                        <p:strVal val="visible"/>
                                      </p:to>
                                    </p:set>
                                    <p:animEffect transition="in" filter="wipe(left)">
                                      <p:cBhvr>
                                        <p:cTn id="19" dur="500"/>
                                        <p:tgtEl>
                                          <p:spTgt spid="16387"/>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6393"/>
                                        </p:tgtEl>
                                        <p:attrNameLst>
                                          <p:attrName>style.visibility</p:attrName>
                                        </p:attrNameLst>
                                      </p:cBhvr>
                                      <p:to>
                                        <p:strVal val="visible"/>
                                      </p:to>
                                    </p:set>
                                    <p:animEffect transition="in" filter="wipe(left)">
                                      <p:cBhvr>
                                        <p:cTn id="23" dur="500"/>
                                        <p:tgtEl>
                                          <p:spTgt spid="16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P spid="16391" grpId="0"/>
      <p:bldP spid="1639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二极管峰值采样电路</a:t>
            </a:r>
            <a:endParaRPr lang="zh-CN" altLang="en-US" dirty="0"/>
          </a:p>
        </p:txBody>
      </p:sp>
      <p:sp>
        <p:nvSpPr>
          <p:cNvPr id="3" name="灯片编号占位符 2"/>
          <p:cNvSpPr>
            <a:spLocks noGrp="1"/>
          </p:cNvSpPr>
          <p:nvPr>
            <p:ph type="sldNum" sz="quarter" idx="12"/>
          </p:nvPr>
        </p:nvSpPr>
        <p:spPr/>
        <p:txBody>
          <a:bodyPr/>
          <a:lstStyle/>
          <a:p>
            <a:pPr>
              <a:defRPr/>
            </a:pPr>
            <a:fld id="{162F5428-5ADF-4813-8E04-D0A9AD111460}"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604543" y="836712"/>
            <a:ext cx="7590101" cy="528635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pPr eaLnBrk="1" hangingPunct="1"/>
            <a:r>
              <a:rPr lang="en-US" altLang="zh-CN" smtClean="0">
                <a:ea typeface="宋体" panose="02010600030101010101" pitchFamily="2" charset="-122"/>
              </a:rPr>
              <a:t>5.3 </a:t>
            </a:r>
            <a:r>
              <a:rPr lang="zh-CN" altLang="en-US" smtClean="0">
                <a:ea typeface="宋体" panose="02010600030101010101" pitchFamily="2" charset="-122"/>
              </a:rPr>
              <a:t>二极管峰值采样电路（续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3" name="内容占位符 2"/>
          <p:cNvSpPr>
            <a:spLocks noGrp="1"/>
          </p:cNvSpPr>
          <p:nvPr>
            <p:ph sz="quarter" idx="11"/>
          </p:nvPr>
        </p:nvSpPr>
        <p:spPr/>
        <p:txBody>
          <a:bodyPr/>
          <a:lstStyle/>
          <a:p>
            <a:pPr marL="0" indent="0" eaLnBrk="1" hangingPunct="1">
              <a:lnSpc>
                <a:spcPct val="150000"/>
              </a:lnSpc>
              <a:buFont typeface="Wingdings" panose="05000000000000000000" pitchFamily="2" charset="2"/>
              <a:buNone/>
              <a:defRPr/>
            </a:pPr>
            <a:r>
              <a:rPr lang="zh-CN" altLang="en-US" sz="2400" dirty="0" smtClean="0"/>
              <a:t>二极管峰值采样电路中，电路及器件的非理想会影响电路性能。</a:t>
            </a:r>
            <a:endParaRPr lang="en-US" altLang="zh-CN" sz="2400" dirty="0" smtClean="0"/>
          </a:p>
          <a:p>
            <a:pPr marL="457200" indent="-457200" eaLnBrk="1" hangingPunct="1">
              <a:lnSpc>
                <a:spcPct val="150000"/>
              </a:lnSpc>
              <a:buFont typeface="+mj-lt"/>
              <a:buAutoNum type="arabicPeriod"/>
              <a:defRPr/>
            </a:pPr>
            <a:r>
              <a:rPr lang="zh-CN" altLang="en-US" sz="2400" dirty="0" smtClean="0"/>
              <a:t>二极管导通电压的存在，电容两端存储的电压始终要低于输入电压峰值一个二极管导通电压，硅管约</a:t>
            </a:r>
            <a:r>
              <a:rPr lang="en-US" sz="2400" dirty="0" smtClean="0"/>
              <a:t>0.6V</a:t>
            </a:r>
            <a:r>
              <a:rPr lang="zh-CN" altLang="en-US" sz="2400" dirty="0" smtClean="0"/>
              <a:t>，锗管约</a:t>
            </a:r>
            <a:r>
              <a:rPr lang="en-US" sz="2400" dirty="0" smtClean="0"/>
              <a:t>0.3V</a:t>
            </a:r>
            <a:r>
              <a:rPr lang="zh-CN" altLang="en-US" sz="2400" dirty="0" smtClean="0"/>
              <a:t>。</a:t>
            </a:r>
            <a:endParaRPr lang="en-US" altLang="zh-CN" sz="2400" dirty="0" smtClean="0"/>
          </a:p>
          <a:p>
            <a:pPr marL="457200" indent="-457200" eaLnBrk="1" hangingPunct="1">
              <a:lnSpc>
                <a:spcPct val="150000"/>
              </a:lnSpc>
              <a:buFont typeface="+mj-lt"/>
              <a:buAutoNum type="arabicPeriod"/>
              <a:defRPr/>
            </a:pPr>
            <a:r>
              <a:rPr lang="zh-CN" altLang="en-US" sz="2400" dirty="0" smtClean="0"/>
              <a:t>存在二极管导通电阻和输入电压信号源内阻，输入电压对电容充电的时间常数不可能等于</a:t>
            </a:r>
            <a:r>
              <a:rPr lang="en-US" sz="2400" dirty="0" smtClean="0"/>
              <a:t>0</a:t>
            </a:r>
            <a:r>
              <a:rPr lang="zh-CN" altLang="en-US" sz="2400" dirty="0" smtClean="0"/>
              <a:t>，当输入信号电压频率太高时，输入信号出现峰值的时间很短，电容器来不及充电更新，这时也会出现采样失败。</a:t>
            </a:r>
            <a:endParaRPr lang="en-US" altLang="zh-CN" sz="2400" dirty="0" smtClean="0"/>
          </a:p>
          <a:p>
            <a:pPr marL="457200" indent="-457200" eaLnBrk="1" hangingPunct="1">
              <a:lnSpc>
                <a:spcPct val="150000"/>
              </a:lnSpc>
              <a:buFont typeface="+mj-lt"/>
              <a:buAutoNum type="arabicPeriod"/>
              <a:defRPr/>
            </a:pPr>
            <a:r>
              <a:rPr lang="zh-CN" altLang="en-US" sz="2400" dirty="0" smtClean="0"/>
              <a:t>电容器本身存在泄漏电阻，使得保存在电容器中的电压会随着时间慢慢降低，如果考虑负载电阻的影响，电容上电压保持能力将大大降低，需要增加高输入电阻的隔离电路。</a:t>
            </a:r>
            <a:endParaRPr lang="zh-CN" altLang="en-US" sz="2400" dirty="0" smtClean="0"/>
          </a:p>
          <a:p>
            <a:pPr marL="457200" indent="-457200" eaLnBrk="1" hangingPunct="1">
              <a:lnSpc>
                <a:spcPct val="150000"/>
              </a:lnSpc>
              <a:buFont typeface="+mj-lt"/>
              <a:buAutoNum type="arabicPeriod"/>
              <a:defRPr/>
            </a:pPr>
            <a:endParaRPr lang="zh-CN" altLang="en-US" sz="2400" dirty="0" smtClean="0"/>
          </a:p>
          <a:p>
            <a:pPr eaLnBrk="1" hangingPunct="1">
              <a:lnSpc>
                <a:spcPct val="150000"/>
              </a:lnSpc>
              <a:defRPr/>
            </a:pPr>
            <a:endParaRPr lang="zh-CN" altLang="en-US" sz="2400" dirty="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标题 1"/>
          <p:cNvSpPr>
            <a:spLocks noGrp="1"/>
          </p:cNvSpPr>
          <p:nvPr>
            <p:ph type="title"/>
          </p:nvPr>
        </p:nvSpPr>
        <p:spPr/>
        <p:txBody>
          <a:bodyPr/>
          <a:lstStyle/>
          <a:p>
            <a:pPr eaLnBrk="1" hangingPunct="1"/>
            <a:r>
              <a:rPr lang="en-US" altLang="zh-CN" smtClean="0">
                <a:ea typeface="宋体" panose="02010600030101010101" pitchFamily="2" charset="-122"/>
              </a:rPr>
              <a:t>5.3 </a:t>
            </a:r>
            <a:r>
              <a:rPr lang="zh-CN" altLang="en-US" smtClean="0">
                <a:ea typeface="宋体" panose="02010600030101010101" pitchFamily="2" charset="-122"/>
              </a:rPr>
              <a:t>二极管峰值采样电路（续</a:t>
            </a:r>
            <a:r>
              <a:rPr lang="en-US" altLang="zh-CN" smtClean="0">
                <a:ea typeface="宋体" panose="02010600030101010101" pitchFamily="2" charset="-122"/>
              </a:rPr>
              <a:t>3</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17412" name="内容占位符 2"/>
          <p:cNvSpPr>
            <a:spLocks noGrp="1"/>
          </p:cNvSpPr>
          <p:nvPr>
            <p:ph sz="quarter" idx="11"/>
          </p:nvPr>
        </p:nvSpPr>
        <p:spPr/>
        <p:txBody>
          <a:bodyPr/>
          <a:lstStyle/>
          <a:p>
            <a:pPr marL="0" indent="630555" eaLnBrk="1" hangingPunct="1">
              <a:lnSpc>
                <a:spcPct val="150000"/>
              </a:lnSpc>
              <a:buFont typeface="Wingdings" panose="05000000000000000000" pitchFamily="2" charset="2"/>
              <a:buNone/>
            </a:pPr>
            <a:r>
              <a:rPr lang="zh-CN" altLang="en-US" sz="2400" smtClean="0">
                <a:ea typeface="宋体" panose="02010600030101010101" pitchFamily="2" charset="-122"/>
              </a:rPr>
              <a:t>二极管峰值采样电路可用于需要记录测量最高数值的场合，例如，测量记录日最高温度的最高温度测试仪，通过温度－电压传感器将温度转换为相应的电压信号，由信号调理电路对其进行放大、线性化校正等处理形成与温度呈线性关系的电压，最后由二极管峰值采样电路采样得到最高温度并显示出来。</a:t>
            </a:r>
            <a:endParaRPr lang="zh-CN" altLang="en-US" sz="2400" smtClean="0">
              <a:ea typeface="宋体" panose="02010600030101010101" pitchFamily="2" charset="-122"/>
            </a:endParaRPr>
          </a:p>
        </p:txBody>
      </p:sp>
      <p:sp>
        <p:nvSpPr>
          <p:cNvPr id="1741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17410" name="Object 1"/>
          <p:cNvGraphicFramePr>
            <a:graphicFrameLocks noChangeAspect="1"/>
          </p:cNvGraphicFramePr>
          <p:nvPr/>
        </p:nvGraphicFramePr>
        <p:xfrm>
          <a:off x="142875" y="3929063"/>
          <a:ext cx="8824913" cy="1500187"/>
        </p:xfrm>
        <a:graphic>
          <a:graphicData uri="http://schemas.openxmlformats.org/presentationml/2006/ole">
            <mc:AlternateContent xmlns:mc="http://schemas.openxmlformats.org/markup-compatibility/2006">
              <mc:Choice xmlns:v="urn:schemas-microsoft-com:vml" Requires="v">
                <p:oleObj spid="_x0000_s17438" name="Visio" r:id="rId1" imgW="3398520" imgH="439420" progId="Visio.Drawing.11">
                  <p:embed/>
                </p:oleObj>
              </mc:Choice>
              <mc:Fallback>
                <p:oleObj name="Visio" r:id="rId1" imgW="3398520" imgH="43942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3929063"/>
                        <a:ext cx="8824913" cy="1500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4" name="矩形 5"/>
          <p:cNvSpPr>
            <a:spLocks noChangeArrowheads="1"/>
          </p:cNvSpPr>
          <p:nvPr/>
        </p:nvSpPr>
        <p:spPr bwMode="auto">
          <a:xfrm>
            <a:off x="2928938" y="5643563"/>
            <a:ext cx="2954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chemeClr val="tx2"/>
                </a:solidFill>
              </a:rPr>
              <a:t>最高温度测试仪组成</a:t>
            </a:r>
            <a:endParaRPr lang="zh-CN" altLang="en-US" sz="2400" b="1">
              <a:solidFill>
                <a:schemeClr val="tx2"/>
              </a:solidFill>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7410"/>
                                        </p:tgtEl>
                                        <p:attrNameLst>
                                          <p:attrName>style.visibility</p:attrName>
                                        </p:attrNameLst>
                                      </p:cBhvr>
                                      <p:to>
                                        <p:strVal val="visible"/>
                                      </p:to>
                                    </p:set>
                                    <p:animEffect transition="in" filter="wipe(left)">
                                      <p:cBhvr>
                                        <p:cTn id="11" dur="500"/>
                                        <p:tgtEl>
                                          <p:spTgt spid="17410"/>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7414"/>
                                        </p:tgtEl>
                                        <p:attrNameLst>
                                          <p:attrName>style.visibility</p:attrName>
                                        </p:attrNameLst>
                                      </p:cBhvr>
                                      <p:to>
                                        <p:strVal val="visible"/>
                                      </p:to>
                                    </p:set>
                                    <p:animEffect transition="in" filter="wipe(left)">
                                      <p:cBhvr>
                                        <p:cTn id="15" dur="5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build="p"/>
      <p:bldP spid="17414"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a:t>
            </a:r>
            <a:endParaRPr lang="zh-CN" altLang="en-US" smtClean="0">
              <a:ea typeface="宋体" panose="02010600030101010101" pitchFamily="2" charset="-122"/>
            </a:endParaRPr>
          </a:p>
        </p:txBody>
      </p:sp>
      <p:sp>
        <p:nvSpPr>
          <p:cNvPr id="58371" name="内容占位符 2"/>
          <p:cNvSpPr>
            <a:spLocks noGrp="1"/>
          </p:cNvSpPr>
          <p:nvPr>
            <p:ph sz="quarter" idx="11"/>
          </p:nvPr>
        </p:nvSpPr>
        <p:spPr/>
        <p:txBody>
          <a:bodyPr/>
          <a:lstStyle/>
          <a:p>
            <a:pPr eaLnBrk="1" hangingPunct="1">
              <a:lnSpc>
                <a:spcPct val="150000"/>
              </a:lnSpc>
            </a:pPr>
            <a:r>
              <a:rPr lang="zh-CN" altLang="en-US" sz="2400" smtClean="0">
                <a:ea typeface="宋体" panose="02010600030101010101" pitchFamily="2" charset="-122"/>
              </a:rPr>
              <a:t>调幅波是一种常用的信号调制方式，它通过频谱搬移将低频信号调制到高频载波的幅度上，这样便于通过天线发射传输。</a:t>
            </a:r>
            <a:endParaRPr lang="en-US" altLang="zh-CN"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从调幅波中检出低频信号的过程也是一个频谱变换过程，要完成这一变换，必须使用非线性元件。</a:t>
            </a:r>
            <a:endParaRPr lang="en-US" altLang="zh-CN"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为了从变换后产生的多种频率成分中，取出低频信号，并将不需要的成分滤掉，检波器的负载应具有低通滤波器的特性。</a:t>
            </a:r>
            <a:endParaRPr lang="en-US" altLang="zh-CN"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检波器由非线性元件和具有低通滤波器特性的负载组成。滤波电容数值的选择应使高频时近于短路，低频时近于开路。</a:t>
            </a:r>
            <a:endParaRPr lang="zh-CN" altLang="en-US" sz="2400" smtClean="0">
              <a:ea typeface="宋体" panose="02010600030101010101" pitchFamily="2" charset="-122"/>
            </a:endParaRPr>
          </a:p>
          <a:p>
            <a:pPr eaLnBrk="1" hangingPunct="1">
              <a:lnSpc>
                <a:spcPct val="150000"/>
              </a:lnSpc>
            </a:pPr>
            <a:endParaRPr lang="zh-CN" altLang="en-US" sz="240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18436" name="内容占位符 2"/>
          <p:cNvSpPr>
            <a:spLocks noGrp="1"/>
          </p:cNvSpPr>
          <p:nvPr>
            <p:ph sz="quarter" idx="11"/>
          </p:nvPr>
        </p:nvSpPr>
        <p:spPr/>
        <p:txBody>
          <a:bodyPr/>
          <a:lstStyle/>
          <a:p>
            <a:pPr eaLnBrk="1" hangingPunct="1">
              <a:lnSpc>
                <a:spcPct val="150000"/>
              </a:lnSpc>
            </a:pPr>
            <a:r>
              <a:rPr lang="zh-CN" altLang="en-US" sz="2400" dirty="0" smtClean="0">
                <a:ea typeface="宋体" panose="02010600030101010101" pitchFamily="2" charset="-122"/>
              </a:rPr>
              <a:t>目前应用最广泛的是二极管检波器，具有线路简单，大信号输入时非线性失真小等优点。根据调幅信号的大小，可分为大信号直线性检波和小信号平方律检波两种方式。</a:t>
            </a:r>
            <a:endParaRPr lang="zh-CN" altLang="en-US"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二极管小信号平方律检波电路</a:t>
            </a:r>
            <a:endParaRPr lang="zh-CN" altLang="en-US" sz="2400" dirty="0" smtClean="0">
              <a:ea typeface="宋体" panose="02010600030101010101" pitchFamily="2" charset="-122"/>
            </a:endParaRPr>
          </a:p>
        </p:txBody>
      </p:sp>
      <p:sp>
        <p:nvSpPr>
          <p:cNvPr id="1843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18434" name="Object 1"/>
          <p:cNvGraphicFramePr>
            <a:graphicFrameLocks noChangeAspect="1"/>
          </p:cNvGraphicFramePr>
          <p:nvPr/>
        </p:nvGraphicFramePr>
        <p:xfrm>
          <a:off x="4714875" y="2928938"/>
          <a:ext cx="4268788" cy="2714625"/>
        </p:xfrm>
        <a:graphic>
          <a:graphicData uri="http://schemas.openxmlformats.org/presentationml/2006/ole">
            <mc:AlternateContent xmlns:mc="http://schemas.openxmlformats.org/markup-compatibility/2006">
              <mc:Choice xmlns:v="urn:schemas-microsoft-com:vml" Requires="v">
                <p:oleObj spid="_x0000_s18463" name="Visio" r:id="rId1" imgW="1598295" imgH="1015365" progId="Visio.Drawing.11">
                  <p:embed/>
                </p:oleObj>
              </mc:Choice>
              <mc:Fallback>
                <p:oleObj name="Visio" r:id="rId1" imgW="1598295" imgH="1015365"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75" y="2928938"/>
                        <a:ext cx="4268788" cy="271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8" name="矩形 5"/>
          <p:cNvSpPr>
            <a:spLocks noChangeArrowheads="1"/>
          </p:cNvSpPr>
          <p:nvPr/>
        </p:nvSpPr>
        <p:spPr bwMode="auto">
          <a:xfrm>
            <a:off x="395537" y="3042591"/>
            <a:ext cx="4824535"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b="1" dirty="0">
                <a:solidFill>
                  <a:schemeClr val="tx2"/>
                </a:solidFill>
                <a:latin typeface="Times New Roman" panose="02020603050405020304" pitchFamily="18" charset="0"/>
                <a:cs typeface="Times New Roman" panose="02020603050405020304" pitchFamily="18" charset="0"/>
              </a:rPr>
              <a:t>当检波器的输入调幅信号幅度较小（≤</a:t>
            </a:r>
            <a:r>
              <a:rPr lang="en-US" altLang="zh-CN" sz="2400" b="1" dirty="0">
                <a:solidFill>
                  <a:schemeClr val="tx2"/>
                </a:solidFill>
                <a:latin typeface="Times New Roman" panose="02020603050405020304" pitchFamily="18" charset="0"/>
                <a:cs typeface="Times New Roman" panose="02020603050405020304" pitchFamily="18" charset="0"/>
              </a:rPr>
              <a:t>0.2V</a:t>
            </a:r>
            <a:r>
              <a:rPr lang="zh-CN" altLang="en-US" sz="2400" b="1" dirty="0">
                <a:solidFill>
                  <a:schemeClr val="tx2"/>
                </a:solidFill>
                <a:latin typeface="Times New Roman" panose="02020603050405020304" pitchFamily="18" charset="0"/>
                <a:cs typeface="Times New Roman" panose="02020603050405020304" pitchFamily="18" charset="0"/>
              </a:rPr>
              <a:t>）时的检波称为小信号平方律检波。其特点是在整个信号周期内二极管总是导通，利用二极管伏安特性曲线的弯曲部分的平方律函数完成检波的频率变换。小信号平方律检波的原理电路如图所示。</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8438"/>
                                        </p:tgtEl>
                                        <p:attrNameLst>
                                          <p:attrName>style.visibility</p:attrName>
                                        </p:attrNameLst>
                                      </p:cBhvr>
                                      <p:to>
                                        <p:strVal val="visible"/>
                                      </p:to>
                                    </p:set>
                                    <p:animEffect transition="in" filter="wipe(up)">
                                      <p:cBhvr>
                                        <p:cTn id="15" dur="500"/>
                                        <p:tgtEl>
                                          <p:spTgt spid="18438"/>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8434"/>
                                        </p:tgtEl>
                                        <p:attrNameLst>
                                          <p:attrName>style.visibility</p:attrName>
                                        </p:attrNameLst>
                                      </p:cBhvr>
                                      <p:to>
                                        <p:strVal val="visible"/>
                                      </p:to>
                                    </p:set>
                                    <p:animEffect transition="in" filter="wipe(left)">
                                      <p:cBhvr>
                                        <p:cTn id="19"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uiExpand="1" build="p"/>
      <p:bldP spid="18438" grpId="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19460" name="内容占位符 2"/>
          <p:cNvSpPr>
            <a:spLocks noGrp="1"/>
          </p:cNvSpPr>
          <p:nvPr>
            <p:ph sz="quarter" idx="11"/>
          </p:nvPr>
        </p:nvSpPr>
        <p:spPr/>
        <p:txBody>
          <a:bodyPr/>
          <a:lstStyle/>
          <a:p>
            <a:pPr eaLnBrk="1" hangingPunct="1">
              <a:lnSpc>
                <a:spcPct val="150000"/>
              </a:lnSpc>
            </a:pPr>
            <a:r>
              <a:rPr lang="en-US" altLang="zh-CN" sz="2400" dirty="0" smtClean="0">
                <a:ea typeface="宋体" panose="02010600030101010101" pitchFamily="2" charset="-122"/>
              </a:rPr>
              <a:t>D</a:t>
            </a:r>
            <a:r>
              <a:rPr lang="zh-CN" altLang="en-US" sz="2400" dirty="0" smtClean="0">
                <a:ea typeface="宋体" panose="02010600030101010101" pitchFamily="2" charset="-122"/>
              </a:rPr>
              <a:t>是检波二极管，</a:t>
            </a:r>
            <a:r>
              <a:rPr lang="en-US" altLang="zh-CN" sz="2400" i="1" dirty="0" smtClean="0">
                <a:ea typeface="宋体" panose="02010600030101010101" pitchFamily="2" charset="-122"/>
              </a:rPr>
              <a:t>CR</a:t>
            </a:r>
            <a:r>
              <a:rPr lang="zh-CN" altLang="en-US" sz="2400" dirty="0" smtClean="0">
                <a:ea typeface="宋体" panose="02010600030101010101" pitchFamily="2" charset="-122"/>
              </a:rPr>
              <a:t>是检波负载，</a:t>
            </a:r>
            <a:r>
              <a:rPr lang="en-US" altLang="zh-CN" sz="2400" i="1" dirty="0" smtClean="0">
                <a:ea typeface="宋体" panose="02010600030101010101" pitchFamily="2" charset="-122"/>
              </a:rPr>
              <a:t>U</a:t>
            </a:r>
            <a:r>
              <a:rPr lang="en-US" altLang="zh-CN" sz="2400" i="1" baseline="-25000" dirty="0" smtClean="0">
                <a:ea typeface="宋体" panose="02010600030101010101" pitchFamily="2" charset="-122"/>
              </a:rPr>
              <a:t>Q</a:t>
            </a:r>
            <a:r>
              <a:rPr lang="zh-CN" altLang="en-US" sz="2400" dirty="0" smtClean="0">
                <a:ea typeface="宋体" panose="02010600030101010101" pitchFamily="2" charset="-122"/>
              </a:rPr>
              <a:t>为外加直流偏压，以提高二极管</a:t>
            </a:r>
            <a:r>
              <a:rPr lang="en-US" altLang="zh-CN" sz="2400" dirty="0" smtClean="0">
                <a:ea typeface="宋体" panose="02010600030101010101" pitchFamily="2" charset="-122"/>
              </a:rPr>
              <a:t>D</a:t>
            </a:r>
            <a:r>
              <a:rPr lang="zh-CN" altLang="en-US" sz="2400" dirty="0" smtClean="0">
                <a:ea typeface="宋体" panose="02010600030101010101" pitchFamily="2" charset="-122"/>
              </a:rPr>
              <a:t>工作点</a:t>
            </a:r>
            <a:r>
              <a:rPr lang="en-US" altLang="zh-CN" sz="2400" i="1" dirty="0" smtClean="0">
                <a:ea typeface="宋体" panose="02010600030101010101" pitchFamily="2" charset="-122"/>
              </a:rPr>
              <a:t>Q</a:t>
            </a:r>
            <a:r>
              <a:rPr lang="zh-CN" altLang="en-US" sz="2400" dirty="0" smtClean="0">
                <a:ea typeface="宋体" panose="02010600030101010101" pitchFamily="2" charset="-122"/>
              </a:rPr>
              <a:t>的位置。</a:t>
            </a:r>
            <a:r>
              <a:rPr lang="en-US" altLang="zh-CN" sz="2400" i="1" dirty="0" err="1" smtClean="0">
                <a:ea typeface="宋体" panose="02010600030101010101" pitchFamily="2" charset="-122"/>
              </a:rPr>
              <a:t>u</a:t>
            </a:r>
            <a:r>
              <a:rPr lang="en-US" altLang="zh-CN" sz="2400" i="1" baseline="-25000" dirty="0" err="1" smtClean="0">
                <a:ea typeface="宋体" panose="02010600030101010101" pitchFamily="2" charset="-122"/>
              </a:rPr>
              <a:t>i</a:t>
            </a:r>
            <a:r>
              <a:rPr lang="zh-CN" altLang="en-US" sz="2400" dirty="0" smtClean="0">
                <a:ea typeface="宋体" panose="02010600030101010101" pitchFamily="2" charset="-122"/>
              </a:rPr>
              <a:t>是调幅信号，其包络线的最大幅度小于</a:t>
            </a:r>
            <a:r>
              <a:rPr lang="en-US" altLang="zh-CN" sz="2400" i="1" dirty="0" smtClean="0">
                <a:ea typeface="宋体" panose="02010600030101010101" pitchFamily="2" charset="-122"/>
              </a:rPr>
              <a:t>U</a:t>
            </a:r>
            <a:r>
              <a:rPr lang="en-US" altLang="zh-CN" sz="2400" i="1" baseline="-25000" dirty="0" smtClean="0">
                <a:ea typeface="宋体" panose="02010600030101010101" pitchFamily="2" charset="-122"/>
              </a:rPr>
              <a:t>Q</a:t>
            </a:r>
            <a:r>
              <a:rPr lang="zh-CN" altLang="en-US" sz="2400" dirty="0" smtClean="0">
                <a:ea typeface="宋体" panose="02010600030101010101" pitchFamily="2" charset="-122"/>
              </a:rPr>
              <a:t>。</a:t>
            </a:r>
            <a:endParaRPr lang="zh-CN" altLang="en-US" sz="2400" dirty="0" smtClean="0">
              <a:ea typeface="宋体" panose="02010600030101010101" pitchFamily="2" charset="-122"/>
            </a:endParaRPr>
          </a:p>
          <a:p>
            <a:pPr eaLnBrk="1" hangingPunct="1">
              <a:lnSpc>
                <a:spcPct val="150000"/>
              </a:lnSpc>
            </a:pPr>
            <a:endParaRPr lang="zh-CN" altLang="en-US" sz="2400" dirty="0" smtClean="0">
              <a:ea typeface="宋体" panose="02010600030101010101" pitchFamily="2" charset="-122"/>
            </a:endParaRPr>
          </a:p>
        </p:txBody>
      </p:sp>
      <p:sp>
        <p:nvSpPr>
          <p:cNvPr id="1946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19458" name="Object 3"/>
          <p:cNvGraphicFramePr>
            <a:graphicFrameLocks noChangeAspect="1"/>
          </p:cNvGraphicFramePr>
          <p:nvPr/>
        </p:nvGraphicFramePr>
        <p:xfrm>
          <a:off x="4643438" y="2000250"/>
          <a:ext cx="4268787" cy="2714625"/>
        </p:xfrm>
        <a:graphic>
          <a:graphicData uri="http://schemas.openxmlformats.org/presentationml/2006/ole">
            <mc:AlternateContent xmlns:mc="http://schemas.openxmlformats.org/markup-compatibility/2006">
              <mc:Choice xmlns:v="urn:schemas-microsoft-com:vml" Requires="v">
                <p:oleObj spid="_x0000_s19486" name="Visio" r:id="rId1" imgW="1598295" imgH="1015365" progId="Visio.Drawing.11">
                  <p:embed/>
                </p:oleObj>
              </mc:Choice>
              <mc:Fallback>
                <p:oleObj name="Visio" r:id="rId1" imgW="1598295" imgH="101536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2000250"/>
                        <a:ext cx="4268787" cy="271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矩形 6"/>
          <p:cNvSpPr>
            <a:spLocks noChangeArrowheads="1"/>
          </p:cNvSpPr>
          <p:nvPr/>
        </p:nvSpPr>
        <p:spPr bwMode="auto">
          <a:xfrm>
            <a:off x="285750" y="2428875"/>
            <a:ext cx="4572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由于二极管特性的非线性，在输入信号作用下，流过二极管的电流波形是失真的，失真波形中包含有低频电流</a:t>
            </a:r>
            <a:r>
              <a:rPr lang="en-US" altLang="zh-CN" sz="2400" b="1" i="1" dirty="0" err="1">
                <a:solidFill>
                  <a:schemeClr val="tx2"/>
                </a:solidFill>
                <a:latin typeface="Times New Roman" panose="02020603050405020304" pitchFamily="18" charset="0"/>
                <a:cs typeface="Times New Roman" panose="02020603050405020304" pitchFamily="18" charset="0"/>
              </a:rPr>
              <a:t>i</a:t>
            </a:r>
            <a:r>
              <a:rPr lang="en-US" altLang="zh-CN" sz="2400" b="1" baseline="-25000" dirty="0" err="1">
                <a:solidFill>
                  <a:schemeClr val="tx2"/>
                </a:solidFill>
                <a:latin typeface="Times New Roman" panose="02020603050405020304" pitchFamily="18" charset="0"/>
                <a:cs typeface="Times New Roman" panose="02020603050405020304" pitchFamily="18" charset="0"/>
              </a:rPr>
              <a:t>m</a:t>
            </a:r>
            <a:r>
              <a:rPr lang="zh-CN" altLang="en-US" sz="2400" b="1" dirty="0">
                <a:solidFill>
                  <a:schemeClr val="tx2"/>
                </a:solidFill>
                <a:latin typeface="Times New Roman" panose="02020603050405020304" pitchFamily="18" charset="0"/>
                <a:cs typeface="Times New Roman" panose="02020603050405020304" pitchFamily="18" charset="0"/>
              </a:rPr>
              <a:t>，其形状与输入已调波电压</a:t>
            </a:r>
            <a:r>
              <a:rPr lang="en-US" altLang="zh-CN" sz="2400" b="1" i="1" dirty="0" err="1">
                <a:solidFill>
                  <a:schemeClr val="tx2"/>
                </a:solidFill>
                <a:latin typeface="Times New Roman" panose="02020603050405020304" pitchFamily="18" charset="0"/>
                <a:cs typeface="Times New Roman" panose="02020603050405020304" pitchFamily="18" charset="0"/>
              </a:rPr>
              <a:t>u</a:t>
            </a:r>
            <a:r>
              <a:rPr lang="en-US" altLang="zh-CN" sz="2400" b="1" i="1" baseline="-25000" dirty="0" err="1">
                <a:solidFill>
                  <a:schemeClr val="tx2"/>
                </a:solidFill>
                <a:latin typeface="Times New Roman" panose="02020603050405020304" pitchFamily="18" charset="0"/>
                <a:cs typeface="Times New Roman" panose="02020603050405020304" pitchFamily="18" charset="0"/>
              </a:rPr>
              <a:t>i</a:t>
            </a:r>
            <a:r>
              <a:rPr lang="zh-CN" altLang="en-US" sz="2400" b="1" dirty="0">
                <a:solidFill>
                  <a:schemeClr val="tx2"/>
                </a:solidFill>
                <a:latin typeface="Times New Roman" panose="02020603050405020304" pitchFamily="18" charset="0"/>
                <a:cs typeface="Times New Roman" panose="02020603050405020304" pitchFamily="18" charset="0"/>
              </a:rPr>
              <a:t>的包络线形状基本一致将高频成分滤掉后，负载</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zh-CN" altLang="en-US" sz="2400" b="1" dirty="0">
                <a:solidFill>
                  <a:schemeClr val="tx2"/>
                </a:solidFill>
                <a:latin typeface="Times New Roman" panose="02020603050405020304" pitchFamily="18" charset="0"/>
                <a:cs typeface="Times New Roman" panose="02020603050405020304" pitchFamily="18" charset="0"/>
              </a:rPr>
              <a:t>上就得到了低频信号</a:t>
            </a:r>
            <a:r>
              <a:rPr lang="en-US" altLang="zh-CN" sz="2400" b="1" i="1" dirty="0" err="1">
                <a:solidFill>
                  <a:schemeClr val="tx2"/>
                </a:solidFill>
                <a:latin typeface="Times New Roman" panose="02020603050405020304" pitchFamily="18" charset="0"/>
                <a:cs typeface="Times New Roman" panose="02020603050405020304" pitchFamily="18" charset="0"/>
              </a:rPr>
              <a:t>u</a:t>
            </a:r>
            <a:r>
              <a:rPr lang="en-US" altLang="zh-CN" sz="2400" b="1" baseline="-25000" dirty="0" err="1">
                <a:solidFill>
                  <a:schemeClr val="tx2"/>
                </a:solidFill>
                <a:latin typeface="Times New Roman" panose="02020603050405020304" pitchFamily="18" charset="0"/>
                <a:cs typeface="Times New Roman" panose="02020603050405020304" pitchFamily="18" charset="0"/>
              </a:rPr>
              <a:t>o</a:t>
            </a:r>
            <a:r>
              <a:rPr lang="zh-CN" altLang="en-US" sz="2400" b="1" dirty="0">
                <a:solidFill>
                  <a:schemeClr val="tx2"/>
                </a:solidFill>
                <a:latin typeface="Times New Roman" panose="02020603050405020304" pitchFamily="18" charset="0"/>
                <a:cs typeface="Times New Roman" panose="02020603050405020304" pitchFamily="18" charset="0"/>
              </a:rPr>
              <a:t>。</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9458"/>
                                        </p:tgtEl>
                                        <p:attrNameLst>
                                          <p:attrName>style.visibility</p:attrName>
                                        </p:attrNameLst>
                                      </p:cBhvr>
                                      <p:to>
                                        <p:strVal val="visible"/>
                                      </p:to>
                                    </p:set>
                                    <p:animEffect transition="in" filter="wipe(left)">
                                      <p:cBhvr>
                                        <p:cTn id="10" dur="500"/>
                                        <p:tgtEl>
                                          <p:spTgt spid="1945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9462"/>
                                        </p:tgtEl>
                                        <p:attrNameLst>
                                          <p:attrName>style.visibility</p:attrName>
                                        </p:attrNameLst>
                                      </p:cBhvr>
                                      <p:to>
                                        <p:strVal val="visible"/>
                                      </p:to>
                                    </p:set>
                                    <p:animEffect transition="in" filter="wipe(up)">
                                      <p:cBhvr>
                                        <p:cTn id="15"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p:bldP spid="1946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3</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048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20482" name="Object 1"/>
          <p:cNvGraphicFramePr>
            <a:graphicFrameLocks noChangeAspect="1"/>
          </p:cNvGraphicFramePr>
          <p:nvPr/>
        </p:nvGraphicFramePr>
        <p:xfrm>
          <a:off x="714375" y="714375"/>
          <a:ext cx="7643813" cy="5757863"/>
        </p:xfrm>
        <a:graphic>
          <a:graphicData uri="http://schemas.openxmlformats.org/presentationml/2006/ole">
            <mc:AlternateContent xmlns:mc="http://schemas.openxmlformats.org/markup-compatibility/2006">
              <mc:Choice xmlns:v="urn:schemas-microsoft-com:vml" Requires="v">
                <p:oleObj spid="_x0000_s20508" name="Visio" r:id="rId1" imgW="3439795" imgH="2596515" progId="Visio.Drawing.11">
                  <p:embed/>
                </p:oleObj>
              </mc:Choice>
              <mc:Fallback>
                <p:oleObj name="Visio" r:id="rId1" imgW="3439795" imgH="2596515" progId="Visio.Drawing.11">
                  <p:embed/>
                  <p:pic>
                    <p:nvPicPr>
                      <p:cNvPr id="0" name="Object 1"/>
                      <p:cNvPicPr>
                        <a:picLocks noChangeAspect="1" noChangeArrowheads="1"/>
                      </p:cNvPicPr>
                      <p:nvPr/>
                    </p:nvPicPr>
                    <p:blipFill>
                      <a:blip r:embed="rId2"/>
                      <a:srcRect/>
                      <a:stretch>
                        <a:fillRect/>
                      </a:stretch>
                    </p:blipFill>
                    <p:spPr bwMode="auto">
                      <a:xfrm>
                        <a:off x="714375" y="714375"/>
                        <a:ext cx="7643813" cy="5757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pPr>
              <a:defRPr/>
            </a:pPr>
            <a:fld id="{162F5428-5ADF-4813-8E04-D0A9AD11146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rPr>
              <a:t>二极管小信号平方律检波电路</a:t>
            </a:r>
            <a:endParaRPr lang="zh-CN" altLang="en-US" dirty="0"/>
          </a:p>
        </p:txBody>
      </p:sp>
      <p:sp>
        <p:nvSpPr>
          <p:cNvPr id="3" name="灯片编号占位符 2"/>
          <p:cNvSpPr>
            <a:spLocks noGrp="1"/>
          </p:cNvSpPr>
          <p:nvPr>
            <p:ph type="sldNum" sz="quarter" idx="12"/>
          </p:nvPr>
        </p:nvSpPr>
        <p:spPr/>
        <p:txBody>
          <a:bodyPr/>
          <a:lstStyle/>
          <a:p>
            <a:pPr>
              <a:defRPr/>
            </a:pPr>
            <a:fld id="{162F5428-5ADF-4813-8E04-D0A9AD111460}"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818619" y="969203"/>
            <a:ext cx="7525668" cy="5241474"/>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4</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59395" name="内容占位符 2"/>
          <p:cNvSpPr>
            <a:spLocks noGrp="1"/>
          </p:cNvSpPr>
          <p:nvPr>
            <p:ph sz="quarter" idx="11"/>
          </p:nvPr>
        </p:nvSpPr>
        <p:spPr/>
        <p:txBody>
          <a:bodyPr/>
          <a:lstStyle/>
          <a:p>
            <a:pPr eaLnBrk="1" hangingPunct="1">
              <a:lnSpc>
                <a:spcPct val="150000"/>
              </a:lnSpc>
            </a:pPr>
            <a:r>
              <a:rPr lang="zh-CN" altLang="en-US" sz="2400" dirty="0" smtClean="0">
                <a:ea typeface="宋体" panose="02010600030101010101" pitchFamily="2" charset="-122"/>
                <a:cs typeface="Times New Roman" panose="02020603050405020304" pitchFamily="18" charset="0"/>
              </a:rPr>
              <a:t>检波的低频分量的幅度与载波电压振幅的平方成正比，因此这种检波称为平方律检波。检出的低频分量中还有二次谐波，而且无法滤掉，所以这种检波有较大的非线性失真。</a:t>
            </a:r>
            <a:endParaRPr lang="zh-CN" altLang="en-US" sz="2400" dirty="0" smtClean="0">
              <a:ea typeface="宋体" panose="02010600030101010101" pitchFamily="2" charset="-122"/>
              <a:cs typeface="Times New Roman" panose="02020603050405020304" pitchFamily="18" charset="0"/>
            </a:endParaRPr>
          </a:p>
          <a:p>
            <a:pPr eaLnBrk="1" hangingPunct="1">
              <a:lnSpc>
                <a:spcPct val="150000"/>
              </a:lnSpc>
            </a:pPr>
            <a:r>
              <a:rPr lang="zh-CN" altLang="en-US" sz="2400" dirty="0" smtClean="0">
                <a:ea typeface="宋体" panose="02010600030101010101" pitchFamily="2" charset="-122"/>
                <a:cs typeface="Times New Roman" panose="02020603050405020304" pitchFamily="18" charset="0"/>
              </a:rPr>
              <a:t>二极管小信号平方律检波由于失真大，效率低，输入阻抗小等缺点，在现代通信和广播接收机中已很少使用。但因它具有线路简单，能对很小的信号检波，以及检波输出电流与输入载波电压幅度的平方（即与输入信号的功率）成正比等优点，因而，在无线电测量仪表中得到较为广泛的应用。</a:t>
            </a:r>
            <a:endParaRPr lang="zh-CN" altLang="en-US" sz="2400" dirty="0" smtClean="0">
              <a:ea typeface="宋体" panose="02010600030101010101" pitchFamily="2" charset="-122"/>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5</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60419" name="内容占位符 2"/>
          <p:cNvSpPr>
            <a:spLocks noGrp="1"/>
          </p:cNvSpPr>
          <p:nvPr>
            <p:ph sz="quarter" idx="11"/>
          </p:nvPr>
        </p:nvSpPr>
        <p:spPr/>
        <p:txBody>
          <a:bodyPr/>
          <a:lstStyle/>
          <a:p>
            <a:pPr eaLnBrk="1" hangingPunct="1">
              <a:buFont typeface="Wingdings" panose="05000000000000000000" pitchFamily="2" charset="2"/>
              <a:buNone/>
            </a:pPr>
            <a:r>
              <a:rPr lang="zh-CN" altLang="en-US" dirty="0" smtClean="0">
                <a:ea typeface="宋体" panose="02010600030101010101" pitchFamily="2" charset="-122"/>
              </a:rPr>
              <a:t>二极管大信号包络检波电路</a:t>
            </a:r>
            <a:endParaRPr lang="en-US" altLang="zh-CN"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当检波器的输入调幅信号幅度较大（大于</a:t>
            </a:r>
            <a:r>
              <a:rPr lang="en-US" altLang="zh-CN" sz="2400" dirty="0" smtClean="0">
                <a:ea typeface="宋体" panose="02010600030101010101" pitchFamily="2" charset="-122"/>
              </a:rPr>
              <a:t>0.5V</a:t>
            </a:r>
            <a:r>
              <a:rPr lang="zh-CN" altLang="en-US" sz="2400" dirty="0" smtClean="0">
                <a:ea typeface="宋体" panose="02010600030101010101" pitchFamily="2" charset="-122"/>
              </a:rPr>
              <a:t>）时的检波称为大信号检波。其特点是二极管运用在伏安特性曲线的线性部分，虽然输入调幅信号的幅度较大，但电路中二极管没有直流偏置电压，在整个周期内二极管不总是导通的。</a:t>
            </a:r>
            <a:endParaRPr lang="zh-CN" altLang="en-US" sz="2400" dirty="0" smtClean="0">
              <a:ea typeface="宋体" panose="02010600030101010101" pitchFamily="2" charset="-122"/>
            </a:endParaRPr>
          </a:p>
        </p:txBody>
      </p:sp>
      <p:sp>
        <p:nvSpPr>
          <p:cNvPr id="60420" name="矩形 3"/>
          <p:cNvSpPr>
            <a:spLocks noChangeArrowheads="1"/>
          </p:cNvSpPr>
          <p:nvPr/>
        </p:nvSpPr>
        <p:spPr bwMode="auto">
          <a:xfrm>
            <a:off x="2214563" y="5991373"/>
            <a:ext cx="3897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chemeClr val="tx2"/>
                </a:solidFill>
              </a:rPr>
              <a:t>大信号二极管包络检波电路</a:t>
            </a:r>
            <a:endParaRPr lang="zh-CN" altLang="en-US" sz="2400" b="1" dirty="0">
              <a:solidFill>
                <a:schemeClr val="tx2"/>
              </a:solidFill>
            </a:endParaRPr>
          </a:p>
        </p:txBody>
      </p:sp>
      <p:pic>
        <p:nvPicPr>
          <p:cNvPr id="60421" name="图片 2" descr="http://www.go-gddq.com/upload/2006_03/060305151516921.gif"/>
          <p:cNvPicPr>
            <a:picLocks noChangeAspect="1" noChangeArrowheads="1"/>
          </p:cNvPicPr>
          <p:nvPr/>
        </p:nvPicPr>
        <p:blipFill>
          <a:blip r:embed="rId1">
            <a:extLst>
              <a:ext uri="{28A0092B-C50C-407E-A947-70E740481C1C}">
                <a14:useLocalDpi xmlns:a14="http://schemas.microsoft.com/office/drawing/2010/main" val="0"/>
              </a:ext>
            </a:extLst>
          </a:blip>
          <a:srcRect l="13275" b="23846"/>
          <a:stretch>
            <a:fillRect/>
          </a:stretch>
        </p:blipFill>
        <p:spPr bwMode="auto">
          <a:xfrm>
            <a:off x="2016125" y="3633936"/>
            <a:ext cx="4627563" cy="240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par>
                          <p:cTn id="11" fill="hold">
                            <p:stCondLst>
                              <p:cond delay="0"/>
                            </p:stCondLst>
                            <p:childTnLst>
                              <p:par>
                                <p:cTn id="12" presetID="22" presetClass="entr" presetSubtype="8" fill="hold" nodeType="afterEffect">
                                  <p:stCondLst>
                                    <p:cond delay="0"/>
                                  </p:stCondLst>
                                  <p:childTnLst>
                                    <p:set>
                                      <p:cBhvr>
                                        <p:cTn id="13" dur="1" fill="hold">
                                          <p:stCondLst>
                                            <p:cond delay="0"/>
                                          </p:stCondLst>
                                        </p:cTn>
                                        <p:tgtEl>
                                          <p:spTgt spid="60421"/>
                                        </p:tgtEl>
                                        <p:attrNameLst>
                                          <p:attrName>style.visibility</p:attrName>
                                        </p:attrNameLst>
                                      </p:cBhvr>
                                      <p:to>
                                        <p:strVal val="visible"/>
                                      </p:to>
                                    </p:set>
                                    <p:animEffect transition="in" filter="wipe(left)">
                                      <p:cBhvr>
                                        <p:cTn id="14" dur="500"/>
                                        <p:tgtEl>
                                          <p:spTgt spid="60421"/>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60420"/>
                                        </p:tgtEl>
                                        <p:attrNameLst>
                                          <p:attrName>style.visibility</p:attrName>
                                        </p:attrNameLst>
                                      </p:cBhvr>
                                      <p:to>
                                        <p:strVal val="visible"/>
                                      </p:to>
                                    </p:set>
                                    <p:animEffect transition="in" filter="wipe(left)">
                                      <p:cBhvr>
                                        <p:cTn id="18" dur="5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P spid="60420" grpId="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6</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1508" name="内容占位符 2"/>
          <p:cNvSpPr>
            <a:spLocks noGrp="1"/>
          </p:cNvSpPr>
          <p:nvPr>
            <p:ph sz="quarter" idx="11"/>
          </p:nvPr>
        </p:nvSpPr>
        <p:spPr/>
        <p:txBody>
          <a:bodyPr/>
          <a:lstStyle/>
          <a:p>
            <a:pPr eaLnBrk="1" hangingPunct="1">
              <a:lnSpc>
                <a:spcPct val="150000"/>
              </a:lnSpc>
            </a:pPr>
            <a:r>
              <a:rPr lang="zh-CN" altLang="en-US" sz="2400" dirty="0" smtClean="0">
                <a:ea typeface="宋体" panose="02010600030101010101" pitchFamily="2" charset="-122"/>
              </a:rPr>
              <a:t>当调幅信号输入时，调幅信号正半周的包络线则全部落在二极管特性的线性区，从而保证了检波电流与输入信号电压的幅度呈线性关系，实现了它们包络线完全一致的结果。</a:t>
            </a:r>
            <a:endParaRPr lang="zh-CN" altLang="en-US" sz="2400" dirty="0" smtClean="0">
              <a:ea typeface="宋体" panose="02010600030101010101" pitchFamily="2" charset="-122"/>
            </a:endParaRPr>
          </a:p>
        </p:txBody>
      </p:sp>
      <p:sp>
        <p:nvSpPr>
          <p:cNvPr id="2150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21506" name="Object 1"/>
          <p:cNvGraphicFramePr>
            <a:graphicFrameLocks noChangeAspect="1"/>
          </p:cNvGraphicFramePr>
          <p:nvPr/>
        </p:nvGraphicFramePr>
        <p:xfrm>
          <a:off x="2483768" y="2420888"/>
          <a:ext cx="4370238" cy="3764825"/>
        </p:xfrm>
        <a:graphic>
          <a:graphicData uri="http://schemas.openxmlformats.org/presentationml/2006/ole">
            <mc:AlternateContent xmlns:mc="http://schemas.openxmlformats.org/markup-compatibility/2006">
              <mc:Choice xmlns:v="urn:schemas-microsoft-com:vml" Requires="v">
                <p:oleObj spid="_x0000_s21533" name="Visio" r:id="rId1" imgW="2663825" imgH="2289810" progId="Visio.Drawing.11">
                  <p:embed/>
                </p:oleObj>
              </mc:Choice>
              <mc:Fallback>
                <p:oleObj name="Visio" r:id="rId1" imgW="2663825" imgH="228981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2420888"/>
                        <a:ext cx="4370238" cy="3764825"/>
                      </a:xfrm>
                      <a:prstGeom prst="rect">
                        <a:avLst/>
                      </a:prstGeom>
                      <a:noFill/>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7</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61443" name="矩形 3"/>
          <p:cNvSpPr>
            <a:spLocks noChangeArrowheads="1"/>
          </p:cNvSpPr>
          <p:nvPr/>
        </p:nvSpPr>
        <p:spPr bwMode="auto">
          <a:xfrm>
            <a:off x="285750" y="836712"/>
            <a:ext cx="8501063"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b="1" dirty="0">
                <a:solidFill>
                  <a:schemeClr val="tx2"/>
                </a:solidFill>
                <a:latin typeface="Times New Roman" panose="02020603050405020304" pitchFamily="18" charset="0"/>
                <a:cs typeface="Times New Roman" panose="02020603050405020304" pitchFamily="18" charset="0"/>
              </a:rPr>
              <a:t>调幅信号</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i="1" baseline="-25000" dirty="0" err="1">
                <a:solidFill>
                  <a:schemeClr val="tx2"/>
                </a:solidFill>
                <a:latin typeface="Times New Roman" panose="02020603050405020304" pitchFamily="18" charset="0"/>
                <a:cs typeface="Times New Roman" panose="02020603050405020304" pitchFamily="18" charset="0"/>
              </a:rPr>
              <a:t>a</a:t>
            </a:r>
            <a:r>
              <a:rPr lang="zh-CN" altLang="en-US" sz="2000" b="1" dirty="0">
                <a:solidFill>
                  <a:schemeClr val="tx2"/>
                </a:solidFill>
                <a:latin typeface="Times New Roman" panose="02020603050405020304" pitchFamily="18" charset="0"/>
                <a:cs typeface="Times New Roman" panose="02020603050405020304" pitchFamily="18" charset="0"/>
              </a:rPr>
              <a:t>加到检波器输入端，在信号正半周时，二极管导通，所形成的电流</a:t>
            </a:r>
            <a:r>
              <a:rPr lang="en-US" altLang="zh-CN" sz="2000" b="1" i="1" dirty="0" err="1">
                <a:solidFill>
                  <a:schemeClr val="tx2"/>
                </a:solidFill>
                <a:latin typeface="Times New Roman" panose="02020603050405020304" pitchFamily="18" charset="0"/>
                <a:cs typeface="Times New Roman" panose="02020603050405020304" pitchFamily="18" charset="0"/>
              </a:rPr>
              <a:t>i</a:t>
            </a:r>
            <a:r>
              <a:rPr lang="en-US" altLang="zh-CN" sz="2000" b="1" baseline="-25000" dirty="0" err="1">
                <a:solidFill>
                  <a:schemeClr val="tx2"/>
                </a:solidFill>
                <a:latin typeface="Times New Roman" panose="02020603050405020304" pitchFamily="18" charset="0"/>
                <a:cs typeface="Times New Roman" panose="02020603050405020304" pitchFamily="18" charset="0"/>
              </a:rPr>
              <a:t>D</a:t>
            </a:r>
            <a:r>
              <a:rPr lang="zh-CN" altLang="en-US" sz="2000" b="1" dirty="0">
                <a:solidFill>
                  <a:schemeClr val="tx2"/>
                </a:solidFill>
                <a:latin typeface="Times New Roman" panose="02020603050405020304" pitchFamily="18" charset="0"/>
                <a:cs typeface="Times New Roman" panose="02020603050405020304" pitchFamily="18" charset="0"/>
              </a:rPr>
              <a:t>的一部分向电容器</a:t>
            </a:r>
            <a:r>
              <a:rPr lang="en-US" altLang="zh-CN" sz="2000" b="1" i="1" dirty="0">
                <a:solidFill>
                  <a:schemeClr val="tx2"/>
                </a:solidFill>
                <a:latin typeface="Times New Roman" panose="02020603050405020304" pitchFamily="18" charset="0"/>
                <a:cs typeface="Times New Roman" panose="02020603050405020304" pitchFamily="18" charset="0"/>
              </a:rPr>
              <a:t>C</a:t>
            </a:r>
            <a:r>
              <a:rPr lang="en-US" altLang="zh-CN" sz="2000" b="1" baseline="-25000" dirty="0">
                <a:solidFill>
                  <a:schemeClr val="tx2"/>
                </a:solidFill>
                <a:latin typeface="Times New Roman" panose="02020603050405020304" pitchFamily="18" charset="0"/>
                <a:cs typeface="Times New Roman" panose="02020603050405020304" pitchFamily="18" charset="0"/>
              </a:rPr>
              <a:t>1</a:t>
            </a:r>
            <a:r>
              <a:rPr lang="zh-CN" altLang="en-US" sz="2000" b="1" dirty="0">
                <a:solidFill>
                  <a:schemeClr val="tx2"/>
                </a:solidFill>
                <a:latin typeface="Times New Roman" panose="02020603050405020304" pitchFamily="18" charset="0"/>
                <a:cs typeface="Times New Roman" panose="02020603050405020304" pitchFamily="18" charset="0"/>
              </a:rPr>
              <a:t>充电，另一部分则流向负载</a:t>
            </a:r>
            <a:r>
              <a:rPr lang="en-US" altLang="zh-CN" sz="2000" b="1" i="1" dirty="0">
                <a:solidFill>
                  <a:schemeClr val="tx2"/>
                </a:solidFill>
                <a:latin typeface="Times New Roman" panose="02020603050405020304" pitchFamily="18" charset="0"/>
                <a:cs typeface="Times New Roman" panose="02020603050405020304" pitchFamily="18" charset="0"/>
              </a:rPr>
              <a:t>R</a:t>
            </a:r>
            <a:r>
              <a:rPr lang="zh-CN" altLang="en-US" sz="2000" b="1" dirty="0">
                <a:solidFill>
                  <a:schemeClr val="tx2"/>
                </a:solidFill>
                <a:latin typeface="Times New Roman" panose="02020603050405020304" pitchFamily="18" charset="0"/>
                <a:cs typeface="Times New Roman" panose="02020603050405020304" pitchFamily="18" charset="0"/>
              </a:rPr>
              <a:t>，通常</a:t>
            </a:r>
            <a:r>
              <a:rPr lang="en-US" altLang="zh-CN" sz="2000" b="1" i="1" dirty="0">
                <a:solidFill>
                  <a:schemeClr val="tx2"/>
                </a:solidFill>
                <a:latin typeface="Times New Roman" panose="02020603050405020304" pitchFamily="18" charset="0"/>
                <a:cs typeface="Times New Roman" panose="02020603050405020304" pitchFamily="18" charset="0"/>
              </a:rPr>
              <a:t>R</a:t>
            </a:r>
            <a:r>
              <a:rPr lang="zh-CN" altLang="en-US" sz="2000" b="1" dirty="0">
                <a:solidFill>
                  <a:schemeClr val="tx2"/>
                </a:solidFill>
                <a:latin typeface="Times New Roman" panose="02020603050405020304" pitchFamily="18" charset="0"/>
                <a:cs typeface="Times New Roman" panose="02020603050405020304" pitchFamily="18" charset="0"/>
              </a:rPr>
              <a:t>远大于二极管的正向电阻</a:t>
            </a:r>
            <a:r>
              <a:rPr lang="en-US" altLang="zh-CN" sz="2000" b="1" i="1" dirty="0" err="1">
                <a:solidFill>
                  <a:schemeClr val="tx2"/>
                </a:solidFill>
                <a:latin typeface="Times New Roman" panose="02020603050405020304" pitchFamily="18" charset="0"/>
                <a:cs typeface="Times New Roman" panose="02020603050405020304" pitchFamily="18" charset="0"/>
              </a:rPr>
              <a:t>r</a:t>
            </a:r>
            <a:r>
              <a:rPr lang="en-US" altLang="zh-CN" sz="2000" b="1" baseline="-25000" dirty="0" err="1">
                <a:solidFill>
                  <a:schemeClr val="tx2"/>
                </a:solidFill>
                <a:latin typeface="Times New Roman" panose="02020603050405020304" pitchFamily="18" charset="0"/>
                <a:cs typeface="Times New Roman" panose="02020603050405020304" pitchFamily="18" charset="0"/>
              </a:rPr>
              <a:t>D</a:t>
            </a:r>
            <a:r>
              <a:rPr lang="zh-CN" altLang="en-US" sz="2000" b="1" dirty="0">
                <a:solidFill>
                  <a:schemeClr val="tx2"/>
                </a:solidFill>
                <a:latin typeface="Times New Roman" panose="02020603050405020304" pitchFamily="18" charset="0"/>
                <a:cs typeface="Times New Roman" panose="02020603050405020304" pitchFamily="18" charset="0"/>
              </a:rPr>
              <a:t>（</a:t>
            </a:r>
            <a:r>
              <a:rPr lang="en-US" altLang="zh-CN" sz="2000" b="1" i="1" dirty="0">
                <a:solidFill>
                  <a:schemeClr val="tx2"/>
                </a:solidFill>
                <a:latin typeface="Times New Roman" panose="02020603050405020304" pitchFamily="18" charset="0"/>
                <a:cs typeface="Times New Roman" panose="02020603050405020304" pitchFamily="18" charset="0"/>
              </a:rPr>
              <a:t>R</a:t>
            </a:r>
            <a:r>
              <a:rPr lang="en-US" altLang="zh-CN" sz="2000" b="1" dirty="0">
                <a:solidFill>
                  <a:schemeClr val="tx2"/>
                </a:solidFill>
                <a:latin typeface="Times New Roman" panose="02020603050405020304" pitchFamily="18" charset="0"/>
                <a:cs typeface="Times New Roman" panose="02020603050405020304" pitchFamily="18" charset="0"/>
              </a:rPr>
              <a:t>&gt;&gt;</a:t>
            </a:r>
            <a:r>
              <a:rPr lang="en-US" altLang="zh-CN" sz="2000" b="1" i="1" dirty="0" err="1">
                <a:solidFill>
                  <a:schemeClr val="tx2"/>
                </a:solidFill>
                <a:latin typeface="Times New Roman" panose="02020603050405020304" pitchFamily="18" charset="0"/>
                <a:cs typeface="Times New Roman" panose="02020603050405020304" pitchFamily="18" charset="0"/>
              </a:rPr>
              <a:t>r</a:t>
            </a:r>
            <a:r>
              <a:rPr lang="en-US" altLang="zh-CN" sz="2000" b="1" baseline="-25000" dirty="0" err="1">
                <a:solidFill>
                  <a:schemeClr val="tx2"/>
                </a:solidFill>
                <a:latin typeface="Times New Roman" panose="02020603050405020304" pitchFamily="18" charset="0"/>
                <a:cs typeface="Times New Roman" panose="02020603050405020304" pitchFamily="18" charset="0"/>
              </a:rPr>
              <a:t>D</a:t>
            </a:r>
            <a:r>
              <a:rPr lang="zh-CN" altLang="en-US" sz="2000" b="1" dirty="0">
                <a:solidFill>
                  <a:schemeClr val="tx2"/>
                </a:solidFill>
                <a:latin typeface="Times New Roman" panose="02020603050405020304" pitchFamily="18" charset="0"/>
                <a:cs typeface="Times New Roman" panose="02020603050405020304" pitchFamily="18" charset="0"/>
              </a:rPr>
              <a:t>），因此，</a:t>
            </a:r>
            <a:r>
              <a:rPr lang="en-US" altLang="zh-CN" sz="2000" b="1" i="1" dirty="0" err="1">
                <a:solidFill>
                  <a:schemeClr val="tx2"/>
                </a:solidFill>
                <a:latin typeface="Times New Roman" panose="02020603050405020304" pitchFamily="18" charset="0"/>
                <a:cs typeface="Times New Roman" panose="02020603050405020304" pitchFamily="18" charset="0"/>
              </a:rPr>
              <a:t>i</a:t>
            </a:r>
            <a:r>
              <a:rPr lang="en-US" altLang="zh-CN" sz="2000" b="1" baseline="-25000" dirty="0" err="1">
                <a:solidFill>
                  <a:schemeClr val="tx2"/>
                </a:solidFill>
                <a:latin typeface="Times New Roman" panose="02020603050405020304" pitchFamily="18" charset="0"/>
                <a:cs typeface="Times New Roman" panose="02020603050405020304" pitchFamily="18" charset="0"/>
              </a:rPr>
              <a:t>D</a:t>
            </a:r>
            <a:r>
              <a:rPr lang="zh-CN" altLang="en-US" sz="2000" b="1" dirty="0">
                <a:solidFill>
                  <a:schemeClr val="tx2"/>
                </a:solidFill>
                <a:latin typeface="Times New Roman" panose="02020603050405020304" pitchFamily="18" charset="0"/>
                <a:cs typeface="Times New Roman" panose="02020603050405020304" pitchFamily="18" charset="0"/>
              </a:rPr>
              <a:t>的大小主要决定于充电电路的电阻</a:t>
            </a:r>
            <a:r>
              <a:rPr lang="en-US" altLang="zh-CN" sz="2000" b="1" i="1" dirty="0">
                <a:solidFill>
                  <a:schemeClr val="tx2"/>
                </a:solidFill>
                <a:latin typeface="Times New Roman" panose="02020603050405020304" pitchFamily="18" charset="0"/>
                <a:cs typeface="Times New Roman" panose="02020603050405020304" pitchFamily="18" charset="0"/>
              </a:rPr>
              <a:t>r</a:t>
            </a:r>
            <a:r>
              <a:rPr lang="zh-CN" altLang="en-US" sz="2000" b="1" dirty="0">
                <a:solidFill>
                  <a:schemeClr val="tx2"/>
                </a:solidFill>
                <a:latin typeface="Times New Roman" panose="02020603050405020304" pitchFamily="18" charset="0"/>
                <a:cs typeface="Times New Roman" panose="02020603050405020304" pitchFamily="18" charset="0"/>
              </a:rPr>
              <a:t>（二极管的内阻和信号源的内阻），因为这个电阻很小，所以充电时间常数很小，</a:t>
            </a:r>
            <a:r>
              <a:rPr lang="en-US" altLang="zh-CN" sz="2000" b="1" i="1" dirty="0" err="1">
                <a:solidFill>
                  <a:schemeClr val="tx2"/>
                </a:solidFill>
                <a:latin typeface="Times New Roman" panose="02020603050405020304" pitchFamily="18" charset="0"/>
                <a:cs typeface="Times New Roman" panose="02020603050405020304" pitchFamily="18" charset="0"/>
              </a:rPr>
              <a:t>i</a:t>
            </a:r>
            <a:r>
              <a:rPr lang="en-US" altLang="zh-CN" sz="2000" b="1" baseline="-25000" dirty="0" err="1">
                <a:solidFill>
                  <a:schemeClr val="tx2"/>
                </a:solidFill>
                <a:latin typeface="Times New Roman" panose="02020603050405020304" pitchFamily="18" charset="0"/>
                <a:cs typeface="Times New Roman" panose="02020603050405020304" pitchFamily="18" charset="0"/>
              </a:rPr>
              <a:t>D</a:t>
            </a:r>
            <a:r>
              <a:rPr lang="zh-CN" altLang="en-US" sz="2000" b="1" dirty="0">
                <a:solidFill>
                  <a:schemeClr val="tx2"/>
                </a:solidFill>
                <a:latin typeface="Times New Roman" panose="02020603050405020304" pitchFamily="18" charset="0"/>
                <a:cs typeface="Times New Roman" panose="02020603050405020304" pitchFamily="18" charset="0"/>
              </a:rPr>
              <a:t>很大，电容两端的电压</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baseline="-25000" dirty="0" err="1">
                <a:solidFill>
                  <a:schemeClr val="tx2"/>
                </a:solidFill>
                <a:latin typeface="Times New Roman" panose="02020603050405020304" pitchFamily="18" charset="0"/>
                <a:cs typeface="Times New Roman" panose="02020603050405020304" pitchFamily="18" charset="0"/>
              </a:rPr>
              <a:t>C</a:t>
            </a:r>
            <a:r>
              <a:rPr lang="zh-CN" altLang="en-US" sz="2000" b="1" dirty="0">
                <a:solidFill>
                  <a:schemeClr val="tx2"/>
                </a:solidFill>
                <a:latin typeface="Times New Roman" panose="02020603050405020304" pitchFamily="18" charset="0"/>
                <a:cs typeface="Times New Roman" panose="02020603050405020304" pitchFamily="18" charset="0"/>
              </a:rPr>
              <a:t>，输出电压</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baseline="-25000" dirty="0" err="1">
                <a:solidFill>
                  <a:schemeClr val="tx2"/>
                </a:solidFill>
                <a:latin typeface="Times New Roman" panose="02020603050405020304" pitchFamily="18" charset="0"/>
                <a:cs typeface="Times New Roman" panose="02020603050405020304" pitchFamily="18" charset="0"/>
              </a:rPr>
              <a:t>O</a:t>
            </a:r>
            <a:r>
              <a:rPr lang="zh-CN" altLang="en-US" sz="2000" b="1" dirty="0">
                <a:solidFill>
                  <a:schemeClr val="tx2"/>
                </a:solidFill>
                <a:latin typeface="Times New Roman" panose="02020603050405020304" pitchFamily="18" charset="0"/>
                <a:cs typeface="Times New Roman" panose="02020603050405020304" pitchFamily="18" charset="0"/>
              </a:rPr>
              <a:t>很快上升到接近于输入高频电压的峰值。</a:t>
            </a:r>
            <a:endParaRPr lang="zh-CN" altLang="en-US" sz="2000" b="1" dirty="0">
              <a:solidFill>
                <a:schemeClr val="tx2"/>
              </a:solidFill>
              <a:latin typeface="Times New Roman" panose="02020603050405020304" pitchFamily="18" charset="0"/>
              <a:cs typeface="Times New Roman" panose="02020603050405020304" pitchFamily="18" charset="0"/>
            </a:endParaRPr>
          </a:p>
          <a:p>
            <a:pPr>
              <a:lnSpc>
                <a:spcPct val="150000"/>
              </a:lnSpc>
            </a:pP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i="1" baseline="-25000" dirty="0" err="1">
                <a:solidFill>
                  <a:schemeClr val="tx2"/>
                </a:solidFill>
                <a:latin typeface="Times New Roman" panose="02020603050405020304" pitchFamily="18" charset="0"/>
                <a:cs typeface="Times New Roman" panose="02020603050405020304" pitchFamily="18" charset="0"/>
              </a:rPr>
              <a:t>C</a:t>
            </a:r>
            <a:r>
              <a:rPr lang="zh-CN" altLang="en-US" sz="2000" b="1" dirty="0">
                <a:solidFill>
                  <a:schemeClr val="tx2"/>
                </a:solidFill>
                <a:latin typeface="Times New Roman" panose="02020603050405020304" pitchFamily="18" charset="0"/>
                <a:cs typeface="Times New Roman" panose="02020603050405020304" pitchFamily="18" charset="0"/>
              </a:rPr>
              <a:t>对于二极管来说是反向电压，因此，</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i="1" baseline="-25000" dirty="0" err="1">
                <a:solidFill>
                  <a:schemeClr val="tx2"/>
                </a:solidFill>
                <a:latin typeface="Times New Roman" panose="02020603050405020304" pitchFamily="18" charset="0"/>
                <a:cs typeface="Times New Roman" panose="02020603050405020304" pitchFamily="18" charset="0"/>
              </a:rPr>
              <a:t>a</a:t>
            </a:r>
            <a:r>
              <a:rPr lang="zh-CN" altLang="en-US" sz="2000" b="1" dirty="0">
                <a:solidFill>
                  <a:schemeClr val="tx2"/>
                </a:solidFill>
                <a:latin typeface="Times New Roman" panose="02020603050405020304" pitchFamily="18" charset="0"/>
                <a:cs typeface="Times New Roman" panose="02020603050405020304" pitchFamily="18" charset="0"/>
              </a:rPr>
              <a:t>由峰值下降到</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i="1" baseline="-25000" dirty="0" err="1">
                <a:solidFill>
                  <a:schemeClr val="tx2"/>
                </a:solidFill>
                <a:latin typeface="Times New Roman" panose="02020603050405020304" pitchFamily="18" charset="0"/>
                <a:cs typeface="Times New Roman" panose="02020603050405020304" pitchFamily="18" charset="0"/>
              </a:rPr>
              <a:t>a</a:t>
            </a:r>
            <a:r>
              <a:rPr lang="zh-CN" altLang="en-US" sz="2000" b="1" dirty="0">
                <a:solidFill>
                  <a:schemeClr val="tx2"/>
                </a:solidFill>
                <a:latin typeface="Times New Roman" panose="02020603050405020304" pitchFamily="18" charset="0"/>
                <a:cs typeface="Times New Roman" panose="02020603050405020304" pitchFamily="18" charset="0"/>
              </a:rPr>
              <a:t>＜</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baseline="-25000" dirty="0" err="1">
                <a:solidFill>
                  <a:schemeClr val="tx2"/>
                </a:solidFill>
                <a:latin typeface="Times New Roman" panose="02020603050405020304" pitchFamily="18" charset="0"/>
                <a:cs typeface="Times New Roman" panose="02020603050405020304" pitchFamily="18" charset="0"/>
              </a:rPr>
              <a:t>C</a:t>
            </a:r>
            <a:r>
              <a:rPr lang="zh-CN" altLang="en-US" sz="2000" b="1" dirty="0">
                <a:solidFill>
                  <a:schemeClr val="tx2"/>
                </a:solidFill>
                <a:latin typeface="Times New Roman" panose="02020603050405020304" pitchFamily="18" charset="0"/>
                <a:cs typeface="Times New Roman" panose="02020603050405020304" pitchFamily="18" charset="0"/>
              </a:rPr>
              <a:t>时，二极管保持截止，这时电容开始通过电阻</a:t>
            </a:r>
            <a:r>
              <a:rPr lang="en-US" altLang="zh-CN" sz="2000" b="1" i="1" dirty="0">
                <a:solidFill>
                  <a:schemeClr val="tx2"/>
                </a:solidFill>
                <a:latin typeface="Times New Roman" panose="02020603050405020304" pitchFamily="18" charset="0"/>
                <a:cs typeface="Times New Roman" panose="02020603050405020304" pitchFamily="18" charset="0"/>
              </a:rPr>
              <a:t>R</a:t>
            </a:r>
            <a:r>
              <a:rPr lang="zh-CN" altLang="en-US" sz="2000" b="1" dirty="0">
                <a:solidFill>
                  <a:schemeClr val="tx2"/>
                </a:solidFill>
                <a:latin typeface="Times New Roman" panose="02020603050405020304" pitchFamily="18" charset="0"/>
                <a:cs typeface="Times New Roman" panose="02020603050405020304" pitchFamily="18" charset="0"/>
              </a:rPr>
              <a:t>放电。放电时间常数</a:t>
            </a:r>
            <a:r>
              <a:rPr lang="en-US" altLang="zh-CN" sz="2000" b="1" i="1" dirty="0">
                <a:solidFill>
                  <a:schemeClr val="tx2"/>
                </a:solidFill>
                <a:latin typeface="Times New Roman" panose="02020603050405020304" pitchFamily="18" charset="0"/>
                <a:cs typeface="Times New Roman" panose="02020603050405020304" pitchFamily="18" charset="0"/>
              </a:rPr>
              <a:t>RC</a:t>
            </a:r>
            <a:r>
              <a:rPr lang="en-US" altLang="zh-CN" sz="2000" b="1" baseline="-25000" dirty="0">
                <a:solidFill>
                  <a:schemeClr val="tx2"/>
                </a:solidFill>
                <a:latin typeface="Times New Roman" panose="02020603050405020304" pitchFamily="18" charset="0"/>
                <a:cs typeface="Times New Roman" panose="02020603050405020304" pitchFamily="18" charset="0"/>
              </a:rPr>
              <a:t>1</a:t>
            </a:r>
            <a:r>
              <a:rPr lang="zh-CN" altLang="en-US" sz="2000" b="1" dirty="0">
                <a:solidFill>
                  <a:schemeClr val="tx2"/>
                </a:solidFill>
                <a:latin typeface="Times New Roman" panose="02020603050405020304" pitchFamily="18" charset="0"/>
                <a:cs typeface="Times New Roman" panose="02020603050405020304" pitchFamily="18" charset="0"/>
              </a:rPr>
              <a:t>远大于高频电压的周期，</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i="1" baseline="-25000" dirty="0" err="1">
                <a:solidFill>
                  <a:schemeClr val="tx2"/>
                </a:solidFill>
                <a:latin typeface="Times New Roman" panose="02020603050405020304" pitchFamily="18" charset="0"/>
                <a:cs typeface="Times New Roman" panose="02020603050405020304" pitchFamily="18" charset="0"/>
              </a:rPr>
              <a:t>C</a:t>
            </a:r>
            <a:r>
              <a:rPr lang="zh-CN" altLang="en-US" sz="2000" b="1" dirty="0">
                <a:solidFill>
                  <a:schemeClr val="tx2"/>
                </a:solidFill>
                <a:latin typeface="Times New Roman" panose="02020603050405020304" pitchFamily="18" charset="0"/>
                <a:cs typeface="Times New Roman" panose="02020603050405020304" pitchFamily="18" charset="0"/>
              </a:rPr>
              <a:t>下降很少。当</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i="1" baseline="-25000" dirty="0" err="1">
                <a:solidFill>
                  <a:schemeClr val="tx2"/>
                </a:solidFill>
                <a:latin typeface="Times New Roman" panose="02020603050405020304" pitchFamily="18" charset="0"/>
                <a:cs typeface="Times New Roman" panose="02020603050405020304" pitchFamily="18" charset="0"/>
              </a:rPr>
              <a:t>a</a:t>
            </a:r>
            <a:r>
              <a:rPr lang="zh-CN" altLang="en-US" sz="2000" b="1" dirty="0">
                <a:solidFill>
                  <a:schemeClr val="tx2"/>
                </a:solidFill>
                <a:latin typeface="Times New Roman" panose="02020603050405020304" pitchFamily="18" charset="0"/>
                <a:cs typeface="Times New Roman" panose="02020603050405020304" pitchFamily="18" charset="0"/>
              </a:rPr>
              <a:t>上升至</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i="1" baseline="-25000" dirty="0" err="1">
                <a:solidFill>
                  <a:schemeClr val="tx2"/>
                </a:solidFill>
                <a:latin typeface="Times New Roman" panose="02020603050405020304" pitchFamily="18" charset="0"/>
                <a:cs typeface="Times New Roman" panose="02020603050405020304" pitchFamily="18" charset="0"/>
              </a:rPr>
              <a:t>a</a:t>
            </a:r>
            <a:r>
              <a:rPr lang="zh-CN" altLang="en-US" sz="2000" b="1" dirty="0">
                <a:solidFill>
                  <a:schemeClr val="tx2"/>
                </a:solidFill>
                <a:latin typeface="Times New Roman" panose="02020603050405020304" pitchFamily="18" charset="0"/>
                <a:cs typeface="Times New Roman" panose="02020603050405020304" pitchFamily="18" charset="0"/>
              </a:rPr>
              <a:t>＞</a:t>
            </a:r>
            <a:r>
              <a:rPr lang="en-US" altLang="zh-CN" sz="2000" b="1" i="1" dirty="0" err="1">
                <a:solidFill>
                  <a:schemeClr val="tx2"/>
                </a:solidFill>
                <a:latin typeface="Times New Roman" panose="02020603050405020304" pitchFamily="18" charset="0"/>
                <a:cs typeface="Times New Roman" panose="02020603050405020304" pitchFamily="18" charset="0"/>
              </a:rPr>
              <a:t>u</a:t>
            </a:r>
            <a:r>
              <a:rPr lang="en-US" altLang="zh-CN" sz="2000" b="1" i="1" baseline="-25000" dirty="0" err="1">
                <a:solidFill>
                  <a:schemeClr val="tx2"/>
                </a:solidFill>
                <a:latin typeface="Times New Roman" panose="02020603050405020304" pitchFamily="18" charset="0"/>
                <a:cs typeface="Times New Roman" panose="02020603050405020304" pitchFamily="18" charset="0"/>
              </a:rPr>
              <a:t>C</a:t>
            </a:r>
            <a:r>
              <a:rPr lang="zh-CN" altLang="en-US" sz="2000" b="1" dirty="0">
                <a:solidFill>
                  <a:schemeClr val="tx2"/>
                </a:solidFill>
                <a:latin typeface="Times New Roman" panose="02020603050405020304" pitchFamily="18" charset="0"/>
                <a:cs typeface="Times New Roman" panose="02020603050405020304" pitchFamily="18" charset="0"/>
              </a:rPr>
              <a:t>时，二极管再次导通，使电容充电到接近于高频电压的峰值。如此反复循环，便得到锯齿状输出电压波形。可以看出，输出电压波形与调幅波的包络线相似。</a:t>
            </a:r>
            <a:endParaRPr lang="zh-CN" altLang="en-US" sz="2000" b="1" dirty="0">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43">
                                            <p:txEl>
                                              <p:pRg st="1" end="1"/>
                                            </p:txEl>
                                          </p:spTgt>
                                        </p:tgtEl>
                                        <p:attrNameLst>
                                          <p:attrName>style.visibility</p:attrName>
                                        </p:attrNameLst>
                                      </p:cBhvr>
                                      <p:to>
                                        <p:strVal val="visible"/>
                                      </p:to>
                                    </p:set>
                                    <p:anim calcmode="lin" valueType="num">
                                      <p:cBhvr additive="base">
                                        <p:cTn id="13" dur="500" fill="hold"/>
                                        <p:tgtEl>
                                          <p:spTgt spid="614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4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ldLvl="2"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二极管大信号包络检波</a:t>
            </a:r>
            <a:r>
              <a:rPr lang="zh-CN" altLang="en-US" dirty="0" smtClean="0"/>
              <a:t>电路</a:t>
            </a:r>
            <a:endParaRPr lang="zh-CN" altLang="en-US" dirty="0"/>
          </a:p>
        </p:txBody>
      </p:sp>
      <p:sp>
        <p:nvSpPr>
          <p:cNvPr id="3" name="灯片编号占位符 2"/>
          <p:cNvSpPr>
            <a:spLocks noGrp="1"/>
          </p:cNvSpPr>
          <p:nvPr>
            <p:ph type="sldNum" sz="quarter" idx="12"/>
          </p:nvPr>
        </p:nvSpPr>
        <p:spPr/>
        <p:txBody>
          <a:bodyPr/>
          <a:lstStyle/>
          <a:p>
            <a:pPr>
              <a:defRPr/>
            </a:pPr>
            <a:fld id="{162F5428-5ADF-4813-8E04-D0A9AD111460}"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995786" y="836712"/>
            <a:ext cx="7171333" cy="5308856"/>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8</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62467" name="内容占位符 2"/>
          <p:cNvSpPr>
            <a:spLocks noGrp="1"/>
          </p:cNvSpPr>
          <p:nvPr>
            <p:ph sz="quarter" idx="11"/>
          </p:nvPr>
        </p:nvSpPr>
        <p:spPr>
          <a:xfrm>
            <a:off x="214313" y="857250"/>
            <a:ext cx="8686800" cy="5643563"/>
          </a:xfrm>
        </p:spPr>
        <p:txBody>
          <a:bodyPr/>
          <a:lstStyle/>
          <a:p>
            <a:pPr eaLnBrk="1" hangingPunct="1">
              <a:lnSpc>
                <a:spcPct val="150000"/>
              </a:lnSpc>
            </a:pPr>
            <a:r>
              <a:rPr lang="zh-CN" altLang="en-US" sz="2400" dirty="0" smtClean="0">
                <a:ea typeface="宋体" panose="02010600030101010101" pitchFamily="2" charset="-122"/>
              </a:rPr>
              <a:t>实际上，由于载波频率远大于调制波频率，检波器输出的波形比图示波形要光滑得多。由图还可以看出，输出电压中含直流分量，低频分量和高频分量。直流分量可由耦合电容隔开；高频分量很小（图中的锯齿形状），所以，检波器的输出电压主要是低频分量，这个分量随输入调幅波包络线的规律变化，也就是原调制信号的再现，从而达到了检波的目的。</a:t>
            </a:r>
            <a:endParaRPr lang="zh-CN" altLang="en-US"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为了提高检波器的性能，减小失真，</a:t>
            </a:r>
            <a:r>
              <a:rPr lang="en-US" altLang="zh-CN" sz="2400" i="1" dirty="0" smtClean="0">
                <a:ea typeface="宋体" panose="02010600030101010101" pitchFamily="2" charset="-122"/>
              </a:rPr>
              <a:t>RC</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值应取得较大，通常要求调制信号周期</a:t>
            </a:r>
            <a:r>
              <a:rPr lang="en-US" altLang="zh-CN" sz="2400" i="1" dirty="0" smtClean="0">
                <a:ea typeface="宋体" panose="02010600030101010101" pitchFamily="2" charset="-122"/>
              </a:rPr>
              <a:t>T</a:t>
            </a:r>
            <a:r>
              <a:rPr lang="en-US" altLang="zh-CN" sz="2400" baseline="-25000" dirty="0" smtClean="0">
                <a:ea typeface="宋体" panose="02010600030101010101" pitchFamily="2" charset="-122"/>
              </a:rPr>
              <a:t>m</a:t>
            </a:r>
            <a:r>
              <a:rPr lang="en-US" altLang="zh-CN" sz="2400" dirty="0" smtClean="0">
                <a:ea typeface="宋体" panose="02010600030101010101" pitchFamily="2" charset="-122"/>
              </a:rPr>
              <a:t>&gt;&gt;</a:t>
            </a:r>
            <a:r>
              <a:rPr lang="en-US" altLang="zh-CN" sz="2400" i="1" dirty="0" smtClean="0">
                <a:ea typeface="宋体" panose="02010600030101010101" pitchFamily="2" charset="-122"/>
              </a:rPr>
              <a:t>RC</a:t>
            </a:r>
            <a:r>
              <a:rPr lang="en-US" altLang="zh-CN" sz="2400" baseline="-25000" dirty="0" smtClean="0">
                <a:ea typeface="宋体" panose="02010600030101010101" pitchFamily="2" charset="-122"/>
              </a:rPr>
              <a:t>1</a:t>
            </a:r>
            <a:r>
              <a:rPr lang="en-US" altLang="zh-CN" sz="2400" dirty="0" smtClean="0">
                <a:ea typeface="宋体" panose="02010600030101010101" pitchFamily="2" charset="-122"/>
              </a:rPr>
              <a:t>&gt;&gt;</a:t>
            </a:r>
            <a:r>
              <a:rPr lang="en-US" altLang="zh-CN" sz="2400" i="1" dirty="0" smtClean="0">
                <a:ea typeface="宋体" panose="02010600030101010101" pitchFamily="2" charset="-122"/>
              </a:rPr>
              <a:t>T</a:t>
            </a:r>
            <a:r>
              <a:rPr lang="en-US" altLang="zh-CN" sz="2400" baseline="-25000" dirty="0" smtClean="0">
                <a:ea typeface="宋体" panose="02010600030101010101" pitchFamily="2" charset="-122"/>
              </a:rPr>
              <a:t>C</a:t>
            </a:r>
            <a:r>
              <a:rPr lang="zh-CN" altLang="en-US" sz="2400" dirty="0" smtClean="0">
                <a:ea typeface="宋体" panose="02010600030101010101" pitchFamily="2" charset="-122"/>
              </a:rPr>
              <a:t>（载波信号周期），但</a:t>
            </a:r>
            <a:r>
              <a:rPr lang="en-US" altLang="zh-CN" sz="2400" i="1" dirty="0" smtClean="0">
                <a:ea typeface="宋体" panose="02010600030101010101" pitchFamily="2" charset="-122"/>
              </a:rPr>
              <a:t>RC</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取值也不能太大，否则会因放电太慢而发生对角线切割失真。</a:t>
            </a:r>
            <a:endParaRPr lang="zh-CN" altLang="en-US" sz="2400" dirty="0" smtClean="0">
              <a:ea typeface="宋体" panose="02010600030101010101" pitchFamily="2" charset="-122"/>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D6763493-88BC-4F6A-91CB-961B18CAE9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7">
                                            <p:txEl>
                                              <p:pRg st="1" end="1"/>
                                            </p:txEl>
                                          </p:spTgt>
                                        </p:tgtEl>
                                        <p:attrNameLst>
                                          <p:attrName>style.visibility</p:attrName>
                                        </p:attrNameLst>
                                      </p:cBhvr>
                                      <p:to>
                                        <p:strVal val="visible"/>
                                      </p:to>
                                    </p:set>
                                    <p:anim calcmode="lin" valueType="num">
                                      <p:cBhvr additive="base">
                                        <p:cTn id="13" dur="5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8</a:t>
            </a:r>
            <a:r>
              <a:rPr lang="zh-CN" altLang="en-US" smtClean="0">
                <a:ea typeface="宋体" panose="02010600030101010101" pitchFamily="2" charset="-122"/>
              </a:rPr>
              <a:t>）</a:t>
            </a:r>
            <a:endParaRPr lang="zh-CN" altLang="en-US" smtClean="0">
              <a:ea typeface="宋体" panose="02010600030101010101" pitchFamily="2" charset="-122"/>
            </a:endParaRPr>
          </a:p>
        </p:txBody>
      </p:sp>
      <p:pic>
        <p:nvPicPr>
          <p:cNvPr id="63491" name="图片 4" descr="http://www.go-gddq.com/upload/2006_03/060305151516923.gif"/>
          <p:cNvPicPr>
            <a:picLocks noChangeAspect="1" noChangeArrowheads="1"/>
          </p:cNvPicPr>
          <p:nvPr/>
        </p:nvPicPr>
        <p:blipFill>
          <a:blip r:embed="rId1">
            <a:extLst>
              <a:ext uri="{28A0092B-C50C-407E-A947-70E740481C1C}">
                <a14:useLocalDpi xmlns:a14="http://schemas.microsoft.com/office/drawing/2010/main" val="0"/>
              </a:ext>
            </a:extLst>
          </a:blip>
          <a:srcRect b="17677"/>
          <a:stretch>
            <a:fillRect/>
          </a:stretch>
        </p:blipFill>
        <p:spPr bwMode="auto">
          <a:xfrm>
            <a:off x="1071563" y="1428750"/>
            <a:ext cx="7227887"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矩形 4"/>
          <p:cNvSpPr>
            <a:spLocks noChangeArrowheads="1"/>
          </p:cNvSpPr>
          <p:nvPr/>
        </p:nvSpPr>
        <p:spPr bwMode="auto">
          <a:xfrm>
            <a:off x="500063" y="1071563"/>
            <a:ext cx="480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chemeClr val="tx2"/>
                </a:solidFill>
              </a:rPr>
              <a:t>放电时间常数过大产生对角线失真</a:t>
            </a:r>
            <a:endParaRPr lang="zh-CN" altLang="en-US" sz="2400" b="1">
              <a:solidFill>
                <a:schemeClr val="tx2"/>
              </a:solidFill>
            </a:endParaRPr>
          </a:p>
        </p:txBody>
      </p:sp>
      <p:sp>
        <p:nvSpPr>
          <p:cNvPr id="63493" name="矩形 5"/>
          <p:cNvSpPr>
            <a:spLocks noChangeArrowheads="1"/>
          </p:cNvSpPr>
          <p:nvPr/>
        </p:nvSpPr>
        <p:spPr bwMode="auto">
          <a:xfrm>
            <a:off x="357188" y="5157788"/>
            <a:ext cx="86439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在收音机中</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zh-CN" altLang="en-US" sz="2400" b="1" dirty="0">
                <a:solidFill>
                  <a:schemeClr val="tx2"/>
                </a:solidFill>
                <a:latin typeface="Times New Roman" panose="02020603050405020304" pitchFamily="18" charset="0"/>
                <a:cs typeface="Times New Roman" panose="02020603050405020304" pitchFamily="18" charset="0"/>
              </a:rPr>
              <a:t>常取</a:t>
            </a:r>
            <a:r>
              <a:rPr lang="en-US" altLang="zh-CN" sz="2400" b="1" dirty="0">
                <a:solidFill>
                  <a:schemeClr val="tx2"/>
                </a:solidFill>
                <a:latin typeface="Times New Roman" panose="02020603050405020304" pitchFamily="18" charset="0"/>
                <a:cs typeface="Times New Roman" panose="02020603050405020304" pitchFamily="18" charset="0"/>
              </a:rPr>
              <a:t>2</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dirty="0">
                <a:solidFill>
                  <a:schemeClr val="tx2"/>
                </a:solidFill>
                <a:latin typeface="Times New Roman" panose="02020603050405020304" pitchFamily="18" charset="0"/>
                <a:cs typeface="Times New Roman" panose="02020603050405020304" pitchFamily="18" charset="0"/>
              </a:rPr>
              <a:t>10kΩ</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en-US" altLang="zh-CN" sz="2400" b="1" baseline="-25000" dirty="0">
                <a:solidFill>
                  <a:schemeClr val="tx2"/>
                </a:solidFill>
                <a:latin typeface="Times New Roman" panose="02020603050405020304" pitchFamily="18" charset="0"/>
                <a:cs typeface="Times New Roman" panose="02020603050405020304" pitchFamily="18" charset="0"/>
              </a:rPr>
              <a:t>1</a:t>
            </a:r>
            <a:r>
              <a:rPr lang="zh-CN" altLang="en-US" sz="2400" b="1" dirty="0">
                <a:solidFill>
                  <a:schemeClr val="tx2"/>
                </a:solidFill>
                <a:latin typeface="Times New Roman" panose="02020603050405020304" pitchFamily="18" charset="0"/>
                <a:cs typeface="Times New Roman" panose="02020603050405020304" pitchFamily="18" charset="0"/>
              </a:rPr>
              <a:t>常取</a:t>
            </a:r>
            <a:r>
              <a:rPr lang="en-US" altLang="zh-CN" sz="2400" b="1" dirty="0">
                <a:solidFill>
                  <a:schemeClr val="tx2"/>
                </a:solidFill>
                <a:latin typeface="Times New Roman" panose="02020603050405020304" pitchFamily="18" charset="0"/>
                <a:cs typeface="Times New Roman" panose="02020603050405020304" pitchFamily="18" charset="0"/>
              </a:rPr>
              <a:t>5100pF</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dirty="0">
                <a:solidFill>
                  <a:schemeClr val="tx2"/>
                </a:solidFill>
                <a:latin typeface="Times New Roman" panose="02020603050405020304" pitchFamily="18" charset="0"/>
                <a:cs typeface="Times New Roman" panose="02020603050405020304" pitchFamily="18" charset="0"/>
              </a:rPr>
              <a:t>0.01μF</a:t>
            </a:r>
            <a:r>
              <a:rPr lang="zh-CN" altLang="en-US" sz="2400" b="1" dirty="0">
                <a:solidFill>
                  <a:schemeClr val="tx2"/>
                </a:solidFill>
                <a:latin typeface="Times New Roman" panose="02020603050405020304" pitchFamily="18" charset="0"/>
                <a:cs typeface="Times New Roman" panose="02020603050405020304" pitchFamily="18" charset="0"/>
              </a:rPr>
              <a:t>。大信号直线性检波的失真小，因而被广泛地应用到通信和广播接收机中。</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162F5428-5ADF-4813-8E04-D0A9AD11146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pPr eaLnBrk="1" hangingPunct="1"/>
            <a:r>
              <a:rPr lang="en-US" altLang="zh-CN" smtClean="0">
                <a:ea typeface="宋体" panose="02010600030101010101" pitchFamily="2" charset="-122"/>
              </a:rPr>
              <a:t>5.4 </a:t>
            </a:r>
            <a:r>
              <a:rPr lang="zh-CN" altLang="en-US" smtClean="0">
                <a:ea typeface="宋体" panose="02010600030101010101" pitchFamily="2" charset="-122"/>
              </a:rPr>
              <a:t>二极管检波电路（续</a:t>
            </a:r>
            <a:r>
              <a:rPr lang="en-US" altLang="zh-CN" smtClean="0">
                <a:ea typeface="宋体" panose="02010600030101010101" pitchFamily="2" charset="-122"/>
              </a:rPr>
              <a:t>9</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64515" name="矩形 2"/>
          <p:cNvSpPr>
            <a:spLocks noChangeArrowheads="1"/>
          </p:cNvSpPr>
          <p:nvPr/>
        </p:nvSpPr>
        <p:spPr bwMode="auto">
          <a:xfrm>
            <a:off x="194468" y="788504"/>
            <a:ext cx="8715375" cy="279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接收机常用的检波电路如图所示。中频调幅信号</a:t>
            </a:r>
            <a:r>
              <a:rPr lang="en-US" altLang="zh-CN" sz="2400" b="1" i="1" dirty="0" err="1">
                <a:solidFill>
                  <a:schemeClr val="tx2"/>
                </a:solidFill>
                <a:latin typeface="Times New Roman" panose="02020603050405020304" pitchFamily="18" charset="0"/>
                <a:cs typeface="Times New Roman" panose="02020603050405020304" pitchFamily="18" charset="0"/>
              </a:rPr>
              <a:t>u</a:t>
            </a:r>
            <a:r>
              <a:rPr lang="en-US" altLang="zh-CN" sz="2400" b="1" i="1" baseline="-25000" dirty="0" err="1">
                <a:solidFill>
                  <a:schemeClr val="tx2"/>
                </a:solidFill>
                <a:latin typeface="Times New Roman" panose="02020603050405020304" pitchFamily="18" charset="0"/>
                <a:cs typeface="Times New Roman" panose="02020603050405020304" pitchFamily="18" charset="0"/>
              </a:rPr>
              <a:t>a</a:t>
            </a:r>
            <a:r>
              <a:rPr lang="zh-CN" altLang="en-US" sz="2400" b="1" dirty="0">
                <a:solidFill>
                  <a:schemeClr val="tx2"/>
                </a:solidFill>
                <a:latin typeface="Times New Roman" panose="02020603050405020304" pitchFamily="18" charset="0"/>
                <a:cs typeface="Times New Roman" panose="02020603050405020304" pitchFamily="18" charset="0"/>
              </a:rPr>
              <a:t> </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f</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dirty="0">
                <a:solidFill>
                  <a:schemeClr val="tx2"/>
                </a:solidFill>
                <a:latin typeface="Times New Roman" panose="02020603050405020304" pitchFamily="18" charset="0"/>
                <a:cs typeface="Times New Roman" panose="02020603050405020304" pitchFamily="18" charset="0"/>
              </a:rPr>
              <a:t>465kHz)</a:t>
            </a:r>
            <a:r>
              <a:rPr lang="zh-CN" altLang="en-US" sz="2400" b="1" dirty="0">
                <a:solidFill>
                  <a:schemeClr val="tx2"/>
                </a:solidFill>
                <a:latin typeface="Times New Roman" panose="02020603050405020304" pitchFamily="18" charset="0"/>
                <a:cs typeface="Times New Roman" panose="02020603050405020304" pitchFamily="18" charset="0"/>
              </a:rPr>
              <a:t>，经中频变压器</a:t>
            </a:r>
            <a:r>
              <a:rPr lang="en-US" altLang="zh-CN" sz="2400" b="1" dirty="0" err="1">
                <a:solidFill>
                  <a:schemeClr val="tx2"/>
                </a:solidFill>
                <a:latin typeface="Times New Roman" panose="02020603050405020304" pitchFamily="18" charset="0"/>
                <a:cs typeface="Times New Roman" panose="02020603050405020304" pitchFamily="18" charset="0"/>
              </a:rPr>
              <a:t>T</a:t>
            </a:r>
            <a:r>
              <a:rPr lang="en-US" altLang="zh-CN" sz="2400" b="1" baseline="-25000" dirty="0" err="1">
                <a:solidFill>
                  <a:schemeClr val="tx2"/>
                </a:solidFill>
                <a:latin typeface="Times New Roman" panose="02020603050405020304" pitchFamily="18" charset="0"/>
                <a:cs typeface="Times New Roman" panose="02020603050405020304" pitchFamily="18" charset="0"/>
              </a:rPr>
              <a:t>r</a:t>
            </a:r>
            <a:r>
              <a:rPr lang="zh-CN" altLang="en-US" sz="2400" b="1" dirty="0">
                <a:solidFill>
                  <a:schemeClr val="tx2"/>
                </a:solidFill>
                <a:latin typeface="Times New Roman" panose="02020603050405020304" pitchFamily="18" charset="0"/>
                <a:cs typeface="Times New Roman" panose="02020603050405020304" pitchFamily="18" charset="0"/>
              </a:rPr>
              <a:t>（二次线圈</a:t>
            </a:r>
            <a:r>
              <a:rPr lang="en-US" altLang="zh-CN" sz="2400" b="1" i="1" dirty="0">
                <a:solidFill>
                  <a:schemeClr val="tx2"/>
                </a:solidFill>
                <a:latin typeface="Times New Roman" panose="02020603050405020304" pitchFamily="18" charset="0"/>
                <a:cs typeface="Times New Roman" panose="02020603050405020304" pitchFamily="18" charset="0"/>
              </a:rPr>
              <a:t>L</a:t>
            </a:r>
            <a:r>
              <a:rPr lang="zh-CN" altLang="en-US" sz="2400" b="1" dirty="0">
                <a:solidFill>
                  <a:schemeClr val="tx2"/>
                </a:solidFill>
                <a:latin typeface="Times New Roman" panose="02020603050405020304" pitchFamily="18" charset="0"/>
                <a:cs typeface="Times New Roman" panose="02020603050405020304" pitchFamily="18" charset="0"/>
              </a:rPr>
              <a:t>）加到检波器输入端，二极管检波后，残余的中频分量由</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en-US" altLang="zh-CN" sz="2400" b="1" baseline="-25000" dirty="0">
                <a:solidFill>
                  <a:schemeClr val="tx2"/>
                </a:solidFill>
                <a:latin typeface="Times New Roman" panose="02020603050405020304" pitchFamily="18" charset="0"/>
                <a:cs typeface="Times New Roman" panose="02020603050405020304" pitchFamily="18" charset="0"/>
              </a:rPr>
              <a:t>1</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en-US" altLang="zh-CN" sz="2400" b="1" baseline="-25000" dirty="0">
                <a:solidFill>
                  <a:schemeClr val="tx2"/>
                </a:solidFill>
                <a:latin typeface="Times New Roman" panose="02020603050405020304" pitchFamily="18" charset="0"/>
                <a:cs typeface="Times New Roman" panose="02020603050405020304" pitchFamily="18" charset="0"/>
              </a:rPr>
              <a:t>2</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zh-CN" altLang="en-US" sz="2400" b="1" dirty="0">
                <a:solidFill>
                  <a:schemeClr val="tx2"/>
                </a:solidFill>
                <a:latin typeface="Times New Roman" panose="02020603050405020304" pitchFamily="18" charset="0"/>
                <a:cs typeface="Times New Roman" panose="02020603050405020304" pitchFamily="18" charset="0"/>
              </a:rPr>
              <a:t>组成的滤波电路滤除。电位器</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2400" b="1" baseline="-25000" dirty="0">
                <a:solidFill>
                  <a:schemeClr val="tx2"/>
                </a:solidFill>
                <a:latin typeface="Times New Roman" panose="02020603050405020304" pitchFamily="18" charset="0"/>
                <a:cs typeface="Times New Roman" panose="02020603050405020304" pitchFamily="18" charset="0"/>
              </a:rPr>
              <a:t>W</a:t>
            </a:r>
            <a:r>
              <a:rPr lang="zh-CN" altLang="en-US" sz="2400" b="1" dirty="0">
                <a:solidFill>
                  <a:schemeClr val="tx2"/>
                </a:solidFill>
                <a:latin typeface="Times New Roman" panose="02020603050405020304" pitchFamily="18" charset="0"/>
                <a:cs typeface="Times New Roman" panose="02020603050405020304" pitchFamily="18" charset="0"/>
              </a:rPr>
              <a:t>上将获得检波后的直流和音频分量，再经隔直电容</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en-US" altLang="zh-CN" sz="2400" b="1" baseline="-25000" dirty="0">
                <a:solidFill>
                  <a:schemeClr val="tx2"/>
                </a:solidFill>
                <a:latin typeface="Times New Roman" panose="02020603050405020304" pitchFamily="18" charset="0"/>
                <a:cs typeface="Times New Roman" panose="02020603050405020304" pitchFamily="18" charset="0"/>
              </a:rPr>
              <a:t>3</a:t>
            </a:r>
            <a:r>
              <a:rPr lang="zh-CN" altLang="en-US" sz="2400" b="1" dirty="0">
                <a:solidFill>
                  <a:schemeClr val="tx2"/>
                </a:solidFill>
                <a:latin typeface="Times New Roman" panose="02020603050405020304" pitchFamily="18" charset="0"/>
                <a:cs typeface="Times New Roman" panose="02020603050405020304" pitchFamily="18" charset="0"/>
              </a:rPr>
              <a:t>将音频信号耦合到低放级加以放大。</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pic>
        <p:nvPicPr>
          <p:cNvPr id="64516" name="图片 5" descr="http://www.go-gddq.com/upload/2006_03/060305151516924.gif"/>
          <p:cNvPicPr>
            <a:picLocks noChangeAspect="1" noChangeArrowheads="1"/>
          </p:cNvPicPr>
          <p:nvPr/>
        </p:nvPicPr>
        <p:blipFill>
          <a:blip r:embed="rId1">
            <a:extLst>
              <a:ext uri="{28A0092B-C50C-407E-A947-70E740481C1C}">
                <a14:useLocalDpi xmlns:a14="http://schemas.microsoft.com/office/drawing/2010/main" val="0"/>
              </a:ext>
            </a:extLst>
          </a:blip>
          <a:srcRect b="36626"/>
          <a:stretch>
            <a:fillRect/>
          </a:stretch>
        </p:blipFill>
        <p:spPr bwMode="auto">
          <a:xfrm>
            <a:off x="571500" y="3786188"/>
            <a:ext cx="7961313" cy="234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pPr>
              <a:defRPr/>
            </a:pPr>
            <a:fld id="{162F5428-5ADF-4813-8E04-D0A9AD11146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wipe(up)">
                                      <p:cBhvr>
                                        <p:cTn id="7" dur="500"/>
                                        <p:tgtEl>
                                          <p:spTgt spid="6451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4516"/>
                                        </p:tgtEl>
                                        <p:attrNameLst>
                                          <p:attrName>style.visibility</p:attrName>
                                        </p:attrNameLst>
                                      </p:cBhvr>
                                      <p:to>
                                        <p:strVal val="visible"/>
                                      </p:to>
                                    </p:set>
                                    <p:animEffect transition="in" filter="wipe(left)">
                                      <p:cBhvr>
                                        <p:cTn id="11"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收音机用包络检波电路</a:t>
            </a:r>
            <a:endParaRPr lang="zh-CN" altLang="en-US" dirty="0"/>
          </a:p>
        </p:txBody>
      </p:sp>
      <p:sp>
        <p:nvSpPr>
          <p:cNvPr id="3" name="灯片编号占位符 2"/>
          <p:cNvSpPr>
            <a:spLocks noGrp="1"/>
          </p:cNvSpPr>
          <p:nvPr>
            <p:ph type="sldNum" sz="quarter" idx="12"/>
          </p:nvPr>
        </p:nvSpPr>
        <p:spPr/>
        <p:txBody>
          <a:bodyPr/>
          <a:lstStyle/>
          <a:p>
            <a:pPr>
              <a:defRPr/>
            </a:pPr>
            <a:fld id="{162F5428-5ADF-4813-8E04-D0A9AD111460}"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611560" y="757721"/>
            <a:ext cx="8107044" cy="564639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电路与模拟电子技术">
  <a:themeElements>
    <a:clrScheme name="自定义 4">
      <a:dk1>
        <a:srgbClr val="000000"/>
      </a:dk1>
      <a:lt1>
        <a:srgbClr val="FFFFFF"/>
      </a:lt1>
      <a:dk2>
        <a:srgbClr val="000000"/>
      </a:dk2>
      <a:lt2>
        <a:srgbClr val="B2B2B2"/>
      </a:lt2>
      <a:accent1>
        <a:srgbClr val="000000"/>
      </a:accent1>
      <a:accent2>
        <a:srgbClr val="FF9900"/>
      </a:accent2>
      <a:accent3>
        <a:srgbClr val="FFFFFF"/>
      </a:accent3>
      <a:accent4>
        <a:srgbClr val="174578"/>
      </a:accent4>
      <a:accent5>
        <a:srgbClr val="ADBAE0"/>
      </a:accent5>
      <a:accent6>
        <a:srgbClr val="E78A00"/>
      </a:accent6>
      <a:hlink>
        <a:srgbClr val="000000"/>
      </a:hlink>
      <a:folHlink>
        <a:srgbClr val="969696"/>
      </a:folHlink>
    </a:clrScheme>
    <a:fontScheme name="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ms01_1 1">
        <a:dk1>
          <a:srgbClr val="1D528D"/>
        </a:dk1>
        <a:lt1>
          <a:srgbClr val="FFFFFF"/>
        </a:lt1>
        <a:dk2>
          <a:srgbClr val="000000"/>
        </a:dk2>
        <a:lt2>
          <a:srgbClr val="B2B2B2"/>
        </a:lt2>
        <a:accent1>
          <a:srgbClr val="2D6BC7"/>
        </a:accent1>
        <a:accent2>
          <a:srgbClr val="FF9900"/>
        </a:accent2>
        <a:accent3>
          <a:srgbClr val="FFFFFF"/>
        </a:accent3>
        <a:accent4>
          <a:srgbClr val="174578"/>
        </a:accent4>
        <a:accent5>
          <a:srgbClr val="ADBA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ms01_1 2">
        <a:dk1>
          <a:srgbClr val="808080"/>
        </a:dk1>
        <a:lt1>
          <a:srgbClr val="FFFFFF"/>
        </a:lt1>
        <a:dk2>
          <a:srgbClr val="000000"/>
        </a:dk2>
        <a:lt2>
          <a:srgbClr val="B2B2B2"/>
        </a:lt2>
        <a:accent1>
          <a:srgbClr val="058089"/>
        </a:accent1>
        <a:accent2>
          <a:srgbClr val="66BE0E"/>
        </a:accent2>
        <a:accent3>
          <a:srgbClr val="FFFFFF"/>
        </a:accent3>
        <a:accent4>
          <a:srgbClr val="6C6C6C"/>
        </a:accent4>
        <a:accent5>
          <a:srgbClr val="AAC0C4"/>
        </a:accent5>
        <a:accent6>
          <a:srgbClr val="5CAC0C"/>
        </a:accent6>
        <a:hlink>
          <a:srgbClr val="2CA9D0"/>
        </a:hlink>
        <a:folHlink>
          <a:srgbClr val="4841D9"/>
        </a:folHlink>
      </a:clrScheme>
      <a:clrMap bg1="lt1" tx1="dk1" bg2="lt2" tx2="dk2" accent1="accent1" accent2="accent2" accent3="accent3" accent4="accent4" accent5="accent5" accent6="accent6" hlink="hlink" folHlink="folHlink"/>
    </a:extraClrScheme>
    <a:extraClrScheme>
      <a:clrScheme name="ms01_1 3">
        <a:dk1>
          <a:srgbClr val="1D528D"/>
        </a:dk1>
        <a:lt1>
          <a:srgbClr val="FFFFFF"/>
        </a:lt1>
        <a:dk2>
          <a:srgbClr val="000000"/>
        </a:dk2>
        <a:lt2>
          <a:srgbClr val="CACACA"/>
        </a:lt2>
        <a:accent1>
          <a:srgbClr val="0099CC"/>
        </a:accent1>
        <a:accent2>
          <a:srgbClr val="8BC84E"/>
        </a:accent2>
        <a:accent3>
          <a:srgbClr val="FFFFFF"/>
        </a:accent3>
        <a:accent4>
          <a:srgbClr val="174578"/>
        </a:accent4>
        <a:accent5>
          <a:srgbClr val="AACAE2"/>
        </a:accent5>
        <a:accent6>
          <a:srgbClr val="7DB546"/>
        </a:accent6>
        <a:hlink>
          <a:srgbClr val="6E81E0"/>
        </a:hlink>
        <a:folHlink>
          <a:srgbClr val="0099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电路与模拟电子技术</Template>
  <TotalTime>0</TotalTime>
  <Words>10121</Words>
  <Application>WPS 演示</Application>
  <PresentationFormat>全屏显示(4:3)</PresentationFormat>
  <Paragraphs>1381</Paragraphs>
  <Slides>67</Slides>
  <Notes>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45</vt:i4>
      </vt:variant>
      <vt:variant>
        <vt:lpstr>幻灯片标题</vt:lpstr>
      </vt:variant>
      <vt:variant>
        <vt:i4>67</vt:i4>
      </vt:variant>
    </vt:vector>
  </HeadingPairs>
  <TitlesOfParts>
    <vt:vector size="131" baseType="lpstr">
      <vt:lpstr>Arial</vt:lpstr>
      <vt:lpstr>宋体</vt:lpstr>
      <vt:lpstr>Wingdings</vt:lpstr>
      <vt:lpstr>Times New Roman</vt:lpstr>
      <vt:lpstr>黑体</vt:lpstr>
      <vt:lpstr>Wingdings 2</vt:lpstr>
      <vt:lpstr>隶书</vt:lpstr>
      <vt:lpstr>华文新魏</vt:lpstr>
      <vt:lpstr>华文中宋</vt:lpstr>
      <vt:lpstr>Arial Unicode MS</vt:lpstr>
      <vt:lpstr>楷体_GB2312</vt:lpstr>
      <vt:lpstr>新宋体</vt:lpstr>
      <vt:lpstr>Symbol</vt:lpstr>
      <vt:lpstr>微软雅黑</vt:lpstr>
      <vt:lpstr>Calibri</vt:lpstr>
      <vt:lpstr>Cambria Math</vt:lpstr>
      <vt:lpstr>Cambria Math</vt:lpstr>
      <vt:lpstr>经典繁方篆</vt:lpstr>
      <vt:lpstr>电路与模拟电子技术</vt:lpstr>
      <vt:lpstr>PBrush</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PBrush</vt:lpstr>
      <vt:lpstr>Equation.DSMT4</vt:lpstr>
      <vt:lpstr>Equation.DSMT4</vt:lpstr>
      <vt:lpstr>Equation.DSMT4</vt:lpstr>
      <vt:lpstr>Equation.3</vt:lpstr>
      <vt:lpstr>Equation.3</vt:lpstr>
      <vt:lpstr>Equation.3</vt:lpstr>
      <vt:lpstr>Equation.DSMT4</vt:lpstr>
      <vt:lpstr>Equation.3</vt:lpstr>
      <vt:lpstr>Equation.3</vt:lpstr>
      <vt:lpstr>Equation.DSMT4</vt:lpstr>
      <vt:lpstr>PBrush</vt:lpstr>
      <vt:lpstr>Equation.DSMT4</vt:lpstr>
      <vt:lpstr>Equation.DSMT4</vt:lpstr>
      <vt:lpstr>Equation.DSMT4</vt:lpstr>
      <vt:lpstr>Equation.3</vt:lpstr>
      <vt:lpstr>Equation.3</vt:lpstr>
      <vt:lpstr>Equation.DSMT4</vt:lpstr>
      <vt:lpstr>Equation.DSMT4</vt:lpstr>
      <vt:lpstr>Equation.DSMT4</vt:lpstr>
      <vt:lpstr>Equation.DSMT4</vt:lpstr>
      <vt:lpstr>Visio.Drawing.11</vt:lpstr>
      <vt:lpstr>Equation.DSMT4</vt:lpstr>
      <vt:lpstr>Visio.Drawing.11</vt:lpstr>
      <vt:lpstr>Visio.Drawing.11</vt:lpstr>
      <vt:lpstr>Visio.Drawing.11</vt:lpstr>
      <vt:lpstr>Visio.Drawing.11</vt:lpstr>
      <vt:lpstr>Visio.Drawing.11</vt:lpstr>
      <vt:lpstr>Visio.Drawing.11</vt:lpstr>
      <vt:lpstr>Equation.DSMT4</vt:lpstr>
      <vt:lpstr>Equation.DSMT4</vt:lpstr>
      <vt:lpstr>Equation.DSMT4</vt:lpstr>
      <vt:lpstr>Equation.DSMT4</vt:lpstr>
      <vt:lpstr>Word.Document.8</vt:lpstr>
      <vt:lpstr>第5章   半导体器件基础 与二极管电路</vt:lpstr>
      <vt:lpstr>本章教学内容</vt:lpstr>
      <vt:lpstr>本章内容概述</vt:lpstr>
      <vt:lpstr>5.1 半导体二极管的工作原理与特性</vt:lpstr>
      <vt:lpstr>5.1 半导体二极管的工作原理与特性（续1）</vt:lpstr>
      <vt:lpstr>5.1 半导体二极管的工作原理与特性（续2）</vt:lpstr>
      <vt:lpstr>5.1 半导体二极管的工作原理与特性（续3）</vt:lpstr>
      <vt:lpstr>5.1 半导体二极管的工作原理与特性（续4）</vt:lpstr>
      <vt:lpstr>5.1 半导体二极管的工作原理与特性（续5）</vt:lpstr>
      <vt:lpstr>5.1 半导体二极管的工作原理与特性（续6）</vt:lpstr>
      <vt:lpstr>5.1 半导体二极管的工作原理与特性（续7）</vt:lpstr>
      <vt:lpstr>5.1 半导体二极管的工作原理与特性（续8）</vt:lpstr>
      <vt:lpstr>5.1 半导体二极管的工作原理与特性（续9）</vt:lpstr>
      <vt:lpstr>5.1 半导体二极管的工作原理与特性（续10）</vt:lpstr>
      <vt:lpstr>5.1 半导体二极管的工作原理与特性（续11）</vt:lpstr>
      <vt:lpstr>5.1 半导体二极管的工作原理与特性（续12）</vt:lpstr>
      <vt:lpstr>5.1 半导体二极管的工作原理与特性（续13）</vt:lpstr>
      <vt:lpstr>5.1 半导体二极管的工作原理与特性（续14）</vt:lpstr>
      <vt:lpstr>5.1 半导体二极管的工作原理与特性（续15）</vt:lpstr>
      <vt:lpstr>5.1 半导体二极管的工作原理与特性（续16）</vt:lpstr>
      <vt:lpstr>5.1 半导体二极管的工作原理与特性（续17）</vt:lpstr>
      <vt:lpstr>5.1 半导体二极管的工作原理与特性（续18）</vt:lpstr>
      <vt:lpstr>5.1 半导体二极管的工作原理与特性（续19）</vt:lpstr>
      <vt:lpstr>5.1 半导体二极管的工作原理与特性（续20）</vt:lpstr>
      <vt:lpstr>5.1 半导体二极管的工作原理与特性（续21）</vt:lpstr>
      <vt:lpstr>5.1 半导体二极管的工作原理与特性（续22）</vt:lpstr>
      <vt:lpstr>5.1 半导体二极管的工作原理与特性（续23）</vt:lpstr>
      <vt:lpstr>5.1 半导体二极管的工作原理与特性（续24）</vt:lpstr>
      <vt:lpstr>5.1 半导体二极管的工作原理与特性</vt:lpstr>
      <vt:lpstr>5.1 半导体二极管的工作原理与特性（续25）</vt:lpstr>
      <vt:lpstr>5.1 半导体二极管的工作原理与特性（续26）</vt:lpstr>
      <vt:lpstr>5.1 半导体二极管的工作原理与特性（续27）</vt:lpstr>
      <vt:lpstr>5.1 半导体二极管的工作原理与特性（续28）</vt:lpstr>
      <vt:lpstr>5.1 半导体二极管的工作原理与特性（续29）</vt:lpstr>
      <vt:lpstr>5.1 半导体二极管的工作原理与特性（续30）</vt:lpstr>
      <vt:lpstr>5.1 半导体二极管的工作原理与特性（续31）</vt:lpstr>
      <vt:lpstr>5.1 半导体二极管的工作原理与特性（续32）</vt:lpstr>
      <vt:lpstr>5.2  二极管整流电路</vt:lpstr>
      <vt:lpstr>5.2  二极管整流电路（续1）</vt:lpstr>
      <vt:lpstr>5.2  二极管整流电路（续2）</vt:lpstr>
      <vt:lpstr>5.2  二极管整流电路（续3）</vt:lpstr>
      <vt:lpstr>5.2  二极管整流电路（续4）</vt:lpstr>
      <vt:lpstr>5.2  二极管整流电路（续5）</vt:lpstr>
      <vt:lpstr>5.2  二极管整流电路（续6）</vt:lpstr>
      <vt:lpstr>5.2  二极管整流电路（续7）</vt:lpstr>
      <vt:lpstr>5.2  二极管整流电路（续8）</vt:lpstr>
      <vt:lpstr>三相整流电路仿真</vt:lpstr>
      <vt:lpstr>5.2  二极管整流电路（续9）</vt:lpstr>
      <vt:lpstr>5.3 二极管峰值采样电路</vt:lpstr>
      <vt:lpstr>5.3 二极管峰值采样电路（续1）</vt:lpstr>
      <vt:lpstr>二极管峰值采样电路</vt:lpstr>
      <vt:lpstr>5.3 二极管峰值采样电路（续2）</vt:lpstr>
      <vt:lpstr>5.3 二极管峰值采样电路（续3）</vt:lpstr>
      <vt:lpstr>5.4 二极管检波电路</vt:lpstr>
      <vt:lpstr>5.4 二极管检波电路（续1）</vt:lpstr>
      <vt:lpstr>5.4 二极管检波电路（续2）</vt:lpstr>
      <vt:lpstr>5.4 二极管检波电路（续3）</vt:lpstr>
      <vt:lpstr>二极管小信号平方律检波电路</vt:lpstr>
      <vt:lpstr>5.4 二极管检波电路（续4）</vt:lpstr>
      <vt:lpstr>5.4 二极管检波电路（续5）</vt:lpstr>
      <vt:lpstr>5.4 二极管检波电路（续6）</vt:lpstr>
      <vt:lpstr>5.4 二极管检波电路（续7）</vt:lpstr>
      <vt:lpstr>二极管大信号包络检波电路</vt:lpstr>
      <vt:lpstr>5.4 二极管检波电路（续8）</vt:lpstr>
      <vt:lpstr>5.4 二极管检波电路（续8）</vt:lpstr>
      <vt:lpstr>5.4 二极管检波电路（续9）</vt:lpstr>
      <vt:lpstr>收音机用包络检波电路</vt:lpstr>
    </vt:vector>
  </TitlesOfParts>
  <Company>South China University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电路与模拟电子技术</dc:title>
  <dc:creator>Professor Rui-Xiang Yin</dc:creator>
  <cp:lastModifiedBy>youzc</cp:lastModifiedBy>
  <cp:revision>56</cp:revision>
  <dcterms:created xsi:type="dcterms:W3CDTF">2009-01-09T02:50:00Z</dcterms:created>
  <dcterms:modified xsi:type="dcterms:W3CDTF">2025-09-07T10:55:11Z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2D602B993B3D416F9A171EF118D0E262_12</vt:lpwstr>
  </property>
  <property fmtid="{D5CDD505-2E9C-101B-9397-08002B2CF9AE}" pid="3" name="KSOProductBuildVer">
    <vt:lpwstr>2052-12.1.0.22529</vt:lpwstr>
  </property>
</Properties>
</file>