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6"/>
  </p:notesMasterIdLst>
  <p:sldIdLst>
    <p:sldId id="1012" r:id="rId4"/>
    <p:sldId id="1648" r:id="rId5"/>
    <p:sldId id="1682" r:id="rId7"/>
    <p:sldId id="1773" r:id="rId8"/>
    <p:sldId id="2012" r:id="rId9"/>
    <p:sldId id="1685" r:id="rId10"/>
    <p:sldId id="1687" r:id="rId11"/>
    <p:sldId id="1688" r:id="rId12"/>
    <p:sldId id="1772" r:id="rId13"/>
    <p:sldId id="1930" r:id="rId14"/>
    <p:sldId id="1689" r:id="rId15"/>
    <p:sldId id="1818" r:id="rId16"/>
    <p:sldId id="1690" r:id="rId17"/>
    <p:sldId id="1691" r:id="rId18"/>
    <p:sldId id="1692" r:id="rId19"/>
    <p:sldId id="1973" r:id="rId20"/>
    <p:sldId id="1693" r:id="rId21"/>
    <p:sldId id="2013" r:id="rId22"/>
    <p:sldId id="2014" r:id="rId23"/>
    <p:sldId id="1694" r:id="rId24"/>
    <p:sldId id="1695" r:id="rId25"/>
    <p:sldId id="1696" r:id="rId26"/>
    <p:sldId id="1974" r:id="rId27"/>
    <p:sldId id="1697" r:id="rId28"/>
    <p:sldId id="1698" r:id="rId29"/>
    <p:sldId id="1699" r:id="rId30"/>
    <p:sldId id="1722" r:id="rId31"/>
    <p:sldId id="1700" r:id="rId32"/>
    <p:sldId id="1701" r:id="rId33"/>
    <p:sldId id="1897" r:id="rId34"/>
    <p:sldId id="1931" r:id="rId35"/>
    <p:sldId id="1702" r:id="rId36"/>
    <p:sldId id="1703" r:id="rId37"/>
    <p:sldId id="1704" r:id="rId38"/>
    <p:sldId id="1719" r:id="rId39"/>
    <p:sldId id="1768" r:id="rId40"/>
    <p:sldId id="1705" r:id="rId41"/>
    <p:sldId id="1706" r:id="rId42"/>
    <p:sldId id="1707" r:id="rId43"/>
    <p:sldId id="1770" r:id="rId44"/>
    <p:sldId id="1708" r:id="rId45"/>
    <p:sldId id="1709" r:id="rId46"/>
    <p:sldId id="2015" r:id="rId47"/>
    <p:sldId id="2016" r:id="rId48"/>
    <p:sldId id="2017" r:id="rId49"/>
    <p:sldId id="2018" r:id="rId50"/>
    <p:sldId id="1771" r:id="rId51"/>
    <p:sldId id="1710" r:id="rId52"/>
    <p:sldId id="1711" r:id="rId53"/>
    <p:sldId id="2075" r:id="rId54"/>
    <p:sldId id="1712" r:id="rId55"/>
    <p:sldId id="1857" r:id="rId56"/>
    <p:sldId id="1858" r:id="rId57"/>
    <p:sldId id="2068" r:id="rId58"/>
    <p:sldId id="1713" r:id="rId59"/>
    <p:sldId id="1715" r:id="rId60"/>
    <p:sldId id="1717" r:id="rId61"/>
    <p:sldId id="1718" r:id="rId62"/>
    <p:sldId id="1716" r:id="rId63"/>
    <p:sldId id="1091" r:id="rId64"/>
  </p:sldIdLst>
  <p:sldSz cx="9144000" cy="6858000" type="screen4x3"/>
  <p:notesSz cx="6797675" cy="9926955"/>
  <p:custDataLst>
    <p:tags r:id="rId68"/>
  </p:custDataLst>
  <p:defaultTex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532" userDrawn="1">
          <p15:clr>
            <a:srgbClr val="A4A3A4"/>
          </p15:clr>
        </p15:guide>
        <p15:guide id="2" pos="2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2FDB2607-1784-4EEB-B798-7EB5836EED8A}">
        <p14:showMediaCtrls xmlns:p14="http://schemas.microsoft.com/office/powerpoint/2010/main" val="1"/>
      </p:ext>
    </p:extLst>
  </p:showPr>
  <p:clrMru>
    <a:srgbClr val="0033CC"/>
    <a:srgbClr val="007032"/>
    <a:srgbClr val="3DD907"/>
    <a:srgbClr val="FFD7AF"/>
    <a:srgbClr val="FFFFBD"/>
    <a:srgbClr val="FF9933"/>
    <a:srgbClr val="C5D8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varScale="1">
        <p:scale>
          <a:sx n="73" d="100"/>
          <a:sy n="73" d="100"/>
        </p:scale>
        <p:origin x="1074" y="48"/>
      </p:cViewPr>
      <p:guideLst>
        <p:guide orient="horz" pos="532"/>
        <p:guide pos="25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8" Type="http://schemas.openxmlformats.org/officeDocument/2006/relationships/tags" Target="tags/tag1.xml"/><Relationship Id="rId67" Type="http://schemas.openxmlformats.org/officeDocument/2006/relationships/tableStyles" Target="tableStyles.xml"/><Relationship Id="rId66" Type="http://schemas.openxmlformats.org/officeDocument/2006/relationships/viewProps" Target="viewProps.xml"/><Relationship Id="rId65" Type="http://schemas.openxmlformats.org/officeDocument/2006/relationships/presProps" Target="presProps.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notesMaster" Target="notesMasters/notesMaster1.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7" Type="http://schemas.openxmlformats.org/officeDocument/2006/relationships/image" Target="../media/image8.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5" Type="http://schemas.openxmlformats.org/officeDocument/2006/relationships/image" Target="../media/image13.wmf"/><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26.wmf"/><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2"/>
          <p:cNvSpPr>
            <a:spLocks noGrp="1"/>
          </p:cNvSpPr>
          <p:nvPr>
            <p:ph type="hdr" sz="quarter"/>
          </p:nvPr>
        </p:nvSpPr>
        <p:spPr>
          <a:xfrm>
            <a:off x="0" y="0"/>
            <a:ext cx="2944813" cy="496888"/>
          </a:xfrm>
          <a:prstGeom prst="rect">
            <a:avLst/>
          </a:prstGeom>
          <a:noFill/>
          <a:ln w="9525">
            <a:noFill/>
            <a:miter/>
          </a:ln>
        </p:spPr>
        <p:txBody>
          <a:bodyPr/>
          <a:lstStyle>
            <a:lvl1pPr eaLnBrk="1" hangingPunct="1">
              <a:buFont typeface="Arial" panose="020B0604020202020204" pitchFamily="34" charset="0"/>
              <a:buNone/>
              <a:defRPr sz="1200" noProof="1">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99" name="Rectangle 3"/>
          <p:cNvSpPr>
            <a:spLocks noGrp="1"/>
          </p:cNvSpPr>
          <p:nvPr>
            <p:ph type="dt" idx="1"/>
          </p:nvPr>
        </p:nvSpPr>
        <p:spPr>
          <a:xfrm>
            <a:off x="3851275" y="0"/>
            <a:ext cx="2946400" cy="496888"/>
          </a:xfrm>
          <a:prstGeom prst="rect">
            <a:avLst/>
          </a:prstGeom>
          <a:noFill/>
          <a:ln w="9525">
            <a:noFill/>
            <a:miter/>
          </a:ln>
        </p:spPr>
        <p:txBody>
          <a:bodyPr/>
          <a:lstStyle>
            <a:lvl1pPr algn="r" eaLnBrk="1" hangingPunct="1">
              <a:buFont typeface="Arial" panose="020B0604020202020204" pitchFamily="34" charset="0"/>
              <a:buNone/>
              <a:defRPr sz="1200" noProof="1">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p:cNvSpPr>
          <p:nvPr>
            <p:ph type="sldImg"/>
          </p:nvPr>
        </p:nvSpPr>
        <p:spPr>
          <a:xfrm>
            <a:off x="911225" y="744538"/>
            <a:ext cx="4975225" cy="3722687"/>
          </a:xfrm>
          <a:prstGeom prst="rect">
            <a:avLst/>
          </a:prstGeom>
          <a:noFill/>
          <a:ln w="9525">
            <a:noFill/>
          </a:ln>
        </p:spPr>
      </p:sp>
      <p:sp>
        <p:nvSpPr>
          <p:cNvPr id="3077" name="Rectangle 5"/>
          <p:cNvSpPr>
            <a:spLocks noGrp="1" noChangeArrowheads="1"/>
          </p:cNvSpPr>
          <p:nvPr>
            <p:ph type="body" sz="quarter" idx="4294967295"/>
          </p:nvPr>
        </p:nvSpPr>
        <p:spPr bwMode="auto">
          <a:xfrm>
            <a:off x="906463" y="4714875"/>
            <a:ext cx="4983163" cy="4467225"/>
          </a:xfrm>
          <a:prstGeom prst="rect">
            <a:avLst/>
          </a:prstGeom>
          <a:noFill/>
          <a:ln w="9525">
            <a:noFill/>
            <a:miter lim="800000"/>
          </a:ln>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102" name="Rectangle 6"/>
          <p:cNvSpPr>
            <a:spLocks noGrp="1"/>
          </p:cNvSpPr>
          <p:nvPr>
            <p:ph type="ftr" sz="quarter" idx="4"/>
          </p:nvPr>
        </p:nvSpPr>
        <p:spPr>
          <a:xfrm>
            <a:off x="0" y="9429750"/>
            <a:ext cx="2944813" cy="496888"/>
          </a:xfrm>
          <a:prstGeom prst="rect">
            <a:avLst/>
          </a:prstGeom>
          <a:noFill/>
          <a:ln w="9525">
            <a:noFill/>
            <a:miter/>
          </a:ln>
        </p:spPr>
        <p:txBody>
          <a:bodyPr anchor="b"/>
          <a:lstStyle>
            <a:lvl1pPr eaLnBrk="1" hangingPunct="1">
              <a:buFont typeface="Arial" panose="020B0604020202020204" pitchFamily="34" charset="0"/>
              <a:buNone/>
              <a:defRPr sz="1200" noProof="1">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3" name="Rectangle 7"/>
          <p:cNvSpPr>
            <a:spLocks noGrp="1"/>
          </p:cNvSpPr>
          <p:nvPr>
            <p:ph type="sldNum" sz="quarter" idx="5"/>
          </p:nvPr>
        </p:nvSpPr>
        <p:spPr>
          <a:xfrm>
            <a:off x="3851275" y="9429750"/>
            <a:ext cx="2946400" cy="496888"/>
          </a:xfrm>
          <a:prstGeom prst="rect">
            <a:avLst/>
          </a:prstGeom>
          <a:noFill/>
          <a:ln w="9525">
            <a:noFill/>
            <a:miter/>
          </a:ln>
        </p:spPr>
        <p:txBody>
          <a:bodyPr vert="horz" wrap="square" lIns="91440" tIns="45720" rIns="91440" bIns="45720" numCol="1" anchor="b" anchorCtr="0" compatLnSpc="1"/>
          <a:lstStyle>
            <a:lvl1pPr algn="r" eaLnBrk="1" hangingPunct="1">
              <a:buFont typeface="Arial" panose="020B0604020202020204" pitchFamily="34" charset="0"/>
              <a:buNone/>
              <a:defRPr sz="1200" noProof="1">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94BB440-D3CC-40A4-9615-98530BF03F82}" type="slidenum">
              <a:rPr kumimoji="0" lang="en-US" altLang="zh-CN" sz="12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2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lvl="1" algn="l" rtl="0" eaLnBrk="0" fontAlgn="base" hangingPunct="0">
      <a:spcBef>
        <a:spcPct val="30000"/>
      </a:spcBef>
      <a:spcAft>
        <a:spcPct val="0"/>
      </a:spcAft>
      <a:defRPr sz="1200" kern="1200">
        <a:solidFill>
          <a:schemeClr val="tx1"/>
        </a:solidFill>
        <a:latin typeface="+mn-lt"/>
        <a:ea typeface="+mn-ea"/>
        <a:cs typeface="+mn-cs"/>
      </a:defRPr>
    </a:lvl2pPr>
    <a:lvl3pPr marL="914400" lvl="2" algn="l" rtl="0" eaLnBrk="0" fontAlgn="base" hangingPunct="0">
      <a:spcBef>
        <a:spcPct val="30000"/>
      </a:spcBef>
      <a:spcAft>
        <a:spcPct val="0"/>
      </a:spcAft>
      <a:defRPr sz="1200" kern="1200">
        <a:solidFill>
          <a:schemeClr val="tx1"/>
        </a:solidFill>
        <a:latin typeface="+mn-lt"/>
        <a:ea typeface="+mn-ea"/>
        <a:cs typeface="+mn-cs"/>
      </a:defRPr>
    </a:lvl3pPr>
    <a:lvl4pPr marL="1371600" lvl="3" algn="l" rtl="0" eaLnBrk="0" fontAlgn="base" hangingPunct="0">
      <a:spcBef>
        <a:spcPct val="30000"/>
      </a:spcBef>
      <a:spcAft>
        <a:spcPct val="0"/>
      </a:spcAft>
      <a:defRPr sz="1200" kern="1200">
        <a:solidFill>
          <a:schemeClr val="tx1"/>
        </a:solidFill>
        <a:latin typeface="+mn-lt"/>
        <a:ea typeface="+mn-ea"/>
        <a:cs typeface="+mn-cs"/>
      </a:defRPr>
    </a:lvl4pPr>
    <a:lvl5pPr marL="1828800" lvl="4" algn="l" rtl="0" eaLnBrk="0" fontAlgn="base" hangingPunct="0">
      <a:spcBef>
        <a:spcPct val="30000"/>
      </a:spcBef>
      <a:spcAft>
        <a:spcPct val="0"/>
      </a:spcAft>
      <a:defRPr sz="1200" kern="1200">
        <a:solidFill>
          <a:schemeClr val="tx1"/>
        </a:solidFill>
        <a:latin typeface="+mn-lt"/>
        <a:ea typeface="+mn-ea"/>
        <a:cs typeface="+mn-cs"/>
      </a:defRPr>
    </a:lvl5pPr>
    <a:lvl6pPr marL="2286000" lvl="5"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幻灯片图像占位符 1"/>
          <p:cNvSpPr>
            <a:spLocks noGrp="1" noTextEdit="1"/>
          </p:cNvSpPr>
          <p:nvPr>
            <p:ph type="sldImg"/>
          </p:nvPr>
        </p:nvSpPr>
        <p:spPr>
          <a:xfrm>
            <a:off x="917575" y="744538"/>
            <a:ext cx="4962525" cy="3722687"/>
          </a:xfrm>
        </p:spPr>
      </p:sp>
      <p:sp>
        <p:nvSpPr>
          <p:cNvPr id="6147" name="文本占位符 2"/>
          <p:cNvSpPr/>
          <p:nvPr>
            <p:ph type="body"/>
          </p:nvPr>
        </p:nvSpPr>
        <p:spPr>
          <a:xfrm>
            <a:off x="906463" y="4714875"/>
            <a:ext cx="4983162" cy="4467225"/>
          </a:xfrm>
        </p:spPr>
        <p:txBody>
          <a:bodyPr wrap="square" lIns="91440" tIns="45720" rIns="91440" bIns="45720" anchor="ctr" anchorCtr="0"/>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幻灯片图像占位符 1"/>
          <p:cNvSpPr>
            <a:spLocks noTextEdit="1"/>
          </p:cNvSpPr>
          <p:nvPr>
            <p:ph type="sldImg"/>
          </p:nvPr>
        </p:nvSpPr>
        <p:spPr>
          <a:xfrm>
            <a:off x="917575" y="744538"/>
            <a:ext cx="4962525" cy="3722687"/>
          </a:xfrm>
        </p:spPr>
      </p:sp>
      <p:sp>
        <p:nvSpPr>
          <p:cNvPr id="10243" name="文本占位符 2"/>
          <p:cNvSpPr/>
          <p:nvPr>
            <p:ph type="body"/>
          </p:nvPr>
        </p:nvSpPr>
        <p:spPr>
          <a:xfrm>
            <a:off x="906463" y="4714875"/>
            <a:ext cx="4983162" cy="4467225"/>
          </a:xfrm>
        </p:spPr>
        <p:txBody>
          <a:bodyPr wrap="square" lIns="91440" tIns="45720" rIns="91440" bIns="45720" anchor="ctr" anchorCtr="0"/>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幻灯片图像占位符 1"/>
          <p:cNvSpPr>
            <a:spLocks noTextEdit="1"/>
          </p:cNvSpPr>
          <p:nvPr>
            <p:ph type="sldImg"/>
          </p:nvPr>
        </p:nvSpPr>
        <p:spPr>
          <a:xfrm>
            <a:off x="917575" y="744538"/>
            <a:ext cx="4962525" cy="3722687"/>
          </a:xfrm>
        </p:spPr>
      </p:sp>
      <p:sp>
        <p:nvSpPr>
          <p:cNvPr id="24579" name="文本占位符 2"/>
          <p:cNvSpPr/>
          <p:nvPr>
            <p:ph type="body"/>
          </p:nvPr>
        </p:nvSpPr>
        <p:spPr>
          <a:xfrm>
            <a:off x="906463" y="4714875"/>
            <a:ext cx="4983162" cy="4467225"/>
          </a:xfrm>
        </p:spPr>
        <p:txBody>
          <a:bodyPr wrap="square" lIns="91440" tIns="45720" rIns="91440" bIns="45720" anchor="ctr" anchorCtr="0"/>
          <a:p>
            <a:pPr lvl="0"/>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28674" name="幻灯片图像占位符 24577"/>
          <p:cNvSpPr>
            <a:spLocks noGrp="1" noTextEdit="1"/>
          </p:cNvSpPr>
          <p:nvPr>
            <p:ph type="sldImg"/>
          </p:nvPr>
        </p:nvSpPr>
        <p:spPr>
          <a:xfrm>
            <a:off x="917575" y="744538"/>
            <a:ext cx="4962525" cy="3722687"/>
          </a:xfrm>
        </p:spPr>
      </p:sp>
      <p:sp>
        <p:nvSpPr>
          <p:cNvPr id="28675" name="文本占位符 24578"/>
          <p:cNvSpPr>
            <a:spLocks noGrp="1"/>
          </p:cNvSpPr>
          <p:nvPr>
            <p:ph type="body"/>
          </p:nvPr>
        </p:nvSpPr>
        <p:spPr>
          <a:xfrm>
            <a:off x="906463" y="4714875"/>
            <a:ext cx="4983162" cy="4467225"/>
          </a:xfrm>
        </p:spPr>
        <p:txBody>
          <a:bodyPr wrap="square" lIns="91440" tIns="45720" rIns="91440" bIns="45720" anchor="ctr" anchorCtr="0"/>
          <a:p>
            <a:pPr lvl="0"/>
            <a:r>
              <a:rPr lang="zh-CN" altLang="en-US" dirty="0"/>
              <a:t>候选键：能唯一识别关系实例元组的最小字段集合。</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幻灯片图像占位符 1"/>
          <p:cNvSpPr>
            <a:spLocks noGrp="1" noTextEdit="1"/>
          </p:cNvSpPr>
          <p:nvPr>
            <p:ph type="sldImg"/>
          </p:nvPr>
        </p:nvSpPr>
        <p:spPr>
          <a:xfrm>
            <a:off x="917575" y="744538"/>
            <a:ext cx="4962525" cy="3722687"/>
          </a:xfrm>
        </p:spPr>
      </p:sp>
      <p:sp>
        <p:nvSpPr>
          <p:cNvPr id="62467" name="文本占位符 2"/>
          <p:cNvSpPr>
            <a:spLocks noGrp="1"/>
          </p:cNvSpPr>
          <p:nvPr>
            <p:ph type="body"/>
          </p:nvPr>
        </p:nvSpPr>
        <p:spPr>
          <a:xfrm>
            <a:off x="906463" y="4714875"/>
            <a:ext cx="4983162" cy="4467225"/>
          </a:xfrm>
        </p:spPr>
        <p:txBody>
          <a:bodyPr wrap="square" lIns="91440" tIns="45720" rIns="91440" bIns="45720" anchor="ctr" anchorCtr="0"/>
          <a:p>
            <a:pPr lvl="0"/>
            <a:endParaRPr lang="zh-CN" altLang="en-US" dirty="0"/>
          </a:p>
        </p:txBody>
      </p:sp>
      <p:sp>
        <p:nvSpPr>
          <p:cNvPr id="62468" name="灯片编号占位符 3"/>
          <p:cNvSpPr txBox="1">
            <a:spLocks noGrp="1"/>
          </p:cNvSpPr>
          <p:nvPr>
            <p:ph type="sldNum" sz="quarter"/>
          </p:nvPr>
        </p:nvSpPr>
        <p:spPr>
          <a:xfrm>
            <a:off x="3851275" y="9429750"/>
            <a:ext cx="2946400" cy="496888"/>
          </a:xfrm>
          <a:prstGeom prst="rect">
            <a:avLst/>
          </a:prstGeom>
          <a:noFill/>
          <a:ln w="9525">
            <a:noFill/>
          </a:ln>
        </p:spPr>
        <p:txBody>
          <a:bodyPr anchor="b" anchorCtr="0"/>
          <a:p>
            <a:pPr lvl="0" algn="r" eaLnBrk="1" hangingPunct="1"/>
            <a:fld id="{9A0DB2DC-4C9A-4742-B13C-FB6460FD3503}" type="slidenum">
              <a:rPr lang="en-US" altLang="zh-CN" sz="1200" dirty="0">
                <a:latin typeface="Times New Roman" panose="02020603050405020304" pitchFamily="18" charset="0"/>
              </a:rPr>
            </a:fld>
            <a:endParaRPr lang="en-US" altLang="zh-CN" sz="1200" dirty="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smtClean="0"/>
              <a:t>单击此处编辑母版副标题样式</a:t>
            </a:r>
            <a:endParaRPr lang="zh-CN" altLang="en-US" noProof="1"/>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54296"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629841" y="2505075"/>
            <a:ext cx="3868340" cy="36845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3887391" y="987425"/>
            <a:ext cx="4629150" cy="4873625"/>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None/>
              <a:defRPr/>
            </a:pPr>
            <a:endParaRPr kumimoji="0" lang="zh-CN" altLang="en-US" sz="2400" b="1"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44463"/>
            <a:ext cx="6052930" cy="59817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smtClean="0"/>
              <a:t>单击此处编辑母版副标题样式</a:t>
            </a:r>
            <a:endParaRPr lang="zh-CN" altLang="en-US" noProof="1"/>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354183" y="2791234"/>
            <a:ext cx="8229600" cy="57785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996950"/>
            <a:ext cx="8229600" cy="512921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4500"/>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354183" y="2791234"/>
            <a:ext cx="8229600" cy="57785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996950"/>
            <a:ext cx="4032504" cy="512921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54296" y="996950"/>
            <a:ext cx="4032504" cy="512921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a:prstGeom prst="rect">
            <a:avLst/>
          </a:prstGeo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29841"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629841" y="2505075"/>
            <a:ext cx="3868340" cy="3684588"/>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29150" y="2505075"/>
            <a:ext cx="3887391" cy="3684588"/>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354183" y="2791234"/>
            <a:ext cx="8229600" cy="57785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a:prstGeom prst="rect">
            <a:avLst/>
          </a:prstGeom>
        </p:spPr>
        <p:txBody>
          <a:bodyPr anchor="b"/>
          <a:lstStyle>
            <a:lvl1pPr>
              <a:defRPr sz="2400"/>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887391" y="987425"/>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a:prstGeom prst="rect">
            <a:avLst/>
          </a:prstGeom>
        </p:spPr>
        <p:txBody>
          <a:bodyPr anchor="b"/>
          <a:lstStyle>
            <a:lvl1pPr>
              <a:defRPr sz="2400"/>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3887391" y="987425"/>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None/>
              <a:defRPr/>
            </a:pPr>
            <a:endParaRPr kumimoji="0" lang="zh-CN" altLang="en-US" sz="2400" b="1"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354183" y="2791234"/>
            <a:ext cx="8229600" cy="57785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996950"/>
            <a:ext cx="8229600" cy="512921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44463"/>
            <a:ext cx="6052930" cy="5981700"/>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p:sp>
        <p:nvSpPr>
          <p:cNvPr id="1026" name="Rectangle 9"/>
          <p:cNvSpPr>
            <a:spLocks noChangeArrowheads="1"/>
          </p:cNvSpPr>
          <p:nvPr/>
        </p:nvSpPr>
        <p:spPr bwMode="auto">
          <a:xfrm>
            <a:off x="-4762" y="6489700"/>
            <a:ext cx="9148763" cy="368300"/>
          </a:xfrm>
          <a:prstGeom prst="rect">
            <a:avLst/>
          </a:prstGeom>
          <a:solidFill>
            <a:schemeClr val="accent2">
              <a:alpha val="81175"/>
            </a:schemeClr>
          </a:solidFill>
          <a:ln w="9525">
            <a:solidFill>
              <a:schemeClr val="tx1"/>
            </a:solidFill>
            <a:miter lim="800000"/>
          </a:ln>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8" name="Rectangle 10"/>
          <p:cNvSpPr>
            <a:spLocks noChangeArrowheads="1"/>
          </p:cNvSpPr>
          <p:nvPr/>
        </p:nvSpPr>
        <p:spPr bwMode="auto">
          <a:xfrm>
            <a:off x="282575" y="774700"/>
            <a:ext cx="8582025" cy="50800"/>
          </a:xfrm>
          <a:prstGeom prst="rect">
            <a:avLst/>
          </a:prstGeom>
          <a:gradFill rotWithShape="1">
            <a:gsLst>
              <a:gs pos="0">
                <a:srgbClr val="FFFF00"/>
              </a:gs>
              <a:gs pos="50000">
                <a:srgbClr val="FF0066"/>
              </a:gs>
              <a:gs pos="100000">
                <a:srgbClr val="FFFF0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11"/>
          <p:cNvSpPr>
            <a:spLocks noChangeArrowheads="1"/>
          </p:cNvSpPr>
          <p:nvPr/>
        </p:nvSpPr>
        <p:spPr bwMode="auto">
          <a:xfrm>
            <a:off x="8178800" y="6511925"/>
            <a:ext cx="8890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05B9EFC-F6E8-430F-BCB0-C6538E19D1B4}" type="slidenum">
              <a:rPr kumimoji="0" lang="en-US" altLang="zh-CN" sz="1400" b="1"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rPr>
            </a:fld>
            <a:endParaRPr kumimoji="0" lang="en-US" altLang="zh-CN" sz="1400" b="1"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endParaRPr>
          </a:p>
        </p:txBody>
      </p:sp>
      <p:sp>
        <p:nvSpPr>
          <p:cNvPr id="1030" name="Rectangle 14"/>
          <p:cNvSpPr>
            <a:spLocks noGrp="1"/>
          </p:cNvSpPr>
          <p:nvPr>
            <p:ph type="body"/>
          </p:nvPr>
        </p:nvSpPr>
        <p:spPr>
          <a:xfrm>
            <a:off x="457200" y="996950"/>
            <a:ext cx="8229600" cy="512921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1" name="Rectangle 15"/>
          <p:cNvSpPr>
            <a:spLocks noGrp="1"/>
          </p:cNvSpPr>
          <p:nvPr>
            <p:ph type="title"/>
          </p:nvPr>
        </p:nvSpPr>
        <p:spPr>
          <a:xfrm>
            <a:off x="457200" y="144463"/>
            <a:ext cx="8229600" cy="577850"/>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algn="l" rtl="0" eaLnBrk="0" fontAlgn="base" hangingPunct="0">
        <a:spcBef>
          <a:spcPct val="0"/>
        </a:spcBef>
        <a:spcAft>
          <a:spcPct val="0"/>
        </a:spcAft>
        <a:defRPr sz="3200" b="1" kern="1200">
          <a:solidFill>
            <a:srgbClr val="3333CC"/>
          </a:solidFill>
          <a:latin typeface="+mj-lt"/>
          <a:ea typeface="+mj-ea"/>
          <a:cs typeface="+mj-cs"/>
        </a:defRPr>
      </a:lvl1pPr>
      <a:lvl2pPr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b="1"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p:sp>
        <p:nvSpPr>
          <p:cNvPr id="2050" name="Rectangle 2"/>
          <p:cNvSpPr>
            <a:spLocks noChangeArrowheads="1"/>
          </p:cNvSpPr>
          <p:nvPr/>
        </p:nvSpPr>
        <p:spPr bwMode="auto">
          <a:xfrm>
            <a:off x="-4762" y="6489700"/>
            <a:ext cx="9148763" cy="368300"/>
          </a:xfrm>
          <a:prstGeom prst="rect">
            <a:avLst/>
          </a:prstGeom>
          <a:solidFill>
            <a:schemeClr val="accent2">
              <a:alpha val="81175"/>
            </a:schemeClr>
          </a:solidFill>
          <a:ln w="9525">
            <a:solidFill>
              <a:schemeClr val="tx1"/>
            </a:solidFill>
            <a:miter lim="800000"/>
          </a:ln>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ChangeArrowheads="1"/>
          </p:cNvSpPr>
          <p:nvPr/>
        </p:nvSpPr>
        <p:spPr bwMode="auto">
          <a:xfrm>
            <a:off x="282575" y="774700"/>
            <a:ext cx="8582025" cy="50800"/>
          </a:xfrm>
          <a:prstGeom prst="rect">
            <a:avLst/>
          </a:prstGeom>
          <a:gradFill rotWithShape="1">
            <a:gsLst>
              <a:gs pos="0">
                <a:srgbClr val="FFFF00"/>
              </a:gs>
              <a:gs pos="50000">
                <a:srgbClr val="FF0066"/>
              </a:gs>
              <a:gs pos="100000">
                <a:srgbClr val="FFFF0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3" name="Rectangle 5"/>
          <p:cNvSpPr>
            <a:spLocks noChangeArrowheads="1"/>
          </p:cNvSpPr>
          <p:nvPr/>
        </p:nvSpPr>
        <p:spPr bwMode="auto">
          <a:xfrm>
            <a:off x="8178800" y="6511925"/>
            <a:ext cx="8890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5E943CDB-524E-4D51-8F78-AFE85982CD2A}" type="slidenum">
              <a:rPr kumimoji="0" lang="en-US" altLang="zh-CN" sz="1400" b="1"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rPr>
            </a:fld>
            <a:endParaRPr kumimoji="0" lang="en-US" altLang="zh-CN" sz="1400" b="1"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endParaRPr>
          </a:p>
        </p:txBody>
      </p:sp>
      <p:sp>
        <p:nvSpPr>
          <p:cNvPr id="2054" name="Rectangle 6"/>
          <p:cNvSpPr>
            <a:spLocks noChangeArrowheads="1"/>
          </p:cNvSpPr>
          <p:nvPr/>
        </p:nvSpPr>
        <p:spPr bwMode="auto">
          <a:xfrm>
            <a:off x="309563" y="174625"/>
            <a:ext cx="723741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Principle and Design of Database</a:t>
            </a:r>
            <a:endParaRPr kumimoji="0"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800" b="1" i="0" u="none" strike="noStrike" kern="1200" cap="none" spc="0" normalizeH="0" baseline="0" noProof="0" smtClean="0">
              <a:ln>
                <a:noFill/>
              </a:ln>
              <a:solidFill>
                <a:srgbClr val="FF3300"/>
              </a:solidFill>
              <a:effectLst/>
              <a:uLnTx/>
              <a:uFillTx/>
              <a:latin typeface="黑体" panose="02010609060101010101" pitchFamily="49" charset="-122"/>
              <a:ea typeface="黑体" panose="0201060906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algn="l" rtl="0" eaLnBrk="0" fontAlgn="base" hangingPunct="0">
        <a:spcBef>
          <a:spcPct val="0"/>
        </a:spcBef>
        <a:spcAft>
          <a:spcPct val="0"/>
        </a:spcAft>
        <a:defRPr sz="3200" b="1" kern="1200">
          <a:solidFill>
            <a:srgbClr val="3333CC"/>
          </a:solidFill>
          <a:latin typeface="+mj-lt"/>
          <a:ea typeface="+mj-ea"/>
          <a:cs typeface="+mj-cs"/>
        </a:defRPr>
      </a:lvl1pPr>
      <a:lvl2pPr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b="1"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w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5.wmf"/><Relationship Id="rId7" Type="http://schemas.openxmlformats.org/officeDocument/2006/relationships/oleObject" Target="../embeddings/oleObject4.bin"/><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6" Type="http://schemas.openxmlformats.org/officeDocument/2006/relationships/vmlDrawing" Target="../drawings/vmlDrawing1.vml"/><Relationship Id="rId15" Type="http://schemas.openxmlformats.org/officeDocument/2006/relationships/slideLayout" Target="../slideLayouts/slideLayout7.xml"/><Relationship Id="rId14" Type="http://schemas.openxmlformats.org/officeDocument/2006/relationships/image" Target="../media/image8.wmf"/><Relationship Id="rId13" Type="http://schemas.openxmlformats.org/officeDocument/2006/relationships/oleObject" Target="../embeddings/oleObject7.bin"/><Relationship Id="rId12" Type="http://schemas.openxmlformats.org/officeDocument/2006/relationships/image" Target="../media/image7.wmf"/><Relationship Id="rId11" Type="http://schemas.openxmlformats.org/officeDocument/2006/relationships/oleObject" Target="../embeddings/oleObject6.bin"/><Relationship Id="rId10" Type="http://schemas.openxmlformats.org/officeDocument/2006/relationships/image" Target="../media/image6.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12.bin"/><Relationship Id="rId8" Type="http://schemas.openxmlformats.org/officeDocument/2006/relationships/image" Target="../media/image12.wmf"/><Relationship Id="rId7" Type="http://schemas.openxmlformats.org/officeDocument/2006/relationships/oleObject" Target="../embeddings/oleObject11.bin"/><Relationship Id="rId6" Type="http://schemas.openxmlformats.org/officeDocument/2006/relationships/image" Target="../media/image11.wmf"/><Relationship Id="rId5" Type="http://schemas.openxmlformats.org/officeDocument/2006/relationships/oleObject" Target="../embeddings/oleObject10.bin"/><Relationship Id="rId4" Type="http://schemas.openxmlformats.org/officeDocument/2006/relationships/image" Target="../media/image10.wmf"/><Relationship Id="rId3" Type="http://schemas.openxmlformats.org/officeDocument/2006/relationships/oleObject" Target="../embeddings/oleObject9.bin"/><Relationship Id="rId2" Type="http://schemas.openxmlformats.org/officeDocument/2006/relationships/image" Target="../media/image9.wmf"/><Relationship Id="rId12" Type="http://schemas.openxmlformats.org/officeDocument/2006/relationships/vmlDrawing" Target="../drawings/vmlDrawing2.vml"/><Relationship Id="rId11" Type="http://schemas.openxmlformats.org/officeDocument/2006/relationships/slideLayout" Target="../slideLayouts/slideLayout7.xml"/><Relationship Id="rId10" Type="http://schemas.openxmlformats.org/officeDocument/2006/relationships/image" Target="../media/image13.wmf"/><Relationship Id="rId1"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14.wmf"/><Relationship Id="rId1" Type="http://schemas.openxmlformats.org/officeDocument/2006/relationships/oleObject" Target="../embeddings/oleObject13.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15.wmf"/><Relationship Id="rId1" Type="http://schemas.openxmlformats.org/officeDocument/2006/relationships/oleObject" Target="../embeddings/oleObject14.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16.wmf"/><Relationship Id="rId1" Type="http://schemas.openxmlformats.org/officeDocument/2006/relationships/oleObject" Target="../embeddings/oleObject15.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8.wmf"/><Relationship Id="rId1" Type="http://schemas.openxmlformats.org/officeDocument/2006/relationships/oleObject" Target="../embeddings/oleObject16.bin"/></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9.wmf"/><Relationship Id="rId1" Type="http://schemas.openxmlformats.org/officeDocument/2006/relationships/oleObject" Target="../embeddings/oleObject17.bin"/></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oleObject" Target="../embeddings/oleObject18.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21.wmf"/><Relationship Id="rId1" Type="http://schemas.openxmlformats.org/officeDocument/2006/relationships/oleObject" Target="../embeddings/oleObject19.bin"/></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22.wmf"/><Relationship Id="rId1" Type="http://schemas.openxmlformats.org/officeDocument/2006/relationships/oleObject" Target="../embeddings/oleObject20.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6.wmf"/><Relationship Id="rId7" Type="http://schemas.openxmlformats.org/officeDocument/2006/relationships/oleObject" Target="../embeddings/oleObject24.bin"/><Relationship Id="rId6" Type="http://schemas.openxmlformats.org/officeDocument/2006/relationships/image" Target="../media/image25.wmf"/><Relationship Id="rId5" Type="http://schemas.openxmlformats.org/officeDocument/2006/relationships/oleObject" Target="../embeddings/oleObject23.bin"/><Relationship Id="rId4" Type="http://schemas.openxmlformats.org/officeDocument/2006/relationships/image" Target="../media/image24.wmf"/><Relationship Id="rId3" Type="http://schemas.openxmlformats.org/officeDocument/2006/relationships/oleObject" Target="../embeddings/oleObject22.bin"/><Relationship Id="rId2" Type="http://schemas.openxmlformats.org/officeDocument/2006/relationships/image" Target="../media/image23.wmf"/><Relationship Id="rId10" Type="http://schemas.openxmlformats.org/officeDocument/2006/relationships/vmlDrawing" Target="../drawings/vmlDrawing11.vml"/><Relationship Id="rId1" Type="http://schemas.openxmlformats.org/officeDocument/2006/relationships/oleObject" Target="../embeddings/oleObject21.bin"/></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29.wmf"/><Relationship Id="rId1" Type="http://schemas.openxmlformats.org/officeDocument/2006/relationships/oleObject" Target="../embeddings/oleObject25.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AutoShape 51"/>
          <p:cNvSpPr/>
          <p:nvPr/>
        </p:nvSpPr>
        <p:spPr>
          <a:xfrm>
            <a:off x="1257300" y="1444625"/>
            <a:ext cx="6564313" cy="1025525"/>
          </a:xfrm>
          <a:prstGeom prst="roundRect">
            <a:avLst>
              <a:gd name="adj" fmla="val 50000"/>
            </a:avLst>
          </a:prstGeom>
          <a:solidFill>
            <a:srgbClr val="99CCFF"/>
          </a:solidFill>
          <a:ln w="28575" cap="flat" cmpd="sng">
            <a:solidFill>
              <a:srgbClr val="C0C0C0"/>
            </a:solidFill>
            <a:prstDash val="solid"/>
            <a:headEnd type="none" w="med" len="med"/>
            <a:tailEnd type="none" w="med" len="med"/>
          </a:ln>
        </p:spPr>
        <p:txBody>
          <a:bodyPr anchor="ctr" anchorCtr="0"/>
          <a:p>
            <a:pPr algn="ctr">
              <a:lnSpc>
                <a:spcPct val="125000"/>
              </a:lnSpc>
              <a:spcBef>
                <a:spcPct val="50000"/>
              </a:spcBef>
              <a:buFont typeface="Wingdings" panose="05000000000000000000" pitchFamily="2" charset="2"/>
            </a:pPr>
            <a:r>
              <a:rPr lang="zh-CN" altLang="en-US" sz="3200" dirty="0">
                <a:latin typeface="Times New Roman" panose="02020603050405020304" pitchFamily="18" charset="0"/>
                <a:ea typeface="楷体_GB2312"/>
              </a:rPr>
              <a:t>第六章：关系数据库设计理论</a:t>
            </a:r>
            <a:endParaRPr lang="en-US" altLang="zh-CN" sz="3200" dirty="0">
              <a:latin typeface="Times New Roman" panose="02020603050405020304" pitchFamily="18" charset="0"/>
              <a:ea typeface="楷体_GB2312"/>
            </a:endParaRPr>
          </a:p>
        </p:txBody>
      </p:sp>
      <p:sp>
        <p:nvSpPr>
          <p:cNvPr id="4099" name="Rectangle 7"/>
          <p:cNvSpPr>
            <a:spLocks noGrp="1"/>
          </p:cNvSpPr>
          <p:nvPr>
            <p:ph type="body"/>
          </p:nvPr>
        </p:nvSpPr>
        <p:spPr>
          <a:xfrm>
            <a:off x="1473200" y="3556000"/>
            <a:ext cx="6843713" cy="1695450"/>
          </a:xfrm>
          <a:prstGeom prst="rect">
            <a:avLst/>
          </a:prstGeom>
          <a:noFill/>
          <a:ln w="9525">
            <a:noFill/>
          </a:ln>
        </p:spPr>
        <p:txBody>
          <a:bodyPr lIns="0" tIns="0" rIns="0" bIns="0"/>
          <a:p>
            <a:pPr>
              <a:spcBef>
                <a:spcPts val="400"/>
              </a:spcBef>
            </a:pPr>
            <a:r>
              <a:rPr lang="zh-CN" altLang="en-US" sz="2800" dirty="0">
                <a:ea typeface="华文楷体" panose="02010600040101010101" pitchFamily="2" charset="-122"/>
              </a:rPr>
              <a:t>关系模式中可能存在的问题</a:t>
            </a:r>
            <a:endParaRPr lang="en-US" altLang="zh-CN" sz="2800" dirty="0">
              <a:ea typeface="华文楷体" panose="02010600040101010101" pitchFamily="2" charset="-122"/>
            </a:endParaRPr>
          </a:p>
          <a:p>
            <a:pPr>
              <a:spcBef>
                <a:spcPts val="400"/>
              </a:spcBef>
            </a:pPr>
            <a:r>
              <a:rPr lang="zh-CN" altLang="en-US" sz="2800" dirty="0">
                <a:ea typeface="华文楷体" panose="02010600040101010101" pitchFamily="2" charset="-122"/>
              </a:rPr>
              <a:t>关系规范中的函数依赖理论</a:t>
            </a:r>
            <a:endParaRPr lang="en-US" altLang="zh-CN" sz="2800" dirty="0">
              <a:ea typeface="华文楷体" panose="02010600040101010101" pitchFamily="2" charset="-122"/>
            </a:endParaRPr>
          </a:p>
          <a:p>
            <a:pPr>
              <a:spcBef>
                <a:spcPts val="400"/>
              </a:spcBef>
            </a:pPr>
            <a:r>
              <a:rPr lang="zh-CN" altLang="en-US" sz="2800" dirty="0">
                <a:ea typeface="华文楷体" panose="02010600040101010101" pitchFamily="2" charset="-122"/>
              </a:rPr>
              <a:t>关系模式的规范形式</a:t>
            </a:r>
            <a:endParaRPr lang="en-US" altLang="zh-CN" sz="2800" dirty="0">
              <a:ea typeface="华文楷体" panose="02010600040101010101" pitchFamily="2" charset="-122"/>
            </a:endParaRPr>
          </a:p>
          <a:p>
            <a:pPr>
              <a:spcBef>
                <a:spcPts val="400"/>
              </a:spcBef>
            </a:pPr>
            <a:r>
              <a:rPr lang="zh-CN" altLang="en-US" sz="2800" dirty="0">
                <a:ea typeface="华文楷体" panose="02010600040101010101" pitchFamily="2" charset="-122"/>
              </a:rPr>
              <a:t>关系模式的规范化</a:t>
            </a:r>
            <a:endParaRPr lang="en-US" altLang="zh-CN" sz="2800" dirty="0">
              <a:ea typeface="华文楷体" panose="02010600040101010101" pitchFamily="2" charset="-122"/>
            </a:endParaRPr>
          </a:p>
        </p:txBody>
      </p:sp>
      <p:sp>
        <p:nvSpPr>
          <p:cNvPr id="4100" name="Rectangle 8"/>
          <p:cNvSpPr/>
          <p:nvPr/>
        </p:nvSpPr>
        <p:spPr>
          <a:xfrm>
            <a:off x="1344613" y="3452813"/>
            <a:ext cx="7170737" cy="2160587"/>
          </a:xfrm>
          <a:prstGeom prst="rect">
            <a:avLst/>
          </a:prstGeom>
          <a:noFill/>
          <a:ln w="9525" cap="flat" cmpd="sng">
            <a:solidFill>
              <a:srgbClr val="0000FF"/>
            </a:solidFill>
            <a:prstDash val="solid"/>
            <a:miter/>
            <a:headEnd type="none" w="med" len="med"/>
            <a:tailEnd type="none" w="med" len="med"/>
          </a:ln>
          <a:effectLst>
            <a:prstShdw prst="shdw17" dist="17961" dir="2699999">
              <a:srgbClr val="000099"/>
            </a:prstShdw>
          </a:effectLst>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ndParaRPr>
          </a:p>
        </p:txBody>
      </p:sp>
      <p:pic>
        <p:nvPicPr>
          <p:cNvPr id="4101" name="Picture 6" descr="j0233174"/>
          <p:cNvPicPr>
            <a:picLocks noChangeAspect="1"/>
          </p:cNvPicPr>
          <p:nvPr/>
        </p:nvPicPr>
        <p:blipFill>
          <a:blip r:embed="rId1"/>
          <a:stretch>
            <a:fillRect/>
          </a:stretch>
        </p:blipFill>
        <p:spPr>
          <a:xfrm>
            <a:off x="227013" y="3927475"/>
            <a:ext cx="1519237" cy="1957388"/>
          </a:xfrm>
          <a:prstGeom prst="rect">
            <a:avLst/>
          </a:prstGeom>
          <a:noFill/>
          <a:ln w="9525">
            <a:noFill/>
          </a:ln>
        </p:spPr>
      </p:pic>
      <p:sp>
        <p:nvSpPr>
          <p:cNvPr id="4102" name="矩形 5"/>
          <p:cNvSpPr/>
          <p:nvPr/>
        </p:nvSpPr>
        <p:spPr>
          <a:xfrm>
            <a:off x="1223963" y="2738438"/>
            <a:ext cx="3057525" cy="584200"/>
          </a:xfrm>
          <a:prstGeom prst="rect">
            <a:avLst/>
          </a:prstGeom>
          <a:noFill/>
          <a:ln w="9525">
            <a:noFill/>
          </a:ln>
        </p:spPr>
        <p:txBody>
          <a:bodyPr wrap="none">
            <a:spAutoFit/>
          </a:bodyPr>
          <a:p>
            <a:r>
              <a:rPr lang="zh-CN" altLang="en-US" sz="3200" dirty="0">
                <a:solidFill>
                  <a:srgbClr val="006600"/>
                </a:solidFill>
                <a:latin typeface="方正舒体" panose="02010601030101010101" pitchFamily="2" charset="-122"/>
                <a:ea typeface="方正舒体" panose="02010601030101010101" pitchFamily="2" charset="-122"/>
              </a:rPr>
              <a:t>学习目的和要求</a:t>
            </a:r>
            <a:endParaRPr lang="zh-CN" altLang="en-US" sz="3200" dirty="0">
              <a:latin typeface="方正舒体" panose="02010601030101010101" pitchFamily="2" charset="-122"/>
              <a:ea typeface="方正舒体" panose="02010601030101010101" pitchFamily="2" charset="-122"/>
            </a:endParaRPr>
          </a:p>
        </p:txBody>
      </p:sp>
    </p:spTree>
  </p:cSld>
  <p:clrMapOvr>
    <a:masterClrMapping/>
  </p:clrMapOvr>
  <p:transition advTm="54672"/>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200" dirty="0">
                <a:solidFill>
                  <a:srgbClr val="0033CC"/>
                </a:solidFill>
                <a:ea typeface="黑体" panose="02010609060101010101" pitchFamily="49" charset="-122"/>
              </a:rPr>
              <a:t>一、关系规范化的需求及背景</a:t>
            </a:r>
            <a:endParaRPr lang="zh-CN" altLang="en-US" sz="3200" dirty="0">
              <a:solidFill>
                <a:srgbClr val="0033CC"/>
              </a:solidFill>
              <a:ea typeface="黑体" panose="02010609060101010101" pitchFamily="49" charset="-122"/>
            </a:endParaRPr>
          </a:p>
        </p:txBody>
      </p:sp>
      <p:sp>
        <p:nvSpPr>
          <p:cNvPr id="5123" name="Rectangle 7"/>
          <p:cNvSpPr/>
          <p:nvPr/>
        </p:nvSpPr>
        <p:spPr>
          <a:xfrm>
            <a:off x="501650" y="781050"/>
            <a:ext cx="62611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buClr>
                <a:schemeClr val="folHlink"/>
              </a:buClr>
              <a:buSzPct val="75000"/>
              <a:buNone/>
            </a:pPr>
            <a:r>
              <a:rPr lang="en-US" altLang="zh-CN" sz="2800" dirty="0">
                <a:solidFill>
                  <a:srgbClr val="FF0000"/>
                </a:solidFill>
                <a:latin typeface="黑体" panose="02010609060101010101" pitchFamily="49" charset="-122"/>
                <a:ea typeface="黑体" panose="02010609060101010101" pitchFamily="49" charset="-122"/>
              </a:rPr>
              <a:t>1</a:t>
            </a:r>
            <a:r>
              <a:rPr lang="zh-CN" altLang="en-US" sz="2800" dirty="0">
                <a:solidFill>
                  <a:srgbClr val="FF0000"/>
                </a:solidFill>
                <a:latin typeface="黑体" panose="02010609060101010101" pitchFamily="49" charset="-122"/>
                <a:ea typeface="黑体" panose="02010609060101010101" pitchFamily="49" charset="-122"/>
              </a:rPr>
              <a:t>、存在异常的关系模式示例</a:t>
            </a:r>
            <a:endParaRPr lang="en-US" altLang="zh-CN" sz="2800" dirty="0">
              <a:solidFill>
                <a:srgbClr val="FF0000"/>
              </a:solidFill>
              <a:latin typeface="黑体" panose="02010609060101010101" pitchFamily="49" charset="-122"/>
              <a:ea typeface="黑体" panose="02010609060101010101" pitchFamily="49" charset="-122"/>
            </a:endParaRPr>
          </a:p>
        </p:txBody>
      </p:sp>
      <p:sp>
        <p:nvSpPr>
          <p:cNvPr id="5124" name="Rectangle 3" descr="Rectangle: Click to edit Master text styles&#10;Second level&#10;Third level&#10;Fourth level&#10;Fifth level"/>
          <p:cNvSpPr txBox="1"/>
          <p:nvPr/>
        </p:nvSpPr>
        <p:spPr>
          <a:xfrm>
            <a:off x="552450" y="1435100"/>
            <a:ext cx="8194675" cy="13049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ts val="600"/>
              </a:spcBef>
              <a:buClrTx/>
              <a:buSzTx/>
              <a:buFont typeface="Wingdings" panose="05000000000000000000" pitchFamily="2" charset="2"/>
              <a:buChar char="p"/>
            </a:pPr>
            <a:r>
              <a:rPr lang="zh-CN" altLang="en-US" sz="2400" dirty="0">
                <a:solidFill>
                  <a:srgbClr val="0033CC"/>
                </a:solidFill>
              </a:rPr>
              <a:t> 关系 </a:t>
            </a:r>
            <a:r>
              <a:rPr lang="en-US" altLang="zh-CN" sz="2400" dirty="0">
                <a:solidFill>
                  <a:srgbClr val="0033CC"/>
                </a:solidFill>
              </a:rPr>
              <a:t>R (Sid, Cid, CName, Score, TID, TName,Tphone)</a:t>
            </a:r>
            <a:endParaRPr lang="en-US" altLang="zh-CN" sz="2400" dirty="0">
              <a:solidFill>
                <a:srgbClr val="0033CC"/>
              </a:solidFill>
            </a:endParaRPr>
          </a:p>
          <a:p>
            <a:pPr marL="0" lvl="0" indent="0">
              <a:spcBef>
                <a:spcPts val="600"/>
              </a:spcBef>
              <a:buFont typeface="Arial" panose="020B0604020202020204" pitchFamily="34" charset="0"/>
              <a:buNone/>
            </a:pPr>
            <a:r>
              <a:rPr lang="zh-CN" altLang="en-US" sz="2400" dirty="0"/>
              <a:t>其中</a:t>
            </a:r>
            <a:r>
              <a:rPr lang="en-US" altLang="zh-CN" sz="2400" dirty="0"/>
              <a:t>: </a:t>
            </a:r>
            <a:r>
              <a:rPr lang="en-US" altLang="zh-CN" sz="2200" dirty="0"/>
              <a:t>Sid</a:t>
            </a:r>
            <a:r>
              <a:rPr lang="zh-CN" altLang="en-US" sz="2200" dirty="0"/>
              <a:t>是学生学号；</a:t>
            </a:r>
            <a:r>
              <a:rPr lang="en-US" altLang="zh-CN" sz="2200" dirty="0"/>
              <a:t>Cid</a:t>
            </a:r>
            <a:r>
              <a:rPr lang="zh-CN" altLang="en-US" sz="2200" dirty="0"/>
              <a:t>是课程号；</a:t>
            </a:r>
            <a:r>
              <a:rPr lang="en-US" altLang="zh-CN" sz="2200" dirty="0"/>
              <a:t>CName </a:t>
            </a:r>
            <a:r>
              <a:rPr lang="zh-CN" altLang="en-US" sz="2200" dirty="0"/>
              <a:t>课程名；</a:t>
            </a:r>
            <a:r>
              <a:rPr lang="en-US" altLang="zh-CN" sz="2200" dirty="0"/>
              <a:t>Score</a:t>
            </a:r>
            <a:r>
              <a:rPr lang="zh-CN" altLang="zh-CN" sz="2200" dirty="0"/>
              <a:t>成绩，</a:t>
            </a:r>
            <a:r>
              <a:rPr lang="en-US" altLang="zh-CN" sz="2200" dirty="0"/>
              <a:t>TID</a:t>
            </a:r>
            <a:r>
              <a:rPr lang="zh-CN" altLang="zh-CN" sz="2200" dirty="0"/>
              <a:t>教师编号，</a:t>
            </a:r>
            <a:r>
              <a:rPr lang="en-US" altLang="zh-CN" sz="2200" dirty="0"/>
              <a:t>TName </a:t>
            </a:r>
            <a:r>
              <a:rPr lang="zh-CN" altLang="en-US" sz="2200" dirty="0"/>
              <a:t>任课教师姓名，</a:t>
            </a:r>
            <a:r>
              <a:rPr lang="en-US" altLang="zh-CN" sz="2200" dirty="0"/>
              <a:t>Tphone</a:t>
            </a:r>
            <a:r>
              <a:rPr lang="zh-CN" altLang="zh-CN" sz="2200" dirty="0"/>
              <a:t>联系电话</a:t>
            </a:r>
            <a:r>
              <a:rPr lang="zh-CN" altLang="en-US" sz="2400" dirty="0"/>
              <a:t>。</a:t>
            </a:r>
            <a:endParaRPr lang="zh-CN" altLang="en-US" sz="2400" dirty="0"/>
          </a:p>
        </p:txBody>
      </p:sp>
      <p:graphicFrame>
        <p:nvGraphicFramePr>
          <p:cNvPr id="3" name="表格 2"/>
          <p:cNvGraphicFramePr/>
          <p:nvPr/>
        </p:nvGraphicFramePr>
        <p:xfrm>
          <a:off x="738188" y="2792413"/>
          <a:ext cx="7972425" cy="3429000"/>
        </p:xfrm>
        <a:graphic>
          <a:graphicData uri="http://schemas.openxmlformats.org/drawingml/2006/table">
            <a:tbl>
              <a:tblPr firstRow="1" bandRow="1">
                <a:tableStyleId>{5C22544A-7EE6-4342-B048-85BDC9FD1C3A}</a:tableStyleId>
              </a:tblPr>
              <a:tblGrid>
                <a:gridCol w="1080225"/>
                <a:gridCol w="1124675"/>
                <a:gridCol w="1942620"/>
                <a:gridCol w="651503"/>
                <a:gridCol w="992939"/>
                <a:gridCol w="972924"/>
                <a:gridCol w="1207539"/>
              </a:tblGrid>
              <a:tr h="381000">
                <a:tc>
                  <a:txBody>
                    <a:bodyPr/>
                    <a:lstStyle/>
                    <a:p>
                      <a:pPr algn="ctr">
                        <a:buNone/>
                      </a:pPr>
                      <a:r>
                        <a:rPr lang="zh-CN">
                          <a:solidFill>
                            <a:schemeClr val="tx1"/>
                          </a:solidFill>
                        </a:rPr>
                        <a:t>学生学号</a:t>
                      </a:r>
                      <a:endParaRPr lang="zh-CN">
                        <a:solidFill>
                          <a:schemeClr val="tx1"/>
                        </a:solidFill>
                      </a:endParaRPr>
                    </a:p>
                  </a:txBody>
                  <a:tcPr marL="0" marR="0"/>
                </a:tc>
                <a:tc>
                  <a:txBody>
                    <a:bodyPr/>
                    <a:lstStyle/>
                    <a:p>
                      <a:pPr algn="ctr">
                        <a:buNone/>
                      </a:pPr>
                      <a:r>
                        <a:rPr lang="zh-CN">
                          <a:solidFill>
                            <a:schemeClr val="tx1"/>
                          </a:solidFill>
                        </a:rPr>
                        <a:t>课程号</a:t>
                      </a:r>
                      <a:endParaRPr lang="zh-CN">
                        <a:solidFill>
                          <a:schemeClr val="tx1"/>
                        </a:solidFill>
                      </a:endParaRPr>
                    </a:p>
                  </a:txBody>
                  <a:tcPr marL="0" marR="0"/>
                </a:tc>
                <a:tc>
                  <a:txBody>
                    <a:bodyPr/>
                    <a:lstStyle/>
                    <a:p>
                      <a:pPr algn="ctr">
                        <a:buNone/>
                      </a:pPr>
                      <a:r>
                        <a:rPr lang="zh-CN">
                          <a:solidFill>
                            <a:schemeClr val="tx1"/>
                          </a:solidFill>
                        </a:rPr>
                        <a:t>课程名</a:t>
                      </a:r>
                      <a:endParaRPr lang="zh-CN">
                        <a:solidFill>
                          <a:schemeClr val="tx1"/>
                        </a:solidFill>
                      </a:endParaRPr>
                    </a:p>
                  </a:txBody>
                  <a:tcPr marL="0" marR="0"/>
                </a:tc>
                <a:tc>
                  <a:txBody>
                    <a:bodyPr/>
                    <a:lstStyle/>
                    <a:p>
                      <a:pPr algn="ctr">
                        <a:buNone/>
                      </a:pPr>
                      <a:r>
                        <a:rPr lang="zh-CN" altLang="en-US">
                          <a:solidFill>
                            <a:schemeClr val="tx1"/>
                          </a:solidFill>
                        </a:rPr>
                        <a:t>成绩</a:t>
                      </a:r>
                      <a:endParaRPr lang="zh-CN" altLang="en-US">
                        <a:solidFill>
                          <a:schemeClr val="tx1"/>
                        </a:solidFill>
                      </a:endParaRPr>
                    </a:p>
                  </a:txBody>
                  <a:tcPr marL="0" marR="0"/>
                </a:tc>
                <a:tc>
                  <a:txBody>
                    <a:bodyPr/>
                    <a:lstStyle/>
                    <a:p>
                      <a:pPr algn="ctr">
                        <a:buNone/>
                      </a:pPr>
                      <a:r>
                        <a:rPr lang="zh-CN">
                          <a:solidFill>
                            <a:schemeClr val="tx1"/>
                          </a:solidFill>
                        </a:rPr>
                        <a:t>教师编号</a:t>
                      </a:r>
                      <a:endParaRPr lang="zh-CN">
                        <a:solidFill>
                          <a:schemeClr val="tx1"/>
                        </a:solidFill>
                      </a:endParaRPr>
                    </a:p>
                  </a:txBody>
                  <a:tcPr marL="0" marR="0"/>
                </a:tc>
                <a:tc>
                  <a:txBody>
                    <a:bodyPr/>
                    <a:lstStyle/>
                    <a:p>
                      <a:pPr algn="ctr">
                        <a:buNone/>
                      </a:pPr>
                      <a:r>
                        <a:rPr lang="zh-CN">
                          <a:solidFill>
                            <a:schemeClr val="tx1"/>
                          </a:solidFill>
                        </a:rPr>
                        <a:t>教师姓名</a:t>
                      </a:r>
                      <a:endParaRPr lang="zh-CN">
                        <a:solidFill>
                          <a:schemeClr val="tx1"/>
                        </a:solidFill>
                      </a:endParaRPr>
                    </a:p>
                  </a:txBody>
                  <a:tcPr marL="0" marR="0"/>
                </a:tc>
                <a:tc>
                  <a:txBody>
                    <a:bodyPr/>
                    <a:lstStyle/>
                    <a:p>
                      <a:pPr algn="ctr">
                        <a:buNone/>
                      </a:pPr>
                      <a:r>
                        <a:rPr lang="zh-CN" altLang="zh-CN">
                          <a:solidFill>
                            <a:schemeClr val="tx1"/>
                          </a:solidFill>
                        </a:rPr>
                        <a:t>联系电话</a:t>
                      </a:r>
                      <a:endParaRPr lang="zh-CN" altLang="zh-CN">
                        <a:solidFill>
                          <a:schemeClr val="tx1"/>
                        </a:solidFill>
                      </a:endParaRPr>
                    </a:p>
                  </a:txBody>
                  <a:tcPr marL="0" marR="0"/>
                </a:tc>
              </a:tr>
              <a:tr h="381000">
                <a:tc>
                  <a:txBody>
                    <a:bodyPr/>
                    <a:lstStyle/>
                    <a:p>
                      <a:pPr>
                        <a:buNone/>
                      </a:pPr>
                      <a:r>
                        <a:rPr lang="en-US"/>
                        <a:t>20122400</a:t>
                      </a:r>
                      <a:endParaRPr lang="en-US"/>
                    </a:p>
                  </a:txBody>
                  <a:tcPr marL="0" marR="0"/>
                </a:tc>
                <a:tc>
                  <a:txBody>
                    <a:bodyPr/>
                    <a:lstStyle/>
                    <a:p>
                      <a:pPr>
                        <a:buNone/>
                      </a:pPr>
                      <a:r>
                        <a:rPr lang="en-US"/>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88</a:t>
                      </a:r>
                      <a:endParaRPr lang="en-US" altLang="zh-CN"/>
                    </a:p>
                  </a:txBody>
                  <a:tcPr marL="0" marR="0"/>
                </a:tc>
                <a:tc>
                  <a:txBody>
                    <a:bodyPr/>
                    <a:lstStyle/>
                    <a:p>
                      <a:pPr>
                        <a:buNone/>
                      </a:pPr>
                      <a:r>
                        <a:rPr lang="en-US" altLang="zh-CN"/>
                        <a:t>6726</a:t>
                      </a:r>
                      <a:endParaRPr lang="en-US" altLang="zh-CN"/>
                    </a:p>
                  </a:txBody>
                  <a:tcPr marL="0" marR="0"/>
                </a:tc>
                <a:tc>
                  <a:txBody>
                    <a:bodyPr/>
                    <a:lstStyle/>
                    <a:p>
                      <a:pPr>
                        <a:buNone/>
                      </a:pPr>
                      <a:r>
                        <a:rPr lang="zh-CN"/>
                        <a:t>王淑营</a:t>
                      </a:r>
                      <a:endParaRPr lang="zh-CN"/>
                    </a:p>
                  </a:txBody>
                  <a:tcPr marL="0" marR="0"/>
                </a:tc>
                <a:tc>
                  <a:txBody>
                    <a:bodyPr/>
                    <a:lstStyle/>
                    <a:p>
                      <a:pPr>
                        <a:buNone/>
                      </a:pPr>
                      <a:r>
                        <a:rPr lang="en-US" altLang="zh-CN"/>
                        <a:t>135******30</a:t>
                      </a:r>
                      <a:endParaRPr lang="en-US" altLang="zh-CN"/>
                    </a:p>
                  </a:txBody>
                  <a:tcPr marL="0" marR="0"/>
                </a:tc>
              </a:tr>
              <a:tr h="381000">
                <a:tc>
                  <a:txBody>
                    <a:bodyPr/>
                    <a:lstStyle/>
                    <a:p>
                      <a:pPr>
                        <a:buNone/>
                      </a:pPr>
                      <a:r>
                        <a:rPr lang="en-US"/>
                        <a:t>20122457</a:t>
                      </a:r>
                      <a:endParaRPr lang="en-US"/>
                    </a:p>
                  </a:txBody>
                  <a:tcPr marL="0" marR="0"/>
                </a:tc>
                <a:tc>
                  <a:txBody>
                    <a:bodyPr/>
                    <a:lstStyle/>
                    <a:p>
                      <a:pPr>
                        <a:buNone/>
                      </a:pPr>
                      <a:r>
                        <a:rPr lang="en-US" sz="1800">
                          <a:sym typeface="+mn-ea"/>
                        </a:rPr>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92</a:t>
                      </a:r>
                      <a:endParaRPr lang="en-US" altLang="zh-CN"/>
                    </a:p>
                  </a:txBody>
                  <a:tcPr marL="0" marR="0"/>
                </a:tc>
                <a:tc>
                  <a:txBody>
                    <a:bodyPr/>
                    <a:lstStyle/>
                    <a:p>
                      <a:pPr>
                        <a:buNone/>
                      </a:pPr>
                      <a:r>
                        <a:rPr lang="en-US" altLang="zh-CN" sz="1800">
                          <a:sym typeface="+mn-ea"/>
                        </a:rPr>
                        <a:t>6726</a:t>
                      </a:r>
                      <a:endParaRPr lang="zh-CN"/>
                    </a:p>
                  </a:txBody>
                  <a:tcPr marL="0" marR="0"/>
                </a:tc>
                <a:tc>
                  <a:txBody>
                    <a:bodyPr/>
                    <a:lstStyle/>
                    <a:p>
                      <a:pPr>
                        <a:buNone/>
                      </a:pPr>
                      <a:r>
                        <a:rPr lang="zh-CN"/>
                        <a:t>王淑营</a:t>
                      </a:r>
                      <a:endParaRPr lang="zh-CN"/>
                    </a:p>
                  </a:txBody>
                  <a:tcPr marL="0" marR="0"/>
                </a:tc>
                <a:tc>
                  <a:txBody>
                    <a:bodyPr/>
                    <a:lstStyle/>
                    <a:p>
                      <a:pPr>
                        <a:buNone/>
                      </a:pPr>
                      <a:r>
                        <a:rPr lang="en-US" altLang="zh-CN" sz="1800">
                          <a:sym typeface="+mn-ea"/>
                        </a:rPr>
                        <a:t>135******30</a:t>
                      </a:r>
                      <a:endParaRPr lang="zh-CN" altLang="en-US"/>
                    </a:p>
                  </a:txBody>
                  <a:tcPr marL="0" marR="0"/>
                </a:tc>
              </a:tr>
              <a:tr h="381000">
                <a:tc>
                  <a:txBody>
                    <a:bodyPr/>
                    <a:lstStyle/>
                    <a:p>
                      <a:pPr>
                        <a:buNone/>
                      </a:pPr>
                      <a:r>
                        <a:rPr lang="en-US"/>
                        <a:t>20122526</a:t>
                      </a:r>
                      <a:endParaRPr lang="en-US"/>
                    </a:p>
                  </a:txBody>
                  <a:tcPr marL="0" marR="0"/>
                </a:tc>
                <a:tc>
                  <a:txBody>
                    <a:bodyPr/>
                    <a:lstStyle/>
                    <a:p>
                      <a:pPr>
                        <a:buNone/>
                      </a:pPr>
                      <a:r>
                        <a:rPr lang="en-US" sz="1800">
                          <a:sym typeface="+mn-ea"/>
                        </a:rPr>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79</a:t>
                      </a:r>
                      <a:endParaRPr lang="en-US" altLang="zh-CN"/>
                    </a:p>
                  </a:txBody>
                  <a:tcPr marL="0" marR="0"/>
                </a:tc>
                <a:tc>
                  <a:txBody>
                    <a:bodyPr/>
                    <a:lstStyle/>
                    <a:p>
                      <a:pPr>
                        <a:buNone/>
                      </a:pPr>
                      <a:r>
                        <a:rPr lang="en-US" altLang="zh-CN" sz="1800">
                          <a:sym typeface="+mn-ea"/>
                        </a:rPr>
                        <a:t>6726</a:t>
                      </a:r>
                      <a:endParaRPr lang="zh-CN"/>
                    </a:p>
                  </a:txBody>
                  <a:tcPr marL="0" marR="0"/>
                </a:tc>
                <a:tc>
                  <a:txBody>
                    <a:bodyPr/>
                    <a:lstStyle/>
                    <a:p>
                      <a:pPr>
                        <a:buNone/>
                      </a:pPr>
                      <a:r>
                        <a:rPr lang="zh-CN"/>
                        <a:t>王淑营</a:t>
                      </a:r>
                      <a:endParaRPr lang="zh-CN"/>
                    </a:p>
                  </a:txBody>
                  <a:tcPr marL="0" marR="0"/>
                </a:tc>
                <a:tc>
                  <a:txBody>
                    <a:bodyPr/>
                    <a:lstStyle/>
                    <a:p>
                      <a:pPr>
                        <a:buNone/>
                      </a:pPr>
                      <a:r>
                        <a:rPr lang="en-US" altLang="zh-CN" sz="1800">
                          <a:sym typeface="+mn-ea"/>
                        </a:rPr>
                        <a:t>135******30</a:t>
                      </a:r>
                      <a:endParaRPr lang="zh-CN" altLang="en-US"/>
                    </a:p>
                  </a:txBody>
                  <a:tcPr marL="0" marR="0"/>
                </a:tc>
              </a:tr>
              <a:tr h="381000">
                <a:tc>
                  <a:txBody>
                    <a:bodyPr/>
                    <a:lstStyle/>
                    <a:p>
                      <a:pPr>
                        <a:buNone/>
                      </a:pPr>
                      <a:r>
                        <a:rPr lang="en-US"/>
                        <a:t>20122714</a:t>
                      </a:r>
                      <a:endParaRPr lang="en-US"/>
                    </a:p>
                  </a:txBody>
                  <a:tcPr marL="0" marR="0"/>
                </a:tc>
                <a:tc>
                  <a:txBody>
                    <a:bodyPr/>
                    <a:lstStyle/>
                    <a:p>
                      <a:pPr>
                        <a:buNone/>
                      </a:pPr>
                      <a:r>
                        <a:rPr lang="en-US" sz="1800">
                          <a:sym typeface="+mn-ea"/>
                        </a:rPr>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85</a:t>
                      </a:r>
                      <a:endParaRPr lang="en-US" altLang="zh-CN"/>
                    </a:p>
                  </a:txBody>
                  <a:tcPr marL="0" marR="0"/>
                </a:tc>
                <a:tc>
                  <a:txBody>
                    <a:bodyPr/>
                    <a:lstStyle/>
                    <a:p>
                      <a:pPr>
                        <a:buNone/>
                      </a:pPr>
                      <a:r>
                        <a:rPr lang="en-US" altLang="zh-CN" sz="1800">
                          <a:sym typeface="+mn-ea"/>
                        </a:rPr>
                        <a:t>6726</a:t>
                      </a:r>
                      <a:endParaRPr lang="zh-CN"/>
                    </a:p>
                  </a:txBody>
                  <a:tcPr marL="0" marR="0"/>
                </a:tc>
                <a:tc>
                  <a:txBody>
                    <a:bodyPr/>
                    <a:lstStyle/>
                    <a:p>
                      <a:pPr>
                        <a:buNone/>
                      </a:pPr>
                      <a:r>
                        <a:rPr lang="zh-CN"/>
                        <a:t>王淑营</a:t>
                      </a:r>
                      <a:endParaRPr lang="zh-CN"/>
                    </a:p>
                  </a:txBody>
                  <a:tcPr marL="0" marR="0"/>
                </a:tc>
                <a:tc>
                  <a:txBody>
                    <a:bodyPr/>
                    <a:lstStyle/>
                    <a:p>
                      <a:pPr>
                        <a:buNone/>
                      </a:pPr>
                      <a:r>
                        <a:rPr lang="en-US" altLang="zh-CN" sz="1800">
                          <a:sym typeface="+mn-ea"/>
                        </a:rPr>
                        <a:t>135******30</a:t>
                      </a:r>
                      <a:endParaRPr lang="zh-CN" altLang="en-US"/>
                    </a:p>
                  </a:txBody>
                  <a:tcPr marL="0" marR="0"/>
                </a:tc>
              </a:tr>
              <a:tr h="381000">
                <a:tc>
                  <a:txBody>
                    <a:bodyPr/>
                    <a:lstStyle/>
                    <a:p>
                      <a:pPr>
                        <a:buNone/>
                      </a:pPr>
                      <a:r>
                        <a:rPr lang="en-US"/>
                        <a:t>20122721</a:t>
                      </a:r>
                      <a:endParaRPr lang="en-US"/>
                    </a:p>
                  </a:txBody>
                  <a:tcPr marL="0" marR="0"/>
                </a:tc>
                <a:tc>
                  <a:txBody>
                    <a:bodyPr/>
                    <a:lstStyle/>
                    <a:p>
                      <a:pPr>
                        <a:buNone/>
                      </a:pPr>
                      <a:r>
                        <a:rPr lang="en-US" sz="1800">
                          <a:sym typeface="+mn-ea"/>
                        </a:rPr>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95</a:t>
                      </a:r>
                      <a:endParaRPr lang="en-US" altLang="zh-CN"/>
                    </a:p>
                  </a:txBody>
                  <a:tcPr marL="0" marR="0"/>
                </a:tc>
                <a:tc>
                  <a:txBody>
                    <a:bodyPr/>
                    <a:lstStyle/>
                    <a:p>
                      <a:pPr>
                        <a:buNone/>
                      </a:pPr>
                      <a:r>
                        <a:rPr lang="en-US" altLang="zh-CN"/>
                        <a:t>6726</a:t>
                      </a:r>
                      <a:endParaRPr lang="en-US" altLang="zh-CN"/>
                    </a:p>
                  </a:txBody>
                  <a:tcPr marL="0" marR="0"/>
                </a:tc>
                <a:tc>
                  <a:txBody>
                    <a:bodyPr/>
                    <a:lstStyle/>
                    <a:p>
                      <a:pPr>
                        <a:buNone/>
                      </a:pPr>
                      <a:r>
                        <a:rPr lang="zh-CN" sz="1800">
                          <a:sym typeface="+mn-ea"/>
                        </a:rPr>
                        <a:t>王淑营</a:t>
                      </a:r>
                      <a:endParaRPr lang="zh-CN" altLang="en-US"/>
                    </a:p>
                  </a:txBody>
                  <a:tcPr marL="0" marR="0"/>
                </a:tc>
                <a:tc>
                  <a:txBody>
                    <a:bodyPr/>
                    <a:lstStyle/>
                    <a:p>
                      <a:pPr>
                        <a:buNone/>
                      </a:pPr>
                      <a:r>
                        <a:rPr lang="en-US" altLang="zh-CN" sz="1800">
                          <a:sym typeface="+mn-ea"/>
                        </a:rPr>
                        <a:t>135******30</a:t>
                      </a:r>
                      <a:endParaRPr lang="zh-CN" altLang="en-US"/>
                    </a:p>
                  </a:txBody>
                  <a:tcPr marL="0" marR="0"/>
                </a:tc>
              </a:tr>
              <a:tr h="381000">
                <a:tc>
                  <a:txBody>
                    <a:bodyPr/>
                    <a:lstStyle/>
                    <a:p>
                      <a:pPr>
                        <a:buNone/>
                      </a:pPr>
                      <a:r>
                        <a:rPr lang="en-US" sz="1800">
                          <a:sym typeface="+mn-ea"/>
                        </a:rPr>
                        <a:t>20122457</a:t>
                      </a:r>
                      <a:endParaRPr lang="en-US"/>
                    </a:p>
                  </a:txBody>
                  <a:tcPr marL="0" marR="0"/>
                </a:tc>
                <a:tc>
                  <a:txBody>
                    <a:bodyPr/>
                    <a:lstStyle/>
                    <a:p>
                      <a:pPr>
                        <a:buNone/>
                      </a:pPr>
                      <a:r>
                        <a:rPr lang="en-US" sz="1800">
                          <a:sym typeface="+mn-ea"/>
                        </a:rPr>
                        <a:t>3223308</a:t>
                      </a:r>
                      <a:endParaRPr lang="en-US"/>
                    </a:p>
                  </a:txBody>
                  <a:tcPr marL="0" marR="0"/>
                </a:tc>
                <a:tc>
                  <a:txBody>
                    <a:bodyPr/>
                    <a:lstStyle/>
                    <a:p>
                      <a:pPr>
                        <a:buNone/>
                      </a:pPr>
                      <a:r>
                        <a:rPr lang="zh-CN"/>
                        <a:t>高级程序设计</a:t>
                      </a:r>
                      <a:endParaRPr lang="zh-CN"/>
                    </a:p>
                  </a:txBody>
                  <a:tcPr marL="0" marR="0"/>
                </a:tc>
                <a:tc>
                  <a:txBody>
                    <a:bodyPr/>
                    <a:lstStyle/>
                    <a:p>
                      <a:pPr>
                        <a:buNone/>
                      </a:pPr>
                      <a:r>
                        <a:rPr lang="en-US" altLang="zh-CN"/>
                        <a:t>88</a:t>
                      </a:r>
                      <a:endParaRPr lang="en-US" altLang="zh-CN"/>
                    </a:p>
                  </a:txBody>
                  <a:tcPr marL="0" marR="0"/>
                </a:tc>
                <a:tc>
                  <a:txBody>
                    <a:bodyPr/>
                    <a:lstStyle/>
                    <a:p>
                      <a:pPr>
                        <a:buNone/>
                      </a:pPr>
                      <a:r>
                        <a:rPr lang="en-US" altLang="zh-CN"/>
                        <a:t>7233</a:t>
                      </a:r>
                      <a:endParaRPr lang="en-US" altLang="zh-CN"/>
                    </a:p>
                  </a:txBody>
                  <a:tcPr marL="0" marR="0"/>
                </a:tc>
                <a:tc>
                  <a:txBody>
                    <a:bodyPr/>
                    <a:lstStyle/>
                    <a:p>
                      <a:pPr>
                        <a:buNone/>
                      </a:pPr>
                      <a:r>
                        <a:rPr lang="zh-CN"/>
                        <a:t>殷成凤</a:t>
                      </a:r>
                      <a:endParaRPr lang="zh-CN"/>
                    </a:p>
                  </a:txBody>
                  <a:tcPr marL="0" marR="0"/>
                </a:tc>
                <a:tc>
                  <a:txBody>
                    <a:bodyPr/>
                    <a:lstStyle/>
                    <a:p>
                      <a:pPr>
                        <a:buNone/>
                      </a:pPr>
                      <a:r>
                        <a:rPr lang="en-US" altLang="zh-CN"/>
                        <a:t>136******71</a:t>
                      </a:r>
                      <a:endParaRPr lang="en-US" altLang="zh-CN"/>
                    </a:p>
                  </a:txBody>
                  <a:tcPr marL="0" marR="0"/>
                </a:tc>
              </a:tr>
              <a:tr h="381000">
                <a:tc>
                  <a:txBody>
                    <a:bodyPr/>
                    <a:lstStyle/>
                    <a:p>
                      <a:pPr>
                        <a:buNone/>
                      </a:pPr>
                      <a:r>
                        <a:rPr lang="en-US" sz="1800">
                          <a:sym typeface="+mn-ea"/>
                        </a:rPr>
                        <a:t>20122526</a:t>
                      </a:r>
                      <a:endParaRPr lang="en-US"/>
                    </a:p>
                  </a:txBody>
                  <a:tcPr marL="0" marR="0"/>
                </a:tc>
                <a:tc>
                  <a:txBody>
                    <a:bodyPr/>
                    <a:lstStyle/>
                    <a:p>
                      <a:pPr>
                        <a:buNone/>
                      </a:pPr>
                      <a:r>
                        <a:rPr lang="en-US" sz="1800">
                          <a:sym typeface="+mn-ea"/>
                        </a:rPr>
                        <a:t>3223308</a:t>
                      </a:r>
                      <a:endParaRPr lang="en-US"/>
                    </a:p>
                  </a:txBody>
                  <a:tcPr marL="0" marR="0"/>
                </a:tc>
                <a:tc>
                  <a:txBody>
                    <a:bodyPr/>
                    <a:lstStyle/>
                    <a:p>
                      <a:pPr>
                        <a:buNone/>
                      </a:pPr>
                      <a:r>
                        <a:rPr lang="zh-CN"/>
                        <a:t>高级程序设计</a:t>
                      </a:r>
                      <a:endParaRPr lang="zh-CN"/>
                    </a:p>
                  </a:txBody>
                  <a:tcPr marL="0" marR="0"/>
                </a:tc>
                <a:tc>
                  <a:txBody>
                    <a:bodyPr/>
                    <a:lstStyle/>
                    <a:p>
                      <a:pPr>
                        <a:buNone/>
                      </a:pPr>
                      <a:r>
                        <a:rPr lang="en-US" altLang="zh-CN"/>
                        <a:t>70</a:t>
                      </a:r>
                      <a:endParaRPr lang="en-US" altLang="zh-CN"/>
                    </a:p>
                  </a:txBody>
                  <a:tcPr marL="0" marR="0"/>
                </a:tc>
                <a:tc>
                  <a:txBody>
                    <a:bodyPr/>
                    <a:lstStyle/>
                    <a:p>
                      <a:pPr>
                        <a:buNone/>
                      </a:pPr>
                      <a:r>
                        <a:rPr lang="en-US" altLang="zh-CN"/>
                        <a:t>7233</a:t>
                      </a:r>
                      <a:endParaRPr lang="en-US" altLang="zh-CN"/>
                    </a:p>
                  </a:txBody>
                  <a:tcPr marL="0" marR="0"/>
                </a:tc>
                <a:tc>
                  <a:txBody>
                    <a:bodyPr/>
                    <a:lstStyle/>
                    <a:p>
                      <a:pPr>
                        <a:buNone/>
                      </a:pPr>
                      <a:r>
                        <a:rPr lang="zh-CN"/>
                        <a:t>殷成凤</a:t>
                      </a:r>
                      <a:endParaRPr lang="zh-CN"/>
                    </a:p>
                  </a:txBody>
                  <a:tcPr marL="0" marR="0"/>
                </a:tc>
                <a:tc>
                  <a:txBody>
                    <a:bodyPr/>
                    <a:lstStyle/>
                    <a:p>
                      <a:pPr>
                        <a:buNone/>
                      </a:pPr>
                      <a:r>
                        <a:rPr lang="en-US" altLang="zh-CN" sz="1800">
                          <a:sym typeface="+mn-ea"/>
                        </a:rPr>
                        <a:t>136******71</a:t>
                      </a:r>
                      <a:endParaRPr lang="zh-CN" altLang="en-US"/>
                    </a:p>
                  </a:txBody>
                  <a:tcPr marL="0" marR="0"/>
                </a:tc>
              </a:tr>
              <a:tr h="381000">
                <a:tc>
                  <a:txBody>
                    <a:bodyPr/>
                    <a:lstStyle/>
                    <a:p>
                      <a:pPr>
                        <a:buNone/>
                      </a:pPr>
                      <a:r>
                        <a:rPr lang="en-US" sz="1800">
                          <a:sym typeface="+mn-ea"/>
                        </a:rPr>
                        <a:t>20122721</a:t>
                      </a:r>
                      <a:endParaRPr lang="en-US"/>
                    </a:p>
                  </a:txBody>
                  <a:tcPr marL="0" marR="0"/>
                </a:tc>
                <a:tc>
                  <a:txBody>
                    <a:bodyPr/>
                    <a:lstStyle/>
                    <a:p>
                      <a:pPr>
                        <a:buNone/>
                      </a:pPr>
                      <a:r>
                        <a:rPr lang="en-US"/>
                        <a:t>3123405</a:t>
                      </a:r>
                      <a:endParaRPr lang="en-US"/>
                    </a:p>
                  </a:txBody>
                  <a:tcPr marL="0" marR="0"/>
                </a:tc>
                <a:tc>
                  <a:txBody>
                    <a:bodyPr/>
                    <a:lstStyle/>
                    <a:p>
                      <a:pPr>
                        <a:buNone/>
                      </a:pPr>
                      <a:r>
                        <a:rPr lang="zh-CN"/>
                        <a:t>模糊粗糙集算法</a:t>
                      </a:r>
                      <a:endParaRPr lang="zh-CN"/>
                    </a:p>
                  </a:txBody>
                  <a:tcPr marL="0" marR="0"/>
                </a:tc>
                <a:tc>
                  <a:txBody>
                    <a:bodyPr/>
                    <a:lstStyle/>
                    <a:p>
                      <a:pPr>
                        <a:buNone/>
                      </a:pPr>
                      <a:r>
                        <a:rPr lang="en-US" altLang="zh-CN"/>
                        <a:t>84</a:t>
                      </a:r>
                      <a:endParaRPr lang="en-US" altLang="zh-CN"/>
                    </a:p>
                  </a:txBody>
                  <a:tcPr marL="0" marR="0"/>
                </a:tc>
                <a:tc>
                  <a:txBody>
                    <a:bodyPr/>
                    <a:lstStyle/>
                    <a:p>
                      <a:pPr>
                        <a:buNone/>
                      </a:pPr>
                      <a:r>
                        <a:rPr lang="en-US" altLang="zh-CN"/>
                        <a:t>7146</a:t>
                      </a:r>
                      <a:endParaRPr lang="en-US" altLang="zh-CN"/>
                    </a:p>
                  </a:txBody>
                  <a:tcPr marL="0" marR="0"/>
                </a:tc>
                <a:tc>
                  <a:txBody>
                    <a:bodyPr/>
                    <a:lstStyle/>
                    <a:p>
                      <a:pPr>
                        <a:buNone/>
                      </a:pPr>
                      <a:r>
                        <a:rPr lang="zh-CN"/>
                        <a:t>王红军</a:t>
                      </a:r>
                      <a:endParaRPr lang="zh-CN"/>
                    </a:p>
                  </a:txBody>
                  <a:tcPr marL="0" marR="0"/>
                </a:tc>
                <a:tc>
                  <a:txBody>
                    <a:bodyPr/>
                    <a:lstStyle/>
                    <a:p>
                      <a:pPr>
                        <a:buNone/>
                      </a:pPr>
                      <a:r>
                        <a:rPr lang="en-US" altLang="zh-CN"/>
                        <a:t>138******60</a:t>
                      </a:r>
                      <a:endParaRPr lang="en-US" altLang="zh-CN"/>
                    </a:p>
                  </a:txBody>
                  <a:tcPr marL="0" marR="0"/>
                </a:tc>
              </a:tr>
            </a:tbl>
          </a:graphicData>
        </a:graphic>
      </p:graphicFrame>
      <p:sp>
        <p:nvSpPr>
          <p:cNvPr id="9" name="文本框 8"/>
          <p:cNvSpPr txBox="1"/>
          <p:nvPr/>
        </p:nvSpPr>
        <p:spPr>
          <a:xfrm>
            <a:off x="738188" y="2740025"/>
            <a:ext cx="8301037" cy="457200"/>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spcBef>
                <a:spcPct val="0"/>
              </a:spcBef>
              <a:buClrTx/>
              <a:buSzTx/>
              <a:buFont typeface="Wingdings" panose="05000000000000000000" pitchFamily="2" charset="2"/>
              <a:buChar char="n"/>
            </a:pPr>
            <a:r>
              <a:rPr lang="zh-CN" altLang="en-US" sz="2400" u="sng" dirty="0">
                <a:solidFill>
                  <a:srgbClr val="CC0000"/>
                </a:solidFill>
              </a:rPr>
              <a:t>数据冗余</a:t>
            </a:r>
            <a:r>
              <a:rPr lang="zh-CN" altLang="en-US" sz="2400" u="sng" dirty="0"/>
              <a:t>：</a:t>
            </a:r>
            <a:r>
              <a:rPr lang="zh-CN" altLang="en-US" sz="2200" dirty="0">
                <a:latin typeface="楷体_GB2312"/>
                <a:ea typeface="楷体_GB2312"/>
              </a:rPr>
              <a:t>一门课程多个学生选修，教师名和课程名重复多次。</a:t>
            </a:r>
            <a:endParaRPr lang="zh-CN" altLang="en-US" sz="2200" dirty="0">
              <a:latin typeface="楷体_GB2312"/>
              <a:ea typeface="楷体_GB2312"/>
            </a:endParaRPr>
          </a:p>
        </p:txBody>
      </p:sp>
      <p:sp>
        <p:nvSpPr>
          <p:cNvPr id="10" name="文本框 9"/>
          <p:cNvSpPr txBox="1"/>
          <p:nvPr/>
        </p:nvSpPr>
        <p:spPr>
          <a:xfrm>
            <a:off x="738188" y="3319463"/>
            <a:ext cx="8199437" cy="792162"/>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spcBef>
                <a:spcPct val="0"/>
              </a:spcBef>
              <a:buClrTx/>
              <a:buSzTx/>
              <a:buFont typeface="Wingdings" panose="05000000000000000000" pitchFamily="2" charset="2"/>
              <a:buChar char="n"/>
            </a:pPr>
            <a:r>
              <a:rPr lang="zh-CN" altLang="en-US" sz="2400" u="sng" dirty="0">
                <a:solidFill>
                  <a:srgbClr val="CC0000"/>
                </a:solidFill>
              </a:rPr>
              <a:t>插入异常</a:t>
            </a:r>
            <a:r>
              <a:rPr lang="zh-CN" altLang="en-US" sz="2400" u="sng" dirty="0"/>
              <a:t>：</a:t>
            </a:r>
            <a:r>
              <a:rPr lang="zh-CN" altLang="en-US" sz="2200" dirty="0">
                <a:latin typeface="楷体_GB2312"/>
                <a:ea typeface="楷体_GB2312"/>
              </a:rPr>
              <a:t>如果想记录一门新开的课程（</a:t>
            </a:r>
            <a:r>
              <a:rPr lang="en-US" altLang="zh-CN" sz="2200" dirty="0">
                <a:latin typeface="楷体_GB2312"/>
                <a:ea typeface="楷体_GB2312"/>
              </a:rPr>
              <a:t>Sid, C9</a:t>
            </a:r>
            <a:r>
              <a:rPr lang="zh-CN" altLang="en-US" sz="2200" dirty="0">
                <a:latin typeface="楷体_GB2312"/>
                <a:ea typeface="楷体_GB2312"/>
              </a:rPr>
              <a:t>，</a:t>
            </a:r>
            <a:r>
              <a:rPr lang="en-US" altLang="zh-CN" sz="2200" dirty="0">
                <a:latin typeface="楷体_GB2312"/>
                <a:ea typeface="楷体_GB2312"/>
              </a:rPr>
              <a:t>Web Warehousing, He),</a:t>
            </a:r>
            <a:r>
              <a:rPr lang="zh-CN" altLang="en-US" sz="2200" dirty="0">
                <a:latin typeface="楷体_GB2312"/>
                <a:ea typeface="楷体_GB2312"/>
              </a:rPr>
              <a:t>当还无人选课时，</a:t>
            </a:r>
            <a:r>
              <a:rPr lang="en-US" altLang="zh-CN" sz="2200" dirty="0">
                <a:latin typeface="楷体_GB2312"/>
                <a:ea typeface="楷体_GB2312"/>
              </a:rPr>
              <a:t>Sid</a:t>
            </a:r>
            <a:r>
              <a:rPr lang="zh-CN" altLang="en-US" sz="2200" dirty="0">
                <a:latin typeface="楷体_GB2312"/>
                <a:ea typeface="楷体_GB2312"/>
              </a:rPr>
              <a:t>出现空值。</a:t>
            </a:r>
            <a:endParaRPr lang="zh-CN" altLang="en-US" sz="2200" dirty="0">
              <a:latin typeface="楷体_GB2312"/>
              <a:ea typeface="楷体_GB2312"/>
            </a:endParaRPr>
          </a:p>
        </p:txBody>
      </p:sp>
      <p:sp>
        <p:nvSpPr>
          <p:cNvPr id="11" name="文本框 10"/>
          <p:cNvSpPr txBox="1"/>
          <p:nvPr/>
        </p:nvSpPr>
        <p:spPr>
          <a:xfrm>
            <a:off x="738188" y="4268788"/>
            <a:ext cx="8226425" cy="792162"/>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spcBef>
                <a:spcPct val="0"/>
              </a:spcBef>
              <a:buClrTx/>
              <a:buSzTx/>
              <a:buFont typeface="Wingdings" panose="05000000000000000000" pitchFamily="2" charset="2"/>
              <a:buChar char="n"/>
            </a:pPr>
            <a:r>
              <a:rPr lang="zh-CN" altLang="en-US" sz="2400" u="sng" dirty="0">
                <a:solidFill>
                  <a:srgbClr val="CC0000"/>
                </a:solidFill>
              </a:rPr>
              <a:t>删除异常</a:t>
            </a:r>
            <a:r>
              <a:rPr lang="zh-CN" altLang="en-US" sz="2400" u="sng" dirty="0"/>
              <a:t>：</a:t>
            </a:r>
            <a:r>
              <a:rPr lang="zh-CN" altLang="en-US" sz="2200" dirty="0">
                <a:latin typeface="楷体_GB2312"/>
                <a:ea typeface="楷体_GB2312"/>
              </a:rPr>
              <a:t>如果想要删除某个学生选课记录，相应地要删除该课程的教师姓名等数据。</a:t>
            </a:r>
            <a:endParaRPr lang="zh-CN" altLang="en-US" sz="1800" dirty="0"/>
          </a:p>
        </p:txBody>
      </p:sp>
      <p:sp>
        <p:nvSpPr>
          <p:cNvPr id="12" name="文本框 11"/>
          <p:cNvSpPr txBox="1"/>
          <p:nvPr/>
        </p:nvSpPr>
        <p:spPr>
          <a:xfrm>
            <a:off x="738188" y="5218113"/>
            <a:ext cx="8202612" cy="798512"/>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spcBef>
                <a:spcPct val="0"/>
              </a:spcBef>
              <a:buClrTx/>
              <a:buSzTx/>
              <a:buFont typeface="Wingdings" panose="05000000000000000000" pitchFamily="2" charset="2"/>
              <a:buChar char="n"/>
            </a:pPr>
            <a:r>
              <a:rPr lang="zh-CN" altLang="en-US" sz="2400" u="sng" dirty="0">
                <a:solidFill>
                  <a:srgbClr val="CC0000"/>
                </a:solidFill>
              </a:rPr>
              <a:t>更新异常</a:t>
            </a:r>
            <a:r>
              <a:rPr lang="zh-CN" altLang="en-US" sz="2400" u="sng" dirty="0"/>
              <a:t>：</a:t>
            </a:r>
            <a:r>
              <a:rPr lang="zh-CN" altLang="en-US" sz="2200" dirty="0">
                <a:latin typeface="楷体_GB2312"/>
                <a:ea typeface="楷体_GB2312"/>
              </a:rPr>
              <a:t>如果想修改某门课程的任课教师电话，必须修改所有选修了该课的所有元组。</a:t>
            </a: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ppt_x</p:attrName>
                                        </p:attrNameLst>
                                      </p:cBhvr>
                                      <p:tavLst>
                                        <p:tav tm="0">
                                          <p:val>
                                            <p:strVal val="#ppt_x"/>
                                          </p:val>
                                        </p:tav>
                                        <p:tav tm="100000">
                                          <p:val>
                                            <p:strVal val="#ppt_x"/>
                                          </p:val>
                                        </p:tav>
                                      </p:tavLst>
                                    </p:anim>
                                    <p:anim calcmode="lin" valueType="num">
                                      <p:cBhvr>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500" fill="hold"/>
                                        <p:tgtEl>
                                          <p:spTgt spid="10"/>
                                        </p:tgtEl>
                                        <p:attrNameLst>
                                          <p:attrName>ppt_x</p:attrName>
                                        </p:attrNameLst>
                                      </p:cBhvr>
                                      <p:tavLst>
                                        <p:tav tm="0">
                                          <p:val>
                                            <p:strVal val="#ppt_x"/>
                                          </p:val>
                                        </p:tav>
                                        <p:tav tm="100000">
                                          <p:val>
                                            <p:strVal val="#ppt_x"/>
                                          </p:val>
                                        </p:tav>
                                      </p:tavLst>
                                    </p:anim>
                                    <p:anim calcmode="lin" valueType="num">
                                      <p:cBhvr>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ppt_x</p:attrName>
                                        </p:attrNameLst>
                                      </p:cBhvr>
                                      <p:tavLst>
                                        <p:tav tm="0">
                                          <p:val>
                                            <p:strVal val="#ppt_x"/>
                                          </p:val>
                                        </p:tav>
                                        <p:tav tm="100000">
                                          <p:val>
                                            <p:strVal val="#ppt_x"/>
                                          </p:val>
                                        </p:tav>
                                      </p:tavLst>
                                    </p:anim>
                                    <p:anim calcmode="lin" valueType="num">
                                      <p:cBhvr>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ppt_x</p:attrName>
                                        </p:attrNameLst>
                                      </p:cBhvr>
                                      <p:tavLst>
                                        <p:tav tm="0">
                                          <p:val>
                                            <p:strVal val="#ppt_x"/>
                                          </p:val>
                                        </p:tav>
                                        <p:tav tm="100000">
                                          <p:val>
                                            <p:strVal val="#ppt_x"/>
                                          </p:val>
                                        </p:tav>
                                      </p:tavLst>
                                    </p:anim>
                                    <p:anim calcmode="lin" valueType="num">
                                      <p:cBhvr>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11" grpId="0" bldLvl="0" animBg="1"/>
      <p:bldP spid="12"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200" dirty="0">
                <a:solidFill>
                  <a:srgbClr val="0033CC"/>
                </a:solidFill>
                <a:ea typeface="黑体" panose="02010609060101010101" pitchFamily="49" charset="-122"/>
              </a:rPr>
              <a:t>一、关系规范化的需求及背景</a:t>
            </a:r>
            <a:endParaRPr lang="zh-CN" altLang="en-US" sz="3200" dirty="0">
              <a:solidFill>
                <a:srgbClr val="0033CC"/>
              </a:solidFill>
              <a:ea typeface="黑体" panose="02010609060101010101" pitchFamily="49" charset="-122"/>
            </a:endParaRPr>
          </a:p>
        </p:txBody>
      </p:sp>
      <p:sp>
        <p:nvSpPr>
          <p:cNvPr id="7171" name="Rectangle 7"/>
          <p:cNvSpPr/>
          <p:nvPr/>
        </p:nvSpPr>
        <p:spPr>
          <a:xfrm>
            <a:off x="501650" y="781050"/>
            <a:ext cx="62611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buClr>
                <a:schemeClr val="folHlink"/>
              </a:buClr>
              <a:buSzPct val="75000"/>
              <a:buNone/>
            </a:pPr>
            <a:r>
              <a:rPr lang="en-US" altLang="zh-CN" sz="2800" dirty="0">
                <a:solidFill>
                  <a:srgbClr val="FF0000"/>
                </a:solidFill>
                <a:latin typeface="黑体" panose="02010609060101010101" pitchFamily="49" charset="-122"/>
                <a:ea typeface="黑体" panose="02010609060101010101" pitchFamily="49" charset="-122"/>
              </a:rPr>
              <a:t>2</a:t>
            </a:r>
            <a:r>
              <a:rPr lang="zh-CN" altLang="en-US" sz="2800" dirty="0">
                <a:solidFill>
                  <a:srgbClr val="FF0000"/>
                </a:solidFill>
                <a:latin typeface="黑体" panose="02010609060101010101" pitchFamily="49" charset="-122"/>
                <a:ea typeface="黑体" panose="02010609060101010101" pitchFamily="49" charset="-122"/>
              </a:rPr>
              <a:t>、问题的根源</a:t>
            </a:r>
            <a:endParaRPr lang="en-US" altLang="zh-CN" sz="2800" dirty="0">
              <a:solidFill>
                <a:srgbClr val="FF0000"/>
              </a:solidFill>
              <a:latin typeface="黑体" panose="02010609060101010101" pitchFamily="49" charset="-122"/>
              <a:ea typeface="黑体" panose="02010609060101010101" pitchFamily="49" charset="-122"/>
            </a:endParaRPr>
          </a:p>
        </p:txBody>
      </p:sp>
      <p:sp>
        <p:nvSpPr>
          <p:cNvPr id="8196" name="Rectangle 3" descr="Rectangle: Click to edit Master text styles&#10;Second level&#10;Third level&#10;Fourth level&#10;Fifth level"/>
          <p:cNvSpPr txBox="1"/>
          <p:nvPr/>
        </p:nvSpPr>
        <p:spPr>
          <a:xfrm>
            <a:off x="519113" y="3032125"/>
            <a:ext cx="8113712" cy="23241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a:lnSpc>
                <a:spcPct val="114000"/>
              </a:lnSpc>
              <a:spcBef>
                <a:spcPts val="600"/>
              </a:spcBef>
            </a:pPr>
            <a:r>
              <a:rPr lang="zh-CN" altLang="en-US" sz="2400" dirty="0"/>
              <a:t>数据的语义不但在完整性方面有体现，在关系模式的设计方面也有体现。具体表现：</a:t>
            </a:r>
            <a:r>
              <a:rPr lang="zh-CN" altLang="en-US" sz="2400" u="sng" dirty="0">
                <a:solidFill>
                  <a:srgbClr val="3333FF"/>
                </a:solidFill>
              </a:rPr>
              <a:t>在关系模式中的属性间存在一定的依赖关系，此即数据依赖。</a:t>
            </a:r>
            <a:endParaRPr lang="zh-CN" altLang="en-US" sz="2400" u="sng" dirty="0">
              <a:solidFill>
                <a:srgbClr val="3333FF"/>
              </a:solidFill>
            </a:endParaRPr>
          </a:p>
          <a:p>
            <a:pPr marL="342900" lvl="0" indent="-342900">
              <a:lnSpc>
                <a:spcPct val="114000"/>
              </a:lnSpc>
              <a:spcBef>
                <a:spcPts val="600"/>
              </a:spcBef>
            </a:pPr>
            <a:r>
              <a:rPr lang="zh-CN" altLang="en-US" sz="2400" u="sng" dirty="0">
                <a:solidFill>
                  <a:srgbClr val="FF0000"/>
                </a:solidFill>
              </a:rPr>
              <a:t>如</a:t>
            </a:r>
            <a:r>
              <a:rPr lang="en-US" altLang="zh-CN" sz="2400" u="sng" dirty="0">
                <a:solidFill>
                  <a:srgbClr val="FF0000"/>
                </a:solidFill>
              </a:rPr>
              <a:t>: </a:t>
            </a:r>
            <a:r>
              <a:rPr lang="zh-CN" altLang="en-US" sz="2400" dirty="0"/>
              <a:t>每个学生只有一个姓名，每个学生学一门课程只有一个总评成绩，这就表现了数据依赖。 </a:t>
            </a:r>
            <a:endParaRPr lang="zh-CN" altLang="en-US" sz="2400" dirty="0"/>
          </a:p>
        </p:txBody>
      </p:sp>
      <p:sp>
        <p:nvSpPr>
          <p:cNvPr id="8197" name="文本框 8196"/>
          <p:cNvSpPr txBox="1"/>
          <p:nvPr/>
        </p:nvSpPr>
        <p:spPr>
          <a:xfrm>
            <a:off x="574675" y="2111375"/>
            <a:ext cx="8112125" cy="82994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spcBef>
                <a:spcPct val="0"/>
              </a:spcBef>
              <a:buClrTx/>
              <a:buSzPct val="100000"/>
              <a:buFont typeface="Wingdings" panose="05000000000000000000" pitchFamily="2" charset="2"/>
              <a:buChar char="n"/>
            </a:pPr>
            <a:r>
              <a:rPr lang="zh-CN" altLang="en-US" sz="2400" u="sng" dirty="0">
                <a:solidFill>
                  <a:srgbClr val="FF0000"/>
                </a:solidFill>
              </a:rPr>
              <a:t>数据依赖决定因素：</a:t>
            </a:r>
            <a:r>
              <a:rPr lang="zh-CN" altLang="en-US" sz="2400" dirty="0"/>
              <a:t>由现实系统中属性间相互联系的语义决定。</a:t>
            </a:r>
            <a:endParaRPr lang="zh-CN" altLang="en-US" sz="2400" dirty="0"/>
          </a:p>
        </p:txBody>
      </p:sp>
      <p:sp>
        <p:nvSpPr>
          <p:cNvPr id="7174" name="Rectangle 3" descr="Rectangle: Click to edit Master text styles&#10;Second level&#10;Third level&#10;Fourth level&#10;Fifth level"/>
          <p:cNvSpPr txBox="1"/>
          <p:nvPr/>
        </p:nvSpPr>
        <p:spPr>
          <a:xfrm>
            <a:off x="593725" y="1439863"/>
            <a:ext cx="8181975" cy="6953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5000"/>
              </a:lnSpc>
              <a:spcBef>
                <a:spcPct val="50000"/>
              </a:spcBef>
              <a:buClrTx/>
              <a:buSzTx/>
            </a:pPr>
            <a:r>
              <a:rPr lang="zh-CN" altLang="en-US" sz="2400" u="sng" dirty="0">
                <a:solidFill>
                  <a:srgbClr val="FF0000"/>
                </a:solidFill>
              </a:rPr>
              <a:t>异常现象产生的根源：</a:t>
            </a:r>
            <a:r>
              <a:rPr lang="zh-CN" altLang="en-US" sz="2400" dirty="0">
                <a:solidFill>
                  <a:srgbClr val="006600"/>
                </a:solidFill>
              </a:rPr>
              <a:t>关系模式中属性间存在依赖关系。</a:t>
            </a: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7"/>
                                        </p:tgtEl>
                                        <p:attrNameLst>
                                          <p:attrName>style.visibility</p:attrName>
                                        </p:attrNameLst>
                                      </p:cBhvr>
                                      <p:to>
                                        <p:strVal val="visible"/>
                                      </p:to>
                                    </p:set>
                                    <p:anim calcmode="lin" valueType="num">
                                      <p:cBhvr additive="base">
                                        <p:cTn id="7" dur="500" fill="hold"/>
                                        <p:tgtEl>
                                          <p:spTgt spid="8197"/>
                                        </p:tgtEl>
                                        <p:attrNameLst>
                                          <p:attrName>ppt_x</p:attrName>
                                        </p:attrNameLst>
                                      </p:cBhvr>
                                      <p:tavLst>
                                        <p:tav tm="0">
                                          <p:val>
                                            <p:strVal val="#ppt_x"/>
                                          </p:val>
                                        </p:tav>
                                        <p:tav tm="100000">
                                          <p:val>
                                            <p:strVal val="#ppt_x"/>
                                          </p:val>
                                        </p:tav>
                                      </p:tavLst>
                                    </p:anim>
                                    <p:anim calcmode="lin" valueType="num">
                                      <p:cBhvr additive="base">
                                        <p:cTn id="8" dur="500" fill="hold"/>
                                        <p:tgtEl>
                                          <p:spTgt spid="819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6"/>
                                        </p:tgtEl>
                                        <p:attrNameLst>
                                          <p:attrName>style.visibility</p:attrName>
                                        </p:attrNameLst>
                                      </p:cBhvr>
                                      <p:to>
                                        <p:strVal val="visible"/>
                                      </p:to>
                                    </p:set>
                                    <p:anim calcmode="lin" valueType="num">
                                      <p:cBhvr additive="base">
                                        <p:cTn id="13" dur="500" fill="hold"/>
                                        <p:tgtEl>
                                          <p:spTgt spid="8196"/>
                                        </p:tgtEl>
                                        <p:attrNameLst>
                                          <p:attrName>ppt_x</p:attrName>
                                        </p:attrNameLst>
                                      </p:cBhvr>
                                      <p:tavLst>
                                        <p:tav tm="0">
                                          <p:val>
                                            <p:strVal val="#ppt_x"/>
                                          </p:val>
                                        </p:tav>
                                        <p:tav tm="100000">
                                          <p:val>
                                            <p:strVal val="#ppt_x"/>
                                          </p:val>
                                        </p:tav>
                                      </p:tavLst>
                                    </p:anim>
                                    <p:anim calcmode="lin" valueType="num">
                                      <p:cBhvr additive="base">
                                        <p:cTn id="14" dur="500" fill="hold"/>
                                        <p:tgtEl>
                                          <p:spTgt spid="81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bldLvl="0"/>
      <p:bldP spid="819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200" dirty="0">
                <a:solidFill>
                  <a:srgbClr val="0033CC"/>
                </a:solidFill>
                <a:ea typeface="黑体" panose="02010609060101010101" pitchFamily="49" charset="-122"/>
              </a:rPr>
              <a:t>一、关系规范化的需求及背景</a:t>
            </a:r>
            <a:endParaRPr lang="zh-CN" altLang="en-US" sz="3200" dirty="0">
              <a:solidFill>
                <a:srgbClr val="0033CC"/>
              </a:solidFill>
              <a:ea typeface="黑体" panose="02010609060101010101" pitchFamily="49" charset="-122"/>
            </a:endParaRPr>
          </a:p>
        </p:txBody>
      </p:sp>
      <p:sp>
        <p:nvSpPr>
          <p:cNvPr id="8195" name="Rectangle 7"/>
          <p:cNvSpPr/>
          <p:nvPr/>
        </p:nvSpPr>
        <p:spPr>
          <a:xfrm>
            <a:off x="501650" y="781050"/>
            <a:ext cx="62611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buClr>
                <a:schemeClr val="folHlink"/>
              </a:buClr>
              <a:buSzPct val="75000"/>
              <a:buNone/>
            </a:pPr>
            <a:r>
              <a:rPr lang="en-US" altLang="zh-CN" sz="2800" dirty="0">
                <a:solidFill>
                  <a:srgbClr val="FF0000"/>
                </a:solidFill>
                <a:latin typeface="黑体" panose="02010609060101010101" pitchFamily="49" charset="-122"/>
                <a:ea typeface="黑体" panose="02010609060101010101" pitchFamily="49" charset="-122"/>
              </a:rPr>
              <a:t>2</a:t>
            </a:r>
            <a:r>
              <a:rPr lang="zh-CN" altLang="en-US" sz="2800" dirty="0">
                <a:solidFill>
                  <a:srgbClr val="FF0000"/>
                </a:solidFill>
                <a:latin typeface="黑体" panose="02010609060101010101" pitchFamily="49" charset="-122"/>
                <a:ea typeface="黑体" panose="02010609060101010101" pitchFamily="49" charset="-122"/>
              </a:rPr>
              <a:t>、问题的根源</a:t>
            </a:r>
            <a:endParaRPr lang="en-US" altLang="zh-CN" sz="2800" dirty="0">
              <a:solidFill>
                <a:srgbClr val="FF0000"/>
              </a:solidFill>
              <a:latin typeface="黑体" panose="02010609060101010101" pitchFamily="49" charset="-122"/>
              <a:ea typeface="黑体" panose="02010609060101010101" pitchFamily="49" charset="-122"/>
            </a:endParaRPr>
          </a:p>
        </p:txBody>
      </p:sp>
      <p:sp>
        <p:nvSpPr>
          <p:cNvPr id="9220" name="Rectangle 3" descr="Rectangle: Click to edit Master text styles&#10;Second level&#10;Third level&#10;Fourth level&#10;Fifth level"/>
          <p:cNvSpPr txBox="1"/>
          <p:nvPr/>
        </p:nvSpPr>
        <p:spPr>
          <a:xfrm>
            <a:off x="587375" y="3324225"/>
            <a:ext cx="8113713" cy="601663"/>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a:lnSpc>
                <a:spcPct val="114000"/>
              </a:lnSpc>
              <a:spcBef>
                <a:spcPts val="600"/>
              </a:spcBef>
            </a:pPr>
            <a:r>
              <a:rPr lang="zh-CN" altLang="en-US" sz="2400" u="sng" dirty="0">
                <a:solidFill>
                  <a:srgbClr val="FF0000"/>
                </a:solidFill>
              </a:rPr>
              <a:t>数据依赖分类</a:t>
            </a:r>
            <a:r>
              <a:rPr lang="zh-CN" altLang="en-US" sz="2400" dirty="0"/>
              <a:t>：</a:t>
            </a:r>
            <a:r>
              <a:rPr lang="zh-CN" altLang="en-US" sz="2400" u="sng" dirty="0">
                <a:solidFill>
                  <a:srgbClr val="0033CC"/>
                </a:solidFill>
              </a:rPr>
              <a:t>函数依赖</a:t>
            </a:r>
            <a:r>
              <a:rPr lang="zh-CN" altLang="en-US" sz="2400" dirty="0"/>
              <a:t>、</a:t>
            </a:r>
            <a:r>
              <a:rPr lang="zh-CN" altLang="en-US" sz="2400" u="sng" dirty="0">
                <a:solidFill>
                  <a:srgbClr val="0033CC"/>
                </a:solidFill>
              </a:rPr>
              <a:t>多值依赖</a:t>
            </a:r>
            <a:r>
              <a:rPr lang="zh-CN" altLang="en-US" sz="2400" dirty="0"/>
              <a:t>和</a:t>
            </a:r>
            <a:r>
              <a:rPr lang="zh-CN" altLang="en-US" sz="2400" u="sng" dirty="0">
                <a:solidFill>
                  <a:srgbClr val="0033CC"/>
                </a:solidFill>
              </a:rPr>
              <a:t>连接依赖</a:t>
            </a:r>
            <a:r>
              <a:rPr lang="zh-CN" altLang="en-US" sz="2400" dirty="0"/>
              <a:t>。</a:t>
            </a:r>
            <a:endParaRPr lang="zh-CN" altLang="en-US" sz="2400" dirty="0"/>
          </a:p>
          <a:p>
            <a:pPr marL="342900" lvl="0" indent="-342900">
              <a:lnSpc>
                <a:spcPct val="114000"/>
              </a:lnSpc>
              <a:spcBef>
                <a:spcPts val="600"/>
              </a:spcBef>
              <a:buClrTx/>
              <a:buSzTx/>
            </a:pPr>
            <a:endParaRPr lang="zh-CN" altLang="en-US" sz="2400" dirty="0"/>
          </a:p>
        </p:txBody>
      </p:sp>
      <p:sp>
        <p:nvSpPr>
          <p:cNvPr id="8197" name="Rectangle 3" descr="Rectangle: Click to edit Master text styles&#10;Second level&#10;Third level&#10;Fourth level&#10;Fifth level"/>
          <p:cNvSpPr txBox="1"/>
          <p:nvPr/>
        </p:nvSpPr>
        <p:spPr>
          <a:xfrm>
            <a:off x="631825" y="1409700"/>
            <a:ext cx="8181975" cy="19653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0000"/>
              </a:lnSpc>
              <a:spcBef>
                <a:spcPct val="0"/>
              </a:spcBef>
              <a:buClrTx/>
              <a:buSzTx/>
            </a:pPr>
            <a:r>
              <a:rPr lang="zh-CN" altLang="en-US" sz="2400" u="sng" dirty="0">
                <a:solidFill>
                  <a:srgbClr val="FF0000"/>
                </a:solidFill>
              </a:rPr>
              <a:t>根源的体现及解决：</a:t>
            </a:r>
            <a:r>
              <a:rPr lang="zh-CN" altLang="en-US" sz="2400" dirty="0"/>
              <a:t>关系的结构。一般，一个关系至少有一</a:t>
            </a:r>
            <a:r>
              <a:rPr lang="en-US" altLang="zh-CN" sz="2400" dirty="0"/>
              <a:t>/</a:t>
            </a:r>
            <a:r>
              <a:rPr lang="zh-CN" altLang="en-US" sz="2400" dirty="0"/>
              <a:t>多个候选键，其中之一为主键。主键值唯一决定其他属性值，候选键的值不能重复。如果将各种数据集中于一个模式中，一般都会违背以上限制，从而造成异常。</a:t>
            </a:r>
            <a:endParaRPr lang="zh-CN" altLang="en-US" sz="2400" dirty="0"/>
          </a:p>
        </p:txBody>
      </p:sp>
      <p:sp>
        <p:nvSpPr>
          <p:cNvPr id="9222" name="文本框 9221"/>
          <p:cNvSpPr txBox="1"/>
          <p:nvPr/>
        </p:nvSpPr>
        <p:spPr>
          <a:xfrm>
            <a:off x="595313" y="3921125"/>
            <a:ext cx="8102600" cy="1335088"/>
          </a:xfrm>
          <a:prstGeom prst="rect">
            <a:avLst/>
          </a:prstGeom>
          <a:noFill/>
          <a:ln w="9525">
            <a:noFill/>
            <a:miter/>
          </a:ln>
        </p:spPr>
        <p:txBody>
          <a:bodyPr>
            <a:spAutoFit/>
          </a:bodyPr>
          <a:lstStyle/>
          <a:p>
            <a:pPr marL="1905" marR="0" indent="340995" defTabSz="914400" eaLnBrk="1" hangingPunct="1">
              <a:lnSpc>
                <a:spcPct val="120000"/>
              </a:lnSpc>
              <a:buClrTx/>
              <a:buSzTx/>
              <a:buFont typeface="Wingdings" panose="05000000000000000000" pitchFamily="2" charset="2"/>
              <a:buChar char="n"/>
              <a:defRPr/>
            </a:pPr>
            <a:r>
              <a:rPr kumimoji="0" lang="zh-CN" altLang="en-US" sz="2400" u="sng" kern="1200" cap="none" spc="0" normalizeH="0" baseline="0" noProof="1">
                <a:solidFill>
                  <a:srgbClr val="FF0000"/>
                </a:solidFill>
                <a:latin typeface="Arial" panose="020B0604020202020204" pitchFamily="34" charset="0"/>
                <a:ea typeface="宋体" panose="02010600030101010101" pitchFamily="2" charset="-122"/>
                <a:cs typeface="+mn-ea"/>
              </a:rPr>
              <a:t>解决异常的方法：</a:t>
            </a:r>
            <a:r>
              <a:rPr kumimoji="0" lang="zh-CN" altLang="en-US" sz="2400" kern="1200" cap="none" spc="0" normalizeH="0" baseline="0" noProof="1">
                <a:latin typeface="Arial" panose="020B0604020202020204" pitchFamily="34" charset="0"/>
                <a:ea typeface="宋体" panose="02010600030101010101" pitchFamily="2" charset="-122"/>
                <a:cs typeface="+mn-ea"/>
              </a:rPr>
              <a:t>是利用规范化理论，对关系模式进行相应的</a:t>
            </a:r>
            <a:r>
              <a:rPr kumimoji="0" lang="zh-CN" altLang="en-US" sz="2400" kern="1200" cap="none" spc="0" normalizeH="0" baseline="0" noProof="1">
                <a:solidFill>
                  <a:srgbClr val="006600"/>
                </a:solidFill>
                <a:latin typeface="Arial" panose="020B0604020202020204" pitchFamily="34" charset="0"/>
                <a:ea typeface="宋体" panose="02010600030101010101" pitchFamily="2" charset="-122"/>
                <a:cs typeface="+mn-ea"/>
              </a:rPr>
              <a:t>分解</a:t>
            </a:r>
            <a:r>
              <a:rPr kumimoji="0" lang="zh-CN" altLang="en-US" sz="2400" kern="1200" cap="none" spc="0" normalizeH="0" baseline="0" noProof="1">
                <a:latin typeface="Arial" panose="020B0604020202020204" pitchFamily="34" charset="0"/>
                <a:ea typeface="宋体" panose="02010600030101010101" pitchFamily="2" charset="-122"/>
                <a:cs typeface="+mn-ea"/>
              </a:rPr>
              <a:t>，以消除这些异常。</a:t>
            </a:r>
            <a:endParaRPr kumimoji="0" lang="zh-CN" altLang="en-US" sz="2400" kern="1200" cap="none" spc="0" normalizeH="0" baseline="0" noProof="1">
              <a:latin typeface="Arial" panose="020B0604020202020204" pitchFamily="34" charset="0"/>
              <a:ea typeface="宋体" panose="02010600030101010101" pitchFamily="2" charset="-122"/>
              <a:cs typeface="+mn-cs"/>
            </a:endParaRPr>
          </a:p>
          <a:p>
            <a:pPr marL="1905" marR="0" indent="-1905" defTabSz="914400" eaLnBrk="1" hangingPunct="1">
              <a:buClrTx/>
              <a:buSzTx/>
              <a:buFont typeface="Arial" panose="020B0604020202020204" pitchFamily="34" charset="0"/>
              <a:buChar char="•"/>
              <a:defRPr/>
            </a:pPr>
            <a:endParaRPr kumimoji="0" lang="zh-CN" altLang="en-US" sz="2400" kern="1200" cap="none" spc="0" normalizeH="0" baseline="0" noProof="1">
              <a:latin typeface="Arial" panose="020B0604020202020204" pitchFamily="34" charset="0"/>
              <a:ea typeface="宋体" panose="02010600030101010101" pitchFamily="2" charset="-122"/>
              <a:cs typeface="+mn-cs"/>
            </a:endParaRPr>
          </a:p>
        </p:txBody>
      </p:sp>
      <p:sp>
        <p:nvSpPr>
          <p:cNvPr id="3" name="文本框 1"/>
          <p:cNvSpPr txBox="1"/>
          <p:nvPr/>
        </p:nvSpPr>
        <p:spPr>
          <a:xfrm>
            <a:off x="631825" y="4976813"/>
            <a:ext cx="7766050" cy="968375"/>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spcBef>
                <a:spcPct val="0"/>
              </a:spcBef>
              <a:buClrTx/>
              <a:buSzTx/>
              <a:buFont typeface="Wingdings" panose="05000000000000000000" pitchFamily="2" charset="2"/>
              <a:buChar char="p"/>
            </a:pPr>
            <a:r>
              <a:rPr lang="zh-CN" altLang="en-US" sz="2400" u="sng" dirty="0">
                <a:solidFill>
                  <a:srgbClr val="0033CC"/>
                </a:solidFill>
                <a:sym typeface="Arial" panose="020B0604020202020204" pitchFamily="34" charset="0"/>
              </a:rPr>
              <a:t>如何衡量一个数据模式的合理性</a:t>
            </a:r>
            <a:r>
              <a:rPr lang="en-US" altLang="zh-CN" sz="2400" u="sng" dirty="0">
                <a:solidFill>
                  <a:srgbClr val="0033CC"/>
                </a:solidFill>
                <a:sym typeface="Arial" panose="020B0604020202020204" pitchFamily="34" charset="0"/>
              </a:rPr>
              <a:t>?</a:t>
            </a:r>
            <a:endParaRPr lang="en-US" altLang="zh-CN" sz="2400" u="sng" dirty="0">
              <a:solidFill>
                <a:srgbClr val="0033CC"/>
              </a:solidFill>
              <a:sym typeface="Arial" panose="020B0604020202020204" pitchFamily="34" charset="0"/>
            </a:endParaRPr>
          </a:p>
          <a:p>
            <a:pPr marL="342900" lvl="0" indent="-342900" eaLnBrk="1" hangingPunct="1">
              <a:lnSpc>
                <a:spcPct val="120000"/>
              </a:lnSpc>
              <a:spcBef>
                <a:spcPct val="0"/>
              </a:spcBef>
              <a:spcAft>
                <a:spcPts val="600"/>
              </a:spcAft>
              <a:buClrTx/>
              <a:buSzTx/>
              <a:buFont typeface="Wingdings" panose="05000000000000000000" pitchFamily="2" charset="2"/>
              <a:buChar char="p"/>
            </a:pPr>
            <a:r>
              <a:rPr lang="zh-CN" altLang="en-US" sz="2400" u="sng" dirty="0">
                <a:solidFill>
                  <a:srgbClr val="0033CC"/>
                </a:solidFill>
                <a:sym typeface="Arial" panose="020B0604020202020204" pitchFamily="34" charset="0"/>
              </a:rPr>
              <a:t>如果数据模式不合适如何改进</a:t>
            </a:r>
            <a:r>
              <a:rPr lang="en-US" altLang="zh-CN" sz="2400" u="sng" dirty="0">
                <a:solidFill>
                  <a:srgbClr val="0033CC"/>
                </a:solidFill>
                <a:sym typeface="Arial" panose="020B0604020202020204" pitchFamily="34" charset="0"/>
              </a:rPr>
              <a:t>?</a:t>
            </a:r>
            <a:endParaRPr lang="zh-CN" alt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20"/>
                                        </p:tgtEl>
                                        <p:attrNameLst>
                                          <p:attrName>style.visibility</p:attrName>
                                        </p:attrNameLst>
                                      </p:cBhvr>
                                      <p:to>
                                        <p:strVal val="visible"/>
                                      </p:to>
                                    </p:set>
                                    <p:anim calcmode="lin" valueType="num">
                                      <p:cBhvr additive="base">
                                        <p:cTn id="7" dur="500" fill="hold"/>
                                        <p:tgtEl>
                                          <p:spTgt spid="9220"/>
                                        </p:tgtEl>
                                        <p:attrNameLst>
                                          <p:attrName>ppt_x</p:attrName>
                                        </p:attrNameLst>
                                      </p:cBhvr>
                                      <p:tavLst>
                                        <p:tav tm="0">
                                          <p:val>
                                            <p:strVal val="#ppt_x"/>
                                          </p:val>
                                        </p:tav>
                                        <p:tav tm="100000">
                                          <p:val>
                                            <p:strVal val="#ppt_x"/>
                                          </p:val>
                                        </p:tav>
                                      </p:tavLst>
                                    </p:anim>
                                    <p:anim calcmode="lin" valueType="num">
                                      <p:cBhvr additive="base">
                                        <p:cTn id="8" dur="500" fill="hold"/>
                                        <p:tgtEl>
                                          <p:spTgt spid="92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222"/>
                                        </p:tgtEl>
                                        <p:attrNameLst>
                                          <p:attrName>style.visibility</p:attrName>
                                        </p:attrNameLst>
                                      </p:cBhvr>
                                      <p:to>
                                        <p:strVal val="visible"/>
                                      </p:to>
                                    </p:set>
                                    <p:anim calcmode="lin" valueType="num">
                                      <p:cBhvr additive="base">
                                        <p:cTn id="13" dur="500" fill="hold"/>
                                        <p:tgtEl>
                                          <p:spTgt spid="9222"/>
                                        </p:tgtEl>
                                        <p:attrNameLst>
                                          <p:attrName>ppt_x</p:attrName>
                                        </p:attrNameLst>
                                      </p:cBhvr>
                                      <p:tavLst>
                                        <p:tav tm="0">
                                          <p:val>
                                            <p:strVal val="#ppt_x"/>
                                          </p:val>
                                        </p:tav>
                                        <p:tav tm="100000">
                                          <p:val>
                                            <p:strVal val="#ppt_x"/>
                                          </p:val>
                                        </p:tav>
                                      </p:tavLst>
                                    </p:anim>
                                    <p:anim calcmode="lin" valueType="num">
                                      <p:cBhvr additive="base">
                                        <p:cTn id="14" dur="500" fill="hold"/>
                                        <p:tgtEl>
                                          <p:spTgt spid="922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bldLvl="0"/>
      <p:bldP spid="9222" grpId="0"/>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文本框 3"/>
          <p:cNvSpPr txBox="1"/>
          <p:nvPr/>
        </p:nvSpPr>
        <p:spPr>
          <a:xfrm>
            <a:off x="577850" y="1943100"/>
            <a:ext cx="8120063" cy="2014855"/>
          </a:xfrm>
          <a:prstGeom prst="rect">
            <a:avLst/>
          </a:prstGeom>
          <a:noFill/>
          <a:ln w="12700" cap="flat" cmpd="sng">
            <a:solidFill>
              <a:srgbClr val="89A4A7"/>
            </a:solidFill>
            <a:prstDash val="solid"/>
            <a:round/>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ts val="900"/>
              </a:spcBef>
              <a:buFont typeface="Arial" panose="020B0604020202020204" pitchFamily="34" charset="0"/>
              <a:buNone/>
            </a:pPr>
            <a:r>
              <a:rPr lang="en-US" altLang="en-US" u="sng" dirty="0">
                <a:solidFill>
                  <a:srgbClr val="0033CC"/>
                </a:solidFill>
                <a:sym typeface="宋体" panose="02010600030101010101" pitchFamily="2" charset="-122"/>
              </a:rPr>
              <a:t>对于函数</a:t>
            </a:r>
            <a:r>
              <a:rPr lang="en-US" altLang="zh-CN" u="sng" dirty="0">
                <a:solidFill>
                  <a:srgbClr val="0033CC"/>
                </a:solidFill>
                <a:sym typeface="宋体" panose="02010600030101010101" pitchFamily="2" charset="-122"/>
              </a:rPr>
              <a:t>Y=f(X</a:t>
            </a:r>
            <a:r>
              <a:rPr lang="en-US" altLang="en-US" u="sng" dirty="0">
                <a:solidFill>
                  <a:srgbClr val="0033CC"/>
                </a:solidFill>
                <a:sym typeface="宋体" panose="02010600030101010101" pitchFamily="2" charset="-122"/>
              </a:rPr>
              <a:t>)</a:t>
            </a:r>
            <a:r>
              <a:rPr lang="en-US" altLang="zh-CN" u="sng" dirty="0">
                <a:solidFill>
                  <a:srgbClr val="0033CC"/>
                </a:solidFill>
                <a:sym typeface="宋体" panose="02010600030101010101" pitchFamily="2" charset="-122"/>
              </a:rPr>
              <a:t>，可以说X</a:t>
            </a:r>
            <a:r>
              <a:rPr lang="en-US" altLang="en-US" u="sng" dirty="0">
                <a:solidFill>
                  <a:srgbClr val="0033CC"/>
                </a:solidFill>
                <a:sym typeface="宋体" panose="02010600030101010101" pitchFamily="2" charset="-122"/>
              </a:rPr>
              <a:t>函数决定</a:t>
            </a:r>
            <a:r>
              <a:rPr lang="en-US" altLang="zh-CN" u="sng" dirty="0">
                <a:solidFill>
                  <a:srgbClr val="0033CC"/>
                </a:solidFill>
                <a:sym typeface="宋体" panose="02010600030101010101" pitchFamily="2" charset="-122"/>
              </a:rPr>
              <a:t>Y</a:t>
            </a:r>
            <a:r>
              <a:rPr lang="en-US" altLang="en-US" u="sng" dirty="0">
                <a:solidFill>
                  <a:srgbClr val="0033CC"/>
                </a:solidFill>
                <a:sym typeface="宋体" panose="02010600030101010101" pitchFamily="2" charset="-122"/>
              </a:rPr>
              <a:t>，也可以说</a:t>
            </a:r>
            <a:r>
              <a:rPr lang="en-US" altLang="zh-CN" u="sng" dirty="0">
                <a:solidFill>
                  <a:srgbClr val="0033CC"/>
                </a:solidFill>
                <a:sym typeface="宋体" panose="02010600030101010101" pitchFamily="2" charset="-122"/>
              </a:rPr>
              <a:t>Y</a:t>
            </a:r>
            <a:r>
              <a:rPr lang="en-US" altLang="en-US" u="sng" dirty="0">
                <a:solidFill>
                  <a:srgbClr val="0033CC"/>
                </a:solidFill>
                <a:sym typeface="宋体" panose="02010600030101010101" pitchFamily="2" charset="-122"/>
              </a:rPr>
              <a:t>函数依赖于</a:t>
            </a:r>
            <a:r>
              <a:rPr lang="en-US" altLang="zh-CN" u="sng" dirty="0">
                <a:solidFill>
                  <a:srgbClr val="0033CC"/>
                </a:solidFill>
                <a:sym typeface="宋体" panose="02010600030101010101" pitchFamily="2" charset="-122"/>
              </a:rPr>
              <a:t>X</a:t>
            </a:r>
            <a:r>
              <a:rPr lang="en-US" altLang="en-US" u="sng" dirty="0">
                <a:solidFill>
                  <a:srgbClr val="0033CC"/>
                </a:solidFill>
                <a:sym typeface="宋体" panose="02010600030101010101" pitchFamily="2" charset="-122"/>
              </a:rPr>
              <a:t>。</a:t>
            </a:r>
            <a:r>
              <a:rPr lang="en-US" altLang="en-US" dirty="0">
                <a:sym typeface="宋体" panose="02010600030101010101" pitchFamily="2" charset="-122"/>
              </a:rPr>
              <a:t> 在关系数据库中讨论函数或函数依赖注重的是语义上的关系，如省＝</a:t>
            </a:r>
            <a:r>
              <a:rPr lang="en-US" altLang="zh-CN" dirty="0">
                <a:sym typeface="宋体" panose="02010600030101010101" pitchFamily="2" charset="-122"/>
              </a:rPr>
              <a:t>f</a:t>
            </a:r>
            <a:r>
              <a:rPr lang="en-US" altLang="en-US" dirty="0">
                <a:sym typeface="宋体" panose="02010600030101010101" pitchFamily="2" charset="-122"/>
              </a:rPr>
              <a:t>（</a:t>
            </a:r>
            <a:r>
              <a:rPr lang="en-US" altLang="zh-CN" dirty="0">
                <a:sym typeface="宋体" panose="02010600030101010101" pitchFamily="2" charset="-122"/>
              </a:rPr>
              <a:t>城市</a:t>
            </a:r>
            <a:r>
              <a:rPr lang="en-US" altLang="en-US" dirty="0">
                <a:sym typeface="宋体" panose="02010600030101010101" pitchFamily="2" charset="-122"/>
              </a:rPr>
              <a:t>）</a:t>
            </a:r>
            <a:r>
              <a:rPr lang="en-US" altLang="zh-CN" dirty="0">
                <a:sym typeface="宋体" panose="02010600030101010101" pitchFamily="2" charset="-122"/>
              </a:rPr>
              <a:t> ，只要给出一个具体的城市值，就会有唯一的省值与之对应，这里“城市”是自变量X</a:t>
            </a:r>
            <a:r>
              <a:rPr lang="en-US" altLang="en-US" dirty="0">
                <a:sym typeface="宋体" panose="02010600030101010101" pitchFamily="2" charset="-122"/>
              </a:rPr>
              <a:t>，“省”是因变量或函数值</a:t>
            </a:r>
            <a:r>
              <a:rPr lang="en-US" altLang="zh-CN" dirty="0">
                <a:sym typeface="宋体" panose="02010600030101010101" pitchFamily="2" charset="-122"/>
              </a:rPr>
              <a:t>Y</a:t>
            </a:r>
            <a:r>
              <a:rPr lang="en-US" altLang="en-US" dirty="0">
                <a:sym typeface="宋体" panose="02010600030101010101" pitchFamily="2" charset="-122"/>
              </a:rPr>
              <a:t>。并且把</a:t>
            </a:r>
            <a:r>
              <a:rPr lang="en-US" altLang="zh-CN" dirty="0">
                <a:sym typeface="宋体" panose="02010600030101010101" pitchFamily="2" charset="-122"/>
              </a:rPr>
              <a:t>X</a:t>
            </a:r>
            <a:r>
              <a:rPr lang="en-US" altLang="en-US" dirty="0">
                <a:sym typeface="宋体" panose="02010600030101010101" pitchFamily="2" charset="-122"/>
              </a:rPr>
              <a:t>函数决定</a:t>
            </a:r>
            <a:r>
              <a:rPr lang="en-US" altLang="zh-CN" dirty="0">
                <a:sym typeface="宋体" panose="02010600030101010101" pitchFamily="2" charset="-122"/>
              </a:rPr>
              <a:t>Y</a:t>
            </a:r>
            <a:r>
              <a:rPr lang="en-US" altLang="en-US" dirty="0">
                <a:sym typeface="宋体" panose="02010600030101010101" pitchFamily="2" charset="-122"/>
              </a:rPr>
              <a:t>或</a:t>
            </a:r>
            <a:r>
              <a:rPr lang="en-US" altLang="zh-CN" dirty="0">
                <a:sym typeface="宋体" panose="02010600030101010101" pitchFamily="2" charset="-122"/>
              </a:rPr>
              <a:t>Y</a:t>
            </a:r>
            <a:r>
              <a:rPr lang="en-US" altLang="en-US" dirty="0">
                <a:sym typeface="宋体" panose="02010600030101010101" pitchFamily="2" charset="-122"/>
              </a:rPr>
              <a:t>函数依赖于</a:t>
            </a:r>
            <a:r>
              <a:rPr lang="en-US" altLang="zh-CN" dirty="0">
                <a:sym typeface="宋体" panose="02010600030101010101" pitchFamily="2" charset="-122"/>
              </a:rPr>
              <a:t>X</a:t>
            </a:r>
            <a:r>
              <a:rPr lang="en-US" altLang="en-US" dirty="0">
                <a:sym typeface="宋体" panose="02010600030101010101" pitchFamily="2" charset="-122"/>
              </a:rPr>
              <a:t>表示为</a:t>
            </a:r>
            <a:r>
              <a:rPr lang="en-US" altLang="zh-CN" dirty="0">
                <a:sym typeface="宋体" panose="02010600030101010101" pitchFamily="2" charset="-122"/>
              </a:rPr>
              <a:t>:   </a:t>
            </a:r>
            <a:r>
              <a:rPr lang="en-US" altLang="zh-CN" dirty="0">
                <a:solidFill>
                  <a:srgbClr val="FF3300"/>
                </a:solidFill>
                <a:sym typeface="宋体" panose="02010600030101010101" pitchFamily="2" charset="-122"/>
              </a:rPr>
              <a:t>X→Y</a:t>
            </a:r>
            <a:r>
              <a:rPr lang="en-US" altLang="en-US" dirty="0">
                <a:solidFill>
                  <a:srgbClr val="FF3300"/>
                </a:solidFill>
                <a:sym typeface="宋体" panose="02010600030101010101" pitchFamily="2" charset="-122"/>
              </a:rPr>
              <a:t>。</a:t>
            </a:r>
            <a:endParaRPr lang="zh-CN" altLang="en-US" dirty="0"/>
          </a:p>
        </p:txBody>
      </p:sp>
      <p:sp>
        <p:nvSpPr>
          <p:cNvPr id="7" name="文本框 6"/>
          <p:cNvSpPr txBox="1"/>
          <p:nvPr/>
        </p:nvSpPr>
        <p:spPr>
          <a:xfrm>
            <a:off x="488950" y="1395413"/>
            <a:ext cx="2368550" cy="5476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Ø"/>
            </a:pPr>
            <a:r>
              <a:rPr lang="zh-CN" altLang="en-US" sz="2200" dirty="0">
                <a:solidFill>
                  <a:srgbClr val="C00000"/>
                </a:solidFill>
                <a:latin typeface="宋体" panose="02010600030101010101" pitchFamily="2" charset="-122"/>
                <a:sym typeface="宋体" panose="02010600030101010101" pitchFamily="2" charset="-122"/>
              </a:rPr>
              <a:t>函数依赖的含义</a:t>
            </a:r>
            <a:endParaRPr lang="zh-CN" altLang="en-US" sz="2200" dirty="0">
              <a:solidFill>
                <a:srgbClr val="C00000"/>
              </a:solidFill>
              <a:latin typeface="宋体" panose="02010600030101010101" pitchFamily="2" charset="-122"/>
              <a:sym typeface="宋体" panose="02010600030101010101" pitchFamily="2" charset="-122"/>
            </a:endParaRPr>
          </a:p>
        </p:txBody>
      </p:sp>
      <p:sp>
        <p:nvSpPr>
          <p:cNvPr id="8" name="文本框 7"/>
          <p:cNvSpPr txBox="1"/>
          <p:nvPr/>
        </p:nvSpPr>
        <p:spPr>
          <a:xfrm>
            <a:off x="548005" y="4041775"/>
            <a:ext cx="3492500" cy="45085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Ø"/>
            </a:pPr>
            <a:r>
              <a:rPr lang="zh-CN" altLang="en-US" sz="2200" dirty="0">
                <a:solidFill>
                  <a:srgbClr val="C00000"/>
                </a:solidFill>
                <a:latin typeface="宋体" panose="02010600030101010101" pitchFamily="2" charset="-122"/>
                <a:sym typeface="宋体" panose="02010600030101010101" pitchFamily="2" charset="-122"/>
              </a:rPr>
              <a:t>数据库中函数依赖的定义</a:t>
            </a:r>
            <a:endParaRPr lang="zh-CN" altLang="en-US" sz="2200" dirty="0">
              <a:solidFill>
                <a:srgbClr val="C00000"/>
              </a:solidFill>
              <a:latin typeface="宋体" panose="02010600030101010101" pitchFamily="2" charset="-122"/>
              <a:sym typeface="宋体" panose="02010600030101010101" pitchFamily="2" charset="-122"/>
            </a:endParaRPr>
          </a:p>
        </p:txBody>
      </p:sp>
      <p:sp>
        <p:nvSpPr>
          <p:cNvPr id="9" name="文本框 8"/>
          <p:cNvSpPr txBox="1"/>
          <p:nvPr/>
        </p:nvSpPr>
        <p:spPr>
          <a:xfrm>
            <a:off x="577850" y="4492625"/>
            <a:ext cx="8120063" cy="1477963"/>
          </a:xfrm>
          <a:prstGeom prst="rect">
            <a:avLst/>
          </a:prstGeom>
          <a:noFill/>
          <a:ln>
            <a:solidFill>
              <a:schemeClr val="accent5">
                <a:lumMod val="50000"/>
              </a:schemeClr>
            </a:solidFill>
          </a:ln>
        </p:spPr>
        <p:txBody>
          <a:bodyPr>
            <a:spAutoFit/>
          </a:bodyPr>
          <a:lstStyle/>
          <a:p>
            <a:pPr marR="0" defTabSz="914400" eaLnBrk="1" hangingPunct="1">
              <a:lnSpc>
                <a:spcPct val="110000"/>
              </a:lnSpc>
              <a:spcBef>
                <a:spcPts val="15"/>
              </a:spcBef>
              <a:spcAft>
                <a:spcPts val="0"/>
              </a:spcAft>
              <a:buClr>
                <a:srgbClr val="0033CC"/>
              </a:buClr>
              <a:buSzPct val="80000"/>
              <a:buFont typeface="Wingdings" panose="05000000000000000000" pitchFamily="2" charset="2"/>
              <a:buNone/>
              <a:defRPr/>
            </a:pPr>
            <a:r>
              <a:rPr kumimoji="0" lang="zh-CN" altLang="en-US" sz="2200" kern="1200" cap="none" spc="0" normalizeH="0" baseline="0" noProof="1">
                <a:solidFill>
                  <a:srgbClr val="FF0000"/>
                </a:solidFill>
                <a:latin typeface="Arial" panose="020B0604020202020204" pitchFamily="34" charset="0"/>
                <a:ea typeface="宋体" panose="02010600030101010101" pitchFamily="2" charset="-122"/>
                <a:cs typeface="+mn-cs"/>
                <a:sym typeface="+mn-ea"/>
              </a:rPr>
              <a:t>定义：</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若有一个关系模式</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R(A</a:t>
            </a:r>
            <a:r>
              <a:rPr kumimoji="0" lang="en-US" altLang="zh-CN" sz="2000" kern="1200" cap="none" spc="0" normalizeH="0" baseline="-25000" noProof="1">
                <a:solidFill>
                  <a:srgbClr val="0033CC"/>
                </a:solidFill>
                <a:latin typeface="Arial" panose="020B0604020202020204" pitchFamily="34" charset="0"/>
                <a:ea typeface="宋体" panose="02010600030101010101" pitchFamily="2" charset="-122"/>
                <a:cs typeface="+mn-cs"/>
                <a:sym typeface="+mn-ea"/>
              </a:rPr>
              <a:t>1</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a:t>
            </a:r>
            <a:r>
              <a:rPr kumimoji="0" lang="en-US" altLang="zh-CN" sz="2000" kern="1200" cap="none" spc="0" normalizeH="0" baseline="-25000" noProof="1">
                <a:solidFill>
                  <a:srgbClr val="0033CC"/>
                </a:solidFill>
                <a:latin typeface="Arial" panose="020B0604020202020204" pitchFamily="34" charset="0"/>
                <a:ea typeface="宋体" panose="02010600030101010101" pitchFamily="2" charset="-122"/>
                <a:cs typeface="+mn-cs"/>
                <a:sym typeface="+mn-ea"/>
              </a:rPr>
              <a:t>2</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t>
            </a:r>
            <a:r>
              <a:rPr kumimoji="0" lang="en-US" altLang="zh-CN" sz="2000" kern="1200" cap="none" spc="0" normalizeH="0" baseline="0" noProof="1">
                <a:solidFill>
                  <a:srgbClr val="0033CC"/>
                </a:solidFill>
                <a:latin typeface="Arial" panose="020B0604020202020204" pitchFamily="34" charset="0"/>
                <a:ea typeface="Arial" panose="020B0604020202020204" pitchFamily="34" charset="0"/>
                <a:cs typeface="+mn-cs"/>
                <a:sym typeface="+mn-ea"/>
              </a:rPr>
              <a:t>…</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a:t>
            </a:r>
            <a:r>
              <a:rPr kumimoji="0" lang="en-US" altLang="zh-CN" sz="2000" kern="1200" cap="none" spc="0" normalizeH="0" baseline="-25000" noProof="1">
                <a:solidFill>
                  <a:srgbClr val="0033CC"/>
                </a:solidFill>
                <a:latin typeface="Arial" panose="020B0604020202020204" pitchFamily="34" charset="0"/>
                <a:ea typeface="宋体" panose="02010600030101010101" pitchFamily="2" charset="-122"/>
                <a:cs typeface="+mn-cs"/>
                <a:sym typeface="+mn-ea"/>
              </a:rPr>
              <a:t>n</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X</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和</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Y</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为</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a:t>
            </a:r>
            <a:r>
              <a:rPr kumimoji="0" lang="en-US" altLang="zh-CN" sz="2000" kern="1200" cap="none" spc="0" normalizeH="0" baseline="-25000" noProof="1">
                <a:solidFill>
                  <a:srgbClr val="0033CC"/>
                </a:solidFill>
                <a:latin typeface="Arial" panose="020B0604020202020204" pitchFamily="34" charset="0"/>
                <a:ea typeface="宋体" panose="02010600030101010101" pitchFamily="2" charset="-122"/>
                <a:cs typeface="+mn-cs"/>
                <a:sym typeface="+mn-ea"/>
              </a:rPr>
              <a:t>1</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a:t>
            </a:r>
            <a:r>
              <a:rPr kumimoji="0" lang="en-US" altLang="zh-CN" sz="2000" kern="1200" cap="none" spc="0" normalizeH="0" baseline="-25000" noProof="1">
                <a:solidFill>
                  <a:srgbClr val="0033CC"/>
                </a:solidFill>
                <a:latin typeface="Arial" panose="020B0604020202020204" pitchFamily="34" charset="0"/>
                <a:ea typeface="宋体" panose="02010600030101010101" pitchFamily="2" charset="-122"/>
                <a:cs typeface="+mn-cs"/>
                <a:sym typeface="+mn-ea"/>
              </a:rPr>
              <a:t>2</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t>
            </a:r>
            <a:r>
              <a:rPr kumimoji="0" lang="en-US" altLang="zh-CN" sz="2000" kern="1200" cap="none" spc="0" normalizeH="0" baseline="0" noProof="1">
                <a:solidFill>
                  <a:srgbClr val="0033CC"/>
                </a:solidFill>
                <a:latin typeface="Arial" panose="020B0604020202020204" pitchFamily="34" charset="0"/>
                <a:ea typeface="Arial" panose="020B0604020202020204" pitchFamily="34" charset="0"/>
                <a:cs typeface="+mn-cs"/>
                <a:sym typeface="+mn-ea"/>
              </a:rPr>
              <a:t>…</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a:t>
            </a:r>
            <a:r>
              <a:rPr kumimoji="0" lang="en-US" altLang="zh-CN" sz="2000" kern="1200" cap="none" spc="0" normalizeH="0" baseline="-25000" noProof="1">
                <a:solidFill>
                  <a:srgbClr val="0033CC"/>
                </a:solidFill>
                <a:latin typeface="Arial" panose="020B0604020202020204" pitchFamily="34" charset="0"/>
                <a:ea typeface="宋体" panose="02010600030101010101" pitchFamily="2" charset="-122"/>
                <a:cs typeface="+mn-cs"/>
                <a:sym typeface="+mn-ea"/>
              </a:rPr>
              <a:t>n</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的子集，</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r</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是</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R</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中的任意具体关系，</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t1,t2</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是</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r</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中的任意两个元组。如果由</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t1[X]=t2[X]</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可以推导出</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t1[Y]=t2[Y]</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，则称</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X</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函数决定</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Y</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或</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Y</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函数依赖于</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X</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，记作</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X → Y</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p:txBody>
      </p:sp>
      <p:sp>
        <p:nvSpPr>
          <p:cNvPr id="9222"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200" dirty="0">
                <a:solidFill>
                  <a:srgbClr val="0033CC"/>
                </a:solidFill>
                <a:ea typeface="黑体" panose="02010609060101010101" pitchFamily="49" charset="-122"/>
              </a:rPr>
              <a:t>二、关系规范中的函数依赖理论</a:t>
            </a:r>
            <a:endParaRPr lang="zh-CN" altLang="en-US" sz="3200" dirty="0">
              <a:solidFill>
                <a:srgbClr val="0033CC"/>
              </a:solidFill>
              <a:ea typeface="黑体" panose="02010609060101010101" pitchFamily="49" charset="-122"/>
            </a:endParaRPr>
          </a:p>
        </p:txBody>
      </p:sp>
      <p:sp>
        <p:nvSpPr>
          <p:cNvPr id="9223" name="Rectangle 7"/>
          <p:cNvSpPr/>
          <p:nvPr/>
        </p:nvSpPr>
        <p:spPr>
          <a:xfrm>
            <a:off x="498475" y="809625"/>
            <a:ext cx="5235575"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0000"/>
                </a:solidFill>
                <a:latin typeface="黑体" panose="02010609060101010101" pitchFamily="49" charset="-122"/>
                <a:ea typeface="黑体" panose="02010609060101010101" pitchFamily="49" charset="-122"/>
              </a:rPr>
              <a:t>1</a:t>
            </a:r>
            <a:r>
              <a:rPr lang="zh-CN" altLang="en-US" sz="2800" dirty="0">
                <a:solidFill>
                  <a:srgbClr val="FF0000"/>
                </a:solidFill>
                <a:latin typeface="黑体" panose="02010609060101010101" pitchFamily="49" charset="-122"/>
                <a:ea typeface="黑体" panose="02010609060101010101" pitchFamily="49" charset="-122"/>
              </a:rPr>
              <a:t>、函数依赖的基本概念</a:t>
            </a:r>
            <a:endParaRPr lang="en-US" altLang="zh-CN" sz="2800"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100000">
                                          <p:val>
                                            <p:strVal val="#ppt_x"/>
                                          </p:val>
                                        </p:tav>
                                      </p:tavLst>
                                    </p:anim>
                                    <p:anim calcmode="lin" valueType="num">
                                      <p:cBhvr>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7"/>
          <p:cNvSpPr/>
          <p:nvPr/>
        </p:nvSpPr>
        <p:spPr>
          <a:xfrm>
            <a:off x="512763" y="800100"/>
            <a:ext cx="5902325"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0000"/>
                </a:solidFill>
                <a:latin typeface="黑体" panose="02010609060101010101" pitchFamily="49" charset="-122"/>
                <a:ea typeface="黑体" panose="02010609060101010101" pitchFamily="49" charset="-122"/>
              </a:rPr>
              <a:t>1</a:t>
            </a:r>
            <a:r>
              <a:rPr lang="zh-CN" altLang="en-US" sz="2800" dirty="0">
                <a:solidFill>
                  <a:srgbClr val="FF0000"/>
                </a:solidFill>
                <a:latin typeface="黑体" panose="02010609060101010101" pitchFamily="49" charset="-122"/>
                <a:ea typeface="黑体" panose="02010609060101010101" pitchFamily="49" charset="-122"/>
              </a:rPr>
              <a:t>、函数依赖的基本概念</a:t>
            </a:r>
            <a:endParaRPr lang="en-US" altLang="zh-CN" sz="2800" dirty="0">
              <a:solidFill>
                <a:srgbClr val="FF0000"/>
              </a:solidFill>
              <a:latin typeface="黑体" panose="02010609060101010101" pitchFamily="49" charset="-122"/>
              <a:ea typeface="黑体" panose="02010609060101010101" pitchFamily="49" charset="-122"/>
            </a:endParaRPr>
          </a:p>
        </p:txBody>
      </p:sp>
      <p:sp>
        <p:nvSpPr>
          <p:cNvPr id="11267" name="Rectangle 2"/>
          <p:cNvSpPr/>
          <p:nvPr/>
        </p:nvSpPr>
        <p:spPr>
          <a:xfrm>
            <a:off x="457200" y="57150"/>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200" dirty="0">
                <a:solidFill>
                  <a:srgbClr val="0033CC"/>
                </a:solidFill>
                <a:ea typeface="黑体" panose="02010609060101010101" pitchFamily="49" charset="-122"/>
              </a:rPr>
              <a:t>二、关系规范中的函数依赖理论</a:t>
            </a:r>
            <a:endParaRPr lang="zh-CN" altLang="en-US" sz="3200" dirty="0">
              <a:solidFill>
                <a:srgbClr val="0033CC"/>
              </a:solidFill>
              <a:ea typeface="黑体" panose="02010609060101010101" pitchFamily="49" charset="-122"/>
            </a:endParaRPr>
          </a:p>
        </p:txBody>
      </p:sp>
      <p:sp>
        <p:nvSpPr>
          <p:cNvPr id="11268" name="内容占位符 2"/>
          <p:cNvSpPr/>
          <p:nvPr/>
        </p:nvSpPr>
        <p:spPr>
          <a:xfrm>
            <a:off x="541338" y="1458913"/>
            <a:ext cx="8253412" cy="1346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0"/>
              </a:spcBef>
              <a:buNone/>
            </a:pPr>
            <a:r>
              <a:rPr lang="zh-CN" altLang="en-US" dirty="0">
                <a:solidFill>
                  <a:srgbClr val="0033CC"/>
                </a:solidFill>
              </a:rPr>
              <a:t> </a:t>
            </a:r>
            <a:r>
              <a:rPr lang="zh-CN" altLang="en-US" sz="2400" u="sng" dirty="0">
                <a:solidFill>
                  <a:srgbClr val="FF3300"/>
                </a:solidFill>
              </a:rPr>
              <a:t>例</a:t>
            </a:r>
            <a:r>
              <a:rPr lang="en-US" altLang="zh-CN" sz="2400" u="sng" dirty="0">
                <a:solidFill>
                  <a:srgbClr val="FF3300"/>
                </a:solidFill>
              </a:rPr>
              <a:t>1</a:t>
            </a:r>
            <a:r>
              <a:rPr lang="zh-CN" altLang="en-US" sz="2400" u="sng" dirty="0">
                <a:solidFill>
                  <a:srgbClr val="FF3300"/>
                </a:solidFill>
              </a:rPr>
              <a:t>：</a:t>
            </a:r>
            <a:r>
              <a:rPr lang="zh-CN" altLang="en-US" sz="2100" dirty="0"/>
              <a:t>对于学生关系模式</a:t>
            </a:r>
            <a:r>
              <a:rPr lang="en-US" altLang="zh-CN" sz="2100" dirty="0"/>
              <a:t>Student(Sno,Sname,Sdept,Sage)</a:t>
            </a:r>
            <a:r>
              <a:rPr lang="zh-CN" altLang="en-US" sz="2100" dirty="0"/>
              <a:t>有如下</a:t>
            </a:r>
            <a:endParaRPr lang="en-US" altLang="zh-CN" sz="2100" dirty="0"/>
          </a:p>
          <a:p>
            <a:pPr marL="342900" lvl="0" indent="-342900" eaLnBrk="1" hangingPunct="1">
              <a:lnSpc>
                <a:spcPct val="125000"/>
              </a:lnSpc>
              <a:spcBef>
                <a:spcPct val="0"/>
              </a:spcBef>
              <a:buNone/>
            </a:pPr>
            <a:r>
              <a:rPr lang="en-US" altLang="zh-CN" sz="2100" dirty="0"/>
              <a:t>            </a:t>
            </a:r>
            <a:r>
              <a:rPr lang="zh-CN" altLang="en-US" sz="2100" dirty="0"/>
              <a:t>依赖关系：</a:t>
            </a:r>
            <a:endParaRPr lang="zh-CN" altLang="en-US" sz="2100" dirty="0"/>
          </a:p>
          <a:p>
            <a:pPr marL="342900" lvl="0" indent="-342900" eaLnBrk="1" hangingPunct="1">
              <a:spcBef>
                <a:spcPct val="15000"/>
              </a:spcBef>
              <a:buNone/>
            </a:pPr>
            <a:r>
              <a:rPr lang="zh-CN" altLang="en-US" dirty="0">
                <a:solidFill>
                  <a:srgbClr val="0033CC"/>
                </a:solidFill>
              </a:rPr>
              <a:t>            </a:t>
            </a:r>
            <a:r>
              <a:rPr lang="en-US" altLang="zh-CN" dirty="0"/>
              <a:t>Sno → Sname,    Sno → Sdept,    Sno → Sage</a:t>
            </a:r>
            <a:r>
              <a:rPr lang="en-US" altLang="zh-CN" dirty="0">
                <a:solidFill>
                  <a:srgbClr val="0033CC"/>
                </a:solidFill>
              </a:rPr>
              <a:t>  </a:t>
            </a:r>
            <a:endParaRPr lang="en-US" altLang="zh-CN" dirty="0">
              <a:solidFill>
                <a:srgbClr val="0033CC"/>
              </a:solidFill>
            </a:endParaRPr>
          </a:p>
          <a:p>
            <a:pPr marL="342900" lvl="0" indent="-342900" eaLnBrk="1" hangingPunct="1">
              <a:spcBef>
                <a:spcPct val="15000"/>
              </a:spcBef>
              <a:buNone/>
            </a:pPr>
            <a:r>
              <a:rPr lang="en-US" altLang="zh-CN" dirty="0">
                <a:solidFill>
                  <a:srgbClr val="0033CC"/>
                </a:solidFill>
              </a:rPr>
              <a:t>  </a:t>
            </a:r>
            <a:r>
              <a:rPr lang="en-US" altLang="zh-CN" dirty="0">
                <a:solidFill>
                  <a:srgbClr val="C00000"/>
                </a:solidFill>
              </a:rPr>
              <a:t> </a:t>
            </a:r>
            <a:endParaRPr lang="en-US" altLang="zh-CN" dirty="0">
              <a:solidFill>
                <a:srgbClr val="0033CC"/>
              </a:solidFill>
              <a:ea typeface="Arial" panose="020B0604020202020204" pitchFamily="34" charset="0"/>
            </a:endParaRPr>
          </a:p>
        </p:txBody>
      </p:sp>
      <p:sp>
        <p:nvSpPr>
          <p:cNvPr id="11270" name="内容占位符 2"/>
          <p:cNvSpPr/>
          <p:nvPr/>
        </p:nvSpPr>
        <p:spPr>
          <a:xfrm>
            <a:off x="46038" y="2847975"/>
            <a:ext cx="8886825" cy="1096963"/>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50000"/>
              </a:lnSpc>
              <a:spcBef>
                <a:spcPct val="15000"/>
              </a:spcBef>
              <a:buNone/>
            </a:pPr>
            <a:r>
              <a:rPr lang="zh-CN" altLang="en-US" dirty="0">
                <a:solidFill>
                  <a:srgbClr val="0033CC"/>
                </a:solidFill>
              </a:rPr>
              <a:t>    </a:t>
            </a:r>
            <a:r>
              <a:rPr lang="en-US" altLang="zh-CN" dirty="0">
                <a:solidFill>
                  <a:srgbClr val="0033CC"/>
                </a:solidFill>
              </a:rPr>
              <a:t>  </a:t>
            </a:r>
            <a:r>
              <a:rPr lang="en-US" altLang="zh-CN" dirty="0">
                <a:solidFill>
                  <a:srgbClr val="C00000"/>
                </a:solidFill>
              </a:rPr>
              <a:t> </a:t>
            </a:r>
            <a:r>
              <a:rPr lang="en-US" altLang="zh-CN" sz="2400" u="sng" dirty="0">
                <a:solidFill>
                  <a:srgbClr val="C00000"/>
                </a:solidFill>
              </a:rPr>
              <a:t> </a:t>
            </a:r>
            <a:r>
              <a:rPr lang="zh-CN" altLang="en-US" sz="2400" u="sng" dirty="0">
                <a:solidFill>
                  <a:srgbClr val="FF3300"/>
                </a:solidFill>
              </a:rPr>
              <a:t>例</a:t>
            </a:r>
            <a:r>
              <a:rPr lang="en-US" altLang="zh-CN" sz="2400" u="sng" dirty="0">
                <a:solidFill>
                  <a:srgbClr val="FF3300"/>
                </a:solidFill>
              </a:rPr>
              <a:t>2</a:t>
            </a:r>
            <a:r>
              <a:rPr lang="zh-CN" altLang="en-US" sz="2400" u="sng" dirty="0">
                <a:solidFill>
                  <a:srgbClr val="FF3300"/>
                </a:solidFill>
              </a:rPr>
              <a:t>：</a:t>
            </a:r>
            <a:r>
              <a:rPr lang="zh-CN" altLang="en-US" sz="2100" dirty="0"/>
              <a:t>对于学生选课关系模式</a:t>
            </a:r>
            <a:r>
              <a:rPr lang="en-US" altLang="zh-CN" sz="2100" dirty="0"/>
              <a:t>SC(Sno,Cno,Grade)</a:t>
            </a:r>
            <a:r>
              <a:rPr lang="zh-CN" altLang="en-US" sz="2100" dirty="0"/>
              <a:t>有以下依赖关系：</a:t>
            </a:r>
            <a:endParaRPr lang="zh-CN" altLang="en-US" sz="2100" dirty="0"/>
          </a:p>
          <a:p>
            <a:pPr marL="342900" lvl="0" indent="-342900" eaLnBrk="1" hangingPunct="1">
              <a:spcBef>
                <a:spcPct val="15000"/>
              </a:spcBef>
              <a:buNone/>
            </a:pPr>
            <a:r>
              <a:rPr lang="zh-CN" altLang="en-US" dirty="0">
                <a:solidFill>
                  <a:srgbClr val="0033CC"/>
                </a:solidFill>
              </a:rPr>
              <a:t>             </a:t>
            </a:r>
            <a:r>
              <a:rPr lang="zh-CN" altLang="en-US" sz="2100" dirty="0"/>
              <a:t>（</a:t>
            </a:r>
            <a:r>
              <a:rPr lang="en-US" altLang="zh-CN" sz="2100" dirty="0"/>
              <a:t>Sno,Cno</a:t>
            </a:r>
            <a:r>
              <a:rPr lang="zh-CN" altLang="en-US" sz="2100" dirty="0"/>
              <a:t>） </a:t>
            </a:r>
            <a:r>
              <a:rPr lang="en-US" altLang="zh-CN" sz="2100" dirty="0"/>
              <a:t>→Grade</a:t>
            </a:r>
            <a:endParaRPr lang="en-US" altLang="zh-CN" dirty="0">
              <a:solidFill>
                <a:srgbClr val="0033CC"/>
              </a:solidFill>
              <a:ea typeface="Arial" panose="020B0604020202020204" pitchFamily="34" charset="0"/>
            </a:endParaRPr>
          </a:p>
        </p:txBody>
      </p:sp>
      <p:sp>
        <p:nvSpPr>
          <p:cNvPr id="2" name="文本框 1"/>
          <p:cNvSpPr txBox="1"/>
          <p:nvPr/>
        </p:nvSpPr>
        <p:spPr>
          <a:xfrm>
            <a:off x="669925" y="4014788"/>
            <a:ext cx="7926388" cy="898525"/>
          </a:xfrm>
          <a:prstGeom prst="rect">
            <a:avLst/>
          </a:prstGeom>
          <a:noFill/>
        </p:spPr>
        <p:txBody>
          <a:bodyPr wrap="none">
            <a:spAutoFit/>
          </a:bodyPr>
          <a:lstStyle/>
          <a:p>
            <a:pPr marL="342900" marR="0" indent="-342900" defTabSz="914400">
              <a:spcBef>
                <a:spcPts val="600"/>
              </a:spcBef>
              <a:buClrTx/>
              <a:buSzTx/>
              <a:buFont typeface="Wingdings" panose="05000000000000000000" charset="0"/>
              <a:buChar char="p"/>
              <a:defRPr/>
            </a:pPr>
            <a:r>
              <a:rPr kumimoji="0" lang="zh-CN" altLang="en-US" sz="2400" kern="1200" cap="none" spc="0" normalizeH="0" baseline="0" noProof="1">
                <a:solidFill>
                  <a:srgbClr val="0033CC"/>
                </a:solidFill>
                <a:latin typeface="Arial" panose="020B0604020202020204" pitchFamily="34" charset="0"/>
                <a:ea typeface="宋体" panose="02010600030101010101" pitchFamily="2" charset="-122"/>
                <a:cs typeface="+mn-ea"/>
                <a:sym typeface="+mn-ea"/>
              </a:rPr>
              <a:t>练习：关系 </a:t>
            </a:r>
            <a:r>
              <a:rPr kumimoji="0" lang="en-US" altLang="x-none" sz="2400" kern="1200" cap="none" spc="0" normalizeH="0" baseline="0" noProof="1">
                <a:solidFill>
                  <a:srgbClr val="0033CC"/>
                </a:solidFill>
                <a:latin typeface="Arial" panose="020B0604020202020204" pitchFamily="34" charset="0"/>
                <a:ea typeface="宋体" panose="02010600030101010101" pitchFamily="2" charset="-122"/>
                <a:cs typeface="+mn-ea"/>
                <a:sym typeface="+mn-ea"/>
              </a:rPr>
              <a:t>R (Sid, SName,Cid,CName,</a:t>
            </a:r>
            <a:r>
              <a:rPr kumimoji="0" lang="en-US" altLang="zh-CN" sz="2400" kern="1200" cap="none" spc="0" normalizeH="0" baseline="0" noProof="1">
                <a:solidFill>
                  <a:srgbClr val="0033CC"/>
                </a:solidFill>
                <a:latin typeface="Arial" panose="020B0604020202020204" pitchFamily="34" charset="0"/>
                <a:ea typeface="宋体" panose="02010600030101010101" pitchFamily="2" charset="-122"/>
                <a:cs typeface="+mn-ea"/>
                <a:sym typeface="+mn-ea"/>
              </a:rPr>
              <a:t>Credit,Score</a:t>
            </a:r>
            <a:r>
              <a:rPr kumimoji="0" lang="en-US" altLang="x-none" sz="2400" kern="1200" cap="none" spc="0" normalizeH="0" baseline="0" noProof="1">
                <a:solidFill>
                  <a:srgbClr val="0033CC"/>
                </a:solidFill>
                <a:latin typeface="Arial" panose="020B0604020202020204" pitchFamily="34" charset="0"/>
                <a:ea typeface="宋体" panose="02010600030101010101" pitchFamily="2" charset="-122"/>
                <a:cs typeface="+mn-ea"/>
                <a:sym typeface="+mn-ea"/>
              </a:rPr>
              <a:t>)</a:t>
            </a:r>
            <a:endParaRPr kumimoji="0" lang="zh-CN" altLang="en-US" sz="2400" kern="1200" cap="none" spc="0" normalizeH="0" baseline="0" noProof="1">
              <a:solidFill>
                <a:srgbClr val="0033CC"/>
              </a:solidFill>
              <a:latin typeface="Arial" panose="020B0604020202020204" pitchFamily="34" charset="0"/>
              <a:ea typeface="宋体" panose="02010600030101010101" pitchFamily="2" charset="-122"/>
              <a:cs typeface="+mn-cs"/>
              <a:sym typeface="+mn-ea"/>
            </a:endParaRPr>
          </a:p>
          <a:p>
            <a:pPr marR="0" defTabSz="914400">
              <a:spcBef>
                <a:spcPts val="600"/>
              </a:spcBef>
              <a:buClrTx/>
              <a:buSzTx/>
              <a:buFont typeface="Wingdings" panose="05000000000000000000" charset="0"/>
              <a:buNone/>
              <a:defRPr/>
            </a:pPr>
            <a:r>
              <a:rPr kumimoji="0" lang="zh-CN" altLang="en-US" sz="2400" kern="1200" cap="none" spc="0" normalizeH="0" baseline="0" noProof="1">
                <a:solidFill>
                  <a:srgbClr val="0033CC"/>
                </a:solidFill>
                <a:latin typeface="Arial" panose="020B0604020202020204" pitchFamily="34" charset="0"/>
                <a:ea typeface="宋体" panose="02010600030101010101" pitchFamily="2" charset="-122"/>
                <a:cs typeface="+mn-ea"/>
                <a:sym typeface="+mn-ea"/>
              </a:rPr>
              <a:t>              指出关系</a:t>
            </a:r>
            <a:r>
              <a:rPr kumimoji="0" lang="en-US" altLang="zh-CN" sz="2400" kern="1200" cap="none" spc="0" normalizeH="0" baseline="0" noProof="1">
                <a:solidFill>
                  <a:srgbClr val="0033CC"/>
                </a:solidFill>
                <a:latin typeface="Arial" panose="020B0604020202020204" pitchFamily="34" charset="0"/>
                <a:ea typeface="宋体" panose="02010600030101010101" pitchFamily="2" charset="-122"/>
                <a:cs typeface="+mn-ea"/>
                <a:sym typeface="+mn-ea"/>
              </a:rPr>
              <a:t>R</a:t>
            </a:r>
            <a:r>
              <a:rPr kumimoji="0" lang="zh-CN" altLang="zh-CN" sz="2400" kern="1200" cap="none" spc="0" normalizeH="0" baseline="0" noProof="1">
                <a:solidFill>
                  <a:srgbClr val="0033CC"/>
                </a:solidFill>
                <a:latin typeface="Arial" panose="020B0604020202020204" pitchFamily="34" charset="0"/>
                <a:ea typeface="宋体" panose="02010600030101010101" pitchFamily="2" charset="-122"/>
                <a:cs typeface="+mn-ea"/>
                <a:sym typeface="+mn-ea"/>
              </a:rPr>
              <a:t>的函数依赖。</a:t>
            </a:r>
            <a:endParaRPr kumimoji="0" lang="zh-CN" altLang="zh-CN" sz="2400" kern="1200" cap="none" spc="0" normalizeH="0" baseline="0" noProof="1">
              <a:solidFill>
                <a:srgbClr val="0033CC"/>
              </a:solidFill>
              <a:latin typeface="Arial" panose="020B0604020202020204" pitchFamily="34" charset="0"/>
              <a:ea typeface="宋体" panose="02010600030101010101" pitchFamily="2" charset="-122"/>
              <a:cs typeface="+mn-cs"/>
              <a:sym typeface="+mn-ea"/>
            </a:endParaRPr>
          </a:p>
        </p:txBody>
      </p:sp>
      <p:sp>
        <p:nvSpPr>
          <p:cNvPr id="3" name="文本框 2"/>
          <p:cNvSpPr txBox="1"/>
          <p:nvPr/>
        </p:nvSpPr>
        <p:spPr>
          <a:xfrm>
            <a:off x="1938338" y="5049838"/>
            <a:ext cx="6278562" cy="8985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ts val="600"/>
              </a:spcBef>
              <a:buClrTx/>
              <a:buSzTx/>
              <a:buNone/>
            </a:pPr>
            <a:r>
              <a:rPr lang="en-US" altLang="zh-CN" sz="2400" dirty="0">
                <a:sym typeface="宋体" panose="02010600030101010101" pitchFamily="2" charset="-122"/>
              </a:rPr>
              <a:t>Sid→SName     Cid→CName    Cid→Credit</a:t>
            </a:r>
            <a:endParaRPr lang="en-US" altLang="zh-CN" sz="2400" dirty="0">
              <a:sym typeface="宋体" panose="02010600030101010101" pitchFamily="2" charset="-122"/>
            </a:endParaRPr>
          </a:p>
          <a:p>
            <a:pPr marL="0" lvl="0" indent="0">
              <a:spcBef>
                <a:spcPts val="600"/>
              </a:spcBef>
              <a:buClrTx/>
              <a:buSzTx/>
              <a:buNone/>
            </a:pPr>
            <a:r>
              <a:rPr lang="en-US" altLang="zh-CN" sz="2400" dirty="0">
                <a:sym typeface="宋体" panose="02010600030101010101" pitchFamily="2" charset="-122"/>
              </a:rPr>
              <a:t>(Sid,Cid)→Score</a:t>
            </a:r>
            <a:endParaRPr lang="en-US" altLang="zh-CN" sz="2400" dirty="0">
              <a:sym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70"/>
                                        </p:tgtEl>
                                        <p:attrNameLst>
                                          <p:attrName>style.visibility</p:attrName>
                                        </p:attrNameLst>
                                      </p:cBhvr>
                                      <p:to>
                                        <p:strVal val="visible"/>
                                      </p:to>
                                    </p:set>
                                    <p:anim calcmode="lin" valueType="num">
                                      <p:cBhvr additive="base">
                                        <p:cTn id="7" dur="500" fill="hold"/>
                                        <p:tgtEl>
                                          <p:spTgt spid="11270"/>
                                        </p:tgtEl>
                                        <p:attrNameLst>
                                          <p:attrName>ppt_x</p:attrName>
                                        </p:attrNameLst>
                                      </p:cBhvr>
                                      <p:tavLst>
                                        <p:tav tm="0">
                                          <p:val>
                                            <p:strVal val="#ppt_x"/>
                                          </p:val>
                                        </p:tav>
                                        <p:tav tm="100000">
                                          <p:val>
                                            <p:strVal val="#ppt_x"/>
                                          </p:val>
                                        </p:tav>
                                      </p:tavLst>
                                    </p:anim>
                                    <p:anim calcmode="lin" valueType="num">
                                      <p:cBhvr additive="base">
                                        <p:cTn id="8" dur="500" fill="hold"/>
                                        <p:tgtEl>
                                          <p:spTgt spid="112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ppt_x</p:attrName>
                                        </p:attrNameLst>
                                      </p:cBhvr>
                                      <p:tavLst>
                                        <p:tav tm="0">
                                          <p:val>
                                            <p:strVal val="#ppt_x"/>
                                          </p:val>
                                        </p:tav>
                                        <p:tav tm="100000">
                                          <p:val>
                                            <p:strVal val="#ppt_x"/>
                                          </p:val>
                                        </p:tav>
                                      </p:tavLst>
                                    </p:anim>
                                    <p:anim calcmode="lin" valueType="num">
                                      <p:cBhvr>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0" grpId="0" bldLvl="0"/>
      <p:bldP spid="2"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内容占位符 2"/>
          <p:cNvSpPr/>
          <p:nvPr/>
        </p:nvSpPr>
        <p:spPr>
          <a:xfrm>
            <a:off x="287338" y="1441450"/>
            <a:ext cx="8578850" cy="320198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spcBef>
                <a:spcPct val="10000"/>
              </a:spcBef>
              <a:spcAft>
                <a:spcPct val="10000"/>
              </a:spcAft>
              <a:buNone/>
            </a:pPr>
            <a:r>
              <a:rPr lang="zh-CN" altLang="en-US" sz="1800" dirty="0"/>
              <a:t>            </a:t>
            </a:r>
            <a:endParaRPr lang="zh-CN" altLang="en-US" dirty="0">
              <a:solidFill>
                <a:srgbClr val="FF0000"/>
              </a:solidFill>
              <a:ea typeface="黑体" panose="02010609060101010101" pitchFamily="49" charset="-122"/>
            </a:endParaRPr>
          </a:p>
        </p:txBody>
      </p:sp>
      <p:sp>
        <p:nvSpPr>
          <p:cNvPr id="12291" name="Rectangle 7"/>
          <p:cNvSpPr/>
          <p:nvPr/>
        </p:nvSpPr>
        <p:spPr>
          <a:xfrm>
            <a:off x="547688" y="866775"/>
            <a:ext cx="6607175"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0000"/>
                </a:solidFill>
                <a:latin typeface="黑体" panose="02010609060101010101" pitchFamily="49" charset="-122"/>
                <a:ea typeface="黑体" panose="02010609060101010101" pitchFamily="49" charset="-122"/>
              </a:rPr>
              <a:t>2</a:t>
            </a:r>
            <a:r>
              <a:rPr lang="zh-CN" altLang="en-US" sz="2800" dirty="0">
                <a:solidFill>
                  <a:srgbClr val="FF0000"/>
                </a:solidFill>
                <a:latin typeface="黑体" panose="02010609060101010101" pitchFamily="49" charset="-122"/>
                <a:ea typeface="黑体" panose="02010609060101010101" pitchFamily="49" charset="-122"/>
              </a:rPr>
              <a:t>、函数依赖的一些基本术语和符号</a:t>
            </a:r>
            <a:endParaRPr lang="en-US" altLang="zh-CN" sz="2800" dirty="0">
              <a:solidFill>
                <a:srgbClr val="FF0000"/>
              </a:solidFill>
              <a:latin typeface="黑体" panose="02010609060101010101" pitchFamily="49" charset="-122"/>
              <a:ea typeface="黑体" panose="02010609060101010101" pitchFamily="49" charset="-122"/>
            </a:endParaRPr>
          </a:p>
        </p:txBody>
      </p:sp>
      <p:sp>
        <p:nvSpPr>
          <p:cNvPr id="12292" name="内容占位符 2"/>
          <p:cNvSpPr/>
          <p:nvPr/>
        </p:nvSpPr>
        <p:spPr>
          <a:xfrm>
            <a:off x="246063" y="1862138"/>
            <a:ext cx="8537575" cy="444658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45000"/>
              </a:lnSpc>
              <a:spcBef>
                <a:spcPct val="15000"/>
              </a:spcBef>
              <a:buNone/>
            </a:pPr>
            <a:r>
              <a:rPr lang="zh-CN" altLang="en-US" dirty="0">
                <a:solidFill>
                  <a:srgbClr val="FF3300"/>
                </a:solidFill>
              </a:rPr>
              <a:t>           </a:t>
            </a:r>
            <a:endParaRPr lang="en-US" altLang="zh-CN" dirty="0">
              <a:solidFill>
                <a:srgbClr val="0033CC"/>
              </a:solidFill>
              <a:ea typeface="Arial" panose="020B0604020202020204" pitchFamily="34" charset="0"/>
            </a:endParaRPr>
          </a:p>
        </p:txBody>
      </p:sp>
      <p:sp>
        <p:nvSpPr>
          <p:cNvPr id="12293" name="内容占位符 2"/>
          <p:cNvSpPr/>
          <p:nvPr/>
        </p:nvSpPr>
        <p:spPr>
          <a:xfrm>
            <a:off x="171450" y="1485900"/>
            <a:ext cx="8662988" cy="430688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15000"/>
              </a:spcBef>
              <a:buNone/>
            </a:pPr>
            <a:r>
              <a:rPr lang="zh-CN" altLang="en-US" dirty="0"/>
              <a:t>           </a:t>
            </a:r>
            <a:r>
              <a:rPr lang="zh-CN" altLang="en-US" sz="2100" dirty="0"/>
              <a:t>设关系模式</a:t>
            </a:r>
            <a:r>
              <a:rPr lang="en-US" altLang="zh-CN" sz="2100" dirty="0"/>
              <a:t>R(A</a:t>
            </a:r>
            <a:r>
              <a:rPr lang="en-US" altLang="zh-CN" sz="2100" baseline="-25000" dirty="0"/>
              <a:t>1</a:t>
            </a:r>
            <a:r>
              <a:rPr lang="en-US" altLang="zh-CN" sz="2100" dirty="0"/>
              <a:t>,A</a:t>
            </a:r>
            <a:r>
              <a:rPr lang="en-US" altLang="zh-CN" sz="2100" baseline="-25000" dirty="0"/>
              <a:t>2</a:t>
            </a:r>
            <a:r>
              <a:rPr lang="en-US" altLang="zh-CN" sz="2100" dirty="0"/>
              <a:t>,</a:t>
            </a:r>
            <a:r>
              <a:rPr lang="en-US" altLang="zh-CN" sz="2100" dirty="0">
                <a:cs typeface="Arial" panose="020B0604020202020204" pitchFamily="34" charset="0"/>
              </a:rPr>
              <a:t>…</a:t>
            </a:r>
            <a:r>
              <a:rPr lang="en-US" altLang="zh-CN" sz="2100" dirty="0"/>
              <a:t>,A</a:t>
            </a:r>
            <a:r>
              <a:rPr lang="en-US" altLang="zh-CN" sz="2100" baseline="-25000" dirty="0"/>
              <a:t>n</a:t>
            </a:r>
            <a:r>
              <a:rPr lang="en-US" altLang="zh-CN" sz="2100" dirty="0"/>
              <a:t>)</a:t>
            </a:r>
            <a:r>
              <a:rPr lang="zh-CN" altLang="en-US" sz="2100" dirty="0"/>
              <a:t>，</a:t>
            </a:r>
            <a:r>
              <a:rPr lang="en-US" altLang="zh-CN" sz="2100" dirty="0"/>
              <a:t>X</a:t>
            </a:r>
            <a:r>
              <a:rPr lang="zh-CN" altLang="en-US" sz="2100" dirty="0"/>
              <a:t>和</a:t>
            </a:r>
            <a:r>
              <a:rPr lang="en-US" altLang="zh-CN" sz="2100" dirty="0"/>
              <a:t>Y</a:t>
            </a:r>
            <a:r>
              <a:rPr lang="zh-CN" altLang="en-US" sz="2100" dirty="0"/>
              <a:t>为</a:t>
            </a:r>
            <a:r>
              <a:rPr lang="en-US" altLang="zh-CN" sz="2100" dirty="0"/>
              <a:t>{A</a:t>
            </a:r>
            <a:r>
              <a:rPr lang="en-US" altLang="zh-CN" sz="2100" baseline="-25000" dirty="0"/>
              <a:t>1</a:t>
            </a:r>
            <a:r>
              <a:rPr lang="en-US" altLang="zh-CN" sz="2100" dirty="0"/>
              <a:t>,A</a:t>
            </a:r>
            <a:r>
              <a:rPr lang="en-US" altLang="zh-CN" sz="2100" baseline="-25000" dirty="0"/>
              <a:t>2</a:t>
            </a:r>
            <a:r>
              <a:rPr lang="en-US" altLang="zh-CN" sz="2100" dirty="0"/>
              <a:t>,</a:t>
            </a:r>
            <a:r>
              <a:rPr lang="en-US" altLang="zh-CN" sz="2100" dirty="0">
                <a:cs typeface="Arial" panose="020B0604020202020204" pitchFamily="34" charset="0"/>
              </a:rPr>
              <a:t>…</a:t>
            </a:r>
            <a:r>
              <a:rPr lang="en-US" altLang="zh-CN" sz="2100" dirty="0"/>
              <a:t>,A</a:t>
            </a:r>
            <a:r>
              <a:rPr lang="en-US" altLang="zh-CN" sz="2100" baseline="-25000" dirty="0"/>
              <a:t>n</a:t>
            </a:r>
            <a:r>
              <a:rPr lang="en-US" altLang="zh-CN" sz="2100" dirty="0"/>
              <a:t>}</a:t>
            </a:r>
            <a:r>
              <a:rPr lang="zh-CN" altLang="en-US" sz="2100" dirty="0"/>
              <a:t>的子集，则有：</a:t>
            </a:r>
            <a:endParaRPr lang="zh-CN" altLang="en-US" sz="2100" dirty="0"/>
          </a:p>
          <a:p>
            <a:pPr marL="342900" lvl="0" indent="-342900" eaLnBrk="1" hangingPunct="1">
              <a:lnSpc>
                <a:spcPct val="125000"/>
              </a:lnSpc>
              <a:spcBef>
                <a:spcPts val="900"/>
              </a:spcBef>
              <a:buNone/>
            </a:pPr>
            <a:r>
              <a:rPr lang="zh-CN" altLang="en-US" dirty="0">
                <a:solidFill>
                  <a:srgbClr val="0033CC"/>
                </a:solidFill>
              </a:rPr>
              <a:t>           </a:t>
            </a:r>
            <a:r>
              <a:rPr lang="en-US" altLang="zh-CN" u="sng" dirty="0">
                <a:solidFill>
                  <a:srgbClr val="0033CC"/>
                </a:solidFill>
              </a:rPr>
              <a:t>① </a:t>
            </a:r>
            <a:r>
              <a:rPr lang="zh-CN" altLang="en-US" u="sng" dirty="0">
                <a:solidFill>
                  <a:srgbClr val="0033CC"/>
                </a:solidFill>
              </a:rPr>
              <a:t>如果</a:t>
            </a:r>
            <a:r>
              <a:rPr lang="en-US" altLang="zh-CN" u="sng" dirty="0">
                <a:solidFill>
                  <a:srgbClr val="0033CC"/>
                </a:solidFill>
              </a:rPr>
              <a:t>X→Y</a:t>
            </a:r>
            <a:r>
              <a:rPr lang="zh-CN" altLang="en-US" u="sng" dirty="0">
                <a:solidFill>
                  <a:srgbClr val="0033CC"/>
                </a:solidFill>
                <a:sym typeface="Arial" panose="020B0604020202020204" pitchFamily="34" charset="0"/>
              </a:rPr>
              <a:t>，</a:t>
            </a:r>
            <a:r>
              <a:rPr lang="zh-CN" altLang="en-US" u="sng" dirty="0">
                <a:solidFill>
                  <a:srgbClr val="0033CC"/>
                </a:solidFill>
              </a:rPr>
              <a:t>但</a:t>
            </a:r>
            <a:r>
              <a:rPr lang="en-US" altLang="zh-CN" u="sng" dirty="0">
                <a:solidFill>
                  <a:srgbClr val="0033CC"/>
                </a:solidFill>
              </a:rPr>
              <a:t>Y</a:t>
            </a:r>
            <a:r>
              <a:rPr lang="zh-CN" altLang="en-US" u="sng" dirty="0">
                <a:solidFill>
                  <a:srgbClr val="0033CC"/>
                </a:solidFill>
              </a:rPr>
              <a:t>不包含于</a:t>
            </a:r>
            <a:r>
              <a:rPr lang="en-US" altLang="zh-CN" u="sng" dirty="0">
                <a:solidFill>
                  <a:srgbClr val="0033CC"/>
                </a:solidFill>
              </a:rPr>
              <a:t>X</a:t>
            </a:r>
            <a:r>
              <a:rPr lang="zh-CN" altLang="en-US" u="sng" dirty="0">
                <a:solidFill>
                  <a:srgbClr val="0033CC"/>
                </a:solidFill>
              </a:rPr>
              <a:t>，则称</a:t>
            </a:r>
            <a:r>
              <a:rPr lang="en-US" altLang="zh-CN" u="sng" dirty="0">
                <a:solidFill>
                  <a:srgbClr val="0033CC"/>
                </a:solidFill>
              </a:rPr>
              <a:t>X →Y</a:t>
            </a:r>
            <a:r>
              <a:rPr lang="zh-CN" altLang="en-US" u="sng" dirty="0">
                <a:solidFill>
                  <a:srgbClr val="0033CC"/>
                </a:solidFill>
              </a:rPr>
              <a:t>是非平凡的函数依赖。如果不作特殊说明，我们讨论的总是非平凡函数依赖。则称</a:t>
            </a:r>
            <a:r>
              <a:rPr lang="en-US" altLang="zh-CN" u="sng" dirty="0">
                <a:solidFill>
                  <a:srgbClr val="0033CC"/>
                </a:solidFill>
              </a:rPr>
              <a:t>X</a:t>
            </a:r>
            <a:r>
              <a:rPr lang="zh-CN" altLang="en-US" u="sng" dirty="0">
                <a:solidFill>
                  <a:srgbClr val="0033CC"/>
                </a:solidFill>
              </a:rPr>
              <a:t>为决定因子。</a:t>
            </a:r>
            <a:endParaRPr lang="zh-CN" altLang="en-US" u="sng" dirty="0">
              <a:solidFill>
                <a:srgbClr val="0033CC"/>
              </a:solidFill>
            </a:endParaRPr>
          </a:p>
          <a:p>
            <a:pPr marL="342900" lvl="0" indent="-342900" eaLnBrk="1" hangingPunct="1">
              <a:lnSpc>
                <a:spcPct val="125000"/>
              </a:lnSpc>
              <a:spcBef>
                <a:spcPct val="15000"/>
              </a:spcBef>
              <a:buNone/>
            </a:pPr>
            <a:r>
              <a:rPr lang="zh-CN" altLang="en-US" dirty="0">
                <a:solidFill>
                  <a:srgbClr val="0033CC"/>
                </a:solidFill>
              </a:rPr>
              <a:t>           </a:t>
            </a:r>
            <a:r>
              <a:rPr lang="zh-CN" altLang="en-US" u="sng" dirty="0">
                <a:solidFill>
                  <a:srgbClr val="0033CC"/>
                </a:solidFill>
              </a:rPr>
              <a:t>② 如果</a:t>
            </a:r>
            <a:r>
              <a:rPr lang="en-US" altLang="zh-CN" u="sng" dirty="0">
                <a:solidFill>
                  <a:srgbClr val="0033CC"/>
                </a:solidFill>
              </a:rPr>
              <a:t>X→Y</a:t>
            </a:r>
            <a:r>
              <a:rPr lang="zh-CN" altLang="en-US" u="sng" dirty="0">
                <a:solidFill>
                  <a:srgbClr val="0033CC"/>
                </a:solidFill>
              </a:rPr>
              <a:t>，并且对于</a:t>
            </a:r>
            <a:r>
              <a:rPr lang="en-US" altLang="zh-CN" u="sng" dirty="0">
                <a:solidFill>
                  <a:srgbClr val="0033CC"/>
                </a:solidFill>
              </a:rPr>
              <a:t>X</a:t>
            </a:r>
            <a:r>
              <a:rPr lang="zh-CN" altLang="en-US" u="sng" dirty="0">
                <a:solidFill>
                  <a:srgbClr val="0033CC"/>
                </a:solidFill>
              </a:rPr>
              <a:t>的一个任意真子集      都有                    ，则称</a:t>
            </a:r>
            <a:r>
              <a:rPr lang="en-US" altLang="zh-CN" u="sng" dirty="0">
                <a:solidFill>
                  <a:srgbClr val="0033CC"/>
                </a:solidFill>
              </a:rPr>
              <a:t>Y</a:t>
            </a:r>
            <a:r>
              <a:rPr lang="zh-CN" altLang="en-US" u="sng" dirty="0">
                <a:solidFill>
                  <a:srgbClr val="0033CC"/>
                </a:solidFill>
              </a:rPr>
              <a:t>完全函数依赖于</a:t>
            </a:r>
            <a:r>
              <a:rPr lang="en-US" altLang="zh-CN" u="sng" dirty="0">
                <a:solidFill>
                  <a:srgbClr val="0033CC"/>
                </a:solidFill>
              </a:rPr>
              <a:t>X</a:t>
            </a:r>
            <a:r>
              <a:rPr lang="zh-CN" altLang="en-US" u="sng" dirty="0">
                <a:solidFill>
                  <a:srgbClr val="0033CC"/>
                </a:solidFill>
              </a:rPr>
              <a:t>，记作                 ；如果             成立，则称</a:t>
            </a:r>
            <a:r>
              <a:rPr lang="en-US" altLang="zh-CN" u="sng" dirty="0">
                <a:solidFill>
                  <a:srgbClr val="0033CC"/>
                </a:solidFill>
              </a:rPr>
              <a:t>Y</a:t>
            </a:r>
            <a:r>
              <a:rPr lang="zh-CN" altLang="en-US" u="sng" dirty="0">
                <a:solidFill>
                  <a:srgbClr val="0033CC"/>
                </a:solidFill>
              </a:rPr>
              <a:t>部分函数依赖于</a:t>
            </a:r>
            <a:r>
              <a:rPr lang="en-US" altLang="zh-CN" u="sng" dirty="0">
                <a:solidFill>
                  <a:srgbClr val="0033CC"/>
                </a:solidFill>
              </a:rPr>
              <a:t>X</a:t>
            </a:r>
            <a:r>
              <a:rPr lang="zh-CN" altLang="en-US" u="sng" dirty="0">
                <a:solidFill>
                  <a:srgbClr val="0033CC"/>
                </a:solidFill>
              </a:rPr>
              <a:t>，记作                   。</a:t>
            </a:r>
            <a:endParaRPr lang="zh-CN" altLang="en-US" u="sng" dirty="0">
              <a:solidFill>
                <a:srgbClr val="0033CC"/>
              </a:solidFill>
              <a:ea typeface="Arial" panose="020B0604020202020204" pitchFamily="34" charset="0"/>
            </a:endParaRPr>
          </a:p>
        </p:txBody>
      </p:sp>
      <p:graphicFrame>
        <p:nvGraphicFramePr>
          <p:cNvPr id="12294" name="对象 12293"/>
          <p:cNvGraphicFramePr>
            <a:graphicFrameLocks noChangeAspect="1"/>
          </p:cNvGraphicFramePr>
          <p:nvPr/>
        </p:nvGraphicFramePr>
        <p:xfrm>
          <a:off x="4038600" y="3189288"/>
          <a:ext cx="1158875" cy="342900"/>
        </p:xfrm>
        <a:graphic>
          <a:graphicData uri="http://schemas.openxmlformats.org/presentationml/2006/ole">
            <mc:AlternateContent xmlns:mc="http://schemas.openxmlformats.org/markup-compatibility/2006">
              <mc:Choice xmlns:v="urn:schemas-microsoft-com:vml" Requires="v">
                <p:oleObj spid="_x0000_s3079" name="" r:id="rId1" imgW="688975" imgH="203835" progId="Equation.3">
                  <p:embed/>
                </p:oleObj>
              </mc:Choice>
              <mc:Fallback>
                <p:oleObj name="" r:id="rId1" imgW="688975" imgH="203835" progId="Equation.3">
                  <p:embed/>
                  <p:pic>
                    <p:nvPicPr>
                      <p:cNvPr id="0" name="图片 3078"/>
                      <p:cNvPicPr/>
                      <p:nvPr/>
                    </p:nvPicPr>
                    <p:blipFill>
                      <a:blip r:embed="rId2"/>
                      <a:stretch>
                        <a:fillRect/>
                      </a:stretch>
                    </p:blipFill>
                    <p:spPr>
                      <a:xfrm>
                        <a:off x="4038600" y="3189288"/>
                        <a:ext cx="1158875" cy="342900"/>
                      </a:xfrm>
                      <a:prstGeom prst="rect">
                        <a:avLst/>
                      </a:prstGeom>
                      <a:noFill/>
                      <a:ln w="38100">
                        <a:noFill/>
                        <a:miter/>
                      </a:ln>
                    </p:spPr>
                  </p:pic>
                </p:oleObj>
              </mc:Fallback>
            </mc:AlternateContent>
          </a:graphicData>
        </a:graphic>
      </p:graphicFrame>
      <p:graphicFrame>
        <p:nvGraphicFramePr>
          <p:cNvPr id="12295" name="对象 12294"/>
          <p:cNvGraphicFramePr>
            <a:graphicFrameLocks noChangeAspect="1"/>
          </p:cNvGraphicFramePr>
          <p:nvPr/>
        </p:nvGraphicFramePr>
        <p:xfrm>
          <a:off x="6908800" y="2859088"/>
          <a:ext cx="1301750" cy="344487"/>
        </p:xfrm>
        <a:graphic>
          <a:graphicData uri="http://schemas.openxmlformats.org/presentationml/2006/ole">
            <mc:AlternateContent xmlns:mc="http://schemas.openxmlformats.org/markup-compatibility/2006">
              <mc:Choice xmlns:v="urn:schemas-microsoft-com:vml" Requires="v">
                <p:oleObj spid="_x0000_s3086" name="" r:id="rId3" imgW="675640" imgH="178435" progId="Equation.3">
                  <p:embed/>
                </p:oleObj>
              </mc:Choice>
              <mc:Fallback>
                <p:oleObj name="" r:id="rId3" imgW="675640" imgH="178435" progId="Equation.3">
                  <p:embed/>
                  <p:pic>
                    <p:nvPicPr>
                      <p:cNvPr id="0" name="图片 3085"/>
                      <p:cNvPicPr/>
                      <p:nvPr/>
                    </p:nvPicPr>
                    <p:blipFill>
                      <a:blip r:embed="rId4"/>
                      <a:stretch>
                        <a:fillRect/>
                      </a:stretch>
                    </p:blipFill>
                    <p:spPr>
                      <a:xfrm>
                        <a:off x="6908800" y="2859088"/>
                        <a:ext cx="1301750" cy="344487"/>
                      </a:xfrm>
                      <a:prstGeom prst="rect">
                        <a:avLst/>
                      </a:prstGeom>
                      <a:noFill/>
                      <a:ln w="38100">
                        <a:noFill/>
                        <a:miter/>
                      </a:ln>
                    </p:spPr>
                  </p:pic>
                </p:oleObj>
              </mc:Fallback>
            </mc:AlternateContent>
          </a:graphicData>
        </a:graphic>
      </p:graphicFrame>
      <p:graphicFrame>
        <p:nvGraphicFramePr>
          <p:cNvPr id="12296" name="对象 12295"/>
          <p:cNvGraphicFramePr>
            <a:graphicFrameLocks noChangeAspect="1"/>
          </p:cNvGraphicFramePr>
          <p:nvPr/>
        </p:nvGraphicFramePr>
        <p:xfrm>
          <a:off x="5997575" y="2890838"/>
          <a:ext cx="377825" cy="298450"/>
        </p:xfrm>
        <a:graphic>
          <a:graphicData uri="http://schemas.openxmlformats.org/presentationml/2006/ole">
            <mc:AlternateContent xmlns:mc="http://schemas.openxmlformats.org/markup-compatibility/2006">
              <mc:Choice xmlns:v="urn:schemas-microsoft-com:vml" Requires="v">
                <p:oleObj spid="_x0000_s3084" name="" r:id="rId5" imgW="207010" imgH="167640" progId="Equation.3">
                  <p:embed/>
                </p:oleObj>
              </mc:Choice>
              <mc:Fallback>
                <p:oleObj name="" r:id="rId5" imgW="207010" imgH="167640" progId="Equation.3">
                  <p:embed/>
                  <p:pic>
                    <p:nvPicPr>
                      <p:cNvPr id="0" name="图片 3083"/>
                      <p:cNvPicPr/>
                      <p:nvPr/>
                    </p:nvPicPr>
                    <p:blipFill>
                      <a:blip r:embed="rId6"/>
                      <a:stretch>
                        <a:fillRect/>
                      </a:stretch>
                    </p:blipFill>
                    <p:spPr>
                      <a:xfrm>
                        <a:off x="5997575" y="2890838"/>
                        <a:ext cx="377825" cy="298450"/>
                      </a:xfrm>
                      <a:prstGeom prst="rect">
                        <a:avLst/>
                      </a:prstGeom>
                      <a:noFill/>
                      <a:ln w="38100">
                        <a:noFill/>
                        <a:miter/>
                      </a:ln>
                    </p:spPr>
                  </p:pic>
                </p:oleObj>
              </mc:Fallback>
            </mc:AlternateContent>
          </a:graphicData>
        </a:graphic>
      </p:graphicFrame>
      <p:graphicFrame>
        <p:nvGraphicFramePr>
          <p:cNvPr id="12297" name="对象 12296"/>
          <p:cNvGraphicFramePr>
            <a:graphicFrameLocks noChangeAspect="1"/>
          </p:cNvGraphicFramePr>
          <p:nvPr/>
        </p:nvGraphicFramePr>
        <p:xfrm>
          <a:off x="6096000" y="3243263"/>
          <a:ext cx="847725" cy="304800"/>
        </p:xfrm>
        <a:graphic>
          <a:graphicData uri="http://schemas.openxmlformats.org/presentationml/2006/ole">
            <mc:AlternateContent xmlns:mc="http://schemas.openxmlformats.org/markup-compatibility/2006">
              <mc:Choice xmlns:v="urn:schemas-microsoft-com:vml" Requires="v">
                <p:oleObj spid="_x0000_s3080" name="" r:id="rId7" imgW="510540" imgH="178435" progId="Equation.3">
                  <p:embed/>
                </p:oleObj>
              </mc:Choice>
              <mc:Fallback>
                <p:oleObj name="" r:id="rId7" imgW="510540" imgH="178435" progId="Equation.3">
                  <p:embed/>
                  <p:pic>
                    <p:nvPicPr>
                      <p:cNvPr id="0" name="图片 3079"/>
                      <p:cNvPicPr/>
                      <p:nvPr/>
                    </p:nvPicPr>
                    <p:blipFill>
                      <a:blip r:embed="rId8"/>
                      <a:stretch>
                        <a:fillRect/>
                      </a:stretch>
                    </p:blipFill>
                    <p:spPr>
                      <a:xfrm>
                        <a:off x="6096000" y="3243263"/>
                        <a:ext cx="847725" cy="304800"/>
                      </a:xfrm>
                      <a:prstGeom prst="rect">
                        <a:avLst/>
                      </a:prstGeom>
                      <a:noFill/>
                      <a:ln w="38100">
                        <a:noFill/>
                        <a:miter/>
                      </a:ln>
                    </p:spPr>
                  </p:pic>
                </p:oleObj>
              </mc:Fallback>
            </mc:AlternateContent>
          </a:graphicData>
        </a:graphic>
      </p:graphicFrame>
      <p:graphicFrame>
        <p:nvGraphicFramePr>
          <p:cNvPr id="12298" name="对象 12297"/>
          <p:cNvGraphicFramePr>
            <a:graphicFrameLocks noChangeAspect="1"/>
          </p:cNvGraphicFramePr>
          <p:nvPr/>
        </p:nvGraphicFramePr>
        <p:xfrm>
          <a:off x="3024188" y="3587750"/>
          <a:ext cx="1182687" cy="350838"/>
        </p:xfrm>
        <a:graphic>
          <a:graphicData uri="http://schemas.openxmlformats.org/presentationml/2006/ole">
            <mc:AlternateContent xmlns:mc="http://schemas.openxmlformats.org/markup-compatibility/2006">
              <mc:Choice xmlns:v="urn:schemas-microsoft-com:vml" Requires="v">
                <p:oleObj spid="_x0000_s3085" name="" r:id="rId9" imgW="676275" imgH="204470" progId="Equation.3">
                  <p:embed/>
                </p:oleObj>
              </mc:Choice>
              <mc:Fallback>
                <p:oleObj name="" r:id="rId9" imgW="676275" imgH="204470" progId="Equation.3">
                  <p:embed/>
                  <p:pic>
                    <p:nvPicPr>
                      <p:cNvPr id="0" name="图片 3084"/>
                      <p:cNvPicPr/>
                      <p:nvPr/>
                    </p:nvPicPr>
                    <p:blipFill>
                      <a:blip r:embed="rId10"/>
                      <a:stretch>
                        <a:fillRect/>
                      </a:stretch>
                    </p:blipFill>
                    <p:spPr>
                      <a:xfrm>
                        <a:off x="3024188" y="3587750"/>
                        <a:ext cx="1182687" cy="350838"/>
                      </a:xfrm>
                      <a:prstGeom prst="rect">
                        <a:avLst/>
                      </a:prstGeom>
                      <a:noFill/>
                      <a:ln w="38100">
                        <a:noFill/>
                        <a:miter/>
                      </a:ln>
                    </p:spPr>
                  </p:pic>
                </p:oleObj>
              </mc:Fallback>
            </mc:AlternateContent>
          </a:graphicData>
        </a:graphic>
      </p:graphicFrame>
      <p:sp>
        <p:nvSpPr>
          <p:cNvPr id="12299"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grpSp>
        <p:nvGrpSpPr>
          <p:cNvPr id="2" name="组合 12299"/>
          <p:cNvGrpSpPr/>
          <p:nvPr/>
        </p:nvGrpSpPr>
        <p:grpSpPr>
          <a:xfrm>
            <a:off x="384175" y="4021138"/>
            <a:ext cx="8537575" cy="2511425"/>
            <a:chOff x="0" y="0"/>
            <a:chExt cx="13444" cy="3954"/>
          </a:xfrm>
        </p:grpSpPr>
        <p:sp>
          <p:nvSpPr>
            <p:cNvPr id="12301" name="内容占位符 2"/>
            <p:cNvSpPr/>
            <p:nvPr/>
          </p:nvSpPr>
          <p:spPr>
            <a:xfrm>
              <a:off x="0" y="0"/>
              <a:ext cx="13445" cy="395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spcBef>
                  <a:spcPct val="15000"/>
                </a:spcBef>
                <a:buNone/>
              </a:pPr>
              <a:r>
                <a:rPr lang="zh-CN" altLang="en-US" sz="2400" dirty="0">
                  <a:solidFill>
                    <a:srgbClr val="FF3300"/>
                  </a:solidFill>
                </a:rPr>
                <a:t>    </a:t>
              </a:r>
              <a:r>
                <a:rPr lang="zh-CN" altLang="en-US" sz="2400" u="sng" dirty="0">
                  <a:solidFill>
                    <a:srgbClr val="FF3300"/>
                  </a:solidFill>
                </a:rPr>
                <a:t>例</a:t>
              </a:r>
              <a:r>
                <a:rPr lang="en-US" altLang="zh-CN" sz="2400" u="sng" dirty="0">
                  <a:solidFill>
                    <a:srgbClr val="FF3300"/>
                  </a:solidFill>
                </a:rPr>
                <a:t>1</a:t>
              </a:r>
              <a:r>
                <a:rPr lang="zh-CN" altLang="en-US" sz="2400" u="sng" dirty="0">
                  <a:solidFill>
                    <a:srgbClr val="FF3300"/>
                  </a:solidFill>
                </a:rPr>
                <a:t>：</a:t>
              </a:r>
              <a:r>
                <a:rPr lang="zh-CN" altLang="en-US" dirty="0">
                  <a:solidFill>
                    <a:srgbClr val="0033CC"/>
                  </a:solidFill>
                </a:rPr>
                <a:t>假设有关系模式</a:t>
              </a:r>
              <a:r>
                <a:rPr lang="en-US" altLang="zh-CN" dirty="0">
                  <a:solidFill>
                    <a:srgbClr val="0033CC"/>
                  </a:solidFill>
                </a:rPr>
                <a:t>SC(Sno,Sname,Cno,Credit,Grade),</a:t>
              </a:r>
              <a:r>
                <a:rPr lang="zh-CN" altLang="en-US" dirty="0">
                  <a:solidFill>
                    <a:srgbClr val="0033CC"/>
                  </a:solidFill>
                </a:rPr>
                <a:t>其中各属性分别为学号、姓名、课程号、学分和成绩，主键为</a:t>
              </a:r>
              <a:r>
                <a:rPr lang="en-US" altLang="zh-CN" dirty="0">
                  <a:solidFill>
                    <a:srgbClr val="0033CC"/>
                  </a:solidFill>
                </a:rPr>
                <a:t>(Sno,Cno)</a:t>
              </a:r>
              <a:r>
                <a:rPr lang="zh-CN" altLang="en-US" dirty="0">
                  <a:solidFill>
                    <a:srgbClr val="0033CC"/>
                  </a:solidFill>
                </a:rPr>
                <a:t>，则函数依赖关系如下：</a:t>
              </a:r>
              <a:endParaRPr lang="zh-CN" altLang="en-US" dirty="0">
                <a:solidFill>
                  <a:srgbClr val="0033CC"/>
                </a:solidFill>
              </a:endParaRPr>
            </a:p>
            <a:p>
              <a:pPr marL="342900" lvl="0" indent="-342900" eaLnBrk="1" hangingPunct="1">
                <a:lnSpc>
                  <a:spcPct val="125000"/>
                </a:lnSpc>
                <a:spcBef>
                  <a:spcPct val="0"/>
                </a:spcBef>
                <a:buNone/>
              </a:pPr>
              <a:r>
                <a:rPr lang="zh-CN" altLang="en-US" dirty="0"/>
                <a:t>            </a:t>
              </a:r>
              <a:r>
                <a:rPr lang="en-US" altLang="zh-CN" dirty="0"/>
                <a:t>Sno→Sname</a:t>
              </a:r>
              <a:r>
                <a:rPr lang="en-US" altLang="zh-CN" dirty="0">
                  <a:solidFill>
                    <a:srgbClr val="0033CC"/>
                  </a:solidFill>
                </a:rPr>
                <a:t>                        </a:t>
              </a:r>
              <a:r>
                <a:rPr lang="zh-CN" altLang="en-US" sz="1800" dirty="0"/>
                <a:t>姓名函数依赖于学号</a:t>
              </a:r>
              <a:endParaRPr lang="zh-CN" altLang="en-US" sz="1800" dirty="0"/>
            </a:p>
            <a:p>
              <a:pPr marL="342900" lvl="0" indent="-342900" eaLnBrk="1" hangingPunct="1">
                <a:lnSpc>
                  <a:spcPct val="125000"/>
                </a:lnSpc>
                <a:spcBef>
                  <a:spcPct val="0"/>
                </a:spcBef>
                <a:buNone/>
              </a:pPr>
              <a:r>
                <a:rPr lang="zh-CN" altLang="en-US" dirty="0"/>
                <a:t>                                                          </a:t>
              </a:r>
              <a:r>
                <a:rPr lang="zh-CN" altLang="en-US" sz="1800" dirty="0"/>
                <a:t>姓名部分依赖于学号和课程号</a:t>
              </a:r>
              <a:endParaRPr lang="zh-CN" altLang="en-US" sz="1800" dirty="0"/>
            </a:p>
            <a:p>
              <a:pPr marL="342900" lvl="0" indent="-342900" eaLnBrk="1" hangingPunct="1">
                <a:lnSpc>
                  <a:spcPct val="125000"/>
                </a:lnSpc>
                <a:spcBef>
                  <a:spcPct val="0"/>
                </a:spcBef>
                <a:buNone/>
              </a:pPr>
              <a:r>
                <a:rPr lang="en-US" altLang="zh-CN" dirty="0"/>
                <a:t>                                                          </a:t>
              </a:r>
              <a:r>
                <a:rPr lang="zh-CN" altLang="en-US" sz="1800" dirty="0"/>
                <a:t>成绩完全依赖于学号和课程号</a:t>
              </a:r>
              <a:endParaRPr lang="zh-CN" altLang="en-US" sz="1800" dirty="0"/>
            </a:p>
            <a:p>
              <a:pPr marL="342900" lvl="0" indent="-342900" eaLnBrk="1" hangingPunct="1">
                <a:lnSpc>
                  <a:spcPct val="125000"/>
                </a:lnSpc>
                <a:spcBef>
                  <a:spcPts val="240"/>
                </a:spcBef>
                <a:buNone/>
              </a:pPr>
              <a:r>
                <a:rPr lang="zh-CN" altLang="en-US" dirty="0">
                  <a:solidFill>
                    <a:srgbClr val="0033CC"/>
                  </a:solidFill>
                </a:rPr>
                <a:t>   </a:t>
              </a:r>
              <a:r>
                <a:rPr lang="en-US" altLang="zh-CN" dirty="0">
                  <a:solidFill>
                    <a:srgbClr val="0033CC"/>
                  </a:solidFill>
                </a:rPr>
                <a:t> </a:t>
              </a:r>
              <a:endParaRPr lang="zh-CN" altLang="en-US" sz="1800" dirty="0">
                <a:ea typeface="Arial" panose="020B0604020202020204" pitchFamily="34" charset="0"/>
              </a:endParaRPr>
            </a:p>
          </p:txBody>
        </p:sp>
        <p:graphicFrame>
          <p:nvGraphicFramePr>
            <p:cNvPr id="12302" name="对象 12301"/>
            <p:cNvGraphicFramePr>
              <a:graphicFrameLocks noChangeAspect="1"/>
            </p:cNvGraphicFramePr>
            <p:nvPr/>
          </p:nvGraphicFramePr>
          <p:xfrm>
            <a:off x="1205" y="2393"/>
            <a:ext cx="3795" cy="572"/>
          </p:xfrm>
          <a:graphic>
            <a:graphicData uri="http://schemas.openxmlformats.org/presentationml/2006/ole">
              <mc:AlternateContent xmlns:mc="http://schemas.openxmlformats.org/markup-compatibility/2006">
                <mc:Choice xmlns:v="urn:schemas-microsoft-com:vml" Requires="v">
                  <p:oleObj spid="_x0000_s3076" name="" r:id="rId11" imgW="1511935" imgH="228600" progId="Equation.3">
                    <p:embed/>
                  </p:oleObj>
                </mc:Choice>
                <mc:Fallback>
                  <p:oleObj name="" r:id="rId11" imgW="1511935" imgH="228600" progId="Equation.3">
                    <p:embed/>
                    <p:pic>
                      <p:nvPicPr>
                        <p:cNvPr id="0" name="图片 3075"/>
                        <p:cNvPicPr/>
                        <p:nvPr/>
                      </p:nvPicPr>
                      <p:blipFill>
                        <a:blip r:embed="rId12"/>
                        <a:stretch>
                          <a:fillRect/>
                        </a:stretch>
                      </p:blipFill>
                      <p:spPr>
                        <a:xfrm>
                          <a:off x="1205" y="2393"/>
                          <a:ext cx="3795" cy="572"/>
                        </a:xfrm>
                        <a:prstGeom prst="rect">
                          <a:avLst/>
                        </a:prstGeom>
                        <a:noFill/>
                        <a:ln w="38100">
                          <a:noFill/>
                          <a:miter/>
                        </a:ln>
                      </p:spPr>
                    </p:pic>
                  </p:oleObj>
                </mc:Fallback>
              </mc:AlternateContent>
            </a:graphicData>
          </a:graphic>
        </p:graphicFrame>
        <p:graphicFrame>
          <p:nvGraphicFramePr>
            <p:cNvPr id="12303" name="对象 12302"/>
            <p:cNvGraphicFramePr>
              <a:graphicFrameLocks noChangeAspect="1"/>
            </p:cNvGraphicFramePr>
            <p:nvPr/>
          </p:nvGraphicFramePr>
          <p:xfrm>
            <a:off x="1288" y="2928"/>
            <a:ext cx="3892" cy="600"/>
          </p:xfrm>
          <a:graphic>
            <a:graphicData uri="http://schemas.openxmlformats.org/presentationml/2006/ole">
              <mc:AlternateContent xmlns:mc="http://schemas.openxmlformats.org/markup-compatibility/2006">
                <mc:Choice xmlns:v="urn:schemas-microsoft-com:vml" Requires="v">
                  <p:oleObj spid="_x0000_s3083" name="" r:id="rId13" imgW="1486535" imgH="228600" progId="Equation.3">
                    <p:embed/>
                  </p:oleObj>
                </mc:Choice>
                <mc:Fallback>
                  <p:oleObj name="" r:id="rId13" imgW="1486535" imgH="228600" progId="Equation.3">
                    <p:embed/>
                    <p:pic>
                      <p:nvPicPr>
                        <p:cNvPr id="0" name="图片 3082"/>
                        <p:cNvPicPr/>
                        <p:nvPr/>
                      </p:nvPicPr>
                      <p:blipFill>
                        <a:blip r:embed="rId14"/>
                        <a:stretch>
                          <a:fillRect/>
                        </a:stretch>
                      </p:blipFill>
                      <p:spPr>
                        <a:xfrm>
                          <a:off x="1288" y="2928"/>
                          <a:ext cx="3892" cy="600"/>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3313"/>
          <p:cNvGrpSpPr/>
          <p:nvPr/>
        </p:nvGrpSpPr>
        <p:grpSpPr>
          <a:xfrm>
            <a:off x="323850" y="3246438"/>
            <a:ext cx="8347075" cy="3132137"/>
            <a:chOff x="0" y="0"/>
            <a:chExt cx="13144" cy="4934"/>
          </a:xfrm>
        </p:grpSpPr>
        <p:sp>
          <p:nvSpPr>
            <p:cNvPr id="13320" name="内容占位符 2"/>
            <p:cNvSpPr/>
            <p:nvPr/>
          </p:nvSpPr>
          <p:spPr>
            <a:xfrm>
              <a:off x="0" y="0"/>
              <a:ext cx="13145" cy="493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15000"/>
                </a:spcBef>
                <a:buNone/>
              </a:pPr>
              <a:r>
                <a:rPr lang="zh-CN" altLang="en-US" sz="2400" dirty="0">
                  <a:solidFill>
                    <a:srgbClr val="FF0000"/>
                  </a:solidFill>
                </a:rPr>
                <a:t>     </a:t>
              </a:r>
              <a:r>
                <a:rPr lang="zh-CN" altLang="en-US" sz="2400" u="sng" dirty="0">
                  <a:solidFill>
                    <a:srgbClr val="FF0000"/>
                  </a:solidFill>
                </a:rPr>
                <a:t> 例</a:t>
              </a:r>
              <a:r>
                <a:rPr lang="en-US" altLang="zh-CN" sz="2400" u="sng" dirty="0">
                  <a:solidFill>
                    <a:srgbClr val="FF0000"/>
                  </a:solidFill>
                </a:rPr>
                <a:t>2</a:t>
              </a:r>
              <a:r>
                <a:rPr lang="zh-CN" altLang="en-US" sz="2400" u="sng" dirty="0">
                  <a:solidFill>
                    <a:srgbClr val="FF0000"/>
                  </a:solidFill>
                </a:rPr>
                <a:t>：</a:t>
              </a:r>
              <a:r>
                <a:rPr lang="zh-CN" altLang="en-US" dirty="0">
                  <a:solidFill>
                    <a:srgbClr val="0033CC"/>
                  </a:solidFill>
                </a:rPr>
                <a:t>假设有关系模式</a:t>
              </a:r>
              <a:r>
                <a:rPr lang="en-US" altLang="zh-CN" dirty="0">
                  <a:solidFill>
                    <a:srgbClr val="0033CC"/>
                  </a:solidFill>
                </a:rPr>
                <a:t>S(Sno,Sname,Dept,Dept_master),</a:t>
              </a:r>
              <a:r>
                <a:rPr lang="zh-CN" altLang="en-US" dirty="0">
                  <a:solidFill>
                    <a:srgbClr val="0033CC"/>
                  </a:solidFill>
                </a:rPr>
                <a:t>其中各属性分别为学号、姓名、所在系和系主任，主键为</a:t>
              </a:r>
              <a:r>
                <a:rPr lang="en-US" altLang="zh-CN" dirty="0">
                  <a:solidFill>
                    <a:srgbClr val="0033CC"/>
                  </a:solidFill>
                </a:rPr>
                <a:t>Sno,</a:t>
              </a:r>
              <a:r>
                <a:rPr lang="zh-CN" altLang="en-US" dirty="0">
                  <a:solidFill>
                    <a:srgbClr val="0033CC"/>
                  </a:solidFill>
                </a:rPr>
                <a:t>则函数依赖关系：               </a:t>
              </a:r>
              <a:endParaRPr lang="zh-CN" altLang="en-US" dirty="0">
                <a:solidFill>
                  <a:srgbClr val="0033CC"/>
                </a:solidFill>
              </a:endParaRPr>
            </a:p>
            <a:p>
              <a:pPr marL="342900" lvl="0" indent="-342900" eaLnBrk="1" hangingPunct="1">
                <a:lnSpc>
                  <a:spcPct val="125000"/>
                </a:lnSpc>
                <a:spcBef>
                  <a:spcPts val="1200"/>
                </a:spcBef>
                <a:buNone/>
              </a:pPr>
              <a:r>
                <a:rPr lang="zh-CN" altLang="en-US" dirty="0"/>
                <a:t>                                                                    </a:t>
              </a:r>
              <a:r>
                <a:rPr lang="zh-CN" altLang="en-US" sz="1800" dirty="0"/>
                <a:t>姓名完全函数依赖于学号</a:t>
              </a:r>
              <a:endParaRPr lang="zh-CN" altLang="en-US" sz="1800" dirty="0"/>
            </a:p>
            <a:p>
              <a:pPr marL="342900" lvl="0" indent="-342900" eaLnBrk="1" hangingPunct="1">
                <a:lnSpc>
                  <a:spcPct val="125000"/>
                </a:lnSpc>
                <a:spcBef>
                  <a:spcPct val="15000"/>
                </a:spcBef>
                <a:buNone/>
              </a:pPr>
              <a:r>
                <a:rPr lang="zh-CN" altLang="en-US" sz="1800" dirty="0"/>
                <a:t>             由于：                                                   所在系完全函数依赖于学号</a:t>
              </a:r>
              <a:endParaRPr lang="zh-CN" altLang="en-US" sz="1800" dirty="0"/>
            </a:p>
            <a:p>
              <a:pPr marL="342900" lvl="0" indent="-342900" eaLnBrk="1" hangingPunct="1">
                <a:lnSpc>
                  <a:spcPct val="125000"/>
                </a:lnSpc>
                <a:spcBef>
                  <a:spcPct val="15000"/>
                </a:spcBef>
                <a:buNone/>
              </a:pPr>
              <a:r>
                <a:rPr lang="zh-CN" altLang="en-US" sz="1800" dirty="0"/>
                <a:t>                                                                          系主任完全函数依赖于系</a:t>
              </a:r>
              <a:endParaRPr lang="zh-CN" altLang="en-US" sz="1800" dirty="0"/>
            </a:p>
            <a:p>
              <a:pPr marL="342900" lvl="0" indent="-342900" eaLnBrk="1" hangingPunct="1">
                <a:lnSpc>
                  <a:spcPct val="125000"/>
                </a:lnSpc>
                <a:spcBef>
                  <a:spcPct val="15000"/>
                </a:spcBef>
                <a:buNone/>
              </a:pPr>
              <a:r>
                <a:rPr lang="zh-CN" altLang="en-US" sz="1800" dirty="0"/>
                <a:t>             所以：                                                  系主任传递依赖于学号</a:t>
              </a:r>
              <a:endParaRPr lang="zh-CN" altLang="en-US" sz="1800" dirty="0">
                <a:ea typeface="Arial" panose="020B0604020202020204" pitchFamily="34" charset="0"/>
              </a:endParaRPr>
            </a:p>
          </p:txBody>
        </p:sp>
        <p:graphicFrame>
          <p:nvGraphicFramePr>
            <p:cNvPr id="13321" name="对象 13315"/>
            <p:cNvGraphicFramePr>
              <a:graphicFrameLocks noChangeAspect="1"/>
            </p:cNvGraphicFramePr>
            <p:nvPr/>
          </p:nvGraphicFramePr>
          <p:xfrm>
            <a:off x="2633" y="1783"/>
            <a:ext cx="2980" cy="540"/>
          </p:xfrm>
          <a:graphic>
            <a:graphicData uri="http://schemas.openxmlformats.org/presentationml/2006/ole">
              <mc:AlternateContent xmlns:mc="http://schemas.openxmlformats.org/markup-compatibility/2006">
                <mc:Choice xmlns:v="urn:schemas-microsoft-com:vml" Requires="v">
                  <p:oleObj spid="_x0000_s3077" name="" r:id="rId1" imgW="1109980" imgH="204470" progId="Equation.3">
                    <p:embed/>
                  </p:oleObj>
                </mc:Choice>
                <mc:Fallback>
                  <p:oleObj name="" r:id="rId1" imgW="1109980" imgH="204470" progId="Equation.3">
                    <p:embed/>
                    <p:pic>
                      <p:nvPicPr>
                        <p:cNvPr id="0" name="图片 3076"/>
                        <p:cNvPicPr/>
                        <p:nvPr/>
                      </p:nvPicPr>
                      <p:blipFill>
                        <a:blip r:embed="rId2"/>
                        <a:stretch>
                          <a:fillRect/>
                        </a:stretch>
                      </p:blipFill>
                      <p:spPr>
                        <a:xfrm>
                          <a:off x="2633" y="1783"/>
                          <a:ext cx="2980" cy="540"/>
                        </a:xfrm>
                        <a:prstGeom prst="rect">
                          <a:avLst/>
                        </a:prstGeom>
                        <a:noFill/>
                        <a:ln w="38100">
                          <a:noFill/>
                          <a:miter/>
                        </a:ln>
                      </p:spPr>
                    </p:pic>
                  </p:oleObj>
                </mc:Fallback>
              </mc:AlternateContent>
            </a:graphicData>
          </a:graphic>
        </p:graphicFrame>
        <p:graphicFrame>
          <p:nvGraphicFramePr>
            <p:cNvPr id="13322" name="对象 13316"/>
            <p:cNvGraphicFramePr>
              <a:graphicFrameLocks noChangeAspect="1"/>
            </p:cNvGraphicFramePr>
            <p:nvPr/>
          </p:nvGraphicFramePr>
          <p:xfrm>
            <a:off x="2630" y="2440"/>
            <a:ext cx="2435" cy="558"/>
          </p:xfrm>
          <a:graphic>
            <a:graphicData uri="http://schemas.openxmlformats.org/presentationml/2006/ole">
              <mc:AlternateContent xmlns:mc="http://schemas.openxmlformats.org/markup-compatibility/2006">
                <mc:Choice xmlns:v="urn:schemas-microsoft-com:vml" Requires="v">
                  <p:oleObj spid="_x0000_s3078" name="" r:id="rId3" imgW="1007745" imgH="229870" progId="Equation.3">
                    <p:embed/>
                  </p:oleObj>
                </mc:Choice>
                <mc:Fallback>
                  <p:oleObj name="" r:id="rId3" imgW="1007745" imgH="229870" progId="Equation.3">
                    <p:embed/>
                    <p:pic>
                      <p:nvPicPr>
                        <p:cNvPr id="0" name="图片 3077"/>
                        <p:cNvPicPr/>
                        <p:nvPr/>
                      </p:nvPicPr>
                      <p:blipFill>
                        <a:blip r:embed="rId4"/>
                        <a:stretch>
                          <a:fillRect/>
                        </a:stretch>
                      </p:blipFill>
                      <p:spPr>
                        <a:xfrm>
                          <a:off x="2630" y="2440"/>
                          <a:ext cx="2435" cy="558"/>
                        </a:xfrm>
                        <a:prstGeom prst="rect">
                          <a:avLst/>
                        </a:prstGeom>
                        <a:noFill/>
                        <a:ln w="38100">
                          <a:noFill/>
                          <a:miter/>
                        </a:ln>
                      </p:spPr>
                    </p:pic>
                  </p:oleObj>
                </mc:Fallback>
              </mc:AlternateContent>
            </a:graphicData>
          </a:graphic>
        </p:graphicFrame>
        <p:graphicFrame>
          <p:nvGraphicFramePr>
            <p:cNvPr id="13323" name="对象 13317"/>
            <p:cNvGraphicFramePr>
              <a:graphicFrameLocks noChangeAspect="1"/>
            </p:cNvGraphicFramePr>
            <p:nvPr/>
          </p:nvGraphicFramePr>
          <p:xfrm>
            <a:off x="2528" y="3020"/>
            <a:ext cx="4082" cy="573"/>
          </p:xfrm>
          <a:graphic>
            <a:graphicData uri="http://schemas.openxmlformats.org/presentationml/2006/ole">
              <mc:AlternateContent xmlns:mc="http://schemas.openxmlformats.org/markup-compatibility/2006">
                <mc:Choice xmlns:v="urn:schemas-microsoft-com:vml" Requires="v">
                  <p:oleObj spid="_x0000_s3081" name="" r:id="rId5" imgW="1626235" imgH="228600" progId="Equation.3">
                    <p:embed/>
                  </p:oleObj>
                </mc:Choice>
                <mc:Fallback>
                  <p:oleObj name="" r:id="rId5" imgW="1626235" imgH="228600" progId="Equation.3">
                    <p:embed/>
                    <p:pic>
                      <p:nvPicPr>
                        <p:cNvPr id="0" name="图片 3080"/>
                        <p:cNvPicPr/>
                        <p:nvPr/>
                      </p:nvPicPr>
                      <p:blipFill>
                        <a:blip r:embed="rId6"/>
                        <a:stretch>
                          <a:fillRect/>
                        </a:stretch>
                      </p:blipFill>
                      <p:spPr>
                        <a:xfrm>
                          <a:off x="2528" y="3020"/>
                          <a:ext cx="4082" cy="573"/>
                        </a:xfrm>
                        <a:prstGeom prst="rect">
                          <a:avLst/>
                        </a:prstGeom>
                        <a:noFill/>
                        <a:ln w="38100">
                          <a:noFill/>
                          <a:miter/>
                        </a:ln>
                      </p:spPr>
                    </p:pic>
                  </p:oleObj>
                </mc:Fallback>
              </mc:AlternateContent>
            </a:graphicData>
          </a:graphic>
        </p:graphicFrame>
        <p:graphicFrame>
          <p:nvGraphicFramePr>
            <p:cNvPr id="13324" name="对象 13318"/>
            <p:cNvGraphicFramePr>
              <a:graphicFrameLocks noChangeAspect="1"/>
            </p:cNvGraphicFramePr>
            <p:nvPr/>
          </p:nvGraphicFramePr>
          <p:xfrm>
            <a:off x="2545" y="3550"/>
            <a:ext cx="4450" cy="635"/>
          </p:xfrm>
          <a:graphic>
            <a:graphicData uri="http://schemas.openxmlformats.org/presentationml/2006/ole">
              <mc:AlternateContent xmlns:mc="http://schemas.openxmlformats.org/markup-compatibility/2006">
                <mc:Choice xmlns:v="urn:schemas-microsoft-com:vml" Requires="v">
                  <p:oleObj spid="_x0000_s3087" name="" r:id="rId7" imgW="1664335" imgH="241300" progId="Equation.3">
                    <p:embed/>
                  </p:oleObj>
                </mc:Choice>
                <mc:Fallback>
                  <p:oleObj name="" r:id="rId7" imgW="1664335" imgH="241300" progId="Equation.3">
                    <p:embed/>
                    <p:pic>
                      <p:nvPicPr>
                        <p:cNvPr id="0" name="图片 3086"/>
                        <p:cNvPicPr/>
                        <p:nvPr/>
                      </p:nvPicPr>
                      <p:blipFill>
                        <a:blip r:embed="rId8"/>
                        <a:stretch>
                          <a:fillRect/>
                        </a:stretch>
                      </p:blipFill>
                      <p:spPr>
                        <a:xfrm>
                          <a:off x="2545" y="3550"/>
                          <a:ext cx="4450" cy="635"/>
                        </a:xfrm>
                        <a:prstGeom prst="rect">
                          <a:avLst/>
                        </a:prstGeom>
                        <a:noFill/>
                        <a:ln w="38100">
                          <a:noFill/>
                          <a:miter/>
                        </a:ln>
                      </p:spPr>
                    </p:pic>
                  </p:oleObj>
                </mc:Fallback>
              </mc:AlternateContent>
            </a:graphicData>
          </a:graphic>
        </p:graphicFrame>
      </p:grpSp>
      <p:sp>
        <p:nvSpPr>
          <p:cNvPr id="13315" name="Rectangle 7"/>
          <p:cNvSpPr/>
          <p:nvPr/>
        </p:nvSpPr>
        <p:spPr>
          <a:xfrm>
            <a:off x="547688" y="844550"/>
            <a:ext cx="649605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2</a:t>
            </a:r>
            <a:r>
              <a:rPr lang="zh-CN" altLang="en-US" sz="2800" dirty="0">
                <a:solidFill>
                  <a:srgbClr val="FF3300"/>
                </a:solidFill>
                <a:latin typeface="黑体" panose="02010609060101010101" pitchFamily="49" charset="-122"/>
                <a:ea typeface="黑体" panose="02010609060101010101" pitchFamily="49" charset="-122"/>
              </a:rPr>
              <a:t>、函数依赖的一些基本术语和符号</a:t>
            </a:r>
            <a:endParaRPr lang="en-US" altLang="zh-CN" sz="2800" dirty="0">
              <a:solidFill>
                <a:srgbClr val="FF3300"/>
              </a:solidFill>
              <a:latin typeface="黑体" panose="02010609060101010101" pitchFamily="49" charset="-122"/>
              <a:ea typeface="黑体" panose="02010609060101010101" pitchFamily="49" charset="-122"/>
            </a:endParaRPr>
          </a:p>
        </p:txBody>
      </p:sp>
      <p:sp>
        <p:nvSpPr>
          <p:cNvPr id="13316"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13317" name="矩形 10"/>
          <p:cNvSpPr/>
          <p:nvPr/>
        </p:nvSpPr>
        <p:spPr>
          <a:xfrm>
            <a:off x="663575" y="1509713"/>
            <a:ext cx="7875588" cy="8540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ts val="1200"/>
              </a:spcBef>
              <a:buClrTx/>
              <a:buSzTx/>
              <a:buFont typeface="Arial" panose="020B0604020202020204" pitchFamily="34" charset="0"/>
              <a:buNone/>
            </a:pPr>
            <a:r>
              <a:rPr lang="zh-CN" altLang="en-US" u="sng" dirty="0">
                <a:solidFill>
                  <a:srgbClr val="0033CC"/>
                </a:solidFill>
              </a:rPr>
              <a:t>③ 如果</a:t>
            </a:r>
            <a:r>
              <a:rPr lang="en-US" altLang="zh-CN" u="sng" dirty="0">
                <a:solidFill>
                  <a:srgbClr val="0033CC"/>
                </a:solidFill>
              </a:rPr>
              <a:t>X → Y</a:t>
            </a:r>
            <a:r>
              <a:rPr lang="zh-CN" altLang="en-US" u="sng" dirty="0">
                <a:solidFill>
                  <a:srgbClr val="0033CC"/>
                </a:solidFill>
              </a:rPr>
              <a:t>（非平凡依赖，并且                ）、 </a:t>
            </a:r>
            <a:r>
              <a:rPr lang="en-US" altLang="zh-CN" u="sng" dirty="0">
                <a:solidFill>
                  <a:srgbClr val="0033CC"/>
                </a:solidFill>
              </a:rPr>
              <a:t>Y → Z</a:t>
            </a:r>
            <a:r>
              <a:rPr lang="zh-CN" altLang="en-US" u="sng" dirty="0">
                <a:solidFill>
                  <a:srgbClr val="0033CC"/>
                </a:solidFill>
              </a:rPr>
              <a:t>，</a:t>
            </a:r>
            <a:r>
              <a:rPr lang="en-US" altLang="zh-CN" u="sng" dirty="0">
                <a:solidFill>
                  <a:srgbClr val="0033CC"/>
                </a:solidFill>
              </a:rPr>
              <a:t>则称Z</a:t>
            </a:r>
            <a:r>
              <a:rPr lang="zh-CN" altLang="en-US" u="sng" dirty="0">
                <a:solidFill>
                  <a:srgbClr val="0033CC"/>
                </a:solidFill>
              </a:rPr>
              <a:t>传递函数依赖于</a:t>
            </a:r>
            <a:r>
              <a:rPr lang="en-US" altLang="zh-CN" u="sng" dirty="0">
                <a:solidFill>
                  <a:srgbClr val="0033CC"/>
                </a:solidFill>
              </a:rPr>
              <a:t>X</a:t>
            </a:r>
            <a:r>
              <a:rPr lang="zh-CN" altLang="en-US" u="sng" dirty="0">
                <a:solidFill>
                  <a:srgbClr val="0033CC"/>
                </a:solidFill>
              </a:rPr>
              <a:t>。</a:t>
            </a:r>
            <a:endParaRPr lang="zh-CN" altLang="en-US" dirty="0"/>
          </a:p>
        </p:txBody>
      </p:sp>
      <p:graphicFrame>
        <p:nvGraphicFramePr>
          <p:cNvPr id="13318" name="对象 13322"/>
          <p:cNvGraphicFramePr>
            <a:graphicFrameLocks noChangeAspect="1"/>
          </p:cNvGraphicFramePr>
          <p:nvPr/>
        </p:nvGraphicFramePr>
        <p:xfrm>
          <a:off x="4645025" y="1590675"/>
          <a:ext cx="1031875" cy="266700"/>
        </p:xfrm>
        <a:graphic>
          <a:graphicData uri="http://schemas.openxmlformats.org/presentationml/2006/ole">
            <mc:AlternateContent xmlns:mc="http://schemas.openxmlformats.org/markup-compatibility/2006">
              <mc:Choice xmlns:v="urn:schemas-microsoft-com:vml" Requires="v">
                <p:oleObj spid="_x0000_s3082" name="" r:id="rId9" imgW="701675" imgH="178435" progId="Equation.3">
                  <p:embed/>
                </p:oleObj>
              </mc:Choice>
              <mc:Fallback>
                <p:oleObj name="" r:id="rId9" imgW="701675" imgH="178435" progId="Equation.3">
                  <p:embed/>
                  <p:pic>
                    <p:nvPicPr>
                      <p:cNvPr id="0" name="图片 3081"/>
                      <p:cNvPicPr/>
                      <p:nvPr/>
                    </p:nvPicPr>
                    <p:blipFill>
                      <a:blip r:embed="rId10"/>
                      <a:stretch>
                        <a:fillRect/>
                      </a:stretch>
                    </p:blipFill>
                    <p:spPr>
                      <a:xfrm>
                        <a:off x="4645025" y="1590675"/>
                        <a:ext cx="1031875" cy="266700"/>
                      </a:xfrm>
                      <a:prstGeom prst="rect">
                        <a:avLst/>
                      </a:prstGeom>
                      <a:noFill/>
                      <a:ln w="38100">
                        <a:noFill/>
                        <a:miter/>
                      </a:ln>
                    </p:spPr>
                  </p:pic>
                </p:oleObj>
              </mc:Fallback>
            </mc:AlternateContent>
          </a:graphicData>
        </a:graphic>
      </p:graphicFrame>
      <p:sp>
        <p:nvSpPr>
          <p:cNvPr id="13319" name="矩形 10"/>
          <p:cNvSpPr/>
          <p:nvPr/>
        </p:nvSpPr>
        <p:spPr>
          <a:xfrm>
            <a:off x="644525" y="2401888"/>
            <a:ext cx="7875588" cy="4730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eaLnBrk="1" hangingPunct="1">
              <a:lnSpc>
                <a:spcPct val="125000"/>
              </a:lnSpc>
              <a:spcBef>
                <a:spcPts val="1200"/>
              </a:spcBef>
              <a:buClrTx/>
              <a:buSzPct val="100000"/>
              <a:buFont typeface="Arial" panose="020B0604020202020204" pitchFamily="34" charset="0"/>
              <a:buNone/>
            </a:pPr>
            <a:r>
              <a:rPr lang="zh-CN" altLang="en-US" u="sng" dirty="0">
                <a:solidFill>
                  <a:srgbClr val="0033CC"/>
                </a:solidFill>
              </a:rPr>
              <a:t> 如果</a:t>
            </a:r>
            <a:r>
              <a:rPr lang="en-US" altLang="zh-CN" u="sng" dirty="0">
                <a:solidFill>
                  <a:srgbClr val="0033CC"/>
                </a:solidFill>
              </a:rPr>
              <a:t>X → Y</a:t>
            </a:r>
            <a:r>
              <a:rPr lang="zh-CN" altLang="en-US" u="sng" dirty="0">
                <a:solidFill>
                  <a:srgbClr val="0033CC"/>
                </a:solidFill>
              </a:rPr>
              <a:t>且 </a:t>
            </a:r>
            <a:r>
              <a:rPr lang="en-US" altLang="zh-CN" u="sng" dirty="0">
                <a:solidFill>
                  <a:srgbClr val="0033CC"/>
                </a:solidFill>
              </a:rPr>
              <a:t>Y → </a:t>
            </a:r>
            <a:r>
              <a:rPr lang="zh-CN" altLang="en-US" u="sng" dirty="0">
                <a:solidFill>
                  <a:srgbClr val="0033CC"/>
                </a:solidFill>
              </a:rPr>
              <a:t>X，</a:t>
            </a:r>
            <a:r>
              <a:rPr lang="en-US" altLang="zh-CN" u="sng" dirty="0">
                <a:solidFill>
                  <a:srgbClr val="0033CC"/>
                </a:solidFill>
              </a:rPr>
              <a:t>则X</a:t>
            </a:r>
            <a:r>
              <a:rPr lang="zh-CN" altLang="en-US" u="sng" dirty="0">
                <a:solidFill>
                  <a:srgbClr val="0033CC"/>
                </a:solidFill>
              </a:rPr>
              <a:t>与Y一一对应，即X与Y等价，记为</a:t>
            </a:r>
            <a:r>
              <a:rPr lang="en-US" altLang="zh-CN" u="sng" dirty="0">
                <a:solidFill>
                  <a:srgbClr val="0033CC"/>
                </a:solidFill>
              </a:rPr>
              <a:t>Y↔</a:t>
            </a:r>
            <a:r>
              <a:rPr lang="zh-CN" altLang="en-US" u="sng" dirty="0">
                <a:solidFill>
                  <a:srgbClr val="0033CC"/>
                </a:solidFill>
              </a:rPr>
              <a:t>X。</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内容占位符 14337" descr="Rectangle: Click to edit Master text styles&#13;&#10;Second level&#13;&#10;Third level&#13;&#10;Fourth level&#13;&#10;Fifth level"/>
          <p:cNvSpPr>
            <a:spLocks noGrp="1"/>
          </p:cNvSpPr>
          <p:nvPr>
            <p:ph idx="1"/>
          </p:nvPr>
        </p:nvSpPr>
        <p:spPr>
          <a:xfrm>
            <a:off x="565150" y="1631950"/>
            <a:ext cx="8077200" cy="2725738"/>
          </a:xfrm>
        </p:spPr>
        <p:txBody>
          <a:bodyPr vert="horz" wrap="square" lIns="91440" tIns="45720" rIns="91440" bIns="45720" anchor="t" anchorCtr="0"/>
          <a:p>
            <a:pPr marL="1905" indent="-1905">
              <a:lnSpc>
                <a:spcPct val="120000"/>
              </a:lnSpc>
              <a:buSzPct val="100000"/>
              <a:buFont typeface="Wingdings" panose="05000000000000000000" pitchFamily="2" charset="2"/>
              <a:buChar char="n"/>
            </a:pPr>
            <a:r>
              <a:rPr lang="zh-CN" altLang="en-US" sz="2400" u="sng" dirty="0">
                <a:solidFill>
                  <a:srgbClr val="3333FF"/>
                </a:solidFill>
              </a:rPr>
              <a:t>课堂练习：</a:t>
            </a:r>
            <a:r>
              <a:rPr lang="zh-CN" altLang="en-US" sz="2400" dirty="0"/>
              <a:t>关系</a:t>
            </a:r>
            <a:r>
              <a:rPr lang="en-US" altLang="zh-CN" sz="2400" dirty="0"/>
              <a:t>R</a:t>
            </a:r>
            <a:r>
              <a:rPr lang="zh-CN" altLang="en-US" sz="2400" dirty="0"/>
              <a:t>（</a:t>
            </a:r>
            <a:r>
              <a:rPr lang="en-US" altLang="zh-CN" sz="2400" dirty="0"/>
              <a:t>A</a:t>
            </a:r>
            <a:r>
              <a:rPr lang="zh-CN" altLang="en-US" sz="2400" dirty="0"/>
              <a:t>，</a:t>
            </a:r>
            <a:r>
              <a:rPr lang="en-US" altLang="zh-CN" sz="2400" dirty="0"/>
              <a:t>B</a:t>
            </a:r>
            <a:r>
              <a:rPr lang="zh-CN" altLang="en-US" sz="2400" dirty="0"/>
              <a:t>，</a:t>
            </a:r>
            <a:r>
              <a:rPr lang="en-US" altLang="zh-CN" sz="2400" dirty="0"/>
              <a:t>C</a:t>
            </a:r>
            <a:r>
              <a:rPr lang="zh-CN" altLang="en-US" sz="2400" dirty="0"/>
              <a:t>，</a:t>
            </a:r>
            <a:r>
              <a:rPr lang="en-US" altLang="zh-CN" sz="2400" dirty="0"/>
              <a:t>D),</a:t>
            </a:r>
            <a:r>
              <a:rPr lang="zh-CN" altLang="en-US" sz="2400" dirty="0"/>
              <a:t> </a:t>
            </a:r>
            <a:r>
              <a:rPr lang="en-US" altLang="zh-CN" sz="2400" dirty="0"/>
              <a:t>A</a:t>
            </a:r>
            <a:r>
              <a:rPr lang="zh-CN" altLang="en-US" sz="2400" dirty="0"/>
              <a:t>和</a:t>
            </a:r>
            <a:r>
              <a:rPr lang="en-US" altLang="zh-CN" sz="2400" dirty="0"/>
              <a:t>B</a:t>
            </a:r>
            <a:r>
              <a:rPr lang="zh-CN" altLang="en-US" sz="2400" dirty="0"/>
              <a:t>是</a:t>
            </a:r>
            <a:r>
              <a:rPr lang="en-US" altLang="zh-CN" sz="2400" dirty="0"/>
              <a:t>1:n</a:t>
            </a:r>
            <a:r>
              <a:rPr lang="zh-CN" altLang="en-US" sz="2400" dirty="0"/>
              <a:t>的关系，</a:t>
            </a:r>
            <a:r>
              <a:rPr lang="en-US" altLang="zh-CN" sz="2400" dirty="0"/>
              <a:t>C</a:t>
            </a:r>
            <a:r>
              <a:rPr lang="zh-CN" altLang="en-US" sz="2400" dirty="0"/>
              <a:t>和</a:t>
            </a:r>
            <a:r>
              <a:rPr lang="en-US" altLang="zh-CN" sz="2400" dirty="0"/>
              <a:t>D</a:t>
            </a:r>
            <a:r>
              <a:rPr lang="zh-CN" altLang="en-US" sz="2400" dirty="0"/>
              <a:t>是</a:t>
            </a:r>
            <a:r>
              <a:rPr lang="en-US" altLang="zh-CN" sz="2400" dirty="0"/>
              <a:t>1:1</a:t>
            </a:r>
            <a:r>
              <a:rPr lang="zh-CN" altLang="en-US" sz="2400" dirty="0"/>
              <a:t>的关系。请写出相应的函数依赖 </a:t>
            </a:r>
            <a:r>
              <a:rPr lang="en-US" altLang="zh-CN" sz="2400" dirty="0"/>
              <a:t>(FD)</a:t>
            </a:r>
            <a:r>
              <a:rPr lang="zh-CN" altLang="en-US" sz="2400" dirty="0"/>
              <a:t>，并指出</a:t>
            </a:r>
            <a:r>
              <a:rPr lang="en-US" altLang="zh-CN" sz="2400" dirty="0"/>
              <a:t>R</a:t>
            </a:r>
            <a:r>
              <a:rPr lang="zh-CN" altLang="en-US" sz="2400" dirty="0"/>
              <a:t>的候选</a:t>
            </a:r>
            <a:r>
              <a:rPr lang="zh-CN" altLang="en-US" sz="2400" dirty="0"/>
              <a:t>键。</a:t>
            </a:r>
            <a:endParaRPr lang="zh-CN" altLang="en-US" sz="2400" dirty="0"/>
          </a:p>
          <a:p>
            <a:pPr marL="1905" indent="-1905">
              <a:buNone/>
            </a:pPr>
            <a:endParaRPr lang="zh-CN" altLang="en-US" sz="1600" dirty="0"/>
          </a:p>
        </p:txBody>
      </p:sp>
      <p:sp>
        <p:nvSpPr>
          <p:cNvPr id="14339" name="Rectangle 7"/>
          <p:cNvSpPr/>
          <p:nvPr/>
        </p:nvSpPr>
        <p:spPr>
          <a:xfrm>
            <a:off x="547688" y="844550"/>
            <a:ext cx="649605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2</a:t>
            </a:r>
            <a:r>
              <a:rPr lang="zh-CN" altLang="en-US" sz="2800" dirty="0">
                <a:solidFill>
                  <a:srgbClr val="FF3300"/>
                </a:solidFill>
                <a:latin typeface="黑体" panose="02010609060101010101" pitchFamily="49" charset="-122"/>
                <a:ea typeface="黑体" panose="02010609060101010101" pitchFamily="49" charset="-122"/>
              </a:rPr>
              <a:t>、函数依赖的一些基本术语和符号</a:t>
            </a:r>
            <a:endParaRPr lang="en-US" altLang="zh-CN" sz="2800" dirty="0">
              <a:solidFill>
                <a:srgbClr val="FF3300"/>
              </a:solidFill>
              <a:latin typeface="黑体" panose="02010609060101010101" pitchFamily="49" charset="-122"/>
              <a:ea typeface="黑体" panose="02010609060101010101" pitchFamily="49" charset="-122"/>
            </a:endParaRPr>
          </a:p>
        </p:txBody>
      </p:sp>
      <p:sp>
        <p:nvSpPr>
          <p:cNvPr id="14340"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2" name="内容占位符 14337" descr="Rectangle: Click to edit Master text styles&#13;&#10;Second level&#13;&#10;Third level&#13;&#10;Fourth level&#13;&#10;Fifth level"/>
          <p:cNvSpPr>
            <a:spLocks noGrp="1"/>
          </p:cNvSpPr>
          <p:nvPr/>
        </p:nvSpPr>
        <p:spPr>
          <a:xfrm>
            <a:off x="648335" y="3204845"/>
            <a:ext cx="8077200" cy="2725738"/>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b="1"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a:lstStyle>
          <a:p>
            <a:pPr marL="0" indent="0">
              <a:lnSpc>
                <a:spcPct val="120000"/>
              </a:lnSpc>
              <a:buFont typeface="Wingdings" panose="05000000000000000000" pitchFamily="2" charset="2"/>
              <a:buNone/>
            </a:pPr>
            <a:r>
              <a:rPr lang="zh-CN" altLang="en-US" sz="2400" dirty="0"/>
              <a:t>（</a:t>
            </a:r>
            <a:r>
              <a:rPr lang="en-US" altLang="zh-CN" sz="2400" dirty="0"/>
              <a:t>1</a:t>
            </a:r>
            <a:r>
              <a:rPr lang="zh-CN" altLang="en-US" sz="2400" dirty="0"/>
              <a:t>）</a:t>
            </a:r>
            <a:r>
              <a:rPr lang="en-US" altLang="zh-CN" sz="2400" dirty="0"/>
              <a:t>C</a:t>
            </a:r>
            <a:r>
              <a:rPr lang="zh-CN" altLang="en-US" sz="2400" dirty="0"/>
              <a:t>和</a:t>
            </a:r>
            <a:r>
              <a:rPr lang="en-US" altLang="zh-CN" sz="2400" dirty="0"/>
              <a:t>D</a:t>
            </a:r>
            <a:r>
              <a:rPr lang="zh-CN" altLang="en-US" sz="2400" dirty="0"/>
              <a:t>是</a:t>
            </a:r>
            <a:r>
              <a:rPr lang="en-US" altLang="zh-CN" sz="2400" dirty="0"/>
              <a:t>1:1</a:t>
            </a:r>
            <a:r>
              <a:rPr lang="zh-CN" altLang="en-US" sz="2400" dirty="0"/>
              <a:t>的关系：每个</a:t>
            </a:r>
            <a:r>
              <a:rPr lang="en-US" altLang="zh-CN" sz="2400" dirty="0"/>
              <a:t>C</a:t>
            </a:r>
            <a:r>
              <a:rPr lang="zh-CN" altLang="en-US" sz="2400" dirty="0"/>
              <a:t>对应唯一的</a:t>
            </a:r>
            <a:r>
              <a:rPr lang="en-US" altLang="zh-CN" sz="2400" dirty="0"/>
              <a:t>D</a:t>
            </a:r>
            <a:r>
              <a:rPr lang="zh-CN" altLang="en-US" sz="2400" dirty="0"/>
              <a:t>，每个</a:t>
            </a:r>
            <a:r>
              <a:rPr lang="en-US" altLang="zh-CN" sz="2400" dirty="0"/>
              <a:t>D</a:t>
            </a:r>
            <a:r>
              <a:rPr lang="zh-CN" altLang="en-US" sz="2400" dirty="0"/>
              <a:t>对应唯一的</a:t>
            </a:r>
            <a:r>
              <a:rPr lang="en-US" altLang="zh-CN" sz="2400" dirty="0"/>
              <a:t>C</a:t>
            </a:r>
            <a:r>
              <a:rPr lang="zh-CN" altLang="en-US" sz="2400" dirty="0"/>
              <a:t>。因此</a:t>
            </a:r>
            <a:r>
              <a:rPr lang="en-US" altLang="zh-CN" sz="2400" dirty="0"/>
              <a:t>C→D</a:t>
            </a:r>
            <a:r>
              <a:rPr lang="zh-CN" altLang="en-US" sz="2400" dirty="0"/>
              <a:t>，</a:t>
            </a:r>
            <a:r>
              <a:rPr lang="en-US" altLang="zh-CN" sz="2400" dirty="0"/>
              <a:t>D→C</a:t>
            </a:r>
            <a:r>
              <a:rPr lang="zh-CN" altLang="en-US" sz="2400" dirty="0"/>
              <a:t>， 而且</a:t>
            </a:r>
            <a:r>
              <a:rPr lang="en-US" altLang="zh-CN" sz="2400" dirty="0"/>
              <a:t>C</a:t>
            </a:r>
            <a:r>
              <a:rPr lang="en-US" altLang="zh-CN" sz="2400" dirty="0">
                <a:sym typeface="Wingdings 3" panose="05040102010807070707" pitchFamily="18" charset="2"/>
              </a:rPr>
              <a:t></a:t>
            </a:r>
            <a:r>
              <a:rPr lang="en-US" altLang="zh-CN" sz="2400" dirty="0"/>
              <a:t>D </a:t>
            </a:r>
            <a:r>
              <a:rPr lang="zh-CN" altLang="en-US" sz="2400" dirty="0"/>
              <a:t>（等价）。</a:t>
            </a:r>
            <a:endParaRPr lang="en-US" altLang="zh-CN" sz="2400" dirty="0"/>
          </a:p>
          <a:p>
            <a:pPr marL="0" indent="0">
              <a:lnSpc>
                <a:spcPct val="120000"/>
              </a:lnSpc>
              <a:buFont typeface="Wingdings" panose="05000000000000000000" pitchFamily="2" charset="2"/>
              <a:buNone/>
            </a:pPr>
            <a:r>
              <a:rPr lang="en-US" altLang="zh-CN" sz="2400" dirty="0"/>
              <a:t>A</a:t>
            </a:r>
            <a:r>
              <a:rPr lang="zh-CN" altLang="en-US" sz="2400" dirty="0"/>
              <a:t>和</a:t>
            </a:r>
            <a:r>
              <a:rPr lang="en-US" altLang="zh-CN" sz="2400" dirty="0"/>
              <a:t>B</a:t>
            </a:r>
            <a:r>
              <a:rPr lang="zh-CN" altLang="en-US" sz="2400" dirty="0"/>
              <a:t>是</a:t>
            </a:r>
            <a:r>
              <a:rPr lang="en-US" altLang="zh-CN" sz="2400" dirty="0"/>
              <a:t>1:n</a:t>
            </a:r>
            <a:r>
              <a:rPr lang="zh-CN" altLang="en-US" sz="2400" dirty="0"/>
              <a:t>的关系：每个</a:t>
            </a:r>
            <a:r>
              <a:rPr lang="en-US" altLang="zh-CN" sz="2400" dirty="0"/>
              <a:t>A</a:t>
            </a:r>
            <a:r>
              <a:rPr lang="zh-CN" altLang="en-US" sz="2400" dirty="0"/>
              <a:t>对应多个</a:t>
            </a:r>
            <a:r>
              <a:rPr lang="en-US" altLang="zh-CN" sz="2400" dirty="0"/>
              <a:t>B</a:t>
            </a:r>
            <a:r>
              <a:rPr lang="zh-CN" altLang="en-US" sz="2400" dirty="0"/>
              <a:t>。反过来，一个</a:t>
            </a:r>
            <a:r>
              <a:rPr lang="en-US" altLang="zh-CN" sz="2400" dirty="0"/>
              <a:t>B</a:t>
            </a:r>
            <a:r>
              <a:rPr lang="zh-CN" altLang="en-US" sz="2400" dirty="0"/>
              <a:t>就对应一个</a:t>
            </a:r>
            <a:r>
              <a:rPr lang="en-US" altLang="zh-CN" sz="2400" dirty="0"/>
              <a:t>A</a:t>
            </a:r>
            <a:r>
              <a:rPr lang="zh-CN" altLang="en-US" sz="2400" dirty="0"/>
              <a:t>，所以 </a:t>
            </a:r>
            <a:r>
              <a:rPr lang="en-US" altLang="zh-CN" sz="2400" dirty="0"/>
              <a:t>B→A</a:t>
            </a:r>
            <a:r>
              <a:rPr lang="zh-CN" altLang="en-US" sz="2400" dirty="0"/>
              <a:t>。</a:t>
            </a:r>
            <a:endParaRPr lang="zh-CN" altLang="en-US" sz="2400" dirty="0"/>
          </a:p>
          <a:p>
            <a:pPr marL="1905" indent="-1905">
              <a:buNone/>
            </a:pPr>
            <a:r>
              <a:rPr lang="en-US" altLang="zh-CN" sz="2400" dirty="0"/>
              <a:t>（2）</a:t>
            </a:r>
            <a:r>
              <a:rPr lang="zh-CN" altLang="en-US" sz="2400" dirty="0"/>
              <a:t>候选键：</a:t>
            </a:r>
            <a:r>
              <a:rPr lang="en-US" altLang="zh-CN" sz="2400" dirty="0"/>
              <a:t>BC</a:t>
            </a:r>
            <a:r>
              <a:rPr lang="zh-CN" altLang="en-US" sz="2400" dirty="0"/>
              <a:t>或</a:t>
            </a:r>
            <a:r>
              <a:rPr lang="en-US" altLang="zh-CN" sz="2400" dirty="0"/>
              <a:t>BD</a:t>
            </a:r>
            <a:endParaRPr lang="en-US" altLang="zh-CN"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charRg st="59" end="115"/>
                                            </p:txEl>
                                          </p:spTgt>
                                        </p:tgtEl>
                                        <p:attrNameLst>
                                          <p:attrName>style.visibility</p:attrName>
                                        </p:attrNameLst>
                                      </p:cBhvr>
                                      <p:to>
                                        <p:strVal val="visible"/>
                                      </p:to>
                                    </p:set>
                                    <p:animEffect transition="in" filter="dissolve">
                                      <p:cBhvr>
                                        <p:cTn id="7" dur="500"/>
                                        <p:tgtEl>
                                          <p:spTgt spid="2">
                                            <p:txEl>
                                              <p:charRg st="59" end="1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charRg st="115" end="157"/>
                                            </p:txEl>
                                          </p:spTgt>
                                        </p:tgtEl>
                                        <p:attrNameLst>
                                          <p:attrName>style.visibility</p:attrName>
                                        </p:attrNameLst>
                                      </p:cBhvr>
                                      <p:to>
                                        <p:strVal val="visible"/>
                                      </p:to>
                                    </p:set>
                                    <p:animEffect transition="in" filter="dissolve">
                                      <p:cBhvr>
                                        <p:cTn id="12" dur="500"/>
                                        <p:tgtEl>
                                          <p:spTgt spid="2">
                                            <p:txEl>
                                              <p:charRg st="115" end="15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3" descr="Rectangle: Click to edit Master text styles&#10;Second level&#10;Third level&#10;Fourth level&#10;Fifth level"/>
          <p:cNvSpPr txBox="1"/>
          <p:nvPr/>
        </p:nvSpPr>
        <p:spPr>
          <a:xfrm>
            <a:off x="552450" y="1579563"/>
            <a:ext cx="8194675" cy="184308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ts val="600"/>
              </a:spcBef>
              <a:buClrTx/>
              <a:buSzTx/>
              <a:buNone/>
            </a:pPr>
            <a:r>
              <a:rPr lang="zh-CN" altLang="en-US" sz="2400" dirty="0">
                <a:solidFill>
                  <a:srgbClr val="0033CC"/>
                </a:solidFill>
              </a:rPr>
              <a:t>关系 </a:t>
            </a:r>
            <a:r>
              <a:rPr lang="en-US" altLang="zh-CN" sz="2400" dirty="0">
                <a:solidFill>
                  <a:srgbClr val="0033CC"/>
                </a:solidFill>
              </a:rPr>
              <a:t>R (Sid, Cid</a:t>
            </a:r>
            <a:r>
              <a:rPr lang="en-US" altLang="zh-CN" sz="2400" dirty="0">
                <a:solidFill>
                  <a:srgbClr val="0033CC"/>
                </a:solidFill>
                <a:sym typeface="宋体" panose="02010600030101010101" pitchFamily="2" charset="-122"/>
              </a:rPr>
              <a:t>, </a:t>
            </a:r>
            <a:r>
              <a:rPr lang="en-US" altLang="zh-CN" sz="2400" dirty="0">
                <a:solidFill>
                  <a:srgbClr val="0033CC"/>
                </a:solidFill>
              </a:rPr>
              <a:t>CName</a:t>
            </a:r>
            <a:r>
              <a:rPr lang="en-US" altLang="zh-CN" sz="2400" dirty="0">
                <a:solidFill>
                  <a:srgbClr val="0033CC"/>
                </a:solidFill>
                <a:sym typeface="宋体" panose="02010600030101010101" pitchFamily="2" charset="-122"/>
              </a:rPr>
              <a:t>, </a:t>
            </a:r>
            <a:r>
              <a:rPr lang="en-US" altLang="zh-CN" sz="2400" dirty="0">
                <a:solidFill>
                  <a:srgbClr val="0033CC"/>
                </a:solidFill>
              </a:rPr>
              <a:t>Score</a:t>
            </a:r>
            <a:r>
              <a:rPr lang="en-US" altLang="zh-CN" sz="2400" dirty="0">
                <a:solidFill>
                  <a:srgbClr val="0033CC"/>
                </a:solidFill>
                <a:sym typeface="宋体" panose="02010600030101010101" pitchFamily="2" charset="-122"/>
              </a:rPr>
              <a:t>, </a:t>
            </a:r>
            <a:r>
              <a:rPr lang="en-US" altLang="zh-CN" sz="2400" dirty="0">
                <a:solidFill>
                  <a:srgbClr val="0033CC"/>
                </a:solidFill>
              </a:rPr>
              <a:t>TID</a:t>
            </a:r>
            <a:r>
              <a:rPr lang="en-US" altLang="zh-CN" sz="2400" dirty="0">
                <a:solidFill>
                  <a:srgbClr val="0033CC"/>
                </a:solidFill>
                <a:sym typeface="宋体" panose="02010600030101010101" pitchFamily="2" charset="-122"/>
              </a:rPr>
              <a:t>, </a:t>
            </a:r>
            <a:r>
              <a:rPr lang="en-US" altLang="zh-CN" sz="2400" dirty="0">
                <a:solidFill>
                  <a:srgbClr val="0033CC"/>
                </a:solidFill>
              </a:rPr>
              <a:t>TName,Tphone)</a:t>
            </a:r>
            <a:endParaRPr lang="en-US" altLang="zh-CN" sz="2400" dirty="0">
              <a:solidFill>
                <a:srgbClr val="0033CC"/>
              </a:solidFill>
            </a:endParaRPr>
          </a:p>
          <a:p>
            <a:pPr marL="0" lvl="0" indent="0">
              <a:spcBef>
                <a:spcPts val="600"/>
              </a:spcBef>
              <a:buFont typeface="Arial" panose="020B0604020202020204" pitchFamily="34" charset="0"/>
              <a:buNone/>
            </a:pPr>
            <a:r>
              <a:rPr lang="zh-CN" altLang="en-US" sz="2400" dirty="0"/>
              <a:t>其中</a:t>
            </a:r>
            <a:r>
              <a:rPr lang="en-US" altLang="zh-CN" sz="2400" dirty="0"/>
              <a:t>: </a:t>
            </a:r>
            <a:r>
              <a:rPr lang="en-US" altLang="zh-CN" sz="2200" dirty="0"/>
              <a:t>Sid</a:t>
            </a:r>
            <a:r>
              <a:rPr lang="zh-CN" altLang="en-US" sz="2200" dirty="0"/>
              <a:t>是学生学号；</a:t>
            </a:r>
            <a:r>
              <a:rPr lang="en-US" altLang="zh-CN" sz="2200" dirty="0"/>
              <a:t>Cid</a:t>
            </a:r>
            <a:r>
              <a:rPr lang="zh-CN" altLang="en-US" sz="2200" dirty="0"/>
              <a:t>是课程号；</a:t>
            </a:r>
            <a:r>
              <a:rPr lang="en-US" altLang="zh-CN" sz="2200" dirty="0"/>
              <a:t>CName </a:t>
            </a:r>
            <a:r>
              <a:rPr lang="zh-CN" altLang="en-US" sz="2200" dirty="0"/>
              <a:t>课程名；</a:t>
            </a:r>
            <a:r>
              <a:rPr lang="en-US" altLang="zh-CN" sz="2200" dirty="0"/>
              <a:t>Score</a:t>
            </a:r>
            <a:r>
              <a:rPr lang="zh-CN" altLang="zh-CN" sz="2200" dirty="0"/>
              <a:t>成绩，</a:t>
            </a:r>
            <a:r>
              <a:rPr lang="en-US" altLang="zh-CN" sz="2200" dirty="0"/>
              <a:t>TID</a:t>
            </a:r>
            <a:r>
              <a:rPr lang="zh-CN" altLang="zh-CN" sz="2200" dirty="0"/>
              <a:t>教师编号，</a:t>
            </a:r>
            <a:r>
              <a:rPr lang="en-US" altLang="zh-CN" sz="2200" dirty="0"/>
              <a:t>TName </a:t>
            </a:r>
            <a:r>
              <a:rPr lang="zh-CN" altLang="en-US" sz="2200" dirty="0"/>
              <a:t>任课教师姓名，</a:t>
            </a:r>
            <a:r>
              <a:rPr lang="en-US" altLang="zh-CN" sz="2200" dirty="0"/>
              <a:t>Tphone</a:t>
            </a:r>
            <a:r>
              <a:rPr lang="zh-CN" altLang="zh-CN" sz="2200" dirty="0"/>
              <a:t>联系电话</a:t>
            </a:r>
            <a:r>
              <a:rPr lang="zh-CN" altLang="en-US" sz="2400" dirty="0"/>
              <a:t>。</a:t>
            </a:r>
            <a:endParaRPr lang="zh-CN" altLang="en-US" sz="2400" dirty="0"/>
          </a:p>
          <a:p>
            <a:pPr marL="0" lvl="0" indent="0">
              <a:spcBef>
                <a:spcPts val="600"/>
              </a:spcBef>
              <a:buFont typeface="Arial" panose="020B0604020202020204" pitchFamily="34" charset="0"/>
              <a:buNone/>
            </a:pPr>
            <a:r>
              <a:rPr lang="zh-CN" altLang="en-US" sz="2400" dirty="0"/>
              <a:t>规定：一门课只有一位教师上，一位教师也只上一门课。</a:t>
            </a:r>
            <a:endParaRPr lang="zh-CN" altLang="en-US" sz="2400" dirty="0"/>
          </a:p>
        </p:txBody>
      </p:sp>
      <p:sp>
        <p:nvSpPr>
          <p:cNvPr id="15363" name="文本框 3"/>
          <p:cNvSpPr txBox="1"/>
          <p:nvPr/>
        </p:nvSpPr>
        <p:spPr>
          <a:xfrm>
            <a:off x="552450" y="974725"/>
            <a:ext cx="7466013"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
            </a:pPr>
            <a:r>
              <a:rPr lang="zh-CN" altLang="en-US" sz="2400" dirty="0">
                <a:solidFill>
                  <a:srgbClr val="FF0000"/>
                </a:solidFill>
                <a:latin typeface="华文中宋" panose="02010600040101010101" pitchFamily="2" charset="-122"/>
                <a:ea typeface="华文中宋" panose="02010600040101010101" pitchFamily="2" charset="-122"/>
              </a:rPr>
              <a:t>课堂练习：指出下列关系</a:t>
            </a:r>
            <a:r>
              <a:rPr lang="en-US" altLang="zh-CN" sz="2400" dirty="0">
                <a:solidFill>
                  <a:srgbClr val="FF0000"/>
                </a:solidFill>
                <a:latin typeface="华文中宋" panose="02010600040101010101" pitchFamily="2" charset="-122"/>
                <a:ea typeface="华文中宋" panose="02010600040101010101" pitchFamily="2" charset="-122"/>
              </a:rPr>
              <a:t>R</a:t>
            </a:r>
            <a:r>
              <a:rPr lang="zh-CN" altLang="en-US" sz="2400" dirty="0">
                <a:solidFill>
                  <a:srgbClr val="FF0000"/>
                </a:solidFill>
                <a:latin typeface="华文中宋" panose="02010600040101010101" pitchFamily="2" charset="-122"/>
                <a:ea typeface="华文中宋" panose="02010600040101010101" pitchFamily="2" charset="-122"/>
              </a:rPr>
              <a:t>的候选键和完全函数依赖</a:t>
            </a:r>
            <a:endParaRPr lang="zh-CN" altLang="en-US" sz="2400" dirty="0">
              <a:solidFill>
                <a:srgbClr val="FF0000"/>
              </a:solidFill>
              <a:latin typeface="华文中宋" panose="02010600040101010101" pitchFamily="2" charset="-122"/>
              <a:ea typeface="华文中宋" panose="02010600040101010101" pitchFamily="2" charset="-122"/>
            </a:endParaRPr>
          </a:p>
        </p:txBody>
      </p:sp>
      <p:sp>
        <p:nvSpPr>
          <p:cNvPr id="15364" name="Rectangle 2"/>
          <p:cNvSpPr/>
          <p:nvPr/>
        </p:nvSpPr>
        <p:spPr>
          <a:xfrm>
            <a:off x="425450" y="730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11266" name="内容占位符 2"/>
          <p:cNvSpPr/>
          <p:nvPr/>
        </p:nvSpPr>
        <p:spPr>
          <a:xfrm>
            <a:off x="552450" y="3422650"/>
            <a:ext cx="7254875" cy="6985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15000"/>
              </a:spcBef>
              <a:buFont typeface="Wingdings" panose="05000000000000000000" pitchFamily="2" charset="2"/>
              <a:buChar char=""/>
            </a:pPr>
            <a:r>
              <a:rPr lang="zh-CN" altLang="en-US" sz="2400" u="sng" dirty="0">
                <a:solidFill>
                  <a:srgbClr val="FF0000"/>
                </a:solidFill>
              </a:rPr>
              <a:t>候选键：</a:t>
            </a:r>
            <a:r>
              <a:rPr lang="en-US" altLang="zh-CN" sz="2400" dirty="0"/>
              <a:t>(Sid,Cid)  (Sid,Tid)</a:t>
            </a:r>
            <a:endParaRPr lang="en-US" altLang="zh-CN" sz="2400" dirty="0"/>
          </a:p>
        </p:txBody>
      </p:sp>
      <p:grpSp>
        <p:nvGrpSpPr>
          <p:cNvPr id="2" name="组合 6"/>
          <p:cNvGrpSpPr/>
          <p:nvPr/>
        </p:nvGrpSpPr>
        <p:grpSpPr>
          <a:xfrm>
            <a:off x="555625" y="3932238"/>
            <a:ext cx="8032750" cy="696912"/>
            <a:chOff x="876" y="6192"/>
            <a:chExt cx="12648" cy="1098"/>
          </a:xfrm>
        </p:grpSpPr>
        <p:sp>
          <p:nvSpPr>
            <p:cNvPr id="5" name="内容占位符 2"/>
            <p:cNvSpPr/>
            <p:nvPr/>
          </p:nvSpPr>
          <p:spPr>
            <a:xfrm>
              <a:off x="876" y="6192"/>
              <a:ext cx="12648" cy="1098"/>
            </a:xfrm>
            <a:prstGeom prst="rect">
              <a:avLst/>
            </a:prstGeom>
            <a:noFill/>
            <a:ln w="9525">
              <a:noFill/>
            </a:ln>
          </p:spPr>
          <p:txBody>
            <a:bodyPr/>
            <a:lstStyle/>
            <a:p>
              <a:pPr marL="342900" marR="0" lvl="0" indent="-342900" algn="l" defTabSz="914400" rtl="0" eaLnBrk="1" fontAlgn="base" latinLnBrk="0" hangingPunct="1">
                <a:lnSpc>
                  <a:spcPct val="125000"/>
                </a:lnSpc>
                <a:spcBef>
                  <a:spcPct val="15000"/>
                </a:spcBef>
                <a:spcAft>
                  <a:spcPct val="0"/>
                </a:spcAft>
                <a:buClr>
                  <a:srgbClr val="0033CC"/>
                </a:buClr>
                <a:buSzPct val="80000"/>
                <a:buFont typeface="Wingdings" panose="05000000000000000000" charset="0"/>
                <a:buChar char=""/>
                <a:defRPr/>
              </a:pPr>
              <a:r>
                <a:rPr kumimoji="0" lang="en-US" altLang="zh-CN" sz="24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(Sid,Cid) </a:t>
              </a:r>
              <a:r>
                <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rPr>
                <a:t>→Score      </a:t>
              </a:r>
              <a:r>
                <a:rPr kumimoji="0" lang="en-US" altLang="zh-CN" sz="24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(Sid,Tid) </a:t>
              </a:r>
              <a:r>
                <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→Score    Cid     TID </a:t>
              </a:r>
              <a:endPar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l" defTabSz="914400" rtl="0" eaLnBrk="1" fontAlgn="base" latinLnBrk="0" hangingPunct="1">
                <a:lnSpc>
                  <a:spcPct val="125000"/>
                </a:lnSpc>
                <a:spcBef>
                  <a:spcPct val="15000"/>
                </a:spcBef>
                <a:spcAft>
                  <a:spcPct val="0"/>
                </a:spcAft>
                <a:buClr>
                  <a:srgbClr val="0033CC"/>
                </a:buClr>
                <a:buSzPct val="80000"/>
                <a:buFont typeface="Wingdings" panose="05000000000000000000" charset="0"/>
                <a:buNone/>
                <a:defRPr/>
              </a:pPr>
              <a:r>
                <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    Cid→TName     Cid→CName    Cid→Tphone  </a:t>
              </a:r>
              <a:endPar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l" defTabSz="914400" rtl="0" eaLnBrk="1" fontAlgn="base" latinLnBrk="0" hangingPunct="1">
                <a:lnSpc>
                  <a:spcPct val="125000"/>
                </a:lnSpc>
                <a:spcBef>
                  <a:spcPct val="15000"/>
                </a:spcBef>
                <a:spcAft>
                  <a:spcPct val="0"/>
                </a:spcAft>
                <a:buClr>
                  <a:srgbClr val="0033CC"/>
                </a:buClr>
                <a:buSzPct val="80000"/>
                <a:buFont typeface="Wingdings" panose="05000000000000000000" charset="0"/>
                <a:buNone/>
                <a:defRPr/>
              </a:pPr>
              <a:r>
                <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    Tid→TName    Tid→CName      </a:t>
              </a:r>
              <a:r>
                <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rPr>
                <a:t>Tid</a:t>
              </a:r>
              <a:r>
                <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→Tphone </a:t>
              </a:r>
              <a:endPar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cxnSp>
          <p:nvCxnSpPr>
            <p:cNvPr id="6" name="直接箭头连接符 5"/>
            <p:cNvCxnSpPr/>
            <p:nvPr/>
          </p:nvCxnSpPr>
          <p:spPr>
            <a:xfrm>
              <a:off x="11659" y="6630"/>
              <a:ext cx="642" cy="0"/>
            </a:xfrm>
            <a:prstGeom prst="straightConnector1">
              <a:avLst/>
            </a:prstGeom>
            <a:ln w="22225">
              <a:solidFill>
                <a:srgbClr val="012922"/>
              </a:solidFill>
              <a:headEnd type="arrow"/>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additive="base">
                                        <p:cTn id="7" dur="500" fill="hold"/>
                                        <p:tgtEl>
                                          <p:spTgt spid="11266"/>
                                        </p:tgtEl>
                                        <p:attrNameLst>
                                          <p:attrName>ppt_x</p:attrName>
                                        </p:attrNameLst>
                                      </p:cBhvr>
                                      <p:tavLst>
                                        <p:tav tm="0">
                                          <p:val>
                                            <p:strVal val="#ppt_x"/>
                                          </p:val>
                                        </p:tav>
                                        <p:tav tm="100000">
                                          <p:val>
                                            <p:strVal val="#ppt_x"/>
                                          </p:val>
                                        </p:tav>
                                      </p:tavLst>
                                    </p:anim>
                                    <p:anim calcmode="lin" valueType="num">
                                      <p:cBhvr additive="base">
                                        <p:cTn id="8" dur="500" fill="hold"/>
                                        <p:tgtEl>
                                          <p:spTgt spid="112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内容占位符 2"/>
          <p:cNvSpPr/>
          <p:nvPr/>
        </p:nvSpPr>
        <p:spPr>
          <a:xfrm>
            <a:off x="238125" y="1343025"/>
            <a:ext cx="8537575" cy="108267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15000"/>
              </a:spcBef>
              <a:buNone/>
            </a:pPr>
            <a:r>
              <a:rPr lang="en-US" altLang="en-US" dirty="0">
                <a:solidFill>
                  <a:srgbClr val="0033CC"/>
                </a:solidFill>
              </a:rPr>
              <a:t>            </a:t>
            </a:r>
            <a:r>
              <a:rPr lang="en-US" altLang="en-US" sz="2400" dirty="0"/>
              <a:t>尽管我们将注意力集中在非平凡函数依赖上，但一个关系的函数依赖的完整集合仍然可能是很大的。</a:t>
            </a:r>
            <a:endParaRPr lang="en-US" altLang="en-US" sz="2400" dirty="0"/>
          </a:p>
          <a:p>
            <a:pPr marL="342900" lvl="0" indent="-342900" eaLnBrk="1" hangingPunct="1">
              <a:lnSpc>
                <a:spcPct val="125000"/>
              </a:lnSpc>
              <a:spcBef>
                <a:spcPct val="15000"/>
              </a:spcBef>
              <a:buSzTx/>
              <a:buFont typeface="Wingdings" panose="05000000000000000000" pitchFamily="2" charset="2"/>
              <a:buChar char="n"/>
            </a:pPr>
            <a:endParaRPr lang="en-US" altLang="en-US" u="sng" dirty="0">
              <a:solidFill>
                <a:srgbClr val="FF0000"/>
              </a:solidFill>
              <a:ea typeface="Arial" panose="020B0604020202020204" pitchFamily="34" charset="0"/>
            </a:endParaRPr>
          </a:p>
        </p:txBody>
      </p:sp>
      <p:sp>
        <p:nvSpPr>
          <p:cNvPr id="16387"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16388" name="Rectangle 7"/>
          <p:cNvSpPr/>
          <p:nvPr/>
        </p:nvSpPr>
        <p:spPr>
          <a:xfrm>
            <a:off x="557213" y="809625"/>
            <a:ext cx="385445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、最小函数依赖集</a:t>
            </a:r>
            <a:endParaRPr lang="en-US" altLang="zh-CN" sz="2800" dirty="0">
              <a:solidFill>
                <a:srgbClr val="FF3300"/>
              </a:solidFill>
              <a:latin typeface="黑体" panose="02010609060101010101" pitchFamily="49" charset="-122"/>
              <a:ea typeface="黑体" panose="02010609060101010101" pitchFamily="49" charset="-122"/>
            </a:endParaRPr>
          </a:p>
        </p:txBody>
      </p:sp>
      <p:grpSp>
        <p:nvGrpSpPr>
          <p:cNvPr id="2" name="组合 16388"/>
          <p:cNvGrpSpPr/>
          <p:nvPr/>
        </p:nvGrpSpPr>
        <p:grpSpPr>
          <a:xfrm>
            <a:off x="630238" y="2384425"/>
            <a:ext cx="7589837" cy="3167063"/>
            <a:chOff x="0" y="0"/>
            <a:chExt cx="11952" cy="4987"/>
          </a:xfrm>
        </p:grpSpPr>
        <p:sp>
          <p:nvSpPr>
            <p:cNvPr id="16391" name="文本框 16389"/>
            <p:cNvSpPr txBox="1"/>
            <p:nvPr/>
          </p:nvSpPr>
          <p:spPr>
            <a:xfrm>
              <a:off x="0" y="813"/>
              <a:ext cx="11953" cy="417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sz="2200" dirty="0">
                  <a:solidFill>
                    <a:srgbClr val="0000CC"/>
                  </a:solidFill>
                </a:rPr>
                <a:t> R(</a:t>
              </a:r>
              <a:r>
                <a:rPr lang="en-US" altLang="zh-CN" sz="2200" u="sng" dirty="0">
                  <a:solidFill>
                    <a:srgbClr val="0000CC"/>
                  </a:solidFill>
                </a:rPr>
                <a:t>Sid</a:t>
              </a:r>
              <a:r>
                <a:rPr lang="en-US" altLang="zh-CN" sz="2200" dirty="0">
                  <a:solidFill>
                    <a:srgbClr val="0000CC"/>
                  </a:solidFill>
                </a:rPr>
                <a:t>, SName, DName, DDirector, </a:t>
              </a:r>
              <a:r>
                <a:rPr lang="en-US" altLang="zh-CN" sz="2200" u="sng" dirty="0">
                  <a:solidFill>
                    <a:srgbClr val="0000CC"/>
                  </a:solidFill>
                </a:rPr>
                <a:t>Cid</a:t>
              </a:r>
              <a:r>
                <a:rPr lang="en-US" altLang="zh-CN" sz="2200" dirty="0">
                  <a:solidFill>
                    <a:srgbClr val="0000CC"/>
                  </a:solidFill>
                </a:rPr>
                <a:t>, CName, CScore)</a:t>
              </a:r>
              <a:endParaRPr lang="en-US" altLang="zh-CN" sz="2200" dirty="0">
                <a:solidFill>
                  <a:srgbClr val="0000CC"/>
                </a:solidFill>
              </a:endParaRPr>
            </a:p>
            <a:p>
              <a:pPr marL="0" lvl="0" indent="0" eaLnBrk="1" hangingPunct="1">
                <a:lnSpc>
                  <a:spcPct val="120000"/>
                </a:lnSpc>
                <a:spcBef>
                  <a:spcPct val="0"/>
                </a:spcBef>
                <a:buClrTx/>
                <a:buSzTx/>
                <a:buFont typeface="Arial" panose="020B0604020202020204" pitchFamily="34" charset="0"/>
                <a:buNone/>
              </a:pPr>
              <a:r>
                <a:rPr lang="zh-CN" altLang="en-US" sz="2200" dirty="0">
                  <a:solidFill>
                    <a:srgbClr val="CC3300"/>
                  </a:solidFill>
                </a:rPr>
                <a:t>根据其语义所得的函数依赖有：</a:t>
              </a:r>
              <a:endParaRPr lang="zh-CN" altLang="en-US" sz="2200" dirty="0">
                <a:solidFill>
                  <a:srgbClr val="CC3300"/>
                </a:solidFill>
              </a:endParaRPr>
            </a:p>
            <a:p>
              <a:pPr marL="0" lvl="0" indent="0" eaLnBrk="1" hangingPunct="1">
                <a:lnSpc>
                  <a:spcPct val="120000"/>
                </a:lnSpc>
                <a:spcBef>
                  <a:spcPct val="0"/>
                </a:spcBef>
                <a:buClrTx/>
                <a:buSzTx/>
                <a:buFont typeface="Arial" panose="020B0604020202020204" pitchFamily="34" charset="0"/>
                <a:buNone/>
              </a:pPr>
              <a:r>
                <a:rPr lang="zh-CN" altLang="en-US" sz="2400" dirty="0">
                  <a:solidFill>
                    <a:srgbClr val="0000CC"/>
                  </a:solidFill>
                </a:rPr>
                <a:t>① </a:t>
              </a:r>
              <a:r>
                <a:rPr lang="en-US" altLang="zh-CN" sz="2400" dirty="0">
                  <a:solidFill>
                    <a:srgbClr val="0000CC"/>
                  </a:solidFill>
                </a:rPr>
                <a:t>Sid→SName                  </a:t>
              </a:r>
              <a:r>
                <a:rPr lang="zh-CN" altLang="en-US" sz="2400" dirty="0">
                  <a:solidFill>
                    <a:srgbClr val="0000CC"/>
                  </a:solidFill>
                </a:rPr>
                <a:t>② </a:t>
              </a:r>
              <a:r>
                <a:rPr lang="en-US" altLang="zh-CN" sz="2400" dirty="0">
                  <a:solidFill>
                    <a:srgbClr val="0000CC"/>
                  </a:solidFill>
                </a:rPr>
                <a:t>Sid→DName</a:t>
              </a:r>
              <a:r>
                <a:rPr lang="zh-CN" altLang="en-US" sz="2400" dirty="0">
                  <a:solidFill>
                    <a:srgbClr val="0000CC"/>
                  </a:solidFill>
                </a:rPr>
                <a:t> </a:t>
              </a:r>
              <a:endParaRPr lang="zh-CN" altLang="en-US" sz="2400" dirty="0">
                <a:solidFill>
                  <a:srgbClr val="0000CC"/>
                </a:solidFill>
              </a:endParaRPr>
            </a:p>
            <a:p>
              <a:pPr marL="0" lvl="0" indent="0" eaLnBrk="1" hangingPunct="1">
                <a:lnSpc>
                  <a:spcPct val="120000"/>
                </a:lnSpc>
                <a:spcBef>
                  <a:spcPct val="0"/>
                </a:spcBef>
                <a:buClrTx/>
                <a:buSzTx/>
                <a:buFont typeface="Arial" panose="020B0604020202020204" pitchFamily="34" charset="0"/>
                <a:buNone/>
              </a:pPr>
              <a:r>
                <a:rPr lang="zh-CN" altLang="en-US" sz="2400" dirty="0">
                  <a:solidFill>
                    <a:srgbClr val="0000CC"/>
                  </a:solidFill>
                </a:rPr>
                <a:t>③ </a:t>
              </a:r>
              <a:r>
                <a:rPr lang="en-US" altLang="zh-CN" sz="2400" dirty="0">
                  <a:solidFill>
                    <a:srgbClr val="0000CC"/>
                  </a:solidFill>
                </a:rPr>
                <a:t>Cid→CName                  </a:t>
              </a:r>
              <a:r>
                <a:rPr lang="zh-CN" altLang="en-US" sz="2400" dirty="0">
                  <a:solidFill>
                    <a:srgbClr val="0000CC"/>
                  </a:solidFill>
                </a:rPr>
                <a:t>④ </a:t>
              </a:r>
              <a:r>
                <a:rPr lang="en-US" altLang="zh-CN" sz="2400" dirty="0">
                  <a:solidFill>
                    <a:srgbClr val="0000CC"/>
                  </a:solidFill>
                </a:rPr>
                <a:t>DName→DDirector</a:t>
              </a:r>
              <a:endParaRPr lang="en-US" altLang="zh-CN" sz="2400" dirty="0">
                <a:solidFill>
                  <a:srgbClr val="0000CC"/>
                </a:solidFill>
              </a:endParaRPr>
            </a:p>
            <a:p>
              <a:pPr marL="0" lvl="0" indent="0" eaLnBrk="1" hangingPunct="1">
                <a:lnSpc>
                  <a:spcPct val="120000"/>
                </a:lnSpc>
                <a:spcBef>
                  <a:spcPct val="0"/>
                </a:spcBef>
                <a:buClrTx/>
                <a:buSzTx/>
                <a:buFont typeface="Arial" panose="020B0604020202020204" pitchFamily="34" charset="0"/>
                <a:buNone/>
              </a:pPr>
              <a:r>
                <a:rPr lang="zh-CN" altLang="en-US" sz="2400" dirty="0">
                  <a:solidFill>
                    <a:srgbClr val="0000CC"/>
                  </a:solidFill>
                </a:rPr>
                <a:t>⑤ </a:t>
              </a:r>
              <a:r>
                <a:rPr lang="en-US" altLang="zh-CN" sz="2400" dirty="0">
                  <a:solidFill>
                    <a:srgbClr val="0000CC"/>
                  </a:solidFill>
                </a:rPr>
                <a:t>(Sid, Cid)→Cscore       </a:t>
              </a:r>
              <a:r>
                <a:rPr lang="zh-CN" altLang="en-US" sz="2400" dirty="0">
                  <a:solidFill>
                    <a:srgbClr val="0000CC"/>
                  </a:solidFill>
                </a:rPr>
                <a:t>⑥ </a:t>
              </a:r>
              <a:r>
                <a:rPr lang="en-US" altLang="zh-CN" sz="2400" dirty="0">
                  <a:solidFill>
                    <a:srgbClr val="0000CC"/>
                  </a:solidFill>
                </a:rPr>
                <a:t>(Sid, Cid)→SName</a:t>
              </a:r>
              <a:r>
                <a:rPr lang="zh-CN" altLang="en-US" sz="2400" dirty="0">
                  <a:solidFill>
                    <a:srgbClr val="0000CC"/>
                  </a:solidFill>
                </a:rPr>
                <a:t> </a:t>
              </a:r>
              <a:endParaRPr lang="zh-CN" altLang="en-US" sz="2400" dirty="0">
                <a:solidFill>
                  <a:srgbClr val="0000CC"/>
                </a:solidFill>
              </a:endParaRPr>
            </a:p>
            <a:p>
              <a:pPr marL="0" lvl="0" indent="0" eaLnBrk="1" hangingPunct="1">
                <a:lnSpc>
                  <a:spcPct val="120000"/>
                </a:lnSpc>
                <a:spcBef>
                  <a:spcPct val="0"/>
                </a:spcBef>
                <a:buClrTx/>
                <a:buSzTx/>
                <a:buFont typeface="Arial" panose="020B0604020202020204" pitchFamily="34" charset="0"/>
                <a:buNone/>
              </a:pPr>
              <a:r>
                <a:rPr lang="en-US" altLang="zh-CN" sz="2400" dirty="0">
                  <a:solidFill>
                    <a:srgbClr val="0000CC"/>
                  </a:solidFill>
                </a:rPr>
                <a:t>⑦ (Sid, Cid)→ Dname       </a:t>
              </a:r>
              <a:r>
                <a:rPr lang="zh-CN" altLang="en-US" sz="2400" dirty="0">
                  <a:solidFill>
                    <a:srgbClr val="0000CC"/>
                  </a:solidFill>
                </a:rPr>
                <a:t>⑧ </a:t>
              </a:r>
              <a:r>
                <a:rPr lang="en-US" altLang="zh-CN" sz="2400" dirty="0">
                  <a:solidFill>
                    <a:srgbClr val="0000CC"/>
                  </a:solidFill>
                </a:rPr>
                <a:t>(Sid, Cid) →CName</a:t>
              </a:r>
              <a:endParaRPr lang="zh-CN" altLang="en-US" sz="1800" dirty="0"/>
            </a:p>
          </p:txBody>
        </p:sp>
        <p:sp>
          <p:nvSpPr>
            <p:cNvPr id="16392" name="文本框 16390"/>
            <p:cNvSpPr txBox="1"/>
            <p:nvPr/>
          </p:nvSpPr>
          <p:spPr>
            <a:xfrm>
              <a:off x="13" y="0"/>
              <a:ext cx="1790" cy="7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600" u="sng" dirty="0">
                  <a:solidFill>
                    <a:srgbClr val="FF0000"/>
                  </a:solidFill>
                </a:rPr>
                <a:t>例：</a:t>
              </a:r>
              <a:r>
                <a:rPr lang="zh-CN" altLang="en-US" sz="2400" dirty="0">
                  <a:solidFill>
                    <a:srgbClr val="FF0000"/>
                  </a:solidFill>
                </a:rPr>
                <a:t> </a:t>
              </a:r>
              <a:r>
                <a:rPr lang="zh-CN" altLang="en-US" dirty="0">
                  <a:solidFill>
                    <a:srgbClr val="FF0000"/>
                  </a:solidFill>
                </a:rPr>
                <a:t>   </a:t>
              </a:r>
              <a:endParaRPr lang="zh-CN" altLang="en-US" sz="1800" dirty="0"/>
            </a:p>
          </p:txBody>
        </p:sp>
      </p:grpSp>
      <p:sp>
        <p:nvSpPr>
          <p:cNvPr id="3" name="文本框 16391"/>
          <p:cNvSpPr txBox="1"/>
          <p:nvPr/>
        </p:nvSpPr>
        <p:spPr>
          <a:xfrm>
            <a:off x="758825" y="5564188"/>
            <a:ext cx="833596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sym typeface="Arial" panose="020B0604020202020204" pitchFamily="34" charset="0"/>
              </a:rPr>
              <a:t>因此找到一种方法来减少函数依赖集合的规模是非常重要的</a:t>
            </a:r>
            <a:r>
              <a:rPr lang="zh-CN" altLang="en-US" sz="1800" dirty="0"/>
              <a:t>。</a:t>
            </a:r>
            <a:endParaRPr lang="zh-CN" altLang="en-US" sz="1800" dirty="0">
              <a:ea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内容占位符 2"/>
          <p:cNvSpPr/>
          <p:nvPr/>
        </p:nvSpPr>
        <p:spPr>
          <a:xfrm>
            <a:off x="236538" y="1419225"/>
            <a:ext cx="8537575" cy="430688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15000"/>
              </a:spcBef>
              <a:buNone/>
            </a:pPr>
            <a:r>
              <a:rPr lang="zh-CN" altLang="en-US" dirty="0">
                <a:solidFill>
                  <a:srgbClr val="0033CC"/>
                </a:solidFill>
              </a:rPr>
              <a:t>        </a:t>
            </a:r>
            <a:r>
              <a:rPr lang="zh-CN" altLang="en-US" sz="2600" dirty="0">
                <a:solidFill>
                  <a:srgbClr val="FF0000"/>
                </a:solidFill>
                <a:sym typeface="Arial" panose="020B0604020202020204" pitchFamily="34" charset="0"/>
              </a:rPr>
              <a:t>定义：</a:t>
            </a:r>
            <a:r>
              <a:rPr lang="zh-CN" altLang="en-US" sz="2400" u="sng" dirty="0">
                <a:solidFill>
                  <a:srgbClr val="0033CC"/>
                </a:solidFill>
              </a:rPr>
              <a:t>如果</a:t>
            </a:r>
            <a:r>
              <a:rPr lang="en-US" altLang="zh-CN" sz="2400" u="sng" dirty="0">
                <a:solidFill>
                  <a:srgbClr val="0033CC"/>
                </a:solidFill>
              </a:rPr>
              <a:t>F</a:t>
            </a:r>
            <a:r>
              <a:rPr lang="zh-CN" altLang="en-US" sz="2400" u="sng" dirty="0">
                <a:solidFill>
                  <a:srgbClr val="0033CC"/>
                </a:solidFill>
              </a:rPr>
              <a:t>满足下列条件，则称</a:t>
            </a:r>
            <a:r>
              <a:rPr lang="en-US" altLang="zh-CN" sz="2400" u="sng" dirty="0">
                <a:solidFill>
                  <a:srgbClr val="0033CC"/>
                </a:solidFill>
              </a:rPr>
              <a:t>F</a:t>
            </a:r>
            <a:r>
              <a:rPr lang="zh-CN" altLang="en-US" sz="2400" u="sng" dirty="0">
                <a:solidFill>
                  <a:srgbClr val="0033CC"/>
                </a:solidFill>
              </a:rPr>
              <a:t>是最小的函数依赖集。</a:t>
            </a:r>
            <a:endParaRPr lang="zh-CN" altLang="en-US" sz="2400" u="sng" dirty="0">
              <a:solidFill>
                <a:srgbClr val="0033CC"/>
              </a:solidFill>
            </a:endParaRPr>
          </a:p>
          <a:p>
            <a:pPr marL="342900" lvl="0" indent="-342900" eaLnBrk="1" hangingPunct="1">
              <a:lnSpc>
                <a:spcPct val="125000"/>
              </a:lnSpc>
              <a:spcBef>
                <a:spcPct val="15000"/>
              </a:spcBef>
              <a:buNone/>
            </a:pPr>
            <a:r>
              <a:rPr lang="zh-CN" altLang="en-US" sz="2400" dirty="0">
                <a:solidFill>
                  <a:srgbClr val="0033CC"/>
                </a:solidFill>
              </a:rPr>
              <a:t>          </a:t>
            </a:r>
            <a:r>
              <a:rPr lang="zh-CN" altLang="en-US" sz="2400" u="sng" dirty="0">
                <a:solidFill>
                  <a:srgbClr val="0033CC"/>
                </a:solidFill>
              </a:rPr>
              <a:t> ① </a:t>
            </a:r>
            <a:r>
              <a:rPr lang="en-US" altLang="zh-CN" sz="2400" u="sng" dirty="0">
                <a:solidFill>
                  <a:srgbClr val="0033CC"/>
                </a:solidFill>
              </a:rPr>
              <a:t>F</a:t>
            </a:r>
            <a:r>
              <a:rPr lang="zh-CN" altLang="en-US" sz="2400" u="sng" dirty="0">
                <a:solidFill>
                  <a:srgbClr val="0033CC"/>
                </a:solidFill>
              </a:rPr>
              <a:t>中每个函数的右边都只有一个属性。</a:t>
            </a:r>
            <a:endParaRPr lang="zh-CN" altLang="en-US" sz="2400" u="sng" dirty="0">
              <a:solidFill>
                <a:srgbClr val="0033CC"/>
              </a:solidFill>
            </a:endParaRPr>
          </a:p>
          <a:p>
            <a:pPr marL="342900" lvl="0" indent="-342900" eaLnBrk="1" hangingPunct="1">
              <a:lnSpc>
                <a:spcPct val="125000"/>
              </a:lnSpc>
              <a:spcBef>
                <a:spcPct val="15000"/>
              </a:spcBef>
              <a:buNone/>
            </a:pPr>
            <a:r>
              <a:rPr lang="zh-CN" altLang="en-US" sz="2400" dirty="0">
                <a:solidFill>
                  <a:srgbClr val="0033CC"/>
                </a:solidFill>
              </a:rPr>
              <a:t>          </a:t>
            </a:r>
            <a:r>
              <a:rPr lang="zh-CN" altLang="en-US" sz="2400" u="sng" dirty="0">
                <a:solidFill>
                  <a:srgbClr val="0033CC"/>
                </a:solidFill>
              </a:rPr>
              <a:t> ② 对</a:t>
            </a:r>
            <a:r>
              <a:rPr lang="en-US" altLang="zh-CN" sz="2400" u="sng" dirty="0">
                <a:solidFill>
                  <a:srgbClr val="0033CC"/>
                </a:solidFill>
              </a:rPr>
              <a:t>F</a:t>
            </a:r>
            <a:r>
              <a:rPr lang="zh-CN" altLang="en-US" sz="2400" u="sng" dirty="0">
                <a:solidFill>
                  <a:srgbClr val="0033CC"/>
                </a:solidFill>
              </a:rPr>
              <a:t>中的任何函数依赖</a:t>
            </a:r>
            <a:r>
              <a:rPr lang="en-US" altLang="zh-CN" sz="2400" u="sng" dirty="0">
                <a:solidFill>
                  <a:srgbClr val="0033CC"/>
                </a:solidFill>
              </a:rPr>
              <a:t>A→B</a:t>
            </a:r>
            <a:r>
              <a:rPr lang="zh-CN" altLang="en-US" sz="2400" u="sng" dirty="0">
                <a:solidFill>
                  <a:srgbClr val="0033CC"/>
                </a:solidFill>
              </a:rPr>
              <a:t>，都不存在</a:t>
            </a:r>
            <a:r>
              <a:rPr lang="en-US" altLang="zh-CN" sz="2400" u="sng" dirty="0">
                <a:solidFill>
                  <a:srgbClr val="0033CC"/>
                </a:solidFill>
              </a:rPr>
              <a:t>A</a:t>
            </a:r>
            <a:r>
              <a:rPr lang="zh-CN" altLang="en-US" sz="2400" u="sng" dirty="0">
                <a:solidFill>
                  <a:srgbClr val="0033CC"/>
                </a:solidFill>
              </a:rPr>
              <a:t>的一个真子集</a:t>
            </a:r>
            <a:r>
              <a:rPr lang="en-US" altLang="zh-CN" sz="2400" u="sng" dirty="0">
                <a:solidFill>
                  <a:srgbClr val="0033CC"/>
                </a:solidFill>
              </a:rPr>
              <a:t>C</a:t>
            </a:r>
            <a:r>
              <a:rPr lang="zh-CN" altLang="en-US" sz="2400" u="sng" dirty="0">
                <a:solidFill>
                  <a:srgbClr val="0033CC"/>
                </a:solidFill>
              </a:rPr>
              <a:t>，使函数依赖</a:t>
            </a:r>
            <a:r>
              <a:rPr lang="en-US" altLang="zh-CN" sz="2400" u="sng" dirty="0">
                <a:solidFill>
                  <a:srgbClr val="0033CC"/>
                </a:solidFill>
              </a:rPr>
              <a:t>C →B</a:t>
            </a:r>
            <a:r>
              <a:rPr lang="zh-CN" altLang="en-US" sz="2400" u="sng" dirty="0">
                <a:solidFill>
                  <a:srgbClr val="0033CC"/>
                </a:solidFill>
              </a:rPr>
              <a:t>代替函数依赖</a:t>
            </a:r>
            <a:r>
              <a:rPr lang="en-US" altLang="zh-CN" sz="2400" u="sng" dirty="0">
                <a:solidFill>
                  <a:srgbClr val="0033CC"/>
                </a:solidFill>
              </a:rPr>
              <a:t>A→B</a:t>
            </a:r>
            <a:r>
              <a:rPr lang="zh-CN" altLang="en-US" sz="2400" u="sng" dirty="0">
                <a:solidFill>
                  <a:srgbClr val="0033CC"/>
                </a:solidFill>
              </a:rPr>
              <a:t>后得到和原来的</a:t>
            </a:r>
            <a:r>
              <a:rPr lang="en-US" altLang="zh-CN" sz="2400" u="sng" dirty="0">
                <a:solidFill>
                  <a:srgbClr val="0033CC"/>
                </a:solidFill>
              </a:rPr>
              <a:t>F</a:t>
            </a:r>
            <a:r>
              <a:rPr lang="zh-CN" altLang="en-US" sz="2400" u="sng" dirty="0">
                <a:solidFill>
                  <a:srgbClr val="0033CC"/>
                </a:solidFill>
              </a:rPr>
              <a:t>等价的一组依赖。</a:t>
            </a:r>
            <a:endParaRPr lang="zh-CN" altLang="en-US" sz="2400" u="sng" dirty="0">
              <a:solidFill>
                <a:srgbClr val="0033CC"/>
              </a:solidFill>
            </a:endParaRPr>
          </a:p>
          <a:p>
            <a:pPr marL="342900" lvl="0" indent="-342900" eaLnBrk="1" hangingPunct="1">
              <a:lnSpc>
                <a:spcPct val="125000"/>
              </a:lnSpc>
              <a:spcBef>
                <a:spcPct val="15000"/>
              </a:spcBef>
              <a:buNone/>
            </a:pPr>
            <a:r>
              <a:rPr lang="zh-CN" altLang="en-US" sz="2400" dirty="0">
                <a:solidFill>
                  <a:srgbClr val="0033CC"/>
                </a:solidFill>
              </a:rPr>
              <a:t>          </a:t>
            </a:r>
            <a:r>
              <a:rPr lang="zh-CN" altLang="en-US" sz="2400" u="sng" dirty="0">
                <a:solidFill>
                  <a:srgbClr val="0033CC"/>
                </a:solidFill>
              </a:rPr>
              <a:t> ③ 从</a:t>
            </a:r>
            <a:r>
              <a:rPr lang="en-US" altLang="zh-CN" sz="2400" u="sng" dirty="0">
                <a:solidFill>
                  <a:srgbClr val="0033CC"/>
                </a:solidFill>
              </a:rPr>
              <a:t>F</a:t>
            </a:r>
            <a:r>
              <a:rPr lang="zh-CN" altLang="en-US" sz="2400" u="sng" dirty="0">
                <a:solidFill>
                  <a:srgbClr val="0033CC"/>
                </a:solidFill>
              </a:rPr>
              <a:t>中移出任何一个函数依赖都无法再得到和原来的</a:t>
            </a:r>
            <a:r>
              <a:rPr lang="en-US" altLang="zh-CN" sz="2400" u="sng" dirty="0">
                <a:solidFill>
                  <a:srgbClr val="0033CC"/>
                </a:solidFill>
              </a:rPr>
              <a:t>F</a:t>
            </a:r>
            <a:r>
              <a:rPr lang="zh-CN" altLang="en-US" sz="2400" u="sng" dirty="0">
                <a:solidFill>
                  <a:srgbClr val="0033CC"/>
                </a:solidFill>
              </a:rPr>
              <a:t>等价的一组函数依赖。</a:t>
            </a:r>
            <a:endParaRPr lang="zh-CN" altLang="en-US" sz="2400" u="sng" dirty="0">
              <a:solidFill>
                <a:srgbClr val="0033CC"/>
              </a:solidFill>
            </a:endParaRPr>
          </a:p>
          <a:p>
            <a:pPr marL="342900" lvl="0" indent="-342900" eaLnBrk="1" hangingPunct="1">
              <a:lnSpc>
                <a:spcPct val="125000"/>
              </a:lnSpc>
              <a:spcBef>
                <a:spcPct val="15000"/>
              </a:spcBef>
              <a:buNone/>
            </a:pPr>
            <a:r>
              <a:rPr lang="zh-CN" altLang="en-US" sz="2400" dirty="0"/>
              <a:t>          条件①确保每个函数依赖都符合标准的形式，条件②、 ③确保这些函数依赖中没有冗余。</a:t>
            </a:r>
            <a:endParaRPr lang="en-US" altLang="zh-CN" sz="2400" dirty="0"/>
          </a:p>
          <a:p>
            <a:pPr marL="342900" lvl="0" indent="-342900" eaLnBrk="1" hangingPunct="1">
              <a:lnSpc>
                <a:spcPct val="125000"/>
              </a:lnSpc>
              <a:spcBef>
                <a:spcPts val="600"/>
              </a:spcBef>
              <a:buNone/>
            </a:pPr>
            <a:endParaRPr lang="zh-CN" altLang="en-US" sz="2400" u="sng" dirty="0">
              <a:solidFill>
                <a:srgbClr val="0033CC"/>
              </a:solidFill>
              <a:ea typeface="Arial" panose="020B0604020202020204" pitchFamily="34" charset="0"/>
            </a:endParaRPr>
          </a:p>
        </p:txBody>
      </p:sp>
      <p:sp>
        <p:nvSpPr>
          <p:cNvPr id="17411"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17412" name="Rectangle 7"/>
          <p:cNvSpPr/>
          <p:nvPr/>
        </p:nvSpPr>
        <p:spPr>
          <a:xfrm>
            <a:off x="557213" y="809625"/>
            <a:ext cx="385445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、最小函数依赖集</a:t>
            </a:r>
            <a:endParaRPr lang="en-US" altLang="zh-CN" sz="2800" dirty="0">
              <a:solidFill>
                <a:srgbClr val="FF3300"/>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内容占位符 2"/>
          <p:cNvSpPr/>
          <p:nvPr/>
        </p:nvSpPr>
        <p:spPr>
          <a:xfrm>
            <a:off x="309563" y="5167313"/>
            <a:ext cx="8537575" cy="9112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15000"/>
              </a:spcBef>
              <a:buNone/>
            </a:pPr>
            <a:r>
              <a:rPr lang="zh-CN" altLang="en-US" dirty="0">
                <a:solidFill>
                  <a:srgbClr val="0033CC"/>
                </a:solidFill>
              </a:rPr>
              <a:t>            </a:t>
            </a:r>
            <a:r>
              <a:rPr lang="zh-CN" altLang="en-US" sz="2100" u="sng" dirty="0">
                <a:solidFill>
                  <a:srgbClr val="0033CC"/>
                </a:solidFill>
              </a:rPr>
              <a:t>从一个依赖集</a:t>
            </a:r>
            <a:r>
              <a:rPr lang="en-US" altLang="zh-CN" sz="2100" u="sng" dirty="0">
                <a:solidFill>
                  <a:srgbClr val="0033CC"/>
                </a:solidFill>
              </a:rPr>
              <a:t>X</a:t>
            </a:r>
            <a:r>
              <a:rPr lang="zh-CN" altLang="en-US" sz="2100" u="sng" dirty="0">
                <a:solidFill>
                  <a:srgbClr val="0033CC"/>
                </a:solidFill>
              </a:rPr>
              <a:t>中推导出的所有函数依赖的集合称为</a:t>
            </a:r>
            <a:r>
              <a:rPr lang="en-US" altLang="zh-CN" sz="2100" u="sng" dirty="0">
                <a:solidFill>
                  <a:srgbClr val="0033CC"/>
                </a:solidFill>
              </a:rPr>
              <a:t>X</a:t>
            </a:r>
            <a:r>
              <a:rPr lang="zh-CN" altLang="en-US" sz="2100" u="sng" dirty="0">
                <a:solidFill>
                  <a:srgbClr val="0033CC"/>
                </a:solidFill>
              </a:rPr>
              <a:t>的闭包，记为</a:t>
            </a:r>
            <a:r>
              <a:rPr lang="en-US" altLang="zh-CN" sz="2100" u="sng" dirty="0">
                <a:solidFill>
                  <a:srgbClr val="0033CC"/>
                </a:solidFill>
              </a:rPr>
              <a:t>X</a:t>
            </a:r>
            <a:r>
              <a:rPr lang="en-US" altLang="zh-CN" sz="2100" u="sng" baseline="30000" dirty="0">
                <a:solidFill>
                  <a:srgbClr val="0033CC"/>
                </a:solidFill>
              </a:rPr>
              <a:t>+</a:t>
            </a:r>
            <a:r>
              <a:rPr lang="zh-CN" altLang="en-US" sz="2100" u="sng" dirty="0">
                <a:solidFill>
                  <a:srgbClr val="0033CC"/>
                </a:solidFill>
              </a:rPr>
              <a:t>。</a:t>
            </a:r>
            <a:endParaRPr lang="zh-CN" altLang="en-US" u="sng" dirty="0">
              <a:solidFill>
                <a:srgbClr val="0033CC"/>
              </a:solidFill>
              <a:ea typeface="Arial" panose="020B0604020202020204" pitchFamily="34" charset="0"/>
            </a:endParaRPr>
          </a:p>
        </p:txBody>
      </p:sp>
      <p:sp>
        <p:nvSpPr>
          <p:cNvPr id="18435"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18436" name="Rectangle 7"/>
          <p:cNvSpPr/>
          <p:nvPr/>
        </p:nvSpPr>
        <p:spPr>
          <a:xfrm>
            <a:off x="557213" y="809625"/>
            <a:ext cx="385445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、最小函数依赖集</a:t>
            </a:r>
            <a:endParaRPr lang="en-US" altLang="zh-CN" sz="2800" dirty="0">
              <a:solidFill>
                <a:srgbClr val="FF3300"/>
              </a:solidFill>
              <a:latin typeface="黑体" panose="02010609060101010101" pitchFamily="49" charset="-122"/>
              <a:ea typeface="黑体" panose="02010609060101010101" pitchFamily="49" charset="-122"/>
            </a:endParaRPr>
          </a:p>
        </p:txBody>
      </p:sp>
      <p:sp>
        <p:nvSpPr>
          <p:cNvPr id="18437" name="内容占位符 2"/>
          <p:cNvSpPr/>
          <p:nvPr/>
        </p:nvSpPr>
        <p:spPr>
          <a:xfrm>
            <a:off x="295275" y="1522413"/>
            <a:ext cx="8683625" cy="430688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15000"/>
              </a:spcBef>
              <a:buNone/>
            </a:pPr>
            <a:r>
              <a:rPr lang="zh-CN" altLang="en-US" dirty="0">
                <a:solidFill>
                  <a:srgbClr val="0033CC"/>
                </a:solidFill>
              </a:rPr>
              <a:t>            </a:t>
            </a:r>
            <a:r>
              <a:rPr lang="zh-CN" altLang="en-US" sz="2400" dirty="0">
                <a:solidFill>
                  <a:srgbClr val="FF3300"/>
                </a:solidFill>
              </a:rPr>
              <a:t>计算最小函数依赖集的方法：</a:t>
            </a:r>
            <a:endParaRPr lang="en-US" altLang="zh-CN" sz="2400" dirty="0">
              <a:solidFill>
                <a:srgbClr val="FF3300"/>
              </a:solidFill>
            </a:endParaRPr>
          </a:p>
          <a:p>
            <a:pPr marL="342900" lvl="0" indent="-342900" eaLnBrk="1" hangingPunct="1">
              <a:lnSpc>
                <a:spcPct val="130000"/>
              </a:lnSpc>
              <a:spcBef>
                <a:spcPts val="600"/>
              </a:spcBef>
              <a:buNone/>
            </a:pPr>
            <a:r>
              <a:rPr lang="zh-CN" altLang="en-US" sz="2100" dirty="0">
                <a:solidFill>
                  <a:srgbClr val="0033CC"/>
                </a:solidFill>
              </a:rPr>
              <a:t>      （</a:t>
            </a:r>
            <a:r>
              <a:rPr lang="en-US" altLang="zh-CN" sz="2100" dirty="0">
                <a:solidFill>
                  <a:srgbClr val="0033CC"/>
                </a:solidFill>
              </a:rPr>
              <a:t>1</a:t>
            </a:r>
            <a:r>
              <a:rPr lang="zh-CN" altLang="en-US" sz="2100" dirty="0">
                <a:solidFill>
                  <a:srgbClr val="0033CC"/>
                </a:solidFill>
              </a:rPr>
              <a:t>）用分解的法则，</a:t>
            </a:r>
            <a:r>
              <a:rPr lang="zh-CN" altLang="en-US" dirty="0"/>
              <a:t>使</a:t>
            </a:r>
            <a:r>
              <a:rPr lang="en-US" altLang="zh-CN" dirty="0"/>
              <a:t>F</a:t>
            </a:r>
            <a:r>
              <a:rPr lang="zh-CN" altLang="en-US" dirty="0"/>
              <a:t>中的任何一个函数依赖的右部仅含一个属性；</a:t>
            </a:r>
            <a:endParaRPr lang="en-US" altLang="zh-CN" dirty="0"/>
          </a:p>
          <a:p>
            <a:pPr marL="342900" lvl="0" indent="-342900" eaLnBrk="1" hangingPunct="1">
              <a:lnSpc>
                <a:spcPct val="130000"/>
              </a:lnSpc>
              <a:spcBef>
                <a:spcPts val="600"/>
              </a:spcBef>
              <a:buNone/>
            </a:pPr>
            <a:r>
              <a:rPr lang="zh-CN" altLang="en-US" dirty="0"/>
              <a:t>      </a:t>
            </a:r>
            <a:r>
              <a:rPr lang="zh-CN" altLang="en-US" sz="2100" dirty="0">
                <a:solidFill>
                  <a:srgbClr val="0033CC"/>
                </a:solidFill>
              </a:rPr>
              <a:t>（</a:t>
            </a:r>
            <a:r>
              <a:rPr lang="en-US" altLang="zh-CN" sz="2100" dirty="0">
                <a:solidFill>
                  <a:srgbClr val="0033CC"/>
                </a:solidFill>
              </a:rPr>
              <a:t>2</a:t>
            </a:r>
            <a:r>
              <a:rPr lang="zh-CN" altLang="en-US" sz="2100" dirty="0">
                <a:solidFill>
                  <a:srgbClr val="0033CC"/>
                </a:solidFill>
              </a:rPr>
              <a:t>）去掉多余的函数依赖：</a:t>
            </a:r>
            <a:r>
              <a:rPr lang="zh-CN" altLang="en-US" dirty="0"/>
              <a:t>从第一个函数依赖</a:t>
            </a:r>
            <a:r>
              <a:rPr lang="en-US" altLang="zh-CN" dirty="0"/>
              <a:t>X→Y</a:t>
            </a:r>
            <a:r>
              <a:rPr lang="zh-CN" altLang="en-US" dirty="0"/>
              <a:t>开始将其从</a:t>
            </a:r>
            <a:r>
              <a:rPr lang="en-US" altLang="zh-CN" dirty="0"/>
              <a:t>F</a:t>
            </a:r>
            <a:r>
              <a:rPr lang="zh-CN" altLang="en-US" dirty="0"/>
              <a:t>中去掉，然后在剩下的函数依赖中求</a:t>
            </a:r>
            <a:r>
              <a:rPr lang="en-US" altLang="zh-CN" dirty="0"/>
              <a:t>X</a:t>
            </a:r>
            <a:r>
              <a:rPr lang="zh-CN" altLang="en-US" dirty="0"/>
              <a:t>的闭包</a:t>
            </a:r>
            <a:r>
              <a:rPr lang="en-US" altLang="zh-CN" dirty="0"/>
              <a:t>X+,</a:t>
            </a:r>
            <a:r>
              <a:rPr lang="zh-CN" altLang="en-US" dirty="0"/>
              <a:t>看</a:t>
            </a:r>
            <a:r>
              <a:rPr lang="en-US" altLang="zh-CN" dirty="0"/>
              <a:t>X+</a:t>
            </a:r>
            <a:r>
              <a:rPr lang="zh-CN" altLang="en-US" dirty="0"/>
              <a:t>是否包含</a:t>
            </a:r>
            <a:r>
              <a:rPr lang="en-US" altLang="zh-CN" dirty="0"/>
              <a:t>Y</a:t>
            </a:r>
            <a:r>
              <a:rPr lang="zh-CN" altLang="en-US" dirty="0"/>
              <a:t>，若是，则去掉</a:t>
            </a:r>
            <a:r>
              <a:rPr lang="en-US" altLang="zh-CN" dirty="0"/>
              <a:t>X→Y</a:t>
            </a:r>
            <a:r>
              <a:rPr lang="zh-CN" altLang="en-US" dirty="0"/>
              <a:t>；否则不能，依次下去，直到找不到冗余的函数依赖。</a:t>
            </a:r>
            <a:endParaRPr lang="en-US" altLang="zh-CN" dirty="0"/>
          </a:p>
          <a:p>
            <a:pPr marL="342900" lvl="0" indent="-342900" eaLnBrk="1" hangingPunct="1">
              <a:lnSpc>
                <a:spcPct val="130000"/>
              </a:lnSpc>
              <a:spcBef>
                <a:spcPts val="600"/>
              </a:spcBef>
              <a:buNone/>
            </a:pPr>
            <a:r>
              <a:rPr lang="zh-CN" altLang="en-US" dirty="0"/>
              <a:t>       </a:t>
            </a:r>
            <a:r>
              <a:rPr lang="zh-CN" altLang="en-US" sz="2100" dirty="0">
                <a:solidFill>
                  <a:srgbClr val="0033CC"/>
                </a:solidFill>
              </a:rPr>
              <a:t>（</a:t>
            </a:r>
            <a:r>
              <a:rPr lang="en-US" altLang="zh-CN" sz="2100" dirty="0">
                <a:solidFill>
                  <a:srgbClr val="0033CC"/>
                </a:solidFill>
              </a:rPr>
              <a:t>3</a:t>
            </a:r>
            <a:r>
              <a:rPr lang="zh-CN" altLang="en-US" sz="2100" dirty="0">
                <a:solidFill>
                  <a:srgbClr val="0033CC"/>
                </a:solidFill>
              </a:rPr>
              <a:t>）去掉依赖左部多余的属性：</a:t>
            </a:r>
            <a:r>
              <a:rPr lang="zh-CN" altLang="en-US" dirty="0"/>
              <a:t>一个一个地检查函数依赖左部非单个属性的依赖，例如</a:t>
            </a:r>
            <a:r>
              <a:rPr lang="en-US" altLang="zh-CN" dirty="0"/>
              <a:t>XY</a:t>
            </a:r>
            <a:r>
              <a:rPr lang="zh-CN" altLang="en-US" dirty="0"/>
              <a:t>→</a:t>
            </a:r>
            <a:r>
              <a:rPr lang="en-US" altLang="zh-CN" dirty="0"/>
              <a:t>A</a:t>
            </a:r>
            <a:r>
              <a:rPr lang="zh-CN" altLang="en-US" dirty="0"/>
              <a:t>，若要判断</a:t>
            </a:r>
            <a:r>
              <a:rPr lang="en-US" altLang="zh-CN" dirty="0"/>
              <a:t>Y</a:t>
            </a:r>
            <a:r>
              <a:rPr lang="zh-CN" altLang="en-US" dirty="0"/>
              <a:t>为多余的，则以</a:t>
            </a:r>
            <a:r>
              <a:rPr lang="en-US" altLang="zh-CN" dirty="0"/>
              <a:t>X</a:t>
            </a:r>
            <a:r>
              <a:rPr lang="zh-CN" altLang="en-US" dirty="0"/>
              <a:t>→</a:t>
            </a:r>
            <a:r>
              <a:rPr lang="en-US" altLang="zh-CN" dirty="0"/>
              <a:t>A</a:t>
            </a:r>
            <a:r>
              <a:rPr lang="zh-CN" altLang="en-US" dirty="0"/>
              <a:t>代替</a:t>
            </a:r>
            <a:r>
              <a:rPr lang="en-US" altLang="zh-CN" dirty="0"/>
              <a:t>XY</a:t>
            </a:r>
            <a:r>
              <a:rPr lang="zh-CN" altLang="en-US" dirty="0"/>
              <a:t>→</a:t>
            </a:r>
            <a:r>
              <a:rPr lang="en-US" altLang="zh-CN" dirty="0"/>
              <a:t>A</a:t>
            </a:r>
            <a:r>
              <a:rPr lang="zh-CN" altLang="en-US" dirty="0"/>
              <a:t>是否等价，若</a:t>
            </a:r>
            <a:r>
              <a:rPr lang="en-US" altLang="zh-CN" dirty="0"/>
              <a:t>A(X)+,</a:t>
            </a:r>
            <a:r>
              <a:rPr lang="zh-CN" altLang="en-US" dirty="0"/>
              <a:t>则</a:t>
            </a:r>
            <a:r>
              <a:rPr lang="en-US" altLang="zh-CN" dirty="0"/>
              <a:t>Y</a:t>
            </a:r>
            <a:r>
              <a:rPr lang="zh-CN" altLang="en-US" dirty="0"/>
              <a:t>为多余属性，可以去掉。</a:t>
            </a:r>
            <a:endParaRPr lang="en-US" altLang="zh-CN" dirty="0"/>
          </a:p>
          <a:p>
            <a:pPr marL="342900" lvl="0" indent="-342900" eaLnBrk="1" hangingPunct="1">
              <a:lnSpc>
                <a:spcPct val="125000"/>
              </a:lnSpc>
              <a:spcBef>
                <a:spcPct val="15000"/>
              </a:spcBef>
              <a:buNone/>
            </a:pPr>
            <a:endParaRPr lang="en-US" altLang="zh-CN" dirty="0">
              <a:ea typeface="Arial" panose="020B0604020202020204" pitchFamily="34"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1"/>
          <p:cNvSpPr/>
          <p:nvPr/>
        </p:nvSpPr>
        <p:spPr>
          <a:xfrm>
            <a:off x="663575" y="1384618"/>
            <a:ext cx="8112125" cy="862965"/>
          </a:xfrm>
          <a:prstGeom prst="rect">
            <a:avLst/>
          </a:prstGeom>
          <a:noFill/>
          <a:ln w="9525">
            <a:noFill/>
          </a:ln>
          <a:effectLst>
            <a:prstShdw prst="shdw17" dist="17961" dir="2699999">
              <a:srgbClr val="708688"/>
            </a:prstShdw>
          </a:effectLst>
        </p:spPr>
        <p:txBody>
          <a:bodyPr lIns="0" tIns="88872" rIns="0" bIns="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0000"/>
              </a:lnSpc>
              <a:spcBef>
                <a:spcPct val="0"/>
              </a:spcBef>
              <a:buClrTx/>
              <a:buSzTx/>
              <a:buFont typeface="Arial" panose="020B0604020202020204" pitchFamily="34" charset="0"/>
              <a:buNone/>
            </a:pPr>
            <a:r>
              <a:rPr lang="zh-CN" altLang="en-US" sz="2200" u="sng" dirty="0">
                <a:solidFill>
                  <a:srgbClr val="0033CC"/>
                </a:solidFill>
              </a:rPr>
              <a:t>例：</a:t>
            </a:r>
            <a:r>
              <a:rPr lang="zh-CN" altLang="en-US" dirty="0">
                <a:solidFill>
                  <a:srgbClr val="333333"/>
                </a:solidFill>
              </a:rPr>
              <a:t>R(U, F)，U=ABCDEF, F={AD→E, AC→E, BC→F, BCD→AF, BD→A, AB→F, A→C}求最小函数依赖集，并求出候选键。</a:t>
            </a:r>
            <a:r>
              <a:rPr lang="zh-CN" altLang="en-US" dirty="0"/>
              <a:t> </a:t>
            </a:r>
            <a:endParaRPr lang="zh-CN" altLang="en-US" dirty="0"/>
          </a:p>
        </p:txBody>
      </p:sp>
      <p:sp>
        <p:nvSpPr>
          <p:cNvPr id="19459"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19460" name="Rectangle 7"/>
          <p:cNvSpPr/>
          <p:nvPr/>
        </p:nvSpPr>
        <p:spPr>
          <a:xfrm>
            <a:off x="557213" y="809625"/>
            <a:ext cx="385445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、最小函数依赖集</a:t>
            </a:r>
            <a:endParaRPr lang="en-US" altLang="zh-CN" sz="2800" dirty="0">
              <a:solidFill>
                <a:srgbClr val="FF3300"/>
              </a:solidFill>
              <a:latin typeface="黑体" panose="02010609060101010101" pitchFamily="49" charset="-122"/>
              <a:ea typeface="黑体" panose="02010609060101010101" pitchFamily="49" charset="-122"/>
            </a:endParaRPr>
          </a:p>
        </p:txBody>
      </p:sp>
      <p:sp>
        <p:nvSpPr>
          <p:cNvPr id="19461" name="Rectangle 2"/>
          <p:cNvSpPr/>
          <p:nvPr/>
        </p:nvSpPr>
        <p:spPr>
          <a:xfrm>
            <a:off x="207963" y="2300288"/>
            <a:ext cx="5094287" cy="396875"/>
          </a:xfrm>
          <a:prstGeom prst="rect">
            <a:avLst/>
          </a:prstGeom>
          <a:noFill/>
          <a:ln w="9525">
            <a:noFill/>
          </a:ln>
          <a:effectLst>
            <a:prstShdw prst="shdw17" dist="17961" dir="2699999">
              <a:srgbClr val="708688"/>
            </a:prstShdw>
          </a:effectLst>
        </p:spPr>
        <p:txBody>
          <a:bodyPr wrap="none" lIns="0" tIns="88872" rIns="0" bIns="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r>
              <a:rPr lang="zh-CN" altLang="en-US" dirty="0">
                <a:solidFill>
                  <a:srgbClr val="FF0000"/>
                </a:solidFill>
              </a:rPr>
              <a:t>       （</a:t>
            </a:r>
            <a:r>
              <a:rPr lang="en-US" altLang="zh-CN" dirty="0">
                <a:solidFill>
                  <a:srgbClr val="FF0000"/>
                </a:solidFill>
              </a:rPr>
              <a:t>1</a:t>
            </a:r>
            <a:r>
              <a:rPr lang="zh-CN" altLang="en-US" dirty="0">
                <a:solidFill>
                  <a:srgbClr val="FF0000"/>
                </a:solidFill>
              </a:rPr>
              <a:t>）分解右部为属性组的函数依赖，得 </a:t>
            </a:r>
            <a:endParaRPr lang="zh-CN" altLang="en-US" dirty="0">
              <a:solidFill>
                <a:srgbClr val="FF0000"/>
              </a:solidFill>
            </a:endParaRPr>
          </a:p>
        </p:txBody>
      </p:sp>
      <p:sp>
        <p:nvSpPr>
          <p:cNvPr id="19462" name="Rectangle 3"/>
          <p:cNvSpPr/>
          <p:nvPr/>
        </p:nvSpPr>
        <p:spPr>
          <a:xfrm>
            <a:off x="914400" y="2728913"/>
            <a:ext cx="7566025" cy="504825"/>
          </a:xfrm>
          <a:prstGeom prst="rect">
            <a:avLst/>
          </a:prstGeom>
          <a:noFill/>
          <a:ln w="9525">
            <a:noFill/>
          </a:ln>
          <a:effectLst>
            <a:prstShdw prst="shdw17" dist="17961" dir="2699999">
              <a:srgbClr val="708688"/>
            </a:prstShdw>
          </a:effectLst>
        </p:spPr>
        <p:txBody>
          <a:bodyPr lIns="0" tIns="88872" rIns="0" bIns="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r>
              <a:rPr lang="zh-CN" altLang="en-US" dirty="0">
                <a:solidFill>
                  <a:srgbClr val="333333"/>
                </a:solidFill>
              </a:rPr>
              <a:t>F={AD→E,AC→E,BC→F,BCD→A,BCD→F,BD→A,AB→F,A→C} </a:t>
            </a:r>
            <a:endParaRPr lang="zh-CN" altLang="en-US" dirty="0"/>
          </a:p>
        </p:txBody>
      </p:sp>
      <p:sp>
        <p:nvSpPr>
          <p:cNvPr id="19463" name="矩形 6"/>
          <p:cNvSpPr/>
          <p:nvPr/>
        </p:nvSpPr>
        <p:spPr>
          <a:xfrm>
            <a:off x="638175" y="3259138"/>
            <a:ext cx="316547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r>
              <a:rPr lang="zh-CN" altLang="en-US" dirty="0">
                <a:solidFill>
                  <a:srgbClr val="FF0000"/>
                </a:solidFill>
              </a:rPr>
              <a:t>（</a:t>
            </a:r>
            <a:r>
              <a:rPr lang="en-US" altLang="zh-CN" dirty="0">
                <a:solidFill>
                  <a:srgbClr val="FF0000"/>
                </a:solidFill>
              </a:rPr>
              <a:t>2</a:t>
            </a:r>
            <a:r>
              <a:rPr lang="zh-CN" altLang="en-US" dirty="0">
                <a:solidFill>
                  <a:srgbClr val="FF0000"/>
                </a:solidFill>
              </a:rPr>
              <a:t>）去除多余的函数依赖</a:t>
            </a:r>
            <a:endParaRPr lang="zh-CN" altLang="en-US" dirty="0">
              <a:solidFill>
                <a:srgbClr val="FF0000"/>
              </a:solidFill>
            </a:endParaRPr>
          </a:p>
        </p:txBody>
      </p:sp>
      <p:sp>
        <p:nvSpPr>
          <p:cNvPr id="19464" name="Rectangle 4"/>
          <p:cNvSpPr/>
          <p:nvPr/>
        </p:nvSpPr>
        <p:spPr>
          <a:xfrm>
            <a:off x="781050" y="3627438"/>
            <a:ext cx="7758113" cy="2613025"/>
          </a:xfrm>
          <a:prstGeom prst="rect">
            <a:avLst/>
          </a:prstGeom>
          <a:noFill/>
          <a:ln w="9525">
            <a:noFill/>
          </a:ln>
          <a:effectLst>
            <a:prstShdw prst="shdw17" dist="17961" dir="2699999">
              <a:srgbClr val="708688"/>
            </a:prstShdw>
          </a:effectLst>
        </p:spPr>
        <p:txBody>
          <a:bodyPr lIns="0" tIns="88872" rIns="0" bIns="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0000"/>
              </a:lnSpc>
              <a:spcBef>
                <a:spcPct val="0"/>
              </a:spcBef>
              <a:buClrTx/>
              <a:buSzTx/>
              <a:buFont typeface="Arial" panose="020B0604020202020204" pitchFamily="34" charset="0"/>
              <a:buNone/>
            </a:pPr>
            <a:r>
              <a:rPr lang="en-US" altLang="zh-CN" dirty="0">
                <a:solidFill>
                  <a:srgbClr val="333333"/>
                </a:solidFill>
              </a:rPr>
              <a:t>1</a:t>
            </a:r>
            <a:r>
              <a:rPr lang="zh-CN" altLang="en-US" dirty="0">
                <a:solidFill>
                  <a:srgbClr val="333333"/>
                </a:solidFill>
              </a:rPr>
              <a:t>）AD→E，（</a:t>
            </a:r>
            <a:r>
              <a:rPr lang="en-US" altLang="zh-CN" dirty="0">
                <a:solidFill>
                  <a:srgbClr val="333333"/>
                </a:solidFill>
              </a:rPr>
              <a:t>AD</a:t>
            </a:r>
            <a:r>
              <a:rPr lang="zh-CN" altLang="en-US" dirty="0">
                <a:solidFill>
                  <a:srgbClr val="333333"/>
                </a:solidFill>
              </a:rPr>
              <a:t>）</a:t>
            </a:r>
            <a:r>
              <a:rPr lang="en-US" altLang="zh-CN" dirty="0">
                <a:solidFill>
                  <a:srgbClr val="333333"/>
                </a:solidFill>
              </a:rPr>
              <a:t>+=ADCE</a:t>
            </a:r>
            <a:r>
              <a:rPr lang="zh-CN" altLang="en-US" dirty="0">
                <a:solidFill>
                  <a:srgbClr val="333333"/>
                </a:solidFill>
              </a:rPr>
              <a:t>，</a:t>
            </a:r>
            <a:r>
              <a:rPr lang="en-US" altLang="zh-CN" dirty="0">
                <a:solidFill>
                  <a:srgbClr val="333333"/>
                </a:solidFill>
              </a:rPr>
              <a:t>E</a:t>
            </a:r>
            <a:r>
              <a:rPr lang="zh-CN" altLang="en-US" dirty="0"/>
              <a:t>属于</a:t>
            </a:r>
            <a:r>
              <a:rPr lang="en-US" altLang="zh-CN" dirty="0">
                <a:solidFill>
                  <a:srgbClr val="333333"/>
                </a:solidFill>
              </a:rPr>
              <a:t>ADCE</a:t>
            </a:r>
            <a:r>
              <a:rPr lang="zh-CN" altLang="en-US" dirty="0">
                <a:solidFill>
                  <a:srgbClr val="333333"/>
                </a:solidFill>
              </a:rPr>
              <a:t>，所以AD→E去除</a:t>
            </a:r>
            <a:endParaRPr lang="en-US" altLang="zh-CN" dirty="0">
              <a:solidFill>
                <a:srgbClr val="333333"/>
              </a:solidFill>
            </a:endParaRPr>
          </a:p>
          <a:p>
            <a:pPr marL="0" lvl="0" indent="0">
              <a:lnSpc>
                <a:spcPct val="120000"/>
              </a:lnSpc>
              <a:spcBef>
                <a:spcPct val="0"/>
              </a:spcBef>
              <a:buClrTx/>
              <a:buSzTx/>
              <a:buFont typeface="Arial" panose="020B0604020202020204" pitchFamily="34" charset="0"/>
              <a:buNone/>
            </a:pPr>
            <a:r>
              <a:rPr lang="en-US" altLang="zh-CN" dirty="0">
                <a:solidFill>
                  <a:srgbClr val="333333"/>
                </a:solidFill>
              </a:rPr>
              <a:t>2</a:t>
            </a:r>
            <a:r>
              <a:rPr lang="zh-CN" altLang="en-US" dirty="0">
                <a:solidFill>
                  <a:srgbClr val="333333"/>
                </a:solidFill>
              </a:rPr>
              <a:t>）AC→E，（ AC）</a:t>
            </a:r>
            <a:r>
              <a:rPr lang="en-US" altLang="zh-CN" dirty="0">
                <a:solidFill>
                  <a:srgbClr val="333333"/>
                </a:solidFill>
              </a:rPr>
              <a:t>+=</a:t>
            </a:r>
            <a:r>
              <a:rPr lang="en-US" altLang="zh-CN" dirty="0"/>
              <a:t> </a:t>
            </a:r>
            <a:r>
              <a:rPr lang="zh-CN" altLang="en-US" dirty="0"/>
              <a:t> </a:t>
            </a:r>
            <a:r>
              <a:rPr lang="en-US" altLang="zh-CN" dirty="0"/>
              <a:t>AC</a:t>
            </a:r>
            <a:r>
              <a:rPr lang="zh-CN" altLang="en-US" dirty="0">
                <a:solidFill>
                  <a:srgbClr val="333333"/>
                </a:solidFill>
              </a:rPr>
              <a:t> ，</a:t>
            </a:r>
            <a:r>
              <a:rPr lang="en-US" altLang="zh-CN" dirty="0">
                <a:solidFill>
                  <a:srgbClr val="333333"/>
                </a:solidFill>
              </a:rPr>
              <a:t> E</a:t>
            </a:r>
            <a:r>
              <a:rPr lang="zh-CN" altLang="en-US" dirty="0">
                <a:solidFill>
                  <a:srgbClr val="333333"/>
                </a:solidFill>
              </a:rPr>
              <a:t>不</a:t>
            </a:r>
            <a:r>
              <a:rPr lang="zh-CN" altLang="en-US" dirty="0"/>
              <a:t>属于</a:t>
            </a:r>
            <a:r>
              <a:rPr lang="zh-CN" altLang="en-US" dirty="0">
                <a:solidFill>
                  <a:srgbClr val="333333"/>
                </a:solidFill>
              </a:rPr>
              <a:t>AC，所以</a:t>
            </a:r>
            <a:r>
              <a:rPr lang="zh-CN" altLang="en-US" u="sng" dirty="0">
                <a:solidFill>
                  <a:srgbClr val="FF3300"/>
                </a:solidFill>
              </a:rPr>
              <a:t>AC→E保留</a:t>
            </a:r>
            <a:endParaRPr lang="en-US" altLang="zh-CN" u="sng" dirty="0">
              <a:solidFill>
                <a:srgbClr val="FF3300"/>
              </a:solidFill>
            </a:endParaRPr>
          </a:p>
          <a:p>
            <a:pPr marL="0" lvl="0" indent="0">
              <a:lnSpc>
                <a:spcPct val="120000"/>
              </a:lnSpc>
              <a:spcBef>
                <a:spcPct val="0"/>
              </a:spcBef>
              <a:buClrTx/>
              <a:buSzTx/>
              <a:buFont typeface="Arial" panose="020B0604020202020204" pitchFamily="34" charset="0"/>
              <a:buNone/>
            </a:pPr>
            <a:r>
              <a:rPr lang="en-US" altLang="zh-CN" dirty="0">
                <a:solidFill>
                  <a:srgbClr val="333333"/>
                </a:solidFill>
              </a:rPr>
              <a:t>3</a:t>
            </a:r>
            <a:r>
              <a:rPr lang="zh-CN" altLang="en-US" dirty="0">
                <a:solidFill>
                  <a:srgbClr val="333333"/>
                </a:solidFill>
              </a:rPr>
              <a:t>）BC→F，（</a:t>
            </a:r>
            <a:r>
              <a:rPr lang="en-US" altLang="zh-CN" dirty="0">
                <a:solidFill>
                  <a:srgbClr val="333333"/>
                </a:solidFill>
              </a:rPr>
              <a:t>BC</a:t>
            </a:r>
            <a:r>
              <a:rPr lang="zh-CN" altLang="en-US" dirty="0">
                <a:solidFill>
                  <a:srgbClr val="333333"/>
                </a:solidFill>
              </a:rPr>
              <a:t>）</a:t>
            </a:r>
            <a:r>
              <a:rPr lang="en-US" altLang="zh-CN" dirty="0">
                <a:solidFill>
                  <a:srgbClr val="333333"/>
                </a:solidFill>
              </a:rPr>
              <a:t>+= BC</a:t>
            </a:r>
            <a:r>
              <a:rPr lang="zh-CN" altLang="en-US" dirty="0">
                <a:solidFill>
                  <a:srgbClr val="333333"/>
                </a:solidFill>
              </a:rPr>
              <a:t>， F不</a:t>
            </a:r>
            <a:r>
              <a:rPr lang="zh-CN" altLang="en-US" dirty="0"/>
              <a:t>属于</a:t>
            </a:r>
            <a:r>
              <a:rPr lang="en-US" altLang="zh-CN" dirty="0">
                <a:solidFill>
                  <a:srgbClr val="333333"/>
                </a:solidFill>
              </a:rPr>
              <a:t>BC</a:t>
            </a:r>
            <a:r>
              <a:rPr lang="zh-CN" altLang="en-US" dirty="0">
                <a:solidFill>
                  <a:srgbClr val="333333"/>
                </a:solidFill>
              </a:rPr>
              <a:t>，所以</a:t>
            </a:r>
            <a:r>
              <a:rPr lang="zh-CN" altLang="en-US" u="sng" dirty="0">
                <a:solidFill>
                  <a:srgbClr val="FF3300"/>
                </a:solidFill>
              </a:rPr>
              <a:t>BC→F保留</a:t>
            </a:r>
            <a:endParaRPr lang="en-US" altLang="zh-CN" u="sng" dirty="0">
              <a:solidFill>
                <a:srgbClr val="FF3300"/>
              </a:solidFill>
            </a:endParaRPr>
          </a:p>
          <a:p>
            <a:pPr marL="0" lvl="0" indent="0">
              <a:lnSpc>
                <a:spcPct val="120000"/>
              </a:lnSpc>
              <a:spcBef>
                <a:spcPct val="0"/>
              </a:spcBef>
              <a:buClrTx/>
              <a:buSzTx/>
              <a:buFont typeface="Arial" panose="020B0604020202020204" pitchFamily="34" charset="0"/>
              <a:buNone/>
            </a:pPr>
            <a:r>
              <a:rPr lang="en-US" altLang="zh-CN" dirty="0">
                <a:solidFill>
                  <a:srgbClr val="333333"/>
                </a:solidFill>
              </a:rPr>
              <a:t>4</a:t>
            </a:r>
            <a:r>
              <a:rPr lang="zh-CN" altLang="en-US" dirty="0">
                <a:solidFill>
                  <a:srgbClr val="333333"/>
                </a:solidFill>
              </a:rPr>
              <a:t>）BCD→A，（ BCD）</a:t>
            </a:r>
            <a:r>
              <a:rPr lang="en-US" altLang="zh-CN" dirty="0">
                <a:solidFill>
                  <a:srgbClr val="333333"/>
                </a:solidFill>
              </a:rPr>
              <a:t>+=BCDFAE</a:t>
            </a:r>
            <a:r>
              <a:rPr lang="zh-CN" altLang="en-US" dirty="0">
                <a:solidFill>
                  <a:srgbClr val="333333"/>
                </a:solidFill>
              </a:rPr>
              <a:t>，</a:t>
            </a:r>
            <a:r>
              <a:rPr lang="en-US" altLang="zh-CN" dirty="0">
                <a:solidFill>
                  <a:srgbClr val="333333"/>
                </a:solidFill>
              </a:rPr>
              <a:t>A</a:t>
            </a:r>
            <a:r>
              <a:rPr lang="zh-CN" altLang="en-US" dirty="0"/>
              <a:t>属于</a:t>
            </a:r>
            <a:r>
              <a:rPr lang="en-US" altLang="zh-CN" dirty="0">
                <a:solidFill>
                  <a:srgbClr val="333333"/>
                </a:solidFill>
              </a:rPr>
              <a:t>BCDFAE</a:t>
            </a:r>
            <a:r>
              <a:rPr lang="zh-CN" altLang="en-US" dirty="0">
                <a:solidFill>
                  <a:srgbClr val="333333"/>
                </a:solidFill>
              </a:rPr>
              <a:t>，去除</a:t>
            </a:r>
            <a:endParaRPr lang="en-US" altLang="zh-CN" dirty="0">
              <a:solidFill>
                <a:srgbClr val="333333"/>
              </a:solidFill>
            </a:endParaRPr>
          </a:p>
          <a:p>
            <a:pPr marL="0" lvl="0" indent="0">
              <a:lnSpc>
                <a:spcPct val="120000"/>
              </a:lnSpc>
              <a:spcBef>
                <a:spcPct val="0"/>
              </a:spcBef>
              <a:buClrTx/>
              <a:buSzTx/>
              <a:buFont typeface="Arial" panose="020B0604020202020204" pitchFamily="34" charset="0"/>
              <a:buNone/>
            </a:pPr>
            <a:r>
              <a:rPr lang="en-US" altLang="zh-CN" dirty="0">
                <a:solidFill>
                  <a:srgbClr val="333333"/>
                </a:solidFill>
              </a:rPr>
              <a:t>5</a:t>
            </a:r>
            <a:r>
              <a:rPr lang="zh-CN" altLang="en-US" dirty="0">
                <a:solidFill>
                  <a:srgbClr val="333333"/>
                </a:solidFill>
              </a:rPr>
              <a:t>） BCD→F，同上，去除</a:t>
            </a:r>
            <a:endParaRPr lang="en-US" altLang="zh-CN" dirty="0">
              <a:solidFill>
                <a:srgbClr val="333333"/>
              </a:solidFill>
            </a:endParaRPr>
          </a:p>
          <a:p>
            <a:pPr marL="0" lvl="0" indent="0">
              <a:lnSpc>
                <a:spcPct val="120000"/>
              </a:lnSpc>
              <a:spcBef>
                <a:spcPct val="0"/>
              </a:spcBef>
              <a:buClrTx/>
              <a:buSzTx/>
              <a:buFont typeface="Arial" panose="020B0604020202020204" pitchFamily="34" charset="0"/>
              <a:buNone/>
            </a:pPr>
            <a:r>
              <a:rPr lang="en-US" altLang="zh-CN" dirty="0">
                <a:solidFill>
                  <a:srgbClr val="333333"/>
                </a:solidFill>
              </a:rPr>
              <a:t>6</a:t>
            </a:r>
            <a:r>
              <a:rPr lang="zh-CN" altLang="en-US" dirty="0">
                <a:solidFill>
                  <a:srgbClr val="333333"/>
                </a:solidFill>
              </a:rPr>
              <a:t> ）BD→A，（BD）</a:t>
            </a:r>
            <a:r>
              <a:rPr lang="en-US" altLang="zh-CN" dirty="0">
                <a:solidFill>
                  <a:srgbClr val="333333"/>
                </a:solidFill>
              </a:rPr>
              <a:t>+=BD</a:t>
            </a:r>
            <a:r>
              <a:rPr lang="zh-CN" altLang="en-US" dirty="0">
                <a:solidFill>
                  <a:srgbClr val="333333"/>
                </a:solidFill>
              </a:rPr>
              <a:t> ，</a:t>
            </a:r>
            <a:r>
              <a:rPr lang="en-US" altLang="zh-CN" dirty="0">
                <a:solidFill>
                  <a:srgbClr val="333333"/>
                </a:solidFill>
              </a:rPr>
              <a:t>A</a:t>
            </a:r>
            <a:r>
              <a:rPr lang="zh-CN" altLang="en-US" dirty="0">
                <a:solidFill>
                  <a:srgbClr val="333333"/>
                </a:solidFill>
              </a:rPr>
              <a:t>不</a:t>
            </a:r>
            <a:r>
              <a:rPr lang="zh-CN" altLang="en-US" dirty="0"/>
              <a:t>属于</a:t>
            </a:r>
            <a:r>
              <a:rPr lang="en-US" altLang="zh-CN" dirty="0">
                <a:solidFill>
                  <a:srgbClr val="333333"/>
                </a:solidFill>
              </a:rPr>
              <a:t>BD,</a:t>
            </a:r>
            <a:r>
              <a:rPr lang="zh-CN" altLang="en-US" dirty="0">
                <a:solidFill>
                  <a:srgbClr val="333333"/>
                </a:solidFill>
              </a:rPr>
              <a:t> </a:t>
            </a:r>
            <a:r>
              <a:rPr lang="zh-CN" altLang="en-US" u="sng" dirty="0">
                <a:solidFill>
                  <a:srgbClr val="FF3300"/>
                </a:solidFill>
              </a:rPr>
              <a:t>BD→A保留</a:t>
            </a:r>
            <a:endParaRPr lang="en-US" altLang="zh-CN" u="sng" dirty="0">
              <a:solidFill>
                <a:srgbClr val="FF3300"/>
              </a:solidFill>
            </a:endParaRPr>
          </a:p>
          <a:p>
            <a:pPr marL="0" lvl="0" indent="0">
              <a:spcBef>
                <a:spcPct val="0"/>
              </a:spcBef>
              <a:buClrTx/>
              <a:buSzTx/>
              <a:buFont typeface="Arial" panose="020B0604020202020204" pitchFamily="34" charset="0"/>
              <a:buNone/>
            </a:pPr>
            <a:endParaRPr lang="zh-CN" altLang="en-US"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20483" name="Rectangle 7"/>
          <p:cNvSpPr/>
          <p:nvPr/>
        </p:nvSpPr>
        <p:spPr>
          <a:xfrm>
            <a:off x="557213" y="809625"/>
            <a:ext cx="385445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、最小函数依赖集</a:t>
            </a:r>
            <a:endParaRPr lang="en-US" altLang="zh-CN" sz="2800" dirty="0">
              <a:solidFill>
                <a:srgbClr val="FF3300"/>
              </a:solidFill>
              <a:latin typeface="黑体" panose="02010609060101010101" pitchFamily="49" charset="-122"/>
              <a:ea typeface="黑体" panose="02010609060101010101" pitchFamily="49" charset="-122"/>
            </a:endParaRPr>
          </a:p>
        </p:txBody>
      </p:sp>
      <p:sp>
        <p:nvSpPr>
          <p:cNvPr id="20484" name="Rectangle 4"/>
          <p:cNvSpPr/>
          <p:nvPr/>
        </p:nvSpPr>
        <p:spPr>
          <a:xfrm>
            <a:off x="693738" y="1419225"/>
            <a:ext cx="7756525" cy="1992313"/>
          </a:xfrm>
          <a:prstGeom prst="rect">
            <a:avLst/>
          </a:prstGeom>
          <a:noFill/>
          <a:ln w="9525">
            <a:noFill/>
          </a:ln>
          <a:effectLst>
            <a:prstShdw prst="shdw17" dist="17961" dir="2699999">
              <a:srgbClr val="708688"/>
            </a:prstShdw>
          </a:effectLst>
        </p:spPr>
        <p:txBody>
          <a:bodyPr lIns="0" tIns="88872" rIns="0" bIns="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5000"/>
              </a:lnSpc>
              <a:spcBef>
                <a:spcPct val="0"/>
              </a:spcBef>
              <a:buClrTx/>
              <a:buSzTx/>
              <a:buFont typeface="Arial" panose="020B0604020202020204" pitchFamily="34" charset="0"/>
              <a:buNone/>
            </a:pPr>
            <a:r>
              <a:rPr lang="en-US" altLang="zh-CN" dirty="0">
                <a:solidFill>
                  <a:srgbClr val="333333"/>
                </a:solidFill>
              </a:rPr>
              <a:t>7</a:t>
            </a:r>
            <a:r>
              <a:rPr lang="zh-CN" altLang="en-US" dirty="0">
                <a:solidFill>
                  <a:srgbClr val="333333"/>
                </a:solidFill>
              </a:rPr>
              <a:t>） AB→F ，（ AB）</a:t>
            </a:r>
            <a:r>
              <a:rPr lang="en-US" altLang="zh-CN" dirty="0">
                <a:solidFill>
                  <a:srgbClr val="333333"/>
                </a:solidFill>
              </a:rPr>
              <a:t>+=ABCEF</a:t>
            </a:r>
            <a:r>
              <a:rPr lang="zh-CN" altLang="en-US" dirty="0">
                <a:solidFill>
                  <a:srgbClr val="333333"/>
                </a:solidFill>
              </a:rPr>
              <a:t>，</a:t>
            </a:r>
            <a:r>
              <a:rPr lang="en-US" altLang="zh-CN" dirty="0">
                <a:solidFill>
                  <a:srgbClr val="333333"/>
                </a:solidFill>
              </a:rPr>
              <a:t>F</a:t>
            </a:r>
            <a:r>
              <a:rPr lang="zh-CN" altLang="en-US" dirty="0"/>
              <a:t>属于</a:t>
            </a:r>
            <a:r>
              <a:rPr lang="en-US" altLang="zh-CN" dirty="0">
                <a:solidFill>
                  <a:srgbClr val="333333"/>
                </a:solidFill>
              </a:rPr>
              <a:t>ABCEF </a:t>
            </a:r>
            <a:r>
              <a:rPr lang="zh-CN" altLang="en-US" dirty="0">
                <a:solidFill>
                  <a:srgbClr val="333333"/>
                </a:solidFill>
              </a:rPr>
              <a:t>，所以AB→F去除</a:t>
            </a:r>
            <a:endParaRPr lang="en-US" altLang="zh-CN" dirty="0">
              <a:solidFill>
                <a:srgbClr val="333333"/>
              </a:solidFill>
            </a:endParaRPr>
          </a:p>
          <a:p>
            <a:pPr marL="0" lvl="0" indent="0">
              <a:lnSpc>
                <a:spcPct val="125000"/>
              </a:lnSpc>
              <a:spcBef>
                <a:spcPct val="0"/>
              </a:spcBef>
              <a:buClrTx/>
              <a:buSzTx/>
              <a:buFont typeface="Arial" panose="020B0604020202020204" pitchFamily="34" charset="0"/>
              <a:buNone/>
            </a:pPr>
            <a:r>
              <a:rPr lang="en-US" altLang="zh-CN" dirty="0">
                <a:solidFill>
                  <a:srgbClr val="333333"/>
                </a:solidFill>
              </a:rPr>
              <a:t>8</a:t>
            </a:r>
            <a:r>
              <a:rPr lang="zh-CN" altLang="en-US" dirty="0">
                <a:solidFill>
                  <a:srgbClr val="333333"/>
                </a:solidFill>
              </a:rPr>
              <a:t>） A→C ，（ A）</a:t>
            </a:r>
            <a:r>
              <a:rPr lang="en-US" altLang="zh-CN" dirty="0">
                <a:solidFill>
                  <a:srgbClr val="333333"/>
                </a:solidFill>
              </a:rPr>
              <a:t>+=</a:t>
            </a:r>
            <a:r>
              <a:rPr lang="en-US" altLang="zh-CN" dirty="0"/>
              <a:t> </a:t>
            </a:r>
            <a:r>
              <a:rPr lang="zh-CN" altLang="en-US" dirty="0"/>
              <a:t> </a:t>
            </a:r>
            <a:r>
              <a:rPr lang="en-US" altLang="zh-CN" dirty="0"/>
              <a:t>A</a:t>
            </a:r>
            <a:r>
              <a:rPr lang="zh-CN" altLang="en-US" dirty="0">
                <a:solidFill>
                  <a:srgbClr val="333333"/>
                </a:solidFill>
              </a:rPr>
              <a:t> ，</a:t>
            </a:r>
            <a:r>
              <a:rPr lang="en-US" altLang="zh-CN" dirty="0">
                <a:solidFill>
                  <a:srgbClr val="333333"/>
                </a:solidFill>
              </a:rPr>
              <a:t> </a:t>
            </a:r>
            <a:r>
              <a:rPr lang="zh-CN" altLang="en-US" dirty="0">
                <a:solidFill>
                  <a:srgbClr val="333333"/>
                </a:solidFill>
              </a:rPr>
              <a:t>C不</a:t>
            </a:r>
            <a:r>
              <a:rPr lang="zh-CN" altLang="en-US" dirty="0"/>
              <a:t>属于</a:t>
            </a:r>
            <a:r>
              <a:rPr lang="zh-CN" altLang="en-US" dirty="0">
                <a:solidFill>
                  <a:srgbClr val="333333"/>
                </a:solidFill>
              </a:rPr>
              <a:t>A，所以</a:t>
            </a:r>
            <a:r>
              <a:rPr lang="zh-CN" altLang="en-US" u="sng" dirty="0">
                <a:solidFill>
                  <a:srgbClr val="FF3300"/>
                </a:solidFill>
              </a:rPr>
              <a:t>A→C保留</a:t>
            </a:r>
            <a:endParaRPr lang="zh-CN" altLang="en-US" u="sng" dirty="0">
              <a:solidFill>
                <a:srgbClr val="FF3300"/>
              </a:solidFill>
            </a:endParaRPr>
          </a:p>
          <a:p>
            <a:pPr marL="0" lvl="0" indent="0">
              <a:lnSpc>
                <a:spcPct val="125000"/>
              </a:lnSpc>
              <a:spcBef>
                <a:spcPct val="0"/>
              </a:spcBef>
              <a:buClrTx/>
              <a:buSzTx/>
              <a:buFont typeface="Arial" panose="020B0604020202020204" pitchFamily="34" charset="0"/>
              <a:buNone/>
            </a:pPr>
            <a:r>
              <a:rPr lang="en-US" altLang="zh-CN" u="sng" dirty="0"/>
              <a:t>9</a:t>
            </a:r>
            <a:r>
              <a:rPr lang="zh-CN" altLang="zh-CN" u="sng" dirty="0"/>
              <a:t>）对于</a:t>
            </a:r>
            <a:r>
              <a:rPr lang="en-US" altLang="zh-CN" u="sng" dirty="0"/>
              <a:t>AC-&gt;E ,</a:t>
            </a:r>
            <a:r>
              <a:rPr lang="zh-CN" altLang="zh-CN" u="sng" dirty="0"/>
              <a:t>若</a:t>
            </a:r>
            <a:r>
              <a:rPr lang="en-US" altLang="zh-CN" u="sng" dirty="0"/>
              <a:t>C</a:t>
            </a:r>
            <a:r>
              <a:rPr lang="zh-CN" altLang="zh-CN" u="sng" dirty="0"/>
              <a:t>多余，（</a:t>
            </a:r>
            <a:r>
              <a:rPr lang="en-US" altLang="zh-CN" u="sng" dirty="0"/>
              <a:t>A</a:t>
            </a:r>
            <a:r>
              <a:rPr lang="zh-CN" altLang="zh-CN" u="sng" dirty="0"/>
              <a:t>）</a:t>
            </a:r>
            <a:r>
              <a:rPr lang="en-US" altLang="zh-CN" dirty="0">
                <a:solidFill>
                  <a:srgbClr val="333333"/>
                </a:solidFill>
              </a:rPr>
              <a:t>+=</a:t>
            </a:r>
            <a:r>
              <a:rPr lang="zh-CN" altLang="en-US" dirty="0">
                <a:solidFill>
                  <a:srgbClr val="333333"/>
                </a:solidFill>
              </a:rPr>
              <a:t>（</a:t>
            </a:r>
            <a:r>
              <a:rPr lang="en-US" altLang="zh-CN" dirty="0">
                <a:solidFill>
                  <a:srgbClr val="333333"/>
                </a:solidFill>
              </a:rPr>
              <a:t>AC</a:t>
            </a:r>
            <a:r>
              <a:rPr lang="zh-CN" altLang="en-US" dirty="0">
                <a:solidFill>
                  <a:srgbClr val="333333"/>
                </a:solidFill>
              </a:rPr>
              <a:t>）包含</a:t>
            </a:r>
            <a:r>
              <a:rPr lang="en-US" altLang="zh-CN" dirty="0">
                <a:solidFill>
                  <a:srgbClr val="333333"/>
                </a:solidFill>
              </a:rPr>
              <a:t>C</a:t>
            </a:r>
            <a:r>
              <a:rPr lang="zh-CN" altLang="zh-CN" dirty="0">
                <a:solidFill>
                  <a:srgbClr val="333333"/>
                </a:solidFill>
              </a:rPr>
              <a:t>，所以</a:t>
            </a:r>
            <a:r>
              <a:rPr lang="en-US" altLang="zh-CN" u="sng" dirty="0">
                <a:solidFill>
                  <a:srgbClr val="FF0000"/>
                </a:solidFill>
              </a:rPr>
              <a:t>A</a:t>
            </a:r>
            <a:r>
              <a:rPr lang="zh-CN" altLang="en-US" u="sng" dirty="0">
                <a:solidFill>
                  <a:srgbClr val="FF0000"/>
                </a:solidFill>
              </a:rPr>
              <a:t>→</a:t>
            </a:r>
            <a:r>
              <a:rPr lang="en-US" altLang="zh-CN" u="sng" dirty="0">
                <a:solidFill>
                  <a:srgbClr val="FF0000"/>
                </a:solidFill>
              </a:rPr>
              <a:t>E</a:t>
            </a:r>
            <a:endParaRPr lang="en-US" altLang="zh-CN" u="sng" dirty="0">
              <a:solidFill>
                <a:srgbClr val="FF0000"/>
              </a:solidFill>
            </a:endParaRPr>
          </a:p>
          <a:p>
            <a:pPr marL="0" lvl="0" indent="0">
              <a:lnSpc>
                <a:spcPct val="125000"/>
              </a:lnSpc>
              <a:spcBef>
                <a:spcPct val="0"/>
              </a:spcBef>
              <a:buClrTx/>
              <a:buSzTx/>
              <a:buFont typeface="Arial" panose="020B0604020202020204" pitchFamily="34" charset="0"/>
              <a:buNone/>
            </a:pPr>
            <a:r>
              <a:rPr lang="en-US" altLang="zh-CN" sz="2200" dirty="0">
                <a:solidFill>
                  <a:srgbClr val="FF3300"/>
                </a:solidFill>
              </a:rPr>
              <a:t>F</a:t>
            </a:r>
            <a:r>
              <a:rPr lang="zh-CN" altLang="en-US" sz="2200" dirty="0">
                <a:solidFill>
                  <a:srgbClr val="FF3300"/>
                </a:solidFill>
              </a:rPr>
              <a:t>的最小函数依赖集为</a:t>
            </a:r>
            <a:r>
              <a:rPr lang="en-US" altLang="zh-CN" sz="2200" dirty="0">
                <a:solidFill>
                  <a:srgbClr val="FF3300"/>
                </a:solidFill>
              </a:rPr>
              <a:t>{A→E</a:t>
            </a:r>
            <a:r>
              <a:rPr lang="zh-CN" altLang="en-US" sz="2400" dirty="0">
                <a:solidFill>
                  <a:srgbClr val="FF3300"/>
                </a:solidFill>
              </a:rPr>
              <a:t> ， </a:t>
            </a:r>
            <a:r>
              <a:rPr lang="en-US" altLang="zh-CN" sz="2200" dirty="0">
                <a:solidFill>
                  <a:srgbClr val="FF3300"/>
                </a:solidFill>
              </a:rPr>
              <a:t>BC→F</a:t>
            </a:r>
            <a:r>
              <a:rPr lang="zh-CN" altLang="en-US" sz="2400" dirty="0">
                <a:solidFill>
                  <a:srgbClr val="FF3300"/>
                </a:solidFill>
              </a:rPr>
              <a:t> ， </a:t>
            </a:r>
            <a:r>
              <a:rPr lang="en-US" altLang="zh-CN" sz="2200" dirty="0">
                <a:solidFill>
                  <a:srgbClr val="FF3300"/>
                </a:solidFill>
              </a:rPr>
              <a:t>BD→A</a:t>
            </a:r>
            <a:r>
              <a:rPr lang="zh-CN" altLang="en-US" sz="2400" dirty="0">
                <a:solidFill>
                  <a:srgbClr val="FF3300"/>
                </a:solidFill>
              </a:rPr>
              <a:t> ， </a:t>
            </a:r>
            <a:r>
              <a:rPr lang="en-US" altLang="zh-CN" sz="2200" dirty="0">
                <a:solidFill>
                  <a:srgbClr val="FF3300"/>
                </a:solidFill>
              </a:rPr>
              <a:t>A→C}</a:t>
            </a:r>
            <a:endParaRPr lang="en-US" altLang="zh-CN" sz="2200" u="sng" dirty="0">
              <a:solidFill>
                <a:srgbClr val="FF3300"/>
              </a:solidFill>
            </a:endParaRPr>
          </a:p>
          <a:p>
            <a:pPr marL="0" lvl="0" indent="0">
              <a:spcBef>
                <a:spcPct val="0"/>
              </a:spcBef>
              <a:buClrTx/>
              <a:buSzTx/>
              <a:buFont typeface="Arial" panose="020B0604020202020204" pitchFamily="34" charset="0"/>
              <a:buNone/>
            </a:pPr>
            <a:endParaRPr lang="zh-CN" altLang="en-US" dirty="0"/>
          </a:p>
        </p:txBody>
      </p:sp>
      <p:sp>
        <p:nvSpPr>
          <p:cNvPr id="20485" name="矩形 5"/>
          <p:cNvSpPr/>
          <p:nvPr/>
        </p:nvSpPr>
        <p:spPr>
          <a:xfrm>
            <a:off x="146050" y="3628390"/>
            <a:ext cx="8851900" cy="2226310"/>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15000"/>
              </a:spcBef>
              <a:buNone/>
            </a:pPr>
            <a:r>
              <a:rPr lang="zh-CN" altLang="en-US" dirty="0"/>
              <a:t>              需要有一些规则来帮助计算</a:t>
            </a:r>
            <a:r>
              <a:rPr lang="en-US" altLang="zh-CN" dirty="0"/>
              <a:t>X</a:t>
            </a:r>
            <a:r>
              <a:rPr lang="en-US" altLang="zh-CN" baseline="30000" dirty="0"/>
              <a:t>+ </a:t>
            </a:r>
            <a:r>
              <a:rPr lang="zh-CN" altLang="en-US" dirty="0"/>
              <a:t>。</a:t>
            </a:r>
            <a:r>
              <a:rPr lang="en-US" altLang="zh-CN" dirty="0"/>
              <a:t>Armstrong</a:t>
            </a:r>
            <a:r>
              <a:rPr lang="zh-CN" altLang="en-US" dirty="0"/>
              <a:t>公理系统包含了一组推导规则，这些规则确定了如何从已知的函数依赖推导出新的函数依赖。</a:t>
            </a:r>
            <a:endParaRPr lang="zh-CN" altLang="en-US" dirty="0"/>
          </a:p>
          <a:p>
            <a:pPr marL="342900" lvl="0" indent="-342900" eaLnBrk="1" hangingPunct="1">
              <a:lnSpc>
                <a:spcPct val="125000"/>
              </a:lnSpc>
              <a:spcBef>
                <a:spcPts val="600"/>
              </a:spcBef>
              <a:buNone/>
            </a:pPr>
            <a:r>
              <a:rPr lang="zh-CN" altLang="en-US" dirty="0"/>
              <a:t>         假设</a:t>
            </a:r>
            <a:r>
              <a:rPr lang="en-US" altLang="zh-CN" dirty="0"/>
              <a:t>A</a:t>
            </a:r>
            <a:r>
              <a:rPr lang="zh-CN" altLang="en-US" dirty="0"/>
              <a:t>、</a:t>
            </a:r>
            <a:r>
              <a:rPr lang="en-US" altLang="zh-CN" dirty="0"/>
              <a:t>B</a:t>
            </a:r>
            <a:r>
              <a:rPr lang="zh-CN" altLang="en-US" dirty="0"/>
              <a:t>、</a:t>
            </a:r>
            <a:r>
              <a:rPr lang="en-US" altLang="zh-CN" dirty="0"/>
              <a:t>C</a:t>
            </a:r>
            <a:r>
              <a:rPr lang="zh-CN" altLang="en-US" dirty="0"/>
              <a:t>都是关系</a:t>
            </a:r>
            <a:r>
              <a:rPr lang="en-US" altLang="zh-CN" dirty="0"/>
              <a:t>R</a:t>
            </a:r>
            <a:r>
              <a:rPr lang="zh-CN" altLang="en-US" dirty="0"/>
              <a:t>的子集， </a:t>
            </a:r>
            <a:r>
              <a:rPr lang="en-US" altLang="zh-CN" dirty="0"/>
              <a:t>Armstrong</a:t>
            </a:r>
            <a:r>
              <a:rPr lang="zh-CN" altLang="en-US" dirty="0"/>
              <a:t>公理如下：</a:t>
            </a:r>
            <a:endParaRPr lang="zh-CN" altLang="en-US" dirty="0"/>
          </a:p>
          <a:p>
            <a:pPr marL="342900" lvl="0" indent="-342900" eaLnBrk="1" hangingPunct="1">
              <a:lnSpc>
                <a:spcPct val="120000"/>
              </a:lnSpc>
              <a:spcBef>
                <a:spcPct val="15000"/>
              </a:spcBef>
              <a:buNone/>
            </a:pPr>
            <a:r>
              <a:rPr lang="zh-CN" altLang="en-US" dirty="0">
                <a:solidFill>
                  <a:srgbClr val="FF3300"/>
                </a:solidFill>
              </a:rPr>
              <a:t>         </a:t>
            </a:r>
            <a:r>
              <a:rPr lang="en-US" altLang="zh-CN" u="sng" dirty="0">
                <a:solidFill>
                  <a:srgbClr val="0033CC"/>
                </a:solidFill>
              </a:rPr>
              <a:t>① </a:t>
            </a:r>
            <a:r>
              <a:rPr lang="zh-CN" altLang="en-US" u="sng" dirty="0">
                <a:solidFill>
                  <a:srgbClr val="0033CC"/>
                </a:solidFill>
              </a:rPr>
              <a:t>自反性：如果</a:t>
            </a:r>
            <a:r>
              <a:rPr lang="en-US" altLang="zh-CN" u="sng" dirty="0">
                <a:solidFill>
                  <a:srgbClr val="0033CC"/>
                </a:solidFill>
              </a:rPr>
              <a:t>B</a:t>
            </a:r>
            <a:r>
              <a:rPr lang="zh-CN" altLang="en-US" u="sng" dirty="0">
                <a:solidFill>
                  <a:srgbClr val="0033CC"/>
                </a:solidFill>
              </a:rPr>
              <a:t>是</a:t>
            </a:r>
            <a:r>
              <a:rPr lang="en-US" altLang="zh-CN" u="sng" dirty="0">
                <a:solidFill>
                  <a:srgbClr val="0033CC"/>
                </a:solidFill>
              </a:rPr>
              <a:t>A</a:t>
            </a:r>
            <a:r>
              <a:rPr lang="zh-CN" altLang="en-US" u="sng" dirty="0">
                <a:solidFill>
                  <a:srgbClr val="0033CC"/>
                </a:solidFill>
              </a:rPr>
              <a:t>的子集，则</a:t>
            </a:r>
            <a:r>
              <a:rPr lang="en-US" altLang="zh-CN" u="sng" dirty="0">
                <a:solidFill>
                  <a:srgbClr val="0033CC"/>
                </a:solidFill>
              </a:rPr>
              <a:t>A→B</a:t>
            </a:r>
            <a:r>
              <a:rPr lang="zh-CN" altLang="en-US" u="sng" dirty="0">
                <a:solidFill>
                  <a:srgbClr val="0033CC"/>
                </a:solidFill>
              </a:rPr>
              <a:t>。</a:t>
            </a:r>
            <a:endParaRPr lang="zh-CN" altLang="en-US" u="sng" dirty="0">
              <a:solidFill>
                <a:srgbClr val="0033CC"/>
              </a:solidFill>
            </a:endParaRPr>
          </a:p>
          <a:p>
            <a:pPr marL="342900" lvl="0" indent="-342900" eaLnBrk="1" hangingPunct="1">
              <a:lnSpc>
                <a:spcPct val="120000"/>
              </a:lnSpc>
              <a:spcBef>
                <a:spcPct val="15000"/>
              </a:spcBef>
              <a:buNone/>
            </a:pPr>
            <a:r>
              <a:rPr lang="zh-CN" altLang="en-US" dirty="0">
                <a:solidFill>
                  <a:srgbClr val="0033CC"/>
                </a:solidFill>
              </a:rPr>
              <a:t>         </a:t>
            </a:r>
            <a:r>
              <a:rPr lang="zh-CN" altLang="en-US" u="sng" dirty="0">
                <a:solidFill>
                  <a:srgbClr val="0033CC"/>
                </a:solidFill>
              </a:rPr>
              <a:t>② 增广性：如果</a:t>
            </a:r>
            <a:r>
              <a:rPr lang="en-US" altLang="zh-CN" u="sng" dirty="0">
                <a:solidFill>
                  <a:srgbClr val="0033CC"/>
                </a:solidFill>
              </a:rPr>
              <a:t>A→B</a:t>
            </a:r>
            <a:r>
              <a:rPr lang="zh-CN" altLang="en-US" u="sng" dirty="0">
                <a:solidFill>
                  <a:srgbClr val="0033CC"/>
                </a:solidFill>
              </a:rPr>
              <a:t>，则</a:t>
            </a:r>
            <a:r>
              <a:rPr lang="en-US" altLang="zh-CN" u="sng" dirty="0">
                <a:solidFill>
                  <a:srgbClr val="0033CC"/>
                </a:solidFill>
              </a:rPr>
              <a:t>A,C→B,C</a:t>
            </a:r>
            <a:r>
              <a:rPr lang="zh-CN" altLang="en-US" u="sng" dirty="0">
                <a:solidFill>
                  <a:srgbClr val="0033CC"/>
                </a:solidFill>
              </a:rPr>
              <a:t>。</a:t>
            </a:r>
            <a:endParaRPr lang="zh-CN" altLang="en-US" u="sng" dirty="0">
              <a:solidFill>
                <a:srgbClr val="0033CC"/>
              </a:solidFill>
            </a:endParaRPr>
          </a:p>
          <a:p>
            <a:pPr marL="342900" lvl="0" indent="-342900" eaLnBrk="1" hangingPunct="1">
              <a:lnSpc>
                <a:spcPct val="120000"/>
              </a:lnSpc>
              <a:spcBef>
                <a:spcPct val="15000"/>
              </a:spcBef>
              <a:buNone/>
            </a:pPr>
            <a:r>
              <a:rPr lang="en-US" altLang="zh-CN" dirty="0">
                <a:solidFill>
                  <a:srgbClr val="0033CC"/>
                </a:solidFill>
              </a:rPr>
              <a:t>         </a:t>
            </a:r>
            <a:r>
              <a:rPr lang="en-US" altLang="zh-CN" u="sng" dirty="0">
                <a:solidFill>
                  <a:srgbClr val="0033CC"/>
                </a:solidFill>
              </a:rPr>
              <a:t>③ </a:t>
            </a:r>
            <a:r>
              <a:rPr lang="zh-CN" altLang="en-US" u="sng" dirty="0">
                <a:solidFill>
                  <a:srgbClr val="0033CC"/>
                </a:solidFill>
              </a:rPr>
              <a:t>传递性：如果</a:t>
            </a:r>
            <a:r>
              <a:rPr lang="en-US" altLang="zh-CN" u="sng" dirty="0">
                <a:solidFill>
                  <a:srgbClr val="0033CC"/>
                </a:solidFill>
              </a:rPr>
              <a:t>A→B</a:t>
            </a:r>
            <a:r>
              <a:rPr lang="zh-CN" altLang="en-US" u="sng" dirty="0">
                <a:solidFill>
                  <a:srgbClr val="0033CC"/>
                </a:solidFill>
              </a:rPr>
              <a:t>并且</a:t>
            </a:r>
            <a:r>
              <a:rPr lang="en-US" altLang="zh-CN" u="sng" dirty="0">
                <a:solidFill>
                  <a:srgbClr val="0033CC"/>
                </a:solidFill>
              </a:rPr>
              <a:t>B→C</a:t>
            </a:r>
            <a:r>
              <a:rPr lang="zh-CN" altLang="en-US" u="sng" dirty="0">
                <a:solidFill>
                  <a:srgbClr val="0033CC"/>
                </a:solidFill>
              </a:rPr>
              <a:t>，则</a:t>
            </a:r>
            <a:r>
              <a:rPr lang="en-US" altLang="zh-CN" u="sng" dirty="0">
                <a:solidFill>
                  <a:srgbClr val="0033CC"/>
                </a:solidFill>
              </a:rPr>
              <a:t>A→C</a:t>
            </a:r>
            <a:r>
              <a:rPr lang="zh-CN" altLang="en-US" u="sng" dirty="0">
                <a:solidFill>
                  <a:srgbClr val="0033CC"/>
                </a:solidFill>
              </a:rPr>
              <a:t>。</a:t>
            </a:r>
            <a:endParaRPr lang="zh-CN" altLang="en-US" u="sng" dirty="0">
              <a:solidFill>
                <a:srgbClr val="0033CC"/>
              </a:solidFill>
              <a:ea typeface="Arial" panose="020B0604020202020204" pitchFamily="34" charset="0"/>
            </a:endParaRPr>
          </a:p>
        </p:txBody>
      </p:sp>
      <p:sp>
        <p:nvSpPr>
          <p:cNvPr id="6" name="文本框 5"/>
          <p:cNvSpPr txBox="1"/>
          <p:nvPr/>
        </p:nvSpPr>
        <p:spPr>
          <a:xfrm>
            <a:off x="694055" y="3229610"/>
            <a:ext cx="6147435" cy="3987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a:t>
            </a:r>
            <a:r>
              <a:rPr lang="en-US" altLang="zh-CN" dirty="0">
                <a:solidFill>
                  <a:srgbClr val="FF0000"/>
                </a:solidFill>
              </a:rPr>
              <a:t>4</a:t>
            </a:r>
            <a:r>
              <a:rPr lang="zh-CN" altLang="en-US" dirty="0">
                <a:solidFill>
                  <a:srgbClr val="FF0000"/>
                </a:solidFill>
              </a:rPr>
              <a:t>）候选键：</a:t>
            </a:r>
            <a:r>
              <a:rPr lang="en-US" altLang="zh-CN" dirty="0">
                <a:solidFill>
                  <a:srgbClr val="FF0000"/>
                </a:solidFill>
              </a:rPr>
              <a:t>(BD)+=BDAECF=U</a:t>
            </a:r>
            <a:endParaRPr lang="en-US" altLang="zh-CN"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charRg st="0" end="46"/>
                                            </p:txEl>
                                          </p:spTgt>
                                        </p:tgtEl>
                                        <p:attrNameLst>
                                          <p:attrName>style.visibility</p:attrName>
                                        </p:attrNameLst>
                                      </p:cBhvr>
                                      <p:to>
                                        <p:strVal val="visible"/>
                                      </p:to>
                                    </p:set>
                                    <p:anim calcmode="lin" valueType="num">
                                      <p:cBhvr additive="base">
                                        <p:cTn id="7" dur="500" fill="hold"/>
                                        <p:tgtEl>
                                          <p:spTgt spid="6">
                                            <p:txEl>
                                              <p:charRg st="0" end="4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charRg st="0" end="4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5"/>
                                        </p:tgtEl>
                                        <p:attrNameLst>
                                          <p:attrName>style.visibility</p:attrName>
                                        </p:attrNameLst>
                                      </p:cBhvr>
                                      <p:to>
                                        <p:strVal val="visible"/>
                                      </p:to>
                                    </p:set>
                                    <p:anim calcmode="lin" valueType="num">
                                      <p:cBhvr additive="base">
                                        <p:cTn id="13" dur="500" fill="hold"/>
                                        <p:tgtEl>
                                          <p:spTgt spid="20485"/>
                                        </p:tgtEl>
                                        <p:attrNameLst>
                                          <p:attrName>ppt_x</p:attrName>
                                        </p:attrNameLst>
                                      </p:cBhvr>
                                      <p:tavLst>
                                        <p:tav tm="0">
                                          <p:val>
                                            <p:strVal val="#ppt_x"/>
                                          </p:val>
                                        </p:tav>
                                        <p:tav tm="100000">
                                          <p:val>
                                            <p:strVal val="#ppt_x"/>
                                          </p:val>
                                        </p:tav>
                                      </p:tavLst>
                                    </p:anim>
                                    <p:anim calcmode="lin" valueType="num">
                                      <p:cBhvr additive="base">
                                        <p:cTn id="14" dur="500" fill="hold"/>
                                        <p:tgtEl>
                                          <p:spTgt spid="204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p:bldP spid="20485"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21507" name="文本框 3"/>
          <p:cNvSpPr txBox="1"/>
          <p:nvPr/>
        </p:nvSpPr>
        <p:spPr>
          <a:xfrm>
            <a:off x="554038" y="854075"/>
            <a:ext cx="8389937" cy="12731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spcBef>
                <a:spcPct val="0"/>
              </a:spcBef>
              <a:buClrTx/>
              <a:buSzTx/>
              <a:buFont typeface="Wingdings" panose="05000000000000000000" pitchFamily="2" charset="2"/>
              <a:buChar char=""/>
            </a:pPr>
            <a:r>
              <a:rPr lang="zh-CN" altLang="en-US" sz="2400" dirty="0">
                <a:solidFill>
                  <a:srgbClr val="FF0000"/>
                </a:solidFill>
                <a:latin typeface="华文中宋" panose="02010600040101010101" pitchFamily="2" charset="-122"/>
                <a:ea typeface="华文中宋" panose="02010600040101010101" pitchFamily="2" charset="-122"/>
              </a:rPr>
              <a:t>课堂练习：</a:t>
            </a:r>
            <a:r>
              <a:rPr lang="zh-CN" altLang="zh-CN" dirty="0">
                <a:solidFill>
                  <a:schemeClr val="accent2"/>
                </a:solidFill>
                <a:latin typeface="华文中宋" panose="02010600040101010101" pitchFamily="2" charset="-122"/>
                <a:ea typeface="华文中宋" panose="02010600040101010101" pitchFamily="2" charset="-122"/>
              </a:rPr>
              <a:t>设有关系模式R(U,F)，其中：U＝{A,B,C,D,E,G}，F＝{BG→C,BD→E,DG→C ，DAG→CB,AG →B,B →D }，求F 的最小依赖集F min，并求出</a:t>
            </a:r>
            <a:r>
              <a:rPr lang="zh-CN" altLang="zh-CN" dirty="0">
                <a:solidFill>
                  <a:schemeClr val="accent2"/>
                </a:solidFill>
                <a:latin typeface="华文中宋" panose="02010600040101010101" pitchFamily="2" charset="-122"/>
                <a:ea typeface="华文中宋" panose="02010600040101010101" pitchFamily="2" charset="-122"/>
              </a:rPr>
              <a:t>候选键</a:t>
            </a:r>
            <a:endParaRPr lang="zh-CN" altLang="zh-CN" dirty="0">
              <a:solidFill>
                <a:schemeClr val="accent2"/>
              </a:solidFill>
              <a:latin typeface="华文中宋" panose="02010600040101010101" pitchFamily="2" charset="-122"/>
              <a:ea typeface="华文中宋" panose="02010600040101010101" pitchFamily="2" charset="-122"/>
            </a:endParaRPr>
          </a:p>
        </p:txBody>
      </p:sp>
      <p:sp>
        <p:nvSpPr>
          <p:cNvPr id="4" name="文本框 3"/>
          <p:cNvSpPr txBox="1"/>
          <p:nvPr/>
        </p:nvSpPr>
        <p:spPr>
          <a:xfrm>
            <a:off x="552450" y="2127250"/>
            <a:ext cx="8477250"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a:t>
            </a:r>
            <a:r>
              <a:rPr lang="en-US" altLang="zh-CN" dirty="0">
                <a:solidFill>
                  <a:srgbClr val="FF0000"/>
                </a:solidFill>
              </a:rPr>
              <a:t>1</a:t>
            </a:r>
            <a:r>
              <a:rPr lang="zh-CN" altLang="en-US" dirty="0">
                <a:solidFill>
                  <a:srgbClr val="FF0000"/>
                </a:solidFill>
              </a:rPr>
              <a:t>）分解</a:t>
            </a:r>
            <a:r>
              <a:rPr lang="en-US" altLang="zh-CN" dirty="0">
                <a:solidFill>
                  <a:srgbClr val="FF0000"/>
                </a:solidFill>
              </a:rPr>
              <a:t>F</a:t>
            </a:r>
            <a:r>
              <a:rPr lang="zh-CN" altLang="zh-CN" dirty="0">
                <a:solidFill>
                  <a:srgbClr val="FF0000"/>
                </a:solidFill>
              </a:rPr>
              <a:t>＝</a:t>
            </a:r>
            <a:r>
              <a:rPr lang="en-US" altLang="zh-CN" dirty="0">
                <a:solidFill>
                  <a:srgbClr val="FF0000"/>
                </a:solidFill>
              </a:rPr>
              <a:t>{BG→C,BD→E,DG→C,DAG→C,DAG→B,AG→B,B→D }</a:t>
            </a:r>
            <a:endParaRPr lang="en-US" altLang="en-US" dirty="0">
              <a:solidFill>
                <a:srgbClr val="FF0000"/>
              </a:solidFill>
            </a:endParaRPr>
          </a:p>
        </p:txBody>
      </p:sp>
      <p:grpSp>
        <p:nvGrpSpPr>
          <p:cNvPr id="2" name="组合 1"/>
          <p:cNvGrpSpPr/>
          <p:nvPr/>
        </p:nvGrpSpPr>
        <p:grpSpPr>
          <a:xfrm>
            <a:off x="554038" y="2527300"/>
            <a:ext cx="8239125" cy="2967038"/>
            <a:chOff x="873" y="3980"/>
            <a:chExt cx="12974" cy="4672"/>
          </a:xfrm>
        </p:grpSpPr>
        <p:sp>
          <p:nvSpPr>
            <p:cNvPr id="21513" name="文本框 99"/>
            <p:cNvSpPr txBox="1"/>
            <p:nvPr/>
          </p:nvSpPr>
          <p:spPr>
            <a:xfrm>
              <a:off x="873" y="4630"/>
              <a:ext cx="12975" cy="402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304800" eaLnBrk="1" hangingPunct="1">
                <a:spcBef>
                  <a:spcPct val="0"/>
                </a:spcBef>
                <a:buClrTx/>
                <a:buSzTx/>
                <a:buFont typeface="Arial" panose="020B0604020202020204" pitchFamily="34" charset="0"/>
                <a:buNone/>
              </a:pPr>
              <a:r>
                <a:rPr lang="en-US" altLang="zh-CN" b="0" dirty="0">
                  <a:solidFill>
                    <a:srgbClr val="4F0FBD"/>
                  </a:solidFill>
                  <a:ea typeface="楷体" panose="02010609060101010101" pitchFamily="49" charset="-122"/>
                </a:rPr>
                <a:t> </a:t>
              </a:r>
              <a:r>
                <a:rPr lang="zh-CN" altLang="zh-CN" b="0" dirty="0">
                  <a:solidFill>
                    <a:srgbClr val="4F0FBD"/>
                  </a:solidFill>
                  <a:ea typeface="楷体" panose="02010609060101010101" pitchFamily="49" charset="-122"/>
                </a:rPr>
                <a:t>对于</a:t>
              </a:r>
              <a:r>
                <a:rPr lang="en-US" altLang="zh-CN" b="0" dirty="0">
                  <a:solidFill>
                    <a:srgbClr val="4F0FBD"/>
                  </a:solidFill>
                </a:rPr>
                <a:t>BG→C</a:t>
              </a:r>
              <a:r>
                <a:rPr lang="en-US" altLang="zh-CN" b="0" dirty="0">
                  <a:solidFill>
                    <a:srgbClr val="4F0FBD"/>
                  </a:solidFill>
                  <a:latin typeface="楷体" panose="02010609060101010101" pitchFamily="49" charset="-122"/>
                </a:rPr>
                <a:t>,(</a:t>
              </a:r>
              <a:r>
                <a:rPr lang="en-US" altLang="zh-CN" b="0" dirty="0">
                  <a:solidFill>
                    <a:srgbClr val="4F0FBD"/>
                  </a:solidFill>
                </a:rPr>
                <a:t>BG)+=BGDEC,</a:t>
              </a:r>
              <a:r>
                <a:rPr lang="zh-CN" altLang="zh-CN" dirty="0">
                  <a:solidFill>
                    <a:srgbClr val="FF0000"/>
                  </a:solidFill>
                  <a:ea typeface="楷体" panose="02010609060101010101" pitchFamily="49" charset="-122"/>
                </a:rPr>
                <a:t>冗余</a:t>
              </a:r>
              <a:endParaRPr lang="zh-CN" altLang="zh-CN" dirty="0">
                <a:solidFill>
                  <a:srgbClr val="FF0000"/>
                </a:solidFill>
                <a:ea typeface="楷体" panose="02010609060101010101" pitchFamily="49" charset="-122"/>
              </a:endParaRPr>
            </a:p>
            <a:p>
              <a:pPr marL="0" lvl="0" indent="304800" eaLnBrk="1" hangingPunct="1">
                <a:spcBef>
                  <a:spcPct val="0"/>
                </a:spcBef>
                <a:buClrTx/>
                <a:buSzTx/>
                <a:buFont typeface="Arial" panose="020B0604020202020204" pitchFamily="34" charset="0"/>
                <a:buNone/>
              </a:pPr>
              <a:r>
                <a:rPr lang="zh-CN" altLang="zh-CN" b="0" dirty="0">
                  <a:solidFill>
                    <a:srgbClr val="4F0FBD"/>
                  </a:solidFill>
                  <a:ea typeface="楷体" panose="02010609060101010101" pitchFamily="49" charset="-122"/>
                </a:rPr>
                <a:t>     对于</a:t>
              </a:r>
              <a:r>
                <a:rPr lang="en-US" altLang="zh-CN" b="0" dirty="0">
                  <a:solidFill>
                    <a:srgbClr val="4F0FBD"/>
                  </a:solidFill>
                </a:rPr>
                <a:t>BD→E</a:t>
              </a:r>
              <a:r>
                <a:rPr lang="en-US" altLang="zh-CN" b="0" dirty="0">
                  <a:solidFill>
                    <a:srgbClr val="4F0FBD"/>
                  </a:solidFill>
                  <a:latin typeface="楷体" panose="02010609060101010101" pitchFamily="49" charset="-122"/>
                </a:rPr>
                <a:t>,(</a:t>
              </a:r>
              <a:r>
                <a:rPr lang="en-US" altLang="zh-CN" b="0" dirty="0">
                  <a:solidFill>
                    <a:srgbClr val="4F0FBD"/>
                  </a:solidFill>
                </a:rPr>
                <a:t>BD)+=BD,</a:t>
              </a:r>
              <a:r>
                <a:rPr lang="zh-CN" altLang="zh-CN" dirty="0">
                  <a:solidFill>
                    <a:srgbClr val="007032"/>
                  </a:solidFill>
                  <a:ea typeface="楷体" panose="02010609060101010101" pitchFamily="49" charset="-122"/>
                </a:rPr>
                <a:t>保留</a:t>
              </a:r>
              <a:endParaRPr lang="zh-CN" altLang="zh-CN" dirty="0">
                <a:solidFill>
                  <a:srgbClr val="007032"/>
                </a:solidFill>
              </a:endParaRPr>
            </a:p>
            <a:p>
              <a:pPr marL="0" lvl="0" indent="304800" eaLnBrk="1" hangingPunct="1">
                <a:spcBef>
                  <a:spcPct val="0"/>
                </a:spcBef>
                <a:buClrTx/>
                <a:buSzTx/>
                <a:buFont typeface="Arial" panose="020B0604020202020204" pitchFamily="34" charset="0"/>
                <a:buNone/>
              </a:pPr>
              <a:r>
                <a:rPr lang="zh-CN" altLang="zh-CN" b="0" dirty="0">
                  <a:solidFill>
                    <a:srgbClr val="4F0FBD"/>
                  </a:solidFill>
                </a:rPr>
                <a:t>     </a:t>
              </a:r>
              <a:r>
                <a:rPr lang="zh-CN" altLang="zh-CN" b="0" dirty="0">
                  <a:solidFill>
                    <a:srgbClr val="4F0FBD"/>
                  </a:solidFill>
                  <a:latin typeface="楷体" panose="02010609060101010101" pitchFamily="49" charset="-122"/>
                  <a:ea typeface="楷体" panose="02010609060101010101" pitchFamily="49" charset="-122"/>
                </a:rPr>
                <a:t>对于</a:t>
              </a:r>
              <a:r>
                <a:rPr lang="en-US" altLang="zh-CN" b="0" dirty="0">
                  <a:solidFill>
                    <a:srgbClr val="4F0FBD"/>
                  </a:solidFill>
                </a:rPr>
                <a:t>DG→C</a:t>
              </a:r>
              <a:r>
                <a:rPr lang="en-US" altLang="zh-CN" b="0" dirty="0">
                  <a:solidFill>
                    <a:srgbClr val="4F0FBD"/>
                  </a:solidFill>
                  <a:latin typeface="楷体" panose="02010609060101010101" pitchFamily="49" charset="-122"/>
                </a:rPr>
                <a:t>,(</a:t>
              </a:r>
              <a:r>
                <a:rPr lang="en-US" altLang="zh-CN" b="0" dirty="0">
                  <a:solidFill>
                    <a:srgbClr val="4F0FBD"/>
                  </a:solidFill>
                </a:rPr>
                <a:t>DG)+=DG,</a:t>
              </a:r>
              <a:r>
                <a:rPr lang="zh-CN" altLang="zh-CN" dirty="0">
                  <a:solidFill>
                    <a:srgbClr val="007032"/>
                  </a:solidFill>
                  <a:ea typeface="楷体" panose="02010609060101010101" pitchFamily="49" charset="-122"/>
                </a:rPr>
                <a:t>保留</a:t>
              </a:r>
              <a:endParaRPr lang="zh-CN" altLang="zh-CN" b="0" dirty="0">
                <a:solidFill>
                  <a:srgbClr val="4F0FBD"/>
                </a:solidFill>
              </a:endParaRPr>
            </a:p>
            <a:p>
              <a:pPr marL="0" lvl="0" indent="304800" eaLnBrk="1" hangingPunct="1">
                <a:spcBef>
                  <a:spcPct val="0"/>
                </a:spcBef>
                <a:buClrTx/>
                <a:buSzTx/>
                <a:buFont typeface="Arial" panose="020B0604020202020204" pitchFamily="34" charset="0"/>
                <a:buNone/>
              </a:pPr>
              <a:r>
                <a:rPr lang="zh-CN" altLang="zh-CN" b="0" dirty="0">
                  <a:solidFill>
                    <a:srgbClr val="4F0FBD"/>
                  </a:solidFill>
                </a:rPr>
                <a:t>     </a:t>
              </a:r>
              <a:r>
                <a:rPr lang="zh-CN" altLang="zh-CN" b="0" dirty="0">
                  <a:solidFill>
                    <a:srgbClr val="4F0FBD"/>
                  </a:solidFill>
                  <a:latin typeface="楷体" panose="02010609060101010101" pitchFamily="49" charset="-122"/>
                  <a:ea typeface="楷体" panose="02010609060101010101" pitchFamily="49" charset="-122"/>
                </a:rPr>
                <a:t>对于</a:t>
              </a:r>
              <a:r>
                <a:rPr lang="en-US" altLang="zh-CN" b="0" dirty="0">
                  <a:solidFill>
                    <a:srgbClr val="4F0FBD"/>
                  </a:solidFill>
                </a:rPr>
                <a:t>DAG→C</a:t>
              </a:r>
              <a:r>
                <a:rPr lang="en-US" altLang="zh-CN" b="0" dirty="0">
                  <a:solidFill>
                    <a:srgbClr val="4F0FBD"/>
                  </a:solidFill>
                  <a:latin typeface="楷体" panose="02010609060101010101" pitchFamily="49" charset="-122"/>
                </a:rPr>
                <a:t>,(</a:t>
              </a:r>
              <a:r>
                <a:rPr lang="en-US" altLang="zh-CN" b="0" dirty="0">
                  <a:solidFill>
                    <a:srgbClr val="4F0FBD"/>
                  </a:solidFill>
                </a:rPr>
                <a:t>DAG)+=DAGCBE,</a:t>
              </a:r>
              <a:r>
                <a:rPr lang="zh-CN" altLang="zh-CN" dirty="0">
                  <a:solidFill>
                    <a:srgbClr val="FF0000"/>
                  </a:solidFill>
                  <a:ea typeface="楷体" panose="02010609060101010101" pitchFamily="49" charset="-122"/>
                </a:rPr>
                <a:t>冗余</a:t>
              </a:r>
              <a:endParaRPr lang="zh-CN" altLang="zh-CN" b="0" dirty="0">
                <a:solidFill>
                  <a:srgbClr val="4F0FBD"/>
                </a:solidFill>
              </a:endParaRPr>
            </a:p>
            <a:p>
              <a:pPr marL="0" lvl="0" indent="304800" eaLnBrk="1" hangingPunct="1">
                <a:spcBef>
                  <a:spcPct val="0"/>
                </a:spcBef>
                <a:buClrTx/>
                <a:buSzTx/>
                <a:buFont typeface="Arial" panose="020B0604020202020204" pitchFamily="34" charset="0"/>
                <a:buNone/>
              </a:pPr>
              <a:r>
                <a:rPr lang="zh-CN" altLang="zh-CN" b="0" dirty="0">
                  <a:solidFill>
                    <a:srgbClr val="4F0FBD"/>
                  </a:solidFill>
                </a:rPr>
                <a:t>     </a:t>
              </a:r>
              <a:r>
                <a:rPr lang="zh-CN" altLang="zh-CN" b="0" dirty="0">
                  <a:solidFill>
                    <a:srgbClr val="4F0FBD"/>
                  </a:solidFill>
                  <a:latin typeface="楷体" panose="02010609060101010101" pitchFamily="49" charset="-122"/>
                  <a:ea typeface="楷体" panose="02010609060101010101" pitchFamily="49" charset="-122"/>
                </a:rPr>
                <a:t>对于</a:t>
              </a:r>
              <a:r>
                <a:rPr lang="en-US" altLang="zh-CN" b="0" dirty="0">
                  <a:solidFill>
                    <a:srgbClr val="4F0FBD"/>
                  </a:solidFill>
                </a:rPr>
                <a:t>DAG→B</a:t>
              </a:r>
              <a:r>
                <a:rPr lang="en-US" altLang="zh-CN" b="0" dirty="0">
                  <a:solidFill>
                    <a:srgbClr val="4F0FBD"/>
                  </a:solidFill>
                  <a:latin typeface="楷体" panose="02010609060101010101" pitchFamily="49" charset="-122"/>
                </a:rPr>
                <a:t>,(</a:t>
              </a:r>
              <a:r>
                <a:rPr lang="en-US" altLang="zh-CN" b="0" dirty="0">
                  <a:solidFill>
                    <a:srgbClr val="4F0FBD"/>
                  </a:solidFill>
                </a:rPr>
                <a:t>DAG)+=DAGCBE,</a:t>
              </a:r>
              <a:r>
                <a:rPr lang="zh-CN" altLang="zh-CN" dirty="0">
                  <a:solidFill>
                    <a:srgbClr val="FF0000"/>
                  </a:solidFill>
                  <a:ea typeface="楷体" panose="02010609060101010101" pitchFamily="49" charset="-122"/>
                </a:rPr>
                <a:t>冗余</a:t>
              </a:r>
              <a:endParaRPr lang="zh-CN" altLang="zh-CN" b="0" dirty="0">
                <a:solidFill>
                  <a:srgbClr val="4F0FBD"/>
                </a:solidFill>
                <a:ea typeface="楷体" panose="02010609060101010101" pitchFamily="49" charset="-122"/>
              </a:endParaRPr>
            </a:p>
            <a:p>
              <a:pPr marL="0" lvl="0" indent="304800" eaLnBrk="1" hangingPunct="1">
                <a:spcBef>
                  <a:spcPct val="0"/>
                </a:spcBef>
                <a:buClrTx/>
                <a:buSzTx/>
                <a:buFont typeface="Arial" panose="020B0604020202020204" pitchFamily="34" charset="0"/>
                <a:buNone/>
              </a:pPr>
              <a:r>
                <a:rPr lang="zh-CN" altLang="zh-CN" b="0" dirty="0">
                  <a:solidFill>
                    <a:srgbClr val="4F0FBD"/>
                  </a:solidFill>
                  <a:ea typeface="楷体" panose="02010609060101010101" pitchFamily="49" charset="-122"/>
                </a:rPr>
                <a:t>     对于</a:t>
              </a:r>
              <a:r>
                <a:rPr lang="en-US" altLang="zh-CN" b="0" dirty="0">
                  <a:solidFill>
                    <a:srgbClr val="4F0FBD"/>
                  </a:solidFill>
                </a:rPr>
                <a:t>AG→B</a:t>
              </a:r>
              <a:r>
                <a:rPr lang="en-US" altLang="zh-CN" b="0" dirty="0">
                  <a:solidFill>
                    <a:srgbClr val="4F0FBD"/>
                  </a:solidFill>
                  <a:latin typeface="楷体" panose="02010609060101010101" pitchFamily="49" charset="-122"/>
                </a:rPr>
                <a:t>,(</a:t>
              </a:r>
              <a:r>
                <a:rPr lang="en-US" altLang="zh-CN" b="0" dirty="0">
                  <a:solidFill>
                    <a:srgbClr val="4F0FBD"/>
                  </a:solidFill>
                </a:rPr>
                <a:t>AG)+=AG,</a:t>
              </a:r>
              <a:r>
                <a:rPr lang="zh-CN" altLang="zh-CN" dirty="0">
                  <a:solidFill>
                    <a:srgbClr val="007032"/>
                  </a:solidFill>
                  <a:ea typeface="楷体" panose="02010609060101010101" pitchFamily="49" charset="-122"/>
                </a:rPr>
                <a:t>保留</a:t>
              </a:r>
              <a:endParaRPr lang="zh-CN" altLang="zh-CN" b="0" dirty="0">
                <a:solidFill>
                  <a:srgbClr val="4F0FBD"/>
                </a:solidFill>
                <a:ea typeface="楷体" panose="02010609060101010101" pitchFamily="49" charset="-122"/>
              </a:endParaRPr>
            </a:p>
            <a:p>
              <a:pPr marL="0" lvl="0" indent="304800" eaLnBrk="1" hangingPunct="1">
                <a:spcBef>
                  <a:spcPct val="0"/>
                </a:spcBef>
                <a:buClrTx/>
                <a:buSzTx/>
                <a:buFont typeface="Arial" panose="020B0604020202020204" pitchFamily="34" charset="0"/>
                <a:buNone/>
              </a:pPr>
              <a:r>
                <a:rPr lang="zh-CN" altLang="zh-CN" b="0" dirty="0">
                  <a:solidFill>
                    <a:srgbClr val="4F0FBD"/>
                  </a:solidFill>
                  <a:ea typeface="楷体" panose="02010609060101010101" pitchFamily="49" charset="-122"/>
                </a:rPr>
                <a:t>     对于</a:t>
              </a:r>
              <a:r>
                <a:rPr lang="en-US" altLang="zh-CN" b="0" dirty="0">
                  <a:solidFill>
                    <a:srgbClr val="4F0FBD"/>
                  </a:solidFill>
                </a:rPr>
                <a:t>B→D,</a:t>
              </a:r>
              <a:r>
                <a:rPr lang="en-US" altLang="zh-CN" b="0" dirty="0">
                  <a:solidFill>
                    <a:srgbClr val="4F0FBD"/>
                  </a:solidFill>
                  <a:latin typeface="楷体" panose="02010609060101010101" pitchFamily="49" charset="-122"/>
                </a:rPr>
                <a:t>(</a:t>
              </a:r>
              <a:r>
                <a:rPr lang="en-US" altLang="zh-CN" b="0" dirty="0">
                  <a:solidFill>
                    <a:srgbClr val="4F0FBD"/>
                  </a:solidFill>
                </a:rPr>
                <a:t>B)+=B,</a:t>
              </a:r>
              <a:r>
                <a:rPr lang="zh-CN" altLang="zh-CN" dirty="0">
                  <a:solidFill>
                    <a:srgbClr val="007032"/>
                  </a:solidFill>
                  <a:ea typeface="楷体" panose="02010609060101010101" pitchFamily="49" charset="-122"/>
                </a:rPr>
                <a:t>保留</a:t>
              </a:r>
              <a:endParaRPr lang="zh-CN" altLang="zh-CN" dirty="0">
                <a:solidFill>
                  <a:srgbClr val="007032"/>
                </a:solidFill>
                <a:ea typeface="楷体" panose="02010609060101010101" pitchFamily="49" charset="-122"/>
              </a:endParaRPr>
            </a:p>
            <a:p>
              <a:pPr marL="0" lvl="0" indent="304800" eaLnBrk="1" hangingPunct="1">
                <a:spcBef>
                  <a:spcPct val="0"/>
                </a:spcBef>
                <a:buClrTx/>
                <a:buSzTx/>
                <a:buFont typeface="Arial" panose="020B0604020202020204" pitchFamily="34" charset="0"/>
                <a:buNone/>
              </a:pPr>
              <a:r>
                <a:rPr lang="zh-CN" altLang="zh-CN" b="0" dirty="0">
                  <a:solidFill>
                    <a:srgbClr val="4F0FBD"/>
                  </a:solidFill>
                  <a:ea typeface="楷体" panose="02010609060101010101" pitchFamily="49" charset="-122"/>
                </a:rPr>
                <a:t>所以保留的：</a:t>
              </a:r>
              <a:r>
                <a:rPr lang="en-US" altLang="zh-CN" b="0" dirty="0">
                  <a:solidFill>
                    <a:srgbClr val="4F0FBD"/>
                  </a:solidFill>
                  <a:ea typeface="楷体" panose="02010609060101010101" pitchFamily="49" charset="-122"/>
                </a:rPr>
                <a:t>{ BD→E, DG→C , AG→B, B →D }</a:t>
              </a:r>
              <a:endParaRPr lang="zh-CN" altLang="en-US" dirty="0"/>
            </a:p>
          </p:txBody>
        </p:sp>
        <p:sp>
          <p:nvSpPr>
            <p:cNvPr id="21514" name="文本框 4"/>
            <p:cNvSpPr txBox="1"/>
            <p:nvPr/>
          </p:nvSpPr>
          <p:spPr>
            <a:xfrm>
              <a:off x="873" y="3980"/>
              <a:ext cx="12695" cy="6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100" dirty="0">
                  <a:solidFill>
                    <a:srgbClr val="FF0000"/>
                  </a:solidFill>
                  <a:sym typeface="宋体" panose="02010600030101010101" pitchFamily="2" charset="-122"/>
                </a:rPr>
                <a:t>（</a:t>
              </a:r>
              <a:r>
                <a:rPr lang="en-US" altLang="zh-CN" sz="2100" dirty="0">
                  <a:solidFill>
                    <a:srgbClr val="FF0000"/>
                  </a:solidFill>
                  <a:sym typeface="宋体" panose="02010600030101010101" pitchFamily="2" charset="-122"/>
                </a:rPr>
                <a:t>2</a:t>
              </a:r>
              <a:r>
                <a:rPr lang="zh-CN" altLang="en-US" sz="2100" dirty="0">
                  <a:solidFill>
                    <a:srgbClr val="FF0000"/>
                  </a:solidFill>
                  <a:sym typeface="宋体" panose="02010600030101010101" pitchFamily="2" charset="-122"/>
                </a:rPr>
                <a:t>）去除冗余依赖</a:t>
              </a:r>
              <a:endParaRPr lang="en-US" altLang="en-US" sz="2100" dirty="0">
                <a:solidFill>
                  <a:srgbClr val="FF0000"/>
                </a:solidFill>
                <a:sym typeface="宋体" panose="02010600030101010101" pitchFamily="2" charset="-122"/>
              </a:endParaRPr>
            </a:p>
          </p:txBody>
        </p:sp>
      </p:grpSp>
      <p:grpSp>
        <p:nvGrpSpPr>
          <p:cNvPr id="3" name="组合 2"/>
          <p:cNvGrpSpPr/>
          <p:nvPr/>
        </p:nvGrpSpPr>
        <p:grpSpPr>
          <a:xfrm>
            <a:off x="228600" y="5494338"/>
            <a:ext cx="8159750" cy="796925"/>
            <a:chOff x="360" y="8653"/>
            <a:chExt cx="12850" cy="1255"/>
          </a:xfrm>
        </p:grpSpPr>
        <p:sp>
          <p:nvSpPr>
            <p:cNvPr id="21511" name="文本框 5"/>
            <p:cNvSpPr txBox="1"/>
            <p:nvPr/>
          </p:nvSpPr>
          <p:spPr>
            <a:xfrm>
              <a:off x="360" y="8652"/>
              <a:ext cx="12850" cy="62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304800" eaLnBrk="1" hangingPunct="1">
                <a:spcBef>
                  <a:spcPct val="0"/>
                </a:spcBef>
                <a:buClrTx/>
                <a:buSzTx/>
                <a:buFont typeface="Arial" panose="020B0604020202020204" pitchFamily="34" charset="0"/>
                <a:buNone/>
              </a:pPr>
              <a:r>
                <a:rPr lang="zh-CN" altLang="zh-CN" dirty="0">
                  <a:solidFill>
                    <a:srgbClr val="FF0000"/>
                  </a:solidFill>
                  <a:ea typeface="楷体" panose="02010609060101010101" pitchFamily="49" charset="-122"/>
                </a:rPr>
                <a:t>（</a:t>
              </a:r>
              <a:r>
                <a:rPr lang="en-US" altLang="zh-CN" dirty="0">
                  <a:solidFill>
                    <a:srgbClr val="FF0000"/>
                  </a:solidFill>
                  <a:ea typeface="楷体" panose="02010609060101010101" pitchFamily="49" charset="-122"/>
                </a:rPr>
                <a:t>3</a:t>
              </a:r>
              <a:r>
                <a:rPr lang="zh-CN" altLang="en-US" dirty="0">
                  <a:solidFill>
                    <a:srgbClr val="FF0000"/>
                  </a:solidFill>
                  <a:ea typeface="楷体" panose="02010609060101010101" pitchFamily="49" charset="-122"/>
                </a:rPr>
                <a:t>）</a:t>
              </a:r>
              <a:r>
                <a:rPr lang="zh-CN" altLang="en-US" dirty="0">
                  <a:solidFill>
                    <a:srgbClr val="FF0000"/>
                  </a:solidFill>
                </a:rPr>
                <a:t>去掉依赖左部多余的属性。</a:t>
              </a:r>
              <a:r>
                <a:rPr lang="zh-CN" altLang="zh-CN" sz="1800" b="0" dirty="0">
                  <a:solidFill>
                    <a:srgbClr val="4F0FBD"/>
                  </a:solidFill>
                  <a:ea typeface="楷体" panose="02010609060101010101" pitchFamily="49" charset="-122"/>
                </a:rPr>
                <a:t>由于</a:t>
              </a:r>
              <a:r>
                <a:rPr lang="en-US" altLang="zh-CN" sz="1800" b="0" dirty="0">
                  <a:solidFill>
                    <a:srgbClr val="4F0FBD"/>
                  </a:solidFill>
                  <a:ea typeface="楷体" panose="02010609060101010101" pitchFamily="49" charset="-122"/>
                </a:rPr>
                <a:t>B →D</a:t>
              </a:r>
              <a:r>
                <a:rPr lang="zh-CN" altLang="zh-CN" sz="1800" b="0" dirty="0">
                  <a:solidFill>
                    <a:srgbClr val="4F0FBD"/>
                  </a:solidFill>
                  <a:ea typeface="楷体" panose="02010609060101010101" pitchFamily="49" charset="-122"/>
                </a:rPr>
                <a:t>，所以</a:t>
              </a:r>
              <a:r>
                <a:rPr lang="en-US" altLang="zh-CN" sz="1800" b="0" dirty="0">
                  <a:solidFill>
                    <a:srgbClr val="4F0FBD"/>
                  </a:solidFill>
                  <a:ea typeface="楷体" panose="02010609060101010101" pitchFamily="49" charset="-122"/>
                </a:rPr>
                <a:t>BD→E</a:t>
              </a:r>
              <a:r>
                <a:rPr lang="zh-CN" altLang="zh-CN" sz="1800" b="0" dirty="0">
                  <a:solidFill>
                    <a:srgbClr val="4F0FBD"/>
                  </a:solidFill>
                  <a:ea typeface="楷体" panose="02010609060101010101" pitchFamily="49" charset="-122"/>
                </a:rPr>
                <a:t>可以由</a:t>
              </a:r>
              <a:r>
                <a:rPr lang="en-US" altLang="zh-CN" sz="1800" b="0" dirty="0">
                  <a:solidFill>
                    <a:srgbClr val="4F0FBD"/>
                  </a:solidFill>
                  <a:ea typeface="楷体" panose="02010609060101010101" pitchFamily="49" charset="-122"/>
                </a:rPr>
                <a:t>B →E </a:t>
              </a:r>
              <a:endParaRPr lang="zh-CN" altLang="en-US" sz="1800" dirty="0"/>
            </a:p>
          </p:txBody>
        </p:sp>
        <p:sp>
          <p:nvSpPr>
            <p:cNvPr id="21512" name="文本框 6"/>
            <p:cNvSpPr txBox="1"/>
            <p:nvPr/>
          </p:nvSpPr>
          <p:spPr>
            <a:xfrm>
              <a:off x="870" y="9280"/>
              <a:ext cx="9870" cy="62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304800" eaLnBrk="1" hangingPunct="1">
                <a:spcBef>
                  <a:spcPct val="0"/>
                </a:spcBef>
                <a:buClrTx/>
                <a:buSzTx/>
                <a:buFont typeface="Arial" panose="020B0604020202020204" pitchFamily="34" charset="0"/>
                <a:buNone/>
              </a:pPr>
              <a:r>
                <a:rPr lang="zh-CN" altLang="zh-CN" b="0" dirty="0">
                  <a:solidFill>
                    <a:srgbClr val="4F0FBD"/>
                  </a:solidFill>
                  <a:ea typeface="楷体" panose="02010609060101010101" pitchFamily="49" charset="-122"/>
                  <a:sym typeface="宋体" panose="02010600030101010101" pitchFamily="2" charset="-122"/>
                </a:rPr>
                <a:t>所以：</a:t>
              </a:r>
              <a:r>
                <a:rPr lang="en-US" altLang="zh-CN" b="0" dirty="0">
                  <a:solidFill>
                    <a:srgbClr val="4F0FBD"/>
                  </a:solidFill>
                  <a:sym typeface="宋体" panose="02010600030101010101" pitchFamily="2" charset="-122"/>
                </a:rPr>
                <a:t>F min ={ B→E, DG→C , AG→B, B →D }</a:t>
              </a:r>
              <a:endParaRPr lang="zh-CN" altLang="en-US" dirty="0"/>
            </a:p>
          </p:txBody>
        </p:sp>
      </p:grpSp>
      <p:sp>
        <p:nvSpPr>
          <p:cNvPr id="6" name="文本框 5"/>
          <p:cNvSpPr txBox="1"/>
          <p:nvPr/>
        </p:nvSpPr>
        <p:spPr>
          <a:xfrm>
            <a:off x="6018530" y="4138295"/>
            <a:ext cx="2775585" cy="70675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a:t>
            </a:r>
            <a:r>
              <a:rPr lang="en-US" altLang="zh-CN" dirty="0">
                <a:solidFill>
                  <a:srgbClr val="FF0000"/>
                </a:solidFill>
              </a:rPr>
              <a:t>4</a:t>
            </a:r>
            <a:r>
              <a:rPr lang="zh-CN" altLang="en-US" dirty="0">
                <a:solidFill>
                  <a:srgbClr val="FF0000"/>
                </a:solidFill>
              </a:rPr>
              <a:t>）候选键：</a:t>
            </a:r>
            <a:r>
              <a:rPr lang="en-US" altLang="zh-CN" dirty="0">
                <a:solidFill>
                  <a:srgbClr val="FF0000"/>
                </a:solidFill>
              </a:rPr>
              <a:t>(AG)+=AGBEDC=U</a:t>
            </a:r>
            <a:endParaRPr lang="en-US" altLang="zh-CN"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charRg st="0" end="46"/>
                                            </p:txEl>
                                          </p:spTgt>
                                        </p:tgtEl>
                                        <p:attrNameLst>
                                          <p:attrName>style.visibility</p:attrName>
                                        </p:attrNameLst>
                                      </p:cBhvr>
                                      <p:to>
                                        <p:strVal val="visible"/>
                                      </p:to>
                                    </p:set>
                                    <p:anim calcmode="lin" valueType="num">
                                      <p:cBhvr additive="base">
                                        <p:cTn id="7" dur="500" fill="hold"/>
                                        <p:tgtEl>
                                          <p:spTgt spid="4">
                                            <p:txEl>
                                              <p:charRg st="0" end="4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charRg st="0" end="4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charRg st="0" end="46"/>
                                            </p:txEl>
                                          </p:spTgt>
                                        </p:tgtEl>
                                        <p:attrNameLst>
                                          <p:attrName>style.visibility</p:attrName>
                                        </p:attrNameLst>
                                      </p:cBhvr>
                                      <p:to>
                                        <p:strVal val="visible"/>
                                      </p:to>
                                    </p:set>
                                    <p:anim calcmode="lin" valueType="num">
                                      <p:cBhvr additive="base">
                                        <p:cTn id="25" dur="500" fill="hold"/>
                                        <p:tgtEl>
                                          <p:spTgt spid="6">
                                            <p:txEl>
                                              <p:charRg st="0" end="4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charRg st="0" end="4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4"/>
          <p:cNvSpPr/>
          <p:nvPr/>
        </p:nvSpPr>
        <p:spPr>
          <a:xfrm>
            <a:off x="693738" y="2106613"/>
            <a:ext cx="8450262" cy="3552825"/>
          </a:xfrm>
          <a:prstGeom prst="rect">
            <a:avLst/>
          </a:prstGeom>
          <a:noFill/>
          <a:ln w="9525">
            <a:noFill/>
          </a:ln>
          <a:effectLst>
            <a:prstShdw prst="shdw17" dist="17961" dir="2699999">
              <a:srgbClr val="708688"/>
            </a:prstShdw>
          </a:effectLst>
        </p:spPr>
        <p:txBody>
          <a:bodyPr lIns="0" tIns="88872" rIns="0" bIns="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5000"/>
              </a:lnSpc>
              <a:spcBef>
                <a:spcPts val="600"/>
              </a:spcBef>
              <a:buClrTx/>
              <a:buSzTx/>
              <a:buFont typeface="Arial" panose="020B0604020202020204" pitchFamily="34" charset="0"/>
              <a:buNone/>
            </a:pPr>
            <a:r>
              <a:rPr lang="en-US" altLang="zh-CN" dirty="0">
                <a:solidFill>
                  <a:srgbClr val="333333"/>
                </a:solidFill>
              </a:rPr>
              <a:t>1</a:t>
            </a:r>
            <a:r>
              <a:rPr lang="zh-CN" altLang="en-US" dirty="0">
                <a:solidFill>
                  <a:srgbClr val="333333"/>
                </a:solidFill>
              </a:rPr>
              <a:t>）如果AD→E冗余，那么从</a:t>
            </a:r>
            <a:r>
              <a:rPr lang="en-US" altLang="zh-CN" dirty="0">
                <a:solidFill>
                  <a:srgbClr val="333333"/>
                </a:solidFill>
              </a:rPr>
              <a:t>F</a:t>
            </a:r>
            <a:r>
              <a:rPr lang="zh-CN" altLang="en-US" dirty="0">
                <a:solidFill>
                  <a:srgbClr val="333333"/>
                </a:solidFill>
              </a:rPr>
              <a:t>中去掉它后仍然可以根据</a:t>
            </a:r>
            <a:r>
              <a:rPr lang="en-US" altLang="zh-CN" dirty="0"/>
              <a:t>Armstrong</a:t>
            </a:r>
            <a:r>
              <a:rPr lang="zh-CN" altLang="en-US" dirty="0"/>
              <a:t>公理推理规则导出：</a:t>
            </a:r>
            <a:endParaRPr lang="en-US" altLang="zh-CN" dirty="0"/>
          </a:p>
          <a:p>
            <a:pPr marL="0" lvl="0" indent="0">
              <a:lnSpc>
                <a:spcPct val="125000"/>
              </a:lnSpc>
              <a:spcBef>
                <a:spcPts val="600"/>
              </a:spcBef>
              <a:buClrTx/>
              <a:buSzTx/>
              <a:buFont typeface="Arial" panose="020B0604020202020204" pitchFamily="34" charset="0"/>
              <a:buNone/>
            </a:pPr>
            <a:r>
              <a:rPr lang="zh-CN" altLang="en-US" dirty="0">
                <a:solidFill>
                  <a:srgbClr val="333333"/>
                </a:solidFill>
              </a:rPr>
              <a:t>因为AC→E</a:t>
            </a:r>
            <a:r>
              <a:rPr lang="en-US" altLang="zh-CN" dirty="0">
                <a:solidFill>
                  <a:srgbClr val="333333"/>
                </a:solidFill>
              </a:rPr>
              <a:t> </a:t>
            </a:r>
            <a:r>
              <a:rPr lang="zh-CN" altLang="en-US" dirty="0">
                <a:solidFill>
                  <a:srgbClr val="333333"/>
                </a:solidFill>
              </a:rPr>
              <a:t>，又因为</a:t>
            </a:r>
            <a:r>
              <a:rPr lang="en-US" altLang="zh-CN" dirty="0">
                <a:solidFill>
                  <a:srgbClr val="333333"/>
                </a:solidFill>
              </a:rPr>
              <a:t>A</a:t>
            </a:r>
            <a:r>
              <a:rPr lang="zh-CN" altLang="en-US" dirty="0">
                <a:solidFill>
                  <a:srgbClr val="333333"/>
                </a:solidFill>
              </a:rPr>
              <a:t>→</a:t>
            </a:r>
            <a:r>
              <a:rPr lang="en-US" altLang="zh-CN" dirty="0">
                <a:solidFill>
                  <a:srgbClr val="333333"/>
                </a:solidFill>
              </a:rPr>
              <a:t>C</a:t>
            </a:r>
            <a:r>
              <a:rPr lang="zh-CN" altLang="en-US" dirty="0">
                <a:solidFill>
                  <a:srgbClr val="333333"/>
                </a:solidFill>
              </a:rPr>
              <a:t>（已知），所以： </a:t>
            </a:r>
            <a:r>
              <a:rPr lang="en-US" altLang="zh-CN" dirty="0">
                <a:solidFill>
                  <a:srgbClr val="333333"/>
                </a:solidFill>
              </a:rPr>
              <a:t>A</a:t>
            </a:r>
            <a:r>
              <a:rPr lang="zh-CN" altLang="en-US" dirty="0">
                <a:solidFill>
                  <a:srgbClr val="333333"/>
                </a:solidFill>
              </a:rPr>
              <a:t>→</a:t>
            </a:r>
            <a:r>
              <a:rPr lang="en-US" altLang="zh-CN" dirty="0">
                <a:solidFill>
                  <a:srgbClr val="333333"/>
                </a:solidFill>
              </a:rPr>
              <a:t>E</a:t>
            </a:r>
            <a:r>
              <a:rPr lang="zh-CN" altLang="en-US" dirty="0">
                <a:solidFill>
                  <a:srgbClr val="333333"/>
                </a:solidFill>
              </a:rPr>
              <a:t>（传递性），所以： AD→E；</a:t>
            </a:r>
            <a:endParaRPr lang="en-US" altLang="zh-CN" dirty="0">
              <a:solidFill>
                <a:srgbClr val="333333"/>
              </a:solidFill>
            </a:endParaRPr>
          </a:p>
          <a:p>
            <a:pPr marL="0" lvl="0" indent="0">
              <a:lnSpc>
                <a:spcPct val="125000"/>
              </a:lnSpc>
              <a:spcBef>
                <a:spcPts val="600"/>
              </a:spcBef>
              <a:buClrTx/>
              <a:buSzTx/>
              <a:buFont typeface="Arial" panose="020B0604020202020204" pitchFamily="34" charset="0"/>
              <a:buNone/>
            </a:pPr>
            <a:r>
              <a:rPr lang="en-US" altLang="zh-CN" dirty="0">
                <a:solidFill>
                  <a:srgbClr val="333333"/>
                </a:solidFill>
              </a:rPr>
              <a:t>2</a:t>
            </a:r>
            <a:r>
              <a:rPr lang="zh-CN" altLang="en-US" dirty="0">
                <a:solidFill>
                  <a:srgbClr val="333333"/>
                </a:solidFill>
              </a:rPr>
              <a:t>）如果BCD→A冗余，根据</a:t>
            </a:r>
            <a:r>
              <a:rPr lang="en-US" altLang="zh-CN" dirty="0"/>
              <a:t>Armstrong</a:t>
            </a:r>
            <a:r>
              <a:rPr lang="zh-CN" altLang="en-US" dirty="0"/>
              <a:t>公理推理规则导出：</a:t>
            </a:r>
            <a:endParaRPr lang="en-US" altLang="zh-CN" dirty="0"/>
          </a:p>
          <a:p>
            <a:pPr marL="0" lvl="0" indent="0">
              <a:lnSpc>
                <a:spcPct val="125000"/>
              </a:lnSpc>
              <a:spcBef>
                <a:spcPts val="600"/>
              </a:spcBef>
              <a:buClrTx/>
              <a:buSzTx/>
              <a:buFont typeface="Arial" panose="020B0604020202020204" pitchFamily="34" charset="0"/>
              <a:buNone/>
            </a:pPr>
            <a:r>
              <a:rPr lang="zh-CN" altLang="en-US" dirty="0">
                <a:solidFill>
                  <a:srgbClr val="333333"/>
                </a:solidFill>
              </a:rPr>
              <a:t>因为BD→A，又因为B</a:t>
            </a:r>
            <a:r>
              <a:rPr lang="en-US" altLang="zh-CN" dirty="0">
                <a:solidFill>
                  <a:srgbClr val="333333"/>
                </a:solidFill>
              </a:rPr>
              <a:t>C</a:t>
            </a:r>
            <a:r>
              <a:rPr lang="zh-CN" altLang="en-US" dirty="0">
                <a:solidFill>
                  <a:srgbClr val="333333"/>
                </a:solidFill>
              </a:rPr>
              <a:t>D→ BD（自反性），所以： BCD→A （传递性）</a:t>
            </a:r>
            <a:endParaRPr lang="en-US" altLang="zh-CN" dirty="0">
              <a:solidFill>
                <a:srgbClr val="333333"/>
              </a:solidFill>
            </a:endParaRPr>
          </a:p>
          <a:p>
            <a:pPr marL="0" lvl="0" indent="0">
              <a:lnSpc>
                <a:spcPct val="125000"/>
              </a:lnSpc>
              <a:spcBef>
                <a:spcPts val="600"/>
              </a:spcBef>
              <a:buClrTx/>
              <a:buSzTx/>
              <a:buFont typeface="Arial" panose="020B0604020202020204" pitchFamily="34" charset="0"/>
              <a:buNone/>
            </a:pPr>
            <a:r>
              <a:rPr lang="en-US" altLang="zh-CN" dirty="0">
                <a:solidFill>
                  <a:srgbClr val="333333"/>
                </a:solidFill>
              </a:rPr>
              <a:t>3</a:t>
            </a:r>
            <a:r>
              <a:rPr lang="zh-CN" altLang="en-US" dirty="0">
                <a:solidFill>
                  <a:srgbClr val="333333"/>
                </a:solidFill>
              </a:rPr>
              <a:t>）如果AB→F冗余，根据</a:t>
            </a:r>
            <a:r>
              <a:rPr lang="en-US" altLang="zh-CN" dirty="0"/>
              <a:t>Armstrong</a:t>
            </a:r>
            <a:r>
              <a:rPr lang="zh-CN" altLang="en-US" dirty="0"/>
              <a:t>公理推理规则导出：</a:t>
            </a:r>
            <a:r>
              <a:rPr lang="zh-CN" altLang="en-US" dirty="0">
                <a:solidFill>
                  <a:srgbClr val="333333"/>
                </a:solidFill>
              </a:rPr>
              <a:t> </a:t>
            </a:r>
            <a:endParaRPr lang="en-US" altLang="zh-CN" dirty="0">
              <a:solidFill>
                <a:srgbClr val="333333"/>
              </a:solidFill>
            </a:endParaRPr>
          </a:p>
          <a:p>
            <a:pPr marL="0" lvl="0" indent="0">
              <a:lnSpc>
                <a:spcPct val="125000"/>
              </a:lnSpc>
              <a:spcBef>
                <a:spcPts val="600"/>
              </a:spcBef>
              <a:buClrTx/>
              <a:buSzTx/>
              <a:buFont typeface="Arial" panose="020B0604020202020204" pitchFamily="34" charset="0"/>
              <a:buNone/>
            </a:pPr>
            <a:r>
              <a:rPr lang="zh-CN" altLang="en-US" dirty="0">
                <a:solidFill>
                  <a:srgbClr val="333333"/>
                </a:solidFill>
              </a:rPr>
              <a:t>因为</a:t>
            </a:r>
            <a:r>
              <a:rPr lang="en-US" altLang="zh-CN" dirty="0">
                <a:solidFill>
                  <a:srgbClr val="333333"/>
                </a:solidFill>
              </a:rPr>
              <a:t>A</a:t>
            </a:r>
            <a:r>
              <a:rPr lang="zh-CN" altLang="en-US" dirty="0">
                <a:solidFill>
                  <a:srgbClr val="333333"/>
                </a:solidFill>
              </a:rPr>
              <a:t>→</a:t>
            </a:r>
            <a:r>
              <a:rPr lang="en-US" altLang="zh-CN" dirty="0">
                <a:solidFill>
                  <a:srgbClr val="333333"/>
                </a:solidFill>
              </a:rPr>
              <a:t>C</a:t>
            </a:r>
            <a:r>
              <a:rPr lang="zh-CN" altLang="en-US" dirty="0">
                <a:solidFill>
                  <a:srgbClr val="333333"/>
                </a:solidFill>
              </a:rPr>
              <a:t> （已知），所以：</a:t>
            </a:r>
            <a:r>
              <a:rPr lang="en-US" altLang="zh-CN" dirty="0">
                <a:solidFill>
                  <a:srgbClr val="333333"/>
                </a:solidFill>
              </a:rPr>
              <a:t> AB</a:t>
            </a:r>
            <a:r>
              <a:rPr lang="zh-CN" altLang="en-US" dirty="0">
                <a:solidFill>
                  <a:srgbClr val="333333"/>
                </a:solidFill>
              </a:rPr>
              <a:t>→</a:t>
            </a:r>
            <a:r>
              <a:rPr lang="en-US" altLang="zh-CN" dirty="0">
                <a:solidFill>
                  <a:srgbClr val="333333"/>
                </a:solidFill>
              </a:rPr>
              <a:t>BC;</a:t>
            </a:r>
            <a:r>
              <a:rPr lang="zh-CN" altLang="en-US" dirty="0">
                <a:solidFill>
                  <a:srgbClr val="333333"/>
                </a:solidFill>
              </a:rPr>
              <a:t>因为BC→F，所以：</a:t>
            </a:r>
            <a:r>
              <a:rPr lang="en-US" altLang="zh-CN" dirty="0">
                <a:solidFill>
                  <a:srgbClr val="333333"/>
                </a:solidFill>
              </a:rPr>
              <a:t> </a:t>
            </a:r>
            <a:r>
              <a:rPr lang="zh-CN" altLang="en-US" dirty="0">
                <a:solidFill>
                  <a:srgbClr val="333333"/>
                </a:solidFill>
              </a:rPr>
              <a:t>AB→F。</a:t>
            </a:r>
            <a:endParaRPr lang="zh-CN" altLang="en-US" dirty="0"/>
          </a:p>
        </p:txBody>
      </p:sp>
      <p:sp>
        <p:nvSpPr>
          <p:cNvPr id="22531"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22532" name="Rectangle 7"/>
          <p:cNvSpPr/>
          <p:nvPr/>
        </p:nvSpPr>
        <p:spPr>
          <a:xfrm>
            <a:off x="557213" y="809625"/>
            <a:ext cx="385445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、最小函数依赖集</a:t>
            </a:r>
            <a:endParaRPr lang="en-US" altLang="zh-CN" sz="2800" dirty="0">
              <a:solidFill>
                <a:srgbClr val="FF3300"/>
              </a:solidFill>
              <a:latin typeface="黑体" panose="02010609060101010101" pitchFamily="49" charset="-122"/>
              <a:ea typeface="黑体" panose="02010609060101010101" pitchFamily="49" charset="-122"/>
            </a:endParaRPr>
          </a:p>
        </p:txBody>
      </p:sp>
      <p:sp>
        <p:nvSpPr>
          <p:cNvPr id="22533" name="矩形 5"/>
          <p:cNvSpPr/>
          <p:nvPr/>
        </p:nvSpPr>
        <p:spPr>
          <a:xfrm>
            <a:off x="623888" y="1535113"/>
            <a:ext cx="6399212" cy="5334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solidFill>
                  <a:srgbClr val="FF3300"/>
                </a:solidFill>
              </a:rPr>
              <a:t>例：上述例子中应用</a:t>
            </a:r>
            <a:r>
              <a:rPr lang="en-US" altLang="zh-CN" sz="2400" dirty="0">
                <a:solidFill>
                  <a:srgbClr val="FF3300"/>
                </a:solidFill>
              </a:rPr>
              <a:t>Armstrong</a:t>
            </a:r>
            <a:r>
              <a:rPr lang="zh-CN" altLang="en-US" sz="2400" dirty="0">
                <a:solidFill>
                  <a:srgbClr val="FF3300"/>
                </a:solidFill>
              </a:rPr>
              <a:t>公理求解方法</a:t>
            </a:r>
            <a:endParaRPr lang="zh-CN" altLang="en-US" sz="2400" dirty="0">
              <a:solidFill>
                <a:srgbClr val="FF3300"/>
              </a:solidFill>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文本框 20"/>
          <p:cNvSpPr txBox="1"/>
          <p:nvPr/>
        </p:nvSpPr>
        <p:spPr>
          <a:xfrm>
            <a:off x="503238" y="3654425"/>
            <a:ext cx="7932737" cy="11160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t>3</a:t>
            </a:r>
            <a:r>
              <a:rPr lang="zh-CN" altLang="en-US" dirty="0"/>
              <a:t>. 下面关于函数依赖的叙述中，不正确的是（      ）</a:t>
            </a:r>
            <a:endParaRPr lang="zh-CN" altLang="en-US" dirty="0"/>
          </a:p>
          <a:p>
            <a:pPr marL="0" lvl="0" indent="0" eaLnBrk="1" hangingPunct="1">
              <a:lnSpc>
                <a:spcPct val="110000"/>
              </a:lnSpc>
              <a:spcBef>
                <a:spcPct val="0"/>
              </a:spcBef>
              <a:buClrTx/>
              <a:buSzTx/>
              <a:buFont typeface="Arial" panose="020B0604020202020204" pitchFamily="34" charset="0"/>
              <a:buNone/>
            </a:pPr>
            <a:r>
              <a:rPr lang="zh-CN" altLang="en-US" sz="1800" dirty="0"/>
              <a:t>      A. 若X</a:t>
            </a:r>
            <a:r>
              <a:rPr lang="en-US" altLang="zh-CN" sz="1800" dirty="0">
                <a:latin typeface="Calibri" panose="020F0502020204030204" charset="0"/>
                <a:sym typeface="宋体" panose="02010600030101010101" pitchFamily="2" charset="-122"/>
              </a:rPr>
              <a:t>→</a:t>
            </a:r>
            <a:r>
              <a:rPr lang="zh-CN" altLang="en-US" sz="1800" dirty="0"/>
              <a:t>Y，X</a:t>
            </a:r>
            <a:r>
              <a:rPr lang="en-US" altLang="zh-CN" sz="1800" dirty="0">
                <a:latin typeface="Calibri" panose="020F0502020204030204" charset="0"/>
                <a:sym typeface="宋体" panose="02010600030101010101" pitchFamily="2" charset="-122"/>
              </a:rPr>
              <a:t>→</a:t>
            </a:r>
            <a:r>
              <a:rPr lang="zh-CN" altLang="en-US" sz="1800" dirty="0"/>
              <a:t>Z，则X</a:t>
            </a:r>
            <a:r>
              <a:rPr lang="en-US" altLang="zh-CN" sz="1800" dirty="0">
                <a:latin typeface="Calibri" panose="020F0502020204030204" charset="0"/>
                <a:sym typeface="宋体" panose="02010600030101010101" pitchFamily="2" charset="-122"/>
              </a:rPr>
              <a:t>→</a:t>
            </a:r>
            <a:r>
              <a:rPr lang="zh-CN" altLang="en-US" sz="1800" dirty="0"/>
              <a:t>YZ          B. 若XY</a:t>
            </a:r>
            <a:r>
              <a:rPr lang="en-US" altLang="zh-CN" sz="1800" dirty="0">
                <a:latin typeface="Calibri" panose="020F0502020204030204" charset="0"/>
                <a:sym typeface="宋体" panose="02010600030101010101" pitchFamily="2" charset="-122"/>
              </a:rPr>
              <a:t>→</a:t>
            </a:r>
            <a:r>
              <a:rPr lang="zh-CN" altLang="en-US" sz="1800" dirty="0"/>
              <a:t>Z，则X</a:t>
            </a:r>
            <a:r>
              <a:rPr lang="en-US" altLang="zh-CN" sz="1800" dirty="0">
                <a:latin typeface="Calibri" panose="020F0502020204030204" charset="0"/>
                <a:sym typeface="宋体" panose="02010600030101010101" pitchFamily="2" charset="-122"/>
              </a:rPr>
              <a:t>→</a:t>
            </a:r>
            <a:r>
              <a:rPr lang="zh-CN" altLang="en-US" sz="1800" dirty="0"/>
              <a:t>Z，Y</a:t>
            </a:r>
            <a:r>
              <a:rPr lang="en-US" altLang="zh-CN" sz="1800" dirty="0">
                <a:latin typeface="Calibri" panose="020F0502020204030204" charset="0"/>
                <a:sym typeface="宋体" panose="02010600030101010101" pitchFamily="2" charset="-122"/>
              </a:rPr>
              <a:t>→</a:t>
            </a:r>
            <a:r>
              <a:rPr lang="zh-CN" altLang="en-US" sz="1800" dirty="0"/>
              <a:t>Z</a:t>
            </a:r>
            <a:endParaRPr lang="zh-CN" altLang="en-US" sz="1800" dirty="0"/>
          </a:p>
          <a:p>
            <a:pPr marL="0" lvl="0" indent="0" eaLnBrk="1" hangingPunct="1">
              <a:lnSpc>
                <a:spcPct val="110000"/>
              </a:lnSpc>
              <a:spcBef>
                <a:spcPct val="0"/>
              </a:spcBef>
              <a:buClrTx/>
              <a:buSzTx/>
              <a:buFont typeface="Arial" panose="020B0604020202020204" pitchFamily="34" charset="0"/>
              <a:buNone/>
            </a:pPr>
            <a:r>
              <a:rPr lang="zh-CN" altLang="en-US" sz="1800" dirty="0"/>
              <a:t>      C. 若X</a:t>
            </a:r>
            <a:r>
              <a:rPr lang="en-US" altLang="zh-CN" sz="1800" dirty="0">
                <a:latin typeface="Calibri" panose="020F0502020204030204" charset="0"/>
                <a:sym typeface="宋体" panose="02010600030101010101" pitchFamily="2" charset="-122"/>
              </a:rPr>
              <a:t>→</a:t>
            </a:r>
            <a:r>
              <a:rPr lang="zh-CN" altLang="en-US" sz="1800" dirty="0"/>
              <a:t>Y，WY</a:t>
            </a:r>
            <a:r>
              <a:rPr lang="en-US" altLang="zh-CN" sz="1800" dirty="0">
                <a:latin typeface="Calibri" panose="020F0502020204030204" charset="0"/>
                <a:sym typeface="宋体" panose="02010600030101010101" pitchFamily="2" charset="-122"/>
              </a:rPr>
              <a:t>→</a:t>
            </a:r>
            <a:r>
              <a:rPr lang="zh-CN" altLang="en-US" sz="1800" dirty="0"/>
              <a:t>Z，则XW</a:t>
            </a:r>
            <a:r>
              <a:rPr lang="en-US" altLang="zh-CN" sz="1800" dirty="0">
                <a:latin typeface="Calibri" panose="020F0502020204030204" charset="0"/>
                <a:sym typeface="宋体" panose="02010600030101010101" pitchFamily="2" charset="-122"/>
              </a:rPr>
              <a:t>→</a:t>
            </a:r>
            <a:r>
              <a:rPr lang="zh-CN" altLang="en-US" sz="1800" dirty="0"/>
              <a:t>Z      D. 若X</a:t>
            </a:r>
            <a:r>
              <a:rPr lang="en-US" altLang="zh-CN" sz="1800" dirty="0">
                <a:latin typeface="Calibri" panose="020F0502020204030204" charset="0"/>
                <a:sym typeface="宋体" panose="02010600030101010101" pitchFamily="2" charset="-122"/>
              </a:rPr>
              <a:t>→</a:t>
            </a:r>
            <a:r>
              <a:rPr lang="zh-CN" altLang="en-US" sz="1800" dirty="0"/>
              <a:t>Y，则XZ</a:t>
            </a:r>
            <a:r>
              <a:rPr lang="en-US" altLang="zh-CN" sz="1800" dirty="0">
                <a:latin typeface="Calibri" panose="020F0502020204030204" charset="0"/>
                <a:sym typeface="宋体" panose="02010600030101010101" pitchFamily="2" charset="-122"/>
              </a:rPr>
              <a:t>→</a:t>
            </a:r>
            <a:r>
              <a:rPr lang="zh-CN" altLang="en-US" sz="1800" dirty="0"/>
              <a:t>YZ</a:t>
            </a:r>
            <a:endParaRPr lang="zh-CN" altLang="en-US" sz="1800" dirty="0"/>
          </a:p>
        </p:txBody>
      </p:sp>
      <p:sp>
        <p:nvSpPr>
          <p:cNvPr id="23555" name="文本框 44"/>
          <p:cNvSpPr txBox="1"/>
          <p:nvPr/>
        </p:nvSpPr>
        <p:spPr>
          <a:xfrm>
            <a:off x="442913" y="671513"/>
            <a:ext cx="2681287" cy="828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algn="just" eaLnBrk="1" hangingPunct="1">
              <a:lnSpc>
                <a:spcPct val="150000"/>
              </a:lnSpc>
              <a:spcBef>
                <a:spcPct val="0"/>
              </a:spcBef>
              <a:buClrTx/>
              <a:buSzTx/>
              <a:buFont typeface="Wingdings" panose="05000000000000000000" pitchFamily="2" charset="2"/>
              <a:buChar char="p"/>
            </a:pPr>
            <a:r>
              <a:rPr lang="zh-CN" altLang="zh-CN" sz="3200" dirty="0">
                <a:solidFill>
                  <a:srgbClr val="FF0000"/>
                </a:solidFill>
                <a:latin typeface="Calibri" panose="020F0502020204030204" charset="0"/>
                <a:sym typeface="宋体" panose="02010600030101010101" pitchFamily="2" charset="-122"/>
              </a:rPr>
              <a:t>问题研讨：</a:t>
            </a:r>
            <a:endParaRPr lang="zh-CN" altLang="en-US" sz="3200" dirty="0"/>
          </a:p>
        </p:txBody>
      </p:sp>
      <p:sp>
        <p:nvSpPr>
          <p:cNvPr id="23556" name="文本框 8"/>
          <p:cNvSpPr txBox="1"/>
          <p:nvPr/>
        </p:nvSpPr>
        <p:spPr>
          <a:xfrm>
            <a:off x="554038" y="1462088"/>
            <a:ext cx="8316912" cy="7747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t>1</a:t>
            </a:r>
            <a:r>
              <a:rPr lang="zh-CN" altLang="en-US" dirty="0"/>
              <a:t>、在关系模式</a:t>
            </a:r>
            <a:r>
              <a:rPr lang="en-US" altLang="zh-CN" dirty="0"/>
              <a:t>R(U)</a:t>
            </a:r>
            <a:r>
              <a:rPr lang="zh-CN" altLang="en-US" dirty="0"/>
              <a:t>中，  </a:t>
            </a:r>
            <a:r>
              <a:rPr lang="en-US" altLang="zh-CN" dirty="0"/>
              <a:t>             </a:t>
            </a:r>
            <a:r>
              <a:rPr lang="zh-CN" altLang="en-US" dirty="0"/>
              <a:t>      </a:t>
            </a:r>
            <a:r>
              <a:rPr lang="en-US" altLang="zh-CN" dirty="0"/>
              <a:t>X</a:t>
            </a:r>
            <a:r>
              <a:rPr lang="en-US" altLang="zh-CN" dirty="0">
                <a:latin typeface="Calibri" panose="020F0502020204030204" charset="0"/>
              </a:rPr>
              <a:t>→Y</a:t>
            </a:r>
            <a:r>
              <a:rPr lang="zh-CN" altLang="en-US" dirty="0">
                <a:latin typeface="Calibri" panose="020F0502020204030204" charset="0"/>
              </a:rPr>
              <a:t>，则</a:t>
            </a:r>
            <a:r>
              <a:rPr lang="en-US" altLang="zh-CN" dirty="0">
                <a:latin typeface="Calibri" panose="020F0502020204030204" charset="0"/>
              </a:rPr>
              <a:t>X</a:t>
            </a:r>
            <a:r>
              <a:rPr lang="zh-CN" altLang="en-US" dirty="0">
                <a:latin typeface="Calibri" panose="020F0502020204030204" charset="0"/>
              </a:rPr>
              <a:t>与</a:t>
            </a:r>
            <a:r>
              <a:rPr lang="en-US" altLang="zh-CN" dirty="0">
                <a:latin typeface="Calibri" panose="020F0502020204030204" charset="0"/>
              </a:rPr>
              <a:t>Y</a:t>
            </a:r>
            <a:r>
              <a:rPr lang="zh-CN" altLang="en-US" dirty="0">
                <a:latin typeface="Calibri" panose="020F0502020204030204" charset="0"/>
              </a:rPr>
              <a:t>之间的关系是（</a:t>
            </a:r>
            <a:r>
              <a:rPr lang="zh-CN" altLang="en-US" dirty="0"/>
              <a:t>     ） </a:t>
            </a:r>
            <a:endParaRPr lang="zh-CN" altLang="en-US" dirty="0"/>
          </a:p>
          <a:p>
            <a:pPr marL="0" lvl="0" indent="0" eaLnBrk="1" hangingPunct="1">
              <a:spcBef>
                <a:spcPts val="300"/>
              </a:spcBef>
              <a:buClrTx/>
              <a:buSzTx/>
              <a:buFont typeface="Arial" panose="020B0604020202020204" pitchFamily="34" charset="0"/>
              <a:buNone/>
            </a:pPr>
            <a:r>
              <a:rPr lang="en-US" altLang="zh-CN" sz="2200" dirty="0"/>
              <a:t>   </a:t>
            </a:r>
            <a:r>
              <a:rPr lang="en-US" altLang="zh-CN" dirty="0"/>
              <a:t> A</a:t>
            </a:r>
            <a:r>
              <a:rPr lang="zh-CN" altLang="en-US" dirty="0"/>
              <a:t>、一对一      </a:t>
            </a:r>
            <a:r>
              <a:rPr lang="en-US" altLang="zh-CN" dirty="0"/>
              <a:t>B</a:t>
            </a:r>
            <a:r>
              <a:rPr lang="zh-CN" altLang="en-US" dirty="0"/>
              <a:t>、一对多</a:t>
            </a:r>
            <a:r>
              <a:rPr lang="en-US" altLang="zh-CN" dirty="0"/>
              <a:t>     C</a:t>
            </a:r>
            <a:r>
              <a:rPr lang="zh-CN" altLang="en-US" dirty="0"/>
              <a:t>、多对多     </a:t>
            </a:r>
            <a:r>
              <a:rPr lang="en-US" altLang="zh-CN" dirty="0"/>
              <a:t>D</a:t>
            </a:r>
            <a:r>
              <a:rPr lang="zh-CN" altLang="en-US" dirty="0"/>
              <a:t>、多对一</a:t>
            </a:r>
            <a:endParaRPr lang="zh-CN" altLang="en-US" dirty="0"/>
          </a:p>
        </p:txBody>
      </p:sp>
      <p:sp>
        <p:nvSpPr>
          <p:cNvPr id="18" name="文本框 17"/>
          <p:cNvSpPr txBox="1"/>
          <p:nvPr/>
        </p:nvSpPr>
        <p:spPr>
          <a:xfrm>
            <a:off x="8231188" y="1412875"/>
            <a:ext cx="403225" cy="588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D</a:t>
            </a:r>
            <a:endParaRPr lang="en-US" altLang="zh-CN" sz="2400" dirty="0">
              <a:solidFill>
                <a:srgbClr val="C00000"/>
              </a:solidFill>
            </a:endParaRPr>
          </a:p>
        </p:txBody>
      </p:sp>
      <p:graphicFrame>
        <p:nvGraphicFramePr>
          <p:cNvPr id="23558" name="对象 2">
            <a:hlinkClick r:id="" action="ppaction://ole?verb="/>
          </p:cNvPr>
          <p:cNvGraphicFramePr>
            <a:graphicFrameLocks noChangeAspect="1"/>
          </p:cNvGraphicFramePr>
          <p:nvPr/>
        </p:nvGraphicFramePr>
        <p:xfrm>
          <a:off x="3352642" y="1488282"/>
          <a:ext cx="1319530" cy="336550"/>
        </p:xfrm>
        <a:graphic>
          <a:graphicData uri="http://schemas.openxmlformats.org/presentationml/2006/ole">
            <mc:AlternateContent xmlns:mc="http://schemas.openxmlformats.org/markup-compatibility/2006">
              <mc:Choice xmlns:v="urn:schemas-microsoft-com:vml" Requires="v">
                <p:oleObj spid="_x0000_s3078" name="" r:id="rId1" imgW="1054100" imgH="190500" progId="Equation.KSEE3">
                  <p:embed/>
                </p:oleObj>
              </mc:Choice>
              <mc:Fallback>
                <p:oleObj name="" r:id="rId1" imgW="1054100" imgH="190500" progId="Equation.KSEE3">
                  <p:embed/>
                  <p:pic>
                    <p:nvPicPr>
                      <p:cNvPr id="0" name="图片 3077"/>
                      <p:cNvPicPr/>
                      <p:nvPr/>
                    </p:nvPicPr>
                    <p:blipFill>
                      <a:blip r:embed="rId2"/>
                      <a:stretch>
                        <a:fillRect/>
                      </a:stretch>
                    </p:blipFill>
                    <p:spPr>
                      <a:xfrm>
                        <a:off x="3352642" y="1488282"/>
                        <a:ext cx="1319530" cy="336550"/>
                      </a:xfrm>
                      <a:prstGeom prst="rect">
                        <a:avLst/>
                      </a:prstGeom>
                      <a:noFill/>
                      <a:ln w="38100">
                        <a:noFill/>
                        <a:miter/>
                      </a:ln>
                    </p:spPr>
                  </p:pic>
                </p:oleObj>
              </mc:Fallback>
            </mc:AlternateContent>
          </a:graphicData>
        </a:graphic>
      </p:graphicFrame>
      <p:sp>
        <p:nvSpPr>
          <p:cNvPr id="23559" name="文本框 4"/>
          <p:cNvSpPr txBox="1"/>
          <p:nvPr/>
        </p:nvSpPr>
        <p:spPr>
          <a:xfrm>
            <a:off x="549275" y="2327275"/>
            <a:ext cx="8316913" cy="11715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dirty="0"/>
              <a:t>2</a:t>
            </a:r>
            <a:r>
              <a:rPr lang="zh-CN" altLang="en-US" dirty="0"/>
              <a:t>、设有关系模式</a:t>
            </a:r>
            <a:r>
              <a:rPr lang="en-US" altLang="zh-CN" dirty="0"/>
              <a:t>R(ABC)</a:t>
            </a:r>
            <a:r>
              <a:rPr lang="zh-CN" altLang="en-US" dirty="0"/>
              <a:t>，下面关于函数依赖不正确的推理是</a:t>
            </a:r>
            <a:r>
              <a:rPr lang="zh-CN" altLang="en-US" dirty="0">
                <a:latin typeface="Calibri" panose="020F0502020204030204" charset="0"/>
              </a:rPr>
              <a:t>（</a:t>
            </a:r>
            <a:r>
              <a:rPr lang="zh-CN" altLang="en-US" dirty="0"/>
              <a:t>     ） </a:t>
            </a:r>
            <a:endParaRPr lang="zh-CN" altLang="en-US" dirty="0"/>
          </a:p>
          <a:p>
            <a:pPr marL="0" lvl="0" indent="0" eaLnBrk="1" hangingPunct="1">
              <a:lnSpc>
                <a:spcPct val="110000"/>
              </a:lnSpc>
              <a:spcBef>
                <a:spcPct val="0"/>
              </a:spcBef>
              <a:buClrTx/>
              <a:buSzTx/>
              <a:buFont typeface="Arial" panose="020B0604020202020204" pitchFamily="34" charset="0"/>
              <a:buNone/>
            </a:pPr>
            <a:r>
              <a:rPr lang="en-US" altLang="zh-CN" sz="2200" dirty="0"/>
              <a:t>   </a:t>
            </a:r>
            <a:r>
              <a:rPr lang="en-US" altLang="zh-CN" dirty="0"/>
              <a:t> A</a:t>
            </a:r>
            <a:r>
              <a:rPr lang="zh-CN" altLang="en-US" dirty="0"/>
              <a:t>、</a:t>
            </a:r>
            <a:r>
              <a:rPr lang="en-US" altLang="zh-CN" dirty="0"/>
              <a:t>A</a:t>
            </a:r>
            <a:r>
              <a:rPr lang="en-US" altLang="zh-CN" dirty="0">
                <a:latin typeface="Calibri" panose="020F0502020204030204" charset="0"/>
                <a:sym typeface="宋体" panose="02010600030101010101" pitchFamily="2" charset="-122"/>
              </a:rPr>
              <a:t>→B</a:t>
            </a:r>
            <a:r>
              <a:rPr lang="zh-CN" altLang="en-US" dirty="0">
                <a:latin typeface="Calibri" panose="020F0502020204030204" charset="0"/>
                <a:sym typeface="宋体" panose="02010600030101010101" pitchFamily="2" charset="-122"/>
              </a:rPr>
              <a:t>，</a:t>
            </a:r>
            <a:r>
              <a:rPr lang="en-US" altLang="zh-CN" dirty="0">
                <a:latin typeface="Calibri" panose="020F0502020204030204" charset="0"/>
                <a:sym typeface="宋体" panose="02010600030101010101" pitchFamily="2" charset="-122"/>
              </a:rPr>
              <a:t>B→C</a:t>
            </a:r>
            <a:r>
              <a:rPr lang="zh-CN" altLang="en-US" dirty="0">
                <a:latin typeface="Calibri" panose="020F0502020204030204" charset="0"/>
                <a:sym typeface="宋体" panose="02010600030101010101" pitchFamily="2" charset="-122"/>
              </a:rPr>
              <a:t>，则</a:t>
            </a:r>
            <a:r>
              <a:rPr lang="en-US" altLang="zh-CN" dirty="0">
                <a:latin typeface="Calibri" panose="020F0502020204030204" charset="0"/>
                <a:sym typeface="宋体" panose="02010600030101010101" pitchFamily="2" charset="-122"/>
              </a:rPr>
              <a:t>A→C   </a:t>
            </a:r>
            <a:r>
              <a:rPr lang="zh-CN" altLang="en-US" dirty="0"/>
              <a:t>     </a:t>
            </a:r>
            <a:r>
              <a:rPr lang="en-US" altLang="zh-CN" dirty="0"/>
              <a:t>B</a:t>
            </a:r>
            <a:r>
              <a:rPr lang="zh-CN" altLang="en-US" dirty="0"/>
              <a:t>、</a:t>
            </a:r>
            <a:r>
              <a:rPr lang="en-US" altLang="zh-CN" dirty="0"/>
              <a:t>AB</a:t>
            </a:r>
            <a:r>
              <a:rPr lang="en-US" altLang="zh-CN" dirty="0">
                <a:latin typeface="Calibri" panose="020F0502020204030204" charset="0"/>
                <a:sym typeface="宋体" panose="02010600030101010101" pitchFamily="2" charset="-122"/>
              </a:rPr>
              <a:t>→C</a:t>
            </a:r>
            <a:r>
              <a:rPr lang="zh-CN" altLang="en-US" dirty="0">
                <a:latin typeface="Calibri" panose="020F0502020204030204" charset="0"/>
                <a:sym typeface="宋体" panose="02010600030101010101" pitchFamily="2" charset="-122"/>
              </a:rPr>
              <a:t>，则</a:t>
            </a:r>
            <a:r>
              <a:rPr lang="en-US" altLang="zh-CN" dirty="0">
                <a:latin typeface="Calibri" panose="020F0502020204030204" charset="0"/>
                <a:sym typeface="宋体" panose="02010600030101010101" pitchFamily="2" charset="-122"/>
              </a:rPr>
              <a:t>A→C</a:t>
            </a:r>
            <a:r>
              <a:rPr lang="zh-CN" altLang="en-US" dirty="0">
                <a:latin typeface="Calibri" panose="020F0502020204030204" charset="0"/>
                <a:sym typeface="宋体" panose="02010600030101010101" pitchFamily="2" charset="-122"/>
              </a:rPr>
              <a:t>，</a:t>
            </a:r>
            <a:r>
              <a:rPr lang="en-US" altLang="zh-CN" dirty="0">
                <a:latin typeface="Calibri" panose="020F0502020204030204" charset="0"/>
                <a:sym typeface="宋体" panose="02010600030101010101" pitchFamily="2" charset="-122"/>
              </a:rPr>
              <a:t>B→C</a:t>
            </a:r>
            <a:r>
              <a:rPr lang="en-US" altLang="zh-CN" dirty="0"/>
              <a:t>   </a:t>
            </a:r>
            <a:endParaRPr lang="en-US" altLang="zh-CN" dirty="0"/>
          </a:p>
          <a:p>
            <a:pPr marL="0" lvl="0" indent="0" eaLnBrk="1" hangingPunct="1">
              <a:lnSpc>
                <a:spcPct val="110000"/>
              </a:lnSpc>
              <a:spcBef>
                <a:spcPct val="0"/>
              </a:spcBef>
              <a:buClrTx/>
              <a:buSzTx/>
              <a:buFont typeface="Arial" panose="020B0604020202020204" pitchFamily="34" charset="0"/>
              <a:buNone/>
            </a:pPr>
            <a:r>
              <a:rPr lang="en-US" altLang="zh-CN" dirty="0"/>
              <a:t>    C</a:t>
            </a:r>
            <a:r>
              <a:rPr lang="zh-CN" altLang="en-US" dirty="0"/>
              <a:t>、</a:t>
            </a:r>
            <a:r>
              <a:rPr lang="en-US" altLang="zh-CN" dirty="0">
                <a:sym typeface="宋体" panose="02010600030101010101" pitchFamily="2" charset="-122"/>
              </a:rPr>
              <a:t>A</a:t>
            </a:r>
            <a:r>
              <a:rPr lang="en-US" altLang="zh-CN" dirty="0">
                <a:latin typeface="Calibri" panose="020F0502020204030204" charset="0"/>
                <a:sym typeface="宋体" panose="02010600030101010101" pitchFamily="2" charset="-122"/>
              </a:rPr>
              <a:t>→B</a:t>
            </a:r>
            <a:r>
              <a:rPr lang="zh-CN" altLang="en-US" dirty="0">
                <a:latin typeface="Calibri" panose="020F0502020204030204" charset="0"/>
                <a:sym typeface="宋体" panose="02010600030101010101" pitchFamily="2" charset="-122"/>
              </a:rPr>
              <a:t>，</a:t>
            </a:r>
            <a:r>
              <a:rPr lang="en-US" altLang="zh-CN" dirty="0">
                <a:latin typeface="Calibri" panose="020F0502020204030204" charset="0"/>
                <a:sym typeface="宋体" panose="02010600030101010101" pitchFamily="2" charset="-122"/>
              </a:rPr>
              <a:t>A→C</a:t>
            </a:r>
            <a:r>
              <a:rPr lang="zh-CN" altLang="en-US" dirty="0">
                <a:latin typeface="Calibri" panose="020F0502020204030204" charset="0"/>
                <a:sym typeface="宋体" panose="02010600030101010101" pitchFamily="2" charset="-122"/>
              </a:rPr>
              <a:t>，则</a:t>
            </a:r>
            <a:r>
              <a:rPr lang="en-US" altLang="zh-CN" dirty="0">
                <a:sym typeface="宋体" panose="02010600030101010101" pitchFamily="2" charset="-122"/>
              </a:rPr>
              <a:t>A</a:t>
            </a:r>
            <a:r>
              <a:rPr lang="en-US" altLang="zh-CN" dirty="0">
                <a:latin typeface="Calibri" panose="020F0502020204030204" charset="0"/>
                <a:sym typeface="宋体" panose="02010600030101010101" pitchFamily="2" charset="-122"/>
              </a:rPr>
              <a:t>→BC</a:t>
            </a:r>
            <a:r>
              <a:rPr lang="zh-CN" altLang="en-US" dirty="0"/>
              <a:t>     </a:t>
            </a:r>
            <a:r>
              <a:rPr lang="en-US" altLang="zh-CN" dirty="0"/>
              <a:t>D</a:t>
            </a:r>
            <a:r>
              <a:rPr lang="zh-CN" altLang="en-US" dirty="0"/>
              <a:t>、</a:t>
            </a:r>
            <a:r>
              <a:rPr lang="en-US" altLang="zh-CN" dirty="0">
                <a:sym typeface="宋体" panose="02010600030101010101" pitchFamily="2" charset="-122"/>
              </a:rPr>
              <a:t>A</a:t>
            </a:r>
            <a:r>
              <a:rPr lang="en-US" altLang="zh-CN" dirty="0">
                <a:latin typeface="Calibri" panose="020F0502020204030204" charset="0"/>
                <a:sym typeface="宋体" panose="02010600030101010101" pitchFamily="2" charset="-122"/>
              </a:rPr>
              <a:t>→B</a:t>
            </a:r>
            <a:r>
              <a:rPr lang="zh-CN" altLang="en-US" dirty="0">
                <a:latin typeface="Calibri" panose="020F0502020204030204" charset="0"/>
                <a:sym typeface="宋体" panose="02010600030101010101" pitchFamily="2" charset="-122"/>
              </a:rPr>
              <a:t>，</a:t>
            </a:r>
            <a:r>
              <a:rPr lang="en-US" altLang="zh-CN" dirty="0">
                <a:latin typeface="Calibri" panose="020F0502020204030204" charset="0"/>
                <a:sym typeface="宋体" panose="02010600030101010101" pitchFamily="2" charset="-122"/>
              </a:rPr>
              <a:t>C→B</a:t>
            </a:r>
            <a:r>
              <a:rPr lang="zh-CN" altLang="en-US" dirty="0">
                <a:latin typeface="Calibri" panose="020F0502020204030204" charset="0"/>
                <a:sym typeface="宋体" panose="02010600030101010101" pitchFamily="2" charset="-122"/>
              </a:rPr>
              <a:t>，则</a:t>
            </a:r>
            <a:r>
              <a:rPr lang="en-US" altLang="zh-CN" dirty="0">
                <a:sym typeface="宋体" panose="02010600030101010101" pitchFamily="2" charset="-122"/>
              </a:rPr>
              <a:t>AC</a:t>
            </a:r>
            <a:r>
              <a:rPr lang="en-US" altLang="zh-CN" dirty="0">
                <a:latin typeface="Calibri" panose="020F0502020204030204" charset="0"/>
                <a:sym typeface="宋体" panose="02010600030101010101" pitchFamily="2" charset="-122"/>
              </a:rPr>
              <a:t>→B</a:t>
            </a:r>
            <a:r>
              <a:rPr lang="zh-CN" altLang="en-US" dirty="0">
                <a:sym typeface="宋体" panose="02010600030101010101" pitchFamily="2" charset="-122"/>
              </a:rPr>
              <a:t> </a:t>
            </a:r>
            <a:endParaRPr lang="zh-CN" altLang="en-US" dirty="0"/>
          </a:p>
        </p:txBody>
      </p:sp>
      <p:sp>
        <p:nvSpPr>
          <p:cNvPr id="7" name="文本框 6"/>
          <p:cNvSpPr txBox="1"/>
          <p:nvPr/>
        </p:nvSpPr>
        <p:spPr>
          <a:xfrm>
            <a:off x="7808913" y="2236788"/>
            <a:ext cx="403225" cy="588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B </a:t>
            </a:r>
            <a:endParaRPr lang="en-US" altLang="zh-CN" sz="2400" dirty="0">
              <a:solidFill>
                <a:srgbClr val="C00000"/>
              </a:solidFill>
            </a:endParaRPr>
          </a:p>
        </p:txBody>
      </p:sp>
      <p:sp>
        <p:nvSpPr>
          <p:cNvPr id="15" name="文本框 14"/>
          <p:cNvSpPr txBox="1"/>
          <p:nvPr/>
        </p:nvSpPr>
        <p:spPr>
          <a:xfrm>
            <a:off x="5767388" y="3606800"/>
            <a:ext cx="403225" cy="588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B </a:t>
            </a:r>
            <a:endParaRPr lang="en-US" altLang="zh-CN" sz="2400" dirty="0">
              <a:solidFill>
                <a:srgbClr val="C00000"/>
              </a:solidFill>
            </a:endParaRPr>
          </a:p>
        </p:txBody>
      </p:sp>
      <p:sp>
        <p:nvSpPr>
          <p:cNvPr id="23562" name="文本框 15"/>
          <p:cNvSpPr txBox="1"/>
          <p:nvPr/>
        </p:nvSpPr>
        <p:spPr>
          <a:xfrm>
            <a:off x="503238" y="4862513"/>
            <a:ext cx="8094662" cy="9223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t>4</a:t>
            </a:r>
            <a:r>
              <a:rPr lang="zh-CN" altLang="en-US" dirty="0"/>
              <a:t>、关系规范化中的操作异常是指（          ）</a:t>
            </a:r>
            <a:endParaRPr lang="zh-CN" altLang="en-US" dirty="0"/>
          </a:p>
          <a:p>
            <a:pPr marL="0" lvl="0" indent="0" eaLnBrk="1" hangingPunct="1">
              <a:spcBef>
                <a:spcPct val="0"/>
              </a:spcBef>
              <a:buClrTx/>
              <a:buSzTx/>
              <a:buFont typeface="Arial" panose="020B0604020202020204" pitchFamily="34" charset="0"/>
              <a:buNone/>
            </a:pPr>
            <a:endParaRPr lang="zh-CN" altLang="en-US" dirty="0"/>
          </a:p>
        </p:txBody>
      </p:sp>
      <p:sp>
        <p:nvSpPr>
          <p:cNvPr id="23563" name="文本框 16"/>
          <p:cNvSpPr txBox="1"/>
          <p:nvPr/>
        </p:nvSpPr>
        <p:spPr>
          <a:xfrm>
            <a:off x="798513" y="5262563"/>
            <a:ext cx="7753350" cy="5064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t>A、插入异常      </a:t>
            </a:r>
            <a:r>
              <a:rPr lang="en-US" altLang="zh-CN" dirty="0"/>
              <a:t>B</a:t>
            </a:r>
            <a:r>
              <a:rPr lang="zh-CN" altLang="en-US" dirty="0"/>
              <a:t>、更新异常     </a:t>
            </a:r>
            <a:r>
              <a:rPr lang="en-US" altLang="zh-CN" dirty="0"/>
              <a:t>C</a:t>
            </a:r>
            <a:r>
              <a:rPr lang="zh-CN" altLang="en-US" dirty="0"/>
              <a:t>、删除异常      </a:t>
            </a:r>
            <a:r>
              <a:rPr lang="en-US" altLang="zh-CN" dirty="0"/>
              <a:t>D</a:t>
            </a:r>
            <a:r>
              <a:rPr lang="zh-CN" altLang="en-US" dirty="0"/>
              <a:t>、依赖异常 </a:t>
            </a:r>
            <a:endParaRPr lang="zh-CN" altLang="en-US" dirty="0"/>
          </a:p>
        </p:txBody>
      </p:sp>
      <p:sp>
        <p:nvSpPr>
          <p:cNvPr id="19" name="文本框 18"/>
          <p:cNvSpPr txBox="1"/>
          <p:nvPr/>
        </p:nvSpPr>
        <p:spPr>
          <a:xfrm>
            <a:off x="4445000" y="4795838"/>
            <a:ext cx="917575" cy="590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 ABC  </a:t>
            </a:r>
            <a:endParaRPr lang="en-US" altLang="zh-CN" sz="2400" dirty="0">
              <a:solidFill>
                <a:srgbClr val="C00000"/>
              </a:solidFill>
            </a:endParaRPr>
          </a:p>
        </p:txBody>
      </p:sp>
      <p:sp>
        <p:nvSpPr>
          <p:cNvPr id="23565"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ppt_x</p:attrName>
                                        </p:attrNameLst>
                                      </p:cBhvr>
                                      <p:tavLst>
                                        <p:tav tm="0">
                                          <p:val>
                                            <p:strVal val="#ppt_x"/>
                                          </p:val>
                                        </p:tav>
                                        <p:tav tm="100000">
                                          <p:val>
                                            <p:strVal val="#ppt_x"/>
                                          </p:val>
                                        </p:tav>
                                      </p:tavLst>
                                    </p:anim>
                                    <p:anim calcmode="lin" valueType="num">
                                      <p:cBhvr>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ppt_x</p:attrName>
                                        </p:attrNameLst>
                                      </p:cBhvr>
                                      <p:tavLst>
                                        <p:tav tm="0">
                                          <p:val>
                                            <p:strVal val="#ppt_x"/>
                                          </p:val>
                                        </p:tav>
                                        <p:tav tm="100000">
                                          <p:val>
                                            <p:strVal val="#ppt_x"/>
                                          </p:val>
                                        </p:tav>
                                      </p:tavLst>
                                    </p:anim>
                                    <p:anim calcmode="lin" valueType="num">
                                      <p:cBhvr>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p:cTn id="19" dur="500" fill="hold"/>
                                        <p:tgtEl>
                                          <p:spTgt spid="15"/>
                                        </p:tgtEl>
                                        <p:attrNameLst>
                                          <p:attrName>ppt_x</p:attrName>
                                        </p:attrNameLst>
                                      </p:cBhvr>
                                      <p:tavLst>
                                        <p:tav tm="0">
                                          <p:val>
                                            <p:strVal val="#ppt_x"/>
                                          </p:val>
                                        </p:tav>
                                        <p:tav tm="100000">
                                          <p:val>
                                            <p:strVal val="#ppt_x"/>
                                          </p:val>
                                        </p:tav>
                                      </p:tavLst>
                                    </p:anim>
                                    <p:anim calcmode="lin" valueType="num">
                                      <p:cBhvr>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p:cTn id="25" dur="500" fill="hold"/>
                                        <p:tgtEl>
                                          <p:spTgt spid="19"/>
                                        </p:tgtEl>
                                        <p:attrNameLst>
                                          <p:attrName>ppt_x</p:attrName>
                                        </p:attrNameLst>
                                      </p:cBhvr>
                                      <p:tavLst>
                                        <p:tav tm="0">
                                          <p:val>
                                            <p:strVal val="#ppt_x"/>
                                          </p:val>
                                        </p:tav>
                                        <p:tav tm="100000">
                                          <p:val>
                                            <p:strVal val="#ppt_x"/>
                                          </p:val>
                                        </p:tav>
                                      </p:tavLst>
                                    </p:anim>
                                    <p:anim calcmode="lin" valueType="num">
                                      <p:cBhvr>
                                        <p:cTn id="2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7" grpId="0"/>
      <p:bldP spid="15" grpId="0"/>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文本框 44"/>
          <p:cNvSpPr txBox="1"/>
          <p:nvPr/>
        </p:nvSpPr>
        <p:spPr>
          <a:xfrm>
            <a:off x="442913" y="615950"/>
            <a:ext cx="2681287" cy="828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algn="just" eaLnBrk="1" hangingPunct="1">
              <a:lnSpc>
                <a:spcPct val="150000"/>
              </a:lnSpc>
              <a:spcBef>
                <a:spcPct val="0"/>
              </a:spcBef>
              <a:buClrTx/>
              <a:buSzTx/>
              <a:buFont typeface="Wingdings" panose="05000000000000000000" pitchFamily="2" charset="2"/>
              <a:buChar char="p"/>
            </a:pPr>
            <a:r>
              <a:rPr lang="zh-CN" altLang="zh-CN" sz="3200" dirty="0">
                <a:solidFill>
                  <a:srgbClr val="FF0000"/>
                </a:solidFill>
                <a:latin typeface="Calibri" panose="020F0502020204030204" charset="0"/>
                <a:sym typeface="宋体" panose="02010600030101010101" pitchFamily="2" charset="-122"/>
              </a:rPr>
              <a:t>问题研讨：</a:t>
            </a:r>
            <a:endParaRPr lang="zh-CN" altLang="en-US" sz="3200" dirty="0"/>
          </a:p>
        </p:txBody>
      </p:sp>
      <p:sp>
        <p:nvSpPr>
          <p:cNvPr id="25603" name="文本框 5"/>
          <p:cNvSpPr txBox="1"/>
          <p:nvPr/>
        </p:nvSpPr>
        <p:spPr>
          <a:xfrm>
            <a:off x="563563" y="1384300"/>
            <a:ext cx="8432800" cy="7667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5000"/>
              </a:lnSpc>
              <a:spcBef>
                <a:spcPct val="0"/>
              </a:spcBef>
              <a:buClrTx/>
              <a:buSzTx/>
              <a:buFont typeface="Arial" panose="020B0604020202020204" pitchFamily="34" charset="0"/>
              <a:buNone/>
            </a:pPr>
            <a:r>
              <a:rPr lang="en-US" altLang="zh-CN" dirty="0"/>
              <a:t>5</a:t>
            </a:r>
            <a:r>
              <a:rPr lang="zh-CN" altLang="en-US" dirty="0"/>
              <a:t>、设有关系模式R(U，F)，其中：U＝{A，B，C，D，E，P}，F＝{A→B，C→P，E→A，CE→D}，求出R的候选键。</a:t>
            </a:r>
            <a:endParaRPr lang="zh-CN" altLang="en-US" dirty="0"/>
          </a:p>
        </p:txBody>
      </p:sp>
      <p:sp>
        <p:nvSpPr>
          <p:cNvPr id="7" name="文本框 6"/>
          <p:cNvSpPr txBox="1"/>
          <p:nvPr/>
        </p:nvSpPr>
        <p:spPr>
          <a:xfrm>
            <a:off x="615950" y="2182813"/>
            <a:ext cx="8120063" cy="14446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dirty="0">
                <a:solidFill>
                  <a:srgbClr val="0033CC"/>
                </a:solidFill>
                <a:sym typeface="宋体" panose="02010600030101010101" pitchFamily="2" charset="-122"/>
              </a:rPr>
              <a:t>答：</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根据候选关键字的定义：如果函数依赖X→U在R上成立，且不存在任何X’ X，使得X→U也成立，则称X是R的一个候选关键字。由此可知，候选关键字只可能由A，C，E组成，但有E→A，所以组成候选关键字的属性可能是CE。</a:t>
            </a:r>
            <a:endPar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endParaRPr>
          </a:p>
        </p:txBody>
      </p:sp>
      <p:graphicFrame>
        <p:nvGraphicFramePr>
          <p:cNvPr id="8" name="对象 7"/>
          <p:cNvGraphicFramePr/>
          <p:nvPr/>
        </p:nvGraphicFramePr>
        <p:xfrm>
          <a:off x="1377950" y="2590800"/>
          <a:ext cx="496888" cy="319088"/>
        </p:xfrm>
        <a:graphic>
          <a:graphicData uri="http://schemas.openxmlformats.org/presentationml/2006/ole">
            <mc:AlternateContent xmlns:mc="http://schemas.openxmlformats.org/markup-compatibility/2006">
              <mc:Choice xmlns:v="urn:schemas-microsoft-com:vml" Requires="v">
                <p:oleObj spid="_x0000_s3076" name="" r:id="rId1" imgW="334645" imgH="221615" progId="Equation.KSEE3">
                  <p:embed/>
                </p:oleObj>
              </mc:Choice>
              <mc:Fallback>
                <p:oleObj name="" r:id="rId1" imgW="334645" imgH="221615" progId="Equation.KSEE3">
                  <p:embed/>
                  <p:pic>
                    <p:nvPicPr>
                      <p:cNvPr id="0" name="图片 3075"/>
                      <p:cNvPicPr/>
                      <p:nvPr/>
                    </p:nvPicPr>
                    <p:blipFill>
                      <a:blip r:embed="rId2"/>
                      <a:stretch>
                        <a:fillRect/>
                      </a:stretch>
                    </p:blipFill>
                    <p:spPr>
                      <a:xfrm>
                        <a:off x="1377950" y="2590800"/>
                        <a:ext cx="496888" cy="319088"/>
                      </a:xfrm>
                      <a:prstGeom prst="rect">
                        <a:avLst/>
                      </a:prstGeom>
                      <a:noFill/>
                      <a:ln w="38100">
                        <a:noFill/>
                        <a:miter/>
                      </a:ln>
                    </p:spPr>
                  </p:pic>
                </p:oleObj>
              </mc:Fallback>
            </mc:AlternateContent>
          </a:graphicData>
        </a:graphic>
      </p:graphicFrame>
      <p:sp>
        <p:nvSpPr>
          <p:cNvPr id="25606" name="文本框 10"/>
          <p:cNvSpPr txBox="1"/>
          <p:nvPr/>
        </p:nvSpPr>
        <p:spPr>
          <a:xfrm>
            <a:off x="615950" y="3646488"/>
            <a:ext cx="8432800" cy="10144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t>7</a:t>
            </a:r>
            <a:r>
              <a:rPr lang="zh-CN" altLang="en-US" dirty="0"/>
              <a:t>、设有关系模式R(U ，F)，其中：</a:t>
            </a:r>
            <a:endParaRPr lang="zh-CN" altLang="en-US" dirty="0"/>
          </a:p>
          <a:p>
            <a:pPr marL="0" lvl="0" indent="0" eaLnBrk="1" hangingPunct="1">
              <a:spcBef>
                <a:spcPct val="0"/>
              </a:spcBef>
              <a:buClrTx/>
              <a:buSzTx/>
              <a:buFont typeface="Arial" panose="020B0604020202020204" pitchFamily="34" charset="0"/>
              <a:buNone/>
            </a:pPr>
            <a:r>
              <a:rPr lang="zh-CN" altLang="en-US" dirty="0"/>
              <a:t>U ＝{A</a:t>
            </a:r>
            <a:r>
              <a:rPr lang="en-US" altLang="zh-CN" dirty="0"/>
              <a:t>,</a:t>
            </a:r>
            <a:r>
              <a:rPr lang="zh-CN" altLang="en-US" dirty="0"/>
              <a:t>B</a:t>
            </a:r>
            <a:r>
              <a:rPr lang="en-US" altLang="zh-CN" dirty="0"/>
              <a:t>,</a:t>
            </a:r>
            <a:r>
              <a:rPr lang="zh-CN" altLang="en-US" dirty="0"/>
              <a:t>C</a:t>
            </a:r>
            <a:r>
              <a:rPr lang="en-US" altLang="zh-CN" dirty="0"/>
              <a:t>,</a:t>
            </a:r>
            <a:r>
              <a:rPr lang="zh-CN" altLang="en-US" dirty="0"/>
              <a:t>D</a:t>
            </a:r>
            <a:r>
              <a:rPr lang="en-US" altLang="zh-CN" dirty="0"/>
              <a:t>,</a:t>
            </a:r>
            <a:r>
              <a:rPr lang="zh-CN" altLang="en-US" dirty="0"/>
              <a:t>E}，F ＝{A→D </a:t>
            </a:r>
            <a:r>
              <a:rPr lang="en-US" altLang="zh-CN" dirty="0"/>
              <a:t>,</a:t>
            </a:r>
            <a:r>
              <a:rPr lang="zh-CN" altLang="en-US" dirty="0"/>
              <a:t>E→D </a:t>
            </a:r>
            <a:r>
              <a:rPr lang="en-US" altLang="zh-CN" dirty="0"/>
              <a:t>,</a:t>
            </a:r>
            <a:r>
              <a:rPr lang="zh-CN" altLang="en-US" dirty="0"/>
              <a:t>D→B</a:t>
            </a:r>
            <a:r>
              <a:rPr lang="en-US" altLang="zh-CN" dirty="0"/>
              <a:t>,</a:t>
            </a:r>
            <a:r>
              <a:rPr lang="zh-CN" altLang="en-US" dirty="0"/>
              <a:t>BC→D </a:t>
            </a:r>
            <a:r>
              <a:rPr lang="en-US" altLang="zh-CN" dirty="0"/>
              <a:t>,</a:t>
            </a:r>
            <a:r>
              <a:rPr lang="zh-CN" altLang="en-US" dirty="0"/>
              <a:t>DC→A} ，求出</a:t>
            </a:r>
            <a:r>
              <a:rPr lang="en-US" altLang="zh-CN" dirty="0"/>
              <a:t>R</a:t>
            </a:r>
            <a:r>
              <a:rPr lang="zh-CN" altLang="en-US" dirty="0"/>
              <a:t>的候选键。</a:t>
            </a:r>
            <a:endParaRPr lang="zh-CN" altLang="en-US" dirty="0"/>
          </a:p>
        </p:txBody>
      </p:sp>
      <p:sp>
        <p:nvSpPr>
          <p:cNvPr id="12" name="文本框 11"/>
          <p:cNvSpPr txBox="1"/>
          <p:nvPr/>
        </p:nvSpPr>
        <p:spPr>
          <a:xfrm>
            <a:off x="617538" y="4660900"/>
            <a:ext cx="8221662" cy="110680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dirty="0">
                <a:solidFill>
                  <a:srgbClr val="0033CC"/>
                </a:solidFill>
                <a:sym typeface="宋体" panose="02010600030101010101" pitchFamily="2" charset="-122"/>
              </a:rPr>
              <a:t>答：</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观察决定因子和被决定因子，</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ADB</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都出现在被决定因子中，可考虑</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CE</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，通过</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CE→U</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来判断。</a:t>
            </a:r>
            <a:endPar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endParaRPr>
          </a:p>
          <a:p>
            <a:pPr marL="0" lvl="0" indent="0" eaLnBrk="1" hangingPunct="1">
              <a:lnSpc>
                <a:spcPct val="110000"/>
              </a:lnSpc>
              <a:spcBef>
                <a:spcPct val="0"/>
              </a:spcBef>
              <a:buClrTx/>
              <a:buSzTx/>
              <a:buFont typeface="Arial" panose="020B0604020202020204" pitchFamily="34" charset="0"/>
              <a:buNone/>
            </a:pP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CE</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+=CEDBA</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，而（</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C)+=C,(E)+=EAB,</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所以候选键为</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CE</a:t>
            </a:r>
            <a:endPar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endParaRPr>
          </a:p>
        </p:txBody>
      </p:sp>
      <p:sp>
        <p:nvSpPr>
          <p:cNvPr id="25608"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100000">
                                          <p:val>
                                            <p:strVal val="#ppt_x"/>
                                          </p:val>
                                        </p:tav>
                                      </p:tavLst>
                                    </p:anim>
                                    <p:anim calcmode="lin" valueType="num">
                                      <p:cBhvr>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ppt_x</p:attrName>
                                        </p:attrNameLst>
                                      </p:cBhvr>
                                      <p:tavLst>
                                        <p:tav tm="0">
                                          <p:val>
                                            <p:strVal val="#ppt_x"/>
                                          </p:val>
                                        </p:tav>
                                        <p:tav tm="100000">
                                          <p:val>
                                            <p:strVal val="#ppt_x"/>
                                          </p:val>
                                        </p:tav>
                                      </p:tavLst>
                                    </p:anim>
                                    <p:anim calcmode="lin" valueType="num">
                                      <p:cBhvr>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ppt_x</p:attrName>
                                        </p:attrNameLst>
                                      </p:cBhvr>
                                      <p:tavLst>
                                        <p:tav tm="0">
                                          <p:val>
                                            <p:strVal val="#ppt_x"/>
                                          </p:val>
                                        </p:tav>
                                        <p:tav tm="100000">
                                          <p:val>
                                            <p:strVal val="#ppt_x"/>
                                          </p:val>
                                        </p:tav>
                                      </p:tavLst>
                                    </p:anim>
                                    <p:anim calcmode="lin" valueType="num">
                                      <p:cBhvr>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7"/>
          <p:cNvSpPr/>
          <p:nvPr/>
        </p:nvSpPr>
        <p:spPr>
          <a:xfrm>
            <a:off x="468313" y="774700"/>
            <a:ext cx="636905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1</a:t>
            </a:r>
            <a:r>
              <a:rPr lang="zh-CN" altLang="en-US" sz="2800" dirty="0">
                <a:solidFill>
                  <a:srgbClr val="FF3300"/>
                </a:solidFill>
                <a:latin typeface="黑体" panose="02010609060101010101" pitchFamily="49" charset="-122"/>
                <a:ea typeface="黑体" panose="02010609060101010101" pitchFamily="49" charset="-122"/>
              </a:rPr>
              <a:t>、关系规范中的一些基本概念</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26627" name="Text Box 3"/>
          <p:cNvSpPr txBox="1"/>
          <p:nvPr/>
        </p:nvSpPr>
        <p:spPr>
          <a:xfrm>
            <a:off x="441325" y="1363663"/>
            <a:ext cx="8402638" cy="12779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dirty="0">
                <a:solidFill>
                  <a:srgbClr val="FF0000"/>
                </a:solidFill>
                <a:latin typeface="宋体" panose="02010600030101010101" pitchFamily="2" charset="-122"/>
              </a:rPr>
              <a:t>    </a:t>
            </a:r>
            <a:r>
              <a:rPr lang="zh-CN" altLang="en-US" u="sng" dirty="0">
                <a:solidFill>
                  <a:srgbClr val="0033CC"/>
                </a:solidFill>
                <a:latin typeface="宋体" panose="02010600030101010101" pitchFamily="2" charset="-122"/>
              </a:rPr>
              <a:t>关系规范化是一种形式化的技术，它利用主键和候选键以及属性之间的函数依赖来分析关系，这种技术包括一系列作用于单个关系的测试，一旦发现某关系未满足规范化要求，就分解该关系，直到满足规范化要求。</a:t>
            </a:r>
            <a:endParaRPr lang="zh-CN" altLang="en-US" dirty="0">
              <a:solidFill>
                <a:srgbClr val="0033CC"/>
              </a:solidFill>
            </a:endParaRPr>
          </a:p>
        </p:txBody>
      </p:sp>
      <p:sp>
        <p:nvSpPr>
          <p:cNvPr id="26628"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22533" name="Text Box 3"/>
          <p:cNvSpPr txBox="1"/>
          <p:nvPr/>
        </p:nvSpPr>
        <p:spPr>
          <a:xfrm>
            <a:off x="314325" y="2700338"/>
            <a:ext cx="8402638" cy="8826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dirty="0">
                <a:solidFill>
                  <a:srgbClr val="FF0000"/>
                </a:solidFill>
                <a:latin typeface="宋体" panose="02010600030101010101" pitchFamily="2" charset="-122"/>
              </a:rPr>
              <a:t>   </a:t>
            </a:r>
            <a:r>
              <a:rPr lang="zh-CN" altLang="en-US" dirty="0">
                <a:latin typeface="宋体" panose="02010600030101010101" pitchFamily="2" charset="-122"/>
              </a:rPr>
              <a:t> 规范化的过程被分解成一系列的步骤，每一步都对应某一个特定的范式，随着规范化的进行，关系的形式逐步地变得更加规范。</a:t>
            </a:r>
            <a:endParaRPr lang="zh-CN" altLang="en-US" dirty="0">
              <a:solidFill>
                <a:srgbClr val="0033CC"/>
              </a:solidFill>
            </a:endParaRPr>
          </a:p>
        </p:txBody>
      </p:sp>
      <p:sp>
        <p:nvSpPr>
          <p:cNvPr id="22534" name="Text Box 3"/>
          <p:cNvSpPr txBox="1"/>
          <p:nvPr/>
        </p:nvSpPr>
        <p:spPr>
          <a:xfrm>
            <a:off x="425450" y="3621088"/>
            <a:ext cx="8402638" cy="12779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dirty="0">
                <a:solidFill>
                  <a:srgbClr val="FF0000"/>
                </a:solidFill>
                <a:latin typeface="宋体" panose="02010600030101010101" pitchFamily="2" charset="-122"/>
              </a:rPr>
              <a:t>   </a:t>
            </a:r>
            <a:r>
              <a:rPr lang="zh-CN" altLang="en-US" dirty="0">
                <a:latin typeface="宋体" panose="02010600030101010101" pitchFamily="2" charset="-122"/>
              </a:rPr>
              <a:t> 规范化理论首先由</a:t>
            </a:r>
            <a:r>
              <a:rPr lang="en-US" altLang="zh-CN" dirty="0">
                <a:latin typeface="宋体" panose="02010600030101010101" pitchFamily="2" charset="-122"/>
              </a:rPr>
              <a:t>E.F.Codd(</a:t>
            </a:r>
            <a:r>
              <a:rPr lang="zh-CN" altLang="en-US" u="sng" dirty="0">
                <a:solidFill>
                  <a:srgbClr val="0033CC"/>
                </a:solidFill>
              </a:rPr>
              <a:t>埃德加</a:t>
            </a:r>
            <a:r>
              <a:rPr lang="en-US" altLang="zh-CN" u="sng" dirty="0">
                <a:solidFill>
                  <a:srgbClr val="0033CC"/>
                </a:solidFill>
              </a:rPr>
              <a:t>·</a:t>
            </a:r>
            <a:r>
              <a:rPr lang="zh-CN" altLang="en-US" u="sng" dirty="0">
                <a:solidFill>
                  <a:srgbClr val="0033CC"/>
                </a:solidFill>
              </a:rPr>
              <a:t>弗兰克</a:t>
            </a:r>
            <a:r>
              <a:rPr lang="en-US" altLang="zh-CN" u="sng" dirty="0">
                <a:solidFill>
                  <a:srgbClr val="0033CC"/>
                </a:solidFill>
              </a:rPr>
              <a:t>·</a:t>
            </a:r>
            <a:r>
              <a:rPr lang="zh-CN" altLang="en-US" u="sng" dirty="0">
                <a:solidFill>
                  <a:srgbClr val="0033CC"/>
                </a:solidFill>
              </a:rPr>
              <a:t>科德 </a:t>
            </a:r>
            <a:r>
              <a:rPr lang="en-US" altLang="zh-CN" u="sng" dirty="0">
                <a:solidFill>
                  <a:srgbClr val="0033CC"/>
                </a:solidFill>
              </a:rPr>
              <a:t>)</a:t>
            </a:r>
            <a:r>
              <a:rPr lang="en-US" altLang="zh-CN" dirty="0">
                <a:latin typeface="宋体" panose="02010600030101010101" pitchFamily="2" charset="-122"/>
              </a:rPr>
              <a:t>于1971</a:t>
            </a:r>
            <a:r>
              <a:rPr lang="zh-CN" altLang="en-US" dirty="0">
                <a:latin typeface="宋体" panose="02010600030101010101" pitchFamily="2" charset="-122"/>
              </a:rPr>
              <a:t>年提出，目的是设计“好的”关系数据库模式。</a:t>
            </a:r>
            <a:r>
              <a:rPr lang="zh-CN" altLang="en-US" u="sng" dirty="0">
                <a:solidFill>
                  <a:srgbClr val="0033CC"/>
                </a:solidFill>
                <a:latin typeface="宋体" panose="02010600030101010101" pitchFamily="2" charset="-122"/>
              </a:rPr>
              <a:t>关系规范化实际上就是对有问题（操作异常）的关系进行分解，从而消除这些异常。</a:t>
            </a:r>
            <a:endParaRPr lang="zh-CN" altLang="en-US" u="sng" dirty="0">
              <a:solidFill>
                <a:srgbClr val="0033CC"/>
              </a:solidFill>
              <a:latin typeface="宋体" panose="02010600030101010101" pitchFamily="2" charset="-122"/>
            </a:endParaRPr>
          </a:p>
        </p:txBody>
      </p:sp>
      <p:sp>
        <p:nvSpPr>
          <p:cNvPr id="22535" name="Text Box 3"/>
          <p:cNvSpPr txBox="1"/>
          <p:nvPr/>
        </p:nvSpPr>
        <p:spPr>
          <a:xfrm>
            <a:off x="442913" y="4899025"/>
            <a:ext cx="8402637" cy="12525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sz="2400" dirty="0">
                <a:solidFill>
                  <a:srgbClr val="FF3300"/>
                </a:solidFill>
                <a:latin typeface="宋体" panose="02010600030101010101" pitchFamily="2" charset="-122"/>
              </a:rPr>
              <a:t>（</a:t>
            </a:r>
            <a:r>
              <a:rPr lang="en-US" altLang="zh-CN" sz="2400" dirty="0">
                <a:solidFill>
                  <a:srgbClr val="FF3300"/>
                </a:solidFill>
                <a:latin typeface="宋体" panose="02010600030101010101" pitchFamily="2" charset="-122"/>
              </a:rPr>
              <a:t>1</a:t>
            </a:r>
            <a:r>
              <a:rPr lang="zh-CN" altLang="en-US" sz="2400" dirty="0">
                <a:solidFill>
                  <a:srgbClr val="FF3300"/>
                </a:solidFill>
                <a:latin typeface="宋体" panose="02010600030101010101" pitchFamily="2" charset="-122"/>
              </a:rPr>
              <a:t>）关系模式中的键</a:t>
            </a:r>
            <a:endParaRPr lang="zh-CN" altLang="en-US" sz="2400" dirty="0">
              <a:solidFill>
                <a:srgbClr val="FF3300"/>
              </a:solidFill>
              <a:latin typeface="宋体" panose="02010600030101010101" pitchFamily="2" charset="-122"/>
            </a:endParaRPr>
          </a:p>
          <a:p>
            <a:pPr marL="0" lvl="0" indent="0" eaLnBrk="1" hangingPunct="1">
              <a:spcBef>
                <a:spcPct val="25000"/>
              </a:spcBef>
              <a:buClrTx/>
              <a:buSzTx/>
              <a:buNone/>
            </a:pPr>
            <a:r>
              <a:rPr lang="zh-CN" altLang="en-US" dirty="0">
                <a:solidFill>
                  <a:srgbClr val="FF3300"/>
                </a:solidFill>
              </a:rPr>
              <a:t>       关系模式：</a:t>
            </a:r>
            <a:r>
              <a:rPr lang="zh-CN" altLang="en-US" dirty="0">
                <a:solidFill>
                  <a:srgbClr val="0033CC"/>
                </a:solidFill>
              </a:rPr>
              <a:t>设</a:t>
            </a:r>
            <a:r>
              <a:rPr lang="en-US" altLang="zh-CN" dirty="0">
                <a:solidFill>
                  <a:srgbClr val="0033CC"/>
                </a:solidFill>
              </a:rPr>
              <a:t>U</a:t>
            </a:r>
            <a:r>
              <a:rPr lang="zh-CN" altLang="en-US" dirty="0">
                <a:solidFill>
                  <a:srgbClr val="0033CC"/>
                </a:solidFill>
              </a:rPr>
              <a:t>表示关系模式</a:t>
            </a:r>
            <a:r>
              <a:rPr lang="en-US" altLang="zh-CN" dirty="0">
                <a:solidFill>
                  <a:srgbClr val="0033CC"/>
                </a:solidFill>
              </a:rPr>
              <a:t>R</a:t>
            </a:r>
            <a:r>
              <a:rPr lang="zh-CN" altLang="en-US" dirty="0">
                <a:solidFill>
                  <a:srgbClr val="0033CC"/>
                </a:solidFill>
              </a:rPr>
              <a:t>的属性全集，即</a:t>
            </a:r>
            <a:r>
              <a:rPr lang="en-US" altLang="zh-CN" dirty="0">
                <a:solidFill>
                  <a:srgbClr val="0033CC"/>
                </a:solidFill>
              </a:rPr>
              <a:t>U</a:t>
            </a:r>
            <a:r>
              <a:rPr lang="zh-CN" altLang="en-US" dirty="0">
                <a:solidFill>
                  <a:srgbClr val="0033CC"/>
                </a:solidFill>
              </a:rPr>
              <a:t>＝</a:t>
            </a:r>
            <a:r>
              <a:rPr lang="en-US" altLang="zh-CN" dirty="0">
                <a:solidFill>
                  <a:srgbClr val="0033CC"/>
                </a:solidFill>
              </a:rPr>
              <a:t>{A1,A2,…,An}</a:t>
            </a:r>
            <a:r>
              <a:rPr lang="zh-CN" altLang="en-US" dirty="0">
                <a:solidFill>
                  <a:srgbClr val="0033CC"/>
                </a:solidFill>
              </a:rPr>
              <a:t>，</a:t>
            </a:r>
            <a:r>
              <a:rPr lang="en-US" altLang="zh-CN" dirty="0">
                <a:solidFill>
                  <a:srgbClr val="0033CC"/>
                </a:solidFill>
              </a:rPr>
              <a:t>F</a:t>
            </a:r>
            <a:r>
              <a:rPr lang="zh-CN" altLang="en-US" dirty="0">
                <a:solidFill>
                  <a:srgbClr val="0033CC"/>
                </a:solidFill>
              </a:rPr>
              <a:t>表示关系模式</a:t>
            </a:r>
            <a:r>
              <a:rPr lang="en-US" altLang="zh-CN" dirty="0">
                <a:solidFill>
                  <a:srgbClr val="0033CC"/>
                </a:solidFill>
              </a:rPr>
              <a:t>R</a:t>
            </a:r>
            <a:r>
              <a:rPr lang="zh-CN" altLang="en-US" dirty="0">
                <a:solidFill>
                  <a:srgbClr val="0033CC"/>
                </a:solidFill>
              </a:rPr>
              <a:t>上的函数依赖集，则关系模式</a:t>
            </a:r>
            <a:r>
              <a:rPr lang="en-US" altLang="zh-CN" dirty="0">
                <a:solidFill>
                  <a:srgbClr val="0033CC"/>
                </a:solidFill>
              </a:rPr>
              <a:t>R</a:t>
            </a:r>
            <a:r>
              <a:rPr lang="zh-CN" altLang="en-US" dirty="0">
                <a:solidFill>
                  <a:srgbClr val="0033CC"/>
                </a:solidFill>
              </a:rPr>
              <a:t>可以表示为：</a:t>
            </a:r>
            <a:r>
              <a:rPr lang="en-US" altLang="zh-CN" dirty="0">
                <a:solidFill>
                  <a:srgbClr val="0033CC"/>
                </a:solidFill>
              </a:rPr>
              <a:t>R(U,F)</a:t>
            </a:r>
            <a:r>
              <a:rPr lang="zh-CN" altLang="en-US" dirty="0">
                <a:solidFill>
                  <a:srgbClr val="0033CC"/>
                </a:solidFill>
              </a:rPr>
              <a:t>。</a:t>
            </a:r>
            <a:endParaRPr lang="zh-CN" altLang="en-US" dirty="0">
              <a:solidFill>
                <a:srgbClr val="0033CC"/>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Effect transition="in" filter="box(in)">
                                      <p:cBhvr>
                                        <p:cTn id="7" dur="500"/>
                                        <p:tgtEl>
                                          <p:spTgt spid="2253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2534"/>
                                        </p:tgtEl>
                                        <p:attrNameLst>
                                          <p:attrName>style.visibility</p:attrName>
                                        </p:attrNameLst>
                                      </p:cBhvr>
                                      <p:to>
                                        <p:strVal val="visible"/>
                                      </p:to>
                                    </p:set>
                                    <p:animEffect transition="in" filter="box(in)">
                                      <p:cBhvr>
                                        <p:cTn id="12" dur="500"/>
                                        <p:tgtEl>
                                          <p:spTgt spid="2253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2535"/>
                                        </p:tgtEl>
                                        <p:attrNameLst>
                                          <p:attrName>style.visibility</p:attrName>
                                        </p:attrNameLst>
                                      </p:cBhvr>
                                      <p:to>
                                        <p:strVal val="visible"/>
                                      </p:to>
                                    </p:set>
                                    <p:animEffect transition="in" filter="box(in)">
                                      <p:cBhvr>
                                        <p:cTn id="17" dur="500"/>
                                        <p:tgtEl>
                                          <p:spTgt spid="22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p:bldP spid="22534" grpId="0"/>
      <p:bldP spid="225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7"/>
          <p:cNvSpPr/>
          <p:nvPr/>
        </p:nvSpPr>
        <p:spPr>
          <a:xfrm>
            <a:off x="531813" y="838200"/>
            <a:ext cx="6926262"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1</a:t>
            </a:r>
            <a:r>
              <a:rPr lang="zh-CN" altLang="en-US" sz="2800" dirty="0">
                <a:solidFill>
                  <a:srgbClr val="FF3300"/>
                </a:solidFill>
                <a:latin typeface="黑体" panose="02010609060101010101" pitchFamily="49" charset="-122"/>
                <a:ea typeface="黑体" panose="02010609060101010101" pitchFamily="49" charset="-122"/>
              </a:rPr>
              <a:t>、关系规范中的一些基本概念</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27651" name="Text Box 3"/>
          <p:cNvSpPr txBox="1"/>
          <p:nvPr/>
        </p:nvSpPr>
        <p:spPr>
          <a:xfrm>
            <a:off x="401638" y="1428750"/>
            <a:ext cx="8518525" cy="3184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sz="2400" u="sng" dirty="0">
                <a:solidFill>
                  <a:srgbClr val="FF0000"/>
                </a:solidFill>
                <a:latin typeface="宋体" panose="02010600030101010101" pitchFamily="2" charset="-122"/>
              </a:rPr>
              <a:t> </a:t>
            </a:r>
            <a:r>
              <a:rPr lang="zh-CN" altLang="en-US" sz="2400" u="sng" dirty="0">
                <a:solidFill>
                  <a:srgbClr val="FF0000"/>
                </a:solidFill>
              </a:rPr>
              <a:t>① 候选键</a:t>
            </a:r>
            <a:endParaRPr lang="zh-CN" altLang="en-US" sz="2400" u="sng" dirty="0">
              <a:solidFill>
                <a:srgbClr val="FF0000"/>
              </a:solidFill>
            </a:endParaRPr>
          </a:p>
          <a:p>
            <a:pPr marL="0" lvl="0" indent="0" eaLnBrk="1" hangingPunct="1">
              <a:lnSpc>
                <a:spcPct val="125000"/>
              </a:lnSpc>
              <a:buClrTx/>
              <a:buSzTx/>
              <a:buNone/>
            </a:pPr>
            <a:r>
              <a:rPr lang="en-US" altLang="zh-CN" dirty="0"/>
              <a:t>       </a:t>
            </a:r>
            <a:r>
              <a:rPr lang="zh-CN" altLang="en-US" sz="2400" i="1" u="sng" dirty="0">
                <a:solidFill>
                  <a:srgbClr val="FF0000"/>
                </a:solidFill>
              </a:rPr>
              <a:t>定义：</a:t>
            </a:r>
            <a:r>
              <a:rPr lang="zh-CN" altLang="en-US" dirty="0">
                <a:solidFill>
                  <a:srgbClr val="0033CC"/>
                </a:solidFill>
              </a:rPr>
              <a:t>设</a:t>
            </a:r>
            <a:r>
              <a:rPr lang="en-US" altLang="zh-CN" dirty="0">
                <a:solidFill>
                  <a:srgbClr val="0033CC"/>
                </a:solidFill>
              </a:rPr>
              <a:t>K</a:t>
            </a:r>
            <a:r>
              <a:rPr lang="zh-CN" altLang="en-US" dirty="0">
                <a:solidFill>
                  <a:srgbClr val="0033CC"/>
                </a:solidFill>
              </a:rPr>
              <a:t>为</a:t>
            </a:r>
            <a:r>
              <a:rPr lang="en-US" altLang="zh-CN" dirty="0">
                <a:solidFill>
                  <a:srgbClr val="0033CC"/>
                </a:solidFill>
              </a:rPr>
              <a:t>R(U,F)</a:t>
            </a:r>
            <a:r>
              <a:rPr lang="zh-CN" altLang="en-US" dirty="0">
                <a:solidFill>
                  <a:srgbClr val="0033CC"/>
                </a:solidFill>
              </a:rPr>
              <a:t>中的属性或属性组，若                ，则</a:t>
            </a:r>
            <a:r>
              <a:rPr lang="en-US" altLang="zh-CN" dirty="0">
                <a:solidFill>
                  <a:srgbClr val="0033CC"/>
                </a:solidFill>
              </a:rPr>
              <a:t>K</a:t>
            </a:r>
            <a:r>
              <a:rPr lang="zh-CN" altLang="en-US" dirty="0">
                <a:solidFill>
                  <a:srgbClr val="0033CC"/>
                </a:solidFill>
              </a:rPr>
              <a:t>为</a:t>
            </a:r>
            <a:r>
              <a:rPr lang="en-US" altLang="zh-CN" dirty="0">
                <a:solidFill>
                  <a:srgbClr val="0033CC"/>
                </a:solidFill>
              </a:rPr>
              <a:t>R</a:t>
            </a:r>
            <a:r>
              <a:rPr lang="zh-CN" altLang="en-US" dirty="0">
                <a:solidFill>
                  <a:srgbClr val="0033CC"/>
                </a:solidFill>
              </a:rPr>
              <a:t>的候选键。（</a:t>
            </a:r>
            <a:r>
              <a:rPr lang="en-US" altLang="zh-CN" dirty="0">
                <a:solidFill>
                  <a:srgbClr val="0033CC"/>
                </a:solidFill>
              </a:rPr>
              <a:t>K</a:t>
            </a:r>
            <a:r>
              <a:rPr lang="zh-CN" altLang="en-US" dirty="0">
                <a:solidFill>
                  <a:srgbClr val="0033CC"/>
                </a:solidFill>
              </a:rPr>
              <a:t>为决定</a:t>
            </a:r>
            <a:r>
              <a:rPr lang="en-US" altLang="zh-CN" dirty="0">
                <a:solidFill>
                  <a:srgbClr val="0033CC"/>
                </a:solidFill>
              </a:rPr>
              <a:t>R</a:t>
            </a:r>
            <a:r>
              <a:rPr lang="zh-CN" altLang="en-US" dirty="0">
                <a:solidFill>
                  <a:srgbClr val="0033CC"/>
                </a:solidFill>
              </a:rPr>
              <a:t>中全部属性值的最小属性组。）</a:t>
            </a:r>
            <a:endParaRPr lang="zh-CN" altLang="en-US" dirty="0">
              <a:solidFill>
                <a:srgbClr val="0033CC"/>
              </a:solidFill>
            </a:endParaRPr>
          </a:p>
          <a:p>
            <a:pPr marL="0" lvl="0" indent="0" eaLnBrk="1" hangingPunct="1">
              <a:lnSpc>
                <a:spcPct val="125000"/>
              </a:lnSpc>
              <a:buClrTx/>
              <a:buSzTx/>
              <a:buNone/>
            </a:pPr>
            <a:r>
              <a:rPr lang="zh-CN" altLang="en-US" dirty="0"/>
              <a:t>      </a:t>
            </a:r>
            <a:r>
              <a:rPr lang="zh-CN" altLang="en-US" i="1" u="sng" dirty="0">
                <a:solidFill>
                  <a:srgbClr val="FF3300"/>
                </a:solidFill>
              </a:rPr>
              <a:t>主键：</a:t>
            </a:r>
            <a:r>
              <a:rPr lang="zh-CN" altLang="en-US" dirty="0"/>
              <a:t>关系</a:t>
            </a:r>
            <a:r>
              <a:rPr lang="en-US" altLang="zh-CN" sz="1800" dirty="0"/>
              <a:t>R(U,F)</a:t>
            </a:r>
            <a:r>
              <a:rPr lang="zh-CN" altLang="en-US" sz="1800" dirty="0"/>
              <a:t>中可能有多个候选键，则选其中一个作为主键；</a:t>
            </a:r>
            <a:endParaRPr lang="zh-CN" altLang="en-US" sz="1800" dirty="0"/>
          </a:p>
          <a:p>
            <a:pPr marL="0" lvl="0" indent="0" eaLnBrk="1" hangingPunct="1">
              <a:lnSpc>
                <a:spcPct val="125000"/>
              </a:lnSpc>
              <a:buClrTx/>
              <a:buSzTx/>
              <a:buNone/>
            </a:pPr>
            <a:r>
              <a:rPr lang="zh-CN" altLang="en-US" sz="1800" dirty="0">
                <a:solidFill>
                  <a:srgbClr val="0033CC"/>
                </a:solidFill>
              </a:rPr>
              <a:t>       </a:t>
            </a:r>
            <a:r>
              <a:rPr lang="zh-CN" altLang="en-US" i="1" u="sng" dirty="0">
                <a:solidFill>
                  <a:srgbClr val="FF3300"/>
                </a:solidFill>
              </a:rPr>
              <a:t>全键：</a:t>
            </a:r>
            <a:r>
              <a:rPr lang="zh-CN" altLang="en-US" sz="1800" dirty="0"/>
              <a:t>候选键为整个属性组。</a:t>
            </a:r>
            <a:endParaRPr lang="zh-CN" altLang="en-US" sz="1800" dirty="0"/>
          </a:p>
          <a:p>
            <a:pPr marL="0" lvl="0" indent="0" eaLnBrk="1" hangingPunct="1">
              <a:lnSpc>
                <a:spcPct val="125000"/>
              </a:lnSpc>
              <a:buClrTx/>
              <a:buSzTx/>
              <a:buNone/>
            </a:pPr>
            <a:r>
              <a:rPr lang="zh-CN" altLang="en-US" sz="1800" dirty="0">
                <a:solidFill>
                  <a:srgbClr val="0033CC"/>
                </a:solidFill>
              </a:rPr>
              <a:t>       </a:t>
            </a:r>
            <a:r>
              <a:rPr lang="zh-CN" altLang="en-US" i="1" u="sng" dirty="0">
                <a:solidFill>
                  <a:srgbClr val="FF3300"/>
                </a:solidFill>
              </a:rPr>
              <a:t>主属性与非主属性：</a:t>
            </a:r>
            <a:r>
              <a:rPr lang="zh-CN" altLang="en-US" dirty="0"/>
              <a:t>在</a:t>
            </a:r>
            <a:r>
              <a:rPr lang="en-US" altLang="zh-CN" dirty="0"/>
              <a:t>R(U,F)</a:t>
            </a:r>
            <a:r>
              <a:rPr lang="zh-CN" altLang="en-US" dirty="0"/>
              <a:t>中，包含在任一候选键中的属性称为主属性，不包含在任一候选键中的属性称为非主属性。</a:t>
            </a:r>
            <a:endParaRPr lang="zh-CN" altLang="en-US" dirty="0"/>
          </a:p>
        </p:txBody>
      </p:sp>
      <p:sp>
        <p:nvSpPr>
          <p:cNvPr id="27652" name="Rectangle 4"/>
          <p:cNvSpPr/>
          <p:nvPr/>
        </p:nvSpPr>
        <p:spPr>
          <a:xfrm>
            <a:off x="0" y="3328988"/>
            <a:ext cx="9144000" cy="0"/>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graphicFrame>
        <p:nvGraphicFramePr>
          <p:cNvPr id="27653" name="对象 23556"/>
          <p:cNvGraphicFramePr>
            <a:graphicFrameLocks noChangeAspect="1"/>
          </p:cNvGraphicFramePr>
          <p:nvPr/>
        </p:nvGraphicFramePr>
        <p:xfrm>
          <a:off x="5972175" y="2130425"/>
          <a:ext cx="982663" cy="282575"/>
        </p:xfrm>
        <a:graphic>
          <a:graphicData uri="http://schemas.openxmlformats.org/presentationml/2006/ole">
            <mc:AlternateContent xmlns:mc="http://schemas.openxmlformats.org/markup-compatibility/2006">
              <mc:Choice xmlns:v="urn:schemas-microsoft-com:vml" Requires="v">
                <p:oleObj spid="_x0000_s3077" name="" r:id="rId1" imgW="701675" imgH="204470" progId="Equation.3">
                  <p:embed/>
                </p:oleObj>
              </mc:Choice>
              <mc:Fallback>
                <p:oleObj name="" r:id="rId1" imgW="701675" imgH="204470" progId="Equation.3">
                  <p:embed/>
                  <p:pic>
                    <p:nvPicPr>
                      <p:cNvPr id="0" name="图片 3076"/>
                      <p:cNvPicPr/>
                      <p:nvPr/>
                    </p:nvPicPr>
                    <p:blipFill>
                      <a:blip r:embed="rId2"/>
                      <a:stretch>
                        <a:fillRect/>
                      </a:stretch>
                    </p:blipFill>
                    <p:spPr>
                      <a:xfrm>
                        <a:off x="5972175" y="2130425"/>
                        <a:ext cx="982663" cy="282575"/>
                      </a:xfrm>
                      <a:prstGeom prst="rect">
                        <a:avLst/>
                      </a:prstGeom>
                      <a:noFill/>
                      <a:ln w="38100">
                        <a:noFill/>
                        <a:miter/>
                      </a:ln>
                    </p:spPr>
                  </p:pic>
                </p:oleObj>
              </mc:Fallback>
            </mc:AlternateContent>
          </a:graphicData>
        </a:graphic>
      </p:graphicFrame>
      <p:sp>
        <p:nvSpPr>
          <p:cNvPr id="27654"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23559" name="Text Box 3"/>
          <p:cNvSpPr txBox="1"/>
          <p:nvPr/>
        </p:nvSpPr>
        <p:spPr>
          <a:xfrm>
            <a:off x="396875" y="4630738"/>
            <a:ext cx="8518525" cy="14335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buClrTx/>
              <a:buSzTx/>
              <a:buNone/>
            </a:pPr>
            <a:r>
              <a:rPr lang="zh-CN" altLang="en-US" sz="1800" dirty="0">
                <a:solidFill>
                  <a:srgbClr val="0033CC"/>
                </a:solidFill>
              </a:rPr>
              <a:t>   </a:t>
            </a:r>
            <a:r>
              <a:rPr lang="zh-CN" altLang="en-US" sz="2400" u="sng" dirty="0">
                <a:solidFill>
                  <a:srgbClr val="FF3300"/>
                </a:solidFill>
              </a:rPr>
              <a:t>例</a:t>
            </a:r>
            <a:r>
              <a:rPr lang="en-US" altLang="zh-CN" sz="2400" u="sng" dirty="0">
                <a:solidFill>
                  <a:srgbClr val="FF3300"/>
                </a:solidFill>
              </a:rPr>
              <a:t>1</a:t>
            </a:r>
            <a:r>
              <a:rPr lang="zh-CN" altLang="en-US" sz="2400" u="sng" dirty="0">
                <a:solidFill>
                  <a:srgbClr val="FF3300"/>
                </a:solidFill>
              </a:rPr>
              <a:t>：</a:t>
            </a:r>
            <a:r>
              <a:rPr lang="zh-CN" altLang="en-US" dirty="0"/>
              <a:t>学生表（学号，姓名，性别，身份证号，年龄，所在系）</a:t>
            </a:r>
            <a:endParaRPr lang="zh-CN" altLang="en-US" dirty="0"/>
          </a:p>
          <a:p>
            <a:pPr marL="0" lvl="0" indent="0" eaLnBrk="1" hangingPunct="1">
              <a:lnSpc>
                <a:spcPct val="125000"/>
              </a:lnSpc>
              <a:buClrTx/>
              <a:buSzTx/>
              <a:buNone/>
            </a:pPr>
            <a:r>
              <a:rPr lang="zh-CN" altLang="en-US" sz="1800" dirty="0">
                <a:solidFill>
                  <a:srgbClr val="0033CC"/>
                </a:solidFill>
              </a:rPr>
              <a:t>        </a:t>
            </a:r>
            <a:r>
              <a:rPr lang="zh-CN" altLang="en-US" i="1" u="sng" dirty="0">
                <a:solidFill>
                  <a:srgbClr val="0033CC"/>
                </a:solidFill>
              </a:rPr>
              <a:t>候选键：</a:t>
            </a:r>
            <a:r>
              <a:rPr lang="zh-CN" altLang="en-US" dirty="0"/>
              <a:t>学号，身份证号     </a:t>
            </a:r>
            <a:r>
              <a:rPr lang="zh-CN" altLang="en-US" i="1" u="sng" dirty="0">
                <a:solidFill>
                  <a:srgbClr val="0033CC"/>
                </a:solidFill>
              </a:rPr>
              <a:t>主键：</a:t>
            </a:r>
            <a:r>
              <a:rPr lang="zh-CN" altLang="en-US" dirty="0"/>
              <a:t>“学号”或“身份证号”</a:t>
            </a:r>
            <a:endParaRPr lang="zh-CN" altLang="en-US" dirty="0"/>
          </a:p>
          <a:p>
            <a:pPr marL="0" lvl="0" indent="0" eaLnBrk="1" hangingPunct="1">
              <a:lnSpc>
                <a:spcPct val="125000"/>
              </a:lnSpc>
              <a:buClrTx/>
              <a:buSzTx/>
              <a:buNone/>
            </a:pPr>
            <a:r>
              <a:rPr lang="en-US" altLang="zh-CN" dirty="0"/>
              <a:t>       </a:t>
            </a:r>
            <a:r>
              <a:rPr lang="zh-CN" altLang="en-US" i="1" u="sng" dirty="0">
                <a:solidFill>
                  <a:srgbClr val="0033CC"/>
                </a:solidFill>
              </a:rPr>
              <a:t>主属性：</a:t>
            </a:r>
            <a:r>
              <a:rPr lang="zh-CN" altLang="en-US" dirty="0"/>
              <a:t>学号，身份证号     </a:t>
            </a:r>
            <a:r>
              <a:rPr lang="zh-CN" altLang="en-US" i="1" u="sng" dirty="0">
                <a:solidFill>
                  <a:srgbClr val="0033CC"/>
                </a:solidFill>
              </a:rPr>
              <a:t>非主属性：</a:t>
            </a:r>
            <a:r>
              <a:rPr lang="zh-CN" altLang="en-US" dirty="0"/>
              <a:t>姓名，性别，年龄，所在系。</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3559"/>
                                        </p:tgtEl>
                                        <p:attrNameLst>
                                          <p:attrName>style.visibility</p:attrName>
                                        </p:attrNameLst>
                                      </p:cBhvr>
                                      <p:to>
                                        <p:strVal val="visible"/>
                                      </p:to>
                                    </p:set>
                                    <p:animEffect transition="in" filter="box(in)">
                                      <p:cBhvr>
                                        <p:cTn id="7" dur="500"/>
                                        <p:tgtEl>
                                          <p:spTgt spid="23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7"/>
          <p:cNvSpPr/>
          <p:nvPr/>
        </p:nvSpPr>
        <p:spPr>
          <a:xfrm>
            <a:off x="558800" y="777875"/>
            <a:ext cx="6340475"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1</a:t>
            </a:r>
            <a:r>
              <a:rPr lang="zh-CN" altLang="en-US" sz="2800" dirty="0">
                <a:solidFill>
                  <a:srgbClr val="FF3300"/>
                </a:solidFill>
                <a:latin typeface="黑体" panose="02010609060101010101" pitchFamily="49" charset="-122"/>
                <a:ea typeface="黑体" panose="02010609060101010101" pitchFamily="49" charset="-122"/>
              </a:rPr>
              <a:t>、关系规范中的一些基本概念</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29699" name="Text Box 3"/>
          <p:cNvSpPr txBox="1"/>
          <p:nvPr/>
        </p:nvSpPr>
        <p:spPr>
          <a:xfrm>
            <a:off x="606425" y="1368425"/>
            <a:ext cx="8056563" cy="10509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40000"/>
              </a:lnSpc>
              <a:spcBef>
                <a:spcPct val="35000"/>
              </a:spcBef>
              <a:buClrTx/>
              <a:buSzTx/>
              <a:buNone/>
            </a:pPr>
            <a:r>
              <a:rPr lang="zh-CN" altLang="en-US" sz="2400" u="sng" dirty="0">
                <a:solidFill>
                  <a:srgbClr val="FF3300"/>
                </a:solidFill>
              </a:rPr>
              <a:t>例</a:t>
            </a:r>
            <a:r>
              <a:rPr lang="en-US" altLang="zh-CN" sz="2400" u="sng" dirty="0">
                <a:solidFill>
                  <a:srgbClr val="FF3300"/>
                </a:solidFill>
              </a:rPr>
              <a:t>2</a:t>
            </a:r>
            <a:r>
              <a:rPr lang="zh-CN" altLang="en-US" sz="2400" u="sng" dirty="0">
                <a:solidFill>
                  <a:srgbClr val="FF3300"/>
                </a:solidFill>
              </a:rPr>
              <a:t>：</a:t>
            </a:r>
            <a:r>
              <a:rPr lang="zh-CN" altLang="en-US" sz="2100" dirty="0"/>
              <a:t>学生选课（学号，课程号，考试编号，成绩），设一个学生对一门课可以有多次考试成绩，每一次考试有一个考试成绩。</a:t>
            </a:r>
            <a:endParaRPr lang="zh-CN" altLang="en-US" sz="2100" dirty="0"/>
          </a:p>
        </p:txBody>
      </p:sp>
      <p:sp>
        <p:nvSpPr>
          <p:cNvPr id="29700"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25605" name="Text Box 3"/>
          <p:cNvSpPr txBox="1"/>
          <p:nvPr/>
        </p:nvSpPr>
        <p:spPr>
          <a:xfrm>
            <a:off x="549275" y="3776663"/>
            <a:ext cx="8056563" cy="20113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30000"/>
              </a:spcBef>
              <a:buClrTx/>
              <a:buSzTx/>
              <a:buNone/>
            </a:pPr>
            <a:r>
              <a:rPr lang="zh-CN" altLang="en-US" sz="2400" u="sng" dirty="0">
                <a:solidFill>
                  <a:srgbClr val="FF0000"/>
                </a:solidFill>
              </a:rPr>
              <a:t>② 外键 </a:t>
            </a:r>
            <a:endParaRPr lang="zh-CN" altLang="en-US" sz="2400" u="sng" dirty="0">
              <a:solidFill>
                <a:srgbClr val="FF0000"/>
              </a:solidFill>
            </a:endParaRPr>
          </a:p>
          <a:p>
            <a:pPr marL="0" lvl="0" indent="0" eaLnBrk="1" hangingPunct="1">
              <a:lnSpc>
                <a:spcPct val="125000"/>
              </a:lnSpc>
              <a:spcBef>
                <a:spcPct val="30000"/>
              </a:spcBef>
              <a:buClrTx/>
              <a:buSzTx/>
              <a:buNone/>
            </a:pPr>
            <a:r>
              <a:rPr lang="zh-CN" altLang="en-US" sz="1800" dirty="0"/>
              <a:t>        </a:t>
            </a:r>
            <a:r>
              <a:rPr lang="zh-CN" altLang="en-US" sz="2100" dirty="0"/>
              <a:t>用于关系表之间建立关联的属性（组）称为外键。</a:t>
            </a:r>
            <a:endParaRPr lang="zh-CN" altLang="en-US" sz="2100" dirty="0"/>
          </a:p>
          <a:p>
            <a:pPr marL="0" lvl="0" indent="0" eaLnBrk="1" hangingPunct="1">
              <a:lnSpc>
                <a:spcPct val="125000"/>
              </a:lnSpc>
              <a:spcBef>
                <a:spcPct val="30000"/>
              </a:spcBef>
              <a:buClrTx/>
              <a:buSzTx/>
              <a:buNone/>
            </a:pPr>
            <a:r>
              <a:rPr lang="zh-CN" altLang="en-US" sz="1800" dirty="0"/>
              <a:t>        </a:t>
            </a:r>
            <a:r>
              <a:rPr lang="zh-CN" altLang="en-US" sz="2400" dirty="0">
                <a:solidFill>
                  <a:srgbClr val="FF3300"/>
                </a:solidFill>
              </a:rPr>
              <a:t>定义：</a:t>
            </a:r>
            <a:r>
              <a:rPr lang="zh-CN" altLang="en-US" sz="2100" u="sng" dirty="0">
                <a:solidFill>
                  <a:srgbClr val="0033CC"/>
                </a:solidFill>
              </a:rPr>
              <a:t>若</a:t>
            </a:r>
            <a:r>
              <a:rPr lang="en-US" altLang="zh-CN" sz="2100" u="sng" dirty="0">
                <a:solidFill>
                  <a:srgbClr val="0033CC"/>
                </a:solidFill>
              </a:rPr>
              <a:t>R(U,F)</a:t>
            </a:r>
            <a:r>
              <a:rPr lang="zh-CN" altLang="en-US" sz="2100" u="sng" dirty="0">
                <a:solidFill>
                  <a:srgbClr val="0033CC"/>
                </a:solidFill>
              </a:rPr>
              <a:t>的属性（组）</a:t>
            </a:r>
            <a:r>
              <a:rPr lang="en-US" altLang="zh-CN" sz="2100" u="sng" dirty="0">
                <a:solidFill>
                  <a:srgbClr val="0033CC"/>
                </a:solidFill>
              </a:rPr>
              <a:t>X</a:t>
            </a:r>
            <a:r>
              <a:rPr lang="zh-CN" altLang="en-US" sz="2100" u="sng" dirty="0">
                <a:solidFill>
                  <a:srgbClr val="0033CC"/>
                </a:solidFill>
              </a:rPr>
              <a:t>（</a:t>
            </a:r>
            <a:r>
              <a:rPr lang="en-US" altLang="zh-CN" sz="2100" u="sng" dirty="0">
                <a:solidFill>
                  <a:srgbClr val="0033CC"/>
                </a:solidFill>
              </a:rPr>
              <a:t>X</a:t>
            </a:r>
            <a:r>
              <a:rPr lang="zh-CN" altLang="en-US" sz="2100" u="sng" dirty="0">
                <a:solidFill>
                  <a:srgbClr val="0033CC"/>
                </a:solidFill>
              </a:rPr>
              <a:t>属于</a:t>
            </a:r>
            <a:r>
              <a:rPr lang="en-US" altLang="zh-CN" sz="2100" u="sng" dirty="0">
                <a:solidFill>
                  <a:srgbClr val="0033CC"/>
                </a:solidFill>
              </a:rPr>
              <a:t>U</a:t>
            </a:r>
            <a:r>
              <a:rPr lang="zh-CN" altLang="en-US" sz="2100" u="sng" dirty="0">
                <a:solidFill>
                  <a:srgbClr val="0033CC"/>
                </a:solidFill>
              </a:rPr>
              <a:t>）是另一个关系</a:t>
            </a:r>
            <a:r>
              <a:rPr lang="en-US" altLang="zh-CN" sz="2100" u="sng" dirty="0">
                <a:solidFill>
                  <a:srgbClr val="0033CC"/>
                </a:solidFill>
              </a:rPr>
              <a:t>S</a:t>
            </a:r>
            <a:r>
              <a:rPr lang="zh-CN" altLang="en-US" sz="2100" u="sng" dirty="0">
                <a:solidFill>
                  <a:srgbClr val="0033CC"/>
                </a:solidFill>
              </a:rPr>
              <a:t>的主键，则称</a:t>
            </a:r>
            <a:r>
              <a:rPr lang="en-US" altLang="zh-CN" sz="2100" u="sng" dirty="0">
                <a:solidFill>
                  <a:srgbClr val="0033CC"/>
                </a:solidFill>
              </a:rPr>
              <a:t>X</a:t>
            </a:r>
            <a:r>
              <a:rPr lang="zh-CN" altLang="en-US" sz="2100" u="sng" dirty="0">
                <a:solidFill>
                  <a:srgbClr val="0033CC"/>
                </a:solidFill>
              </a:rPr>
              <a:t>为</a:t>
            </a:r>
            <a:r>
              <a:rPr lang="en-US" altLang="zh-CN" sz="2100" u="sng" dirty="0">
                <a:solidFill>
                  <a:srgbClr val="0033CC"/>
                </a:solidFill>
              </a:rPr>
              <a:t>R</a:t>
            </a:r>
            <a:r>
              <a:rPr lang="zh-CN" altLang="en-US" sz="2100" u="sng" dirty="0">
                <a:solidFill>
                  <a:srgbClr val="0033CC"/>
                </a:solidFill>
              </a:rPr>
              <a:t>的外键。（</a:t>
            </a:r>
            <a:r>
              <a:rPr lang="en-US" altLang="zh-CN" sz="2100" u="sng" dirty="0">
                <a:solidFill>
                  <a:srgbClr val="0033CC"/>
                </a:solidFill>
              </a:rPr>
              <a:t>X</a:t>
            </a:r>
            <a:r>
              <a:rPr lang="zh-CN" altLang="en-US" sz="2100" u="sng" dirty="0">
                <a:solidFill>
                  <a:srgbClr val="0033CC"/>
                </a:solidFill>
              </a:rPr>
              <a:t>必须先被定义为</a:t>
            </a:r>
            <a:r>
              <a:rPr lang="en-US" altLang="zh-CN" sz="2100" u="sng" dirty="0">
                <a:solidFill>
                  <a:srgbClr val="0033CC"/>
                </a:solidFill>
              </a:rPr>
              <a:t>S</a:t>
            </a:r>
            <a:r>
              <a:rPr lang="zh-CN" altLang="en-US" sz="2100" u="sng" dirty="0">
                <a:solidFill>
                  <a:srgbClr val="0033CC"/>
                </a:solidFill>
              </a:rPr>
              <a:t>的主键）。</a:t>
            </a:r>
            <a:endParaRPr lang="zh-CN" altLang="en-US" sz="2100" u="sng" dirty="0">
              <a:solidFill>
                <a:srgbClr val="0033CC"/>
              </a:solidFill>
            </a:endParaRPr>
          </a:p>
        </p:txBody>
      </p:sp>
      <p:sp>
        <p:nvSpPr>
          <p:cNvPr id="29702" name="Text Box 3"/>
          <p:cNvSpPr txBox="1"/>
          <p:nvPr/>
        </p:nvSpPr>
        <p:spPr>
          <a:xfrm>
            <a:off x="896938" y="2416175"/>
            <a:ext cx="7370762" cy="1154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ts val="400"/>
              </a:spcBef>
              <a:buClrTx/>
              <a:buSzTx/>
              <a:buFont typeface="Wingdings" panose="05000000000000000000" pitchFamily="2" charset="2"/>
              <a:buChar char="Ø"/>
            </a:pPr>
            <a:r>
              <a:rPr lang="zh-CN" altLang="en-US" sz="2100" dirty="0">
                <a:solidFill>
                  <a:srgbClr val="0033CC"/>
                </a:solidFill>
              </a:rPr>
              <a:t> </a:t>
            </a:r>
            <a:r>
              <a:rPr lang="zh-CN" altLang="en-US" sz="2100" i="1" u="sng" dirty="0">
                <a:solidFill>
                  <a:srgbClr val="0033CC"/>
                </a:solidFill>
              </a:rPr>
              <a:t>候选键：</a:t>
            </a:r>
            <a:endParaRPr lang="zh-CN" altLang="en-US" sz="2100" dirty="0"/>
          </a:p>
          <a:p>
            <a:pPr marL="342900" lvl="0" indent="-342900" eaLnBrk="1" hangingPunct="1">
              <a:spcBef>
                <a:spcPts val="400"/>
              </a:spcBef>
              <a:buClrTx/>
              <a:buSzTx/>
              <a:buFont typeface="Wingdings" panose="05000000000000000000" pitchFamily="2" charset="2"/>
              <a:buChar char="Ø"/>
            </a:pPr>
            <a:r>
              <a:rPr lang="zh-CN" altLang="en-US" sz="2100" dirty="0"/>
              <a:t> </a:t>
            </a:r>
            <a:r>
              <a:rPr lang="zh-CN" altLang="en-US" sz="2100" i="1" u="sng" dirty="0">
                <a:solidFill>
                  <a:srgbClr val="0033CC"/>
                </a:solidFill>
              </a:rPr>
              <a:t>主属性：</a:t>
            </a:r>
            <a:endParaRPr lang="zh-CN" altLang="en-US" sz="2100" i="1" u="sng" dirty="0">
              <a:solidFill>
                <a:srgbClr val="0033CC"/>
              </a:solidFill>
            </a:endParaRPr>
          </a:p>
          <a:p>
            <a:pPr marL="342900" lvl="0" indent="-342900" eaLnBrk="1" hangingPunct="1">
              <a:spcBef>
                <a:spcPts val="400"/>
              </a:spcBef>
              <a:buClrTx/>
              <a:buSzTx/>
              <a:buFont typeface="Wingdings" panose="05000000000000000000" pitchFamily="2" charset="2"/>
              <a:buChar char="Ø"/>
            </a:pPr>
            <a:r>
              <a:rPr lang="zh-CN" altLang="en-US" sz="2100" dirty="0"/>
              <a:t> </a:t>
            </a:r>
            <a:r>
              <a:rPr lang="zh-CN" altLang="en-US" sz="2100" i="1" u="sng" dirty="0">
                <a:solidFill>
                  <a:srgbClr val="0033CC"/>
                </a:solidFill>
              </a:rPr>
              <a:t>非主属性：</a:t>
            </a:r>
            <a:endParaRPr lang="zh-CN" altLang="en-US" sz="2100" dirty="0"/>
          </a:p>
        </p:txBody>
      </p:sp>
      <p:sp>
        <p:nvSpPr>
          <p:cNvPr id="3" name="Text Box 3"/>
          <p:cNvSpPr txBox="1"/>
          <p:nvPr/>
        </p:nvSpPr>
        <p:spPr>
          <a:xfrm>
            <a:off x="2543175" y="2473325"/>
            <a:ext cx="5461000" cy="1152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400"/>
              </a:spcBef>
              <a:buClrTx/>
              <a:buSzTx/>
              <a:buNone/>
            </a:pPr>
            <a:r>
              <a:rPr lang="zh-CN" altLang="en-US" sz="2100" dirty="0"/>
              <a:t>（学号，课程号，考试编号），也是主键</a:t>
            </a:r>
            <a:endParaRPr lang="zh-CN" altLang="en-US" sz="2100" dirty="0"/>
          </a:p>
          <a:p>
            <a:pPr marL="0" lvl="0" indent="0" eaLnBrk="1" hangingPunct="1">
              <a:spcBef>
                <a:spcPts val="400"/>
              </a:spcBef>
              <a:buClrTx/>
              <a:buSzTx/>
              <a:buNone/>
            </a:pPr>
            <a:r>
              <a:rPr lang="zh-CN" altLang="en-US" sz="2100" dirty="0"/>
              <a:t> 学号，课程号，考试编号</a:t>
            </a:r>
            <a:endParaRPr lang="zh-CN" altLang="en-US" sz="2100" dirty="0"/>
          </a:p>
          <a:p>
            <a:pPr marL="0" lvl="0" indent="0" eaLnBrk="1" hangingPunct="1">
              <a:spcBef>
                <a:spcPts val="400"/>
              </a:spcBef>
              <a:buClrTx/>
              <a:buSzTx/>
              <a:buNone/>
            </a:pPr>
            <a:r>
              <a:rPr lang="zh-CN" altLang="en-US" sz="2100" dirty="0"/>
              <a:t>   成绩。</a:t>
            </a:r>
            <a:endParaRPr lang="zh-CN" altLang="en-US" sz="21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25605"/>
                                        </p:tgtEl>
                                        <p:attrNameLst>
                                          <p:attrName>style.visibility</p:attrName>
                                        </p:attrNameLst>
                                      </p:cBhvr>
                                      <p:to>
                                        <p:strVal val="visible"/>
                                      </p:to>
                                    </p:set>
                                    <p:animEffect transition="in" filter="box(in)">
                                      <p:cBhvr>
                                        <p:cTn id="13" dur="500"/>
                                        <p:tgtEl>
                                          <p:spTgt spid="25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30723" name="文本框 99"/>
          <p:cNvSpPr txBox="1"/>
          <p:nvPr/>
        </p:nvSpPr>
        <p:spPr>
          <a:xfrm>
            <a:off x="555625" y="1468438"/>
            <a:ext cx="8029575" cy="17065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zh-CN" altLang="zh-CN" sz="2100" dirty="0">
                <a:solidFill>
                  <a:schemeClr val="tx2"/>
                </a:solidFill>
              </a:rPr>
              <a:t>有关系模式</a:t>
            </a:r>
            <a:r>
              <a:rPr lang="en-US" altLang="zh-CN" sz="2100" dirty="0">
                <a:solidFill>
                  <a:schemeClr val="tx2"/>
                </a:solidFill>
              </a:rPr>
              <a:t>R(S,T,C,D,G),</a:t>
            </a:r>
            <a:r>
              <a:rPr lang="zh-CN" altLang="zh-CN" sz="2100" dirty="0">
                <a:solidFill>
                  <a:schemeClr val="tx2"/>
                </a:solidFill>
              </a:rPr>
              <a:t>根据语义有如下函数依赖集</a:t>
            </a:r>
            <a:r>
              <a:rPr lang="en-US" altLang="zh-CN" sz="2100" dirty="0">
                <a:solidFill>
                  <a:schemeClr val="tx2"/>
                </a:solidFill>
              </a:rPr>
              <a:t>:</a:t>
            </a:r>
            <a:endParaRPr lang="en-US" altLang="zh-CN" sz="2100" dirty="0">
              <a:solidFill>
                <a:schemeClr val="tx2"/>
              </a:solidFill>
            </a:endParaRPr>
          </a:p>
          <a:p>
            <a:pPr marL="0" lvl="0" indent="0" eaLnBrk="1" hangingPunct="1">
              <a:lnSpc>
                <a:spcPct val="125000"/>
              </a:lnSpc>
              <a:spcBef>
                <a:spcPct val="0"/>
              </a:spcBef>
              <a:buClrTx/>
              <a:buSzTx/>
              <a:buFont typeface="Arial" panose="020B0604020202020204" pitchFamily="34" charset="0"/>
              <a:buNone/>
            </a:pPr>
            <a:r>
              <a:rPr lang="en-US" altLang="zh-CN" sz="2100" dirty="0">
                <a:solidFill>
                  <a:schemeClr val="tx2"/>
                </a:solidFill>
              </a:rPr>
              <a:t>F={(S,C)-&gt;T,C-&gt;D, (S,C)-&gt;G,T-&gt;C)</a:t>
            </a:r>
            <a:r>
              <a:rPr lang="zh-CN" altLang="zh-CN" sz="2100" dirty="0">
                <a:solidFill>
                  <a:schemeClr val="tx2"/>
                </a:solidFill>
              </a:rPr>
              <a:t>。</a:t>
            </a:r>
            <a:endParaRPr lang="zh-CN" altLang="zh-CN" sz="2100" dirty="0">
              <a:solidFill>
                <a:schemeClr val="tx2"/>
              </a:solidFill>
            </a:endParaRPr>
          </a:p>
          <a:p>
            <a:pPr marL="0" lvl="0" indent="0" eaLnBrk="1" hangingPunct="1">
              <a:lnSpc>
                <a:spcPct val="125000"/>
              </a:lnSpc>
              <a:spcBef>
                <a:spcPct val="0"/>
              </a:spcBef>
              <a:buClrTx/>
              <a:buSzTx/>
              <a:buFont typeface="Arial" panose="020B0604020202020204" pitchFamily="34" charset="0"/>
              <a:buNone/>
            </a:pPr>
            <a:endParaRPr lang="zh-CN" altLang="en-US" sz="2100" dirty="0">
              <a:solidFill>
                <a:schemeClr val="tx2"/>
              </a:solidFill>
            </a:endParaRPr>
          </a:p>
          <a:p>
            <a:pPr marL="0" lvl="0" indent="0" eaLnBrk="1" hangingPunct="1">
              <a:lnSpc>
                <a:spcPct val="125000"/>
              </a:lnSpc>
              <a:spcBef>
                <a:spcPct val="0"/>
              </a:spcBef>
              <a:buClrTx/>
              <a:buSzTx/>
              <a:buFont typeface="Arial" panose="020B0604020202020204" pitchFamily="34" charset="0"/>
              <a:buNone/>
            </a:pPr>
            <a:endParaRPr lang="zh-CN" altLang="en-US" sz="2100" dirty="0">
              <a:solidFill>
                <a:schemeClr val="tx2"/>
              </a:solidFill>
            </a:endParaRPr>
          </a:p>
        </p:txBody>
      </p:sp>
      <p:sp>
        <p:nvSpPr>
          <p:cNvPr id="30724" name="文本框 3"/>
          <p:cNvSpPr txBox="1"/>
          <p:nvPr/>
        </p:nvSpPr>
        <p:spPr>
          <a:xfrm>
            <a:off x="552450" y="974725"/>
            <a:ext cx="8161338"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
            </a:pPr>
            <a:r>
              <a:rPr lang="zh-CN" altLang="en-US" sz="2400" dirty="0">
                <a:solidFill>
                  <a:srgbClr val="FF0000"/>
                </a:solidFill>
                <a:latin typeface="华文中宋" panose="02010600040101010101" pitchFamily="2" charset="-122"/>
                <a:ea typeface="华文中宋" panose="02010600040101010101" pitchFamily="2" charset="-122"/>
              </a:rPr>
              <a:t>课堂练习：指出下列关系的候选关键，主属性和非主属性</a:t>
            </a:r>
            <a:endParaRPr lang="zh-CN" altLang="en-US" sz="2400" dirty="0">
              <a:solidFill>
                <a:srgbClr val="FF0000"/>
              </a:solidFill>
              <a:latin typeface="华文中宋" panose="02010600040101010101" pitchFamily="2" charset="-122"/>
              <a:ea typeface="华文中宋" panose="02010600040101010101" pitchFamily="2" charset="-122"/>
            </a:endParaRPr>
          </a:p>
        </p:txBody>
      </p:sp>
      <p:sp>
        <p:nvSpPr>
          <p:cNvPr id="30725" name="文本框 1"/>
          <p:cNvSpPr txBox="1"/>
          <p:nvPr/>
        </p:nvSpPr>
        <p:spPr>
          <a:xfrm>
            <a:off x="682625" y="2863850"/>
            <a:ext cx="8126413" cy="2400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zh-CN" altLang="en-US" dirty="0">
                <a:solidFill>
                  <a:srgbClr val="0033CC"/>
                </a:solidFill>
              </a:rPr>
              <a:t>因为：决定因子    </a:t>
            </a:r>
            <a:r>
              <a:rPr lang="en-US" altLang="zh-CN" dirty="0">
                <a:solidFill>
                  <a:srgbClr val="0033CC"/>
                </a:solidFill>
              </a:rPr>
              <a:t>(S,C)+=SCDTG=U    (T)+=TCD</a:t>
            </a:r>
            <a:r>
              <a:rPr lang="en-US" altLang="zh-CN" dirty="0">
                <a:solidFill>
                  <a:srgbClr val="0033CC"/>
                </a:solidFill>
                <a:latin typeface="微软雅黑" panose="020B0503020204020204" pitchFamily="34" charset="-122"/>
                <a:ea typeface="微软雅黑" panose="020B0503020204020204" pitchFamily="34" charset="-122"/>
              </a:rPr>
              <a:t>⊂U    (C)+=CD</a:t>
            </a:r>
            <a:r>
              <a:rPr lang="en-US" altLang="zh-CN" dirty="0">
                <a:solidFill>
                  <a:srgbClr val="0033CC"/>
                </a:solidFill>
                <a:latin typeface="微软雅黑" panose="020B0503020204020204" pitchFamily="34" charset="-122"/>
                <a:ea typeface="微软雅黑" panose="020B0503020204020204" pitchFamily="34" charset="-122"/>
                <a:sym typeface="宋体" panose="02010600030101010101" pitchFamily="2" charset="-122"/>
              </a:rPr>
              <a:t>⊂U</a:t>
            </a:r>
            <a:r>
              <a:rPr lang="en-US" altLang="zh-CN" dirty="0">
                <a:solidFill>
                  <a:srgbClr val="0033CC"/>
                </a:solidFill>
              </a:rPr>
              <a:t> </a:t>
            </a:r>
            <a:endParaRPr lang="en-US" altLang="zh-CN" dirty="0">
              <a:solidFill>
                <a:srgbClr val="0033CC"/>
              </a:solidFill>
            </a:endParaRPr>
          </a:p>
          <a:p>
            <a:pPr marL="0" lvl="0" indent="0" eaLnBrk="1" hangingPunct="1">
              <a:lnSpc>
                <a:spcPct val="125000"/>
              </a:lnSpc>
              <a:spcBef>
                <a:spcPct val="0"/>
              </a:spcBef>
              <a:buClrTx/>
              <a:buSzTx/>
              <a:buNone/>
            </a:pPr>
            <a:r>
              <a:rPr lang="zh-CN" altLang="en-US" dirty="0">
                <a:solidFill>
                  <a:srgbClr val="0033CC"/>
                </a:solidFill>
              </a:rPr>
              <a:t>                            </a:t>
            </a:r>
            <a:r>
              <a:rPr lang="en-US" altLang="zh-CN" dirty="0">
                <a:solidFill>
                  <a:srgbClr val="0033CC"/>
                </a:solidFill>
              </a:rPr>
              <a:t>(S,T)+=STCDG=U    (T)+=TCD</a:t>
            </a:r>
            <a:r>
              <a:rPr lang="en-US" altLang="zh-CN" dirty="0">
                <a:solidFill>
                  <a:srgbClr val="0033CC"/>
                </a:solidFill>
                <a:latin typeface="微软雅黑" panose="020B0503020204020204" pitchFamily="34" charset="-122"/>
                <a:ea typeface="微软雅黑" panose="020B0503020204020204" pitchFamily="34" charset="-122"/>
              </a:rPr>
              <a:t>⊂U    (C)+=CD</a:t>
            </a:r>
            <a:r>
              <a:rPr lang="en-US" altLang="zh-CN" dirty="0">
                <a:solidFill>
                  <a:srgbClr val="0033CC"/>
                </a:solidFill>
                <a:latin typeface="微软雅黑" panose="020B0503020204020204" pitchFamily="34" charset="-122"/>
                <a:ea typeface="微软雅黑" panose="020B0503020204020204" pitchFamily="34" charset="-122"/>
                <a:sym typeface="宋体" panose="02010600030101010101" pitchFamily="2" charset="-122"/>
              </a:rPr>
              <a:t>⊂U</a:t>
            </a:r>
            <a:r>
              <a:rPr lang="en-US" altLang="zh-CN" dirty="0">
                <a:solidFill>
                  <a:srgbClr val="0033CC"/>
                </a:solidFill>
              </a:rPr>
              <a:t> </a:t>
            </a:r>
            <a:endParaRPr lang="en-US" altLang="zh-CN" dirty="0">
              <a:solidFill>
                <a:srgbClr val="0033CC"/>
              </a:solidFill>
            </a:endParaRPr>
          </a:p>
          <a:p>
            <a:pPr marL="0" lvl="0" indent="0" eaLnBrk="1" hangingPunct="1">
              <a:lnSpc>
                <a:spcPct val="125000"/>
              </a:lnSpc>
              <a:spcBef>
                <a:spcPct val="0"/>
              </a:spcBef>
              <a:buClrTx/>
              <a:buSzTx/>
              <a:buFont typeface="Arial" panose="020B0604020202020204" pitchFamily="34" charset="0"/>
              <a:buNone/>
            </a:pPr>
            <a:r>
              <a:rPr lang="en-US" altLang="zh-CN" dirty="0">
                <a:solidFill>
                  <a:srgbClr val="0033CC"/>
                </a:solidFill>
              </a:rPr>
              <a:t>              </a:t>
            </a:r>
            <a:endParaRPr lang="en-US" altLang="zh-CN" dirty="0">
              <a:solidFill>
                <a:srgbClr val="0033CC"/>
              </a:solidFill>
            </a:endParaRPr>
          </a:p>
          <a:p>
            <a:pPr marL="0" lvl="0" indent="0" eaLnBrk="1" hangingPunct="1">
              <a:lnSpc>
                <a:spcPct val="125000"/>
              </a:lnSpc>
              <a:spcBef>
                <a:spcPct val="0"/>
              </a:spcBef>
              <a:buClrTx/>
              <a:buSzTx/>
              <a:buFont typeface="Arial" panose="020B0604020202020204" pitchFamily="34" charset="0"/>
              <a:buNone/>
            </a:pPr>
            <a:r>
              <a:rPr lang="zh-CN" altLang="en-US" dirty="0">
                <a:solidFill>
                  <a:srgbClr val="0033CC"/>
                </a:solidFill>
              </a:rPr>
              <a:t>所以：候选键</a:t>
            </a:r>
            <a:r>
              <a:rPr lang="zh-CN" altLang="en-US" dirty="0">
                <a:solidFill>
                  <a:srgbClr val="0033CC"/>
                </a:solidFill>
                <a:sym typeface="宋体" panose="02010600030101010101" pitchFamily="2" charset="-122"/>
              </a:rPr>
              <a:t> </a:t>
            </a:r>
            <a:r>
              <a:rPr lang="en-US" altLang="zh-CN" dirty="0">
                <a:solidFill>
                  <a:srgbClr val="0033CC"/>
                </a:solidFill>
                <a:sym typeface="宋体" panose="02010600030101010101" pitchFamily="2" charset="-122"/>
              </a:rPr>
              <a:t>(S,C),(S,T)</a:t>
            </a:r>
            <a:endParaRPr lang="en-US" altLang="zh-CN" dirty="0">
              <a:solidFill>
                <a:srgbClr val="0033CC"/>
              </a:solidFill>
              <a:sym typeface="宋体" panose="02010600030101010101" pitchFamily="2" charset="-122"/>
            </a:endParaRPr>
          </a:p>
          <a:p>
            <a:pPr marL="0" lvl="0" indent="0" eaLnBrk="1" hangingPunct="1">
              <a:lnSpc>
                <a:spcPct val="125000"/>
              </a:lnSpc>
              <a:spcBef>
                <a:spcPct val="0"/>
              </a:spcBef>
              <a:buClrTx/>
              <a:buSzTx/>
              <a:buFont typeface="Arial" panose="020B0604020202020204" pitchFamily="34" charset="0"/>
              <a:buNone/>
            </a:pPr>
            <a:r>
              <a:rPr lang="zh-CN" altLang="en-US" dirty="0">
                <a:solidFill>
                  <a:srgbClr val="0033CC"/>
                </a:solidFill>
              </a:rPr>
              <a:t>主属性：</a:t>
            </a:r>
            <a:r>
              <a:rPr lang="en-US" altLang="zh-CN" dirty="0">
                <a:solidFill>
                  <a:srgbClr val="0033CC"/>
                </a:solidFill>
              </a:rPr>
              <a:t>S,C,T</a:t>
            </a:r>
            <a:endParaRPr lang="en-US" altLang="zh-CN" dirty="0">
              <a:solidFill>
                <a:srgbClr val="0033CC"/>
              </a:solidFill>
            </a:endParaRPr>
          </a:p>
          <a:p>
            <a:pPr marL="0" lvl="0" indent="0" eaLnBrk="1" hangingPunct="1">
              <a:lnSpc>
                <a:spcPct val="125000"/>
              </a:lnSpc>
              <a:spcBef>
                <a:spcPct val="0"/>
              </a:spcBef>
              <a:buClrTx/>
              <a:buSzTx/>
              <a:buFont typeface="Arial" panose="020B0604020202020204" pitchFamily="34" charset="0"/>
              <a:buNone/>
            </a:pPr>
            <a:r>
              <a:rPr lang="zh-CN" altLang="en-US" dirty="0">
                <a:solidFill>
                  <a:srgbClr val="0033CC"/>
                </a:solidFill>
              </a:rPr>
              <a:t>非主属性：</a:t>
            </a:r>
            <a:r>
              <a:rPr lang="en-US" altLang="zh-CN" dirty="0">
                <a:solidFill>
                  <a:srgbClr val="0033CC"/>
                </a:solidFill>
              </a:rPr>
              <a:t>G,D</a:t>
            </a:r>
            <a:endParaRPr lang="zh-CN" altLang="en-US" dirty="0">
              <a:solidFill>
                <a:srgbClr val="0033CC"/>
              </a:solidFill>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Text Box 2"/>
          <p:cNvSpPr txBox="1"/>
          <p:nvPr/>
        </p:nvSpPr>
        <p:spPr>
          <a:xfrm>
            <a:off x="530225" y="1430338"/>
            <a:ext cx="8402638" cy="20208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dirty="0">
                <a:solidFill>
                  <a:srgbClr val="FF0000"/>
                </a:solidFill>
                <a:latin typeface="宋体" panose="02010600030101010101" pitchFamily="2" charset="-122"/>
              </a:rPr>
              <a:t>    </a:t>
            </a:r>
            <a:r>
              <a:rPr lang="zh-CN" altLang="en-US" sz="2100" dirty="0">
                <a:latin typeface="宋体" panose="02010600030101010101" pitchFamily="2" charset="-122"/>
              </a:rPr>
              <a:t>关系数据库中的关系需要满足一定的要求，满足不同程度的要求即为不同的范式。</a:t>
            </a:r>
            <a:endParaRPr lang="zh-CN" altLang="en-US" sz="2100" dirty="0">
              <a:latin typeface="宋体" panose="02010600030101010101" pitchFamily="2" charset="-122"/>
            </a:endParaRPr>
          </a:p>
          <a:p>
            <a:pPr marL="0" lvl="0" indent="0" eaLnBrk="1" hangingPunct="1">
              <a:lnSpc>
                <a:spcPct val="120000"/>
              </a:lnSpc>
              <a:spcBef>
                <a:spcPct val="0"/>
              </a:spcBef>
              <a:buClrTx/>
              <a:buSzTx/>
              <a:buNone/>
            </a:pPr>
            <a:r>
              <a:rPr lang="zh-CN" altLang="en-US" dirty="0">
                <a:solidFill>
                  <a:srgbClr val="FF0000"/>
                </a:solidFill>
                <a:latin typeface="宋体" panose="02010600030101010101" pitchFamily="2" charset="-122"/>
              </a:rPr>
              <a:t>    </a:t>
            </a:r>
            <a:r>
              <a:rPr lang="zh-CN" altLang="en-US" u="sng" dirty="0">
                <a:solidFill>
                  <a:srgbClr val="0033CC"/>
                </a:solidFill>
                <a:latin typeface="宋体" panose="02010600030101010101" pitchFamily="2" charset="-122"/>
              </a:rPr>
              <a:t>满足最低要求的关系称为第一范式，即</a:t>
            </a:r>
            <a:r>
              <a:rPr lang="en-US" altLang="zh-CN" u="sng" dirty="0">
                <a:solidFill>
                  <a:srgbClr val="0033CC"/>
                </a:solidFill>
                <a:latin typeface="宋体" panose="02010600030101010101" pitchFamily="2" charset="-122"/>
              </a:rPr>
              <a:t>1NF</a:t>
            </a:r>
            <a:r>
              <a:rPr lang="zh-CN" altLang="en-US" u="sng" dirty="0">
                <a:solidFill>
                  <a:srgbClr val="0033CC"/>
                </a:solidFill>
                <a:latin typeface="宋体" panose="02010600030101010101" pitchFamily="2" charset="-122"/>
              </a:rPr>
              <a:t>。在第一范式中进一步满足一些要求的关系被称为第二范式，即</a:t>
            </a:r>
            <a:r>
              <a:rPr lang="en-US" altLang="zh-CN" u="sng" dirty="0">
                <a:solidFill>
                  <a:srgbClr val="0033CC"/>
                </a:solidFill>
                <a:latin typeface="宋体" panose="02010600030101010101" pitchFamily="2" charset="-122"/>
              </a:rPr>
              <a:t>2NF</a:t>
            </a:r>
            <a:r>
              <a:rPr lang="zh-CN" altLang="en-US" u="sng" dirty="0">
                <a:solidFill>
                  <a:srgbClr val="0033CC"/>
                </a:solidFill>
                <a:latin typeface="宋体" panose="02010600030101010101" pitchFamily="2" charset="-122"/>
              </a:rPr>
              <a:t>，依次类推，还有第三范式（</a:t>
            </a:r>
            <a:r>
              <a:rPr lang="en-US" altLang="zh-CN" u="sng" dirty="0">
                <a:solidFill>
                  <a:srgbClr val="0033CC"/>
                </a:solidFill>
                <a:latin typeface="宋体" panose="02010600030101010101" pitchFamily="2" charset="-122"/>
              </a:rPr>
              <a:t>3NF)</a:t>
            </a:r>
            <a:r>
              <a:rPr lang="zh-CN" altLang="en-US" u="sng" dirty="0">
                <a:solidFill>
                  <a:srgbClr val="0033CC"/>
                </a:solidFill>
                <a:latin typeface="宋体" panose="02010600030101010101" pitchFamily="2" charset="-122"/>
              </a:rPr>
              <a:t>、</a:t>
            </a:r>
            <a:r>
              <a:rPr lang="zh-CN" altLang="en-US" sz="1800" u="sng" dirty="0">
                <a:solidFill>
                  <a:srgbClr val="0033CC"/>
                </a:solidFill>
              </a:rPr>
              <a:t>第四范式（</a:t>
            </a:r>
            <a:r>
              <a:rPr lang="en-US" altLang="zh-CN" sz="1800" u="sng" dirty="0">
                <a:solidFill>
                  <a:srgbClr val="0033CC"/>
                </a:solidFill>
              </a:rPr>
              <a:t>4NF</a:t>
            </a:r>
            <a:r>
              <a:rPr lang="zh-CN" altLang="en-US" sz="1800" u="sng" dirty="0">
                <a:solidFill>
                  <a:srgbClr val="0033CC"/>
                </a:solidFill>
              </a:rPr>
              <a:t>）、第五范式（</a:t>
            </a:r>
            <a:r>
              <a:rPr lang="en-US" altLang="zh-CN" sz="1800" u="sng" dirty="0">
                <a:solidFill>
                  <a:srgbClr val="0033CC"/>
                </a:solidFill>
              </a:rPr>
              <a:t>5NF</a:t>
            </a:r>
            <a:r>
              <a:rPr lang="zh-CN" altLang="en-US" sz="1800" u="sng" dirty="0">
                <a:solidFill>
                  <a:srgbClr val="0033CC"/>
                </a:solidFill>
              </a:rPr>
              <a:t>）。</a:t>
            </a:r>
            <a:endParaRPr lang="zh-CN" altLang="en-US" dirty="0"/>
          </a:p>
        </p:txBody>
      </p:sp>
      <p:sp>
        <p:nvSpPr>
          <p:cNvPr id="31747" name="Rectangle 7"/>
          <p:cNvSpPr/>
          <p:nvPr/>
        </p:nvSpPr>
        <p:spPr>
          <a:xfrm>
            <a:off x="560388" y="836613"/>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1</a:t>
            </a:r>
            <a:r>
              <a:rPr lang="zh-CN" altLang="en-US" sz="2800" dirty="0">
                <a:solidFill>
                  <a:srgbClr val="FF3300"/>
                </a:solidFill>
                <a:latin typeface="黑体" panose="02010609060101010101" pitchFamily="49" charset="-122"/>
                <a:ea typeface="黑体" panose="02010609060101010101" pitchFamily="49" charset="-122"/>
              </a:rPr>
              <a:t>、关系规范中的一些基本概念</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31748"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3" name="Text Box 2"/>
          <p:cNvSpPr txBox="1"/>
          <p:nvPr/>
        </p:nvSpPr>
        <p:spPr>
          <a:xfrm>
            <a:off x="457200" y="3559175"/>
            <a:ext cx="8402638" cy="1279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dirty="0">
                <a:solidFill>
                  <a:srgbClr val="FF0000"/>
                </a:solidFill>
                <a:latin typeface="宋体" panose="02010600030101010101" pitchFamily="2" charset="-122"/>
              </a:rPr>
              <a:t>    </a:t>
            </a:r>
            <a:r>
              <a:rPr lang="zh-CN" altLang="en-US" dirty="0"/>
              <a:t>所谓“第几范式”是表示关系模式满足的条件，所以经常称某一关系模式为第几范式的关系模式。这个模式也可以理解为符合某种条件的关系模式的集合，因此，</a:t>
            </a:r>
            <a:r>
              <a:rPr lang="en-US" altLang="zh-CN" dirty="0"/>
              <a:t>R</a:t>
            </a:r>
            <a:r>
              <a:rPr lang="zh-CN" altLang="en-US" dirty="0"/>
              <a:t>为第二范式的关系模式也可以写为：</a:t>
            </a:r>
            <a:r>
              <a:rPr lang="en-US" altLang="zh-CN" dirty="0"/>
              <a:t>R∈2NF</a:t>
            </a:r>
            <a:r>
              <a:rPr lang="zh-CN" altLang="en-US" dirty="0"/>
              <a:t>。      </a:t>
            </a:r>
            <a:endParaRPr lang="zh-CN" altLang="en-US" dirty="0"/>
          </a:p>
        </p:txBody>
      </p:sp>
      <p:sp>
        <p:nvSpPr>
          <p:cNvPr id="4" name="Text Box 2"/>
          <p:cNvSpPr txBox="1"/>
          <p:nvPr/>
        </p:nvSpPr>
        <p:spPr>
          <a:xfrm>
            <a:off x="354013" y="4899025"/>
            <a:ext cx="8402637" cy="1279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dirty="0">
                <a:solidFill>
                  <a:srgbClr val="FF0000"/>
                </a:solidFill>
                <a:latin typeface="宋体" panose="02010600030101010101" pitchFamily="2" charset="-122"/>
              </a:rPr>
              <a:t>    </a:t>
            </a:r>
            <a:r>
              <a:rPr lang="zh-CN" altLang="en-US" dirty="0"/>
              <a:t>对关系模式的属性间的函数依赖加以不同的限制，就形成了不同的范式。这些范式是递进的，第一范式的表比不是第一范式的表要好，第二范式的表比不是第二范式的表要好。范式越高，关系模式就越好。</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7"/>
          <p:cNvSpPr/>
          <p:nvPr/>
        </p:nvSpPr>
        <p:spPr>
          <a:xfrm>
            <a:off x="560388" y="838200"/>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2</a:t>
            </a:r>
            <a:r>
              <a:rPr lang="zh-CN" altLang="en-US" sz="2800" dirty="0">
                <a:solidFill>
                  <a:srgbClr val="FF3300"/>
                </a:solidFill>
                <a:latin typeface="黑体" panose="02010609060101010101" pitchFamily="49" charset="-122"/>
                <a:ea typeface="黑体" panose="02010609060101010101" pitchFamily="49" charset="-122"/>
              </a:rPr>
              <a:t>、关系数据库的第一范式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32771" name="Text Box 3"/>
          <p:cNvSpPr txBox="1"/>
          <p:nvPr/>
        </p:nvSpPr>
        <p:spPr>
          <a:xfrm>
            <a:off x="411163" y="1389063"/>
            <a:ext cx="8464550" cy="15986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25000"/>
              </a:spcBef>
              <a:buClrTx/>
              <a:buSzTx/>
              <a:buNone/>
            </a:pPr>
            <a:r>
              <a:rPr lang="zh-CN" altLang="en-US" dirty="0">
                <a:solidFill>
                  <a:srgbClr val="FF0000"/>
                </a:solidFill>
                <a:latin typeface="宋体" panose="02010600030101010101" pitchFamily="2" charset="-122"/>
              </a:rPr>
              <a:t>     </a:t>
            </a:r>
            <a:r>
              <a:rPr lang="zh-CN" altLang="en-US" sz="2400" u="sng" dirty="0">
                <a:solidFill>
                  <a:srgbClr val="FF0000"/>
                </a:solidFill>
                <a:latin typeface="宋体" panose="02010600030101010101" pitchFamily="2" charset="-122"/>
              </a:rPr>
              <a:t>定义：</a:t>
            </a:r>
            <a:r>
              <a:rPr lang="zh-CN" altLang="en-US" sz="2200" u="sng" dirty="0">
                <a:solidFill>
                  <a:srgbClr val="0033CC"/>
                </a:solidFill>
                <a:latin typeface="宋体" panose="02010600030101010101" pitchFamily="2" charset="-122"/>
              </a:rPr>
              <a:t>设R是一个关系模式。如果R的每个属性的值域，都是不可分的简单数据项的集合（即每个属性都不是多值属性也是不复合属性），则称R为第一范式关系模式，记做1NF。即1NF要求表中无重复值的列，或表中每一行列交叉处只有一个值。</a:t>
            </a:r>
            <a:endParaRPr lang="zh-CN" altLang="en-US" sz="2200" u="sng" dirty="0">
              <a:solidFill>
                <a:srgbClr val="0033CC"/>
              </a:solidFill>
            </a:endParaRPr>
          </a:p>
        </p:txBody>
      </p:sp>
      <p:graphicFrame>
        <p:nvGraphicFramePr>
          <p:cNvPr id="30724" name="表格 30723"/>
          <p:cNvGraphicFramePr/>
          <p:nvPr/>
        </p:nvGraphicFramePr>
        <p:xfrm>
          <a:off x="647700" y="3546475"/>
          <a:ext cx="3873500" cy="1838326"/>
        </p:xfrm>
        <a:graphic>
          <a:graphicData uri="http://schemas.openxmlformats.org/drawingml/2006/table">
            <a:tbl>
              <a:tblPr/>
              <a:tblGrid>
                <a:gridCol w="1600200"/>
                <a:gridCol w="1270000"/>
                <a:gridCol w="1003300"/>
              </a:tblGrid>
              <a:tr h="365710">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系名称</a:t>
                      </a:r>
                      <a:endParaRPr lang="zh-CN" altLang="en-US" sz="1800" b="0" dirty="0">
                        <a:latin typeface="Arial" panose="020B0604020202020204" pitchFamily="34" charset="0"/>
                      </a:endParaRPr>
                    </a:p>
                  </a:txBody>
                  <a:tcPr marT="45695" marB="456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grid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高级职称人数</a:t>
                      </a:r>
                      <a:endParaRPr lang="zh-CN" altLang="en-US" sz="1800" b="0" dirty="0">
                        <a:latin typeface="Arial" panose="020B0604020202020204" pitchFamily="34" charset="0"/>
                      </a:endParaRPr>
                    </a:p>
                  </a:txBody>
                  <a:tcPr marT="45695" marB="456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68154">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教授</a:t>
                      </a:r>
                      <a:endParaRPr lang="zh-CN" altLang="en-US" sz="1800" b="0" dirty="0">
                        <a:latin typeface="Arial" panose="020B0604020202020204" pitchFamily="34" charset="0"/>
                      </a:endParaRPr>
                    </a:p>
                  </a:txBody>
                  <a:tcPr marT="45695" marB="4569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副教授</a:t>
                      </a:r>
                      <a:endParaRPr lang="zh-CN" altLang="en-US" sz="1800" b="0" dirty="0">
                        <a:latin typeface="Arial" panose="020B0604020202020204" pitchFamily="34" charset="0"/>
                      </a:endParaRPr>
                    </a:p>
                  </a:txBody>
                  <a:tcPr marT="45695" marB="456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154">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计算机系</a:t>
                      </a:r>
                      <a:endParaRPr lang="zh-CN" altLang="en-US" sz="1800" b="0" dirty="0">
                        <a:latin typeface="Arial" panose="020B0604020202020204" pitchFamily="34" charset="0"/>
                      </a:endParaRPr>
                    </a:p>
                  </a:txBody>
                  <a:tcPr marT="45695" marB="456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6</a:t>
                      </a:r>
                      <a:endParaRPr lang="en-US" altLang="zh-CN" sz="1800" b="0" dirty="0">
                        <a:latin typeface="Arial" panose="020B0604020202020204" pitchFamily="34" charset="0"/>
                      </a:endParaRPr>
                    </a:p>
                  </a:txBody>
                  <a:tcPr marT="45695" marB="4569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10</a:t>
                      </a:r>
                      <a:endParaRPr lang="en-US" altLang="zh-CN" sz="1800" b="0" dirty="0">
                        <a:latin typeface="Arial" panose="020B0604020202020204" pitchFamily="34" charset="0"/>
                      </a:endParaRPr>
                    </a:p>
                  </a:txBody>
                  <a:tcPr marT="45695" marB="456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154">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信息管理系</a:t>
                      </a:r>
                      <a:endParaRPr lang="zh-CN" altLang="en-US" sz="1800" b="0" dirty="0">
                        <a:latin typeface="Arial" panose="020B0604020202020204" pitchFamily="34" charset="0"/>
                      </a:endParaRPr>
                    </a:p>
                  </a:txBody>
                  <a:tcPr marT="45695" marB="456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3</a:t>
                      </a:r>
                      <a:endParaRPr lang="en-US" altLang="zh-CN" sz="1800" b="0" dirty="0">
                        <a:latin typeface="Arial" panose="020B0604020202020204" pitchFamily="34" charset="0"/>
                      </a:endParaRPr>
                    </a:p>
                  </a:txBody>
                  <a:tcPr marT="45695" marB="4569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5</a:t>
                      </a:r>
                      <a:endParaRPr lang="en-US" altLang="zh-CN" sz="1800" b="0" dirty="0">
                        <a:latin typeface="Arial" panose="020B0604020202020204" pitchFamily="34" charset="0"/>
                      </a:endParaRPr>
                    </a:p>
                  </a:txBody>
                  <a:tcPr marT="45695" marB="456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154">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通信工程系</a:t>
                      </a:r>
                      <a:endParaRPr lang="zh-CN" altLang="en-US" sz="1800" b="0" dirty="0">
                        <a:latin typeface="Arial" panose="020B0604020202020204" pitchFamily="34" charset="0"/>
                      </a:endParaRPr>
                    </a:p>
                  </a:txBody>
                  <a:tcPr marT="45695" marB="456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4</a:t>
                      </a:r>
                      <a:endParaRPr lang="en-US" altLang="zh-CN" sz="1800" b="0" dirty="0">
                        <a:latin typeface="Arial" panose="020B0604020202020204" pitchFamily="34" charset="0"/>
                      </a:endParaRPr>
                    </a:p>
                  </a:txBody>
                  <a:tcPr marT="45695" marB="4569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8</a:t>
                      </a:r>
                      <a:endParaRPr lang="en-US" altLang="zh-CN" sz="1800" b="0" dirty="0">
                        <a:latin typeface="Arial" panose="020B0604020202020204" pitchFamily="34" charset="0"/>
                      </a:endParaRPr>
                    </a:p>
                  </a:txBody>
                  <a:tcPr marT="45695" marB="456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32796" name="Rectangle 28"/>
          <p:cNvSpPr/>
          <p:nvPr/>
        </p:nvSpPr>
        <p:spPr>
          <a:xfrm>
            <a:off x="1389063" y="3006725"/>
            <a:ext cx="2057400" cy="463550"/>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zh-CN" altLang="en-US" sz="1800" dirty="0"/>
              <a:t>非第一范式的表</a:t>
            </a:r>
            <a:endParaRPr lang="zh-CN" altLang="en-US" sz="1800" dirty="0"/>
          </a:p>
        </p:txBody>
      </p:sp>
      <p:sp>
        <p:nvSpPr>
          <p:cNvPr id="32797" name="Rectangle 29"/>
          <p:cNvSpPr/>
          <p:nvPr/>
        </p:nvSpPr>
        <p:spPr>
          <a:xfrm>
            <a:off x="484188" y="5562600"/>
            <a:ext cx="7826375" cy="639763"/>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eaLnBrk="1" hangingPunct="1">
              <a:spcBef>
                <a:spcPct val="0"/>
              </a:spcBef>
              <a:buClrTx/>
              <a:buSzTx/>
              <a:buFont typeface="Arial" panose="020B0604020202020204" pitchFamily="34" charset="0"/>
              <a:buNone/>
            </a:pPr>
            <a:r>
              <a:rPr lang="zh-CN" altLang="en-US" sz="1800" dirty="0">
                <a:solidFill>
                  <a:srgbClr val="0033CC"/>
                </a:solidFill>
              </a:rPr>
              <a:t>    表中高级职称人数不是基本数据项，而是由两个基本数据项组成的一个复合数据项</a:t>
            </a:r>
            <a:endParaRPr lang="zh-CN" altLang="en-US" sz="1800" dirty="0">
              <a:solidFill>
                <a:srgbClr val="0033CC"/>
              </a:solidFill>
            </a:endParaRPr>
          </a:p>
        </p:txBody>
      </p:sp>
      <p:graphicFrame>
        <p:nvGraphicFramePr>
          <p:cNvPr id="30750" name="表格 30749"/>
          <p:cNvGraphicFramePr/>
          <p:nvPr/>
        </p:nvGraphicFramePr>
        <p:xfrm>
          <a:off x="4851400" y="3584575"/>
          <a:ext cx="3873500" cy="1739900"/>
        </p:xfrm>
        <a:graphic>
          <a:graphicData uri="http://schemas.openxmlformats.org/drawingml/2006/table">
            <a:tbl>
              <a:tblPr/>
              <a:tblGrid>
                <a:gridCol w="1600200"/>
                <a:gridCol w="1270000"/>
                <a:gridCol w="1003300"/>
              </a:tblGrid>
              <a:tr h="640053">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系名称</a:t>
                      </a:r>
                      <a:endParaRPr lang="zh-CN" altLang="en-US" sz="1800" b="0" dirty="0">
                        <a:latin typeface="Arial" panose="020B0604020202020204" pitchFamily="34" charset="0"/>
                      </a:endParaRPr>
                    </a:p>
                  </a:txBody>
                  <a:tcPr marT="45708" marB="45708">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教授人数</a:t>
                      </a:r>
                      <a:endParaRPr lang="en-US" altLang="zh-CN" sz="1800" b="0" dirty="0">
                        <a:latin typeface="Arial" panose="020B0604020202020204" pitchFamily="34" charset="0"/>
                      </a:endParaRPr>
                    </a:p>
                  </a:txBody>
                  <a:tcPr marT="45708" marB="4570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副教授人数</a:t>
                      </a:r>
                      <a:endParaRPr lang="en-US" altLang="zh-CN" sz="1800" b="0" dirty="0">
                        <a:latin typeface="Arial" panose="020B0604020202020204" pitchFamily="34" charset="0"/>
                      </a:endParaRPr>
                    </a:p>
                  </a:txBody>
                  <a:tcPr marT="45708" marB="45708">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6615">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计算机系</a:t>
                      </a:r>
                      <a:endParaRPr lang="zh-CN" altLang="en-US" sz="1800" b="0" dirty="0">
                        <a:latin typeface="Arial" panose="020B0604020202020204" pitchFamily="34" charset="0"/>
                      </a:endParaRPr>
                    </a:p>
                  </a:txBody>
                  <a:tcPr marT="45708" marB="45708">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6</a:t>
                      </a:r>
                      <a:endParaRPr lang="en-US" altLang="zh-CN" sz="1800" b="0" dirty="0">
                        <a:latin typeface="Arial" panose="020B0604020202020204" pitchFamily="34" charset="0"/>
                      </a:endParaRPr>
                    </a:p>
                  </a:txBody>
                  <a:tcPr marT="45708" marB="4570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10</a:t>
                      </a:r>
                      <a:endParaRPr lang="en-US" altLang="zh-CN" sz="1800" b="0" dirty="0">
                        <a:latin typeface="Arial" panose="020B0604020202020204" pitchFamily="34" charset="0"/>
                      </a:endParaRPr>
                    </a:p>
                  </a:txBody>
                  <a:tcPr marT="45708" marB="45708">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6616">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信息管理系</a:t>
                      </a:r>
                      <a:endParaRPr lang="zh-CN" altLang="en-US" sz="1800" b="0" dirty="0">
                        <a:latin typeface="Arial" panose="020B0604020202020204" pitchFamily="34" charset="0"/>
                      </a:endParaRPr>
                    </a:p>
                  </a:txBody>
                  <a:tcPr marT="45708" marB="45708">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3</a:t>
                      </a:r>
                      <a:endParaRPr lang="en-US" altLang="zh-CN" sz="1800" b="0" dirty="0">
                        <a:latin typeface="Arial" panose="020B0604020202020204" pitchFamily="34" charset="0"/>
                      </a:endParaRPr>
                    </a:p>
                  </a:txBody>
                  <a:tcPr marT="45708" marB="4570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5</a:t>
                      </a:r>
                      <a:endParaRPr lang="en-US" altLang="zh-CN" sz="1800" b="0" dirty="0">
                        <a:latin typeface="Arial" panose="020B0604020202020204" pitchFamily="34" charset="0"/>
                      </a:endParaRPr>
                    </a:p>
                  </a:txBody>
                  <a:tcPr marT="45708" marB="45708">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6615">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通信工程系</a:t>
                      </a:r>
                      <a:endParaRPr lang="zh-CN" altLang="en-US" sz="1800" b="0" dirty="0">
                        <a:latin typeface="Arial" panose="020B0604020202020204" pitchFamily="34" charset="0"/>
                      </a:endParaRPr>
                    </a:p>
                  </a:txBody>
                  <a:tcPr marT="45708" marB="45708">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4</a:t>
                      </a:r>
                      <a:endParaRPr lang="en-US" altLang="zh-CN" sz="1800" b="0" dirty="0">
                        <a:latin typeface="Arial" panose="020B0604020202020204" pitchFamily="34" charset="0"/>
                      </a:endParaRPr>
                    </a:p>
                  </a:txBody>
                  <a:tcPr marT="45708" marB="4570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8</a:t>
                      </a:r>
                      <a:endParaRPr lang="en-US" altLang="zh-CN" sz="1800" b="0" dirty="0">
                        <a:latin typeface="Arial" panose="020B0604020202020204" pitchFamily="34" charset="0"/>
                      </a:endParaRPr>
                    </a:p>
                  </a:txBody>
                  <a:tcPr marT="45708" marB="45708">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32820" name="Rectangle 52"/>
          <p:cNvSpPr/>
          <p:nvPr/>
        </p:nvSpPr>
        <p:spPr>
          <a:xfrm>
            <a:off x="5370513" y="3048000"/>
            <a:ext cx="2747962" cy="463550"/>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zh-CN" altLang="en-US" sz="1800" dirty="0"/>
              <a:t>规范化为第一范式的表</a:t>
            </a:r>
            <a:endParaRPr lang="zh-CN" altLang="en-US" sz="1800" dirty="0"/>
          </a:p>
        </p:txBody>
      </p:sp>
      <p:sp>
        <p:nvSpPr>
          <p:cNvPr id="32821"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8674" name="表格 28673"/>
          <p:cNvGraphicFramePr/>
          <p:nvPr/>
        </p:nvGraphicFramePr>
        <p:xfrm>
          <a:off x="368300" y="1981200"/>
          <a:ext cx="4044950" cy="2905125"/>
        </p:xfrm>
        <a:graphic>
          <a:graphicData uri="http://schemas.openxmlformats.org/drawingml/2006/table">
            <a:tbl>
              <a:tblPr/>
              <a:tblGrid>
                <a:gridCol w="992505"/>
                <a:gridCol w="629920"/>
                <a:gridCol w="701675"/>
                <a:gridCol w="927100"/>
                <a:gridCol w="793750"/>
              </a:tblGrid>
              <a:tr h="581556">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600"/>
                        <a:t>学号</a:t>
                      </a:r>
                      <a:endParaRPr lang="zh-CN" altLang="en-US" sz="1600"/>
                    </a:p>
                  </a:txBody>
                  <a:tcPr marL="54000" marR="54000" marT="46827" marB="468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600"/>
                        <a:t>姓名</a:t>
                      </a:r>
                      <a:endParaRPr lang="zh-CN" altLang="en-US" sz="1600"/>
                    </a:p>
                  </a:txBody>
                  <a:tcPr marL="54000" marR="54000" marT="46827" marB="468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600"/>
                        <a:t>所在系</a:t>
                      </a:r>
                      <a:endParaRPr lang="zh-CN" altLang="en-US" sz="1600"/>
                    </a:p>
                  </a:txBody>
                  <a:tcPr marL="54000" marR="54000" marT="46827" marB="468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600"/>
                        <a:t>课程号</a:t>
                      </a:r>
                      <a:endParaRPr lang="zh-CN" altLang="en-US" sz="1600"/>
                    </a:p>
                  </a:txBody>
                  <a:tcPr marL="54000" marR="54000" marT="46827" marB="468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600"/>
                        <a:t>成绩</a:t>
                      </a:r>
                      <a:endParaRPr lang="zh-CN" altLang="en-US" sz="1600"/>
                    </a:p>
                  </a:txBody>
                  <a:tcPr marL="54000" marR="54000" marT="46827" marB="468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186402">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0811101</a:t>
                      </a:r>
                      <a:endParaRPr lang="en-US" altLang="x-none" sz="1800" dirty="0"/>
                    </a:p>
                  </a:txBody>
                  <a:tcPr marL="54000" marR="54000" marT="46827" marB="468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sz="1800"/>
                    </a:p>
                  </a:txBody>
                  <a:tcPr marL="54000" marR="54000" marT="46827" marB="468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计算机系</a:t>
                      </a:r>
                      <a:endParaRPr lang="zh-CN" altLang="en-US" sz="1800"/>
                    </a:p>
                  </a:txBody>
                  <a:tcPr marL="54000" marR="54000" marT="46827" marB="468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C001</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C002</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C003</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C005</a:t>
                      </a:r>
                      <a:endParaRPr lang="en-US" altLang="x-none" sz="1800" dirty="0"/>
                    </a:p>
                  </a:txBody>
                  <a:tcPr marL="54000" marR="54000" marT="46827" marB="468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96</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80</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64</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82</a:t>
                      </a:r>
                      <a:endParaRPr lang="en-US" altLang="x-none" sz="1800" dirty="0"/>
                    </a:p>
                  </a:txBody>
                  <a:tcPr marL="54000" marR="54000" marT="46827" marB="468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137167">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0821102</a:t>
                      </a:r>
                      <a:endParaRPr lang="en-US" altLang="x-none" sz="1800" dirty="0"/>
                    </a:p>
                  </a:txBody>
                  <a:tcPr marL="54000" marR="54000" marT="46827" marB="468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吴宾</a:t>
                      </a:r>
                      <a:endParaRPr lang="zh-CN" altLang="en-US" sz="1800"/>
                    </a:p>
                  </a:txBody>
                  <a:tcPr marL="54000" marR="54000" marT="46827" marB="468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信息管理系</a:t>
                      </a:r>
                      <a:endParaRPr lang="zh-CN" altLang="en-US" sz="1800"/>
                    </a:p>
                  </a:txBody>
                  <a:tcPr marL="54000" marR="54000" marT="46827" marB="468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C001</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C004</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C005</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C007</a:t>
                      </a:r>
                      <a:endParaRPr lang="zh-CN" altLang="en-US" sz="1800" dirty="0"/>
                    </a:p>
                  </a:txBody>
                  <a:tcPr marL="54000" marR="54000" marT="46827" marB="468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76</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85</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73</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NULL</a:t>
                      </a:r>
                      <a:endParaRPr lang="en-US" altLang="x-none" sz="1800" dirty="0"/>
                    </a:p>
                  </a:txBody>
                  <a:tcPr marL="54000" marR="54000" marT="46827" marB="468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28700" name="表格 28699"/>
          <p:cNvGraphicFramePr/>
          <p:nvPr/>
        </p:nvGraphicFramePr>
        <p:xfrm>
          <a:off x="4559300" y="1758950"/>
          <a:ext cx="4356100" cy="3162302"/>
        </p:xfrm>
        <a:graphic>
          <a:graphicData uri="http://schemas.openxmlformats.org/drawingml/2006/table">
            <a:tbl>
              <a:tblPr/>
              <a:tblGrid>
                <a:gridCol w="906463"/>
                <a:gridCol w="790575"/>
                <a:gridCol w="1239837"/>
                <a:gridCol w="746125"/>
                <a:gridCol w="673100"/>
              </a:tblGrid>
              <a:tr h="32547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600"/>
                        <a:t>学号</a:t>
                      </a:r>
                      <a:endParaRPr lang="zh-CN" altLang="en-US" sz="1600"/>
                    </a:p>
                  </a:txBody>
                  <a:tcPr marL="18000" marR="0" marT="46810" marB="468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600"/>
                        <a:t>姓名</a:t>
                      </a:r>
                      <a:endParaRPr lang="zh-CN" altLang="en-US" sz="16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600"/>
                        <a:t>所在系</a:t>
                      </a:r>
                      <a:endParaRPr lang="zh-CN" altLang="en-US" sz="16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600"/>
                        <a:t>课程号</a:t>
                      </a:r>
                      <a:endParaRPr lang="zh-CN" altLang="en-US" sz="16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600"/>
                        <a:t>成绩</a:t>
                      </a:r>
                      <a:endParaRPr lang="zh-CN" altLang="en-US" sz="1600"/>
                    </a:p>
                  </a:txBody>
                  <a:tcPr marL="18000" marR="0" marT="46810" marB="468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54256">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en-US" altLang="x-none" sz="1800" dirty="0"/>
                        <a:t>0811101</a:t>
                      </a:r>
                      <a:endParaRPr lang="en-US" altLang="x-none" sz="1800" dirty="0"/>
                    </a:p>
                  </a:txBody>
                  <a:tcPr marL="18000" marR="0" marT="46810" marB="468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李勇</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计算机系</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C001</a:t>
                      </a:r>
                      <a:endParaRPr lang="en-US" altLang="x-none" sz="1800" dirty="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96</a:t>
                      </a:r>
                      <a:endParaRPr lang="en-US" altLang="x-none" sz="1800" dirty="0"/>
                    </a:p>
                  </a:txBody>
                  <a:tcPr marL="18000" marR="0" marT="46810" marB="468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54256">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en-US" altLang="x-none" sz="1800" dirty="0"/>
                        <a:t>0811101</a:t>
                      </a:r>
                      <a:endParaRPr lang="en-US" altLang="x-none" sz="1800" dirty="0"/>
                    </a:p>
                  </a:txBody>
                  <a:tcPr marL="18000" marR="0" marT="46810" marB="468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李勇</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计算机系</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C002</a:t>
                      </a:r>
                      <a:endParaRPr lang="zh-CN" altLang="en-US" sz="1800" dirty="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80</a:t>
                      </a:r>
                      <a:endParaRPr lang="en-US" altLang="x-none" sz="1800" dirty="0"/>
                    </a:p>
                  </a:txBody>
                  <a:tcPr marL="18000" marR="0" marT="46810" marB="468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54256">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en-US" altLang="x-none" sz="1800" dirty="0"/>
                        <a:t>0811101</a:t>
                      </a:r>
                      <a:endParaRPr lang="en-US" altLang="x-none" sz="1800" dirty="0"/>
                    </a:p>
                  </a:txBody>
                  <a:tcPr marL="18000" marR="0" marT="46810" marB="468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李勇</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计算机系</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C003</a:t>
                      </a:r>
                      <a:endParaRPr lang="zh-CN" altLang="en-US" sz="1800" dirty="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64</a:t>
                      </a:r>
                      <a:endParaRPr lang="en-US" altLang="x-none" sz="1800" dirty="0"/>
                    </a:p>
                  </a:txBody>
                  <a:tcPr marL="18000" marR="0" marT="46810" marB="468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55644">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en-US" altLang="x-none" sz="1800" dirty="0"/>
                        <a:t>0811101</a:t>
                      </a:r>
                      <a:endParaRPr lang="en-US" altLang="x-none" sz="1800" dirty="0"/>
                    </a:p>
                  </a:txBody>
                  <a:tcPr marL="18000" marR="0" marT="46810" marB="468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李勇</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计算机系</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C005</a:t>
                      </a:r>
                      <a:endParaRPr lang="zh-CN" altLang="en-US" sz="1800" dirty="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82</a:t>
                      </a:r>
                      <a:endParaRPr lang="en-US" altLang="x-none" sz="1800" dirty="0"/>
                    </a:p>
                  </a:txBody>
                  <a:tcPr marL="18000" marR="0" marT="46810" marB="468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55644">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en-US" altLang="x-none" sz="1800" dirty="0"/>
                        <a:t>0821102</a:t>
                      </a:r>
                      <a:endParaRPr lang="en-US" altLang="x-none" sz="1800" dirty="0"/>
                    </a:p>
                  </a:txBody>
                  <a:tcPr marL="18000" marR="0" marT="46810" marB="468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吴宾</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信息管理系</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C001</a:t>
                      </a:r>
                      <a:endParaRPr lang="zh-CN" altLang="en-US" sz="1800" dirty="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76</a:t>
                      </a:r>
                      <a:endParaRPr lang="en-US" altLang="x-none" sz="1800" dirty="0"/>
                    </a:p>
                  </a:txBody>
                  <a:tcPr marL="18000" marR="0" marT="46810" marB="468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54256">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en-US" altLang="x-none" sz="1800" dirty="0"/>
                        <a:t>0821102</a:t>
                      </a:r>
                      <a:endParaRPr lang="en-US" altLang="x-none" sz="1800" dirty="0"/>
                    </a:p>
                  </a:txBody>
                  <a:tcPr marL="18000" marR="0" marT="46810" marB="468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吴宾</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信息管理系</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C004</a:t>
                      </a:r>
                      <a:endParaRPr lang="zh-CN" altLang="en-US" sz="1800" dirty="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85</a:t>
                      </a:r>
                      <a:endParaRPr lang="en-US" altLang="x-none" sz="1800" dirty="0"/>
                    </a:p>
                  </a:txBody>
                  <a:tcPr marL="18000" marR="0" marT="46810" marB="468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54256">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en-US" altLang="x-none" sz="1800" dirty="0"/>
                        <a:t>0821102</a:t>
                      </a:r>
                      <a:endParaRPr lang="en-US" altLang="x-none" sz="1800" dirty="0"/>
                    </a:p>
                  </a:txBody>
                  <a:tcPr marL="18000" marR="0" marT="46810" marB="468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吴宾</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信息管理系</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C005</a:t>
                      </a:r>
                      <a:endParaRPr lang="zh-CN" altLang="en-US" sz="1800" dirty="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73</a:t>
                      </a:r>
                      <a:endParaRPr lang="en-US" altLang="x-none" sz="1800" dirty="0"/>
                    </a:p>
                  </a:txBody>
                  <a:tcPr marL="18000" marR="0" marT="46810" marB="468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54256">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en-US" altLang="x-none" sz="1800" dirty="0"/>
                        <a:t>0821102</a:t>
                      </a:r>
                      <a:endParaRPr lang="en-US" altLang="x-none" sz="1800" dirty="0"/>
                    </a:p>
                  </a:txBody>
                  <a:tcPr marL="18000" marR="0" marT="46810" marB="468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吴宾</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信息管理系</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C007</a:t>
                      </a:r>
                      <a:endParaRPr lang="zh-CN" altLang="en-US" sz="1800" dirty="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NULL</a:t>
                      </a:r>
                      <a:endParaRPr lang="en-US" altLang="x-none" sz="1800" dirty="0"/>
                    </a:p>
                  </a:txBody>
                  <a:tcPr marL="18000" marR="0" marT="46810" marB="468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33882" name="Rectangle 102"/>
          <p:cNvSpPr/>
          <p:nvPr/>
        </p:nvSpPr>
        <p:spPr>
          <a:xfrm>
            <a:off x="1295400" y="1482725"/>
            <a:ext cx="2057400" cy="463550"/>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zh-CN" altLang="en-US" sz="1800" dirty="0"/>
              <a:t>非第一范式的表</a:t>
            </a:r>
            <a:endParaRPr lang="zh-CN" altLang="en-US" sz="1800" dirty="0"/>
          </a:p>
        </p:txBody>
      </p:sp>
      <p:sp>
        <p:nvSpPr>
          <p:cNvPr id="33883" name="Rectangle 103"/>
          <p:cNvSpPr/>
          <p:nvPr/>
        </p:nvSpPr>
        <p:spPr>
          <a:xfrm>
            <a:off x="5408613" y="1285875"/>
            <a:ext cx="2747962" cy="463550"/>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zh-CN" altLang="en-US" sz="1800" dirty="0"/>
              <a:t>规范化为第一范式的表</a:t>
            </a:r>
            <a:endParaRPr lang="zh-CN" altLang="en-US" sz="1800" dirty="0"/>
          </a:p>
        </p:txBody>
      </p:sp>
      <p:sp>
        <p:nvSpPr>
          <p:cNvPr id="33884" name="Rectangle 104"/>
          <p:cNvSpPr/>
          <p:nvPr/>
        </p:nvSpPr>
        <p:spPr>
          <a:xfrm>
            <a:off x="133350" y="4960938"/>
            <a:ext cx="8804275" cy="1196975"/>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eaLnBrk="1" hangingPunct="1">
              <a:lnSpc>
                <a:spcPct val="115000"/>
              </a:lnSpc>
              <a:spcBef>
                <a:spcPct val="0"/>
              </a:spcBef>
              <a:buClrTx/>
              <a:buSzTx/>
              <a:buFont typeface="Arial" panose="020B0604020202020204" pitchFamily="34" charset="0"/>
              <a:buNone/>
            </a:pPr>
            <a:r>
              <a:rPr lang="en-US" altLang="zh-CN" sz="2100" dirty="0">
                <a:solidFill>
                  <a:srgbClr val="0033CC"/>
                </a:solidFill>
              </a:rPr>
              <a:t>           </a:t>
            </a:r>
            <a:r>
              <a:rPr lang="zh-CN" altLang="en-US" sz="2100" dirty="0">
                <a:solidFill>
                  <a:srgbClr val="0033CC"/>
                </a:solidFill>
              </a:rPr>
              <a:t>通过在包含重复数据的行的空列中输入合适的数据，从而消除重复组，这种方法通常被看作是对表的修平（</a:t>
            </a:r>
            <a:r>
              <a:rPr lang="en-US" altLang="zh-CN" sz="2100" dirty="0">
                <a:solidFill>
                  <a:srgbClr val="0033CC"/>
                </a:solidFill>
              </a:rPr>
              <a:t>flatterning</a:t>
            </a:r>
            <a:r>
              <a:rPr lang="zh-CN" altLang="en-US" sz="2100" dirty="0">
                <a:solidFill>
                  <a:srgbClr val="0033CC"/>
                </a:solidFill>
              </a:rPr>
              <a:t>）。但用这种方法消除重复组会在关系中造成数据冗余。</a:t>
            </a:r>
            <a:endParaRPr lang="zh-CN" altLang="en-US" sz="2100" dirty="0">
              <a:solidFill>
                <a:srgbClr val="0033CC"/>
              </a:solidFill>
            </a:endParaRPr>
          </a:p>
        </p:txBody>
      </p:sp>
      <p:sp>
        <p:nvSpPr>
          <p:cNvPr id="33885" name="Rectangle 7"/>
          <p:cNvSpPr/>
          <p:nvPr/>
        </p:nvSpPr>
        <p:spPr>
          <a:xfrm>
            <a:off x="560388" y="838200"/>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2</a:t>
            </a:r>
            <a:r>
              <a:rPr lang="zh-CN" altLang="en-US" sz="2800" dirty="0">
                <a:solidFill>
                  <a:srgbClr val="FF3300"/>
                </a:solidFill>
                <a:latin typeface="黑体" panose="02010609060101010101" pitchFamily="49" charset="-122"/>
                <a:ea typeface="黑体" panose="02010609060101010101" pitchFamily="49" charset="-122"/>
              </a:rPr>
              <a:t>、关系数据库的第一范式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33886"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7"/>
          <p:cNvSpPr/>
          <p:nvPr/>
        </p:nvSpPr>
        <p:spPr>
          <a:xfrm>
            <a:off x="541338" y="741363"/>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2</a:t>
            </a:r>
            <a:r>
              <a:rPr lang="zh-CN" altLang="en-US" sz="2800" dirty="0">
                <a:solidFill>
                  <a:srgbClr val="FF3300"/>
                </a:solidFill>
                <a:latin typeface="黑体" panose="02010609060101010101" pitchFamily="49" charset="-122"/>
                <a:ea typeface="黑体" panose="02010609060101010101" pitchFamily="49" charset="-122"/>
              </a:rPr>
              <a:t>、关系数据库的第一范式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34819"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34820" name="Text Box 39"/>
          <p:cNvSpPr txBox="1"/>
          <p:nvPr/>
        </p:nvSpPr>
        <p:spPr>
          <a:xfrm>
            <a:off x="542925" y="1327150"/>
            <a:ext cx="7272338" cy="463550"/>
          </a:xfrm>
          <a:prstGeom prst="rect">
            <a:avLst/>
          </a:prstGeom>
          <a:noFill/>
          <a:ln w="9525">
            <a:noFill/>
          </a:ln>
        </p:spPr>
        <p:txBody>
          <a:bodyPr lIns="90000" tIns="46800" rIns="90000" bIns="4680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Wingdings" panose="05000000000000000000" pitchFamily="2" charset="2"/>
              <a:buChar char="p"/>
            </a:pPr>
            <a:r>
              <a:rPr lang="en-US" altLang="zh-CN" sz="2400" dirty="0">
                <a:solidFill>
                  <a:srgbClr val="CC0000"/>
                </a:solidFill>
              </a:rPr>
              <a:t> 1NF</a:t>
            </a:r>
            <a:r>
              <a:rPr lang="zh-CN" altLang="en-US" sz="2400" dirty="0">
                <a:solidFill>
                  <a:srgbClr val="CC0000"/>
                </a:solidFill>
              </a:rPr>
              <a:t>异常情况</a:t>
            </a:r>
            <a:endParaRPr lang="zh-CN" altLang="en-US" sz="2400" dirty="0">
              <a:solidFill>
                <a:srgbClr val="CC0000"/>
              </a:solidFill>
            </a:endParaRPr>
          </a:p>
        </p:txBody>
      </p:sp>
      <p:sp>
        <p:nvSpPr>
          <p:cNvPr id="34821" name="Text Box 39"/>
          <p:cNvSpPr txBox="1"/>
          <p:nvPr/>
        </p:nvSpPr>
        <p:spPr>
          <a:xfrm>
            <a:off x="7148513" y="1031875"/>
            <a:ext cx="1400175" cy="458788"/>
          </a:xfrm>
          <a:prstGeom prst="rect">
            <a:avLst/>
          </a:prstGeom>
          <a:noFill/>
          <a:ln w="9525">
            <a:noFill/>
          </a:ln>
        </p:spPr>
        <p:txBody>
          <a:bodyPr lIns="90000" tIns="46800" rIns="90000" bIns="4680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None/>
            </a:pPr>
            <a:r>
              <a:rPr lang="en-US" altLang="zh-CN" sz="2400" dirty="0">
                <a:solidFill>
                  <a:srgbClr val="00B050"/>
                </a:solidFill>
              </a:rPr>
              <a:t>R∈1NF</a:t>
            </a:r>
            <a:endParaRPr lang="en-US" altLang="zh-CN" sz="2400" dirty="0">
              <a:solidFill>
                <a:srgbClr val="00B050"/>
              </a:solidFill>
            </a:endParaRPr>
          </a:p>
        </p:txBody>
      </p:sp>
      <p:sp>
        <p:nvSpPr>
          <p:cNvPr id="34822" name="Rectangle 3" descr="Rectangle: Click to edit Master text styles&#10;Second level&#10;Third level&#10;Fourth level&#10;Fifth level"/>
          <p:cNvSpPr txBox="1"/>
          <p:nvPr/>
        </p:nvSpPr>
        <p:spPr>
          <a:xfrm>
            <a:off x="541338" y="1790700"/>
            <a:ext cx="8194675" cy="13049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ts val="300"/>
              </a:spcBef>
              <a:buClrTx/>
              <a:buSzTx/>
              <a:buFont typeface="Wingdings" panose="05000000000000000000" pitchFamily="2" charset="2"/>
              <a:buChar char="p"/>
            </a:pPr>
            <a:r>
              <a:rPr lang="zh-CN" altLang="en-US" sz="2400" dirty="0">
                <a:solidFill>
                  <a:srgbClr val="0033CC"/>
                </a:solidFill>
              </a:rPr>
              <a:t> 关系 </a:t>
            </a:r>
            <a:r>
              <a:rPr lang="en-US" altLang="zh-CN" sz="2400" dirty="0">
                <a:solidFill>
                  <a:srgbClr val="0033CC"/>
                </a:solidFill>
              </a:rPr>
              <a:t>R (Sid, Cid</a:t>
            </a:r>
            <a:r>
              <a:rPr lang="en-US" altLang="zh-CN" sz="2400" dirty="0">
                <a:solidFill>
                  <a:srgbClr val="0033CC"/>
                </a:solidFill>
                <a:sym typeface="宋体" panose="02010600030101010101" pitchFamily="2" charset="-122"/>
              </a:rPr>
              <a:t>, </a:t>
            </a:r>
            <a:r>
              <a:rPr lang="en-US" altLang="zh-CN" sz="2400" dirty="0">
                <a:solidFill>
                  <a:srgbClr val="0033CC"/>
                </a:solidFill>
              </a:rPr>
              <a:t>CName</a:t>
            </a:r>
            <a:r>
              <a:rPr lang="en-US" altLang="zh-CN" sz="2400" dirty="0">
                <a:solidFill>
                  <a:srgbClr val="0033CC"/>
                </a:solidFill>
                <a:sym typeface="宋体" panose="02010600030101010101" pitchFamily="2" charset="-122"/>
              </a:rPr>
              <a:t>, </a:t>
            </a:r>
            <a:r>
              <a:rPr lang="en-US" altLang="zh-CN" sz="2400" dirty="0">
                <a:solidFill>
                  <a:srgbClr val="0033CC"/>
                </a:solidFill>
              </a:rPr>
              <a:t>Score</a:t>
            </a:r>
            <a:r>
              <a:rPr lang="en-US" altLang="zh-CN" sz="2400" dirty="0">
                <a:solidFill>
                  <a:srgbClr val="0033CC"/>
                </a:solidFill>
                <a:sym typeface="宋体" panose="02010600030101010101" pitchFamily="2" charset="-122"/>
              </a:rPr>
              <a:t>, </a:t>
            </a:r>
            <a:r>
              <a:rPr lang="en-US" altLang="zh-CN" sz="2400" dirty="0">
                <a:solidFill>
                  <a:srgbClr val="0033CC"/>
                </a:solidFill>
              </a:rPr>
              <a:t>TID</a:t>
            </a:r>
            <a:r>
              <a:rPr lang="en-US" altLang="zh-CN" sz="2400" dirty="0">
                <a:solidFill>
                  <a:srgbClr val="0033CC"/>
                </a:solidFill>
                <a:sym typeface="宋体" panose="02010600030101010101" pitchFamily="2" charset="-122"/>
              </a:rPr>
              <a:t>, </a:t>
            </a:r>
            <a:r>
              <a:rPr lang="en-US" altLang="zh-CN" sz="2400" dirty="0">
                <a:solidFill>
                  <a:srgbClr val="0033CC"/>
                </a:solidFill>
              </a:rPr>
              <a:t>TName,Tphone)</a:t>
            </a:r>
            <a:endParaRPr lang="en-US" altLang="zh-CN" sz="2400" dirty="0">
              <a:solidFill>
                <a:srgbClr val="0033CC"/>
              </a:solidFill>
            </a:endParaRPr>
          </a:p>
          <a:p>
            <a:pPr marL="0" lvl="0" indent="0">
              <a:spcBef>
                <a:spcPts val="300"/>
              </a:spcBef>
              <a:buFont typeface="Arial" panose="020B0604020202020204" pitchFamily="34" charset="0"/>
              <a:buNone/>
            </a:pPr>
            <a:r>
              <a:rPr lang="zh-CN" altLang="en-US" sz="2400" dirty="0"/>
              <a:t>其中</a:t>
            </a:r>
            <a:r>
              <a:rPr lang="en-US" altLang="zh-CN" sz="2400" dirty="0"/>
              <a:t>: </a:t>
            </a:r>
            <a:r>
              <a:rPr lang="en-US" altLang="zh-CN" sz="2200" dirty="0"/>
              <a:t>Sid</a:t>
            </a:r>
            <a:r>
              <a:rPr lang="zh-CN" altLang="en-US" sz="2200" dirty="0"/>
              <a:t>是学生学号；</a:t>
            </a:r>
            <a:r>
              <a:rPr lang="en-US" altLang="zh-CN" sz="2200" dirty="0"/>
              <a:t>Cid</a:t>
            </a:r>
            <a:r>
              <a:rPr lang="zh-CN" altLang="en-US" sz="2200" dirty="0"/>
              <a:t>是课程号；</a:t>
            </a:r>
            <a:r>
              <a:rPr lang="en-US" altLang="zh-CN" sz="2200" dirty="0"/>
              <a:t>CName </a:t>
            </a:r>
            <a:r>
              <a:rPr lang="zh-CN" altLang="en-US" sz="2200" dirty="0"/>
              <a:t>课程名；</a:t>
            </a:r>
            <a:r>
              <a:rPr lang="en-US" altLang="zh-CN" sz="2200" dirty="0"/>
              <a:t>Score</a:t>
            </a:r>
            <a:r>
              <a:rPr lang="zh-CN" altLang="zh-CN" sz="2200" dirty="0"/>
              <a:t>成绩，</a:t>
            </a:r>
            <a:r>
              <a:rPr lang="en-US" altLang="zh-CN" sz="2200" dirty="0"/>
              <a:t>TID</a:t>
            </a:r>
            <a:r>
              <a:rPr lang="zh-CN" altLang="zh-CN" sz="2200" dirty="0"/>
              <a:t>教师编号，</a:t>
            </a:r>
            <a:r>
              <a:rPr lang="en-US" altLang="zh-CN" sz="2200" dirty="0"/>
              <a:t>TName </a:t>
            </a:r>
            <a:r>
              <a:rPr lang="zh-CN" altLang="en-US" sz="2200" dirty="0"/>
              <a:t>任课教师姓名，</a:t>
            </a:r>
            <a:r>
              <a:rPr lang="en-US" altLang="zh-CN" sz="2200" dirty="0"/>
              <a:t>Tphone</a:t>
            </a:r>
            <a:r>
              <a:rPr lang="zh-CN" altLang="zh-CN" sz="2200" dirty="0"/>
              <a:t>联系电话</a:t>
            </a:r>
            <a:r>
              <a:rPr lang="zh-CN" altLang="en-US" sz="2400" dirty="0"/>
              <a:t>。</a:t>
            </a:r>
            <a:endParaRPr lang="zh-CN" altLang="en-US" sz="2400" dirty="0"/>
          </a:p>
        </p:txBody>
      </p:sp>
      <p:graphicFrame>
        <p:nvGraphicFramePr>
          <p:cNvPr id="3" name="表格 2"/>
          <p:cNvGraphicFramePr/>
          <p:nvPr/>
        </p:nvGraphicFramePr>
        <p:xfrm>
          <a:off x="728663" y="3006725"/>
          <a:ext cx="7972425" cy="3429000"/>
        </p:xfrm>
        <a:graphic>
          <a:graphicData uri="http://schemas.openxmlformats.org/drawingml/2006/table">
            <a:tbl>
              <a:tblPr firstRow="1" bandRow="1">
                <a:tableStyleId>{5C22544A-7EE6-4342-B048-85BDC9FD1C3A}</a:tableStyleId>
              </a:tblPr>
              <a:tblGrid>
                <a:gridCol w="1080225"/>
                <a:gridCol w="1124675"/>
                <a:gridCol w="1942620"/>
                <a:gridCol w="651503"/>
                <a:gridCol w="992939"/>
                <a:gridCol w="972924"/>
                <a:gridCol w="1207539"/>
              </a:tblGrid>
              <a:tr h="381000">
                <a:tc>
                  <a:txBody>
                    <a:bodyPr/>
                    <a:lstStyle/>
                    <a:p>
                      <a:pPr algn="ctr">
                        <a:buNone/>
                      </a:pPr>
                      <a:r>
                        <a:rPr lang="zh-CN">
                          <a:solidFill>
                            <a:schemeClr val="tx1"/>
                          </a:solidFill>
                        </a:rPr>
                        <a:t>学生学号</a:t>
                      </a:r>
                      <a:endParaRPr lang="zh-CN">
                        <a:solidFill>
                          <a:schemeClr val="tx1"/>
                        </a:solidFill>
                      </a:endParaRPr>
                    </a:p>
                  </a:txBody>
                  <a:tcPr marL="0" marR="0"/>
                </a:tc>
                <a:tc>
                  <a:txBody>
                    <a:bodyPr/>
                    <a:lstStyle/>
                    <a:p>
                      <a:pPr algn="ctr">
                        <a:buNone/>
                      </a:pPr>
                      <a:r>
                        <a:rPr lang="zh-CN">
                          <a:solidFill>
                            <a:schemeClr val="tx1"/>
                          </a:solidFill>
                        </a:rPr>
                        <a:t>课程号</a:t>
                      </a:r>
                      <a:endParaRPr lang="zh-CN">
                        <a:solidFill>
                          <a:schemeClr val="tx1"/>
                        </a:solidFill>
                      </a:endParaRPr>
                    </a:p>
                  </a:txBody>
                  <a:tcPr marL="0" marR="0"/>
                </a:tc>
                <a:tc>
                  <a:txBody>
                    <a:bodyPr/>
                    <a:lstStyle/>
                    <a:p>
                      <a:pPr algn="ctr">
                        <a:buNone/>
                      </a:pPr>
                      <a:r>
                        <a:rPr lang="zh-CN">
                          <a:solidFill>
                            <a:schemeClr val="tx1"/>
                          </a:solidFill>
                        </a:rPr>
                        <a:t>课程名</a:t>
                      </a:r>
                      <a:endParaRPr lang="zh-CN">
                        <a:solidFill>
                          <a:schemeClr val="tx1"/>
                        </a:solidFill>
                      </a:endParaRPr>
                    </a:p>
                  </a:txBody>
                  <a:tcPr marL="0" marR="0"/>
                </a:tc>
                <a:tc>
                  <a:txBody>
                    <a:bodyPr/>
                    <a:lstStyle/>
                    <a:p>
                      <a:pPr algn="ctr">
                        <a:buNone/>
                      </a:pPr>
                      <a:r>
                        <a:rPr lang="zh-CN" altLang="en-US">
                          <a:solidFill>
                            <a:schemeClr val="tx1"/>
                          </a:solidFill>
                        </a:rPr>
                        <a:t>成绩</a:t>
                      </a:r>
                      <a:endParaRPr lang="zh-CN" altLang="en-US">
                        <a:solidFill>
                          <a:schemeClr val="tx1"/>
                        </a:solidFill>
                      </a:endParaRPr>
                    </a:p>
                  </a:txBody>
                  <a:tcPr marL="0" marR="0"/>
                </a:tc>
                <a:tc>
                  <a:txBody>
                    <a:bodyPr/>
                    <a:lstStyle/>
                    <a:p>
                      <a:pPr algn="ctr">
                        <a:buNone/>
                      </a:pPr>
                      <a:r>
                        <a:rPr lang="zh-CN">
                          <a:solidFill>
                            <a:schemeClr val="tx1"/>
                          </a:solidFill>
                        </a:rPr>
                        <a:t>教师编号</a:t>
                      </a:r>
                      <a:endParaRPr lang="zh-CN">
                        <a:solidFill>
                          <a:schemeClr val="tx1"/>
                        </a:solidFill>
                      </a:endParaRPr>
                    </a:p>
                  </a:txBody>
                  <a:tcPr marL="0" marR="0"/>
                </a:tc>
                <a:tc>
                  <a:txBody>
                    <a:bodyPr/>
                    <a:lstStyle/>
                    <a:p>
                      <a:pPr algn="ctr">
                        <a:buNone/>
                      </a:pPr>
                      <a:r>
                        <a:rPr lang="zh-CN">
                          <a:solidFill>
                            <a:schemeClr val="tx1"/>
                          </a:solidFill>
                        </a:rPr>
                        <a:t>教师姓名</a:t>
                      </a:r>
                      <a:endParaRPr lang="zh-CN">
                        <a:solidFill>
                          <a:schemeClr val="tx1"/>
                        </a:solidFill>
                      </a:endParaRPr>
                    </a:p>
                  </a:txBody>
                  <a:tcPr marL="0" marR="0"/>
                </a:tc>
                <a:tc>
                  <a:txBody>
                    <a:bodyPr/>
                    <a:lstStyle/>
                    <a:p>
                      <a:pPr algn="ctr">
                        <a:buNone/>
                      </a:pPr>
                      <a:r>
                        <a:rPr lang="zh-CN" altLang="zh-CN">
                          <a:solidFill>
                            <a:schemeClr val="tx1"/>
                          </a:solidFill>
                        </a:rPr>
                        <a:t>联系电话</a:t>
                      </a:r>
                      <a:endParaRPr lang="zh-CN" altLang="zh-CN">
                        <a:solidFill>
                          <a:schemeClr val="tx1"/>
                        </a:solidFill>
                      </a:endParaRPr>
                    </a:p>
                  </a:txBody>
                  <a:tcPr marL="0" marR="0"/>
                </a:tc>
              </a:tr>
              <a:tr h="381000">
                <a:tc>
                  <a:txBody>
                    <a:bodyPr/>
                    <a:lstStyle/>
                    <a:p>
                      <a:pPr>
                        <a:buNone/>
                      </a:pPr>
                      <a:r>
                        <a:rPr lang="en-US"/>
                        <a:t>20122400</a:t>
                      </a:r>
                      <a:endParaRPr lang="en-US"/>
                    </a:p>
                  </a:txBody>
                  <a:tcPr marL="0" marR="0"/>
                </a:tc>
                <a:tc>
                  <a:txBody>
                    <a:bodyPr/>
                    <a:lstStyle/>
                    <a:p>
                      <a:pPr>
                        <a:buNone/>
                      </a:pPr>
                      <a:r>
                        <a:rPr lang="en-US"/>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88</a:t>
                      </a:r>
                      <a:endParaRPr lang="en-US" altLang="zh-CN"/>
                    </a:p>
                  </a:txBody>
                  <a:tcPr marL="0" marR="0"/>
                </a:tc>
                <a:tc>
                  <a:txBody>
                    <a:bodyPr/>
                    <a:lstStyle/>
                    <a:p>
                      <a:pPr>
                        <a:buNone/>
                      </a:pPr>
                      <a:r>
                        <a:rPr lang="en-US" altLang="zh-CN"/>
                        <a:t>6726</a:t>
                      </a:r>
                      <a:endParaRPr lang="en-US" altLang="zh-CN"/>
                    </a:p>
                  </a:txBody>
                  <a:tcPr marL="0" marR="0"/>
                </a:tc>
                <a:tc>
                  <a:txBody>
                    <a:bodyPr/>
                    <a:lstStyle/>
                    <a:p>
                      <a:pPr>
                        <a:buNone/>
                      </a:pPr>
                      <a:r>
                        <a:rPr lang="zh-CN"/>
                        <a:t>王淑营</a:t>
                      </a:r>
                      <a:endParaRPr lang="zh-CN"/>
                    </a:p>
                  </a:txBody>
                  <a:tcPr marL="0" marR="0"/>
                </a:tc>
                <a:tc>
                  <a:txBody>
                    <a:bodyPr/>
                    <a:lstStyle/>
                    <a:p>
                      <a:pPr>
                        <a:buNone/>
                      </a:pPr>
                      <a:r>
                        <a:rPr lang="en-US" altLang="zh-CN"/>
                        <a:t>135******30</a:t>
                      </a:r>
                      <a:endParaRPr lang="en-US" altLang="zh-CN"/>
                    </a:p>
                  </a:txBody>
                  <a:tcPr marL="0" marR="0"/>
                </a:tc>
              </a:tr>
              <a:tr h="381000">
                <a:tc>
                  <a:txBody>
                    <a:bodyPr/>
                    <a:lstStyle/>
                    <a:p>
                      <a:pPr>
                        <a:buNone/>
                      </a:pPr>
                      <a:r>
                        <a:rPr lang="en-US"/>
                        <a:t>20122457</a:t>
                      </a:r>
                      <a:endParaRPr lang="en-US"/>
                    </a:p>
                  </a:txBody>
                  <a:tcPr marL="0" marR="0"/>
                </a:tc>
                <a:tc>
                  <a:txBody>
                    <a:bodyPr/>
                    <a:lstStyle/>
                    <a:p>
                      <a:pPr>
                        <a:buNone/>
                      </a:pPr>
                      <a:r>
                        <a:rPr lang="en-US" sz="1800">
                          <a:sym typeface="+mn-ea"/>
                        </a:rPr>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92</a:t>
                      </a:r>
                      <a:endParaRPr lang="en-US" altLang="zh-CN"/>
                    </a:p>
                  </a:txBody>
                  <a:tcPr marL="0" marR="0"/>
                </a:tc>
                <a:tc>
                  <a:txBody>
                    <a:bodyPr/>
                    <a:lstStyle/>
                    <a:p>
                      <a:pPr>
                        <a:buNone/>
                      </a:pPr>
                      <a:r>
                        <a:rPr lang="en-US" altLang="zh-CN" sz="1800">
                          <a:sym typeface="+mn-ea"/>
                        </a:rPr>
                        <a:t>6726</a:t>
                      </a:r>
                      <a:endParaRPr lang="zh-CN"/>
                    </a:p>
                  </a:txBody>
                  <a:tcPr marL="0" marR="0"/>
                </a:tc>
                <a:tc>
                  <a:txBody>
                    <a:bodyPr/>
                    <a:lstStyle/>
                    <a:p>
                      <a:pPr>
                        <a:buNone/>
                      </a:pPr>
                      <a:r>
                        <a:rPr lang="zh-CN"/>
                        <a:t>王淑营</a:t>
                      </a:r>
                      <a:endParaRPr lang="zh-CN"/>
                    </a:p>
                  </a:txBody>
                  <a:tcPr marL="0" marR="0"/>
                </a:tc>
                <a:tc>
                  <a:txBody>
                    <a:bodyPr/>
                    <a:lstStyle/>
                    <a:p>
                      <a:pPr>
                        <a:buNone/>
                      </a:pPr>
                      <a:r>
                        <a:rPr lang="en-US" altLang="zh-CN" sz="1800">
                          <a:sym typeface="+mn-ea"/>
                        </a:rPr>
                        <a:t>135******30</a:t>
                      </a:r>
                      <a:endParaRPr lang="zh-CN" altLang="en-US"/>
                    </a:p>
                  </a:txBody>
                  <a:tcPr marL="0" marR="0"/>
                </a:tc>
              </a:tr>
              <a:tr h="381000">
                <a:tc>
                  <a:txBody>
                    <a:bodyPr/>
                    <a:lstStyle/>
                    <a:p>
                      <a:pPr>
                        <a:buNone/>
                      </a:pPr>
                      <a:r>
                        <a:rPr lang="en-US"/>
                        <a:t>20122526</a:t>
                      </a:r>
                      <a:endParaRPr lang="en-US"/>
                    </a:p>
                  </a:txBody>
                  <a:tcPr marL="0" marR="0"/>
                </a:tc>
                <a:tc>
                  <a:txBody>
                    <a:bodyPr/>
                    <a:lstStyle/>
                    <a:p>
                      <a:pPr>
                        <a:buNone/>
                      </a:pPr>
                      <a:r>
                        <a:rPr lang="en-US" sz="1800">
                          <a:sym typeface="+mn-ea"/>
                        </a:rPr>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79</a:t>
                      </a:r>
                      <a:endParaRPr lang="en-US" altLang="zh-CN"/>
                    </a:p>
                  </a:txBody>
                  <a:tcPr marL="0" marR="0"/>
                </a:tc>
                <a:tc>
                  <a:txBody>
                    <a:bodyPr/>
                    <a:lstStyle/>
                    <a:p>
                      <a:pPr>
                        <a:buNone/>
                      </a:pPr>
                      <a:r>
                        <a:rPr lang="en-US" altLang="zh-CN" sz="1800">
                          <a:sym typeface="+mn-ea"/>
                        </a:rPr>
                        <a:t>6726</a:t>
                      </a:r>
                      <a:endParaRPr lang="zh-CN"/>
                    </a:p>
                  </a:txBody>
                  <a:tcPr marL="0" marR="0"/>
                </a:tc>
                <a:tc>
                  <a:txBody>
                    <a:bodyPr/>
                    <a:lstStyle/>
                    <a:p>
                      <a:pPr>
                        <a:buNone/>
                      </a:pPr>
                      <a:r>
                        <a:rPr lang="zh-CN"/>
                        <a:t>王淑营</a:t>
                      </a:r>
                      <a:endParaRPr lang="zh-CN"/>
                    </a:p>
                  </a:txBody>
                  <a:tcPr marL="0" marR="0"/>
                </a:tc>
                <a:tc>
                  <a:txBody>
                    <a:bodyPr/>
                    <a:lstStyle/>
                    <a:p>
                      <a:pPr>
                        <a:buNone/>
                      </a:pPr>
                      <a:r>
                        <a:rPr lang="en-US" altLang="zh-CN" sz="1800">
                          <a:sym typeface="+mn-ea"/>
                        </a:rPr>
                        <a:t>135******30</a:t>
                      </a:r>
                      <a:endParaRPr lang="zh-CN" altLang="en-US"/>
                    </a:p>
                  </a:txBody>
                  <a:tcPr marL="0" marR="0"/>
                </a:tc>
              </a:tr>
              <a:tr h="381000">
                <a:tc>
                  <a:txBody>
                    <a:bodyPr/>
                    <a:lstStyle/>
                    <a:p>
                      <a:pPr>
                        <a:buNone/>
                      </a:pPr>
                      <a:r>
                        <a:rPr lang="en-US"/>
                        <a:t>20122714</a:t>
                      </a:r>
                      <a:endParaRPr lang="en-US"/>
                    </a:p>
                  </a:txBody>
                  <a:tcPr marL="0" marR="0"/>
                </a:tc>
                <a:tc>
                  <a:txBody>
                    <a:bodyPr/>
                    <a:lstStyle/>
                    <a:p>
                      <a:pPr>
                        <a:buNone/>
                      </a:pPr>
                      <a:r>
                        <a:rPr lang="en-US" sz="1800">
                          <a:sym typeface="+mn-ea"/>
                        </a:rPr>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85</a:t>
                      </a:r>
                      <a:endParaRPr lang="en-US" altLang="zh-CN"/>
                    </a:p>
                  </a:txBody>
                  <a:tcPr marL="0" marR="0"/>
                </a:tc>
                <a:tc>
                  <a:txBody>
                    <a:bodyPr/>
                    <a:lstStyle/>
                    <a:p>
                      <a:pPr>
                        <a:buNone/>
                      </a:pPr>
                      <a:r>
                        <a:rPr lang="en-US" altLang="zh-CN" sz="1800">
                          <a:sym typeface="+mn-ea"/>
                        </a:rPr>
                        <a:t>6726</a:t>
                      </a:r>
                      <a:endParaRPr lang="zh-CN"/>
                    </a:p>
                  </a:txBody>
                  <a:tcPr marL="0" marR="0"/>
                </a:tc>
                <a:tc>
                  <a:txBody>
                    <a:bodyPr/>
                    <a:lstStyle/>
                    <a:p>
                      <a:pPr>
                        <a:buNone/>
                      </a:pPr>
                      <a:r>
                        <a:rPr lang="zh-CN"/>
                        <a:t>王淑营</a:t>
                      </a:r>
                      <a:endParaRPr lang="zh-CN"/>
                    </a:p>
                  </a:txBody>
                  <a:tcPr marL="0" marR="0"/>
                </a:tc>
                <a:tc>
                  <a:txBody>
                    <a:bodyPr/>
                    <a:lstStyle/>
                    <a:p>
                      <a:pPr>
                        <a:buNone/>
                      </a:pPr>
                      <a:r>
                        <a:rPr lang="en-US" altLang="zh-CN" sz="1800">
                          <a:sym typeface="+mn-ea"/>
                        </a:rPr>
                        <a:t>135******30</a:t>
                      </a:r>
                      <a:endParaRPr lang="zh-CN" altLang="en-US"/>
                    </a:p>
                  </a:txBody>
                  <a:tcPr marL="0" marR="0"/>
                </a:tc>
              </a:tr>
              <a:tr h="381000">
                <a:tc>
                  <a:txBody>
                    <a:bodyPr/>
                    <a:lstStyle/>
                    <a:p>
                      <a:pPr>
                        <a:buNone/>
                      </a:pPr>
                      <a:r>
                        <a:rPr lang="en-US"/>
                        <a:t>20122721</a:t>
                      </a:r>
                      <a:endParaRPr lang="en-US"/>
                    </a:p>
                  </a:txBody>
                  <a:tcPr marL="0" marR="0"/>
                </a:tc>
                <a:tc>
                  <a:txBody>
                    <a:bodyPr/>
                    <a:lstStyle/>
                    <a:p>
                      <a:pPr>
                        <a:buNone/>
                      </a:pPr>
                      <a:r>
                        <a:rPr lang="en-US" sz="1800">
                          <a:sym typeface="+mn-ea"/>
                        </a:rPr>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95</a:t>
                      </a:r>
                      <a:endParaRPr lang="en-US" altLang="zh-CN"/>
                    </a:p>
                  </a:txBody>
                  <a:tcPr marL="0" marR="0"/>
                </a:tc>
                <a:tc>
                  <a:txBody>
                    <a:bodyPr/>
                    <a:lstStyle/>
                    <a:p>
                      <a:pPr>
                        <a:buNone/>
                      </a:pPr>
                      <a:r>
                        <a:rPr lang="en-US" altLang="zh-CN"/>
                        <a:t>6726</a:t>
                      </a:r>
                      <a:endParaRPr lang="en-US" altLang="zh-CN"/>
                    </a:p>
                  </a:txBody>
                  <a:tcPr marL="0" marR="0"/>
                </a:tc>
                <a:tc>
                  <a:txBody>
                    <a:bodyPr/>
                    <a:lstStyle/>
                    <a:p>
                      <a:pPr>
                        <a:buNone/>
                      </a:pPr>
                      <a:r>
                        <a:rPr lang="zh-CN" sz="1800">
                          <a:sym typeface="+mn-ea"/>
                        </a:rPr>
                        <a:t>王淑营</a:t>
                      </a:r>
                      <a:endParaRPr lang="zh-CN" altLang="en-US"/>
                    </a:p>
                  </a:txBody>
                  <a:tcPr marL="0" marR="0"/>
                </a:tc>
                <a:tc>
                  <a:txBody>
                    <a:bodyPr/>
                    <a:lstStyle/>
                    <a:p>
                      <a:pPr>
                        <a:buNone/>
                      </a:pPr>
                      <a:r>
                        <a:rPr lang="en-US" altLang="zh-CN" sz="1800">
                          <a:sym typeface="+mn-ea"/>
                        </a:rPr>
                        <a:t>135******30</a:t>
                      </a:r>
                      <a:endParaRPr lang="zh-CN" altLang="en-US"/>
                    </a:p>
                  </a:txBody>
                  <a:tcPr marL="0" marR="0"/>
                </a:tc>
              </a:tr>
              <a:tr h="381000">
                <a:tc>
                  <a:txBody>
                    <a:bodyPr/>
                    <a:lstStyle/>
                    <a:p>
                      <a:pPr>
                        <a:buNone/>
                      </a:pPr>
                      <a:r>
                        <a:rPr lang="en-US" sz="1800">
                          <a:sym typeface="+mn-ea"/>
                        </a:rPr>
                        <a:t>20122457</a:t>
                      </a:r>
                      <a:endParaRPr lang="en-US"/>
                    </a:p>
                  </a:txBody>
                  <a:tcPr marL="0" marR="0"/>
                </a:tc>
                <a:tc>
                  <a:txBody>
                    <a:bodyPr/>
                    <a:lstStyle/>
                    <a:p>
                      <a:pPr>
                        <a:buNone/>
                      </a:pPr>
                      <a:r>
                        <a:rPr lang="en-US" sz="1800">
                          <a:sym typeface="+mn-ea"/>
                        </a:rPr>
                        <a:t>3223308</a:t>
                      </a:r>
                      <a:endParaRPr lang="en-US"/>
                    </a:p>
                  </a:txBody>
                  <a:tcPr marL="0" marR="0"/>
                </a:tc>
                <a:tc>
                  <a:txBody>
                    <a:bodyPr/>
                    <a:lstStyle/>
                    <a:p>
                      <a:pPr>
                        <a:buNone/>
                      </a:pPr>
                      <a:r>
                        <a:rPr lang="zh-CN"/>
                        <a:t>高级程序设计</a:t>
                      </a:r>
                      <a:endParaRPr lang="zh-CN"/>
                    </a:p>
                  </a:txBody>
                  <a:tcPr marL="0" marR="0"/>
                </a:tc>
                <a:tc>
                  <a:txBody>
                    <a:bodyPr/>
                    <a:lstStyle/>
                    <a:p>
                      <a:pPr>
                        <a:buNone/>
                      </a:pPr>
                      <a:r>
                        <a:rPr lang="en-US" altLang="zh-CN"/>
                        <a:t>88</a:t>
                      </a:r>
                      <a:endParaRPr lang="en-US" altLang="zh-CN"/>
                    </a:p>
                  </a:txBody>
                  <a:tcPr marL="0" marR="0"/>
                </a:tc>
                <a:tc>
                  <a:txBody>
                    <a:bodyPr/>
                    <a:lstStyle/>
                    <a:p>
                      <a:pPr>
                        <a:buNone/>
                      </a:pPr>
                      <a:r>
                        <a:rPr lang="en-US" altLang="zh-CN"/>
                        <a:t>7233</a:t>
                      </a:r>
                      <a:endParaRPr lang="en-US" altLang="zh-CN"/>
                    </a:p>
                  </a:txBody>
                  <a:tcPr marL="0" marR="0"/>
                </a:tc>
                <a:tc>
                  <a:txBody>
                    <a:bodyPr/>
                    <a:lstStyle/>
                    <a:p>
                      <a:pPr>
                        <a:buNone/>
                      </a:pPr>
                      <a:r>
                        <a:rPr lang="zh-CN"/>
                        <a:t>殷成凤</a:t>
                      </a:r>
                      <a:endParaRPr lang="zh-CN"/>
                    </a:p>
                  </a:txBody>
                  <a:tcPr marL="0" marR="0"/>
                </a:tc>
                <a:tc>
                  <a:txBody>
                    <a:bodyPr/>
                    <a:lstStyle/>
                    <a:p>
                      <a:pPr>
                        <a:buNone/>
                      </a:pPr>
                      <a:r>
                        <a:rPr lang="en-US" altLang="zh-CN"/>
                        <a:t>136******71</a:t>
                      </a:r>
                      <a:endParaRPr lang="en-US" altLang="zh-CN"/>
                    </a:p>
                  </a:txBody>
                  <a:tcPr marL="0" marR="0"/>
                </a:tc>
              </a:tr>
              <a:tr h="381000">
                <a:tc>
                  <a:txBody>
                    <a:bodyPr/>
                    <a:lstStyle/>
                    <a:p>
                      <a:pPr>
                        <a:buNone/>
                      </a:pPr>
                      <a:r>
                        <a:rPr lang="en-US" sz="1800">
                          <a:sym typeface="+mn-ea"/>
                        </a:rPr>
                        <a:t>20122526</a:t>
                      </a:r>
                      <a:endParaRPr lang="en-US"/>
                    </a:p>
                  </a:txBody>
                  <a:tcPr marL="0" marR="0"/>
                </a:tc>
                <a:tc>
                  <a:txBody>
                    <a:bodyPr/>
                    <a:lstStyle/>
                    <a:p>
                      <a:pPr>
                        <a:buNone/>
                      </a:pPr>
                      <a:r>
                        <a:rPr lang="en-US" sz="1800">
                          <a:sym typeface="+mn-ea"/>
                        </a:rPr>
                        <a:t>3223308</a:t>
                      </a:r>
                      <a:endParaRPr lang="en-US"/>
                    </a:p>
                  </a:txBody>
                  <a:tcPr marL="0" marR="0"/>
                </a:tc>
                <a:tc>
                  <a:txBody>
                    <a:bodyPr/>
                    <a:lstStyle/>
                    <a:p>
                      <a:pPr>
                        <a:buNone/>
                      </a:pPr>
                      <a:r>
                        <a:rPr lang="zh-CN"/>
                        <a:t>高级程序设计</a:t>
                      </a:r>
                      <a:endParaRPr lang="zh-CN"/>
                    </a:p>
                  </a:txBody>
                  <a:tcPr marL="0" marR="0"/>
                </a:tc>
                <a:tc>
                  <a:txBody>
                    <a:bodyPr/>
                    <a:lstStyle/>
                    <a:p>
                      <a:pPr>
                        <a:buNone/>
                      </a:pPr>
                      <a:r>
                        <a:rPr lang="en-US" altLang="zh-CN"/>
                        <a:t>70</a:t>
                      </a:r>
                      <a:endParaRPr lang="en-US" altLang="zh-CN"/>
                    </a:p>
                  </a:txBody>
                  <a:tcPr marL="0" marR="0"/>
                </a:tc>
                <a:tc>
                  <a:txBody>
                    <a:bodyPr/>
                    <a:lstStyle/>
                    <a:p>
                      <a:pPr>
                        <a:buNone/>
                      </a:pPr>
                      <a:r>
                        <a:rPr lang="en-US" altLang="zh-CN"/>
                        <a:t>7233</a:t>
                      </a:r>
                      <a:endParaRPr lang="en-US" altLang="zh-CN"/>
                    </a:p>
                  </a:txBody>
                  <a:tcPr marL="0" marR="0"/>
                </a:tc>
                <a:tc>
                  <a:txBody>
                    <a:bodyPr/>
                    <a:lstStyle/>
                    <a:p>
                      <a:pPr>
                        <a:buNone/>
                      </a:pPr>
                      <a:r>
                        <a:rPr lang="zh-CN"/>
                        <a:t>殷成凤</a:t>
                      </a:r>
                      <a:endParaRPr lang="zh-CN"/>
                    </a:p>
                  </a:txBody>
                  <a:tcPr marL="0" marR="0"/>
                </a:tc>
                <a:tc>
                  <a:txBody>
                    <a:bodyPr/>
                    <a:lstStyle/>
                    <a:p>
                      <a:pPr>
                        <a:buNone/>
                      </a:pPr>
                      <a:r>
                        <a:rPr lang="en-US" altLang="zh-CN" sz="1800">
                          <a:sym typeface="+mn-ea"/>
                        </a:rPr>
                        <a:t>136******71</a:t>
                      </a:r>
                      <a:endParaRPr lang="zh-CN" altLang="en-US"/>
                    </a:p>
                  </a:txBody>
                  <a:tcPr marL="0" marR="0"/>
                </a:tc>
              </a:tr>
              <a:tr h="381000">
                <a:tc>
                  <a:txBody>
                    <a:bodyPr/>
                    <a:lstStyle/>
                    <a:p>
                      <a:pPr>
                        <a:buNone/>
                      </a:pPr>
                      <a:r>
                        <a:rPr lang="en-US" sz="1800">
                          <a:sym typeface="+mn-ea"/>
                        </a:rPr>
                        <a:t>20122721</a:t>
                      </a:r>
                      <a:endParaRPr lang="en-US"/>
                    </a:p>
                  </a:txBody>
                  <a:tcPr marL="0" marR="0"/>
                </a:tc>
                <a:tc>
                  <a:txBody>
                    <a:bodyPr/>
                    <a:lstStyle/>
                    <a:p>
                      <a:pPr>
                        <a:buNone/>
                      </a:pPr>
                      <a:r>
                        <a:rPr lang="en-US"/>
                        <a:t>3123405</a:t>
                      </a:r>
                      <a:endParaRPr lang="en-US"/>
                    </a:p>
                  </a:txBody>
                  <a:tcPr marL="0" marR="0"/>
                </a:tc>
                <a:tc>
                  <a:txBody>
                    <a:bodyPr/>
                    <a:lstStyle/>
                    <a:p>
                      <a:pPr>
                        <a:buNone/>
                      </a:pPr>
                      <a:r>
                        <a:rPr lang="zh-CN"/>
                        <a:t>模糊粗糙集算法</a:t>
                      </a:r>
                      <a:endParaRPr lang="zh-CN"/>
                    </a:p>
                  </a:txBody>
                  <a:tcPr marL="0" marR="0"/>
                </a:tc>
                <a:tc>
                  <a:txBody>
                    <a:bodyPr/>
                    <a:lstStyle/>
                    <a:p>
                      <a:pPr>
                        <a:buNone/>
                      </a:pPr>
                      <a:r>
                        <a:rPr lang="en-US" altLang="zh-CN"/>
                        <a:t>84</a:t>
                      </a:r>
                      <a:endParaRPr lang="en-US" altLang="zh-CN"/>
                    </a:p>
                  </a:txBody>
                  <a:tcPr marL="0" marR="0"/>
                </a:tc>
                <a:tc>
                  <a:txBody>
                    <a:bodyPr/>
                    <a:lstStyle/>
                    <a:p>
                      <a:pPr>
                        <a:buNone/>
                      </a:pPr>
                      <a:r>
                        <a:rPr lang="en-US" altLang="zh-CN"/>
                        <a:t>7146</a:t>
                      </a:r>
                      <a:endParaRPr lang="en-US" altLang="zh-CN"/>
                    </a:p>
                  </a:txBody>
                  <a:tcPr marL="0" marR="0"/>
                </a:tc>
                <a:tc>
                  <a:txBody>
                    <a:bodyPr/>
                    <a:lstStyle/>
                    <a:p>
                      <a:pPr>
                        <a:buNone/>
                      </a:pPr>
                      <a:r>
                        <a:rPr lang="zh-CN"/>
                        <a:t>王红军</a:t>
                      </a:r>
                      <a:endParaRPr lang="zh-CN"/>
                    </a:p>
                  </a:txBody>
                  <a:tcPr marL="0" marR="0"/>
                </a:tc>
                <a:tc>
                  <a:txBody>
                    <a:bodyPr/>
                    <a:lstStyle/>
                    <a:p>
                      <a:pPr>
                        <a:buNone/>
                      </a:pPr>
                      <a:r>
                        <a:rPr lang="en-US" altLang="zh-CN"/>
                        <a:t>138******60</a:t>
                      </a:r>
                      <a:endParaRPr lang="en-US" altLang="zh-CN"/>
                    </a:p>
                  </a:txBody>
                  <a:tcPr marL="0" marR="0"/>
                </a:tc>
              </a:tr>
            </a:tbl>
          </a:graphicData>
        </a:graphic>
      </p:graphicFrame>
      <p:sp>
        <p:nvSpPr>
          <p:cNvPr id="9" name="文本框 8"/>
          <p:cNvSpPr txBox="1"/>
          <p:nvPr/>
        </p:nvSpPr>
        <p:spPr>
          <a:xfrm>
            <a:off x="628650" y="3006725"/>
            <a:ext cx="8301038" cy="460375"/>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spcBef>
                <a:spcPct val="0"/>
              </a:spcBef>
              <a:buClrTx/>
              <a:buSzTx/>
              <a:buFont typeface="Wingdings" panose="05000000000000000000" pitchFamily="2" charset="2"/>
              <a:buChar char="n"/>
            </a:pPr>
            <a:r>
              <a:rPr lang="zh-CN" altLang="en-US" sz="2400" u="sng" dirty="0">
                <a:solidFill>
                  <a:srgbClr val="CC0000"/>
                </a:solidFill>
              </a:rPr>
              <a:t>数据冗余</a:t>
            </a:r>
            <a:r>
              <a:rPr lang="zh-CN" altLang="en-US" sz="2400" u="sng" dirty="0"/>
              <a:t>：</a:t>
            </a:r>
            <a:r>
              <a:rPr lang="zh-CN" altLang="en-US" sz="2200" dirty="0">
                <a:latin typeface="楷体_GB2312"/>
                <a:ea typeface="楷体_GB2312"/>
              </a:rPr>
              <a:t>一门课程多个学生选修，教师名和课程名重复多次。</a:t>
            </a:r>
            <a:endParaRPr lang="zh-CN" altLang="en-US" sz="2200" dirty="0">
              <a:latin typeface="楷体_GB2312"/>
              <a:ea typeface="楷体_GB2312"/>
            </a:endParaRPr>
          </a:p>
        </p:txBody>
      </p:sp>
      <p:sp>
        <p:nvSpPr>
          <p:cNvPr id="10" name="文本框 9"/>
          <p:cNvSpPr txBox="1"/>
          <p:nvPr/>
        </p:nvSpPr>
        <p:spPr>
          <a:xfrm>
            <a:off x="639763" y="3584575"/>
            <a:ext cx="8199437" cy="798513"/>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spcBef>
                <a:spcPct val="0"/>
              </a:spcBef>
              <a:buClrTx/>
              <a:buSzTx/>
              <a:buFont typeface="Wingdings" panose="05000000000000000000" pitchFamily="2" charset="2"/>
              <a:buChar char="n"/>
            </a:pPr>
            <a:r>
              <a:rPr lang="zh-CN" altLang="en-US" sz="2400" u="sng" dirty="0">
                <a:solidFill>
                  <a:srgbClr val="CC0000"/>
                </a:solidFill>
              </a:rPr>
              <a:t>插入异常</a:t>
            </a:r>
            <a:r>
              <a:rPr lang="zh-CN" altLang="en-US" sz="2400" u="sng" dirty="0"/>
              <a:t>：</a:t>
            </a:r>
            <a:r>
              <a:rPr lang="zh-CN" altLang="en-US" sz="2200" dirty="0">
                <a:latin typeface="楷体_GB2312"/>
                <a:ea typeface="楷体_GB2312"/>
              </a:rPr>
              <a:t>如果想记录一门新开的课程（</a:t>
            </a:r>
            <a:r>
              <a:rPr lang="en-US" altLang="zh-CN" sz="2200" dirty="0">
                <a:latin typeface="楷体_GB2312"/>
                <a:ea typeface="楷体_GB2312"/>
              </a:rPr>
              <a:t>Sid, C9</a:t>
            </a:r>
            <a:r>
              <a:rPr lang="zh-CN" altLang="en-US" sz="2200" dirty="0">
                <a:latin typeface="楷体_GB2312"/>
                <a:ea typeface="楷体_GB2312"/>
              </a:rPr>
              <a:t>，</a:t>
            </a:r>
            <a:r>
              <a:rPr lang="en-US" altLang="zh-CN" sz="2200" dirty="0">
                <a:latin typeface="楷体_GB2312"/>
                <a:ea typeface="楷体_GB2312"/>
              </a:rPr>
              <a:t>Web Warehousing, He),</a:t>
            </a:r>
            <a:r>
              <a:rPr lang="zh-CN" altLang="en-US" sz="2200" dirty="0">
                <a:latin typeface="楷体_GB2312"/>
                <a:ea typeface="楷体_GB2312"/>
              </a:rPr>
              <a:t>当还无人选课时，</a:t>
            </a:r>
            <a:r>
              <a:rPr lang="en-US" altLang="zh-CN" sz="2200" dirty="0">
                <a:latin typeface="楷体_GB2312"/>
                <a:ea typeface="楷体_GB2312"/>
              </a:rPr>
              <a:t>Sid</a:t>
            </a:r>
            <a:r>
              <a:rPr lang="zh-CN" altLang="en-US" sz="2200" dirty="0">
                <a:latin typeface="楷体_GB2312"/>
                <a:ea typeface="楷体_GB2312"/>
              </a:rPr>
              <a:t>出现空值。</a:t>
            </a:r>
            <a:endParaRPr lang="zh-CN" altLang="en-US" sz="2200" dirty="0">
              <a:latin typeface="楷体_GB2312"/>
              <a:ea typeface="楷体_GB2312"/>
            </a:endParaRPr>
          </a:p>
        </p:txBody>
      </p:sp>
      <p:sp>
        <p:nvSpPr>
          <p:cNvPr id="12" name="文本框 11"/>
          <p:cNvSpPr txBox="1"/>
          <p:nvPr/>
        </p:nvSpPr>
        <p:spPr>
          <a:xfrm>
            <a:off x="612775" y="5381625"/>
            <a:ext cx="8226425" cy="798513"/>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spcBef>
                <a:spcPct val="0"/>
              </a:spcBef>
              <a:buClrTx/>
              <a:buSzTx/>
              <a:buFont typeface="Wingdings" panose="05000000000000000000" pitchFamily="2" charset="2"/>
              <a:buChar char="n"/>
            </a:pPr>
            <a:r>
              <a:rPr lang="zh-CN" altLang="en-US" sz="2400" u="sng" dirty="0">
                <a:solidFill>
                  <a:srgbClr val="CC0000"/>
                </a:solidFill>
              </a:rPr>
              <a:t>更新异常</a:t>
            </a:r>
            <a:r>
              <a:rPr lang="zh-CN" altLang="en-US" sz="2400" u="sng" dirty="0"/>
              <a:t>：</a:t>
            </a:r>
            <a:r>
              <a:rPr lang="zh-CN" altLang="en-US" sz="2200" dirty="0">
                <a:latin typeface="楷体_GB2312"/>
                <a:ea typeface="楷体_GB2312"/>
              </a:rPr>
              <a:t>如果想修改某门课程的任课教师名，必须修改所有选修了该课的所有元组。</a:t>
            </a:r>
            <a:endParaRPr lang="zh-CN" altLang="en-US" sz="1800" dirty="0"/>
          </a:p>
        </p:txBody>
      </p:sp>
      <p:sp>
        <p:nvSpPr>
          <p:cNvPr id="11" name="文本框 10"/>
          <p:cNvSpPr txBox="1"/>
          <p:nvPr/>
        </p:nvSpPr>
        <p:spPr>
          <a:xfrm>
            <a:off x="612775" y="4471988"/>
            <a:ext cx="8226425" cy="792162"/>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spcBef>
                <a:spcPct val="0"/>
              </a:spcBef>
              <a:buClrTx/>
              <a:buSzTx/>
              <a:buFont typeface="Wingdings" panose="05000000000000000000" pitchFamily="2" charset="2"/>
              <a:buChar char="n"/>
            </a:pPr>
            <a:r>
              <a:rPr lang="zh-CN" altLang="en-US" sz="2400" u="sng" dirty="0">
                <a:solidFill>
                  <a:srgbClr val="CC0000"/>
                </a:solidFill>
              </a:rPr>
              <a:t>删除异常</a:t>
            </a:r>
            <a:r>
              <a:rPr lang="zh-CN" altLang="en-US" sz="2400" u="sng" dirty="0"/>
              <a:t>：</a:t>
            </a:r>
            <a:r>
              <a:rPr lang="zh-CN" altLang="en-US" sz="2200" dirty="0">
                <a:latin typeface="楷体_GB2312"/>
                <a:ea typeface="楷体_GB2312"/>
              </a:rPr>
              <a:t>如果想要删除某个学生选课记录，相应地要删除该课程的教师姓名等数据。</a:t>
            </a: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ppt_x</p:attrName>
                                        </p:attrNameLst>
                                      </p:cBhvr>
                                      <p:tavLst>
                                        <p:tav tm="0">
                                          <p:val>
                                            <p:strVal val="#ppt_x"/>
                                          </p:val>
                                        </p:tav>
                                        <p:tav tm="100000">
                                          <p:val>
                                            <p:strVal val="#ppt_x"/>
                                          </p:val>
                                        </p:tav>
                                      </p:tavLst>
                                    </p:anim>
                                    <p:anim calcmode="lin" valueType="num">
                                      <p:cBhvr>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500" fill="hold"/>
                                        <p:tgtEl>
                                          <p:spTgt spid="10"/>
                                        </p:tgtEl>
                                        <p:attrNameLst>
                                          <p:attrName>ppt_x</p:attrName>
                                        </p:attrNameLst>
                                      </p:cBhvr>
                                      <p:tavLst>
                                        <p:tav tm="0">
                                          <p:val>
                                            <p:strVal val="#ppt_x"/>
                                          </p:val>
                                        </p:tav>
                                        <p:tav tm="100000">
                                          <p:val>
                                            <p:strVal val="#ppt_x"/>
                                          </p:val>
                                        </p:tav>
                                      </p:tavLst>
                                    </p:anim>
                                    <p:anim calcmode="lin" valueType="num">
                                      <p:cBhvr>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ppt_x</p:attrName>
                                        </p:attrNameLst>
                                      </p:cBhvr>
                                      <p:tavLst>
                                        <p:tav tm="0">
                                          <p:val>
                                            <p:strVal val="#ppt_x"/>
                                          </p:val>
                                        </p:tav>
                                        <p:tav tm="100000">
                                          <p:val>
                                            <p:strVal val="#ppt_x"/>
                                          </p:val>
                                        </p:tav>
                                      </p:tavLst>
                                    </p:anim>
                                    <p:anim calcmode="lin" valueType="num">
                                      <p:cBhvr>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ppt_x</p:attrName>
                                        </p:attrNameLst>
                                      </p:cBhvr>
                                      <p:tavLst>
                                        <p:tav tm="0">
                                          <p:val>
                                            <p:strVal val="#ppt_x"/>
                                          </p:val>
                                        </p:tav>
                                        <p:tav tm="100000">
                                          <p:val>
                                            <p:strVal val="#ppt_x"/>
                                          </p:val>
                                        </p:tav>
                                      </p:tavLst>
                                    </p:anim>
                                    <p:anim calcmode="lin" valueType="num">
                                      <p:cBhvr>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12" grpId="0" bldLvl="0" animBg="1"/>
      <p:bldP spid="11"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ext Box 3"/>
          <p:cNvSpPr txBox="1"/>
          <p:nvPr/>
        </p:nvSpPr>
        <p:spPr>
          <a:xfrm>
            <a:off x="414338" y="1420813"/>
            <a:ext cx="8402637" cy="36353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dirty="0">
                <a:solidFill>
                  <a:srgbClr val="FF0000"/>
                </a:solidFill>
                <a:latin typeface="宋体" panose="02010600030101010101" pitchFamily="2" charset="-122"/>
              </a:rPr>
              <a:t>    </a:t>
            </a:r>
            <a:r>
              <a:rPr lang="zh-CN" altLang="en-US" sz="2400" u="sng" dirty="0">
                <a:solidFill>
                  <a:srgbClr val="0033CC"/>
                </a:solidFill>
                <a:latin typeface="宋体" panose="02010600030101010101" pitchFamily="2" charset="-122"/>
              </a:rPr>
              <a:t>定义：如果</a:t>
            </a:r>
            <a:r>
              <a:rPr lang="en-US" altLang="zh-CN" sz="2400" u="sng" dirty="0">
                <a:solidFill>
                  <a:srgbClr val="0033CC"/>
                </a:solidFill>
                <a:latin typeface="宋体" panose="02010600030101010101" pitchFamily="2" charset="-122"/>
              </a:rPr>
              <a:t>R(U,F)</a:t>
            </a:r>
            <a:r>
              <a:rPr lang="zh-CN" altLang="en-US" sz="2400" u="sng" dirty="0">
                <a:solidFill>
                  <a:srgbClr val="0033CC"/>
                </a:solidFill>
              </a:rPr>
              <a:t>∈</a:t>
            </a:r>
            <a:r>
              <a:rPr lang="en-US" altLang="zh-CN" sz="2400" u="sng" dirty="0">
                <a:solidFill>
                  <a:srgbClr val="0033CC"/>
                </a:solidFill>
              </a:rPr>
              <a:t>1NF</a:t>
            </a:r>
            <a:r>
              <a:rPr lang="zh-CN" altLang="en-US" sz="2400" u="sng" dirty="0">
                <a:solidFill>
                  <a:srgbClr val="0033CC"/>
                </a:solidFill>
              </a:rPr>
              <a:t>，并且</a:t>
            </a:r>
            <a:r>
              <a:rPr lang="en-US" altLang="zh-CN" sz="2400" u="sng" dirty="0">
                <a:solidFill>
                  <a:srgbClr val="0033CC"/>
                </a:solidFill>
              </a:rPr>
              <a:t>R</a:t>
            </a:r>
            <a:r>
              <a:rPr lang="zh-CN" altLang="en-US" sz="2400" u="sng" dirty="0">
                <a:solidFill>
                  <a:srgbClr val="0033CC"/>
                </a:solidFill>
              </a:rPr>
              <a:t>中的每个非主属性都完全函数依赖于候选键，则</a:t>
            </a:r>
            <a:r>
              <a:rPr lang="en-US" altLang="zh-CN" sz="2400" u="sng" dirty="0">
                <a:solidFill>
                  <a:srgbClr val="0033CC"/>
                </a:solidFill>
              </a:rPr>
              <a:t>R(U,F) </a:t>
            </a:r>
            <a:r>
              <a:rPr lang="zh-CN" altLang="en-US" sz="2400" u="sng" dirty="0">
                <a:solidFill>
                  <a:srgbClr val="0033CC"/>
                </a:solidFill>
              </a:rPr>
              <a:t>∈</a:t>
            </a:r>
            <a:r>
              <a:rPr lang="en-US" altLang="zh-CN" sz="2400" u="sng" dirty="0">
                <a:solidFill>
                  <a:srgbClr val="0033CC"/>
                </a:solidFill>
              </a:rPr>
              <a:t>2NF</a:t>
            </a:r>
            <a:r>
              <a:rPr lang="zh-CN" altLang="en-US" sz="2400" u="sng" dirty="0">
                <a:solidFill>
                  <a:srgbClr val="0033CC"/>
                </a:solidFill>
              </a:rPr>
              <a:t> </a:t>
            </a:r>
            <a:r>
              <a:rPr lang="zh-CN" altLang="en-US" sz="2400" u="sng" dirty="0">
                <a:solidFill>
                  <a:srgbClr val="0033CC"/>
                </a:solidFill>
                <a:latin typeface="宋体" panose="02010600030101010101" pitchFamily="2" charset="-122"/>
              </a:rPr>
              <a:t>。</a:t>
            </a:r>
            <a:endParaRPr lang="zh-CN" altLang="en-US" sz="2400" u="sng" dirty="0">
              <a:solidFill>
                <a:srgbClr val="0033CC"/>
              </a:solidFill>
              <a:latin typeface="宋体" panose="02010600030101010101" pitchFamily="2" charset="-122"/>
            </a:endParaRPr>
          </a:p>
          <a:p>
            <a:pPr marL="0" lvl="0" indent="0" eaLnBrk="1" hangingPunct="1">
              <a:lnSpc>
                <a:spcPct val="140000"/>
              </a:lnSpc>
              <a:spcBef>
                <a:spcPct val="40000"/>
              </a:spcBef>
              <a:buClrTx/>
              <a:buSzTx/>
              <a:buNone/>
            </a:pPr>
            <a:r>
              <a:rPr lang="zh-CN" altLang="en-US" dirty="0">
                <a:solidFill>
                  <a:srgbClr val="FF3300"/>
                </a:solidFill>
                <a:latin typeface="宋体" panose="02010600030101010101" pitchFamily="2" charset="-122"/>
              </a:rPr>
              <a:t>    </a:t>
            </a:r>
            <a:r>
              <a:rPr lang="zh-CN" altLang="en-US" sz="2200" dirty="0">
                <a:latin typeface="宋体" panose="02010600030101010101" pitchFamily="2" charset="-122"/>
              </a:rPr>
              <a:t>从以上定义可以看出，若某个第一范式关系的主键只由一个列组成，则这个关系就是第二范式关系。但如果某个第一范式关系的主键由多个属性列共同构成复合主键，并且存在非主属性对主键的部分函数依赖，则这个关系就不是第二范式关系。</a:t>
            </a:r>
            <a:endParaRPr lang="zh-CN" altLang="en-US" sz="2200" dirty="0">
              <a:latin typeface="宋体" panose="02010600030101010101" pitchFamily="2" charset="-122"/>
            </a:endParaRPr>
          </a:p>
          <a:p>
            <a:pPr marL="0" lvl="0" indent="0" eaLnBrk="1" hangingPunct="1">
              <a:lnSpc>
                <a:spcPct val="140000"/>
              </a:lnSpc>
              <a:spcBef>
                <a:spcPct val="40000"/>
              </a:spcBef>
              <a:buClrTx/>
              <a:buSzTx/>
              <a:buNone/>
            </a:pPr>
            <a:r>
              <a:rPr lang="zh-CN" altLang="en-US" dirty="0">
                <a:solidFill>
                  <a:srgbClr val="FF3300"/>
                </a:solidFill>
                <a:latin typeface="宋体" panose="02010600030101010101" pitchFamily="2" charset="-122"/>
              </a:rPr>
              <a:t>    </a:t>
            </a:r>
            <a:endParaRPr lang="zh-CN" altLang="en-US" dirty="0"/>
          </a:p>
        </p:txBody>
      </p:sp>
      <p:sp>
        <p:nvSpPr>
          <p:cNvPr id="35843" name="Rectangle 7"/>
          <p:cNvSpPr/>
          <p:nvPr/>
        </p:nvSpPr>
        <p:spPr>
          <a:xfrm>
            <a:off x="515938" y="820738"/>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、关系数据库的第二范式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35844"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29702" name="Text Box 3"/>
          <p:cNvSpPr txBox="1"/>
          <p:nvPr/>
        </p:nvSpPr>
        <p:spPr>
          <a:xfrm>
            <a:off x="371475" y="4451350"/>
            <a:ext cx="8402638" cy="5699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dirty="0">
                <a:solidFill>
                  <a:srgbClr val="FF0000"/>
                </a:solidFill>
                <a:latin typeface="宋体" panose="02010600030101010101" pitchFamily="2" charset="-122"/>
              </a:rPr>
              <a:t>    </a:t>
            </a:r>
            <a:r>
              <a:rPr lang="zh-CN" altLang="en-US" sz="2400" u="sng" dirty="0">
                <a:solidFill>
                  <a:srgbClr val="FF3300"/>
                </a:solidFill>
                <a:latin typeface="宋体" panose="02010600030101010101" pitchFamily="2" charset="-122"/>
              </a:rPr>
              <a:t>例</a:t>
            </a:r>
            <a:r>
              <a:rPr lang="en-US" altLang="zh-CN" sz="2400" u="sng" dirty="0">
                <a:solidFill>
                  <a:srgbClr val="FF3300"/>
                </a:solidFill>
                <a:latin typeface="宋体" panose="02010600030101010101" pitchFamily="2" charset="-122"/>
              </a:rPr>
              <a:t>1</a:t>
            </a:r>
            <a:r>
              <a:rPr lang="zh-CN" altLang="en-US" sz="2400" u="sng" dirty="0">
                <a:solidFill>
                  <a:srgbClr val="FF3300"/>
                </a:solidFill>
                <a:latin typeface="宋体" panose="02010600030101010101" pitchFamily="2" charset="-122"/>
              </a:rPr>
              <a:t>：</a:t>
            </a:r>
            <a:r>
              <a:rPr lang="zh-CN" altLang="en-US" dirty="0">
                <a:latin typeface="宋体" panose="02010600030101010101" pitchFamily="2" charset="-122"/>
                <a:sym typeface="Arial" panose="020B0604020202020204" pitchFamily="34" charset="0"/>
              </a:rPr>
              <a:t>关系</a:t>
            </a:r>
            <a:r>
              <a:rPr lang="en-US" altLang="zh-CN" dirty="0">
                <a:latin typeface="宋体" panose="02010600030101010101" pitchFamily="2" charset="-122"/>
              </a:rPr>
              <a:t>S-L-C</a:t>
            </a:r>
            <a:r>
              <a:rPr lang="zh-CN" altLang="en-US" dirty="0">
                <a:latin typeface="宋体" panose="02010600030101010101" pitchFamily="2" charset="-122"/>
              </a:rPr>
              <a:t>（</a:t>
            </a:r>
            <a:r>
              <a:rPr lang="en-US" altLang="zh-CN" dirty="0">
                <a:latin typeface="宋体" panose="02010600030101010101" pitchFamily="2" charset="-122"/>
              </a:rPr>
              <a:t>Sno,Sname,Ssex,Sdept,Sloc,Cno,Grade)</a:t>
            </a:r>
            <a:r>
              <a:rPr lang="zh-CN" altLang="en-US" dirty="0">
                <a:latin typeface="宋体" panose="02010600030101010101" pitchFamily="2" charset="-122"/>
              </a:rPr>
              <a:t>。</a:t>
            </a:r>
            <a:endParaRPr lang="zh-CN" altLang="en-US" dirty="0"/>
          </a:p>
        </p:txBody>
      </p:sp>
      <p:grpSp>
        <p:nvGrpSpPr>
          <p:cNvPr id="3" name="组合 4"/>
          <p:cNvGrpSpPr/>
          <p:nvPr/>
        </p:nvGrpSpPr>
        <p:grpSpPr>
          <a:xfrm>
            <a:off x="369888" y="5021263"/>
            <a:ext cx="8402637" cy="968375"/>
            <a:chOff x="583" y="7908"/>
            <a:chExt cx="13232" cy="1524"/>
          </a:xfrm>
        </p:grpSpPr>
        <p:sp>
          <p:nvSpPr>
            <p:cNvPr id="35847" name="Text Box 3"/>
            <p:cNvSpPr txBox="1"/>
            <p:nvPr/>
          </p:nvSpPr>
          <p:spPr>
            <a:xfrm>
              <a:off x="583" y="7907"/>
              <a:ext cx="13232" cy="1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dirty="0">
                  <a:solidFill>
                    <a:srgbClr val="FF0000"/>
                  </a:solidFill>
                  <a:latin typeface="宋体" panose="02010600030101010101" pitchFamily="2" charset="-122"/>
                </a:rPr>
                <a:t>   </a:t>
              </a:r>
              <a:r>
                <a:rPr lang="zh-CN" altLang="en-US" dirty="0">
                  <a:latin typeface="宋体" panose="02010600030101010101" pitchFamily="2" charset="-122"/>
                </a:rPr>
                <a:t> 不是第二范式关系。因为（</a:t>
              </a:r>
              <a:r>
                <a:rPr lang="en-US" altLang="zh-CN" dirty="0"/>
                <a:t>Sno</a:t>
              </a:r>
              <a:r>
                <a:rPr lang="zh-CN" altLang="en-US" dirty="0"/>
                <a:t>，</a:t>
              </a:r>
              <a:r>
                <a:rPr lang="en-US" altLang="zh-CN" dirty="0"/>
                <a:t>Cno</a:t>
              </a:r>
              <a:r>
                <a:rPr lang="zh-CN" altLang="en-US" dirty="0">
                  <a:latin typeface="宋体" panose="02010600030101010101" pitchFamily="2" charset="-122"/>
                </a:rPr>
                <a:t>）是主键，且有</a:t>
              </a:r>
              <a:r>
                <a:rPr lang="en-US" altLang="zh-CN" dirty="0">
                  <a:latin typeface="宋体" panose="02010600030101010101" pitchFamily="2" charset="-122"/>
                </a:rPr>
                <a:t>Sno→Sname,</a:t>
              </a:r>
              <a:endParaRPr lang="en-US" altLang="zh-CN" dirty="0">
                <a:latin typeface="宋体" panose="02010600030101010101" pitchFamily="2" charset="-122"/>
              </a:endParaRPr>
            </a:p>
            <a:p>
              <a:pPr marL="0" lvl="0" indent="0" eaLnBrk="1" hangingPunct="1">
                <a:lnSpc>
                  <a:spcPct val="130000"/>
                </a:lnSpc>
                <a:spcBef>
                  <a:spcPct val="25000"/>
                </a:spcBef>
                <a:buClrTx/>
                <a:buSzTx/>
                <a:buNone/>
              </a:pPr>
              <a:r>
                <a:rPr lang="en-US" altLang="zh-CN" dirty="0">
                  <a:latin typeface="宋体" panose="02010600030101010101" pitchFamily="2" charset="-122"/>
                </a:rPr>
                <a:t>    </a:t>
              </a:r>
              <a:r>
                <a:rPr lang="zh-CN" altLang="en-US" dirty="0">
                  <a:latin typeface="宋体" panose="02010600030101010101" pitchFamily="2" charset="-122"/>
                </a:rPr>
                <a:t>所以</a:t>
              </a:r>
              <a:endParaRPr lang="zh-CN" altLang="en-US" dirty="0"/>
            </a:p>
          </p:txBody>
        </p:sp>
        <p:graphicFrame>
          <p:nvGraphicFramePr>
            <p:cNvPr id="35848" name="对象 30725"/>
            <p:cNvGraphicFramePr>
              <a:graphicFrameLocks noChangeAspect="1"/>
            </p:cNvGraphicFramePr>
            <p:nvPr/>
          </p:nvGraphicFramePr>
          <p:xfrm>
            <a:off x="2582" y="8705"/>
            <a:ext cx="3999" cy="604"/>
          </p:xfrm>
          <a:graphic>
            <a:graphicData uri="http://schemas.openxmlformats.org/presentationml/2006/ole">
              <mc:AlternateContent xmlns:mc="http://schemas.openxmlformats.org/markup-compatibility/2006">
                <mc:Choice xmlns:v="urn:schemas-microsoft-com:vml" Requires="v">
                  <p:oleObj spid="_x0000_s3083" name="" r:id="rId1" imgW="1511935" imgH="228600" progId="Equation.3">
                    <p:embed/>
                  </p:oleObj>
                </mc:Choice>
                <mc:Fallback>
                  <p:oleObj name="" r:id="rId1" imgW="1511935" imgH="228600" progId="Equation.3">
                    <p:embed/>
                    <p:pic>
                      <p:nvPicPr>
                        <p:cNvPr id="0" name="图片 3082"/>
                        <p:cNvPicPr/>
                        <p:nvPr/>
                      </p:nvPicPr>
                      <p:blipFill>
                        <a:blip r:embed="rId2"/>
                        <a:stretch>
                          <a:fillRect/>
                        </a:stretch>
                      </p:blipFill>
                      <p:spPr>
                        <a:xfrm>
                          <a:off x="2582" y="8705"/>
                          <a:ext cx="3999" cy="604"/>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702"/>
                                        </p:tgtEl>
                                        <p:attrNameLst>
                                          <p:attrName>style.visibility</p:attrName>
                                        </p:attrNameLst>
                                      </p:cBhvr>
                                      <p:to>
                                        <p:strVal val="visible"/>
                                      </p:to>
                                    </p:set>
                                    <p:anim calcmode="lin" valueType="num">
                                      <p:cBhvr additive="base">
                                        <p:cTn id="7" dur="500" fill="hold"/>
                                        <p:tgtEl>
                                          <p:spTgt spid="29702"/>
                                        </p:tgtEl>
                                        <p:attrNameLst>
                                          <p:attrName>ppt_x</p:attrName>
                                        </p:attrNameLst>
                                      </p:cBhvr>
                                      <p:tavLst>
                                        <p:tav tm="0">
                                          <p:val>
                                            <p:strVal val="#ppt_x"/>
                                          </p:val>
                                        </p:tav>
                                        <p:tav tm="100000">
                                          <p:val>
                                            <p:strVal val="#ppt_x"/>
                                          </p:val>
                                        </p:tav>
                                      </p:tavLst>
                                    </p:anim>
                                    <p:anim calcmode="lin" valueType="num">
                                      <p:cBhvr additive="base">
                                        <p:cTn id="8" dur="500" fill="hold"/>
                                        <p:tgtEl>
                                          <p:spTgt spid="2970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Text Box 2"/>
          <p:cNvSpPr txBox="1"/>
          <p:nvPr/>
        </p:nvSpPr>
        <p:spPr>
          <a:xfrm>
            <a:off x="492125" y="1303338"/>
            <a:ext cx="8402638" cy="21256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10000"/>
              </a:spcBef>
              <a:buClrTx/>
              <a:buSzTx/>
              <a:buNone/>
            </a:pPr>
            <a:r>
              <a:rPr lang="zh-CN" altLang="en-US" dirty="0">
                <a:solidFill>
                  <a:srgbClr val="FF0000"/>
                </a:solidFill>
                <a:latin typeface="宋体" panose="02010600030101010101" pitchFamily="2" charset="-122"/>
              </a:rPr>
              <a:t>    </a:t>
            </a:r>
            <a:r>
              <a:rPr lang="zh-CN" altLang="en-US" sz="2100" dirty="0">
                <a:latin typeface="宋体" panose="02010600030101010101" pitchFamily="2" charset="-122"/>
              </a:rPr>
              <a:t>用模式分解的办法可以将非第二范式关系分解为多个第二范式关系。去掉部分依赖关系的分解过程如下：</a:t>
            </a:r>
            <a:endParaRPr lang="zh-CN" altLang="en-US" sz="2100" dirty="0">
              <a:latin typeface="宋体" panose="02010600030101010101" pitchFamily="2" charset="-122"/>
            </a:endParaRPr>
          </a:p>
          <a:p>
            <a:pPr marL="0" lvl="0" indent="0" eaLnBrk="1" hangingPunct="1">
              <a:lnSpc>
                <a:spcPct val="125000"/>
              </a:lnSpc>
              <a:spcBef>
                <a:spcPct val="10000"/>
              </a:spcBef>
              <a:buClrTx/>
              <a:buSzTx/>
              <a:buNone/>
            </a:pPr>
            <a:r>
              <a:rPr lang="en-US" altLang="zh-CN" dirty="0">
                <a:latin typeface="宋体" panose="02010600030101010101" pitchFamily="2" charset="-122"/>
              </a:rPr>
              <a:t>    </a:t>
            </a:r>
            <a:r>
              <a:rPr lang="en-US" altLang="zh-CN" u="sng" dirty="0">
                <a:solidFill>
                  <a:srgbClr val="0033CC"/>
                </a:solidFill>
              </a:rPr>
              <a:t>① </a:t>
            </a:r>
            <a:r>
              <a:rPr lang="zh-CN" altLang="en-US" u="sng" dirty="0">
                <a:solidFill>
                  <a:srgbClr val="0033CC"/>
                </a:solidFill>
              </a:rPr>
              <a:t>用组成主键的属性集合的每一个子集作为主键构成一个关系。</a:t>
            </a:r>
            <a:endParaRPr lang="zh-CN" altLang="en-US" u="sng" dirty="0">
              <a:solidFill>
                <a:srgbClr val="0033CC"/>
              </a:solidFill>
            </a:endParaRPr>
          </a:p>
          <a:p>
            <a:pPr marL="0" lvl="0" indent="0" eaLnBrk="1" hangingPunct="1">
              <a:lnSpc>
                <a:spcPct val="125000"/>
              </a:lnSpc>
              <a:spcBef>
                <a:spcPct val="10000"/>
              </a:spcBef>
              <a:buClrTx/>
              <a:buSzTx/>
              <a:buNone/>
            </a:pPr>
            <a:r>
              <a:rPr lang="zh-CN" altLang="en-US" dirty="0">
                <a:solidFill>
                  <a:srgbClr val="0033CC"/>
                </a:solidFill>
              </a:rPr>
              <a:t>       </a:t>
            </a:r>
            <a:r>
              <a:rPr lang="zh-CN" altLang="en-US" u="sng" dirty="0">
                <a:solidFill>
                  <a:srgbClr val="0033CC"/>
                </a:solidFill>
              </a:rPr>
              <a:t> ② 将依赖于这些主键的属性放置到相应的关系中。</a:t>
            </a:r>
            <a:endParaRPr lang="zh-CN" altLang="en-US" u="sng" dirty="0">
              <a:solidFill>
                <a:srgbClr val="0033CC"/>
              </a:solidFill>
            </a:endParaRPr>
          </a:p>
          <a:p>
            <a:pPr marL="0" lvl="0" indent="0" eaLnBrk="1" hangingPunct="1">
              <a:lnSpc>
                <a:spcPct val="125000"/>
              </a:lnSpc>
              <a:spcBef>
                <a:spcPct val="10000"/>
              </a:spcBef>
              <a:buClrTx/>
              <a:buSzTx/>
              <a:buNone/>
            </a:pPr>
            <a:r>
              <a:rPr lang="zh-CN" altLang="en-US" dirty="0">
                <a:solidFill>
                  <a:srgbClr val="0033CC"/>
                </a:solidFill>
              </a:rPr>
              <a:t>       </a:t>
            </a:r>
            <a:r>
              <a:rPr lang="zh-CN" altLang="en-US" u="sng" dirty="0">
                <a:solidFill>
                  <a:srgbClr val="0033CC"/>
                </a:solidFill>
              </a:rPr>
              <a:t> ③ 最后去掉只由主键的子集构成的关系。</a:t>
            </a:r>
            <a:endParaRPr lang="zh-CN" altLang="en-US" u="sng" dirty="0">
              <a:solidFill>
                <a:srgbClr val="0033CC"/>
              </a:solidFill>
            </a:endParaRPr>
          </a:p>
        </p:txBody>
      </p:sp>
      <p:sp>
        <p:nvSpPr>
          <p:cNvPr id="36867" name="Rectangle 3"/>
          <p:cNvSpPr/>
          <p:nvPr/>
        </p:nvSpPr>
        <p:spPr>
          <a:xfrm>
            <a:off x="0" y="3186113"/>
            <a:ext cx="9144000" cy="0"/>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36868" name="Rectangle 7"/>
          <p:cNvSpPr/>
          <p:nvPr/>
        </p:nvSpPr>
        <p:spPr>
          <a:xfrm>
            <a:off x="542925" y="769938"/>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、关系数据库的第二范式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36869"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grpSp>
        <p:nvGrpSpPr>
          <p:cNvPr id="2" name="组合 31749"/>
          <p:cNvGrpSpPr/>
          <p:nvPr/>
        </p:nvGrpSpPr>
        <p:grpSpPr>
          <a:xfrm>
            <a:off x="477838" y="2884488"/>
            <a:ext cx="8402637" cy="3295650"/>
            <a:chOff x="0" y="0"/>
            <a:chExt cx="13232" cy="5191"/>
          </a:xfrm>
        </p:grpSpPr>
        <p:graphicFrame>
          <p:nvGraphicFramePr>
            <p:cNvPr id="36871" name="对象 31750"/>
            <p:cNvGraphicFramePr>
              <a:graphicFrameLocks noChangeAspect="1"/>
            </p:cNvGraphicFramePr>
            <p:nvPr/>
          </p:nvGraphicFramePr>
          <p:xfrm>
            <a:off x="130" y="4023"/>
            <a:ext cx="12910" cy="1168"/>
          </p:xfrm>
          <a:graphic>
            <a:graphicData uri="http://schemas.openxmlformats.org/presentationml/2006/ole">
              <mc:AlternateContent xmlns:mc="http://schemas.openxmlformats.org/markup-compatibility/2006">
                <mc:Choice xmlns:v="urn:schemas-microsoft-com:vml" Requires="v">
                  <p:oleObj spid="_x0000_s3082" name="" r:id="rId1" imgW="4508500" imgH="482600" progId="Equation.3">
                    <p:embed/>
                  </p:oleObj>
                </mc:Choice>
                <mc:Fallback>
                  <p:oleObj name="" r:id="rId1" imgW="4508500" imgH="482600" progId="Equation.3">
                    <p:embed/>
                    <p:pic>
                      <p:nvPicPr>
                        <p:cNvPr id="0" name="图片 3081"/>
                        <p:cNvPicPr/>
                        <p:nvPr/>
                      </p:nvPicPr>
                      <p:blipFill>
                        <a:blip r:embed="rId2"/>
                        <a:stretch>
                          <a:fillRect/>
                        </a:stretch>
                      </p:blipFill>
                      <p:spPr>
                        <a:xfrm>
                          <a:off x="130" y="4023"/>
                          <a:ext cx="12910" cy="1168"/>
                        </a:xfrm>
                        <a:prstGeom prst="rect">
                          <a:avLst/>
                        </a:prstGeom>
                        <a:noFill/>
                        <a:ln w="38100">
                          <a:noFill/>
                          <a:miter/>
                        </a:ln>
                      </p:spPr>
                    </p:pic>
                  </p:oleObj>
                </mc:Fallback>
              </mc:AlternateContent>
            </a:graphicData>
          </a:graphic>
        </p:graphicFrame>
        <p:sp>
          <p:nvSpPr>
            <p:cNvPr id="36872" name="Text Box 2"/>
            <p:cNvSpPr txBox="1"/>
            <p:nvPr/>
          </p:nvSpPr>
          <p:spPr>
            <a:xfrm>
              <a:off x="0" y="0"/>
              <a:ext cx="13233" cy="38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10000"/>
                </a:spcBef>
                <a:buClrTx/>
                <a:buSzTx/>
                <a:buNone/>
              </a:pPr>
              <a:endParaRPr lang="zh-CN" altLang="en-US" u="sng" dirty="0">
                <a:solidFill>
                  <a:srgbClr val="0033CC"/>
                </a:solidFill>
              </a:endParaRPr>
            </a:p>
            <a:p>
              <a:pPr marL="0" lvl="0" indent="0" eaLnBrk="1" hangingPunct="1">
                <a:lnSpc>
                  <a:spcPct val="130000"/>
                </a:lnSpc>
                <a:spcBef>
                  <a:spcPts val="300"/>
                </a:spcBef>
                <a:buClrTx/>
                <a:buSzTx/>
                <a:buNone/>
              </a:pPr>
              <a:r>
                <a:rPr lang="zh-CN" altLang="en-US" sz="2400" u="sng" dirty="0">
                  <a:solidFill>
                    <a:srgbClr val="FF3300"/>
                  </a:solidFill>
                </a:rPr>
                <a:t> 例：</a:t>
              </a:r>
              <a:r>
                <a:rPr lang="zh-CN" altLang="en-US" sz="2200" dirty="0"/>
                <a:t>对</a:t>
              </a:r>
              <a:r>
                <a:rPr lang="en-US" altLang="zh-CN" sz="2200" dirty="0"/>
                <a:t>S-L-C</a:t>
              </a:r>
              <a:r>
                <a:rPr lang="zh-CN" altLang="en-US" sz="2200" dirty="0"/>
                <a:t>关系进行分解</a:t>
              </a:r>
              <a:endParaRPr lang="zh-CN" altLang="en-US" sz="2200" dirty="0"/>
            </a:p>
            <a:p>
              <a:pPr marL="0" lvl="0" indent="0" eaLnBrk="1" hangingPunct="1">
                <a:lnSpc>
                  <a:spcPct val="120000"/>
                </a:lnSpc>
                <a:spcBef>
                  <a:spcPct val="15000"/>
                </a:spcBef>
                <a:buClrTx/>
                <a:buSzTx/>
                <a:buNone/>
              </a:pPr>
              <a:r>
                <a:rPr lang="en-US" altLang="zh-CN" sz="1800" dirty="0"/>
                <a:t> ① </a:t>
              </a:r>
              <a:r>
                <a:rPr lang="zh-CN" altLang="en-US" sz="1800" dirty="0">
                  <a:latin typeface="黑体" panose="02010609060101010101" pitchFamily="49" charset="-122"/>
                  <a:ea typeface="黑体" panose="02010609060101010101" pitchFamily="49" charset="-122"/>
                </a:rPr>
                <a:t>将关系分解为如下</a:t>
              </a:r>
              <a:r>
                <a:rPr lang="en-US" altLang="zh-CN" sz="1800" dirty="0">
                  <a:latin typeface="黑体" panose="02010609060101010101" pitchFamily="49" charset="-122"/>
                  <a:ea typeface="黑体" panose="02010609060101010101" pitchFamily="49" charset="-122"/>
                </a:rPr>
                <a:t>3</a:t>
              </a:r>
              <a:r>
                <a:rPr lang="zh-CN" altLang="en-US" sz="1800" dirty="0">
                  <a:latin typeface="黑体" panose="02010609060101010101" pitchFamily="49" charset="-122"/>
                  <a:ea typeface="黑体" panose="02010609060101010101" pitchFamily="49" charset="-122"/>
                </a:rPr>
                <a:t>个关系   </a:t>
              </a:r>
              <a:r>
                <a:rPr lang="en-US" altLang="zh-CN" sz="1800" dirty="0">
                  <a:ea typeface="黑体" panose="02010609060101010101" pitchFamily="49" charset="-122"/>
                </a:rPr>
                <a:t>S-L(</a:t>
              </a:r>
              <a:r>
                <a:rPr lang="en-US" altLang="zh-CN" sz="1800" u="sng" dirty="0">
                  <a:ea typeface="黑体" panose="02010609060101010101" pitchFamily="49" charset="-122"/>
                </a:rPr>
                <a:t>Sno</a:t>
              </a:r>
              <a:r>
                <a:rPr lang="en-US" altLang="zh-CN" sz="1800" dirty="0">
                  <a:ea typeface="黑体" panose="02010609060101010101" pitchFamily="49" charset="-122"/>
                </a:rPr>
                <a:t>,…</a:t>
              </a:r>
              <a:r>
                <a:rPr lang="zh-CN" altLang="en-US" sz="1800" dirty="0">
                  <a:ea typeface="黑体" panose="02010609060101010101" pitchFamily="49" charset="-122"/>
                </a:rPr>
                <a:t>）  </a:t>
              </a:r>
              <a:r>
                <a:rPr lang="en-US" altLang="zh-CN" sz="1800" dirty="0">
                  <a:ea typeface="黑体" panose="02010609060101010101" pitchFamily="49" charset="-122"/>
                </a:rPr>
                <a:t>C(</a:t>
              </a:r>
              <a:r>
                <a:rPr lang="en-US" altLang="zh-CN" sz="1800" u="sng" dirty="0">
                  <a:ea typeface="黑体" panose="02010609060101010101" pitchFamily="49" charset="-122"/>
                </a:rPr>
                <a:t>Cno</a:t>
              </a:r>
              <a:r>
                <a:rPr lang="en-US" altLang="zh-CN" sz="1800" dirty="0">
                  <a:ea typeface="黑体" panose="02010609060101010101" pitchFamily="49" charset="-122"/>
                </a:rPr>
                <a:t>,…</a:t>
              </a:r>
              <a:r>
                <a:rPr lang="zh-CN" altLang="en-US" sz="1800" dirty="0">
                  <a:ea typeface="黑体" panose="02010609060101010101" pitchFamily="49" charset="-122"/>
                </a:rPr>
                <a:t>）  </a:t>
              </a:r>
              <a:r>
                <a:rPr lang="en-US" altLang="zh-CN" sz="1800" dirty="0">
                  <a:ea typeface="黑体" panose="02010609060101010101" pitchFamily="49" charset="-122"/>
                </a:rPr>
                <a:t>S-C(</a:t>
              </a:r>
              <a:r>
                <a:rPr lang="en-US" altLang="zh-CN" sz="1800" u="sng" dirty="0">
                  <a:ea typeface="黑体" panose="02010609060101010101" pitchFamily="49" charset="-122"/>
                </a:rPr>
                <a:t>Sno,Cno</a:t>
              </a:r>
              <a:r>
                <a:rPr lang="en-US" altLang="zh-CN" sz="1800" dirty="0">
                  <a:ea typeface="黑体" panose="02010609060101010101" pitchFamily="49" charset="-122"/>
                </a:rPr>
                <a:t>,…</a:t>
              </a:r>
              <a:r>
                <a:rPr lang="zh-CN" altLang="en-US" sz="1800" dirty="0">
                  <a:ea typeface="黑体" panose="02010609060101010101" pitchFamily="49" charset="-122"/>
                </a:rPr>
                <a:t>）</a:t>
              </a:r>
              <a:endParaRPr lang="zh-CN" altLang="en-US" sz="1800" dirty="0">
                <a:ea typeface="黑体" panose="02010609060101010101" pitchFamily="49" charset="-122"/>
              </a:endParaRPr>
            </a:p>
            <a:p>
              <a:pPr marL="0" lvl="0" indent="0" eaLnBrk="1" hangingPunct="1">
                <a:lnSpc>
                  <a:spcPct val="120000"/>
                </a:lnSpc>
                <a:spcBef>
                  <a:spcPct val="15000"/>
                </a:spcBef>
                <a:buClrTx/>
                <a:buSzTx/>
                <a:buNone/>
              </a:pPr>
              <a:r>
                <a:rPr lang="zh-CN" altLang="en-US" sz="1800" dirty="0"/>
                <a:t> ② 将依赖这些主键的属性放置到相应的关系中，形成如下</a:t>
              </a:r>
              <a:r>
                <a:rPr lang="en-US" altLang="zh-CN" sz="1800" dirty="0"/>
                <a:t>3</a:t>
              </a:r>
              <a:r>
                <a:rPr lang="zh-CN" altLang="en-US" sz="1800" dirty="0"/>
                <a:t>个关系</a:t>
              </a:r>
              <a:endParaRPr lang="zh-CN" altLang="en-US" sz="1800" dirty="0"/>
            </a:p>
            <a:p>
              <a:pPr marL="0" lvl="0" indent="0" eaLnBrk="1" hangingPunct="1">
                <a:lnSpc>
                  <a:spcPct val="120000"/>
                </a:lnSpc>
                <a:spcBef>
                  <a:spcPct val="15000"/>
                </a:spcBef>
                <a:buClrTx/>
                <a:buSzTx/>
                <a:buNone/>
              </a:pPr>
              <a:r>
                <a:rPr lang="zh-CN" altLang="en-US" sz="1800" dirty="0"/>
                <a:t>     </a:t>
              </a:r>
              <a:r>
                <a:rPr lang="en-US" altLang="zh-CN" sz="1800" dirty="0"/>
                <a:t>S-L(Sno,Sname,Ssex,Sdept,Sloc)    C(Cno)     S-C(Sno,Cno,Grade)</a:t>
              </a:r>
              <a:endParaRPr lang="en-US" altLang="zh-CN" sz="1800" dirty="0"/>
            </a:p>
            <a:p>
              <a:pPr marL="0" lvl="0" indent="0" eaLnBrk="1" hangingPunct="1">
                <a:lnSpc>
                  <a:spcPct val="120000"/>
                </a:lnSpc>
                <a:spcBef>
                  <a:spcPct val="15000"/>
                </a:spcBef>
                <a:buClrTx/>
                <a:buSzTx/>
                <a:buNone/>
              </a:pPr>
              <a:r>
                <a:rPr lang="zh-CN" altLang="en-US" sz="1800" dirty="0"/>
                <a:t>③ 去掉只有主键的子集构成的关系</a:t>
              </a:r>
              <a:r>
                <a:rPr lang="en-US" altLang="zh-CN" sz="1800" dirty="0"/>
                <a:t>C(Cno) </a:t>
              </a:r>
              <a:r>
                <a:rPr lang="zh-CN" altLang="en-US" sz="1800" dirty="0"/>
                <a:t>，最终得到第二范式关系：</a:t>
              </a:r>
              <a:endParaRPr lang="zh-CN" altLang="en-US" sz="1800"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7"/>
          <p:cNvSpPr/>
          <p:nvPr/>
        </p:nvSpPr>
        <p:spPr>
          <a:xfrm>
            <a:off x="471488" y="750888"/>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、关系数据库的第二范式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37891"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37892" name="文本框 99"/>
          <p:cNvSpPr txBox="1"/>
          <p:nvPr/>
        </p:nvSpPr>
        <p:spPr>
          <a:xfrm>
            <a:off x="609600" y="1404938"/>
            <a:ext cx="7967663" cy="16271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spcBef>
                <a:spcPct val="0"/>
              </a:spcBef>
              <a:buClrTx/>
              <a:buSzTx/>
              <a:buFont typeface="Wingdings" panose="05000000000000000000" pitchFamily="2" charset="2"/>
              <a:buChar char="p"/>
            </a:pPr>
            <a:r>
              <a:rPr lang="zh-CN" altLang="en-US" sz="2400" u="sng" dirty="0">
                <a:solidFill>
                  <a:srgbClr val="0033CC"/>
                </a:solidFill>
              </a:rPr>
              <a:t>课堂练习：</a:t>
            </a:r>
            <a:r>
              <a:rPr lang="zh-CN" altLang="en-US" dirty="0">
                <a:solidFill>
                  <a:srgbClr val="000000"/>
                </a:solidFill>
              </a:rPr>
              <a:t>设工厂里有一个记录职工每天日产量的关系模式：</a:t>
            </a:r>
            <a:r>
              <a:rPr lang="en-US" altLang="zh-CN" dirty="0">
                <a:solidFill>
                  <a:srgbClr val="000000"/>
                </a:solidFill>
              </a:rPr>
              <a:t>R</a:t>
            </a:r>
            <a:r>
              <a:rPr lang="zh-CN" altLang="en-US" dirty="0">
                <a:solidFill>
                  <a:srgbClr val="000000"/>
                </a:solidFill>
                <a:latin typeface="宋体" panose="02010600030101010101" pitchFamily="2" charset="-122"/>
              </a:rPr>
              <a:t>（职工编号，日期，日产量，车间编号）。</a:t>
            </a:r>
            <a:r>
              <a:rPr lang="zh-CN" altLang="en-US" dirty="0">
                <a:solidFill>
                  <a:srgbClr val="000000"/>
                </a:solidFill>
              </a:rPr>
              <a:t> </a:t>
            </a:r>
            <a:r>
              <a:rPr lang="zh-CN" altLang="en-US" dirty="0">
                <a:solidFill>
                  <a:srgbClr val="000000"/>
                </a:solidFill>
                <a:latin typeface="宋体" panose="02010600030101010101" pitchFamily="2" charset="-122"/>
              </a:rPr>
              <a:t>如果规定：每个职工每天只有一个日产量；每个职工只能隶属于一个车间。分析</a:t>
            </a:r>
            <a:r>
              <a:rPr lang="en-US" altLang="zh-CN" dirty="0">
                <a:solidFill>
                  <a:srgbClr val="000000"/>
                </a:solidFill>
              </a:rPr>
              <a:t>R</a:t>
            </a:r>
            <a:r>
              <a:rPr lang="zh-CN" altLang="en-US" dirty="0">
                <a:solidFill>
                  <a:srgbClr val="000000"/>
                </a:solidFill>
                <a:latin typeface="宋体" panose="02010600030101010101" pitchFamily="2" charset="-122"/>
              </a:rPr>
              <a:t>是否达到</a:t>
            </a:r>
            <a:r>
              <a:rPr lang="en-US" altLang="zh-CN" dirty="0">
                <a:solidFill>
                  <a:srgbClr val="000000"/>
                </a:solidFill>
                <a:latin typeface="宋体" panose="02010600030101010101" pitchFamily="2" charset="-122"/>
              </a:rPr>
              <a:t>2</a:t>
            </a:r>
            <a:r>
              <a:rPr lang="en-US" altLang="zh-CN" dirty="0">
                <a:solidFill>
                  <a:srgbClr val="000000"/>
                </a:solidFill>
              </a:rPr>
              <a:t>NF</a:t>
            </a:r>
            <a:r>
              <a:rPr lang="zh-CN" altLang="en-US" dirty="0">
                <a:solidFill>
                  <a:srgbClr val="000000"/>
                </a:solidFill>
                <a:latin typeface="宋体" panose="02010600030101010101" pitchFamily="2" charset="-122"/>
              </a:rPr>
              <a:t>，如果没有请对其进行分解，使分解后的关系模式达到</a:t>
            </a:r>
            <a:r>
              <a:rPr lang="en-US" altLang="zh-CN" dirty="0">
                <a:solidFill>
                  <a:srgbClr val="000000"/>
                </a:solidFill>
                <a:latin typeface="宋体" panose="02010600030101010101" pitchFamily="2" charset="-122"/>
              </a:rPr>
              <a:t>2</a:t>
            </a:r>
            <a:r>
              <a:rPr lang="en-US" altLang="zh-CN" dirty="0">
                <a:solidFill>
                  <a:srgbClr val="000000"/>
                </a:solidFill>
              </a:rPr>
              <a:t>NF</a:t>
            </a:r>
            <a:r>
              <a:rPr lang="zh-CN" altLang="en-US" dirty="0">
                <a:solidFill>
                  <a:srgbClr val="000000"/>
                </a:solidFill>
                <a:latin typeface="宋体" panose="02010600030101010101" pitchFamily="2" charset="-122"/>
              </a:rPr>
              <a:t>。</a:t>
            </a:r>
            <a:endParaRPr lang="zh-CN" altLang="en-US" dirty="0"/>
          </a:p>
        </p:txBody>
      </p:sp>
      <p:graphicFrame>
        <p:nvGraphicFramePr>
          <p:cNvPr id="5" name="对象 4"/>
          <p:cNvGraphicFramePr/>
          <p:nvPr/>
        </p:nvGraphicFramePr>
        <p:xfrm>
          <a:off x="527050" y="3546475"/>
          <a:ext cx="8134350" cy="2000250"/>
        </p:xfrm>
        <a:graphic>
          <a:graphicData uri="http://schemas.openxmlformats.org/presentationml/2006/ole">
            <mc:AlternateContent xmlns:mc="http://schemas.openxmlformats.org/markup-compatibility/2006">
              <mc:Choice xmlns:v="urn:schemas-microsoft-com:vml" Requires="v">
                <p:oleObj spid="_x0000_s3081" name="" r:id="rId1" imgW="9067800" imgH="2105025" progId="Paint.Picture">
                  <p:embed/>
                </p:oleObj>
              </mc:Choice>
              <mc:Fallback>
                <p:oleObj name="" r:id="rId1" imgW="9067800" imgH="2105025" progId="Paint.Picture">
                  <p:embed/>
                  <p:pic>
                    <p:nvPicPr>
                      <p:cNvPr id="0" name="图片 3080"/>
                      <p:cNvPicPr/>
                      <p:nvPr/>
                    </p:nvPicPr>
                    <p:blipFill>
                      <a:blip r:embed="rId2"/>
                      <a:stretch>
                        <a:fillRect/>
                      </a:stretch>
                    </p:blipFill>
                    <p:spPr>
                      <a:xfrm>
                        <a:off x="527050" y="3546475"/>
                        <a:ext cx="8134350" cy="200025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0">
                                          <p:val>
                                            <p:strVal val="#ppt_x"/>
                                          </p:val>
                                        </p:tav>
                                        <p:tav tm="100000">
                                          <p:val>
                                            <p:strVal val="#ppt_x"/>
                                          </p:val>
                                        </p:tav>
                                      </p:tavLst>
                                    </p:anim>
                                    <p:anim calcmode="lin" valueType="num">
                                      <p:cBhvr>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p:nvPr/>
        </p:nvSpPr>
        <p:spPr>
          <a:xfrm>
            <a:off x="471488" y="750888"/>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、关系数据库的第二范式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38915"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38916" name="Rectangle 3" descr="Rectangle: Click to edit Master text styles&#10;Second level&#10;Third level&#10;Fourth level&#10;Fifth level"/>
          <p:cNvSpPr txBox="1"/>
          <p:nvPr/>
        </p:nvSpPr>
        <p:spPr>
          <a:xfrm>
            <a:off x="590550" y="1841500"/>
            <a:ext cx="8194675" cy="184467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ts val="600"/>
              </a:spcBef>
              <a:buClrTx/>
              <a:buSzTx/>
              <a:buNone/>
            </a:pPr>
            <a:r>
              <a:rPr lang="zh-CN" altLang="en-US" sz="2400" dirty="0">
                <a:solidFill>
                  <a:srgbClr val="0033CC"/>
                </a:solidFill>
              </a:rPr>
              <a:t>关系 </a:t>
            </a:r>
            <a:r>
              <a:rPr lang="en-US" altLang="zh-CN" sz="2400" dirty="0">
                <a:solidFill>
                  <a:srgbClr val="0033CC"/>
                </a:solidFill>
              </a:rPr>
              <a:t>R (Sid, Cid</a:t>
            </a:r>
            <a:r>
              <a:rPr lang="en-US" altLang="zh-CN" sz="2400" dirty="0">
                <a:solidFill>
                  <a:srgbClr val="0033CC"/>
                </a:solidFill>
                <a:sym typeface="宋体" panose="02010600030101010101" pitchFamily="2" charset="-122"/>
              </a:rPr>
              <a:t>, </a:t>
            </a:r>
            <a:r>
              <a:rPr lang="en-US" altLang="zh-CN" sz="2400" dirty="0">
                <a:solidFill>
                  <a:srgbClr val="0033CC"/>
                </a:solidFill>
              </a:rPr>
              <a:t>CName</a:t>
            </a:r>
            <a:r>
              <a:rPr lang="en-US" altLang="zh-CN" sz="2400" dirty="0">
                <a:solidFill>
                  <a:srgbClr val="0033CC"/>
                </a:solidFill>
                <a:sym typeface="宋体" panose="02010600030101010101" pitchFamily="2" charset="-122"/>
              </a:rPr>
              <a:t>, </a:t>
            </a:r>
            <a:r>
              <a:rPr lang="en-US" altLang="zh-CN" sz="2400" dirty="0">
                <a:solidFill>
                  <a:srgbClr val="0033CC"/>
                </a:solidFill>
              </a:rPr>
              <a:t>Score</a:t>
            </a:r>
            <a:r>
              <a:rPr lang="en-US" altLang="zh-CN" sz="2400" dirty="0">
                <a:solidFill>
                  <a:srgbClr val="0033CC"/>
                </a:solidFill>
                <a:sym typeface="宋体" panose="02010600030101010101" pitchFamily="2" charset="-122"/>
              </a:rPr>
              <a:t>, </a:t>
            </a:r>
            <a:r>
              <a:rPr lang="en-US" altLang="zh-CN" sz="2400" dirty="0">
                <a:solidFill>
                  <a:srgbClr val="0033CC"/>
                </a:solidFill>
              </a:rPr>
              <a:t>TID</a:t>
            </a:r>
            <a:r>
              <a:rPr lang="en-US" altLang="zh-CN" sz="2400" dirty="0">
                <a:solidFill>
                  <a:srgbClr val="0033CC"/>
                </a:solidFill>
                <a:sym typeface="宋体" panose="02010600030101010101" pitchFamily="2" charset="-122"/>
              </a:rPr>
              <a:t>, </a:t>
            </a:r>
            <a:r>
              <a:rPr lang="en-US" altLang="zh-CN" sz="2400" dirty="0">
                <a:solidFill>
                  <a:srgbClr val="0033CC"/>
                </a:solidFill>
              </a:rPr>
              <a:t>TName,Tphone)</a:t>
            </a:r>
            <a:endParaRPr lang="en-US" altLang="zh-CN" sz="2400" dirty="0">
              <a:solidFill>
                <a:srgbClr val="0033CC"/>
              </a:solidFill>
            </a:endParaRPr>
          </a:p>
          <a:p>
            <a:pPr marL="0" lvl="0" indent="0">
              <a:spcBef>
                <a:spcPts val="600"/>
              </a:spcBef>
              <a:buFont typeface="Arial" panose="020B0604020202020204" pitchFamily="34" charset="0"/>
              <a:buNone/>
            </a:pPr>
            <a:r>
              <a:rPr lang="zh-CN" altLang="en-US" sz="2400" dirty="0"/>
              <a:t>其中</a:t>
            </a:r>
            <a:r>
              <a:rPr lang="en-US" altLang="zh-CN" sz="2400" dirty="0"/>
              <a:t>: </a:t>
            </a:r>
            <a:r>
              <a:rPr lang="en-US" altLang="zh-CN" sz="2200" dirty="0"/>
              <a:t>Sid</a:t>
            </a:r>
            <a:r>
              <a:rPr lang="zh-CN" altLang="en-US" sz="2200" dirty="0"/>
              <a:t>是学生学号；</a:t>
            </a:r>
            <a:r>
              <a:rPr lang="en-US" altLang="zh-CN" sz="2200" dirty="0"/>
              <a:t>Cid</a:t>
            </a:r>
            <a:r>
              <a:rPr lang="zh-CN" altLang="en-US" sz="2200" dirty="0"/>
              <a:t>是课程号；</a:t>
            </a:r>
            <a:r>
              <a:rPr lang="en-US" altLang="zh-CN" sz="2200" dirty="0"/>
              <a:t>CName </a:t>
            </a:r>
            <a:r>
              <a:rPr lang="zh-CN" altLang="en-US" sz="2200" dirty="0"/>
              <a:t>课程名；</a:t>
            </a:r>
            <a:r>
              <a:rPr lang="en-US" altLang="zh-CN" sz="2200" dirty="0"/>
              <a:t>Score</a:t>
            </a:r>
            <a:r>
              <a:rPr lang="zh-CN" altLang="zh-CN" sz="2200" dirty="0"/>
              <a:t>成绩，</a:t>
            </a:r>
            <a:r>
              <a:rPr lang="en-US" altLang="zh-CN" sz="2200" dirty="0"/>
              <a:t>TID</a:t>
            </a:r>
            <a:r>
              <a:rPr lang="zh-CN" altLang="zh-CN" sz="2200" dirty="0"/>
              <a:t>教师编号，</a:t>
            </a:r>
            <a:r>
              <a:rPr lang="en-US" altLang="zh-CN" sz="2200" dirty="0"/>
              <a:t>TName </a:t>
            </a:r>
            <a:r>
              <a:rPr lang="zh-CN" altLang="en-US" sz="2200" dirty="0"/>
              <a:t>任课教师姓名，</a:t>
            </a:r>
            <a:r>
              <a:rPr lang="en-US" altLang="zh-CN" sz="2200" dirty="0"/>
              <a:t>Tphone</a:t>
            </a:r>
            <a:r>
              <a:rPr lang="zh-CN" altLang="zh-CN" sz="2200" dirty="0"/>
              <a:t>联系电话</a:t>
            </a:r>
            <a:r>
              <a:rPr lang="zh-CN" altLang="en-US" sz="2400" dirty="0"/>
              <a:t>。</a:t>
            </a:r>
            <a:endParaRPr lang="zh-CN" altLang="en-US" sz="2400" dirty="0"/>
          </a:p>
          <a:p>
            <a:pPr marL="0" lvl="0" indent="0">
              <a:spcBef>
                <a:spcPts val="600"/>
              </a:spcBef>
              <a:buFont typeface="Arial" panose="020B0604020202020204" pitchFamily="34" charset="0"/>
              <a:buNone/>
            </a:pPr>
            <a:r>
              <a:rPr lang="zh-CN" altLang="en-US" sz="2400" dirty="0"/>
              <a:t>规定：一门课只有一位教师上，一位教师也只上一门课。</a:t>
            </a:r>
            <a:endParaRPr lang="zh-CN" altLang="en-US" sz="2400" dirty="0"/>
          </a:p>
        </p:txBody>
      </p:sp>
      <p:sp>
        <p:nvSpPr>
          <p:cNvPr id="38917" name="文本框 3"/>
          <p:cNvSpPr txBox="1"/>
          <p:nvPr/>
        </p:nvSpPr>
        <p:spPr>
          <a:xfrm>
            <a:off x="552450" y="1381125"/>
            <a:ext cx="807720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
            </a:pPr>
            <a:r>
              <a:rPr lang="zh-CN" altLang="en-US" sz="2400" dirty="0">
                <a:solidFill>
                  <a:srgbClr val="FF0000"/>
                </a:solidFill>
                <a:latin typeface="华文中宋" panose="02010600040101010101" pitchFamily="2" charset="-122"/>
                <a:ea typeface="华文中宋" panose="02010600040101010101" pitchFamily="2" charset="-122"/>
                <a:sym typeface="宋体" panose="02010600030101010101" pitchFamily="2" charset="-122"/>
              </a:rPr>
              <a:t>课堂练习：判断关系</a:t>
            </a:r>
            <a:r>
              <a:rPr lang="en-US" altLang="zh-CN" sz="2400" dirty="0">
                <a:solidFill>
                  <a:srgbClr val="FF0000"/>
                </a:solidFill>
                <a:latin typeface="华文中宋" panose="02010600040101010101" pitchFamily="2" charset="-122"/>
                <a:ea typeface="华文中宋" panose="02010600040101010101" pitchFamily="2" charset="-122"/>
                <a:sym typeface="宋体" panose="02010600030101010101" pitchFamily="2" charset="-122"/>
              </a:rPr>
              <a:t>R</a:t>
            </a:r>
            <a:r>
              <a:rPr lang="zh-CN" altLang="en-US" sz="2400" dirty="0">
                <a:solidFill>
                  <a:srgbClr val="FF0000"/>
                </a:solidFill>
                <a:latin typeface="华文中宋" panose="02010600040101010101" pitchFamily="2" charset="-122"/>
                <a:ea typeface="华文中宋" panose="02010600040101010101" pitchFamily="2" charset="-122"/>
                <a:sym typeface="宋体" panose="02010600030101010101" pitchFamily="2" charset="-122"/>
              </a:rPr>
              <a:t>是否属于</a:t>
            </a:r>
            <a:r>
              <a:rPr lang="en-US" altLang="zh-CN" sz="2400" dirty="0">
                <a:solidFill>
                  <a:srgbClr val="FF0000"/>
                </a:solidFill>
                <a:latin typeface="华文中宋" panose="02010600040101010101" pitchFamily="2" charset="-122"/>
                <a:ea typeface="华文中宋" panose="02010600040101010101" pitchFamily="2" charset="-122"/>
                <a:sym typeface="宋体" panose="02010600030101010101" pitchFamily="2" charset="-122"/>
              </a:rPr>
              <a:t>2NF</a:t>
            </a:r>
            <a:r>
              <a:rPr lang="zh-CN" altLang="en-US" sz="2400" dirty="0">
                <a:solidFill>
                  <a:srgbClr val="FF0000"/>
                </a:solidFill>
                <a:latin typeface="华文中宋" panose="02010600040101010101" pitchFamily="2" charset="-122"/>
                <a:ea typeface="华文中宋" panose="02010600040101010101" pitchFamily="2" charset="-122"/>
                <a:sym typeface="宋体" panose="02010600030101010101" pitchFamily="2" charset="-122"/>
              </a:rPr>
              <a:t>，若不是转换成</a:t>
            </a:r>
            <a:r>
              <a:rPr lang="en-US" altLang="zh-CN" sz="2400" dirty="0">
                <a:solidFill>
                  <a:srgbClr val="FF0000"/>
                </a:solidFill>
                <a:latin typeface="华文中宋" panose="02010600040101010101" pitchFamily="2" charset="-122"/>
                <a:ea typeface="华文中宋" panose="02010600040101010101" pitchFamily="2" charset="-122"/>
                <a:sym typeface="宋体" panose="02010600030101010101" pitchFamily="2" charset="-122"/>
              </a:rPr>
              <a:t>2NF</a:t>
            </a:r>
            <a:endParaRPr lang="en-US" altLang="zh-CN" sz="2400" dirty="0">
              <a:solidFill>
                <a:srgbClr val="FF0000"/>
              </a:solidFill>
              <a:latin typeface="华文中宋" panose="02010600040101010101" pitchFamily="2" charset="-122"/>
              <a:ea typeface="华文中宋" panose="02010600040101010101" pitchFamily="2" charset="-122"/>
              <a:sym typeface="宋体" panose="02010600030101010101" pitchFamily="2" charset="-122"/>
            </a:endParaRPr>
          </a:p>
        </p:txBody>
      </p:sp>
      <p:sp>
        <p:nvSpPr>
          <p:cNvPr id="11266" name="内容占位符 2"/>
          <p:cNvSpPr/>
          <p:nvPr/>
        </p:nvSpPr>
        <p:spPr>
          <a:xfrm>
            <a:off x="590550" y="3632200"/>
            <a:ext cx="7834313" cy="6985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15000"/>
              </a:spcBef>
              <a:buFont typeface="Wingdings" panose="05000000000000000000" pitchFamily="2" charset="2"/>
              <a:buChar char=""/>
            </a:pPr>
            <a:r>
              <a:rPr lang="zh-CN" altLang="en-US" sz="2400" u="sng" dirty="0">
                <a:solidFill>
                  <a:srgbClr val="FF0000"/>
                </a:solidFill>
              </a:rPr>
              <a:t>候选键：</a:t>
            </a:r>
            <a:r>
              <a:rPr lang="en-US" altLang="zh-CN" sz="2400" dirty="0"/>
              <a:t>(Sid,Cid)  (Sid,Tid)   </a:t>
            </a:r>
            <a:r>
              <a:rPr lang="zh-CN" altLang="zh-CN" sz="2400" dirty="0"/>
              <a:t>选</a:t>
            </a:r>
            <a:r>
              <a:rPr lang="en-US" altLang="zh-CN" sz="2400" dirty="0"/>
              <a:t>(Sid,Cid)</a:t>
            </a:r>
            <a:r>
              <a:rPr lang="zh-CN" altLang="en-US" sz="2400" dirty="0"/>
              <a:t>为主键，存在部分函数依赖，如</a:t>
            </a:r>
            <a:r>
              <a:rPr lang="en-US" altLang="zh-CN" sz="2400" dirty="0">
                <a:sym typeface="宋体" panose="02010600030101010101" pitchFamily="2" charset="-122"/>
              </a:rPr>
              <a:t>Cid</a:t>
            </a:r>
            <a:r>
              <a:rPr lang="en-US" altLang="zh-CN" sz="2400" dirty="0">
                <a:latin typeface="微软雅黑" panose="020B0503020204020204" pitchFamily="34" charset="-122"/>
                <a:ea typeface="微软雅黑" panose="020B0503020204020204" pitchFamily="34" charset="-122"/>
                <a:sym typeface="宋体" panose="02010600030101010101" pitchFamily="2" charset="-122"/>
              </a:rPr>
              <a:t>→CName</a:t>
            </a:r>
            <a:r>
              <a:rPr lang="zh-CN" altLang="en-US" sz="2400" dirty="0">
                <a:latin typeface="微软雅黑" panose="020B0503020204020204" pitchFamily="34" charset="-122"/>
                <a:ea typeface="微软雅黑" panose="020B0503020204020204" pitchFamily="34" charset="-122"/>
                <a:sym typeface="宋体" panose="02010600030101010101" pitchFamily="2" charset="-122"/>
              </a:rPr>
              <a:t>，所以</a:t>
            </a:r>
            <a:r>
              <a:rPr lang="en-US" altLang="zh-CN" sz="2400" dirty="0">
                <a:latin typeface="微软雅黑" panose="020B0503020204020204" pitchFamily="34" charset="-122"/>
                <a:ea typeface="微软雅黑" panose="020B0503020204020204" pitchFamily="34" charset="-122"/>
                <a:sym typeface="宋体" panose="02010600030101010101" pitchFamily="2" charset="-122"/>
              </a:rPr>
              <a:t>R</a:t>
            </a:r>
            <a:r>
              <a:rPr lang="zh-CN" altLang="en-US" sz="2400" dirty="0">
                <a:latin typeface="微软雅黑" panose="020B0503020204020204" pitchFamily="34" charset="-122"/>
                <a:ea typeface="微软雅黑" panose="020B0503020204020204" pitchFamily="34" charset="-122"/>
                <a:sym typeface="宋体" panose="02010600030101010101" pitchFamily="2" charset="-122"/>
              </a:rPr>
              <a:t>不是</a:t>
            </a:r>
            <a:r>
              <a:rPr lang="en-US" altLang="zh-CN" sz="2400" dirty="0">
                <a:latin typeface="微软雅黑" panose="020B0503020204020204" pitchFamily="34" charset="-122"/>
                <a:ea typeface="微软雅黑" panose="020B0503020204020204" pitchFamily="34" charset="-122"/>
                <a:sym typeface="宋体" panose="02010600030101010101" pitchFamily="2" charset="-122"/>
              </a:rPr>
              <a:t>2NF</a:t>
            </a:r>
            <a:endParaRPr lang="en-US" altLang="zh-CN" sz="2400" dirty="0">
              <a:latin typeface="微软雅黑" panose="020B0503020204020204" pitchFamily="34" charset="-122"/>
              <a:ea typeface="微软雅黑" panose="020B0503020204020204" pitchFamily="34" charset="-122"/>
              <a:sym typeface="宋体" panose="02010600030101010101" pitchFamily="2" charset="-122"/>
            </a:endParaRPr>
          </a:p>
        </p:txBody>
      </p:sp>
      <p:sp>
        <p:nvSpPr>
          <p:cNvPr id="2" name="内容占位符 2"/>
          <p:cNvSpPr/>
          <p:nvPr/>
        </p:nvSpPr>
        <p:spPr>
          <a:xfrm>
            <a:off x="603250" y="4706938"/>
            <a:ext cx="7834313" cy="698500"/>
          </a:xfrm>
          <a:prstGeom prst="rect">
            <a:avLst/>
          </a:prstGeom>
          <a:noFill/>
          <a:ln w="9525">
            <a:noFill/>
          </a:ln>
        </p:spPr>
        <p:txBody>
          <a:bodyPr/>
          <a:lstStyle/>
          <a:p>
            <a:pPr marL="342900" marR="0" lvl="0" indent="-342900" algn="l" defTabSz="914400" rtl="0" eaLnBrk="1" fontAlgn="base" latinLnBrk="0" hangingPunct="1">
              <a:lnSpc>
                <a:spcPct val="125000"/>
              </a:lnSpc>
              <a:spcBef>
                <a:spcPct val="15000"/>
              </a:spcBef>
              <a:spcAft>
                <a:spcPct val="0"/>
              </a:spcAft>
              <a:buClr>
                <a:srgbClr val="0033CC"/>
              </a:buClr>
              <a:buSzPct val="80000"/>
              <a:buFont typeface="Wingdings" panose="05000000000000000000" charset="0"/>
              <a:buChar char=""/>
              <a:defRPr/>
            </a:pPr>
            <a:r>
              <a:rPr kumimoji="0" lang="zh-CN" altLang="zh-CN" sz="24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分解：</a:t>
            </a:r>
            <a:r>
              <a:rPr kumimoji="0" lang="en-US" altLang="zh-CN" sz="24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2400" b="1" i="0" u="sng"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Sid,Cid</a:t>
            </a:r>
            <a:r>
              <a:rPr kumimoji="0" lang="en-US" altLang="zh-CN" sz="24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,Score) </a:t>
            </a:r>
            <a:endParaRPr kumimoji="0" lang="en-US" altLang="zh-CN" sz="24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25000"/>
              </a:lnSpc>
              <a:spcBef>
                <a:spcPct val="15000"/>
              </a:spcBef>
              <a:spcAft>
                <a:spcPct val="0"/>
              </a:spcAft>
              <a:buClr>
                <a:srgbClr val="0033CC"/>
              </a:buClr>
              <a:buSzPct val="80000"/>
              <a:buFont typeface="Wingdings" panose="05000000000000000000" charset="0"/>
              <a:buNone/>
              <a:defRPr/>
            </a:pPr>
            <a:r>
              <a:rPr kumimoji="0" lang="en-US" altLang="zh-CN" sz="24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2400" b="1" i="0" u="sng"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Cid</a:t>
            </a:r>
            <a:r>
              <a:rPr kumimoji="0" lang="en-US" altLang="zh-CN" sz="24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,CName,Tid,TName,Tphone) </a:t>
            </a:r>
            <a:endPar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p:cTn id="7" dur="500" fill="hold"/>
                                        <p:tgtEl>
                                          <p:spTgt spid="11266"/>
                                        </p:tgtEl>
                                        <p:attrNameLst>
                                          <p:attrName>ppt_x</p:attrName>
                                        </p:attrNameLst>
                                      </p:cBhvr>
                                      <p:tavLst>
                                        <p:tav tm="0">
                                          <p:val>
                                            <p:strVal val="#ppt_x"/>
                                          </p:val>
                                        </p:tav>
                                        <p:tav tm="100000">
                                          <p:val>
                                            <p:strVal val="#ppt_x"/>
                                          </p:val>
                                        </p:tav>
                                      </p:tavLst>
                                    </p:anim>
                                    <p:anim calcmode="lin" valueType="num">
                                      <p:cBhvr>
                                        <p:cTn id="8" dur="500" fill="hold"/>
                                        <p:tgtEl>
                                          <p:spTgt spid="112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ppt_x</p:attrName>
                                        </p:attrNameLst>
                                      </p:cBhvr>
                                      <p:tavLst>
                                        <p:tav tm="0">
                                          <p:val>
                                            <p:strVal val="#ppt_x"/>
                                          </p:val>
                                        </p:tav>
                                        <p:tav tm="100000">
                                          <p:val>
                                            <p:strVal val="#ppt_x"/>
                                          </p:val>
                                        </p:tav>
                                      </p:tavLst>
                                    </p:anim>
                                    <p:anim calcmode="lin" valueType="num">
                                      <p:cBhvr>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2770" name="表格 32769"/>
          <p:cNvGraphicFramePr/>
          <p:nvPr/>
        </p:nvGraphicFramePr>
        <p:xfrm>
          <a:off x="603250" y="1874838"/>
          <a:ext cx="8050213" cy="2209801"/>
        </p:xfrm>
        <a:graphic>
          <a:graphicData uri="http://schemas.openxmlformats.org/drawingml/2006/table">
            <a:tbl>
              <a:tblPr/>
              <a:tblGrid>
                <a:gridCol w="1587500"/>
                <a:gridCol w="1617663"/>
                <a:gridCol w="1612900"/>
                <a:gridCol w="1997075"/>
                <a:gridCol w="1235075"/>
              </a:tblGrid>
              <a:tr h="365754">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Sno</a:t>
                      </a:r>
                      <a:endParaRPr lang="en-US" altLang="x-none" sz="1800" dirty="0"/>
                    </a:p>
                  </a:txBody>
                  <a:tcPr marT="45717" marB="4571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Sname</a:t>
                      </a:r>
                      <a:endParaRPr lang="en-US" altLang="x-none" sz="1800" dirty="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Ssex</a:t>
                      </a:r>
                      <a:endParaRPr lang="en-US" altLang="x-none" sz="1800" dirty="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Sdept</a:t>
                      </a:r>
                      <a:endParaRPr lang="en-US" altLang="x-none" sz="1800" dirty="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Sloc</a:t>
                      </a:r>
                      <a:endParaRPr lang="en-US" altLang="x-none" sz="1800" dirty="0"/>
                    </a:p>
                  </a:txBody>
                  <a:tcPr marT="45717" marB="4571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2935">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0811101</a:t>
                      </a:r>
                      <a:endParaRPr lang="en-US" altLang="x-none" sz="1800" dirty="0"/>
                    </a:p>
                  </a:txBody>
                  <a:tcPr marT="45717" marB="4571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男</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计算机系</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a:t>
                      </a:r>
                      <a:r>
                        <a:rPr lang="zh-CN" altLang="en-US" sz="1800" dirty="0"/>
                        <a:t>公寓</a:t>
                      </a:r>
                      <a:endParaRPr lang="zh-CN" altLang="en-US" sz="1800" dirty="0"/>
                    </a:p>
                  </a:txBody>
                  <a:tcPr marT="45717" marB="4571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175">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0811102</a:t>
                      </a:r>
                      <a:endParaRPr lang="en-US" altLang="x-none" sz="1800" dirty="0"/>
                    </a:p>
                  </a:txBody>
                  <a:tcPr marT="45717" marB="4571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刘晨</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男</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计算机系</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a:t>
                      </a:r>
                      <a:r>
                        <a:rPr lang="zh-CN" altLang="en-US" sz="1800" dirty="0"/>
                        <a:t>公寓</a:t>
                      </a:r>
                      <a:endParaRPr lang="zh-CN" altLang="en-US" sz="1800" dirty="0"/>
                    </a:p>
                  </a:txBody>
                  <a:tcPr marT="45717" marB="4571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175">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0821102</a:t>
                      </a:r>
                      <a:endParaRPr lang="en-US" altLang="x-none" sz="1800" dirty="0"/>
                    </a:p>
                  </a:txBody>
                  <a:tcPr marT="45717" marB="4571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吴宾</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女</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信息管理系</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a:t>
                      </a:r>
                      <a:r>
                        <a:rPr lang="zh-CN" altLang="en-US" sz="1800" dirty="0"/>
                        <a:t>公寓</a:t>
                      </a:r>
                      <a:endParaRPr lang="zh-CN" altLang="en-US" sz="1800" dirty="0"/>
                    </a:p>
                  </a:txBody>
                  <a:tcPr marT="45717" marB="4571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175">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0821103</a:t>
                      </a:r>
                      <a:endParaRPr lang="en-US" altLang="x-none" sz="1800" dirty="0"/>
                    </a:p>
                  </a:txBody>
                  <a:tcPr marT="45717" marB="4571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张海</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男</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信息管理系</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a:t>
                      </a:r>
                      <a:r>
                        <a:rPr lang="zh-CN" altLang="en-US" sz="1800" dirty="0"/>
                        <a:t>公寓</a:t>
                      </a:r>
                      <a:endParaRPr lang="zh-CN" altLang="en-US" sz="1800" dirty="0"/>
                    </a:p>
                  </a:txBody>
                  <a:tcPr marT="45717" marB="4571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6587">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0831103</a:t>
                      </a:r>
                      <a:endParaRPr lang="en-US" altLang="x-none" sz="1800" dirty="0"/>
                    </a:p>
                  </a:txBody>
                  <a:tcPr marT="45717" marB="4571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张珊珊</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女</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通信工程系</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a:t>
                      </a:r>
                      <a:r>
                        <a:rPr lang="zh-CN" altLang="en-US" sz="1800" dirty="0"/>
                        <a:t>公寓</a:t>
                      </a:r>
                      <a:endParaRPr lang="zh-CN" altLang="en-US" sz="1800" dirty="0"/>
                    </a:p>
                  </a:txBody>
                  <a:tcPr marT="45717" marB="4571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39982" name="Rectangle 46"/>
          <p:cNvSpPr/>
          <p:nvPr/>
        </p:nvSpPr>
        <p:spPr>
          <a:xfrm>
            <a:off x="420688" y="1273175"/>
            <a:ext cx="5054600" cy="542925"/>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zh-CN" altLang="en-US" sz="2200" u="sng" dirty="0">
                <a:solidFill>
                  <a:srgbClr val="0033CC"/>
                </a:solidFill>
              </a:rPr>
              <a:t>符合第二范式的</a:t>
            </a:r>
            <a:r>
              <a:rPr lang="en-US" altLang="zh-CN" sz="2200" u="sng" dirty="0">
                <a:solidFill>
                  <a:srgbClr val="0033CC"/>
                </a:solidFill>
              </a:rPr>
              <a:t>S—L</a:t>
            </a:r>
            <a:r>
              <a:rPr lang="zh-CN" altLang="en-US" sz="2200" u="sng" dirty="0">
                <a:solidFill>
                  <a:srgbClr val="0033CC"/>
                </a:solidFill>
              </a:rPr>
              <a:t>关系部分数据</a:t>
            </a:r>
            <a:endParaRPr lang="zh-CN" altLang="en-US" sz="2200" u="sng" dirty="0">
              <a:solidFill>
                <a:srgbClr val="0033CC"/>
              </a:solidFill>
            </a:endParaRPr>
          </a:p>
        </p:txBody>
      </p:sp>
      <p:sp>
        <p:nvSpPr>
          <p:cNvPr id="32815" name="Text Box 47"/>
          <p:cNvSpPr txBox="1"/>
          <p:nvPr/>
        </p:nvSpPr>
        <p:spPr>
          <a:xfrm>
            <a:off x="514350" y="4110038"/>
            <a:ext cx="8321675" cy="8397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25000"/>
              </a:spcBef>
              <a:buClrTx/>
              <a:buSzTx/>
              <a:buNone/>
            </a:pPr>
            <a:r>
              <a:rPr lang="zh-CN" altLang="en-US" sz="2200" u="sng" dirty="0">
                <a:solidFill>
                  <a:srgbClr val="FF0000"/>
                </a:solidFill>
                <a:latin typeface="宋体" panose="02010600030101010101" pitchFamily="2" charset="-122"/>
              </a:rPr>
              <a:t>第二范式的问题分析：</a:t>
            </a:r>
            <a:endParaRPr lang="zh-CN" altLang="en-US" sz="2200" u="sng" dirty="0">
              <a:solidFill>
                <a:srgbClr val="FF0000"/>
              </a:solidFill>
              <a:latin typeface="宋体" panose="02010600030101010101" pitchFamily="2" charset="-122"/>
            </a:endParaRPr>
          </a:p>
          <a:p>
            <a:pPr marL="0" lvl="0" indent="0" eaLnBrk="1" hangingPunct="1">
              <a:lnSpc>
                <a:spcPct val="120000"/>
              </a:lnSpc>
              <a:spcBef>
                <a:spcPct val="0"/>
              </a:spcBef>
              <a:buClrTx/>
              <a:buSzTx/>
              <a:buNone/>
            </a:pPr>
            <a:endParaRPr lang="zh-CN" altLang="en-US" sz="1800" dirty="0">
              <a:solidFill>
                <a:schemeClr val="tx2"/>
              </a:solidFill>
            </a:endParaRPr>
          </a:p>
        </p:txBody>
      </p:sp>
      <p:sp>
        <p:nvSpPr>
          <p:cNvPr id="39984" name="Rectangle 7"/>
          <p:cNvSpPr/>
          <p:nvPr/>
        </p:nvSpPr>
        <p:spPr>
          <a:xfrm>
            <a:off x="550863" y="779463"/>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、关系数据库的第二范式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39985"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3" name="文本框 1"/>
          <p:cNvSpPr txBox="1"/>
          <p:nvPr/>
        </p:nvSpPr>
        <p:spPr>
          <a:xfrm>
            <a:off x="550863" y="4608513"/>
            <a:ext cx="8278812" cy="427037"/>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u="sng" dirty="0">
                <a:solidFill>
                  <a:srgbClr val="CC0000"/>
                </a:solidFill>
                <a:sym typeface="Arial" panose="020B0604020202020204" pitchFamily="34" charset="0"/>
              </a:rPr>
              <a:t>（</a:t>
            </a:r>
            <a:r>
              <a:rPr lang="en-US" altLang="zh-CN" u="sng" dirty="0">
                <a:solidFill>
                  <a:srgbClr val="CC0000"/>
                </a:solidFill>
                <a:sym typeface="Arial" panose="020B0604020202020204" pitchFamily="34" charset="0"/>
              </a:rPr>
              <a:t>1</a:t>
            </a:r>
            <a:r>
              <a:rPr lang="zh-CN" altLang="en-US" u="sng" dirty="0">
                <a:solidFill>
                  <a:srgbClr val="CC0000"/>
                </a:solidFill>
                <a:sym typeface="Arial" panose="020B0604020202020204" pitchFamily="34" charset="0"/>
              </a:rPr>
              <a:t>）插入异常</a:t>
            </a:r>
            <a:r>
              <a:rPr lang="zh-CN" altLang="en-US" u="sng" dirty="0">
                <a:solidFill>
                  <a:srgbClr val="FF0000"/>
                </a:solidFill>
                <a:sym typeface="Arial" panose="020B0604020202020204" pitchFamily="34" charset="0"/>
              </a:rPr>
              <a:t>：</a:t>
            </a:r>
            <a:r>
              <a:rPr lang="zh-CN" altLang="en-US" dirty="0">
                <a:latin typeface="楷体_GB2312"/>
                <a:ea typeface="楷体_GB2312"/>
                <a:sym typeface="Arial" panose="020B0604020202020204" pitchFamily="34" charset="0"/>
              </a:rPr>
              <a:t>插入尚未招生的系时，不能插入。</a:t>
            </a:r>
            <a:endParaRPr lang="zh-CN" altLang="en-US" dirty="0"/>
          </a:p>
        </p:txBody>
      </p:sp>
      <p:sp>
        <p:nvSpPr>
          <p:cNvPr id="4" name="文本框 2"/>
          <p:cNvSpPr txBox="1"/>
          <p:nvPr/>
        </p:nvSpPr>
        <p:spPr>
          <a:xfrm>
            <a:off x="531813" y="5043488"/>
            <a:ext cx="8280400" cy="427037"/>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u="sng" dirty="0">
                <a:solidFill>
                  <a:srgbClr val="FF0000"/>
                </a:solidFill>
                <a:sym typeface="宋体" panose="02010600030101010101" pitchFamily="2" charset="-122"/>
              </a:rPr>
              <a:t>（</a:t>
            </a:r>
            <a:r>
              <a:rPr lang="en-US" altLang="zh-CN" u="sng" dirty="0">
                <a:solidFill>
                  <a:srgbClr val="FF0000"/>
                </a:solidFill>
                <a:sym typeface="宋体" panose="02010600030101010101" pitchFamily="2" charset="-122"/>
              </a:rPr>
              <a:t>2</a:t>
            </a:r>
            <a:r>
              <a:rPr lang="zh-CN" altLang="en-US" u="sng" dirty="0">
                <a:solidFill>
                  <a:srgbClr val="FF0000"/>
                </a:solidFill>
                <a:sym typeface="宋体" panose="02010600030101010101" pitchFamily="2" charset="-122"/>
              </a:rPr>
              <a:t>）删除异常：</a:t>
            </a:r>
            <a:r>
              <a:rPr lang="zh-CN" altLang="en-US" dirty="0">
                <a:latin typeface="楷体_GB2312"/>
                <a:ea typeface="楷体_GB2312"/>
                <a:sym typeface="宋体" panose="02010600030101010101" pitchFamily="2" charset="-122"/>
              </a:rPr>
              <a:t>如某系学生全毕业，删除学生则会删除系的信息。</a:t>
            </a:r>
            <a:endParaRPr lang="zh-CN" altLang="en-US" dirty="0"/>
          </a:p>
        </p:txBody>
      </p:sp>
      <p:sp>
        <p:nvSpPr>
          <p:cNvPr id="5" name="文本框 3"/>
          <p:cNvSpPr txBox="1"/>
          <p:nvPr/>
        </p:nvSpPr>
        <p:spPr>
          <a:xfrm>
            <a:off x="514350" y="5472113"/>
            <a:ext cx="8280400" cy="427037"/>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u="sng" dirty="0">
                <a:solidFill>
                  <a:srgbClr val="FF0000"/>
                </a:solidFill>
                <a:sym typeface="宋体" panose="02010600030101010101" pitchFamily="2" charset="-122"/>
              </a:rPr>
              <a:t>（</a:t>
            </a:r>
            <a:r>
              <a:rPr lang="en-US" altLang="zh-CN" u="sng" dirty="0">
                <a:solidFill>
                  <a:srgbClr val="FF0000"/>
                </a:solidFill>
                <a:sym typeface="宋体" panose="02010600030101010101" pitchFamily="2" charset="-122"/>
              </a:rPr>
              <a:t>3</a:t>
            </a:r>
            <a:r>
              <a:rPr lang="zh-CN" altLang="en-US" u="sng" dirty="0">
                <a:solidFill>
                  <a:srgbClr val="FF0000"/>
                </a:solidFill>
                <a:sym typeface="宋体" panose="02010600030101010101" pitchFamily="2" charset="-122"/>
              </a:rPr>
              <a:t>）冗余：</a:t>
            </a:r>
            <a:r>
              <a:rPr lang="zh-CN" altLang="en-US" dirty="0">
                <a:latin typeface="楷体_GB2312"/>
                <a:ea typeface="楷体_GB2312"/>
                <a:sym typeface="宋体" panose="02010600030101010101" pitchFamily="2" charset="-122"/>
              </a:rPr>
              <a:t>由于系有众多学生，而每个学生均带有系信息，故冗余。 </a:t>
            </a:r>
            <a:endParaRPr lang="zh-CN" altLang="en-US" dirty="0"/>
          </a:p>
        </p:txBody>
      </p:sp>
      <p:sp>
        <p:nvSpPr>
          <p:cNvPr id="6" name="文本框 4"/>
          <p:cNvSpPr txBox="1"/>
          <p:nvPr/>
        </p:nvSpPr>
        <p:spPr>
          <a:xfrm>
            <a:off x="487363" y="5924550"/>
            <a:ext cx="8326437" cy="427038"/>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u="sng" dirty="0">
                <a:solidFill>
                  <a:srgbClr val="FF0000"/>
                </a:solidFill>
                <a:sym typeface="宋体" panose="02010600030101010101" pitchFamily="2" charset="-122"/>
              </a:rPr>
              <a:t>（</a:t>
            </a:r>
            <a:r>
              <a:rPr lang="en-US" altLang="zh-CN" u="sng" dirty="0">
                <a:solidFill>
                  <a:srgbClr val="FF0000"/>
                </a:solidFill>
                <a:sym typeface="宋体" panose="02010600030101010101" pitchFamily="2" charset="-122"/>
              </a:rPr>
              <a:t>4</a:t>
            </a:r>
            <a:r>
              <a:rPr lang="zh-CN" altLang="en-US" u="sng" dirty="0">
                <a:solidFill>
                  <a:srgbClr val="FF0000"/>
                </a:solidFill>
                <a:sym typeface="宋体" panose="02010600030101010101" pitchFamily="2" charset="-122"/>
              </a:rPr>
              <a:t>）更新异常：</a:t>
            </a:r>
            <a:r>
              <a:rPr lang="zh-CN" altLang="en-US" dirty="0">
                <a:latin typeface="楷体_GB2312"/>
                <a:ea typeface="楷体_GB2312"/>
                <a:sym typeface="宋体" panose="02010600030101010101" pitchFamily="2" charset="-122"/>
              </a:rPr>
              <a:t>由于存在冗余，故如修改一个系信息则要修改多行。</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815"/>
                                        </p:tgtEl>
                                        <p:attrNameLst>
                                          <p:attrName>style.visibility</p:attrName>
                                        </p:attrNameLst>
                                      </p:cBhvr>
                                      <p:to>
                                        <p:strVal val="visible"/>
                                      </p:to>
                                    </p:set>
                                    <p:anim calcmode="lin" valueType="num">
                                      <p:cBhvr additive="base">
                                        <p:cTn id="7" dur="500" fill="hold"/>
                                        <p:tgtEl>
                                          <p:spTgt spid="32815"/>
                                        </p:tgtEl>
                                        <p:attrNameLst>
                                          <p:attrName>ppt_x</p:attrName>
                                        </p:attrNameLst>
                                      </p:cBhvr>
                                      <p:tavLst>
                                        <p:tav tm="0">
                                          <p:val>
                                            <p:strVal val="#ppt_x"/>
                                          </p:val>
                                        </p:tav>
                                        <p:tav tm="100000">
                                          <p:val>
                                            <p:strVal val="#ppt_x"/>
                                          </p:val>
                                        </p:tav>
                                      </p:tavLst>
                                    </p:anim>
                                    <p:anim calcmode="lin" valueType="num">
                                      <p:cBhvr additive="base">
                                        <p:cTn id="8" dur="500" fill="hold"/>
                                        <p:tgtEl>
                                          <p:spTgt spid="328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15" grpId="0"/>
      <p:bldP spid="3" grpId="0" animBg="1"/>
      <p:bldP spid="4" grpId="0" animBg="1"/>
      <p:bldP spid="5" grpId="0" animBg="1"/>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ext Box 3"/>
          <p:cNvSpPr txBox="1"/>
          <p:nvPr/>
        </p:nvSpPr>
        <p:spPr>
          <a:xfrm>
            <a:off x="466725" y="1435100"/>
            <a:ext cx="8402638" cy="477266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25000"/>
              </a:spcBef>
              <a:buClrTx/>
              <a:buSzTx/>
              <a:buNone/>
            </a:pPr>
            <a:r>
              <a:rPr lang="zh-CN" altLang="en-US" dirty="0">
                <a:solidFill>
                  <a:srgbClr val="FF0000"/>
                </a:solidFill>
                <a:latin typeface="宋体" panose="02010600030101010101" pitchFamily="2" charset="-122"/>
              </a:rPr>
              <a:t>    </a:t>
            </a:r>
            <a:r>
              <a:rPr lang="zh-CN" altLang="en-US" sz="2200" u="sng" dirty="0">
                <a:solidFill>
                  <a:srgbClr val="0033CC"/>
                </a:solidFill>
                <a:latin typeface="宋体" panose="02010600030101010101" pitchFamily="2" charset="-122"/>
              </a:rPr>
              <a:t>定义：如果</a:t>
            </a:r>
            <a:r>
              <a:rPr lang="en-US" altLang="zh-CN" sz="2200" u="sng" dirty="0">
                <a:solidFill>
                  <a:srgbClr val="0033CC"/>
                </a:solidFill>
                <a:sym typeface="+mn-ea"/>
              </a:rPr>
              <a:t>R(U,F) </a:t>
            </a:r>
            <a:r>
              <a:rPr lang="zh-CN" altLang="en-US" sz="2200" u="sng" dirty="0">
                <a:solidFill>
                  <a:srgbClr val="0033CC"/>
                </a:solidFill>
              </a:rPr>
              <a:t>∈</a:t>
            </a:r>
            <a:r>
              <a:rPr lang="en-US" altLang="zh-CN" sz="2200" u="sng" dirty="0">
                <a:solidFill>
                  <a:srgbClr val="0033CC"/>
                </a:solidFill>
              </a:rPr>
              <a:t>2NF</a:t>
            </a:r>
            <a:r>
              <a:rPr lang="zh-CN" altLang="en-US" sz="2200" u="sng" dirty="0">
                <a:solidFill>
                  <a:srgbClr val="0033CC"/>
                </a:solidFill>
              </a:rPr>
              <a:t>，并且所有的非主属性都不传递依赖于候选键，则</a:t>
            </a:r>
            <a:r>
              <a:rPr lang="en-US" altLang="zh-CN" sz="2200" u="sng" dirty="0">
                <a:solidFill>
                  <a:srgbClr val="0033CC"/>
                </a:solidFill>
              </a:rPr>
              <a:t>R(U,F) </a:t>
            </a:r>
            <a:r>
              <a:rPr lang="zh-CN" altLang="en-US" sz="2200" u="sng" dirty="0">
                <a:solidFill>
                  <a:srgbClr val="0033CC"/>
                </a:solidFill>
              </a:rPr>
              <a:t>∈</a:t>
            </a:r>
            <a:r>
              <a:rPr lang="en-US" altLang="zh-CN" sz="2200" u="sng" dirty="0">
                <a:solidFill>
                  <a:srgbClr val="0033CC"/>
                </a:solidFill>
              </a:rPr>
              <a:t>3NF</a:t>
            </a:r>
            <a:r>
              <a:rPr lang="zh-CN" altLang="en-US" sz="2200" u="sng" dirty="0">
                <a:solidFill>
                  <a:srgbClr val="0033CC"/>
                </a:solidFill>
              </a:rPr>
              <a:t> </a:t>
            </a:r>
            <a:r>
              <a:rPr lang="zh-CN" altLang="en-US" sz="2200" u="sng" dirty="0">
                <a:solidFill>
                  <a:srgbClr val="0033CC"/>
                </a:solidFill>
                <a:latin typeface="宋体" panose="02010600030101010101" pitchFamily="2" charset="-122"/>
              </a:rPr>
              <a:t>。</a:t>
            </a:r>
            <a:endParaRPr lang="zh-CN" altLang="en-US" sz="2200" u="sng" dirty="0">
              <a:solidFill>
                <a:srgbClr val="0033CC"/>
              </a:solidFill>
              <a:latin typeface="宋体" panose="02010600030101010101" pitchFamily="2" charset="-122"/>
            </a:endParaRPr>
          </a:p>
          <a:p>
            <a:pPr marL="0" lvl="0" indent="0" eaLnBrk="1" hangingPunct="1">
              <a:lnSpc>
                <a:spcPct val="120000"/>
              </a:lnSpc>
              <a:spcBef>
                <a:spcPct val="5000"/>
              </a:spcBef>
              <a:buClrTx/>
              <a:buSzTx/>
              <a:buNone/>
            </a:pPr>
            <a:r>
              <a:rPr lang="zh-CN" altLang="en-US" dirty="0">
                <a:solidFill>
                  <a:srgbClr val="FF3300"/>
                </a:solidFill>
                <a:latin typeface="宋体" panose="02010600030101010101" pitchFamily="2" charset="-122"/>
              </a:rPr>
              <a:t>    </a:t>
            </a:r>
            <a:r>
              <a:rPr lang="zh-CN" altLang="en-US" dirty="0">
                <a:latin typeface="宋体" panose="02010600030101010101" pitchFamily="2" charset="-122"/>
              </a:rPr>
              <a:t>从以上定义可以看出，若存在非主属性对候选键的传递依赖，则相应的关系模式就不是第三范式的。</a:t>
            </a:r>
            <a:endParaRPr lang="zh-CN" altLang="en-US" dirty="0">
              <a:latin typeface="宋体" panose="02010600030101010101" pitchFamily="2" charset="-122"/>
            </a:endParaRPr>
          </a:p>
          <a:p>
            <a:pPr marL="0" lvl="0" indent="0" eaLnBrk="1" hangingPunct="1">
              <a:lnSpc>
                <a:spcPct val="120000"/>
              </a:lnSpc>
              <a:spcBef>
                <a:spcPct val="5000"/>
              </a:spcBef>
              <a:buClrTx/>
              <a:buSzTx/>
              <a:buNone/>
            </a:pPr>
            <a:r>
              <a:rPr lang="zh-CN" altLang="en-US" dirty="0">
                <a:solidFill>
                  <a:srgbClr val="FF3300"/>
                </a:solidFill>
                <a:latin typeface="宋体" panose="02010600030101010101" pitchFamily="2" charset="-122"/>
              </a:rPr>
              <a:t>    </a:t>
            </a:r>
            <a:r>
              <a:rPr lang="zh-CN" altLang="en-US" sz="2400" u="sng" dirty="0">
                <a:solidFill>
                  <a:srgbClr val="FF3300"/>
                </a:solidFill>
                <a:latin typeface="宋体" panose="02010600030101010101" pitchFamily="2" charset="-122"/>
              </a:rPr>
              <a:t>例</a:t>
            </a:r>
            <a:r>
              <a:rPr lang="en-US" altLang="zh-CN" sz="2400" u="sng" dirty="0">
                <a:solidFill>
                  <a:srgbClr val="FF3300"/>
                </a:solidFill>
                <a:latin typeface="宋体" panose="02010600030101010101" pitchFamily="2" charset="-122"/>
              </a:rPr>
              <a:t>1</a:t>
            </a:r>
            <a:r>
              <a:rPr lang="zh-CN" altLang="en-US" sz="2400" u="sng" dirty="0">
                <a:solidFill>
                  <a:srgbClr val="FF3300"/>
                </a:solidFill>
                <a:latin typeface="宋体" panose="02010600030101010101" pitchFamily="2" charset="-122"/>
              </a:rPr>
              <a:t>：</a:t>
            </a:r>
            <a:r>
              <a:rPr lang="zh-CN" altLang="en-US" dirty="0">
                <a:latin typeface="宋体" panose="02010600030101010101" pitchFamily="2" charset="-122"/>
              </a:rPr>
              <a:t>前面所示的</a:t>
            </a:r>
            <a:r>
              <a:rPr lang="en-US" altLang="zh-CN" dirty="0">
                <a:latin typeface="宋体" panose="02010600030101010101" pitchFamily="2" charset="-122"/>
              </a:rPr>
              <a:t>S-L</a:t>
            </a:r>
            <a:r>
              <a:rPr lang="zh-CN" altLang="en-US" dirty="0">
                <a:latin typeface="宋体" panose="02010600030101010101" pitchFamily="2" charset="-122"/>
              </a:rPr>
              <a:t>（</a:t>
            </a:r>
            <a:r>
              <a:rPr lang="en-US" altLang="zh-CN" u="sng" dirty="0">
                <a:latin typeface="宋体" panose="02010600030101010101" pitchFamily="2" charset="-122"/>
              </a:rPr>
              <a:t>Sno</a:t>
            </a:r>
            <a:r>
              <a:rPr lang="en-US" altLang="zh-CN" dirty="0">
                <a:latin typeface="宋体" panose="02010600030101010101" pitchFamily="2" charset="-122"/>
              </a:rPr>
              <a:t>,Sname,Ssex,Sdept,Sloc)</a:t>
            </a:r>
            <a:r>
              <a:rPr lang="zh-CN" altLang="en-US" dirty="0">
                <a:latin typeface="宋体" panose="02010600030101010101" pitchFamily="2" charset="-122"/>
              </a:rPr>
              <a:t>中，</a:t>
            </a:r>
            <a:r>
              <a:rPr lang="en-US" altLang="zh-CN" dirty="0">
                <a:latin typeface="宋体" panose="02010600030101010101" pitchFamily="2" charset="-122"/>
              </a:rPr>
              <a:t>Sno→Sdept,</a:t>
            </a:r>
            <a:r>
              <a:rPr lang="en-US" altLang="zh-CN" dirty="0"/>
              <a:t>Sdept </a:t>
            </a:r>
            <a:r>
              <a:rPr lang="en-US" altLang="zh-CN" dirty="0">
                <a:latin typeface="宋体" panose="02010600030101010101" pitchFamily="2" charset="-122"/>
              </a:rPr>
              <a:t>→ </a:t>
            </a:r>
            <a:r>
              <a:rPr lang="en-US" altLang="zh-CN" dirty="0"/>
              <a:t>Sloc</a:t>
            </a:r>
            <a:r>
              <a:rPr lang="zh-CN" altLang="en-US" dirty="0"/>
              <a:t>，所以</a:t>
            </a:r>
            <a:endParaRPr lang="zh-CN" altLang="en-US" dirty="0"/>
          </a:p>
          <a:p>
            <a:pPr marL="0" lvl="0" indent="0" eaLnBrk="1" hangingPunct="1">
              <a:lnSpc>
                <a:spcPct val="120000"/>
              </a:lnSpc>
              <a:spcBef>
                <a:spcPct val="5000"/>
              </a:spcBef>
              <a:buClrTx/>
              <a:buSzTx/>
              <a:buNone/>
            </a:pPr>
            <a:r>
              <a:rPr lang="zh-CN" altLang="en-US" sz="1800" dirty="0"/>
              <a:t>         </a:t>
            </a:r>
            <a:r>
              <a:rPr lang="zh-CN" altLang="en-US" dirty="0"/>
              <a:t>当关系中存在传递函数依赖时，这个关系仍然有操作异常，因此，还需要对其进行进一步的分解，使其成为第三范式的关系。去掉传递函数依赖关系的分解过程如下：</a:t>
            </a:r>
            <a:endParaRPr lang="zh-CN" altLang="en-US" dirty="0"/>
          </a:p>
          <a:p>
            <a:pPr marL="0" lvl="0" indent="0" eaLnBrk="1" hangingPunct="1">
              <a:lnSpc>
                <a:spcPct val="120000"/>
              </a:lnSpc>
              <a:buClrTx/>
              <a:buSzTx/>
              <a:buNone/>
            </a:pPr>
            <a:r>
              <a:rPr lang="zh-CN" altLang="en-US" sz="1800" dirty="0"/>
              <a:t>      </a:t>
            </a:r>
            <a:r>
              <a:rPr lang="zh-CN" altLang="en-US" sz="1800" u="sng" dirty="0">
                <a:solidFill>
                  <a:srgbClr val="0033CC"/>
                </a:solidFill>
              </a:rPr>
              <a:t>① 对于不是候选键的每个决定因子，从表中删去依赖它的所有属性；</a:t>
            </a:r>
            <a:endParaRPr lang="zh-CN" altLang="en-US" sz="1800" u="sng" dirty="0">
              <a:solidFill>
                <a:srgbClr val="0033CC"/>
              </a:solidFill>
            </a:endParaRPr>
          </a:p>
          <a:p>
            <a:pPr marL="0" lvl="0" indent="0" eaLnBrk="1" hangingPunct="1">
              <a:lnSpc>
                <a:spcPct val="120000"/>
              </a:lnSpc>
              <a:buClrTx/>
              <a:buSzTx/>
              <a:buNone/>
            </a:pPr>
            <a:r>
              <a:rPr lang="zh-CN" altLang="en-US" sz="1800" dirty="0">
                <a:solidFill>
                  <a:srgbClr val="0033CC"/>
                </a:solidFill>
              </a:rPr>
              <a:t>     </a:t>
            </a:r>
            <a:r>
              <a:rPr lang="zh-CN" altLang="en-US" sz="1800" u="sng" dirty="0">
                <a:solidFill>
                  <a:srgbClr val="0033CC"/>
                </a:solidFill>
              </a:rPr>
              <a:t>② 新建一个关系，新关系中包含原关系中所依赖于该决定因子的属性；</a:t>
            </a:r>
            <a:endParaRPr lang="zh-CN" altLang="en-US" sz="1800" u="sng" dirty="0">
              <a:solidFill>
                <a:srgbClr val="0033CC"/>
              </a:solidFill>
            </a:endParaRPr>
          </a:p>
          <a:p>
            <a:pPr marL="0" lvl="0" indent="0" eaLnBrk="1" hangingPunct="1">
              <a:lnSpc>
                <a:spcPct val="120000"/>
              </a:lnSpc>
              <a:buClrTx/>
              <a:buSzTx/>
              <a:buNone/>
            </a:pPr>
            <a:r>
              <a:rPr lang="zh-CN" altLang="en-US" sz="1800" dirty="0">
                <a:solidFill>
                  <a:srgbClr val="0033CC"/>
                </a:solidFill>
              </a:rPr>
              <a:t>     </a:t>
            </a:r>
            <a:r>
              <a:rPr lang="zh-CN" altLang="en-US" sz="1800" u="sng" dirty="0">
                <a:solidFill>
                  <a:srgbClr val="0033CC"/>
                </a:solidFill>
              </a:rPr>
              <a:t>③ 将决定因子作为新关系的主键。</a:t>
            </a:r>
            <a:endParaRPr lang="zh-CN" altLang="en-US" sz="1800" u="sng" dirty="0">
              <a:solidFill>
                <a:srgbClr val="0033CC"/>
              </a:solidFill>
            </a:endParaRPr>
          </a:p>
        </p:txBody>
      </p:sp>
      <p:graphicFrame>
        <p:nvGraphicFramePr>
          <p:cNvPr id="40963" name="对象 34818"/>
          <p:cNvGraphicFramePr>
            <a:graphicFrameLocks noChangeAspect="1"/>
          </p:cNvGraphicFramePr>
          <p:nvPr/>
        </p:nvGraphicFramePr>
        <p:xfrm>
          <a:off x="4511675" y="3529013"/>
          <a:ext cx="1803400" cy="371475"/>
        </p:xfrm>
        <a:graphic>
          <a:graphicData uri="http://schemas.openxmlformats.org/presentationml/2006/ole">
            <mc:AlternateContent xmlns:mc="http://schemas.openxmlformats.org/markup-compatibility/2006">
              <mc:Choice xmlns:v="urn:schemas-microsoft-com:vml" Requires="v">
                <p:oleObj spid="_x0000_s3080" name="" r:id="rId1" imgW="1071245" imgH="216535" progId="Equation.3">
                  <p:embed/>
                </p:oleObj>
              </mc:Choice>
              <mc:Fallback>
                <p:oleObj name="" r:id="rId1" imgW="1071245" imgH="216535" progId="Equation.3">
                  <p:embed/>
                  <p:pic>
                    <p:nvPicPr>
                      <p:cNvPr id="0" name="图片 3079"/>
                      <p:cNvPicPr/>
                      <p:nvPr/>
                    </p:nvPicPr>
                    <p:blipFill>
                      <a:blip r:embed="rId2"/>
                      <a:stretch>
                        <a:fillRect/>
                      </a:stretch>
                    </p:blipFill>
                    <p:spPr>
                      <a:xfrm>
                        <a:off x="4511675" y="3529013"/>
                        <a:ext cx="1803400" cy="371475"/>
                      </a:xfrm>
                      <a:prstGeom prst="rect">
                        <a:avLst/>
                      </a:prstGeom>
                      <a:noFill/>
                      <a:ln w="38100">
                        <a:noFill/>
                        <a:miter/>
                      </a:ln>
                    </p:spPr>
                  </p:pic>
                </p:oleObj>
              </mc:Fallback>
            </mc:AlternateContent>
          </a:graphicData>
        </a:graphic>
      </p:graphicFrame>
      <p:sp>
        <p:nvSpPr>
          <p:cNvPr id="40964" name="Rectangle 7"/>
          <p:cNvSpPr/>
          <p:nvPr/>
        </p:nvSpPr>
        <p:spPr>
          <a:xfrm>
            <a:off x="560388" y="823913"/>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、关系数据库的第三范式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40965"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Text Box 2"/>
          <p:cNvSpPr txBox="1"/>
          <p:nvPr/>
        </p:nvSpPr>
        <p:spPr>
          <a:xfrm>
            <a:off x="403225" y="1273175"/>
            <a:ext cx="8624888" cy="4860925"/>
          </a:xfrm>
          <a:prstGeom prst="rect">
            <a:avLst/>
          </a:prstGeom>
          <a:noFill/>
          <a:ln w="9525">
            <a:noFill/>
          </a:ln>
        </p:spPr>
        <p:txBody>
          <a:bodyPr lIns="18000" r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10000"/>
              </a:spcBef>
              <a:buClrTx/>
              <a:buSzTx/>
              <a:buNone/>
            </a:pPr>
            <a:r>
              <a:rPr lang="zh-CN" altLang="en-US" sz="2400" u="sng" dirty="0">
                <a:solidFill>
                  <a:srgbClr val="FF3300"/>
                </a:solidFill>
              </a:rPr>
              <a:t>例：</a:t>
            </a:r>
            <a:r>
              <a:rPr lang="zh-CN" altLang="en-US" sz="2200" dirty="0"/>
              <a:t>对</a:t>
            </a:r>
            <a:r>
              <a:rPr lang="en-US" altLang="zh-CN" sz="2200" dirty="0"/>
              <a:t>S-L</a:t>
            </a:r>
            <a:r>
              <a:rPr lang="zh-CN" altLang="en-US" sz="2200" dirty="0"/>
              <a:t>关系进行分解</a:t>
            </a:r>
            <a:endParaRPr lang="zh-CN" altLang="en-US" sz="2200" dirty="0"/>
          </a:p>
          <a:p>
            <a:pPr marL="0" lvl="0" indent="0" eaLnBrk="1" hangingPunct="1">
              <a:lnSpc>
                <a:spcPct val="120000"/>
              </a:lnSpc>
              <a:spcBef>
                <a:spcPct val="15000"/>
              </a:spcBef>
              <a:buClrTx/>
              <a:buSzTx/>
              <a:buNone/>
            </a:pPr>
            <a:r>
              <a:rPr lang="en-US" altLang="zh-CN" sz="1800" dirty="0"/>
              <a:t>      </a:t>
            </a:r>
            <a:r>
              <a:rPr lang="en-US" altLang="zh-CN" dirty="0">
                <a:ea typeface="黑体" panose="02010609060101010101" pitchFamily="49" charset="-122"/>
              </a:rPr>
              <a:t>S-D(Sno,Sname,Ssex,Sdept),</a:t>
            </a:r>
            <a:r>
              <a:rPr lang="zh-CN" altLang="en-US" dirty="0">
                <a:ea typeface="黑体" panose="02010609060101010101" pitchFamily="49" charset="-122"/>
              </a:rPr>
              <a:t>主键为</a:t>
            </a:r>
            <a:r>
              <a:rPr lang="en-US" altLang="zh-CN" dirty="0">
                <a:ea typeface="黑体" panose="02010609060101010101" pitchFamily="49" charset="-122"/>
              </a:rPr>
              <a:t>Sno.</a:t>
            </a:r>
            <a:endParaRPr lang="en-US" altLang="zh-CN" dirty="0">
              <a:ea typeface="黑体" panose="02010609060101010101" pitchFamily="49" charset="-122"/>
            </a:endParaRPr>
          </a:p>
          <a:p>
            <a:pPr marL="0" lvl="0" indent="0" eaLnBrk="1" hangingPunct="1">
              <a:lnSpc>
                <a:spcPct val="120000"/>
              </a:lnSpc>
              <a:spcBef>
                <a:spcPct val="15000"/>
              </a:spcBef>
              <a:buClrTx/>
              <a:buSzTx/>
              <a:buNone/>
            </a:pPr>
            <a:r>
              <a:rPr lang="en-US" altLang="zh-CN" dirty="0">
                <a:ea typeface="黑体" panose="02010609060101010101" pitchFamily="49" charset="-122"/>
              </a:rPr>
              <a:t>      S-L(Sdept,Sloc),</a:t>
            </a:r>
            <a:r>
              <a:rPr lang="zh-CN" altLang="en-US" dirty="0">
                <a:ea typeface="黑体" panose="02010609060101010101" pitchFamily="49" charset="-122"/>
              </a:rPr>
              <a:t>主键为</a:t>
            </a:r>
            <a:r>
              <a:rPr lang="en-US" altLang="zh-CN" dirty="0">
                <a:ea typeface="黑体" panose="02010609060101010101" pitchFamily="49" charset="-122"/>
              </a:rPr>
              <a:t>Sdept.</a:t>
            </a:r>
            <a:endParaRPr lang="en-US" altLang="zh-CN" dirty="0">
              <a:ea typeface="黑体" panose="02010609060101010101" pitchFamily="49" charset="-122"/>
            </a:endParaRPr>
          </a:p>
          <a:p>
            <a:pPr marL="0" lvl="0" indent="0" eaLnBrk="1" hangingPunct="1">
              <a:lnSpc>
                <a:spcPct val="120000"/>
              </a:lnSpc>
              <a:spcBef>
                <a:spcPct val="15000"/>
              </a:spcBef>
              <a:buClrTx/>
              <a:buSzTx/>
              <a:buNone/>
            </a:pPr>
            <a:r>
              <a:rPr lang="en-US" altLang="zh-CN" dirty="0">
                <a:ea typeface="黑体" panose="02010609060101010101" pitchFamily="49" charset="-122"/>
              </a:rPr>
              <a:t>      </a:t>
            </a:r>
            <a:r>
              <a:rPr lang="zh-CN" altLang="en-US" dirty="0">
                <a:ea typeface="黑体" panose="02010609060101010101" pitchFamily="49" charset="-122"/>
              </a:rPr>
              <a:t>对</a:t>
            </a:r>
            <a:r>
              <a:rPr lang="en-US" altLang="zh-CN" dirty="0">
                <a:ea typeface="黑体" panose="02010609060101010101" pitchFamily="49" charset="-122"/>
              </a:rPr>
              <a:t>S-D</a:t>
            </a:r>
            <a:r>
              <a:rPr lang="zh-CN" altLang="en-US" dirty="0">
                <a:ea typeface="黑体" panose="02010609060101010101" pitchFamily="49" charset="-122"/>
              </a:rPr>
              <a:t>，有：</a:t>
            </a:r>
            <a:endParaRPr lang="zh-CN" altLang="en-US" dirty="0">
              <a:ea typeface="黑体" panose="02010609060101010101" pitchFamily="49" charset="-122"/>
            </a:endParaRPr>
          </a:p>
          <a:p>
            <a:pPr marL="0" lvl="0" indent="0" eaLnBrk="1" hangingPunct="1">
              <a:lnSpc>
                <a:spcPct val="120000"/>
              </a:lnSpc>
              <a:spcBef>
                <a:spcPct val="15000"/>
              </a:spcBef>
              <a:buClrTx/>
              <a:buSzTx/>
              <a:buNone/>
            </a:pPr>
            <a:r>
              <a:rPr lang="zh-CN" altLang="en-US" dirty="0">
                <a:ea typeface="黑体" panose="02010609060101010101" pitchFamily="49" charset="-122"/>
              </a:rPr>
              <a:t>      对</a:t>
            </a:r>
            <a:r>
              <a:rPr lang="en-US" altLang="zh-CN" dirty="0">
                <a:ea typeface="黑体" panose="02010609060101010101" pitchFamily="49" charset="-122"/>
              </a:rPr>
              <a:t>S-L</a:t>
            </a:r>
            <a:r>
              <a:rPr lang="zh-CN" altLang="en-US" dirty="0">
                <a:ea typeface="黑体" panose="02010609060101010101" pitchFamily="49" charset="-122"/>
              </a:rPr>
              <a:t>，有：</a:t>
            </a:r>
            <a:endParaRPr lang="zh-CN" altLang="en-US" dirty="0">
              <a:ea typeface="黑体" panose="02010609060101010101" pitchFamily="49" charset="-122"/>
            </a:endParaRPr>
          </a:p>
          <a:p>
            <a:pPr marL="0" lvl="0" indent="0" eaLnBrk="1" hangingPunct="1">
              <a:lnSpc>
                <a:spcPct val="120000"/>
              </a:lnSpc>
              <a:spcBef>
                <a:spcPct val="15000"/>
              </a:spcBef>
              <a:buClrTx/>
              <a:buSzTx/>
              <a:buNone/>
            </a:pPr>
            <a:r>
              <a:rPr lang="zh-CN" altLang="en-US" dirty="0">
                <a:ea typeface="黑体" panose="02010609060101010101" pitchFamily="49" charset="-122"/>
              </a:rPr>
              <a:t>      对</a:t>
            </a:r>
            <a:r>
              <a:rPr lang="en-US" altLang="zh-CN" dirty="0">
                <a:ea typeface="黑体" panose="02010609060101010101" pitchFamily="49" charset="-122"/>
              </a:rPr>
              <a:t>S-C</a:t>
            </a:r>
            <a:r>
              <a:rPr lang="zh-CN" altLang="en-US" dirty="0">
                <a:ea typeface="黑体" panose="02010609060101010101" pitchFamily="49" charset="-122"/>
              </a:rPr>
              <a:t>，有：</a:t>
            </a:r>
            <a:endParaRPr lang="zh-CN" altLang="en-US" dirty="0">
              <a:ea typeface="黑体" panose="02010609060101010101" pitchFamily="49" charset="-122"/>
            </a:endParaRPr>
          </a:p>
          <a:p>
            <a:pPr marL="0" lvl="0" indent="0" eaLnBrk="1" hangingPunct="1">
              <a:lnSpc>
                <a:spcPct val="120000"/>
              </a:lnSpc>
              <a:spcBef>
                <a:spcPct val="5000"/>
              </a:spcBef>
              <a:buClrTx/>
              <a:buSzTx/>
              <a:buNone/>
            </a:pPr>
            <a:r>
              <a:rPr lang="zh-CN" altLang="en-US" dirty="0">
                <a:ea typeface="黑体" panose="02010609060101010101" pitchFamily="49" charset="-122"/>
              </a:rPr>
              <a:t>      至此，</a:t>
            </a:r>
            <a:r>
              <a:rPr lang="en-US" altLang="zh-CN" dirty="0">
                <a:ea typeface="黑体" panose="02010609060101010101" pitchFamily="49" charset="-122"/>
              </a:rPr>
              <a:t>S-L-C </a:t>
            </a:r>
            <a:r>
              <a:rPr lang="zh-CN" altLang="en-US" dirty="0">
                <a:ea typeface="黑体" panose="02010609060101010101" pitchFamily="49" charset="-122"/>
              </a:rPr>
              <a:t>关系模式分解为</a:t>
            </a:r>
            <a:r>
              <a:rPr lang="en-US" altLang="zh-CN" dirty="0">
                <a:ea typeface="黑体" panose="02010609060101010101" pitchFamily="49" charset="-122"/>
              </a:rPr>
              <a:t>3</a:t>
            </a:r>
            <a:r>
              <a:rPr lang="zh-CN" altLang="en-US" dirty="0">
                <a:ea typeface="黑体" panose="02010609060101010101" pitchFamily="49" charset="-122"/>
              </a:rPr>
              <a:t>个关系模式，每个关系模式都是第三范式的。模式分解后，原来在一个关系中表达的信息被分解到</a:t>
            </a:r>
            <a:r>
              <a:rPr lang="en-US" altLang="zh-CN" dirty="0">
                <a:ea typeface="黑体" panose="02010609060101010101" pitchFamily="49" charset="-122"/>
              </a:rPr>
              <a:t>3</a:t>
            </a:r>
            <a:r>
              <a:rPr lang="zh-CN" altLang="en-US" dirty="0">
                <a:ea typeface="黑体" panose="02010609060101010101" pitchFamily="49" charset="-122"/>
              </a:rPr>
              <a:t>个关系中表达，分解后除了要标识主键外，还要标识相应的外键。</a:t>
            </a:r>
            <a:endParaRPr lang="zh-CN" altLang="en-US" dirty="0">
              <a:ea typeface="黑体" panose="02010609060101010101" pitchFamily="49" charset="-122"/>
            </a:endParaRPr>
          </a:p>
          <a:p>
            <a:pPr marL="0" lvl="0" indent="0" eaLnBrk="1" hangingPunct="1">
              <a:lnSpc>
                <a:spcPct val="120000"/>
              </a:lnSpc>
              <a:spcBef>
                <a:spcPct val="5000"/>
              </a:spcBef>
              <a:buClrTx/>
              <a:buSzTx/>
              <a:buNone/>
            </a:pPr>
            <a:r>
              <a:rPr lang="zh-CN" altLang="en-US" dirty="0">
                <a:ea typeface="黑体" panose="02010609060101010101" pitchFamily="49" charset="-122"/>
              </a:rPr>
              <a:t>     </a:t>
            </a:r>
            <a:r>
              <a:rPr lang="en-US" altLang="zh-CN" dirty="0">
                <a:ea typeface="黑体" panose="02010609060101010101" pitchFamily="49" charset="-122"/>
              </a:rPr>
              <a:t>S-D(</a:t>
            </a:r>
            <a:r>
              <a:rPr lang="en-US" altLang="zh-CN" u="sng" dirty="0">
                <a:ea typeface="黑体" panose="02010609060101010101" pitchFamily="49" charset="-122"/>
              </a:rPr>
              <a:t>Sno</a:t>
            </a:r>
            <a:r>
              <a:rPr lang="en-US" altLang="zh-CN" dirty="0">
                <a:ea typeface="黑体" panose="02010609060101010101" pitchFamily="49" charset="-122"/>
              </a:rPr>
              <a:t>,Sname,Ssex,Sdept)Sdept</a:t>
            </a:r>
            <a:r>
              <a:rPr lang="zh-CN" altLang="en-US" dirty="0">
                <a:ea typeface="黑体" panose="02010609060101010101" pitchFamily="49" charset="-122"/>
              </a:rPr>
              <a:t>为引用</a:t>
            </a:r>
            <a:r>
              <a:rPr lang="en-US" altLang="zh-CN" dirty="0">
                <a:ea typeface="黑体" panose="02010609060101010101" pitchFamily="49" charset="-122"/>
              </a:rPr>
              <a:t>S-L</a:t>
            </a:r>
            <a:r>
              <a:rPr lang="zh-CN" altLang="en-US" dirty="0">
                <a:ea typeface="黑体" panose="02010609060101010101" pitchFamily="49" charset="-122"/>
              </a:rPr>
              <a:t>表的外键。</a:t>
            </a:r>
            <a:endParaRPr lang="zh-CN" altLang="en-US" dirty="0">
              <a:ea typeface="黑体" panose="02010609060101010101" pitchFamily="49" charset="-122"/>
            </a:endParaRPr>
          </a:p>
          <a:p>
            <a:pPr marL="0" lvl="0" indent="0" eaLnBrk="1" hangingPunct="1">
              <a:lnSpc>
                <a:spcPct val="120000"/>
              </a:lnSpc>
              <a:spcBef>
                <a:spcPct val="5000"/>
              </a:spcBef>
              <a:buClrTx/>
              <a:buSzTx/>
              <a:buNone/>
            </a:pPr>
            <a:r>
              <a:rPr lang="zh-CN" altLang="en-US" dirty="0">
                <a:ea typeface="黑体" panose="02010609060101010101" pitchFamily="49" charset="-122"/>
              </a:rPr>
              <a:t>     </a:t>
            </a:r>
            <a:r>
              <a:rPr lang="en-US" altLang="zh-CN" dirty="0">
                <a:ea typeface="黑体" panose="02010609060101010101" pitchFamily="49" charset="-122"/>
              </a:rPr>
              <a:t>S-L(</a:t>
            </a:r>
            <a:r>
              <a:rPr lang="en-US" altLang="zh-CN" u="sng" dirty="0">
                <a:ea typeface="黑体" panose="02010609060101010101" pitchFamily="49" charset="-122"/>
              </a:rPr>
              <a:t>Sdept</a:t>
            </a:r>
            <a:r>
              <a:rPr lang="en-US" altLang="zh-CN" dirty="0">
                <a:ea typeface="黑体" panose="02010609060101010101" pitchFamily="49" charset="-122"/>
              </a:rPr>
              <a:t>,Sloc)</a:t>
            </a:r>
            <a:endParaRPr lang="zh-CN" altLang="en-US" dirty="0">
              <a:ea typeface="黑体" panose="02010609060101010101" pitchFamily="49" charset="-122"/>
            </a:endParaRPr>
          </a:p>
          <a:p>
            <a:pPr marL="0" lvl="0" indent="0" eaLnBrk="1" hangingPunct="1">
              <a:lnSpc>
                <a:spcPct val="120000"/>
              </a:lnSpc>
              <a:spcBef>
                <a:spcPct val="5000"/>
              </a:spcBef>
              <a:buClrTx/>
              <a:buSzTx/>
              <a:buNone/>
            </a:pPr>
            <a:r>
              <a:rPr lang="zh-CN" altLang="en-US" dirty="0">
                <a:ea typeface="黑体" panose="02010609060101010101" pitchFamily="49" charset="-122"/>
              </a:rPr>
              <a:t>     </a:t>
            </a:r>
            <a:r>
              <a:rPr lang="en-US" altLang="zh-CN" dirty="0">
                <a:ea typeface="黑体" panose="02010609060101010101" pitchFamily="49" charset="-122"/>
              </a:rPr>
              <a:t>S-C(</a:t>
            </a:r>
            <a:r>
              <a:rPr lang="en-US" altLang="zh-CN" u="sng" dirty="0">
                <a:ea typeface="黑体" panose="02010609060101010101" pitchFamily="49" charset="-122"/>
              </a:rPr>
              <a:t>Sno,Cno</a:t>
            </a:r>
            <a:r>
              <a:rPr lang="en-US" altLang="zh-CN" dirty="0">
                <a:ea typeface="黑体" panose="02010609060101010101" pitchFamily="49" charset="-122"/>
              </a:rPr>
              <a:t>,Grade),Sno</a:t>
            </a:r>
            <a:r>
              <a:rPr lang="zh-CN" altLang="en-US" dirty="0">
                <a:ea typeface="黑体" panose="02010609060101010101" pitchFamily="49" charset="-122"/>
              </a:rPr>
              <a:t>为引用</a:t>
            </a:r>
            <a:r>
              <a:rPr lang="en-US" altLang="zh-CN" dirty="0">
                <a:ea typeface="黑体" panose="02010609060101010101" pitchFamily="49" charset="-122"/>
              </a:rPr>
              <a:t>S-D</a:t>
            </a:r>
            <a:r>
              <a:rPr lang="zh-CN" altLang="en-US" dirty="0">
                <a:ea typeface="黑体" panose="02010609060101010101" pitchFamily="49" charset="-122"/>
              </a:rPr>
              <a:t>表的外键。</a:t>
            </a:r>
            <a:endParaRPr lang="zh-CN" altLang="en-US" dirty="0">
              <a:ea typeface="黑体" panose="02010609060101010101" pitchFamily="49" charset="-122"/>
            </a:endParaRPr>
          </a:p>
        </p:txBody>
      </p:sp>
      <p:graphicFrame>
        <p:nvGraphicFramePr>
          <p:cNvPr id="41987" name="对象 35842"/>
          <p:cNvGraphicFramePr>
            <a:graphicFrameLocks noChangeAspect="1"/>
          </p:cNvGraphicFramePr>
          <p:nvPr/>
        </p:nvGraphicFramePr>
        <p:xfrm>
          <a:off x="2174875" y="2640013"/>
          <a:ext cx="4975225" cy="1168400"/>
        </p:xfrm>
        <a:graphic>
          <a:graphicData uri="http://schemas.openxmlformats.org/presentationml/2006/ole">
            <mc:AlternateContent xmlns:mc="http://schemas.openxmlformats.org/markup-compatibility/2006">
              <mc:Choice xmlns:v="urn:schemas-microsoft-com:vml" Requires="v">
                <p:oleObj spid="_x0000_s3079" name="" r:id="rId1" imgW="3124200" imgH="736600" progId="Equation.3">
                  <p:embed/>
                </p:oleObj>
              </mc:Choice>
              <mc:Fallback>
                <p:oleObj name="" r:id="rId1" imgW="3124200" imgH="736600" progId="Equation.3">
                  <p:embed/>
                  <p:pic>
                    <p:nvPicPr>
                      <p:cNvPr id="0" name="图片 3078"/>
                      <p:cNvPicPr/>
                      <p:nvPr/>
                    </p:nvPicPr>
                    <p:blipFill>
                      <a:blip r:embed="rId2"/>
                      <a:stretch>
                        <a:fillRect/>
                      </a:stretch>
                    </p:blipFill>
                    <p:spPr>
                      <a:xfrm>
                        <a:off x="2174875" y="2640013"/>
                        <a:ext cx="4975225" cy="1168400"/>
                      </a:xfrm>
                      <a:prstGeom prst="rect">
                        <a:avLst/>
                      </a:prstGeom>
                      <a:noFill/>
                      <a:ln w="38100">
                        <a:noFill/>
                        <a:miter/>
                      </a:ln>
                    </p:spPr>
                  </p:pic>
                </p:oleObj>
              </mc:Fallback>
            </mc:AlternateContent>
          </a:graphicData>
        </a:graphic>
      </p:graphicFrame>
      <p:sp>
        <p:nvSpPr>
          <p:cNvPr id="41988" name="Rectangle 7"/>
          <p:cNvSpPr/>
          <p:nvPr/>
        </p:nvSpPr>
        <p:spPr>
          <a:xfrm>
            <a:off x="471488" y="750888"/>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、关系数据库的第三范式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41989"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3" descr="Rectangle: Click to edit Master text styles&#10;Second level&#10;Third level&#10;Fourth level&#10;Fifth level"/>
          <p:cNvSpPr txBox="1"/>
          <p:nvPr/>
        </p:nvSpPr>
        <p:spPr>
          <a:xfrm>
            <a:off x="649288" y="1336358"/>
            <a:ext cx="8256587" cy="463708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buFont typeface="Wingdings" panose="05000000000000000000" pitchFamily="2" charset="2"/>
              <a:buChar char="Ø"/>
            </a:pPr>
            <a:r>
              <a:rPr lang="en-US" altLang="zh-CN" sz="2400" u="sng" dirty="0">
                <a:solidFill>
                  <a:srgbClr val="0033CC"/>
                </a:solidFill>
              </a:rPr>
              <a:t> 3NF</a:t>
            </a:r>
            <a:r>
              <a:rPr lang="zh-CN" altLang="en-US" sz="2400" u="sng" dirty="0">
                <a:solidFill>
                  <a:srgbClr val="0033CC"/>
                </a:solidFill>
              </a:rPr>
              <a:t>异常示例： </a:t>
            </a:r>
            <a:endParaRPr lang="zh-CN" altLang="en-US" sz="2400" u="sng" dirty="0">
              <a:solidFill>
                <a:srgbClr val="0033CC"/>
              </a:solidFill>
            </a:endParaRPr>
          </a:p>
          <a:p>
            <a:pPr marL="0" lvl="0" indent="0">
              <a:buFont typeface="Arial" panose="020B0604020202020204" pitchFamily="34" charset="0"/>
              <a:buNone/>
            </a:pPr>
            <a:r>
              <a:rPr lang="zh-CN" altLang="en-US" dirty="0"/>
              <a:t>学生教师课程关系STC </a:t>
            </a:r>
            <a:r>
              <a:rPr lang="en-US" altLang="zh-CN" dirty="0"/>
              <a:t>(Sid, Tid, Cid)</a:t>
            </a:r>
            <a:r>
              <a:rPr lang="zh-CN" altLang="en-US" dirty="0"/>
              <a:t>。</a:t>
            </a:r>
            <a:r>
              <a:rPr lang="zh-CN" altLang="en-US" i="1" dirty="0">
                <a:solidFill>
                  <a:srgbClr val="FF0000"/>
                </a:solidFill>
              </a:rPr>
              <a:t>规定一个教师只上一门课，一门课也只能由一位教师</a:t>
            </a:r>
            <a:r>
              <a:rPr lang="zh-CN" altLang="en-US" i="1" dirty="0">
                <a:solidFill>
                  <a:srgbClr val="FF0000"/>
                </a:solidFill>
              </a:rPr>
              <a:t>上。</a:t>
            </a:r>
            <a:endParaRPr lang="en-US" altLang="zh-CN" dirty="0"/>
          </a:p>
          <a:p>
            <a:pPr marL="0" lvl="0" indent="0">
              <a:buFont typeface="Arial" panose="020B0604020202020204" pitchFamily="34" charset="0"/>
              <a:buNone/>
            </a:pPr>
            <a:r>
              <a:rPr lang="zh-CN" altLang="en-US" dirty="0"/>
              <a:t>其中（ </a:t>
            </a:r>
            <a:r>
              <a:rPr lang="en-US" altLang="zh-CN" dirty="0"/>
              <a:t>Sid, Tid</a:t>
            </a:r>
            <a:r>
              <a:rPr lang="zh-CN" altLang="en-US" dirty="0"/>
              <a:t>）</a:t>
            </a:r>
            <a:r>
              <a:rPr lang="en-US" altLang="zh-CN" dirty="0"/>
              <a:t>,</a:t>
            </a:r>
            <a:r>
              <a:rPr lang="zh-CN" altLang="en-US" dirty="0"/>
              <a:t>（ </a:t>
            </a:r>
            <a:r>
              <a:rPr lang="en-US" altLang="zh-CN" dirty="0"/>
              <a:t>Sid, Cid</a:t>
            </a:r>
            <a:r>
              <a:rPr lang="zh-CN" altLang="en-US" dirty="0"/>
              <a:t>）</a:t>
            </a:r>
            <a:r>
              <a:rPr lang="en-US" altLang="zh-CN" dirty="0"/>
              <a:t>,</a:t>
            </a:r>
            <a:r>
              <a:rPr lang="zh-CN" altLang="en-US" dirty="0"/>
              <a:t>为候选键。</a:t>
            </a:r>
            <a:r>
              <a:rPr lang="en-US" altLang="zh-CN" i="1" dirty="0">
                <a:solidFill>
                  <a:srgbClr val="FF0000"/>
                </a:solidFill>
              </a:rPr>
              <a:t>Sid</a:t>
            </a:r>
            <a:r>
              <a:rPr lang="zh-CN" altLang="zh-CN" i="1" dirty="0">
                <a:solidFill>
                  <a:srgbClr val="FF0000"/>
                </a:solidFill>
              </a:rPr>
              <a:t>、</a:t>
            </a:r>
            <a:r>
              <a:rPr lang="en-US" altLang="zh-CN" i="1" dirty="0">
                <a:solidFill>
                  <a:srgbClr val="FF0000"/>
                </a:solidFill>
              </a:rPr>
              <a:t>Tid</a:t>
            </a:r>
            <a:r>
              <a:rPr lang="zh-CN" altLang="en-US" i="1" dirty="0">
                <a:solidFill>
                  <a:srgbClr val="FF0000"/>
                </a:solidFill>
              </a:rPr>
              <a:t>和</a:t>
            </a:r>
            <a:r>
              <a:rPr lang="en-US" altLang="zh-CN" i="1" dirty="0">
                <a:solidFill>
                  <a:srgbClr val="FF0000"/>
                </a:solidFill>
              </a:rPr>
              <a:t>Cid</a:t>
            </a:r>
            <a:r>
              <a:rPr lang="zh-CN" altLang="en-US" i="1" dirty="0">
                <a:solidFill>
                  <a:srgbClr val="FF0000"/>
                </a:solidFill>
              </a:rPr>
              <a:t>都是主属性</a:t>
            </a:r>
            <a:endParaRPr lang="zh-CN" altLang="en-US" i="1" dirty="0">
              <a:solidFill>
                <a:srgbClr val="FF0000"/>
              </a:solidFill>
            </a:endParaRPr>
          </a:p>
          <a:p>
            <a:pPr marL="0" lvl="0" indent="0">
              <a:buFont typeface="Arial" panose="020B0604020202020204" pitchFamily="34" charset="0"/>
              <a:buNone/>
            </a:pPr>
            <a:r>
              <a:rPr lang="zh-CN" altLang="en-US" dirty="0"/>
              <a:t>其中的函数依赖有：</a:t>
            </a:r>
            <a:r>
              <a:rPr lang="en-US" altLang="zh-CN" dirty="0"/>
              <a:t> (Sid</a:t>
            </a:r>
            <a:r>
              <a:rPr lang="zh-CN" altLang="en-US" dirty="0"/>
              <a:t>，</a:t>
            </a:r>
            <a:r>
              <a:rPr lang="en-US" altLang="zh-CN" dirty="0"/>
              <a:t>Cid)       Tid </a:t>
            </a:r>
            <a:endParaRPr lang="zh-CN" altLang="en-US" dirty="0"/>
          </a:p>
          <a:p>
            <a:pPr marL="0" lvl="0" indent="0">
              <a:buFont typeface="Arial" panose="020B0604020202020204" pitchFamily="34" charset="0"/>
              <a:buNone/>
            </a:pPr>
            <a:r>
              <a:rPr lang="en-US" altLang="zh-CN" dirty="0"/>
              <a:t>(Sid</a:t>
            </a:r>
            <a:r>
              <a:rPr lang="zh-CN" altLang="en-US" dirty="0"/>
              <a:t>，</a:t>
            </a:r>
            <a:r>
              <a:rPr lang="en-US" altLang="zh-CN" dirty="0"/>
              <a:t>Tid)       Cid</a:t>
            </a:r>
            <a:r>
              <a:rPr lang="zh-CN" altLang="en-US" dirty="0"/>
              <a:t>，</a:t>
            </a:r>
            <a:r>
              <a:rPr lang="en-US" altLang="zh-CN" dirty="0"/>
              <a:t> Tid </a:t>
            </a:r>
            <a:r>
              <a:rPr lang="en-US" altLang="zh-CN" dirty="0">
                <a:solidFill>
                  <a:srgbClr val="0033CC"/>
                </a:solidFill>
                <a:sym typeface="+mn-ea"/>
              </a:rPr>
              <a:t>↔</a:t>
            </a:r>
            <a:r>
              <a:rPr lang="en-US" altLang="zh-CN" dirty="0"/>
              <a:t> Cid   </a:t>
            </a:r>
            <a:endParaRPr lang="en-US" altLang="zh-CN" dirty="0"/>
          </a:p>
          <a:p>
            <a:pPr marL="0" lvl="0" indent="0">
              <a:buFont typeface="Arial" panose="020B0604020202020204" pitchFamily="34" charset="0"/>
              <a:buNone/>
            </a:pPr>
            <a:r>
              <a:rPr lang="zh-CN" altLang="en-US" dirty="0"/>
              <a:t>存在主属性部分函数依赖于候选键的情况。</a:t>
            </a:r>
            <a:endParaRPr lang="en-US" altLang="zh-CN" dirty="0"/>
          </a:p>
          <a:p>
            <a:pPr marL="0" lvl="0" indent="0">
              <a:buNone/>
            </a:pPr>
            <a:endParaRPr lang="zh-CN" altLang="en-US" dirty="0"/>
          </a:p>
        </p:txBody>
      </p:sp>
      <p:grpSp>
        <p:nvGrpSpPr>
          <p:cNvPr id="44035" name="Group 17"/>
          <p:cNvGrpSpPr/>
          <p:nvPr/>
        </p:nvGrpSpPr>
        <p:grpSpPr>
          <a:xfrm>
            <a:off x="1962468" y="3067685"/>
            <a:ext cx="433387" cy="396875"/>
            <a:chOff x="0" y="0"/>
            <a:chExt cx="318" cy="250"/>
          </a:xfrm>
        </p:grpSpPr>
        <p:sp>
          <p:nvSpPr>
            <p:cNvPr id="44062" name="Text Box 18"/>
            <p:cNvSpPr txBox="1"/>
            <p:nvPr/>
          </p:nvSpPr>
          <p:spPr>
            <a:xfrm>
              <a:off x="0" y="0"/>
              <a:ext cx="318" cy="250"/>
            </a:xfrm>
            <a:prstGeom prst="rect">
              <a:avLst/>
            </a:prstGeom>
            <a:noFill/>
            <a:ln w="9525">
              <a:noFill/>
            </a:ln>
          </p:spPr>
          <p:txBody>
            <a:bodyPr lIns="90000" tIns="46800" rIns="90000" bIns="4680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50000"/>
                </a:spcBef>
                <a:buClrTx/>
                <a:buSzTx/>
                <a:buFont typeface="Arial" panose="020B0604020202020204" pitchFamily="34" charset="0"/>
                <a:buNone/>
              </a:pPr>
              <a:r>
                <a:rPr lang="en-US" altLang="zh-CN" dirty="0">
                  <a:solidFill>
                    <a:srgbClr val="0000CC"/>
                  </a:solidFill>
                </a:rPr>
                <a:t>P</a:t>
              </a:r>
              <a:endParaRPr lang="en-US" altLang="zh-CN" dirty="0">
                <a:solidFill>
                  <a:srgbClr val="0000CC"/>
                </a:solidFill>
              </a:endParaRPr>
            </a:p>
          </p:txBody>
        </p:sp>
        <p:sp>
          <p:nvSpPr>
            <p:cNvPr id="44063" name="Line 19"/>
            <p:cNvSpPr/>
            <p:nvPr/>
          </p:nvSpPr>
          <p:spPr>
            <a:xfrm>
              <a:off x="25" y="209"/>
              <a:ext cx="272" cy="0"/>
            </a:xfrm>
            <a:prstGeom prst="line">
              <a:avLst/>
            </a:prstGeom>
            <a:ln w="28575" cap="flat" cmpd="sng">
              <a:solidFill>
                <a:schemeClr val="tx1"/>
              </a:solidFill>
              <a:prstDash val="solid"/>
              <a:headEnd type="none" w="med" len="med"/>
              <a:tailEnd type="triangle" w="med" len="med"/>
            </a:ln>
          </p:spPr>
        </p:sp>
      </p:grpSp>
      <p:sp>
        <p:nvSpPr>
          <p:cNvPr id="44037" name="Rectangle 7"/>
          <p:cNvSpPr/>
          <p:nvPr/>
        </p:nvSpPr>
        <p:spPr>
          <a:xfrm>
            <a:off x="560388" y="823913"/>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、关系数据库的第三范式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44038"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44039" name="矩形 36874"/>
          <p:cNvSpPr/>
          <p:nvPr/>
        </p:nvSpPr>
        <p:spPr>
          <a:xfrm>
            <a:off x="1800225" y="4064000"/>
            <a:ext cx="1014413" cy="484188"/>
          </a:xfrm>
          <a:prstGeom prst="rect">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S</a:t>
            </a:r>
            <a:endParaRPr lang="zh-CN" altLang="en-US" sz="1800" dirty="0"/>
          </a:p>
        </p:txBody>
      </p:sp>
      <p:sp>
        <p:nvSpPr>
          <p:cNvPr id="44040" name="椭圆 36875"/>
          <p:cNvSpPr/>
          <p:nvPr/>
        </p:nvSpPr>
        <p:spPr>
          <a:xfrm>
            <a:off x="606425" y="4032250"/>
            <a:ext cx="823913" cy="501650"/>
          </a:xfrm>
          <a:prstGeom prst="ellipse">
            <a:avLst/>
          </a:prstGeom>
          <a:solidFill>
            <a:schemeClr val="accent1"/>
          </a:solidFill>
          <a:ln w="9525" cap="flat" cmpd="sng">
            <a:solidFill>
              <a:schemeClr val="tx1"/>
            </a:solidFill>
            <a:prstDash val="solid"/>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u="sng" dirty="0"/>
              <a:t>Sid</a:t>
            </a:r>
            <a:endParaRPr lang="zh-CN" altLang="en-US" sz="1800" u="sng" dirty="0"/>
          </a:p>
        </p:txBody>
      </p:sp>
      <p:sp>
        <p:nvSpPr>
          <p:cNvPr id="44041" name="矩形 36876"/>
          <p:cNvSpPr/>
          <p:nvPr/>
        </p:nvSpPr>
        <p:spPr>
          <a:xfrm>
            <a:off x="1763713" y="5368925"/>
            <a:ext cx="1016000" cy="484188"/>
          </a:xfrm>
          <a:prstGeom prst="rect">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T</a:t>
            </a:r>
            <a:endParaRPr lang="zh-CN" altLang="en-US" sz="1800" dirty="0"/>
          </a:p>
        </p:txBody>
      </p:sp>
      <p:sp>
        <p:nvSpPr>
          <p:cNvPr id="44042" name="椭圆 36877"/>
          <p:cNvSpPr/>
          <p:nvPr/>
        </p:nvSpPr>
        <p:spPr>
          <a:xfrm>
            <a:off x="615950" y="5278438"/>
            <a:ext cx="823913" cy="500062"/>
          </a:xfrm>
          <a:prstGeom prst="ellipse">
            <a:avLst/>
          </a:prstGeom>
          <a:solidFill>
            <a:schemeClr val="accent1"/>
          </a:solidFill>
          <a:ln w="9525" cap="flat" cmpd="sng">
            <a:solidFill>
              <a:schemeClr val="tx1"/>
            </a:solidFill>
            <a:prstDash val="solid"/>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u="sng" dirty="0"/>
              <a:t>Tid</a:t>
            </a:r>
            <a:endParaRPr lang="zh-CN" altLang="en-US" sz="1800" u="sng" dirty="0"/>
          </a:p>
        </p:txBody>
      </p:sp>
      <p:sp>
        <p:nvSpPr>
          <p:cNvPr id="44043" name="矩形 36878"/>
          <p:cNvSpPr/>
          <p:nvPr/>
        </p:nvSpPr>
        <p:spPr>
          <a:xfrm>
            <a:off x="5121275" y="4737100"/>
            <a:ext cx="1014413" cy="482600"/>
          </a:xfrm>
          <a:prstGeom prst="rect">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C</a:t>
            </a:r>
            <a:endParaRPr lang="zh-CN" altLang="en-US" sz="1800" dirty="0"/>
          </a:p>
        </p:txBody>
      </p:sp>
      <p:sp>
        <p:nvSpPr>
          <p:cNvPr id="44044" name="椭圆 36879"/>
          <p:cNvSpPr/>
          <p:nvPr/>
        </p:nvSpPr>
        <p:spPr>
          <a:xfrm>
            <a:off x="6486525" y="4705350"/>
            <a:ext cx="823913" cy="500063"/>
          </a:xfrm>
          <a:prstGeom prst="ellipse">
            <a:avLst/>
          </a:prstGeom>
          <a:solidFill>
            <a:schemeClr val="accent1"/>
          </a:solidFill>
          <a:ln w="9525" cap="flat" cmpd="sng">
            <a:solidFill>
              <a:schemeClr val="tx1"/>
            </a:solidFill>
            <a:prstDash val="solid"/>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u="sng" dirty="0"/>
              <a:t>Cid</a:t>
            </a:r>
            <a:endParaRPr lang="zh-CN" altLang="en-US" sz="1800" u="sng" dirty="0"/>
          </a:p>
        </p:txBody>
      </p:sp>
      <p:sp>
        <p:nvSpPr>
          <p:cNvPr id="44045" name="直接连接符 36880"/>
          <p:cNvSpPr/>
          <p:nvPr/>
        </p:nvSpPr>
        <p:spPr>
          <a:xfrm>
            <a:off x="1444625" y="4297363"/>
            <a:ext cx="338138" cy="1587"/>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44046" name="直接连接符 36881"/>
          <p:cNvSpPr/>
          <p:nvPr/>
        </p:nvSpPr>
        <p:spPr>
          <a:xfrm>
            <a:off x="1423988" y="5559425"/>
            <a:ext cx="344487" cy="19050"/>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44047" name="菱形 36882"/>
          <p:cNvSpPr/>
          <p:nvPr/>
        </p:nvSpPr>
        <p:spPr>
          <a:xfrm>
            <a:off x="3240088" y="4400550"/>
            <a:ext cx="1220787" cy="427038"/>
          </a:xfrm>
          <a:prstGeom prst="diamond">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SC</a:t>
            </a:r>
            <a:endParaRPr lang="zh-CN" altLang="en-US" sz="1800" dirty="0"/>
          </a:p>
        </p:txBody>
      </p:sp>
      <p:sp>
        <p:nvSpPr>
          <p:cNvPr id="44048" name="直接连接符 36883"/>
          <p:cNvSpPr/>
          <p:nvPr/>
        </p:nvSpPr>
        <p:spPr>
          <a:xfrm>
            <a:off x="6134100" y="4954588"/>
            <a:ext cx="338138" cy="1587"/>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44049" name="菱形 36884"/>
          <p:cNvSpPr/>
          <p:nvPr/>
        </p:nvSpPr>
        <p:spPr>
          <a:xfrm>
            <a:off x="3263900" y="5203825"/>
            <a:ext cx="1222375" cy="427038"/>
          </a:xfrm>
          <a:prstGeom prst="diamond">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TC</a:t>
            </a:r>
            <a:endParaRPr lang="zh-CN" altLang="en-US" sz="1800" dirty="0"/>
          </a:p>
        </p:txBody>
      </p:sp>
      <p:sp>
        <p:nvSpPr>
          <p:cNvPr id="44050" name="直接连接符 36885"/>
          <p:cNvSpPr/>
          <p:nvPr/>
        </p:nvSpPr>
        <p:spPr>
          <a:xfrm>
            <a:off x="2838450" y="4308475"/>
            <a:ext cx="401638" cy="298450"/>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44051" name="直接连接符 36886"/>
          <p:cNvSpPr/>
          <p:nvPr/>
        </p:nvSpPr>
        <p:spPr>
          <a:xfrm>
            <a:off x="4437063" y="4597400"/>
            <a:ext cx="671512" cy="333375"/>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44052" name="直接连接符 36887"/>
          <p:cNvSpPr/>
          <p:nvPr/>
        </p:nvSpPr>
        <p:spPr>
          <a:xfrm flipV="1">
            <a:off x="4432300" y="4989513"/>
            <a:ext cx="692150" cy="412750"/>
          </a:xfrm>
          <a:prstGeom prst="line">
            <a:avLst/>
          </a:prstGeom>
          <a:ln w="9525" cap="flat" cmpd="sng">
            <a:solidFill>
              <a:schemeClr val="tx1"/>
            </a:solidFill>
            <a:prstDash val="solid"/>
            <a:headEnd type="triangle" w="med" len="med"/>
            <a:tailEnd type="none" w="med" len="med"/>
          </a:ln>
          <a:effectLst>
            <a:prstShdw prst="shdw17" dist="17961" dir="2699999">
              <a:srgbClr val="000000"/>
            </a:prstShdw>
          </a:effectLst>
        </p:spPr>
      </p:sp>
      <p:sp>
        <p:nvSpPr>
          <p:cNvPr id="44053" name="直接连接符 36888"/>
          <p:cNvSpPr/>
          <p:nvPr/>
        </p:nvSpPr>
        <p:spPr>
          <a:xfrm flipV="1">
            <a:off x="2779713" y="5430838"/>
            <a:ext cx="476250" cy="274637"/>
          </a:xfrm>
          <a:prstGeom prst="line">
            <a:avLst/>
          </a:prstGeom>
          <a:ln w="9525" cap="flat" cmpd="sng">
            <a:solidFill>
              <a:schemeClr val="tx1"/>
            </a:solidFill>
            <a:prstDash val="solid"/>
            <a:headEnd type="none" w="med" len="med"/>
            <a:tailEnd type="triangle" w="med" len="lg"/>
          </a:ln>
          <a:effectLst>
            <a:prstShdw prst="shdw17" dist="17961" dir="2699999">
              <a:srgbClr val="000000"/>
            </a:prstShdw>
          </a:effectLst>
        </p:spPr>
      </p:sp>
      <p:sp>
        <p:nvSpPr>
          <p:cNvPr id="44054" name="矩形 36889"/>
          <p:cNvSpPr/>
          <p:nvPr/>
        </p:nvSpPr>
        <p:spPr>
          <a:xfrm>
            <a:off x="2798763" y="4032250"/>
            <a:ext cx="896937" cy="441325"/>
          </a:xfrm>
          <a:prstGeom prst="rect">
            <a:avLst/>
          </a:prstGeom>
          <a:noFill/>
          <a:ln w="9525">
            <a:noFill/>
          </a:ln>
          <a:effectLst>
            <a:prstShdw prst="shdw17" dist="17961" dir="2699999">
              <a:srgbClr val="708688"/>
            </a:prstShdw>
          </a:effectLst>
        </p:spPr>
        <p:txBody>
          <a:bodyPr wrap="none" lIns="90170" tIns="46990" rIns="90170" bIns="4699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m</a:t>
            </a:r>
            <a:endParaRPr lang="zh-CN" altLang="en-US" sz="1800" dirty="0"/>
          </a:p>
        </p:txBody>
      </p:sp>
      <p:sp>
        <p:nvSpPr>
          <p:cNvPr id="44055" name="矩形 36890"/>
          <p:cNvSpPr/>
          <p:nvPr/>
        </p:nvSpPr>
        <p:spPr>
          <a:xfrm>
            <a:off x="4241800" y="4308475"/>
            <a:ext cx="898525" cy="441325"/>
          </a:xfrm>
          <a:prstGeom prst="rect">
            <a:avLst/>
          </a:prstGeom>
          <a:noFill/>
          <a:ln w="9525">
            <a:noFill/>
          </a:ln>
          <a:effectLst>
            <a:prstShdw prst="shdw17" dist="17961" dir="2699999">
              <a:srgbClr val="708688"/>
            </a:prstShdw>
          </a:effectLst>
        </p:spPr>
        <p:txBody>
          <a:bodyPr wrap="none" lIns="90170" tIns="46990" rIns="90170" bIns="4699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n</a:t>
            </a:r>
            <a:endParaRPr lang="zh-CN" altLang="en-US" sz="1800" dirty="0"/>
          </a:p>
        </p:txBody>
      </p:sp>
      <p:sp>
        <p:nvSpPr>
          <p:cNvPr id="44056" name="矩形 36891"/>
          <p:cNvSpPr/>
          <p:nvPr/>
        </p:nvSpPr>
        <p:spPr>
          <a:xfrm>
            <a:off x="2660650" y="5013325"/>
            <a:ext cx="898525" cy="441325"/>
          </a:xfrm>
          <a:prstGeom prst="rect">
            <a:avLst/>
          </a:prstGeom>
          <a:noFill/>
          <a:ln w="9525">
            <a:noFill/>
          </a:ln>
          <a:effectLst>
            <a:prstShdw prst="shdw17" dist="17961" dir="2699999">
              <a:srgbClr val="708688"/>
            </a:prstShdw>
          </a:effectLst>
        </p:spPr>
        <p:txBody>
          <a:bodyPr wrap="none" lIns="90170" tIns="46990" rIns="90170" bIns="4699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en-US" altLang="zh-CN" sz="1800" dirty="0"/>
              <a:t>1</a:t>
            </a:r>
            <a:endParaRPr lang="en-US" altLang="zh-CN" sz="1800" dirty="0"/>
          </a:p>
        </p:txBody>
      </p:sp>
      <p:sp>
        <p:nvSpPr>
          <p:cNvPr id="44057" name="矩形 36892"/>
          <p:cNvSpPr/>
          <p:nvPr/>
        </p:nvSpPr>
        <p:spPr>
          <a:xfrm>
            <a:off x="4052888" y="4919663"/>
            <a:ext cx="898525" cy="441325"/>
          </a:xfrm>
          <a:prstGeom prst="rect">
            <a:avLst/>
          </a:prstGeom>
          <a:noFill/>
          <a:ln w="9525">
            <a:noFill/>
          </a:ln>
          <a:effectLst>
            <a:prstShdw prst="shdw17" dist="17961" dir="2699999">
              <a:srgbClr val="708688"/>
            </a:prstShdw>
          </a:effectLst>
        </p:spPr>
        <p:txBody>
          <a:bodyPr wrap="none" lIns="90170" tIns="46990" rIns="90170" bIns="4699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1</a:t>
            </a:r>
            <a:endParaRPr lang="zh-CN" altLang="en-US" sz="1800" dirty="0"/>
          </a:p>
        </p:txBody>
      </p:sp>
      <p:sp>
        <p:nvSpPr>
          <p:cNvPr id="44058" name="矩形 36893"/>
          <p:cNvSpPr/>
          <p:nvPr/>
        </p:nvSpPr>
        <p:spPr>
          <a:xfrm>
            <a:off x="2998788" y="4051300"/>
            <a:ext cx="1752600" cy="1727200"/>
          </a:xfrm>
          <a:prstGeom prst="rect">
            <a:avLst/>
          </a:prstGeom>
          <a:noFill/>
          <a:ln w="9525" cap="flat" cmpd="sng">
            <a:solidFill>
              <a:srgbClr val="0000FF"/>
            </a:solidFill>
            <a:prstDash val="dash"/>
            <a:miter/>
            <a:headEnd type="none" w="med" len="med"/>
            <a:tailEnd type="none" w="med" len="med"/>
          </a:ln>
          <a:effectLst>
            <a:prstShdw prst="shdw17" dist="17961" dir="2699999">
              <a:srgbClr val="000099"/>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44059" name="矩形 36894"/>
          <p:cNvSpPr/>
          <p:nvPr/>
        </p:nvSpPr>
        <p:spPr>
          <a:xfrm>
            <a:off x="5140325" y="5445125"/>
            <a:ext cx="3429000" cy="733425"/>
          </a:xfrm>
          <a:prstGeom prst="rect">
            <a:avLst/>
          </a:prstGeom>
          <a:noFill/>
          <a:ln w="9525">
            <a:noFill/>
          </a:ln>
          <a:effectLst>
            <a:prstShdw prst="shdw17" dist="17961" dir="2699999">
              <a:srgbClr val="708688"/>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t>STC由虚线框中的两个联系转换为</a:t>
            </a:r>
            <a:endParaRPr lang="zh-CN" altLang="en-US" sz="1800" dirty="0"/>
          </a:p>
          <a:p>
            <a:pPr marL="0" lvl="0" indent="0" eaLnBrk="1" hangingPunct="1">
              <a:spcBef>
                <a:spcPct val="0"/>
              </a:spcBef>
              <a:buClrTx/>
              <a:buSzTx/>
              <a:buFont typeface="Arial" panose="020B0604020202020204" pitchFamily="34" charset="0"/>
              <a:buNone/>
            </a:pPr>
            <a:r>
              <a:rPr lang="zh-CN" altLang="en-US" sz="1800" dirty="0"/>
              <a:t>一个关系模式</a:t>
            </a:r>
            <a:endParaRPr lang="zh-CN" altLang="en-US" sz="1800" dirty="0"/>
          </a:p>
        </p:txBody>
      </p:sp>
      <p:sp>
        <p:nvSpPr>
          <p:cNvPr id="2" name="Text Box 18"/>
          <p:cNvSpPr txBox="1"/>
          <p:nvPr/>
        </p:nvSpPr>
        <p:spPr>
          <a:xfrm>
            <a:off x="4431983" y="2718435"/>
            <a:ext cx="433387" cy="396875"/>
          </a:xfrm>
          <a:prstGeom prst="rect">
            <a:avLst/>
          </a:prstGeom>
          <a:noFill/>
          <a:ln w="9525">
            <a:noFill/>
          </a:ln>
        </p:spPr>
        <p:txBody>
          <a:bodyPr lIns="90000" tIns="46800" rIns="90000" bIns="4680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50000"/>
              </a:spcBef>
              <a:buClrTx/>
              <a:buSzTx/>
              <a:buFont typeface="Arial" panose="020B0604020202020204" pitchFamily="34" charset="0"/>
              <a:buNone/>
            </a:pPr>
            <a:r>
              <a:rPr lang="en-US" altLang="zh-CN" dirty="0">
                <a:solidFill>
                  <a:srgbClr val="0000CC"/>
                </a:solidFill>
              </a:rPr>
              <a:t>P</a:t>
            </a:r>
            <a:endParaRPr lang="en-US" altLang="zh-CN" dirty="0">
              <a:solidFill>
                <a:srgbClr val="0000CC"/>
              </a:solidFill>
            </a:endParaRPr>
          </a:p>
        </p:txBody>
      </p:sp>
      <p:sp>
        <p:nvSpPr>
          <p:cNvPr id="3" name="Line 19"/>
          <p:cNvSpPr/>
          <p:nvPr/>
        </p:nvSpPr>
        <p:spPr>
          <a:xfrm>
            <a:off x="4437479" y="3067368"/>
            <a:ext cx="370696" cy="0"/>
          </a:xfrm>
          <a:prstGeom prst="line">
            <a:avLst/>
          </a:prstGeom>
          <a:ln w="28575" cap="flat" cmpd="sng">
            <a:solidFill>
              <a:schemeClr val="tx1"/>
            </a:solidFill>
            <a:prstDash val="solid"/>
            <a:headEnd type="none" w="med" len="med"/>
            <a:tailEnd type="triangle" w="med" len="med"/>
          </a:ln>
        </p:spPr>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3" descr="Rectangle: Click to edit Master text styles&#10;Second level&#10;Third level&#10;Fourth level&#10;Fifth level"/>
          <p:cNvSpPr txBox="1"/>
          <p:nvPr/>
        </p:nvSpPr>
        <p:spPr>
          <a:xfrm>
            <a:off x="635000" y="1433513"/>
            <a:ext cx="8256588" cy="463708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buNone/>
            </a:pPr>
            <a:r>
              <a:rPr lang="zh-CN" altLang="en-US" sz="2400" u="sng" dirty="0">
                <a:solidFill>
                  <a:srgbClr val="0033CC"/>
                </a:solidFill>
              </a:rPr>
              <a:t>异常：</a:t>
            </a:r>
            <a:endParaRPr lang="zh-CN" altLang="en-US" sz="2400" u="sng" dirty="0">
              <a:solidFill>
                <a:srgbClr val="0033CC"/>
              </a:solidFill>
            </a:endParaRPr>
          </a:p>
          <a:p>
            <a:pPr marL="0" lvl="0" indent="0">
              <a:lnSpc>
                <a:spcPct val="120000"/>
              </a:lnSpc>
              <a:buFont typeface="Arial" panose="020B0604020202020204" pitchFamily="34" charset="0"/>
              <a:buNone/>
            </a:pPr>
            <a:r>
              <a:rPr lang="zh-CN" altLang="en-US" sz="2400" dirty="0">
                <a:solidFill>
                  <a:srgbClr val="CC0000"/>
                </a:solidFill>
              </a:rPr>
              <a:t>（</a:t>
            </a:r>
            <a:r>
              <a:rPr lang="en-US" altLang="zh-CN" sz="2400" dirty="0">
                <a:solidFill>
                  <a:srgbClr val="CC0000"/>
                </a:solidFill>
              </a:rPr>
              <a:t>1</a:t>
            </a:r>
            <a:r>
              <a:rPr lang="zh-CN" altLang="en-US" sz="2400" dirty="0">
                <a:solidFill>
                  <a:srgbClr val="CC0000"/>
                </a:solidFill>
              </a:rPr>
              <a:t>）</a:t>
            </a:r>
            <a:r>
              <a:rPr lang="zh-CN" altLang="en-US" sz="2400" u="sng" dirty="0">
                <a:solidFill>
                  <a:srgbClr val="CC0000"/>
                </a:solidFill>
              </a:rPr>
              <a:t>插入异常</a:t>
            </a:r>
            <a:r>
              <a:rPr lang="zh-CN" altLang="en-US" sz="2400" u="sng" dirty="0">
                <a:solidFill>
                  <a:srgbClr val="FF0000"/>
                </a:solidFill>
              </a:rPr>
              <a:t>：</a:t>
            </a:r>
            <a:r>
              <a:rPr lang="zh-CN" altLang="en-US" dirty="0"/>
              <a:t>插入尚未选课的学生时，不能插入。或插入没有学生选课的课程时，不能插入。</a:t>
            </a:r>
            <a:endParaRPr lang="zh-CN" altLang="en-US" dirty="0"/>
          </a:p>
          <a:p>
            <a:pPr marL="0" lvl="0" indent="0">
              <a:lnSpc>
                <a:spcPct val="120000"/>
              </a:lnSpc>
              <a:buFont typeface="Arial" panose="020B0604020202020204" pitchFamily="34" charset="0"/>
              <a:buNone/>
            </a:pPr>
            <a:r>
              <a:rPr lang="zh-CN" altLang="en-US" sz="2400" dirty="0">
                <a:solidFill>
                  <a:srgbClr val="FF0000"/>
                </a:solidFill>
              </a:rPr>
              <a:t>（</a:t>
            </a:r>
            <a:r>
              <a:rPr lang="en-US" altLang="zh-CN" sz="2400" dirty="0">
                <a:solidFill>
                  <a:srgbClr val="FF0000"/>
                </a:solidFill>
              </a:rPr>
              <a:t>2</a:t>
            </a:r>
            <a:r>
              <a:rPr lang="zh-CN" altLang="en-US" sz="2400" dirty="0">
                <a:solidFill>
                  <a:srgbClr val="FF0000"/>
                </a:solidFill>
              </a:rPr>
              <a:t>）</a:t>
            </a:r>
            <a:r>
              <a:rPr lang="zh-CN" altLang="en-US" sz="2400" u="sng" dirty="0">
                <a:solidFill>
                  <a:srgbClr val="FF0000"/>
                </a:solidFill>
              </a:rPr>
              <a:t>删除异常：</a:t>
            </a:r>
            <a:r>
              <a:rPr lang="zh-CN" altLang="en-US" dirty="0"/>
              <a:t>如选修某课程的学生全毕业，删除学生则会删除课程的信息。 </a:t>
            </a:r>
            <a:endParaRPr lang="zh-CN" altLang="en-US" dirty="0"/>
          </a:p>
          <a:p>
            <a:pPr marL="0" lvl="0" indent="0">
              <a:lnSpc>
                <a:spcPct val="120000"/>
              </a:lnSpc>
              <a:buFont typeface="Arial" panose="020B0604020202020204" pitchFamily="34" charset="0"/>
              <a:buNone/>
            </a:pPr>
            <a:r>
              <a:rPr lang="zh-CN" altLang="en-US" sz="2400" dirty="0">
                <a:solidFill>
                  <a:srgbClr val="FF0000"/>
                </a:solidFill>
              </a:rPr>
              <a:t>（</a:t>
            </a:r>
            <a:r>
              <a:rPr lang="en-US" altLang="zh-CN" sz="2400" dirty="0">
                <a:solidFill>
                  <a:srgbClr val="FF0000"/>
                </a:solidFill>
              </a:rPr>
              <a:t>3</a:t>
            </a:r>
            <a:r>
              <a:rPr lang="zh-CN" altLang="en-US" sz="2400" dirty="0">
                <a:solidFill>
                  <a:srgbClr val="FF0000"/>
                </a:solidFill>
              </a:rPr>
              <a:t>）</a:t>
            </a:r>
            <a:r>
              <a:rPr lang="zh-CN" altLang="en-US" sz="2400" u="sng" dirty="0">
                <a:solidFill>
                  <a:srgbClr val="FF0000"/>
                </a:solidFill>
              </a:rPr>
              <a:t>冗余：</a:t>
            </a:r>
            <a:r>
              <a:rPr lang="zh-CN" altLang="en-US" dirty="0"/>
              <a:t>每个选修某课程的学生均带有教师的信息，故冗余。</a:t>
            </a:r>
            <a:endParaRPr lang="zh-CN" altLang="en-US" dirty="0"/>
          </a:p>
          <a:p>
            <a:pPr marL="0" lvl="0" indent="0">
              <a:lnSpc>
                <a:spcPct val="120000"/>
              </a:lnSpc>
              <a:buFont typeface="Arial" panose="020B0604020202020204" pitchFamily="34" charset="0"/>
              <a:buNone/>
            </a:pPr>
            <a:r>
              <a:rPr lang="zh-CN" altLang="en-US" sz="2400" dirty="0">
                <a:solidFill>
                  <a:srgbClr val="FF0000"/>
                </a:solidFill>
              </a:rPr>
              <a:t>（</a:t>
            </a:r>
            <a:r>
              <a:rPr lang="en-US" altLang="zh-CN" sz="2400" dirty="0">
                <a:solidFill>
                  <a:srgbClr val="FF0000"/>
                </a:solidFill>
              </a:rPr>
              <a:t>4</a:t>
            </a:r>
            <a:r>
              <a:rPr lang="zh-CN" altLang="en-US" sz="2400" dirty="0">
                <a:solidFill>
                  <a:srgbClr val="FF0000"/>
                </a:solidFill>
              </a:rPr>
              <a:t>）</a:t>
            </a:r>
            <a:r>
              <a:rPr lang="zh-CN" altLang="en-US" sz="2400" u="sng" dirty="0">
                <a:solidFill>
                  <a:srgbClr val="FF0000"/>
                </a:solidFill>
              </a:rPr>
              <a:t>更新异常：</a:t>
            </a:r>
            <a:r>
              <a:rPr lang="zh-CN" altLang="en-US" dirty="0"/>
              <a:t>如修改某门课程信息，则要修改多行。</a:t>
            </a:r>
            <a:endParaRPr lang="zh-CN" altLang="en-US" dirty="0"/>
          </a:p>
        </p:txBody>
      </p:sp>
      <p:sp>
        <p:nvSpPr>
          <p:cNvPr id="45059" name="Rectangle 7"/>
          <p:cNvSpPr/>
          <p:nvPr/>
        </p:nvSpPr>
        <p:spPr>
          <a:xfrm>
            <a:off x="560388" y="823913"/>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、关系数据库的第三范式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45060"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7"/>
          <p:cNvSpPr/>
          <p:nvPr/>
        </p:nvSpPr>
        <p:spPr>
          <a:xfrm>
            <a:off x="487363" y="776288"/>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4</a:t>
            </a:r>
            <a:r>
              <a:rPr lang="zh-CN" altLang="en-US" sz="2800" dirty="0">
                <a:solidFill>
                  <a:srgbClr val="FF3300"/>
                </a:solidFill>
                <a:latin typeface="黑体" panose="02010609060101010101" pitchFamily="49" charset="-122"/>
                <a:ea typeface="黑体" panose="02010609060101010101" pitchFamily="49" charset="-122"/>
              </a:rPr>
              <a:t>、</a:t>
            </a:r>
            <a:r>
              <a:rPr lang="en-US" altLang="zh-CN" sz="2800" dirty="0">
                <a:solidFill>
                  <a:srgbClr val="FF3300"/>
                </a:solidFill>
                <a:latin typeface="黑体" panose="02010609060101010101" pitchFamily="49" charset="-122"/>
                <a:ea typeface="黑体" panose="02010609060101010101" pitchFamily="49" charset="-122"/>
              </a:rPr>
              <a:t>Boyce-Codd</a:t>
            </a:r>
            <a:r>
              <a:rPr lang="zh-CN" altLang="en-US" sz="2800" dirty="0">
                <a:solidFill>
                  <a:srgbClr val="FF3300"/>
                </a:solidFill>
                <a:latin typeface="黑体" panose="02010609060101010101" pitchFamily="49" charset="-122"/>
                <a:ea typeface="黑体" panose="02010609060101010101" pitchFamily="49" charset="-122"/>
              </a:rPr>
              <a:t>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46083" name="Text Box 3"/>
          <p:cNvSpPr txBox="1"/>
          <p:nvPr/>
        </p:nvSpPr>
        <p:spPr>
          <a:xfrm>
            <a:off x="361950" y="1357313"/>
            <a:ext cx="8631238" cy="46418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ts val="800"/>
              </a:spcBef>
              <a:buClrTx/>
              <a:buSzTx/>
              <a:buNone/>
            </a:pPr>
            <a:r>
              <a:rPr lang="zh-CN" altLang="en-US" dirty="0">
                <a:solidFill>
                  <a:srgbClr val="FF0000"/>
                </a:solidFill>
                <a:latin typeface="宋体" panose="02010600030101010101" pitchFamily="2" charset="-122"/>
              </a:rPr>
              <a:t>    </a:t>
            </a:r>
            <a:r>
              <a:rPr lang="zh-CN" altLang="en-US" dirty="0">
                <a:latin typeface="宋体" panose="02010600030101010101" pitchFamily="2" charset="-122"/>
              </a:rPr>
              <a:t>关系数据库的设计目的是消除部分依赖和传递依赖，因为这些依赖会导致更新异常。第二范式和第三范式都不允许存在对主键的部分依赖和传递依赖，但这些定义并没有考虑对候选键的依赖问题。如果只考虑对主键的依赖关系，则在第三范式的关系中可能存在引起数据冗余的函数依赖。第三范式的这些不足导致了另一种更强范式的出现，即</a:t>
            </a:r>
            <a:r>
              <a:rPr lang="en-US" altLang="zh-CN" dirty="0"/>
              <a:t>Boyce-Codd</a:t>
            </a:r>
            <a:r>
              <a:rPr lang="zh-CN" altLang="en-US" dirty="0"/>
              <a:t>范式。</a:t>
            </a:r>
            <a:endParaRPr lang="zh-CN" altLang="en-US" dirty="0"/>
          </a:p>
          <a:p>
            <a:pPr marL="0" lvl="0" indent="0" eaLnBrk="1" hangingPunct="1">
              <a:lnSpc>
                <a:spcPct val="120000"/>
              </a:lnSpc>
              <a:spcBef>
                <a:spcPct val="25000"/>
              </a:spcBef>
              <a:buClrTx/>
              <a:buSzTx/>
              <a:buNone/>
            </a:pPr>
            <a:r>
              <a:rPr lang="zh-CN" altLang="en-US" dirty="0">
                <a:solidFill>
                  <a:srgbClr val="0033CC"/>
                </a:solidFill>
              </a:rPr>
              <a:t>         </a:t>
            </a:r>
            <a:r>
              <a:rPr lang="zh-CN" altLang="en-US" sz="2200" u="sng" dirty="0">
                <a:solidFill>
                  <a:srgbClr val="FF3300"/>
                </a:solidFill>
              </a:rPr>
              <a:t>定义：如果</a:t>
            </a:r>
            <a:r>
              <a:rPr lang="en-US" altLang="zh-CN" sz="2200" u="sng" dirty="0">
                <a:solidFill>
                  <a:srgbClr val="FF3300"/>
                </a:solidFill>
              </a:rPr>
              <a:t>R(U,F) </a:t>
            </a:r>
            <a:r>
              <a:rPr lang="zh-CN" altLang="en-US" sz="2200" u="sng" dirty="0">
                <a:solidFill>
                  <a:srgbClr val="FF3300"/>
                </a:solidFill>
              </a:rPr>
              <a:t>∈</a:t>
            </a:r>
            <a:r>
              <a:rPr lang="en-US" altLang="zh-CN" sz="2200" u="sng" dirty="0">
                <a:solidFill>
                  <a:srgbClr val="FF3300"/>
                </a:solidFill>
              </a:rPr>
              <a:t>1NF</a:t>
            </a:r>
            <a:r>
              <a:rPr lang="zh-CN" altLang="en-US" sz="2200" u="sng" dirty="0">
                <a:solidFill>
                  <a:srgbClr val="FF3300"/>
                </a:solidFill>
              </a:rPr>
              <a:t>，若</a:t>
            </a:r>
            <a:r>
              <a:rPr lang="en-US" altLang="zh-CN" sz="2200" u="sng" dirty="0">
                <a:solidFill>
                  <a:srgbClr val="FF3300"/>
                </a:solidFill>
              </a:rPr>
              <a:t>X→Y</a:t>
            </a:r>
            <a:r>
              <a:rPr lang="zh-CN" altLang="en-US" sz="2200" u="sng" dirty="0">
                <a:solidFill>
                  <a:srgbClr val="FF3300"/>
                </a:solidFill>
              </a:rPr>
              <a:t>且</a:t>
            </a:r>
            <a:r>
              <a:rPr lang="en-US" altLang="zh-CN" sz="2200" u="sng" dirty="0">
                <a:solidFill>
                  <a:srgbClr val="FF3300"/>
                </a:solidFill>
              </a:rPr>
              <a:t>Y</a:t>
            </a:r>
            <a:r>
              <a:rPr lang="zh-CN" altLang="en-US" sz="2200" u="sng" dirty="0">
                <a:solidFill>
                  <a:srgbClr val="FF3300"/>
                </a:solidFill>
              </a:rPr>
              <a:t>￠</a:t>
            </a:r>
            <a:r>
              <a:rPr lang="en-US" altLang="zh-CN" sz="2200" u="sng" dirty="0">
                <a:solidFill>
                  <a:srgbClr val="FF3300"/>
                </a:solidFill>
              </a:rPr>
              <a:t>X</a:t>
            </a:r>
            <a:r>
              <a:rPr lang="zh-CN" altLang="en-US" sz="2200" u="sng" dirty="0">
                <a:solidFill>
                  <a:srgbClr val="FF3300"/>
                </a:solidFill>
              </a:rPr>
              <a:t>时</a:t>
            </a:r>
            <a:r>
              <a:rPr lang="en-US" altLang="zh-CN" sz="2200" u="sng" dirty="0">
                <a:solidFill>
                  <a:srgbClr val="FF3300"/>
                </a:solidFill>
              </a:rPr>
              <a:t>X</a:t>
            </a:r>
            <a:r>
              <a:rPr lang="zh-CN" altLang="en-US" sz="2200" u="sng" dirty="0">
                <a:solidFill>
                  <a:srgbClr val="FF3300"/>
                </a:solidFill>
              </a:rPr>
              <a:t>必包含候选键，则</a:t>
            </a:r>
            <a:r>
              <a:rPr lang="en-US" altLang="zh-CN" sz="2200" u="sng" dirty="0">
                <a:solidFill>
                  <a:srgbClr val="FF3300"/>
                </a:solidFill>
              </a:rPr>
              <a:t>R(U,F) </a:t>
            </a:r>
            <a:r>
              <a:rPr lang="zh-CN" altLang="en-US" sz="2200" u="sng" dirty="0">
                <a:solidFill>
                  <a:srgbClr val="FF3300"/>
                </a:solidFill>
              </a:rPr>
              <a:t>∈</a:t>
            </a:r>
            <a:r>
              <a:rPr lang="en-US" altLang="zh-CN" sz="2200" u="sng" dirty="0">
                <a:solidFill>
                  <a:srgbClr val="FF3300"/>
                </a:solidFill>
              </a:rPr>
              <a:t>BCNF</a:t>
            </a:r>
            <a:r>
              <a:rPr lang="zh-CN" altLang="en-US" sz="2200" u="sng" dirty="0">
                <a:solidFill>
                  <a:srgbClr val="FF3300"/>
                </a:solidFill>
              </a:rPr>
              <a:t>。</a:t>
            </a:r>
            <a:endParaRPr lang="zh-CN" altLang="en-US" sz="2200" u="sng" dirty="0">
              <a:solidFill>
                <a:srgbClr val="FF3300"/>
              </a:solidFill>
            </a:endParaRPr>
          </a:p>
          <a:p>
            <a:pPr marL="0" lvl="0" indent="0" eaLnBrk="1" hangingPunct="1">
              <a:lnSpc>
                <a:spcPct val="120000"/>
              </a:lnSpc>
              <a:spcBef>
                <a:spcPct val="25000"/>
              </a:spcBef>
              <a:buClrTx/>
              <a:buSzTx/>
              <a:buNone/>
            </a:pPr>
            <a:r>
              <a:rPr lang="zh-CN" altLang="en-US" sz="2200" dirty="0">
                <a:solidFill>
                  <a:srgbClr val="FF3300"/>
                </a:solidFill>
              </a:rPr>
              <a:t>         </a:t>
            </a:r>
            <a:r>
              <a:rPr lang="zh-CN" altLang="en-US" sz="2200" u="sng" dirty="0">
                <a:solidFill>
                  <a:srgbClr val="FF3300"/>
                </a:solidFill>
              </a:rPr>
              <a:t>通俗地讲，当且仅当关系中每个函数依赖的决定因子都是候选键时，该范式即为</a:t>
            </a:r>
            <a:r>
              <a:rPr lang="en-US" altLang="zh-CN" sz="2200" u="sng" dirty="0">
                <a:solidFill>
                  <a:srgbClr val="FF3300"/>
                </a:solidFill>
              </a:rPr>
              <a:t>Boyce-Codd</a:t>
            </a:r>
            <a:r>
              <a:rPr lang="zh-CN" altLang="en-US" sz="2200" u="sng" dirty="0">
                <a:solidFill>
                  <a:srgbClr val="FF3300"/>
                </a:solidFill>
              </a:rPr>
              <a:t>范式。</a:t>
            </a:r>
            <a:endParaRPr lang="zh-CN" altLang="en-US" sz="2200" u="sng" dirty="0">
              <a:solidFill>
                <a:srgbClr val="FF3300"/>
              </a:solidFill>
            </a:endParaRPr>
          </a:p>
          <a:p>
            <a:pPr marL="0" lvl="0" indent="0" eaLnBrk="1" hangingPunct="1">
              <a:lnSpc>
                <a:spcPct val="130000"/>
              </a:lnSpc>
              <a:spcBef>
                <a:spcPct val="25000"/>
              </a:spcBef>
              <a:buClrTx/>
              <a:buSzTx/>
              <a:buNone/>
            </a:pPr>
            <a:r>
              <a:rPr lang="zh-CN" altLang="en-US" dirty="0">
                <a:solidFill>
                  <a:srgbClr val="FF3300"/>
                </a:solidFill>
              </a:rPr>
              <a:t>       </a:t>
            </a:r>
            <a:r>
              <a:rPr lang="zh-CN" altLang="en-US" dirty="0"/>
              <a:t>为了要验证一个关系是否符合</a:t>
            </a:r>
            <a:r>
              <a:rPr lang="en-US" altLang="zh-CN" dirty="0"/>
              <a:t>BCNF</a:t>
            </a:r>
            <a:r>
              <a:rPr lang="zh-CN" altLang="en-US" dirty="0"/>
              <a:t>，首先要确定关系中所有的决定因子，然后再看它们是不是候选键。</a:t>
            </a:r>
            <a:endParaRPr lang="en-US" altLang="zh-CN" dirty="0"/>
          </a:p>
        </p:txBody>
      </p:sp>
      <p:sp>
        <p:nvSpPr>
          <p:cNvPr id="46084"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p:nvPr/>
        </p:nvSpPr>
        <p:spPr>
          <a:xfrm>
            <a:off x="496888" y="757238"/>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4</a:t>
            </a:r>
            <a:r>
              <a:rPr lang="zh-CN" altLang="en-US" sz="2800" dirty="0">
                <a:solidFill>
                  <a:srgbClr val="FF3300"/>
                </a:solidFill>
                <a:latin typeface="黑体" panose="02010609060101010101" pitchFamily="49" charset="-122"/>
                <a:ea typeface="黑体" panose="02010609060101010101" pitchFamily="49" charset="-122"/>
              </a:rPr>
              <a:t>、</a:t>
            </a:r>
            <a:r>
              <a:rPr lang="en-US" altLang="zh-CN" sz="2800" dirty="0">
                <a:solidFill>
                  <a:srgbClr val="FF3300"/>
                </a:solidFill>
                <a:latin typeface="黑体" panose="02010609060101010101" pitchFamily="49" charset="-122"/>
                <a:ea typeface="黑体" panose="02010609060101010101" pitchFamily="49" charset="-122"/>
              </a:rPr>
              <a:t>Boyce-Codd</a:t>
            </a:r>
            <a:r>
              <a:rPr lang="zh-CN" altLang="en-US" sz="2800" dirty="0">
                <a:solidFill>
                  <a:srgbClr val="FF3300"/>
                </a:solidFill>
                <a:latin typeface="黑体" panose="02010609060101010101" pitchFamily="49" charset="-122"/>
                <a:ea typeface="黑体" panose="02010609060101010101" pitchFamily="49" charset="-122"/>
              </a:rPr>
              <a:t>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47107" name="Text Box 3"/>
          <p:cNvSpPr txBox="1"/>
          <p:nvPr/>
        </p:nvSpPr>
        <p:spPr>
          <a:xfrm>
            <a:off x="441325" y="1366838"/>
            <a:ext cx="8402638" cy="24685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10000"/>
              </a:spcBef>
              <a:buClrTx/>
              <a:buSzTx/>
              <a:buNone/>
            </a:pPr>
            <a:r>
              <a:rPr lang="zh-CN" altLang="en-US" dirty="0">
                <a:solidFill>
                  <a:srgbClr val="FF0000"/>
                </a:solidFill>
                <a:latin typeface="宋体" panose="02010600030101010101" pitchFamily="2" charset="-122"/>
              </a:rPr>
              <a:t>    </a:t>
            </a:r>
            <a:r>
              <a:rPr lang="en-US" altLang="zh-CN" dirty="0"/>
              <a:t>3NF</a:t>
            </a:r>
            <a:r>
              <a:rPr lang="zh-CN" altLang="en-US" dirty="0"/>
              <a:t>和</a:t>
            </a:r>
            <a:r>
              <a:rPr lang="en-US" altLang="zh-CN" dirty="0"/>
              <a:t>BCNF</a:t>
            </a:r>
            <a:r>
              <a:rPr lang="zh-CN" altLang="en-US" dirty="0"/>
              <a:t>之间的区别在于对一个函数依赖</a:t>
            </a:r>
            <a:r>
              <a:rPr lang="en-US" altLang="zh-CN" dirty="0"/>
              <a:t>A→B,</a:t>
            </a:r>
            <a:r>
              <a:rPr lang="en-US" altLang="zh-CN" dirty="0">
                <a:latin typeface="宋体" panose="02010600030101010101" pitchFamily="2" charset="-122"/>
              </a:rPr>
              <a:t> </a:t>
            </a:r>
            <a:r>
              <a:rPr lang="en-US" altLang="zh-CN" dirty="0"/>
              <a:t>3NF</a:t>
            </a:r>
            <a:r>
              <a:rPr lang="zh-CN" altLang="en-US" dirty="0"/>
              <a:t>允许</a:t>
            </a:r>
            <a:r>
              <a:rPr lang="en-US" altLang="zh-CN" dirty="0"/>
              <a:t>B</a:t>
            </a:r>
            <a:r>
              <a:rPr lang="zh-CN" altLang="en-US" dirty="0"/>
              <a:t>是主键属性，而</a:t>
            </a:r>
            <a:r>
              <a:rPr lang="en-US" altLang="zh-CN" dirty="0"/>
              <a:t>A</a:t>
            </a:r>
            <a:r>
              <a:rPr lang="zh-CN" altLang="en-US" dirty="0"/>
              <a:t>不是候选键，而</a:t>
            </a:r>
            <a:r>
              <a:rPr lang="en-US" altLang="zh-CN" dirty="0"/>
              <a:t>BCNF</a:t>
            </a:r>
            <a:r>
              <a:rPr lang="zh-CN" altLang="en-US" dirty="0"/>
              <a:t>则要求在这个依赖中，</a:t>
            </a:r>
            <a:r>
              <a:rPr lang="en-US" altLang="zh-CN" dirty="0"/>
              <a:t>A</a:t>
            </a:r>
            <a:r>
              <a:rPr lang="zh-CN" altLang="en-US" dirty="0"/>
              <a:t>必须是候选键。因此</a:t>
            </a:r>
            <a:r>
              <a:rPr lang="en-US" altLang="zh-CN" dirty="0"/>
              <a:t>BCNF</a:t>
            </a:r>
            <a:r>
              <a:rPr lang="zh-CN" altLang="en-US" dirty="0"/>
              <a:t>也是</a:t>
            </a:r>
            <a:r>
              <a:rPr lang="en-US" altLang="zh-CN" dirty="0"/>
              <a:t>3NF</a:t>
            </a:r>
            <a:r>
              <a:rPr lang="zh-CN" altLang="en-US" dirty="0"/>
              <a:t>，只是更加规范。大多数情况下， </a:t>
            </a:r>
            <a:r>
              <a:rPr lang="en-US" altLang="zh-CN" sz="1800" dirty="0"/>
              <a:t>3NF</a:t>
            </a:r>
            <a:r>
              <a:rPr lang="zh-CN" altLang="en-US" sz="1800" dirty="0"/>
              <a:t>关系都是</a:t>
            </a:r>
            <a:r>
              <a:rPr lang="en-US" altLang="zh-CN" sz="1800" dirty="0"/>
              <a:t>BCNF</a:t>
            </a:r>
            <a:r>
              <a:rPr lang="zh-CN" altLang="en-US" sz="1800" dirty="0"/>
              <a:t>的，只有在特殊情况下，才会发生违反</a:t>
            </a:r>
            <a:r>
              <a:rPr lang="en-US" altLang="zh-CN" sz="1800" dirty="0"/>
              <a:t>BCNF</a:t>
            </a:r>
            <a:r>
              <a:rPr lang="zh-CN" altLang="en-US" sz="1800" dirty="0"/>
              <a:t>的情况：</a:t>
            </a:r>
            <a:endParaRPr lang="zh-CN" altLang="en-US" sz="1800" dirty="0"/>
          </a:p>
          <a:p>
            <a:pPr marL="0" lvl="0" indent="0" eaLnBrk="1" hangingPunct="1">
              <a:lnSpc>
                <a:spcPct val="120000"/>
              </a:lnSpc>
              <a:spcBef>
                <a:spcPct val="10000"/>
              </a:spcBef>
              <a:buClrTx/>
              <a:buSzTx/>
              <a:buNone/>
            </a:pPr>
            <a:r>
              <a:rPr lang="zh-CN" altLang="en-US" sz="1800" dirty="0"/>
              <a:t>         </a:t>
            </a:r>
            <a:r>
              <a:rPr lang="zh-CN" altLang="en-US" sz="2400" u="sng" dirty="0">
                <a:solidFill>
                  <a:srgbClr val="0033CC"/>
                </a:solidFill>
              </a:rPr>
              <a:t>① 关系中包含两个或更多的复合候选键</a:t>
            </a:r>
            <a:r>
              <a:rPr lang="en-US" altLang="zh-CN" sz="2400" u="sng" dirty="0">
                <a:solidFill>
                  <a:srgbClr val="0033CC"/>
                </a:solidFill>
              </a:rPr>
              <a:t>；</a:t>
            </a:r>
            <a:endParaRPr lang="en-US" altLang="zh-CN" sz="2400" u="sng" dirty="0">
              <a:solidFill>
                <a:srgbClr val="0033CC"/>
              </a:solidFill>
            </a:endParaRPr>
          </a:p>
          <a:p>
            <a:pPr marL="0" lvl="0" indent="0" eaLnBrk="1" hangingPunct="1">
              <a:lnSpc>
                <a:spcPct val="120000"/>
              </a:lnSpc>
              <a:spcBef>
                <a:spcPct val="10000"/>
              </a:spcBef>
              <a:buClrTx/>
              <a:buSzTx/>
              <a:buNone/>
            </a:pPr>
            <a:r>
              <a:rPr lang="zh-CN" altLang="en-US" sz="2400" dirty="0">
                <a:solidFill>
                  <a:srgbClr val="0033CC"/>
                </a:solidFill>
              </a:rPr>
              <a:t>       </a:t>
            </a:r>
            <a:r>
              <a:rPr lang="zh-CN" altLang="en-US" sz="2400" u="sng" dirty="0">
                <a:solidFill>
                  <a:srgbClr val="0033CC"/>
                </a:solidFill>
                <a:latin typeface="宋体" panose="02010600030101010101" pitchFamily="2" charset="-122"/>
              </a:rPr>
              <a:t>② 候选键有重叠，通常至少有一个重叠的属性。</a:t>
            </a:r>
            <a:endParaRPr lang="zh-CN" altLang="en-US" sz="2400" u="sng" dirty="0">
              <a:solidFill>
                <a:srgbClr val="0033CC"/>
              </a:solidFill>
              <a:latin typeface="宋体" panose="02010600030101010101" pitchFamily="2" charset="-122"/>
            </a:endParaRPr>
          </a:p>
        </p:txBody>
      </p:sp>
      <p:sp>
        <p:nvSpPr>
          <p:cNvPr id="47108"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39941" name="Text Box 47"/>
          <p:cNvSpPr txBox="1"/>
          <p:nvPr/>
        </p:nvSpPr>
        <p:spPr>
          <a:xfrm>
            <a:off x="444500" y="3787775"/>
            <a:ext cx="8201025" cy="23780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lnSpc>
                <a:spcPct val="125000"/>
              </a:lnSpc>
              <a:spcBef>
                <a:spcPct val="25000"/>
              </a:spcBef>
              <a:buClrTx/>
              <a:buSzPct val="100000"/>
              <a:buFont typeface="Wingdings" panose="05000000000000000000" pitchFamily="2" charset="2"/>
              <a:buChar char="n"/>
            </a:pPr>
            <a:r>
              <a:rPr lang="zh-CN" altLang="en-US" sz="2400" u="sng" dirty="0">
                <a:solidFill>
                  <a:srgbClr val="CC0000"/>
                </a:solidFill>
                <a:latin typeface="宋体" panose="02010600030101010101" pitchFamily="2" charset="-122"/>
              </a:rPr>
              <a:t>3NF和BCNF常常都是数据库设计者所追求的关系范式，如果一个关系数据库的所有关系模式都属于BCNF，那么在函数依赖的范畴内，它已经达到了最高的规范化程度</a:t>
            </a:r>
            <a:r>
              <a:rPr lang="zh-CN" altLang="en-US" sz="2400" dirty="0">
                <a:solidFill>
                  <a:schemeClr val="tx2"/>
                </a:solidFill>
                <a:latin typeface="宋体" panose="02010600030101010101" pitchFamily="2" charset="-122"/>
              </a:rPr>
              <a:t>（但不是最完美的范式），在一定程度上消除了插入异常、删除异常、冗余和更新异常。</a:t>
            </a:r>
            <a:endParaRPr lang="zh-CN" altLang="en-US" sz="1800" dirty="0">
              <a:solidFill>
                <a:schemeClr val="tx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9941"/>
                                        </p:tgtEl>
                                        <p:attrNameLst>
                                          <p:attrName>style.visibility</p:attrName>
                                        </p:attrNameLst>
                                      </p:cBhvr>
                                      <p:to>
                                        <p:strVal val="visible"/>
                                      </p:to>
                                    </p:set>
                                    <p:anim calcmode="lin" valueType="num">
                                      <p:cBhvr additive="base">
                                        <p:cTn id="7" dur="500" fill="hold"/>
                                        <p:tgtEl>
                                          <p:spTgt spid="39941"/>
                                        </p:tgtEl>
                                        <p:attrNameLst>
                                          <p:attrName>ppt_x</p:attrName>
                                        </p:attrNameLst>
                                      </p:cBhvr>
                                      <p:tavLst>
                                        <p:tav tm="0">
                                          <p:val>
                                            <p:strVal val="#ppt_x"/>
                                          </p:val>
                                        </p:tav>
                                        <p:tav tm="100000">
                                          <p:val>
                                            <p:strVal val="#ppt_x"/>
                                          </p:val>
                                        </p:tav>
                                      </p:tavLst>
                                    </p:anim>
                                    <p:anim calcmode="lin" valueType="num">
                                      <p:cBhvr additive="base">
                                        <p:cTn id="8" dur="500" fill="hold"/>
                                        <p:tgtEl>
                                          <p:spTgt spid="399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7"/>
          <p:cNvSpPr/>
          <p:nvPr/>
        </p:nvSpPr>
        <p:spPr>
          <a:xfrm>
            <a:off x="509588" y="782638"/>
            <a:ext cx="77597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4</a:t>
            </a:r>
            <a:r>
              <a:rPr lang="zh-CN" altLang="en-US" sz="2800" dirty="0">
                <a:solidFill>
                  <a:srgbClr val="FF3300"/>
                </a:solidFill>
                <a:latin typeface="黑体" panose="02010609060101010101" pitchFamily="49" charset="-122"/>
                <a:ea typeface="黑体" panose="02010609060101010101" pitchFamily="49" charset="-122"/>
              </a:rPr>
              <a:t>、</a:t>
            </a:r>
            <a:r>
              <a:rPr lang="en-US" altLang="zh-CN" sz="2800" dirty="0">
                <a:solidFill>
                  <a:srgbClr val="FF3300"/>
                </a:solidFill>
                <a:latin typeface="黑体" panose="02010609060101010101" pitchFamily="49" charset="-122"/>
                <a:ea typeface="黑体" panose="02010609060101010101" pitchFamily="49" charset="-122"/>
              </a:rPr>
              <a:t>Boyce-Codd</a:t>
            </a:r>
            <a:r>
              <a:rPr lang="zh-CN" altLang="en-US" sz="2800" dirty="0">
                <a:solidFill>
                  <a:srgbClr val="FF3300"/>
                </a:solidFill>
                <a:latin typeface="黑体" panose="02010609060101010101" pitchFamily="49" charset="-122"/>
                <a:ea typeface="黑体" panose="02010609060101010101" pitchFamily="49" charset="-122"/>
              </a:rPr>
              <a:t>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48131" name="Text Box 3"/>
          <p:cNvSpPr txBox="1"/>
          <p:nvPr/>
        </p:nvSpPr>
        <p:spPr>
          <a:xfrm>
            <a:off x="509588" y="3992563"/>
            <a:ext cx="8248650" cy="21002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45000"/>
              </a:spcBef>
              <a:buClrTx/>
              <a:buSzTx/>
              <a:buNone/>
            </a:pPr>
            <a:r>
              <a:rPr lang="zh-CN" altLang="en-US" dirty="0">
                <a:solidFill>
                  <a:srgbClr val="FF0000"/>
                </a:solidFill>
                <a:latin typeface="宋体" panose="02010600030101010101" pitchFamily="2" charset="-122"/>
              </a:rPr>
              <a:t>    </a:t>
            </a:r>
            <a:r>
              <a:rPr lang="zh-CN" altLang="en-US" sz="2200" dirty="0"/>
              <a:t>职员会见客户关系表</a:t>
            </a:r>
            <a:r>
              <a:rPr lang="en-US" altLang="zh-CN" sz="2200" dirty="0"/>
              <a:t>(ClientInterview)</a:t>
            </a:r>
            <a:r>
              <a:rPr lang="zh-CN" altLang="en-US" sz="2200" dirty="0"/>
              <a:t>描述了职员对客户的会见情况。其语义为：每个参与会见的职员被分配到一个特定的房间中进行，一个房间在一个工作日内可以被分配多次，但一个职员在特定的工作日内只在一个房间会见客户，一个客户在某个特定的日期只能参与一次会见，但可以在不同的日期多次参与会见。   </a:t>
            </a:r>
            <a:endParaRPr lang="en-US" altLang="zh-CN" sz="2200" dirty="0"/>
          </a:p>
        </p:txBody>
      </p:sp>
      <p:sp>
        <p:nvSpPr>
          <p:cNvPr id="48132"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graphicFrame>
        <p:nvGraphicFramePr>
          <p:cNvPr id="40965" name="表格 40964"/>
          <p:cNvGraphicFramePr/>
          <p:nvPr/>
        </p:nvGraphicFramePr>
        <p:xfrm>
          <a:off x="708025" y="2011363"/>
          <a:ext cx="7772400" cy="1838325"/>
        </p:xfrm>
        <a:graphic>
          <a:graphicData uri="http://schemas.openxmlformats.org/drawingml/2006/table">
            <a:tbl>
              <a:tblPr/>
              <a:tblGrid>
                <a:gridCol w="1141413"/>
                <a:gridCol w="1797050"/>
                <a:gridCol w="1712912"/>
                <a:gridCol w="1392238"/>
                <a:gridCol w="1728787"/>
              </a:tblGrid>
              <a:tr h="365937">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clientNo</a:t>
                      </a:r>
                      <a:endParaRPr lang="en-US" altLang="x-none" sz="1800" dirty="0"/>
                    </a:p>
                  </a:txBody>
                  <a:tcPr marT="45736" marB="4573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interviewDate</a:t>
                      </a:r>
                      <a:endParaRPr lang="en-US" altLang="x-none"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interviewTime</a:t>
                      </a:r>
                      <a:endParaRPr lang="en-US" altLang="x-none"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staffNo</a:t>
                      </a:r>
                      <a:endParaRPr lang="en-US" altLang="x-none"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roomNo</a:t>
                      </a:r>
                      <a:endParaRPr lang="en-US" altLang="x-none" sz="1800" dirty="0"/>
                    </a:p>
                  </a:txBody>
                  <a:tcPr marT="45736" marB="4573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494">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C001</a:t>
                      </a:r>
                      <a:endParaRPr lang="en-US" altLang="x-none" sz="1800" dirty="0"/>
                    </a:p>
                  </a:txBody>
                  <a:tcPr marT="45736" marB="4573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2009-10-20</a:t>
                      </a:r>
                      <a:endParaRPr lang="en-US" altLang="x-none"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10:30</a:t>
                      </a:r>
                      <a:endParaRPr lang="en-US" altLang="x-none"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Z005</a:t>
                      </a:r>
                      <a:endParaRPr lang="en-US" altLang="x-none"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R101</a:t>
                      </a:r>
                      <a:endParaRPr lang="en-US" altLang="x-none" sz="1800" dirty="0"/>
                    </a:p>
                  </a:txBody>
                  <a:tcPr marT="45736" marB="4573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494">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G002</a:t>
                      </a:r>
                      <a:endParaRPr lang="en-US" altLang="x-none" sz="1800" dirty="0"/>
                    </a:p>
                  </a:txBody>
                  <a:tcPr marT="45736" marB="4573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2009-10-20</a:t>
                      </a:r>
                      <a:endParaRPr lang="zh-CN" altLang="en-US"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12:00</a:t>
                      </a:r>
                      <a:endParaRPr lang="en-US" altLang="x-none"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Z005</a:t>
                      </a:r>
                      <a:endParaRPr lang="zh-CN" altLang="en-US"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R101</a:t>
                      </a:r>
                      <a:endParaRPr lang="en-US" altLang="x-none" sz="1800" dirty="0"/>
                    </a:p>
                  </a:txBody>
                  <a:tcPr marT="45736" marB="4573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494">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G005</a:t>
                      </a:r>
                      <a:endParaRPr lang="en-US" altLang="x-none" sz="1800" dirty="0"/>
                    </a:p>
                  </a:txBody>
                  <a:tcPr marT="45736" marB="4573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2009-10-20</a:t>
                      </a:r>
                      <a:endParaRPr lang="zh-CN" altLang="en-US"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10:30</a:t>
                      </a:r>
                      <a:endParaRPr lang="zh-CN" altLang="en-US"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Z002</a:t>
                      </a:r>
                      <a:endParaRPr lang="zh-CN" altLang="en-US"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R102</a:t>
                      </a:r>
                      <a:endParaRPr lang="en-US" altLang="x-none" sz="1800" dirty="0"/>
                    </a:p>
                  </a:txBody>
                  <a:tcPr marT="45736" marB="4573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6906">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G002</a:t>
                      </a:r>
                      <a:endParaRPr lang="en-US" altLang="x-none" sz="1800" dirty="0"/>
                    </a:p>
                  </a:txBody>
                  <a:tcPr marT="45736" marB="4573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2009-10-28</a:t>
                      </a:r>
                      <a:endParaRPr lang="en-US" altLang="x-none"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10:30</a:t>
                      </a:r>
                      <a:endParaRPr lang="zh-CN" altLang="en-US"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Z005</a:t>
                      </a:r>
                      <a:endParaRPr lang="zh-CN" altLang="en-US"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R102</a:t>
                      </a:r>
                      <a:endParaRPr lang="en-US" altLang="x-none" sz="1800" dirty="0"/>
                    </a:p>
                  </a:txBody>
                  <a:tcPr marT="45736" marB="4573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48171" name="文本框 41002"/>
          <p:cNvSpPr txBox="1"/>
          <p:nvPr/>
        </p:nvSpPr>
        <p:spPr>
          <a:xfrm>
            <a:off x="585788" y="1458913"/>
            <a:ext cx="6126162"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u="sng" dirty="0">
                <a:solidFill>
                  <a:srgbClr val="FF3300"/>
                </a:solidFill>
                <a:latin typeface="宋体" panose="02010600030101010101" pitchFamily="2" charset="-122"/>
              </a:rPr>
              <a:t>例</a:t>
            </a:r>
            <a:r>
              <a:rPr lang="en-US" altLang="zh-CN" sz="2400" u="sng" dirty="0">
                <a:solidFill>
                  <a:srgbClr val="FF3300"/>
                </a:solidFill>
                <a:latin typeface="宋体" panose="02010600030101010101" pitchFamily="2" charset="-122"/>
              </a:rPr>
              <a:t>1</a:t>
            </a:r>
            <a:r>
              <a:rPr lang="zh-CN" altLang="en-US" sz="2400" u="sng" dirty="0">
                <a:solidFill>
                  <a:srgbClr val="FF3300"/>
                </a:solidFill>
                <a:latin typeface="宋体" panose="02010600030101010101" pitchFamily="2" charset="-122"/>
              </a:rPr>
              <a:t>：</a:t>
            </a:r>
            <a:r>
              <a:rPr lang="zh-CN" altLang="en-US" sz="2400" dirty="0">
                <a:solidFill>
                  <a:srgbClr val="0033CC"/>
                </a:solidFill>
                <a:latin typeface="宋体" panose="02010600030101010101" pitchFamily="2" charset="-122"/>
              </a:rPr>
              <a:t>职员会见客户关系（</a:t>
            </a:r>
            <a:r>
              <a:rPr lang="en-US" altLang="zh-CN" sz="2400" dirty="0">
                <a:solidFill>
                  <a:srgbClr val="0033CC"/>
                </a:solidFill>
                <a:latin typeface="宋体" panose="02010600030101010101" pitchFamily="2" charset="-122"/>
              </a:rPr>
              <a:t>ClientInterview)</a:t>
            </a:r>
            <a:endParaRPr lang="en-US" altLang="zh-CN" sz="2400" dirty="0">
              <a:solidFill>
                <a:srgbClr val="0033CC"/>
              </a:solidFill>
              <a:latin typeface="宋体" panose="02010600030101010101" pitchFamily="2" charset="-122"/>
            </a:endParaRPr>
          </a:p>
          <a:p>
            <a:pPr marL="0" lvl="0" indent="0" eaLnBrk="1" hangingPunct="1">
              <a:spcBef>
                <a:spcPct val="0"/>
              </a:spcBef>
              <a:buClrTx/>
              <a:buSzTx/>
              <a:buFont typeface="Arial" panose="020B0604020202020204" pitchFamily="34" charset="0"/>
              <a:buNone/>
            </a:pPr>
            <a:endParaRPr lang="zh-CN" altLang="en-US" sz="2400"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7"/>
          <p:cNvSpPr/>
          <p:nvPr/>
        </p:nvSpPr>
        <p:spPr>
          <a:xfrm>
            <a:off x="509588" y="782638"/>
            <a:ext cx="77597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4</a:t>
            </a:r>
            <a:r>
              <a:rPr lang="zh-CN" altLang="en-US" sz="2800" dirty="0">
                <a:solidFill>
                  <a:srgbClr val="FF3300"/>
                </a:solidFill>
                <a:latin typeface="黑体" panose="02010609060101010101" pitchFamily="49" charset="-122"/>
                <a:ea typeface="黑体" panose="02010609060101010101" pitchFamily="49" charset="-122"/>
              </a:rPr>
              <a:t>、</a:t>
            </a:r>
            <a:r>
              <a:rPr lang="en-US" altLang="zh-CN" sz="2800" dirty="0">
                <a:solidFill>
                  <a:srgbClr val="FF3300"/>
                </a:solidFill>
                <a:latin typeface="黑体" panose="02010609060101010101" pitchFamily="49" charset="-122"/>
                <a:ea typeface="黑体" panose="02010609060101010101" pitchFamily="49" charset="-122"/>
              </a:rPr>
              <a:t>Boyce-Codd</a:t>
            </a:r>
            <a:r>
              <a:rPr lang="zh-CN" altLang="en-US" sz="2800" dirty="0">
                <a:solidFill>
                  <a:srgbClr val="FF3300"/>
                </a:solidFill>
                <a:latin typeface="黑体" panose="02010609060101010101" pitchFamily="49" charset="-122"/>
                <a:ea typeface="黑体" panose="02010609060101010101" pitchFamily="49" charset="-122"/>
              </a:rPr>
              <a:t>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49155" name="Text Box 3"/>
          <p:cNvSpPr txBox="1"/>
          <p:nvPr/>
        </p:nvSpPr>
        <p:spPr>
          <a:xfrm>
            <a:off x="361950" y="1298575"/>
            <a:ext cx="8609013" cy="43497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45000"/>
              </a:spcBef>
              <a:buClrTx/>
              <a:buSzTx/>
              <a:buNone/>
            </a:pPr>
            <a:r>
              <a:rPr lang="zh-CN" altLang="en-US" dirty="0">
                <a:solidFill>
                  <a:srgbClr val="FF0000"/>
                </a:solidFill>
                <a:latin typeface="宋体" panose="02010600030101010101" pitchFamily="2" charset="-122"/>
              </a:rPr>
              <a:t> </a:t>
            </a:r>
            <a:r>
              <a:rPr lang="en-US" altLang="zh-CN" dirty="0"/>
              <a:t>ClientInterview</a:t>
            </a:r>
            <a:r>
              <a:rPr lang="zh-CN" altLang="en-US" dirty="0"/>
              <a:t>关系有</a:t>
            </a:r>
            <a:r>
              <a:rPr lang="en-US" altLang="zh-CN" dirty="0"/>
              <a:t>3</a:t>
            </a:r>
            <a:r>
              <a:rPr lang="zh-CN" altLang="en-US" dirty="0"/>
              <a:t>个侯选主键：</a:t>
            </a:r>
            <a:endParaRPr lang="zh-CN" altLang="en-US" dirty="0"/>
          </a:p>
          <a:p>
            <a:pPr marL="0" lvl="0" indent="0" eaLnBrk="1" hangingPunct="1">
              <a:lnSpc>
                <a:spcPct val="120000"/>
              </a:lnSpc>
              <a:spcBef>
                <a:spcPct val="15000"/>
              </a:spcBef>
              <a:buClrTx/>
              <a:buSzTx/>
              <a:buNone/>
            </a:pPr>
            <a:r>
              <a:rPr lang="zh-CN" altLang="en-US" dirty="0"/>
              <a:t>（</a:t>
            </a:r>
            <a:r>
              <a:rPr lang="en-US" altLang="zh-CN" dirty="0"/>
              <a:t>clientNo,interviewDate)</a:t>
            </a:r>
            <a:endParaRPr lang="en-US" altLang="zh-CN" dirty="0"/>
          </a:p>
          <a:p>
            <a:pPr marL="0" lvl="0" indent="0" eaLnBrk="1" hangingPunct="1">
              <a:lnSpc>
                <a:spcPct val="120000"/>
              </a:lnSpc>
              <a:spcBef>
                <a:spcPct val="15000"/>
              </a:spcBef>
              <a:buClrTx/>
              <a:buSzTx/>
              <a:buNone/>
            </a:pPr>
            <a:r>
              <a:rPr lang="zh-CN" altLang="en-US" dirty="0"/>
              <a:t>（</a:t>
            </a:r>
            <a:r>
              <a:rPr lang="en-US" altLang="zh-CN" dirty="0"/>
              <a:t>StaffNo, interviewDate, interviewTime</a:t>
            </a:r>
            <a:r>
              <a:rPr lang="zh-CN" altLang="en-US" dirty="0"/>
              <a:t>）</a:t>
            </a:r>
            <a:endParaRPr lang="zh-CN" altLang="en-US" dirty="0"/>
          </a:p>
          <a:p>
            <a:pPr marL="0" lvl="0" indent="0" eaLnBrk="1" hangingPunct="1">
              <a:lnSpc>
                <a:spcPct val="120000"/>
              </a:lnSpc>
              <a:spcBef>
                <a:spcPct val="15000"/>
              </a:spcBef>
              <a:buClrTx/>
              <a:buSzTx/>
              <a:buNone/>
            </a:pPr>
            <a:r>
              <a:rPr lang="zh-CN" altLang="en-US" dirty="0"/>
              <a:t>（</a:t>
            </a:r>
            <a:r>
              <a:rPr lang="en-US" altLang="zh-CN" dirty="0"/>
              <a:t>roomNo, interviewDate, interviewTime</a:t>
            </a:r>
            <a:r>
              <a:rPr lang="zh-CN" altLang="en-US" dirty="0"/>
              <a:t>）</a:t>
            </a:r>
            <a:endParaRPr lang="en-US" altLang="zh-CN" dirty="0"/>
          </a:p>
          <a:p>
            <a:pPr marL="0" lvl="0" indent="0" eaLnBrk="1" hangingPunct="1">
              <a:lnSpc>
                <a:spcPct val="120000"/>
              </a:lnSpc>
              <a:spcBef>
                <a:spcPct val="15000"/>
              </a:spcBef>
              <a:buClrTx/>
              <a:buSzTx/>
              <a:buNone/>
            </a:pPr>
            <a:r>
              <a:rPr lang="zh-CN" altLang="en-US" dirty="0"/>
              <a:t>      </a:t>
            </a:r>
            <a:r>
              <a:rPr lang="zh-CN" altLang="en-US" dirty="0">
                <a:solidFill>
                  <a:srgbClr val="FF0000"/>
                </a:solidFill>
              </a:rPr>
              <a:t>这三个侯选主键都是复合侯选主键，它们都包含共同的属性</a:t>
            </a:r>
            <a:r>
              <a:rPr lang="en-US" altLang="zh-CN" sz="1800" dirty="0">
                <a:solidFill>
                  <a:srgbClr val="FF0000"/>
                </a:solidFill>
              </a:rPr>
              <a:t>interviewDate</a:t>
            </a:r>
            <a:r>
              <a:rPr lang="zh-CN" altLang="en-US" sz="1800" dirty="0">
                <a:solidFill>
                  <a:srgbClr val="FF0000"/>
                </a:solidFill>
              </a:rPr>
              <a:t>，</a:t>
            </a:r>
            <a:r>
              <a:rPr lang="zh-CN" altLang="en-US" sz="1800" dirty="0"/>
              <a:t>选（</a:t>
            </a:r>
            <a:r>
              <a:rPr lang="en-US" altLang="zh-CN" sz="1800" dirty="0"/>
              <a:t>clientNo,interviewDate)</a:t>
            </a:r>
            <a:r>
              <a:rPr lang="zh-CN" altLang="en-US" sz="1800" dirty="0"/>
              <a:t>作为该关系的主键。</a:t>
            </a:r>
            <a:endParaRPr lang="zh-CN" altLang="en-US" sz="1800" dirty="0"/>
          </a:p>
          <a:p>
            <a:pPr marL="0" lvl="0" indent="0" eaLnBrk="1" hangingPunct="1">
              <a:lnSpc>
                <a:spcPct val="130000"/>
              </a:lnSpc>
              <a:spcBef>
                <a:spcPct val="35000"/>
              </a:spcBef>
              <a:buClrTx/>
              <a:buSzTx/>
              <a:buNone/>
            </a:pPr>
            <a:r>
              <a:rPr lang="zh-CN" altLang="en-US" sz="1800" dirty="0"/>
              <a:t>        该模式具有如下的依赖关系：</a:t>
            </a:r>
            <a:endParaRPr lang="zh-CN" altLang="en-US" sz="1800" dirty="0"/>
          </a:p>
          <a:p>
            <a:pPr marL="0" lvl="0" indent="0" eaLnBrk="1" hangingPunct="1">
              <a:lnSpc>
                <a:spcPct val="120000"/>
              </a:lnSpc>
              <a:spcBef>
                <a:spcPct val="10000"/>
              </a:spcBef>
              <a:buClrTx/>
              <a:buSzTx/>
              <a:buNone/>
            </a:pPr>
            <a:r>
              <a:rPr lang="zh-CN" altLang="en-US" sz="1800" dirty="0"/>
              <a:t> </a:t>
            </a:r>
            <a:r>
              <a:rPr lang="en-US" altLang="zh-CN" sz="1800" dirty="0"/>
              <a:t>fd1:</a:t>
            </a:r>
            <a:r>
              <a:rPr lang="zh-CN" altLang="en-US" sz="1800" dirty="0"/>
              <a:t>（</a:t>
            </a:r>
            <a:r>
              <a:rPr lang="en-US" altLang="zh-CN" sz="1800" dirty="0"/>
              <a:t>clientNo,interviewDate</a:t>
            </a:r>
            <a:r>
              <a:rPr lang="zh-CN" altLang="en-US" sz="1800" dirty="0"/>
              <a:t>）</a:t>
            </a:r>
            <a:r>
              <a:rPr lang="en-US" altLang="zh-CN" sz="1800" dirty="0">
                <a:latin typeface="宋体" panose="02010600030101010101" pitchFamily="2" charset="-122"/>
              </a:rPr>
              <a:t>→ </a:t>
            </a:r>
            <a:r>
              <a:rPr lang="en-US" altLang="zh-CN" sz="1800" dirty="0"/>
              <a:t>interviewTime,StaffNo,roomNo  </a:t>
            </a:r>
            <a:r>
              <a:rPr lang="zh-CN" altLang="en-US" sz="1800" dirty="0"/>
              <a:t>（主键）</a:t>
            </a:r>
            <a:endParaRPr lang="zh-CN" altLang="en-US" sz="1800" dirty="0"/>
          </a:p>
          <a:p>
            <a:pPr marL="0" lvl="0" indent="0" eaLnBrk="1" hangingPunct="1">
              <a:lnSpc>
                <a:spcPct val="120000"/>
              </a:lnSpc>
              <a:spcBef>
                <a:spcPct val="10000"/>
              </a:spcBef>
              <a:buClrTx/>
              <a:buSzTx/>
              <a:buNone/>
            </a:pPr>
            <a:r>
              <a:rPr lang="en-US" altLang="zh-CN" sz="1800" dirty="0"/>
              <a:t> fd2:</a:t>
            </a:r>
            <a:r>
              <a:rPr lang="zh-CN" altLang="en-US" sz="1800" dirty="0"/>
              <a:t> （</a:t>
            </a:r>
            <a:r>
              <a:rPr lang="en-US" altLang="zh-CN" sz="1800" dirty="0"/>
              <a:t>StaffNo,interviewDate, interviewTime </a:t>
            </a:r>
            <a:r>
              <a:rPr lang="zh-CN" altLang="en-US" sz="1800" dirty="0"/>
              <a:t>）</a:t>
            </a:r>
            <a:r>
              <a:rPr lang="en-US" altLang="zh-CN" sz="1800" dirty="0">
                <a:latin typeface="宋体" panose="02010600030101010101" pitchFamily="2" charset="-122"/>
              </a:rPr>
              <a:t>→</a:t>
            </a:r>
            <a:r>
              <a:rPr lang="en-US" altLang="zh-CN" sz="1800" dirty="0"/>
              <a:t>clientNo </a:t>
            </a:r>
            <a:r>
              <a:rPr lang="zh-CN" altLang="en-US" sz="1800" dirty="0"/>
              <a:t>（侯选键）</a:t>
            </a:r>
            <a:endParaRPr lang="zh-CN" altLang="en-US" sz="1800" dirty="0"/>
          </a:p>
          <a:p>
            <a:pPr marL="0" lvl="0" indent="0" eaLnBrk="1" hangingPunct="1">
              <a:lnSpc>
                <a:spcPct val="120000"/>
              </a:lnSpc>
              <a:spcBef>
                <a:spcPct val="10000"/>
              </a:spcBef>
              <a:buClrTx/>
              <a:buSzTx/>
              <a:buNone/>
            </a:pPr>
            <a:r>
              <a:rPr lang="en-US" altLang="zh-CN" sz="1800" dirty="0"/>
              <a:t> fd3: </a:t>
            </a:r>
            <a:r>
              <a:rPr lang="zh-CN" altLang="en-US" sz="1800" dirty="0"/>
              <a:t>（</a:t>
            </a:r>
            <a:r>
              <a:rPr lang="en-US" altLang="zh-CN" sz="1800" dirty="0"/>
              <a:t>roomNo, interviewDate, interviewTime</a:t>
            </a:r>
            <a:r>
              <a:rPr lang="zh-CN" altLang="en-US" sz="1800" dirty="0"/>
              <a:t>）</a:t>
            </a:r>
            <a:r>
              <a:rPr lang="en-US" altLang="zh-CN" sz="1800" dirty="0">
                <a:latin typeface="宋体" panose="02010600030101010101" pitchFamily="2" charset="-122"/>
              </a:rPr>
              <a:t>→</a:t>
            </a:r>
            <a:r>
              <a:rPr lang="en-US" altLang="zh-CN" sz="1800" dirty="0"/>
              <a:t>clientNo,StaffNo </a:t>
            </a:r>
            <a:r>
              <a:rPr lang="zh-CN" altLang="en-US" sz="1800" dirty="0"/>
              <a:t>（侯选键）</a:t>
            </a:r>
            <a:endParaRPr lang="zh-CN" altLang="en-US" sz="1800" dirty="0"/>
          </a:p>
          <a:p>
            <a:pPr marL="0" lvl="0" indent="0" eaLnBrk="1" hangingPunct="1">
              <a:lnSpc>
                <a:spcPct val="120000"/>
              </a:lnSpc>
              <a:spcBef>
                <a:spcPct val="10000"/>
              </a:spcBef>
              <a:buClrTx/>
              <a:buSzTx/>
              <a:buNone/>
            </a:pPr>
            <a:r>
              <a:rPr lang="zh-CN" altLang="en-US" sz="1800" dirty="0"/>
              <a:t> </a:t>
            </a:r>
            <a:r>
              <a:rPr lang="en-US" altLang="zh-CN" sz="1800" dirty="0"/>
              <a:t>fd4:</a:t>
            </a:r>
            <a:r>
              <a:rPr lang="zh-CN" altLang="en-US" sz="1800" dirty="0"/>
              <a:t>（ </a:t>
            </a:r>
            <a:r>
              <a:rPr lang="en-US" altLang="zh-CN" sz="1800" dirty="0"/>
              <a:t>StaffNo,interviewDate</a:t>
            </a:r>
            <a:r>
              <a:rPr lang="zh-CN" altLang="en-US" sz="1800" dirty="0"/>
              <a:t> ）</a:t>
            </a:r>
            <a:r>
              <a:rPr lang="en-US" altLang="zh-CN" sz="1800" dirty="0">
                <a:latin typeface="宋体" panose="02010600030101010101" pitchFamily="2" charset="-122"/>
              </a:rPr>
              <a:t>→ </a:t>
            </a:r>
            <a:r>
              <a:rPr lang="en-US" altLang="zh-CN" sz="1800" dirty="0"/>
              <a:t>roomNo</a:t>
            </a:r>
            <a:endParaRPr lang="en-US" altLang="zh-CN" sz="1800" dirty="0"/>
          </a:p>
        </p:txBody>
      </p:sp>
      <p:sp>
        <p:nvSpPr>
          <p:cNvPr id="49156"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7"/>
          <p:cNvSpPr/>
          <p:nvPr/>
        </p:nvSpPr>
        <p:spPr>
          <a:xfrm>
            <a:off x="496888" y="733425"/>
            <a:ext cx="77597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4</a:t>
            </a:r>
            <a:r>
              <a:rPr lang="zh-CN" altLang="en-US" sz="2800" dirty="0">
                <a:solidFill>
                  <a:srgbClr val="FF3300"/>
                </a:solidFill>
                <a:latin typeface="黑体" panose="02010609060101010101" pitchFamily="49" charset="-122"/>
                <a:ea typeface="黑体" panose="02010609060101010101" pitchFamily="49" charset="-122"/>
              </a:rPr>
              <a:t>、</a:t>
            </a:r>
            <a:r>
              <a:rPr lang="en-US" altLang="zh-CN" sz="2800" dirty="0">
                <a:solidFill>
                  <a:srgbClr val="FF3300"/>
                </a:solidFill>
                <a:latin typeface="黑体" panose="02010609060101010101" pitchFamily="49" charset="-122"/>
                <a:ea typeface="黑体" panose="02010609060101010101" pitchFamily="49" charset="-122"/>
              </a:rPr>
              <a:t>Boyce-Codd</a:t>
            </a:r>
            <a:r>
              <a:rPr lang="zh-CN" altLang="en-US" sz="2800" dirty="0">
                <a:solidFill>
                  <a:srgbClr val="FF3300"/>
                </a:solidFill>
                <a:latin typeface="黑体" panose="02010609060101010101" pitchFamily="49" charset="-122"/>
                <a:ea typeface="黑体" panose="02010609060101010101" pitchFamily="49" charset="-122"/>
              </a:rPr>
              <a:t>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50179" name="Text Box 3"/>
          <p:cNvSpPr txBox="1"/>
          <p:nvPr/>
        </p:nvSpPr>
        <p:spPr>
          <a:xfrm>
            <a:off x="346075" y="1328738"/>
            <a:ext cx="8672513" cy="26781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10000"/>
              </a:spcBef>
              <a:buClrTx/>
              <a:buSzTx/>
              <a:buNone/>
            </a:pPr>
            <a:r>
              <a:rPr lang="zh-CN" altLang="en-US" dirty="0">
                <a:solidFill>
                  <a:srgbClr val="FF0000"/>
                </a:solidFill>
                <a:latin typeface="宋体" panose="02010600030101010101" pitchFamily="2" charset="-122"/>
              </a:rPr>
              <a:t>    </a:t>
            </a:r>
            <a:r>
              <a:rPr lang="zh-CN" altLang="en-US" dirty="0"/>
              <a:t>对于</a:t>
            </a:r>
            <a:r>
              <a:rPr lang="en-US" altLang="zh-CN" dirty="0"/>
              <a:t>fd4</a:t>
            </a:r>
            <a:r>
              <a:rPr lang="zh-CN" altLang="en-US" dirty="0"/>
              <a:t>，尽管（ </a:t>
            </a:r>
            <a:r>
              <a:rPr lang="en-US" altLang="zh-CN" dirty="0"/>
              <a:t>StaffNo,interviewDate</a:t>
            </a:r>
            <a:r>
              <a:rPr lang="zh-CN" altLang="en-US" dirty="0"/>
              <a:t> ）不是</a:t>
            </a:r>
            <a:r>
              <a:rPr lang="en-US" altLang="zh-CN" dirty="0"/>
              <a:t>ClientInterview</a:t>
            </a:r>
            <a:r>
              <a:rPr lang="zh-CN" altLang="en-US" dirty="0"/>
              <a:t>关系的侯选键，但由于</a:t>
            </a:r>
            <a:r>
              <a:rPr lang="en-US" altLang="zh-CN" dirty="0"/>
              <a:t>roomNo</a:t>
            </a:r>
            <a:r>
              <a:rPr lang="zh-CN" altLang="en-US" dirty="0"/>
              <a:t>是侯选键（</a:t>
            </a:r>
            <a:r>
              <a:rPr lang="en-US" altLang="zh-CN" dirty="0"/>
              <a:t>roomNo, interviewDate, interviewTime</a:t>
            </a:r>
            <a:r>
              <a:rPr lang="zh-CN" altLang="en-US" dirty="0"/>
              <a:t>） 中的一个主属性，因此，这个函数是</a:t>
            </a:r>
            <a:r>
              <a:rPr lang="en-US" altLang="zh-CN" dirty="0"/>
              <a:t>3NF</a:t>
            </a:r>
            <a:r>
              <a:rPr lang="zh-CN" altLang="en-US" dirty="0"/>
              <a:t>所允许的。但并不符合</a:t>
            </a:r>
            <a:r>
              <a:rPr lang="en-US" altLang="zh-CN" dirty="0"/>
              <a:t>BCNF</a:t>
            </a:r>
            <a:r>
              <a:rPr lang="zh-CN" altLang="en-US" dirty="0"/>
              <a:t>范式。</a:t>
            </a:r>
            <a:endParaRPr lang="zh-CN" altLang="en-US" dirty="0"/>
          </a:p>
          <a:p>
            <a:pPr marL="0" lvl="0" indent="0" eaLnBrk="1" hangingPunct="1">
              <a:lnSpc>
                <a:spcPct val="120000"/>
              </a:lnSpc>
              <a:spcBef>
                <a:spcPct val="10000"/>
              </a:spcBef>
              <a:buClrTx/>
              <a:buSzTx/>
              <a:buNone/>
            </a:pPr>
            <a:r>
              <a:rPr lang="zh-CN" altLang="en-US" sz="1800" dirty="0"/>
              <a:t>        </a:t>
            </a:r>
            <a:r>
              <a:rPr lang="zh-CN" altLang="en-US" dirty="0"/>
              <a:t>例如：如果职员“</a:t>
            </a:r>
            <a:r>
              <a:rPr lang="en-US" altLang="zh-CN" dirty="0"/>
              <a:t>Z005”</a:t>
            </a:r>
            <a:r>
              <a:rPr lang="zh-CN" altLang="en-US" dirty="0"/>
              <a:t>更改了</a:t>
            </a:r>
            <a:r>
              <a:rPr lang="en-US" altLang="zh-CN" dirty="0"/>
              <a:t>2009</a:t>
            </a:r>
            <a:r>
              <a:rPr lang="zh-CN" altLang="en-US" dirty="0"/>
              <a:t>年</a:t>
            </a:r>
            <a:r>
              <a:rPr lang="en-US" altLang="zh-CN" dirty="0"/>
              <a:t>10</a:t>
            </a:r>
            <a:r>
              <a:rPr lang="zh-CN" altLang="en-US" dirty="0"/>
              <a:t>月</a:t>
            </a:r>
            <a:r>
              <a:rPr lang="en-US" altLang="zh-CN" dirty="0"/>
              <a:t>2</a:t>
            </a:r>
            <a:r>
              <a:rPr lang="zh-CN" altLang="en-US" dirty="0"/>
              <a:t>0日的房间号时就需要更新表中的两个元组，否则会导致数据不一致。可以把不符合</a:t>
            </a:r>
            <a:r>
              <a:rPr lang="en-US" altLang="zh-CN" dirty="0"/>
              <a:t>BCNF</a:t>
            </a:r>
            <a:r>
              <a:rPr lang="zh-CN" altLang="en-US" dirty="0"/>
              <a:t>的关系分解成符合</a:t>
            </a:r>
            <a:r>
              <a:rPr lang="en-US" altLang="zh-CN" dirty="0"/>
              <a:t>BCNF</a:t>
            </a:r>
            <a:r>
              <a:rPr lang="zh-CN" altLang="en-US" dirty="0"/>
              <a:t>关系。</a:t>
            </a:r>
            <a:endParaRPr lang="zh-CN" altLang="en-US" dirty="0"/>
          </a:p>
        </p:txBody>
      </p:sp>
      <p:graphicFrame>
        <p:nvGraphicFramePr>
          <p:cNvPr id="43012" name="表格 43011"/>
          <p:cNvGraphicFramePr/>
          <p:nvPr/>
        </p:nvGraphicFramePr>
        <p:xfrm>
          <a:off x="190500" y="4432300"/>
          <a:ext cx="5118100" cy="1866900"/>
        </p:xfrm>
        <a:graphic>
          <a:graphicData uri="http://schemas.openxmlformats.org/drawingml/2006/table">
            <a:tbl>
              <a:tblPr/>
              <a:tblGrid>
                <a:gridCol w="1071563"/>
                <a:gridCol w="1601787"/>
                <a:gridCol w="1573213"/>
                <a:gridCol w="871537"/>
              </a:tblGrid>
              <a:tr h="3937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clientNo</a:t>
                      </a:r>
                      <a:endParaRPr lang="en-US" altLang="x-none" dirty="0"/>
                    </a:p>
                  </a:txBody>
                  <a:tcPr marL="18000" marR="18000" marT="46819" marB="4681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interviewDate</a:t>
                      </a:r>
                      <a:endParaRPr lang="en-US" altLang="x-none"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interviewTime</a:t>
                      </a:r>
                      <a:endParaRPr lang="en-US" altLang="x-none"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staffNo</a:t>
                      </a:r>
                      <a:endParaRPr lang="en-US" altLang="x-none" dirty="0"/>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C001</a:t>
                      </a:r>
                      <a:endParaRPr lang="en-US" altLang="x-none" dirty="0"/>
                    </a:p>
                  </a:txBody>
                  <a:tcPr marL="18000" marR="18000" marT="46819" marB="4681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2009-10-20</a:t>
                      </a:r>
                      <a:endParaRPr lang="en-US" altLang="x-none"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10:30</a:t>
                      </a:r>
                      <a:endParaRPr lang="en-US" altLang="x-none"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Z005</a:t>
                      </a:r>
                      <a:endParaRPr lang="en-US" altLang="x-none" dirty="0"/>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G002</a:t>
                      </a:r>
                      <a:endParaRPr lang="en-US" altLang="x-none" dirty="0"/>
                    </a:p>
                  </a:txBody>
                  <a:tcPr marL="18000" marR="18000" marT="46819" marB="4681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2009-10-20</a:t>
                      </a:r>
                      <a:endParaRPr lang="zh-CN" altLang="en-US"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12:00</a:t>
                      </a:r>
                      <a:endParaRPr lang="en-US" altLang="x-none"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Z005</a:t>
                      </a:r>
                      <a:endParaRPr lang="zh-CN" altLang="en-US" dirty="0"/>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G005</a:t>
                      </a:r>
                      <a:endParaRPr lang="en-US" altLang="x-none" dirty="0"/>
                    </a:p>
                  </a:txBody>
                  <a:tcPr marL="18000" marR="18000" marT="46819" marB="4681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2009-10-20</a:t>
                      </a:r>
                      <a:endParaRPr lang="zh-CN" altLang="en-US"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10:30</a:t>
                      </a:r>
                      <a:endParaRPr lang="zh-CN" altLang="en-US"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Z002</a:t>
                      </a:r>
                      <a:endParaRPr lang="zh-CN" altLang="en-US" dirty="0"/>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G002</a:t>
                      </a:r>
                      <a:endParaRPr lang="en-US" altLang="x-none" dirty="0"/>
                    </a:p>
                  </a:txBody>
                  <a:tcPr marL="18000" marR="18000" marT="46819" marB="4681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2009-10-28</a:t>
                      </a:r>
                      <a:endParaRPr lang="en-US" altLang="x-none"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10:30</a:t>
                      </a:r>
                      <a:endParaRPr lang="zh-CN" altLang="en-US"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Z005</a:t>
                      </a:r>
                      <a:endParaRPr lang="zh-CN" altLang="en-US" dirty="0"/>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43044" name="表格 43043"/>
          <p:cNvGraphicFramePr/>
          <p:nvPr/>
        </p:nvGraphicFramePr>
        <p:xfrm>
          <a:off x="5422900" y="4445000"/>
          <a:ext cx="3556000" cy="1473200"/>
        </p:xfrm>
        <a:graphic>
          <a:graphicData uri="http://schemas.openxmlformats.org/drawingml/2006/table">
            <a:tbl>
              <a:tblPr/>
              <a:tblGrid>
                <a:gridCol w="912813"/>
                <a:gridCol w="1600200"/>
                <a:gridCol w="1042987"/>
              </a:tblGrid>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staffNo</a:t>
                      </a:r>
                      <a:endParaRPr lang="en-US" altLang="x-none" dirty="0"/>
                    </a:p>
                  </a:txBody>
                  <a:tcPr marL="18000" marR="18000" marT="46824" marB="468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interviewDate</a:t>
                      </a:r>
                      <a:endParaRPr lang="en-US" altLang="x-none" dirty="0"/>
                    </a:p>
                  </a:txBody>
                  <a:tcPr marL="18000" marR="18000" marT="46824" marB="468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roomNo</a:t>
                      </a:r>
                      <a:endParaRPr lang="en-US" altLang="x-none" dirty="0"/>
                    </a:p>
                  </a:txBody>
                  <a:tcPr marL="18000" marR="18000" marT="46824" marB="468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Z005</a:t>
                      </a:r>
                      <a:endParaRPr lang="en-US" altLang="x-none" dirty="0"/>
                    </a:p>
                  </a:txBody>
                  <a:tcPr marL="18000" marR="18000" marT="46824" marB="468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2009-10-20</a:t>
                      </a:r>
                      <a:endParaRPr lang="en-US" altLang="x-none" dirty="0"/>
                    </a:p>
                  </a:txBody>
                  <a:tcPr marL="18000" marR="18000" marT="46824" marB="468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R101</a:t>
                      </a:r>
                      <a:endParaRPr lang="en-US" altLang="x-none" dirty="0"/>
                    </a:p>
                  </a:txBody>
                  <a:tcPr marL="18000" marR="18000" marT="46824" marB="468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Z002</a:t>
                      </a:r>
                      <a:endParaRPr lang="zh-CN" altLang="en-US" dirty="0"/>
                    </a:p>
                  </a:txBody>
                  <a:tcPr marL="18000" marR="18000" marT="46824" marB="468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2009-10-20</a:t>
                      </a:r>
                      <a:endParaRPr lang="zh-CN" altLang="en-US" dirty="0"/>
                    </a:p>
                  </a:txBody>
                  <a:tcPr marL="18000" marR="18000" marT="46824" marB="468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R102</a:t>
                      </a:r>
                      <a:endParaRPr lang="zh-CN" altLang="en-US" dirty="0"/>
                    </a:p>
                  </a:txBody>
                  <a:tcPr marL="18000" marR="18000" marT="46824" marB="468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Z005</a:t>
                      </a:r>
                      <a:endParaRPr lang="zh-CN" altLang="en-US" dirty="0"/>
                    </a:p>
                  </a:txBody>
                  <a:tcPr marL="18000" marR="18000" marT="46824" marB="468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2009-10-28</a:t>
                      </a:r>
                      <a:endParaRPr lang="en-US" altLang="x-none" dirty="0"/>
                    </a:p>
                  </a:txBody>
                  <a:tcPr marL="18000" marR="18000" marT="46824" marB="468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R102</a:t>
                      </a:r>
                      <a:endParaRPr lang="zh-CN" altLang="en-US" dirty="0"/>
                    </a:p>
                  </a:txBody>
                  <a:tcPr marL="18000" marR="18000" marT="46824" marB="468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50236" name="Rectangle 65"/>
          <p:cNvSpPr/>
          <p:nvPr/>
        </p:nvSpPr>
        <p:spPr>
          <a:xfrm>
            <a:off x="1736725" y="3952875"/>
            <a:ext cx="1436688" cy="463550"/>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en-US" altLang="zh-CN" sz="1800" dirty="0">
                <a:solidFill>
                  <a:srgbClr val="0033CC"/>
                </a:solidFill>
              </a:rPr>
              <a:t>Interview</a:t>
            </a:r>
            <a:endParaRPr lang="en-US" altLang="zh-CN" sz="1800" dirty="0">
              <a:solidFill>
                <a:srgbClr val="0033CC"/>
              </a:solidFill>
            </a:endParaRPr>
          </a:p>
        </p:txBody>
      </p:sp>
      <p:sp>
        <p:nvSpPr>
          <p:cNvPr id="50237" name="Rectangle 66"/>
          <p:cNvSpPr/>
          <p:nvPr/>
        </p:nvSpPr>
        <p:spPr>
          <a:xfrm>
            <a:off x="6315075" y="3978275"/>
            <a:ext cx="1525588" cy="463550"/>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en-US" altLang="zh-CN" sz="1800" dirty="0">
                <a:solidFill>
                  <a:srgbClr val="0033CC"/>
                </a:solidFill>
              </a:rPr>
              <a:t>Staffroom</a:t>
            </a:r>
            <a:endParaRPr lang="en-US" altLang="zh-CN" sz="1800" dirty="0">
              <a:solidFill>
                <a:srgbClr val="0033CC"/>
              </a:solidFill>
            </a:endParaRPr>
          </a:p>
        </p:txBody>
      </p:sp>
      <p:sp>
        <p:nvSpPr>
          <p:cNvPr id="50238"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7"/>
          <p:cNvSpPr/>
          <p:nvPr/>
        </p:nvSpPr>
        <p:spPr>
          <a:xfrm>
            <a:off x="487363" y="774700"/>
            <a:ext cx="77597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4</a:t>
            </a:r>
            <a:r>
              <a:rPr lang="zh-CN" altLang="en-US" sz="2800" dirty="0">
                <a:solidFill>
                  <a:srgbClr val="FF3300"/>
                </a:solidFill>
                <a:latin typeface="黑体" panose="02010609060101010101" pitchFamily="49" charset="-122"/>
                <a:ea typeface="黑体" panose="02010609060101010101" pitchFamily="49" charset="-122"/>
              </a:rPr>
              <a:t>、</a:t>
            </a:r>
            <a:r>
              <a:rPr lang="en-US" altLang="zh-CN" sz="2800" dirty="0">
                <a:solidFill>
                  <a:srgbClr val="FF3300"/>
                </a:solidFill>
                <a:latin typeface="黑体" panose="02010609060101010101" pitchFamily="49" charset="-122"/>
                <a:ea typeface="黑体" panose="02010609060101010101" pitchFamily="49" charset="-122"/>
              </a:rPr>
              <a:t>Boyce-Codd</a:t>
            </a:r>
            <a:r>
              <a:rPr lang="zh-CN" altLang="en-US" sz="2800" dirty="0">
                <a:solidFill>
                  <a:srgbClr val="FF3300"/>
                </a:solidFill>
                <a:latin typeface="黑体" panose="02010609060101010101" pitchFamily="49" charset="-122"/>
                <a:ea typeface="黑体" panose="02010609060101010101" pitchFamily="49" charset="-122"/>
              </a:rPr>
              <a:t>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51203" name="Text Box 3"/>
          <p:cNvSpPr txBox="1"/>
          <p:nvPr/>
        </p:nvSpPr>
        <p:spPr>
          <a:xfrm>
            <a:off x="381000" y="1468438"/>
            <a:ext cx="8529638" cy="42386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40000"/>
              </a:lnSpc>
              <a:spcBef>
                <a:spcPct val="40000"/>
              </a:spcBef>
              <a:buClrTx/>
              <a:buSzTx/>
              <a:buNone/>
            </a:pPr>
            <a:r>
              <a:rPr lang="en-US" altLang="zh-CN" dirty="0"/>
              <a:t>       </a:t>
            </a:r>
            <a:r>
              <a:rPr lang="zh-CN" altLang="en-US" sz="2200" dirty="0"/>
              <a:t>在</a:t>
            </a:r>
            <a:r>
              <a:rPr lang="en-US" altLang="zh-CN" sz="2200" dirty="0"/>
              <a:t>3NF</a:t>
            </a:r>
            <a:r>
              <a:rPr lang="zh-CN" altLang="en-US" sz="2200" dirty="0"/>
              <a:t>中，所有的函数依赖都会被保存下来，当被分解为</a:t>
            </a:r>
            <a:r>
              <a:rPr lang="en-US" altLang="zh-CN" sz="2200" dirty="0"/>
              <a:t>BCNF</a:t>
            </a:r>
            <a:r>
              <a:rPr lang="zh-CN" altLang="en-US" sz="2200" dirty="0"/>
              <a:t>后，已经丢失了函数依赖：</a:t>
            </a:r>
            <a:endParaRPr lang="zh-CN" altLang="en-US" sz="2200" dirty="0"/>
          </a:p>
          <a:p>
            <a:pPr marL="0" lvl="0" indent="0" eaLnBrk="1" hangingPunct="1">
              <a:lnSpc>
                <a:spcPct val="140000"/>
              </a:lnSpc>
              <a:spcBef>
                <a:spcPct val="40000"/>
              </a:spcBef>
              <a:buClrTx/>
              <a:buSzTx/>
              <a:buNone/>
            </a:pPr>
            <a:r>
              <a:rPr lang="zh-CN" altLang="en-US" sz="2200" dirty="0"/>
              <a:t>     </a:t>
            </a:r>
            <a:r>
              <a:rPr lang="zh-CN" altLang="en-US" dirty="0"/>
              <a:t>（</a:t>
            </a:r>
            <a:r>
              <a:rPr lang="en-US" altLang="zh-CN" dirty="0"/>
              <a:t>roomNo,interviewDate, interviewTime</a:t>
            </a:r>
            <a:r>
              <a:rPr lang="zh-CN" altLang="en-US" dirty="0"/>
              <a:t>）→</a:t>
            </a:r>
            <a:r>
              <a:rPr lang="en-US" altLang="zh-CN" dirty="0"/>
              <a:t>StaffNo,clientNo</a:t>
            </a:r>
            <a:endParaRPr lang="en-US" altLang="zh-CN" dirty="0"/>
          </a:p>
          <a:p>
            <a:pPr marL="0" lvl="0" indent="0" eaLnBrk="1" hangingPunct="1">
              <a:lnSpc>
                <a:spcPct val="140000"/>
              </a:lnSpc>
              <a:spcBef>
                <a:spcPct val="40000"/>
              </a:spcBef>
              <a:buClrTx/>
              <a:buSzTx/>
              <a:buNone/>
            </a:pPr>
            <a:r>
              <a:rPr lang="en-US" altLang="zh-CN" sz="2200" dirty="0"/>
              <a:t>       </a:t>
            </a:r>
            <a:r>
              <a:rPr lang="zh-CN" altLang="en-US" sz="2200" dirty="0"/>
              <a:t>因为这个依赖的决定因子已经不在一个关系中了</a:t>
            </a:r>
            <a:r>
              <a:rPr lang="en-US" altLang="zh-CN" sz="2200" dirty="0"/>
              <a:t>。但如果不消除fd4</a:t>
            </a:r>
            <a:r>
              <a:rPr lang="zh-CN" altLang="en-US" sz="2200" dirty="0"/>
              <a:t>函数依赖，那么在关系</a:t>
            </a:r>
            <a:r>
              <a:rPr lang="en-US" altLang="zh-CN" sz="2200" dirty="0"/>
              <a:t>ClientInterview</a:t>
            </a:r>
            <a:r>
              <a:rPr lang="zh-CN" altLang="en-US" sz="2200" dirty="0"/>
              <a:t>中就存在数据冗余。</a:t>
            </a:r>
            <a:endParaRPr lang="zh-CN" altLang="en-US" sz="2200" dirty="0"/>
          </a:p>
          <a:p>
            <a:pPr marL="0" lvl="0" indent="0" eaLnBrk="1" hangingPunct="1">
              <a:lnSpc>
                <a:spcPct val="140000"/>
              </a:lnSpc>
              <a:spcBef>
                <a:spcPct val="40000"/>
              </a:spcBef>
              <a:buClrTx/>
              <a:buSzTx/>
              <a:buNone/>
            </a:pPr>
            <a:r>
              <a:rPr lang="zh-CN" altLang="en-US" sz="2200" dirty="0"/>
              <a:t>      在实际应用中，到底应该将</a:t>
            </a:r>
            <a:r>
              <a:rPr lang="en-US" altLang="zh-CN" sz="2200" dirty="0"/>
              <a:t>ClientInterview</a:t>
            </a:r>
            <a:r>
              <a:rPr lang="zh-CN" altLang="en-US" sz="2200" dirty="0"/>
              <a:t>关系规范到</a:t>
            </a:r>
            <a:r>
              <a:rPr lang="en-US" altLang="zh-CN" sz="2200" dirty="0"/>
              <a:t>3NF</a:t>
            </a:r>
            <a:r>
              <a:rPr lang="zh-CN" altLang="en-US" sz="2200" dirty="0"/>
              <a:t>，还是规范化到</a:t>
            </a:r>
            <a:r>
              <a:rPr lang="en-US" altLang="zh-CN" sz="2200" dirty="0"/>
              <a:t>BCNF</a:t>
            </a:r>
            <a:r>
              <a:rPr lang="zh-CN" altLang="en-US" sz="2200" dirty="0"/>
              <a:t>，主要由</a:t>
            </a:r>
            <a:r>
              <a:rPr lang="en-US" altLang="zh-CN" sz="2200" dirty="0"/>
              <a:t>3NF</a:t>
            </a:r>
            <a:r>
              <a:rPr lang="zh-CN" altLang="en-US" sz="2200" dirty="0"/>
              <a:t>的</a:t>
            </a:r>
            <a:r>
              <a:rPr lang="en-US" altLang="zh-CN" sz="2200" dirty="0"/>
              <a:t>ClientInterview</a:t>
            </a:r>
            <a:r>
              <a:rPr lang="zh-CN" altLang="en-US" sz="2200" dirty="0"/>
              <a:t>关系所产生的数据冗余量与丢失</a:t>
            </a:r>
            <a:r>
              <a:rPr lang="en-US" altLang="zh-CN" sz="2200" dirty="0"/>
              <a:t>fd3</a:t>
            </a:r>
            <a:r>
              <a:rPr lang="zh-CN" altLang="en-US" sz="2200" dirty="0"/>
              <a:t>函数依赖所造成的影响哪个更重要。</a:t>
            </a:r>
            <a:endParaRPr lang="zh-CN" altLang="en-US" sz="2200" dirty="0"/>
          </a:p>
        </p:txBody>
      </p:sp>
      <p:sp>
        <p:nvSpPr>
          <p:cNvPr id="51204"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文本框 44"/>
          <p:cNvSpPr txBox="1"/>
          <p:nvPr/>
        </p:nvSpPr>
        <p:spPr>
          <a:xfrm>
            <a:off x="444500" y="619125"/>
            <a:ext cx="2681288" cy="828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algn="just" eaLnBrk="1" hangingPunct="1">
              <a:lnSpc>
                <a:spcPct val="150000"/>
              </a:lnSpc>
              <a:spcBef>
                <a:spcPct val="0"/>
              </a:spcBef>
              <a:buClrTx/>
              <a:buSzTx/>
              <a:buFont typeface="Wingdings" panose="05000000000000000000" pitchFamily="2" charset="2"/>
              <a:buChar char="p"/>
            </a:pPr>
            <a:r>
              <a:rPr lang="zh-CN" altLang="zh-CN" sz="3200" dirty="0">
                <a:solidFill>
                  <a:srgbClr val="FF0000"/>
                </a:solidFill>
                <a:latin typeface="Calibri" panose="020F0502020204030204" charset="0"/>
                <a:sym typeface="宋体" panose="02010600030101010101" pitchFamily="2" charset="-122"/>
              </a:rPr>
              <a:t>问题研讨：</a:t>
            </a:r>
            <a:endParaRPr lang="zh-CN" altLang="en-US" sz="3200" dirty="0"/>
          </a:p>
        </p:txBody>
      </p:sp>
      <p:sp>
        <p:nvSpPr>
          <p:cNvPr id="52227" name="文本框 6"/>
          <p:cNvSpPr txBox="1"/>
          <p:nvPr/>
        </p:nvSpPr>
        <p:spPr>
          <a:xfrm>
            <a:off x="550863" y="1404938"/>
            <a:ext cx="8294687" cy="20002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1</a:t>
            </a:r>
            <a:r>
              <a:rPr lang="zh-CN" altLang="en-US" sz="2200" dirty="0"/>
              <a:t>、下列对</a:t>
            </a:r>
            <a:r>
              <a:rPr lang="en-US" altLang="zh-CN" sz="2200" dirty="0"/>
              <a:t>3NF</a:t>
            </a:r>
            <a:r>
              <a:rPr lang="zh-CN" altLang="en-US" sz="2200" dirty="0"/>
              <a:t>的叙述总，不正确的说法是（      ）</a:t>
            </a:r>
            <a:endParaRPr lang="zh-CN" altLang="en-US" sz="2200" dirty="0"/>
          </a:p>
          <a:p>
            <a:pPr marL="0" lvl="0" indent="0" eaLnBrk="1" hangingPunct="1">
              <a:spcBef>
                <a:spcPct val="0"/>
              </a:spcBef>
              <a:buClrTx/>
              <a:buSzTx/>
              <a:buFont typeface="Arial" panose="020B0604020202020204" pitchFamily="34" charset="0"/>
              <a:buNone/>
            </a:pPr>
            <a:r>
              <a:rPr lang="en-US" altLang="zh-CN" sz="2200" dirty="0"/>
              <a:t>   </a:t>
            </a:r>
            <a:r>
              <a:rPr lang="en-US" altLang="zh-CN" dirty="0"/>
              <a:t>A</a:t>
            </a:r>
            <a:r>
              <a:rPr lang="zh-CN" altLang="en-US" dirty="0"/>
              <a:t>、</a:t>
            </a:r>
            <a:r>
              <a:rPr lang="en-US" altLang="zh-CN" dirty="0"/>
              <a:t>3NF</a:t>
            </a:r>
            <a:r>
              <a:rPr lang="zh-CN" altLang="en-US" dirty="0"/>
              <a:t>模式中不存在属性对候选键的传递依赖</a:t>
            </a:r>
            <a:endParaRPr lang="zh-CN" altLang="en-US" dirty="0"/>
          </a:p>
          <a:p>
            <a:pPr marL="0" lvl="0" indent="0" eaLnBrk="1" hangingPunct="1">
              <a:spcBef>
                <a:spcPct val="0"/>
              </a:spcBef>
              <a:buClrTx/>
              <a:buSzTx/>
              <a:buFont typeface="Arial" panose="020B0604020202020204" pitchFamily="34" charset="0"/>
              <a:buNone/>
            </a:pPr>
            <a:r>
              <a:rPr lang="zh-CN" altLang="en-US" dirty="0"/>
              <a:t>   </a:t>
            </a:r>
            <a:r>
              <a:rPr lang="en-US" altLang="zh-CN" dirty="0"/>
              <a:t>B</a:t>
            </a:r>
            <a:r>
              <a:rPr lang="zh-CN" altLang="en-US" dirty="0"/>
              <a:t>、如果模式</a:t>
            </a:r>
            <a:r>
              <a:rPr lang="en-US" altLang="zh-CN" dirty="0"/>
              <a:t>R</a:t>
            </a:r>
            <a:r>
              <a:rPr lang="zh-CN" altLang="en-US" dirty="0"/>
              <a:t>是</a:t>
            </a:r>
            <a:r>
              <a:rPr lang="en-US" altLang="zh-CN" dirty="0"/>
              <a:t>3NF</a:t>
            </a:r>
            <a:r>
              <a:rPr lang="zh-CN" altLang="en-US" dirty="0"/>
              <a:t>，那么</a:t>
            </a:r>
            <a:r>
              <a:rPr lang="en-US" altLang="zh-CN" dirty="0"/>
              <a:t>R</a:t>
            </a:r>
            <a:r>
              <a:rPr lang="zh-CN" altLang="en-US" dirty="0"/>
              <a:t>一定是</a:t>
            </a:r>
            <a:r>
              <a:rPr lang="en-US" altLang="zh-CN" dirty="0"/>
              <a:t>2NF</a:t>
            </a:r>
            <a:endParaRPr lang="en-US" altLang="zh-CN" dirty="0"/>
          </a:p>
          <a:p>
            <a:pPr marL="0" lvl="0" indent="0" eaLnBrk="1" hangingPunct="1">
              <a:spcBef>
                <a:spcPct val="0"/>
              </a:spcBef>
              <a:buClrTx/>
              <a:buSzTx/>
              <a:buFont typeface="Arial" panose="020B0604020202020204" pitchFamily="34" charset="0"/>
              <a:buNone/>
            </a:pPr>
            <a:r>
              <a:rPr lang="zh-CN" altLang="en-US" dirty="0"/>
              <a:t>   </a:t>
            </a:r>
            <a:r>
              <a:rPr lang="en-US" altLang="zh-CN" dirty="0"/>
              <a:t>C</a:t>
            </a:r>
            <a:r>
              <a:rPr lang="zh-CN" altLang="en-US" dirty="0"/>
              <a:t>、</a:t>
            </a:r>
            <a:r>
              <a:rPr lang="en-US" altLang="zh-CN" dirty="0"/>
              <a:t>3NF</a:t>
            </a:r>
            <a:r>
              <a:rPr lang="zh-CN" altLang="en-US" dirty="0"/>
              <a:t>模式中不存在非主属性对主键的传递依赖</a:t>
            </a:r>
            <a:endParaRPr lang="zh-CN" altLang="en-US" dirty="0"/>
          </a:p>
          <a:p>
            <a:pPr marL="0" lvl="0" indent="0" eaLnBrk="1" hangingPunct="1">
              <a:spcBef>
                <a:spcPct val="0"/>
              </a:spcBef>
              <a:buClrTx/>
              <a:buSzTx/>
              <a:buFont typeface="Arial" panose="020B0604020202020204" pitchFamily="34" charset="0"/>
              <a:buNone/>
            </a:pPr>
            <a:r>
              <a:rPr lang="zh-CN" altLang="en-US" dirty="0"/>
              <a:t>   </a:t>
            </a:r>
            <a:r>
              <a:rPr lang="en-US" altLang="zh-CN" dirty="0"/>
              <a:t>D</a:t>
            </a:r>
            <a:r>
              <a:rPr lang="zh-CN" altLang="en-US" dirty="0"/>
              <a:t>、任何一个二元模式一定是</a:t>
            </a:r>
            <a:r>
              <a:rPr lang="en-US" altLang="zh-CN" dirty="0"/>
              <a:t>3NF</a:t>
            </a:r>
            <a:endParaRPr lang="en-US" altLang="zh-CN" dirty="0"/>
          </a:p>
          <a:p>
            <a:pPr marL="0" lvl="0" indent="0" eaLnBrk="1" hangingPunct="1">
              <a:spcBef>
                <a:spcPct val="0"/>
              </a:spcBef>
              <a:buClrTx/>
              <a:buSzTx/>
              <a:buFont typeface="Arial" panose="020B0604020202020204" pitchFamily="34" charset="0"/>
              <a:buNone/>
            </a:pPr>
            <a:endParaRPr lang="en-US" altLang="zh-CN" dirty="0"/>
          </a:p>
        </p:txBody>
      </p:sp>
      <p:sp>
        <p:nvSpPr>
          <p:cNvPr id="13" name="文本框 12"/>
          <p:cNvSpPr txBox="1"/>
          <p:nvPr/>
        </p:nvSpPr>
        <p:spPr>
          <a:xfrm>
            <a:off x="6099175" y="1358900"/>
            <a:ext cx="403225" cy="588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A</a:t>
            </a:r>
            <a:endParaRPr lang="en-US" altLang="zh-CN" sz="2400" dirty="0">
              <a:solidFill>
                <a:srgbClr val="C00000"/>
              </a:solidFill>
            </a:endParaRPr>
          </a:p>
        </p:txBody>
      </p:sp>
      <p:sp>
        <p:nvSpPr>
          <p:cNvPr id="52229" name="文本框 9"/>
          <p:cNvSpPr txBox="1"/>
          <p:nvPr/>
        </p:nvSpPr>
        <p:spPr>
          <a:xfrm>
            <a:off x="544513" y="3033078"/>
            <a:ext cx="8293100" cy="547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2</a:t>
            </a:r>
            <a:r>
              <a:rPr lang="zh-CN" altLang="en-US" sz="2200" dirty="0"/>
              <a:t>、下列对</a:t>
            </a:r>
            <a:r>
              <a:rPr lang="en-US" altLang="zh-CN" sz="2200" dirty="0"/>
              <a:t>2NF</a:t>
            </a:r>
            <a:r>
              <a:rPr lang="zh-CN" altLang="en-US" sz="2200" dirty="0"/>
              <a:t>的叙述中，不正确的说法是（      ）。</a:t>
            </a:r>
            <a:endParaRPr lang="zh-CN" altLang="en-US" sz="2200" dirty="0"/>
          </a:p>
        </p:txBody>
      </p:sp>
      <p:sp>
        <p:nvSpPr>
          <p:cNvPr id="52230" name="文本框 11"/>
          <p:cNvSpPr txBox="1"/>
          <p:nvPr/>
        </p:nvSpPr>
        <p:spPr>
          <a:xfrm>
            <a:off x="747713" y="3467100"/>
            <a:ext cx="8089900" cy="132207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t>A</a:t>
            </a:r>
            <a:r>
              <a:rPr lang="zh-CN" altLang="en-US" dirty="0"/>
              <a:t>、</a:t>
            </a:r>
            <a:r>
              <a:rPr lang="en-US" altLang="zh-CN" dirty="0"/>
              <a:t>2NF</a:t>
            </a:r>
            <a:r>
              <a:rPr lang="zh-CN" altLang="en-US" dirty="0"/>
              <a:t>模式中不存在非主属性对主键的部分依赖        </a:t>
            </a:r>
            <a:endParaRPr lang="zh-CN" altLang="en-US" dirty="0"/>
          </a:p>
          <a:p>
            <a:pPr marL="0" lvl="0" indent="0" eaLnBrk="1" hangingPunct="1">
              <a:spcBef>
                <a:spcPct val="0"/>
              </a:spcBef>
              <a:buClrTx/>
              <a:buSzTx/>
              <a:buFont typeface="Arial" panose="020B0604020202020204" pitchFamily="34" charset="0"/>
              <a:buNone/>
            </a:pPr>
            <a:r>
              <a:rPr lang="en-US" altLang="zh-CN" dirty="0"/>
              <a:t>B</a:t>
            </a:r>
            <a:r>
              <a:rPr lang="zh-CN" altLang="en-US" dirty="0"/>
              <a:t>、不是</a:t>
            </a:r>
            <a:r>
              <a:rPr lang="en-US" altLang="zh-CN" dirty="0"/>
              <a:t>2NF</a:t>
            </a:r>
            <a:r>
              <a:rPr lang="zh-CN" altLang="en-US" dirty="0"/>
              <a:t>，一定不是</a:t>
            </a:r>
            <a:r>
              <a:rPr lang="en-US" altLang="zh-CN" dirty="0"/>
              <a:t>3NF</a:t>
            </a:r>
            <a:endParaRPr lang="en-US" altLang="zh-CN" dirty="0"/>
          </a:p>
          <a:p>
            <a:pPr marL="0" lvl="0" indent="0" eaLnBrk="1" hangingPunct="1">
              <a:spcBef>
                <a:spcPct val="0"/>
              </a:spcBef>
              <a:buClrTx/>
              <a:buSzTx/>
              <a:buFont typeface="Arial" panose="020B0604020202020204" pitchFamily="34" charset="0"/>
              <a:buNone/>
            </a:pPr>
            <a:r>
              <a:rPr lang="en-US" altLang="zh-CN" dirty="0"/>
              <a:t>C</a:t>
            </a:r>
            <a:r>
              <a:rPr lang="zh-CN" altLang="en-US" dirty="0"/>
              <a:t>、</a:t>
            </a:r>
            <a:r>
              <a:rPr lang="en-US" altLang="zh-CN" dirty="0"/>
              <a:t>2NF</a:t>
            </a:r>
            <a:r>
              <a:rPr lang="zh-CN" altLang="en-US" dirty="0"/>
              <a:t>中每个属性不可再分割         </a:t>
            </a:r>
            <a:endParaRPr lang="zh-CN" altLang="en-US" dirty="0"/>
          </a:p>
          <a:p>
            <a:pPr marL="0" lvl="0" indent="0" eaLnBrk="1" hangingPunct="1">
              <a:spcBef>
                <a:spcPct val="0"/>
              </a:spcBef>
              <a:buClrTx/>
              <a:buSzTx/>
              <a:buFont typeface="Arial" panose="020B0604020202020204" pitchFamily="34" charset="0"/>
              <a:buNone/>
            </a:pPr>
            <a:r>
              <a:rPr lang="en-US" altLang="zh-CN" dirty="0"/>
              <a:t>D</a:t>
            </a:r>
            <a:r>
              <a:rPr lang="zh-CN" altLang="en-US" dirty="0"/>
              <a:t>、</a:t>
            </a:r>
            <a:r>
              <a:rPr lang="en-US" altLang="zh-CN" dirty="0"/>
              <a:t>2NF</a:t>
            </a:r>
            <a:r>
              <a:rPr lang="zh-CN" altLang="en-US" dirty="0"/>
              <a:t>模式中不存在传递依赖</a:t>
            </a:r>
            <a:endParaRPr lang="zh-CN" altLang="en-US" dirty="0"/>
          </a:p>
        </p:txBody>
      </p:sp>
      <p:sp>
        <p:nvSpPr>
          <p:cNvPr id="14" name="文本框 13"/>
          <p:cNvSpPr txBox="1"/>
          <p:nvPr/>
        </p:nvSpPr>
        <p:spPr>
          <a:xfrm>
            <a:off x="6099175" y="3033395"/>
            <a:ext cx="403225" cy="49403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D</a:t>
            </a:r>
            <a:endParaRPr lang="en-US" altLang="zh-CN" sz="2400" dirty="0">
              <a:solidFill>
                <a:srgbClr val="C00000"/>
              </a:solidFill>
            </a:endParaRPr>
          </a:p>
        </p:txBody>
      </p:sp>
      <p:sp>
        <p:nvSpPr>
          <p:cNvPr id="52232" name="文本框 15"/>
          <p:cNvSpPr txBox="1"/>
          <p:nvPr/>
        </p:nvSpPr>
        <p:spPr>
          <a:xfrm>
            <a:off x="544513" y="4758055"/>
            <a:ext cx="8293100"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3</a:t>
            </a:r>
            <a:r>
              <a:rPr lang="zh-CN" altLang="en-US" sz="2200" dirty="0"/>
              <a:t>、规范化理论是关系数据库进行逻辑设计的理论依据。根据这个理论，关系数据库中的关系必须满足：其每一属性都是（    ）</a:t>
            </a:r>
            <a:endParaRPr lang="zh-CN" altLang="en-US" sz="2200" dirty="0"/>
          </a:p>
        </p:txBody>
      </p:sp>
      <p:sp>
        <p:nvSpPr>
          <p:cNvPr id="52233" name="文本框 2"/>
          <p:cNvSpPr txBox="1"/>
          <p:nvPr/>
        </p:nvSpPr>
        <p:spPr>
          <a:xfrm>
            <a:off x="544513" y="5402580"/>
            <a:ext cx="8497887" cy="7064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t>   A</a:t>
            </a:r>
            <a:r>
              <a:rPr lang="zh-CN" altLang="en-US" dirty="0"/>
              <a:t>、互不相关的      </a:t>
            </a:r>
            <a:r>
              <a:rPr lang="en-US" altLang="zh-CN" dirty="0"/>
              <a:t>B</a:t>
            </a:r>
            <a:r>
              <a:rPr lang="zh-CN" altLang="en-US" dirty="0"/>
              <a:t>、不可分解的       </a:t>
            </a:r>
            <a:endParaRPr lang="zh-CN" altLang="en-US" dirty="0"/>
          </a:p>
          <a:p>
            <a:pPr marL="0" lvl="0" indent="0" eaLnBrk="1" hangingPunct="1">
              <a:spcBef>
                <a:spcPct val="0"/>
              </a:spcBef>
              <a:buClrTx/>
              <a:buSzTx/>
              <a:buFont typeface="Arial" panose="020B0604020202020204" pitchFamily="34" charset="0"/>
              <a:buNone/>
            </a:pPr>
            <a:r>
              <a:rPr lang="en-US" altLang="zh-CN" dirty="0"/>
              <a:t>   C</a:t>
            </a:r>
            <a:r>
              <a:rPr lang="zh-CN" altLang="en-US" dirty="0"/>
              <a:t>、长度可变的      </a:t>
            </a:r>
            <a:r>
              <a:rPr lang="en-US" altLang="zh-CN" dirty="0"/>
              <a:t>D</a:t>
            </a:r>
            <a:r>
              <a:rPr lang="zh-CN" altLang="en-US" dirty="0"/>
              <a:t>、相互关联的       </a:t>
            </a:r>
            <a:endParaRPr lang="zh-CN" altLang="en-US" dirty="0"/>
          </a:p>
        </p:txBody>
      </p:sp>
      <p:sp>
        <p:nvSpPr>
          <p:cNvPr id="4" name="文本框 3"/>
          <p:cNvSpPr txBox="1"/>
          <p:nvPr/>
        </p:nvSpPr>
        <p:spPr>
          <a:xfrm>
            <a:off x="7620000" y="5067300"/>
            <a:ext cx="403225" cy="387985"/>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B</a:t>
            </a:r>
            <a:endParaRPr lang="en-US" altLang="zh-CN" sz="2400" dirty="0">
              <a:solidFill>
                <a:srgbClr val="C00000"/>
              </a:solidFill>
            </a:endParaRPr>
          </a:p>
        </p:txBody>
      </p:sp>
      <p:sp>
        <p:nvSpPr>
          <p:cNvPr id="52235"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ppt_x</p:attrName>
                                        </p:attrNameLst>
                                      </p:cBhvr>
                                      <p:tavLst>
                                        <p:tav tm="0">
                                          <p:val>
                                            <p:strVal val="#ppt_x"/>
                                          </p:val>
                                        </p:tav>
                                        <p:tav tm="100000">
                                          <p:val>
                                            <p:strVal val="#ppt_x"/>
                                          </p:val>
                                        </p:tav>
                                      </p:tavLst>
                                    </p:anim>
                                    <p:anim calcmode="lin" valueType="num">
                                      <p:cBhvr>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p:cTn id="13" dur="500" fill="hold"/>
                                        <p:tgtEl>
                                          <p:spTgt spid="14"/>
                                        </p:tgtEl>
                                        <p:attrNameLst>
                                          <p:attrName>ppt_x</p:attrName>
                                        </p:attrNameLst>
                                      </p:cBhvr>
                                      <p:tavLst>
                                        <p:tav tm="0">
                                          <p:val>
                                            <p:strVal val="#ppt_x"/>
                                          </p:val>
                                        </p:tav>
                                        <p:tav tm="100000">
                                          <p:val>
                                            <p:strVal val="#ppt_x"/>
                                          </p:val>
                                        </p:tav>
                                      </p:tavLst>
                                    </p:anim>
                                    <p:anim calcmode="lin" valueType="num">
                                      <p:cBhvr>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ppt_x</p:attrName>
                                        </p:attrNameLst>
                                      </p:cBhvr>
                                      <p:tavLst>
                                        <p:tav tm="0">
                                          <p:val>
                                            <p:strVal val="#ppt_x"/>
                                          </p:val>
                                        </p:tav>
                                        <p:tav tm="100000">
                                          <p:val>
                                            <p:strVal val="#ppt_x"/>
                                          </p:val>
                                        </p:tav>
                                      </p:tavLst>
                                    </p:anim>
                                    <p:anim calcmode="lin" valueType="num">
                                      <p:cBhvr>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文本框 44"/>
          <p:cNvSpPr txBox="1"/>
          <p:nvPr/>
        </p:nvSpPr>
        <p:spPr>
          <a:xfrm>
            <a:off x="444500" y="619125"/>
            <a:ext cx="2681288" cy="828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algn="just" eaLnBrk="1" hangingPunct="1">
              <a:lnSpc>
                <a:spcPct val="150000"/>
              </a:lnSpc>
              <a:spcBef>
                <a:spcPct val="0"/>
              </a:spcBef>
              <a:buClrTx/>
              <a:buSzTx/>
              <a:buFont typeface="Wingdings" panose="05000000000000000000" pitchFamily="2" charset="2"/>
              <a:buChar char="p"/>
            </a:pPr>
            <a:r>
              <a:rPr lang="zh-CN" altLang="zh-CN" sz="3200" dirty="0">
                <a:solidFill>
                  <a:srgbClr val="FF0000"/>
                </a:solidFill>
                <a:latin typeface="Calibri" panose="020F0502020204030204" charset="0"/>
                <a:sym typeface="宋体" panose="02010600030101010101" pitchFamily="2" charset="-122"/>
              </a:rPr>
              <a:t>问题研讨：</a:t>
            </a:r>
            <a:endParaRPr lang="zh-CN" altLang="en-US" sz="3200" dirty="0"/>
          </a:p>
        </p:txBody>
      </p:sp>
      <p:sp>
        <p:nvSpPr>
          <p:cNvPr id="53251" name="文本框 6"/>
          <p:cNvSpPr txBox="1"/>
          <p:nvPr/>
        </p:nvSpPr>
        <p:spPr>
          <a:xfrm>
            <a:off x="550863" y="1376363"/>
            <a:ext cx="8551862" cy="159131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ts val="0"/>
              </a:spcBef>
              <a:spcAft>
                <a:spcPts val="0"/>
              </a:spcAft>
              <a:buClrTx/>
              <a:buSzTx/>
              <a:buFont typeface="Arial" panose="020B0604020202020204" pitchFamily="34" charset="0"/>
              <a:buNone/>
            </a:pPr>
            <a:r>
              <a:rPr lang="en-US" altLang="zh-CN" dirty="0"/>
              <a:t>4</a:t>
            </a:r>
            <a:r>
              <a:rPr lang="zh-CN" altLang="en-US" dirty="0"/>
              <a:t>、</a:t>
            </a:r>
            <a:r>
              <a:rPr lang="zh-CN" altLang="zh-CN" dirty="0"/>
              <a:t>设有关系模式R（A，B，C，D）和R上的函数依赖集FD={ A→B，B→C}，则R 的主码应是（      ）</a:t>
            </a:r>
            <a:endParaRPr lang="zh-CN" altLang="zh-CN" dirty="0"/>
          </a:p>
          <a:p>
            <a:pPr marL="0" lvl="0" indent="0" eaLnBrk="1" hangingPunct="1">
              <a:lnSpc>
                <a:spcPct val="125000"/>
              </a:lnSpc>
              <a:spcBef>
                <a:spcPts val="0"/>
              </a:spcBef>
              <a:spcAft>
                <a:spcPts val="0"/>
              </a:spcAft>
              <a:buClrTx/>
              <a:buSzTx/>
              <a:buFont typeface="Arial" panose="020B0604020202020204" pitchFamily="34" charset="0"/>
              <a:buNone/>
            </a:pPr>
            <a:r>
              <a:rPr lang="zh-CN" altLang="zh-CN" sz="2200" dirty="0"/>
              <a:t>    A、 A        B、B          C、AD         D. CD</a:t>
            </a:r>
            <a:r>
              <a:rPr lang="en-US" altLang="zh-CN" sz="2200" dirty="0"/>
              <a:t>  </a:t>
            </a:r>
            <a:endParaRPr lang="en-US" altLang="zh-CN" dirty="0"/>
          </a:p>
          <a:p>
            <a:pPr marL="0" lvl="0" indent="0" eaLnBrk="1" hangingPunct="1">
              <a:spcBef>
                <a:spcPct val="0"/>
              </a:spcBef>
              <a:buClrTx/>
              <a:buSzTx/>
              <a:buFont typeface="Arial" panose="020B0604020202020204" pitchFamily="34" charset="0"/>
              <a:buNone/>
            </a:pPr>
            <a:endParaRPr lang="en-US" altLang="zh-CN" dirty="0"/>
          </a:p>
        </p:txBody>
      </p:sp>
      <p:sp>
        <p:nvSpPr>
          <p:cNvPr id="13" name="文本框 12"/>
          <p:cNvSpPr txBox="1"/>
          <p:nvPr/>
        </p:nvSpPr>
        <p:spPr>
          <a:xfrm>
            <a:off x="3648075" y="1630363"/>
            <a:ext cx="403225" cy="587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C</a:t>
            </a:r>
            <a:endParaRPr lang="en-US" altLang="zh-CN" sz="2400" dirty="0">
              <a:solidFill>
                <a:srgbClr val="C00000"/>
              </a:solidFill>
            </a:endParaRPr>
          </a:p>
        </p:txBody>
      </p:sp>
      <p:sp>
        <p:nvSpPr>
          <p:cNvPr id="53253" name="文本框 15"/>
          <p:cNvSpPr txBox="1"/>
          <p:nvPr/>
        </p:nvSpPr>
        <p:spPr>
          <a:xfrm>
            <a:off x="374650" y="3845243"/>
            <a:ext cx="8294688" cy="547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7</a:t>
            </a:r>
            <a:r>
              <a:rPr lang="zh-CN" altLang="en-US" sz="2200" dirty="0"/>
              <a:t>、判断题</a:t>
            </a:r>
            <a:endParaRPr lang="zh-CN" altLang="en-US" sz="2200" dirty="0"/>
          </a:p>
        </p:txBody>
      </p:sp>
      <p:sp>
        <p:nvSpPr>
          <p:cNvPr id="17" name="文本框 16"/>
          <p:cNvSpPr txBox="1"/>
          <p:nvPr/>
        </p:nvSpPr>
        <p:spPr>
          <a:xfrm>
            <a:off x="550863" y="4298315"/>
            <a:ext cx="8510588" cy="2541905"/>
          </a:xfrm>
          <a:prstGeom prst="rect">
            <a:avLst/>
          </a:prstGeom>
          <a:noFill/>
        </p:spPr>
        <p:txBody>
          <a:bodyPr>
            <a:spAutoFit/>
          </a:bodyPr>
          <a:lstStyle/>
          <a:p>
            <a:pPr marR="0" defTabSz="914400" eaLnBrk="1" hangingPunct="1">
              <a:lnSpc>
                <a:spcPct val="125000"/>
              </a:lnSpc>
              <a:spcBef>
                <a:spcPts val="0"/>
              </a:spcBef>
              <a:spcAft>
                <a:spcPts val="0"/>
              </a:spcAft>
              <a:buClrTx/>
              <a:buSzTx/>
              <a:buFont typeface="Arial" panose="020B0604020202020204" pitchFamily="34" charset="0"/>
              <a:buNone/>
              <a:defRPr/>
            </a:pPr>
            <a:r>
              <a:rPr kumimoji="0" lang="zh-CN" sz="2000" kern="1200" cap="none" spc="0" normalizeH="0" baseline="0" noProof="1">
                <a:latin typeface="Arial" panose="020B0604020202020204" pitchFamily="34" charset="0"/>
                <a:ea typeface="宋体" panose="02010600030101010101" pitchFamily="2" charset="-122"/>
                <a:cs typeface="+mn-cs"/>
              </a:rPr>
              <a:t>（</a:t>
            </a:r>
            <a:r>
              <a:rPr kumimoji="0" lang="en-US" altLang="zh-CN" sz="2000" kern="1200" cap="none" spc="0" normalizeH="0" baseline="0" noProof="1">
                <a:latin typeface="Arial" panose="020B0604020202020204" pitchFamily="34" charset="0"/>
                <a:ea typeface="宋体" panose="02010600030101010101" pitchFamily="2" charset="-122"/>
                <a:cs typeface="+mn-cs"/>
              </a:rPr>
              <a:t>1</a:t>
            </a:r>
            <a:r>
              <a:rPr kumimoji="0" lang="zh-CN" altLang="en-US" sz="2000" kern="1200" cap="none" spc="0" normalizeH="0" baseline="0" noProof="1">
                <a:latin typeface="Arial" panose="020B0604020202020204" pitchFamily="34" charset="0"/>
                <a:ea typeface="宋体" panose="02010600030101010101" pitchFamily="2" charset="-122"/>
                <a:cs typeface="+mn-cs"/>
              </a:rPr>
              <a:t>）在一个关系模式中，属性之间的函数依赖是由客观事实决定的（    ）</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25000"/>
              </a:lnSpc>
              <a:spcBef>
                <a:spcPts val="0"/>
              </a:spcBef>
              <a:spcAft>
                <a:spcPts val="0"/>
              </a:spcAft>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a:t>
            </a:r>
            <a:r>
              <a:rPr kumimoji="0" lang="en-US" altLang="zh-CN" sz="2000" kern="1200" cap="none" spc="0" normalizeH="0" baseline="0" noProof="1">
                <a:latin typeface="Arial" panose="020B0604020202020204" pitchFamily="34" charset="0"/>
                <a:ea typeface="宋体" panose="02010600030101010101" pitchFamily="2" charset="-122"/>
                <a:cs typeface="+mn-cs"/>
              </a:rPr>
              <a:t>2</a:t>
            </a:r>
            <a:r>
              <a:rPr kumimoji="0" lang="zh-CN" altLang="en-US" sz="2000" kern="1200" cap="none" spc="0" normalizeH="0" baseline="0" noProof="1">
                <a:latin typeface="Arial" panose="020B0604020202020204" pitchFamily="34" charset="0"/>
                <a:ea typeface="宋体" panose="02010600030101010101" pitchFamily="2" charset="-122"/>
                <a:cs typeface="+mn-cs"/>
              </a:rPr>
              <a:t>）</a:t>
            </a:r>
            <a:r>
              <a:rPr kumimoji="0" lang="zh-CN" altLang="en-US" sz="1900" kern="1200" cap="none" spc="0" normalizeH="0" baseline="0" noProof="1">
                <a:latin typeface="Arial" panose="020B0604020202020204" pitchFamily="34" charset="0"/>
                <a:ea typeface="宋体" panose="02010600030101010101" pitchFamily="2" charset="-122"/>
                <a:cs typeface="+mn-cs"/>
              </a:rPr>
              <a:t>任何一个</a:t>
            </a:r>
            <a:r>
              <a:rPr kumimoji="0" lang="en-US" altLang="zh-CN" sz="1900" kern="1200" cap="none" spc="0" normalizeH="0" baseline="0" noProof="1">
                <a:latin typeface="Arial" panose="020B0604020202020204" pitchFamily="34" charset="0"/>
                <a:ea typeface="宋体" panose="02010600030101010101" pitchFamily="2" charset="-122"/>
                <a:cs typeface="+mn-cs"/>
              </a:rPr>
              <a:t>1NF</a:t>
            </a:r>
            <a:r>
              <a:rPr kumimoji="0" lang="zh-CN" altLang="en-US" sz="1900" kern="1200" cap="none" spc="0" normalizeH="0" baseline="0" noProof="1">
                <a:latin typeface="Arial" panose="020B0604020202020204" pitchFamily="34" charset="0"/>
                <a:ea typeface="宋体" panose="02010600030101010101" pitchFamily="2" charset="-122"/>
                <a:cs typeface="+mn-cs"/>
              </a:rPr>
              <a:t>都可以既保持函数依赖的分解又无损的分解为</a:t>
            </a:r>
            <a:r>
              <a:rPr kumimoji="0" lang="en-US" altLang="zh-CN" sz="1900" kern="1200" cap="none" spc="0" normalizeH="0" baseline="0" noProof="1">
                <a:latin typeface="Arial" panose="020B0604020202020204" pitchFamily="34" charset="0"/>
                <a:ea typeface="宋体" panose="02010600030101010101" pitchFamily="2" charset="-122"/>
                <a:cs typeface="+mn-cs"/>
              </a:rPr>
              <a:t>3NF</a:t>
            </a: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    ）</a:t>
            </a:r>
            <a:endParaRPr kumimoji="0" lang="zh-CN" altLang="en-US" sz="1900"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lnSpc>
                <a:spcPct val="125000"/>
              </a:lnSpc>
              <a:spcBef>
                <a:spcPts val="0"/>
              </a:spcBef>
              <a:spcAft>
                <a:spcPts val="0"/>
              </a:spcAft>
              <a:buClrTx/>
              <a:buSzTx/>
              <a:buFont typeface="Arial" panose="020B0604020202020204" pitchFamily="34" charset="0"/>
              <a:buNone/>
              <a:defRPr/>
            </a:pP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sz="1900" kern="1200" cap="none" spc="0" normalizeH="0" baseline="0" noProof="1">
                <a:latin typeface="Arial" panose="020B0604020202020204" pitchFamily="34" charset="0"/>
                <a:ea typeface="宋体" panose="02010600030101010101" pitchFamily="2" charset="-122"/>
                <a:cs typeface="+mn-cs"/>
                <a:sym typeface="+mn-ea"/>
              </a:rPr>
              <a:t>3</a:t>
            </a: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）若关系模式</a:t>
            </a:r>
            <a:r>
              <a:rPr kumimoji="0" lang="en-US" altLang="zh-CN" sz="1900" kern="1200" cap="none" spc="0" normalizeH="0" baseline="0" noProof="1">
                <a:latin typeface="Arial" panose="020B0604020202020204" pitchFamily="34" charset="0"/>
                <a:ea typeface="宋体" panose="02010600030101010101" pitchFamily="2" charset="-122"/>
                <a:cs typeface="+mn-cs"/>
                <a:sym typeface="+mn-ea"/>
              </a:rPr>
              <a:t>R(U)</a:t>
            </a: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中，属性</a:t>
            </a:r>
            <a:r>
              <a:rPr kumimoji="0" lang="en-US" altLang="zh-CN" sz="1900" kern="1200" cap="none" spc="0" normalizeH="0" baseline="0" noProof="1">
                <a:latin typeface="Arial" panose="020B0604020202020204" pitchFamily="34" charset="0"/>
                <a:ea typeface="宋体" panose="02010600030101010101" pitchFamily="2" charset="-122"/>
                <a:cs typeface="+mn-cs"/>
                <a:sym typeface="+mn-ea"/>
              </a:rPr>
              <a:t>X</a:t>
            </a: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的每个值都与属性</a:t>
            </a:r>
            <a:r>
              <a:rPr kumimoji="0" lang="en-US" altLang="zh-CN" sz="1900" kern="1200" cap="none" spc="0" normalizeH="0" baseline="0" noProof="1">
                <a:latin typeface="Arial" panose="020B0604020202020204" pitchFamily="34" charset="0"/>
                <a:ea typeface="宋体" panose="02010600030101010101" pitchFamily="2" charset="-122"/>
                <a:cs typeface="+mn-cs"/>
                <a:sym typeface="+mn-ea"/>
              </a:rPr>
              <a:t>Y</a:t>
            </a: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的值</a:t>
            </a:r>
            <a:r>
              <a:rPr kumimoji="0" lang="en-US" altLang="zh-CN" sz="1900" kern="1200" cap="none" spc="0" normalizeH="0" baseline="0" noProof="1">
                <a:latin typeface="Arial" panose="020B0604020202020204" pitchFamily="34" charset="0"/>
                <a:ea typeface="宋体" panose="02010600030101010101" pitchFamily="2" charset="-122"/>
                <a:cs typeface="+mn-cs"/>
                <a:sym typeface="+mn-ea"/>
              </a:rPr>
              <a:t>1:1</a:t>
            </a: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对应，那么</a:t>
            </a:r>
            <a:r>
              <a:rPr kumimoji="0" lang="en-US" altLang="zh-CN" sz="1900" kern="1200" cap="none" spc="0" normalizeH="0" baseline="0" noProof="1">
                <a:latin typeface="Arial" panose="020B0604020202020204" pitchFamily="34" charset="0"/>
                <a:ea typeface="宋体" panose="02010600030101010101" pitchFamily="2" charset="-122"/>
                <a:cs typeface="+mn-cs"/>
                <a:sym typeface="+mn-ea"/>
              </a:rPr>
              <a:t>X</a:t>
            </a:r>
            <a:r>
              <a:rPr kumimoji="0" lang="en-US" altLang="zh-CN" sz="1900" kern="1200" cap="none" spc="0" normalizeH="0" baseline="0" noProof="1">
                <a:latin typeface="Calibri" panose="020F0502020204030204" charset="0"/>
                <a:ea typeface="宋体" panose="02010600030101010101" pitchFamily="2" charset="-122"/>
                <a:cs typeface="Calibri" panose="020F0502020204030204" charset="0"/>
                <a:sym typeface="+mn-ea"/>
              </a:rPr>
              <a:t>→Y</a:t>
            </a:r>
            <a:r>
              <a:rPr kumimoji="0" lang="zh-CN" altLang="en-US" sz="1900" kern="1200" cap="none" spc="0" normalizeH="0" baseline="0" noProof="1">
                <a:latin typeface="Calibri" panose="020F0502020204030204" charset="0"/>
                <a:ea typeface="宋体" panose="02010600030101010101" pitchFamily="2" charset="-122"/>
                <a:cs typeface="Calibri" panose="020F0502020204030204" charset="0"/>
                <a:sym typeface="+mn-ea"/>
              </a:rPr>
              <a:t>，</a:t>
            </a:r>
            <a:endParaRPr kumimoji="0" lang="zh-CN" altLang="en-US" sz="1900" kern="1200" cap="none" spc="0" normalizeH="0" baseline="0" noProof="1">
              <a:latin typeface="Calibri" panose="020F0502020204030204" charset="0"/>
              <a:ea typeface="宋体" panose="02010600030101010101" pitchFamily="2" charset="-122"/>
              <a:cs typeface="Calibri" panose="020F0502020204030204" charset="0"/>
              <a:sym typeface="+mn-ea"/>
            </a:endParaRPr>
          </a:p>
          <a:p>
            <a:pPr marR="0" defTabSz="914400" eaLnBrk="1" hangingPunct="1">
              <a:lnSpc>
                <a:spcPct val="125000"/>
              </a:lnSpc>
              <a:spcBef>
                <a:spcPts val="0"/>
              </a:spcBef>
              <a:spcAft>
                <a:spcPts val="0"/>
              </a:spcAft>
              <a:buClrTx/>
              <a:buSzTx/>
              <a:buFont typeface="Arial" panose="020B0604020202020204" pitchFamily="34" charset="0"/>
              <a:buNone/>
              <a:defRPr/>
            </a:pPr>
            <a:r>
              <a:rPr kumimoji="0" lang="zh-CN" altLang="en-US" sz="1900" kern="1200" cap="none" spc="0" normalizeH="0" baseline="0" noProof="1">
                <a:latin typeface="Calibri" panose="020F0502020204030204" charset="0"/>
                <a:ea typeface="宋体" panose="02010600030101010101" pitchFamily="2" charset="-122"/>
                <a:cs typeface="Calibri" panose="020F0502020204030204" charset="0"/>
                <a:sym typeface="+mn-ea"/>
              </a:rPr>
              <a:t>            </a:t>
            </a:r>
            <a:r>
              <a:rPr kumimoji="0" lang="en-US" altLang="zh-CN" sz="1900" kern="1200" cap="none" spc="0" normalizeH="0" baseline="0" noProof="1">
                <a:latin typeface="Calibri" panose="020F0502020204030204" charset="0"/>
                <a:ea typeface="宋体" panose="02010600030101010101" pitchFamily="2" charset="-122"/>
                <a:cs typeface="Calibri" panose="020F0502020204030204" charset="0"/>
                <a:sym typeface="+mn-ea"/>
              </a:rPr>
              <a:t>Y→X</a:t>
            </a: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     ）</a:t>
            </a:r>
            <a:endParaRPr kumimoji="0" lang="zh-CN" altLang="en-US" sz="1900"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lnSpc>
                <a:spcPct val="125000"/>
              </a:lnSpc>
              <a:spcBef>
                <a:spcPts val="0"/>
              </a:spcBef>
              <a:spcAft>
                <a:spcPts val="0"/>
              </a:spcAft>
              <a:buClrTx/>
              <a:buSzTx/>
              <a:buFont typeface="Arial" panose="020B0604020202020204" pitchFamily="34" charset="0"/>
              <a:buNone/>
              <a:defRPr/>
            </a:pP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sz="1900" kern="1200" cap="none" spc="0" normalizeH="0" baseline="0" noProof="1">
                <a:latin typeface="Arial" panose="020B0604020202020204" pitchFamily="34" charset="0"/>
                <a:ea typeface="宋体" panose="02010600030101010101" pitchFamily="2" charset="-122"/>
                <a:cs typeface="+mn-cs"/>
                <a:sym typeface="+mn-ea"/>
              </a:rPr>
              <a:t>4</a:t>
            </a: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）一个二元关系不一定是</a:t>
            </a:r>
            <a:r>
              <a:rPr kumimoji="0" lang="en-US" altLang="zh-CN" sz="1900" kern="1200" cap="none" spc="0" normalizeH="0" baseline="0" noProof="1">
                <a:latin typeface="Arial" panose="020B0604020202020204" pitchFamily="34" charset="0"/>
                <a:ea typeface="宋体" panose="02010600030101010101" pitchFamily="2" charset="-122"/>
                <a:cs typeface="+mn-cs"/>
                <a:sym typeface="+mn-ea"/>
              </a:rPr>
              <a:t>3NF </a:t>
            </a: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     ）</a:t>
            </a:r>
            <a:endParaRPr kumimoji="0" lang="zh-CN" altLang="en-US" sz="1900"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buClrTx/>
              <a:buSzTx/>
              <a:buFont typeface="Arial" panose="020B0604020202020204" pitchFamily="34" charset="0"/>
              <a:buNone/>
              <a:defRPr/>
            </a:pPr>
            <a:endParaRPr kumimoji="0" lang="en-US" altLang="zh-CN" sz="1900" u="heavy"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endParaRPr kumimoji="0" lang="en-US" altLang="zh-CN" sz="1900" kern="1200" cap="none" spc="0" normalizeH="0" baseline="0" noProof="1">
              <a:latin typeface="Arial" panose="020B0604020202020204" pitchFamily="34" charset="0"/>
              <a:ea typeface="宋体" panose="02010600030101010101" pitchFamily="2" charset="-122"/>
              <a:cs typeface="+mn-cs"/>
            </a:endParaRPr>
          </a:p>
        </p:txBody>
      </p:sp>
      <p:sp>
        <p:nvSpPr>
          <p:cNvPr id="8" name="文本框 7"/>
          <p:cNvSpPr txBox="1"/>
          <p:nvPr/>
        </p:nvSpPr>
        <p:spPr>
          <a:xfrm>
            <a:off x="8391525" y="4354195"/>
            <a:ext cx="463550" cy="459740"/>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00000"/>
                </a:solidFill>
              </a:rPr>
              <a:t>对</a:t>
            </a:r>
            <a:endParaRPr lang="zh-CN" altLang="en-US" sz="2200" dirty="0">
              <a:solidFill>
                <a:srgbClr val="C00000"/>
              </a:solidFill>
            </a:endParaRPr>
          </a:p>
        </p:txBody>
      </p:sp>
      <p:sp>
        <p:nvSpPr>
          <p:cNvPr id="9" name="文本框 8"/>
          <p:cNvSpPr txBox="1"/>
          <p:nvPr/>
        </p:nvSpPr>
        <p:spPr>
          <a:xfrm>
            <a:off x="8205788" y="4733290"/>
            <a:ext cx="463550" cy="547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00000"/>
                </a:solidFill>
              </a:rPr>
              <a:t>对</a:t>
            </a:r>
            <a:endParaRPr lang="zh-CN" altLang="en-US" sz="2200" dirty="0">
              <a:solidFill>
                <a:srgbClr val="C00000"/>
              </a:solidFill>
            </a:endParaRPr>
          </a:p>
        </p:txBody>
      </p:sp>
      <p:sp>
        <p:nvSpPr>
          <p:cNvPr id="19" name="文本框 18"/>
          <p:cNvSpPr txBox="1"/>
          <p:nvPr/>
        </p:nvSpPr>
        <p:spPr>
          <a:xfrm>
            <a:off x="2000250" y="5426710"/>
            <a:ext cx="463550" cy="547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00000"/>
                </a:solidFill>
              </a:rPr>
              <a:t>对</a:t>
            </a:r>
            <a:endParaRPr lang="zh-CN" altLang="en-US" sz="2200" dirty="0">
              <a:solidFill>
                <a:srgbClr val="C00000"/>
              </a:solidFill>
            </a:endParaRPr>
          </a:p>
        </p:txBody>
      </p:sp>
      <p:sp>
        <p:nvSpPr>
          <p:cNvPr id="20" name="文本框 19"/>
          <p:cNvSpPr txBox="1"/>
          <p:nvPr/>
        </p:nvSpPr>
        <p:spPr>
          <a:xfrm>
            <a:off x="4460875" y="5739130"/>
            <a:ext cx="463550" cy="444500"/>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00000"/>
                </a:solidFill>
              </a:rPr>
              <a:t>错</a:t>
            </a:r>
            <a:endParaRPr lang="zh-CN" altLang="en-US" sz="2200" dirty="0">
              <a:solidFill>
                <a:srgbClr val="C00000"/>
              </a:solidFill>
            </a:endParaRPr>
          </a:p>
        </p:txBody>
      </p:sp>
      <p:sp>
        <p:nvSpPr>
          <p:cNvPr id="53260" name="文本框 22"/>
          <p:cNvSpPr txBox="1"/>
          <p:nvPr/>
        </p:nvSpPr>
        <p:spPr>
          <a:xfrm>
            <a:off x="358775" y="2730500"/>
            <a:ext cx="8785225" cy="5080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t>6</a:t>
            </a:r>
            <a:r>
              <a:rPr lang="zh-CN" altLang="en-US" dirty="0"/>
              <a:t>、设某关系模式R（ABCD），函数依赖{A→C，D→B}，则R最高满足（    ）</a:t>
            </a:r>
            <a:endParaRPr lang="zh-CN" altLang="en-US" dirty="0"/>
          </a:p>
        </p:txBody>
      </p:sp>
      <p:sp>
        <p:nvSpPr>
          <p:cNvPr id="53262" name="文本框 24"/>
          <p:cNvSpPr txBox="1"/>
          <p:nvPr/>
        </p:nvSpPr>
        <p:spPr>
          <a:xfrm>
            <a:off x="715963" y="3298190"/>
            <a:ext cx="8248650" cy="5064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t>A、1NF       B、2NF       C、3NF        D、BCNF</a:t>
            </a:r>
            <a:endParaRPr lang="zh-CN" altLang="en-US" dirty="0"/>
          </a:p>
        </p:txBody>
      </p:sp>
      <p:sp>
        <p:nvSpPr>
          <p:cNvPr id="26" name="文本框 25"/>
          <p:cNvSpPr txBox="1"/>
          <p:nvPr/>
        </p:nvSpPr>
        <p:spPr>
          <a:xfrm>
            <a:off x="8704263" y="3196590"/>
            <a:ext cx="403225" cy="590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A</a:t>
            </a:r>
            <a:endParaRPr lang="en-US" altLang="zh-CN" sz="2400" dirty="0">
              <a:solidFill>
                <a:srgbClr val="C00000"/>
              </a:solidFill>
            </a:endParaRPr>
          </a:p>
        </p:txBody>
      </p:sp>
      <p:sp>
        <p:nvSpPr>
          <p:cNvPr id="53264"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ppt_x</p:attrName>
                                        </p:attrNameLst>
                                      </p:cBhvr>
                                      <p:tavLst>
                                        <p:tav tm="0">
                                          <p:val>
                                            <p:strVal val="#ppt_x"/>
                                          </p:val>
                                        </p:tav>
                                        <p:tav tm="100000">
                                          <p:val>
                                            <p:strVal val="#ppt_x"/>
                                          </p:val>
                                        </p:tav>
                                      </p:tavLst>
                                    </p:anim>
                                    <p:anim calcmode="lin" valueType="num">
                                      <p:cBhvr>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p:cTn id="13" dur="500" fill="hold"/>
                                        <p:tgtEl>
                                          <p:spTgt spid="26"/>
                                        </p:tgtEl>
                                        <p:attrNameLst>
                                          <p:attrName>ppt_x</p:attrName>
                                        </p:attrNameLst>
                                      </p:cBhvr>
                                      <p:tavLst>
                                        <p:tav tm="0">
                                          <p:val>
                                            <p:strVal val="#ppt_x"/>
                                          </p:val>
                                        </p:tav>
                                        <p:tav tm="100000">
                                          <p:val>
                                            <p:strVal val="#ppt_x"/>
                                          </p:val>
                                        </p:tav>
                                      </p:tavLst>
                                    </p:anim>
                                    <p:anim calcmode="lin" valueType="num">
                                      <p:cBhvr>
                                        <p:cTn id="1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ppt_x</p:attrName>
                                        </p:attrNameLst>
                                      </p:cBhvr>
                                      <p:tavLst>
                                        <p:tav tm="0">
                                          <p:val>
                                            <p:strVal val="#ppt_x"/>
                                          </p:val>
                                        </p:tav>
                                        <p:tav tm="100000">
                                          <p:val>
                                            <p:strVal val="#ppt_x"/>
                                          </p:val>
                                        </p:tav>
                                      </p:tavLst>
                                    </p:anim>
                                    <p:anim calcmode="lin" valueType="num">
                                      <p:cBhvr>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p:cTn id="31" dur="500" fill="hold"/>
                                        <p:tgtEl>
                                          <p:spTgt spid="19"/>
                                        </p:tgtEl>
                                        <p:attrNameLst>
                                          <p:attrName>ppt_x</p:attrName>
                                        </p:attrNameLst>
                                      </p:cBhvr>
                                      <p:tavLst>
                                        <p:tav tm="0">
                                          <p:val>
                                            <p:strVal val="#ppt_x"/>
                                          </p:val>
                                        </p:tav>
                                        <p:tav tm="100000">
                                          <p:val>
                                            <p:strVal val="#ppt_x"/>
                                          </p:val>
                                        </p:tav>
                                      </p:tavLst>
                                    </p:anim>
                                    <p:anim calcmode="lin" valueType="num">
                                      <p:cBhvr>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p:cTn id="37" dur="500" fill="hold"/>
                                        <p:tgtEl>
                                          <p:spTgt spid="20"/>
                                        </p:tgtEl>
                                        <p:attrNameLst>
                                          <p:attrName>ppt_x</p:attrName>
                                        </p:attrNameLst>
                                      </p:cBhvr>
                                      <p:tavLst>
                                        <p:tav tm="0">
                                          <p:val>
                                            <p:strVal val="#ppt_x"/>
                                          </p:val>
                                        </p:tav>
                                        <p:tav tm="100000">
                                          <p:val>
                                            <p:strVal val="#ppt_x"/>
                                          </p:val>
                                        </p:tav>
                                      </p:tavLst>
                                    </p:anim>
                                    <p:anim calcmode="lin" valueType="num">
                                      <p:cBhvr>
                                        <p:cTn id="3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8" grpId="0"/>
      <p:bldP spid="9" grpId="0"/>
      <p:bldP spid="19" grpId="0"/>
      <p:bldP spid="20" grpId="0"/>
      <p:bldP spid="2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文本框 1"/>
          <p:cNvSpPr txBox="1"/>
          <p:nvPr/>
        </p:nvSpPr>
        <p:spPr>
          <a:xfrm>
            <a:off x="533400" y="1306513"/>
            <a:ext cx="6419850" cy="5064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t>8</a:t>
            </a:r>
            <a:r>
              <a:rPr lang="zh-CN" altLang="en-US" dirty="0"/>
              <a:t>．指出下列关系模式是第几范式?并说明理由。</a:t>
            </a:r>
            <a:endParaRPr lang="zh-CN" altLang="en-US" dirty="0"/>
          </a:p>
        </p:txBody>
      </p:sp>
      <p:sp>
        <p:nvSpPr>
          <p:cNvPr id="54275" name="文本框 44"/>
          <p:cNvSpPr txBox="1"/>
          <p:nvPr/>
        </p:nvSpPr>
        <p:spPr>
          <a:xfrm>
            <a:off x="444500" y="619125"/>
            <a:ext cx="2681288" cy="828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algn="just" eaLnBrk="1" hangingPunct="1">
              <a:lnSpc>
                <a:spcPct val="150000"/>
              </a:lnSpc>
              <a:spcBef>
                <a:spcPct val="0"/>
              </a:spcBef>
              <a:buClrTx/>
              <a:buSzTx/>
              <a:buFont typeface="Wingdings" panose="05000000000000000000" pitchFamily="2" charset="2"/>
              <a:buChar char="p"/>
            </a:pPr>
            <a:r>
              <a:rPr lang="zh-CN" altLang="zh-CN" sz="3200" dirty="0">
                <a:solidFill>
                  <a:srgbClr val="FF0000"/>
                </a:solidFill>
                <a:latin typeface="Calibri" panose="020F0502020204030204" charset="0"/>
                <a:sym typeface="宋体" panose="02010600030101010101" pitchFamily="2" charset="-122"/>
              </a:rPr>
              <a:t>问题研讨：</a:t>
            </a:r>
            <a:endParaRPr lang="zh-CN" altLang="en-US" sz="3200" dirty="0"/>
          </a:p>
        </p:txBody>
      </p:sp>
      <p:sp>
        <p:nvSpPr>
          <p:cNvPr id="54276" name="文本框 2"/>
          <p:cNvSpPr txBox="1"/>
          <p:nvPr/>
        </p:nvSpPr>
        <p:spPr>
          <a:xfrm>
            <a:off x="612775" y="1774825"/>
            <a:ext cx="6627813" cy="1096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5000"/>
              </a:lnSpc>
              <a:spcBef>
                <a:spcPts val="200"/>
              </a:spcBef>
              <a:buClrTx/>
              <a:buSzTx/>
              <a:buFont typeface="Arial" panose="020B0604020202020204" pitchFamily="34" charset="0"/>
              <a:buNone/>
            </a:pPr>
            <a:r>
              <a:rPr lang="zh-CN" altLang="en-US" sz="1800" dirty="0"/>
              <a:t>（</a:t>
            </a:r>
            <a:r>
              <a:rPr lang="en-US" altLang="zh-CN" sz="1800" dirty="0"/>
              <a:t>1</a:t>
            </a:r>
            <a:r>
              <a:rPr lang="zh-CN" altLang="en-US" sz="1800" dirty="0"/>
              <a:t>）R(</a:t>
            </a:r>
            <a:r>
              <a:rPr lang="en-US" altLang="zh-CN" sz="1800" dirty="0"/>
              <a:t>X</a:t>
            </a:r>
            <a:r>
              <a:rPr lang="zh-CN" altLang="en-US" sz="1800" dirty="0"/>
              <a:t>，Y，</a:t>
            </a:r>
            <a:r>
              <a:rPr lang="en-US" altLang="zh-CN" sz="1800" dirty="0"/>
              <a:t>Z</a:t>
            </a:r>
            <a:r>
              <a:rPr lang="zh-CN" altLang="en-US" sz="1800" dirty="0"/>
              <a:t>)，F＝{X→Y，X→Z}</a:t>
            </a:r>
            <a:endParaRPr lang="zh-CN" altLang="en-US" sz="1800" dirty="0"/>
          </a:p>
          <a:p>
            <a:pPr marL="0" lvl="0" indent="0" eaLnBrk="1" hangingPunct="1">
              <a:lnSpc>
                <a:spcPct val="115000"/>
              </a:lnSpc>
              <a:spcBef>
                <a:spcPts val="200"/>
              </a:spcBef>
              <a:buClrTx/>
              <a:buSzTx/>
              <a:buFont typeface="Arial" panose="020B0604020202020204" pitchFamily="34" charset="0"/>
              <a:buNone/>
            </a:pPr>
            <a:r>
              <a:rPr lang="zh-CN" altLang="en-US" sz="1800" dirty="0"/>
              <a:t>（</a:t>
            </a:r>
            <a:r>
              <a:rPr lang="en-US" altLang="zh-CN" sz="1800" dirty="0"/>
              <a:t>2</a:t>
            </a:r>
            <a:r>
              <a:rPr lang="zh-CN" altLang="en-US" sz="1800" dirty="0"/>
              <a:t>）R(</a:t>
            </a:r>
            <a:r>
              <a:rPr lang="en-US" altLang="zh-CN" sz="1800" dirty="0"/>
              <a:t>X</a:t>
            </a:r>
            <a:r>
              <a:rPr lang="zh-CN" altLang="en-US" sz="1800" dirty="0"/>
              <a:t>，Y，Z)，F＝{XY→Z}</a:t>
            </a:r>
            <a:endParaRPr lang="zh-CN" altLang="en-US" sz="1800" dirty="0"/>
          </a:p>
          <a:p>
            <a:pPr marL="0" lvl="0" indent="0" eaLnBrk="1" hangingPunct="1">
              <a:lnSpc>
                <a:spcPct val="115000"/>
              </a:lnSpc>
              <a:spcBef>
                <a:spcPts val="200"/>
              </a:spcBef>
              <a:buClrTx/>
              <a:buSzTx/>
              <a:buFont typeface="Arial" panose="020B0604020202020204" pitchFamily="34" charset="0"/>
              <a:buNone/>
            </a:pPr>
            <a:r>
              <a:rPr lang="zh-CN" altLang="en-US" sz="1800" dirty="0"/>
              <a:t>（</a:t>
            </a:r>
            <a:r>
              <a:rPr lang="en-US" altLang="zh-CN" sz="1800" dirty="0"/>
              <a:t>3</a:t>
            </a:r>
            <a:r>
              <a:rPr lang="zh-CN" altLang="en-US" sz="1800" dirty="0"/>
              <a:t>）R(W，X，Y，Z)，F＝{X→Z，WX→Y}</a:t>
            </a:r>
            <a:endParaRPr lang="zh-CN" altLang="en-US" sz="1800" dirty="0"/>
          </a:p>
        </p:txBody>
      </p:sp>
      <p:sp>
        <p:nvSpPr>
          <p:cNvPr id="6" name="文本框 5"/>
          <p:cNvSpPr txBox="1"/>
          <p:nvPr/>
        </p:nvSpPr>
        <p:spPr>
          <a:xfrm>
            <a:off x="612775" y="2863850"/>
            <a:ext cx="7912100" cy="12446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33CC"/>
                </a:solidFill>
                <a:sym typeface="宋体" panose="02010600030101010101" pitchFamily="2" charset="-122"/>
              </a:rPr>
              <a:t>答：</a:t>
            </a:r>
            <a:endParaRPr lang="zh-CN" altLang="en-US" dirty="0">
              <a:solidFill>
                <a:srgbClr val="0033CC"/>
              </a:solidFill>
              <a:sym typeface="宋体" panose="02010600030101010101" pitchFamily="2" charset="-122"/>
            </a:endParaRPr>
          </a:p>
          <a:p>
            <a:pPr marL="0" lvl="0" indent="0" eaLnBrk="1" hangingPunct="1">
              <a:lnSpc>
                <a:spcPct val="120000"/>
              </a:lnSpc>
              <a:spcBef>
                <a:spcPct val="0"/>
              </a:spcBef>
              <a:buClrTx/>
              <a:buSzTx/>
              <a:buFont typeface="Arial" panose="020B0604020202020204" pitchFamily="34" charset="0"/>
              <a:buNone/>
            </a:pP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   </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1</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R</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为</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BCNF</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R</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中的候选键为</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X</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而且F中每一个函数依赖的左部都包含了候选关键字X</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a:t>
            </a:r>
            <a:endPar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endParaRPr>
          </a:p>
        </p:txBody>
      </p:sp>
      <p:sp>
        <p:nvSpPr>
          <p:cNvPr id="4" name="文本框 3"/>
          <p:cNvSpPr txBox="1"/>
          <p:nvPr/>
        </p:nvSpPr>
        <p:spPr>
          <a:xfrm>
            <a:off x="701675" y="4148138"/>
            <a:ext cx="7743825"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  </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2</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R</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为</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BCNF</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R</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中的候选键为</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XY</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，而且F中函数依赖的左部包含了候选关键字XY。</a:t>
            </a:r>
            <a:endParaRPr lang="zh-CN" altLang="en-US" dirty="0"/>
          </a:p>
        </p:txBody>
      </p:sp>
      <p:sp>
        <p:nvSpPr>
          <p:cNvPr id="5" name="文本框 4"/>
          <p:cNvSpPr txBox="1"/>
          <p:nvPr/>
        </p:nvSpPr>
        <p:spPr>
          <a:xfrm>
            <a:off x="571500" y="4987925"/>
            <a:ext cx="8081963" cy="8286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  </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 </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3</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R</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为</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1NF</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R</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的候选键为</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XW</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，则Y，Z为非主属性，又由于X→Z，因此F中存在非主属性对候选关键字的部分函数依赖。</a:t>
            </a:r>
            <a:endParaRPr lang="zh-CN" altLang="en-US" dirty="0"/>
          </a:p>
        </p:txBody>
      </p:sp>
      <p:sp>
        <p:nvSpPr>
          <p:cNvPr id="54280"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ppt_x</p:attrName>
                                        </p:attrNameLst>
                                      </p:cBhvr>
                                      <p:tavLst>
                                        <p:tav tm="0">
                                          <p:val>
                                            <p:strVal val="#ppt_x"/>
                                          </p:val>
                                        </p:tav>
                                        <p:tav tm="100000">
                                          <p:val>
                                            <p:strVal val="#ppt_x"/>
                                          </p:val>
                                        </p:tav>
                                      </p:tavLst>
                                    </p:anim>
                                    <p:anim calcmode="lin" valueType="num">
                                      <p:cBhvr>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ppt_x</p:attrName>
                                        </p:attrNameLst>
                                      </p:cBhvr>
                                      <p:tavLst>
                                        <p:tav tm="0">
                                          <p:val>
                                            <p:strVal val="#ppt_x"/>
                                          </p:val>
                                        </p:tav>
                                        <p:tav tm="100000">
                                          <p:val>
                                            <p:strVal val="#ppt_x"/>
                                          </p:val>
                                        </p:tav>
                                      </p:tavLst>
                                    </p:anim>
                                    <p:anim calcmode="lin" valueType="num">
                                      <p:cBhvr>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ppt_x</p:attrName>
                                        </p:attrNameLst>
                                      </p:cBhvr>
                                      <p:tavLst>
                                        <p:tav tm="0">
                                          <p:val>
                                            <p:strVal val="#ppt_x"/>
                                          </p:val>
                                        </p:tav>
                                        <p:tav tm="100000">
                                          <p:val>
                                            <p:strVal val="#ppt_x"/>
                                          </p:val>
                                        </p:tav>
                                      </p:tavLst>
                                    </p:anim>
                                    <p:anim calcmode="lin" valueType="num">
                                      <p:cBhvr>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文本框 44"/>
          <p:cNvSpPr txBox="1"/>
          <p:nvPr/>
        </p:nvSpPr>
        <p:spPr>
          <a:xfrm>
            <a:off x="444500" y="619125"/>
            <a:ext cx="2681288" cy="828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algn="just" eaLnBrk="1" hangingPunct="1">
              <a:lnSpc>
                <a:spcPct val="150000"/>
              </a:lnSpc>
              <a:spcBef>
                <a:spcPct val="0"/>
              </a:spcBef>
              <a:buClrTx/>
              <a:buSzTx/>
              <a:buFont typeface="Wingdings" panose="05000000000000000000" pitchFamily="2" charset="2"/>
              <a:buChar char="p"/>
            </a:pPr>
            <a:r>
              <a:rPr lang="zh-CN" altLang="zh-CN" sz="3200" dirty="0">
                <a:solidFill>
                  <a:srgbClr val="FF0000"/>
                </a:solidFill>
                <a:latin typeface="Calibri" panose="020F0502020204030204" charset="0"/>
                <a:sym typeface="宋体" panose="02010600030101010101" pitchFamily="2" charset="-122"/>
              </a:rPr>
              <a:t>问题研讨：</a:t>
            </a:r>
            <a:endParaRPr lang="zh-CN" altLang="en-US" sz="3200" dirty="0"/>
          </a:p>
        </p:txBody>
      </p:sp>
      <p:sp>
        <p:nvSpPr>
          <p:cNvPr id="55299" name="文本框 1"/>
          <p:cNvSpPr txBox="1"/>
          <p:nvPr/>
        </p:nvSpPr>
        <p:spPr>
          <a:xfrm>
            <a:off x="512763" y="1330325"/>
            <a:ext cx="6583362" cy="5080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ym typeface="宋体" panose="02010600030101010101" pitchFamily="2" charset="-122"/>
              </a:rPr>
              <a:t>9、判断关系R是否属于</a:t>
            </a:r>
            <a:r>
              <a:rPr lang="en-US" altLang="zh-CN" dirty="0">
                <a:sym typeface="宋体" panose="02010600030101010101" pitchFamily="2" charset="-122"/>
              </a:rPr>
              <a:t>3</a:t>
            </a:r>
            <a:r>
              <a:rPr lang="zh-CN" altLang="en-US" dirty="0">
                <a:sym typeface="宋体" panose="02010600030101010101" pitchFamily="2" charset="-122"/>
              </a:rPr>
              <a:t>NF，若不是转换成</a:t>
            </a:r>
            <a:r>
              <a:rPr lang="en-US" altLang="zh-CN" dirty="0">
                <a:sym typeface="宋体" panose="02010600030101010101" pitchFamily="2" charset="-122"/>
              </a:rPr>
              <a:t>3</a:t>
            </a:r>
            <a:r>
              <a:rPr lang="zh-CN" altLang="en-US" dirty="0">
                <a:sym typeface="宋体" panose="02010600030101010101" pitchFamily="2" charset="-122"/>
              </a:rPr>
              <a:t>NF</a:t>
            </a:r>
            <a:endParaRPr lang="zh-CN" altLang="en-US" dirty="0"/>
          </a:p>
        </p:txBody>
      </p:sp>
      <p:sp>
        <p:nvSpPr>
          <p:cNvPr id="55300" name="文本框 2"/>
          <p:cNvSpPr txBox="1"/>
          <p:nvPr/>
        </p:nvSpPr>
        <p:spPr>
          <a:xfrm>
            <a:off x="612775" y="1809750"/>
            <a:ext cx="8255000" cy="14700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0000"/>
              </a:lnSpc>
              <a:spcBef>
                <a:spcPts val="200"/>
              </a:spcBef>
              <a:buClrTx/>
              <a:buSzTx/>
              <a:buFont typeface="Arial" panose="020B0604020202020204" pitchFamily="34" charset="0"/>
              <a:buNone/>
            </a:pPr>
            <a:r>
              <a:rPr lang="zh-CN" altLang="en-US" sz="1800" dirty="0">
                <a:solidFill>
                  <a:srgbClr val="0033CC"/>
                </a:solidFill>
                <a:sym typeface="宋体" panose="02010600030101010101" pitchFamily="2" charset="-122"/>
              </a:rPr>
              <a:t>关系 </a:t>
            </a:r>
            <a:r>
              <a:rPr lang="en-US" altLang="zh-CN" sz="1800" dirty="0">
                <a:solidFill>
                  <a:srgbClr val="0033CC"/>
                </a:solidFill>
                <a:sym typeface="宋体" panose="02010600030101010101" pitchFamily="2" charset="-122"/>
              </a:rPr>
              <a:t>R (Sid, Cid, CName, Score, TID, TName,Tphone)</a:t>
            </a:r>
            <a:endParaRPr lang="en-US" altLang="zh-CN" sz="1800" dirty="0">
              <a:solidFill>
                <a:srgbClr val="0033CC"/>
              </a:solidFill>
            </a:endParaRPr>
          </a:p>
          <a:p>
            <a:pPr marL="0" lvl="0" indent="0">
              <a:lnSpc>
                <a:spcPct val="120000"/>
              </a:lnSpc>
              <a:spcBef>
                <a:spcPts val="200"/>
              </a:spcBef>
              <a:buFont typeface="Arial" panose="020B0604020202020204" pitchFamily="34" charset="0"/>
              <a:buNone/>
            </a:pPr>
            <a:r>
              <a:rPr lang="zh-CN" altLang="en-US" sz="1800" dirty="0">
                <a:sym typeface="宋体" panose="02010600030101010101" pitchFamily="2" charset="-122"/>
              </a:rPr>
              <a:t>其中</a:t>
            </a:r>
            <a:r>
              <a:rPr lang="en-US" altLang="zh-CN" sz="1800" dirty="0">
                <a:sym typeface="宋体" panose="02010600030101010101" pitchFamily="2" charset="-122"/>
              </a:rPr>
              <a:t>: Sid</a:t>
            </a:r>
            <a:r>
              <a:rPr lang="zh-CN" altLang="en-US" sz="1800" dirty="0">
                <a:sym typeface="宋体" panose="02010600030101010101" pitchFamily="2" charset="-122"/>
              </a:rPr>
              <a:t>是学生学号；</a:t>
            </a:r>
            <a:r>
              <a:rPr lang="en-US" altLang="zh-CN" sz="1800" dirty="0">
                <a:sym typeface="宋体" panose="02010600030101010101" pitchFamily="2" charset="-122"/>
              </a:rPr>
              <a:t>Cid</a:t>
            </a:r>
            <a:r>
              <a:rPr lang="zh-CN" altLang="en-US" sz="1800" dirty="0">
                <a:sym typeface="宋体" panose="02010600030101010101" pitchFamily="2" charset="-122"/>
              </a:rPr>
              <a:t>是课程号；</a:t>
            </a:r>
            <a:r>
              <a:rPr lang="en-US" altLang="zh-CN" sz="1800" dirty="0">
                <a:sym typeface="宋体" panose="02010600030101010101" pitchFamily="2" charset="-122"/>
              </a:rPr>
              <a:t>CName </a:t>
            </a:r>
            <a:r>
              <a:rPr lang="zh-CN" altLang="en-US" sz="1800" dirty="0">
                <a:sym typeface="宋体" panose="02010600030101010101" pitchFamily="2" charset="-122"/>
              </a:rPr>
              <a:t>课程名；</a:t>
            </a:r>
            <a:r>
              <a:rPr lang="en-US" altLang="zh-CN" sz="1800" dirty="0">
                <a:sym typeface="宋体" panose="02010600030101010101" pitchFamily="2" charset="-122"/>
              </a:rPr>
              <a:t>Score</a:t>
            </a:r>
            <a:r>
              <a:rPr lang="zh-CN" altLang="zh-CN" sz="1800" dirty="0">
                <a:sym typeface="宋体" panose="02010600030101010101" pitchFamily="2" charset="-122"/>
              </a:rPr>
              <a:t>成绩，</a:t>
            </a:r>
            <a:r>
              <a:rPr lang="en-US" altLang="zh-CN" sz="1800" dirty="0">
                <a:sym typeface="宋体" panose="02010600030101010101" pitchFamily="2" charset="-122"/>
              </a:rPr>
              <a:t>TID</a:t>
            </a:r>
            <a:r>
              <a:rPr lang="zh-CN" altLang="zh-CN" sz="1800" dirty="0">
                <a:sym typeface="宋体" panose="02010600030101010101" pitchFamily="2" charset="-122"/>
              </a:rPr>
              <a:t>教师编号，</a:t>
            </a:r>
            <a:r>
              <a:rPr lang="en-US" altLang="zh-CN" sz="1800" dirty="0">
                <a:sym typeface="宋体" panose="02010600030101010101" pitchFamily="2" charset="-122"/>
              </a:rPr>
              <a:t>TName </a:t>
            </a:r>
            <a:r>
              <a:rPr lang="zh-CN" altLang="en-US" sz="1800" dirty="0">
                <a:sym typeface="宋体" panose="02010600030101010101" pitchFamily="2" charset="-122"/>
              </a:rPr>
              <a:t>任课教师姓名，</a:t>
            </a:r>
            <a:r>
              <a:rPr lang="en-US" altLang="zh-CN" sz="1800" dirty="0">
                <a:sym typeface="宋体" panose="02010600030101010101" pitchFamily="2" charset="-122"/>
              </a:rPr>
              <a:t>Tphone</a:t>
            </a:r>
            <a:r>
              <a:rPr lang="zh-CN" altLang="zh-CN" sz="1800" dirty="0">
                <a:sym typeface="宋体" panose="02010600030101010101" pitchFamily="2" charset="-122"/>
              </a:rPr>
              <a:t>联系电话</a:t>
            </a:r>
            <a:r>
              <a:rPr lang="zh-CN" altLang="en-US" sz="1800" dirty="0">
                <a:sym typeface="宋体" panose="02010600030101010101" pitchFamily="2" charset="-122"/>
              </a:rPr>
              <a:t>。</a:t>
            </a:r>
            <a:endParaRPr lang="zh-CN" altLang="en-US" sz="1800" dirty="0"/>
          </a:p>
          <a:p>
            <a:pPr marL="0" lvl="0" indent="0">
              <a:lnSpc>
                <a:spcPct val="120000"/>
              </a:lnSpc>
              <a:spcBef>
                <a:spcPts val="200"/>
              </a:spcBef>
              <a:buFont typeface="Arial" panose="020B0604020202020204" pitchFamily="34" charset="0"/>
              <a:buNone/>
            </a:pPr>
            <a:r>
              <a:rPr lang="zh-CN" altLang="en-US" sz="1800" dirty="0">
                <a:sym typeface="宋体" panose="02010600030101010101" pitchFamily="2" charset="-122"/>
              </a:rPr>
              <a:t>规定：一门课只有一位教师上，一位教师也只上一门课。</a:t>
            </a:r>
            <a:endParaRPr lang="zh-CN" altLang="en-US" sz="1800" dirty="0"/>
          </a:p>
        </p:txBody>
      </p:sp>
      <p:sp>
        <p:nvSpPr>
          <p:cNvPr id="55301" name="文本框 3"/>
          <p:cNvSpPr txBox="1"/>
          <p:nvPr/>
        </p:nvSpPr>
        <p:spPr>
          <a:xfrm>
            <a:off x="628650" y="3279775"/>
            <a:ext cx="8151813" cy="244983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15000"/>
              </a:spcBef>
              <a:buNone/>
            </a:pPr>
            <a:r>
              <a:rPr lang="en-US" altLang="en-US" sz="1800" dirty="0">
                <a:solidFill>
                  <a:srgbClr val="0033CC"/>
                </a:solidFill>
                <a:sym typeface="+mn-ea"/>
              </a:rPr>
              <a:t>答：</a:t>
            </a:r>
            <a:r>
              <a:rPr lang="en-US" altLang="en-US" dirty="0">
                <a:solidFill>
                  <a:srgbClr val="0033CC"/>
                </a:solidFill>
                <a:latin typeface="楷体" panose="02010609060101010101" pitchFamily="49" charset="-122"/>
                <a:ea typeface="楷体" panose="02010609060101010101" pitchFamily="49" charset="-122"/>
                <a:sym typeface="+mn-ea"/>
              </a:rPr>
              <a:t>（</a:t>
            </a:r>
            <a:r>
              <a:rPr lang="en-US" altLang="zh-CN" dirty="0">
                <a:solidFill>
                  <a:srgbClr val="0033CC"/>
                </a:solidFill>
                <a:latin typeface="楷体" panose="02010609060101010101" pitchFamily="49" charset="-122"/>
                <a:ea typeface="楷体" panose="02010609060101010101" pitchFamily="49" charset="-122"/>
                <a:sym typeface="+mn-ea"/>
              </a:rPr>
              <a:t>1</a:t>
            </a:r>
            <a:r>
              <a:rPr lang="en-US" altLang="en-US" dirty="0">
                <a:solidFill>
                  <a:srgbClr val="0033CC"/>
                </a:solidFill>
                <a:latin typeface="楷体" panose="02010609060101010101" pitchFamily="49" charset="-122"/>
                <a:ea typeface="楷体" panose="02010609060101010101" pitchFamily="49" charset="-122"/>
                <a:sym typeface="+mn-ea"/>
              </a:rPr>
              <a:t>）候选键：</a:t>
            </a:r>
            <a:r>
              <a:rPr lang="en-US" altLang="zh-CN" dirty="0">
                <a:solidFill>
                  <a:srgbClr val="0033CC"/>
                </a:solidFill>
                <a:latin typeface="楷体" panose="02010609060101010101" pitchFamily="49" charset="-122"/>
                <a:ea typeface="楷体" panose="02010609060101010101" pitchFamily="49" charset="-122"/>
                <a:sym typeface="+mn-ea"/>
              </a:rPr>
              <a:t>(Sid,Cid)</a:t>
            </a:r>
            <a:r>
              <a:rPr lang="en-US" altLang="en-US" dirty="0">
                <a:solidFill>
                  <a:srgbClr val="0033CC"/>
                </a:solidFill>
                <a:latin typeface="楷体" panose="02010609060101010101" pitchFamily="49" charset="-122"/>
                <a:ea typeface="楷体" panose="02010609060101010101" pitchFamily="49" charset="-122"/>
                <a:sym typeface="+mn-ea"/>
              </a:rPr>
              <a:t>、</a:t>
            </a:r>
            <a:r>
              <a:rPr lang="en-US" altLang="zh-CN" dirty="0">
                <a:solidFill>
                  <a:srgbClr val="0033CC"/>
                </a:solidFill>
                <a:latin typeface="楷体" panose="02010609060101010101" pitchFamily="49" charset="-122"/>
                <a:ea typeface="楷体" panose="02010609060101010101" pitchFamily="49" charset="-122"/>
                <a:sym typeface="+mn-ea"/>
              </a:rPr>
              <a:t>(Sid,Tid)   </a:t>
            </a:r>
            <a:endParaRPr lang="en-US" altLang="zh-CN" dirty="0">
              <a:solidFill>
                <a:srgbClr val="0033CC"/>
              </a:solidFill>
              <a:latin typeface="楷体" panose="02010609060101010101" pitchFamily="49" charset="-122"/>
              <a:ea typeface="楷体" panose="02010609060101010101" pitchFamily="49" charset="-122"/>
              <a:sym typeface="+mn-ea"/>
            </a:endParaRPr>
          </a:p>
          <a:p>
            <a:pPr marL="0" lvl="0" indent="0" eaLnBrk="1" hangingPunct="1">
              <a:lnSpc>
                <a:spcPct val="125000"/>
              </a:lnSpc>
              <a:spcBef>
                <a:spcPct val="15000"/>
              </a:spcBef>
              <a:buNone/>
            </a:pPr>
            <a:r>
              <a:rPr lang="en-US" altLang="zh-CN" dirty="0">
                <a:solidFill>
                  <a:srgbClr val="0033CC"/>
                </a:solidFill>
                <a:latin typeface="楷体" panose="02010609060101010101" pitchFamily="49" charset="-122"/>
                <a:ea typeface="楷体" panose="02010609060101010101" pitchFamily="49" charset="-122"/>
                <a:sym typeface="+mn-ea"/>
              </a:rPr>
              <a:t>选(Sid,Cid)</a:t>
            </a:r>
            <a:r>
              <a:rPr lang="en-US" altLang="en-US" dirty="0">
                <a:solidFill>
                  <a:srgbClr val="0033CC"/>
                </a:solidFill>
                <a:latin typeface="楷体" panose="02010609060101010101" pitchFamily="49" charset="-122"/>
                <a:ea typeface="楷体" panose="02010609060101010101" pitchFamily="49" charset="-122"/>
                <a:sym typeface="+mn-ea"/>
              </a:rPr>
              <a:t>为主键，存在部分函数依赖，如</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Cid→CName</a:t>
            </a:r>
            <a:r>
              <a:rPr lang="en-US"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a:t>
            </a:r>
            <a:endParaRPr lang="en-US" altLang="en-US" dirty="0">
              <a:solidFill>
                <a:srgbClr val="0033CC"/>
              </a:solidFill>
              <a:latin typeface="楷体" panose="02010609060101010101" pitchFamily="49" charset="-122"/>
              <a:ea typeface="楷体" panose="02010609060101010101" pitchFamily="49" charset="-122"/>
              <a:sym typeface="宋体" panose="02010600030101010101" pitchFamily="2" charset="-122"/>
            </a:endParaRPr>
          </a:p>
          <a:p>
            <a:pPr marL="0" lvl="0" indent="0" eaLnBrk="1" hangingPunct="1">
              <a:lnSpc>
                <a:spcPct val="125000"/>
              </a:lnSpc>
              <a:spcBef>
                <a:spcPct val="15000"/>
              </a:spcBef>
              <a:buNone/>
            </a:pPr>
            <a:r>
              <a:rPr lang="en-US"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所以</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R</a:t>
            </a:r>
            <a:r>
              <a:rPr lang="en-US"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不是</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2NF</a:t>
            </a:r>
            <a:r>
              <a:rPr lang="en-US"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，故不是</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3NF</a:t>
            </a:r>
            <a:r>
              <a:rPr lang="en-US"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a:t>
            </a:r>
            <a:endParaRPr lang="en-US" altLang="en-US" dirty="0">
              <a:solidFill>
                <a:srgbClr val="0033CC"/>
              </a:solidFill>
              <a:latin typeface="楷体" panose="02010609060101010101" pitchFamily="49" charset="-122"/>
              <a:ea typeface="楷体" panose="02010609060101010101" pitchFamily="49" charset="-122"/>
              <a:sym typeface="宋体" panose="02010600030101010101" pitchFamily="2" charset="-122"/>
            </a:endParaRPr>
          </a:p>
          <a:p>
            <a:pPr marL="0" lvl="0" indent="0" eaLnBrk="1" hangingPunct="1">
              <a:lnSpc>
                <a:spcPct val="120000"/>
              </a:lnSpc>
              <a:spcBef>
                <a:spcPts val="15"/>
              </a:spcBef>
              <a:buNone/>
            </a:pPr>
            <a:r>
              <a:rPr lang="en-US"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2</a:t>
            </a:r>
            <a:r>
              <a:rPr lang="en-US"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0033CC"/>
                </a:solidFill>
                <a:latin typeface="楷体" panose="02010609060101010101" pitchFamily="49" charset="-122"/>
                <a:ea typeface="楷体" panose="02010609060101010101" pitchFamily="49" charset="-122"/>
                <a:sym typeface="+mn-ea"/>
              </a:rPr>
              <a:t>分解为2NF：(</a:t>
            </a:r>
            <a:r>
              <a:rPr lang="en-US" altLang="zh-CN" u="sng" dirty="0">
                <a:solidFill>
                  <a:srgbClr val="0033CC"/>
                </a:solidFill>
                <a:latin typeface="楷体" panose="02010609060101010101" pitchFamily="49" charset="-122"/>
                <a:ea typeface="楷体" panose="02010609060101010101" pitchFamily="49" charset="-122"/>
                <a:sym typeface="+mn-ea"/>
              </a:rPr>
              <a:t>Sid,Cid</a:t>
            </a:r>
            <a:r>
              <a:rPr lang="en-US" altLang="zh-CN" dirty="0">
                <a:solidFill>
                  <a:srgbClr val="0033CC"/>
                </a:solidFill>
                <a:latin typeface="楷体" panose="02010609060101010101" pitchFamily="49" charset="-122"/>
                <a:ea typeface="楷体" panose="02010609060101010101" pitchFamily="49" charset="-122"/>
                <a:sym typeface="+mn-ea"/>
              </a:rPr>
              <a:t>,Score) </a:t>
            </a:r>
            <a:r>
              <a:rPr lang="en-US" altLang="en-US" dirty="0">
                <a:solidFill>
                  <a:srgbClr val="0033CC"/>
                </a:solidFill>
                <a:latin typeface="楷体" panose="02010609060101010101" pitchFamily="49" charset="-122"/>
                <a:ea typeface="楷体" panose="02010609060101010101" pitchFamily="49" charset="-122"/>
                <a:sym typeface="+mn-ea"/>
              </a:rPr>
              <a:t>、</a:t>
            </a:r>
            <a:r>
              <a:rPr lang="en-US" altLang="zh-CN" dirty="0">
                <a:solidFill>
                  <a:srgbClr val="0033CC"/>
                </a:solidFill>
                <a:latin typeface="楷体" panose="02010609060101010101" pitchFamily="49" charset="-122"/>
                <a:ea typeface="楷体" panose="02010609060101010101" pitchFamily="49" charset="-122"/>
                <a:sym typeface="+mn-ea"/>
              </a:rPr>
              <a:t>(</a:t>
            </a:r>
            <a:r>
              <a:rPr lang="en-US" altLang="zh-CN" u="sng" dirty="0">
                <a:solidFill>
                  <a:srgbClr val="0033CC"/>
                </a:solidFill>
                <a:latin typeface="楷体" panose="02010609060101010101" pitchFamily="49" charset="-122"/>
                <a:ea typeface="楷体" panose="02010609060101010101" pitchFamily="49" charset="-122"/>
                <a:sym typeface="+mn-ea"/>
              </a:rPr>
              <a:t>Cid</a:t>
            </a:r>
            <a:r>
              <a:rPr lang="en-US" altLang="zh-CN" dirty="0">
                <a:solidFill>
                  <a:srgbClr val="0033CC"/>
                </a:solidFill>
                <a:latin typeface="楷体" panose="02010609060101010101" pitchFamily="49" charset="-122"/>
                <a:ea typeface="楷体" panose="02010609060101010101" pitchFamily="49" charset="-122"/>
                <a:sym typeface="+mn-ea"/>
              </a:rPr>
              <a:t>,CName,Tid,TName,Tphone)</a:t>
            </a:r>
            <a:endParaRPr lang="en-US" altLang="zh-CN" dirty="0">
              <a:solidFill>
                <a:srgbClr val="0033CC"/>
              </a:solidFill>
              <a:latin typeface="楷体" panose="02010609060101010101" pitchFamily="49" charset="-122"/>
              <a:ea typeface="楷体" panose="02010609060101010101" pitchFamily="49" charset="-122"/>
              <a:sym typeface="+mn-ea"/>
            </a:endParaRPr>
          </a:p>
          <a:p>
            <a:pPr marL="0" lvl="0" indent="0" eaLnBrk="1" hangingPunct="1">
              <a:lnSpc>
                <a:spcPct val="120000"/>
              </a:lnSpc>
              <a:spcBef>
                <a:spcPts val="15"/>
              </a:spcBef>
              <a:buNone/>
            </a:pPr>
            <a:r>
              <a:rPr lang="zh-CN" altLang="en-US" dirty="0">
                <a:solidFill>
                  <a:srgbClr val="0033CC"/>
                </a:solidFill>
                <a:latin typeface="楷体" panose="02010609060101010101" pitchFamily="49" charset="-122"/>
                <a:ea typeface="楷体" panose="02010609060101010101" pitchFamily="49" charset="-122"/>
                <a:sym typeface="+mn-ea"/>
              </a:rPr>
              <a:t>（</a:t>
            </a:r>
            <a:r>
              <a:rPr lang="en-US" altLang="zh-CN" dirty="0">
                <a:solidFill>
                  <a:srgbClr val="0033CC"/>
                </a:solidFill>
                <a:latin typeface="楷体" panose="02010609060101010101" pitchFamily="49" charset="-122"/>
                <a:ea typeface="楷体" panose="02010609060101010101" pitchFamily="49" charset="-122"/>
                <a:sym typeface="+mn-ea"/>
              </a:rPr>
              <a:t>3</a:t>
            </a:r>
            <a:r>
              <a:rPr lang="zh-CN" altLang="en-US" dirty="0">
                <a:solidFill>
                  <a:srgbClr val="0033CC"/>
                </a:solidFill>
                <a:latin typeface="楷体" panose="02010609060101010101" pitchFamily="49" charset="-122"/>
                <a:ea typeface="楷体" panose="02010609060101010101" pitchFamily="49" charset="-122"/>
                <a:sym typeface="+mn-ea"/>
              </a:rPr>
              <a:t>）</a:t>
            </a:r>
            <a:r>
              <a:rPr lang="en-US" altLang="zh-CN" dirty="0">
                <a:solidFill>
                  <a:srgbClr val="0033CC"/>
                </a:solidFill>
                <a:latin typeface="楷体" panose="02010609060101010101" pitchFamily="49" charset="-122"/>
                <a:ea typeface="楷体" panose="02010609060101010101" pitchFamily="49" charset="-122"/>
                <a:sym typeface="+mn-ea"/>
              </a:rPr>
              <a:t>(</a:t>
            </a:r>
            <a:r>
              <a:rPr lang="en-US" altLang="zh-CN" u="sng" dirty="0">
                <a:solidFill>
                  <a:srgbClr val="0033CC"/>
                </a:solidFill>
                <a:latin typeface="楷体" panose="02010609060101010101" pitchFamily="49" charset="-122"/>
                <a:ea typeface="楷体" panose="02010609060101010101" pitchFamily="49" charset="-122"/>
                <a:sym typeface="+mn-ea"/>
              </a:rPr>
              <a:t>Sid,Cid</a:t>
            </a:r>
            <a:r>
              <a:rPr lang="en-US" altLang="zh-CN" dirty="0">
                <a:solidFill>
                  <a:srgbClr val="0033CC"/>
                </a:solidFill>
                <a:latin typeface="楷体" panose="02010609060101010101" pitchFamily="49" charset="-122"/>
                <a:ea typeface="楷体" panose="02010609060101010101" pitchFamily="49" charset="-122"/>
                <a:sym typeface="+mn-ea"/>
              </a:rPr>
              <a:t>,Score) </a:t>
            </a:r>
            <a:r>
              <a:rPr lang="en-US" altLang="en-US" dirty="0">
                <a:solidFill>
                  <a:srgbClr val="0033CC"/>
                </a:solidFill>
                <a:latin typeface="楷体" panose="02010609060101010101" pitchFamily="49" charset="-122"/>
                <a:ea typeface="楷体" panose="02010609060101010101" pitchFamily="49" charset="-122"/>
                <a:sym typeface="+mn-ea"/>
              </a:rPr>
              <a:t>、</a:t>
            </a:r>
            <a:r>
              <a:rPr lang="en-US" altLang="zh-CN" dirty="0">
                <a:solidFill>
                  <a:srgbClr val="0033CC"/>
                </a:solidFill>
                <a:latin typeface="楷体" panose="02010609060101010101" pitchFamily="49" charset="-122"/>
                <a:ea typeface="楷体" panose="02010609060101010101" pitchFamily="49" charset="-122"/>
                <a:sym typeface="+mn-ea"/>
              </a:rPr>
              <a:t>(</a:t>
            </a:r>
            <a:r>
              <a:rPr lang="en-US" altLang="zh-CN" u="sng" dirty="0">
                <a:solidFill>
                  <a:srgbClr val="0033CC"/>
                </a:solidFill>
                <a:latin typeface="楷体" panose="02010609060101010101" pitchFamily="49" charset="-122"/>
                <a:ea typeface="楷体" panose="02010609060101010101" pitchFamily="49" charset="-122"/>
                <a:sym typeface="+mn-ea"/>
              </a:rPr>
              <a:t>Cid</a:t>
            </a:r>
            <a:r>
              <a:rPr lang="en-US" altLang="zh-CN" dirty="0">
                <a:solidFill>
                  <a:srgbClr val="0033CC"/>
                </a:solidFill>
                <a:latin typeface="楷体" panose="02010609060101010101" pitchFamily="49" charset="-122"/>
                <a:ea typeface="楷体" panose="02010609060101010101" pitchFamily="49" charset="-122"/>
                <a:sym typeface="+mn-ea"/>
              </a:rPr>
              <a:t>,CName,Tid,TName,Tphone)</a:t>
            </a:r>
            <a:r>
              <a:rPr lang="zh-CN" altLang="en-US" dirty="0">
                <a:solidFill>
                  <a:srgbClr val="0033CC"/>
                </a:solidFill>
                <a:latin typeface="楷体" panose="02010609060101010101" pitchFamily="49" charset="-122"/>
                <a:ea typeface="楷体" panose="02010609060101010101" pitchFamily="49" charset="-122"/>
                <a:sym typeface="+mn-ea"/>
              </a:rPr>
              <a:t>不存在传递依赖，为</a:t>
            </a:r>
            <a:r>
              <a:rPr lang="en-US" altLang="zh-CN" dirty="0">
                <a:solidFill>
                  <a:srgbClr val="0033CC"/>
                </a:solidFill>
                <a:latin typeface="楷体" panose="02010609060101010101" pitchFamily="49" charset="-122"/>
                <a:ea typeface="楷体" panose="02010609060101010101" pitchFamily="49" charset="-122"/>
                <a:sym typeface="+mn-ea"/>
              </a:rPr>
              <a:t>3</a:t>
            </a:r>
            <a:r>
              <a:rPr lang="en-US" altLang="zh-CN" dirty="0">
                <a:solidFill>
                  <a:srgbClr val="0033CC"/>
                </a:solidFill>
                <a:latin typeface="楷体" panose="02010609060101010101" pitchFamily="49" charset="-122"/>
                <a:ea typeface="楷体" panose="02010609060101010101" pitchFamily="49" charset="-122"/>
                <a:sym typeface="+mn-ea"/>
              </a:rPr>
              <a:t>NF</a:t>
            </a:r>
            <a:endParaRPr lang="en-US" altLang="zh-CN" dirty="0">
              <a:solidFill>
                <a:srgbClr val="0033CC"/>
              </a:solidFill>
              <a:latin typeface="楷体" panose="02010609060101010101" pitchFamily="49" charset="-122"/>
              <a:ea typeface="楷体" panose="02010609060101010101" pitchFamily="49" charset="-122"/>
              <a:sym typeface="+mn-ea"/>
            </a:endParaRPr>
          </a:p>
        </p:txBody>
      </p:sp>
      <p:sp>
        <p:nvSpPr>
          <p:cNvPr id="55302"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7"/>
          <p:cNvSpPr/>
          <p:nvPr/>
        </p:nvSpPr>
        <p:spPr>
          <a:xfrm>
            <a:off x="487363" y="809625"/>
            <a:ext cx="77597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5</a:t>
            </a:r>
            <a:r>
              <a:rPr lang="zh-CN" altLang="en-US" sz="2800" dirty="0">
                <a:solidFill>
                  <a:srgbClr val="FF3300"/>
                </a:solidFill>
                <a:latin typeface="黑体" panose="02010609060101010101" pitchFamily="49" charset="-122"/>
                <a:ea typeface="黑体" panose="02010609060101010101" pitchFamily="49" charset="-122"/>
              </a:rPr>
              <a:t>、多值依赖与第四范式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56323"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56324" name="Text Box 3"/>
          <p:cNvSpPr txBox="1"/>
          <p:nvPr/>
        </p:nvSpPr>
        <p:spPr>
          <a:xfrm>
            <a:off x="379413" y="1457325"/>
            <a:ext cx="8529637" cy="11969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None/>
            </a:pPr>
            <a:r>
              <a:rPr lang="en-US" altLang="zh-CN" dirty="0"/>
              <a:t>       </a:t>
            </a:r>
            <a:r>
              <a:rPr lang="zh-CN" altLang="en-US" sz="2200" dirty="0">
                <a:solidFill>
                  <a:srgbClr val="0033CC"/>
                </a:solidFill>
              </a:rPr>
              <a:t>函数依赖所讨论的是元组内属性间的依赖或决定关系对属性取值范围的影响，如某一属性值的插入要取决于其他属性值或某一属性值的删除会影响到其他属性。</a:t>
            </a:r>
            <a:endParaRPr lang="zh-CN" altLang="en-US" sz="2200" dirty="0">
              <a:solidFill>
                <a:srgbClr val="0033CC"/>
              </a:solidFill>
            </a:endParaRPr>
          </a:p>
        </p:txBody>
      </p:sp>
      <p:sp>
        <p:nvSpPr>
          <p:cNvPr id="45061" name="Text Box 3"/>
          <p:cNvSpPr txBox="1"/>
          <p:nvPr/>
        </p:nvSpPr>
        <p:spPr>
          <a:xfrm>
            <a:off x="379413" y="2679700"/>
            <a:ext cx="8529637" cy="13493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None/>
            </a:pPr>
            <a:r>
              <a:rPr lang="en-US" altLang="zh-CN" dirty="0"/>
              <a:t>       </a:t>
            </a:r>
            <a:r>
              <a:rPr lang="zh-CN" altLang="en-US" sz="2200" dirty="0"/>
              <a:t>现将视野上升到元组级的影响，即讨论元组内属性间的依赖关系对元组级的影响，即某一属性取值在插入与删除时，是否影响多个元组。</a:t>
            </a:r>
            <a:endParaRPr lang="zh-CN" altLang="en-US" sz="1800" dirty="0"/>
          </a:p>
        </p:txBody>
      </p:sp>
      <p:sp>
        <p:nvSpPr>
          <p:cNvPr id="56326" name="矩形 45061"/>
          <p:cNvSpPr/>
          <p:nvPr/>
        </p:nvSpPr>
        <p:spPr>
          <a:xfrm>
            <a:off x="1770063" y="4327525"/>
            <a:ext cx="1016000" cy="482600"/>
          </a:xfrm>
          <a:prstGeom prst="rect">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zh-CN" sz="1800" dirty="0"/>
              <a:t>客户</a:t>
            </a:r>
            <a:endParaRPr lang="zh-CN" altLang="zh-CN" sz="1800" dirty="0"/>
          </a:p>
        </p:txBody>
      </p:sp>
      <p:sp>
        <p:nvSpPr>
          <p:cNvPr id="56327" name="椭圆 45062"/>
          <p:cNvSpPr/>
          <p:nvPr/>
        </p:nvSpPr>
        <p:spPr>
          <a:xfrm>
            <a:off x="590550" y="4265613"/>
            <a:ext cx="825500" cy="500062"/>
          </a:xfrm>
          <a:prstGeom prst="ellipse">
            <a:avLst/>
          </a:prstGeom>
          <a:solidFill>
            <a:schemeClr val="accent1"/>
          </a:solidFill>
          <a:ln w="9525" cap="flat" cmpd="sng">
            <a:solidFill>
              <a:schemeClr val="tx1"/>
            </a:solidFill>
            <a:prstDash val="solid"/>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en-US" altLang="zh-CN" sz="1800" u="sng" dirty="0"/>
              <a:t>CName</a:t>
            </a:r>
            <a:endParaRPr lang="en-US" altLang="zh-CN" sz="1800" u="sng" dirty="0"/>
          </a:p>
        </p:txBody>
      </p:sp>
      <p:sp>
        <p:nvSpPr>
          <p:cNvPr id="56328" name="矩形 45063"/>
          <p:cNvSpPr/>
          <p:nvPr/>
        </p:nvSpPr>
        <p:spPr>
          <a:xfrm>
            <a:off x="1749425" y="5632450"/>
            <a:ext cx="1016000" cy="482600"/>
          </a:xfrm>
          <a:prstGeom prst="rect">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zh-CN" sz="1800" dirty="0"/>
              <a:t>员工</a:t>
            </a:r>
            <a:endParaRPr lang="zh-CN" altLang="zh-CN" sz="1800" dirty="0"/>
          </a:p>
        </p:txBody>
      </p:sp>
      <p:sp>
        <p:nvSpPr>
          <p:cNvPr id="56329" name="椭圆 45064"/>
          <p:cNvSpPr/>
          <p:nvPr/>
        </p:nvSpPr>
        <p:spPr>
          <a:xfrm>
            <a:off x="615950" y="5540375"/>
            <a:ext cx="823913" cy="501650"/>
          </a:xfrm>
          <a:prstGeom prst="ellipse">
            <a:avLst/>
          </a:prstGeom>
          <a:solidFill>
            <a:schemeClr val="accent1"/>
          </a:solidFill>
          <a:ln w="9525" cap="flat" cmpd="sng">
            <a:solidFill>
              <a:schemeClr val="tx1"/>
            </a:solidFill>
            <a:prstDash val="solid"/>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en-US" altLang="zh-CN" sz="1800" u="sng" dirty="0"/>
              <a:t>EName</a:t>
            </a:r>
            <a:endParaRPr lang="en-US" altLang="zh-CN" sz="1800" u="sng" dirty="0"/>
          </a:p>
        </p:txBody>
      </p:sp>
      <p:sp>
        <p:nvSpPr>
          <p:cNvPr id="56330" name="矩形 45065"/>
          <p:cNvSpPr/>
          <p:nvPr/>
        </p:nvSpPr>
        <p:spPr>
          <a:xfrm>
            <a:off x="5121275" y="4999038"/>
            <a:ext cx="1014413" cy="484187"/>
          </a:xfrm>
          <a:prstGeom prst="rect">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zh-CN" sz="1800" dirty="0"/>
              <a:t>商店</a:t>
            </a:r>
            <a:endParaRPr lang="zh-CN" altLang="zh-CN" sz="1800" dirty="0"/>
          </a:p>
        </p:txBody>
      </p:sp>
      <p:sp>
        <p:nvSpPr>
          <p:cNvPr id="56331" name="椭圆 45066"/>
          <p:cNvSpPr/>
          <p:nvPr/>
        </p:nvSpPr>
        <p:spPr>
          <a:xfrm>
            <a:off x="5102225" y="4279900"/>
            <a:ext cx="1022350" cy="500063"/>
          </a:xfrm>
          <a:prstGeom prst="ellipse">
            <a:avLst/>
          </a:prstGeom>
          <a:solidFill>
            <a:schemeClr val="accent1"/>
          </a:solidFill>
          <a:ln w="9525" cap="flat" cmpd="sng">
            <a:solidFill>
              <a:schemeClr val="tx1"/>
            </a:solidFill>
            <a:prstDash val="solid"/>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en-US" altLang="zh-CN" sz="1800" u="sng" dirty="0"/>
              <a:t>StoreNo</a:t>
            </a:r>
            <a:endParaRPr lang="en-US" altLang="zh-CN" sz="1800" u="sng" dirty="0"/>
          </a:p>
        </p:txBody>
      </p:sp>
      <p:sp>
        <p:nvSpPr>
          <p:cNvPr id="56332" name="直接连接符 45067"/>
          <p:cNvSpPr/>
          <p:nvPr/>
        </p:nvSpPr>
        <p:spPr>
          <a:xfrm>
            <a:off x="1444625" y="4560888"/>
            <a:ext cx="338138" cy="0"/>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56333" name="直接连接符 45068"/>
          <p:cNvSpPr/>
          <p:nvPr/>
        </p:nvSpPr>
        <p:spPr>
          <a:xfrm>
            <a:off x="1423988" y="5821363"/>
            <a:ext cx="344487" cy="20637"/>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56334" name="菱形 45069"/>
          <p:cNvSpPr/>
          <p:nvPr/>
        </p:nvSpPr>
        <p:spPr>
          <a:xfrm>
            <a:off x="3240088" y="4664075"/>
            <a:ext cx="1220787" cy="425450"/>
          </a:xfrm>
          <a:prstGeom prst="diamond">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en-US" altLang="zh-CN" sz="1800" dirty="0"/>
              <a:t>CS</a:t>
            </a:r>
            <a:endParaRPr lang="en-US" altLang="zh-CN" sz="1800" dirty="0"/>
          </a:p>
        </p:txBody>
      </p:sp>
      <p:sp>
        <p:nvSpPr>
          <p:cNvPr id="56335" name="直接连接符 45070"/>
          <p:cNvSpPr/>
          <p:nvPr/>
        </p:nvSpPr>
        <p:spPr>
          <a:xfrm flipV="1">
            <a:off x="5575300" y="4754563"/>
            <a:ext cx="19050" cy="271462"/>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56336" name="菱形 45071"/>
          <p:cNvSpPr/>
          <p:nvPr/>
        </p:nvSpPr>
        <p:spPr>
          <a:xfrm>
            <a:off x="3263900" y="5467350"/>
            <a:ext cx="1222375" cy="427038"/>
          </a:xfrm>
          <a:prstGeom prst="diamond">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en-US" altLang="zh-CN" sz="1800" dirty="0"/>
              <a:t>ES</a:t>
            </a:r>
            <a:endParaRPr lang="en-US" altLang="zh-CN" sz="1800" dirty="0"/>
          </a:p>
        </p:txBody>
      </p:sp>
      <p:sp>
        <p:nvSpPr>
          <p:cNvPr id="56337" name="直接连接符 45072"/>
          <p:cNvSpPr/>
          <p:nvPr/>
        </p:nvSpPr>
        <p:spPr>
          <a:xfrm>
            <a:off x="2794000" y="4570413"/>
            <a:ext cx="401638" cy="300037"/>
          </a:xfrm>
          <a:prstGeom prst="line">
            <a:avLst/>
          </a:prstGeom>
          <a:ln w="9525" cap="flat" cmpd="sng">
            <a:solidFill>
              <a:schemeClr val="tx1"/>
            </a:solidFill>
            <a:prstDash val="solid"/>
            <a:headEnd type="none" w="med" len="med"/>
            <a:tailEnd type="triangle" w="med" len="lg"/>
          </a:ln>
          <a:effectLst>
            <a:prstShdw prst="shdw17" dist="17961" dir="2699999">
              <a:srgbClr val="000000"/>
            </a:prstShdw>
          </a:effectLst>
        </p:spPr>
      </p:sp>
      <p:sp>
        <p:nvSpPr>
          <p:cNvPr id="56338" name="直接连接符 45073"/>
          <p:cNvSpPr/>
          <p:nvPr/>
        </p:nvSpPr>
        <p:spPr>
          <a:xfrm>
            <a:off x="4437063" y="4860925"/>
            <a:ext cx="671512" cy="333375"/>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56339" name="直接连接符 45074"/>
          <p:cNvSpPr/>
          <p:nvPr/>
        </p:nvSpPr>
        <p:spPr>
          <a:xfrm flipV="1">
            <a:off x="4432300" y="5253038"/>
            <a:ext cx="692150" cy="411162"/>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56340" name="直接连接符 45075"/>
          <p:cNvSpPr/>
          <p:nvPr/>
        </p:nvSpPr>
        <p:spPr>
          <a:xfrm flipV="1">
            <a:off x="2779713" y="5692775"/>
            <a:ext cx="476250" cy="274638"/>
          </a:xfrm>
          <a:prstGeom prst="line">
            <a:avLst/>
          </a:prstGeom>
          <a:ln w="9525" cap="flat" cmpd="sng">
            <a:solidFill>
              <a:schemeClr val="tx1"/>
            </a:solidFill>
            <a:prstDash val="solid"/>
            <a:headEnd type="none" w="med" len="med"/>
            <a:tailEnd type="triangle" w="med" len="lg"/>
          </a:ln>
          <a:effectLst>
            <a:prstShdw prst="shdw17" dist="17961" dir="2699999">
              <a:srgbClr val="000000"/>
            </a:prstShdw>
          </a:effectLst>
        </p:spPr>
      </p:sp>
      <p:sp>
        <p:nvSpPr>
          <p:cNvPr id="56341" name="矩形 45076"/>
          <p:cNvSpPr/>
          <p:nvPr/>
        </p:nvSpPr>
        <p:spPr>
          <a:xfrm>
            <a:off x="2798763" y="4295775"/>
            <a:ext cx="896937" cy="441325"/>
          </a:xfrm>
          <a:prstGeom prst="rect">
            <a:avLst/>
          </a:prstGeom>
          <a:noFill/>
          <a:ln w="9525">
            <a:noFill/>
          </a:ln>
          <a:effectLst>
            <a:prstShdw prst="shdw17" dist="17961" dir="2699999">
              <a:srgbClr val="708688"/>
            </a:prstShdw>
          </a:effectLst>
        </p:spPr>
        <p:txBody>
          <a:bodyPr wrap="none" lIns="90170" tIns="46990" rIns="90170" bIns="4699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n</a:t>
            </a:r>
            <a:endParaRPr lang="zh-CN" altLang="en-US" sz="1800" dirty="0"/>
          </a:p>
        </p:txBody>
      </p:sp>
      <p:sp>
        <p:nvSpPr>
          <p:cNvPr id="56342" name="矩形 45077"/>
          <p:cNvSpPr/>
          <p:nvPr/>
        </p:nvSpPr>
        <p:spPr>
          <a:xfrm>
            <a:off x="4397375" y="4570413"/>
            <a:ext cx="898525" cy="441325"/>
          </a:xfrm>
          <a:prstGeom prst="rect">
            <a:avLst/>
          </a:prstGeom>
          <a:noFill/>
          <a:ln w="9525">
            <a:noFill/>
          </a:ln>
          <a:effectLst>
            <a:prstShdw prst="shdw17" dist="17961" dir="2699999">
              <a:srgbClr val="708688"/>
            </a:prstShdw>
          </a:effectLst>
        </p:spPr>
        <p:txBody>
          <a:bodyPr wrap="none" lIns="90170" tIns="46990" rIns="90170" bIns="4699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1</a:t>
            </a:r>
            <a:endParaRPr lang="zh-CN" altLang="en-US" sz="1800" dirty="0"/>
          </a:p>
        </p:txBody>
      </p:sp>
      <p:sp>
        <p:nvSpPr>
          <p:cNvPr id="56343" name="矩形 45078"/>
          <p:cNvSpPr/>
          <p:nvPr/>
        </p:nvSpPr>
        <p:spPr>
          <a:xfrm>
            <a:off x="2660650" y="5276850"/>
            <a:ext cx="898525" cy="441325"/>
          </a:xfrm>
          <a:prstGeom prst="rect">
            <a:avLst/>
          </a:prstGeom>
          <a:noFill/>
          <a:ln w="9525">
            <a:noFill/>
          </a:ln>
          <a:effectLst>
            <a:prstShdw prst="shdw17" dist="17961" dir="2699999">
              <a:srgbClr val="708688"/>
            </a:prstShdw>
          </a:effectLst>
        </p:spPr>
        <p:txBody>
          <a:bodyPr wrap="none" lIns="90170" tIns="46990" rIns="90170" bIns="4699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n</a:t>
            </a:r>
            <a:endParaRPr lang="zh-CN" altLang="en-US" sz="1800" dirty="0"/>
          </a:p>
        </p:txBody>
      </p:sp>
      <p:sp>
        <p:nvSpPr>
          <p:cNvPr id="56344" name="矩形 45079"/>
          <p:cNvSpPr/>
          <p:nvPr/>
        </p:nvSpPr>
        <p:spPr>
          <a:xfrm>
            <a:off x="4052888" y="5181600"/>
            <a:ext cx="898525" cy="441325"/>
          </a:xfrm>
          <a:prstGeom prst="rect">
            <a:avLst/>
          </a:prstGeom>
          <a:noFill/>
          <a:ln w="9525">
            <a:noFill/>
          </a:ln>
          <a:effectLst>
            <a:prstShdw prst="shdw17" dist="17961" dir="2699999">
              <a:srgbClr val="708688"/>
            </a:prstShdw>
          </a:effectLst>
        </p:spPr>
        <p:txBody>
          <a:bodyPr wrap="none" lIns="90170" tIns="46990" rIns="90170" bIns="4699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1</a:t>
            </a:r>
            <a:endParaRPr lang="zh-CN" altLang="en-US" sz="1800" dirty="0"/>
          </a:p>
        </p:txBody>
      </p:sp>
      <p:sp>
        <p:nvSpPr>
          <p:cNvPr id="56345" name="矩形 45080"/>
          <p:cNvSpPr/>
          <p:nvPr/>
        </p:nvSpPr>
        <p:spPr>
          <a:xfrm>
            <a:off x="3048000" y="4391025"/>
            <a:ext cx="1752600" cy="1728788"/>
          </a:xfrm>
          <a:prstGeom prst="rect">
            <a:avLst/>
          </a:prstGeom>
          <a:noFill/>
          <a:ln w="9525" cap="flat" cmpd="sng">
            <a:solidFill>
              <a:srgbClr val="0000FF"/>
            </a:solidFill>
            <a:prstDash val="dash"/>
            <a:miter/>
            <a:headEnd type="none" w="med" len="med"/>
            <a:tailEnd type="none" w="med" len="med"/>
          </a:ln>
          <a:effectLst>
            <a:prstShdw prst="shdw17" dist="17961" dir="2699999">
              <a:srgbClr val="000099"/>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56346" name="矩形 45081"/>
          <p:cNvSpPr/>
          <p:nvPr/>
        </p:nvSpPr>
        <p:spPr>
          <a:xfrm>
            <a:off x="6423025" y="4060825"/>
            <a:ext cx="2219325" cy="873125"/>
          </a:xfrm>
          <a:prstGeom prst="rect">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en-US" altLang="zh-CN" sz="1800" dirty="0">
                <a:solidFill>
                  <a:srgbClr val="0033CC"/>
                </a:solidFill>
                <a:sym typeface="Arial" panose="020B0604020202020204" pitchFamily="34" charset="0"/>
              </a:rPr>
              <a:t>SEC</a:t>
            </a:r>
            <a:r>
              <a:rPr lang="zh-CN" altLang="en-US" sz="1800" dirty="0"/>
              <a:t>(</a:t>
            </a:r>
            <a:r>
              <a:rPr lang="en-US" altLang="zh-CN" sz="1800" u="sng" dirty="0">
                <a:sym typeface="Arial" panose="020B0604020202020204" pitchFamily="34" charset="0"/>
              </a:rPr>
              <a:t>StoreNo</a:t>
            </a:r>
            <a:r>
              <a:rPr lang="zh-CN" altLang="en-US" sz="1800" u="sng" dirty="0"/>
              <a:t>,</a:t>
            </a:r>
            <a:endParaRPr lang="zh-CN" altLang="en-US" sz="1800" u="sng" dirty="0"/>
          </a:p>
          <a:p>
            <a:pPr marL="0" lvl="0" indent="0" algn="ctr" eaLnBrk="1" hangingPunct="1">
              <a:spcBef>
                <a:spcPct val="0"/>
              </a:spcBef>
              <a:buClrTx/>
              <a:buSzTx/>
              <a:buFont typeface="Arial" panose="020B0604020202020204" pitchFamily="34" charset="0"/>
              <a:buNone/>
            </a:pPr>
            <a:r>
              <a:rPr lang="en-US" altLang="zh-CN" sz="1800" u="sng" dirty="0"/>
              <a:t>C</a:t>
            </a:r>
            <a:r>
              <a:rPr lang="zh-CN" altLang="en-US" sz="1800" u="sng" dirty="0"/>
              <a:t>Name,</a:t>
            </a:r>
            <a:r>
              <a:rPr lang="en-US" altLang="zh-CN" sz="1800" u="sng" dirty="0"/>
              <a:t>EName</a:t>
            </a:r>
            <a:r>
              <a:rPr lang="zh-CN" altLang="en-US" sz="1800" dirty="0"/>
              <a:t>)</a:t>
            </a: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5061"/>
                                        </p:tgtEl>
                                        <p:attrNameLst>
                                          <p:attrName>style.visibility</p:attrName>
                                        </p:attrNameLst>
                                      </p:cBhvr>
                                      <p:to>
                                        <p:strVal val="visible"/>
                                      </p:to>
                                    </p:set>
                                    <p:animEffect transition="in" filter="box(in)">
                                      <p:cBhvr>
                                        <p:cTn id="7" dur="500"/>
                                        <p:tgtEl>
                                          <p:spTgt spid="45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7"/>
          <p:cNvSpPr/>
          <p:nvPr/>
        </p:nvSpPr>
        <p:spPr>
          <a:xfrm>
            <a:off x="487363" y="809625"/>
            <a:ext cx="77597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5</a:t>
            </a:r>
            <a:r>
              <a:rPr lang="zh-CN" altLang="en-US" sz="2800" dirty="0">
                <a:solidFill>
                  <a:srgbClr val="FF3300"/>
                </a:solidFill>
                <a:latin typeface="黑体" panose="02010609060101010101" pitchFamily="49" charset="-122"/>
                <a:ea typeface="黑体" panose="02010609060101010101" pitchFamily="49" charset="-122"/>
              </a:rPr>
              <a:t>、多值依赖与第四范式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57347" name="Text Box 3"/>
          <p:cNvSpPr txBox="1"/>
          <p:nvPr/>
        </p:nvSpPr>
        <p:spPr>
          <a:xfrm>
            <a:off x="390525" y="1425575"/>
            <a:ext cx="8529638" cy="9620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10000"/>
              </a:spcBef>
              <a:buClrTx/>
              <a:buSzTx/>
              <a:buNone/>
            </a:pPr>
            <a:r>
              <a:rPr lang="en-US" altLang="zh-CN" dirty="0"/>
              <a:t>       </a:t>
            </a:r>
            <a:r>
              <a:rPr lang="zh-CN" altLang="en-US" sz="2200" dirty="0"/>
              <a:t>尽管</a:t>
            </a:r>
            <a:r>
              <a:rPr lang="en-US" altLang="zh-CN" sz="2200" dirty="0"/>
              <a:t>BCNF</a:t>
            </a:r>
            <a:r>
              <a:rPr lang="zh-CN" altLang="en-US" sz="2200" dirty="0"/>
              <a:t>消除了由于函数依赖带来的所有更新异常，但是多值依赖也会导致数据冗余，造成操作异常。</a:t>
            </a:r>
            <a:endParaRPr lang="zh-CN" altLang="en-US" sz="2200" dirty="0"/>
          </a:p>
        </p:txBody>
      </p:sp>
      <p:graphicFrame>
        <p:nvGraphicFramePr>
          <p:cNvPr id="46084" name="表格 46083"/>
          <p:cNvGraphicFramePr/>
          <p:nvPr/>
        </p:nvGraphicFramePr>
        <p:xfrm>
          <a:off x="558800" y="2882900"/>
          <a:ext cx="3098800" cy="1841500"/>
        </p:xfrm>
        <a:graphic>
          <a:graphicData uri="http://schemas.openxmlformats.org/drawingml/2006/table">
            <a:tbl>
              <a:tblPr/>
              <a:tblGrid>
                <a:gridCol w="1016000"/>
                <a:gridCol w="1079500"/>
                <a:gridCol w="1003300"/>
              </a:tblGrid>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storeNo</a:t>
                      </a:r>
                      <a:endParaRPr lang="en-US" altLang="x-none" dirty="0"/>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EName</a:t>
                      </a:r>
                      <a:endParaRPr lang="en-US" altLang="x-none" dirty="0"/>
                    </a:p>
                  </a:txBody>
                  <a:tcPr marL="18000" marR="18000" marT="46819" marB="4681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cName</a:t>
                      </a:r>
                      <a:endParaRPr lang="en-US" altLang="x-none" dirty="0"/>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S002</a:t>
                      </a:r>
                      <a:endParaRPr lang="en-US" altLang="x-none"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张强</a:t>
                      </a:r>
                      <a:endParaRPr lang="zh-CN" altLang="en-US"/>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王萍</a:t>
                      </a:r>
                      <a:endParaRPr lang="zh-CN" altLang="en-US"/>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S002</a:t>
                      </a:r>
                      <a:endParaRPr lang="en-US" altLang="x-none"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李清</a:t>
                      </a:r>
                      <a:endParaRPr lang="zh-CN" altLang="en-US"/>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王萍</a:t>
                      </a:r>
                      <a:endParaRPr lang="zh-CN" altLang="en-US"/>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S002</a:t>
                      </a:r>
                      <a:endParaRPr lang="en-US" altLang="x-none" dirty="0"/>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张强</a:t>
                      </a:r>
                      <a:endParaRPr lang="zh-CN" altLang="en-US"/>
                    </a:p>
                  </a:txBody>
                  <a:tcPr marL="18000" marR="18000" marT="46819" marB="4681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钱景</a:t>
                      </a:r>
                      <a:endParaRPr lang="zh-CN" altLang="en-US"/>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S002</a:t>
                      </a:r>
                      <a:endParaRPr lang="en-US" altLang="x-none" dirty="0"/>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李清</a:t>
                      </a:r>
                      <a:endParaRPr lang="zh-CN" altLang="en-US"/>
                    </a:p>
                  </a:txBody>
                  <a:tcPr marL="18000" marR="18000" marT="46819" marB="4681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钱景</a:t>
                      </a:r>
                      <a:endParaRPr lang="zh-CN" altLang="en-US"/>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57376" name="Rectangle 40"/>
          <p:cNvSpPr/>
          <p:nvPr/>
        </p:nvSpPr>
        <p:spPr>
          <a:xfrm>
            <a:off x="473075" y="2411413"/>
            <a:ext cx="2909888" cy="463550"/>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en-US" altLang="zh-CN" sz="1800" dirty="0">
                <a:solidFill>
                  <a:srgbClr val="0033CC"/>
                </a:solidFill>
              </a:rPr>
              <a:t>StoreStuffCustomer</a:t>
            </a:r>
            <a:endParaRPr lang="en-US" altLang="zh-CN" sz="1800" dirty="0">
              <a:solidFill>
                <a:srgbClr val="0033CC"/>
              </a:solidFill>
            </a:endParaRPr>
          </a:p>
        </p:txBody>
      </p:sp>
      <p:sp>
        <p:nvSpPr>
          <p:cNvPr id="46113" name="Text Box 41"/>
          <p:cNvSpPr txBox="1"/>
          <p:nvPr/>
        </p:nvSpPr>
        <p:spPr>
          <a:xfrm>
            <a:off x="3857625" y="2628900"/>
            <a:ext cx="5062538" cy="21034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10000"/>
              </a:spcBef>
              <a:buClrTx/>
              <a:buSzTx/>
              <a:buNone/>
            </a:pPr>
            <a:r>
              <a:rPr lang="en-US" altLang="zh-CN" dirty="0"/>
              <a:t>       storeNO</a:t>
            </a:r>
            <a:r>
              <a:rPr lang="zh-CN" altLang="en-US" dirty="0"/>
              <a:t>表示商店号，</a:t>
            </a:r>
            <a:r>
              <a:rPr lang="en-US" altLang="zh-CN" dirty="0"/>
              <a:t>EName</a:t>
            </a:r>
            <a:r>
              <a:rPr lang="zh-CN" altLang="en-US" dirty="0"/>
              <a:t>表示商店职工名，</a:t>
            </a:r>
            <a:r>
              <a:rPr lang="en-US" altLang="zh-CN" dirty="0"/>
              <a:t>cName</a:t>
            </a:r>
            <a:r>
              <a:rPr lang="zh-CN" altLang="en-US" dirty="0"/>
              <a:t>表示顾客号。</a:t>
            </a:r>
            <a:endParaRPr lang="zh-CN" altLang="en-US" dirty="0"/>
          </a:p>
          <a:p>
            <a:pPr marL="0" lvl="0" indent="0" eaLnBrk="1" hangingPunct="1">
              <a:lnSpc>
                <a:spcPct val="130000"/>
              </a:lnSpc>
              <a:spcBef>
                <a:spcPct val="10000"/>
              </a:spcBef>
              <a:buClrTx/>
              <a:buSzTx/>
              <a:buNone/>
            </a:pPr>
            <a:r>
              <a:rPr lang="zh-CN" altLang="en-US" dirty="0"/>
              <a:t>       在这个关系中，职工和顾客没有直接联系，为保证数据的一致性，必须建立新的元组将每个职工和顾客联系在一起。</a:t>
            </a:r>
            <a:endParaRPr lang="zh-CN" altLang="en-US" dirty="0"/>
          </a:p>
        </p:txBody>
      </p:sp>
      <p:sp>
        <p:nvSpPr>
          <p:cNvPr id="46114" name="Text Box 42"/>
          <p:cNvSpPr txBox="1"/>
          <p:nvPr/>
        </p:nvSpPr>
        <p:spPr>
          <a:xfrm>
            <a:off x="415925" y="4838700"/>
            <a:ext cx="8529638" cy="13446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10000"/>
              </a:spcBef>
              <a:buClrTx/>
              <a:buSzTx/>
              <a:buNone/>
            </a:pPr>
            <a:r>
              <a:rPr lang="en-US" altLang="zh-CN" dirty="0"/>
              <a:t>       </a:t>
            </a:r>
            <a:r>
              <a:rPr lang="en-US" altLang="zh-CN" sz="2100" dirty="0"/>
              <a:t>StoreStuffCustomer</a:t>
            </a:r>
            <a:r>
              <a:rPr lang="zh-CN" altLang="en-US" sz="2100" dirty="0"/>
              <a:t>关系中的这个约束就表现为多值，即这个多值依赖的存在是由于</a:t>
            </a:r>
            <a:r>
              <a:rPr lang="en-US" altLang="zh-CN" sz="2100" dirty="0"/>
              <a:t>StoreStuffCustomer</a:t>
            </a:r>
            <a:r>
              <a:rPr lang="zh-CN" altLang="en-US" sz="2100" dirty="0"/>
              <a:t>关系中存在两个一对多的关系（商店和职工以及商店和顾客）。</a:t>
            </a:r>
            <a:endParaRPr lang="zh-CN" altLang="en-US" sz="2100" dirty="0"/>
          </a:p>
        </p:txBody>
      </p:sp>
      <p:sp>
        <p:nvSpPr>
          <p:cNvPr id="57379"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6113"/>
                                        </p:tgtEl>
                                        <p:attrNameLst>
                                          <p:attrName>style.visibility</p:attrName>
                                        </p:attrNameLst>
                                      </p:cBhvr>
                                      <p:to>
                                        <p:strVal val="visible"/>
                                      </p:to>
                                    </p:set>
                                    <p:animEffect transition="in" filter="box(in)">
                                      <p:cBhvr>
                                        <p:cTn id="7" dur="500"/>
                                        <p:tgtEl>
                                          <p:spTgt spid="4611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6114"/>
                                        </p:tgtEl>
                                        <p:attrNameLst>
                                          <p:attrName>style.visibility</p:attrName>
                                        </p:attrNameLst>
                                      </p:cBhvr>
                                      <p:to>
                                        <p:strVal val="visible"/>
                                      </p:to>
                                    </p:set>
                                    <p:animEffect transition="in" filter="box(in)">
                                      <p:cBhvr>
                                        <p:cTn id="12" dur="500"/>
                                        <p:tgtEl>
                                          <p:spTgt spid="46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13" grpId="0"/>
      <p:bldP spid="4611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7"/>
          <p:cNvSpPr/>
          <p:nvPr/>
        </p:nvSpPr>
        <p:spPr>
          <a:xfrm>
            <a:off x="554038" y="842963"/>
            <a:ext cx="4529137"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5</a:t>
            </a:r>
            <a:r>
              <a:rPr lang="zh-CN" altLang="en-US" sz="2800" dirty="0">
                <a:solidFill>
                  <a:srgbClr val="FF3300"/>
                </a:solidFill>
                <a:latin typeface="黑体" panose="02010609060101010101" pitchFamily="49" charset="-122"/>
                <a:ea typeface="黑体" panose="02010609060101010101" pitchFamily="49" charset="-122"/>
              </a:rPr>
              <a:t>、多值依赖与第四范式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58371" name="Text Box 3"/>
          <p:cNvSpPr txBox="1"/>
          <p:nvPr/>
        </p:nvSpPr>
        <p:spPr>
          <a:xfrm>
            <a:off x="442913" y="1557338"/>
            <a:ext cx="8402637" cy="456184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None/>
            </a:pPr>
            <a:r>
              <a:rPr lang="zh-CN" altLang="en-US" dirty="0">
                <a:solidFill>
                  <a:srgbClr val="FF0000"/>
                </a:solidFill>
                <a:latin typeface="宋体" panose="02010600030101010101" pitchFamily="2" charset="-122"/>
              </a:rPr>
              <a:t>    </a:t>
            </a:r>
            <a:r>
              <a:rPr lang="zh-CN" altLang="en-US" sz="2200" u="sng" dirty="0">
                <a:solidFill>
                  <a:srgbClr val="0033CC"/>
                </a:solidFill>
                <a:latin typeface="宋体" panose="02010600030101010101" pitchFamily="2" charset="-122"/>
              </a:rPr>
              <a:t>定义：设R是一个具有属性集合U的关系模式，X、Y和Z是U上的子集，并且Z=U-X-Y，多值依赖</a:t>
            </a:r>
            <a:r>
              <a:rPr lang="en-US" altLang="zh-CN" sz="2200" u="sng" dirty="0">
                <a:solidFill>
                  <a:srgbClr val="0033CC"/>
                </a:solidFill>
                <a:latin typeface="宋体" panose="02010600030101010101" pitchFamily="2" charset="-122"/>
              </a:rPr>
              <a:t>X→→Y</a:t>
            </a:r>
            <a:r>
              <a:rPr lang="zh-CN" altLang="en-US" sz="2200" u="sng" dirty="0">
                <a:solidFill>
                  <a:srgbClr val="0033CC"/>
                </a:solidFill>
                <a:latin typeface="宋体" panose="02010600030101010101" pitchFamily="2" charset="-122"/>
              </a:rPr>
              <a:t>成立，当且仅当对R的任一关系r，r在（X,Z)上的每个值对应一组Y的值，这组值仅仅决定于X的值而与Z值无关</a:t>
            </a:r>
            <a:r>
              <a:rPr lang="en-US" altLang="zh-CN" sz="2200" u="sng" dirty="0">
                <a:solidFill>
                  <a:srgbClr val="0033CC"/>
                </a:solidFill>
              </a:rPr>
              <a:t> </a:t>
            </a:r>
            <a:r>
              <a:rPr lang="zh-CN" altLang="en-US" sz="2200" u="sng" dirty="0">
                <a:solidFill>
                  <a:srgbClr val="0033CC"/>
                </a:solidFill>
                <a:latin typeface="宋体" panose="02010600030101010101" pitchFamily="2" charset="-122"/>
              </a:rPr>
              <a:t>。</a:t>
            </a:r>
            <a:endParaRPr lang="zh-CN" altLang="en-US" sz="2200" u="sng" dirty="0">
              <a:solidFill>
                <a:srgbClr val="0033CC"/>
              </a:solidFill>
              <a:latin typeface="宋体" panose="02010600030101010101" pitchFamily="2" charset="-122"/>
            </a:endParaRPr>
          </a:p>
          <a:p>
            <a:pPr marL="0" lvl="0" indent="0" eaLnBrk="1" hangingPunct="1">
              <a:lnSpc>
                <a:spcPct val="125000"/>
              </a:lnSpc>
              <a:spcBef>
                <a:spcPts val="600"/>
              </a:spcBef>
              <a:buClrTx/>
              <a:buSzTx/>
              <a:buNone/>
            </a:pPr>
            <a:r>
              <a:rPr lang="zh-CN" altLang="en-US" dirty="0">
                <a:solidFill>
                  <a:srgbClr val="FF3300"/>
                </a:solidFill>
                <a:latin typeface="宋体" panose="02010600030101010101" pitchFamily="2" charset="-122"/>
              </a:rPr>
              <a:t>   </a:t>
            </a:r>
            <a:r>
              <a:rPr lang="zh-CN" altLang="en-US" sz="2200" dirty="0">
                <a:solidFill>
                  <a:srgbClr val="FF3300"/>
                </a:solidFill>
                <a:latin typeface="宋体" panose="02010600030101010101" pitchFamily="2" charset="-122"/>
              </a:rPr>
              <a:t> </a:t>
            </a:r>
            <a:r>
              <a:rPr lang="en-US" altLang="zh-CN" sz="2200" dirty="0"/>
              <a:t>StoreStuffCustomer</a:t>
            </a:r>
            <a:r>
              <a:rPr lang="zh-CN" altLang="en-US" sz="2200" dirty="0"/>
              <a:t>关系中的多值依赖表示为：</a:t>
            </a:r>
            <a:endParaRPr lang="zh-CN" altLang="en-US" sz="2200" dirty="0"/>
          </a:p>
          <a:p>
            <a:pPr marL="0" lvl="0" indent="0" eaLnBrk="1" hangingPunct="1">
              <a:lnSpc>
                <a:spcPct val="125000"/>
              </a:lnSpc>
              <a:spcBef>
                <a:spcPts val="600"/>
              </a:spcBef>
              <a:buClrTx/>
              <a:buSzTx/>
              <a:buNone/>
            </a:pPr>
            <a:r>
              <a:rPr lang="en-US" altLang="zh-CN" sz="2200" dirty="0"/>
              <a:t>       storeNo→→sName    </a:t>
            </a:r>
            <a:r>
              <a:rPr lang="en-US" altLang="zh-CN" sz="2200" dirty="0">
                <a:solidFill>
                  <a:srgbClr val="FF3300"/>
                </a:solidFill>
              </a:rPr>
              <a:t> </a:t>
            </a:r>
            <a:r>
              <a:rPr lang="en-US" altLang="zh-CN" sz="2200" dirty="0"/>
              <a:t>storeNo→→cName </a:t>
            </a:r>
            <a:endParaRPr lang="en-US" altLang="zh-CN" sz="2200" dirty="0"/>
          </a:p>
          <a:p>
            <a:pPr marL="0" lvl="0" indent="0" eaLnBrk="1" hangingPunct="1">
              <a:lnSpc>
                <a:spcPct val="125000"/>
              </a:lnSpc>
              <a:spcBef>
                <a:spcPts val="600"/>
              </a:spcBef>
              <a:buClrTx/>
              <a:buSzTx/>
              <a:buNone/>
            </a:pPr>
            <a:r>
              <a:rPr lang="en-US" altLang="zh-CN" sz="2200" dirty="0"/>
              <a:t>       </a:t>
            </a:r>
            <a:r>
              <a:rPr lang="en-US" altLang="zh-CN" sz="2200" dirty="0">
                <a:solidFill>
                  <a:srgbClr val="FF3300"/>
                </a:solidFill>
              </a:rPr>
              <a:t>★ </a:t>
            </a:r>
            <a:r>
              <a:rPr lang="zh-CN" altLang="en-US" sz="2200" dirty="0">
                <a:solidFill>
                  <a:srgbClr val="0033CC"/>
                </a:solidFill>
              </a:rPr>
              <a:t> </a:t>
            </a:r>
            <a:r>
              <a:rPr lang="zh-CN" altLang="en-US" sz="2200" dirty="0"/>
              <a:t>函数依赖是指一个属性的值对应另一个属性的唯一值，而多值依赖是指一个属性的值对应另一个属性的多个值。</a:t>
            </a:r>
            <a:endParaRPr lang="zh-CN" altLang="en-US" sz="2200" dirty="0"/>
          </a:p>
          <a:p>
            <a:pPr marL="0" lvl="0" indent="0" eaLnBrk="1" hangingPunct="1">
              <a:lnSpc>
                <a:spcPct val="125000"/>
              </a:lnSpc>
              <a:spcBef>
                <a:spcPts val="600"/>
              </a:spcBef>
              <a:buClrTx/>
              <a:buSzTx/>
              <a:buNone/>
            </a:pPr>
            <a:r>
              <a:rPr lang="en-US" altLang="zh-CN" sz="2200" dirty="0">
                <a:sym typeface="+mn-ea"/>
              </a:rPr>
              <a:t>      </a:t>
            </a:r>
            <a:r>
              <a:rPr lang="zh-CN" altLang="en-US" sz="2200" dirty="0">
                <a:sym typeface="+mn-ea"/>
              </a:rPr>
              <a:t>多值依赖是一种特殊的依赖关系，通常出现在一个表中某个属性（属性组）对多个其他属性独立地进行确定</a:t>
            </a:r>
            <a:r>
              <a:rPr lang="zh-CN" altLang="en-US" sz="2200" dirty="0">
                <a:sym typeface="+mn-ea"/>
              </a:rPr>
              <a:t>时。</a:t>
            </a:r>
            <a:endParaRPr lang="zh-CN" altLang="en-US" sz="2200" dirty="0">
              <a:sym typeface="+mn-ea"/>
            </a:endParaRPr>
          </a:p>
        </p:txBody>
      </p:sp>
      <p:sp>
        <p:nvSpPr>
          <p:cNvPr id="58372"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430"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59394" name="Rectangle 7"/>
          <p:cNvSpPr/>
          <p:nvPr/>
        </p:nvSpPr>
        <p:spPr>
          <a:xfrm>
            <a:off x="450850" y="747713"/>
            <a:ext cx="44831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5</a:t>
            </a:r>
            <a:r>
              <a:rPr lang="zh-CN" altLang="en-US" sz="2800" dirty="0">
                <a:solidFill>
                  <a:srgbClr val="FF3300"/>
                </a:solidFill>
                <a:latin typeface="黑体" panose="02010609060101010101" pitchFamily="49" charset="-122"/>
                <a:ea typeface="黑体" panose="02010609060101010101" pitchFamily="49" charset="-122"/>
              </a:rPr>
              <a:t>、多值依赖与第四范式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60445" name="流程图: 可选过程 49180"/>
          <p:cNvSpPr/>
          <p:nvPr/>
        </p:nvSpPr>
        <p:spPr>
          <a:xfrm>
            <a:off x="363620" y="1257700"/>
            <a:ext cx="2122006" cy="476721"/>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Font typeface="Wingdings" panose="05000000000000000000" pitchFamily="2" charset="2"/>
              <a:buChar char="n"/>
            </a:pPr>
            <a:r>
              <a:rPr lang="zh-CN" altLang="en-US" sz="2200" dirty="0">
                <a:solidFill>
                  <a:srgbClr val="0033CC"/>
                </a:solidFill>
              </a:rPr>
              <a:t>平凡多值依赖</a:t>
            </a:r>
            <a:endParaRPr lang="zh-CN" altLang="en-US" sz="2200" dirty="0">
              <a:solidFill>
                <a:srgbClr val="0033CC"/>
              </a:solidFill>
            </a:endParaRPr>
          </a:p>
        </p:txBody>
      </p:sp>
      <p:sp>
        <p:nvSpPr>
          <p:cNvPr id="57347" name="Text Box 3"/>
          <p:cNvSpPr txBox="1"/>
          <p:nvPr/>
        </p:nvSpPr>
        <p:spPr>
          <a:xfrm>
            <a:off x="657225" y="1675765"/>
            <a:ext cx="7977505" cy="351790"/>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10"/>
              </a:spcBef>
              <a:spcAft>
                <a:spcPts val="0"/>
              </a:spcAft>
              <a:buClrTx/>
              <a:buSzTx/>
              <a:buNone/>
            </a:pPr>
            <a:r>
              <a:rPr lang="zh-CN" altLang="en-US" sz="2200" dirty="0"/>
              <a:t>如果多值依赖</a:t>
            </a:r>
            <a:r>
              <a:rPr lang="zh-CN" altLang="en-US" sz="2200" dirty="0">
                <a:sym typeface="+mn-ea"/>
              </a:rPr>
              <a:t>X→→Y满足以下条件之一，称为平凡多值</a:t>
            </a:r>
            <a:r>
              <a:rPr lang="zh-CN" altLang="en-US" sz="2200" dirty="0">
                <a:sym typeface="+mn-ea"/>
              </a:rPr>
              <a:t>依赖：</a:t>
            </a:r>
            <a:endParaRPr lang="zh-CN" altLang="en-US" sz="2200" dirty="0">
              <a:sym typeface="+mn-ea"/>
            </a:endParaRPr>
          </a:p>
          <a:p>
            <a:pPr marL="0" lvl="0" indent="0" eaLnBrk="1" hangingPunct="1">
              <a:lnSpc>
                <a:spcPct val="110000"/>
              </a:lnSpc>
              <a:spcBef>
                <a:spcPts val="10"/>
              </a:spcBef>
              <a:spcAft>
                <a:spcPts val="0"/>
              </a:spcAft>
              <a:buClrTx/>
              <a:buSzTx/>
              <a:buNone/>
            </a:pPr>
            <a:r>
              <a:rPr lang="en-US" altLang="zh-CN" sz="2200" dirty="0">
                <a:sym typeface="+mn-ea"/>
              </a:rPr>
              <a:t> 1.          </a:t>
            </a:r>
            <a:r>
              <a:rPr lang="zh-CN" altLang="en-US" sz="2200" dirty="0">
                <a:sym typeface="+mn-ea"/>
              </a:rPr>
              <a:t>（依赖集</a:t>
            </a:r>
            <a:r>
              <a:rPr lang="en-US" altLang="zh-CN" sz="2200" dirty="0">
                <a:sym typeface="+mn-ea"/>
              </a:rPr>
              <a:t>Y</a:t>
            </a:r>
            <a:r>
              <a:rPr lang="zh-CN" altLang="en-US" sz="2200" dirty="0">
                <a:sym typeface="+mn-ea"/>
              </a:rPr>
              <a:t>是</a:t>
            </a:r>
            <a:r>
              <a:rPr lang="en-US" altLang="zh-CN" sz="2200" dirty="0">
                <a:sym typeface="+mn-ea"/>
              </a:rPr>
              <a:t>X</a:t>
            </a:r>
            <a:r>
              <a:rPr lang="zh-CN" altLang="en-US" sz="2200" dirty="0">
                <a:sym typeface="+mn-ea"/>
              </a:rPr>
              <a:t>的子集）</a:t>
            </a:r>
            <a:endParaRPr lang="en-US" altLang="zh-CN" sz="2200" dirty="0">
              <a:sym typeface="+mn-ea"/>
            </a:endParaRPr>
          </a:p>
          <a:p>
            <a:pPr marL="0" lvl="0" indent="0" eaLnBrk="1" hangingPunct="1">
              <a:lnSpc>
                <a:spcPct val="110000"/>
              </a:lnSpc>
              <a:spcBef>
                <a:spcPts val="10"/>
              </a:spcBef>
              <a:spcAft>
                <a:spcPts val="0"/>
              </a:spcAft>
              <a:buClrTx/>
              <a:buSzTx/>
              <a:buNone/>
            </a:pPr>
            <a:r>
              <a:rPr lang="en-US" altLang="zh-CN" sz="2200" dirty="0">
                <a:sym typeface="+mn-ea"/>
              </a:rPr>
              <a:t> 2. </a:t>
            </a:r>
            <a:endParaRPr lang="zh-CN" altLang="en-US" sz="2200" dirty="0">
              <a:sym typeface="+mn-ea"/>
            </a:endParaRPr>
          </a:p>
          <a:p>
            <a:pPr marL="0" lvl="0" indent="0" eaLnBrk="1" hangingPunct="1">
              <a:lnSpc>
                <a:spcPct val="110000"/>
              </a:lnSpc>
              <a:spcBef>
                <a:spcPts val="10"/>
              </a:spcBef>
              <a:spcAft>
                <a:spcPts val="0"/>
              </a:spcAft>
              <a:buClrTx/>
              <a:buSzTx/>
              <a:buNone/>
            </a:pPr>
            <a:endParaRPr lang="zh-CN" altLang="en-US" sz="2200" dirty="0">
              <a:sym typeface="+mn-ea"/>
            </a:endParaRPr>
          </a:p>
        </p:txBody>
      </p:sp>
      <p:graphicFrame>
        <p:nvGraphicFramePr>
          <p:cNvPr id="23558" name="对象 2">
            <a:hlinkClick r:id="" action="ppaction://ole?verb="/>
          </p:cNvPr>
          <p:cNvGraphicFramePr>
            <a:graphicFrameLocks noChangeAspect="1"/>
          </p:cNvGraphicFramePr>
          <p:nvPr/>
        </p:nvGraphicFramePr>
        <p:xfrm>
          <a:off x="1137762" y="2076927"/>
          <a:ext cx="572770" cy="336550"/>
        </p:xfrm>
        <a:graphic>
          <a:graphicData uri="http://schemas.openxmlformats.org/presentationml/2006/ole">
            <mc:AlternateContent xmlns:mc="http://schemas.openxmlformats.org/markup-compatibility/2006">
              <mc:Choice xmlns:v="urn:schemas-microsoft-com:vml" Requires="v">
                <p:oleObj spid="_x0000_s3078" name="" r:id="rId1" imgW="457200" imgH="190500" progId="Equation.KSEE3">
                  <p:embed/>
                </p:oleObj>
              </mc:Choice>
              <mc:Fallback>
                <p:oleObj name="" r:id="rId1" imgW="457200" imgH="190500" progId="Equation.KSEE3">
                  <p:embed/>
                  <p:pic>
                    <p:nvPicPr>
                      <p:cNvPr id="0" name="图片 3077"/>
                      <p:cNvPicPr/>
                      <p:nvPr/>
                    </p:nvPicPr>
                    <p:blipFill>
                      <a:blip r:embed="rId2"/>
                      <a:stretch>
                        <a:fillRect/>
                      </a:stretch>
                    </p:blipFill>
                    <p:spPr>
                      <a:xfrm>
                        <a:off x="1137762" y="2076927"/>
                        <a:ext cx="572770" cy="336550"/>
                      </a:xfrm>
                      <a:prstGeom prst="rect">
                        <a:avLst/>
                      </a:prstGeom>
                      <a:noFill/>
                      <a:ln w="38100">
                        <a:noFill/>
                        <a:miter/>
                      </a:ln>
                    </p:spPr>
                  </p:pic>
                </p:oleObj>
              </mc:Fallback>
            </mc:AlternateContent>
          </a:graphicData>
        </a:graphic>
      </p:graphicFrame>
      <p:graphicFrame>
        <p:nvGraphicFramePr>
          <p:cNvPr id="6" name="对象 2">
            <a:hlinkClick r:id="" action="ppaction://ole?verb="/>
          </p:cNvPr>
          <p:cNvGraphicFramePr>
            <a:graphicFrameLocks noChangeAspect="1"/>
          </p:cNvGraphicFramePr>
          <p:nvPr/>
        </p:nvGraphicFramePr>
        <p:xfrm>
          <a:off x="1137920" y="2460625"/>
          <a:ext cx="1221740" cy="448945"/>
        </p:xfrm>
        <a:graphic>
          <a:graphicData uri="http://schemas.openxmlformats.org/presentationml/2006/ole">
            <mc:AlternateContent xmlns:mc="http://schemas.openxmlformats.org/markup-compatibility/2006">
              <mc:Choice xmlns:v="urn:schemas-microsoft-com:vml" Requires="v">
                <p:oleObj spid="_x0000_s7" name="" r:id="rId3" imgW="698500" imgH="254000" progId="Equation.KSEE3">
                  <p:embed/>
                </p:oleObj>
              </mc:Choice>
              <mc:Fallback>
                <p:oleObj name="" r:id="rId3" imgW="698500" imgH="254000" progId="Equation.KSEE3">
                  <p:embed/>
                  <p:pic>
                    <p:nvPicPr>
                      <p:cNvPr id="0" name="图片 3077"/>
                      <p:cNvPicPr/>
                      <p:nvPr/>
                    </p:nvPicPr>
                    <p:blipFill>
                      <a:blip r:embed="rId4"/>
                      <a:stretch>
                        <a:fillRect/>
                      </a:stretch>
                    </p:blipFill>
                    <p:spPr>
                      <a:xfrm>
                        <a:off x="1137920" y="2460625"/>
                        <a:ext cx="1221740" cy="448945"/>
                      </a:xfrm>
                      <a:prstGeom prst="rect">
                        <a:avLst/>
                      </a:prstGeom>
                      <a:noFill/>
                      <a:ln w="38100">
                        <a:noFill/>
                        <a:miter/>
                      </a:ln>
                    </p:spPr>
                  </p:pic>
                </p:oleObj>
              </mc:Fallback>
            </mc:AlternateContent>
          </a:graphicData>
        </a:graphic>
      </p:graphicFrame>
      <p:sp>
        <p:nvSpPr>
          <p:cNvPr id="8" name="文本框 7"/>
          <p:cNvSpPr txBox="1"/>
          <p:nvPr/>
        </p:nvSpPr>
        <p:spPr>
          <a:xfrm>
            <a:off x="2197100" y="2478405"/>
            <a:ext cx="6437630" cy="429895"/>
          </a:xfrm>
          <a:prstGeom prst="rect">
            <a:avLst/>
          </a:prstGeom>
          <a:noFill/>
        </p:spPr>
        <p:txBody>
          <a:bodyPr wrap="square" rtlCol="0" anchor="t">
            <a:spAutoFit/>
          </a:bodyPr>
          <a:p>
            <a:r>
              <a:rPr lang="zh-CN" altLang="en-US" sz="2200" dirty="0">
                <a:sym typeface="+mn-ea"/>
              </a:rPr>
              <a:t>（依赖集</a:t>
            </a:r>
            <a:r>
              <a:rPr lang="en-US" altLang="zh-CN" sz="2200" dirty="0">
                <a:sym typeface="+mn-ea"/>
              </a:rPr>
              <a:t>Y</a:t>
            </a:r>
            <a:r>
              <a:rPr lang="zh-CN" altLang="en-US" sz="2200" dirty="0">
                <a:sym typeface="+mn-ea"/>
              </a:rPr>
              <a:t>和</a:t>
            </a:r>
            <a:r>
              <a:rPr lang="en-US" altLang="zh-CN" sz="2200" dirty="0">
                <a:sym typeface="+mn-ea"/>
              </a:rPr>
              <a:t>X</a:t>
            </a:r>
            <a:r>
              <a:rPr lang="zh-CN" altLang="en-US" sz="2200" dirty="0">
                <a:sym typeface="+mn-ea"/>
              </a:rPr>
              <a:t>的并集等于整个关系</a:t>
            </a:r>
            <a:r>
              <a:rPr lang="en-US" altLang="zh-CN" sz="2200" dirty="0">
                <a:sym typeface="+mn-ea"/>
              </a:rPr>
              <a:t>R</a:t>
            </a:r>
            <a:r>
              <a:rPr lang="zh-CN" altLang="en-US" sz="2200" dirty="0">
                <a:sym typeface="+mn-ea"/>
              </a:rPr>
              <a:t>的所有</a:t>
            </a:r>
            <a:r>
              <a:rPr lang="zh-CN" altLang="en-US" sz="2200" dirty="0">
                <a:sym typeface="+mn-ea"/>
              </a:rPr>
              <a:t>属性）</a:t>
            </a:r>
            <a:endParaRPr lang="zh-CN" altLang="en-US" sz="2200" dirty="0">
              <a:sym typeface="+mn-ea"/>
            </a:endParaRPr>
          </a:p>
        </p:txBody>
      </p:sp>
      <p:sp>
        <p:nvSpPr>
          <p:cNvPr id="9" name="Text Box 3"/>
          <p:cNvSpPr txBox="1"/>
          <p:nvPr/>
        </p:nvSpPr>
        <p:spPr>
          <a:xfrm>
            <a:off x="614045" y="2956560"/>
            <a:ext cx="7977505" cy="351790"/>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00000"/>
              </a:lnSpc>
              <a:spcBef>
                <a:spcPts val="10"/>
              </a:spcBef>
              <a:spcAft>
                <a:spcPts val="0"/>
              </a:spcAft>
              <a:buClrTx/>
              <a:buSzTx/>
              <a:buNone/>
            </a:pPr>
            <a:r>
              <a:rPr lang="zh-CN" altLang="en-US" sz="2200" dirty="0"/>
              <a:t>特性：</a:t>
            </a:r>
            <a:r>
              <a:rPr lang="zh-CN" altLang="en-US" sz="2200" dirty="0">
                <a:sym typeface="+mn-ea"/>
              </a:rPr>
              <a:t>平凡多值依赖不会对关系的规范化造成实际影响。</a:t>
            </a:r>
            <a:endParaRPr lang="zh-CN" altLang="en-US" sz="2200" dirty="0"/>
          </a:p>
          <a:p>
            <a:pPr marL="0" lvl="0" indent="0" eaLnBrk="1" hangingPunct="1">
              <a:lnSpc>
                <a:spcPct val="100000"/>
              </a:lnSpc>
              <a:spcBef>
                <a:spcPts val="10"/>
              </a:spcBef>
              <a:spcAft>
                <a:spcPts val="0"/>
              </a:spcAft>
              <a:buClrTx/>
              <a:buSzTx/>
              <a:buNone/>
            </a:pPr>
            <a:r>
              <a:rPr lang="en-US" altLang="zh-CN" sz="2200" dirty="0"/>
              <a:t>   </a:t>
            </a:r>
            <a:endParaRPr lang="zh-CN" altLang="en-US" sz="2200" dirty="0"/>
          </a:p>
        </p:txBody>
      </p:sp>
      <p:sp>
        <p:nvSpPr>
          <p:cNvPr id="10" name="流程图: 可选过程 49180"/>
          <p:cNvSpPr/>
          <p:nvPr/>
        </p:nvSpPr>
        <p:spPr>
          <a:xfrm>
            <a:off x="399973" y="3451783"/>
            <a:ext cx="2402360" cy="476405"/>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Font typeface="Wingdings" panose="05000000000000000000" pitchFamily="2" charset="2"/>
              <a:buChar char="n"/>
            </a:pPr>
            <a:r>
              <a:rPr lang="zh-CN" altLang="en-US" sz="2200" dirty="0">
                <a:solidFill>
                  <a:srgbClr val="0033CC"/>
                </a:solidFill>
              </a:rPr>
              <a:t>非平凡多值依赖</a:t>
            </a:r>
            <a:endParaRPr lang="zh-CN" altLang="en-US" sz="2200" dirty="0">
              <a:solidFill>
                <a:srgbClr val="0033CC"/>
              </a:solidFill>
            </a:endParaRPr>
          </a:p>
        </p:txBody>
      </p:sp>
      <p:sp>
        <p:nvSpPr>
          <p:cNvPr id="12" name="Text Box 3"/>
          <p:cNvSpPr txBox="1"/>
          <p:nvPr/>
        </p:nvSpPr>
        <p:spPr>
          <a:xfrm>
            <a:off x="657225" y="3911600"/>
            <a:ext cx="8247380" cy="351790"/>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10"/>
              </a:spcBef>
              <a:spcAft>
                <a:spcPts val="0"/>
              </a:spcAft>
              <a:buClrTx/>
              <a:buSzTx/>
              <a:buNone/>
            </a:pPr>
            <a:r>
              <a:rPr lang="zh-CN" altLang="en-US" sz="2200" dirty="0"/>
              <a:t>如果多值依赖</a:t>
            </a:r>
            <a:r>
              <a:rPr lang="zh-CN" altLang="en-US" sz="2200" dirty="0">
                <a:sym typeface="+mn-ea"/>
              </a:rPr>
              <a:t>X→→Y不满足平凡多值依赖条件，</a:t>
            </a:r>
            <a:r>
              <a:rPr lang="zh-CN" altLang="en-US" sz="2200" dirty="0">
                <a:sym typeface="+mn-ea"/>
              </a:rPr>
              <a:t>即：</a:t>
            </a:r>
            <a:endParaRPr lang="zh-CN" altLang="en-US" sz="2200" dirty="0">
              <a:sym typeface="+mn-ea"/>
            </a:endParaRPr>
          </a:p>
          <a:p>
            <a:pPr marL="0" lvl="0" indent="0" eaLnBrk="1" hangingPunct="1">
              <a:lnSpc>
                <a:spcPct val="110000"/>
              </a:lnSpc>
              <a:spcBef>
                <a:spcPts val="10"/>
              </a:spcBef>
              <a:spcAft>
                <a:spcPts val="0"/>
              </a:spcAft>
              <a:buClrTx/>
              <a:buSzTx/>
              <a:buNone/>
            </a:pPr>
            <a:r>
              <a:rPr lang="en-US" altLang="zh-CN" sz="2200" dirty="0">
                <a:sym typeface="+mn-ea"/>
              </a:rPr>
              <a:t> 1.          </a:t>
            </a:r>
            <a:r>
              <a:rPr lang="zh-CN" altLang="en-US" sz="2200" dirty="0">
                <a:sym typeface="+mn-ea"/>
              </a:rPr>
              <a:t>（依赖集</a:t>
            </a:r>
            <a:r>
              <a:rPr lang="en-US" altLang="zh-CN" sz="2200" dirty="0">
                <a:sym typeface="+mn-ea"/>
              </a:rPr>
              <a:t>Y</a:t>
            </a:r>
            <a:r>
              <a:rPr lang="zh-CN" altLang="en-US" sz="2200" dirty="0">
                <a:sym typeface="+mn-ea"/>
              </a:rPr>
              <a:t>不是</a:t>
            </a:r>
            <a:r>
              <a:rPr lang="en-US" altLang="zh-CN" sz="2200" dirty="0">
                <a:sym typeface="+mn-ea"/>
              </a:rPr>
              <a:t>X</a:t>
            </a:r>
            <a:r>
              <a:rPr lang="zh-CN" altLang="en-US" sz="2200" dirty="0">
                <a:sym typeface="+mn-ea"/>
              </a:rPr>
              <a:t>的子集）</a:t>
            </a:r>
            <a:endParaRPr lang="en-US" altLang="zh-CN" sz="2200" dirty="0">
              <a:sym typeface="+mn-ea"/>
            </a:endParaRPr>
          </a:p>
          <a:p>
            <a:pPr marL="0" lvl="0" indent="0" eaLnBrk="1" hangingPunct="1">
              <a:lnSpc>
                <a:spcPct val="110000"/>
              </a:lnSpc>
              <a:spcBef>
                <a:spcPts val="10"/>
              </a:spcBef>
              <a:spcAft>
                <a:spcPts val="0"/>
              </a:spcAft>
              <a:buClrTx/>
              <a:buSzTx/>
              <a:buNone/>
            </a:pPr>
            <a:r>
              <a:rPr lang="en-US" altLang="zh-CN" sz="2200" dirty="0">
                <a:sym typeface="+mn-ea"/>
              </a:rPr>
              <a:t> 2.                </a:t>
            </a:r>
            <a:r>
              <a:rPr lang="zh-CN" altLang="en-US" sz="2200" dirty="0">
                <a:sym typeface="+mn-ea"/>
              </a:rPr>
              <a:t>（</a:t>
            </a:r>
            <a:r>
              <a:rPr lang="zh-CN" altLang="en-US" sz="2200" dirty="0">
                <a:sym typeface="+mn-ea"/>
              </a:rPr>
              <a:t>依赖集</a:t>
            </a:r>
            <a:r>
              <a:rPr lang="en-US" altLang="zh-CN" sz="2200" dirty="0">
                <a:sym typeface="+mn-ea"/>
              </a:rPr>
              <a:t>Y</a:t>
            </a:r>
            <a:r>
              <a:rPr lang="zh-CN" altLang="en-US" sz="2200" dirty="0">
                <a:sym typeface="+mn-ea"/>
              </a:rPr>
              <a:t>不是</a:t>
            </a:r>
            <a:r>
              <a:rPr lang="en-US" altLang="zh-CN" sz="2200" dirty="0">
                <a:sym typeface="+mn-ea"/>
              </a:rPr>
              <a:t>X</a:t>
            </a:r>
            <a:r>
              <a:rPr lang="zh-CN" altLang="en-US" sz="2200" dirty="0">
                <a:sym typeface="+mn-ea"/>
              </a:rPr>
              <a:t>的并集不等于整个关系的所有属性）</a:t>
            </a:r>
            <a:endParaRPr lang="zh-CN" altLang="en-US" sz="2200" dirty="0">
              <a:sym typeface="+mn-ea"/>
            </a:endParaRPr>
          </a:p>
          <a:p>
            <a:pPr marL="0" lvl="0" indent="0" eaLnBrk="1" hangingPunct="1">
              <a:lnSpc>
                <a:spcPct val="100000"/>
              </a:lnSpc>
              <a:spcBef>
                <a:spcPts val="10"/>
              </a:spcBef>
              <a:spcAft>
                <a:spcPts val="0"/>
              </a:spcAft>
              <a:buClrTx/>
              <a:buSzTx/>
              <a:buNone/>
            </a:pPr>
            <a:endParaRPr lang="zh-CN" altLang="en-US" sz="2200" dirty="0">
              <a:sym typeface="+mn-ea"/>
            </a:endParaRPr>
          </a:p>
        </p:txBody>
      </p:sp>
      <p:graphicFrame>
        <p:nvGraphicFramePr>
          <p:cNvPr id="13" name="对象 2">
            <a:hlinkClick r:id="" action="ppaction://ole?verb="/>
          </p:cNvPr>
          <p:cNvGraphicFramePr>
            <a:graphicFrameLocks noChangeAspect="1"/>
          </p:cNvGraphicFramePr>
          <p:nvPr/>
        </p:nvGraphicFramePr>
        <p:xfrm>
          <a:off x="1137762" y="4408965"/>
          <a:ext cx="572770" cy="313055"/>
        </p:xfrm>
        <a:graphic>
          <a:graphicData uri="http://schemas.openxmlformats.org/presentationml/2006/ole">
            <mc:AlternateContent xmlns:mc="http://schemas.openxmlformats.org/markup-compatibility/2006">
              <mc:Choice xmlns:v="urn:schemas-microsoft-com:vml" Requires="v">
                <p:oleObj spid="_x0000_s14" name="" r:id="rId5" imgW="457200" imgH="177165" progId="Equation.KSEE3">
                  <p:embed/>
                </p:oleObj>
              </mc:Choice>
              <mc:Fallback>
                <p:oleObj name="" r:id="rId5" imgW="457200" imgH="177165" progId="Equation.KSEE3">
                  <p:embed/>
                  <p:pic>
                    <p:nvPicPr>
                      <p:cNvPr id="0" name="图片 3077"/>
                      <p:cNvPicPr/>
                      <p:nvPr/>
                    </p:nvPicPr>
                    <p:blipFill>
                      <a:blip r:embed="rId6"/>
                      <a:stretch>
                        <a:fillRect/>
                      </a:stretch>
                    </p:blipFill>
                    <p:spPr>
                      <a:xfrm>
                        <a:off x="1137762" y="4408965"/>
                        <a:ext cx="572770" cy="313055"/>
                      </a:xfrm>
                      <a:prstGeom prst="rect">
                        <a:avLst/>
                      </a:prstGeom>
                      <a:noFill/>
                      <a:ln w="38100">
                        <a:noFill/>
                        <a:miter/>
                      </a:ln>
                    </p:spPr>
                  </p:pic>
                </p:oleObj>
              </mc:Fallback>
            </mc:AlternateContent>
          </a:graphicData>
        </a:graphic>
      </p:graphicFrame>
      <p:graphicFrame>
        <p:nvGraphicFramePr>
          <p:cNvPr id="15" name="对象 2">
            <a:hlinkClick r:id="" action="ppaction://ole?verb="/>
          </p:cNvPr>
          <p:cNvGraphicFramePr>
            <a:graphicFrameLocks noChangeAspect="1"/>
          </p:cNvGraphicFramePr>
          <p:nvPr/>
        </p:nvGraphicFramePr>
        <p:xfrm>
          <a:off x="1137920" y="4721860"/>
          <a:ext cx="1221740" cy="448945"/>
        </p:xfrm>
        <a:graphic>
          <a:graphicData uri="http://schemas.openxmlformats.org/presentationml/2006/ole">
            <mc:AlternateContent xmlns:mc="http://schemas.openxmlformats.org/markup-compatibility/2006">
              <mc:Choice xmlns:v="urn:schemas-microsoft-com:vml" Requires="v">
                <p:oleObj spid="_x0000_s16" name="" r:id="rId7" imgW="698500" imgH="254000" progId="Equation.KSEE3">
                  <p:embed/>
                </p:oleObj>
              </mc:Choice>
              <mc:Fallback>
                <p:oleObj name="" r:id="rId7" imgW="698500" imgH="254000" progId="Equation.KSEE3">
                  <p:embed/>
                  <p:pic>
                    <p:nvPicPr>
                      <p:cNvPr id="0" name="图片 3077"/>
                      <p:cNvPicPr/>
                      <p:nvPr/>
                    </p:nvPicPr>
                    <p:blipFill>
                      <a:blip r:embed="rId8"/>
                      <a:stretch>
                        <a:fillRect/>
                      </a:stretch>
                    </p:blipFill>
                    <p:spPr>
                      <a:xfrm>
                        <a:off x="1137920" y="4721860"/>
                        <a:ext cx="1221740" cy="448945"/>
                      </a:xfrm>
                      <a:prstGeom prst="rect">
                        <a:avLst/>
                      </a:prstGeom>
                      <a:noFill/>
                      <a:ln w="38100">
                        <a:noFill/>
                        <a:miter/>
                      </a:ln>
                    </p:spPr>
                  </p:pic>
                </p:oleObj>
              </mc:Fallback>
            </mc:AlternateContent>
          </a:graphicData>
        </a:graphic>
      </p:graphicFrame>
      <p:sp>
        <p:nvSpPr>
          <p:cNvPr id="17" name="Text Box 3"/>
          <p:cNvSpPr txBox="1"/>
          <p:nvPr/>
        </p:nvSpPr>
        <p:spPr>
          <a:xfrm>
            <a:off x="614045" y="5161280"/>
            <a:ext cx="7977505" cy="351790"/>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00000"/>
              </a:lnSpc>
              <a:spcBef>
                <a:spcPts val="10"/>
              </a:spcBef>
              <a:spcAft>
                <a:spcPts val="0"/>
              </a:spcAft>
              <a:buClrTx/>
              <a:buSzTx/>
              <a:buNone/>
            </a:pPr>
            <a:r>
              <a:rPr lang="zh-CN" altLang="en-US" sz="2200" dirty="0"/>
              <a:t>特性：</a:t>
            </a:r>
            <a:r>
              <a:rPr lang="zh-CN" altLang="en-US" sz="2200" dirty="0">
                <a:sym typeface="+mn-ea"/>
              </a:rPr>
              <a:t>非平凡多值依赖可能导致数据冗余</a:t>
            </a:r>
            <a:endParaRPr lang="zh-CN" altLang="en-US" sz="2200" dirty="0">
              <a:sym typeface="+mn-ea"/>
            </a:endParaRPr>
          </a:p>
          <a:p>
            <a:pPr marL="0" lvl="0" indent="0" eaLnBrk="1" hangingPunct="1">
              <a:lnSpc>
                <a:spcPct val="100000"/>
              </a:lnSpc>
              <a:spcBef>
                <a:spcPts val="10"/>
              </a:spcBef>
              <a:spcAft>
                <a:spcPts val="0"/>
              </a:spcAft>
              <a:buClrTx/>
              <a:buSzTx/>
              <a:buNone/>
            </a:pPr>
            <a:r>
              <a:rPr lang="zh-CN" altLang="en-US" sz="2200" dirty="0">
                <a:sym typeface="+mn-ea"/>
              </a:rPr>
              <a:t> </a:t>
            </a:r>
            <a:r>
              <a:rPr lang="en-US" altLang="zh-CN" sz="2200" dirty="0">
                <a:sym typeface="+mn-ea"/>
              </a:rPr>
              <a:t>           </a:t>
            </a:r>
            <a:r>
              <a:rPr lang="zh-CN" altLang="en-US" sz="2200" dirty="0">
                <a:sym typeface="+mn-ea"/>
              </a:rPr>
              <a:t>通常需要分解关系以消除冗余</a:t>
            </a:r>
            <a:r>
              <a:rPr lang="en-US" altLang="zh-CN" sz="2200" dirty="0"/>
              <a:t>   </a:t>
            </a:r>
            <a:endParaRPr lang="zh-CN" altLang="en-US" sz="2200"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p:nvPr/>
        </p:nvSpPr>
        <p:spPr>
          <a:xfrm>
            <a:off x="450850" y="855663"/>
            <a:ext cx="44831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5</a:t>
            </a:r>
            <a:r>
              <a:rPr lang="zh-CN" altLang="en-US" sz="2800" dirty="0">
                <a:solidFill>
                  <a:srgbClr val="FF3300"/>
                </a:solidFill>
                <a:latin typeface="黑体" panose="02010609060101010101" pitchFamily="49" charset="-122"/>
                <a:ea typeface="黑体" panose="02010609060101010101" pitchFamily="49" charset="-122"/>
              </a:rPr>
              <a:t>、多值依赖与第四范式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59396" name="Text Box 4"/>
          <p:cNvSpPr txBox="1"/>
          <p:nvPr/>
        </p:nvSpPr>
        <p:spPr>
          <a:xfrm>
            <a:off x="357188" y="1386840"/>
            <a:ext cx="8461375" cy="20300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5000"/>
              </a:spcBef>
              <a:buClrTx/>
              <a:buSzTx/>
              <a:buNone/>
            </a:pPr>
            <a:r>
              <a:rPr lang="zh-CN" altLang="en-US" dirty="0">
                <a:solidFill>
                  <a:srgbClr val="FF0000"/>
                </a:solidFill>
                <a:latin typeface="宋体" panose="02010600030101010101" pitchFamily="2" charset="-122"/>
              </a:rPr>
              <a:t>    </a:t>
            </a:r>
            <a:r>
              <a:rPr lang="zh-CN" altLang="en-US" sz="2200" u="sng" dirty="0">
                <a:solidFill>
                  <a:srgbClr val="FF0000"/>
                </a:solidFill>
                <a:latin typeface="宋体" panose="02010600030101010101" pitchFamily="2" charset="-122"/>
              </a:rPr>
              <a:t>定义：</a:t>
            </a:r>
            <a:r>
              <a:rPr lang="zh-CN" altLang="en-US" sz="2200" u="sng" dirty="0">
                <a:solidFill>
                  <a:srgbClr val="FF3300"/>
                </a:solidFill>
                <a:latin typeface="宋体" panose="02010600030101010101" pitchFamily="2" charset="-122"/>
              </a:rPr>
              <a:t>满足</a:t>
            </a:r>
            <a:r>
              <a:rPr lang="en-US" altLang="zh-CN" sz="2200" u="sng" dirty="0">
                <a:solidFill>
                  <a:srgbClr val="FF3300"/>
                </a:solidFill>
                <a:latin typeface="宋体" panose="02010600030101010101" pitchFamily="2" charset="-122"/>
              </a:rPr>
              <a:t>BCNF</a:t>
            </a:r>
            <a:r>
              <a:rPr lang="zh-CN" altLang="en-US" sz="2200" u="sng" dirty="0">
                <a:solidFill>
                  <a:srgbClr val="FF3300"/>
                </a:solidFill>
                <a:latin typeface="宋体" panose="02010600030101010101" pitchFamily="2" charset="-122"/>
              </a:rPr>
              <a:t>范式并且不包含非平凡多值依赖的关系即为第四范式关系</a:t>
            </a:r>
            <a:r>
              <a:rPr lang="zh-CN" altLang="en-US" sz="2200" u="sng" dirty="0">
                <a:solidFill>
                  <a:srgbClr val="FF3300"/>
                </a:solidFill>
              </a:rPr>
              <a:t> </a:t>
            </a:r>
            <a:r>
              <a:rPr lang="zh-CN" altLang="en-US" sz="2200" u="sng" dirty="0">
                <a:solidFill>
                  <a:srgbClr val="FF3300"/>
                </a:solidFill>
                <a:latin typeface="宋体" panose="02010600030101010101" pitchFamily="2" charset="-122"/>
              </a:rPr>
              <a:t>。</a:t>
            </a:r>
            <a:endParaRPr lang="zh-CN" altLang="zh-CN" u="sng" dirty="0">
              <a:solidFill>
                <a:srgbClr val="0033CC"/>
              </a:solidFill>
              <a:latin typeface="宋体" panose="02010600030101010101" pitchFamily="2" charset="-122"/>
            </a:endParaRPr>
          </a:p>
          <a:p>
            <a:pPr marL="0" lvl="0" indent="0" eaLnBrk="1" hangingPunct="1">
              <a:lnSpc>
                <a:spcPct val="125000"/>
              </a:lnSpc>
              <a:spcBef>
                <a:spcPct val="5000"/>
              </a:spcBef>
              <a:buClrTx/>
              <a:buSzTx/>
              <a:buNone/>
            </a:pPr>
            <a:r>
              <a:rPr lang="zh-CN" altLang="en-US" dirty="0">
                <a:solidFill>
                  <a:srgbClr val="FF3300"/>
                </a:solidFill>
                <a:latin typeface="宋体" panose="02010600030101010101" pitchFamily="2" charset="-122"/>
              </a:rPr>
              <a:t>    </a:t>
            </a:r>
            <a:r>
              <a:rPr lang="zh-CN" altLang="en-US" dirty="0">
                <a:latin typeface="宋体" panose="02010600030101010101" pitchFamily="2" charset="-122"/>
              </a:rPr>
              <a:t>第四范式关系防止关系中存在非平凡多值依赖和由于</a:t>
            </a:r>
            <a:r>
              <a:rPr lang="zh-CN" altLang="en-US" sz="1800" dirty="0"/>
              <a:t>非平凡多值依赖引起的数据冗余。将</a:t>
            </a:r>
            <a:r>
              <a:rPr lang="en-US" altLang="zh-CN" sz="1800" dirty="0"/>
              <a:t>BCNF</a:t>
            </a:r>
            <a:r>
              <a:rPr lang="zh-CN" altLang="en-US" sz="1800" dirty="0"/>
              <a:t>规范化为第四范式需要消除关系中的多值依赖，这可以通过将多值依赖属性和决定因子的副本移到新的关系中来实现。</a:t>
            </a:r>
            <a:endParaRPr lang="zh-CN" altLang="en-US" sz="1800" dirty="0"/>
          </a:p>
        </p:txBody>
      </p:sp>
      <p:graphicFrame>
        <p:nvGraphicFramePr>
          <p:cNvPr id="48133" name="表格 48132"/>
          <p:cNvGraphicFramePr/>
          <p:nvPr/>
        </p:nvGraphicFramePr>
        <p:xfrm>
          <a:off x="1193800" y="3900170"/>
          <a:ext cx="2732088" cy="1104900"/>
        </p:xfrm>
        <a:graphic>
          <a:graphicData uri="http://schemas.openxmlformats.org/drawingml/2006/table">
            <a:tbl>
              <a:tblPr/>
              <a:tblGrid>
                <a:gridCol w="1323975"/>
                <a:gridCol w="1408113"/>
              </a:tblGrid>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storeNo</a:t>
                      </a:r>
                      <a:endParaRPr lang="en-US" altLang="x-none" dirty="0"/>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sName</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S002</a:t>
                      </a:r>
                      <a:endParaRPr lang="en-US" altLang="x-none" dirty="0"/>
                    </a:p>
                  </a:txBody>
                  <a:tcPr marL="18000" marR="18000" marT="46816" marB="468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张强</a:t>
                      </a:r>
                      <a:endParaRPr lang="zh-CN" altLang="en-US"/>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S002</a:t>
                      </a:r>
                      <a:endParaRPr lang="en-US" altLang="x-none" dirty="0"/>
                    </a:p>
                  </a:txBody>
                  <a:tcPr marL="18000" marR="18000" marT="46816" marB="468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李清</a:t>
                      </a:r>
                      <a:endParaRPr lang="zh-CN" altLang="en-US"/>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48148" name="表格 48147"/>
          <p:cNvGraphicFramePr/>
          <p:nvPr/>
        </p:nvGraphicFramePr>
        <p:xfrm>
          <a:off x="5054600" y="3922395"/>
          <a:ext cx="2630488" cy="1104900"/>
        </p:xfrm>
        <a:graphic>
          <a:graphicData uri="http://schemas.openxmlformats.org/drawingml/2006/table">
            <a:tbl>
              <a:tblPr/>
              <a:tblGrid>
                <a:gridCol w="1323975"/>
                <a:gridCol w="1306513"/>
              </a:tblGrid>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storeNo</a:t>
                      </a:r>
                      <a:endParaRPr lang="en-US" altLang="x-none" dirty="0"/>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cName</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S002</a:t>
                      </a:r>
                      <a:endParaRPr lang="en-US" altLang="x-none" dirty="0"/>
                    </a:p>
                  </a:txBody>
                  <a:tcPr marL="18000" marR="18000" marT="46816" marB="468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王萍</a:t>
                      </a:r>
                      <a:endParaRPr lang="zh-CN" altLang="en-US"/>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S002</a:t>
                      </a:r>
                      <a:endParaRPr lang="en-US" altLang="x-none" dirty="0"/>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钱景</a:t>
                      </a:r>
                      <a:endParaRPr lang="zh-CN" altLang="en-US"/>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59428" name="Rectangle 44"/>
          <p:cNvSpPr/>
          <p:nvPr/>
        </p:nvSpPr>
        <p:spPr>
          <a:xfrm>
            <a:off x="1095375" y="3446145"/>
            <a:ext cx="2909888" cy="463550"/>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en-US" altLang="zh-CN" sz="1800" dirty="0">
                <a:solidFill>
                  <a:srgbClr val="0033CC"/>
                </a:solidFill>
              </a:rPr>
              <a:t>StoreStuff</a:t>
            </a:r>
            <a:endParaRPr lang="en-US" altLang="zh-CN" sz="1800" dirty="0">
              <a:solidFill>
                <a:srgbClr val="0033CC"/>
              </a:solidFill>
            </a:endParaRPr>
          </a:p>
        </p:txBody>
      </p:sp>
      <p:sp>
        <p:nvSpPr>
          <p:cNvPr id="59429" name="Rectangle 45"/>
          <p:cNvSpPr/>
          <p:nvPr/>
        </p:nvSpPr>
        <p:spPr>
          <a:xfrm>
            <a:off x="4918075" y="3462020"/>
            <a:ext cx="2909888" cy="463550"/>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en-US" altLang="zh-CN" sz="1800" dirty="0">
                <a:solidFill>
                  <a:srgbClr val="0033CC"/>
                </a:solidFill>
              </a:rPr>
              <a:t>StoreCustomer</a:t>
            </a:r>
            <a:endParaRPr lang="en-US" altLang="zh-CN" sz="1800" dirty="0">
              <a:solidFill>
                <a:srgbClr val="0033CC"/>
              </a:solidFill>
            </a:endParaRPr>
          </a:p>
        </p:txBody>
      </p:sp>
      <p:sp>
        <p:nvSpPr>
          <p:cNvPr id="59430"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p:nvPr/>
        </p:nvSpPr>
        <p:spPr>
          <a:xfrm>
            <a:off x="498475" y="790575"/>
            <a:ext cx="4924425"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6</a:t>
            </a:r>
            <a:r>
              <a:rPr lang="zh-CN" altLang="en-US" sz="2800" dirty="0">
                <a:solidFill>
                  <a:srgbClr val="FF3300"/>
                </a:solidFill>
                <a:latin typeface="黑体" panose="02010609060101010101" pitchFamily="49" charset="-122"/>
                <a:ea typeface="黑体" panose="02010609060101010101" pitchFamily="49" charset="-122"/>
              </a:rPr>
              <a:t>、连接依赖与第五范式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60419" name="Rectangle 2"/>
          <p:cNvSpPr/>
          <p:nvPr/>
        </p:nvSpPr>
        <p:spPr>
          <a:xfrm>
            <a:off x="457200"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60420" name="流程图: 可选过程 49155"/>
          <p:cNvSpPr/>
          <p:nvPr/>
        </p:nvSpPr>
        <p:spPr>
          <a:xfrm>
            <a:off x="3597275" y="3214688"/>
            <a:ext cx="728663" cy="427037"/>
          </a:xfrm>
          <a:prstGeom prst="flowChartAlternateProcess">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10000"/>
              </a:lnSpc>
              <a:spcBef>
                <a:spcPct val="0"/>
              </a:spcBef>
              <a:buClrTx/>
              <a:buSzTx/>
              <a:buFont typeface="Arial" panose="020B0604020202020204" pitchFamily="34" charset="0"/>
              <a:buNone/>
            </a:pPr>
            <a:r>
              <a:rPr lang="zh-CN" altLang="en-US" sz="1800" dirty="0"/>
              <a:t>S</a:t>
            </a:r>
            <a:endParaRPr lang="zh-CN" altLang="en-US" sz="1800" dirty="0"/>
          </a:p>
        </p:txBody>
      </p:sp>
      <p:sp>
        <p:nvSpPr>
          <p:cNvPr id="60421" name="流程图: 联系 49156"/>
          <p:cNvSpPr/>
          <p:nvPr/>
        </p:nvSpPr>
        <p:spPr>
          <a:xfrm>
            <a:off x="2187575" y="3147122"/>
            <a:ext cx="974725" cy="592967"/>
          </a:xfrm>
          <a:prstGeom prst="flowChartConnector">
            <a:avLst/>
          </a:prstGeom>
          <a:solidFill>
            <a:schemeClr val="accent1"/>
          </a:solidFill>
          <a:ln w="9525" cap="flat" cmpd="sng">
            <a:solidFill>
              <a:schemeClr val="tx1"/>
            </a:solidFill>
            <a:prstDash val="solid"/>
            <a:headEnd type="none" w="med" len="med"/>
            <a:tailEnd type="none" w="med" len="med"/>
          </a:ln>
          <a:effectLst>
            <a:prstShdw prst="shdw17" dist="17961" dir="2699999">
              <a:srgbClr val="000000"/>
            </a:prstShdw>
          </a:effectLst>
        </p:spPr>
        <p:txBody>
          <a:bodyPr wrap="squar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10000"/>
              </a:lnSpc>
              <a:spcBef>
                <a:spcPct val="0"/>
              </a:spcBef>
              <a:buClrTx/>
              <a:buSzTx/>
              <a:buFont typeface="Arial" panose="020B0604020202020204" pitchFamily="34" charset="0"/>
              <a:buNone/>
            </a:pPr>
            <a:r>
              <a:rPr lang="zh-CN" altLang="en-US" sz="1800" dirty="0"/>
              <a:t>Sno</a:t>
            </a:r>
            <a:endParaRPr lang="zh-CN" altLang="en-US" sz="1800" dirty="0"/>
          </a:p>
        </p:txBody>
      </p:sp>
      <p:sp>
        <p:nvSpPr>
          <p:cNvPr id="60422" name="直接连接符 49157"/>
          <p:cNvSpPr/>
          <p:nvPr/>
        </p:nvSpPr>
        <p:spPr>
          <a:xfrm flipV="1">
            <a:off x="3146425" y="3449638"/>
            <a:ext cx="454025" cy="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23" name="流程图: 可选过程 49158"/>
          <p:cNvSpPr/>
          <p:nvPr/>
        </p:nvSpPr>
        <p:spPr>
          <a:xfrm>
            <a:off x="5006975" y="1528763"/>
            <a:ext cx="801688" cy="427037"/>
          </a:xfrm>
          <a:prstGeom prst="flowChartAlternateProcess">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10000"/>
              </a:lnSpc>
              <a:spcBef>
                <a:spcPct val="0"/>
              </a:spcBef>
              <a:buClrTx/>
              <a:buSzTx/>
              <a:buFont typeface="Arial" panose="020B0604020202020204" pitchFamily="34" charset="0"/>
              <a:buNone/>
            </a:pPr>
            <a:r>
              <a:rPr lang="zh-CN" altLang="en-US" sz="1800" dirty="0"/>
              <a:t>P</a:t>
            </a:r>
            <a:endParaRPr lang="zh-CN" altLang="en-US" sz="1800" dirty="0"/>
          </a:p>
        </p:txBody>
      </p:sp>
      <p:sp>
        <p:nvSpPr>
          <p:cNvPr id="60424" name="流程图: 可选过程 49159"/>
          <p:cNvSpPr/>
          <p:nvPr/>
        </p:nvSpPr>
        <p:spPr>
          <a:xfrm>
            <a:off x="6962775" y="3162300"/>
            <a:ext cx="806450" cy="422275"/>
          </a:xfrm>
          <a:prstGeom prst="flowChartAlternateProcess">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10000"/>
              </a:lnSpc>
              <a:spcBef>
                <a:spcPct val="0"/>
              </a:spcBef>
              <a:buClrTx/>
              <a:buSzTx/>
              <a:buFont typeface="Arial" panose="020B0604020202020204" pitchFamily="34" charset="0"/>
              <a:buNone/>
            </a:pPr>
            <a:r>
              <a:rPr lang="zh-CN" altLang="en-US" sz="1800" dirty="0"/>
              <a:t>D</a:t>
            </a:r>
            <a:endParaRPr lang="zh-CN" altLang="en-US" sz="1800" dirty="0"/>
          </a:p>
        </p:txBody>
      </p:sp>
      <p:sp>
        <p:nvSpPr>
          <p:cNvPr id="60425" name="流程图: 联系 49160"/>
          <p:cNvSpPr/>
          <p:nvPr/>
        </p:nvSpPr>
        <p:spPr>
          <a:xfrm>
            <a:off x="8231505" y="3147060"/>
            <a:ext cx="741045" cy="494665"/>
          </a:xfrm>
          <a:prstGeom prst="flowChartConnector">
            <a:avLst/>
          </a:prstGeom>
          <a:solidFill>
            <a:schemeClr val="accent1"/>
          </a:solidFill>
          <a:ln w="9525" cap="flat" cmpd="sng">
            <a:solidFill>
              <a:schemeClr val="tx1"/>
            </a:solidFill>
            <a:prstDash val="solid"/>
            <a:headEnd type="none" w="med" len="med"/>
            <a:tailEnd type="none" w="med" len="med"/>
          </a:ln>
          <a:effectLst>
            <a:prstShdw prst="shdw17" dist="17961" dir="2699999">
              <a:srgbClr val="000000"/>
            </a:prstShdw>
          </a:effectLst>
        </p:spPr>
        <p:txBody>
          <a:bodyPr lIns="36195" tIns="46990" rIns="36195" bIns="46990" anchor="ctr" anchorCtr="0">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10000"/>
              </a:lnSpc>
              <a:spcBef>
                <a:spcPct val="0"/>
              </a:spcBef>
              <a:buClrTx/>
              <a:buSzTx/>
              <a:buFont typeface="Arial" panose="020B0604020202020204" pitchFamily="34" charset="0"/>
              <a:buNone/>
            </a:pPr>
            <a:r>
              <a:rPr lang="zh-CN" altLang="en-US" sz="1800" dirty="0"/>
              <a:t>Dno</a:t>
            </a:r>
            <a:endParaRPr lang="zh-CN" altLang="en-US" sz="1800" dirty="0"/>
          </a:p>
        </p:txBody>
      </p:sp>
      <p:sp>
        <p:nvSpPr>
          <p:cNvPr id="60426" name="直接连接符 49161"/>
          <p:cNvSpPr/>
          <p:nvPr/>
        </p:nvSpPr>
        <p:spPr>
          <a:xfrm flipV="1">
            <a:off x="5816600" y="1763713"/>
            <a:ext cx="452438" cy="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27" name="流程图: 联系 49162"/>
          <p:cNvSpPr/>
          <p:nvPr/>
        </p:nvSpPr>
        <p:spPr>
          <a:xfrm>
            <a:off x="6247130" y="1473840"/>
            <a:ext cx="936625" cy="556251"/>
          </a:xfrm>
          <a:prstGeom prst="flowChartConnector">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squar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10000"/>
              </a:lnSpc>
              <a:spcBef>
                <a:spcPct val="0"/>
              </a:spcBef>
              <a:buClrTx/>
              <a:buSzTx/>
              <a:buFont typeface="Arial" panose="020B0604020202020204" pitchFamily="34" charset="0"/>
              <a:buNone/>
            </a:pPr>
            <a:r>
              <a:rPr lang="zh-CN" altLang="en-US" sz="1800" dirty="0"/>
              <a:t>Pno</a:t>
            </a:r>
            <a:endParaRPr lang="zh-CN" altLang="en-US" sz="1800" dirty="0"/>
          </a:p>
        </p:txBody>
      </p:sp>
      <p:sp>
        <p:nvSpPr>
          <p:cNvPr id="60428" name="直接连接符 49163"/>
          <p:cNvSpPr/>
          <p:nvPr/>
        </p:nvSpPr>
        <p:spPr>
          <a:xfrm flipV="1">
            <a:off x="7756525" y="3346450"/>
            <a:ext cx="454025" cy="1588"/>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0429" name="菱形 49164"/>
          <p:cNvSpPr/>
          <p:nvPr/>
        </p:nvSpPr>
        <p:spPr>
          <a:xfrm rot="-1380000">
            <a:off x="4153535" y="2308225"/>
            <a:ext cx="841375" cy="682625"/>
          </a:xfrm>
          <a:prstGeom prst="diamond">
            <a:avLst/>
          </a:prstGeom>
          <a:solidFill>
            <a:schemeClr val="bg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square" lIns="36195" tIns="28575" rIns="36195" bIns="25400" anchor="ctr" anchorCtr="0">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5000"/>
              </a:lnSpc>
              <a:spcBef>
                <a:spcPct val="0"/>
              </a:spcBef>
              <a:buClrTx/>
              <a:buSzTx/>
              <a:buFont typeface="Arial" panose="020B0604020202020204" pitchFamily="34" charset="0"/>
              <a:buNone/>
            </a:pPr>
            <a:r>
              <a:rPr lang="zh-CN" altLang="en-US" sz="1800" dirty="0"/>
              <a:t>SP</a:t>
            </a:r>
            <a:endParaRPr lang="zh-CN" altLang="en-US" sz="1800" dirty="0"/>
          </a:p>
        </p:txBody>
      </p:sp>
      <p:sp>
        <p:nvSpPr>
          <p:cNvPr id="60430" name="菱形 49165"/>
          <p:cNvSpPr/>
          <p:nvPr/>
        </p:nvSpPr>
        <p:spPr>
          <a:xfrm rot="1260000">
            <a:off x="6324600" y="2133124"/>
            <a:ext cx="803275" cy="688340"/>
          </a:xfrm>
          <a:prstGeom prst="diamond">
            <a:avLst/>
          </a:prstGeom>
          <a:solidFill>
            <a:schemeClr val="bg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lIns="36195" tIns="28575" rIns="0" bIns="2540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5000"/>
              </a:lnSpc>
              <a:spcBef>
                <a:spcPct val="0"/>
              </a:spcBef>
              <a:buClrTx/>
              <a:buSzTx/>
              <a:buFont typeface="Arial" panose="020B0604020202020204" pitchFamily="34" charset="0"/>
              <a:buNone/>
            </a:pPr>
            <a:r>
              <a:rPr lang="zh-CN" altLang="en-US" sz="1800" dirty="0"/>
              <a:t>PD</a:t>
            </a:r>
            <a:endParaRPr lang="zh-CN" altLang="en-US" sz="1800" dirty="0"/>
          </a:p>
        </p:txBody>
      </p:sp>
      <p:sp>
        <p:nvSpPr>
          <p:cNvPr id="60431" name="菱形 49166"/>
          <p:cNvSpPr/>
          <p:nvPr/>
        </p:nvSpPr>
        <p:spPr>
          <a:xfrm>
            <a:off x="5397500" y="3111818"/>
            <a:ext cx="967740" cy="688340"/>
          </a:xfrm>
          <a:prstGeom prst="diamond">
            <a:avLst/>
          </a:prstGeom>
          <a:solidFill>
            <a:schemeClr val="bg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square" lIns="64770" tIns="28575" rIns="64770" bIns="2540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5000"/>
              </a:lnSpc>
              <a:spcBef>
                <a:spcPct val="0"/>
              </a:spcBef>
              <a:buClrTx/>
              <a:buSzTx/>
              <a:buFont typeface="Arial" panose="020B0604020202020204" pitchFamily="34" charset="0"/>
              <a:buNone/>
            </a:pPr>
            <a:r>
              <a:rPr lang="zh-CN" altLang="en-US" sz="1800" dirty="0"/>
              <a:t>SD</a:t>
            </a:r>
            <a:endParaRPr lang="zh-CN" altLang="en-US" sz="1800" dirty="0"/>
          </a:p>
        </p:txBody>
      </p:sp>
      <p:sp>
        <p:nvSpPr>
          <p:cNvPr id="60432" name="直接连接符 49167"/>
          <p:cNvSpPr/>
          <p:nvPr/>
        </p:nvSpPr>
        <p:spPr>
          <a:xfrm flipV="1">
            <a:off x="4332288" y="3451225"/>
            <a:ext cx="1106487" cy="635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33" name="直接连接符 49168"/>
          <p:cNvSpPr/>
          <p:nvPr/>
        </p:nvSpPr>
        <p:spPr>
          <a:xfrm>
            <a:off x="6365875" y="3458210"/>
            <a:ext cx="570230" cy="5715"/>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0434" name="直接连接符 49169"/>
          <p:cNvSpPr/>
          <p:nvPr/>
        </p:nvSpPr>
        <p:spPr>
          <a:xfrm flipV="1">
            <a:off x="3878263" y="2801938"/>
            <a:ext cx="342900" cy="384175"/>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0435" name="直接连接符 49170"/>
          <p:cNvSpPr/>
          <p:nvPr/>
        </p:nvSpPr>
        <p:spPr>
          <a:xfrm flipV="1">
            <a:off x="4935538" y="1941513"/>
            <a:ext cx="450850" cy="555625"/>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36" name="直接连接符 49171"/>
          <p:cNvSpPr/>
          <p:nvPr/>
        </p:nvSpPr>
        <p:spPr>
          <a:xfrm flipH="1" flipV="1">
            <a:off x="5645150" y="1947863"/>
            <a:ext cx="720725" cy="390525"/>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37" name="直接连接符 49172"/>
          <p:cNvSpPr/>
          <p:nvPr/>
        </p:nvSpPr>
        <p:spPr>
          <a:xfrm flipH="1" flipV="1">
            <a:off x="7107238" y="2603500"/>
            <a:ext cx="357187" cy="528638"/>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0438" name="菱形 49173"/>
          <p:cNvSpPr/>
          <p:nvPr/>
        </p:nvSpPr>
        <p:spPr>
          <a:xfrm>
            <a:off x="3500438" y="2555875"/>
            <a:ext cx="803275" cy="628650"/>
          </a:xfrm>
          <a:prstGeom prst="diamond">
            <a:avLst/>
          </a:prstGeom>
          <a:noFill/>
          <a:ln w="9525">
            <a:noFill/>
          </a:ln>
          <a:effectLst>
            <a:prstShdw prst="shdw17" dist="17961" dir="2699999">
              <a:srgbClr val="999999"/>
            </a:prstShdw>
          </a:effectLst>
        </p:spPr>
        <p:txBody>
          <a:bodyPr lIns="64770" tIns="28575" rIns="64770" bIns="2540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5000"/>
              </a:lnSpc>
              <a:spcBef>
                <a:spcPct val="0"/>
              </a:spcBef>
              <a:buClrTx/>
              <a:buSzTx/>
              <a:buFont typeface="Arial" panose="020B0604020202020204" pitchFamily="34" charset="0"/>
              <a:buNone/>
            </a:pPr>
            <a:r>
              <a:rPr lang="zh-CN" altLang="en-US" sz="1800" dirty="0"/>
              <a:t>m</a:t>
            </a:r>
            <a:endParaRPr lang="zh-CN" altLang="en-US" sz="1800" dirty="0"/>
          </a:p>
        </p:txBody>
      </p:sp>
      <p:sp>
        <p:nvSpPr>
          <p:cNvPr id="60439" name="菱形 49174"/>
          <p:cNvSpPr/>
          <p:nvPr/>
        </p:nvSpPr>
        <p:spPr>
          <a:xfrm>
            <a:off x="4552950" y="2960688"/>
            <a:ext cx="803275" cy="628650"/>
          </a:xfrm>
          <a:prstGeom prst="diamond">
            <a:avLst/>
          </a:prstGeom>
          <a:noFill/>
          <a:ln w="9525">
            <a:noFill/>
          </a:ln>
          <a:effectLst>
            <a:prstShdw prst="shdw17" dist="17961" dir="2699999">
              <a:srgbClr val="999999"/>
            </a:prstShdw>
          </a:effectLst>
        </p:spPr>
        <p:txBody>
          <a:bodyPr lIns="64770" tIns="28575" rIns="64770" bIns="2540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5000"/>
              </a:lnSpc>
              <a:spcBef>
                <a:spcPct val="0"/>
              </a:spcBef>
              <a:buClrTx/>
              <a:buSzTx/>
              <a:buFont typeface="Arial" panose="020B0604020202020204" pitchFamily="34" charset="0"/>
              <a:buNone/>
            </a:pPr>
            <a:r>
              <a:rPr lang="zh-CN" altLang="en-US" sz="1800" dirty="0"/>
              <a:t>m</a:t>
            </a:r>
            <a:endParaRPr lang="zh-CN" altLang="en-US" sz="1800" dirty="0"/>
          </a:p>
        </p:txBody>
      </p:sp>
      <p:sp>
        <p:nvSpPr>
          <p:cNvPr id="60440" name="菱形 49175"/>
          <p:cNvSpPr/>
          <p:nvPr/>
        </p:nvSpPr>
        <p:spPr>
          <a:xfrm>
            <a:off x="6175375" y="2992438"/>
            <a:ext cx="803275" cy="628650"/>
          </a:xfrm>
          <a:prstGeom prst="diamond">
            <a:avLst/>
          </a:prstGeom>
          <a:noFill/>
          <a:ln w="9525">
            <a:noFill/>
          </a:ln>
          <a:effectLst>
            <a:prstShdw prst="shdw17" dist="17961" dir="2699999">
              <a:srgbClr val="999999"/>
            </a:prstShdw>
          </a:effectLst>
        </p:spPr>
        <p:txBody>
          <a:bodyPr lIns="64770" tIns="28575" rIns="64770" bIns="2540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5000"/>
              </a:lnSpc>
              <a:spcBef>
                <a:spcPct val="0"/>
              </a:spcBef>
              <a:buClrTx/>
              <a:buSzTx/>
              <a:buFont typeface="Arial" panose="020B0604020202020204" pitchFamily="34" charset="0"/>
              <a:buNone/>
            </a:pPr>
            <a:r>
              <a:rPr lang="zh-CN" altLang="en-US" sz="1800" dirty="0"/>
              <a:t>n</a:t>
            </a:r>
            <a:endParaRPr lang="zh-CN" altLang="en-US" sz="1800" dirty="0"/>
          </a:p>
        </p:txBody>
      </p:sp>
      <p:sp>
        <p:nvSpPr>
          <p:cNvPr id="60441" name="菱形 49176"/>
          <p:cNvSpPr/>
          <p:nvPr/>
        </p:nvSpPr>
        <p:spPr>
          <a:xfrm>
            <a:off x="7137400" y="2603500"/>
            <a:ext cx="803275" cy="628650"/>
          </a:xfrm>
          <a:prstGeom prst="diamond">
            <a:avLst/>
          </a:prstGeom>
          <a:noFill/>
          <a:ln w="9525">
            <a:noFill/>
          </a:ln>
          <a:effectLst>
            <a:prstShdw prst="shdw17" dist="17961" dir="2699999">
              <a:srgbClr val="999999"/>
            </a:prstShdw>
          </a:effectLst>
        </p:spPr>
        <p:txBody>
          <a:bodyPr lIns="64770" tIns="28575" rIns="64770" bIns="2540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5000"/>
              </a:lnSpc>
              <a:spcBef>
                <a:spcPct val="0"/>
              </a:spcBef>
              <a:buClrTx/>
              <a:buSzTx/>
              <a:buFont typeface="Arial" panose="020B0604020202020204" pitchFamily="34" charset="0"/>
              <a:buNone/>
            </a:pPr>
            <a:r>
              <a:rPr lang="zh-CN" altLang="en-US" sz="1800" dirty="0"/>
              <a:t>n</a:t>
            </a:r>
            <a:endParaRPr lang="zh-CN" altLang="en-US" sz="1800" dirty="0"/>
          </a:p>
        </p:txBody>
      </p:sp>
      <p:sp>
        <p:nvSpPr>
          <p:cNvPr id="60442" name="菱形 49177"/>
          <p:cNvSpPr/>
          <p:nvPr/>
        </p:nvSpPr>
        <p:spPr>
          <a:xfrm>
            <a:off x="4533900" y="1935163"/>
            <a:ext cx="803275" cy="628650"/>
          </a:xfrm>
          <a:prstGeom prst="diamond">
            <a:avLst/>
          </a:prstGeom>
          <a:noFill/>
          <a:ln w="9525">
            <a:noFill/>
          </a:ln>
          <a:effectLst>
            <a:prstShdw prst="shdw17" dist="17961" dir="2699999">
              <a:srgbClr val="999999"/>
            </a:prstShdw>
          </a:effectLst>
        </p:spPr>
        <p:txBody>
          <a:bodyPr lIns="64770" tIns="28575" rIns="64770" bIns="2540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5000"/>
              </a:lnSpc>
              <a:spcBef>
                <a:spcPct val="0"/>
              </a:spcBef>
              <a:buClrTx/>
              <a:buSzTx/>
              <a:buFont typeface="Arial" panose="020B0604020202020204" pitchFamily="34" charset="0"/>
              <a:buNone/>
            </a:pPr>
            <a:r>
              <a:rPr lang="zh-CN" altLang="en-US" sz="1800" dirty="0"/>
              <a:t>n</a:t>
            </a:r>
            <a:endParaRPr lang="zh-CN" altLang="en-US" sz="1800" dirty="0"/>
          </a:p>
        </p:txBody>
      </p:sp>
      <p:sp>
        <p:nvSpPr>
          <p:cNvPr id="60443" name="菱形 49178"/>
          <p:cNvSpPr/>
          <p:nvPr/>
        </p:nvSpPr>
        <p:spPr>
          <a:xfrm>
            <a:off x="5567363" y="2019300"/>
            <a:ext cx="803275" cy="628650"/>
          </a:xfrm>
          <a:prstGeom prst="diamond">
            <a:avLst/>
          </a:prstGeom>
          <a:noFill/>
          <a:ln w="9525">
            <a:noFill/>
          </a:ln>
          <a:effectLst>
            <a:prstShdw prst="shdw17" dist="17961" dir="2699999">
              <a:srgbClr val="999999"/>
            </a:prstShdw>
          </a:effectLst>
        </p:spPr>
        <p:txBody>
          <a:bodyPr lIns="64770" tIns="28575" rIns="64770" bIns="2540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5000"/>
              </a:lnSpc>
              <a:spcBef>
                <a:spcPct val="0"/>
              </a:spcBef>
              <a:buClrTx/>
              <a:buSzTx/>
              <a:buFont typeface="Arial" panose="020B0604020202020204" pitchFamily="34" charset="0"/>
              <a:buNone/>
            </a:pPr>
            <a:r>
              <a:rPr lang="zh-CN" altLang="en-US" sz="1800" dirty="0"/>
              <a:t>m</a:t>
            </a:r>
            <a:endParaRPr lang="zh-CN" altLang="en-US" sz="1800" dirty="0"/>
          </a:p>
        </p:txBody>
      </p:sp>
      <p:sp>
        <p:nvSpPr>
          <p:cNvPr id="60444" name="流程图: 联系 49179"/>
          <p:cNvSpPr/>
          <p:nvPr/>
        </p:nvSpPr>
        <p:spPr>
          <a:xfrm>
            <a:off x="3951288" y="1970088"/>
            <a:ext cx="3738562" cy="1808162"/>
          </a:xfrm>
          <a:prstGeom prst="flowChartConnector">
            <a:avLst/>
          </a:prstGeom>
          <a:noFill/>
          <a:ln w="9525" cap="flat" cmpd="sng">
            <a:solidFill>
              <a:srgbClr val="FF0000"/>
            </a:solidFill>
            <a:prstDash val="dash"/>
            <a:headEnd type="none" w="med" len="med"/>
            <a:tailEnd type="none" w="med" len="med"/>
          </a:ln>
          <a:effectLst>
            <a:prstShdw prst="shdw17" dist="17961" dir="2699999">
              <a:srgbClr val="990000"/>
            </a:prstShdw>
          </a:effectLst>
        </p:spPr>
        <p:txBody>
          <a:bodyPr lIns="90170" tIns="46990" rIns="90170" bIns="4699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10000"/>
              </a:lnSpc>
              <a:spcBef>
                <a:spcPct val="0"/>
              </a:spcBef>
              <a:buClrTx/>
              <a:buSzTx/>
              <a:buFont typeface="Arial" panose="020B0604020202020204" pitchFamily="34" charset="0"/>
              <a:buNone/>
            </a:pPr>
            <a:endParaRPr lang="en-US" altLang="zh-CN" sz="1800" dirty="0"/>
          </a:p>
          <a:p>
            <a:pPr marL="0" lvl="0" indent="0" algn="ctr" eaLnBrk="1" hangingPunct="1">
              <a:lnSpc>
                <a:spcPct val="110000"/>
              </a:lnSpc>
              <a:spcBef>
                <a:spcPct val="0"/>
              </a:spcBef>
              <a:buClrTx/>
              <a:buSzTx/>
              <a:buFont typeface="Arial" panose="020B0604020202020204" pitchFamily="34" charset="0"/>
              <a:buNone/>
            </a:pPr>
            <a:endParaRPr lang="en-US" altLang="zh-CN" sz="1800" dirty="0"/>
          </a:p>
          <a:p>
            <a:pPr marL="0" lvl="0" indent="0" algn="ctr" eaLnBrk="1" hangingPunct="1">
              <a:lnSpc>
                <a:spcPct val="110000"/>
              </a:lnSpc>
              <a:spcBef>
                <a:spcPct val="0"/>
              </a:spcBef>
              <a:buClrTx/>
              <a:buSzTx/>
              <a:buFont typeface="Arial" panose="020B0604020202020204" pitchFamily="34" charset="0"/>
              <a:buNone/>
            </a:pPr>
            <a:endParaRPr lang="en-US" altLang="zh-CN" sz="1800" dirty="0"/>
          </a:p>
          <a:p>
            <a:pPr marL="0" lvl="0" indent="0" algn="ctr" eaLnBrk="1" hangingPunct="1">
              <a:lnSpc>
                <a:spcPct val="110000"/>
              </a:lnSpc>
              <a:spcBef>
                <a:spcPct val="0"/>
              </a:spcBef>
              <a:buClrTx/>
              <a:buSzTx/>
              <a:buFont typeface="Arial" panose="020B0604020202020204" pitchFamily="34" charset="0"/>
              <a:buNone/>
            </a:pPr>
            <a:endParaRPr lang="en-US" altLang="zh-CN" sz="1800" dirty="0"/>
          </a:p>
        </p:txBody>
      </p:sp>
      <p:sp>
        <p:nvSpPr>
          <p:cNvPr id="60445" name="流程图: 可选过程 49180"/>
          <p:cNvSpPr/>
          <p:nvPr/>
        </p:nvSpPr>
        <p:spPr>
          <a:xfrm>
            <a:off x="627063" y="1343025"/>
            <a:ext cx="3613150" cy="53340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Font typeface="Wingdings" panose="05000000000000000000" pitchFamily="2" charset="2"/>
              <a:buChar char="n"/>
            </a:pPr>
            <a:r>
              <a:rPr lang="zh-CN" altLang="en-US" dirty="0"/>
              <a:t>关系SPD（Sno,Pno,Dno）</a:t>
            </a:r>
            <a:endParaRPr lang="zh-CN" altLang="en-US" dirty="0"/>
          </a:p>
        </p:txBody>
      </p:sp>
      <p:sp>
        <p:nvSpPr>
          <p:cNvPr id="60446" name="流程图: 可选过程 49181"/>
          <p:cNvSpPr/>
          <p:nvPr/>
        </p:nvSpPr>
        <p:spPr>
          <a:xfrm>
            <a:off x="427038" y="3863975"/>
            <a:ext cx="2312987" cy="53340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SPD     S     P     D</a:t>
            </a:r>
            <a:endParaRPr lang="zh-CN" altLang="en-US" dirty="0"/>
          </a:p>
        </p:txBody>
      </p:sp>
      <p:sp>
        <p:nvSpPr>
          <p:cNvPr id="60447" name="流程图: 可选过程 49182"/>
          <p:cNvSpPr/>
          <p:nvPr/>
        </p:nvSpPr>
        <p:spPr>
          <a:xfrm>
            <a:off x="746125" y="2149475"/>
            <a:ext cx="2744788" cy="53340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--关系SD（Sno,Dno）</a:t>
            </a:r>
            <a:endParaRPr lang="zh-CN" altLang="en-US" dirty="0"/>
          </a:p>
        </p:txBody>
      </p:sp>
      <p:sp>
        <p:nvSpPr>
          <p:cNvPr id="60448" name="流程图: 可选过程 49183"/>
          <p:cNvSpPr/>
          <p:nvPr/>
        </p:nvSpPr>
        <p:spPr>
          <a:xfrm>
            <a:off x="711200" y="2589213"/>
            <a:ext cx="2816225" cy="447675"/>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--关系</a:t>
            </a:r>
            <a:r>
              <a:rPr lang="en-US" altLang="zh-CN" dirty="0"/>
              <a:t>D</a:t>
            </a:r>
            <a:r>
              <a:rPr lang="zh-CN" altLang="en-US" dirty="0"/>
              <a:t>P（Dno,Pno）</a:t>
            </a:r>
            <a:endParaRPr lang="zh-CN" altLang="en-US" dirty="0"/>
          </a:p>
        </p:txBody>
      </p:sp>
      <p:sp>
        <p:nvSpPr>
          <p:cNvPr id="60449" name="流程图: 可选过程 49184"/>
          <p:cNvSpPr/>
          <p:nvPr/>
        </p:nvSpPr>
        <p:spPr>
          <a:xfrm>
            <a:off x="723900" y="1770063"/>
            <a:ext cx="2716213" cy="53340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--关系SP（Sno,Pno）</a:t>
            </a:r>
            <a:endParaRPr lang="zh-CN" altLang="en-US" dirty="0"/>
          </a:p>
        </p:txBody>
      </p:sp>
      <p:sp>
        <p:nvSpPr>
          <p:cNvPr id="60450" name="流程图: 可选过程 49185"/>
          <p:cNvSpPr/>
          <p:nvPr/>
        </p:nvSpPr>
        <p:spPr>
          <a:xfrm>
            <a:off x="1216025" y="4324350"/>
            <a:ext cx="1652588" cy="53340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D2</a:t>
            </a:r>
            <a:endParaRPr lang="zh-CN" altLang="en-US" sz="1800" dirty="0"/>
          </a:p>
        </p:txBody>
      </p:sp>
      <p:sp>
        <p:nvSpPr>
          <p:cNvPr id="60451" name="流程图: 可选过程 49186"/>
          <p:cNvSpPr/>
          <p:nvPr/>
        </p:nvSpPr>
        <p:spPr>
          <a:xfrm>
            <a:off x="1196975" y="4687888"/>
            <a:ext cx="1654175" cy="534987"/>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P2   D1</a:t>
            </a:r>
            <a:endParaRPr lang="zh-CN" altLang="en-US" sz="1800" dirty="0"/>
          </a:p>
        </p:txBody>
      </p:sp>
      <p:sp>
        <p:nvSpPr>
          <p:cNvPr id="60452" name="直接连接符 49187"/>
          <p:cNvSpPr/>
          <p:nvPr/>
        </p:nvSpPr>
        <p:spPr>
          <a:xfrm flipV="1">
            <a:off x="482600" y="4413250"/>
            <a:ext cx="2417763" cy="1588"/>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53" name="直接连接符 49188"/>
          <p:cNvSpPr/>
          <p:nvPr/>
        </p:nvSpPr>
        <p:spPr>
          <a:xfrm flipH="1" flipV="1">
            <a:off x="1204913" y="3976688"/>
            <a:ext cx="0" cy="1192212"/>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0454" name="流程图: 可选过程 49189"/>
          <p:cNvSpPr/>
          <p:nvPr/>
        </p:nvSpPr>
        <p:spPr>
          <a:xfrm>
            <a:off x="3408363" y="3990975"/>
            <a:ext cx="1804987" cy="53340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SP     S    P    </a:t>
            </a:r>
            <a:endParaRPr lang="zh-CN" altLang="en-US" sz="1800" dirty="0"/>
          </a:p>
        </p:txBody>
      </p:sp>
      <p:sp>
        <p:nvSpPr>
          <p:cNvPr id="60455" name="流程图: 可选过程 49190"/>
          <p:cNvSpPr/>
          <p:nvPr/>
        </p:nvSpPr>
        <p:spPr>
          <a:xfrm>
            <a:off x="3944938" y="4400550"/>
            <a:ext cx="1187450" cy="53340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a:t>
            </a:r>
            <a:endParaRPr lang="zh-CN" altLang="en-US" sz="1800" dirty="0"/>
          </a:p>
        </p:txBody>
      </p:sp>
      <p:sp>
        <p:nvSpPr>
          <p:cNvPr id="60456" name="流程图: 可选过程 49191"/>
          <p:cNvSpPr/>
          <p:nvPr/>
        </p:nvSpPr>
        <p:spPr>
          <a:xfrm>
            <a:off x="3954463" y="4751388"/>
            <a:ext cx="1257300" cy="53340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P2   </a:t>
            </a:r>
            <a:endParaRPr lang="zh-CN" altLang="en-US" sz="1800" dirty="0"/>
          </a:p>
        </p:txBody>
      </p:sp>
      <p:sp>
        <p:nvSpPr>
          <p:cNvPr id="60457" name="直接连接符 49192"/>
          <p:cNvSpPr/>
          <p:nvPr/>
        </p:nvSpPr>
        <p:spPr>
          <a:xfrm flipV="1">
            <a:off x="3406775" y="4476750"/>
            <a:ext cx="1770063" cy="0"/>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0458" name="直接连接符 49193"/>
          <p:cNvSpPr/>
          <p:nvPr/>
        </p:nvSpPr>
        <p:spPr>
          <a:xfrm flipH="1" flipV="1">
            <a:off x="3916363" y="4089400"/>
            <a:ext cx="0" cy="119380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59" name="流程图: 可选过程 49194"/>
          <p:cNvSpPr/>
          <p:nvPr/>
        </p:nvSpPr>
        <p:spPr>
          <a:xfrm>
            <a:off x="5292725" y="3973513"/>
            <a:ext cx="1833563" cy="534987"/>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PD     P    D    </a:t>
            </a:r>
            <a:endParaRPr lang="zh-CN" altLang="en-US" sz="1800" dirty="0"/>
          </a:p>
        </p:txBody>
      </p:sp>
      <p:sp>
        <p:nvSpPr>
          <p:cNvPr id="60460" name="流程图: 可选过程 49195"/>
          <p:cNvSpPr/>
          <p:nvPr/>
        </p:nvSpPr>
        <p:spPr>
          <a:xfrm>
            <a:off x="5888038" y="4395788"/>
            <a:ext cx="1130300" cy="534987"/>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P1  D2  </a:t>
            </a:r>
            <a:endParaRPr lang="zh-CN" altLang="en-US" sz="1800" dirty="0"/>
          </a:p>
        </p:txBody>
      </p:sp>
      <p:sp>
        <p:nvSpPr>
          <p:cNvPr id="60461" name="流程图: 可选过程 49196"/>
          <p:cNvSpPr/>
          <p:nvPr/>
        </p:nvSpPr>
        <p:spPr>
          <a:xfrm>
            <a:off x="5880100" y="4746625"/>
            <a:ext cx="1133475" cy="534988"/>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P2  D1  </a:t>
            </a:r>
            <a:endParaRPr lang="zh-CN" altLang="en-US" sz="1800" dirty="0"/>
          </a:p>
        </p:txBody>
      </p:sp>
      <p:sp>
        <p:nvSpPr>
          <p:cNvPr id="60462" name="直接连接符 49197"/>
          <p:cNvSpPr/>
          <p:nvPr/>
        </p:nvSpPr>
        <p:spPr>
          <a:xfrm flipV="1">
            <a:off x="5254625" y="4449763"/>
            <a:ext cx="1670050" cy="9525"/>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63" name="直接连接符 49198"/>
          <p:cNvSpPr/>
          <p:nvPr/>
        </p:nvSpPr>
        <p:spPr>
          <a:xfrm flipH="1" flipV="1">
            <a:off x="5830888" y="4086225"/>
            <a:ext cx="0" cy="1192213"/>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64" name="流程图: 可选过程 49199"/>
          <p:cNvSpPr/>
          <p:nvPr/>
        </p:nvSpPr>
        <p:spPr>
          <a:xfrm>
            <a:off x="7221538" y="3946525"/>
            <a:ext cx="1833562" cy="534988"/>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SD     S    D    </a:t>
            </a:r>
            <a:endParaRPr lang="zh-CN" altLang="en-US" sz="1800" dirty="0"/>
          </a:p>
        </p:txBody>
      </p:sp>
      <p:sp>
        <p:nvSpPr>
          <p:cNvPr id="60465" name="流程图: 可选过程 49200"/>
          <p:cNvSpPr/>
          <p:nvPr/>
        </p:nvSpPr>
        <p:spPr>
          <a:xfrm>
            <a:off x="7816850" y="4368800"/>
            <a:ext cx="1130300" cy="534988"/>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S1  D2  </a:t>
            </a:r>
            <a:endParaRPr lang="zh-CN" altLang="en-US" sz="1800" dirty="0"/>
          </a:p>
        </p:txBody>
      </p:sp>
      <p:sp>
        <p:nvSpPr>
          <p:cNvPr id="60466" name="流程图: 可选过程 49201"/>
          <p:cNvSpPr/>
          <p:nvPr/>
        </p:nvSpPr>
        <p:spPr>
          <a:xfrm>
            <a:off x="7810500" y="4721225"/>
            <a:ext cx="1130300" cy="53340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S1  D1  </a:t>
            </a:r>
            <a:endParaRPr lang="zh-CN" altLang="en-US" sz="1800" dirty="0"/>
          </a:p>
        </p:txBody>
      </p:sp>
      <p:sp>
        <p:nvSpPr>
          <p:cNvPr id="60467" name="直接连接符 49202"/>
          <p:cNvSpPr/>
          <p:nvPr/>
        </p:nvSpPr>
        <p:spPr>
          <a:xfrm flipV="1">
            <a:off x="7183438" y="4422775"/>
            <a:ext cx="1671637" cy="9525"/>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68" name="直接连接符 49203"/>
          <p:cNvSpPr/>
          <p:nvPr/>
        </p:nvSpPr>
        <p:spPr>
          <a:xfrm flipH="1" flipV="1">
            <a:off x="7759700" y="4059238"/>
            <a:ext cx="0" cy="1192212"/>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0469" name="右箭头 49204"/>
          <p:cNvSpPr/>
          <p:nvPr/>
        </p:nvSpPr>
        <p:spPr>
          <a:xfrm>
            <a:off x="3001963" y="4381500"/>
            <a:ext cx="319087" cy="304800"/>
          </a:xfrm>
          <a:prstGeom prst="rightArrow">
            <a:avLst>
              <a:gd name="adj1" fmla="val 50000"/>
              <a:gd name="adj2" fmla="val 26113"/>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0470" name="流程图: 对照 49205"/>
          <p:cNvSpPr/>
          <p:nvPr/>
        </p:nvSpPr>
        <p:spPr>
          <a:xfrm rot="5280000">
            <a:off x="5154613" y="5126038"/>
            <a:ext cx="257175" cy="384175"/>
          </a:xfrm>
          <a:prstGeom prst="flowChartCollate">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0471" name="流程图: 对照 49206"/>
          <p:cNvSpPr/>
          <p:nvPr/>
        </p:nvSpPr>
        <p:spPr>
          <a:xfrm rot="5280000">
            <a:off x="7029450" y="5122863"/>
            <a:ext cx="261938" cy="334962"/>
          </a:xfrm>
          <a:prstGeom prst="flowChartCollate">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0472" name="直接连接符 49207"/>
          <p:cNvSpPr/>
          <p:nvPr/>
        </p:nvSpPr>
        <p:spPr>
          <a:xfrm>
            <a:off x="5399088" y="5600700"/>
            <a:ext cx="1774825" cy="1588"/>
          </a:xfrm>
          <a:prstGeom prst="line">
            <a:avLst/>
          </a:prstGeom>
          <a:ln w="9525" cap="flat" cmpd="sng">
            <a:solidFill>
              <a:srgbClr val="000000"/>
            </a:solidFill>
            <a:prstDash val="solid"/>
            <a:headEnd type="none" w="med" len="med"/>
            <a:tailEnd type="none" w="med" len="med"/>
          </a:ln>
          <a:effectLst>
            <a:prstShdw prst="shdw17" dist="17961" dir="2699999">
              <a:srgbClr val="999999"/>
            </a:prstShdw>
          </a:effectLst>
        </p:spPr>
      </p:sp>
      <p:sp>
        <p:nvSpPr>
          <p:cNvPr id="60473" name="直接连接符 49208"/>
          <p:cNvSpPr/>
          <p:nvPr/>
        </p:nvSpPr>
        <p:spPr>
          <a:xfrm flipV="1">
            <a:off x="5368925" y="5362575"/>
            <a:ext cx="4763" cy="260350"/>
          </a:xfrm>
          <a:prstGeom prst="line">
            <a:avLst/>
          </a:prstGeom>
          <a:ln w="9525" cap="flat" cmpd="sng">
            <a:solidFill>
              <a:srgbClr val="000000"/>
            </a:solidFill>
            <a:prstDash val="solid"/>
            <a:headEnd type="none" w="med" len="med"/>
            <a:tailEnd type="none" w="med" len="med"/>
          </a:ln>
          <a:effectLst>
            <a:prstShdw prst="shdw17" dist="17961" dir="2699999">
              <a:srgbClr val="999999"/>
            </a:prstShdw>
          </a:effectLst>
        </p:spPr>
      </p:sp>
      <p:sp>
        <p:nvSpPr>
          <p:cNvPr id="60474" name="直接连接符 49209"/>
          <p:cNvSpPr/>
          <p:nvPr/>
        </p:nvSpPr>
        <p:spPr>
          <a:xfrm flipV="1">
            <a:off x="7162800" y="5330825"/>
            <a:ext cx="6350" cy="260350"/>
          </a:xfrm>
          <a:prstGeom prst="line">
            <a:avLst/>
          </a:prstGeom>
          <a:ln w="9525" cap="flat" cmpd="sng">
            <a:solidFill>
              <a:srgbClr val="000000"/>
            </a:solidFill>
            <a:prstDash val="solid"/>
            <a:miter/>
            <a:headEnd type="none" w="med" len="med"/>
            <a:tailEnd type="none" w="med" len="med"/>
          </a:ln>
          <a:effectLst>
            <a:prstShdw prst="shdw17" dist="17961" dir="2699999">
              <a:srgbClr val="999999"/>
            </a:prstShdw>
          </a:effectLst>
        </p:spPr>
      </p:sp>
      <p:sp>
        <p:nvSpPr>
          <p:cNvPr id="60475" name="流程图: 可选过程 49210"/>
          <p:cNvSpPr/>
          <p:nvPr/>
        </p:nvSpPr>
        <p:spPr>
          <a:xfrm>
            <a:off x="2041525" y="5129213"/>
            <a:ext cx="2384425" cy="534987"/>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SPD1    S     P     D</a:t>
            </a:r>
            <a:endParaRPr lang="zh-CN" altLang="en-US" sz="1800" dirty="0"/>
          </a:p>
        </p:txBody>
      </p:sp>
      <p:sp>
        <p:nvSpPr>
          <p:cNvPr id="60476" name="流程图: 可选过程 49211"/>
          <p:cNvSpPr/>
          <p:nvPr/>
        </p:nvSpPr>
        <p:spPr>
          <a:xfrm>
            <a:off x="2865438" y="5589588"/>
            <a:ext cx="1652587" cy="534987"/>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D2</a:t>
            </a:r>
            <a:endParaRPr lang="zh-CN" altLang="en-US" sz="1800" dirty="0"/>
          </a:p>
        </p:txBody>
      </p:sp>
      <p:sp>
        <p:nvSpPr>
          <p:cNvPr id="60477" name="流程图: 可选过程 49212"/>
          <p:cNvSpPr/>
          <p:nvPr/>
        </p:nvSpPr>
        <p:spPr>
          <a:xfrm>
            <a:off x="2847975" y="5953125"/>
            <a:ext cx="1652588" cy="534988"/>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P2   D1</a:t>
            </a:r>
            <a:endParaRPr lang="zh-CN" altLang="en-US" sz="1800" dirty="0"/>
          </a:p>
        </p:txBody>
      </p:sp>
      <p:sp>
        <p:nvSpPr>
          <p:cNvPr id="60478" name="直接连接符 49213"/>
          <p:cNvSpPr/>
          <p:nvPr/>
        </p:nvSpPr>
        <p:spPr>
          <a:xfrm flipV="1">
            <a:off x="2132013" y="5680075"/>
            <a:ext cx="2417762" cy="0"/>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0479" name="直接连接符 49214"/>
          <p:cNvSpPr/>
          <p:nvPr/>
        </p:nvSpPr>
        <p:spPr>
          <a:xfrm flipH="1" flipV="1">
            <a:off x="2854325" y="5241925"/>
            <a:ext cx="0" cy="1192213"/>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80" name="直接连接符 49215"/>
          <p:cNvSpPr/>
          <p:nvPr/>
        </p:nvSpPr>
        <p:spPr>
          <a:xfrm flipV="1">
            <a:off x="6235700" y="5608638"/>
            <a:ext cx="6350" cy="258762"/>
          </a:xfrm>
          <a:prstGeom prst="line">
            <a:avLst/>
          </a:prstGeom>
          <a:ln w="9525" cap="flat" cmpd="sng">
            <a:solidFill>
              <a:srgbClr val="000000"/>
            </a:solidFill>
            <a:prstDash val="solid"/>
            <a:miter/>
            <a:headEnd type="none" w="med" len="med"/>
            <a:tailEnd type="none" w="med" len="med"/>
          </a:ln>
          <a:effectLst>
            <a:prstShdw prst="shdw17" dist="17961" dir="2699999">
              <a:srgbClr val="999999"/>
            </a:prstShdw>
          </a:effectLst>
        </p:spPr>
      </p:sp>
      <p:sp>
        <p:nvSpPr>
          <p:cNvPr id="60481" name="直接连接符 49216"/>
          <p:cNvSpPr/>
          <p:nvPr/>
        </p:nvSpPr>
        <p:spPr>
          <a:xfrm>
            <a:off x="4586288" y="5861050"/>
            <a:ext cx="1665287" cy="0"/>
          </a:xfrm>
          <a:prstGeom prst="line">
            <a:avLst/>
          </a:prstGeom>
          <a:ln w="9525" cap="flat" cmpd="sng">
            <a:solidFill>
              <a:srgbClr val="000000"/>
            </a:solidFill>
            <a:prstDash val="solid"/>
            <a:headEnd type="triangle" w="lg" len="lg"/>
            <a:tailEnd type="none" w="med" len="med"/>
          </a:ln>
          <a:effectLst>
            <a:prstShdw prst="shdw17" dist="17961" dir="2699999">
              <a:srgbClr val="999999"/>
            </a:prstShdw>
          </a:effectLst>
        </p:spPr>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50177"/>
          <p:cNvGrpSpPr/>
          <p:nvPr/>
        </p:nvGrpSpPr>
        <p:grpSpPr>
          <a:xfrm>
            <a:off x="38100" y="846138"/>
            <a:ext cx="8869363" cy="3340100"/>
            <a:chOff x="0" y="0"/>
            <a:chExt cx="13968" cy="5260"/>
          </a:xfrm>
        </p:grpSpPr>
        <p:sp>
          <p:nvSpPr>
            <p:cNvPr id="61496" name="流程图: 可选过程 50178"/>
            <p:cNvSpPr/>
            <p:nvPr/>
          </p:nvSpPr>
          <p:spPr>
            <a:xfrm>
              <a:off x="4288" y="3052"/>
              <a:ext cx="2602"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D2</a:t>
              </a:r>
              <a:endParaRPr lang="zh-CN" altLang="en-US" sz="1800" dirty="0"/>
            </a:p>
          </p:txBody>
        </p:sp>
        <p:sp>
          <p:nvSpPr>
            <p:cNvPr id="61497" name="流程图: 可选过程 50179"/>
            <p:cNvSpPr/>
            <p:nvPr/>
          </p:nvSpPr>
          <p:spPr>
            <a:xfrm>
              <a:off x="4300" y="3525"/>
              <a:ext cx="2603"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P2   D1</a:t>
              </a:r>
              <a:endParaRPr lang="zh-CN" altLang="en-US" sz="1800" dirty="0"/>
            </a:p>
          </p:txBody>
        </p:sp>
        <p:sp>
          <p:nvSpPr>
            <p:cNvPr id="61498" name="直接连接符 50180"/>
            <p:cNvSpPr/>
            <p:nvPr/>
          </p:nvSpPr>
          <p:spPr>
            <a:xfrm flipH="1" flipV="1">
              <a:off x="4290" y="2605"/>
              <a:ext cx="0" cy="250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499" name="直接连接符 50181"/>
            <p:cNvSpPr/>
            <p:nvPr/>
          </p:nvSpPr>
          <p:spPr>
            <a:xfrm flipV="1">
              <a:off x="9615" y="3182"/>
              <a:ext cx="10" cy="408"/>
            </a:xfrm>
            <a:prstGeom prst="line">
              <a:avLst/>
            </a:prstGeom>
            <a:ln w="9525" cap="flat" cmpd="sng">
              <a:solidFill>
                <a:srgbClr val="000000"/>
              </a:solidFill>
              <a:prstDash val="solid"/>
              <a:headEnd type="none" w="med" len="med"/>
              <a:tailEnd type="none" w="med" len="med"/>
            </a:ln>
            <a:effectLst>
              <a:prstShdw prst="shdw17" dist="17961" dir="2699999">
                <a:srgbClr val="999999"/>
              </a:prstShdw>
            </a:effectLst>
          </p:spPr>
        </p:sp>
        <p:sp>
          <p:nvSpPr>
            <p:cNvPr id="61500" name="直接连接符 50182"/>
            <p:cNvSpPr/>
            <p:nvPr/>
          </p:nvSpPr>
          <p:spPr>
            <a:xfrm>
              <a:off x="7018" y="3580"/>
              <a:ext cx="2622" cy="0"/>
            </a:xfrm>
            <a:prstGeom prst="line">
              <a:avLst/>
            </a:prstGeom>
            <a:ln w="9525" cap="flat" cmpd="sng">
              <a:solidFill>
                <a:srgbClr val="000000"/>
              </a:solidFill>
              <a:prstDash val="solid"/>
              <a:miter/>
              <a:headEnd type="triangle" w="lg" len="lg"/>
              <a:tailEnd type="none" w="med" len="med"/>
            </a:ln>
            <a:effectLst>
              <a:prstShdw prst="shdw17" dist="17961" dir="2699999">
                <a:srgbClr val="999999"/>
              </a:prstShdw>
            </a:effectLst>
          </p:spPr>
        </p:sp>
        <p:sp>
          <p:nvSpPr>
            <p:cNvPr id="61501" name="流程图: 可选过程 50183"/>
            <p:cNvSpPr/>
            <p:nvPr/>
          </p:nvSpPr>
          <p:spPr>
            <a:xfrm>
              <a:off x="4285" y="4420"/>
              <a:ext cx="2603"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solidFill>
                    <a:srgbClr val="000099"/>
                  </a:solidFill>
                </a:rPr>
                <a:t> S1   P1   D1</a:t>
              </a:r>
              <a:endParaRPr lang="zh-CN" altLang="en-US" dirty="0">
                <a:solidFill>
                  <a:srgbClr val="000099"/>
                </a:solidFill>
              </a:endParaRPr>
            </a:p>
          </p:txBody>
        </p:sp>
        <p:sp>
          <p:nvSpPr>
            <p:cNvPr id="61502" name="流程图: 可选过程 50184"/>
            <p:cNvSpPr/>
            <p:nvPr/>
          </p:nvSpPr>
          <p:spPr>
            <a:xfrm>
              <a:off x="4290" y="3970"/>
              <a:ext cx="2603"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S2   P1   D1</a:t>
              </a:r>
              <a:endParaRPr lang="zh-CN" altLang="en-US" dirty="0">
                <a:solidFill>
                  <a:srgbClr val="CC0000"/>
                </a:solidFill>
              </a:endParaRPr>
            </a:p>
          </p:txBody>
        </p:sp>
        <p:grpSp>
          <p:nvGrpSpPr>
            <p:cNvPr id="61503" name="组合 50185"/>
            <p:cNvGrpSpPr/>
            <p:nvPr/>
          </p:nvGrpSpPr>
          <p:grpSpPr>
            <a:xfrm>
              <a:off x="0" y="0"/>
              <a:ext cx="13969" cy="3267"/>
              <a:chOff x="0" y="0"/>
              <a:chExt cx="13969" cy="3267"/>
            </a:xfrm>
          </p:grpSpPr>
          <p:sp>
            <p:nvSpPr>
              <p:cNvPr id="61506" name="流程图: 可选过程 50186"/>
              <p:cNvSpPr/>
              <p:nvPr/>
            </p:nvSpPr>
            <p:spPr>
              <a:xfrm>
                <a:off x="383" y="0"/>
                <a:ext cx="3642"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SPD     S     P     D</a:t>
                </a:r>
                <a:endParaRPr lang="zh-CN" altLang="en-US" sz="1800" dirty="0"/>
              </a:p>
            </p:txBody>
          </p:sp>
          <p:sp>
            <p:nvSpPr>
              <p:cNvPr id="61507" name="流程图: 可选过程 50187"/>
              <p:cNvSpPr/>
              <p:nvPr/>
            </p:nvSpPr>
            <p:spPr>
              <a:xfrm>
                <a:off x="1625" y="725"/>
                <a:ext cx="2605"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D2</a:t>
                </a:r>
                <a:endParaRPr lang="zh-CN" altLang="en-US" sz="1800" dirty="0"/>
              </a:p>
            </p:txBody>
          </p:sp>
          <p:sp>
            <p:nvSpPr>
              <p:cNvPr id="61508" name="流程图: 可选过程 50188"/>
              <p:cNvSpPr/>
              <p:nvPr/>
            </p:nvSpPr>
            <p:spPr>
              <a:xfrm>
                <a:off x="1598" y="1237"/>
                <a:ext cx="2602"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P2   D1</a:t>
                </a:r>
                <a:endParaRPr lang="zh-CN" altLang="en-US" sz="1800" dirty="0"/>
              </a:p>
            </p:txBody>
          </p:sp>
          <p:sp>
            <p:nvSpPr>
              <p:cNvPr id="61509" name="直接连接符 50189"/>
              <p:cNvSpPr/>
              <p:nvPr/>
            </p:nvSpPr>
            <p:spPr>
              <a:xfrm flipV="1">
                <a:off x="470" y="865"/>
                <a:ext cx="3808" cy="2"/>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1510" name="直接连接符 50190"/>
              <p:cNvSpPr/>
              <p:nvPr/>
            </p:nvSpPr>
            <p:spPr>
              <a:xfrm flipH="1" flipV="1">
                <a:off x="1605" y="177"/>
                <a:ext cx="20" cy="216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511" name="流程图: 可选过程 50191"/>
              <p:cNvSpPr/>
              <p:nvPr/>
            </p:nvSpPr>
            <p:spPr>
              <a:xfrm>
                <a:off x="5078" y="200"/>
                <a:ext cx="2842"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SP     S    P    </a:t>
                </a:r>
                <a:endParaRPr lang="zh-CN" altLang="en-US" sz="1800" dirty="0"/>
              </a:p>
            </p:txBody>
          </p:sp>
          <p:sp>
            <p:nvSpPr>
              <p:cNvPr id="61512" name="流程图: 可选过程 50192"/>
              <p:cNvSpPr/>
              <p:nvPr/>
            </p:nvSpPr>
            <p:spPr>
              <a:xfrm>
                <a:off x="5925" y="842"/>
                <a:ext cx="1868"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a:t>
                </a:r>
                <a:endParaRPr lang="zh-CN" altLang="en-US" sz="1800" dirty="0"/>
              </a:p>
            </p:txBody>
          </p:sp>
          <p:sp>
            <p:nvSpPr>
              <p:cNvPr id="61513" name="流程图: 可选过程 50193"/>
              <p:cNvSpPr/>
              <p:nvPr/>
            </p:nvSpPr>
            <p:spPr>
              <a:xfrm>
                <a:off x="5940" y="1357"/>
                <a:ext cx="1978"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P2   </a:t>
                </a:r>
                <a:endParaRPr lang="zh-CN" altLang="en-US" sz="1800" dirty="0"/>
              </a:p>
            </p:txBody>
          </p:sp>
          <p:sp>
            <p:nvSpPr>
              <p:cNvPr id="61514" name="直接连接符 50194"/>
              <p:cNvSpPr/>
              <p:nvPr/>
            </p:nvSpPr>
            <p:spPr>
              <a:xfrm flipV="1">
                <a:off x="5075" y="965"/>
                <a:ext cx="2790" cy="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515" name="直接连接符 50195"/>
              <p:cNvSpPr/>
              <p:nvPr/>
            </p:nvSpPr>
            <p:spPr>
              <a:xfrm flipH="1" flipV="1">
                <a:off x="5878" y="355"/>
                <a:ext cx="2" cy="2047"/>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516" name="流程图: 可选过程 50196"/>
              <p:cNvSpPr/>
              <p:nvPr/>
            </p:nvSpPr>
            <p:spPr>
              <a:xfrm>
                <a:off x="8045" y="172"/>
                <a:ext cx="2888"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PD     P    D    </a:t>
                </a:r>
                <a:endParaRPr lang="zh-CN" altLang="en-US" sz="1800" dirty="0"/>
              </a:p>
            </p:txBody>
          </p:sp>
          <p:sp>
            <p:nvSpPr>
              <p:cNvPr id="61517" name="流程图: 可选过程 50197"/>
              <p:cNvSpPr/>
              <p:nvPr/>
            </p:nvSpPr>
            <p:spPr>
              <a:xfrm>
                <a:off x="8983" y="837"/>
                <a:ext cx="1782"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P1  D2  </a:t>
                </a:r>
                <a:endParaRPr lang="zh-CN" altLang="en-US" sz="1800" dirty="0"/>
              </a:p>
            </p:txBody>
          </p:sp>
          <p:sp>
            <p:nvSpPr>
              <p:cNvPr id="61518" name="流程图: 可选过程 50198"/>
              <p:cNvSpPr/>
              <p:nvPr/>
            </p:nvSpPr>
            <p:spPr>
              <a:xfrm>
                <a:off x="8973" y="1330"/>
                <a:ext cx="1782"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P2  D1  </a:t>
                </a:r>
                <a:endParaRPr lang="zh-CN" altLang="en-US" sz="1800" dirty="0"/>
              </a:p>
            </p:txBody>
          </p:sp>
          <p:sp>
            <p:nvSpPr>
              <p:cNvPr id="61519" name="直接连接符 50199"/>
              <p:cNvSpPr/>
              <p:nvPr/>
            </p:nvSpPr>
            <p:spPr>
              <a:xfrm flipV="1">
                <a:off x="7985" y="922"/>
                <a:ext cx="2633" cy="15"/>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520" name="直接连接符 50200"/>
              <p:cNvSpPr/>
              <p:nvPr/>
            </p:nvSpPr>
            <p:spPr>
              <a:xfrm flipH="1" flipV="1">
                <a:off x="8893" y="350"/>
                <a:ext cx="2" cy="1987"/>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1521" name="流程图: 可选过程 50201"/>
              <p:cNvSpPr/>
              <p:nvPr/>
            </p:nvSpPr>
            <p:spPr>
              <a:xfrm>
                <a:off x="11085" y="130"/>
                <a:ext cx="2885"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SD     S    D    </a:t>
                </a:r>
                <a:endParaRPr lang="zh-CN" altLang="en-US" sz="1800" dirty="0"/>
              </a:p>
            </p:txBody>
          </p:sp>
          <p:sp>
            <p:nvSpPr>
              <p:cNvPr id="61522" name="流程图: 可选过程 50202"/>
              <p:cNvSpPr/>
              <p:nvPr/>
            </p:nvSpPr>
            <p:spPr>
              <a:xfrm>
                <a:off x="12023" y="795"/>
                <a:ext cx="1777"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S1  D2  </a:t>
                </a:r>
                <a:endParaRPr lang="zh-CN" altLang="en-US" sz="1800" dirty="0"/>
              </a:p>
            </p:txBody>
          </p:sp>
          <p:sp>
            <p:nvSpPr>
              <p:cNvPr id="61523" name="流程图: 可选过程 50203"/>
              <p:cNvSpPr/>
              <p:nvPr/>
            </p:nvSpPr>
            <p:spPr>
              <a:xfrm>
                <a:off x="12013" y="1267"/>
                <a:ext cx="1777"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S1  D1  </a:t>
                </a:r>
                <a:endParaRPr lang="zh-CN" altLang="en-US" sz="1800" dirty="0"/>
              </a:p>
            </p:txBody>
          </p:sp>
          <p:sp>
            <p:nvSpPr>
              <p:cNvPr id="61524" name="直接连接符 50204"/>
              <p:cNvSpPr/>
              <p:nvPr/>
            </p:nvSpPr>
            <p:spPr>
              <a:xfrm flipV="1">
                <a:off x="11025" y="880"/>
                <a:ext cx="2630" cy="15"/>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1525" name="直接连接符 50205"/>
              <p:cNvSpPr/>
              <p:nvPr/>
            </p:nvSpPr>
            <p:spPr>
              <a:xfrm flipH="1" flipV="1">
                <a:off x="11930" y="307"/>
                <a:ext cx="3" cy="2045"/>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526" name="右箭头 50206"/>
              <p:cNvSpPr/>
              <p:nvPr/>
            </p:nvSpPr>
            <p:spPr>
              <a:xfrm>
                <a:off x="4440" y="815"/>
                <a:ext cx="500" cy="480"/>
              </a:xfrm>
              <a:prstGeom prst="rightArrow">
                <a:avLst>
                  <a:gd name="adj1" fmla="val 50000"/>
                  <a:gd name="adj2" fmla="val 25983"/>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1527" name="流程图: 对照 50207"/>
              <p:cNvSpPr/>
              <p:nvPr/>
            </p:nvSpPr>
            <p:spPr>
              <a:xfrm rot="5280000">
                <a:off x="7904" y="2416"/>
                <a:ext cx="405" cy="603"/>
              </a:xfrm>
              <a:prstGeom prst="flowChartCollate">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1528" name="流程图: 对照 50208"/>
              <p:cNvSpPr/>
              <p:nvPr/>
            </p:nvSpPr>
            <p:spPr>
              <a:xfrm rot="5280000">
                <a:off x="10851" y="2403"/>
                <a:ext cx="412" cy="527"/>
              </a:xfrm>
              <a:prstGeom prst="flowChartCollate">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1529" name="直接连接符 50209"/>
              <p:cNvSpPr/>
              <p:nvPr/>
            </p:nvSpPr>
            <p:spPr>
              <a:xfrm>
                <a:off x="8298" y="3170"/>
                <a:ext cx="2795" cy="2"/>
              </a:xfrm>
              <a:prstGeom prst="line">
                <a:avLst/>
              </a:prstGeom>
              <a:ln w="9525" cap="flat" cmpd="sng">
                <a:solidFill>
                  <a:srgbClr val="000000"/>
                </a:solidFill>
                <a:prstDash val="solid"/>
                <a:headEnd type="none" w="med" len="med"/>
                <a:tailEnd type="none" w="med" len="med"/>
              </a:ln>
              <a:effectLst>
                <a:prstShdw prst="shdw17" dist="17961" dir="2699999">
                  <a:srgbClr val="999999"/>
                </a:prstShdw>
              </a:effectLst>
            </p:spPr>
          </p:sp>
          <p:sp>
            <p:nvSpPr>
              <p:cNvPr id="61530" name="直接连接符 50210"/>
              <p:cNvSpPr/>
              <p:nvPr/>
            </p:nvSpPr>
            <p:spPr>
              <a:xfrm flipV="1">
                <a:off x="8250" y="2795"/>
                <a:ext cx="8" cy="407"/>
              </a:xfrm>
              <a:prstGeom prst="line">
                <a:avLst/>
              </a:prstGeom>
              <a:ln w="9525" cap="flat" cmpd="sng">
                <a:solidFill>
                  <a:srgbClr val="000000"/>
                </a:solidFill>
                <a:prstDash val="solid"/>
                <a:miter/>
                <a:headEnd type="none" w="med" len="med"/>
                <a:tailEnd type="none" w="med" len="med"/>
              </a:ln>
              <a:effectLst>
                <a:prstShdw prst="shdw17" dist="17961" dir="2699999">
                  <a:srgbClr val="999999"/>
                </a:prstShdw>
              </a:effectLst>
            </p:spPr>
          </p:sp>
          <p:sp>
            <p:nvSpPr>
              <p:cNvPr id="61531" name="直接连接符 50211"/>
              <p:cNvSpPr/>
              <p:nvPr/>
            </p:nvSpPr>
            <p:spPr>
              <a:xfrm flipV="1">
                <a:off x="11075" y="2745"/>
                <a:ext cx="10" cy="407"/>
              </a:xfrm>
              <a:prstGeom prst="line">
                <a:avLst/>
              </a:prstGeom>
              <a:ln w="9525" cap="flat" cmpd="sng">
                <a:solidFill>
                  <a:srgbClr val="000000"/>
                </a:solidFill>
                <a:prstDash val="solid"/>
                <a:headEnd type="none" w="med" len="med"/>
                <a:tailEnd type="none" w="med" len="med"/>
              </a:ln>
              <a:effectLst>
                <a:prstShdw prst="shdw17" dist="17961" dir="2699999">
                  <a:srgbClr val="999999"/>
                </a:prstShdw>
              </a:effectLst>
            </p:spPr>
          </p:sp>
          <p:sp>
            <p:nvSpPr>
              <p:cNvPr id="61532" name="流程图: 可选过程 50212"/>
              <p:cNvSpPr/>
              <p:nvPr/>
            </p:nvSpPr>
            <p:spPr>
              <a:xfrm>
                <a:off x="3010" y="2427"/>
                <a:ext cx="3755"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SPD1    S     P     D</a:t>
                </a:r>
                <a:endParaRPr lang="zh-CN" altLang="en-US" sz="1800" dirty="0"/>
              </a:p>
            </p:txBody>
          </p:sp>
          <p:sp>
            <p:nvSpPr>
              <p:cNvPr id="61533" name="直接连接符 50213"/>
              <p:cNvSpPr/>
              <p:nvPr/>
            </p:nvSpPr>
            <p:spPr>
              <a:xfrm flipV="1">
                <a:off x="3153" y="3172"/>
                <a:ext cx="3807" cy="3"/>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534" name="直接连接符 50214"/>
              <p:cNvSpPr/>
              <p:nvPr/>
            </p:nvSpPr>
            <p:spPr>
              <a:xfrm flipH="1" flipV="1">
                <a:off x="125" y="2242"/>
                <a:ext cx="1515" cy="0"/>
              </a:xfrm>
              <a:prstGeom prst="line">
                <a:avLst/>
              </a:prstGeom>
              <a:ln w="9525" cap="flat" cmpd="sng">
                <a:solidFill>
                  <a:srgbClr val="CC0000"/>
                </a:solidFill>
                <a:prstDash val="solid"/>
                <a:headEnd type="triangle" w="lg" len="lg"/>
                <a:tailEnd type="none" w="med" len="med"/>
              </a:ln>
              <a:effectLst>
                <a:prstShdw prst="shdw17" dist="17961" dir="2699999">
                  <a:srgbClr val="7A0000"/>
                </a:prstShdw>
              </a:effectLst>
            </p:spPr>
          </p:sp>
          <p:sp>
            <p:nvSpPr>
              <p:cNvPr id="61535" name="流程图: 可选过程 50215"/>
              <p:cNvSpPr/>
              <p:nvPr/>
            </p:nvSpPr>
            <p:spPr>
              <a:xfrm>
                <a:off x="5950" y="1870"/>
                <a:ext cx="1980"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S2  P1  </a:t>
                </a:r>
                <a:r>
                  <a:rPr lang="zh-CN" altLang="en-US" dirty="0"/>
                  <a:t> </a:t>
                </a:r>
                <a:endParaRPr lang="zh-CN" altLang="en-US" sz="1800" dirty="0"/>
              </a:p>
            </p:txBody>
          </p:sp>
          <p:sp>
            <p:nvSpPr>
              <p:cNvPr id="61536" name="流程图: 可选过程 50216"/>
              <p:cNvSpPr/>
              <p:nvPr/>
            </p:nvSpPr>
            <p:spPr>
              <a:xfrm>
                <a:off x="8850" y="1840"/>
                <a:ext cx="2000"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P1  D1  </a:t>
                </a:r>
                <a:r>
                  <a:rPr lang="zh-CN" altLang="en-US" dirty="0"/>
                  <a:t> </a:t>
                </a:r>
                <a:endParaRPr lang="zh-CN" altLang="en-US" sz="1800" dirty="0"/>
              </a:p>
            </p:txBody>
          </p:sp>
          <p:sp>
            <p:nvSpPr>
              <p:cNvPr id="61537" name="流程图: 可选过程 50217"/>
              <p:cNvSpPr/>
              <p:nvPr/>
            </p:nvSpPr>
            <p:spPr>
              <a:xfrm>
                <a:off x="11890" y="1775"/>
                <a:ext cx="2000"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S2  D1  </a:t>
                </a:r>
                <a:r>
                  <a:rPr lang="zh-CN" altLang="en-US" dirty="0"/>
                  <a:t> </a:t>
                </a:r>
                <a:endParaRPr lang="zh-CN" altLang="en-US" sz="1800" dirty="0"/>
              </a:p>
            </p:txBody>
          </p:sp>
          <p:sp>
            <p:nvSpPr>
              <p:cNvPr id="61538" name="流程图: 可选过程 50218"/>
              <p:cNvSpPr/>
              <p:nvPr/>
            </p:nvSpPr>
            <p:spPr>
              <a:xfrm>
                <a:off x="1603" y="1762"/>
                <a:ext cx="2602"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S2   P1   D1</a:t>
                </a:r>
                <a:endParaRPr lang="zh-CN" altLang="en-US" dirty="0">
                  <a:solidFill>
                    <a:srgbClr val="CC0000"/>
                  </a:solidFill>
                </a:endParaRPr>
              </a:p>
            </p:txBody>
          </p:sp>
          <p:sp>
            <p:nvSpPr>
              <p:cNvPr id="61539" name="流程图: 可选过程 50219"/>
              <p:cNvSpPr/>
              <p:nvPr/>
            </p:nvSpPr>
            <p:spPr>
              <a:xfrm>
                <a:off x="0" y="1477"/>
                <a:ext cx="1730" cy="825"/>
              </a:xfrm>
              <a:prstGeom prst="flowChartAlternateProcess">
                <a:avLst/>
              </a:prstGeom>
              <a:noFill/>
              <a:ln w="9525">
                <a:noFill/>
              </a:ln>
              <a:effectLst>
                <a:prstShdw prst="shdw17" dist="17961" dir="2699999">
                  <a:srgbClr val="708688"/>
                </a:prstShdw>
              </a:effectLst>
            </p:spPr>
            <p:txBody>
              <a:bodyPr lIns="17780" tIns="46990" rIns="17780" bIns="4699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sz="1800" dirty="0">
                    <a:solidFill>
                      <a:srgbClr val="A50021"/>
                    </a:solidFill>
                  </a:rPr>
                  <a:t>插入数据</a:t>
                </a:r>
                <a:endParaRPr lang="zh-CN" altLang="en-US" sz="1800" dirty="0">
                  <a:solidFill>
                    <a:srgbClr val="A50021"/>
                  </a:solidFill>
                </a:endParaRPr>
              </a:p>
            </p:txBody>
          </p:sp>
        </p:grpSp>
        <p:sp>
          <p:nvSpPr>
            <p:cNvPr id="61504" name="直接连接符 50220"/>
            <p:cNvSpPr/>
            <p:nvPr/>
          </p:nvSpPr>
          <p:spPr>
            <a:xfrm flipH="1" flipV="1">
              <a:off x="2765" y="4922"/>
              <a:ext cx="1515" cy="0"/>
            </a:xfrm>
            <a:prstGeom prst="line">
              <a:avLst/>
            </a:prstGeom>
            <a:ln w="9525" cap="flat" cmpd="sng">
              <a:solidFill>
                <a:srgbClr val="000080"/>
              </a:solidFill>
              <a:prstDash val="solid"/>
              <a:headEnd type="triangle" w="lg" len="lg"/>
              <a:tailEnd type="none" w="med" len="med"/>
            </a:ln>
            <a:effectLst>
              <a:prstShdw prst="shdw17" dist="17961" dir="2699999">
                <a:srgbClr val="00004D"/>
              </a:prstShdw>
            </a:effectLst>
          </p:spPr>
        </p:sp>
        <p:sp>
          <p:nvSpPr>
            <p:cNvPr id="61505" name="流程图: 可选过程 50221"/>
            <p:cNvSpPr/>
            <p:nvPr/>
          </p:nvSpPr>
          <p:spPr>
            <a:xfrm>
              <a:off x="2535" y="4162"/>
              <a:ext cx="1730" cy="775"/>
            </a:xfrm>
            <a:prstGeom prst="flowChartAlternateProcess">
              <a:avLst/>
            </a:prstGeom>
            <a:noFill/>
            <a:ln w="9525">
              <a:noFill/>
            </a:ln>
            <a:effectLst>
              <a:prstShdw prst="shdw17" dist="17961" dir="2699999">
                <a:srgbClr val="708688"/>
              </a:prstShdw>
            </a:effectLst>
          </p:spPr>
          <p:txBody>
            <a:bodyPr lIns="17780" tIns="46990" rIns="17780" bIns="4699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sz="1800" dirty="0">
                  <a:solidFill>
                    <a:srgbClr val="000099"/>
                  </a:solidFill>
                </a:rPr>
                <a:t>多出一行</a:t>
              </a:r>
              <a:endParaRPr lang="zh-CN" altLang="en-US" sz="1800" dirty="0">
                <a:solidFill>
                  <a:srgbClr val="000099"/>
                </a:solidFill>
              </a:endParaRPr>
            </a:p>
          </p:txBody>
        </p:sp>
      </p:grpSp>
      <p:sp>
        <p:nvSpPr>
          <p:cNvPr id="61443" name="Rectangle 2"/>
          <p:cNvSpPr/>
          <p:nvPr/>
        </p:nvSpPr>
        <p:spPr>
          <a:xfrm>
            <a:off x="457200"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grpSp>
        <p:nvGrpSpPr>
          <p:cNvPr id="4" name="组合 50223"/>
          <p:cNvGrpSpPr/>
          <p:nvPr/>
        </p:nvGrpSpPr>
        <p:grpSpPr>
          <a:xfrm>
            <a:off x="28575" y="2752725"/>
            <a:ext cx="8924925" cy="3740150"/>
            <a:chOff x="0" y="0"/>
            <a:chExt cx="14054" cy="5890"/>
          </a:xfrm>
        </p:grpSpPr>
        <p:grpSp>
          <p:nvGrpSpPr>
            <p:cNvPr id="61445" name="组合 50224"/>
            <p:cNvGrpSpPr/>
            <p:nvPr/>
          </p:nvGrpSpPr>
          <p:grpSpPr>
            <a:xfrm>
              <a:off x="0" y="2680"/>
              <a:ext cx="13978" cy="3210"/>
              <a:chOff x="0" y="0"/>
              <a:chExt cx="13978" cy="3210"/>
            </a:xfrm>
          </p:grpSpPr>
          <p:sp>
            <p:nvSpPr>
              <p:cNvPr id="61459" name="流程图: 可选过程 50225"/>
              <p:cNvSpPr/>
              <p:nvPr/>
            </p:nvSpPr>
            <p:spPr>
              <a:xfrm>
                <a:off x="390" y="65"/>
                <a:ext cx="3643"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SPD     S     P     D</a:t>
                </a:r>
                <a:endParaRPr lang="zh-CN" altLang="en-US" sz="1800" dirty="0"/>
              </a:p>
            </p:txBody>
          </p:sp>
          <p:sp>
            <p:nvSpPr>
              <p:cNvPr id="61460" name="流程图: 可选过程 50226"/>
              <p:cNvSpPr/>
              <p:nvPr/>
            </p:nvSpPr>
            <p:spPr>
              <a:xfrm>
                <a:off x="1633" y="790"/>
                <a:ext cx="2602"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D2</a:t>
                </a:r>
                <a:endParaRPr lang="zh-CN" altLang="en-US" sz="1800" dirty="0"/>
              </a:p>
            </p:txBody>
          </p:sp>
          <p:sp>
            <p:nvSpPr>
              <p:cNvPr id="61461" name="流程图: 可选过程 50227"/>
              <p:cNvSpPr/>
              <p:nvPr/>
            </p:nvSpPr>
            <p:spPr>
              <a:xfrm>
                <a:off x="1603" y="1363"/>
                <a:ext cx="2602"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P2   D1</a:t>
                </a:r>
                <a:endParaRPr lang="zh-CN" altLang="en-US" sz="1800" dirty="0"/>
              </a:p>
            </p:txBody>
          </p:sp>
          <p:sp>
            <p:nvSpPr>
              <p:cNvPr id="61462" name="直接连接符 50228"/>
              <p:cNvSpPr/>
              <p:nvPr/>
            </p:nvSpPr>
            <p:spPr>
              <a:xfrm flipV="1">
                <a:off x="478" y="930"/>
                <a:ext cx="3807" cy="3"/>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463" name="直接连接符 50229"/>
              <p:cNvSpPr/>
              <p:nvPr/>
            </p:nvSpPr>
            <p:spPr>
              <a:xfrm flipH="1" flipV="1">
                <a:off x="1613" y="243"/>
                <a:ext cx="17" cy="2725"/>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464" name="流程图: 可选过程 50230"/>
              <p:cNvSpPr/>
              <p:nvPr/>
            </p:nvSpPr>
            <p:spPr>
              <a:xfrm>
                <a:off x="5085" y="265"/>
                <a:ext cx="2843"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SP     S    P    </a:t>
                </a:r>
                <a:endParaRPr lang="zh-CN" altLang="en-US" sz="1800" dirty="0"/>
              </a:p>
            </p:txBody>
          </p:sp>
          <p:sp>
            <p:nvSpPr>
              <p:cNvPr id="61465" name="流程图: 可选过程 50231"/>
              <p:cNvSpPr/>
              <p:nvPr/>
            </p:nvSpPr>
            <p:spPr>
              <a:xfrm>
                <a:off x="5930" y="870"/>
                <a:ext cx="1870"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a:t>
                </a:r>
                <a:endParaRPr lang="zh-CN" altLang="en-US" sz="1800" dirty="0"/>
              </a:p>
            </p:txBody>
          </p:sp>
          <p:sp>
            <p:nvSpPr>
              <p:cNvPr id="61466" name="流程图: 可选过程 50232"/>
              <p:cNvSpPr/>
              <p:nvPr/>
            </p:nvSpPr>
            <p:spPr>
              <a:xfrm>
                <a:off x="5928" y="1343"/>
                <a:ext cx="1977"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P2   </a:t>
                </a:r>
                <a:endParaRPr lang="zh-CN" altLang="en-US" sz="1800" dirty="0"/>
              </a:p>
            </p:txBody>
          </p:sp>
          <p:sp>
            <p:nvSpPr>
              <p:cNvPr id="61467" name="直接连接符 50233"/>
              <p:cNvSpPr/>
              <p:nvPr/>
            </p:nvSpPr>
            <p:spPr>
              <a:xfrm flipV="1">
                <a:off x="5080" y="1030"/>
                <a:ext cx="2790" cy="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468" name="直接连接符 50234"/>
              <p:cNvSpPr/>
              <p:nvPr/>
            </p:nvSpPr>
            <p:spPr>
              <a:xfrm flipH="1" flipV="1">
                <a:off x="5885" y="420"/>
                <a:ext cx="0" cy="2048"/>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1469" name="流程图: 可选过程 50235"/>
              <p:cNvSpPr/>
              <p:nvPr/>
            </p:nvSpPr>
            <p:spPr>
              <a:xfrm>
                <a:off x="8053" y="238"/>
                <a:ext cx="2887"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PD     P    D    </a:t>
                </a:r>
                <a:endParaRPr lang="zh-CN" altLang="en-US" sz="1800" dirty="0"/>
              </a:p>
            </p:txBody>
          </p:sp>
          <p:sp>
            <p:nvSpPr>
              <p:cNvPr id="61470" name="流程图: 可选过程 50236"/>
              <p:cNvSpPr/>
              <p:nvPr/>
            </p:nvSpPr>
            <p:spPr>
              <a:xfrm>
                <a:off x="8978" y="1315"/>
                <a:ext cx="1782"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P2  D1  </a:t>
                </a:r>
                <a:endParaRPr lang="zh-CN" altLang="en-US" sz="1800" dirty="0"/>
              </a:p>
            </p:txBody>
          </p:sp>
          <p:sp>
            <p:nvSpPr>
              <p:cNvPr id="61471" name="直接连接符 50237"/>
              <p:cNvSpPr/>
              <p:nvPr/>
            </p:nvSpPr>
            <p:spPr>
              <a:xfrm flipV="1">
                <a:off x="7993" y="988"/>
                <a:ext cx="2630" cy="15"/>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1472" name="直接连接符 50238"/>
              <p:cNvSpPr/>
              <p:nvPr/>
            </p:nvSpPr>
            <p:spPr>
              <a:xfrm flipH="1" flipV="1">
                <a:off x="8900" y="415"/>
                <a:ext cx="0" cy="199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473" name="流程图: 可选过程 50239"/>
              <p:cNvSpPr/>
              <p:nvPr/>
            </p:nvSpPr>
            <p:spPr>
              <a:xfrm>
                <a:off x="11090" y="195"/>
                <a:ext cx="2888"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SD     S    D    </a:t>
                </a:r>
                <a:endParaRPr lang="zh-CN" altLang="en-US" sz="1800" dirty="0"/>
              </a:p>
            </p:txBody>
          </p:sp>
          <p:sp>
            <p:nvSpPr>
              <p:cNvPr id="61474" name="流程图: 可选过程 50240"/>
              <p:cNvSpPr/>
              <p:nvPr/>
            </p:nvSpPr>
            <p:spPr>
              <a:xfrm>
                <a:off x="12028" y="860"/>
                <a:ext cx="1780"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S1  D2  </a:t>
                </a:r>
                <a:endParaRPr lang="zh-CN" altLang="en-US" sz="1800" dirty="0"/>
              </a:p>
            </p:txBody>
          </p:sp>
          <p:sp>
            <p:nvSpPr>
              <p:cNvPr id="61475" name="流程图: 可选过程 50241"/>
              <p:cNvSpPr/>
              <p:nvPr/>
            </p:nvSpPr>
            <p:spPr>
              <a:xfrm>
                <a:off x="12018" y="1335"/>
                <a:ext cx="1780"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S1  D1  </a:t>
                </a:r>
                <a:endParaRPr lang="zh-CN" altLang="en-US" sz="1800" dirty="0"/>
              </a:p>
            </p:txBody>
          </p:sp>
          <p:sp>
            <p:nvSpPr>
              <p:cNvPr id="61476" name="直接连接符 50242"/>
              <p:cNvSpPr/>
              <p:nvPr/>
            </p:nvSpPr>
            <p:spPr>
              <a:xfrm flipV="1">
                <a:off x="11030" y="945"/>
                <a:ext cx="2630" cy="15"/>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477" name="直接连接符 50243"/>
              <p:cNvSpPr/>
              <p:nvPr/>
            </p:nvSpPr>
            <p:spPr>
              <a:xfrm flipH="1" flipV="1">
                <a:off x="11938" y="373"/>
                <a:ext cx="0" cy="2047"/>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478" name="右箭头 50244"/>
              <p:cNvSpPr/>
              <p:nvPr/>
            </p:nvSpPr>
            <p:spPr>
              <a:xfrm>
                <a:off x="4445" y="880"/>
                <a:ext cx="500" cy="480"/>
              </a:xfrm>
              <a:prstGeom prst="rightArrow">
                <a:avLst>
                  <a:gd name="adj1" fmla="val 50000"/>
                  <a:gd name="adj2" fmla="val 25983"/>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1479" name="流程图: 对照 50245"/>
              <p:cNvSpPr/>
              <p:nvPr/>
            </p:nvSpPr>
            <p:spPr>
              <a:xfrm rot="5280000">
                <a:off x="7627" y="232"/>
                <a:ext cx="410" cy="527"/>
              </a:xfrm>
              <a:prstGeom prst="flowChartCollate">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1480" name="直接连接符 50246"/>
              <p:cNvSpPr/>
              <p:nvPr/>
            </p:nvSpPr>
            <p:spPr>
              <a:xfrm flipH="1" flipV="1">
                <a:off x="90" y="2330"/>
                <a:ext cx="1570" cy="3"/>
              </a:xfrm>
              <a:prstGeom prst="line">
                <a:avLst/>
              </a:prstGeom>
              <a:ln w="9525" cap="flat" cmpd="sng">
                <a:solidFill>
                  <a:srgbClr val="CC0000"/>
                </a:solidFill>
                <a:prstDash val="solid"/>
                <a:headEnd type="triangle" w="lg" len="lg"/>
                <a:tailEnd type="none" w="med" len="med"/>
              </a:ln>
              <a:effectLst>
                <a:prstShdw prst="shdw17" dist="17961" dir="2699999">
                  <a:srgbClr val="7A0000"/>
                </a:prstShdw>
              </a:effectLst>
            </p:spPr>
          </p:sp>
          <p:sp>
            <p:nvSpPr>
              <p:cNvPr id="61481" name="流程图: 可选过程 50247"/>
              <p:cNvSpPr/>
              <p:nvPr/>
            </p:nvSpPr>
            <p:spPr>
              <a:xfrm>
                <a:off x="5955" y="1835"/>
                <a:ext cx="1980"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S2  P1  </a:t>
                </a:r>
                <a:r>
                  <a:rPr lang="zh-CN" altLang="en-US" dirty="0"/>
                  <a:t> </a:t>
                </a:r>
                <a:endParaRPr lang="zh-CN" altLang="en-US" sz="1800" dirty="0"/>
              </a:p>
            </p:txBody>
          </p:sp>
          <p:sp>
            <p:nvSpPr>
              <p:cNvPr id="61482" name="流程图: 可选过程 50248"/>
              <p:cNvSpPr/>
              <p:nvPr/>
            </p:nvSpPr>
            <p:spPr>
              <a:xfrm>
                <a:off x="8855" y="1825"/>
                <a:ext cx="2003"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P1  D1  </a:t>
                </a:r>
                <a:r>
                  <a:rPr lang="zh-CN" altLang="en-US" dirty="0"/>
                  <a:t> </a:t>
                </a:r>
                <a:endParaRPr lang="zh-CN" altLang="en-US" sz="1800" dirty="0"/>
              </a:p>
            </p:txBody>
          </p:sp>
          <p:sp>
            <p:nvSpPr>
              <p:cNvPr id="61483" name="流程图: 可选过程 50249"/>
              <p:cNvSpPr/>
              <p:nvPr/>
            </p:nvSpPr>
            <p:spPr>
              <a:xfrm>
                <a:off x="11895" y="1840"/>
                <a:ext cx="2000"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S2  D1  </a:t>
                </a:r>
                <a:r>
                  <a:rPr lang="zh-CN" altLang="en-US" dirty="0"/>
                  <a:t> </a:t>
                </a:r>
                <a:endParaRPr lang="zh-CN" altLang="en-US" sz="1800" dirty="0"/>
              </a:p>
            </p:txBody>
          </p:sp>
          <p:sp>
            <p:nvSpPr>
              <p:cNvPr id="61484" name="流程图: 可选过程 50250"/>
              <p:cNvSpPr/>
              <p:nvPr/>
            </p:nvSpPr>
            <p:spPr>
              <a:xfrm>
                <a:off x="1608" y="1865"/>
                <a:ext cx="2602"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S2   P1   D1</a:t>
                </a:r>
                <a:endParaRPr lang="zh-CN" altLang="en-US" dirty="0">
                  <a:solidFill>
                    <a:srgbClr val="CC0000"/>
                  </a:solidFill>
                </a:endParaRPr>
              </a:p>
            </p:txBody>
          </p:sp>
          <p:sp>
            <p:nvSpPr>
              <p:cNvPr id="61485" name="流程图: 可选过程 50251"/>
              <p:cNvSpPr/>
              <p:nvPr/>
            </p:nvSpPr>
            <p:spPr>
              <a:xfrm>
                <a:off x="1625" y="2370"/>
                <a:ext cx="2603"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D1</a:t>
                </a:r>
                <a:endParaRPr lang="zh-CN" altLang="en-US" dirty="0"/>
              </a:p>
            </p:txBody>
          </p:sp>
          <p:sp>
            <p:nvSpPr>
              <p:cNvPr id="61486" name="流程图: 可选过程 50252"/>
              <p:cNvSpPr/>
              <p:nvPr/>
            </p:nvSpPr>
            <p:spPr>
              <a:xfrm>
                <a:off x="8985" y="858"/>
                <a:ext cx="1780"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P1  D2  </a:t>
                </a:r>
                <a:endParaRPr lang="zh-CN" altLang="en-US" sz="1800" dirty="0"/>
              </a:p>
            </p:txBody>
          </p:sp>
          <p:sp>
            <p:nvSpPr>
              <p:cNvPr id="61487" name="流程图: 可选过程 50253"/>
              <p:cNvSpPr/>
              <p:nvPr/>
            </p:nvSpPr>
            <p:spPr>
              <a:xfrm>
                <a:off x="0" y="1620"/>
                <a:ext cx="1730" cy="775"/>
              </a:xfrm>
              <a:prstGeom prst="flowChartAlternateProcess">
                <a:avLst/>
              </a:prstGeom>
              <a:noFill/>
              <a:ln w="9525">
                <a:noFill/>
              </a:ln>
              <a:effectLst>
                <a:prstShdw prst="shdw17" dist="17961" dir="2699999">
                  <a:srgbClr val="708688"/>
                </a:prstShdw>
              </a:effectLst>
            </p:spPr>
            <p:txBody>
              <a:bodyPr lIns="17780" tIns="46990" rIns="17780" bIns="4699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sz="1800" dirty="0">
                    <a:solidFill>
                      <a:srgbClr val="A50021"/>
                    </a:solidFill>
                  </a:rPr>
                  <a:t>删除数据</a:t>
                </a:r>
                <a:endParaRPr lang="zh-CN" altLang="en-US" sz="1800" dirty="0"/>
              </a:p>
            </p:txBody>
          </p:sp>
          <p:sp>
            <p:nvSpPr>
              <p:cNvPr id="61488" name="直接连接符 50254"/>
              <p:cNvSpPr/>
              <p:nvPr/>
            </p:nvSpPr>
            <p:spPr>
              <a:xfrm>
                <a:off x="1695" y="2313"/>
                <a:ext cx="2510" cy="15"/>
              </a:xfrm>
              <a:prstGeom prst="line">
                <a:avLst/>
              </a:prstGeom>
              <a:ln w="6350" cap="flat" cmpd="sng">
                <a:solidFill>
                  <a:srgbClr val="CC0000"/>
                </a:solidFill>
                <a:prstDash val="solid"/>
                <a:miter/>
                <a:headEnd type="none" w="med" len="med"/>
                <a:tailEnd type="none" w="med" len="med"/>
              </a:ln>
              <a:effectLst>
                <a:prstShdw prst="shdw17" dist="17961" dir="2699999">
                  <a:srgbClr val="7A0000"/>
                </a:prstShdw>
              </a:effectLst>
            </p:spPr>
          </p:sp>
          <p:sp>
            <p:nvSpPr>
              <p:cNvPr id="61489" name="直接连接符 50255"/>
              <p:cNvSpPr/>
              <p:nvPr/>
            </p:nvSpPr>
            <p:spPr>
              <a:xfrm>
                <a:off x="6085" y="2328"/>
                <a:ext cx="1665" cy="2"/>
              </a:xfrm>
              <a:prstGeom prst="line">
                <a:avLst/>
              </a:prstGeom>
              <a:ln w="6350" cap="flat" cmpd="sng">
                <a:solidFill>
                  <a:srgbClr val="CC0000"/>
                </a:solidFill>
                <a:prstDash val="solid"/>
                <a:headEnd type="none" w="med" len="med"/>
                <a:tailEnd type="none" w="med" len="med"/>
              </a:ln>
              <a:effectLst>
                <a:prstShdw prst="shdw17" dist="17961" dir="2699999">
                  <a:srgbClr val="7A0000"/>
                </a:prstShdw>
              </a:effectLst>
            </p:spPr>
          </p:sp>
          <p:sp>
            <p:nvSpPr>
              <p:cNvPr id="61490" name="流程图: 对照 50256"/>
              <p:cNvSpPr/>
              <p:nvPr/>
            </p:nvSpPr>
            <p:spPr>
              <a:xfrm rot="5280000">
                <a:off x="10699" y="321"/>
                <a:ext cx="410" cy="528"/>
              </a:xfrm>
              <a:prstGeom prst="flowChartCollate">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1491" name="直接连接符 50257"/>
              <p:cNvSpPr/>
              <p:nvPr/>
            </p:nvSpPr>
            <p:spPr>
              <a:xfrm>
                <a:off x="8933" y="2278"/>
                <a:ext cx="1665" cy="2"/>
              </a:xfrm>
              <a:prstGeom prst="line">
                <a:avLst/>
              </a:prstGeom>
              <a:ln w="6350" cap="flat" cmpd="sng">
                <a:solidFill>
                  <a:srgbClr val="CC0000"/>
                </a:solidFill>
                <a:prstDash val="solid"/>
                <a:headEnd type="none" w="med" len="med"/>
                <a:tailEnd type="none" w="med" len="med"/>
              </a:ln>
              <a:effectLst>
                <a:prstShdw prst="shdw17" dist="17961" dir="2699999">
                  <a:srgbClr val="7A0000"/>
                </a:prstShdw>
              </a:effectLst>
            </p:spPr>
          </p:sp>
          <p:sp>
            <p:nvSpPr>
              <p:cNvPr id="61492" name="直接连接符 50258"/>
              <p:cNvSpPr/>
              <p:nvPr/>
            </p:nvSpPr>
            <p:spPr>
              <a:xfrm>
                <a:off x="12060" y="2298"/>
                <a:ext cx="1665" cy="5"/>
              </a:xfrm>
              <a:prstGeom prst="line">
                <a:avLst/>
              </a:prstGeom>
              <a:ln w="6350" cap="flat" cmpd="sng">
                <a:solidFill>
                  <a:srgbClr val="CC0000"/>
                </a:solidFill>
                <a:prstDash val="solid"/>
                <a:headEnd type="none" w="med" len="med"/>
                <a:tailEnd type="none" w="med" len="med"/>
              </a:ln>
              <a:effectLst>
                <a:prstShdw prst="shdw17" dist="17961" dir="2699999">
                  <a:srgbClr val="7A0000"/>
                </a:prstShdw>
              </a:effectLst>
            </p:spPr>
          </p:sp>
          <p:sp>
            <p:nvSpPr>
              <p:cNvPr id="61493" name="直接连接符 50259"/>
              <p:cNvSpPr/>
              <p:nvPr/>
            </p:nvSpPr>
            <p:spPr>
              <a:xfrm flipV="1">
                <a:off x="7775" y="0"/>
                <a:ext cx="10" cy="408"/>
              </a:xfrm>
              <a:prstGeom prst="line">
                <a:avLst/>
              </a:prstGeom>
              <a:ln w="9525" cap="flat" cmpd="sng">
                <a:solidFill>
                  <a:srgbClr val="000000"/>
                </a:solidFill>
                <a:prstDash val="solid"/>
                <a:headEnd type="none" w="med" len="med"/>
                <a:tailEnd type="none" w="med" len="med"/>
              </a:ln>
              <a:effectLst>
                <a:prstShdw prst="shdw17" dist="17961" dir="2699999">
                  <a:srgbClr val="999999"/>
                </a:prstShdw>
              </a:effectLst>
            </p:spPr>
          </p:sp>
          <p:sp>
            <p:nvSpPr>
              <p:cNvPr id="61494" name="直接连接符 50260"/>
              <p:cNvSpPr/>
              <p:nvPr/>
            </p:nvSpPr>
            <p:spPr>
              <a:xfrm flipV="1">
                <a:off x="10918" y="35"/>
                <a:ext cx="10" cy="410"/>
              </a:xfrm>
              <a:prstGeom prst="line">
                <a:avLst/>
              </a:prstGeom>
              <a:ln w="9525" cap="flat" cmpd="sng">
                <a:solidFill>
                  <a:srgbClr val="000000"/>
                </a:solidFill>
                <a:prstDash val="solid"/>
                <a:headEnd type="none" w="med" len="med"/>
                <a:tailEnd type="none" w="med" len="med"/>
              </a:ln>
              <a:effectLst>
                <a:prstShdw prst="shdw17" dist="17961" dir="2699999">
                  <a:srgbClr val="999999"/>
                </a:prstShdw>
              </a:effectLst>
            </p:spPr>
          </p:sp>
          <p:sp>
            <p:nvSpPr>
              <p:cNvPr id="61495" name="直接连接符 50261"/>
              <p:cNvSpPr/>
              <p:nvPr/>
            </p:nvSpPr>
            <p:spPr>
              <a:xfrm>
                <a:off x="7785" y="65"/>
                <a:ext cx="3135" cy="30"/>
              </a:xfrm>
              <a:prstGeom prst="line">
                <a:avLst/>
              </a:prstGeom>
              <a:ln w="9525" cap="flat" cmpd="sng">
                <a:solidFill>
                  <a:srgbClr val="000000"/>
                </a:solidFill>
                <a:prstDash val="solid"/>
                <a:miter/>
                <a:headEnd type="none" w="med" len="med"/>
                <a:tailEnd type="none" w="med" len="med"/>
              </a:ln>
              <a:effectLst>
                <a:prstShdw prst="shdw17" dist="17961" dir="2699999">
                  <a:srgbClr val="999999"/>
                </a:prstShdw>
              </a:effectLst>
            </p:spPr>
          </p:sp>
        </p:grpSp>
        <p:sp>
          <p:nvSpPr>
            <p:cNvPr id="61446" name="流程图: 可选过程 50262"/>
            <p:cNvSpPr/>
            <p:nvPr/>
          </p:nvSpPr>
          <p:spPr>
            <a:xfrm>
              <a:off x="10105" y="0"/>
              <a:ext cx="3755"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SPD1    S     P     D</a:t>
              </a:r>
              <a:endParaRPr lang="zh-CN" altLang="en-US" sz="1800" dirty="0"/>
            </a:p>
          </p:txBody>
        </p:sp>
        <p:sp>
          <p:nvSpPr>
            <p:cNvPr id="61447" name="流程图: 可选过程 50263"/>
            <p:cNvSpPr/>
            <p:nvPr/>
          </p:nvSpPr>
          <p:spPr>
            <a:xfrm>
              <a:off x="11383" y="625"/>
              <a:ext cx="2602"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D2</a:t>
              </a:r>
              <a:endParaRPr lang="zh-CN" altLang="en-US" sz="1800" dirty="0"/>
            </a:p>
          </p:txBody>
        </p:sp>
        <p:sp>
          <p:nvSpPr>
            <p:cNvPr id="61448" name="流程图: 可选过程 50264"/>
            <p:cNvSpPr/>
            <p:nvPr/>
          </p:nvSpPr>
          <p:spPr>
            <a:xfrm>
              <a:off x="11395" y="1100"/>
              <a:ext cx="2603"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P2   D1</a:t>
              </a:r>
              <a:endParaRPr lang="zh-CN" altLang="en-US" sz="1800" dirty="0"/>
            </a:p>
          </p:txBody>
        </p:sp>
        <p:sp>
          <p:nvSpPr>
            <p:cNvPr id="61449" name="直接连接符 50265"/>
            <p:cNvSpPr/>
            <p:nvPr/>
          </p:nvSpPr>
          <p:spPr>
            <a:xfrm flipV="1">
              <a:off x="10248" y="748"/>
              <a:ext cx="3807" cy="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450" name="直接连接符 50266"/>
            <p:cNvSpPr/>
            <p:nvPr/>
          </p:nvSpPr>
          <p:spPr>
            <a:xfrm flipH="1" flipV="1">
              <a:off x="11385" y="178"/>
              <a:ext cx="0" cy="2500"/>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1451" name="流程图: 可选过程 50267"/>
            <p:cNvSpPr/>
            <p:nvPr/>
          </p:nvSpPr>
          <p:spPr>
            <a:xfrm>
              <a:off x="11380" y="1993"/>
              <a:ext cx="2603"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solidFill>
                    <a:srgbClr val="000099"/>
                  </a:solidFill>
                </a:rPr>
                <a:t> S1   P1   D1</a:t>
              </a:r>
              <a:endParaRPr lang="zh-CN" altLang="en-US" dirty="0">
                <a:solidFill>
                  <a:srgbClr val="000099"/>
                </a:solidFill>
              </a:endParaRPr>
            </a:p>
          </p:txBody>
        </p:sp>
        <p:sp>
          <p:nvSpPr>
            <p:cNvPr id="61452" name="流程图: 可选过程 50268"/>
            <p:cNvSpPr/>
            <p:nvPr/>
          </p:nvSpPr>
          <p:spPr>
            <a:xfrm>
              <a:off x="11385" y="1543"/>
              <a:ext cx="2603"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S2   P1   D1</a:t>
              </a:r>
              <a:endParaRPr lang="zh-CN" altLang="en-US" dirty="0">
                <a:solidFill>
                  <a:srgbClr val="CC0000"/>
                </a:solidFill>
              </a:endParaRPr>
            </a:p>
          </p:txBody>
        </p:sp>
        <p:sp>
          <p:nvSpPr>
            <p:cNvPr id="61453" name="直接连接符 50269"/>
            <p:cNvSpPr/>
            <p:nvPr/>
          </p:nvSpPr>
          <p:spPr>
            <a:xfrm flipH="1" flipV="1">
              <a:off x="9860" y="2495"/>
              <a:ext cx="1515" cy="3"/>
            </a:xfrm>
            <a:prstGeom prst="line">
              <a:avLst/>
            </a:prstGeom>
            <a:ln w="9525" cap="flat" cmpd="sng">
              <a:solidFill>
                <a:srgbClr val="000080"/>
              </a:solidFill>
              <a:prstDash val="solid"/>
              <a:miter/>
              <a:headEnd type="triangle" w="lg" len="lg"/>
              <a:tailEnd type="none" w="med" len="med"/>
            </a:ln>
            <a:effectLst>
              <a:prstShdw prst="shdw17" dist="17961" dir="2699999">
                <a:srgbClr val="00004D"/>
              </a:prstShdw>
            </a:effectLst>
          </p:spPr>
        </p:sp>
        <p:sp>
          <p:nvSpPr>
            <p:cNvPr id="61454" name="流程图: 可选过程 50270"/>
            <p:cNvSpPr/>
            <p:nvPr/>
          </p:nvSpPr>
          <p:spPr>
            <a:xfrm>
              <a:off x="9630" y="1735"/>
              <a:ext cx="1730" cy="778"/>
            </a:xfrm>
            <a:prstGeom prst="flowChartAlternateProcess">
              <a:avLst/>
            </a:prstGeom>
            <a:noFill/>
            <a:ln w="9525">
              <a:noFill/>
            </a:ln>
            <a:effectLst>
              <a:prstShdw prst="shdw17" dist="17961" dir="2699999">
                <a:srgbClr val="708688"/>
              </a:prstShdw>
            </a:effectLst>
          </p:spPr>
          <p:txBody>
            <a:bodyPr lIns="17780" tIns="46990" rIns="17780" bIns="4699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sz="1800" dirty="0">
                  <a:solidFill>
                    <a:srgbClr val="000099"/>
                  </a:solidFill>
                </a:rPr>
                <a:t>多删一行</a:t>
              </a:r>
              <a:endParaRPr lang="zh-CN" altLang="en-US" sz="1800" dirty="0">
                <a:solidFill>
                  <a:srgbClr val="000099"/>
                </a:solidFill>
              </a:endParaRPr>
            </a:p>
          </p:txBody>
        </p:sp>
        <p:sp>
          <p:nvSpPr>
            <p:cNvPr id="61455" name="直接连接符 50271"/>
            <p:cNvSpPr/>
            <p:nvPr/>
          </p:nvSpPr>
          <p:spPr>
            <a:xfrm>
              <a:off x="11533" y="2030"/>
              <a:ext cx="2327" cy="15"/>
            </a:xfrm>
            <a:prstGeom prst="line">
              <a:avLst/>
            </a:prstGeom>
            <a:ln w="6350" cap="flat" cmpd="sng">
              <a:solidFill>
                <a:srgbClr val="CC0000"/>
              </a:solidFill>
              <a:prstDash val="solid"/>
              <a:miter/>
              <a:headEnd type="none" w="med" len="med"/>
              <a:tailEnd type="none" w="med" len="med"/>
            </a:ln>
            <a:effectLst>
              <a:prstShdw prst="shdw17" dist="17961" dir="2699999">
                <a:srgbClr val="7A0000"/>
              </a:prstShdw>
            </a:effectLst>
          </p:spPr>
        </p:sp>
        <p:sp>
          <p:nvSpPr>
            <p:cNvPr id="61456" name="直接连接符 50272"/>
            <p:cNvSpPr/>
            <p:nvPr/>
          </p:nvSpPr>
          <p:spPr>
            <a:xfrm>
              <a:off x="11585" y="2480"/>
              <a:ext cx="2328" cy="15"/>
            </a:xfrm>
            <a:prstGeom prst="line">
              <a:avLst/>
            </a:prstGeom>
            <a:ln w="6350" cap="flat" cmpd="sng">
              <a:solidFill>
                <a:srgbClr val="CC0000"/>
              </a:solidFill>
              <a:prstDash val="solid"/>
              <a:headEnd type="none" w="med" len="med"/>
              <a:tailEnd type="none" w="med" len="med"/>
            </a:ln>
            <a:effectLst>
              <a:prstShdw prst="shdw17" dist="17961" dir="2699999">
                <a:srgbClr val="7A0000"/>
              </a:prstShdw>
            </a:effectLst>
          </p:spPr>
        </p:sp>
        <p:sp>
          <p:nvSpPr>
            <p:cNvPr id="61457" name="箭头 615"/>
            <p:cNvSpPr/>
            <p:nvPr/>
          </p:nvSpPr>
          <p:spPr>
            <a:xfrm>
              <a:off x="8813" y="1670"/>
              <a:ext cx="2230" cy="1"/>
            </a:xfrm>
            <a:prstGeom prst="line">
              <a:avLst/>
            </a:prstGeom>
            <a:ln w="9525" cap="flat" cmpd="sng">
              <a:solidFill>
                <a:schemeClr val="tx1"/>
              </a:solidFill>
              <a:prstDash val="solid"/>
              <a:headEnd type="none" w="med" len="med"/>
              <a:tailEnd type="triangle" w="lg" len="lg"/>
            </a:ln>
            <a:effectLst>
              <a:prstShdw prst="shdw17" dist="17961" dir="2699999">
                <a:srgbClr val="000000"/>
              </a:prstShdw>
            </a:effectLst>
          </p:spPr>
        </p:sp>
        <p:sp>
          <p:nvSpPr>
            <p:cNvPr id="61458" name="直接连接符 50274"/>
            <p:cNvSpPr/>
            <p:nvPr/>
          </p:nvSpPr>
          <p:spPr>
            <a:xfrm flipH="1" flipV="1">
              <a:off x="8798" y="1650"/>
              <a:ext cx="14" cy="1125"/>
            </a:xfrm>
            <a:prstGeom prst="line">
              <a:avLst/>
            </a:prstGeom>
            <a:ln w="9525" cap="flat" cmpd="sng">
              <a:solidFill>
                <a:srgbClr val="000000"/>
              </a:solidFill>
              <a:prstDash val="solid"/>
              <a:miter/>
              <a:headEnd type="none" w="med" len="med"/>
              <a:tailEnd type="none" w="med" len="med"/>
            </a:ln>
            <a:effectLst>
              <a:prstShdw prst="shdw17" dist="17961" dir="2699999">
                <a:srgbClr val="999999"/>
              </a:prstShdw>
            </a:effectLst>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2"/>
                                        </p:tgtEl>
                                        <p:attrNameLst>
                                          <p:attrName>ppt_x</p:attrName>
                                        </p:attrNameLst>
                                      </p:cBhvr>
                                      <p:tavLst>
                                        <p:tav tm="0">
                                          <p:val>
                                            <p:strVal val="ppt_x"/>
                                          </p:val>
                                        </p:tav>
                                        <p:tav tm="100000">
                                          <p:val>
                                            <p:strVal val="ppt_x"/>
                                          </p:val>
                                        </p:tav>
                                      </p:tavLst>
                                    </p:anim>
                                    <p:anim calcmode="lin" valueType="num">
                                      <p:cBhvr additive="base">
                                        <p:cTn id="13" dur="500"/>
                                        <p:tgtEl>
                                          <p:spTgt spid="2"/>
                                        </p:tgtEl>
                                        <p:attrNameLst>
                                          <p:attrName>ppt_y</p:attrName>
                                        </p:attrNameLst>
                                      </p:cBhvr>
                                      <p:tavLst>
                                        <p:tav tm="0">
                                          <p:val>
                                            <p:strVal val="ppt_y"/>
                                          </p:val>
                                        </p:tav>
                                        <p:tav tm="100000">
                                          <p:val>
                                            <p:strVal val="1+ppt_h/2"/>
                                          </p:val>
                                        </p:tav>
                                      </p:tavLst>
                                    </p:anim>
                                    <p:set>
                                      <p:cBhvr>
                                        <p:cTn id="14" dur="1" fill="hold">
                                          <p:stCondLst>
                                            <p:cond delay="499"/>
                                          </p:stCondLst>
                                        </p:cTn>
                                        <p:tgtEl>
                                          <p:spTgt spid="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63491" name="Text Box 3"/>
              <p:cNvSpPr txBox="1"/>
              <p:nvPr/>
            </p:nvSpPr>
            <p:spPr>
              <a:xfrm>
                <a:off x="388620" y="1424305"/>
                <a:ext cx="8437245" cy="1529080"/>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15000"/>
                  </a:spcBef>
                  <a:buClrTx/>
                  <a:buSzTx/>
                  <a:buNone/>
                </a:pPr>
                <a:r>
                  <a:rPr lang="zh-CN" altLang="en-US" b="0" dirty="0">
                    <a:solidFill>
                      <a:srgbClr val="FF0000"/>
                    </a:solidFill>
                    <a:latin typeface="宋体" panose="02010600030101010101" pitchFamily="2" charset="-122"/>
                  </a:rPr>
                  <a:t>    </a:t>
                </a:r>
                <a:r>
                  <a:rPr lang="zh-CN" altLang="en-US" sz="2100" dirty="0">
                    <a:solidFill>
                      <a:srgbClr val="FF0000"/>
                    </a:solidFill>
                    <a:latin typeface="宋体" panose="02010600030101010101" pitchFamily="2" charset="-122"/>
                  </a:rPr>
                  <a:t>定义：连接依赖（</a:t>
                </a:r>
                <a:r>
                  <a:rPr lang="en-US" altLang="zh-CN" sz="2100" dirty="0">
                    <a:solidFill>
                      <a:srgbClr val="FF0000"/>
                    </a:solidFill>
                    <a:latin typeface="宋体" panose="02010600030101010101" pitchFamily="2" charset="-122"/>
                  </a:rPr>
                  <a:t>Join Dependency,JD</a:t>
                </a:r>
                <a:r>
                  <a:rPr lang="zh-CN" altLang="en-US" sz="2100" dirty="0">
                    <a:solidFill>
                      <a:srgbClr val="FF0000"/>
                    </a:solidFill>
                    <a:latin typeface="宋体" panose="02010600030101010101" pitchFamily="2" charset="-122"/>
                  </a:rPr>
                  <a:t>）</a:t>
                </a:r>
                <a:r>
                  <a:rPr lang="en-US" altLang="zh-CN" sz="2100" dirty="0">
                    <a:solidFill>
                      <a:srgbClr val="FF0000"/>
                    </a:solidFill>
                    <a:latin typeface="宋体" panose="02010600030101010101" pitchFamily="2" charset="-122"/>
                  </a:rPr>
                  <a:t>:</a:t>
                </a:r>
                <a:r>
                  <a:rPr lang="zh-CN" altLang="en-US" sz="2100" dirty="0">
                    <a:solidFill>
                      <a:srgbClr val="0033CC"/>
                    </a:solidFill>
                    <a:latin typeface="宋体" panose="02010600030101010101" pitchFamily="2" charset="-122"/>
                  </a:rPr>
                  <a:t>对于关系</a:t>
                </a:r>
                <a14:m>
                  <m:oMath xmlns:m="http://schemas.openxmlformats.org/officeDocument/2006/math">
                    <m:r>
                      <a:rPr lang="en-US" altLang="zh-CN" sz="2100" i="1" dirty="0">
                        <a:solidFill>
                          <a:srgbClr val="0033CC"/>
                        </a:solidFill>
                        <a:latin typeface="Cambria Math" panose="02040503050406030204" charset="0"/>
                        <a:cs typeface="Cambria Math" panose="02040503050406030204" charset="0"/>
                      </a:rPr>
                      <m:t>𝑹</m:t>
                    </m:r>
                  </m:oMath>
                </a14:m>
                <a:r>
                  <a:rPr lang="zh-CN" altLang="en-US" sz="2100" dirty="0">
                    <a:solidFill>
                      <a:srgbClr val="0033CC"/>
                    </a:solidFill>
                    <a:latin typeface="宋体" panose="02010600030101010101" pitchFamily="2" charset="-122"/>
                  </a:rPr>
                  <a:t>和其属性的若干子集</a:t>
                </a:r>
                <a14:m>
                  <m:oMath xmlns:m="http://schemas.openxmlformats.org/officeDocument/2006/math">
                    <m:sSub>
                      <m:sSubPr>
                        <m:ctrlPr>
                          <a:rPr lang="en-US" altLang="zh-CN" sz="2100" i="1" dirty="0">
                            <a:solidFill>
                              <a:srgbClr val="0033CC"/>
                            </a:solidFill>
                            <a:latin typeface="Cambria Math" panose="02040503050406030204" charset="0"/>
                            <a:cs typeface="Cambria Math" panose="02040503050406030204" charset="0"/>
                          </a:rPr>
                        </m:ctrlPr>
                      </m:sSubPr>
                      <m:e>
                        <m:r>
                          <a:rPr lang="en-US" altLang="zh-CN" sz="2100" i="1" dirty="0">
                            <a:solidFill>
                              <a:srgbClr val="0033CC"/>
                            </a:solidFill>
                            <a:latin typeface="Cambria Math" panose="02040503050406030204" charset="0"/>
                            <a:cs typeface="Cambria Math" panose="02040503050406030204" charset="0"/>
                          </a:rPr>
                          <m:t>𝑹</m:t>
                        </m:r>
                      </m:e>
                      <m:sub>
                        <m:r>
                          <a:rPr lang="en-US" altLang="zh-CN" sz="2100" i="1" dirty="0">
                            <a:solidFill>
                              <a:srgbClr val="0033CC"/>
                            </a:solidFill>
                            <a:latin typeface="Cambria Math" panose="02040503050406030204" charset="0"/>
                            <a:cs typeface="Cambria Math" panose="02040503050406030204" charset="0"/>
                          </a:rPr>
                          <m:t>𝟏</m:t>
                        </m:r>
                      </m:sub>
                    </m:sSub>
                    <m:r>
                      <a:rPr lang="en-US" altLang="zh-CN" i="1" dirty="0">
                        <a:solidFill>
                          <a:srgbClr val="0033CC"/>
                        </a:solidFill>
                        <a:latin typeface="Cambria Math" panose="02040503050406030204" charset="0"/>
                        <a:cs typeface="Cambria Math" panose="02040503050406030204" charset="0"/>
                      </a:rPr>
                      <m:t>,</m:t>
                    </m:r>
                    <m:sSub>
                      <m:sSubPr>
                        <m:ctrlPr>
                          <a:rPr lang="en-US" altLang="zh-CN" i="1" dirty="0">
                            <a:solidFill>
                              <a:srgbClr val="0033CC"/>
                            </a:solidFill>
                            <a:latin typeface="Cambria Math" panose="02040503050406030204" charset="0"/>
                            <a:cs typeface="Cambria Math" panose="02040503050406030204" charset="0"/>
                          </a:rPr>
                        </m:ctrlPr>
                      </m:sSubPr>
                      <m:e>
                        <m:r>
                          <a:rPr lang="en-US" altLang="zh-CN" i="1" dirty="0">
                            <a:solidFill>
                              <a:srgbClr val="0033CC"/>
                            </a:solidFill>
                            <a:latin typeface="Cambria Math" panose="02040503050406030204" charset="0"/>
                            <a:cs typeface="Cambria Math" panose="02040503050406030204" charset="0"/>
                          </a:rPr>
                          <m:t>𝑹</m:t>
                        </m:r>
                      </m:e>
                      <m:sub>
                        <m:r>
                          <a:rPr lang="en-US" altLang="zh-CN" i="1" dirty="0">
                            <a:solidFill>
                              <a:srgbClr val="0033CC"/>
                            </a:solidFill>
                            <a:latin typeface="Cambria Math" panose="02040503050406030204" charset="0"/>
                            <a:cs typeface="Cambria Math" panose="02040503050406030204" charset="0"/>
                          </a:rPr>
                          <m:t>𝟐</m:t>
                        </m:r>
                      </m:sub>
                    </m:sSub>
                    <m:r>
                      <a:rPr lang="en-US" altLang="zh-CN" i="1" dirty="0">
                        <a:solidFill>
                          <a:srgbClr val="0033CC"/>
                        </a:solidFill>
                        <a:latin typeface="Cambria Math" panose="02040503050406030204" charset="0"/>
                        <a:cs typeface="Cambria Math" panose="02040503050406030204" charset="0"/>
                      </a:rPr>
                      <m:t>,</m:t>
                    </m:r>
                    <m:sSub>
                      <m:sSubPr>
                        <m:ctrlPr>
                          <a:rPr lang="en-US" altLang="zh-CN" i="1" dirty="0">
                            <a:solidFill>
                              <a:srgbClr val="0033CC"/>
                            </a:solidFill>
                            <a:latin typeface="Cambria Math" panose="02040503050406030204" charset="0"/>
                            <a:cs typeface="Cambria Math" panose="02040503050406030204" charset="0"/>
                          </a:rPr>
                        </m:ctrlPr>
                      </m:sSubPr>
                      <m:e>
                        <m:r>
                          <a:rPr lang="en-US" altLang="zh-CN" i="1" dirty="0">
                            <a:solidFill>
                              <a:srgbClr val="0033CC"/>
                            </a:solidFill>
                            <a:latin typeface="Cambria Math" panose="02040503050406030204" charset="0"/>
                            <a:cs typeface="Cambria Math" panose="02040503050406030204" charset="0"/>
                          </a:rPr>
                          <m:t>...,</m:t>
                        </m:r>
                        <m:r>
                          <a:rPr lang="en-US" altLang="zh-CN" i="1" dirty="0">
                            <a:solidFill>
                              <a:srgbClr val="0033CC"/>
                            </a:solidFill>
                            <a:latin typeface="Cambria Math" panose="02040503050406030204" charset="0"/>
                            <a:cs typeface="Cambria Math" panose="02040503050406030204" charset="0"/>
                          </a:rPr>
                          <m:t>𝑹</m:t>
                        </m:r>
                      </m:e>
                      <m:sub>
                        <m:r>
                          <a:rPr lang="en-US" altLang="zh-CN" i="1" dirty="0">
                            <a:solidFill>
                              <a:srgbClr val="0033CC"/>
                            </a:solidFill>
                            <a:latin typeface="Cambria Math" panose="02040503050406030204" charset="0"/>
                            <a:cs typeface="Cambria Math" panose="02040503050406030204" charset="0"/>
                          </a:rPr>
                          <m:t>𝒏</m:t>
                        </m:r>
                      </m:sub>
                    </m:sSub>
                    <m:r>
                      <a:rPr lang="zh-CN" altLang="en-US" sz="2100" dirty="0">
                        <a:solidFill>
                          <a:srgbClr val="0033CC"/>
                        </a:solidFill>
                        <a:latin typeface="宋体" panose="02010600030101010101" pitchFamily="2" charset="-122"/>
                      </a:rPr>
                      <m:t>，</m:t>
                    </m:r>
                  </m:oMath>
                </a14:m>
                <a:r>
                  <a:rPr lang="zh-CN" altLang="en-US" sz="2100" dirty="0">
                    <a:solidFill>
                      <a:srgbClr val="0033CC"/>
                    </a:solidFill>
                    <a:latin typeface="宋体" panose="02010600030101010101" pitchFamily="2" charset="-122"/>
                  </a:rPr>
                  <a:t>如果</a:t>
                </a:r>
                <a14:m>
                  <m:oMath xmlns:m="http://schemas.openxmlformats.org/officeDocument/2006/math">
                    <m:r>
                      <a:rPr lang="en-US" altLang="zh-CN" sz="2100" i="1" dirty="0">
                        <a:solidFill>
                          <a:srgbClr val="0033CC"/>
                        </a:solidFill>
                        <a:latin typeface="Cambria Math" panose="02040503050406030204" charset="0"/>
                        <a:cs typeface="Cambria Math" panose="02040503050406030204" charset="0"/>
                      </a:rPr>
                      <m:t>𝑹</m:t>
                    </m:r>
                    <m:r>
                      <a:rPr lang="en-US" altLang="zh-CN" sz="2100" i="1" dirty="0">
                        <a:solidFill>
                          <a:srgbClr val="0033CC"/>
                        </a:solidFill>
                        <a:latin typeface="Cambria Math" panose="02040503050406030204" charset="0"/>
                        <a:cs typeface="Cambria Math" panose="02040503050406030204" charset="0"/>
                      </a:rPr>
                      <m:t>=</m:t>
                    </m:r>
                    <m:sSub>
                      <m:sSubPr>
                        <m:ctrlPr>
                          <a:rPr lang="en-US" altLang="zh-CN" sz="2100" i="1" dirty="0">
                            <a:solidFill>
                              <a:srgbClr val="0033CC"/>
                            </a:solidFill>
                            <a:latin typeface="Cambria Math" panose="02040503050406030204" charset="0"/>
                            <a:cs typeface="Cambria Math" panose="02040503050406030204" charset="0"/>
                          </a:rPr>
                        </m:ctrlPr>
                      </m:sSubPr>
                      <m:e>
                        <m:r>
                          <a:rPr lang="en-US" altLang="zh-CN" sz="2100" b="1" i="1" dirty="0">
                            <a:solidFill>
                              <a:srgbClr val="0033CC"/>
                            </a:solidFill>
                            <a:latin typeface="Cambria Math" panose="02040503050406030204" charset="0"/>
                            <a:cs typeface="Cambria Math" panose="02040503050406030204" charset="0"/>
                          </a:rPr>
                          <m:t>𝝅</m:t>
                        </m:r>
                      </m:e>
                      <m:sub>
                        <m:r>
                          <a:rPr lang="en-US" altLang="zh-CN" sz="2100" i="1" dirty="0">
                            <a:solidFill>
                              <a:srgbClr val="0033CC"/>
                            </a:solidFill>
                            <a:latin typeface="Cambria Math" panose="02040503050406030204" charset="0"/>
                            <a:cs typeface="Cambria Math" panose="02040503050406030204" charset="0"/>
                          </a:rPr>
                          <m:t>𝑹</m:t>
                        </m:r>
                        <m:r>
                          <a:rPr lang="en-US" altLang="zh-CN" sz="2100" i="1" dirty="0">
                            <a:solidFill>
                              <a:srgbClr val="0033CC"/>
                            </a:solidFill>
                            <a:latin typeface="Cambria Math" panose="02040503050406030204" charset="0"/>
                            <a:cs typeface="Cambria Math" panose="02040503050406030204" charset="0"/>
                          </a:rPr>
                          <m:t>𝟏</m:t>
                        </m:r>
                      </m:sub>
                    </m:sSub>
                    <m:r>
                      <a:rPr lang="en-US" altLang="zh-CN" sz="2100" i="1" dirty="0">
                        <a:solidFill>
                          <a:srgbClr val="0033CC"/>
                        </a:solidFill>
                        <a:latin typeface="Cambria Math" panose="02040503050406030204" charset="0"/>
                        <a:cs typeface="Cambria Math" panose="02040503050406030204" charset="0"/>
                      </a:rPr>
                      <m:t>(</m:t>
                    </m:r>
                    <m:r>
                      <a:rPr lang="en-US" altLang="zh-CN" sz="2100" i="1" dirty="0">
                        <a:solidFill>
                          <a:srgbClr val="0033CC"/>
                        </a:solidFill>
                        <a:latin typeface="Cambria Math" panose="02040503050406030204" charset="0"/>
                        <a:cs typeface="Cambria Math" panose="02040503050406030204" charset="0"/>
                      </a:rPr>
                      <m:t>𝑹</m:t>
                    </m:r>
                    <m:r>
                      <a:rPr lang="en-US" altLang="zh-CN" sz="2100" i="1" dirty="0">
                        <a:solidFill>
                          <a:srgbClr val="0033CC"/>
                        </a:solidFill>
                        <a:latin typeface="Cambria Math" panose="02040503050406030204" charset="0"/>
                        <a:cs typeface="Cambria Math" panose="02040503050406030204" charset="0"/>
                      </a:rPr>
                      <m:t>)</m:t>
                    </m:r>
                  </m:oMath>
                </a14:m>
                <a:r>
                  <a:rPr lang="zh-CN" altLang="en-US" sz="2100" dirty="0">
                    <a:solidFill>
                      <a:srgbClr val="0033CC"/>
                    </a:solidFill>
                    <a:latin typeface="宋体" panose="02010600030101010101" pitchFamily="2" charset="-122"/>
                  </a:rPr>
                  <a:t>  </a:t>
                </a:r>
                <a:r>
                  <a:rPr lang="zh-CN" altLang="en-US" b="0" dirty="0">
                    <a:solidFill>
                      <a:srgbClr val="FF3300"/>
                    </a:solidFill>
                    <a:latin typeface="宋体" panose="02010600030101010101" pitchFamily="2" charset="-122"/>
                  </a:rPr>
                  <a:t>  </a:t>
                </a:r>
                <a14:m>
                  <m:oMath xmlns:m="http://schemas.openxmlformats.org/officeDocument/2006/math">
                    <m:sSub>
                      <m:sSubPr>
                        <m:ctrlPr>
                          <a:rPr lang="en-US" altLang="zh-CN" i="1" dirty="0">
                            <a:solidFill>
                              <a:srgbClr val="0033CC"/>
                            </a:solidFill>
                            <a:latin typeface="Cambria Math" panose="02040503050406030204" charset="0"/>
                            <a:cs typeface="Cambria Math" panose="02040503050406030204" charset="0"/>
                          </a:rPr>
                        </m:ctrlPr>
                      </m:sSubPr>
                      <m:e>
                        <m:r>
                          <a:rPr lang="en-US" altLang="zh-CN" b="1" i="1" dirty="0">
                            <a:solidFill>
                              <a:srgbClr val="0033CC"/>
                            </a:solidFill>
                            <a:latin typeface="Cambria Math" panose="02040503050406030204" charset="0"/>
                            <a:cs typeface="Cambria Math" panose="02040503050406030204" charset="0"/>
                          </a:rPr>
                          <m:t>𝝅</m:t>
                        </m:r>
                      </m:e>
                      <m:sub>
                        <m:r>
                          <a:rPr lang="en-US" altLang="zh-CN" i="1" dirty="0">
                            <a:solidFill>
                              <a:srgbClr val="0033CC"/>
                            </a:solidFill>
                            <a:latin typeface="Cambria Math" panose="02040503050406030204" charset="0"/>
                            <a:cs typeface="Cambria Math" panose="02040503050406030204" charset="0"/>
                          </a:rPr>
                          <m:t>𝑹</m:t>
                        </m:r>
                        <m:r>
                          <a:rPr lang="en-US" altLang="zh-CN" i="1" dirty="0">
                            <a:solidFill>
                              <a:srgbClr val="0033CC"/>
                            </a:solidFill>
                            <a:latin typeface="Cambria Math" panose="02040503050406030204" charset="0"/>
                            <a:cs typeface="Cambria Math" panose="02040503050406030204" charset="0"/>
                          </a:rPr>
                          <m:t>𝟐</m:t>
                        </m:r>
                      </m:sub>
                    </m:sSub>
                    <m:r>
                      <a:rPr lang="en-US" altLang="zh-CN" i="1" dirty="0">
                        <a:solidFill>
                          <a:srgbClr val="0033CC"/>
                        </a:solidFill>
                        <a:latin typeface="Cambria Math" panose="02040503050406030204" charset="0"/>
                        <a:cs typeface="Cambria Math" panose="02040503050406030204" charset="0"/>
                      </a:rPr>
                      <m:t>(</m:t>
                    </m:r>
                    <m:r>
                      <a:rPr lang="en-US" altLang="zh-CN" i="1" dirty="0">
                        <a:solidFill>
                          <a:srgbClr val="0033CC"/>
                        </a:solidFill>
                        <a:latin typeface="Cambria Math" panose="02040503050406030204" charset="0"/>
                        <a:cs typeface="Cambria Math" panose="02040503050406030204" charset="0"/>
                      </a:rPr>
                      <m:t>𝑹</m:t>
                    </m:r>
                    <m:r>
                      <a:rPr lang="en-US" altLang="zh-CN" i="1" dirty="0">
                        <a:solidFill>
                          <a:srgbClr val="0033CC"/>
                        </a:solidFill>
                        <a:latin typeface="Cambria Math" panose="02040503050406030204" charset="0"/>
                        <a:cs typeface="Cambria Math" panose="02040503050406030204" charset="0"/>
                      </a:rPr>
                      <m:t>)</m:t>
                    </m:r>
                  </m:oMath>
                </a14:m>
                <a:r>
                  <a:rPr lang="en-US" altLang="zh-CN" b="0" dirty="0"/>
                  <a:t>      …       </a:t>
                </a:r>
                <a14:m>
                  <m:oMath xmlns:m="http://schemas.openxmlformats.org/officeDocument/2006/math">
                    <m:sSub>
                      <m:sSubPr>
                        <m:ctrlPr>
                          <a:rPr lang="en-US" altLang="zh-CN" i="1" dirty="0">
                            <a:solidFill>
                              <a:srgbClr val="0033CC"/>
                            </a:solidFill>
                            <a:latin typeface="Cambria Math" panose="02040503050406030204" charset="0"/>
                            <a:cs typeface="Cambria Math" panose="02040503050406030204" charset="0"/>
                          </a:rPr>
                        </m:ctrlPr>
                      </m:sSubPr>
                      <m:e>
                        <m:r>
                          <a:rPr lang="en-US" altLang="zh-CN" b="1" i="1" dirty="0">
                            <a:solidFill>
                              <a:srgbClr val="0033CC"/>
                            </a:solidFill>
                            <a:latin typeface="Cambria Math" panose="02040503050406030204" charset="0"/>
                            <a:cs typeface="Cambria Math" panose="02040503050406030204" charset="0"/>
                          </a:rPr>
                          <m:t>𝝅</m:t>
                        </m:r>
                      </m:e>
                      <m:sub>
                        <m:r>
                          <a:rPr lang="en-US" altLang="zh-CN" i="1" dirty="0">
                            <a:solidFill>
                              <a:srgbClr val="0033CC"/>
                            </a:solidFill>
                            <a:latin typeface="Cambria Math" panose="02040503050406030204" charset="0"/>
                            <a:cs typeface="Cambria Math" panose="02040503050406030204" charset="0"/>
                          </a:rPr>
                          <m:t>𝑹</m:t>
                        </m:r>
                        <m:r>
                          <a:rPr lang="en-US" altLang="zh-CN" i="1" dirty="0">
                            <a:solidFill>
                              <a:srgbClr val="0033CC"/>
                            </a:solidFill>
                            <a:latin typeface="Cambria Math" panose="02040503050406030204" charset="0"/>
                            <a:cs typeface="Cambria Math" panose="02040503050406030204" charset="0"/>
                          </a:rPr>
                          <m:t>𝑛</m:t>
                        </m:r>
                      </m:sub>
                    </m:sSub>
                    <m:r>
                      <a:rPr lang="en-US" altLang="zh-CN" i="1" dirty="0">
                        <a:solidFill>
                          <a:srgbClr val="0033CC"/>
                        </a:solidFill>
                        <a:latin typeface="Cambria Math" panose="02040503050406030204" charset="0"/>
                        <a:cs typeface="Cambria Math" panose="02040503050406030204" charset="0"/>
                      </a:rPr>
                      <m:t>(</m:t>
                    </m:r>
                    <m:r>
                      <a:rPr lang="en-US" altLang="zh-CN" i="1" dirty="0">
                        <a:solidFill>
                          <a:srgbClr val="0033CC"/>
                        </a:solidFill>
                        <a:latin typeface="Cambria Math" panose="02040503050406030204" charset="0"/>
                        <a:cs typeface="Cambria Math" panose="02040503050406030204" charset="0"/>
                      </a:rPr>
                      <m:t>𝑹</m:t>
                    </m:r>
                    <m:r>
                      <a:rPr lang="en-US" altLang="zh-CN" i="1" dirty="0">
                        <a:solidFill>
                          <a:srgbClr val="0033CC"/>
                        </a:solidFill>
                        <a:latin typeface="Cambria Math" panose="02040503050406030204" charset="0"/>
                        <a:cs typeface="Cambria Math" panose="02040503050406030204" charset="0"/>
                      </a:rPr>
                      <m:t>)</m:t>
                    </m:r>
                  </m:oMath>
                </a14:m>
                <a:r>
                  <a:rPr lang="zh-CN" altLang="en-US" b="0" dirty="0">
                    <a:solidFill>
                      <a:srgbClr val="0033CC"/>
                    </a:solidFill>
                    <a:latin typeface="Cambria Math" panose="02040503050406030204" charset="0"/>
                    <a:cs typeface="Cambria Math" panose="02040503050406030204" charset="0"/>
                  </a:rPr>
                  <a:t>，</a:t>
                </a:r>
                <a:r>
                  <a:rPr lang="zh-CN" altLang="en-US" sz="2100" dirty="0">
                    <a:solidFill>
                      <a:srgbClr val="0033CC"/>
                    </a:solidFill>
                    <a:latin typeface="宋体" panose="02010600030101010101" pitchFamily="2" charset="-122"/>
                  </a:rPr>
                  <a:t>则称</a:t>
                </a:r>
                <a:r>
                  <a:rPr lang="en-US" altLang="zh-CN" b="0" dirty="0">
                    <a:solidFill>
                      <a:srgbClr val="0033CC"/>
                    </a:solidFill>
                    <a:latin typeface="Cambria Math" panose="02040503050406030204" charset="0"/>
                    <a:cs typeface="Cambria Math" panose="02040503050406030204" charset="0"/>
                  </a:rPr>
                  <a:t>(</a:t>
                </a:r>
                <a14:m>
                  <m:oMath xmlns:m="http://schemas.openxmlformats.org/officeDocument/2006/math">
                    <m:sSub>
                      <m:sSubPr>
                        <m:ctrlPr>
                          <a:rPr lang="en-US" altLang="zh-CN" i="1" dirty="0">
                            <a:solidFill>
                              <a:srgbClr val="0033CC"/>
                            </a:solidFill>
                            <a:latin typeface="Cambria Math" panose="02040503050406030204" charset="0"/>
                            <a:cs typeface="Cambria Math" panose="02040503050406030204" charset="0"/>
                          </a:rPr>
                        </m:ctrlPr>
                      </m:sSubPr>
                      <m:e>
                        <m:r>
                          <a:rPr lang="en-US" altLang="zh-CN" i="1" dirty="0">
                            <a:solidFill>
                              <a:srgbClr val="0033CC"/>
                            </a:solidFill>
                            <a:latin typeface="Cambria Math" panose="02040503050406030204" charset="0"/>
                            <a:cs typeface="Cambria Math" panose="02040503050406030204" charset="0"/>
                          </a:rPr>
                          <m:t>𝑹</m:t>
                        </m:r>
                      </m:e>
                      <m:sub>
                        <m:r>
                          <a:rPr lang="en-US" altLang="zh-CN" i="1" dirty="0">
                            <a:solidFill>
                              <a:srgbClr val="0033CC"/>
                            </a:solidFill>
                            <a:latin typeface="Cambria Math" panose="02040503050406030204" charset="0"/>
                            <a:cs typeface="Cambria Math" panose="02040503050406030204" charset="0"/>
                          </a:rPr>
                          <m:t>𝟏</m:t>
                        </m:r>
                      </m:sub>
                    </m:sSub>
                    <m:r>
                      <a:rPr lang="en-US" altLang="zh-CN" i="1" dirty="0">
                        <a:solidFill>
                          <a:srgbClr val="0033CC"/>
                        </a:solidFill>
                        <a:latin typeface="Cambria Math" panose="02040503050406030204" charset="0"/>
                        <a:cs typeface="Cambria Math" panose="02040503050406030204" charset="0"/>
                      </a:rPr>
                      <m:t>,</m:t>
                    </m:r>
                    <m:sSub>
                      <m:sSubPr>
                        <m:ctrlPr>
                          <a:rPr lang="en-US" altLang="zh-CN" i="1" dirty="0">
                            <a:solidFill>
                              <a:srgbClr val="0033CC"/>
                            </a:solidFill>
                            <a:latin typeface="Cambria Math" panose="02040503050406030204" charset="0"/>
                            <a:cs typeface="Cambria Math" panose="02040503050406030204" charset="0"/>
                          </a:rPr>
                        </m:ctrlPr>
                      </m:sSubPr>
                      <m:e>
                        <m:r>
                          <a:rPr lang="en-US" altLang="zh-CN" i="1" dirty="0">
                            <a:solidFill>
                              <a:srgbClr val="0033CC"/>
                            </a:solidFill>
                            <a:latin typeface="Cambria Math" panose="02040503050406030204" charset="0"/>
                            <a:cs typeface="Cambria Math" panose="02040503050406030204" charset="0"/>
                          </a:rPr>
                          <m:t>𝑹</m:t>
                        </m:r>
                      </m:e>
                      <m:sub>
                        <m:r>
                          <a:rPr lang="en-US" altLang="zh-CN" i="1" dirty="0">
                            <a:solidFill>
                              <a:srgbClr val="0033CC"/>
                            </a:solidFill>
                            <a:latin typeface="Cambria Math" panose="02040503050406030204" charset="0"/>
                            <a:cs typeface="Cambria Math" panose="02040503050406030204" charset="0"/>
                          </a:rPr>
                          <m:t>𝟐</m:t>
                        </m:r>
                      </m:sub>
                    </m:sSub>
                    <m:r>
                      <a:rPr lang="en-US" altLang="zh-CN" i="1" dirty="0">
                        <a:solidFill>
                          <a:srgbClr val="0033CC"/>
                        </a:solidFill>
                        <a:latin typeface="Cambria Math" panose="02040503050406030204" charset="0"/>
                        <a:cs typeface="Cambria Math" panose="02040503050406030204" charset="0"/>
                      </a:rPr>
                      <m:t>,</m:t>
                    </m:r>
                    <m:sSub>
                      <m:sSubPr>
                        <m:ctrlPr>
                          <a:rPr lang="en-US" altLang="zh-CN" i="1" dirty="0">
                            <a:solidFill>
                              <a:srgbClr val="0033CC"/>
                            </a:solidFill>
                            <a:latin typeface="Cambria Math" panose="02040503050406030204" charset="0"/>
                            <a:cs typeface="Cambria Math" panose="02040503050406030204" charset="0"/>
                          </a:rPr>
                        </m:ctrlPr>
                      </m:sSubPr>
                      <m:e>
                        <m:r>
                          <a:rPr lang="en-US" altLang="zh-CN" i="1" dirty="0">
                            <a:solidFill>
                              <a:srgbClr val="0033CC"/>
                            </a:solidFill>
                            <a:latin typeface="Cambria Math" panose="02040503050406030204" charset="0"/>
                            <a:cs typeface="Cambria Math" panose="02040503050406030204" charset="0"/>
                          </a:rPr>
                          <m:t>...,</m:t>
                        </m:r>
                        <m:r>
                          <a:rPr lang="en-US" altLang="zh-CN" i="1" dirty="0">
                            <a:solidFill>
                              <a:srgbClr val="0033CC"/>
                            </a:solidFill>
                            <a:latin typeface="Cambria Math" panose="02040503050406030204" charset="0"/>
                            <a:cs typeface="Cambria Math" panose="02040503050406030204" charset="0"/>
                          </a:rPr>
                          <m:t>𝑹</m:t>
                        </m:r>
                      </m:e>
                      <m:sub>
                        <m:r>
                          <a:rPr lang="en-US" altLang="zh-CN" i="1" dirty="0">
                            <a:solidFill>
                              <a:srgbClr val="0033CC"/>
                            </a:solidFill>
                            <a:latin typeface="Cambria Math" panose="02040503050406030204" charset="0"/>
                            <a:cs typeface="Cambria Math" panose="02040503050406030204" charset="0"/>
                          </a:rPr>
                          <m:t>𝒏</m:t>
                        </m:r>
                      </m:sub>
                    </m:sSub>
                  </m:oMath>
                </a14:m>
                <a:r>
                  <a:rPr lang="en-US" altLang="zh-CN" b="0" dirty="0">
                    <a:solidFill>
                      <a:srgbClr val="0033CC"/>
                    </a:solidFill>
                    <a:latin typeface="Cambria Math" panose="02040503050406030204" charset="0"/>
                    <a:cs typeface="Cambria Math" panose="02040503050406030204" charset="0"/>
                  </a:rPr>
                  <a:t>)</a:t>
                </a:r>
                <a:r>
                  <a:rPr lang="zh-CN" altLang="en-US" sz="2100" dirty="0">
                    <a:solidFill>
                      <a:srgbClr val="0033CC"/>
                    </a:solidFill>
                    <a:latin typeface="宋体" panose="02010600030101010101" pitchFamily="2" charset="-122"/>
                  </a:rPr>
                  <a:t>是一个连接依赖，记作</a:t>
                </a:r>
                <a14:m>
                  <m:oMath xmlns:m="http://schemas.openxmlformats.org/officeDocument/2006/math">
                    <m:r>
                      <a:rPr lang="en-US" altLang="zh-CN" i="1" dirty="0">
                        <a:solidFill>
                          <a:srgbClr val="0033CC"/>
                        </a:solidFill>
                        <a:latin typeface="Cambria Math" panose="02040503050406030204" charset="0"/>
                        <a:cs typeface="Cambria Math" panose="02040503050406030204" charset="0"/>
                      </a:rPr>
                      <m:t>𝑱𝑫</m:t>
                    </m:r>
                    <m:r>
                      <a:rPr lang="en-US" altLang="zh-CN" i="1" dirty="0">
                        <a:solidFill>
                          <a:srgbClr val="0033CC"/>
                        </a:solidFill>
                        <a:latin typeface="Cambria Math" panose="02040503050406030204" charset="0"/>
                        <a:cs typeface="Cambria Math" panose="02040503050406030204" charset="0"/>
                      </a:rPr>
                      <m:t>(</m:t>
                    </m:r>
                    <m:sSub>
                      <m:sSubPr>
                        <m:ctrlPr>
                          <a:rPr lang="en-US" altLang="zh-CN" i="1" dirty="0">
                            <a:solidFill>
                              <a:srgbClr val="0033CC"/>
                            </a:solidFill>
                            <a:latin typeface="Cambria Math" panose="02040503050406030204" charset="0"/>
                            <a:cs typeface="Cambria Math" panose="02040503050406030204" charset="0"/>
                          </a:rPr>
                        </m:ctrlPr>
                      </m:sSubPr>
                      <m:e>
                        <m:r>
                          <a:rPr lang="en-US" altLang="zh-CN" i="1" dirty="0">
                            <a:solidFill>
                              <a:srgbClr val="0033CC"/>
                            </a:solidFill>
                            <a:latin typeface="Cambria Math" panose="02040503050406030204" charset="0"/>
                            <a:cs typeface="Cambria Math" panose="02040503050406030204" charset="0"/>
                          </a:rPr>
                          <m:t>𝑹</m:t>
                        </m:r>
                      </m:e>
                      <m:sub>
                        <m:r>
                          <a:rPr lang="en-US" altLang="zh-CN" i="1" dirty="0">
                            <a:solidFill>
                              <a:srgbClr val="0033CC"/>
                            </a:solidFill>
                            <a:latin typeface="Cambria Math" panose="02040503050406030204" charset="0"/>
                            <a:cs typeface="Cambria Math" panose="02040503050406030204" charset="0"/>
                          </a:rPr>
                          <m:t>𝟏</m:t>
                        </m:r>
                      </m:sub>
                    </m:sSub>
                    <m:r>
                      <a:rPr lang="en-US" altLang="zh-CN" i="1" dirty="0">
                        <a:solidFill>
                          <a:srgbClr val="0033CC"/>
                        </a:solidFill>
                        <a:latin typeface="Cambria Math" panose="02040503050406030204" charset="0"/>
                        <a:cs typeface="Cambria Math" panose="02040503050406030204" charset="0"/>
                      </a:rPr>
                      <m:t>,</m:t>
                    </m:r>
                    <m:sSub>
                      <m:sSubPr>
                        <m:ctrlPr>
                          <a:rPr lang="en-US" altLang="zh-CN" i="1" dirty="0">
                            <a:solidFill>
                              <a:srgbClr val="0033CC"/>
                            </a:solidFill>
                            <a:latin typeface="Cambria Math" panose="02040503050406030204" charset="0"/>
                            <a:cs typeface="Cambria Math" panose="02040503050406030204" charset="0"/>
                          </a:rPr>
                        </m:ctrlPr>
                      </m:sSubPr>
                      <m:e>
                        <m:r>
                          <a:rPr lang="en-US" altLang="zh-CN" i="1" dirty="0">
                            <a:solidFill>
                              <a:srgbClr val="0033CC"/>
                            </a:solidFill>
                            <a:latin typeface="Cambria Math" panose="02040503050406030204" charset="0"/>
                            <a:cs typeface="Cambria Math" panose="02040503050406030204" charset="0"/>
                          </a:rPr>
                          <m:t>𝑹</m:t>
                        </m:r>
                      </m:e>
                      <m:sub>
                        <m:r>
                          <a:rPr lang="en-US" altLang="zh-CN" i="1" dirty="0">
                            <a:solidFill>
                              <a:srgbClr val="0033CC"/>
                            </a:solidFill>
                            <a:latin typeface="Cambria Math" panose="02040503050406030204" charset="0"/>
                            <a:cs typeface="Cambria Math" panose="02040503050406030204" charset="0"/>
                          </a:rPr>
                          <m:t>𝟐</m:t>
                        </m:r>
                      </m:sub>
                    </m:sSub>
                    <m:r>
                      <a:rPr lang="en-US" altLang="zh-CN" i="1" dirty="0">
                        <a:solidFill>
                          <a:srgbClr val="0033CC"/>
                        </a:solidFill>
                        <a:latin typeface="Cambria Math" panose="02040503050406030204" charset="0"/>
                        <a:cs typeface="Cambria Math" panose="02040503050406030204" charset="0"/>
                      </a:rPr>
                      <m:t>,</m:t>
                    </m:r>
                    <m:sSub>
                      <m:sSubPr>
                        <m:ctrlPr>
                          <a:rPr lang="en-US" altLang="zh-CN" i="1" dirty="0">
                            <a:solidFill>
                              <a:srgbClr val="0033CC"/>
                            </a:solidFill>
                            <a:latin typeface="Cambria Math" panose="02040503050406030204" charset="0"/>
                            <a:cs typeface="Cambria Math" panose="02040503050406030204" charset="0"/>
                          </a:rPr>
                        </m:ctrlPr>
                      </m:sSubPr>
                      <m:e>
                        <m:r>
                          <a:rPr lang="en-US" altLang="zh-CN" i="1" dirty="0">
                            <a:solidFill>
                              <a:srgbClr val="0033CC"/>
                            </a:solidFill>
                            <a:latin typeface="Cambria Math" panose="02040503050406030204" charset="0"/>
                            <a:cs typeface="Cambria Math" panose="02040503050406030204" charset="0"/>
                          </a:rPr>
                          <m:t>...,</m:t>
                        </m:r>
                        <m:r>
                          <a:rPr lang="en-US" altLang="zh-CN" i="1" dirty="0">
                            <a:solidFill>
                              <a:srgbClr val="0033CC"/>
                            </a:solidFill>
                            <a:latin typeface="Cambria Math" panose="02040503050406030204" charset="0"/>
                            <a:cs typeface="Cambria Math" panose="02040503050406030204" charset="0"/>
                          </a:rPr>
                          <m:t>𝑹</m:t>
                        </m:r>
                      </m:e>
                      <m:sub>
                        <m:r>
                          <a:rPr lang="en-US" altLang="zh-CN" i="1" dirty="0">
                            <a:solidFill>
                              <a:srgbClr val="0033CC"/>
                            </a:solidFill>
                            <a:latin typeface="Cambria Math" panose="02040503050406030204" charset="0"/>
                            <a:cs typeface="Cambria Math" panose="02040503050406030204" charset="0"/>
                          </a:rPr>
                          <m:t>𝒏</m:t>
                        </m:r>
                      </m:sub>
                    </m:sSub>
                    <m:r>
                      <a:rPr lang="en-US" altLang="zh-CN" i="1" dirty="0">
                        <a:solidFill>
                          <a:srgbClr val="0033CC"/>
                        </a:solidFill>
                        <a:latin typeface="Cambria Math" panose="02040503050406030204" charset="0"/>
                        <a:cs typeface="Cambria Math" panose="02040503050406030204" charset="0"/>
                      </a:rPr>
                      <m:t>)。</m:t>
                    </m:r>
                  </m:oMath>
                </a14:m>
                <a:endParaRPr lang="zh-CN" altLang="en-US" b="0" dirty="0">
                  <a:solidFill>
                    <a:srgbClr val="0033CC"/>
                  </a:solidFill>
                  <a:latin typeface="Cambria Math" panose="02040503050406030204" charset="0"/>
                  <a:cs typeface="Cambria Math" panose="02040503050406030204" charset="0"/>
                </a:endParaRPr>
              </a:p>
            </p:txBody>
          </p:sp>
        </mc:Choice>
        <mc:Fallback>
          <p:sp>
            <p:nvSpPr>
              <p:cNvPr id="63491" name="Text Box 3"/>
              <p:cNvSpPr txBox="1">
                <a:spLocks noRot="1" noChangeAspect="1" noMove="1" noResize="1" noEditPoints="1" noAdjustHandles="1" noChangeArrowheads="1" noChangeShapeType="1" noTextEdit="1"/>
              </p:cNvSpPr>
              <p:nvPr/>
            </p:nvSpPr>
            <p:spPr>
              <a:xfrm>
                <a:off x="388620" y="1424305"/>
                <a:ext cx="8437245" cy="1529080"/>
              </a:xfrm>
              <a:prstGeom prst="rect">
                <a:avLst/>
              </a:prstGeom>
              <a:blipFill rotWithShape="1">
                <a:blip r:embed="rId1"/>
                <a:stretch>
                  <a:fillRect/>
                </a:stretch>
              </a:blipFill>
              <a:ln w="9525">
                <a:noFill/>
              </a:ln>
            </p:spPr>
            <p:txBody>
              <a:bodyPr/>
              <a:lstStyle/>
              <a:p>
                <a:r>
                  <a:rPr lang="zh-CN" altLang="en-US">
                    <a:noFill/>
                  </a:rPr>
                  <a:t> </a:t>
                </a:r>
              </a:p>
            </p:txBody>
          </p:sp>
        </mc:Fallback>
      </mc:AlternateContent>
      <p:sp>
        <p:nvSpPr>
          <p:cNvPr id="61479" name="流程图: 对照 50245"/>
          <p:cNvSpPr/>
          <p:nvPr/>
        </p:nvSpPr>
        <p:spPr>
          <a:xfrm rot="5280000">
            <a:off x="5329274" y="1946898"/>
            <a:ext cx="260350" cy="334669"/>
          </a:xfrm>
          <a:prstGeom prst="flowChartCollate">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7" name="流程图: 对照 50245"/>
          <p:cNvSpPr/>
          <p:nvPr/>
        </p:nvSpPr>
        <p:spPr>
          <a:xfrm rot="5280000">
            <a:off x="6665949" y="1947533"/>
            <a:ext cx="260350" cy="334669"/>
          </a:xfrm>
          <a:prstGeom prst="flowChartCollate">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8" name="流程图: 对照 50245"/>
          <p:cNvSpPr/>
          <p:nvPr/>
        </p:nvSpPr>
        <p:spPr>
          <a:xfrm rot="5280000">
            <a:off x="7363179" y="1948168"/>
            <a:ext cx="260350" cy="334669"/>
          </a:xfrm>
          <a:prstGeom prst="flowChartCollate">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1443" name="Rectangle 2"/>
          <p:cNvSpPr/>
          <p:nvPr/>
        </p:nvSpPr>
        <p:spPr>
          <a:xfrm>
            <a:off x="457200"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mc:AlternateContent xmlns:mc="http://schemas.openxmlformats.org/markup-compatibility/2006">
        <mc:Choice xmlns:a14="http://schemas.microsoft.com/office/drawing/2010/main" Requires="a14">
          <p:sp>
            <p:nvSpPr>
              <p:cNvPr id="11" name="Text Box 3"/>
              <p:cNvSpPr txBox="1"/>
              <p:nvPr/>
            </p:nvSpPr>
            <p:spPr>
              <a:xfrm>
                <a:off x="492125" y="2804160"/>
                <a:ext cx="8486775" cy="1529080"/>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15000"/>
                  </a:spcBef>
                  <a:buClrTx/>
                  <a:buSzTx/>
                  <a:buNone/>
                </a:pPr>
                <a:r>
                  <a:rPr lang="zh-CN" altLang="en-US" b="0" dirty="0">
                    <a:solidFill>
                      <a:srgbClr val="FF0000"/>
                    </a:solidFill>
                    <a:latin typeface="宋体" panose="02010600030101010101" pitchFamily="2" charset="-122"/>
                  </a:rPr>
                  <a:t>    </a:t>
                </a:r>
                <a:r>
                  <a:rPr lang="zh-CN" altLang="en-US" sz="2100" dirty="0">
                    <a:solidFill>
                      <a:srgbClr val="FF0000"/>
                    </a:solidFill>
                    <a:latin typeface="宋体" panose="02010600030101010101" pitchFamily="2" charset="-122"/>
                  </a:rPr>
                  <a:t>定义：非平凡连接依赖</a:t>
                </a:r>
                <a:r>
                  <a:rPr lang="en-US" altLang="zh-CN" sz="2100" dirty="0">
                    <a:solidFill>
                      <a:srgbClr val="FF0000"/>
                    </a:solidFill>
                    <a:latin typeface="宋体" panose="02010600030101010101" pitchFamily="2" charset="-122"/>
                  </a:rPr>
                  <a:t>:</a:t>
                </a:r>
                <a:r>
                  <a:rPr lang="zh-CN" altLang="en-US" sz="2100" dirty="0">
                    <a:solidFill>
                      <a:srgbClr val="0033CC"/>
                    </a:solidFill>
                    <a:latin typeface="宋体" panose="02010600030101010101" pitchFamily="2" charset="-122"/>
                  </a:rPr>
                  <a:t>如果</a:t>
                </a:r>
                <a:r>
                  <a:rPr lang="en-US" altLang="zh-CN" sz="2100" b="0" dirty="0">
                    <a:solidFill>
                      <a:srgbClr val="0033CC"/>
                    </a:solidFill>
                    <a:latin typeface="Cambria Math" panose="02040503050406030204" charset="0"/>
                    <a:cs typeface="Cambria Math" panose="02040503050406030204" charset="0"/>
                    <a:sym typeface="+mn-ea"/>
                  </a:rPr>
                  <a:t>(</a:t>
                </a:r>
                <a14:m>
                  <m:oMath xmlns:m="http://schemas.openxmlformats.org/officeDocument/2006/math">
                    <m:sSub>
                      <m:sSubPr>
                        <m:ctrlPr>
                          <a:rPr lang="en-US" altLang="zh-CN" sz="2100" i="1" dirty="0">
                            <a:solidFill>
                              <a:srgbClr val="0033CC"/>
                            </a:solidFill>
                            <a:latin typeface="Cambria Math" panose="02040503050406030204" charset="0"/>
                            <a:cs typeface="Cambria Math" panose="02040503050406030204" charset="0"/>
                          </a:rPr>
                        </m:ctrlPr>
                      </m:sSubPr>
                      <m:e>
                        <m:r>
                          <a:rPr lang="en-US" altLang="zh-CN" sz="2100" i="1" dirty="0">
                            <a:solidFill>
                              <a:srgbClr val="0033CC"/>
                            </a:solidFill>
                            <a:latin typeface="Cambria Math" panose="02040503050406030204" charset="0"/>
                            <a:cs typeface="Cambria Math" panose="02040503050406030204" charset="0"/>
                          </a:rPr>
                          <m:t>𝑹</m:t>
                        </m:r>
                      </m:e>
                      <m:sub>
                        <m:r>
                          <a:rPr lang="en-US" altLang="zh-CN" sz="2100" i="1" dirty="0">
                            <a:solidFill>
                              <a:srgbClr val="0033CC"/>
                            </a:solidFill>
                            <a:latin typeface="Cambria Math" panose="02040503050406030204" charset="0"/>
                            <a:cs typeface="Cambria Math" panose="02040503050406030204" charset="0"/>
                          </a:rPr>
                          <m:t>𝟏</m:t>
                        </m:r>
                      </m:sub>
                    </m:sSub>
                    <m:r>
                      <a:rPr lang="en-US" altLang="zh-CN" sz="2100" i="1" dirty="0">
                        <a:solidFill>
                          <a:srgbClr val="0033CC"/>
                        </a:solidFill>
                        <a:latin typeface="Cambria Math" panose="02040503050406030204" charset="0"/>
                        <a:cs typeface="Cambria Math" panose="02040503050406030204" charset="0"/>
                      </a:rPr>
                      <m:t>,</m:t>
                    </m:r>
                    <m:sSub>
                      <m:sSubPr>
                        <m:ctrlPr>
                          <a:rPr lang="en-US" altLang="zh-CN" sz="2100" i="1" dirty="0">
                            <a:solidFill>
                              <a:srgbClr val="0033CC"/>
                            </a:solidFill>
                            <a:latin typeface="Cambria Math" panose="02040503050406030204" charset="0"/>
                            <a:cs typeface="Cambria Math" panose="02040503050406030204" charset="0"/>
                          </a:rPr>
                        </m:ctrlPr>
                      </m:sSubPr>
                      <m:e>
                        <m:r>
                          <a:rPr lang="en-US" altLang="zh-CN" sz="2100" i="1" dirty="0">
                            <a:solidFill>
                              <a:srgbClr val="0033CC"/>
                            </a:solidFill>
                            <a:latin typeface="Cambria Math" panose="02040503050406030204" charset="0"/>
                            <a:cs typeface="Cambria Math" panose="02040503050406030204" charset="0"/>
                          </a:rPr>
                          <m:t>𝑹</m:t>
                        </m:r>
                      </m:e>
                      <m:sub>
                        <m:r>
                          <a:rPr lang="en-US" altLang="zh-CN" sz="2100" i="1" dirty="0">
                            <a:solidFill>
                              <a:srgbClr val="0033CC"/>
                            </a:solidFill>
                            <a:latin typeface="Cambria Math" panose="02040503050406030204" charset="0"/>
                            <a:cs typeface="Cambria Math" panose="02040503050406030204" charset="0"/>
                          </a:rPr>
                          <m:t>𝟐</m:t>
                        </m:r>
                      </m:sub>
                    </m:sSub>
                    <m:r>
                      <a:rPr lang="en-US" altLang="zh-CN" sz="2100" i="1" dirty="0">
                        <a:solidFill>
                          <a:srgbClr val="0033CC"/>
                        </a:solidFill>
                        <a:latin typeface="Cambria Math" panose="02040503050406030204" charset="0"/>
                        <a:cs typeface="Cambria Math" panose="02040503050406030204" charset="0"/>
                      </a:rPr>
                      <m:t>,</m:t>
                    </m:r>
                    <m:sSub>
                      <m:sSubPr>
                        <m:ctrlPr>
                          <a:rPr lang="en-US" altLang="zh-CN" sz="2100" i="1" dirty="0">
                            <a:solidFill>
                              <a:srgbClr val="0033CC"/>
                            </a:solidFill>
                            <a:latin typeface="Cambria Math" panose="02040503050406030204" charset="0"/>
                            <a:cs typeface="Cambria Math" panose="02040503050406030204" charset="0"/>
                          </a:rPr>
                        </m:ctrlPr>
                      </m:sSubPr>
                      <m:e>
                        <m:r>
                          <a:rPr lang="en-US" altLang="zh-CN" sz="2100" i="1" dirty="0">
                            <a:solidFill>
                              <a:srgbClr val="0033CC"/>
                            </a:solidFill>
                            <a:latin typeface="Cambria Math" panose="02040503050406030204" charset="0"/>
                            <a:cs typeface="Cambria Math" panose="02040503050406030204" charset="0"/>
                          </a:rPr>
                          <m:t>...,</m:t>
                        </m:r>
                        <m:r>
                          <a:rPr lang="en-US" altLang="zh-CN" sz="2100" i="1" dirty="0">
                            <a:solidFill>
                              <a:srgbClr val="0033CC"/>
                            </a:solidFill>
                            <a:latin typeface="Cambria Math" panose="02040503050406030204" charset="0"/>
                            <a:cs typeface="Cambria Math" panose="02040503050406030204" charset="0"/>
                          </a:rPr>
                          <m:t>𝑹</m:t>
                        </m:r>
                      </m:e>
                      <m:sub>
                        <m:r>
                          <a:rPr lang="en-US" altLang="zh-CN" sz="2100" i="1" dirty="0">
                            <a:solidFill>
                              <a:srgbClr val="0033CC"/>
                            </a:solidFill>
                            <a:latin typeface="Cambria Math" panose="02040503050406030204" charset="0"/>
                            <a:cs typeface="Cambria Math" panose="02040503050406030204" charset="0"/>
                          </a:rPr>
                          <m:t>𝒏</m:t>
                        </m:r>
                      </m:sub>
                    </m:sSub>
                  </m:oMath>
                </a14:m>
                <a:r>
                  <a:rPr lang="en-US" altLang="zh-CN" sz="2100" b="0" dirty="0">
                    <a:solidFill>
                      <a:srgbClr val="0033CC"/>
                    </a:solidFill>
                    <a:latin typeface="Cambria Math" panose="02040503050406030204" charset="0"/>
                    <a:cs typeface="Cambria Math" panose="02040503050406030204" charset="0"/>
                    <a:sym typeface="+mn-ea"/>
                  </a:rPr>
                  <a:t>)</a:t>
                </a:r>
                <a:r>
                  <a:rPr lang="zh-CN" altLang="en-US" sz="2100" dirty="0">
                    <a:solidFill>
                      <a:srgbClr val="0033CC"/>
                    </a:solidFill>
                    <a:latin typeface="宋体" panose="02010600030101010101" pitchFamily="2" charset="-122"/>
                    <a:sym typeface="+mn-ea"/>
                  </a:rPr>
                  <a:t>是</a:t>
                </a:r>
                <a14:m>
                  <m:oMath xmlns:m="http://schemas.openxmlformats.org/officeDocument/2006/math">
                    <m:r>
                      <a:rPr lang="en-US" altLang="zh-CN" sz="2100" i="1" dirty="0">
                        <a:solidFill>
                          <a:srgbClr val="0033CC"/>
                        </a:solidFill>
                        <a:latin typeface="Cambria Math" panose="02040503050406030204" charset="0"/>
                        <a:cs typeface="Cambria Math" panose="02040503050406030204" charset="0"/>
                      </a:rPr>
                      <m:t>𝑹</m:t>
                    </m:r>
                  </m:oMath>
                </a14:m>
                <a:r>
                  <a:rPr lang="zh-CN" altLang="en-US" sz="2100" dirty="0">
                    <a:solidFill>
                      <a:srgbClr val="0033CC"/>
                    </a:solidFill>
                    <a:latin typeface="宋体" panose="02010600030101010101" pitchFamily="2" charset="-122"/>
                    <a:sym typeface="+mn-ea"/>
                  </a:rPr>
                  <a:t>的连接依赖，并且满</a:t>
                </a:r>
                <a:r>
                  <a:rPr lang="zh-CN" altLang="en-US" sz="2100" b="0" dirty="0">
                    <a:solidFill>
                      <a:srgbClr val="0033CC"/>
                    </a:solidFill>
                    <a:latin typeface="Cambria Math" panose="02040503050406030204" charset="0"/>
                    <a:cs typeface="Cambria Math" panose="02040503050406030204" charset="0"/>
                    <a:sym typeface="+mn-ea"/>
                  </a:rPr>
                  <a:t>足以</a:t>
                </a:r>
                <a:r>
                  <a:rPr lang="zh-CN" altLang="en-US" sz="2100" dirty="0">
                    <a:solidFill>
                      <a:srgbClr val="0033CC"/>
                    </a:solidFill>
                    <a:latin typeface="宋体" panose="02010600030101010101" pitchFamily="2" charset="-122"/>
                    <a:sym typeface="+mn-ea"/>
                  </a:rPr>
                  <a:t>下条件</a:t>
                </a:r>
                <a:r>
                  <a:rPr lang="zh-CN" altLang="en-US" sz="2100" b="0" dirty="0">
                    <a:solidFill>
                      <a:srgbClr val="0033CC"/>
                    </a:solidFill>
                    <a:latin typeface="Cambria Math" panose="02040503050406030204" charset="0"/>
                    <a:cs typeface="Cambria Math" panose="02040503050406030204" charset="0"/>
                    <a:sym typeface="+mn-ea"/>
                  </a:rPr>
                  <a:t>：</a:t>
                </a:r>
                <a:r>
                  <a:rPr lang="en-US" altLang="zh-CN" sz="2100" b="0" dirty="0">
                    <a:solidFill>
                      <a:srgbClr val="0033CC"/>
                    </a:solidFill>
                    <a:latin typeface="Cambria Math" panose="02040503050406030204" charset="0"/>
                    <a:cs typeface="Cambria Math" panose="02040503050406030204" charset="0"/>
                    <a:sym typeface="+mn-ea"/>
                  </a:rPr>
                  <a:t>(1)n</a:t>
                </a:r>
                <a:r>
                  <a:rPr lang="en-US" altLang="zh-CN" sz="2100" b="0" dirty="0">
                    <a:solidFill>
                      <a:srgbClr val="0033CC"/>
                    </a:solidFill>
                    <a:latin typeface="微软雅黑" panose="020B0503020204020204" pitchFamily="34" charset="-122"/>
                    <a:ea typeface="微软雅黑" panose="020B0503020204020204" pitchFamily="34" charset="-122"/>
                    <a:cs typeface="Cambria Math" panose="02040503050406030204" charset="0"/>
                    <a:sym typeface="+mn-ea"/>
                  </a:rPr>
                  <a:t>≥2</a:t>
                </a:r>
                <a:r>
                  <a:rPr lang="zh-CN" altLang="en-US" sz="2100" b="0" dirty="0">
                    <a:solidFill>
                      <a:srgbClr val="0033CC"/>
                    </a:solidFill>
                    <a:latin typeface="微软雅黑" panose="020B0503020204020204" pitchFamily="34" charset="-122"/>
                    <a:ea typeface="微软雅黑" panose="020B0503020204020204" pitchFamily="34" charset="-122"/>
                    <a:cs typeface="Cambria Math" panose="02040503050406030204" charset="0"/>
                    <a:sym typeface="+mn-ea"/>
                  </a:rPr>
                  <a:t>，</a:t>
                </a:r>
                <a:r>
                  <a:rPr lang="zh-CN" altLang="en-US" sz="2100" dirty="0">
                    <a:solidFill>
                      <a:srgbClr val="0033CC"/>
                    </a:solidFill>
                    <a:latin typeface="宋体" panose="02010600030101010101" pitchFamily="2" charset="-122"/>
                    <a:sym typeface="+mn-ea"/>
                  </a:rPr>
                  <a:t>即至少需要两个子关系</a:t>
                </a:r>
                <a:r>
                  <a:rPr lang="zh-CN" altLang="en-US" sz="2100" b="0" dirty="0">
                    <a:solidFill>
                      <a:srgbClr val="0033CC"/>
                    </a:solidFill>
                    <a:latin typeface="微软雅黑" panose="020B0503020204020204" pitchFamily="34" charset="-122"/>
                    <a:ea typeface="微软雅黑" panose="020B0503020204020204" pitchFamily="34" charset="-122"/>
                    <a:cs typeface="Cambria Math" panose="02040503050406030204" charset="0"/>
                    <a:sym typeface="+mn-ea"/>
                  </a:rPr>
                  <a:t>；（</a:t>
                </a:r>
                <a:r>
                  <a:rPr lang="en-US" altLang="zh-CN" sz="2100" b="0" dirty="0">
                    <a:solidFill>
                      <a:srgbClr val="0033CC"/>
                    </a:solidFill>
                    <a:latin typeface="微软雅黑" panose="020B0503020204020204" pitchFamily="34" charset="-122"/>
                    <a:ea typeface="微软雅黑" panose="020B0503020204020204" pitchFamily="34" charset="-122"/>
                    <a:cs typeface="Cambria Math" panose="02040503050406030204" charset="0"/>
                    <a:sym typeface="+mn-ea"/>
                  </a:rPr>
                  <a:t>2</a:t>
                </a:r>
                <a:r>
                  <a:rPr lang="zh-CN" altLang="en-US" sz="2100" b="0" dirty="0">
                    <a:solidFill>
                      <a:srgbClr val="0033CC"/>
                    </a:solidFill>
                    <a:latin typeface="微软雅黑" panose="020B0503020204020204" pitchFamily="34" charset="-122"/>
                    <a:ea typeface="微软雅黑" panose="020B0503020204020204" pitchFamily="34" charset="-122"/>
                    <a:cs typeface="Cambria Math" panose="02040503050406030204" charset="0"/>
                    <a:sym typeface="+mn-ea"/>
                  </a:rPr>
                  <a:t>）</a:t>
                </a:r>
                <a:r>
                  <a:rPr lang="zh-CN" altLang="en-US" sz="2100" dirty="0">
                    <a:solidFill>
                      <a:srgbClr val="0033CC"/>
                    </a:solidFill>
                    <a:latin typeface="宋体" panose="02010600030101010101" pitchFamily="2" charset="-122"/>
                    <a:sym typeface="+mn-ea"/>
                  </a:rPr>
                  <a:t>每个</a:t>
                </a:r>
                <a14:m>
                  <m:oMath xmlns:m="http://schemas.openxmlformats.org/officeDocument/2006/math">
                    <m:sSub>
                      <m:sSubPr>
                        <m:ctrlPr>
                          <a:rPr lang="en-US" altLang="zh-CN" sz="2100" i="1" dirty="0">
                            <a:solidFill>
                              <a:srgbClr val="0033CC"/>
                            </a:solidFill>
                            <a:latin typeface="Cambria Math" panose="02040503050406030204" charset="0"/>
                            <a:cs typeface="Cambria Math" panose="02040503050406030204" charset="0"/>
                          </a:rPr>
                        </m:ctrlPr>
                      </m:sSubPr>
                      <m:e>
                        <m:r>
                          <a:rPr lang="en-US" altLang="zh-CN" sz="2100" i="1" dirty="0">
                            <a:solidFill>
                              <a:srgbClr val="0033CC"/>
                            </a:solidFill>
                            <a:latin typeface="Cambria Math" panose="02040503050406030204" charset="0"/>
                            <a:cs typeface="Cambria Math" panose="02040503050406030204" charset="0"/>
                          </a:rPr>
                          <m:t>𝑹</m:t>
                        </m:r>
                      </m:e>
                      <m:sub>
                        <m:r>
                          <a:rPr lang="en-US" altLang="zh-CN" sz="2100" i="1" dirty="0">
                            <a:solidFill>
                              <a:srgbClr val="0033CC"/>
                            </a:solidFill>
                            <a:latin typeface="Cambria Math" panose="02040503050406030204" charset="0"/>
                            <a:cs typeface="Cambria Math" panose="02040503050406030204" charset="0"/>
                          </a:rPr>
                          <m:t>𝑖</m:t>
                        </m:r>
                      </m:sub>
                    </m:sSub>
                    <m:r>
                      <a:rPr lang="en-US" altLang="zh-CN" sz="2100" i="1" dirty="0">
                        <a:solidFill>
                          <a:srgbClr val="0033CC"/>
                        </a:solidFill>
                        <a:latin typeface="Cambria Math" panose="02040503050406030204" charset="0"/>
                        <a:cs typeface="Cambria Math" panose="02040503050406030204" charset="0"/>
                      </a:rPr>
                      <m:t>(</m:t>
                    </m:r>
                    <m:r>
                      <a:rPr lang="en-US" altLang="zh-CN" sz="2100" i="1" dirty="0">
                        <a:solidFill>
                          <a:srgbClr val="0033CC"/>
                        </a:solidFill>
                        <a:latin typeface="Cambria Math" panose="02040503050406030204" charset="0"/>
                        <a:cs typeface="Cambria Math" panose="02040503050406030204" charset="0"/>
                      </a:rPr>
                      <m:t>𝒊</m:t>
                    </m:r>
                    <m:r>
                      <a:rPr lang="en-US" altLang="zh-CN" sz="2100" i="1" dirty="0">
                        <a:solidFill>
                          <a:srgbClr val="0033CC"/>
                        </a:solidFill>
                        <a:latin typeface="Cambria Math" panose="02040503050406030204" charset="0"/>
                        <a:cs typeface="Cambria Math" panose="02040503050406030204" charset="0"/>
                      </a:rPr>
                      <m:t>=</m:t>
                    </m:r>
                    <m:r>
                      <a:rPr lang="en-US" altLang="zh-CN" sz="2100" i="1" dirty="0">
                        <a:solidFill>
                          <a:srgbClr val="0033CC"/>
                        </a:solidFill>
                        <a:latin typeface="Cambria Math" panose="02040503050406030204" charset="0"/>
                        <a:cs typeface="Cambria Math" panose="02040503050406030204" charset="0"/>
                      </a:rPr>
                      <m:t>𝟏</m:t>
                    </m:r>
                    <m:r>
                      <a:rPr lang="en-US" altLang="zh-CN" sz="2100" i="1" dirty="0">
                        <a:solidFill>
                          <a:srgbClr val="0033CC"/>
                        </a:solidFill>
                        <a:latin typeface="Cambria Math" panose="02040503050406030204" charset="0"/>
                        <a:cs typeface="Cambria Math" panose="02040503050406030204" charset="0"/>
                      </a:rPr>
                      <m:t>,</m:t>
                    </m:r>
                    <m:r>
                      <a:rPr lang="en-US" altLang="zh-CN" sz="2100" i="1" dirty="0">
                        <a:solidFill>
                          <a:srgbClr val="0033CC"/>
                        </a:solidFill>
                        <a:latin typeface="Cambria Math" panose="02040503050406030204" charset="0"/>
                        <a:cs typeface="Cambria Math" panose="02040503050406030204" charset="0"/>
                      </a:rPr>
                      <m:t>𝟐</m:t>
                    </m:r>
                    <m:r>
                      <a:rPr lang="en-US" altLang="zh-CN" sz="2100" i="1" dirty="0">
                        <a:solidFill>
                          <a:srgbClr val="0033CC"/>
                        </a:solidFill>
                        <a:latin typeface="Cambria Math" panose="02040503050406030204" charset="0"/>
                        <a:cs typeface="Cambria Math" panose="02040503050406030204" charset="0"/>
                      </a:rPr>
                      <m:t>,...,</m:t>
                    </m:r>
                    <m:r>
                      <a:rPr lang="en-US" altLang="zh-CN" sz="2100" i="1" dirty="0">
                        <a:solidFill>
                          <a:srgbClr val="0033CC"/>
                        </a:solidFill>
                        <a:latin typeface="Cambria Math" panose="02040503050406030204" charset="0"/>
                        <a:cs typeface="Cambria Math" panose="02040503050406030204" charset="0"/>
                      </a:rPr>
                      <m:t>𝒏</m:t>
                    </m:r>
                    <m:r>
                      <a:rPr lang="en-US" altLang="zh-CN" sz="2100" i="1" dirty="0">
                        <a:solidFill>
                          <a:srgbClr val="0033CC"/>
                        </a:solidFill>
                        <a:latin typeface="Cambria Math" panose="02040503050406030204" charset="0"/>
                        <a:cs typeface="Cambria Math" panose="02040503050406030204" charset="0"/>
                      </a:rPr>
                      <m:t>)</m:t>
                    </m:r>
                  </m:oMath>
                </a14:m>
                <a:r>
                  <a:rPr lang="zh-CN" altLang="en-US" sz="2100" dirty="0">
                    <a:solidFill>
                      <a:srgbClr val="0033CC"/>
                    </a:solidFill>
                    <a:latin typeface="宋体" panose="02010600030101010101" pitchFamily="2" charset="-122"/>
                  </a:rPr>
                  <a:t>都不是R。</a:t>
                </a:r>
                <a:endParaRPr lang="zh-CN" altLang="en-US" sz="2100" dirty="0">
                  <a:solidFill>
                    <a:srgbClr val="0033CC"/>
                  </a:solidFill>
                  <a:latin typeface="宋体" panose="02010600030101010101" pitchFamily="2" charset="-122"/>
                </a:endParaRPr>
              </a:p>
            </p:txBody>
          </p:sp>
        </mc:Choice>
        <mc:Fallback>
          <p:sp>
            <p:nvSpPr>
              <p:cNvPr id="11" name="Text Box 3"/>
              <p:cNvSpPr txBox="1">
                <a:spLocks noRot="1" noChangeAspect="1" noMove="1" noResize="1" noEditPoints="1" noAdjustHandles="1" noChangeArrowheads="1" noChangeShapeType="1" noTextEdit="1"/>
              </p:cNvSpPr>
              <p:nvPr/>
            </p:nvSpPr>
            <p:spPr>
              <a:xfrm>
                <a:off x="492125" y="2804160"/>
                <a:ext cx="8486775" cy="1529080"/>
              </a:xfrm>
              <a:prstGeom prst="rect">
                <a:avLst/>
              </a:prstGeom>
              <a:blipFill rotWithShape="1">
                <a:blip r:embed="rId2"/>
                <a:stretch>
                  <a:fillRect/>
                </a:stretch>
              </a:blipFill>
              <a:ln w="9525">
                <a:noFill/>
              </a:ln>
            </p:spPr>
            <p:txBody>
              <a:bodyPr/>
              <a:lstStyle/>
              <a:p>
                <a:r>
                  <a:rPr lang="zh-CN" altLang="en-US">
                    <a:noFill/>
                  </a:rPr>
                  <a:t> </a:t>
                </a:r>
              </a:p>
            </p:txBody>
          </p:sp>
        </mc:Fallback>
      </mc:AlternateContent>
      <p:sp>
        <p:nvSpPr>
          <p:cNvPr id="53362" name="Text Box 141"/>
          <p:cNvSpPr txBox="1"/>
          <p:nvPr/>
        </p:nvSpPr>
        <p:spPr>
          <a:xfrm>
            <a:off x="492125" y="4162743"/>
            <a:ext cx="8286750" cy="11734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0000"/>
              </a:lnSpc>
              <a:spcBef>
                <a:spcPts val="25"/>
              </a:spcBef>
              <a:buClrTx/>
              <a:buSzTx/>
              <a:buNone/>
            </a:pPr>
            <a:r>
              <a:rPr lang="zh-CN" altLang="en-US" dirty="0">
                <a:solidFill>
                  <a:srgbClr val="FF0000"/>
                </a:solidFill>
                <a:latin typeface="宋体" panose="02010600030101010101" pitchFamily="2" charset="-122"/>
              </a:rPr>
              <a:t>   </a:t>
            </a:r>
            <a:r>
              <a:rPr lang="zh-CN" altLang="en-US" sz="2200" dirty="0">
                <a:solidFill>
                  <a:srgbClr val="FF0000"/>
                </a:solidFill>
                <a:latin typeface="宋体" panose="02010600030101010101" pitchFamily="2" charset="-122"/>
              </a:rPr>
              <a:t> </a:t>
            </a:r>
            <a:r>
              <a:rPr lang="zh-CN" altLang="en-US" sz="2100" dirty="0">
                <a:solidFill>
                  <a:srgbClr val="FF0000"/>
                </a:solidFill>
                <a:latin typeface="宋体" panose="02010600030101010101" pitchFamily="2" charset="-122"/>
              </a:rPr>
              <a:t>定义：</a:t>
            </a:r>
            <a:r>
              <a:rPr lang="zh-CN" altLang="en-US" sz="2100" dirty="0">
                <a:solidFill>
                  <a:srgbClr val="0033CC"/>
                </a:solidFill>
                <a:latin typeface="宋体" panose="02010600030101010101" pitchFamily="2" charset="-122"/>
              </a:rPr>
              <a:t>如果在关系模式R(U)上任意一非平凡连接依赖(R1,R2,...,Rn)都由R的某个候选键所蕴含，则称关系模式</a:t>
            </a:r>
            <a:r>
              <a:rPr lang="en-US" altLang="zh-CN" sz="2100" dirty="0">
                <a:solidFill>
                  <a:srgbClr val="FF0000"/>
                </a:solidFill>
                <a:latin typeface="宋体" panose="02010600030101010101" pitchFamily="2" charset="-122"/>
              </a:rPr>
              <a:t>R</a:t>
            </a:r>
            <a:r>
              <a:rPr lang="zh-CN" altLang="en-US" sz="2100" u="sng" dirty="0">
                <a:solidFill>
                  <a:srgbClr val="FF0000"/>
                </a:solidFill>
                <a:sym typeface="宋体" panose="02010600030101010101" pitchFamily="2" charset="-122"/>
              </a:rPr>
              <a:t>∈</a:t>
            </a:r>
            <a:r>
              <a:rPr lang="en-US" altLang="zh-CN" sz="2100" u="sng" dirty="0">
                <a:solidFill>
                  <a:srgbClr val="FF0000"/>
                </a:solidFill>
                <a:sym typeface="宋体" panose="02010600030101010101" pitchFamily="2" charset="-122"/>
              </a:rPr>
              <a:t>5NF</a:t>
            </a:r>
            <a:r>
              <a:rPr lang="zh-CN" altLang="en-US" sz="2100" u="sng" dirty="0">
                <a:solidFill>
                  <a:srgbClr val="FF0000"/>
                </a:solidFill>
                <a:sym typeface="宋体" panose="02010600030101010101" pitchFamily="2" charset="-122"/>
              </a:rPr>
              <a:t>。</a:t>
            </a:r>
            <a:r>
              <a:rPr lang="zh-CN" altLang="en-US" sz="2100" u="sng" dirty="0">
                <a:solidFill>
                  <a:srgbClr val="0033CC"/>
                </a:solidFill>
                <a:sym typeface="宋体" panose="02010600030101010101" pitchFamily="2" charset="-122"/>
              </a:rPr>
              <a:t>第五范式在有些文献中也称为投影连接范式。</a:t>
            </a:r>
            <a:r>
              <a:rPr lang="zh-CN" altLang="en-US" sz="2100" u="sng" dirty="0">
                <a:solidFill>
                  <a:srgbClr val="0033CC"/>
                </a:solidFill>
                <a:latin typeface="宋体" panose="02010600030101010101" pitchFamily="2" charset="-122"/>
                <a:sym typeface="宋体" panose="02010600030101010101" pitchFamily="2" charset="-122"/>
              </a:rPr>
              <a:t>（消除循环依赖。）</a:t>
            </a:r>
            <a:endParaRPr lang="zh-CN" altLang="en-US" sz="2100" u="sng" dirty="0">
              <a:solidFill>
                <a:srgbClr val="0033CC"/>
              </a:solidFill>
              <a:latin typeface="宋体" panose="02010600030101010101" pitchFamily="2" charset="-122"/>
              <a:sym typeface="宋体" panose="02010600030101010101" pitchFamily="2" charset="-122"/>
            </a:endParaRPr>
          </a:p>
        </p:txBody>
      </p:sp>
      <p:sp>
        <p:nvSpPr>
          <p:cNvPr id="46114" name="Text Box 42"/>
          <p:cNvSpPr txBox="1"/>
          <p:nvPr/>
        </p:nvSpPr>
        <p:spPr>
          <a:xfrm>
            <a:off x="443230" y="5336540"/>
            <a:ext cx="8335645" cy="89154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30000"/>
              </a:lnSpc>
              <a:spcBef>
                <a:spcPct val="10000"/>
              </a:spcBef>
              <a:buClrTx/>
              <a:buSzTx/>
              <a:buNone/>
            </a:pPr>
            <a:r>
              <a:rPr lang="en-US" altLang="zh-CN" dirty="0"/>
              <a:t>     </a:t>
            </a:r>
            <a:r>
              <a:rPr lang="zh-CN" altLang="en-US" dirty="0"/>
              <a:t>这里所说的</a:t>
            </a:r>
            <a:r>
              <a:rPr lang="en-US" altLang="zh-CN" dirty="0"/>
              <a:t>“R</a:t>
            </a:r>
            <a:r>
              <a:rPr lang="zh-CN" altLang="en-US" dirty="0"/>
              <a:t>中的每一个连接依赖均由</a:t>
            </a:r>
            <a:r>
              <a:rPr lang="en-US" altLang="zh-CN" dirty="0"/>
              <a:t>R</a:t>
            </a:r>
            <a:r>
              <a:rPr lang="zh-CN" altLang="zh-CN" dirty="0"/>
              <a:t>的候选键所隐含</a:t>
            </a:r>
            <a:r>
              <a:rPr lang="en-US" altLang="zh-CN" dirty="0"/>
              <a:t>”</a:t>
            </a:r>
            <a:r>
              <a:rPr lang="zh-CN" altLang="en-US" dirty="0"/>
              <a:t>是指在连接时，所连接的属性均为候选码。</a:t>
            </a:r>
            <a:endParaRPr lang="zh-CN" altLang="en-US" dirty="0"/>
          </a:p>
        </p:txBody>
      </p:sp>
      <p:sp>
        <p:nvSpPr>
          <p:cNvPr id="63490" name="Rectangle 7"/>
          <p:cNvSpPr/>
          <p:nvPr/>
        </p:nvSpPr>
        <p:spPr>
          <a:xfrm>
            <a:off x="539750" y="814388"/>
            <a:ext cx="50673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b="0" dirty="0">
                <a:solidFill>
                  <a:srgbClr val="FF3300"/>
                </a:solidFill>
                <a:latin typeface="黑体" panose="02010609060101010101" pitchFamily="49" charset="-122"/>
                <a:ea typeface="黑体" panose="02010609060101010101" pitchFamily="49" charset="-122"/>
              </a:rPr>
              <a:t>6</a:t>
            </a:r>
            <a:r>
              <a:rPr lang="zh-CN" altLang="en-US" sz="2800" b="0" dirty="0">
                <a:solidFill>
                  <a:srgbClr val="FF3300"/>
                </a:solidFill>
                <a:latin typeface="黑体" panose="02010609060101010101" pitchFamily="49" charset="-122"/>
                <a:ea typeface="黑体" panose="02010609060101010101" pitchFamily="49" charset="-122"/>
              </a:rPr>
              <a:t>、连接依赖与第五范式</a:t>
            </a:r>
            <a:endParaRPr lang="zh-CN" altLang="en-US" sz="2800" b="0" dirty="0">
              <a:solidFill>
                <a:srgbClr val="FF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362"/>
                                        </p:tgtEl>
                                        <p:attrNameLst>
                                          <p:attrName>style.visibility</p:attrName>
                                        </p:attrNameLst>
                                      </p:cBhvr>
                                      <p:to>
                                        <p:strVal val="visible"/>
                                      </p:to>
                                    </p:set>
                                    <p:anim calcmode="lin" valueType="num">
                                      <p:cBhvr additive="base">
                                        <p:cTn id="7" dur="500" fill="hold"/>
                                        <p:tgtEl>
                                          <p:spTgt spid="53362"/>
                                        </p:tgtEl>
                                        <p:attrNameLst>
                                          <p:attrName>ppt_x</p:attrName>
                                        </p:attrNameLst>
                                      </p:cBhvr>
                                      <p:tavLst>
                                        <p:tav tm="0">
                                          <p:val>
                                            <p:strVal val="#ppt_x"/>
                                          </p:val>
                                        </p:tav>
                                        <p:tav tm="100000">
                                          <p:val>
                                            <p:strVal val="#ppt_x"/>
                                          </p:val>
                                        </p:tav>
                                      </p:tavLst>
                                    </p:anim>
                                    <p:anim calcmode="lin" valueType="num">
                                      <p:cBhvr additive="base">
                                        <p:cTn id="8" dur="500" fill="hold"/>
                                        <p:tgtEl>
                                          <p:spTgt spid="5336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6114"/>
                                        </p:tgtEl>
                                        <p:attrNameLst>
                                          <p:attrName>style.visibility</p:attrName>
                                        </p:attrNameLst>
                                      </p:cBhvr>
                                      <p:to>
                                        <p:strVal val="visible"/>
                                      </p:to>
                                    </p:set>
                                    <p:anim calcmode="lin" valueType="num">
                                      <p:cBhvr additive="base">
                                        <p:cTn id="11" dur="500" fill="hold"/>
                                        <p:tgtEl>
                                          <p:spTgt spid="46114"/>
                                        </p:tgtEl>
                                        <p:attrNameLst>
                                          <p:attrName>ppt_x</p:attrName>
                                        </p:attrNameLst>
                                      </p:cBhvr>
                                      <p:tavLst>
                                        <p:tav tm="0">
                                          <p:val>
                                            <p:strVal val="#ppt_x"/>
                                          </p:val>
                                        </p:tav>
                                        <p:tav tm="100000">
                                          <p:val>
                                            <p:strVal val="#ppt_x"/>
                                          </p:val>
                                        </p:tav>
                                      </p:tavLst>
                                    </p:anim>
                                    <p:anim calcmode="lin" valueType="num">
                                      <p:cBhvr additive="base">
                                        <p:cTn id="12" dur="500" fill="hold"/>
                                        <p:tgtEl>
                                          <p:spTgt spid="461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62" grpId="0"/>
      <p:bldP spid="46114" grpId="0"/>
      <p:bldP spid="53362" grpId="1"/>
      <p:bldP spid="46114"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p:nvPr/>
        </p:nvSpPr>
        <p:spPr>
          <a:xfrm>
            <a:off x="536575" y="752475"/>
            <a:ext cx="4922838"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6</a:t>
            </a:r>
            <a:r>
              <a:rPr lang="zh-CN" altLang="en-US" sz="2800" dirty="0">
                <a:solidFill>
                  <a:srgbClr val="FF3300"/>
                </a:solidFill>
                <a:latin typeface="黑体" panose="02010609060101010101" pitchFamily="49" charset="-122"/>
                <a:ea typeface="黑体" panose="02010609060101010101" pitchFamily="49" charset="-122"/>
              </a:rPr>
              <a:t>、连接依赖与第五范式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51203" name="Text Box 3"/>
          <p:cNvSpPr txBox="1"/>
          <p:nvPr/>
        </p:nvSpPr>
        <p:spPr>
          <a:xfrm>
            <a:off x="390525" y="1325563"/>
            <a:ext cx="8529638" cy="838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5000"/>
              </a:spcBef>
              <a:buClrTx/>
              <a:buSzTx/>
              <a:buNone/>
            </a:pPr>
            <a:r>
              <a:rPr lang="en-US" altLang="zh-CN" dirty="0"/>
              <a:t>       </a:t>
            </a:r>
            <a:r>
              <a:rPr lang="zh-CN" altLang="en-US" dirty="0"/>
              <a:t>函数依赖、多值依赖和</a:t>
            </a:r>
            <a:r>
              <a:rPr lang="en-US" altLang="zh-CN" dirty="0"/>
              <a:t>4NF</a:t>
            </a:r>
            <a:r>
              <a:rPr lang="zh-CN" altLang="en-US" dirty="0"/>
              <a:t>并不足以标识所有的数据余。</a:t>
            </a:r>
            <a:endParaRPr lang="zh-CN" altLang="en-US" dirty="0"/>
          </a:p>
          <a:p>
            <a:pPr marL="0" lvl="0" indent="0" eaLnBrk="1" hangingPunct="1">
              <a:lnSpc>
                <a:spcPct val="120000"/>
              </a:lnSpc>
              <a:spcBef>
                <a:spcPct val="5000"/>
              </a:spcBef>
              <a:buClrTx/>
              <a:buSzTx/>
              <a:buNone/>
            </a:pPr>
            <a:r>
              <a:rPr lang="zh-CN" altLang="en-US" dirty="0">
                <a:solidFill>
                  <a:srgbClr val="FF3300"/>
                </a:solidFill>
              </a:rPr>
              <a:t>例：</a:t>
            </a:r>
            <a:r>
              <a:rPr lang="en-US" altLang="zh-CN" dirty="0"/>
              <a:t>PersonsOnJobSkills</a:t>
            </a:r>
            <a:r>
              <a:rPr lang="zh-CN" altLang="en-US" dirty="0"/>
              <a:t>关系。</a:t>
            </a:r>
            <a:endParaRPr lang="zh-CN" altLang="en-US" dirty="0"/>
          </a:p>
        </p:txBody>
      </p:sp>
      <p:graphicFrame>
        <p:nvGraphicFramePr>
          <p:cNvPr id="51204" name="表格 51203"/>
          <p:cNvGraphicFramePr/>
          <p:nvPr/>
        </p:nvGraphicFramePr>
        <p:xfrm>
          <a:off x="584200" y="2459038"/>
          <a:ext cx="3657600" cy="2578100"/>
        </p:xfrm>
        <a:graphic>
          <a:graphicData uri="http://schemas.openxmlformats.org/drawingml/2006/table">
            <a:tbl>
              <a:tblPr/>
              <a:tblGrid>
                <a:gridCol w="1562100"/>
                <a:gridCol w="1181100"/>
                <a:gridCol w="914400"/>
              </a:tblGrid>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PersonName</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skillType</a:t>
                      </a:r>
                      <a:endParaRPr lang="en-US" altLang="x-none" dirty="0"/>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jobNo</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a:p>
                  </a:txBody>
                  <a:tcPr marL="18000" marR="18000" marT="46792" marB="4679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系统分析</a:t>
                      </a:r>
                      <a:endParaRPr lang="zh-CN" altLang="en-US"/>
                    </a:p>
                  </a:txBody>
                  <a:tcPr marL="18000" marR="18000" marT="46792" marB="4679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J01</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a:p>
                  </a:txBody>
                  <a:tcPr marL="18000" marR="18000" marT="46792" marB="4679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系统分析</a:t>
                      </a:r>
                      <a:endParaRPr lang="zh-CN" altLang="en-US"/>
                    </a:p>
                  </a:txBody>
                  <a:tcPr marL="18000" marR="18000" marT="46792" marB="4679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J02</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DBA</a:t>
                      </a:r>
                      <a:endParaRPr lang="en-US" altLang="x-none" dirty="0"/>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J02</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DBA</a:t>
                      </a:r>
                      <a:endParaRPr lang="zh-CN" altLang="en-US" dirty="0"/>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J03</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刘晨</a:t>
                      </a:r>
                      <a:endParaRPr lang="zh-CN" altLang="en-US"/>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DBA</a:t>
                      </a:r>
                      <a:endParaRPr lang="zh-CN" altLang="en-US" dirty="0"/>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J03</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张海</a:t>
                      </a:r>
                      <a:endParaRPr lang="zh-CN" altLang="en-US"/>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系统分析</a:t>
                      </a:r>
                      <a:endParaRPr lang="zh-CN" altLang="en-US"/>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J01</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64552" name="Rectangle 48"/>
          <p:cNvSpPr/>
          <p:nvPr/>
        </p:nvSpPr>
        <p:spPr>
          <a:xfrm>
            <a:off x="498475" y="2025650"/>
            <a:ext cx="2909888" cy="463550"/>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en-US" altLang="zh-CN" sz="1800" dirty="0">
                <a:solidFill>
                  <a:srgbClr val="0033CC"/>
                </a:solidFill>
              </a:rPr>
              <a:t>PersonsOnJobSkills</a:t>
            </a:r>
            <a:endParaRPr lang="en-US" altLang="zh-CN" sz="1800" dirty="0">
              <a:solidFill>
                <a:srgbClr val="0033CC"/>
              </a:solidFill>
            </a:endParaRPr>
          </a:p>
        </p:txBody>
      </p:sp>
      <p:sp>
        <p:nvSpPr>
          <p:cNvPr id="51241" name="Text Box 49"/>
          <p:cNvSpPr txBox="1"/>
          <p:nvPr/>
        </p:nvSpPr>
        <p:spPr>
          <a:xfrm>
            <a:off x="4238625" y="2382838"/>
            <a:ext cx="4638675" cy="21066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10000"/>
              </a:spcBef>
              <a:buClrTx/>
              <a:buSzTx/>
              <a:buNone/>
            </a:pPr>
            <a:r>
              <a:rPr lang="en-US" altLang="zh-CN" dirty="0"/>
              <a:t>       personName</a:t>
            </a:r>
            <a:r>
              <a:rPr lang="zh-CN" altLang="en-US" dirty="0"/>
              <a:t>表示职工名，</a:t>
            </a:r>
            <a:r>
              <a:rPr lang="en-US" altLang="zh-CN" dirty="0"/>
              <a:t>skillType</a:t>
            </a:r>
            <a:r>
              <a:rPr lang="zh-CN" altLang="en-US" dirty="0"/>
              <a:t>表示技能类型，</a:t>
            </a:r>
            <a:r>
              <a:rPr lang="en-US" altLang="zh-CN" dirty="0"/>
              <a:t>jobNo</a:t>
            </a:r>
            <a:r>
              <a:rPr lang="zh-CN" altLang="en-US" dirty="0"/>
              <a:t>表示工作编号。</a:t>
            </a:r>
            <a:endParaRPr lang="zh-CN" altLang="en-US" dirty="0"/>
          </a:p>
          <a:p>
            <a:pPr marL="0" lvl="0" indent="0" eaLnBrk="1" hangingPunct="1">
              <a:lnSpc>
                <a:spcPct val="130000"/>
              </a:lnSpc>
              <a:spcBef>
                <a:spcPct val="10000"/>
              </a:spcBef>
              <a:buClrTx/>
              <a:buSzTx/>
              <a:buNone/>
            </a:pPr>
            <a:r>
              <a:rPr lang="zh-CN" altLang="en-US" dirty="0"/>
              <a:t>       这个关系是</a:t>
            </a:r>
            <a:r>
              <a:rPr lang="en-US" altLang="zh-CN" dirty="0"/>
              <a:t>BCNF</a:t>
            </a:r>
            <a:r>
              <a:rPr lang="zh-CN" altLang="en-US" dirty="0"/>
              <a:t>和</a:t>
            </a:r>
            <a:r>
              <a:rPr lang="en-US" altLang="zh-CN" dirty="0"/>
              <a:t>4NF</a:t>
            </a:r>
            <a:r>
              <a:rPr lang="zh-CN" altLang="en-US" dirty="0"/>
              <a:t>的，但也存在异常。</a:t>
            </a:r>
            <a:endParaRPr lang="zh-CN" altLang="en-US" dirty="0"/>
          </a:p>
        </p:txBody>
      </p:sp>
      <p:sp>
        <p:nvSpPr>
          <p:cNvPr id="51242" name="Text Box 50"/>
          <p:cNvSpPr txBox="1"/>
          <p:nvPr/>
        </p:nvSpPr>
        <p:spPr>
          <a:xfrm>
            <a:off x="482600" y="5135563"/>
            <a:ext cx="8308975" cy="10969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5000"/>
              </a:spcBef>
              <a:buClrTx/>
              <a:buSzTx/>
              <a:buNone/>
            </a:pPr>
            <a:r>
              <a:rPr lang="en-US" altLang="zh-CN" dirty="0"/>
              <a:t>       </a:t>
            </a:r>
            <a:r>
              <a:rPr lang="zh-CN" altLang="en-US" dirty="0"/>
              <a:t>拥有“系统分析”和“</a:t>
            </a:r>
            <a:r>
              <a:rPr lang="en-US" altLang="zh-CN" dirty="0"/>
              <a:t>DBA”</a:t>
            </a:r>
            <a:r>
              <a:rPr lang="zh-CN" altLang="en-US" dirty="0"/>
              <a:t>技能的职工“李勇”在“</a:t>
            </a:r>
            <a:r>
              <a:rPr lang="en-US" altLang="zh-CN" dirty="0"/>
              <a:t>J02”</a:t>
            </a:r>
            <a:r>
              <a:rPr lang="zh-CN" altLang="en-US" dirty="0"/>
              <a:t>中用到了这两项技能，因为“</a:t>
            </a:r>
            <a:r>
              <a:rPr lang="en-US" altLang="zh-CN" dirty="0"/>
              <a:t>J02”</a:t>
            </a:r>
            <a:r>
              <a:rPr lang="zh-CN" altLang="en-US" dirty="0"/>
              <a:t> 需要这两项技能，因此要删除（李勇，系统分析，</a:t>
            </a:r>
            <a:r>
              <a:rPr lang="en-US" altLang="zh-CN" dirty="0"/>
              <a:t>J02</a:t>
            </a:r>
            <a:r>
              <a:rPr lang="zh-CN" altLang="en-US" dirty="0"/>
              <a:t>）这个元组，必须删除（李勇，</a:t>
            </a:r>
            <a:r>
              <a:rPr lang="en-US" altLang="zh-CN" dirty="0"/>
              <a:t>DBA</a:t>
            </a:r>
            <a:r>
              <a:rPr lang="zh-CN" altLang="en-US" dirty="0"/>
              <a:t>，</a:t>
            </a:r>
            <a:r>
              <a:rPr lang="en-US" altLang="zh-CN" dirty="0"/>
              <a:t>J02</a:t>
            </a:r>
            <a:r>
              <a:rPr lang="zh-CN" altLang="en-US" dirty="0"/>
              <a:t>）元组</a:t>
            </a:r>
            <a:r>
              <a:rPr lang="en-US" altLang="zh-CN" dirty="0"/>
              <a:t> </a:t>
            </a:r>
            <a:r>
              <a:rPr lang="zh-CN" altLang="en-US" dirty="0"/>
              <a:t>。</a:t>
            </a:r>
            <a:endParaRPr lang="zh-CN" altLang="en-US" dirty="0"/>
          </a:p>
        </p:txBody>
      </p:sp>
      <p:sp>
        <p:nvSpPr>
          <p:cNvPr id="64555"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1203"/>
                                        </p:tgtEl>
                                        <p:attrNameLst>
                                          <p:attrName>style.visibility</p:attrName>
                                        </p:attrNameLst>
                                      </p:cBhvr>
                                      <p:to>
                                        <p:strVal val="visible"/>
                                      </p:to>
                                    </p:set>
                                    <p:animEffect transition="in" filter="box(in)">
                                      <p:cBhvr>
                                        <p:cTn id="7" dur="500"/>
                                        <p:tgtEl>
                                          <p:spTgt spid="5120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1241"/>
                                        </p:tgtEl>
                                        <p:attrNameLst>
                                          <p:attrName>style.visibility</p:attrName>
                                        </p:attrNameLst>
                                      </p:cBhvr>
                                      <p:to>
                                        <p:strVal val="visible"/>
                                      </p:to>
                                    </p:set>
                                    <p:animEffect transition="in" filter="box(in)">
                                      <p:cBhvr>
                                        <p:cTn id="12" dur="500"/>
                                        <p:tgtEl>
                                          <p:spTgt spid="5124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1242"/>
                                        </p:tgtEl>
                                        <p:attrNameLst>
                                          <p:attrName>style.visibility</p:attrName>
                                        </p:attrNameLst>
                                      </p:cBhvr>
                                      <p:to>
                                        <p:strVal val="visible"/>
                                      </p:to>
                                    </p:set>
                                    <p:animEffect transition="in" filter="box(in)">
                                      <p:cBhvr>
                                        <p:cTn id="17" dur="500"/>
                                        <p:tgtEl>
                                          <p:spTgt spid="51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p:bldP spid="51241" grpId="0"/>
      <p:bldP spid="5124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7"/>
          <p:cNvSpPr/>
          <p:nvPr/>
        </p:nvSpPr>
        <p:spPr>
          <a:xfrm>
            <a:off x="420688" y="828675"/>
            <a:ext cx="4230687"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6</a:t>
            </a:r>
            <a:r>
              <a:rPr lang="zh-CN" altLang="en-US" sz="2800" dirty="0">
                <a:solidFill>
                  <a:srgbClr val="FF3300"/>
                </a:solidFill>
                <a:latin typeface="黑体" panose="02010609060101010101" pitchFamily="49" charset="-122"/>
                <a:ea typeface="黑体" panose="02010609060101010101" pitchFamily="49" charset="-122"/>
              </a:rPr>
              <a:t>、连接依赖与第五范式</a:t>
            </a:r>
            <a:endParaRPr lang="zh-CN" altLang="en-US" sz="2800" dirty="0">
              <a:solidFill>
                <a:srgbClr val="FF3300"/>
              </a:solidFill>
              <a:latin typeface="黑体" panose="02010609060101010101" pitchFamily="49" charset="-122"/>
              <a:ea typeface="黑体" panose="02010609060101010101" pitchFamily="49" charset="-122"/>
            </a:endParaRPr>
          </a:p>
        </p:txBody>
      </p:sp>
      <p:graphicFrame>
        <p:nvGraphicFramePr>
          <p:cNvPr id="53251" name="表格 53250"/>
          <p:cNvGraphicFramePr/>
          <p:nvPr/>
        </p:nvGraphicFramePr>
        <p:xfrm>
          <a:off x="431800" y="2362200"/>
          <a:ext cx="3657600" cy="2578100"/>
        </p:xfrm>
        <a:graphic>
          <a:graphicData uri="http://schemas.openxmlformats.org/drawingml/2006/table">
            <a:tbl>
              <a:tblPr/>
              <a:tblGrid>
                <a:gridCol w="1562100"/>
                <a:gridCol w="1181100"/>
                <a:gridCol w="914400"/>
              </a:tblGrid>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PersonName</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skillType</a:t>
                      </a:r>
                      <a:endParaRPr lang="en-US" altLang="x-none" dirty="0"/>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jobNo</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a:p>
                  </a:txBody>
                  <a:tcPr marL="18000" marR="18000" marT="46792" marB="4679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系统分析</a:t>
                      </a:r>
                      <a:endParaRPr lang="zh-CN" altLang="en-US"/>
                    </a:p>
                  </a:txBody>
                  <a:tcPr marL="18000" marR="18000" marT="46792" marB="4679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J01</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a:p>
                  </a:txBody>
                  <a:tcPr marL="18000" marR="18000" marT="46792" marB="4679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系统分析</a:t>
                      </a:r>
                      <a:endParaRPr lang="zh-CN" altLang="en-US"/>
                    </a:p>
                  </a:txBody>
                  <a:tcPr marL="18000" marR="18000" marT="46792" marB="4679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J02</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DBA</a:t>
                      </a:r>
                      <a:endParaRPr lang="en-US" altLang="x-none" dirty="0"/>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J02</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DBA</a:t>
                      </a:r>
                      <a:endParaRPr lang="zh-CN" altLang="en-US" dirty="0"/>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J03</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刘晨</a:t>
                      </a:r>
                      <a:endParaRPr lang="zh-CN" altLang="en-US"/>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DBA</a:t>
                      </a:r>
                      <a:endParaRPr lang="zh-CN" altLang="en-US" dirty="0"/>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J03</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张海</a:t>
                      </a:r>
                      <a:endParaRPr lang="zh-CN" altLang="en-US"/>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系统分析</a:t>
                      </a:r>
                      <a:endParaRPr lang="zh-CN" altLang="en-US"/>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J01</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65575" name="Rectangle 47"/>
          <p:cNvSpPr/>
          <p:nvPr/>
        </p:nvSpPr>
        <p:spPr>
          <a:xfrm>
            <a:off x="346075" y="1857375"/>
            <a:ext cx="2909888" cy="463550"/>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en-US" altLang="zh-CN" sz="1800" dirty="0">
                <a:solidFill>
                  <a:srgbClr val="0033CC"/>
                </a:solidFill>
              </a:rPr>
              <a:t>PersonsOnJobSkills</a:t>
            </a:r>
            <a:endParaRPr lang="en-US" altLang="zh-CN" sz="1800" dirty="0">
              <a:solidFill>
                <a:srgbClr val="0033CC"/>
              </a:solidFill>
            </a:endParaRPr>
          </a:p>
        </p:txBody>
      </p:sp>
      <p:graphicFrame>
        <p:nvGraphicFramePr>
          <p:cNvPr id="53288" name="表格 53287"/>
          <p:cNvGraphicFramePr/>
          <p:nvPr/>
        </p:nvGraphicFramePr>
        <p:xfrm>
          <a:off x="6032500" y="4654550"/>
          <a:ext cx="2578100" cy="1801813"/>
        </p:xfrm>
        <a:graphic>
          <a:graphicData uri="http://schemas.openxmlformats.org/drawingml/2006/table">
            <a:tbl>
              <a:tblPr/>
              <a:tblGrid>
                <a:gridCol w="1466850"/>
                <a:gridCol w="1111250"/>
              </a:tblGrid>
              <a:tr h="30003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PersonName</a:t>
                      </a:r>
                      <a:endParaRPr lang="en-US" altLang="x-none" dirty="0"/>
                    </a:p>
                  </a:txBody>
                  <a:tcPr marL="18000" marR="18000" marT="46790" marB="467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JobNo</a:t>
                      </a:r>
                      <a:endParaRPr lang="en-US" altLang="x-none" dirty="0"/>
                    </a:p>
                  </a:txBody>
                  <a:tcPr marL="18000" marR="18000" marT="46790" marB="4679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00037">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李勇</a:t>
                      </a:r>
                      <a:endParaRPr lang="zh-CN" altLang="en-US"/>
                    </a:p>
                  </a:txBody>
                  <a:tcPr marL="18000" marR="18000" marT="46790" marB="467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J01</a:t>
                      </a:r>
                      <a:endParaRPr lang="en-US" altLang="x-none" dirty="0"/>
                    </a:p>
                  </a:txBody>
                  <a:tcPr marL="18000" marR="18000" marT="46790" marB="467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0003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李勇</a:t>
                      </a:r>
                      <a:endParaRPr lang="zh-CN" altLang="en-US"/>
                    </a:p>
                  </a:txBody>
                  <a:tcPr marL="18000" marR="18000" marT="46790" marB="467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J02</a:t>
                      </a:r>
                      <a:endParaRPr lang="en-US" altLang="x-none" dirty="0"/>
                    </a:p>
                  </a:txBody>
                  <a:tcPr marL="18000" marR="18000" marT="46790" marB="4679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01625">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李勇</a:t>
                      </a:r>
                      <a:endParaRPr lang="zh-CN" altLang="en-US"/>
                    </a:p>
                  </a:txBody>
                  <a:tcPr marL="18000" marR="18000" marT="46790" marB="467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J03</a:t>
                      </a:r>
                      <a:endParaRPr lang="en-US" altLang="x-none" dirty="0"/>
                    </a:p>
                  </a:txBody>
                  <a:tcPr marL="18000" marR="18000" marT="46790" marB="4679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00037">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刘晨</a:t>
                      </a:r>
                      <a:endParaRPr lang="zh-CN" altLang="en-US"/>
                    </a:p>
                  </a:txBody>
                  <a:tcPr marL="18000" marR="18000" marT="46790" marB="467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J03</a:t>
                      </a:r>
                      <a:endParaRPr lang="zh-CN" altLang="en-US" dirty="0"/>
                    </a:p>
                  </a:txBody>
                  <a:tcPr marL="18000" marR="18000" marT="46790" marB="4679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0003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张海</a:t>
                      </a:r>
                      <a:endParaRPr lang="zh-CN" altLang="en-US"/>
                    </a:p>
                  </a:txBody>
                  <a:tcPr marL="18000" marR="18000" marT="46790" marB="467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J01</a:t>
                      </a:r>
                      <a:endParaRPr lang="en-US" altLang="x-none" dirty="0"/>
                    </a:p>
                  </a:txBody>
                  <a:tcPr marL="18000" marR="18000" marT="46790" marB="4679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53313" name="表格 53312"/>
          <p:cNvGraphicFramePr/>
          <p:nvPr/>
        </p:nvGraphicFramePr>
        <p:xfrm>
          <a:off x="4610100" y="2832100"/>
          <a:ext cx="2578100" cy="1501775"/>
        </p:xfrm>
        <a:graphic>
          <a:graphicData uri="http://schemas.openxmlformats.org/drawingml/2006/table">
            <a:tbl>
              <a:tblPr/>
              <a:tblGrid>
                <a:gridCol w="1466850"/>
                <a:gridCol w="1111250"/>
              </a:tblGrid>
              <a:tr h="30003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skillType</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JobNo</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00037">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系统分析</a:t>
                      </a:r>
                      <a:endParaRPr lang="zh-CN" altLang="en-US"/>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J01</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0003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dirty="0"/>
                        <a:t>系统分析</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J02</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01625">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DBA</a:t>
                      </a:r>
                      <a:endParaRPr lang="zh-CN" altLang="en-US"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J02</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00037">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DBA</a:t>
                      </a:r>
                      <a:endParaRPr lang="zh-CN" altLang="en-US"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J03</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53335" name="表格 53334"/>
          <p:cNvGraphicFramePr/>
          <p:nvPr/>
        </p:nvGraphicFramePr>
        <p:xfrm>
          <a:off x="5156200" y="969963"/>
          <a:ext cx="2679700" cy="1501775"/>
        </p:xfrm>
        <a:graphic>
          <a:graphicData uri="http://schemas.openxmlformats.org/drawingml/2006/table">
            <a:tbl>
              <a:tblPr/>
              <a:tblGrid>
                <a:gridCol w="1524000"/>
                <a:gridCol w="1155700"/>
              </a:tblGrid>
              <a:tr h="30003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PersonName</a:t>
                      </a:r>
                      <a:endParaRPr lang="en-US" altLang="x-none" dirty="0"/>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skillType</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00037">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李勇</a:t>
                      </a:r>
                      <a:endParaRPr lang="zh-CN" altLang="en-US"/>
                    </a:p>
                  </a:txBody>
                  <a:tcPr marL="18000" marR="18000" marT="46816" marB="468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系统分析</a:t>
                      </a:r>
                      <a:endParaRPr lang="zh-CN" altLang="en-US"/>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0003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李勇</a:t>
                      </a:r>
                      <a:endParaRPr lang="zh-CN" altLang="en-US"/>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DBA</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01625">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刘晨</a:t>
                      </a:r>
                      <a:endParaRPr lang="zh-CN" altLang="en-US"/>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DBA</a:t>
                      </a:r>
                      <a:endParaRPr lang="zh-CN" altLang="en-US"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00037">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张海</a:t>
                      </a:r>
                      <a:endParaRPr lang="zh-CN" altLang="en-US"/>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系统分析</a:t>
                      </a:r>
                      <a:endParaRPr lang="zh-CN" altLang="en-US"/>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65645" name="Rectangle 136"/>
          <p:cNvSpPr/>
          <p:nvPr/>
        </p:nvSpPr>
        <p:spPr>
          <a:xfrm>
            <a:off x="4321175" y="2454275"/>
            <a:ext cx="2909888" cy="463550"/>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en-US" altLang="zh-CN" sz="1800" dirty="0">
                <a:solidFill>
                  <a:srgbClr val="0033CC"/>
                </a:solidFill>
              </a:rPr>
              <a:t>R2:NeedSkills</a:t>
            </a:r>
            <a:endParaRPr lang="en-US" altLang="zh-CN" sz="1800" dirty="0">
              <a:solidFill>
                <a:srgbClr val="0033CC"/>
              </a:solidFill>
            </a:endParaRPr>
          </a:p>
        </p:txBody>
      </p:sp>
      <p:sp>
        <p:nvSpPr>
          <p:cNvPr id="65646" name="Rectangle 137"/>
          <p:cNvSpPr/>
          <p:nvPr/>
        </p:nvSpPr>
        <p:spPr>
          <a:xfrm>
            <a:off x="5903913" y="4257675"/>
            <a:ext cx="2922587" cy="463550"/>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en-US" altLang="zh-CN" sz="1800" dirty="0">
                <a:solidFill>
                  <a:srgbClr val="0033CC"/>
                </a:solidFill>
              </a:rPr>
              <a:t>R3:AssignedToJobs</a:t>
            </a:r>
            <a:endParaRPr lang="en-US" altLang="zh-CN" sz="1800" dirty="0">
              <a:solidFill>
                <a:srgbClr val="0033CC"/>
              </a:solidFill>
            </a:endParaRPr>
          </a:p>
        </p:txBody>
      </p:sp>
      <p:sp>
        <p:nvSpPr>
          <p:cNvPr id="65647" name="Line 138"/>
          <p:cNvSpPr/>
          <p:nvPr/>
        </p:nvSpPr>
        <p:spPr>
          <a:xfrm flipV="1">
            <a:off x="4102100" y="1739900"/>
            <a:ext cx="1066800" cy="850900"/>
          </a:xfrm>
          <a:prstGeom prst="line">
            <a:avLst/>
          </a:prstGeom>
          <a:ln w="9525" cap="flat" cmpd="sng">
            <a:solidFill>
              <a:srgbClr val="000000"/>
            </a:solidFill>
            <a:prstDash val="solid"/>
            <a:headEnd type="none" w="med" len="med"/>
            <a:tailEnd type="triangle" w="sm" len="lg"/>
          </a:ln>
          <a:effectLst>
            <a:prstShdw prst="shdw17" dist="17961" dir="2699999">
              <a:srgbClr val="000000"/>
            </a:prstShdw>
          </a:effectLst>
        </p:spPr>
      </p:sp>
      <p:sp>
        <p:nvSpPr>
          <p:cNvPr id="65648" name="Line 139"/>
          <p:cNvSpPr/>
          <p:nvPr/>
        </p:nvSpPr>
        <p:spPr>
          <a:xfrm>
            <a:off x="4089400" y="2806700"/>
            <a:ext cx="495300" cy="228600"/>
          </a:xfrm>
          <a:prstGeom prst="line">
            <a:avLst/>
          </a:prstGeom>
          <a:ln w="9525" cap="flat" cmpd="sng">
            <a:solidFill>
              <a:srgbClr val="000000"/>
            </a:solidFill>
            <a:prstDash val="solid"/>
            <a:headEnd type="none" w="med" len="med"/>
            <a:tailEnd type="triangle" w="sm" len="lg"/>
          </a:ln>
          <a:effectLst>
            <a:prstShdw prst="shdw17" dist="17961" dir="2699999">
              <a:srgbClr val="000000"/>
            </a:prstShdw>
          </a:effectLst>
        </p:spPr>
      </p:sp>
      <p:sp>
        <p:nvSpPr>
          <p:cNvPr id="65649" name="Line 140"/>
          <p:cNvSpPr/>
          <p:nvPr/>
        </p:nvSpPr>
        <p:spPr>
          <a:xfrm>
            <a:off x="4102100" y="4114800"/>
            <a:ext cx="1879600" cy="1143000"/>
          </a:xfrm>
          <a:prstGeom prst="line">
            <a:avLst/>
          </a:prstGeom>
          <a:ln w="9525" cap="flat" cmpd="sng">
            <a:solidFill>
              <a:srgbClr val="000000"/>
            </a:solidFill>
            <a:prstDash val="solid"/>
            <a:headEnd type="none" w="med" len="med"/>
            <a:tailEnd type="triangle" w="sm" len="lg"/>
          </a:ln>
          <a:effectLst>
            <a:prstShdw prst="shdw17" dist="17961" dir="2699999">
              <a:srgbClr val="000000"/>
            </a:prstShdw>
          </a:effectLst>
        </p:spPr>
      </p:sp>
      <p:sp>
        <p:nvSpPr>
          <p:cNvPr id="65650"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4274" name="表格 54273"/>
          <p:cNvGraphicFramePr/>
          <p:nvPr/>
        </p:nvGraphicFramePr>
        <p:xfrm>
          <a:off x="363538" y="1352550"/>
          <a:ext cx="8569325" cy="4979988"/>
        </p:xfrm>
        <a:graphic>
          <a:graphicData uri="http://schemas.openxmlformats.org/drawingml/2006/table">
            <a:tbl>
              <a:tblPr/>
              <a:tblGrid>
                <a:gridCol w="1212850"/>
                <a:gridCol w="3032125"/>
                <a:gridCol w="2162175"/>
                <a:gridCol w="2162175"/>
              </a:tblGrid>
              <a:tr h="609639">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chemeClr val="tx1"/>
                        </a:buClr>
                        <a:buSzPct val="110000"/>
                        <a:buFont typeface="Arial" panose="020B0604020202020204" pitchFamily="34" charset="0"/>
                        <a:buNone/>
                      </a:pPr>
                      <a:r>
                        <a:rPr lang="zh-CN" altLang="en-US" sz="2000" b="1" dirty="0">
                          <a:solidFill>
                            <a:srgbClr val="CC0000"/>
                          </a:solidFill>
                          <a:latin typeface="宋体" panose="02010600030101010101" pitchFamily="2" charset="-122"/>
                        </a:rPr>
                        <a:t>关系模式</a:t>
                      </a:r>
                      <a:r>
                        <a:rPr lang="en-US" altLang="x-none" sz="2000" b="1" dirty="0">
                          <a:solidFill>
                            <a:srgbClr val="CC0000"/>
                          </a:solidFill>
                          <a:latin typeface="宋体" panose="02010600030101010101" pitchFamily="2" charset="-122"/>
                        </a:rPr>
                        <a:t>R</a:t>
                      </a:r>
                      <a:r>
                        <a:rPr lang="zh-CN" altLang="en-US" sz="2000" b="1" dirty="0">
                          <a:solidFill>
                            <a:srgbClr val="CC0000"/>
                          </a:solidFill>
                          <a:latin typeface="宋体" panose="02010600030101010101" pitchFamily="2" charset="-122"/>
                        </a:rPr>
                        <a:t>的范式</a:t>
                      </a:r>
                      <a:endParaRPr lang="zh-CN" altLang="en-US" sz="2000" b="1" dirty="0">
                        <a:solidFill>
                          <a:srgbClr val="CC0000"/>
                        </a:solidFill>
                        <a:latin typeface="宋体" panose="02010600030101010101" pitchFamily="2" charset="-122"/>
                      </a:endParaRPr>
                    </a:p>
                  </a:txBody>
                  <a:tcPr marL="90000" marR="9000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chemeClr val="tx1"/>
                        </a:buClr>
                        <a:buSzPct val="110000"/>
                        <a:buFont typeface="Arial" panose="020B0604020202020204" pitchFamily="34" charset="0"/>
                        <a:buNone/>
                      </a:pPr>
                      <a:r>
                        <a:rPr lang="zh-CN" altLang="en-US" sz="2000" b="1">
                          <a:solidFill>
                            <a:srgbClr val="CC0000"/>
                          </a:solidFill>
                          <a:latin typeface="宋体" panose="02010600030101010101" pitchFamily="2" charset="-122"/>
                        </a:rPr>
                        <a:t>满足的条件</a:t>
                      </a:r>
                      <a:endParaRPr lang="zh-CN" altLang="en-US" sz="2000" b="1">
                        <a:solidFill>
                          <a:srgbClr val="CC0000"/>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chemeClr val="tx1"/>
                        </a:buClr>
                        <a:buSzPct val="110000"/>
                        <a:buFont typeface="Arial" panose="020B0604020202020204" pitchFamily="34" charset="0"/>
                        <a:buNone/>
                      </a:pPr>
                      <a:r>
                        <a:rPr lang="zh-CN" altLang="en-US" sz="2000" b="1">
                          <a:solidFill>
                            <a:srgbClr val="CC0000"/>
                          </a:solidFill>
                          <a:latin typeface="宋体" panose="02010600030101010101" pitchFamily="2" charset="-122"/>
                        </a:rPr>
                        <a:t>分解要求</a:t>
                      </a:r>
                      <a:endParaRPr lang="zh-CN" altLang="en-US" sz="2000" b="1">
                        <a:solidFill>
                          <a:srgbClr val="CC0000"/>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chemeClr val="tx1"/>
                        </a:buClr>
                        <a:buSzPct val="110000"/>
                        <a:buFont typeface="Arial" panose="020B0604020202020204" pitchFamily="34" charset="0"/>
                        <a:buNone/>
                      </a:pPr>
                      <a:r>
                        <a:rPr lang="zh-CN" altLang="en-US" sz="2000" b="1">
                          <a:solidFill>
                            <a:srgbClr val="CC0000"/>
                          </a:solidFill>
                          <a:latin typeface="宋体" panose="02010600030101010101" pitchFamily="2" charset="-122"/>
                        </a:rPr>
                        <a:t>存在异常的原因</a:t>
                      </a:r>
                      <a:endParaRPr lang="zh-CN" altLang="en-US" sz="2000" b="1">
                        <a:solidFill>
                          <a:srgbClr val="CC0000"/>
                        </a:solidFill>
                        <a:latin typeface="宋体" panose="02010600030101010101" pitchFamily="2" charset="-122"/>
                      </a:endParaRPr>
                    </a:p>
                  </a:txBody>
                  <a:tcPr marL="3600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3027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chemeClr val="tx1"/>
                        </a:buClr>
                        <a:buSzPct val="110000"/>
                        <a:buFont typeface="Arial" panose="020B0604020202020204" pitchFamily="34" charset="0"/>
                        <a:buNone/>
                      </a:pPr>
                      <a:r>
                        <a:rPr lang="en-US" altLang="x-none" sz="2000" b="1" dirty="0">
                          <a:solidFill>
                            <a:srgbClr val="0000CC"/>
                          </a:solidFill>
                          <a:latin typeface="宋体" panose="02010600030101010101" pitchFamily="2" charset="-122"/>
                        </a:rPr>
                        <a:t>1NF</a:t>
                      </a:r>
                      <a:endParaRPr lang="en-US" altLang="x-none" sz="2000" b="1" dirty="0">
                        <a:solidFill>
                          <a:srgbClr val="0000CC"/>
                        </a:solidFill>
                        <a:latin typeface="宋体" panose="02010600030101010101" pitchFamily="2" charset="-122"/>
                      </a:endParaRPr>
                    </a:p>
                  </a:txBody>
                  <a:tcPr marL="90000" marR="9000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a:solidFill>
                            <a:srgbClr val="0000CC"/>
                          </a:solidFill>
                          <a:latin typeface="宋体" panose="02010600030101010101" pitchFamily="2" charset="-122"/>
                        </a:rPr>
                        <a:t>每个属性是原子的</a:t>
                      </a:r>
                      <a:endParaRPr lang="zh-CN" altLang="en-US" sz="2000" b="1">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a:solidFill>
                            <a:srgbClr val="0000CC"/>
                          </a:solidFill>
                          <a:latin typeface="宋体" panose="02010600030101010101" pitchFamily="2" charset="-122"/>
                        </a:rPr>
                        <a:t>复合属性分解为简单属性</a:t>
                      </a:r>
                      <a:endParaRPr lang="zh-CN" altLang="en-US" sz="2000" b="1">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u="sng" dirty="0">
                          <a:solidFill>
                            <a:srgbClr val="0000CC"/>
                          </a:solidFill>
                          <a:latin typeface="宋体" panose="02010600030101010101" pitchFamily="2" charset="-122"/>
                        </a:rPr>
                        <a:t>非键属性</a:t>
                      </a:r>
                      <a:r>
                        <a:rPr lang="zh-CN" altLang="en-US" sz="2000" b="1" dirty="0">
                          <a:solidFill>
                            <a:srgbClr val="0000CC"/>
                          </a:solidFill>
                          <a:latin typeface="宋体" panose="02010600030101010101" pitchFamily="2" charset="-122"/>
                        </a:rPr>
                        <a:t>部分</a:t>
                      </a:r>
                      <a:r>
                        <a:rPr lang="en-US" altLang="x-none" sz="2000" b="1" dirty="0">
                          <a:solidFill>
                            <a:srgbClr val="0000CC"/>
                          </a:solidFill>
                          <a:latin typeface="宋体" panose="02010600030101010101" pitchFamily="2" charset="-122"/>
                        </a:rPr>
                        <a:t>FD</a:t>
                      </a:r>
                      <a:r>
                        <a:rPr lang="zh-CN" altLang="en-US" sz="2000" b="1" dirty="0">
                          <a:solidFill>
                            <a:srgbClr val="0000CC"/>
                          </a:solidFill>
                          <a:latin typeface="宋体" panose="02010600030101010101" pitchFamily="2" charset="-122"/>
                        </a:rPr>
                        <a:t>，传递</a:t>
                      </a:r>
                      <a:r>
                        <a:rPr lang="en-US" altLang="x-none" sz="2000" b="1" dirty="0">
                          <a:solidFill>
                            <a:srgbClr val="0000CC"/>
                          </a:solidFill>
                          <a:latin typeface="宋体" panose="02010600030101010101" pitchFamily="2" charset="-122"/>
                        </a:rPr>
                        <a:t>FD</a:t>
                      </a:r>
                      <a:r>
                        <a:rPr lang="zh-CN" altLang="en-US" sz="2000" b="1" dirty="0">
                          <a:solidFill>
                            <a:srgbClr val="0000CC"/>
                          </a:solidFill>
                          <a:latin typeface="宋体" panose="02010600030101010101" pitchFamily="2" charset="-122"/>
                        </a:rPr>
                        <a:t>于</a:t>
                      </a:r>
                      <a:r>
                        <a:rPr lang="zh-CN" altLang="en-US" sz="2000" b="1" u="sng" dirty="0">
                          <a:solidFill>
                            <a:srgbClr val="0000CC"/>
                          </a:solidFill>
                          <a:latin typeface="宋体" panose="02010600030101010101" pitchFamily="2" charset="-122"/>
                        </a:rPr>
                        <a:t>键</a:t>
                      </a:r>
                      <a:endParaRPr lang="zh-CN" altLang="en-US" sz="2000" b="1" u="sng" dirty="0">
                        <a:solidFill>
                          <a:srgbClr val="0000CC"/>
                        </a:solidFill>
                        <a:latin typeface="宋体" panose="02010600030101010101" pitchFamily="2" charset="-122"/>
                      </a:endParaRPr>
                    </a:p>
                  </a:txBody>
                  <a:tcPr marL="3600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2869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chemeClr val="tx1"/>
                        </a:buClr>
                        <a:buSzPct val="110000"/>
                        <a:buFont typeface="Arial" panose="020B0604020202020204" pitchFamily="34" charset="0"/>
                        <a:buNone/>
                      </a:pPr>
                      <a:r>
                        <a:rPr lang="en-US" altLang="x-none" sz="2000" b="1" dirty="0">
                          <a:solidFill>
                            <a:srgbClr val="0000CC"/>
                          </a:solidFill>
                          <a:latin typeface="宋体" panose="02010600030101010101" pitchFamily="2" charset="-122"/>
                        </a:rPr>
                        <a:t>2NF</a:t>
                      </a:r>
                      <a:endParaRPr lang="en-US" altLang="x-none" sz="2000" b="1" dirty="0">
                        <a:solidFill>
                          <a:srgbClr val="0000CC"/>
                        </a:solidFill>
                        <a:latin typeface="宋体" panose="02010600030101010101" pitchFamily="2" charset="-122"/>
                      </a:endParaRPr>
                    </a:p>
                  </a:txBody>
                  <a:tcPr marL="90000" marR="9000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en-US" altLang="x-none" sz="2000" b="1" dirty="0">
                          <a:solidFill>
                            <a:srgbClr val="0000CC"/>
                          </a:solidFill>
                          <a:latin typeface="宋体" panose="02010600030101010101" pitchFamily="2" charset="-122"/>
                        </a:rPr>
                        <a:t>1NF</a:t>
                      </a:r>
                      <a:r>
                        <a:rPr lang="en-US" altLang="x-none" sz="2000" b="1" dirty="0">
                          <a:solidFill>
                            <a:srgbClr val="CC0000"/>
                          </a:solidFill>
                          <a:latin typeface="宋体" panose="02010600030101010101" pitchFamily="2" charset="-122"/>
                        </a:rPr>
                        <a:t>+</a:t>
                      </a:r>
                      <a:r>
                        <a:rPr lang="zh-CN" altLang="en-US" sz="2000" b="1" dirty="0">
                          <a:solidFill>
                            <a:srgbClr val="0000CC"/>
                          </a:solidFill>
                          <a:latin typeface="宋体" panose="02010600030101010101" pitchFamily="2" charset="-122"/>
                        </a:rPr>
                        <a:t>每个非键属性都完全</a:t>
                      </a:r>
                      <a:r>
                        <a:rPr lang="en-US" altLang="x-none" sz="2000" b="1" dirty="0">
                          <a:solidFill>
                            <a:srgbClr val="0000CC"/>
                          </a:solidFill>
                          <a:latin typeface="宋体" panose="02010600030101010101" pitchFamily="2" charset="-122"/>
                        </a:rPr>
                        <a:t>FD</a:t>
                      </a:r>
                      <a:r>
                        <a:rPr lang="zh-CN" altLang="en-US" sz="2000" b="1" dirty="0">
                          <a:solidFill>
                            <a:srgbClr val="0000CC"/>
                          </a:solidFill>
                          <a:latin typeface="宋体" panose="02010600030101010101" pitchFamily="2" charset="-122"/>
                        </a:rPr>
                        <a:t>于</a:t>
                      </a:r>
                      <a:r>
                        <a:rPr lang="en-US" altLang="x-none" sz="2000" b="1" dirty="0">
                          <a:solidFill>
                            <a:srgbClr val="0000CC"/>
                          </a:solidFill>
                          <a:latin typeface="宋体" panose="02010600030101010101" pitchFamily="2" charset="-122"/>
                        </a:rPr>
                        <a:t>R</a:t>
                      </a:r>
                      <a:r>
                        <a:rPr lang="zh-CN" altLang="en-US" sz="2000" b="1" dirty="0">
                          <a:solidFill>
                            <a:srgbClr val="0000CC"/>
                          </a:solidFill>
                          <a:latin typeface="宋体" panose="02010600030101010101" pitchFamily="2" charset="-122"/>
                        </a:rPr>
                        <a:t>的键</a:t>
                      </a:r>
                      <a:endParaRPr lang="zh-CN" altLang="en-US" sz="2000" b="1" dirty="0">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a:solidFill>
                            <a:srgbClr val="0000CC"/>
                          </a:solidFill>
                          <a:latin typeface="宋体" panose="02010600030101010101" pitchFamily="2" charset="-122"/>
                        </a:rPr>
                        <a:t>将非键属性和它的决定属性移出</a:t>
                      </a:r>
                      <a:endParaRPr lang="zh-CN" altLang="en-US" sz="2000" b="1">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u="sng" dirty="0">
                          <a:solidFill>
                            <a:srgbClr val="0000CC"/>
                          </a:solidFill>
                          <a:latin typeface="宋体" panose="02010600030101010101" pitchFamily="2" charset="-122"/>
                        </a:rPr>
                        <a:t>非键属性</a:t>
                      </a:r>
                      <a:r>
                        <a:rPr lang="zh-CN" altLang="en-US" sz="2000" b="1" dirty="0">
                          <a:solidFill>
                            <a:srgbClr val="0000CC"/>
                          </a:solidFill>
                          <a:latin typeface="宋体" panose="02010600030101010101" pitchFamily="2" charset="-122"/>
                        </a:rPr>
                        <a:t>传递</a:t>
                      </a:r>
                      <a:r>
                        <a:rPr lang="en-US" altLang="x-none" sz="2000" b="1" dirty="0">
                          <a:solidFill>
                            <a:srgbClr val="0000CC"/>
                          </a:solidFill>
                          <a:latin typeface="宋体" panose="02010600030101010101" pitchFamily="2" charset="-122"/>
                        </a:rPr>
                        <a:t>FD</a:t>
                      </a:r>
                      <a:r>
                        <a:rPr lang="zh-CN" altLang="en-US" sz="2000" b="1" dirty="0">
                          <a:solidFill>
                            <a:srgbClr val="0000CC"/>
                          </a:solidFill>
                          <a:latin typeface="宋体" panose="02010600030101010101" pitchFamily="2" charset="-122"/>
                        </a:rPr>
                        <a:t>于</a:t>
                      </a:r>
                      <a:r>
                        <a:rPr lang="zh-CN" altLang="en-US" sz="2000" b="1" u="sng" dirty="0">
                          <a:solidFill>
                            <a:srgbClr val="0000CC"/>
                          </a:solidFill>
                          <a:latin typeface="宋体" panose="02010600030101010101" pitchFamily="2" charset="-122"/>
                        </a:rPr>
                        <a:t>键</a:t>
                      </a:r>
                      <a:endParaRPr lang="zh-CN" altLang="en-US" sz="2000" b="1" u="sng" dirty="0">
                        <a:solidFill>
                          <a:srgbClr val="0000CC"/>
                        </a:solidFill>
                        <a:latin typeface="宋体" panose="02010600030101010101" pitchFamily="2" charset="-122"/>
                      </a:endParaRPr>
                    </a:p>
                  </a:txBody>
                  <a:tcPr marL="3600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91445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chemeClr val="tx1"/>
                        </a:buClr>
                        <a:buSzPct val="110000"/>
                        <a:buFont typeface="Arial" panose="020B0604020202020204" pitchFamily="34" charset="0"/>
                        <a:buNone/>
                      </a:pPr>
                      <a:r>
                        <a:rPr lang="en-US" altLang="x-none" sz="2000" b="1" dirty="0">
                          <a:solidFill>
                            <a:srgbClr val="0000CC"/>
                          </a:solidFill>
                          <a:latin typeface="宋体" panose="02010600030101010101" pitchFamily="2" charset="-122"/>
                        </a:rPr>
                        <a:t>3NF</a:t>
                      </a:r>
                      <a:endParaRPr lang="en-US" altLang="x-none" sz="2000" b="1" dirty="0">
                        <a:solidFill>
                          <a:srgbClr val="0000CC"/>
                        </a:solidFill>
                        <a:latin typeface="宋体" panose="02010600030101010101" pitchFamily="2" charset="-122"/>
                      </a:endParaRPr>
                    </a:p>
                  </a:txBody>
                  <a:tcPr marL="90000" marR="9000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en-US" altLang="x-none" sz="2000" b="1" dirty="0">
                          <a:solidFill>
                            <a:srgbClr val="0000CC"/>
                          </a:solidFill>
                          <a:latin typeface="宋体" panose="02010600030101010101" pitchFamily="2" charset="-122"/>
                        </a:rPr>
                        <a:t>2NF</a:t>
                      </a:r>
                      <a:r>
                        <a:rPr lang="en-US" altLang="x-none" sz="2000" b="1" dirty="0">
                          <a:solidFill>
                            <a:srgbClr val="CC0000"/>
                          </a:solidFill>
                          <a:latin typeface="宋体" panose="02010600030101010101" pitchFamily="2" charset="-122"/>
                        </a:rPr>
                        <a:t>+</a:t>
                      </a:r>
                      <a:r>
                        <a:rPr lang="zh-CN" altLang="en-US" sz="2000" b="1" dirty="0">
                          <a:solidFill>
                            <a:srgbClr val="0000CC"/>
                          </a:solidFill>
                          <a:latin typeface="宋体" panose="02010600030101010101" pitchFamily="2" charset="-122"/>
                        </a:rPr>
                        <a:t>任何一个非键属性都不传递</a:t>
                      </a:r>
                      <a:r>
                        <a:rPr lang="en-US" altLang="x-none" sz="2000" b="1" dirty="0">
                          <a:solidFill>
                            <a:srgbClr val="0000CC"/>
                          </a:solidFill>
                          <a:latin typeface="宋体" panose="02010600030101010101" pitchFamily="2" charset="-122"/>
                        </a:rPr>
                        <a:t>FD</a:t>
                      </a:r>
                      <a:r>
                        <a:rPr lang="zh-CN" altLang="en-US" sz="2000" b="1" dirty="0">
                          <a:solidFill>
                            <a:srgbClr val="0000CC"/>
                          </a:solidFill>
                          <a:latin typeface="宋体" panose="02010600030101010101" pitchFamily="2" charset="-122"/>
                        </a:rPr>
                        <a:t>于</a:t>
                      </a:r>
                      <a:r>
                        <a:rPr lang="en-US" altLang="x-none" sz="2000" b="1" dirty="0">
                          <a:solidFill>
                            <a:srgbClr val="0000CC"/>
                          </a:solidFill>
                          <a:latin typeface="宋体" panose="02010600030101010101" pitchFamily="2" charset="-122"/>
                        </a:rPr>
                        <a:t>R</a:t>
                      </a:r>
                      <a:r>
                        <a:rPr lang="zh-CN" altLang="en-US" sz="2000" b="1" dirty="0">
                          <a:solidFill>
                            <a:srgbClr val="0000CC"/>
                          </a:solidFill>
                          <a:latin typeface="宋体" panose="02010600030101010101" pitchFamily="2" charset="-122"/>
                        </a:rPr>
                        <a:t>的键 </a:t>
                      </a:r>
                      <a:endParaRPr lang="zh-CN" altLang="en-US" sz="2000" b="1" dirty="0">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dirty="0">
                          <a:solidFill>
                            <a:srgbClr val="0000CC"/>
                          </a:solidFill>
                          <a:latin typeface="宋体" panose="02010600030101010101" pitchFamily="2" charset="-122"/>
                        </a:rPr>
                        <a:t>将非键属性和它的直接决定属性移出</a:t>
                      </a:r>
                      <a:endParaRPr lang="zh-CN" altLang="en-US" sz="2000" b="1" dirty="0">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u="sng" dirty="0">
                          <a:solidFill>
                            <a:srgbClr val="0000CC"/>
                          </a:solidFill>
                          <a:latin typeface="宋体" panose="02010600030101010101" pitchFamily="2" charset="-122"/>
                        </a:rPr>
                        <a:t>键属性</a:t>
                      </a:r>
                      <a:r>
                        <a:rPr lang="zh-CN" altLang="en-US" sz="2000" b="1" dirty="0">
                          <a:solidFill>
                            <a:srgbClr val="0000CC"/>
                          </a:solidFill>
                          <a:latin typeface="宋体" panose="02010600030101010101" pitchFamily="2" charset="-122"/>
                        </a:rPr>
                        <a:t>部分</a:t>
                      </a:r>
                      <a:r>
                        <a:rPr lang="en-US" altLang="x-none" sz="2000" b="1" dirty="0">
                          <a:solidFill>
                            <a:srgbClr val="0000CC"/>
                          </a:solidFill>
                          <a:latin typeface="宋体" panose="02010600030101010101" pitchFamily="2" charset="-122"/>
                        </a:rPr>
                        <a:t>FD</a:t>
                      </a:r>
                      <a:r>
                        <a:rPr lang="zh-CN" altLang="en-US" sz="2000" b="1" dirty="0">
                          <a:solidFill>
                            <a:srgbClr val="0000CC"/>
                          </a:solidFill>
                          <a:latin typeface="宋体" panose="02010600030101010101" pitchFamily="2" charset="-122"/>
                        </a:rPr>
                        <a:t>于</a:t>
                      </a:r>
                      <a:r>
                        <a:rPr lang="zh-CN" altLang="en-US" sz="2000" b="1" u="sng" dirty="0">
                          <a:solidFill>
                            <a:srgbClr val="0000CC"/>
                          </a:solidFill>
                          <a:latin typeface="宋体" panose="02010600030101010101" pitchFamily="2" charset="-122"/>
                        </a:rPr>
                        <a:t>键</a:t>
                      </a:r>
                      <a:endParaRPr lang="zh-CN" altLang="en-US" sz="2000" b="1" u="sng" dirty="0">
                        <a:solidFill>
                          <a:srgbClr val="0000CC"/>
                        </a:solidFill>
                        <a:latin typeface="宋体" panose="02010600030101010101" pitchFamily="2" charset="-122"/>
                      </a:endParaRPr>
                    </a:p>
                  </a:txBody>
                  <a:tcPr marL="3600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2996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chemeClr val="tx1"/>
                        </a:buClr>
                        <a:buSzPct val="110000"/>
                        <a:buFont typeface="Arial" panose="020B0604020202020204" pitchFamily="34" charset="0"/>
                        <a:buNone/>
                      </a:pPr>
                      <a:r>
                        <a:rPr lang="en-US" altLang="x-none" sz="2400" b="1" dirty="0">
                          <a:solidFill>
                            <a:srgbClr val="0000CC"/>
                          </a:solidFill>
                          <a:latin typeface="宋体" panose="02010600030101010101" pitchFamily="2" charset="-122"/>
                        </a:rPr>
                        <a:t>BCNF</a:t>
                      </a:r>
                      <a:endParaRPr lang="en-US" altLang="x-none" sz="2400" b="1" dirty="0">
                        <a:solidFill>
                          <a:srgbClr val="0000CC"/>
                        </a:solidFill>
                        <a:latin typeface="宋体" panose="02010600030101010101" pitchFamily="2" charset="-122"/>
                      </a:endParaRPr>
                    </a:p>
                  </a:txBody>
                  <a:tcPr marL="90000" marR="9000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en-US" altLang="x-none" sz="2000" b="1" dirty="0">
                          <a:solidFill>
                            <a:srgbClr val="0000CC"/>
                          </a:solidFill>
                          <a:latin typeface="宋体" panose="02010600030101010101" pitchFamily="2" charset="-122"/>
                        </a:rPr>
                        <a:t>1NF</a:t>
                      </a:r>
                      <a:r>
                        <a:rPr lang="en-US" altLang="x-none" sz="2000" b="1" dirty="0">
                          <a:solidFill>
                            <a:srgbClr val="CC0000"/>
                          </a:solidFill>
                          <a:latin typeface="宋体" panose="02010600030101010101" pitchFamily="2" charset="-122"/>
                        </a:rPr>
                        <a:t>+</a:t>
                      </a:r>
                      <a:r>
                        <a:rPr lang="zh-CN" altLang="en-US" sz="2000" b="1" dirty="0">
                          <a:solidFill>
                            <a:srgbClr val="CC0000"/>
                          </a:solidFill>
                          <a:latin typeface="宋体" panose="02010600030101010101" pitchFamily="2" charset="-122"/>
                        </a:rPr>
                        <a:t>每个决定因子都包含候选键</a:t>
                      </a:r>
                      <a:endParaRPr lang="zh-CN" altLang="en-US" sz="2000" b="1" dirty="0">
                        <a:solidFill>
                          <a:srgbClr val="CC0000"/>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400" b="1" dirty="0">
                          <a:solidFill>
                            <a:srgbClr val="0000CC"/>
                          </a:solidFill>
                          <a:latin typeface="宋体" panose="02010600030101010101" pitchFamily="2" charset="-122"/>
                        </a:rPr>
                        <a:t>方法同</a:t>
                      </a:r>
                      <a:r>
                        <a:rPr lang="en-US" altLang="x-none" sz="2400" b="1" dirty="0">
                          <a:solidFill>
                            <a:srgbClr val="0000CC"/>
                          </a:solidFill>
                          <a:latin typeface="宋体" panose="02010600030101010101" pitchFamily="2" charset="-122"/>
                        </a:rPr>
                        <a:t>3NF</a:t>
                      </a:r>
                      <a:endParaRPr lang="en-US" altLang="x-none" sz="2400" b="1" dirty="0">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a:solidFill>
                            <a:srgbClr val="0000CC"/>
                          </a:solidFill>
                          <a:latin typeface="宋体" panose="02010600030101010101" pitchFamily="2" charset="-122"/>
                        </a:rPr>
                        <a:t>元组级的多值依赖</a:t>
                      </a:r>
                      <a:endParaRPr lang="zh-CN" altLang="en-US" sz="2000" b="1">
                        <a:solidFill>
                          <a:srgbClr val="0000CC"/>
                        </a:solidFill>
                        <a:latin typeface="宋体" panose="02010600030101010101" pitchFamily="2" charset="-122"/>
                      </a:endParaRPr>
                    </a:p>
                  </a:txBody>
                  <a:tcPr marL="3600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52505">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chemeClr val="tx1"/>
                        </a:buClr>
                        <a:buSzPct val="110000"/>
                        <a:buFont typeface="Arial" panose="020B0604020202020204" pitchFamily="34" charset="0"/>
                        <a:buNone/>
                      </a:pPr>
                      <a:r>
                        <a:rPr lang="en-US" altLang="x-none" sz="2400" b="1" dirty="0">
                          <a:solidFill>
                            <a:srgbClr val="0000CC"/>
                          </a:solidFill>
                          <a:latin typeface="宋体" panose="02010600030101010101" pitchFamily="2" charset="-122"/>
                        </a:rPr>
                        <a:t>4NF</a:t>
                      </a:r>
                      <a:endParaRPr lang="en-US" altLang="x-none" sz="2400" b="1" dirty="0">
                        <a:solidFill>
                          <a:srgbClr val="0000CC"/>
                        </a:solidFill>
                        <a:latin typeface="宋体" panose="02010600030101010101" pitchFamily="2" charset="-122"/>
                      </a:endParaRPr>
                    </a:p>
                  </a:txBody>
                  <a:tcPr marL="90000" marR="9000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dirty="0">
                          <a:solidFill>
                            <a:srgbClr val="0000CC"/>
                          </a:solidFill>
                          <a:latin typeface="宋体" panose="02010600030101010101" pitchFamily="2" charset="-122"/>
                        </a:rPr>
                        <a:t>对于</a:t>
                      </a:r>
                      <a:r>
                        <a:rPr lang="en-US" altLang="x-none" sz="2000" b="1" dirty="0">
                          <a:solidFill>
                            <a:srgbClr val="0000CC"/>
                          </a:solidFill>
                          <a:latin typeface="宋体" panose="02010600030101010101" pitchFamily="2" charset="-122"/>
                        </a:rPr>
                        <a:t>R</a:t>
                      </a:r>
                      <a:r>
                        <a:rPr lang="zh-CN" altLang="en-US" sz="2000" b="1" dirty="0">
                          <a:solidFill>
                            <a:srgbClr val="0000CC"/>
                          </a:solidFill>
                          <a:latin typeface="宋体" panose="02010600030101010101" pitchFamily="2" charset="-122"/>
                        </a:rPr>
                        <a:t>的每个多值依赖</a:t>
                      </a:r>
                      <a:r>
                        <a:rPr lang="en-US" altLang="x-none" sz="2000" b="1" dirty="0">
                          <a:solidFill>
                            <a:srgbClr val="0000CC"/>
                          </a:solidFill>
                          <a:latin typeface="宋体" panose="02010600030101010101" pitchFamily="2" charset="-122"/>
                        </a:rPr>
                        <a:t>X</a:t>
                      </a:r>
                      <a:r>
                        <a:rPr lang="en-US" altLang="x-none" sz="2000" b="1" dirty="0">
                          <a:solidFill>
                            <a:srgbClr val="0000CC"/>
                          </a:solidFill>
                          <a:latin typeface="宋体" panose="02010600030101010101" pitchFamily="2" charset="-122"/>
                          <a:sym typeface="Wingdings 3" panose="05040102010807070707" pitchFamily="18" charset="2"/>
                        </a:rPr>
                        <a:t>Y</a:t>
                      </a:r>
                      <a:r>
                        <a:rPr lang="zh-CN" altLang="en-US" sz="2000" b="1" dirty="0">
                          <a:solidFill>
                            <a:srgbClr val="0000CC"/>
                          </a:solidFill>
                          <a:latin typeface="宋体" panose="02010600030101010101" pitchFamily="2" charset="-122"/>
                          <a:sym typeface="Wingdings 3" panose="05040102010807070707" pitchFamily="18" charset="2"/>
                        </a:rPr>
                        <a:t>，</a:t>
                      </a:r>
                      <a:r>
                        <a:rPr lang="en-US" altLang="x-none" sz="2000" b="1" dirty="0">
                          <a:solidFill>
                            <a:srgbClr val="0000CC"/>
                          </a:solidFill>
                          <a:latin typeface="宋体" panose="02010600030101010101" pitchFamily="2" charset="-122"/>
                          <a:sym typeface="Wingdings 3" panose="05040102010807070707" pitchFamily="18" charset="2"/>
                        </a:rPr>
                        <a:t>X</a:t>
                      </a:r>
                      <a:r>
                        <a:rPr lang="zh-CN" altLang="en-US" sz="2000" b="1" dirty="0">
                          <a:solidFill>
                            <a:srgbClr val="0000CC"/>
                          </a:solidFill>
                          <a:latin typeface="宋体" panose="02010600030101010101" pitchFamily="2" charset="-122"/>
                          <a:sym typeface="Wingdings 3" panose="05040102010807070707" pitchFamily="18" charset="2"/>
                        </a:rPr>
                        <a:t>都含有</a:t>
                      </a:r>
                      <a:r>
                        <a:rPr lang="en-US" altLang="x-none" sz="2000" b="1" dirty="0">
                          <a:solidFill>
                            <a:srgbClr val="0000CC"/>
                          </a:solidFill>
                          <a:latin typeface="宋体" panose="02010600030101010101" pitchFamily="2" charset="-122"/>
                          <a:sym typeface="Wingdings 3" panose="05040102010807070707" pitchFamily="18" charset="2"/>
                        </a:rPr>
                        <a:t>R</a:t>
                      </a:r>
                      <a:r>
                        <a:rPr lang="zh-CN" altLang="en-US" sz="2000" b="1" dirty="0">
                          <a:solidFill>
                            <a:srgbClr val="0000CC"/>
                          </a:solidFill>
                          <a:latin typeface="宋体" panose="02010600030101010101" pitchFamily="2" charset="-122"/>
                          <a:sym typeface="Wingdings 3" panose="05040102010807070707" pitchFamily="18" charset="2"/>
                        </a:rPr>
                        <a:t>的候选键。</a:t>
                      </a:r>
                      <a:endParaRPr lang="zh-CN" altLang="en-US" sz="2000" b="1" dirty="0">
                        <a:solidFill>
                          <a:srgbClr val="0000CC"/>
                        </a:solidFill>
                        <a:latin typeface="宋体" panose="02010600030101010101" pitchFamily="2" charset="-122"/>
                        <a:sym typeface="Wingdings 3" panose="05040102010807070707" pitchFamily="18" charset="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a:solidFill>
                            <a:srgbClr val="0000CC"/>
                          </a:solidFill>
                          <a:latin typeface="宋体" panose="02010600030101010101" pitchFamily="2" charset="-122"/>
                        </a:rPr>
                        <a:t>消除非平凡多值依赖以减少数据冗余</a:t>
                      </a:r>
                      <a:endParaRPr lang="zh-CN" altLang="en-US" sz="2000" b="1">
                        <a:solidFill>
                          <a:srgbClr val="0000CC"/>
                        </a:solidFill>
                        <a:latin typeface="宋体" panose="02010600030101010101" pitchFamily="2"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a:solidFill>
                            <a:srgbClr val="0000CC"/>
                          </a:solidFill>
                          <a:latin typeface="宋体" panose="02010600030101010101" pitchFamily="2" charset="-122"/>
                        </a:rPr>
                        <a:t>关系级的连接依赖</a:t>
                      </a:r>
                      <a:endParaRPr lang="zh-CN" altLang="en-US" sz="2000" b="1">
                        <a:solidFill>
                          <a:srgbClr val="0000CC"/>
                        </a:solidFill>
                        <a:latin typeface="宋体" panose="02010600030101010101" pitchFamily="2" charset="-122"/>
                      </a:endParaRPr>
                    </a:p>
                  </a:txBody>
                  <a:tcPr marL="3600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91445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chemeClr val="tx1"/>
                        </a:buClr>
                        <a:buSzPct val="110000"/>
                        <a:buFont typeface="Arial" panose="020B0604020202020204" pitchFamily="34" charset="0"/>
                        <a:buNone/>
                      </a:pPr>
                      <a:r>
                        <a:rPr lang="en-US" altLang="x-none" sz="2400" b="1" dirty="0">
                          <a:solidFill>
                            <a:srgbClr val="0000CC"/>
                          </a:solidFill>
                          <a:latin typeface="宋体" panose="02010600030101010101" pitchFamily="2" charset="-122"/>
                        </a:rPr>
                        <a:t>5NF</a:t>
                      </a:r>
                      <a:endParaRPr lang="en-US" altLang="x-none" sz="2400" b="1" dirty="0">
                        <a:solidFill>
                          <a:srgbClr val="0000CC"/>
                        </a:solidFill>
                        <a:latin typeface="宋体" panose="02010600030101010101" pitchFamily="2" charset="-122"/>
                      </a:endParaRPr>
                    </a:p>
                  </a:txBody>
                  <a:tcPr marL="90000" marR="9000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en-US" altLang="x-none" sz="2000" b="1" dirty="0">
                          <a:solidFill>
                            <a:srgbClr val="0000CC"/>
                          </a:solidFill>
                          <a:latin typeface="宋体" panose="02010600030101010101" pitchFamily="2" charset="-122"/>
                        </a:rPr>
                        <a:t>R</a:t>
                      </a:r>
                      <a:r>
                        <a:rPr lang="zh-CN" altLang="en-US" sz="2000" b="1" dirty="0">
                          <a:solidFill>
                            <a:srgbClr val="0000CC"/>
                          </a:solidFill>
                          <a:latin typeface="宋体" panose="02010600030101010101" pitchFamily="2" charset="-122"/>
                        </a:rPr>
                        <a:t>中，除了由超键构成的连接依赖外，再没有其他连接依赖。</a:t>
                      </a:r>
                      <a:endParaRPr lang="zh-CN" altLang="en-US" sz="2000" b="1" dirty="0">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endParaRPr sz="2000" b="1">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endParaRPr sz="2000" b="1">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66604"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66605" name="Rectangle 7"/>
          <p:cNvSpPr/>
          <p:nvPr/>
        </p:nvSpPr>
        <p:spPr>
          <a:xfrm>
            <a:off x="401638" y="731838"/>
            <a:ext cx="4230687"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7</a:t>
            </a:r>
            <a:r>
              <a:rPr lang="zh-CN" altLang="en-US" sz="2800" dirty="0">
                <a:solidFill>
                  <a:srgbClr val="FF3300"/>
                </a:solidFill>
                <a:latin typeface="黑体" panose="02010609060101010101" pitchFamily="49" charset="-122"/>
                <a:ea typeface="黑体" panose="02010609060101010101" pitchFamily="49" charset="-122"/>
              </a:rPr>
              <a:t>、关系模式的规范化小结</a:t>
            </a:r>
            <a:endParaRPr lang="zh-CN" altLang="en-US" sz="2800" dirty="0">
              <a:solidFill>
                <a:srgbClr val="FF3300"/>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Text Box 4"/>
          <p:cNvSpPr txBox="1"/>
          <p:nvPr/>
        </p:nvSpPr>
        <p:spPr>
          <a:xfrm>
            <a:off x="427038" y="1414463"/>
            <a:ext cx="8142287" cy="11398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Wingdings" panose="05000000000000000000" pitchFamily="2" charset="2"/>
              <a:buChar char="p"/>
            </a:pPr>
            <a:r>
              <a:rPr lang="zh-CN" altLang="en-US" sz="2400" dirty="0">
                <a:solidFill>
                  <a:srgbClr val="CC3300"/>
                </a:solidFill>
              </a:rPr>
              <a:t>规范化的实质：</a:t>
            </a:r>
            <a:r>
              <a:rPr lang="zh-CN" altLang="en-US" sz="2200" dirty="0">
                <a:solidFill>
                  <a:srgbClr val="0000CC"/>
                </a:solidFill>
              </a:rPr>
              <a:t>概念的单一化。即：一个关系只描述一个概念、一个实体或实体间的一种联系，若多于一个概念就应将其它概念分离出去。</a:t>
            </a:r>
            <a:endParaRPr lang="zh-CN" altLang="en-US" sz="2200" dirty="0">
              <a:solidFill>
                <a:srgbClr val="0000CC"/>
              </a:solidFill>
            </a:endParaRPr>
          </a:p>
        </p:txBody>
      </p:sp>
      <p:sp>
        <p:nvSpPr>
          <p:cNvPr id="55299" name="Text Box 6"/>
          <p:cNvSpPr txBox="1"/>
          <p:nvPr/>
        </p:nvSpPr>
        <p:spPr>
          <a:xfrm>
            <a:off x="415925" y="2486025"/>
            <a:ext cx="2998788"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Wingdings" panose="05000000000000000000" pitchFamily="2" charset="2"/>
              <a:buChar char="p"/>
            </a:pPr>
            <a:r>
              <a:rPr lang="zh-CN" altLang="en-US" sz="2400" dirty="0">
                <a:solidFill>
                  <a:srgbClr val="CC3300"/>
                </a:solidFill>
              </a:rPr>
              <a:t>规范化基本步骤：</a:t>
            </a:r>
            <a:endParaRPr lang="zh-CN" altLang="en-US" sz="2400" dirty="0"/>
          </a:p>
        </p:txBody>
      </p:sp>
      <p:graphicFrame>
        <p:nvGraphicFramePr>
          <p:cNvPr id="55300" name="Object 2"/>
          <p:cNvGraphicFramePr>
            <a:graphicFrameLocks noChangeAspect="1"/>
          </p:cNvGraphicFramePr>
          <p:nvPr/>
        </p:nvGraphicFramePr>
        <p:xfrm>
          <a:off x="2408238" y="2644775"/>
          <a:ext cx="6121400" cy="3743325"/>
        </p:xfrm>
        <a:graphic>
          <a:graphicData uri="http://schemas.openxmlformats.org/presentationml/2006/ole">
            <mc:AlternateContent xmlns:mc="http://schemas.openxmlformats.org/markup-compatibility/2006">
              <mc:Choice xmlns:v="urn:schemas-microsoft-com:vml" Requires="v">
                <p:oleObj spid="_x0000_s3088" name="" r:id="rId1" imgW="3185160" imgH="2197735" progId="Word.Picture.8">
                  <p:embed/>
                </p:oleObj>
              </mc:Choice>
              <mc:Fallback>
                <p:oleObj name="" r:id="rId1" imgW="3185160" imgH="2197735" progId="Word.Picture.8">
                  <p:embed/>
                  <p:pic>
                    <p:nvPicPr>
                      <p:cNvPr id="0" name="图片 3087"/>
                      <p:cNvPicPr/>
                      <p:nvPr/>
                    </p:nvPicPr>
                    <p:blipFill>
                      <a:blip r:embed="rId2"/>
                      <a:stretch>
                        <a:fillRect/>
                      </a:stretch>
                    </p:blipFill>
                    <p:spPr>
                      <a:xfrm>
                        <a:off x="2408238" y="2644775"/>
                        <a:ext cx="6121400" cy="3743325"/>
                      </a:xfrm>
                      <a:prstGeom prst="rect">
                        <a:avLst/>
                      </a:prstGeom>
                      <a:noFill/>
                      <a:ln w="38100">
                        <a:noFill/>
                        <a:miter/>
                      </a:ln>
                    </p:spPr>
                  </p:pic>
                </p:oleObj>
              </mc:Fallback>
            </mc:AlternateContent>
          </a:graphicData>
        </a:graphic>
      </p:graphicFrame>
      <p:sp>
        <p:nvSpPr>
          <p:cNvPr id="67589"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67590" name="Rectangle 7"/>
          <p:cNvSpPr/>
          <p:nvPr/>
        </p:nvSpPr>
        <p:spPr>
          <a:xfrm>
            <a:off x="401638" y="731838"/>
            <a:ext cx="4230687"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7</a:t>
            </a:r>
            <a:r>
              <a:rPr lang="zh-CN" altLang="en-US" sz="2800" dirty="0">
                <a:solidFill>
                  <a:srgbClr val="FF3300"/>
                </a:solidFill>
                <a:latin typeface="黑体" panose="02010609060101010101" pitchFamily="49" charset="-122"/>
                <a:ea typeface="黑体" panose="02010609060101010101" pitchFamily="49" charset="-122"/>
              </a:rPr>
              <a:t>、关系模式的规范化小结</a:t>
            </a:r>
            <a:endParaRPr lang="zh-CN" altLang="en-US" sz="2800" dirty="0">
              <a:solidFill>
                <a:srgbClr val="FF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5298"/>
                                        </p:tgtEl>
                                        <p:attrNameLst>
                                          <p:attrName>style.visibility</p:attrName>
                                        </p:attrNameLst>
                                      </p:cBhvr>
                                      <p:to>
                                        <p:strVal val="visible"/>
                                      </p:to>
                                    </p:set>
                                    <p:animEffect transition="in" filter="box(in)">
                                      <p:cBhvr>
                                        <p:cTn id="7" dur="500"/>
                                        <p:tgtEl>
                                          <p:spTgt spid="5529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5299"/>
                                        </p:tgtEl>
                                        <p:attrNameLst>
                                          <p:attrName>style.visibility</p:attrName>
                                        </p:attrNameLst>
                                      </p:cBhvr>
                                      <p:to>
                                        <p:strVal val="visible"/>
                                      </p:to>
                                    </p:set>
                                    <p:animEffect transition="in" filter="checkerboard(across)">
                                      <p:cBhvr>
                                        <p:cTn id="12" dur="500"/>
                                        <p:tgtEl>
                                          <p:spTgt spid="55299"/>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55300"/>
                                        </p:tgtEl>
                                        <p:attrNameLst>
                                          <p:attrName>style.visibility</p:attrName>
                                        </p:attrNameLst>
                                      </p:cBhvr>
                                      <p:to>
                                        <p:strVal val="visible"/>
                                      </p:to>
                                    </p:set>
                                    <p:animEffect transition="in" filter="diamond(in)">
                                      <p:cBhvr>
                                        <p:cTn id="17" dur="2000"/>
                                        <p:tgtEl>
                                          <p:spTgt spid="55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p:bldP spid="5529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Text Box 2"/>
          <p:cNvSpPr txBox="1"/>
          <p:nvPr/>
        </p:nvSpPr>
        <p:spPr>
          <a:xfrm>
            <a:off x="454025" y="1446213"/>
            <a:ext cx="8369300" cy="43751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buClrTx/>
              <a:buSzTx/>
              <a:buNone/>
            </a:pPr>
            <a:r>
              <a:rPr lang="zh-CN" altLang="en-US" dirty="0">
                <a:latin typeface="黑体" panose="02010609060101010101" pitchFamily="49" charset="-122"/>
                <a:ea typeface="黑体" panose="02010609060101010101" pitchFamily="49" charset="-122"/>
              </a:rPr>
              <a:t>    </a:t>
            </a:r>
            <a:r>
              <a:rPr lang="zh-CN" altLang="en-US" dirty="0"/>
              <a:t>规范化的基本思想是逐步消除数据依赖中不合适的部分，通过模式分解的方法使关系模式逐步消除操作异常。</a:t>
            </a:r>
            <a:r>
              <a:rPr lang="zh-CN" altLang="en-US" u="sng" dirty="0">
                <a:solidFill>
                  <a:srgbClr val="0033CC"/>
                </a:solidFill>
              </a:rPr>
              <a:t>分解的基本思想是让一个关系模式只描述一件事情，即面向主题设计数据库关系模式。</a:t>
            </a:r>
            <a:r>
              <a:rPr lang="zh-CN" altLang="en-US" dirty="0"/>
              <a:t>因此，规范化的过程就是让每个关系模式概念单一化的过程。</a:t>
            </a:r>
            <a:endParaRPr lang="zh-CN" altLang="en-US" dirty="0"/>
          </a:p>
          <a:p>
            <a:pPr marL="0" lvl="0" indent="0" eaLnBrk="1" hangingPunct="1">
              <a:lnSpc>
                <a:spcPct val="130000"/>
              </a:lnSpc>
              <a:buClrTx/>
              <a:buSzTx/>
              <a:buNone/>
            </a:pPr>
            <a:r>
              <a:rPr lang="en-US" altLang="zh-CN" sz="2200" dirty="0">
                <a:latin typeface="黑体" panose="02010609060101010101" pitchFamily="49" charset="-122"/>
                <a:ea typeface="黑体" panose="02010609060101010101" pitchFamily="49" charset="-122"/>
              </a:rPr>
              <a:t>    </a:t>
            </a:r>
            <a:r>
              <a:rPr lang="zh-CN" altLang="en-US" dirty="0"/>
              <a:t>规范化的方法就是进行模式分解，但分解后产生的模式应与原模式等价，即模式分解必须遵守一定的准则：</a:t>
            </a:r>
            <a:endParaRPr lang="zh-CN" altLang="en-US" dirty="0"/>
          </a:p>
          <a:p>
            <a:pPr marL="0" lvl="0" indent="0" eaLnBrk="1" hangingPunct="1">
              <a:lnSpc>
                <a:spcPct val="130000"/>
              </a:lnSpc>
              <a:buClrTx/>
              <a:buSzTx/>
              <a:buNone/>
            </a:pPr>
            <a:r>
              <a:rPr lang="zh-CN" altLang="en-US" sz="2200" dirty="0">
                <a:latin typeface="黑体" panose="02010609060101010101" pitchFamily="49" charset="-122"/>
                <a:ea typeface="黑体" panose="02010609060101010101" pitchFamily="49" charset="-122"/>
              </a:rPr>
              <a:t>    </a:t>
            </a:r>
            <a:r>
              <a:rPr lang="zh-CN" altLang="en-US" sz="2200" u="sng" dirty="0">
                <a:solidFill>
                  <a:srgbClr val="0033CC"/>
                </a:solidFill>
                <a:latin typeface="黑体" panose="02010609060101010101" pitchFamily="49" charset="-122"/>
                <a:ea typeface="黑体" panose="02010609060101010101" pitchFamily="49" charset="-122"/>
              </a:rPr>
              <a:t>① 模式分解具有无损连接性</a:t>
            </a:r>
            <a:r>
              <a:rPr lang="en-US" altLang="zh-CN" sz="2200" u="sng" dirty="0">
                <a:solidFill>
                  <a:srgbClr val="0033CC"/>
                </a:solidFill>
                <a:latin typeface="黑体" panose="02010609060101010101" pitchFamily="49" charset="-122"/>
                <a:ea typeface="黑体" panose="02010609060101010101" pitchFamily="49" charset="-122"/>
              </a:rPr>
              <a:t>:</a:t>
            </a:r>
            <a:r>
              <a:rPr lang="zh-CN" altLang="en-US" dirty="0"/>
              <a:t>指分解后的关系通过自然连接可以恢复成原来的关系</a:t>
            </a:r>
            <a:r>
              <a:rPr lang="en-US" altLang="zh-CN" dirty="0"/>
              <a:t>。</a:t>
            </a:r>
            <a:endParaRPr lang="zh-CN" altLang="en-US" sz="2200" u="sng" dirty="0">
              <a:solidFill>
                <a:srgbClr val="0033CC"/>
              </a:solidFill>
              <a:latin typeface="黑体" panose="02010609060101010101" pitchFamily="49" charset="-122"/>
              <a:ea typeface="黑体" panose="02010609060101010101" pitchFamily="49" charset="-122"/>
            </a:endParaRPr>
          </a:p>
          <a:p>
            <a:pPr marL="0" lvl="0" indent="0" eaLnBrk="1" hangingPunct="1">
              <a:lnSpc>
                <a:spcPct val="130000"/>
              </a:lnSpc>
              <a:buClrTx/>
              <a:buSzTx/>
              <a:buNone/>
            </a:pPr>
            <a:r>
              <a:rPr lang="zh-CN" altLang="en-US" sz="2200" dirty="0">
                <a:solidFill>
                  <a:srgbClr val="0033CC"/>
                </a:solidFill>
                <a:latin typeface="黑体" panose="02010609060101010101" pitchFamily="49" charset="-122"/>
                <a:ea typeface="黑体" panose="02010609060101010101" pitchFamily="49" charset="-122"/>
              </a:rPr>
              <a:t>    </a:t>
            </a:r>
            <a:r>
              <a:rPr lang="zh-CN" altLang="en-US" sz="2200" u="sng" dirty="0">
                <a:solidFill>
                  <a:srgbClr val="0033CC"/>
                </a:solidFill>
                <a:latin typeface="黑体" panose="02010609060101010101" pitchFamily="49" charset="-122"/>
                <a:ea typeface="黑体" panose="02010609060101010101" pitchFamily="49" charset="-122"/>
              </a:rPr>
              <a:t>② 模式分解能够保持函数依赖</a:t>
            </a:r>
            <a:r>
              <a:rPr lang="en-US" altLang="zh-CN" sz="2200" u="sng" dirty="0">
                <a:solidFill>
                  <a:srgbClr val="0033CC"/>
                </a:solidFill>
                <a:latin typeface="黑体" panose="02010609060101010101" pitchFamily="49" charset="-122"/>
                <a:ea typeface="黑体" panose="02010609060101010101" pitchFamily="49" charset="-122"/>
              </a:rPr>
              <a:t>：</a:t>
            </a:r>
            <a:r>
              <a:rPr lang="zh-CN" altLang="en-US" dirty="0"/>
              <a:t>模式分解过程中</a:t>
            </a:r>
            <a:r>
              <a:rPr lang="en-US" altLang="zh-CN" dirty="0"/>
              <a:t>， </a:t>
            </a:r>
            <a:r>
              <a:rPr lang="zh-CN" altLang="en-US" dirty="0"/>
              <a:t>函数依赖不能丢失的特性， 即模式分解不能破坏原来的语义。</a:t>
            </a:r>
            <a:endParaRPr lang="en-US" altLang="zh-CN" dirty="0"/>
          </a:p>
        </p:txBody>
      </p:sp>
      <p:sp>
        <p:nvSpPr>
          <p:cNvPr id="68611"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68612" name="Rectangle 7"/>
          <p:cNvSpPr/>
          <p:nvPr/>
        </p:nvSpPr>
        <p:spPr>
          <a:xfrm>
            <a:off x="401638" y="828675"/>
            <a:ext cx="4230687"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7</a:t>
            </a:r>
            <a:r>
              <a:rPr lang="zh-CN" altLang="en-US" sz="2800" dirty="0">
                <a:solidFill>
                  <a:srgbClr val="FF3300"/>
                </a:solidFill>
                <a:latin typeface="黑体" panose="02010609060101010101" pitchFamily="49" charset="-122"/>
                <a:ea typeface="黑体" panose="02010609060101010101" pitchFamily="49" charset="-122"/>
              </a:rPr>
              <a:t>、关系模式的规范化小结</a:t>
            </a:r>
            <a:endParaRPr lang="zh-CN" altLang="en-US" sz="2800" dirty="0">
              <a:solidFill>
                <a:srgbClr val="FF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6322"/>
                                        </p:tgtEl>
                                        <p:attrNameLst>
                                          <p:attrName>style.visibility</p:attrName>
                                        </p:attrNameLst>
                                      </p:cBhvr>
                                      <p:to>
                                        <p:strVal val="visible"/>
                                      </p:to>
                                    </p:set>
                                    <p:animEffect transition="in" filter="box(in)">
                                      <p:cBhvr>
                                        <p:cTn id="7" dur="500"/>
                                        <p:tgtEl>
                                          <p:spTgt spid="56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p:bld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69634" name="Rectangle 6"/>
          <p:cNvSpPr/>
          <p:nvPr/>
        </p:nvSpPr>
        <p:spPr>
          <a:xfrm>
            <a:off x="407988" y="0"/>
            <a:ext cx="3441700" cy="862013"/>
          </a:xfrm>
          <a:prstGeom prst="rect">
            <a:avLst/>
          </a:prstGeom>
          <a:noFill/>
          <a:ln w="9525">
            <a:noFill/>
          </a:ln>
          <a:effectLst>
            <a:prstShdw prst="shdw17" dist="17961" dir="2699999">
              <a:srgbClr val="708688"/>
            </a:prstShdw>
          </a:effectLst>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eaLnBrk="1" hangingPunct="1">
              <a:lnSpc>
                <a:spcPct val="115000"/>
              </a:lnSpc>
              <a:spcBef>
                <a:spcPct val="0"/>
              </a:spcBef>
              <a:buClrTx/>
              <a:buSzTx/>
              <a:buFont typeface="Arial" panose="020B0604020202020204" pitchFamily="34" charset="0"/>
              <a:buNone/>
            </a:pPr>
            <a:r>
              <a:rPr lang="zh-CN" altLang="en-US" sz="4400" dirty="0">
                <a:solidFill>
                  <a:srgbClr val="A50021"/>
                </a:solidFill>
                <a:ea typeface="华文琥珀" panose="02010800040101010101" pitchFamily="2" charset="-122"/>
              </a:rPr>
              <a:t>课后作业：</a:t>
            </a:r>
            <a:endParaRPr lang="zh-CN" altLang="en-US" sz="4400" dirty="0">
              <a:solidFill>
                <a:srgbClr val="A50021"/>
              </a:solidFill>
              <a:ea typeface="华文琥珀" panose="02010800040101010101" pitchFamily="2" charset="-122"/>
            </a:endParaRPr>
          </a:p>
        </p:txBody>
      </p:sp>
      <p:sp>
        <p:nvSpPr>
          <p:cNvPr id="69635" name="Rectangle 3" descr="Rectangle: Click to edit Master text styles&#10;Second level&#10;Third level&#10;Fourth level&#10;Fifth level"/>
          <p:cNvSpPr txBox="1"/>
          <p:nvPr/>
        </p:nvSpPr>
        <p:spPr>
          <a:xfrm>
            <a:off x="501650" y="1062038"/>
            <a:ext cx="8369300" cy="455136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a:buFont typeface="Wingdings" panose="05000000000000000000" pitchFamily="2" charset="2"/>
              <a:buChar char="Ø"/>
            </a:pPr>
            <a:r>
              <a:rPr lang="en-US" altLang="zh-CN" sz="2400" dirty="0"/>
              <a:t>R(Sid,Sname,Cid,Cname,Score,Tid)</a:t>
            </a:r>
            <a:r>
              <a:rPr lang="zh-CN" altLang="en-US" sz="2400" dirty="0"/>
              <a:t>，有：</a:t>
            </a:r>
            <a:endParaRPr lang="zh-CN" altLang="en-US" sz="2400" dirty="0"/>
          </a:p>
          <a:p>
            <a:pPr marL="342900" lvl="0" indent="-342900">
              <a:buFont typeface="Arial" panose="020B0604020202020204" pitchFamily="34" charset="0"/>
              <a:buNone/>
            </a:pPr>
            <a:r>
              <a:rPr lang="zh-CN" altLang="en-US" sz="2200" dirty="0">
                <a:latin typeface="楷体_GB2312"/>
                <a:ea typeface="楷体_GB2312"/>
              </a:rPr>
              <a:t>  </a:t>
            </a:r>
            <a:r>
              <a:rPr lang="en-US" altLang="zh-CN" sz="2200" dirty="0">
                <a:latin typeface="楷体_GB2312"/>
                <a:ea typeface="楷体_GB2312"/>
              </a:rPr>
              <a:t>--</a:t>
            </a:r>
            <a:r>
              <a:rPr lang="zh-CN" altLang="en-US" sz="2200" dirty="0">
                <a:latin typeface="楷体_GB2312"/>
                <a:ea typeface="楷体_GB2312"/>
              </a:rPr>
              <a:t>课程与教师之间的联系是</a:t>
            </a:r>
            <a:r>
              <a:rPr lang="en-US" altLang="zh-CN" sz="2200" dirty="0">
                <a:latin typeface="楷体_GB2312"/>
                <a:ea typeface="楷体_GB2312"/>
              </a:rPr>
              <a:t>1</a:t>
            </a:r>
            <a:r>
              <a:rPr lang="zh-CN" altLang="en-US" sz="2200" dirty="0">
                <a:latin typeface="楷体_GB2312"/>
                <a:ea typeface="楷体_GB2312"/>
              </a:rPr>
              <a:t>：</a:t>
            </a:r>
            <a:r>
              <a:rPr lang="en-US" altLang="zh-CN" sz="2200" dirty="0">
                <a:latin typeface="楷体_GB2312"/>
                <a:ea typeface="楷体_GB2312"/>
              </a:rPr>
              <a:t>1</a:t>
            </a:r>
            <a:endParaRPr lang="en-US" altLang="zh-CN" sz="2200" dirty="0">
              <a:latin typeface="楷体_GB2312"/>
              <a:ea typeface="楷体_GB2312"/>
            </a:endParaRPr>
          </a:p>
          <a:p>
            <a:pPr marL="342900" lvl="0" indent="-342900">
              <a:buFont typeface="Arial" panose="020B0604020202020204" pitchFamily="34" charset="0"/>
              <a:buNone/>
            </a:pPr>
            <a:r>
              <a:rPr lang="zh-CN" altLang="en-US" sz="2200" dirty="0">
                <a:latin typeface="楷体_GB2312"/>
                <a:ea typeface="楷体_GB2312"/>
              </a:rPr>
              <a:t>  </a:t>
            </a:r>
            <a:r>
              <a:rPr lang="en-US" altLang="zh-CN" sz="2200" dirty="0">
                <a:latin typeface="楷体_GB2312"/>
                <a:ea typeface="楷体_GB2312"/>
              </a:rPr>
              <a:t>--</a:t>
            </a:r>
            <a:r>
              <a:rPr lang="zh-CN" altLang="en-US" sz="2200" dirty="0">
                <a:latin typeface="楷体_GB2312"/>
                <a:ea typeface="楷体_GB2312"/>
              </a:rPr>
              <a:t>学生与课程之间的联系是</a:t>
            </a:r>
            <a:r>
              <a:rPr lang="en-US" altLang="zh-CN" sz="2200" dirty="0">
                <a:latin typeface="楷体_GB2312"/>
                <a:ea typeface="楷体_GB2312"/>
              </a:rPr>
              <a:t>m:n</a:t>
            </a:r>
            <a:endParaRPr lang="en-US" altLang="zh-CN" sz="2200" dirty="0">
              <a:latin typeface="楷体_GB2312"/>
              <a:ea typeface="楷体_GB2312"/>
            </a:endParaRPr>
          </a:p>
          <a:p>
            <a:pPr marL="342900" lvl="0" indent="-342900">
              <a:buFont typeface="Arial" panose="020B0604020202020204" pitchFamily="34" charset="0"/>
              <a:buNone/>
            </a:pPr>
            <a:r>
              <a:rPr lang="zh-CN" altLang="en-US" sz="2200" dirty="0">
                <a:latin typeface="楷体_GB2312"/>
                <a:ea typeface="楷体_GB2312"/>
              </a:rPr>
              <a:t>  </a:t>
            </a:r>
            <a:r>
              <a:rPr lang="en-US" altLang="zh-CN" sz="2200" dirty="0">
                <a:latin typeface="楷体_GB2312"/>
                <a:ea typeface="楷体_GB2312"/>
              </a:rPr>
              <a:t>--</a:t>
            </a:r>
            <a:r>
              <a:rPr lang="zh-CN" altLang="en-US" sz="2200" dirty="0">
                <a:latin typeface="楷体_GB2312"/>
                <a:ea typeface="楷体_GB2312"/>
              </a:rPr>
              <a:t>一名学生只能有一个学号，且学号唯一；</a:t>
            </a:r>
            <a:endParaRPr lang="zh-CN" altLang="en-US" sz="2200" dirty="0">
              <a:latin typeface="楷体_GB2312"/>
              <a:ea typeface="楷体_GB2312"/>
            </a:endParaRPr>
          </a:p>
          <a:p>
            <a:pPr marL="342900" lvl="0" indent="-342900">
              <a:buFont typeface="Arial" panose="020B0604020202020204" pitchFamily="34" charset="0"/>
              <a:buNone/>
            </a:pPr>
            <a:r>
              <a:rPr lang="en-US" altLang="zh-CN" sz="2200" dirty="0">
                <a:latin typeface="楷体_GB2312"/>
                <a:ea typeface="楷体_GB2312"/>
              </a:rPr>
              <a:t>  --</a:t>
            </a:r>
            <a:r>
              <a:rPr lang="zh-CN" altLang="en-US" sz="2200" dirty="0">
                <a:latin typeface="楷体_GB2312"/>
                <a:ea typeface="楷体_GB2312"/>
              </a:rPr>
              <a:t>一门课程只能有一个课程号，且课程号唯一；</a:t>
            </a:r>
            <a:endParaRPr lang="zh-CN" altLang="en-US" sz="2200" dirty="0">
              <a:latin typeface="楷体_GB2312"/>
              <a:ea typeface="楷体_GB2312"/>
            </a:endParaRPr>
          </a:p>
          <a:p>
            <a:pPr marL="342900" lvl="0" indent="-342900">
              <a:buFont typeface="Arial" panose="020B0604020202020204" pitchFamily="34" charset="0"/>
              <a:buNone/>
            </a:pPr>
            <a:r>
              <a:rPr lang="zh-CN" altLang="en-US" sz="2400" dirty="0"/>
              <a:t>（</a:t>
            </a:r>
            <a:r>
              <a:rPr lang="en-US" altLang="zh-CN" sz="2400" dirty="0"/>
              <a:t>1</a:t>
            </a:r>
            <a:r>
              <a:rPr lang="zh-CN" altLang="en-US" sz="2400" dirty="0"/>
              <a:t>）给出</a:t>
            </a:r>
            <a:r>
              <a:rPr lang="en-US" altLang="zh-CN" sz="2400" dirty="0"/>
              <a:t>R</a:t>
            </a:r>
            <a:r>
              <a:rPr lang="zh-CN" altLang="en-US" sz="2400" dirty="0"/>
              <a:t>的函数依赖 </a:t>
            </a:r>
            <a:endParaRPr lang="zh-CN" altLang="en-US" sz="2400" dirty="0"/>
          </a:p>
          <a:p>
            <a:pPr marL="342900" lvl="0" indent="-342900">
              <a:buFont typeface="Wingdings" panose="05000000000000000000" pitchFamily="2" charset="2"/>
              <a:buChar char="Ø"/>
            </a:pPr>
            <a:r>
              <a:rPr lang="zh-CN" altLang="en-US" sz="2400" u="sng" dirty="0">
                <a:solidFill>
                  <a:srgbClr val="0033CC"/>
                </a:solidFill>
              </a:rPr>
              <a:t>思路：</a:t>
            </a:r>
            <a:r>
              <a:rPr lang="zh-CN" altLang="en-US" sz="2200" dirty="0">
                <a:latin typeface="楷体_GB2312"/>
                <a:ea typeface="楷体_GB2312"/>
              </a:rPr>
              <a:t>先确定语义非常明显的函数依赖，再确定候选键、主属性，寻找以主键或候选键为决定子的函数依赖。</a:t>
            </a:r>
            <a:endParaRPr lang="zh-CN" altLang="en-US" sz="2200" dirty="0">
              <a:latin typeface="楷体_GB2312"/>
              <a:ea typeface="楷体_GB2312"/>
            </a:endParaRPr>
          </a:p>
          <a:p>
            <a:pPr marL="342900" lvl="0" indent="-342900">
              <a:spcBef>
                <a:spcPts val="300"/>
              </a:spcBef>
              <a:buFont typeface="Arial" panose="020B0604020202020204" pitchFamily="34" charset="0"/>
              <a:buNone/>
            </a:pPr>
            <a:r>
              <a:rPr lang="en-US" altLang="zh-CN" sz="2200" dirty="0"/>
              <a:t>Cid </a:t>
            </a:r>
            <a:r>
              <a:rPr lang="en-US" altLang="zh-CN" sz="2200" dirty="0">
                <a:sym typeface="Wingdings 3" panose="05040102010807070707" pitchFamily="18" charset="2"/>
              </a:rPr>
              <a:t></a:t>
            </a:r>
            <a:r>
              <a:rPr lang="en-US" altLang="zh-CN" sz="2200" dirty="0"/>
              <a:t> Tid, Sid</a:t>
            </a:r>
            <a:r>
              <a:rPr lang="en-US" altLang="zh-CN" sz="2200" dirty="0">
                <a:sym typeface="Wingdings 3" panose="05040102010807070707" pitchFamily="18" charset="2"/>
              </a:rPr>
              <a:t>Sname, CidCname, (Sid,Cid)   Score, </a:t>
            </a:r>
            <a:endParaRPr lang="en-US" altLang="zh-CN" sz="2200" dirty="0">
              <a:sym typeface="Wingdings 3" panose="05040102010807070707" pitchFamily="18" charset="2"/>
            </a:endParaRPr>
          </a:p>
          <a:p>
            <a:pPr marL="342900" lvl="0" indent="-342900">
              <a:spcBef>
                <a:spcPts val="300"/>
              </a:spcBef>
              <a:buFont typeface="Arial" panose="020B0604020202020204" pitchFamily="34" charset="0"/>
              <a:buNone/>
            </a:pPr>
            <a:r>
              <a:rPr lang="en-US" altLang="zh-CN" sz="2200" dirty="0">
                <a:sym typeface="Wingdings 3" panose="05040102010807070707" pitchFamily="18" charset="2"/>
              </a:rPr>
              <a:t>(Sid,Cid)   Tid, (Sid,Cid)    Sname, (Sid,Cid)   Cname</a:t>
            </a:r>
            <a:endParaRPr lang="zh-CN" altLang="en-US" sz="2200" dirty="0">
              <a:sym typeface="Wingdings 3" panose="05040102010807070707" pitchFamily="18" charset="2"/>
            </a:endParaRPr>
          </a:p>
          <a:p>
            <a:pPr marL="342900" lvl="0" indent="-342900">
              <a:lnSpc>
                <a:spcPct val="120000"/>
              </a:lnSpc>
              <a:buFont typeface="Arial" panose="020B0604020202020204" pitchFamily="34" charset="0"/>
              <a:buNone/>
            </a:pPr>
            <a:r>
              <a:rPr lang="zh-CN" altLang="en-US" sz="2400" dirty="0">
                <a:sym typeface="Wingdings 3" panose="05040102010807070707" pitchFamily="18" charset="2"/>
              </a:rPr>
              <a:t>（</a:t>
            </a:r>
            <a:r>
              <a:rPr lang="en-US" altLang="zh-CN" sz="2400" dirty="0">
                <a:sym typeface="Wingdings 3" panose="05040102010807070707" pitchFamily="18" charset="2"/>
              </a:rPr>
              <a:t>2</a:t>
            </a:r>
            <a:r>
              <a:rPr lang="zh-CN" altLang="en-US" sz="2400" dirty="0">
                <a:sym typeface="Wingdings 3" panose="05040102010807070707" pitchFamily="18" charset="2"/>
              </a:rPr>
              <a:t>）存在非键属性部分依赖于键属性，不是</a:t>
            </a:r>
            <a:r>
              <a:rPr lang="en-US" altLang="zh-CN" sz="2400" dirty="0">
                <a:sym typeface="Wingdings 3" panose="05040102010807070707" pitchFamily="18" charset="2"/>
              </a:rPr>
              <a:t>2NF</a:t>
            </a:r>
            <a:endParaRPr lang="en-US" altLang="zh-CN" sz="2400" dirty="0">
              <a:sym typeface="Wingdings 3" panose="05040102010807070707" pitchFamily="18" charset="2"/>
            </a:endParaRPr>
          </a:p>
          <a:p>
            <a:pPr marL="342900" lvl="0" indent="-342900">
              <a:lnSpc>
                <a:spcPct val="130000"/>
              </a:lnSpc>
              <a:buFont typeface="Wingdings" panose="05000000000000000000" pitchFamily="2" charset="2"/>
              <a:buChar char="Ø"/>
            </a:pPr>
            <a:r>
              <a:rPr lang="zh-CN" altLang="en-US" sz="2200" u="sng" dirty="0">
                <a:solidFill>
                  <a:srgbClr val="0033CC"/>
                </a:solidFill>
                <a:sym typeface="Wingdings 3" panose="05040102010807070707" pitchFamily="18" charset="2"/>
              </a:rPr>
              <a:t>分解：</a:t>
            </a:r>
            <a:r>
              <a:rPr lang="en-US" altLang="zh-CN" sz="2200" dirty="0">
                <a:sym typeface="Wingdings 3" panose="05040102010807070707" pitchFamily="18" charset="2"/>
              </a:rPr>
              <a:t>R</a:t>
            </a:r>
            <a:r>
              <a:rPr lang="zh-CN" altLang="en-US" sz="2200" dirty="0">
                <a:sym typeface="Wingdings 3" panose="05040102010807070707" pitchFamily="18" charset="2"/>
              </a:rPr>
              <a:t>（</a:t>
            </a:r>
            <a:r>
              <a:rPr lang="en-US" altLang="zh-CN" sz="2200" dirty="0">
                <a:sym typeface="Wingdings 3" panose="05040102010807070707" pitchFamily="18" charset="2"/>
              </a:rPr>
              <a:t>Sid,Cid,Score</a:t>
            </a:r>
            <a:r>
              <a:rPr lang="en-US" altLang="zh-CN" sz="2200" dirty="0"/>
              <a:t>), S(Cid,Cname,Tid), P(Sid,Sname)</a:t>
            </a:r>
            <a:endParaRPr lang="zh-CN" altLang="en-US" sz="2200" dirty="0"/>
          </a:p>
        </p:txBody>
      </p:sp>
      <p:sp>
        <p:nvSpPr>
          <p:cNvPr id="69636" name="矩形 7"/>
          <p:cNvSpPr/>
          <p:nvPr/>
        </p:nvSpPr>
        <p:spPr>
          <a:xfrm>
            <a:off x="4640263" y="268288"/>
            <a:ext cx="4152900" cy="5222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800" dirty="0">
                <a:solidFill>
                  <a:srgbClr val="0033CC"/>
                </a:solidFill>
                <a:latin typeface="华文隶书" panose="02010800040101010101" pitchFamily="2" charset="-122"/>
                <a:ea typeface="华文隶书" panose="02010800040101010101" pitchFamily="2" charset="-122"/>
              </a:rPr>
              <a:t>书后作业（设计题）解答</a:t>
            </a:r>
            <a:endParaRPr lang="zh-CN" altLang="en-US" sz="2800" dirty="0">
              <a:solidFill>
                <a:srgbClr val="0033CC"/>
              </a:solidFill>
              <a:latin typeface="华文隶书" panose="02010800040101010101" pitchFamily="2" charset="-122"/>
              <a:ea typeface="华文隶书" panose="02010800040101010101" pitchFamily="2" charset="-122"/>
            </a:endParaRPr>
          </a:p>
        </p:txBody>
      </p:sp>
    </p:spTree>
  </p:cSld>
  <p:clrMapOvr>
    <a:masterClrMapping/>
  </p:clrMapOvr>
  <p:transition/>
</p:sld>
</file>

<file path=ppt/tags/tag1.xml><?xml version="1.0" encoding="utf-8"?>
<p:tagLst xmlns:p="http://schemas.openxmlformats.org/presentationml/2006/main">
  <p:tag name="commondata" val="eyJoZGlkIjoiZGYwZDVjNjk1MDJkZTc0ZmE1MGNmNjI3MWM5MmU3ZmEifQ=="/>
</p:tagLst>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9525" cap="flat" cmpd="sng">
          <a:solidFill>
            <a:schemeClr val="tx1"/>
          </a:solidFill>
          <a:prstDash val="solid"/>
          <a:miter/>
          <a:headEnd type="none" w="med" len="med"/>
          <a:tailEnd type="none" w="med" len="med"/>
        </a:ln>
        <a:effectLst>
          <a:prstShdw prst="shdw17" dist="17961" dir="2699999">
            <a:srgbClr val="000000"/>
          </a:prstShdw>
        </a:effectLst>
      </a:spPr>
      <a:bodyPr wrap="square" lIns="90170" tIns="28575" rIns="90170" bIns="25400" anchor="ctr" anchorCtr="0">
        <a:noAutofit/>
      </a:bodyPr>
      <a:lstStyle>
        <a:defPPr marL="0" lvl="0" indent="0" algn="ctr" eaLnBrk="1" hangingPunct="1">
          <a:lnSpc>
            <a:spcPct val="105000"/>
          </a:lnSpc>
          <a:spcBef>
            <a:spcPct val="0"/>
          </a:spcBef>
          <a:buClrTx/>
          <a:buSzTx/>
          <a:buFont typeface="Arial" panose="020B0604020202020204" pitchFamily="34" charset="0"/>
          <a:buNone/>
          <a:defRPr lang="zh-CN" altLang="en-US" sz="1800" dirty="0"/>
        </a:defPPr>
      </a:lstStyle>
    </a:sp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2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20488</Words>
  <Application>WPS 演示</Application>
  <PresentationFormat>全屏显示(4:3)</PresentationFormat>
  <Paragraphs>1918</Paragraphs>
  <Slides>60</Slides>
  <Notes>5</Notes>
  <HiddenSlides>1</HiddenSlides>
  <MMClips>0</MMClips>
  <ScaleCrop>false</ScaleCrop>
  <HeadingPairs>
    <vt:vector size="8" baseType="variant">
      <vt:variant>
        <vt:lpstr>已用的字体</vt:lpstr>
      </vt:variant>
      <vt:variant>
        <vt:i4>19</vt:i4>
      </vt:variant>
      <vt:variant>
        <vt:lpstr>主题</vt:lpstr>
      </vt:variant>
      <vt:variant>
        <vt:i4>2</vt:i4>
      </vt:variant>
      <vt:variant>
        <vt:lpstr>嵌入 OLE 服务器</vt:lpstr>
      </vt:variant>
      <vt:variant>
        <vt:i4>25</vt:i4>
      </vt:variant>
      <vt:variant>
        <vt:lpstr>幻灯片标题</vt:lpstr>
      </vt:variant>
      <vt:variant>
        <vt:i4>60</vt:i4>
      </vt:variant>
    </vt:vector>
  </HeadingPairs>
  <TitlesOfParts>
    <vt:vector size="106" baseType="lpstr">
      <vt:lpstr>Arial</vt:lpstr>
      <vt:lpstr>宋体</vt:lpstr>
      <vt:lpstr>Wingdings</vt:lpstr>
      <vt:lpstr>楷体_GB2312</vt:lpstr>
      <vt:lpstr>Times New Roman</vt:lpstr>
      <vt:lpstr>黑体</vt:lpstr>
      <vt:lpstr>新宋体</vt:lpstr>
      <vt:lpstr>华文楷体</vt:lpstr>
      <vt:lpstr>方正舒体</vt:lpstr>
      <vt:lpstr>Wingdings</vt:lpstr>
      <vt:lpstr>Wingdings 3</vt:lpstr>
      <vt:lpstr>华文中宋</vt:lpstr>
      <vt:lpstr>微软雅黑</vt:lpstr>
      <vt:lpstr>Arial Unicode MS</vt:lpstr>
      <vt:lpstr>Calibri</vt:lpstr>
      <vt:lpstr>楷体</vt:lpstr>
      <vt:lpstr>Cambria Math</vt:lpstr>
      <vt:lpstr>华文琥珀</vt:lpstr>
      <vt:lpstr>华文隶书</vt:lpstr>
      <vt:lpstr>1_默认设计模板</vt:lpstr>
      <vt:lpstr>2_默认设计模板</vt:lpstr>
      <vt:lpstr>Equation.3</vt:lpstr>
      <vt:lpstr>Equation.3</vt:lpstr>
      <vt:lpstr>Equation.3</vt:lpstr>
      <vt:lpstr>Equation.3</vt:lpstr>
      <vt:lpstr>Equation.KSEE3</vt:lpstr>
      <vt:lpstr>Equation.KSEE3</vt:lpstr>
      <vt:lpstr>Equation.3</vt:lpstr>
      <vt:lpstr>Equation.3</vt:lpstr>
      <vt:lpstr>Equation.3</vt:lpstr>
      <vt:lpstr>Paint.Picture</vt:lpstr>
      <vt:lpstr>Equation.3</vt:lpstr>
      <vt:lpstr>Equation.3</vt:lpstr>
      <vt:lpstr>Equation.3</vt:lpstr>
      <vt:lpstr>Equation.KSEE3</vt:lpstr>
      <vt:lpstr>Equation.KSEE3</vt:lpstr>
      <vt:lpstr>Equation.KSEE3</vt:lpstr>
      <vt:lpstr>Equation.KSEE3</vt:lpstr>
      <vt:lpstr>Word.Picture.8</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王淑营</dc:creator>
  <cp:lastModifiedBy>Wangshuying</cp:lastModifiedBy>
  <cp:revision>220</cp:revision>
  <dcterms:created xsi:type="dcterms:W3CDTF">2014-04-24T06:16:00Z</dcterms:created>
  <dcterms:modified xsi:type="dcterms:W3CDTF">2024-12-25T06:43:33Z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9B1701DCE69446DA9F058CF67E2AC7D3_12</vt:lpwstr>
  </property>
</Properties>
</file>